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3.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4.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85" r:id="rId5"/>
    <p:sldMasterId id="2147483661" r:id="rId6"/>
    <p:sldMasterId id="2147483673" r:id="rId7"/>
    <p:sldMasterId id="2147483697" r:id="rId8"/>
  </p:sldMasterIdLst>
  <p:notesMasterIdLst>
    <p:notesMasterId r:id="rId85"/>
  </p:notesMasterIdLst>
  <p:sldIdLst>
    <p:sldId id="806" r:id="rId9"/>
    <p:sldId id="593" r:id="rId10"/>
    <p:sldId id="613" r:id="rId11"/>
    <p:sldId id="610" r:id="rId12"/>
    <p:sldId id="756" r:id="rId13"/>
    <p:sldId id="757" r:id="rId14"/>
    <p:sldId id="820" r:id="rId15"/>
    <p:sldId id="822" r:id="rId16"/>
    <p:sldId id="823" r:id="rId17"/>
    <p:sldId id="825" r:id="rId18"/>
    <p:sldId id="860" r:id="rId19"/>
    <p:sldId id="826" r:id="rId20"/>
    <p:sldId id="863" r:id="rId21"/>
    <p:sldId id="895" r:id="rId22"/>
    <p:sldId id="897" r:id="rId23"/>
    <p:sldId id="827" r:id="rId24"/>
    <p:sldId id="828" r:id="rId25"/>
    <p:sldId id="829" r:id="rId26"/>
    <p:sldId id="830" r:id="rId27"/>
    <p:sldId id="831" r:id="rId28"/>
    <p:sldId id="832" r:id="rId29"/>
    <p:sldId id="834" r:id="rId30"/>
    <p:sldId id="835" r:id="rId31"/>
    <p:sldId id="836" r:id="rId32"/>
    <p:sldId id="837" r:id="rId33"/>
    <p:sldId id="838" r:id="rId34"/>
    <p:sldId id="839" r:id="rId35"/>
    <p:sldId id="840" r:id="rId36"/>
    <p:sldId id="841" r:id="rId37"/>
    <p:sldId id="842" r:id="rId38"/>
    <p:sldId id="843" r:id="rId39"/>
    <p:sldId id="911" r:id="rId40"/>
    <p:sldId id="845" r:id="rId41"/>
    <p:sldId id="846" r:id="rId42"/>
    <p:sldId id="847" r:id="rId43"/>
    <p:sldId id="912" r:id="rId44"/>
    <p:sldId id="848" r:id="rId45"/>
    <p:sldId id="849" r:id="rId46"/>
    <p:sldId id="898" r:id="rId47"/>
    <p:sldId id="850" r:id="rId48"/>
    <p:sldId id="851" r:id="rId49"/>
    <p:sldId id="852" r:id="rId50"/>
    <p:sldId id="901" r:id="rId51"/>
    <p:sldId id="905" r:id="rId52"/>
    <p:sldId id="902" r:id="rId53"/>
    <p:sldId id="904" r:id="rId54"/>
    <p:sldId id="899" r:id="rId55"/>
    <p:sldId id="900" r:id="rId56"/>
    <p:sldId id="910" r:id="rId57"/>
    <p:sldId id="903" r:id="rId58"/>
    <p:sldId id="853" r:id="rId59"/>
    <p:sldId id="913" r:id="rId60"/>
    <p:sldId id="854" r:id="rId61"/>
    <p:sldId id="855" r:id="rId62"/>
    <p:sldId id="856" r:id="rId63"/>
    <p:sldId id="857" r:id="rId64"/>
    <p:sldId id="858" r:id="rId65"/>
    <p:sldId id="906" r:id="rId66"/>
    <p:sldId id="907" r:id="rId67"/>
    <p:sldId id="859" r:id="rId68"/>
    <p:sldId id="914" r:id="rId69"/>
    <p:sldId id="915" r:id="rId70"/>
    <p:sldId id="916" r:id="rId71"/>
    <p:sldId id="917" r:id="rId72"/>
    <p:sldId id="918" r:id="rId73"/>
    <p:sldId id="919" r:id="rId74"/>
    <p:sldId id="920" r:id="rId75"/>
    <p:sldId id="921" r:id="rId76"/>
    <p:sldId id="922" r:id="rId77"/>
    <p:sldId id="923" r:id="rId78"/>
    <p:sldId id="924" r:id="rId79"/>
    <p:sldId id="612" r:id="rId80"/>
    <p:sldId id="948" r:id="rId81"/>
    <p:sldId id="894" r:id="rId82"/>
    <p:sldId id="949" r:id="rId83"/>
    <p:sldId id="319" r:id="rId8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8799B23B-EC83-4686-B30A-512413B5E67A}" styleName="Light Style 3 - Accent 3">
    <a:wholeTbl>
      <a:tcTxStyle>
        <a:fontRef idx="minor">
          <a:scrgbClr r="0" g="0" b="0"/>
        </a:fontRef>
        <a:schemeClr val="tx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noFill/>
        </a:fill>
      </a:tcStyle>
    </a:wholeTbl>
    <a:band1H>
      <a:tcStyle>
        <a:tcBdr/>
        <a:fill>
          <a:solidFill>
            <a:schemeClr val="accent3">
              <a:alpha val="20000"/>
            </a:schemeClr>
          </a:solidFill>
        </a:fill>
      </a:tcStyle>
    </a:band1H>
    <a:band1V>
      <a:tcStyle>
        <a:tcBdr/>
        <a:fill>
          <a:solidFill>
            <a:schemeClr val="accent3">
              <a:alpha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noFill/>
        </a:fill>
      </a:tcStyle>
    </a:lastRow>
    <a:firstRow>
      <a:tcTxStyle b="on"/>
      <a:tcStyle>
        <a:tcBdr>
          <a:bottom>
            <a:ln w="25400" cmpd="sng">
              <a:solidFill>
                <a:schemeClr val="accent3"/>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1FECB4D8-DB02-4DC6-A0A2-4F2EBAE1DC90}" styleName="Medium Style 1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a:noFill/>
            </a:ln>
          </a:insideV>
        </a:tcBdr>
        <a:fill>
          <a:solidFill>
            <a:schemeClr val="lt1"/>
          </a:solidFill>
        </a:fill>
      </a:tcStyle>
    </a:wholeTbl>
    <a:band1H>
      <a:tcStyle>
        <a:tcBdr/>
        <a:fill>
          <a:solidFill>
            <a:schemeClr val="accent3">
              <a:tint val="20000"/>
            </a:schemeClr>
          </a:solidFill>
        </a:fill>
      </a:tcStyle>
    </a:band1H>
    <a:band1V>
      <a:tcStyle>
        <a:tcBdr/>
        <a:fill>
          <a:solidFill>
            <a:schemeClr val="accent3">
              <a:tint val="20000"/>
            </a:schemeClr>
          </a:solidFill>
        </a:fill>
      </a:tcStyle>
    </a:band1V>
    <a:lastCol>
      <a:tcTxStyle b="on"/>
      <a:tcStyle>
        <a:tcBdr/>
      </a:tcStyle>
    </a:lastCol>
    <a:firstCol>
      <a:tcTxStyle b="on"/>
      <a:tcStyle>
        <a:tcBdr/>
      </a:tcStyle>
    </a:firstCol>
    <a:lastRow>
      <a:tcTxStyle b="on"/>
      <a:tcStyle>
        <a:tcBdr>
          <a:top>
            <a:ln w="50800" cmpd="dbl">
              <a:solidFill>
                <a:schemeClr val="accent3"/>
              </a:solidFill>
            </a:ln>
          </a:top>
        </a:tcBdr>
        <a:fill>
          <a:solidFill>
            <a:schemeClr val="lt1"/>
          </a:solidFill>
        </a:fill>
      </a:tcStyle>
    </a:lastRow>
    <a:firstRow>
      <a:tcTxStyle b="on">
        <a:fontRef idx="minor">
          <a:scrgbClr r="0" g="0" b="0"/>
        </a:fontRef>
        <a:schemeClr val="lt1"/>
      </a:tcTxStyle>
      <a:tcStyle>
        <a:tcBdr/>
        <a:fill>
          <a:solidFill>
            <a:schemeClr val="accent3"/>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20000" autoAdjust="0"/>
    <p:restoredTop sz="94660"/>
  </p:normalViewPr>
  <p:slideViewPr>
    <p:cSldViewPr>
      <p:cViewPr varScale="1">
        <p:scale>
          <a:sx n="72" d="100"/>
          <a:sy n="72" d="100"/>
        </p:scale>
        <p:origin x="1146" y="96"/>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1062"/>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18.xml"/><Relationship Id="rId21" Type="http://schemas.openxmlformats.org/officeDocument/2006/relationships/slide" Target="slides/slide13.xml"/><Relationship Id="rId42" Type="http://schemas.openxmlformats.org/officeDocument/2006/relationships/slide" Target="slides/slide34.xml"/><Relationship Id="rId47" Type="http://schemas.openxmlformats.org/officeDocument/2006/relationships/slide" Target="slides/slide39.xml"/><Relationship Id="rId63" Type="http://schemas.openxmlformats.org/officeDocument/2006/relationships/slide" Target="slides/slide55.xml"/><Relationship Id="rId68" Type="http://schemas.openxmlformats.org/officeDocument/2006/relationships/slide" Target="slides/slide60.xml"/><Relationship Id="rId84" Type="http://schemas.openxmlformats.org/officeDocument/2006/relationships/slide" Target="slides/slide76.xml"/><Relationship Id="rId89" Type="http://schemas.openxmlformats.org/officeDocument/2006/relationships/tableStyles" Target="tableStyles.xml"/><Relationship Id="rId16" Type="http://schemas.openxmlformats.org/officeDocument/2006/relationships/slide" Target="slides/slide8.xml"/><Relationship Id="rId11" Type="http://schemas.openxmlformats.org/officeDocument/2006/relationships/slide" Target="slides/slide3.xml"/><Relationship Id="rId32" Type="http://schemas.openxmlformats.org/officeDocument/2006/relationships/slide" Target="slides/slide24.xml"/><Relationship Id="rId37" Type="http://schemas.openxmlformats.org/officeDocument/2006/relationships/slide" Target="slides/slide29.xml"/><Relationship Id="rId53" Type="http://schemas.openxmlformats.org/officeDocument/2006/relationships/slide" Target="slides/slide45.xml"/><Relationship Id="rId58" Type="http://schemas.openxmlformats.org/officeDocument/2006/relationships/slide" Target="slides/slide50.xml"/><Relationship Id="rId74" Type="http://schemas.openxmlformats.org/officeDocument/2006/relationships/slide" Target="slides/slide66.xml"/><Relationship Id="rId79" Type="http://schemas.openxmlformats.org/officeDocument/2006/relationships/slide" Target="slides/slide71.xml"/><Relationship Id="rId5" Type="http://schemas.openxmlformats.org/officeDocument/2006/relationships/slideMaster" Target="slideMasters/slideMaster2.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slide" Target="slides/slide27.xml"/><Relationship Id="rId43" Type="http://schemas.openxmlformats.org/officeDocument/2006/relationships/slide" Target="slides/slide35.xml"/><Relationship Id="rId48" Type="http://schemas.openxmlformats.org/officeDocument/2006/relationships/slide" Target="slides/slide40.xml"/><Relationship Id="rId56" Type="http://schemas.openxmlformats.org/officeDocument/2006/relationships/slide" Target="slides/slide48.xml"/><Relationship Id="rId64" Type="http://schemas.openxmlformats.org/officeDocument/2006/relationships/slide" Target="slides/slide56.xml"/><Relationship Id="rId69" Type="http://schemas.openxmlformats.org/officeDocument/2006/relationships/slide" Target="slides/slide61.xml"/><Relationship Id="rId77" Type="http://schemas.openxmlformats.org/officeDocument/2006/relationships/slide" Target="slides/slide69.xml"/><Relationship Id="rId8" Type="http://schemas.openxmlformats.org/officeDocument/2006/relationships/slideMaster" Target="slideMasters/slideMaster5.xml"/><Relationship Id="rId51" Type="http://schemas.openxmlformats.org/officeDocument/2006/relationships/slide" Target="slides/slide43.xml"/><Relationship Id="rId72" Type="http://schemas.openxmlformats.org/officeDocument/2006/relationships/slide" Target="slides/slide64.xml"/><Relationship Id="rId80" Type="http://schemas.openxmlformats.org/officeDocument/2006/relationships/slide" Target="slides/slide72.xml"/><Relationship Id="rId85" Type="http://schemas.openxmlformats.org/officeDocument/2006/relationships/notesMaster" Target="notesMasters/notesMaster1.xml"/><Relationship Id="rId3" Type="http://schemas.openxmlformats.org/officeDocument/2006/relationships/customXml" Target="../customXml/item3.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slide" Target="slides/slide25.xml"/><Relationship Id="rId38" Type="http://schemas.openxmlformats.org/officeDocument/2006/relationships/slide" Target="slides/slide30.xml"/><Relationship Id="rId46" Type="http://schemas.openxmlformats.org/officeDocument/2006/relationships/slide" Target="slides/slide38.xml"/><Relationship Id="rId59" Type="http://schemas.openxmlformats.org/officeDocument/2006/relationships/slide" Target="slides/slide51.xml"/><Relationship Id="rId67" Type="http://schemas.openxmlformats.org/officeDocument/2006/relationships/slide" Target="slides/slide59.xml"/><Relationship Id="rId20" Type="http://schemas.openxmlformats.org/officeDocument/2006/relationships/slide" Target="slides/slide12.xml"/><Relationship Id="rId41" Type="http://schemas.openxmlformats.org/officeDocument/2006/relationships/slide" Target="slides/slide33.xml"/><Relationship Id="rId54" Type="http://schemas.openxmlformats.org/officeDocument/2006/relationships/slide" Target="slides/slide46.xml"/><Relationship Id="rId62" Type="http://schemas.openxmlformats.org/officeDocument/2006/relationships/slide" Target="slides/slide54.xml"/><Relationship Id="rId70" Type="http://schemas.openxmlformats.org/officeDocument/2006/relationships/slide" Target="slides/slide62.xml"/><Relationship Id="rId75" Type="http://schemas.openxmlformats.org/officeDocument/2006/relationships/slide" Target="slides/slide67.xml"/><Relationship Id="rId83" Type="http://schemas.openxmlformats.org/officeDocument/2006/relationships/slide" Target="slides/slide75.xml"/><Relationship Id="rId88"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slide" Target="slides/slide28.xml"/><Relationship Id="rId49" Type="http://schemas.openxmlformats.org/officeDocument/2006/relationships/slide" Target="slides/slide41.xml"/><Relationship Id="rId57" Type="http://schemas.openxmlformats.org/officeDocument/2006/relationships/slide" Target="slides/slide49.xml"/><Relationship Id="rId10" Type="http://schemas.openxmlformats.org/officeDocument/2006/relationships/slide" Target="slides/slide2.xml"/><Relationship Id="rId31" Type="http://schemas.openxmlformats.org/officeDocument/2006/relationships/slide" Target="slides/slide23.xml"/><Relationship Id="rId44" Type="http://schemas.openxmlformats.org/officeDocument/2006/relationships/slide" Target="slides/slide36.xml"/><Relationship Id="rId52" Type="http://schemas.openxmlformats.org/officeDocument/2006/relationships/slide" Target="slides/slide44.xml"/><Relationship Id="rId60" Type="http://schemas.openxmlformats.org/officeDocument/2006/relationships/slide" Target="slides/slide52.xml"/><Relationship Id="rId65" Type="http://schemas.openxmlformats.org/officeDocument/2006/relationships/slide" Target="slides/slide57.xml"/><Relationship Id="rId73" Type="http://schemas.openxmlformats.org/officeDocument/2006/relationships/slide" Target="slides/slide65.xml"/><Relationship Id="rId78" Type="http://schemas.openxmlformats.org/officeDocument/2006/relationships/slide" Target="slides/slide70.xml"/><Relationship Id="rId81" Type="http://schemas.openxmlformats.org/officeDocument/2006/relationships/slide" Target="slides/slide73.xml"/><Relationship Id="rId86"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1.xml"/><Relationship Id="rId13" Type="http://schemas.openxmlformats.org/officeDocument/2006/relationships/slide" Target="slides/slide5.xml"/><Relationship Id="rId18" Type="http://schemas.openxmlformats.org/officeDocument/2006/relationships/slide" Target="slides/slide10.xml"/><Relationship Id="rId39" Type="http://schemas.openxmlformats.org/officeDocument/2006/relationships/slide" Target="slides/slide31.xml"/><Relationship Id="rId34" Type="http://schemas.openxmlformats.org/officeDocument/2006/relationships/slide" Target="slides/slide26.xml"/><Relationship Id="rId50" Type="http://schemas.openxmlformats.org/officeDocument/2006/relationships/slide" Target="slides/slide42.xml"/><Relationship Id="rId55" Type="http://schemas.openxmlformats.org/officeDocument/2006/relationships/slide" Target="slides/slide47.xml"/><Relationship Id="rId76" Type="http://schemas.openxmlformats.org/officeDocument/2006/relationships/slide" Target="slides/slide68.xml"/><Relationship Id="rId7" Type="http://schemas.openxmlformats.org/officeDocument/2006/relationships/slideMaster" Target="slideMasters/slideMaster4.xml"/><Relationship Id="rId71" Type="http://schemas.openxmlformats.org/officeDocument/2006/relationships/slide" Target="slides/slide63.xml"/><Relationship Id="rId2" Type="http://schemas.openxmlformats.org/officeDocument/2006/relationships/customXml" Target="../customXml/item2.xml"/><Relationship Id="rId29" Type="http://schemas.openxmlformats.org/officeDocument/2006/relationships/slide" Target="slides/slide21.xml"/><Relationship Id="rId24" Type="http://schemas.openxmlformats.org/officeDocument/2006/relationships/slide" Target="slides/slide16.xml"/><Relationship Id="rId40" Type="http://schemas.openxmlformats.org/officeDocument/2006/relationships/slide" Target="slides/slide32.xml"/><Relationship Id="rId45" Type="http://schemas.openxmlformats.org/officeDocument/2006/relationships/slide" Target="slides/slide37.xml"/><Relationship Id="rId66" Type="http://schemas.openxmlformats.org/officeDocument/2006/relationships/slide" Target="slides/slide58.xml"/><Relationship Id="rId87" Type="http://schemas.openxmlformats.org/officeDocument/2006/relationships/viewProps" Target="viewProps.xml"/><Relationship Id="rId61" Type="http://schemas.openxmlformats.org/officeDocument/2006/relationships/slide" Target="slides/slide53.xml"/><Relationship Id="rId82" Type="http://schemas.openxmlformats.org/officeDocument/2006/relationships/slide" Target="slides/slide74.xml"/><Relationship Id="rId19"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Times New Roman" panose="02020603050405020304" pitchFamily="18" charset="0"/>
              </a:defRPr>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Times New Roman" panose="02020603050405020304" pitchFamily="18" charset="0"/>
              </a:defRPr>
            </a:lvl1pPr>
          </a:lstStyle>
          <a:p>
            <a:fld id="{1C197D8D-9FEA-47DA-8E57-6CB541EED853}" type="datetimeFigureOut">
              <a:rPr lang="en-US" smtClean="0"/>
              <a:pPr/>
              <a:t>9/13/2025</a:t>
            </a:fld>
            <a:endParaRPr lang="en-US"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atin typeface="Times New Roman" panose="02020603050405020304" pitchFamily="18" charset="0"/>
              </a:defRPr>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atin typeface="Times New Roman" panose="02020603050405020304" pitchFamily="18" charset="0"/>
              </a:defRPr>
            </a:lvl1pPr>
          </a:lstStyle>
          <a:p>
            <a:fld id="{CF93DA87-A56F-46F6-B399-17EDACEDB34C}" type="slidenum">
              <a:rPr lang="en-US" smtClean="0"/>
              <a:pPr/>
              <a:t>‹#›</a:t>
            </a:fld>
            <a:endParaRPr lang="en-US" dirty="0"/>
          </a:p>
        </p:txBody>
      </p:sp>
    </p:spTree>
    <p:extLst>
      <p:ext uri="{BB962C8B-B14F-4D97-AF65-F5344CB8AC3E}">
        <p14:creationId xmlns:p14="http://schemas.microsoft.com/office/powerpoint/2010/main" val="21336043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Times New Roman" panose="02020603050405020304" pitchFamily="18" charset="0"/>
        <a:ea typeface="+mn-ea"/>
        <a:cs typeface="+mn-cs"/>
      </a:defRPr>
    </a:lvl1pPr>
    <a:lvl2pPr marL="457200" algn="l" defTabSz="914400" rtl="0" eaLnBrk="1" latinLnBrk="0" hangingPunct="1">
      <a:defRPr sz="1200" kern="1200">
        <a:solidFill>
          <a:schemeClr val="tx1"/>
        </a:solidFill>
        <a:latin typeface="Times New Roman" panose="02020603050405020304" pitchFamily="18" charset="0"/>
        <a:ea typeface="+mn-ea"/>
        <a:cs typeface="+mn-cs"/>
      </a:defRPr>
    </a:lvl2pPr>
    <a:lvl3pPr marL="914400" algn="l" defTabSz="914400" rtl="0" eaLnBrk="1" latinLnBrk="0" hangingPunct="1">
      <a:defRPr sz="1200" kern="1200">
        <a:solidFill>
          <a:schemeClr val="tx1"/>
        </a:solidFill>
        <a:latin typeface="Times New Roman" panose="02020603050405020304" pitchFamily="18" charset="0"/>
        <a:ea typeface="+mn-ea"/>
        <a:cs typeface="+mn-cs"/>
      </a:defRPr>
    </a:lvl3pPr>
    <a:lvl4pPr marL="1371600" algn="l" defTabSz="914400" rtl="0" eaLnBrk="1" latinLnBrk="0" hangingPunct="1">
      <a:defRPr sz="1200" kern="1200">
        <a:solidFill>
          <a:schemeClr val="tx1"/>
        </a:solidFill>
        <a:latin typeface="Times New Roman" panose="02020603050405020304" pitchFamily="18" charset="0"/>
        <a:ea typeface="+mn-ea"/>
        <a:cs typeface="+mn-cs"/>
      </a:defRPr>
    </a:lvl4pPr>
    <a:lvl5pPr marL="1828800" algn="l" defTabSz="914400" rtl="0" eaLnBrk="1" latinLnBrk="0" hangingPunct="1">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1635F52E-BA8C-4FAB-BCFA-C67A14D9CE22}" type="slidenum">
              <a:rPr lang="en-US" smtClean="0"/>
              <a:pPr/>
              <a:t>1</a:t>
            </a:fld>
            <a:endParaRPr lang="en-US" dirty="0"/>
          </a:p>
        </p:txBody>
      </p:sp>
    </p:spTree>
    <p:extLst>
      <p:ext uri="{BB962C8B-B14F-4D97-AF65-F5344CB8AC3E}">
        <p14:creationId xmlns:p14="http://schemas.microsoft.com/office/powerpoint/2010/main" val="6996396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35174139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3</a:t>
            </a:fld>
            <a:endParaRPr lang="en-US"/>
          </a:p>
        </p:txBody>
      </p:sp>
      <p:sp>
        <p:nvSpPr>
          <p:cNvPr id="5" name="Header Placeholder 4"/>
          <p:cNvSpPr>
            <a:spLocks noGrp="1"/>
          </p:cNvSpPr>
          <p:nvPr>
            <p:ph type="hdr" sz="quarter" idx="11"/>
          </p:nvPr>
        </p:nvSpPr>
        <p:spPr/>
        <p:txBody>
          <a:bodyPr/>
          <a:lstStyle/>
          <a:p>
            <a:endParaRPr lang="en-US"/>
          </a:p>
        </p:txBody>
      </p:sp>
    </p:spTree>
    <p:extLst>
      <p:ext uri="{BB962C8B-B14F-4D97-AF65-F5344CB8AC3E}">
        <p14:creationId xmlns:p14="http://schemas.microsoft.com/office/powerpoint/2010/main" val="10237619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93DA87-A56F-46F6-B399-17EDACEDB34C}" type="slidenum">
              <a:rPr lang="en-US" smtClean="0"/>
              <a:pPr/>
              <a:t>9</a:t>
            </a:fld>
            <a:endParaRPr lang="en-US" dirty="0"/>
          </a:p>
        </p:txBody>
      </p:sp>
    </p:spTree>
    <p:extLst>
      <p:ext uri="{BB962C8B-B14F-4D97-AF65-F5344CB8AC3E}">
        <p14:creationId xmlns:p14="http://schemas.microsoft.com/office/powerpoint/2010/main" val="15486962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10</a:t>
            </a:fld>
            <a:endParaRPr lang="en-US"/>
          </a:p>
        </p:txBody>
      </p:sp>
    </p:spTree>
    <p:extLst>
      <p:ext uri="{BB962C8B-B14F-4D97-AF65-F5344CB8AC3E}">
        <p14:creationId xmlns:p14="http://schemas.microsoft.com/office/powerpoint/2010/main" val="51797050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11</a:t>
            </a:fld>
            <a:endParaRPr lang="en-US"/>
          </a:p>
        </p:txBody>
      </p:sp>
    </p:spTree>
    <p:extLst>
      <p:ext uri="{BB962C8B-B14F-4D97-AF65-F5344CB8AC3E}">
        <p14:creationId xmlns:p14="http://schemas.microsoft.com/office/powerpoint/2010/main" val="8338360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13</a:t>
            </a:fld>
            <a:endParaRPr lang="en-US"/>
          </a:p>
        </p:txBody>
      </p:sp>
    </p:spTree>
    <p:extLst>
      <p:ext uri="{BB962C8B-B14F-4D97-AF65-F5344CB8AC3E}">
        <p14:creationId xmlns:p14="http://schemas.microsoft.com/office/powerpoint/2010/main" val="111306373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14</a:t>
            </a:fld>
            <a:endParaRPr lang="en-US"/>
          </a:p>
        </p:txBody>
      </p:sp>
    </p:spTree>
    <p:extLst>
      <p:ext uri="{BB962C8B-B14F-4D97-AF65-F5344CB8AC3E}">
        <p14:creationId xmlns:p14="http://schemas.microsoft.com/office/powerpoint/2010/main" val="389892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1635F52E-BA8C-4FAB-BCFA-C67A14D9CE22}" type="slidenum">
              <a:rPr lang="en-US" smtClean="0"/>
              <a:pPr/>
              <a:t>20</a:t>
            </a:fld>
            <a:endParaRPr lang="en-US"/>
          </a:p>
        </p:txBody>
      </p:sp>
    </p:spTree>
    <p:extLst>
      <p:ext uri="{BB962C8B-B14F-4D97-AF65-F5344CB8AC3E}">
        <p14:creationId xmlns:p14="http://schemas.microsoft.com/office/powerpoint/2010/main" val="258753916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CF93DA87-A56F-46F6-B399-17EDACEDB34C}" type="slidenum">
              <a:rPr lang="en-US" smtClean="0"/>
              <a:pPr/>
              <a:t>43</a:t>
            </a:fld>
            <a:endParaRPr lang="en-US" dirty="0"/>
          </a:p>
        </p:txBody>
      </p:sp>
    </p:spTree>
    <p:extLst>
      <p:ext uri="{BB962C8B-B14F-4D97-AF65-F5344CB8AC3E}">
        <p14:creationId xmlns:p14="http://schemas.microsoft.com/office/powerpoint/2010/main" val="418217026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5.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5.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p>
            <a:fld id="{7B89C315-43F1-4FA6-BF84-8F8AB40AD6BF}" type="datetime1">
              <a:rPr lang="en-US" smtClean="0"/>
              <a:t>9/13/2025</a:t>
            </a:fld>
            <a:endParaRPr lang="en-US"/>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657173-9518-0FC9-B83D-4F34A697521B}"/>
              </a:ext>
            </a:extLst>
          </p:cNvPr>
          <p:cNvSpPr>
            <a:spLocks noGrp="1"/>
          </p:cNvSpPr>
          <p:nvPr>
            <p:ph type="title"/>
          </p:nvPr>
        </p:nvSpPr>
        <p:spPr/>
        <p:txBody>
          <a:bodyPr/>
          <a:lstStyle/>
          <a:p>
            <a:r>
              <a:rPr lang="en-US" dirty="0"/>
              <a:t>Click to edit Master title style</a:t>
            </a:r>
            <a:endParaRPr lang="en-IN" dirty="0"/>
          </a:p>
        </p:txBody>
      </p:sp>
      <p:sp>
        <p:nvSpPr>
          <p:cNvPr id="3" name="Date Placeholder 2">
            <a:extLst>
              <a:ext uri="{FF2B5EF4-FFF2-40B4-BE49-F238E27FC236}">
                <a16:creationId xmlns:a16="http://schemas.microsoft.com/office/drawing/2014/main" id="{F348531B-1707-9607-E558-CD165684746E}"/>
              </a:ext>
            </a:extLst>
          </p:cNvPr>
          <p:cNvSpPr>
            <a:spLocks noGrp="1"/>
          </p:cNvSpPr>
          <p:nvPr>
            <p:ph type="dt" sz="half" idx="10"/>
          </p:nvPr>
        </p:nvSpPr>
        <p:spPr/>
        <p:txBody>
          <a:bodyPr/>
          <a:lstStyle/>
          <a:p>
            <a:fld id="{78CDEBB8-836E-46B7-BD91-0E3326E3E29F}" type="datetime1">
              <a:rPr lang="en-US" smtClean="0"/>
              <a:t>9/13/2025</a:t>
            </a:fld>
            <a:endParaRPr lang="en-US" dirty="0"/>
          </a:p>
        </p:txBody>
      </p:sp>
      <p:sp>
        <p:nvSpPr>
          <p:cNvPr id="4" name="Footer Placeholder 3">
            <a:extLst>
              <a:ext uri="{FF2B5EF4-FFF2-40B4-BE49-F238E27FC236}">
                <a16:creationId xmlns:a16="http://schemas.microsoft.com/office/drawing/2014/main" id="{A2AC0445-9EDE-D0EE-FFD2-45DAA4CB2499}"/>
              </a:ext>
            </a:extLst>
          </p:cNvPr>
          <p:cNvSpPr>
            <a:spLocks noGrp="1"/>
          </p:cNvSpPr>
          <p:nvPr>
            <p:ph type="ftr" sz="quarter" idx="11"/>
          </p:nvPr>
        </p:nvSpPr>
        <p:spPr/>
        <p:txBody>
          <a:bodyPr/>
          <a:lstStyle/>
          <a:p>
            <a:r>
              <a:rPr lang="en-US" dirty="0"/>
              <a:t>Dr. Jyoti Singh        Statistics and Probability   Module 3 </a:t>
            </a:r>
          </a:p>
        </p:txBody>
      </p:sp>
      <p:sp>
        <p:nvSpPr>
          <p:cNvPr id="5" name="Slide Number Placeholder 4">
            <a:extLst>
              <a:ext uri="{FF2B5EF4-FFF2-40B4-BE49-F238E27FC236}">
                <a16:creationId xmlns:a16="http://schemas.microsoft.com/office/drawing/2014/main" id="{1C1F48B7-167E-6B28-26CA-352990BFC564}"/>
              </a:ext>
            </a:extLst>
          </p:cNvPr>
          <p:cNvSpPr>
            <a:spLocks noGrp="1"/>
          </p:cNvSpPr>
          <p:nvPr>
            <p:ph type="sldNum" sz="quarter" idx="12"/>
          </p:nvPr>
        </p:nvSpPr>
        <p:spPr/>
        <p:txBody>
          <a:body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1080337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lstStyle>
            <a:lvl1pPr>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FB917271-C1F1-4EDC-A093-4AF0FCE05C76}" type="datetime1">
              <a:rPr lang="en-US" smtClean="0"/>
              <a:t>9/13/2025</a:t>
            </a:fld>
            <a:endParaRPr lang="en-US"/>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9" name="Picture 8" descr="A black and red logo&#10;&#10;Description automatically generated">
            <a:extLst>
              <a:ext uri="{FF2B5EF4-FFF2-40B4-BE49-F238E27FC236}">
                <a16:creationId xmlns:a16="http://schemas.microsoft.com/office/drawing/2014/main" id="{2DA01603-F690-0CAD-8C85-17EE0F0AF23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066800" cy="99060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normAutofit/>
          </a:bodyPr>
          <a:lstStyle>
            <a:lvl1pPr marL="0" indent="0">
              <a:buNone/>
              <a:defRPr sz="24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7E7AF98D-B349-4688-A0B8-00528FCA2B60}" type="datetime1">
              <a:rPr lang="en-US" smtClean="0"/>
              <a:t>9/13/2025</a:t>
            </a:fld>
            <a:endParaRPr lang="en-US"/>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Content Placeholder 3"/>
          <p:cNvSpPr>
            <a:spLocks noGrp="1"/>
          </p:cNvSpPr>
          <p:nvPr>
            <p:ph sz="half" idx="2"/>
          </p:nvPr>
        </p:nvSpPr>
        <p:spPr>
          <a:xfrm>
            <a:off x="4648200" y="1600200"/>
            <a:ext cx="4038600" cy="4525963"/>
          </a:xfrm>
        </p:spPr>
        <p:txBody>
          <a:bodyPr/>
          <a:lstStyle>
            <a:lvl1pPr>
              <a:defRPr sz="24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p:cNvSpPr>
            <a:spLocks noGrp="1"/>
          </p:cNvSpPr>
          <p:nvPr>
            <p:ph type="dt" sz="half" idx="10"/>
          </p:nvPr>
        </p:nvSpPr>
        <p:spPr/>
        <p:txBody>
          <a:bodyPr/>
          <a:lstStyle/>
          <a:p>
            <a:fld id="{2AEE66BF-2D4F-4F1C-A96C-2F6AD31D5D94}" type="datetime1">
              <a:rPr lang="en-US" smtClean="0"/>
              <a:t>9/13/2025</a:t>
            </a:fld>
            <a:endParaRPr lang="en-US"/>
          </a:p>
        </p:txBody>
      </p:sp>
      <p:sp>
        <p:nvSpPr>
          <p:cNvPr id="6" name="Footer Placeholder 5"/>
          <p:cNvSpPr>
            <a:spLocks noGrp="1"/>
          </p:cNvSpPr>
          <p:nvPr>
            <p:ph type="ftr" sz="quarter" idx="11"/>
          </p:nvPr>
        </p:nvSpPr>
        <p:spPr/>
        <p:txBody>
          <a:bodyPr/>
          <a:lstStyle/>
          <a:p>
            <a:r>
              <a:rPr lang="en-US" dirty="0"/>
              <a:t>Dr. Jyoti Singh        Statistics and Probability   Module 3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0FCE3B-0690-40CC-92D8-E61B08771F38}" type="datetime1">
              <a:rPr lang="en-US" smtClean="0"/>
              <a:t>9/13/2025</a:t>
            </a:fld>
            <a:endParaRPr lang="en-US"/>
          </a:p>
        </p:txBody>
      </p:sp>
      <p:sp>
        <p:nvSpPr>
          <p:cNvPr id="8" name="Footer Placeholder 7"/>
          <p:cNvSpPr>
            <a:spLocks noGrp="1"/>
          </p:cNvSpPr>
          <p:nvPr>
            <p:ph type="ftr" sz="quarter" idx="11"/>
          </p:nvPr>
        </p:nvSpPr>
        <p:spPr/>
        <p:txBody>
          <a:bodyPr/>
          <a:lstStyle/>
          <a:p>
            <a:r>
              <a:rPr lang="en-US" dirty="0"/>
              <a:t>Dr. Jyoti Singh        Statistics and Probability   Module 3 </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200"/>
            </a:lvl1pPr>
          </a:lstStyle>
          <a:p>
            <a:r>
              <a:rPr lang="en-US" dirty="0"/>
              <a:t>Click to edit Master title style</a:t>
            </a:r>
          </a:p>
        </p:txBody>
      </p:sp>
      <p:sp>
        <p:nvSpPr>
          <p:cNvPr id="3" name="Date Placeholder 2"/>
          <p:cNvSpPr>
            <a:spLocks noGrp="1"/>
          </p:cNvSpPr>
          <p:nvPr>
            <p:ph type="dt" sz="half" idx="10"/>
          </p:nvPr>
        </p:nvSpPr>
        <p:spPr/>
        <p:txBody>
          <a:bodyPr/>
          <a:lstStyle/>
          <a:p>
            <a:fld id="{CB357A98-30A7-4622-9050-F9484D98425F}" type="datetime1">
              <a:rPr lang="en-US" smtClean="0"/>
              <a:t>9/13/2025</a:t>
            </a:fld>
            <a:endParaRPr lang="en-US"/>
          </a:p>
        </p:txBody>
      </p:sp>
      <p:sp>
        <p:nvSpPr>
          <p:cNvPr id="4" name="Footer Placeholder 3"/>
          <p:cNvSpPr>
            <a:spLocks noGrp="1"/>
          </p:cNvSpPr>
          <p:nvPr>
            <p:ph type="ftr" sz="quarter" idx="11"/>
          </p:nvPr>
        </p:nvSpPr>
        <p:spPr/>
        <p:txBody>
          <a:bodyPr/>
          <a:lstStyle/>
          <a:p>
            <a:r>
              <a:rPr lang="en-US" dirty="0"/>
              <a:t>Dr. Jyoti Singh        Statistics and Probability   Module 3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B5F10C3-DE24-455D-831D-B102DE881EA1}" type="datetime1">
              <a:rPr lang="en-US" smtClean="0"/>
              <a:t>9/13/2025</a:t>
            </a:fld>
            <a:endParaRPr lang="en-US"/>
          </a:p>
        </p:txBody>
      </p:sp>
      <p:sp>
        <p:nvSpPr>
          <p:cNvPr id="3" name="Footer Placeholder 2"/>
          <p:cNvSpPr>
            <a:spLocks noGrp="1"/>
          </p:cNvSpPr>
          <p:nvPr>
            <p:ph type="ftr" sz="quarter" idx="11"/>
          </p:nvPr>
        </p:nvSpPr>
        <p:spPr/>
        <p:txBody>
          <a:bodyPr/>
          <a:lstStyle/>
          <a:p>
            <a:r>
              <a:rPr lang="en-US" dirty="0"/>
              <a:t>Dr. Jyoti Singh        Statistics and Probability   Module 3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FBE157-FD06-44D2-BF1F-DE18F0E91A79}" type="datetime1">
              <a:rPr lang="en-US" smtClean="0"/>
              <a:t>9/13/2025</a:t>
            </a:fld>
            <a:endParaRPr lang="en-US"/>
          </a:p>
        </p:txBody>
      </p:sp>
      <p:sp>
        <p:nvSpPr>
          <p:cNvPr id="6" name="Footer Placeholder 5"/>
          <p:cNvSpPr>
            <a:spLocks noGrp="1"/>
          </p:cNvSpPr>
          <p:nvPr>
            <p:ph type="ftr" sz="quarter" idx="11"/>
          </p:nvPr>
        </p:nvSpPr>
        <p:spPr/>
        <p:txBody>
          <a:bodyPr/>
          <a:lstStyle/>
          <a:p>
            <a:r>
              <a:rPr lang="en-US" dirty="0"/>
              <a:t>Dr. Jyoti Singh        Statistics and Probability   Module 3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75B4EF13-3418-4537-9215-01B59A75AFB7}" type="datetime1">
              <a:rPr lang="en-US" smtClean="0"/>
              <a:t>9/13/2025</a:t>
            </a:fld>
            <a:endParaRPr lang="en-US"/>
          </a:p>
        </p:txBody>
      </p:sp>
      <p:sp>
        <p:nvSpPr>
          <p:cNvPr id="6" name="Footer Placeholder 5"/>
          <p:cNvSpPr>
            <a:spLocks noGrp="1"/>
          </p:cNvSpPr>
          <p:nvPr>
            <p:ph type="ftr" sz="quarter" idx="11"/>
          </p:nvPr>
        </p:nvSpPr>
        <p:spPr/>
        <p:txBody>
          <a:bodyPr/>
          <a:lstStyle/>
          <a:p>
            <a:r>
              <a:rPr lang="en-US" dirty="0"/>
              <a:t>Dr. Jyoti Singh        Statistics and Probability   Module 3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4D6A42CF-6233-464B-9159-BCE00D5F0C2F}" type="datetime1">
              <a:rPr lang="en-US" smtClean="0"/>
              <a:t>9/13/2025</a:t>
            </a:fld>
            <a:endParaRPr lang="en-US"/>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5A74E35-8EF0-41C8-AF41-94B0F6CCE7D6}" type="datetime1">
              <a:rPr lang="en-US" smtClean="0"/>
              <a:t>9/13/2025</a:t>
            </a:fld>
            <a:endParaRPr lang="en-US"/>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B2E544-40FF-78AC-C230-707527DBBE58}"/>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D789876E-4F66-1C2B-3878-D381A6AD6C62}"/>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991B7E13-BEFC-6FBC-D81F-8265657DD5C2}"/>
              </a:ext>
            </a:extLst>
          </p:cNvPr>
          <p:cNvSpPr>
            <a:spLocks noGrp="1"/>
          </p:cNvSpPr>
          <p:nvPr>
            <p:ph type="dt" sz="half" idx="10"/>
          </p:nvPr>
        </p:nvSpPr>
        <p:spPr/>
        <p:txBody>
          <a:bodyPr/>
          <a:lstStyle/>
          <a:p>
            <a:fld id="{5BD6C0BC-950D-45E3-9F38-36DD2DC1B15E}" type="datetime1">
              <a:rPr lang="en-US" smtClean="0"/>
              <a:t>9/13/2025</a:t>
            </a:fld>
            <a:endParaRPr lang="en-IN"/>
          </a:p>
        </p:txBody>
      </p:sp>
      <p:sp>
        <p:nvSpPr>
          <p:cNvPr id="5" name="Footer Placeholder 4">
            <a:extLst>
              <a:ext uri="{FF2B5EF4-FFF2-40B4-BE49-F238E27FC236}">
                <a16:creationId xmlns:a16="http://schemas.microsoft.com/office/drawing/2014/main" id="{CC281949-36DC-1304-B64F-B8C8DFF84A7F}"/>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EF6A1469-4ACB-7252-FCF2-7C7408A79EFC}"/>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403832510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8DF2DF-51D8-11ED-E55A-E74635A87E9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670324D-EF88-7ACA-BE84-929EFBF3C15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3A6ACAC-3815-320A-E219-0A7E6AFE1F27}"/>
              </a:ext>
            </a:extLst>
          </p:cNvPr>
          <p:cNvSpPr>
            <a:spLocks noGrp="1"/>
          </p:cNvSpPr>
          <p:nvPr>
            <p:ph type="dt" sz="half" idx="10"/>
          </p:nvPr>
        </p:nvSpPr>
        <p:spPr/>
        <p:txBody>
          <a:bodyPr/>
          <a:lstStyle/>
          <a:p>
            <a:fld id="{D3E3C55E-3D7D-4D13-842C-3AEEA9F49E74}" type="datetime1">
              <a:rPr lang="en-US" smtClean="0"/>
              <a:t>9/13/2025</a:t>
            </a:fld>
            <a:endParaRPr lang="en-IN"/>
          </a:p>
        </p:txBody>
      </p:sp>
      <p:sp>
        <p:nvSpPr>
          <p:cNvPr id="5" name="Footer Placeholder 4">
            <a:extLst>
              <a:ext uri="{FF2B5EF4-FFF2-40B4-BE49-F238E27FC236}">
                <a16:creationId xmlns:a16="http://schemas.microsoft.com/office/drawing/2014/main" id="{A8E6462C-B80A-E7EC-4E78-3A74ABC78C53}"/>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4F7F56FB-EA6A-253B-B5EB-CA7313F7B9CE}"/>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309288369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B00575-0BEB-BBF0-2833-76B3A8E2F26D}"/>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A7F60284-C2AC-FCB2-9581-DB42216471D8}"/>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5BDF902-C7BE-021A-104E-75D67CED7E81}"/>
              </a:ext>
            </a:extLst>
          </p:cNvPr>
          <p:cNvSpPr>
            <a:spLocks noGrp="1"/>
          </p:cNvSpPr>
          <p:nvPr>
            <p:ph type="dt" sz="half" idx="10"/>
          </p:nvPr>
        </p:nvSpPr>
        <p:spPr/>
        <p:txBody>
          <a:bodyPr/>
          <a:lstStyle/>
          <a:p>
            <a:fld id="{71FB33A2-C66C-4B96-8502-A6749DBFF2B6}" type="datetime1">
              <a:rPr lang="en-US" smtClean="0"/>
              <a:t>9/13/2025</a:t>
            </a:fld>
            <a:endParaRPr lang="en-IN"/>
          </a:p>
        </p:txBody>
      </p:sp>
      <p:sp>
        <p:nvSpPr>
          <p:cNvPr id="5" name="Footer Placeholder 4">
            <a:extLst>
              <a:ext uri="{FF2B5EF4-FFF2-40B4-BE49-F238E27FC236}">
                <a16:creationId xmlns:a16="http://schemas.microsoft.com/office/drawing/2014/main" id="{FC9AF3F5-1B66-4856-25FA-94160FA5F04E}"/>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65BB2F28-1A94-8827-0357-24395137191B}"/>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206950007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547574-56DA-74C1-5C1C-35B77AFAF34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8B30F351-3ACE-DADA-A030-D14A454BE8DC}"/>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9325228-771B-1EA3-FEB2-87B82CAB73C9}"/>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9802E4EA-C6F0-8AC0-3D4F-070911F3D467}"/>
              </a:ext>
            </a:extLst>
          </p:cNvPr>
          <p:cNvSpPr>
            <a:spLocks noGrp="1"/>
          </p:cNvSpPr>
          <p:nvPr>
            <p:ph type="dt" sz="half" idx="10"/>
          </p:nvPr>
        </p:nvSpPr>
        <p:spPr/>
        <p:txBody>
          <a:bodyPr/>
          <a:lstStyle/>
          <a:p>
            <a:fld id="{85B0F350-A075-431D-80AA-41F0D421DFF3}" type="datetime1">
              <a:rPr lang="en-US" smtClean="0"/>
              <a:t>9/13/2025</a:t>
            </a:fld>
            <a:endParaRPr lang="en-IN"/>
          </a:p>
        </p:txBody>
      </p:sp>
      <p:sp>
        <p:nvSpPr>
          <p:cNvPr id="6" name="Footer Placeholder 5">
            <a:extLst>
              <a:ext uri="{FF2B5EF4-FFF2-40B4-BE49-F238E27FC236}">
                <a16:creationId xmlns:a16="http://schemas.microsoft.com/office/drawing/2014/main" id="{CCA87696-A91E-4D25-AB2C-496B62FD423A}"/>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C1BE9ECD-54DB-D037-295E-A814C159FE50}"/>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196403265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9F5DAE-63B0-2A4F-7D57-0339599F22F7}"/>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5BB2475-C06C-EDB0-78A9-03CD41A05D0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76C8599-4577-0C13-2EFB-EE8E3390ED3B}"/>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ED42489-9572-34A8-8D7A-B5649603CFA4}"/>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7337994-1FA3-034E-E046-F8FD04F1DFC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1187E25-31BC-1E43-F2B0-9B176D2FB809}"/>
              </a:ext>
            </a:extLst>
          </p:cNvPr>
          <p:cNvSpPr>
            <a:spLocks noGrp="1"/>
          </p:cNvSpPr>
          <p:nvPr>
            <p:ph type="dt" sz="half" idx="10"/>
          </p:nvPr>
        </p:nvSpPr>
        <p:spPr/>
        <p:txBody>
          <a:bodyPr/>
          <a:lstStyle/>
          <a:p>
            <a:fld id="{C677211F-0046-4C69-92E4-950ABDECC466}" type="datetime1">
              <a:rPr lang="en-US" smtClean="0"/>
              <a:t>9/13/2025</a:t>
            </a:fld>
            <a:endParaRPr lang="en-IN"/>
          </a:p>
        </p:txBody>
      </p:sp>
      <p:sp>
        <p:nvSpPr>
          <p:cNvPr id="8" name="Footer Placeholder 7">
            <a:extLst>
              <a:ext uri="{FF2B5EF4-FFF2-40B4-BE49-F238E27FC236}">
                <a16:creationId xmlns:a16="http://schemas.microsoft.com/office/drawing/2014/main" id="{2E1B478D-B1DE-2879-9CCD-05163E746E80}"/>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9" name="Slide Number Placeholder 8">
            <a:extLst>
              <a:ext uri="{FF2B5EF4-FFF2-40B4-BE49-F238E27FC236}">
                <a16:creationId xmlns:a16="http://schemas.microsoft.com/office/drawing/2014/main" id="{5305F307-8ADB-FC76-4853-1766B0A6AE18}"/>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4273693897"/>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7B1E0F-9B3F-8DC1-9548-1B51F6FC167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4C0DCF7-4027-2794-A485-B0FA3A6242D7}"/>
              </a:ext>
            </a:extLst>
          </p:cNvPr>
          <p:cNvSpPr>
            <a:spLocks noGrp="1"/>
          </p:cNvSpPr>
          <p:nvPr>
            <p:ph type="dt" sz="half" idx="10"/>
          </p:nvPr>
        </p:nvSpPr>
        <p:spPr/>
        <p:txBody>
          <a:bodyPr/>
          <a:lstStyle/>
          <a:p>
            <a:fld id="{3A05F499-6073-466A-8737-B2B8E0D79D05}" type="datetime1">
              <a:rPr lang="en-US" smtClean="0"/>
              <a:t>9/13/2025</a:t>
            </a:fld>
            <a:endParaRPr lang="en-IN"/>
          </a:p>
        </p:txBody>
      </p:sp>
      <p:sp>
        <p:nvSpPr>
          <p:cNvPr id="4" name="Footer Placeholder 3">
            <a:extLst>
              <a:ext uri="{FF2B5EF4-FFF2-40B4-BE49-F238E27FC236}">
                <a16:creationId xmlns:a16="http://schemas.microsoft.com/office/drawing/2014/main" id="{B74CFFC2-52BC-C6C4-E82E-15F976A7A448}"/>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5" name="Slide Number Placeholder 4">
            <a:extLst>
              <a:ext uri="{FF2B5EF4-FFF2-40B4-BE49-F238E27FC236}">
                <a16:creationId xmlns:a16="http://schemas.microsoft.com/office/drawing/2014/main" id="{D7F80334-1BF6-7C35-B2B3-D1CB51207D42}"/>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502250170"/>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33A325C-A92D-2A4B-8A5A-B5461F7CEA81}"/>
              </a:ext>
            </a:extLst>
          </p:cNvPr>
          <p:cNvSpPr>
            <a:spLocks noGrp="1"/>
          </p:cNvSpPr>
          <p:nvPr>
            <p:ph type="dt" sz="half" idx="10"/>
          </p:nvPr>
        </p:nvSpPr>
        <p:spPr/>
        <p:txBody>
          <a:bodyPr/>
          <a:lstStyle/>
          <a:p>
            <a:fld id="{128E7485-B0B8-41D6-8741-624E6286C9F7}" type="datetime1">
              <a:rPr lang="en-US" smtClean="0"/>
              <a:t>9/13/2025</a:t>
            </a:fld>
            <a:endParaRPr lang="en-IN"/>
          </a:p>
        </p:txBody>
      </p:sp>
      <p:sp>
        <p:nvSpPr>
          <p:cNvPr id="3" name="Footer Placeholder 2">
            <a:extLst>
              <a:ext uri="{FF2B5EF4-FFF2-40B4-BE49-F238E27FC236}">
                <a16:creationId xmlns:a16="http://schemas.microsoft.com/office/drawing/2014/main" id="{1EEADD5A-D736-4584-7113-63004F7256D3}"/>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4" name="Slide Number Placeholder 3">
            <a:extLst>
              <a:ext uri="{FF2B5EF4-FFF2-40B4-BE49-F238E27FC236}">
                <a16:creationId xmlns:a16="http://schemas.microsoft.com/office/drawing/2014/main" id="{79AAD3A8-658B-2A65-B08D-F9AE575416A8}"/>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144445848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F71607-9A7B-B5A5-4691-5E97F8289DDB}"/>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9E5A2F8-539D-8FA2-B590-EF1C27E05282}"/>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1C5C20F-C2A6-F4C9-426A-2ADF5076DE36}"/>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C30F026-533D-346B-3544-4D42F7F0663F}"/>
              </a:ext>
            </a:extLst>
          </p:cNvPr>
          <p:cNvSpPr>
            <a:spLocks noGrp="1"/>
          </p:cNvSpPr>
          <p:nvPr>
            <p:ph type="dt" sz="half" idx="10"/>
          </p:nvPr>
        </p:nvSpPr>
        <p:spPr/>
        <p:txBody>
          <a:bodyPr/>
          <a:lstStyle/>
          <a:p>
            <a:fld id="{ACDBFB35-86B5-452D-9695-EDADBC88A77A}" type="datetime1">
              <a:rPr lang="en-US" smtClean="0"/>
              <a:t>9/13/2025</a:t>
            </a:fld>
            <a:endParaRPr lang="en-IN"/>
          </a:p>
        </p:txBody>
      </p:sp>
      <p:sp>
        <p:nvSpPr>
          <p:cNvPr id="6" name="Footer Placeholder 5">
            <a:extLst>
              <a:ext uri="{FF2B5EF4-FFF2-40B4-BE49-F238E27FC236}">
                <a16:creationId xmlns:a16="http://schemas.microsoft.com/office/drawing/2014/main" id="{DAEE29C7-D85C-92CE-41D7-24555971FCC5}"/>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3178B164-93B2-671B-B65E-999256599B94}"/>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186964793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6FA0C4-5976-2BA6-7457-B899743270A4}"/>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067D6285-D228-DD89-95B4-CC1983FB2B9A}"/>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1BC69D9-6906-7723-8D1B-F582C7C3B27A}"/>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E3781D2-C332-3A4B-3486-737252BC4D0F}"/>
              </a:ext>
            </a:extLst>
          </p:cNvPr>
          <p:cNvSpPr>
            <a:spLocks noGrp="1"/>
          </p:cNvSpPr>
          <p:nvPr>
            <p:ph type="dt" sz="half" idx="10"/>
          </p:nvPr>
        </p:nvSpPr>
        <p:spPr/>
        <p:txBody>
          <a:bodyPr/>
          <a:lstStyle/>
          <a:p>
            <a:fld id="{7261B358-D5B9-4A48-ADD1-8471B0331A5B}" type="datetime1">
              <a:rPr lang="en-US" smtClean="0"/>
              <a:t>9/13/2025</a:t>
            </a:fld>
            <a:endParaRPr lang="en-IN"/>
          </a:p>
        </p:txBody>
      </p:sp>
      <p:sp>
        <p:nvSpPr>
          <p:cNvPr id="6" name="Footer Placeholder 5">
            <a:extLst>
              <a:ext uri="{FF2B5EF4-FFF2-40B4-BE49-F238E27FC236}">
                <a16:creationId xmlns:a16="http://schemas.microsoft.com/office/drawing/2014/main" id="{F6EBC391-B0E3-F1C7-FDF5-9FD51D605B15}"/>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7B8A179D-CF4E-437A-7C0D-D1A83D6BB25F}"/>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50556327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59C759-20EA-09DE-C361-601B90302A9C}"/>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63C6CF3-CBD7-32CF-AF45-C399FA4888D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B605DDF-F57D-85C1-D224-0E298B653047}"/>
              </a:ext>
            </a:extLst>
          </p:cNvPr>
          <p:cNvSpPr>
            <a:spLocks noGrp="1"/>
          </p:cNvSpPr>
          <p:nvPr>
            <p:ph type="dt" sz="half" idx="10"/>
          </p:nvPr>
        </p:nvSpPr>
        <p:spPr/>
        <p:txBody>
          <a:bodyPr/>
          <a:lstStyle/>
          <a:p>
            <a:fld id="{50EA959C-FFB1-4321-BC11-5B4870C7FBD6}" type="datetime1">
              <a:rPr lang="en-US" smtClean="0"/>
              <a:t>9/13/2025</a:t>
            </a:fld>
            <a:endParaRPr lang="en-IN"/>
          </a:p>
        </p:txBody>
      </p:sp>
      <p:sp>
        <p:nvSpPr>
          <p:cNvPr id="5" name="Footer Placeholder 4">
            <a:extLst>
              <a:ext uri="{FF2B5EF4-FFF2-40B4-BE49-F238E27FC236}">
                <a16:creationId xmlns:a16="http://schemas.microsoft.com/office/drawing/2014/main" id="{4C294216-F67C-4AB2-E87E-A6BA7FF51891}"/>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DA152BFF-F73F-9130-F2F8-648A87C731EC}"/>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387241853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3867687-41E7-5EB6-F9F4-AA9B8F24310F}"/>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B8E21118-4CC3-159D-A0C0-74C41355FE23}"/>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DF23E3-819E-5A5E-193E-2736FD4BA491}"/>
              </a:ext>
            </a:extLst>
          </p:cNvPr>
          <p:cNvSpPr>
            <a:spLocks noGrp="1"/>
          </p:cNvSpPr>
          <p:nvPr>
            <p:ph type="dt" sz="half" idx="10"/>
          </p:nvPr>
        </p:nvSpPr>
        <p:spPr/>
        <p:txBody>
          <a:bodyPr/>
          <a:lstStyle/>
          <a:p>
            <a:fld id="{77F9A945-00C0-4812-AE82-5EF78E6A6C23}" type="datetime1">
              <a:rPr lang="en-US" smtClean="0"/>
              <a:t>9/13/2025</a:t>
            </a:fld>
            <a:endParaRPr lang="en-IN"/>
          </a:p>
        </p:txBody>
      </p:sp>
      <p:sp>
        <p:nvSpPr>
          <p:cNvPr id="5" name="Footer Placeholder 4">
            <a:extLst>
              <a:ext uri="{FF2B5EF4-FFF2-40B4-BE49-F238E27FC236}">
                <a16:creationId xmlns:a16="http://schemas.microsoft.com/office/drawing/2014/main" id="{3BCC66F4-FB68-16AB-7578-3C243B06B921}"/>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6E11F16D-5B12-9355-0620-FB59676F85FD}"/>
              </a:ext>
            </a:extLst>
          </p:cNvPr>
          <p:cNvSpPr>
            <a:spLocks noGrp="1"/>
          </p:cNvSpPr>
          <p:nvPr>
            <p:ph type="sldNum" sz="quarter" idx="12"/>
          </p:nvPr>
        </p:nvSpPr>
        <p:spPr/>
        <p:txBody>
          <a:bodyPr/>
          <a:lstStyle/>
          <a:p>
            <a:fld id="{6709BDD0-B7FE-42B6-BEE2-755C12EE8809}" type="slidenum">
              <a:rPr lang="en-IN" smtClean="0"/>
              <a:t>‹#›</a:t>
            </a:fld>
            <a:endParaRPr lang="en-IN"/>
          </a:p>
        </p:txBody>
      </p:sp>
    </p:spTree>
    <p:extLst>
      <p:ext uri="{BB962C8B-B14F-4D97-AF65-F5344CB8AC3E}">
        <p14:creationId xmlns:p14="http://schemas.microsoft.com/office/powerpoint/2010/main" val="2068510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11EC03-6E01-DA1E-161A-612E8F092909}"/>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3E6CDA3-8FBE-E340-B0E6-CA81C1F14780}"/>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F1874D8C-2FAB-4CFA-329D-24D8A37EFD2F}"/>
              </a:ext>
            </a:extLst>
          </p:cNvPr>
          <p:cNvSpPr>
            <a:spLocks noGrp="1"/>
          </p:cNvSpPr>
          <p:nvPr>
            <p:ph type="dt" sz="half" idx="10"/>
          </p:nvPr>
        </p:nvSpPr>
        <p:spPr/>
        <p:txBody>
          <a:bodyPr/>
          <a:lstStyle/>
          <a:p>
            <a:fld id="{66D2AEC0-7B9C-4D44-AAD2-D59232157C97}" type="datetime1">
              <a:rPr lang="en-US" smtClean="0"/>
              <a:t>9/13/2025</a:t>
            </a:fld>
            <a:endParaRPr lang="en-IN"/>
          </a:p>
        </p:txBody>
      </p:sp>
      <p:sp>
        <p:nvSpPr>
          <p:cNvPr id="5" name="Footer Placeholder 4">
            <a:extLst>
              <a:ext uri="{FF2B5EF4-FFF2-40B4-BE49-F238E27FC236}">
                <a16:creationId xmlns:a16="http://schemas.microsoft.com/office/drawing/2014/main" id="{76756528-C75F-DC1C-F41F-FF82CB75EFBC}"/>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92F8EA31-E779-2682-7C17-94D8B6F8070A}"/>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2557213818"/>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792C60-09B5-5590-09FE-645D6044EEE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93EC5B1B-9696-0490-FB92-6ACA165B05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D8E8F8-BE79-657E-E3A7-22E1C99A7646}"/>
              </a:ext>
            </a:extLst>
          </p:cNvPr>
          <p:cNvSpPr>
            <a:spLocks noGrp="1"/>
          </p:cNvSpPr>
          <p:nvPr>
            <p:ph type="dt" sz="half" idx="10"/>
          </p:nvPr>
        </p:nvSpPr>
        <p:spPr/>
        <p:txBody>
          <a:bodyPr/>
          <a:lstStyle/>
          <a:p>
            <a:fld id="{52A5002F-8D4D-4F61-9EC6-E9F3E27287D7}" type="datetime1">
              <a:rPr lang="en-US" smtClean="0"/>
              <a:t>9/13/2025</a:t>
            </a:fld>
            <a:endParaRPr lang="en-IN"/>
          </a:p>
        </p:txBody>
      </p:sp>
      <p:sp>
        <p:nvSpPr>
          <p:cNvPr id="5" name="Footer Placeholder 4">
            <a:extLst>
              <a:ext uri="{FF2B5EF4-FFF2-40B4-BE49-F238E27FC236}">
                <a16:creationId xmlns:a16="http://schemas.microsoft.com/office/drawing/2014/main" id="{75CE5E65-BBEE-1D35-70E3-F3B8646F17F9}"/>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1B2B6774-EED6-CB3C-EBAA-65165703E1E5}"/>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99578555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7D9E80-0A3B-910F-0FF3-F21D68425A00}"/>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2C486839-3F81-6015-C2E2-A213BB5B146F}"/>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978062-9D8A-D1AE-ED81-CF8F21CE36F5}"/>
              </a:ext>
            </a:extLst>
          </p:cNvPr>
          <p:cNvSpPr>
            <a:spLocks noGrp="1"/>
          </p:cNvSpPr>
          <p:nvPr>
            <p:ph type="dt" sz="half" idx="10"/>
          </p:nvPr>
        </p:nvSpPr>
        <p:spPr/>
        <p:txBody>
          <a:bodyPr/>
          <a:lstStyle/>
          <a:p>
            <a:fld id="{C65DEFF1-1AE2-480D-BA9A-5D315892A5E5}" type="datetime1">
              <a:rPr lang="en-US" smtClean="0"/>
              <a:t>9/13/2025</a:t>
            </a:fld>
            <a:endParaRPr lang="en-IN"/>
          </a:p>
        </p:txBody>
      </p:sp>
      <p:sp>
        <p:nvSpPr>
          <p:cNvPr id="5" name="Footer Placeholder 4">
            <a:extLst>
              <a:ext uri="{FF2B5EF4-FFF2-40B4-BE49-F238E27FC236}">
                <a16:creationId xmlns:a16="http://schemas.microsoft.com/office/drawing/2014/main" id="{0B39C6A4-ABAB-D13D-99C6-802727309DB0}"/>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5F1C35B4-46C6-B187-21EF-28401B8E6BF3}"/>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26869786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8C6E14-0AC9-5BF9-15B3-06FF05055D7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29BC047-5F3D-4AB4-2929-FB44201FC246}"/>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C1BF091B-E7D4-2194-EC66-2B3C991A24D6}"/>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2BF7036-B904-1169-AAA9-0D9690503A60}"/>
              </a:ext>
            </a:extLst>
          </p:cNvPr>
          <p:cNvSpPr>
            <a:spLocks noGrp="1"/>
          </p:cNvSpPr>
          <p:nvPr>
            <p:ph type="dt" sz="half" idx="10"/>
          </p:nvPr>
        </p:nvSpPr>
        <p:spPr/>
        <p:txBody>
          <a:bodyPr/>
          <a:lstStyle/>
          <a:p>
            <a:fld id="{EE1F7693-11B3-41D0-B776-8C9E7CC69EF5}" type="datetime1">
              <a:rPr lang="en-US" smtClean="0"/>
              <a:t>9/13/2025</a:t>
            </a:fld>
            <a:endParaRPr lang="en-IN"/>
          </a:p>
        </p:txBody>
      </p:sp>
      <p:sp>
        <p:nvSpPr>
          <p:cNvPr id="6" name="Footer Placeholder 5">
            <a:extLst>
              <a:ext uri="{FF2B5EF4-FFF2-40B4-BE49-F238E27FC236}">
                <a16:creationId xmlns:a16="http://schemas.microsoft.com/office/drawing/2014/main" id="{C147C4D2-BBDC-1EAF-61D0-EBCD80801365}"/>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0115CA7F-9434-D070-4A45-2E94F123F022}"/>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1673829151"/>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35E884-BB3D-24F8-E468-345B8A7666FB}"/>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42CA606-5EFC-BC0F-9A7C-DA5EB02D4ECA}"/>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DDC264B1-9888-38F4-F013-185DE5779023}"/>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FA5C47A-7CD2-D4D5-5B43-88BB25916A9C}"/>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DC1118F-9084-49D3-1A92-92BC5A733433}"/>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9739413-6A1A-997C-B04E-28134B56C167}"/>
              </a:ext>
            </a:extLst>
          </p:cNvPr>
          <p:cNvSpPr>
            <a:spLocks noGrp="1"/>
          </p:cNvSpPr>
          <p:nvPr>
            <p:ph type="dt" sz="half" idx="10"/>
          </p:nvPr>
        </p:nvSpPr>
        <p:spPr/>
        <p:txBody>
          <a:bodyPr/>
          <a:lstStyle/>
          <a:p>
            <a:fld id="{133B4287-488E-4752-B4D5-10F14522BC33}" type="datetime1">
              <a:rPr lang="en-US" smtClean="0"/>
              <a:t>9/13/2025</a:t>
            </a:fld>
            <a:endParaRPr lang="en-IN"/>
          </a:p>
        </p:txBody>
      </p:sp>
      <p:sp>
        <p:nvSpPr>
          <p:cNvPr id="8" name="Footer Placeholder 7">
            <a:extLst>
              <a:ext uri="{FF2B5EF4-FFF2-40B4-BE49-F238E27FC236}">
                <a16:creationId xmlns:a16="http://schemas.microsoft.com/office/drawing/2014/main" id="{3EDF47F0-3E9B-0719-815F-1B3A0FFF2E59}"/>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9" name="Slide Number Placeholder 8">
            <a:extLst>
              <a:ext uri="{FF2B5EF4-FFF2-40B4-BE49-F238E27FC236}">
                <a16:creationId xmlns:a16="http://schemas.microsoft.com/office/drawing/2014/main" id="{290AE199-E14D-8A0F-3523-FF7875332189}"/>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171978697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4B9673-C273-10B1-A5AB-857CE17620C0}"/>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A1A7D23D-C250-5778-8031-359A88B29E84}"/>
              </a:ext>
            </a:extLst>
          </p:cNvPr>
          <p:cNvSpPr>
            <a:spLocks noGrp="1"/>
          </p:cNvSpPr>
          <p:nvPr>
            <p:ph type="dt" sz="half" idx="10"/>
          </p:nvPr>
        </p:nvSpPr>
        <p:spPr/>
        <p:txBody>
          <a:bodyPr/>
          <a:lstStyle/>
          <a:p>
            <a:fld id="{709E63B5-7D32-4821-AA1E-FFFB61E0F2A4}" type="datetime1">
              <a:rPr lang="en-US" smtClean="0"/>
              <a:t>9/13/2025</a:t>
            </a:fld>
            <a:endParaRPr lang="en-IN"/>
          </a:p>
        </p:txBody>
      </p:sp>
      <p:sp>
        <p:nvSpPr>
          <p:cNvPr id="4" name="Footer Placeholder 3">
            <a:extLst>
              <a:ext uri="{FF2B5EF4-FFF2-40B4-BE49-F238E27FC236}">
                <a16:creationId xmlns:a16="http://schemas.microsoft.com/office/drawing/2014/main" id="{53DC14C5-3729-4B2A-1D44-7D5C442D2F47}"/>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5" name="Slide Number Placeholder 4">
            <a:extLst>
              <a:ext uri="{FF2B5EF4-FFF2-40B4-BE49-F238E27FC236}">
                <a16:creationId xmlns:a16="http://schemas.microsoft.com/office/drawing/2014/main" id="{11D9EED0-4F01-5FA8-12CA-6065CDAD74A6}"/>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285766057"/>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845538-9B70-15C3-C411-205C1A73BFF9}"/>
              </a:ext>
            </a:extLst>
          </p:cNvPr>
          <p:cNvSpPr>
            <a:spLocks noGrp="1"/>
          </p:cNvSpPr>
          <p:nvPr>
            <p:ph type="dt" sz="half" idx="10"/>
          </p:nvPr>
        </p:nvSpPr>
        <p:spPr/>
        <p:txBody>
          <a:bodyPr/>
          <a:lstStyle/>
          <a:p>
            <a:fld id="{254E1E0C-B4B3-4D20-AE45-636A0B11E215}" type="datetime1">
              <a:rPr lang="en-US" smtClean="0"/>
              <a:t>9/13/2025</a:t>
            </a:fld>
            <a:endParaRPr lang="en-IN"/>
          </a:p>
        </p:txBody>
      </p:sp>
      <p:sp>
        <p:nvSpPr>
          <p:cNvPr id="3" name="Footer Placeholder 2">
            <a:extLst>
              <a:ext uri="{FF2B5EF4-FFF2-40B4-BE49-F238E27FC236}">
                <a16:creationId xmlns:a16="http://schemas.microsoft.com/office/drawing/2014/main" id="{2A892225-FECC-501D-3D00-14A122B039CC}"/>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4" name="Slide Number Placeholder 3">
            <a:extLst>
              <a:ext uri="{FF2B5EF4-FFF2-40B4-BE49-F238E27FC236}">
                <a16:creationId xmlns:a16="http://schemas.microsoft.com/office/drawing/2014/main" id="{C04FB542-8BEB-8A0E-054E-05CA2DA3F071}"/>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374143871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0852D-5D88-C092-0232-F870232A1A40}"/>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1932EFD8-4ABF-A3A0-7A51-7423BD1505D3}"/>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CC24B-2073-DBF6-0194-DDAF7113B39F}"/>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F9A703D-756F-6320-3090-0DB3720224E7}"/>
              </a:ext>
            </a:extLst>
          </p:cNvPr>
          <p:cNvSpPr>
            <a:spLocks noGrp="1"/>
          </p:cNvSpPr>
          <p:nvPr>
            <p:ph type="dt" sz="half" idx="10"/>
          </p:nvPr>
        </p:nvSpPr>
        <p:spPr/>
        <p:txBody>
          <a:bodyPr/>
          <a:lstStyle/>
          <a:p>
            <a:fld id="{2162E512-77D8-422A-9704-4107AB1A30BA}" type="datetime1">
              <a:rPr lang="en-US" smtClean="0"/>
              <a:t>9/13/2025</a:t>
            </a:fld>
            <a:endParaRPr lang="en-IN"/>
          </a:p>
        </p:txBody>
      </p:sp>
      <p:sp>
        <p:nvSpPr>
          <p:cNvPr id="6" name="Footer Placeholder 5">
            <a:extLst>
              <a:ext uri="{FF2B5EF4-FFF2-40B4-BE49-F238E27FC236}">
                <a16:creationId xmlns:a16="http://schemas.microsoft.com/office/drawing/2014/main" id="{79AF78D4-17C7-99E9-ADDB-F5C8A2C73EA0}"/>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8DFC25D4-E62D-47A7-0D3B-3CDC38C82985}"/>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3671211184"/>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6020BB-568E-72C1-1E63-4448DF317378}"/>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1E6DD730-2D39-9DAE-229F-822C86A1CE1C}"/>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57F22658-64D5-5B14-EB06-800B480F8F8C}"/>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D19BFC8-E096-E12F-E7E0-3F92EDED4230}"/>
              </a:ext>
            </a:extLst>
          </p:cNvPr>
          <p:cNvSpPr>
            <a:spLocks noGrp="1"/>
          </p:cNvSpPr>
          <p:nvPr>
            <p:ph type="dt" sz="half" idx="10"/>
          </p:nvPr>
        </p:nvSpPr>
        <p:spPr/>
        <p:txBody>
          <a:bodyPr/>
          <a:lstStyle/>
          <a:p>
            <a:fld id="{034D5DCF-29AE-4EA9-B6DC-BC121BBFEED9}" type="datetime1">
              <a:rPr lang="en-US" smtClean="0"/>
              <a:t>9/13/2025</a:t>
            </a:fld>
            <a:endParaRPr lang="en-IN"/>
          </a:p>
        </p:txBody>
      </p:sp>
      <p:sp>
        <p:nvSpPr>
          <p:cNvPr id="6" name="Footer Placeholder 5">
            <a:extLst>
              <a:ext uri="{FF2B5EF4-FFF2-40B4-BE49-F238E27FC236}">
                <a16:creationId xmlns:a16="http://schemas.microsoft.com/office/drawing/2014/main" id="{1609B2D9-DBA5-7C2A-8054-46540A9525F6}"/>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F2C53933-2557-64DF-70F8-F816F2750E2C}"/>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206492779"/>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BBA2F2-F9DC-711F-AC8C-A5A2037C98A4}"/>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D264745-786A-A1FC-9924-491658147AE2}"/>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1911C3E-D418-8649-2337-1A640D9870E8}"/>
              </a:ext>
            </a:extLst>
          </p:cNvPr>
          <p:cNvSpPr>
            <a:spLocks noGrp="1"/>
          </p:cNvSpPr>
          <p:nvPr>
            <p:ph type="dt" sz="half" idx="10"/>
          </p:nvPr>
        </p:nvSpPr>
        <p:spPr/>
        <p:txBody>
          <a:bodyPr/>
          <a:lstStyle/>
          <a:p>
            <a:fld id="{B96E3A77-8AC5-4F72-92F8-76D440CC6DFA}" type="datetime1">
              <a:rPr lang="en-US" smtClean="0"/>
              <a:t>9/13/2025</a:t>
            </a:fld>
            <a:endParaRPr lang="en-IN"/>
          </a:p>
        </p:txBody>
      </p:sp>
      <p:sp>
        <p:nvSpPr>
          <p:cNvPr id="5" name="Footer Placeholder 4">
            <a:extLst>
              <a:ext uri="{FF2B5EF4-FFF2-40B4-BE49-F238E27FC236}">
                <a16:creationId xmlns:a16="http://schemas.microsoft.com/office/drawing/2014/main" id="{AAB37961-1290-0041-7CDB-6511B1BF60FF}"/>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4D9A1F0E-5A4F-FAD7-F336-B6B499455BA6}"/>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2875228909"/>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83D0B77-E882-4251-50F0-652CE0B6BBD0}"/>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1E6C8B40-C4CF-4A9C-5C7D-D04FB28FCE10}"/>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AA8C436-3AE2-DEBB-C49D-8FC4BB03692F}"/>
              </a:ext>
            </a:extLst>
          </p:cNvPr>
          <p:cNvSpPr>
            <a:spLocks noGrp="1"/>
          </p:cNvSpPr>
          <p:nvPr>
            <p:ph type="dt" sz="half" idx="10"/>
          </p:nvPr>
        </p:nvSpPr>
        <p:spPr/>
        <p:txBody>
          <a:bodyPr/>
          <a:lstStyle/>
          <a:p>
            <a:fld id="{98910AA1-80A2-49FC-A306-455492D4340E}" type="datetime1">
              <a:rPr lang="en-US" smtClean="0"/>
              <a:t>9/13/2025</a:t>
            </a:fld>
            <a:endParaRPr lang="en-IN"/>
          </a:p>
        </p:txBody>
      </p:sp>
      <p:sp>
        <p:nvSpPr>
          <p:cNvPr id="5" name="Footer Placeholder 4">
            <a:extLst>
              <a:ext uri="{FF2B5EF4-FFF2-40B4-BE49-F238E27FC236}">
                <a16:creationId xmlns:a16="http://schemas.microsoft.com/office/drawing/2014/main" id="{65EF7EEA-6116-4A2B-A4AE-CE283494B266}"/>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7CFF6636-60B3-7228-6476-E37022144331}"/>
              </a:ext>
            </a:extLst>
          </p:cNvPr>
          <p:cNvSpPr>
            <a:spLocks noGrp="1"/>
          </p:cNvSpPr>
          <p:nvPr>
            <p:ph type="sldNum" sz="quarter" idx="12"/>
          </p:nvPr>
        </p:nvSpPr>
        <p:spPr/>
        <p:txBody>
          <a:bodyPr/>
          <a:lstStyle/>
          <a:p>
            <a:fld id="{F30A5A4C-0299-42FA-971C-901DC0C4B6F5}" type="slidenum">
              <a:rPr lang="en-IN" smtClean="0"/>
              <a:t>‹#›</a:t>
            </a:fld>
            <a:endParaRPr lang="en-IN"/>
          </a:p>
        </p:txBody>
      </p:sp>
    </p:spTree>
    <p:extLst>
      <p:ext uri="{BB962C8B-B14F-4D97-AF65-F5344CB8AC3E}">
        <p14:creationId xmlns:p14="http://schemas.microsoft.com/office/powerpoint/2010/main" val="1446803415"/>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FCBAF-534D-62B8-A9E5-BC14859BBF8D}"/>
              </a:ext>
            </a:extLst>
          </p:cNvPr>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B77897F-BBC5-901E-5487-045300BFEA88}"/>
              </a:ext>
            </a:extLst>
          </p:cNvPr>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33B5DF71-361A-90C4-4A78-C7A8437D7F41}"/>
              </a:ext>
            </a:extLst>
          </p:cNvPr>
          <p:cNvSpPr>
            <a:spLocks noGrp="1"/>
          </p:cNvSpPr>
          <p:nvPr>
            <p:ph type="dt" sz="half" idx="10"/>
          </p:nvPr>
        </p:nvSpPr>
        <p:spPr/>
        <p:txBody>
          <a:bodyPr/>
          <a:lstStyle/>
          <a:p>
            <a:fld id="{0EC949A6-3405-4C64-B6D3-D251F75D1122}" type="datetime1">
              <a:rPr lang="en-US" smtClean="0"/>
              <a:t>9/13/2025</a:t>
            </a:fld>
            <a:endParaRPr lang="en-IN"/>
          </a:p>
        </p:txBody>
      </p:sp>
      <p:sp>
        <p:nvSpPr>
          <p:cNvPr id="5" name="Footer Placeholder 4">
            <a:extLst>
              <a:ext uri="{FF2B5EF4-FFF2-40B4-BE49-F238E27FC236}">
                <a16:creationId xmlns:a16="http://schemas.microsoft.com/office/drawing/2014/main" id="{8716CEA4-89E2-6B83-D0E3-81170256B584}"/>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23C88AE4-AEC7-5B40-3D7B-75C9FB53AC7E}"/>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2364197220"/>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F5ADEB-4304-E401-8341-3150A3ABBF61}"/>
              </a:ext>
            </a:extLst>
          </p:cNvPr>
          <p:cNvSpPr>
            <a:spLocks noGrp="1"/>
          </p:cNvSpPr>
          <p:nvPr>
            <p:ph type="title"/>
          </p:nvPr>
        </p:nvSpPr>
        <p:spPr/>
        <p:txBody>
          <a:bodyPr/>
          <a:lstStyle/>
          <a:p>
            <a:r>
              <a:rPr lang="en-US" dirty="0"/>
              <a:t>Click to edit Master title style</a:t>
            </a:r>
            <a:endParaRPr lang="en-IN" dirty="0"/>
          </a:p>
        </p:txBody>
      </p:sp>
      <p:sp>
        <p:nvSpPr>
          <p:cNvPr id="3" name="Content Placeholder 2">
            <a:extLst>
              <a:ext uri="{FF2B5EF4-FFF2-40B4-BE49-F238E27FC236}">
                <a16:creationId xmlns:a16="http://schemas.microsoft.com/office/drawing/2014/main" id="{407AEA10-CCE1-F322-B2B5-FF7751AB99D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014B1A0-484E-D9CE-C9F7-428D4D4FF04E}"/>
              </a:ext>
            </a:extLst>
          </p:cNvPr>
          <p:cNvSpPr>
            <a:spLocks noGrp="1"/>
          </p:cNvSpPr>
          <p:nvPr>
            <p:ph type="dt" sz="half" idx="10"/>
          </p:nvPr>
        </p:nvSpPr>
        <p:spPr/>
        <p:txBody>
          <a:bodyPr/>
          <a:lstStyle/>
          <a:p>
            <a:fld id="{A53D9DA5-A68F-4B1F-A098-4F84F98563A1}" type="datetime1">
              <a:rPr lang="en-US" smtClean="0"/>
              <a:t>9/13/2025</a:t>
            </a:fld>
            <a:endParaRPr lang="en-IN"/>
          </a:p>
        </p:txBody>
      </p:sp>
      <p:sp>
        <p:nvSpPr>
          <p:cNvPr id="5" name="Footer Placeholder 4">
            <a:extLst>
              <a:ext uri="{FF2B5EF4-FFF2-40B4-BE49-F238E27FC236}">
                <a16:creationId xmlns:a16="http://schemas.microsoft.com/office/drawing/2014/main" id="{F0DB05F7-4E87-D735-8B80-BB44CC2BBB7C}"/>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1289AD53-E342-E728-C96D-AF929EDCAA3F}"/>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2898648501"/>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3F48A3-267C-EB18-65C8-679331E6518C}"/>
              </a:ext>
            </a:extLst>
          </p:cNvPr>
          <p:cNvSpPr>
            <a:spLocks noGrp="1"/>
          </p:cNvSpPr>
          <p:nvPr>
            <p:ph type="title"/>
          </p:nvPr>
        </p:nvSpPr>
        <p:spPr>
          <a:xfrm>
            <a:off x="623888" y="1709738"/>
            <a:ext cx="78867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51A60A4-0888-D862-1411-B5DCEE4EA333}"/>
              </a:ext>
            </a:extLst>
          </p:cNvPr>
          <p:cNvSpPr>
            <a:spLocks noGrp="1"/>
          </p:cNvSpPr>
          <p:nvPr>
            <p:ph type="body" idx="1"/>
          </p:nvPr>
        </p:nvSpPr>
        <p:spPr>
          <a:xfrm>
            <a:off x="623888" y="4589463"/>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FA8261A-6834-C2F8-9E76-DBEDAC704D67}"/>
              </a:ext>
            </a:extLst>
          </p:cNvPr>
          <p:cNvSpPr>
            <a:spLocks noGrp="1"/>
          </p:cNvSpPr>
          <p:nvPr>
            <p:ph type="dt" sz="half" idx="10"/>
          </p:nvPr>
        </p:nvSpPr>
        <p:spPr/>
        <p:txBody>
          <a:bodyPr/>
          <a:lstStyle/>
          <a:p>
            <a:fld id="{DFA957CE-710C-47FA-BFED-3161983B0855}" type="datetime1">
              <a:rPr lang="en-US" smtClean="0"/>
              <a:t>9/13/2025</a:t>
            </a:fld>
            <a:endParaRPr lang="en-IN"/>
          </a:p>
        </p:txBody>
      </p:sp>
      <p:sp>
        <p:nvSpPr>
          <p:cNvPr id="5" name="Footer Placeholder 4">
            <a:extLst>
              <a:ext uri="{FF2B5EF4-FFF2-40B4-BE49-F238E27FC236}">
                <a16:creationId xmlns:a16="http://schemas.microsoft.com/office/drawing/2014/main" id="{7E657B8D-BB68-17B9-DA37-25B3DF6F90F2}"/>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31820F01-4B96-DDC8-9B3A-76A8E32EAE93}"/>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32125625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486E3C-C567-EF6C-CFCB-B8BFC3F9CF27}"/>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CE023244-ECD1-2525-0E09-2CCAC8B8339D}"/>
              </a:ext>
            </a:extLst>
          </p:cNvPr>
          <p:cNvSpPr>
            <a:spLocks noGrp="1"/>
          </p:cNvSpPr>
          <p:nvPr>
            <p:ph sz="half" idx="1"/>
          </p:nvPr>
        </p:nvSpPr>
        <p:spPr>
          <a:xfrm>
            <a:off x="62865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14FC7F1-CB3B-FB07-706D-F1813EA2CF93}"/>
              </a:ext>
            </a:extLst>
          </p:cNvPr>
          <p:cNvSpPr>
            <a:spLocks noGrp="1"/>
          </p:cNvSpPr>
          <p:nvPr>
            <p:ph sz="half" idx="2"/>
          </p:nvPr>
        </p:nvSpPr>
        <p:spPr>
          <a:xfrm>
            <a:off x="4648200" y="1825625"/>
            <a:ext cx="38671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C5033562-B554-397B-12F6-1C6FB6ECA56B}"/>
              </a:ext>
            </a:extLst>
          </p:cNvPr>
          <p:cNvSpPr>
            <a:spLocks noGrp="1"/>
          </p:cNvSpPr>
          <p:nvPr>
            <p:ph type="dt" sz="half" idx="10"/>
          </p:nvPr>
        </p:nvSpPr>
        <p:spPr/>
        <p:txBody>
          <a:bodyPr/>
          <a:lstStyle/>
          <a:p>
            <a:fld id="{C13C1C08-6549-44C5-94F5-FDBB965399B6}" type="datetime1">
              <a:rPr lang="en-US" smtClean="0"/>
              <a:t>9/13/2025</a:t>
            </a:fld>
            <a:endParaRPr lang="en-IN"/>
          </a:p>
        </p:txBody>
      </p:sp>
      <p:sp>
        <p:nvSpPr>
          <p:cNvPr id="6" name="Footer Placeholder 5">
            <a:extLst>
              <a:ext uri="{FF2B5EF4-FFF2-40B4-BE49-F238E27FC236}">
                <a16:creationId xmlns:a16="http://schemas.microsoft.com/office/drawing/2014/main" id="{8775E335-80C1-7BB7-9C92-6ADF03A7543D}"/>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B8B3B07B-DAEF-FEDC-C81B-080E77622F5F}"/>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2597993152"/>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2FB41A9-1A09-033E-D1C8-61B6ADE3611D}"/>
              </a:ext>
            </a:extLst>
          </p:cNvPr>
          <p:cNvSpPr>
            <a:spLocks noGrp="1"/>
          </p:cNvSpPr>
          <p:nvPr>
            <p:ph type="title"/>
          </p:nvPr>
        </p:nvSpPr>
        <p:spPr>
          <a:xfrm>
            <a:off x="630238" y="365125"/>
            <a:ext cx="78867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8C4725C-B521-798B-3852-E16091510163}"/>
              </a:ext>
            </a:extLst>
          </p:cNvPr>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32B5EA-9805-7FC5-0183-5DB7B0253457}"/>
              </a:ext>
            </a:extLst>
          </p:cNvPr>
          <p:cNvSpPr>
            <a:spLocks noGrp="1"/>
          </p:cNvSpPr>
          <p:nvPr>
            <p:ph sz="half" idx="2"/>
          </p:nvPr>
        </p:nvSpPr>
        <p:spPr>
          <a:xfrm>
            <a:off x="630238" y="2505075"/>
            <a:ext cx="386873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C85EB10D-3AA3-F40E-EA4D-BEA5AE4664E5}"/>
              </a:ext>
            </a:extLst>
          </p:cNvPr>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5B6E323-4B15-6695-DC20-B58491520214}"/>
              </a:ext>
            </a:extLst>
          </p:cNvPr>
          <p:cNvSpPr>
            <a:spLocks noGrp="1"/>
          </p:cNvSpPr>
          <p:nvPr>
            <p:ph sz="quarter" idx="4"/>
          </p:nvPr>
        </p:nvSpPr>
        <p:spPr>
          <a:xfrm>
            <a:off x="4629150" y="2505075"/>
            <a:ext cx="38877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E40EDB6-0A8B-982C-15C7-180F3488C58C}"/>
              </a:ext>
            </a:extLst>
          </p:cNvPr>
          <p:cNvSpPr>
            <a:spLocks noGrp="1"/>
          </p:cNvSpPr>
          <p:nvPr>
            <p:ph type="dt" sz="half" idx="10"/>
          </p:nvPr>
        </p:nvSpPr>
        <p:spPr/>
        <p:txBody>
          <a:bodyPr/>
          <a:lstStyle/>
          <a:p>
            <a:fld id="{D0706834-D344-4BE5-A43F-30ECDC0327A1}" type="datetime1">
              <a:rPr lang="en-US" smtClean="0"/>
              <a:t>9/13/2025</a:t>
            </a:fld>
            <a:endParaRPr lang="en-IN"/>
          </a:p>
        </p:txBody>
      </p:sp>
      <p:sp>
        <p:nvSpPr>
          <p:cNvPr id="8" name="Footer Placeholder 7">
            <a:extLst>
              <a:ext uri="{FF2B5EF4-FFF2-40B4-BE49-F238E27FC236}">
                <a16:creationId xmlns:a16="http://schemas.microsoft.com/office/drawing/2014/main" id="{C321B165-AE53-6BFC-5048-5D4695A52AE1}"/>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9" name="Slide Number Placeholder 8">
            <a:extLst>
              <a:ext uri="{FF2B5EF4-FFF2-40B4-BE49-F238E27FC236}">
                <a16:creationId xmlns:a16="http://schemas.microsoft.com/office/drawing/2014/main" id="{506970D7-614E-2AC1-FAF1-BAA49655DCDA}"/>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3479042010"/>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5B526C-97F2-BC65-FCD0-25C76357A08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1C06268-CA99-D274-3352-EE0D2C9950E1}"/>
              </a:ext>
            </a:extLst>
          </p:cNvPr>
          <p:cNvSpPr>
            <a:spLocks noGrp="1"/>
          </p:cNvSpPr>
          <p:nvPr>
            <p:ph type="dt" sz="half" idx="10"/>
          </p:nvPr>
        </p:nvSpPr>
        <p:spPr/>
        <p:txBody>
          <a:bodyPr/>
          <a:lstStyle/>
          <a:p>
            <a:fld id="{98BF4715-1C66-4724-B540-4FC7130D527C}" type="datetime1">
              <a:rPr lang="en-US" smtClean="0"/>
              <a:t>9/13/2025</a:t>
            </a:fld>
            <a:endParaRPr lang="en-IN"/>
          </a:p>
        </p:txBody>
      </p:sp>
      <p:sp>
        <p:nvSpPr>
          <p:cNvPr id="4" name="Footer Placeholder 3">
            <a:extLst>
              <a:ext uri="{FF2B5EF4-FFF2-40B4-BE49-F238E27FC236}">
                <a16:creationId xmlns:a16="http://schemas.microsoft.com/office/drawing/2014/main" id="{A299CD0C-B9FD-152D-53E7-63B21DACF7F0}"/>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5" name="Slide Number Placeholder 4">
            <a:extLst>
              <a:ext uri="{FF2B5EF4-FFF2-40B4-BE49-F238E27FC236}">
                <a16:creationId xmlns:a16="http://schemas.microsoft.com/office/drawing/2014/main" id="{1EB7A5BF-FB48-8565-4423-3F88977FE680}"/>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4241521796"/>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3FC1FC6-5179-DDBF-11E5-DF0463A6E3F3}"/>
              </a:ext>
            </a:extLst>
          </p:cNvPr>
          <p:cNvSpPr>
            <a:spLocks noGrp="1"/>
          </p:cNvSpPr>
          <p:nvPr>
            <p:ph type="dt" sz="half" idx="10"/>
          </p:nvPr>
        </p:nvSpPr>
        <p:spPr/>
        <p:txBody>
          <a:bodyPr/>
          <a:lstStyle/>
          <a:p>
            <a:fld id="{E4BE584A-64B9-459F-B42C-B96D84890524}" type="datetime1">
              <a:rPr lang="en-US" smtClean="0"/>
              <a:t>9/13/2025</a:t>
            </a:fld>
            <a:endParaRPr lang="en-IN"/>
          </a:p>
        </p:txBody>
      </p:sp>
      <p:sp>
        <p:nvSpPr>
          <p:cNvPr id="3" name="Footer Placeholder 2">
            <a:extLst>
              <a:ext uri="{FF2B5EF4-FFF2-40B4-BE49-F238E27FC236}">
                <a16:creationId xmlns:a16="http://schemas.microsoft.com/office/drawing/2014/main" id="{71BFDEB3-8FC8-31F7-0048-C21682816523}"/>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4" name="Slide Number Placeholder 3">
            <a:extLst>
              <a:ext uri="{FF2B5EF4-FFF2-40B4-BE49-F238E27FC236}">
                <a16:creationId xmlns:a16="http://schemas.microsoft.com/office/drawing/2014/main" id="{146B2F4A-6615-64EE-759F-2CDECE4F5668}"/>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2556689926"/>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26221B-2A46-BDED-9047-E12124625C0F}"/>
              </a:ext>
            </a:extLst>
          </p:cNvPr>
          <p:cNvSpPr>
            <a:spLocks noGrp="1"/>
          </p:cNvSpPr>
          <p:nvPr>
            <p:ph type="title"/>
          </p:nvPr>
        </p:nvSpPr>
        <p:spPr>
          <a:xfrm>
            <a:off x="630238" y="457200"/>
            <a:ext cx="2949575"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14F7C70-43A5-24E7-2356-F55E301CB530}"/>
              </a:ext>
            </a:extLst>
          </p:cNvPr>
          <p:cNvSpPr>
            <a:spLocks noGrp="1"/>
          </p:cNvSpPr>
          <p:nvPr>
            <p:ph idx="1"/>
          </p:nvPr>
        </p:nvSpPr>
        <p:spPr>
          <a:xfrm>
            <a:off x="3887788" y="987425"/>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C8DBE5CB-CD64-CA34-420E-F2D62A16CFD0}"/>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067CE47-70A5-76DB-0D6C-9A934DD3004D}"/>
              </a:ext>
            </a:extLst>
          </p:cNvPr>
          <p:cNvSpPr>
            <a:spLocks noGrp="1"/>
          </p:cNvSpPr>
          <p:nvPr>
            <p:ph type="dt" sz="half" idx="10"/>
          </p:nvPr>
        </p:nvSpPr>
        <p:spPr/>
        <p:txBody>
          <a:bodyPr/>
          <a:lstStyle/>
          <a:p>
            <a:fld id="{F962ABC1-88B9-4195-891C-47C7C42C10A1}" type="datetime1">
              <a:rPr lang="en-US" smtClean="0"/>
              <a:t>9/13/2025</a:t>
            </a:fld>
            <a:endParaRPr lang="en-IN"/>
          </a:p>
        </p:txBody>
      </p:sp>
      <p:sp>
        <p:nvSpPr>
          <p:cNvPr id="6" name="Footer Placeholder 5">
            <a:extLst>
              <a:ext uri="{FF2B5EF4-FFF2-40B4-BE49-F238E27FC236}">
                <a16:creationId xmlns:a16="http://schemas.microsoft.com/office/drawing/2014/main" id="{26ADB712-04E9-D543-5E41-53C21F205F7F}"/>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F42CFAD4-1740-86BC-FF41-0E4959AB33CE}"/>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460008433"/>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9B1F46-CC25-47B3-05A3-8F9C50D5E94D}"/>
              </a:ext>
            </a:extLst>
          </p:cNvPr>
          <p:cNvSpPr>
            <a:spLocks noGrp="1"/>
          </p:cNvSpPr>
          <p:nvPr>
            <p:ph type="title"/>
          </p:nvPr>
        </p:nvSpPr>
        <p:spPr>
          <a:xfrm>
            <a:off x="630238" y="457200"/>
            <a:ext cx="2949575" cy="1600200"/>
          </a:xfrm>
        </p:spPr>
        <p:txBody>
          <a:bodyPr anchor="b"/>
          <a:lstStyle>
            <a:lvl1pPr>
              <a:defRPr sz="3200"/>
            </a:lvl1pPr>
          </a:lstStyle>
          <a:p>
            <a:r>
              <a:rPr lang="en-US" dirty="0"/>
              <a:t>Click to edit Master title style</a:t>
            </a:r>
            <a:endParaRPr lang="en-IN" dirty="0"/>
          </a:p>
        </p:txBody>
      </p:sp>
      <p:sp>
        <p:nvSpPr>
          <p:cNvPr id="3" name="Picture Placeholder 2">
            <a:extLst>
              <a:ext uri="{FF2B5EF4-FFF2-40B4-BE49-F238E27FC236}">
                <a16:creationId xmlns:a16="http://schemas.microsoft.com/office/drawing/2014/main" id="{54A6B32D-229B-C06C-31C9-B2D4028728C6}"/>
              </a:ext>
            </a:extLst>
          </p:cNvPr>
          <p:cNvSpPr>
            <a:spLocks noGrp="1"/>
          </p:cNvSpPr>
          <p:nvPr>
            <p:ph type="pic" idx="1"/>
          </p:nvPr>
        </p:nvSpPr>
        <p:spPr>
          <a:xfrm>
            <a:off x="3887788" y="987425"/>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30062B89-1AB4-A4F9-53EB-6D4DDFF0D2B2}"/>
              </a:ext>
            </a:extLst>
          </p:cNvPr>
          <p:cNvSpPr>
            <a:spLocks noGrp="1"/>
          </p:cNvSpPr>
          <p:nvPr>
            <p:ph type="body" sz="half" idx="2"/>
          </p:nvPr>
        </p:nvSpPr>
        <p:spPr>
          <a:xfrm>
            <a:off x="630238" y="2057400"/>
            <a:ext cx="2949575"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a:t>
            </a:r>
          </a:p>
        </p:txBody>
      </p:sp>
      <p:sp>
        <p:nvSpPr>
          <p:cNvPr id="5" name="Date Placeholder 4">
            <a:extLst>
              <a:ext uri="{FF2B5EF4-FFF2-40B4-BE49-F238E27FC236}">
                <a16:creationId xmlns:a16="http://schemas.microsoft.com/office/drawing/2014/main" id="{B8D66702-5D38-0E6B-8473-909F9325B284}"/>
              </a:ext>
            </a:extLst>
          </p:cNvPr>
          <p:cNvSpPr>
            <a:spLocks noGrp="1"/>
          </p:cNvSpPr>
          <p:nvPr>
            <p:ph type="dt" sz="half" idx="10"/>
          </p:nvPr>
        </p:nvSpPr>
        <p:spPr/>
        <p:txBody>
          <a:bodyPr/>
          <a:lstStyle/>
          <a:p>
            <a:fld id="{605075EF-B7A9-4A04-8B92-CE2015ED6A9D}" type="datetime1">
              <a:rPr lang="en-US" smtClean="0"/>
              <a:t>9/13/2025</a:t>
            </a:fld>
            <a:endParaRPr lang="en-IN"/>
          </a:p>
        </p:txBody>
      </p:sp>
      <p:sp>
        <p:nvSpPr>
          <p:cNvPr id="6" name="Footer Placeholder 5">
            <a:extLst>
              <a:ext uri="{FF2B5EF4-FFF2-40B4-BE49-F238E27FC236}">
                <a16:creationId xmlns:a16="http://schemas.microsoft.com/office/drawing/2014/main" id="{CEC4D631-360B-430A-E51F-70539C3E5DB8}"/>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7" name="Slide Number Placeholder 6">
            <a:extLst>
              <a:ext uri="{FF2B5EF4-FFF2-40B4-BE49-F238E27FC236}">
                <a16:creationId xmlns:a16="http://schemas.microsoft.com/office/drawing/2014/main" id="{D5E1F054-5B2D-F797-0BFC-A7CAFEE943D3}"/>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1572253275"/>
      </p:ext>
    </p:extLst>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D93703-BC38-6EBC-D79B-FDFFF79B240C}"/>
              </a:ext>
            </a:extLst>
          </p:cNvPr>
          <p:cNvSpPr>
            <a:spLocks noGrp="1"/>
          </p:cNvSpPr>
          <p:nvPr>
            <p:ph type="title"/>
          </p:nvPr>
        </p:nvSpPr>
        <p:spPr/>
        <p:txBody>
          <a:bodyPr/>
          <a:lstStyle/>
          <a:p>
            <a:r>
              <a:rPr lang="en-US" dirty="0"/>
              <a:t>Click to edit Master title style</a:t>
            </a:r>
            <a:endParaRPr lang="en-IN" dirty="0"/>
          </a:p>
        </p:txBody>
      </p:sp>
      <p:sp>
        <p:nvSpPr>
          <p:cNvPr id="3" name="Vertical Text Placeholder 2">
            <a:extLst>
              <a:ext uri="{FF2B5EF4-FFF2-40B4-BE49-F238E27FC236}">
                <a16:creationId xmlns:a16="http://schemas.microsoft.com/office/drawing/2014/main" id="{144C4453-C857-4CD0-935D-51E763458B4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C80E869-ABF8-F993-71FB-7E171DDFFE14}"/>
              </a:ext>
            </a:extLst>
          </p:cNvPr>
          <p:cNvSpPr>
            <a:spLocks noGrp="1"/>
          </p:cNvSpPr>
          <p:nvPr>
            <p:ph type="dt" sz="half" idx="10"/>
          </p:nvPr>
        </p:nvSpPr>
        <p:spPr/>
        <p:txBody>
          <a:bodyPr/>
          <a:lstStyle/>
          <a:p>
            <a:fld id="{948D7479-D806-43A7-BD8C-33C92837B35D}" type="datetime1">
              <a:rPr lang="en-US" smtClean="0"/>
              <a:t>9/13/2025</a:t>
            </a:fld>
            <a:endParaRPr lang="en-IN"/>
          </a:p>
        </p:txBody>
      </p:sp>
      <p:sp>
        <p:nvSpPr>
          <p:cNvPr id="5" name="Footer Placeholder 4">
            <a:extLst>
              <a:ext uri="{FF2B5EF4-FFF2-40B4-BE49-F238E27FC236}">
                <a16:creationId xmlns:a16="http://schemas.microsoft.com/office/drawing/2014/main" id="{AB2DC479-7E4B-EEF5-9A67-CD3A60F3BA5E}"/>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A26E580E-6A8B-EE19-0F48-C0A28882908B}"/>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2035544129"/>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4C0A1DD-66B2-2E25-ABBF-BE7BF8CD0D4B}"/>
              </a:ext>
            </a:extLst>
          </p:cNvPr>
          <p:cNvSpPr>
            <a:spLocks noGrp="1"/>
          </p:cNvSpPr>
          <p:nvPr>
            <p:ph type="title" orient="vert"/>
          </p:nvPr>
        </p:nvSpPr>
        <p:spPr>
          <a:xfrm>
            <a:off x="6543675" y="365125"/>
            <a:ext cx="1971675"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799110A-625A-737F-7D56-A1C9DE2DFE14}"/>
              </a:ext>
            </a:extLst>
          </p:cNvPr>
          <p:cNvSpPr>
            <a:spLocks noGrp="1"/>
          </p:cNvSpPr>
          <p:nvPr>
            <p:ph type="body" orient="vert" idx="1"/>
          </p:nvPr>
        </p:nvSpPr>
        <p:spPr>
          <a:xfrm>
            <a:off x="628650" y="365125"/>
            <a:ext cx="57626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E50A81B-E11B-4823-661F-289522099AA0}"/>
              </a:ext>
            </a:extLst>
          </p:cNvPr>
          <p:cNvSpPr>
            <a:spLocks noGrp="1"/>
          </p:cNvSpPr>
          <p:nvPr>
            <p:ph type="dt" sz="half" idx="10"/>
          </p:nvPr>
        </p:nvSpPr>
        <p:spPr/>
        <p:txBody>
          <a:bodyPr/>
          <a:lstStyle/>
          <a:p>
            <a:fld id="{37227EC4-66BB-4CB5-9534-9E8B23719952}" type="datetime1">
              <a:rPr lang="en-US" smtClean="0"/>
              <a:t>9/13/2025</a:t>
            </a:fld>
            <a:endParaRPr lang="en-IN"/>
          </a:p>
        </p:txBody>
      </p:sp>
      <p:sp>
        <p:nvSpPr>
          <p:cNvPr id="5" name="Footer Placeholder 4">
            <a:extLst>
              <a:ext uri="{FF2B5EF4-FFF2-40B4-BE49-F238E27FC236}">
                <a16:creationId xmlns:a16="http://schemas.microsoft.com/office/drawing/2014/main" id="{B2A5AFC8-6898-0585-834E-114A0DC727F9}"/>
              </a:ext>
            </a:extLst>
          </p:cNvPr>
          <p:cNvSpPr>
            <a:spLocks noGrp="1"/>
          </p:cNvSpPr>
          <p:nvPr>
            <p:ph type="ftr" sz="quarter" idx="11"/>
          </p:nvPr>
        </p:nvSpPr>
        <p:spPr/>
        <p:txBody>
          <a:body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45A3F3BB-EA41-D72E-58F6-6FAC3BCAEEDD}"/>
              </a:ext>
            </a:extLst>
          </p:cNvPr>
          <p:cNvSpPr>
            <a:spLocks noGrp="1"/>
          </p:cNvSpPr>
          <p:nvPr>
            <p:ph type="sldNum" sz="quarter" idx="12"/>
          </p:nvPr>
        </p:nvSpPr>
        <p:spPr/>
        <p:txBody>
          <a:bodyPr/>
          <a:lstStyle/>
          <a:p>
            <a:fld id="{9AD53D42-DE25-40E3-BD26-8E751580B9CC}" type="slidenum">
              <a:rPr lang="en-IN" smtClean="0"/>
              <a:t>‹#›</a:t>
            </a:fld>
            <a:endParaRPr lang="en-IN"/>
          </a:p>
        </p:txBody>
      </p:sp>
    </p:spTree>
    <p:extLst>
      <p:ext uri="{BB962C8B-B14F-4D97-AF65-F5344CB8AC3E}">
        <p14:creationId xmlns:p14="http://schemas.microsoft.com/office/powerpoint/2010/main" val="1674628643"/>
      </p:ext>
    </p:extLst>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latin typeface="Times New Roman" panose="02020603050405020304" pitchFamily="18" charset="0"/>
                <a:cs typeface="Times New Roman" panose="020206030504050203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263A2216-DE31-4325-8A18-11BC7082E115}" type="datetime1">
              <a:rPr lang="en-US" smtClean="0"/>
              <a:t>9/13/2025</a:t>
            </a:fld>
            <a:endParaRPr lang="en-US" dirty="0"/>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D7360FD3-D949-F793-3377-25A3A0A1D3B9}"/>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295400" cy="947268"/>
          </a:xfrm>
          <a:prstGeom prst="rect">
            <a:avLst/>
          </a:prstGeom>
        </p:spPr>
      </p:pic>
    </p:spTree>
    <p:extLst>
      <p:ext uri="{BB962C8B-B14F-4D97-AF65-F5344CB8AC3E}">
        <p14:creationId xmlns:p14="http://schemas.microsoft.com/office/powerpoint/2010/main" val="17676644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entr" presetSubtype="0" fill="hold" grpId="0"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1000"/>
                                        <p:tgtEl>
                                          <p:spTgt spid="3">
                                            <p:txEl>
                                              <p:pRg st="0" end="0"/>
                                            </p:txEl>
                                          </p:spTgt>
                                        </p:tgtEl>
                                      </p:cBhvr>
                                    </p:animEffect>
                                    <p:anim calcmode="lin" valueType="num">
                                      <p:cBhvr>
                                        <p:cTn id="12"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13"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42"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1000"/>
                        <p:tgtEl>
                          <p:spTgt spid="3"/>
                        </p:tgtEl>
                      </p:cBhvr>
                    </p:animEffect>
                    <p:anim calcmode="lin" valueType="num">
                      <p:cBhvr>
                        <p:cTn dur="1000" fill="hold"/>
                        <p:tgtEl>
                          <p:spTgt spid="3"/>
                        </p:tgtEl>
                        <p:attrNameLst>
                          <p:attrName>ppt_x</p:attrName>
                        </p:attrNameLst>
                      </p:cBhvr>
                      <p:tavLst>
                        <p:tav tm="0">
                          <p:val>
                            <p:strVal val="#ppt_x"/>
                          </p:val>
                        </p:tav>
                        <p:tav tm="100000">
                          <p:val>
                            <p:strVal val="#ppt_x"/>
                          </p:val>
                        </p:tav>
                      </p:tavLst>
                    </p:anim>
                    <p:anim calcmode="lin" valueType="num">
                      <p:cBhvr>
                        <p:cTn dur="1000" fill="hold"/>
                        <p:tgtEl>
                          <p:spTgt spid="3"/>
                        </p:tgtEl>
                        <p:attrNameLst>
                          <p:attrName>ppt_y</p:attrName>
                        </p:attrNameLst>
                      </p:cBhvr>
                      <p:tavLst>
                        <p:tav tm="0">
                          <p:val>
                            <p:strVal val="#ppt_y+.1"/>
                          </p:val>
                        </p:tav>
                        <p:tav tm="100000">
                          <p:val>
                            <p:strVal val="#ppt_y"/>
                          </p:val>
                        </p:tav>
                      </p:tavLst>
                    </p:anim>
                  </p:childTnLst>
                </p:cTn>
              </p:par>
            </p:tnLst>
          </p:tmpl>
        </p:tmplLst>
      </p:bldP>
    </p:bld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400">
                <a:latin typeface="Times New Roman" panose="02020603050405020304" pitchFamily="18" charset="0"/>
                <a:cs typeface="Times New Roman" panose="02020603050405020304" pitchFamily="18" charset="0"/>
              </a:defRPr>
            </a:lvl1pPr>
          </a:lstStyle>
          <a:p>
            <a:r>
              <a:rPr lang="en-US" dirty="0"/>
              <a:t>Click to edit Master title style</a:t>
            </a:r>
          </a:p>
        </p:txBody>
      </p:sp>
      <p:sp>
        <p:nvSpPr>
          <p:cNvPr id="3" name="Content Placeholder 2"/>
          <p:cNvSpPr>
            <a:spLocks noGrp="1"/>
          </p:cNvSpPr>
          <p:nvPr>
            <p:ph idx="1"/>
          </p:nvPr>
        </p:nvSpPr>
        <p:spPr/>
        <p:txBody>
          <a:bodyPr>
            <a:normAutofit/>
          </a:bodyPr>
          <a:lstStyle>
            <a:lvl1pPr>
              <a:defRPr sz="2400">
                <a:latin typeface="Times New Roman" panose="02020603050405020304" pitchFamily="18" charset="0"/>
                <a:cs typeface="Times New Roman" panose="02020603050405020304" pitchFamily="18" charset="0"/>
              </a:defRPr>
            </a:lvl1pPr>
            <a:lvl2pPr>
              <a:defRPr sz="2400">
                <a:latin typeface="Times New Roman" panose="02020603050405020304" pitchFamily="18" charset="0"/>
                <a:cs typeface="Times New Roman" panose="02020603050405020304" pitchFamily="18" charset="0"/>
              </a:defRPr>
            </a:lvl2pPr>
            <a:lvl3pPr>
              <a:defRPr sz="2400">
                <a:latin typeface="Times New Roman" panose="02020603050405020304" pitchFamily="18" charset="0"/>
                <a:cs typeface="Times New Roman" panose="02020603050405020304" pitchFamily="18" charset="0"/>
              </a:defRPr>
            </a:lvl3pPr>
            <a:lvl4pPr>
              <a:defRPr sz="2400">
                <a:latin typeface="Times New Roman" panose="02020603050405020304" pitchFamily="18" charset="0"/>
                <a:cs typeface="Times New Roman" panose="02020603050405020304" pitchFamily="18" charset="0"/>
              </a:defRPr>
            </a:lvl4pPr>
            <a:lvl5pPr>
              <a:defRPr sz="2400">
                <a:latin typeface="Times New Roman" panose="02020603050405020304" pitchFamily="18" charset="0"/>
                <a:cs typeface="Times New Roman" panose="02020603050405020304" pitchFamily="18" charset="0"/>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lvl1pPr>
              <a:defRPr>
                <a:latin typeface="Times New Roman" panose="02020603050405020304" pitchFamily="18" charset="0"/>
                <a:cs typeface="Times New Roman" panose="02020603050405020304" pitchFamily="18" charset="0"/>
              </a:defRPr>
            </a:lvl1pPr>
          </a:lstStyle>
          <a:p>
            <a:fld id="{7AA15516-6F08-4293-A614-B37C803BF56A}" type="datetime1">
              <a:rPr lang="en-US" smtClean="0"/>
              <a:t>9/13/2025</a:t>
            </a:fld>
            <a:endParaRPr lang="en-US" dirty="0"/>
          </a:p>
        </p:txBody>
      </p:sp>
      <p:sp>
        <p:nvSpPr>
          <p:cNvPr id="5" name="Footer Placeholder 4"/>
          <p:cNvSpPr>
            <a:spLocks noGrp="1"/>
          </p:cNvSpPr>
          <p:nvPr>
            <p:ph type="ftr" sz="quarter" idx="11"/>
          </p:nvPr>
        </p:nvSpPr>
        <p:spPr/>
        <p:txBody>
          <a:bodyPr/>
          <a:lstStyle>
            <a:lvl1pPr>
              <a:defRPr>
                <a:latin typeface="Times New Roman" panose="02020603050405020304" pitchFamily="18" charset="0"/>
                <a:cs typeface="Times New Roman" panose="02020603050405020304" pitchFamily="18" charset="0"/>
              </a:defRPr>
            </a:lvl1p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pic>
        <p:nvPicPr>
          <p:cNvPr id="7" name="Picture 6" descr="A black and red logo&#10;&#10;Description automatically generated">
            <a:extLst>
              <a:ext uri="{FF2B5EF4-FFF2-40B4-BE49-F238E27FC236}">
                <a16:creationId xmlns:a16="http://schemas.microsoft.com/office/drawing/2014/main" id="{62DB4145-89FA-BDFB-7F67-9619DAC795C2}"/>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0" y="0"/>
            <a:ext cx="1524000" cy="947268"/>
          </a:xfrm>
          <a:prstGeom prst="rect">
            <a:avLst/>
          </a:prstGeom>
        </p:spPr>
      </p:pic>
    </p:spTree>
    <p:extLst>
      <p:ext uri="{BB962C8B-B14F-4D97-AF65-F5344CB8AC3E}">
        <p14:creationId xmlns:p14="http://schemas.microsoft.com/office/powerpoint/2010/main" val="889583100"/>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normAutofit/>
          </a:bodyPr>
          <a:lstStyle>
            <a:lvl1pPr algn="l">
              <a:defRPr sz="2400" b="1" cap="all"/>
            </a:lvl1pPr>
          </a:lstStyle>
          <a:p>
            <a:r>
              <a:rPr lang="en-US" dirty="0"/>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D7AC9EB-2A60-4EA4-BE4D-96E091DAD33D}" type="datetime1">
              <a:rPr lang="en-US" smtClean="0"/>
              <a:t>9/13/2025</a:t>
            </a:fld>
            <a:endParaRPr lang="en-US"/>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066823156"/>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FD8CA693-8CEB-4148-943E-99E9632CDEE3}" type="datetime1">
              <a:rPr lang="en-US" smtClean="0"/>
              <a:t>9/13/2025</a:t>
            </a:fld>
            <a:endParaRPr lang="en-US"/>
          </a:p>
        </p:txBody>
      </p:sp>
      <p:sp>
        <p:nvSpPr>
          <p:cNvPr id="6" name="Footer Placeholder 5"/>
          <p:cNvSpPr>
            <a:spLocks noGrp="1"/>
          </p:cNvSpPr>
          <p:nvPr>
            <p:ph type="ftr" sz="quarter" idx="11"/>
          </p:nvPr>
        </p:nvSpPr>
        <p:spPr/>
        <p:txBody>
          <a:bodyPr/>
          <a:lstStyle/>
          <a:p>
            <a:r>
              <a:rPr lang="en-US" dirty="0"/>
              <a:t>Dr. Jyoti Singh        Statistics and Probability   Module 3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26176233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9332FB2F-906F-400F-BA9E-77C83D7CE2B7}" type="datetime1">
              <a:rPr lang="en-US" smtClean="0"/>
              <a:t>9/13/2025</a:t>
            </a:fld>
            <a:endParaRPr lang="en-US"/>
          </a:p>
        </p:txBody>
      </p:sp>
      <p:sp>
        <p:nvSpPr>
          <p:cNvPr id="8" name="Footer Placeholder 7"/>
          <p:cNvSpPr>
            <a:spLocks noGrp="1"/>
          </p:cNvSpPr>
          <p:nvPr>
            <p:ph type="ftr" sz="quarter" idx="11"/>
          </p:nvPr>
        </p:nvSpPr>
        <p:spPr/>
        <p:txBody>
          <a:bodyPr/>
          <a:lstStyle/>
          <a:p>
            <a:r>
              <a:rPr lang="en-US" dirty="0"/>
              <a:t>Dr. Jyoti Singh        Statistics and Probability   Module 3 </a:t>
            </a:r>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47101244"/>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E1BE8A4F-8C0E-472A-9C0D-8C718927458B}" type="datetime1">
              <a:rPr lang="en-US" smtClean="0"/>
              <a:t>9/13/2025</a:t>
            </a:fld>
            <a:endParaRPr lang="en-US"/>
          </a:p>
        </p:txBody>
      </p:sp>
      <p:sp>
        <p:nvSpPr>
          <p:cNvPr id="4" name="Footer Placeholder 3"/>
          <p:cNvSpPr>
            <a:spLocks noGrp="1"/>
          </p:cNvSpPr>
          <p:nvPr>
            <p:ph type="ftr" sz="quarter" idx="11"/>
          </p:nvPr>
        </p:nvSpPr>
        <p:spPr/>
        <p:txBody>
          <a:bodyPr/>
          <a:lstStyle/>
          <a:p>
            <a:r>
              <a:rPr lang="en-US" dirty="0"/>
              <a:t>Dr. Jyoti Singh        Statistics and Probability   Module 3 </a:t>
            </a:r>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1356787362"/>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12F7FF-2EE4-4375-9AF3-AA80E0CB955C}" type="datetime1">
              <a:rPr lang="en-US" smtClean="0"/>
              <a:t>9/13/2025</a:t>
            </a:fld>
            <a:endParaRPr lang="en-US"/>
          </a:p>
        </p:txBody>
      </p:sp>
      <p:sp>
        <p:nvSpPr>
          <p:cNvPr id="3" name="Footer Placeholder 2"/>
          <p:cNvSpPr>
            <a:spLocks noGrp="1"/>
          </p:cNvSpPr>
          <p:nvPr>
            <p:ph type="ftr" sz="quarter" idx="11"/>
          </p:nvPr>
        </p:nvSpPr>
        <p:spPr/>
        <p:txBody>
          <a:bodyPr/>
          <a:lstStyle/>
          <a:p>
            <a:r>
              <a:rPr lang="en-US" dirty="0"/>
              <a:t>Dr. Jyoti Singh        Statistics and Probability   Module 3 </a:t>
            </a:r>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920842457"/>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1F0170B-512E-47CE-AF8C-93A86D4397C6}" type="datetime1">
              <a:rPr lang="en-US" smtClean="0"/>
              <a:t>9/13/2025</a:t>
            </a:fld>
            <a:endParaRPr lang="en-US"/>
          </a:p>
        </p:txBody>
      </p:sp>
      <p:sp>
        <p:nvSpPr>
          <p:cNvPr id="6" name="Footer Placeholder 5"/>
          <p:cNvSpPr>
            <a:spLocks noGrp="1"/>
          </p:cNvSpPr>
          <p:nvPr>
            <p:ph type="ftr" sz="quarter" idx="11"/>
          </p:nvPr>
        </p:nvSpPr>
        <p:spPr/>
        <p:txBody>
          <a:bodyPr/>
          <a:lstStyle/>
          <a:p>
            <a:r>
              <a:rPr lang="en-US" dirty="0"/>
              <a:t>Dr. Jyoti Singh        Statistics and Probability   Module 3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324160890"/>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0A03FB46-2D9B-4B6F-BF14-277040323654}" type="datetime1">
              <a:rPr lang="en-US" smtClean="0"/>
              <a:t>9/13/2025</a:t>
            </a:fld>
            <a:endParaRPr lang="en-US"/>
          </a:p>
        </p:txBody>
      </p:sp>
      <p:sp>
        <p:nvSpPr>
          <p:cNvPr id="6" name="Footer Placeholder 5"/>
          <p:cNvSpPr>
            <a:spLocks noGrp="1"/>
          </p:cNvSpPr>
          <p:nvPr>
            <p:ph type="ftr" sz="quarter" idx="11"/>
          </p:nvPr>
        </p:nvSpPr>
        <p:spPr/>
        <p:txBody>
          <a:bodyPr/>
          <a:lstStyle/>
          <a:p>
            <a:r>
              <a:rPr lang="en-US" dirty="0"/>
              <a:t>Dr. Jyoti Singh        Statistics and Probability   Module 3 </a:t>
            </a:r>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2317473987"/>
      </p:ext>
    </p:extLst>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7C3AFF44-1D27-418E-BEF7-7985949FE333}" type="datetime1">
              <a:rPr lang="en-US" smtClean="0"/>
              <a:t>9/13/2025</a:t>
            </a:fld>
            <a:endParaRPr lang="en-US"/>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161170244"/>
      </p:ext>
    </p:extLst>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5EF1001-A203-4E9F-8606-E9121AEB0AEB}" type="datetime1">
              <a:rPr lang="en-US" smtClean="0"/>
              <a:t>9/13/2025</a:t>
            </a:fld>
            <a:endParaRPr lang="en-US"/>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extLst>
      <p:ext uri="{BB962C8B-B14F-4D97-AF65-F5344CB8AC3E}">
        <p14:creationId xmlns:p14="http://schemas.microsoft.com/office/powerpoint/2010/main" val="42560789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1.xml"/><Relationship Id="rId3" Type="http://schemas.openxmlformats.org/officeDocument/2006/relationships/slideLayout" Target="../slideLayouts/slideLayout26.xml"/><Relationship Id="rId7" Type="http://schemas.openxmlformats.org/officeDocument/2006/relationships/slideLayout" Target="../slideLayouts/slideLayout30.xml"/><Relationship Id="rId12" Type="http://schemas.openxmlformats.org/officeDocument/2006/relationships/theme" Target="../theme/theme3.xml"/><Relationship Id="rId2" Type="http://schemas.openxmlformats.org/officeDocument/2006/relationships/slideLayout" Target="../slideLayouts/slideLayout25.xml"/><Relationship Id="rId1" Type="http://schemas.openxmlformats.org/officeDocument/2006/relationships/slideLayout" Target="../slideLayouts/slideLayout24.xml"/><Relationship Id="rId6" Type="http://schemas.openxmlformats.org/officeDocument/2006/relationships/slideLayout" Target="../slideLayouts/slideLayout29.xml"/><Relationship Id="rId11" Type="http://schemas.openxmlformats.org/officeDocument/2006/relationships/slideLayout" Target="../slideLayouts/slideLayout34.xml"/><Relationship Id="rId5" Type="http://schemas.openxmlformats.org/officeDocument/2006/relationships/slideLayout" Target="../slideLayouts/slideLayout28.xml"/><Relationship Id="rId10" Type="http://schemas.openxmlformats.org/officeDocument/2006/relationships/slideLayout" Target="../slideLayouts/slideLayout33.xml"/><Relationship Id="rId4" Type="http://schemas.openxmlformats.org/officeDocument/2006/relationships/slideLayout" Target="../slideLayouts/slideLayout27.xml"/><Relationship Id="rId9" Type="http://schemas.openxmlformats.org/officeDocument/2006/relationships/slideLayout" Target="../slideLayouts/slideLayout3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theme" Target="../theme/theme4.xml"/><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slideLayout" Target="../slideLayouts/slideLayout45.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53.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theme" Target="../theme/theme5.xml"/><Relationship Id="rId2" Type="http://schemas.openxmlformats.org/officeDocument/2006/relationships/slideLayout" Target="../slideLayouts/slideLayout47.xml"/><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09D1969E-B26E-4E65-B592-96D0C79DC29B}" type="datetime1">
              <a:rPr lang="en-US" smtClean="0"/>
              <a:t>9/13/2025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r>
              <a:rPr lang="en-US" dirty="0"/>
              <a:t>Dr. Jyoti Singh        Statistics and Probability   Module 3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B6F15528-21DE-4FAA-801E-634DDDAF4B2B}"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0"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hf hdr="0" dt="0"/>
  <p:txStyles>
    <p:titleStyle>
      <a:lvl1pPr algn="ctr" defTabSz="914400" rtl="0" eaLnBrk="1" latinLnBrk="0" hangingPunct="1">
        <a:spcBef>
          <a:spcPct val="0"/>
        </a:spcBef>
        <a:buNone/>
        <a:defRPr sz="2400" b="1" kern="1200">
          <a:solidFill>
            <a:schemeClr val="tx1"/>
          </a:solidFill>
          <a:latin typeface="Times New Roman" panose="02020603050405020304"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34B5825-D2AA-3AD1-0427-7F3F65153426}"/>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D9BA61C6-5BE1-7DF9-7AB1-870E0B815BC6}"/>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D1457CF5-782E-1AB8-486B-6D969725C0FE}"/>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79B4A8D-C5F4-425E-BF8C-7CBFFE071DF6}" type="datetime1">
              <a:rPr lang="en-US" smtClean="0"/>
              <a:t>9/13/2025</a:t>
            </a:fld>
            <a:endParaRPr lang="en-IN"/>
          </a:p>
        </p:txBody>
      </p:sp>
      <p:sp>
        <p:nvSpPr>
          <p:cNvPr id="5" name="Footer Placeholder 4">
            <a:extLst>
              <a:ext uri="{FF2B5EF4-FFF2-40B4-BE49-F238E27FC236}">
                <a16:creationId xmlns:a16="http://schemas.microsoft.com/office/drawing/2014/main" id="{C9B42508-83C9-BE85-763F-33A794F936CC}"/>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B4126989-F020-034B-9A99-C7F774912ECD}"/>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709BDD0-B7FE-42B6-BEE2-755C12EE8809}" type="slidenum">
              <a:rPr lang="en-IN" smtClean="0"/>
              <a:t>‹#›</a:t>
            </a:fld>
            <a:endParaRPr lang="en-IN"/>
          </a:p>
        </p:txBody>
      </p:sp>
    </p:spTree>
    <p:extLst>
      <p:ext uri="{BB962C8B-B14F-4D97-AF65-F5344CB8AC3E}">
        <p14:creationId xmlns:p14="http://schemas.microsoft.com/office/powerpoint/2010/main" val="2657215326"/>
      </p:ext>
    </p:extLst>
  </p:cSld>
  <p:clrMap bg1="lt1" tx1="dk1" bg2="lt2" tx2="dk2" accent1="accent1" accent2="accent2" accent3="accent3" accent4="accent4" accent5="accent5" accent6="accent6" hlink="hlink" folHlink="folHlink"/>
  <p:sldLayoutIdLst>
    <p:sldLayoutId id="2147483686" r:id="rId1"/>
    <p:sldLayoutId id="2147483687" r:id="rId2"/>
    <p:sldLayoutId id="2147483688" r:id="rId3"/>
    <p:sldLayoutId id="2147483689" r:id="rId4"/>
    <p:sldLayoutId id="2147483690" r:id="rId5"/>
    <p:sldLayoutId id="2147483691" r:id="rId6"/>
    <p:sldLayoutId id="2147483692" r:id="rId7"/>
    <p:sldLayoutId id="2147483693" r:id="rId8"/>
    <p:sldLayoutId id="2147483694" r:id="rId9"/>
    <p:sldLayoutId id="2147483695" r:id="rId10"/>
    <p:sldLayoutId id="2147483696" r:id="rId11"/>
  </p:sldLayoutIdLst>
  <p:hf hdr="0" dt="0"/>
  <p:txStyles>
    <p:titleStyle>
      <a:lvl1pPr algn="ctr" defTabSz="914400" rtl="0" eaLnBrk="1" latinLnBrk="0" hangingPunct="1">
        <a:lnSpc>
          <a:spcPct val="90000"/>
        </a:lnSpc>
        <a:spcBef>
          <a:spcPct val="0"/>
        </a:spcBef>
        <a:buNone/>
        <a:defRPr sz="24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BBBBF70-25EC-BD79-DE03-CD72DA011AB6}"/>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67637A3E-89DF-52AB-BC7C-A3BCD89BAEED}"/>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B5E3CA39-D194-E93F-D524-FB2BDF7134CD}"/>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EA0BC2-47F8-4EDC-8A9F-75F469850788}" type="datetime1">
              <a:rPr lang="en-US" smtClean="0"/>
              <a:t>9/13/2025</a:t>
            </a:fld>
            <a:endParaRPr lang="en-IN"/>
          </a:p>
        </p:txBody>
      </p:sp>
      <p:sp>
        <p:nvSpPr>
          <p:cNvPr id="5" name="Footer Placeholder 4">
            <a:extLst>
              <a:ext uri="{FF2B5EF4-FFF2-40B4-BE49-F238E27FC236}">
                <a16:creationId xmlns:a16="http://schemas.microsoft.com/office/drawing/2014/main" id="{52800C72-422A-232A-0837-981758751E7D}"/>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719C2BF4-7659-1F4E-D78A-ABBD1FAF5A5E}"/>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30A5A4C-0299-42FA-971C-901DC0C4B6F5}" type="slidenum">
              <a:rPr lang="en-IN" smtClean="0"/>
              <a:t>‹#›</a:t>
            </a:fld>
            <a:endParaRPr lang="en-IN"/>
          </a:p>
        </p:txBody>
      </p:sp>
    </p:spTree>
    <p:extLst>
      <p:ext uri="{BB962C8B-B14F-4D97-AF65-F5344CB8AC3E}">
        <p14:creationId xmlns:p14="http://schemas.microsoft.com/office/powerpoint/2010/main" val="2679599587"/>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Lst>
  <p:hf hdr="0" dt="0"/>
  <p:txStyles>
    <p:titleStyle>
      <a:lvl1pPr algn="ctr" defTabSz="914400" rtl="0" eaLnBrk="1" latinLnBrk="0" hangingPunct="1">
        <a:lnSpc>
          <a:spcPct val="90000"/>
        </a:lnSpc>
        <a:spcBef>
          <a:spcPct val="0"/>
        </a:spcBef>
        <a:buNone/>
        <a:defRPr sz="24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30E20AF-43A3-94C1-5186-418B18EE73A3}"/>
              </a:ext>
            </a:extLst>
          </p:cNvPr>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8B7F3215-2134-5B0F-2E79-1C516E91218B}"/>
              </a:ext>
            </a:extLst>
          </p:cNvPr>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IN" dirty="0"/>
          </a:p>
        </p:txBody>
      </p:sp>
      <p:sp>
        <p:nvSpPr>
          <p:cNvPr id="4" name="Date Placeholder 3">
            <a:extLst>
              <a:ext uri="{FF2B5EF4-FFF2-40B4-BE49-F238E27FC236}">
                <a16:creationId xmlns:a16="http://schemas.microsoft.com/office/drawing/2014/main" id="{35D93412-C612-3F3A-CD1F-13F181C959FB}"/>
              </a:ext>
            </a:extLst>
          </p:cNvPr>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47F25C8-544C-466A-ADE6-40498C323A86}" type="datetime1">
              <a:rPr lang="en-US" smtClean="0"/>
              <a:t>9/13/2025</a:t>
            </a:fld>
            <a:endParaRPr lang="en-IN"/>
          </a:p>
        </p:txBody>
      </p:sp>
      <p:sp>
        <p:nvSpPr>
          <p:cNvPr id="5" name="Footer Placeholder 4">
            <a:extLst>
              <a:ext uri="{FF2B5EF4-FFF2-40B4-BE49-F238E27FC236}">
                <a16:creationId xmlns:a16="http://schemas.microsoft.com/office/drawing/2014/main" id="{78C47748-3427-B37A-9DB7-DD1BD4910CBE}"/>
              </a:ext>
            </a:extLst>
          </p:cNvPr>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dirty="0"/>
              <a:t>Dr. Jyoti Singh        Statistics and Probability   Module 3 </a:t>
            </a:r>
            <a:endParaRPr lang="en-IN" dirty="0"/>
          </a:p>
        </p:txBody>
      </p:sp>
      <p:sp>
        <p:nvSpPr>
          <p:cNvPr id="6" name="Slide Number Placeholder 5">
            <a:extLst>
              <a:ext uri="{FF2B5EF4-FFF2-40B4-BE49-F238E27FC236}">
                <a16:creationId xmlns:a16="http://schemas.microsoft.com/office/drawing/2014/main" id="{3B5B9425-BE6A-19ED-39B0-BE445893E1E0}"/>
              </a:ext>
            </a:extLst>
          </p:cNvPr>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AD53D42-DE25-40E3-BD26-8E751580B9CC}" type="slidenum">
              <a:rPr lang="en-IN" smtClean="0"/>
              <a:t>‹#›</a:t>
            </a:fld>
            <a:endParaRPr lang="en-IN"/>
          </a:p>
        </p:txBody>
      </p:sp>
    </p:spTree>
    <p:extLst>
      <p:ext uri="{BB962C8B-B14F-4D97-AF65-F5344CB8AC3E}">
        <p14:creationId xmlns:p14="http://schemas.microsoft.com/office/powerpoint/2010/main" val="2008547362"/>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Lst>
  <p:hf hdr="0" dt="0"/>
  <p:txStyles>
    <p:titleStyle>
      <a:lvl1pPr algn="ctr" defTabSz="914400" rtl="0" eaLnBrk="1" latinLnBrk="0" hangingPunct="1">
        <a:lnSpc>
          <a:spcPct val="90000"/>
        </a:lnSpc>
        <a:spcBef>
          <a:spcPct val="0"/>
        </a:spcBef>
        <a:buNone/>
        <a:defRPr sz="2400" b="1" kern="1200">
          <a:solidFill>
            <a:schemeClr val="tx1"/>
          </a:solidFill>
          <a:latin typeface="Times New Roman" panose="02020603050405020304" pitchFamily="18" charset="0"/>
          <a:ea typeface="+mj-ea"/>
          <a:cs typeface="Times New Roman" panose="02020603050405020304" pitchFamily="18"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4pPr>
      <a:lvl5pPr marL="20574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Times New Roman" panose="02020603050405020304" pitchFamily="18" charset="0"/>
          <a:ea typeface="+mn-ea"/>
          <a:cs typeface="Times New Roman" panose="02020603050405020304"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pattFill prst="pct5">
          <a:fgClr>
            <a:schemeClr val="bg1"/>
          </a:fgClr>
          <a:bgClr>
            <a:schemeClr val="bg1"/>
          </a:bgClr>
        </a:patt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latin typeface="Times New Roman" panose="02020603050405020304" pitchFamily="18" charset="0"/>
              </a:defRPr>
            </a:lvl1pPr>
          </a:lstStyle>
          <a:p>
            <a:fld id="{ECCACA58-A966-405B-848B-92DF8EF44D2C}" type="datetime1">
              <a:rPr lang="en-US" smtClean="0"/>
              <a:t>9/13/2025</a:t>
            </a:fld>
            <a:endParaRPr lang="en-US" dirty="0"/>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latin typeface="Times New Roman" panose="02020603050405020304" pitchFamily="18" charset="0"/>
              </a:defRPr>
            </a:lvl1pPr>
          </a:lstStyle>
          <a:p>
            <a:r>
              <a:rPr lang="en-US" dirty="0"/>
              <a:t>Dr. Jyoti Singh        Statistics and Probability   Module 3 </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latin typeface="Times New Roman" panose="02020603050405020304" pitchFamily="18" charset="0"/>
              </a:defRPr>
            </a:lvl1pPr>
          </a:lstStyle>
          <a:p>
            <a:fld id="{B6F15528-21DE-4FAA-801E-634DDDAF4B2B}" type="slidenum">
              <a:rPr lang="en-US" smtClean="0"/>
              <a:pPr/>
              <a:t>‹#›</a:t>
            </a:fld>
            <a:endParaRPr lang="en-US" dirty="0"/>
          </a:p>
        </p:txBody>
      </p:sp>
    </p:spTree>
    <p:extLst>
      <p:ext uri="{BB962C8B-B14F-4D97-AF65-F5344CB8AC3E}">
        <p14:creationId xmlns:p14="http://schemas.microsoft.com/office/powerpoint/2010/main" val="3877327115"/>
      </p:ext>
    </p:extLst>
  </p:cSld>
  <p:clrMap bg1="lt1" tx1="dk1" bg2="lt2" tx2="dk2" accent1="accent1" accent2="accent2" accent3="accent3" accent4="accent4" accent5="accent5" accent6="accent6" hlink="hlink" folHlink="folHlink"/>
  <p:sldLayoutIdLst>
    <p:sldLayoutId id="2147483698" r:id="rId1"/>
    <p:sldLayoutId id="2147483699" r:id="rId2"/>
    <p:sldLayoutId id="2147483700" r:id="rId3"/>
    <p:sldLayoutId id="2147483701" r:id="rId4"/>
    <p:sldLayoutId id="2147483702" r:id="rId5"/>
    <p:sldLayoutId id="2147483703" r:id="rId6"/>
    <p:sldLayoutId id="2147483704" r:id="rId7"/>
    <p:sldLayoutId id="2147483705" r:id="rId8"/>
    <p:sldLayoutId id="2147483706" r:id="rId9"/>
    <p:sldLayoutId id="2147483707" r:id="rId10"/>
    <p:sldLayoutId id="2147483708" r:id="rId11"/>
  </p:sldLayoutIdLst>
  <p:hf hdr="0" dt="0"/>
  <p:txStyles>
    <p:titleStyle>
      <a:lvl1pPr algn="ctr" defTabSz="914400" rtl="0" eaLnBrk="1" latinLnBrk="0" hangingPunct="1">
        <a:spcBef>
          <a:spcPct val="0"/>
        </a:spcBef>
        <a:buNone/>
        <a:defRPr sz="2400" b="1" kern="1200">
          <a:solidFill>
            <a:schemeClr val="tx1"/>
          </a:solidFill>
          <a:latin typeface="Times New Roman" panose="02020603050405020304" pitchFamily="18" charset="0"/>
          <a:ea typeface="+mj-ea"/>
          <a:cs typeface="+mj-cs"/>
        </a:defRPr>
      </a:lvl1pPr>
    </p:titleStyle>
    <p:bodyStyle>
      <a:lvl1pPr marL="342900" indent="-3429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1pPr>
      <a:lvl2pPr marL="742950" indent="-28575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2pPr>
      <a:lvl3pPr marL="11430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Times New Roman" panose="02020603050405020304" pitchFamily="18" charset="0"/>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6.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7.xml"/></Relationships>
</file>

<file path=ppt/slides/_rels/slide1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4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7.xml"/></Relationships>
</file>

<file path=ppt/slides/_rels/slide15.xml.rels><?xml version="1.0" encoding="UTF-8" standalone="yes"?>
<Relationships xmlns="http://schemas.openxmlformats.org/package/2006/relationships"><Relationship Id="rId2" Type="http://schemas.openxmlformats.org/officeDocument/2006/relationships/image" Target="../media/image410.png"/><Relationship Id="rId1" Type="http://schemas.openxmlformats.org/officeDocument/2006/relationships/slideLayout" Target="../slideLayouts/slideLayout47.xml"/></Relationships>
</file>

<file path=ppt/slides/_rels/slide1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47.xml"/></Relationships>
</file>

<file path=ppt/slides/_rels/slide1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12.png"/><Relationship Id="rId1" Type="http://schemas.openxmlformats.org/officeDocument/2006/relationships/slideLayout" Target="../slideLayouts/slideLayout47.xml"/></Relationships>
</file>

<file path=ppt/slides/_rels/slide18.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47.xml"/></Relationships>
</file>

<file path=ppt/slides/_rels/slide1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47.xml"/><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47.xml"/></Relationships>
</file>

<file path=ppt/slides/_rels/slide2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47.xml"/></Relationships>
</file>

<file path=ppt/slides/_rels/slide2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47.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47.xml"/></Relationships>
</file>

<file path=ppt/slides/_rels/slide2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47.xml"/></Relationships>
</file>

<file path=ppt/slides/_rels/slide25.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7.xml"/><Relationship Id="rId4" Type="http://schemas.openxmlformats.org/officeDocument/2006/relationships/image" Target="../media/image35.png"/></Relationships>
</file>

<file path=ppt/slides/_rels/slide26.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47.xml"/><Relationship Id="rId4" Type="http://schemas.openxmlformats.org/officeDocument/2006/relationships/image" Target="../media/image35.png"/></Relationships>
</file>

<file path=ppt/slides/_rels/slide27.xml.rels><?xml version="1.0" encoding="UTF-8" standalone="yes"?>
<Relationships xmlns="http://schemas.openxmlformats.org/package/2006/relationships"><Relationship Id="rId2" Type="http://schemas.openxmlformats.org/officeDocument/2006/relationships/image" Target="../media/image60.png"/><Relationship Id="rId1" Type="http://schemas.openxmlformats.org/officeDocument/2006/relationships/slideLayout" Target="../slideLayouts/slideLayout4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3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7.xml"/></Relationships>
</file>

<file path=ppt/slides/_rels/slide32.xml.rels><?xml version="1.0" encoding="UTF-8" standalone="yes"?>
<Relationships xmlns="http://schemas.openxmlformats.org/package/2006/relationships"><Relationship Id="rId2" Type="http://schemas.openxmlformats.org/officeDocument/2006/relationships/image" Target="../media/image80.png"/><Relationship Id="rId1" Type="http://schemas.openxmlformats.org/officeDocument/2006/relationships/slideLayout" Target="../slideLayouts/slideLayout47.xml"/></Relationships>
</file>

<file path=ppt/slides/_rels/slide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47.xml"/></Relationships>
</file>

<file path=ppt/slides/_rels/slide34.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47.xml"/></Relationships>
</file>

<file path=ppt/slides/_rels/slide3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47.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47.xml"/></Relationships>
</file>

<file path=ppt/slides/_rels/slide37.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47.xml"/></Relationships>
</file>

<file path=ppt/slides/_rels/slide3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47.xml"/></Relationships>
</file>

<file path=ppt/slides/_rels/slide3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47.xml"/></Relationships>
</file>

<file path=ppt/slides/_rels/slide40.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47.xml"/></Relationships>
</file>

<file path=ppt/slides/_rels/slide41.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47.xml"/></Relationships>
</file>

<file path=ppt/slides/_rels/slide4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47.xml"/></Relationships>
</file>

<file path=ppt/slides/_rels/slide43.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47.xml"/></Relationships>
</file>

<file path=ppt/slides/_rels/slide44.xml.rels><?xml version="1.0" encoding="UTF-8" standalone="yes"?>
<Relationships xmlns="http://schemas.openxmlformats.org/package/2006/relationships"><Relationship Id="rId2" Type="http://schemas.openxmlformats.org/officeDocument/2006/relationships/image" Target="../media/image220.png"/><Relationship Id="rId1" Type="http://schemas.openxmlformats.org/officeDocument/2006/relationships/slideLayout" Target="../slideLayouts/slideLayout47.xml"/></Relationships>
</file>

<file path=ppt/slides/_rels/slide45.xml.rels><?xml version="1.0" encoding="UTF-8" standalone="yes"?>
<Relationships xmlns="http://schemas.openxmlformats.org/package/2006/relationships"><Relationship Id="rId3" Type="http://schemas.openxmlformats.org/officeDocument/2006/relationships/image" Target="../media/image300.png"/><Relationship Id="rId2" Type="http://schemas.openxmlformats.org/officeDocument/2006/relationships/image" Target="../media/image230.png"/><Relationship Id="rId1" Type="http://schemas.openxmlformats.org/officeDocument/2006/relationships/slideLayout" Target="../slideLayouts/slideLayout47.xml"/></Relationships>
</file>

<file path=ppt/slides/_rels/slide46.xml.rels><?xml version="1.0" encoding="UTF-8" standalone="yes"?>
<Relationships xmlns="http://schemas.openxmlformats.org/package/2006/relationships"><Relationship Id="rId2" Type="http://schemas.openxmlformats.org/officeDocument/2006/relationships/image" Target="../media/image320.png"/><Relationship Id="rId1" Type="http://schemas.openxmlformats.org/officeDocument/2006/relationships/slideLayout" Target="../slideLayouts/slideLayout4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1.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4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47.xml"/></Relationships>
</file>

<file path=ppt/slides/_rels/slide5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47.xml"/></Relationships>
</file>

<file path=ppt/slides/_rels/slide5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7.xml"/></Relationships>
</file>

<file path=ppt/slides/_rels/slide57.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4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59.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47.xml"/></Relationships>
</file>

<file path=ppt/slides/_rels/slide60.xml.rels><?xml version="1.0" encoding="UTF-8" standalone="yes"?>
<Relationships xmlns="http://schemas.openxmlformats.org/package/2006/relationships"><Relationship Id="rId3" Type="http://schemas.openxmlformats.org/officeDocument/2006/relationships/hyperlink" Target="https://noidainstituteofengtech-my.sharepoint.com/:w:/g/personal/kuntimishra_niet_co_in/EWSTpgxrY3JMjv1TFFUu95EB8hi85bVGtLTxK0JPOlbGQQ?e=Qhroes" TargetMode="External"/><Relationship Id="rId2" Type="http://schemas.openxmlformats.org/officeDocument/2006/relationships/hyperlink" Target="https://noidainstituteofengtech-my.sharepoint.com/:w:/g/personal/kuntimishra_niet_co_in/EeKp0XZTy5xIoPSVlpDEDu8BajgQdfMqE3HX2M0sIHeEew?e=LabCTc" TargetMode="External"/><Relationship Id="rId1" Type="http://schemas.openxmlformats.org/officeDocument/2006/relationships/slideLayout" Target="../slideLayouts/slideLayout47.xml"/><Relationship Id="rId4" Type="http://schemas.openxmlformats.org/officeDocument/2006/relationships/hyperlink" Target="https://noidainstituteofengtech-my.sharepoint.com/:w:/g/personal/kuntimishra_niet_co_in/EZ2QtOdGyNdCn7UR0t2z-osBAR-Cf4N1haMplFXri2KYSA?e=P6Cz8F" TargetMode="External"/></Relationships>
</file>

<file path=ppt/slides/_rels/slide61.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29.png"/><Relationship Id="rId1" Type="http://schemas.openxmlformats.org/officeDocument/2006/relationships/slideLayout" Target="../slideLayouts/slideLayout47.xml"/></Relationships>
</file>

<file path=ppt/slides/_rels/slide62.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47.xml"/></Relationships>
</file>

<file path=ppt/slides/_rels/slide63.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3.png"/><Relationship Id="rId1" Type="http://schemas.openxmlformats.org/officeDocument/2006/relationships/slideLayout" Target="../slideLayouts/slideLayout47.xml"/></Relationships>
</file>

<file path=ppt/slides/_rels/slide64.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47.xml"/></Relationships>
</file>

<file path=ppt/slides/_rels/slide6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47.xml"/></Relationships>
</file>

<file path=ppt/slides/_rels/slide66.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47.xml"/></Relationships>
</file>

<file path=ppt/slides/_rels/slide6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47.xml"/></Relationships>
</file>

<file path=ppt/slides/_rels/slide68.xml.rels><?xml version="1.0" encoding="UTF-8" standalone="yes"?>
<Relationships xmlns="http://schemas.openxmlformats.org/package/2006/relationships"><Relationship Id="rId2" Type="http://schemas.openxmlformats.org/officeDocument/2006/relationships/image" Target="../media/image49.png"/><Relationship Id="rId1" Type="http://schemas.openxmlformats.org/officeDocument/2006/relationships/slideLayout" Target="../slideLayouts/slideLayout47.xml"/></Relationships>
</file>

<file path=ppt/slides/_rels/slide69.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47.xml"/></Relationships>
</file>

<file path=ppt/slides/_rels/slide70.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47.xml"/></Relationships>
</file>

<file path=ppt/slides/_rels/slide71.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4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3.xml.rels><?xml version="1.0" encoding="UTF-8" standalone="yes"?>
<Relationships xmlns="http://schemas.openxmlformats.org/package/2006/relationships"><Relationship Id="rId2" Type="http://schemas.openxmlformats.org/officeDocument/2006/relationships/image" Target="../media/image940.png"/><Relationship Id="rId1" Type="http://schemas.openxmlformats.org/officeDocument/2006/relationships/slideLayout" Target="../slideLayouts/slideLayout4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4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371600" y="0"/>
            <a:ext cx="7777370" cy="800101"/>
          </a:xfrm>
        </p:spPr>
        <p:style>
          <a:lnRef idx="1">
            <a:schemeClr val="accent5"/>
          </a:lnRef>
          <a:fillRef idx="2">
            <a:schemeClr val="accent5"/>
          </a:fillRef>
          <a:effectRef idx="1">
            <a:schemeClr val="accent5"/>
          </a:effectRef>
          <a:fontRef idx="minor">
            <a:schemeClr val="dk1"/>
          </a:fontRef>
        </p:style>
        <p:txBody>
          <a:bodyPr>
            <a:noAutofit/>
          </a:bodyPr>
          <a:lstStyle/>
          <a:p>
            <a:r>
              <a:rPr lang="en-US" sz="2400" dirty="0">
                <a:latin typeface="Times New Roman" panose="02020603050405020304" pitchFamily="18" charset="0"/>
                <a:cs typeface="Times New Roman" panose="02020603050405020304" pitchFamily="18" charset="0"/>
              </a:rPr>
              <a:t>Noida Institute of Engineering and Technology, Greater Noida</a:t>
            </a:r>
          </a:p>
        </p:txBody>
      </p:sp>
      <p:sp>
        <p:nvSpPr>
          <p:cNvPr id="3" name="Subtitle 2"/>
          <p:cNvSpPr>
            <a:spLocks noGrp="1"/>
          </p:cNvSpPr>
          <p:nvPr>
            <p:ph type="subTitle" idx="1"/>
          </p:nvPr>
        </p:nvSpPr>
        <p:spPr>
          <a:xfrm>
            <a:off x="1752600" y="1238251"/>
            <a:ext cx="5638800" cy="514349"/>
          </a:xfrm>
        </p:spPr>
        <p:style>
          <a:lnRef idx="2">
            <a:schemeClr val="accent5"/>
          </a:lnRef>
          <a:fillRef idx="1">
            <a:schemeClr val="lt1"/>
          </a:fillRef>
          <a:effectRef idx="0">
            <a:schemeClr val="accent5"/>
          </a:effectRef>
          <a:fontRef idx="minor">
            <a:schemeClr val="dk1"/>
          </a:fontRef>
        </p:style>
        <p:txBody>
          <a:bodyPr>
            <a:normAutofit/>
          </a:bodyPr>
          <a:lstStyle/>
          <a:p>
            <a:pPr marR="0" lvl="0" indent="0" fontAlgn="auto">
              <a:lnSpc>
                <a:spcPct val="100000"/>
              </a:lnSpc>
              <a:spcAft>
                <a:spcPts val="0"/>
              </a:spcAft>
              <a:buClrTx/>
              <a:buSzTx/>
              <a:buFont typeface="Arial" pitchFamily="34" charset="0"/>
              <a:buNone/>
              <a:tabLst/>
              <a:defRPr/>
            </a:pPr>
            <a:r>
              <a:rPr lang="en-US" sz="2400" b="1" dirty="0">
                <a:solidFill>
                  <a:schemeClr val="tx1"/>
                </a:solidFill>
                <a:latin typeface="Times New Roman" panose="02020603050405020304" pitchFamily="18" charset="0"/>
                <a:cs typeface="Times New Roman" panose="02020603050405020304" pitchFamily="18" charset="0"/>
              </a:rPr>
              <a:t>Probability and Random Variable</a:t>
            </a:r>
          </a:p>
        </p:txBody>
      </p:sp>
      <p:sp>
        <p:nvSpPr>
          <p:cNvPr id="6" name="Subtitle 2"/>
          <p:cNvSpPr txBox="1">
            <a:spLocks/>
          </p:cNvSpPr>
          <p:nvPr/>
        </p:nvSpPr>
        <p:spPr>
          <a:xfrm>
            <a:off x="5029200" y="3581400"/>
            <a:ext cx="3352800" cy="914401"/>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lgn="ct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Dr. Jyoti Singh</a:t>
            </a:r>
          </a:p>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Department of Mathematics</a:t>
            </a:r>
          </a:p>
        </p:txBody>
      </p:sp>
      <p:sp>
        <p:nvSpPr>
          <p:cNvPr id="10" name="Slide Number Placeholder 9"/>
          <p:cNvSpPr>
            <a:spLocks noGrp="1"/>
          </p:cNvSpPr>
          <p:nvPr>
            <p:ph type="sldNum" sz="quarter" idx="12"/>
          </p:nvPr>
        </p:nvSpPr>
        <p:spPr/>
        <p:txBody>
          <a:bodyPr/>
          <a:lstStyle/>
          <a:p>
            <a:fld id="{B6F15528-21DE-4FAA-801E-634DDDAF4B2B}" type="slidenum">
              <a:rPr lang="en-US" smtClean="0"/>
              <a:pPr/>
              <a:t>1</a:t>
            </a:fld>
            <a:endParaRPr lang="en-US" dirty="0"/>
          </a:p>
        </p:txBody>
      </p:sp>
      <p:sp>
        <p:nvSpPr>
          <p:cNvPr id="12" name="Subtitle 2"/>
          <p:cNvSpPr txBox="1">
            <a:spLocks/>
          </p:cNvSpPr>
          <p:nvPr/>
        </p:nvSpPr>
        <p:spPr>
          <a:xfrm>
            <a:off x="762000" y="2590800"/>
            <a:ext cx="1543050" cy="400050"/>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lgn="ct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Module 3</a:t>
            </a:r>
          </a:p>
        </p:txBody>
      </p:sp>
      <p:sp>
        <p:nvSpPr>
          <p:cNvPr id="14" name="Subtitle 2"/>
          <p:cNvSpPr txBox="1">
            <a:spLocks/>
          </p:cNvSpPr>
          <p:nvPr/>
        </p:nvSpPr>
        <p:spPr>
          <a:xfrm>
            <a:off x="762000" y="3276600"/>
            <a:ext cx="3505200" cy="1212849"/>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Autofit/>
          </a:bodyPr>
          <a:lstStyle/>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Subject Name:	Statistics and 		Probability</a:t>
            </a:r>
          </a:p>
          <a:p>
            <a:pPr>
              <a:spcBef>
                <a:spcPct val="20000"/>
              </a:spcBef>
              <a:defRPr/>
            </a:pPr>
            <a:r>
              <a:rPr lang="en-US" sz="2200" dirty="0">
                <a:solidFill>
                  <a:schemeClr val="tx1"/>
                </a:solidFill>
                <a:latin typeface="Times New Roman" panose="02020603050405020304" pitchFamily="18" charset="0"/>
                <a:cs typeface="Times New Roman" panose="02020603050405020304" pitchFamily="18" charset="0"/>
              </a:rPr>
              <a:t>Subject Code:	BAS0303N</a:t>
            </a:r>
          </a:p>
        </p:txBody>
      </p:sp>
      <p:sp>
        <p:nvSpPr>
          <p:cNvPr id="15" name="Subtitle 2"/>
          <p:cNvSpPr txBox="1">
            <a:spLocks/>
          </p:cNvSpPr>
          <p:nvPr/>
        </p:nvSpPr>
        <p:spPr>
          <a:xfrm>
            <a:off x="762000" y="4724400"/>
            <a:ext cx="3139641" cy="699436"/>
          </a:xfrm>
          <a:prstGeom prst="rect">
            <a:avLst/>
          </a:prstGeom>
        </p:spPr>
        <p:style>
          <a:lnRef idx="2">
            <a:schemeClr val="accent5"/>
          </a:lnRef>
          <a:fillRef idx="1">
            <a:schemeClr val="lt1"/>
          </a:fillRef>
          <a:effectRef idx="0">
            <a:schemeClr val="accent5"/>
          </a:effectRef>
          <a:fontRef idx="minor">
            <a:schemeClr val="dk1"/>
          </a:fontRef>
        </p:style>
        <p:txBody>
          <a:bodyPr vert="horz" lIns="68580" tIns="34290" rIns="68580" bIns="34290" rtlCol="0">
            <a:normAutofit/>
          </a:bodyPr>
          <a:lstStyle/>
          <a:p>
            <a:pPr>
              <a:spcBef>
                <a:spcPct val="20000"/>
              </a:spcBef>
              <a:defRPr/>
            </a:pPr>
            <a:r>
              <a:rPr lang="en-US" sz="2200" dirty="0">
                <a:solidFill>
                  <a:schemeClr val="tx1"/>
                </a:solidFill>
              </a:rPr>
              <a:t> </a:t>
            </a:r>
            <a:r>
              <a:rPr lang="en-US" sz="2200" dirty="0">
                <a:solidFill>
                  <a:schemeClr val="tx1"/>
                </a:solidFill>
                <a:latin typeface="Times New Roman" panose="02020603050405020304" pitchFamily="18" charset="0"/>
                <a:cs typeface="Times New Roman" panose="02020603050405020304" pitchFamily="18" charset="0"/>
              </a:rPr>
              <a:t>B. Tech 3</a:t>
            </a:r>
            <a:r>
              <a:rPr lang="en-US" sz="2200" baseline="30000" dirty="0">
                <a:solidFill>
                  <a:schemeClr val="tx1"/>
                </a:solidFill>
                <a:latin typeface="Times New Roman" panose="02020603050405020304" pitchFamily="18" charset="0"/>
                <a:cs typeface="Times New Roman" panose="02020603050405020304" pitchFamily="18" charset="0"/>
              </a:rPr>
              <a:t>rd</a:t>
            </a:r>
            <a:r>
              <a:rPr lang="en-US" sz="2200" dirty="0">
                <a:solidFill>
                  <a:schemeClr val="tx1"/>
                </a:solidFill>
                <a:latin typeface="Times New Roman" panose="02020603050405020304" pitchFamily="18" charset="0"/>
                <a:cs typeface="Times New Roman" panose="02020603050405020304" pitchFamily="18" charset="0"/>
              </a:rPr>
              <a:t> Sem</a:t>
            </a:r>
          </a:p>
        </p:txBody>
      </p:sp>
      <p:pic>
        <p:nvPicPr>
          <p:cNvPr id="4" name="Picture 3">
            <a:extLst>
              <a:ext uri="{FF2B5EF4-FFF2-40B4-BE49-F238E27FC236}">
                <a16:creationId xmlns:a16="http://schemas.microsoft.com/office/drawing/2014/main" id="{B4939B4A-AC99-1202-7835-76AA19478543}"/>
              </a:ext>
            </a:extLst>
          </p:cNvPr>
          <p:cNvPicPr>
            <a:picLocks noChangeAspect="1" noChangeArrowheads="1"/>
          </p:cNvPicPr>
          <p:nvPr/>
        </p:nvPicPr>
        <p:blipFill>
          <a:blip r:embed="rId3" cstate="print"/>
          <a:srcRect/>
          <a:stretch>
            <a:fillRect/>
          </a:stretch>
        </p:blipFill>
        <p:spPr bwMode="auto">
          <a:xfrm>
            <a:off x="6172200" y="2514600"/>
            <a:ext cx="1066800" cy="1066800"/>
          </a:xfrm>
          <a:prstGeom prst="rect">
            <a:avLst/>
          </a:prstGeom>
          <a:noFill/>
        </p:spPr>
      </p:pic>
      <p:sp>
        <p:nvSpPr>
          <p:cNvPr id="7" name="Footer Placeholder 6"/>
          <p:cNvSpPr>
            <a:spLocks noGrp="1"/>
          </p:cNvSpPr>
          <p:nvPr>
            <p:ph type="ftr" sz="quarter" idx="11"/>
          </p:nvPr>
        </p:nvSpPr>
        <p:spPr/>
        <p:txBody>
          <a:bodyPr/>
          <a:lstStyle/>
          <a:p>
            <a:r>
              <a:rPr lang="en-US" dirty="0"/>
              <a:t>Dr. Jyoti Singh        Statistics and Probability   Module 3 </a:t>
            </a:r>
          </a:p>
        </p:txBody>
      </p:sp>
    </p:spTree>
  </p:cSld>
  <p:clrMapOvr>
    <a:masterClrMapping/>
  </p:clrMapOvr>
  <p:transition spd="slow">
    <p:push dir="u"/>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2</a:t>
            </a:fld>
            <a:endParaRPr lang="en-US"/>
          </a:p>
        </p:txBody>
      </p:sp>
      <p:sp>
        <p:nvSpPr>
          <p:cNvPr id="8"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0" name="Footer Placeholder 9"/>
          <p:cNvSpPr>
            <a:spLocks noGrp="1"/>
          </p:cNvSpPr>
          <p:nvPr>
            <p:ph type="ftr" sz="quarter" idx="11"/>
          </p:nvPr>
        </p:nvSpPr>
        <p:spPr>
          <a:xfrm>
            <a:off x="2514600" y="6356350"/>
            <a:ext cx="5029200" cy="365125"/>
          </a:xfrm>
        </p:spPr>
        <p:txBody>
          <a:bodyPr/>
          <a:lstStyle/>
          <a:p>
            <a:r>
              <a:rPr lang="en-US" dirty="0"/>
              <a:t>Dr. Jyoti Singh        Statistics and Probability   Module 3 </a:t>
            </a:r>
          </a:p>
        </p:txBody>
      </p:sp>
      <p:sp>
        <p:nvSpPr>
          <p:cNvPr id="2" name="Content Placeholder 1"/>
          <p:cNvSpPr>
            <a:spLocks noGrp="1"/>
          </p:cNvSpPr>
          <p:nvPr>
            <p:ph idx="1"/>
          </p:nvPr>
        </p:nvSpPr>
        <p:spPr>
          <a:xfrm>
            <a:off x="457200" y="1143000"/>
            <a:ext cx="8229600" cy="5137150"/>
          </a:xfrm>
        </p:spPr>
        <p:txBody>
          <a:bodyPr>
            <a:noAutofit/>
          </a:bodyPr>
          <a:lstStyle/>
          <a:p>
            <a:pPr marL="0" indent="0" algn="just">
              <a:buNone/>
            </a:pPr>
            <a:r>
              <a:rPr lang="en-US" sz="2000" b="1" dirty="0">
                <a:ea typeface="Times New Roman" pitchFamily="18" charset="0"/>
              </a:rPr>
              <a:t>Module 1: (</a:t>
            </a:r>
            <a:r>
              <a:rPr lang="en-US" sz="2000" b="1" dirty="0">
                <a:ea typeface="Calibri" panose="020F0502020204030204" pitchFamily="34" charset="0"/>
              </a:rPr>
              <a:t>Statistical Techniques-I)</a:t>
            </a:r>
            <a:endParaRPr lang="en-US" sz="2000" b="1" dirty="0">
              <a:ea typeface="Times New Roman" panose="02020603050405020304" pitchFamily="18" charset="0"/>
            </a:endParaRPr>
          </a:p>
          <a:p>
            <a:pPr marL="0" indent="0" algn="just">
              <a:buNone/>
            </a:pPr>
            <a:r>
              <a:rPr lang="en-US" sz="2000" dirty="0"/>
              <a:t>Introduction: Measures of central tendency: Mean, Median, Mode, Standard deviation, Quartile deviation, Moment, Skewness, Kurtosis.</a:t>
            </a:r>
            <a:endParaRPr lang="en-US" sz="2000" dirty="0">
              <a:ea typeface="Calibri" panose="020F0502020204030204" pitchFamily="34" charset="0"/>
            </a:endParaRPr>
          </a:p>
          <a:p>
            <a:pPr marL="0" indent="0" algn="just">
              <a:buNone/>
            </a:pPr>
            <a:r>
              <a:rPr lang="en-US" sz="2000" b="1" dirty="0">
                <a:ea typeface="Times New Roman" panose="02020603050405020304" pitchFamily="18" charset="0"/>
              </a:rPr>
              <a:t>Module 2: (</a:t>
            </a:r>
            <a:r>
              <a:rPr lang="en-US" sz="2000" b="1" dirty="0">
                <a:ea typeface="Calibri" panose="020F0502020204030204" pitchFamily="34" charset="0"/>
              </a:rPr>
              <a:t>Statistical Techniques-II)</a:t>
            </a:r>
          </a:p>
          <a:p>
            <a:pPr marL="0" indent="0" algn="just">
              <a:buNone/>
            </a:pPr>
            <a:r>
              <a:rPr lang="en-US" sz="2000" dirty="0"/>
              <a:t>Curve Fitting, Method of least squares, fitting of straight lines, Fitting of second-degree parabola, Exponential curves, Correlation and Rank correlation, Linear regression, nonlinear regression and multiple linear regression.</a:t>
            </a:r>
          </a:p>
          <a:p>
            <a:pPr marL="0" indent="0">
              <a:buNone/>
            </a:pPr>
            <a:r>
              <a:rPr lang="en-US" sz="2000" b="1" dirty="0">
                <a:ea typeface="Times New Roman" panose="02020603050405020304" pitchFamily="18" charset="0"/>
              </a:rPr>
              <a:t>Module 3: (</a:t>
            </a:r>
            <a:r>
              <a:rPr lang="en-US" sz="2000" b="1" dirty="0">
                <a:ea typeface="Calibri" panose="020F0502020204030204" pitchFamily="34" charset="0"/>
              </a:rPr>
              <a:t>Probability and Random Variable) </a:t>
            </a:r>
          </a:p>
          <a:p>
            <a:pPr marL="0" indent="0">
              <a:buNone/>
            </a:pPr>
            <a:r>
              <a:rPr lang="en-US" sz="2000" dirty="0"/>
              <a:t>Random Variable: Definition of a Random Variable, Discrete Random Variable, Continuous Random Variable, Probability mass function, Probability Density Function, Distribution functions. </a:t>
            </a:r>
          </a:p>
          <a:p>
            <a:pPr marL="0" indent="0">
              <a:buNone/>
            </a:pPr>
            <a:r>
              <a:rPr lang="en-US" sz="2000" dirty="0"/>
              <a:t>Multiple Random Variables:  Joint density and distribution Function, Properties of Joint Distribution function, Marginal density Functions, Conditional Distribution and Density, Statistical Independence, Central Limit Theorem (Proof not expected).</a:t>
            </a:r>
          </a:p>
        </p:txBody>
      </p:sp>
    </p:spTree>
    <p:extLst>
      <p:ext uri="{BB962C8B-B14F-4D97-AF65-F5344CB8AC3E}">
        <p14:creationId xmlns:p14="http://schemas.microsoft.com/office/powerpoint/2010/main" val="78481733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Slide Number Placeholder 6"/>
          <p:cNvSpPr>
            <a:spLocks noGrp="1"/>
          </p:cNvSpPr>
          <p:nvPr>
            <p:ph type="sldNum" sz="quarter" idx="12"/>
          </p:nvPr>
        </p:nvSpPr>
        <p:spPr/>
        <p:txBody>
          <a:bodyPr/>
          <a:lstStyle/>
          <a:p>
            <a:fld id="{B6F15528-21DE-4FAA-801E-634DDDAF4B2B}" type="slidenum">
              <a:rPr lang="en-US" smtClean="0"/>
              <a:pPr/>
              <a:t>3</a:t>
            </a:fld>
            <a:endParaRPr lang="en-US"/>
          </a:p>
        </p:txBody>
      </p:sp>
      <p:sp>
        <p:nvSpPr>
          <p:cNvPr id="8"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Syllabus</a:t>
            </a:r>
          </a:p>
        </p:txBody>
      </p:sp>
      <p:sp>
        <p:nvSpPr>
          <p:cNvPr id="10" name="Footer Placeholder 9"/>
          <p:cNvSpPr>
            <a:spLocks noGrp="1"/>
          </p:cNvSpPr>
          <p:nvPr>
            <p:ph type="ftr" sz="quarter" idx="11"/>
          </p:nvPr>
        </p:nvSpPr>
        <p:spPr>
          <a:xfrm>
            <a:off x="2514600" y="6356350"/>
            <a:ext cx="5029200" cy="365125"/>
          </a:xfrm>
        </p:spPr>
        <p:txBody>
          <a:bodyPr/>
          <a:lstStyle/>
          <a:p>
            <a:r>
              <a:rPr lang="en-US" dirty="0"/>
              <a:t>Dr. Jyoti Singh        Statistics and Probability   Module 3 </a:t>
            </a:r>
          </a:p>
        </p:txBody>
      </p:sp>
      <p:sp>
        <p:nvSpPr>
          <p:cNvPr id="2" name="Content Placeholder 1"/>
          <p:cNvSpPr>
            <a:spLocks noGrp="1"/>
          </p:cNvSpPr>
          <p:nvPr>
            <p:ph idx="1"/>
          </p:nvPr>
        </p:nvSpPr>
        <p:spPr/>
        <p:txBody>
          <a:bodyPr>
            <a:normAutofit/>
          </a:bodyPr>
          <a:lstStyle/>
          <a:p>
            <a:pPr marL="0" indent="0" algn="just">
              <a:buNone/>
            </a:pPr>
            <a:r>
              <a:rPr lang="en-IN" sz="2000" b="1" dirty="0">
                <a:solidFill>
                  <a:srgbClr val="000000"/>
                </a:solidFill>
                <a:ea typeface="Times New Roman" panose="02020603050405020304" pitchFamily="18" charset="0"/>
              </a:rPr>
              <a:t>Module 4: (</a:t>
            </a:r>
            <a:r>
              <a:rPr lang="en-US" sz="2000" b="1" dirty="0">
                <a:ea typeface="Calibri" panose="020F0502020204030204" pitchFamily="34" charset="0"/>
              </a:rPr>
              <a:t>Expectations and Probability Distribution)</a:t>
            </a:r>
            <a:endParaRPr lang="en-IN" sz="2000" b="1" dirty="0">
              <a:solidFill>
                <a:srgbClr val="000000"/>
              </a:solidFill>
              <a:ea typeface="Times New Roman" panose="02020603050405020304" pitchFamily="18" charset="0"/>
            </a:endParaRPr>
          </a:p>
          <a:p>
            <a:pPr marL="0" indent="0" algn="just">
              <a:buNone/>
            </a:pPr>
            <a:r>
              <a:rPr lang="en-US" sz="2000" dirty="0"/>
              <a:t>Expectations of single Random Variable, Mean, Variance, Moment Generating Function, Binomial, Poisson, Normal, Exponential distribution.</a:t>
            </a:r>
          </a:p>
          <a:p>
            <a:pPr marL="0" indent="0" algn="just">
              <a:buNone/>
            </a:pPr>
            <a:r>
              <a:rPr lang="en-US" sz="2000" b="1" dirty="0">
                <a:ea typeface="Calibri" panose="020F0502020204030204" pitchFamily="34" charset="0"/>
              </a:rPr>
              <a:t>Module 5: (</a:t>
            </a:r>
            <a:r>
              <a:rPr lang="en-US" sz="2000" b="1" dirty="0"/>
              <a:t>Hypothesis Tests and Control Charts</a:t>
            </a:r>
            <a:r>
              <a:rPr lang="en-US" sz="2000" b="1" dirty="0">
                <a:ea typeface="Calibri" panose="020F0502020204030204" pitchFamily="34" charset="0"/>
              </a:rPr>
              <a:t>)</a:t>
            </a:r>
          </a:p>
          <a:p>
            <a:pPr marL="0" indent="0">
              <a:buNone/>
            </a:pPr>
            <a:r>
              <a:rPr lang="en-US" sz="2000" dirty="0"/>
              <a:t>Testing a Hypothesis, Null hypothesis, Alternative hypothesis, Level of significance, Confidence limits, Test of significance of difference of means, Z-test, t-test and Chi-square test, F-test, One way ANOVA.</a:t>
            </a:r>
          </a:p>
          <a:p>
            <a:pPr marL="0" indent="0">
              <a:buNone/>
            </a:pPr>
            <a:r>
              <a:rPr lang="en-US" sz="2000" dirty="0"/>
              <a:t>Statistical Quality Control (SQC), Control Charts, Control Charts for variables (Mean and Range Charts), Control Charts for Variables (p, np and C charts).</a:t>
            </a:r>
            <a:endParaRPr lang="en-US" sz="2000" dirty="0">
              <a:ea typeface="Calibri" panose="020F0502020204030204" pitchFamily="34" charset="0"/>
            </a:endParaRPr>
          </a:p>
          <a:p>
            <a:pPr marL="0" indent="0" algn="just">
              <a:buNone/>
            </a:pPr>
            <a:endParaRPr lang="en-IN" sz="2000" b="1" dirty="0">
              <a:solidFill>
                <a:srgbClr val="000000"/>
              </a:solidFill>
              <a:ea typeface="Times New Roman" panose="02020603050405020304" pitchFamily="18" charset="0"/>
            </a:endParaRPr>
          </a:p>
        </p:txBody>
      </p:sp>
    </p:spTree>
    <p:extLst>
      <p:ext uri="{BB962C8B-B14F-4D97-AF65-F5344CB8AC3E}">
        <p14:creationId xmlns:p14="http://schemas.microsoft.com/office/powerpoint/2010/main" val="8964118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v"/>
            </a:pPr>
            <a:r>
              <a:rPr lang="en-US" sz="2200" dirty="0">
                <a:latin typeface="Times New Roman" panose="02020603050405020304" pitchFamily="18" charset="0"/>
                <a:cs typeface="Times New Roman" panose="02020603050405020304" pitchFamily="18" charset="0"/>
              </a:rPr>
              <a:t>Data Analysis</a:t>
            </a:r>
          </a:p>
          <a:p>
            <a:pPr>
              <a:buFont typeface="Wingdings" pitchFamily="2" charset="2"/>
              <a:buChar char="v"/>
            </a:pPr>
            <a:r>
              <a:rPr lang="en-US" sz="2200" dirty="0">
                <a:solidFill>
                  <a:srgbClr val="202124"/>
                </a:solidFill>
                <a:latin typeface="Times New Roman" panose="02020603050405020304" pitchFamily="18" charset="0"/>
                <a:cs typeface="Times New Roman" panose="02020603050405020304" pitchFamily="18" charset="0"/>
              </a:rPr>
              <a:t>Artificial intelligence</a:t>
            </a:r>
          </a:p>
          <a:p>
            <a:pPr>
              <a:buFont typeface="Wingdings" pitchFamily="2" charset="2"/>
              <a:buChar char="v"/>
            </a:pPr>
            <a:r>
              <a:rPr lang="en-US" sz="2200" dirty="0">
                <a:solidFill>
                  <a:srgbClr val="202124"/>
                </a:solidFill>
                <a:latin typeface="Times New Roman" panose="02020603050405020304" pitchFamily="18" charset="0"/>
                <a:cs typeface="Times New Roman" panose="02020603050405020304" pitchFamily="18" charset="0"/>
              </a:rPr>
              <a:t>Network and Traffic modeling</a:t>
            </a:r>
            <a:endParaRPr lang="en-US" sz="2200" dirty="0">
              <a:latin typeface="Times New Roman" panose="02020603050405020304" pitchFamily="18" charset="0"/>
              <a:cs typeface="Times New Roman" panose="02020603050405020304" pitchFamily="18" charset="0"/>
            </a:endParaRPr>
          </a:p>
          <a:p>
            <a:pPr>
              <a:buFont typeface="Wingdings" pitchFamily="2" charset="2"/>
              <a:buChar char="v"/>
            </a:pPr>
            <a:endParaRPr lang="en-US" sz="2200" dirty="0">
              <a:effectLst/>
            </a:endParaRPr>
          </a:p>
        </p:txBody>
      </p:sp>
      <p:sp>
        <p:nvSpPr>
          <p:cNvPr id="5" name="Footer Placeholder 4"/>
          <p:cNvSpPr>
            <a:spLocks noGrp="1"/>
          </p:cNvSpPr>
          <p:nvPr>
            <p:ph type="ftr" sz="quarter" idx="11"/>
          </p:nvPr>
        </p:nvSpPr>
        <p:spPr>
          <a:xfrm>
            <a:off x="2819400" y="6248400"/>
            <a:ext cx="4724400" cy="365125"/>
          </a:xfrm>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Branch Wise Application </a:t>
            </a:r>
          </a:p>
        </p:txBody>
      </p:sp>
    </p:spTree>
    <p:extLst>
      <p:ext uri="{BB962C8B-B14F-4D97-AF65-F5344CB8AC3E}">
        <p14:creationId xmlns:p14="http://schemas.microsoft.com/office/powerpoint/2010/main" val="210942993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fontScale="92500" lnSpcReduction="10000"/>
          </a:bodyPr>
          <a:lstStyle/>
          <a:p>
            <a:pPr algn="just"/>
            <a:r>
              <a:rPr lang="en-US" dirty="0"/>
              <a:t>The objective of this course is to familiarize the students with concepts of Probability and statistical techniques. It aims to equip the students with adequate Knowledge of statistics that will enable them in formulating Problems and solving problems analytically.</a:t>
            </a:r>
            <a:endParaRPr lang="en-US" dirty="0">
              <a:ea typeface="Calibri" panose="020F0502020204030204" pitchFamily="34" charset="0"/>
            </a:endParaRPr>
          </a:p>
          <a:p>
            <a:pPr marL="0" indent="0" algn="just">
              <a:buNone/>
            </a:pPr>
            <a:r>
              <a:rPr lang="en-US" dirty="0"/>
              <a:t>     The students will learn: </a:t>
            </a:r>
          </a:p>
          <a:p>
            <a:r>
              <a:rPr lang="en-US" dirty="0">
                <a:ea typeface="Calibri" panose="020F0502020204030204" pitchFamily="34" charset="0"/>
              </a:rPr>
              <a:t>Understand the concept of correlation, moments, skewness and kurtosis and curve fitting.</a:t>
            </a:r>
          </a:p>
          <a:p>
            <a:r>
              <a:rPr lang="en-US" dirty="0">
                <a:ea typeface="Calibri" panose="020F0502020204030204" pitchFamily="34" charset="0"/>
              </a:rPr>
              <a:t>Apply the concept of hypothesis testing and statistical quality control to create control charts.</a:t>
            </a:r>
          </a:p>
          <a:p>
            <a:r>
              <a:rPr lang="en-US" dirty="0">
                <a:ea typeface="Calibri" panose="020F0502020204030204" pitchFamily="34" charset="0"/>
              </a:rPr>
              <a:t>Remember the concept of probability to evaluate probability distributions. </a:t>
            </a:r>
          </a:p>
          <a:p>
            <a:r>
              <a:rPr lang="en-US" dirty="0">
                <a:ea typeface="Calibri" panose="020F0502020204030204" pitchFamily="34" charset="0"/>
              </a:rPr>
              <a:t>Understand the concept of Mathematical Expectations and Probability Distribution.</a:t>
            </a:r>
          </a:p>
        </p:txBody>
      </p:sp>
      <p:sp>
        <p:nvSpPr>
          <p:cNvPr id="5" name="Footer Placeholder 4"/>
          <p:cNvSpPr>
            <a:spLocks noGrp="1"/>
          </p:cNvSpPr>
          <p:nvPr>
            <p:ph type="ftr" sz="quarter" idx="11"/>
          </p:nvPr>
        </p:nvSpPr>
        <p:spPr>
          <a:xfrm>
            <a:off x="2819400" y="6248400"/>
            <a:ext cx="4724400" cy="365125"/>
          </a:xfrm>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Course Objectives</a:t>
            </a:r>
          </a:p>
        </p:txBody>
      </p:sp>
    </p:spTree>
    <p:extLst>
      <p:ext uri="{BB962C8B-B14F-4D97-AF65-F5344CB8AC3E}">
        <p14:creationId xmlns:p14="http://schemas.microsoft.com/office/powerpoint/2010/main" val="27394290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dirty="0"/>
              <a:t>CO1: Apply the concept of moments, skewness and kurtosis in relevant field.</a:t>
            </a:r>
          </a:p>
          <a:p>
            <a:pPr marL="0" indent="0">
              <a:buNone/>
            </a:pPr>
            <a:r>
              <a:rPr lang="en-US" dirty="0"/>
              <a:t>CO2: Apply the concept of correlation, regression and curve fitting with real world problems.</a:t>
            </a:r>
          </a:p>
          <a:p>
            <a:pPr marL="0" indent="0">
              <a:buNone/>
            </a:pPr>
            <a:r>
              <a:rPr lang="en-US" b="1" dirty="0"/>
              <a:t>CO3: Apply the concept of probability and random variable.</a:t>
            </a:r>
          </a:p>
          <a:p>
            <a:pPr marL="0" indent="0">
              <a:buNone/>
            </a:pPr>
            <a:r>
              <a:rPr lang="en-US" dirty="0"/>
              <a:t>CO4: Apply the concept of Mathematical Expectations and Probability Distribution in real life problems.</a:t>
            </a:r>
          </a:p>
          <a:p>
            <a:pPr marL="0" indent="0">
              <a:buNone/>
            </a:pPr>
            <a:r>
              <a:rPr lang="en-US" dirty="0"/>
              <a:t>CO5: Apply the concept of hypothesis testing and statistical quality control to create control charts.</a:t>
            </a:r>
          </a:p>
          <a:p>
            <a:pPr marL="0" indent="0">
              <a:buNone/>
            </a:pPr>
            <a:endParaRPr lang="en-US" dirty="0"/>
          </a:p>
        </p:txBody>
      </p:sp>
      <p:sp>
        <p:nvSpPr>
          <p:cNvPr id="5" name="Footer Placeholder 4"/>
          <p:cNvSpPr>
            <a:spLocks noGrp="1"/>
          </p:cNvSpPr>
          <p:nvPr>
            <p:ph type="ftr" sz="quarter" idx="11"/>
          </p:nvPr>
        </p:nvSpPr>
        <p:spPr>
          <a:xfrm>
            <a:off x="2819400" y="6248400"/>
            <a:ext cx="4724400" cy="365125"/>
          </a:xfrm>
        </p:spPr>
        <p:txBody>
          <a:bodyPr/>
          <a:lstStyle/>
          <a:p>
            <a:r>
              <a:rPr lang="en-US" dirty="0"/>
              <a:t>Dr. Jyoti Singh        Statistics and Probability   Module 3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6</a:t>
            </a:fld>
            <a:endParaRPr lang="en-US"/>
          </a:p>
        </p:txBody>
      </p:sp>
      <p:sp>
        <p:nvSpPr>
          <p:cNvPr id="7" name="Title 1"/>
          <p:cNvSpPr txBox="1">
            <a:spLocks/>
          </p:cNvSpPr>
          <p:nvPr/>
        </p:nvSpPr>
        <p:spPr>
          <a:xfrm>
            <a:off x="1676400" y="1"/>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Course Outcomes</a:t>
            </a:r>
          </a:p>
        </p:txBody>
      </p:sp>
    </p:spTree>
    <p:extLst>
      <p:ext uri="{BB962C8B-B14F-4D97-AF65-F5344CB8AC3E}">
        <p14:creationId xmlns:p14="http://schemas.microsoft.com/office/powerpoint/2010/main" val="19660677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a:buFont typeface="Wingdings" pitchFamily="2" charset="2"/>
              <a:buChar char="§"/>
            </a:pPr>
            <a:r>
              <a:rPr lang="en-US" sz="2200" dirty="0"/>
              <a:t>Knowledge of </a:t>
            </a:r>
            <a:r>
              <a:rPr lang="en-US" sz="2200" dirty="0" err="1"/>
              <a:t>Maths</a:t>
            </a:r>
            <a:r>
              <a:rPr lang="en-US" sz="2200" dirty="0"/>
              <a:t> 1 B.Tech.</a:t>
            </a:r>
          </a:p>
          <a:p>
            <a:pPr>
              <a:buFont typeface="Wingdings" pitchFamily="2" charset="2"/>
              <a:buChar char="§"/>
            </a:pPr>
            <a:r>
              <a:rPr lang="en-US" sz="2200" dirty="0"/>
              <a:t>Knowledge of  </a:t>
            </a:r>
            <a:r>
              <a:rPr lang="en-US" sz="2200" dirty="0" err="1"/>
              <a:t>Maths</a:t>
            </a:r>
            <a:r>
              <a:rPr lang="en-US" sz="2200" dirty="0"/>
              <a:t> 2 B.Tech.</a:t>
            </a:r>
          </a:p>
          <a:p>
            <a:pPr>
              <a:buFont typeface="Wingdings" pitchFamily="2" charset="2"/>
              <a:buChar char="§"/>
            </a:pPr>
            <a:r>
              <a:rPr lang="en-US" sz="2200" dirty="0"/>
              <a:t>Knowledge of  Permutation and Combination.</a:t>
            </a:r>
          </a:p>
          <a:p>
            <a:pPr marL="0" indent="0">
              <a:buNone/>
            </a:pPr>
            <a:endParaRPr lang="en-US" sz="2200" dirty="0"/>
          </a:p>
          <a:p>
            <a:pPr>
              <a:buFont typeface="Wingdings" pitchFamily="2" charset="2"/>
              <a:buChar char="§"/>
            </a:pPr>
            <a:endParaRPr lang="en-US" sz="2200" dirty="0"/>
          </a:p>
          <a:p>
            <a:pPr marL="0" indent="0">
              <a:buNone/>
            </a:pPr>
            <a:endParaRPr lang="en-US" sz="22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7</a:t>
            </a:fld>
            <a:endParaRPr lang="en-US"/>
          </a:p>
        </p:txBody>
      </p:sp>
      <p:sp>
        <p:nvSpPr>
          <p:cNvPr id="7" name="Title 1"/>
          <p:cNvSpPr txBox="1">
            <a:spLocks/>
          </p:cNvSpPr>
          <p:nvPr/>
        </p:nvSpPr>
        <p:spPr>
          <a:xfrm>
            <a:off x="1524000" y="-32657"/>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a typeface="+mn-ea"/>
                <a:cs typeface="+mn-cs"/>
              </a:rPr>
              <a:t>Prerequisite  (CO3)</a:t>
            </a: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6779692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417637"/>
            <a:ext cx="8229600" cy="2773363"/>
          </a:xfrm>
        </p:spPr>
        <p:txBody>
          <a:bodyPr>
            <a:noAutofit/>
          </a:bodyPr>
          <a:lstStyle/>
          <a:p>
            <a:pPr marL="457200" indent="-457200">
              <a:buAutoNum type="arabicPeriod"/>
            </a:pPr>
            <a:r>
              <a:rPr lang="en-US" sz="2200" dirty="0"/>
              <a:t>A basic knowledge of random variables.</a:t>
            </a:r>
          </a:p>
          <a:p>
            <a:pPr marL="457200" indent="-457200">
              <a:buAutoNum type="arabicPeriod"/>
            </a:pPr>
            <a:r>
              <a:rPr lang="en-US" sz="2200" dirty="0"/>
              <a:t>The student is able to reflect developed mathematical methods in probability and random variable.</a:t>
            </a:r>
          </a:p>
          <a:p>
            <a:pPr marL="457200" indent="-457200">
              <a:buAutoNum type="arabicPeriod"/>
            </a:pPr>
            <a:r>
              <a:rPr lang="en-US" sz="2200" dirty="0"/>
              <a:t>Understand the concept of random variable. </a:t>
            </a:r>
          </a:p>
          <a:p>
            <a:pPr>
              <a:buNone/>
            </a:pPr>
            <a:r>
              <a:rPr lang="en-US" sz="2200" dirty="0"/>
              <a:t>4.   To explore the key properties: such as PMF, PDF etc.</a:t>
            </a:r>
          </a:p>
          <a:p>
            <a:pPr marL="457200" indent="-457200">
              <a:buFont typeface="Arial" pitchFamily="34" charset="0"/>
              <a:buAutoNum type="arabicPeriod"/>
            </a:pPr>
            <a:endParaRPr lang="en-US" sz="2200" dirty="0"/>
          </a:p>
          <a:p>
            <a:pPr marL="457200" indent="-457200" algn="just">
              <a:buNone/>
            </a:pPr>
            <a:r>
              <a:rPr lang="en-US" sz="2200"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8</a:t>
            </a:fld>
            <a:endParaRPr lang="en-US"/>
          </a:p>
        </p:txBody>
      </p:sp>
      <p:sp>
        <p:nvSpPr>
          <p:cNvPr id="7" name="Title 1"/>
          <p:cNvSpPr txBox="1">
            <a:spLocks/>
          </p:cNvSpPr>
          <p:nvPr/>
        </p:nvSpPr>
        <p:spPr>
          <a:xfrm>
            <a:off x="1524000" y="1"/>
            <a:ext cx="7620000" cy="8381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rPr>
              <a:t>Module</a:t>
            </a:r>
            <a:r>
              <a:rPr kumimoji="0" lang="en-US" sz="2400" b="1" i="0" u="none" strike="noStrike" kern="1200" cap="none" spc="0" normalizeH="0" noProof="0" dirty="0">
                <a:ln>
                  <a:noFill/>
                </a:ln>
                <a:solidFill>
                  <a:schemeClr val="dk1"/>
                </a:solidFill>
                <a:effectLst/>
                <a:uLnTx/>
                <a:uFillTx/>
                <a:latin typeface="+mj-lt"/>
                <a:ea typeface="+mn-ea"/>
                <a:cs typeface="+mn-cs"/>
              </a:rPr>
              <a:t> Objectives </a:t>
            </a:r>
            <a:r>
              <a:rPr lang="en-US" sz="2400" b="1" dirty="0">
                <a:solidFill>
                  <a:schemeClr val="tx1"/>
                </a:solidFill>
                <a:latin typeface="+mj-lt"/>
              </a:rPr>
              <a:t> (CO3) </a:t>
            </a:r>
            <a:endParaRPr kumimoji="0" lang="en-US" sz="2400" b="1" i="0" u="none" strike="noStrike" kern="1200" cap="none" spc="0" normalizeH="0" baseline="0" noProof="0" dirty="0">
              <a:ln>
                <a:noFill/>
              </a:ln>
              <a:solidFill>
                <a:schemeClr val="dk1"/>
              </a:solidFill>
              <a:effectLst/>
              <a:uLnTx/>
              <a:uFillTx/>
              <a:latin typeface="+mj-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648400665"/>
      </p:ext>
    </p:extLst>
  </p:cSld>
  <p:clrMapOvr>
    <a:masterClrMapping/>
  </p:clrMapOvr>
  <p:transition spd="med" advTm="2000">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524000"/>
            <a:ext cx="8229600" cy="3916363"/>
          </a:xfrm>
        </p:spPr>
        <p:txBody>
          <a:bodyPr>
            <a:noAutofit/>
          </a:bodyPr>
          <a:lstStyle/>
          <a:p>
            <a:pPr marL="457200" indent="-457200">
              <a:buNone/>
            </a:pPr>
            <a:r>
              <a:rPr lang="en-US" sz="2200" dirty="0"/>
              <a:t>	The random variable is very much helpful for making prediction. Estimates and predictions form an </a:t>
            </a:r>
            <a:r>
              <a:rPr lang="en-US" sz="2200" b="1" dirty="0"/>
              <a:t>important</a:t>
            </a:r>
            <a:r>
              <a:rPr lang="en-US" sz="2200" dirty="0"/>
              <a:t> part of research investigation. With the help of statistical methods, we make estimates for the further analysis. </a:t>
            </a:r>
            <a:r>
              <a:rPr lang="en-US" sz="2200" b="1" dirty="0"/>
              <a:t>	</a:t>
            </a:r>
          </a:p>
          <a:p>
            <a:pPr marL="457200" indent="-457200" algn="just">
              <a:buNone/>
            </a:pPr>
            <a:r>
              <a:rPr lang="en-US" sz="2200" dirty="0"/>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9</a:t>
            </a:fld>
            <a:endParaRPr lang="en-US"/>
          </a:p>
        </p:txBody>
      </p:sp>
      <p:sp>
        <p:nvSpPr>
          <p:cNvPr id="7" name="Title 1"/>
          <p:cNvSpPr txBox="1">
            <a:spLocks/>
          </p:cNvSpPr>
          <p:nvPr/>
        </p:nvSpPr>
        <p:spPr>
          <a:xfrm>
            <a:off x="1524000" y="1"/>
            <a:ext cx="7620000" cy="8381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noProof="0" dirty="0">
                <a:ln>
                  <a:noFill/>
                </a:ln>
                <a:solidFill>
                  <a:schemeClr val="dk1"/>
                </a:solidFill>
                <a:effectLst/>
                <a:uLnTx/>
                <a:uFillTx/>
                <a:latin typeface="+mj-lt"/>
                <a:ea typeface="+mn-ea"/>
                <a:cs typeface="+mn-cs"/>
              </a:rPr>
              <a:t>Topic Objective</a:t>
            </a:r>
            <a:r>
              <a:rPr lang="en-US" sz="2400" b="1" dirty="0">
                <a:solidFill>
                  <a:schemeClr val="tx1"/>
                </a:solidFill>
                <a:latin typeface="+mj-lt"/>
              </a:rPr>
              <a:t>(CO3) </a:t>
            </a:r>
            <a:endParaRPr kumimoji="0" lang="en-US" sz="2400" b="1" i="0" u="none" strike="noStrike" kern="1200" cap="none" spc="0" normalizeH="0" baseline="0" noProof="0" dirty="0">
              <a:ln>
                <a:noFill/>
              </a:ln>
              <a:solidFill>
                <a:schemeClr val="dk1"/>
              </a:solidFill>
              <a:effectLst/>
              <a:uLnTx/>
              <a:uFillTx/>
              <a:latin typeface="+mj-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cSld>
  <p:clrMapOvr>
    <a:masterClrMapping/>
  </p:clrMapOvr>
  <p:transition spd="med" advTm="2000">
    <p:wipe dir="d"/>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05400"/>
          </a:xfrm>
        </p:spPr>
        <p:txBody>
          <a:bodyPr>
            <a:noAutofit/>
          </a:bodyPr>
          <a:lstStyle/>
          <a:p>
            <a:pPr marL="0" lvl="0" indent="0">
              <a:buNone/>
            </a:pPr>
            <a:r>
              <a:rPr lang="en-US" sz="2000" b="1" dirty="0"/>
              <a:t>Definition: </a:t>
            </a:r>
            <a:r>
              <a:rPr lang="en-US" sz="2000" dirty="0"/>
              <a:t> Random variable is a real-valued function whose domain is the sample space of a random experiment and codomain is a real number</a:t>
            </a:r>
            <a:r>
              <a:rPr lang="en-US" sz="2000" b="1" dirty="0"/>
              <a:t> </a:t>
            </a:r>
            <a:endParaRPr lang="en-US" sz="2000" dirty="0"/>
          </a:p>
          <a:p>
            <a:pPr marL="0" lvl="0" indent="0">
              <a:buNone/>
            </a:pPr>
            <a:r>
              <a:rPr lang="en-US" sz="2000" b="1" dirty="0"/>
              <a:t>Symbol : X</a:t>
            </a:r>
          </a:p>
          <a:p>
            <a:pPr marL="0" lvl="0" indent="0">
              <a:buNone/>
            </a:pPr>
            <a:endParaRPr lang="en-US" sz="2000" dirty="0">
              <a:solidFill>
                <a:schemeClr val="dk1"/>
              </a:solidFill>
            </a:endParaRPr>
          </a:p>
          <a:p>
            <a:pPr marL="0" indent="0">
              <a:buNone/>
            </a:pPr>
            <a:r>
              <a:rPr lang="en-US" sz="2000" b="1" dirty="0"/>
              <a:t>Example </a:t>
            </a:r>
            <a:r>
              <a:rPr lang="en-US" sz="2000" dirty="0"/>
              <a:t>: An urn contains 5 red and 2 black balls. Two balls are randomly drawn. Let X represents the number of black balls. What are the possible values of X? Is X a random variable?</a:t>
            </a:r>
          </a:p>
          <a:p>
            <a:pPr marL="0" indent="0">
              <a:buNone/>
            </a:pPr>
            <a:r>
              <a:rPr lang="en-US" sz="2000" b="1" dirty="0"/>
              <a:t>Solution:</a:t>
            </a:r>
          </a:p>
          <a:p>
            <a:pPr marL="0" indent="0">
              <a:buNone/>
            </a:pPr>
            <a:r>
              <a:rPr lang="en-US" sz="2000" dirty="0"/>
              <a:t>Let B represents a black ball and R represents a red ball.</a:t>
            </a:r>
          </a:p>
          <a:p>
            <a:pPr marL="0" indent="0">
              <a:buNone/>
            </a:pPr>
            <a:r>
              <a:rPr lang="en-US" sz="2000" dirty="0"/>
              <a:t>The two balls selected can be represented as BB, BR, RB, RR.</a:t>
            </a:r>
          </a:p>
          <a:p>
            <a:pPr marL="0" indent="0">
              <a:buNone/>
            </a:pPr>
            <a:r>
              <a:rPr lang="en-US" sz="2000" dirty="0"/>
              <a:t>Thus, the possible values of X are 0, 1, and 2.</a:t>
            </a:r>
          </a:p>
          <a:p>
            <a:pPr marL="0" indent="0">
              <a:buNone/>
            </a:pPr>
            <a:r>
              <a:rPr lang="en-US" sz="2000" dirty="0"/>
              <a:t>Yes, X is a random variable.</a:t>
            </a:r>
            <a:endParaRPr lang="en-US" sz="2000" dirty="0">
              <a:solidFill>
                <a:schemeClr val="dk1"/>
              </a:solidFill>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10</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rPr>
              <a:t>Random Variable(CO3)</a:t>
            </a:r>
            <a:endParaRPr kumimoji="0" lang="en-US" sz="2400" b="1" i="0" u="none" strike="noStrike" kern="1200" cap="none" spc="0" normalizeH="0" baseline="0" noProof="0" dirty="0">
              <a:ln>
                <a:noFill/>
              </a:ln>
              <a:solidFill>
                <a:schemeClr val="dk1"/>
              </a:solidFill>
              <a:effectLst/>
              <a:uLnTx/>
              <a:uFillTx/>
              <a:latin typeface="+mj-lt"/>
              <a:ea typeface="+mn-ea"/>
              <a:cs typeface="+mn-cs"/>
            </a:endParaRPr>
          </a:p>
        </p:txBody>
      </p:sp>
      <p:sp>
        <p:nvSpPr>
          <p:cNvPr id="9" name="Footer Placeholder 12"/>
          <p:cNvSpPr txBox="1">
            <a:spLocks/>
          </p:cNvSpPr>
          <p:nvPr/>
        </p:nvSpPr>
        <p:spPr>
          <a:xfrm>
            <a:off x="2133600" y="635635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142471130"/>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5105400"/>
          </a:xfrm>
        </p:spPr>
        <p:txBody>
          <a:bodyPr>
            <a:noAutofit/>
          </a:bodyPr>
          <a:lstStyle/>
          <a:p>
            <a:pPr marL="0" lvl="0" indent="0">
              <a:buNone/>
            </a:pPr>
            <a:r>
              <a:rPr lang="en-US" sz="2000" dirty="0"/>
              <a:t>There are two types of Random Variable. </a:t>
            </a:r>
          </a:p>
          <a:p>
            <a:pPr marL="0" indent="0">
              <a:buNone/>
            </a:pPr>
            <a:r>
              <a:rPr lang="en-US" sz="2000" b="1" dirty="0"/>
              <a:t>Discrete Random variable:</a:t>
            </a:r>
            <a:r>
              <a:rPr lang="en-US" sz="2000" dirty="0"/>
              <a:t> A random variable X , which can take only a finite number of values in an interval of the domain is called discrete random variable.</a:t>
            </a:r>
          </a:p>
          <a:p>
            <a:pPr marL="0" indent="0">
              <a:buNone/>
            </a:pPr>
            <a:r>
              <a:rPr lang="en-US" sz="2000" dirty="0"/>
              <a:t>Example: </a:t>
            </a:r>
          </a:p>
          <a:p>
            <a:r>
              <a:rPr lang="en-US" sz="2000" dirty="0"/>
              <a:t>Number of mistakes in a page</a:t>
            </a:r>
          </a:p>
          <a:p>
            <a:r>
              <a:rPr lang="en-US" sz="2000" dirty="0"/>
              <a:t>Number of defective items in a lot</a:t>
            </a:r>
          </a:p>
          <a:p>
            <a:r>
              <a:rPr lang="en-US" sz="2000" dirty="0"/>
              <a:t>By tossing a coin 4 times, the number of Heads come up then the value of random variables are 0,1,2,3,4.</a:t>
            </a:r>
          </a:p>
          <a:p>
            <a:pPr marL="0" indent="0">
              <a:buNone/>
            </a:pPr>
            <a:r>
              <a:rPr lang="en-US" sz="2000" b="1" dirty="0"/>
              <a:t>Continuous Random Variable:</a:t>
            </a:r>
            <a:r>
              <a:rPr lang="en-US" sz="2000" dirty="0"/>
              <a:t> which variables can assume any value within interval is called continuous .</a:t>
            </a:r>
          </a:p>
          <a:p>
            <a:pPr marL="0" indent="0">
              <a:buNone/>
            </a:pPr>
            <a:r>
              <a:rPr lang="en-US" sz="2000" dirty="0"/>
              <a:t>Example : </a:t>
            </a:r>
          </a:p>
          <a:p>
            <a:r>
              <a:rPr lang="en-US" sz="2000" dirty="0"/>
              <a:t>The heights of a group of individuals, </a:t>
            </a:r>
          </a:p>
          <a:p>
            <a:r>
              <a:rPr lang="en-US" sz="2000" dirty="0"/>
              <a:t>Weight of the students in a class etc.</a:t>
            </a:r>
          </a:p>
        </p:txBody>
      </p:sp>
      <p:sp>
        <p:nvSpPr>
          <p:cNvPr id="6" name="Slide Number Placeholder 5"/>
          <p:cNvSpPr>
            <a:spLocks noGrp="1"/>
          </p:cNvSpPr>
          <p:nvPr>
            <p:ph type="sldNum" sz="quarter" idx="12"/>
          </p:nvPr>
        </p:nvSpPr>
        <p:spPr/>
        <p:txBody>
          <a:bodyPr/>
          <a:lstStyle/>
          <a:p>
            <a:fld id="{B6F15528-21DE-4FAA-801E-634DDDAF4B2B}" type="slidenum">
              <a:rPr lang="en-US" smtClean="0"/>
              <a:pPr/>
              <a:t>11</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rPr>
              <a:t>Random Variable(CO3)</a:t>
            </a:r>
            <a:endParaRPr kumimoji="0" lang="en-US" sz="2400" b="1" i="0" u="none" strike="noStrike" kern="1200" cap="none" spc="0" normalizeH="0" baseline="0" noProof="0" dirty="0">
              <a:ln>
                <a:noFill/>
              </a:ln>
              <a:solidFill>
                <a:schemeClr val="dk1"/>
              </a:solidFill>
              <a:effectLst/>
              <a:uLnTx/>
              <a:uFillTx/>
              <a:latin typeface="+mj-lt"/>
              <a:ea typeface="+mn-ea"/>
              <a:cs typeface="+mn-cs"/>
            </a:endParaRPr>
          </a:p>
        </p:txBody>
      </p:sp>
      <p:sp>
        <p:nvSpPr>
          <p:cNvPr id="9" name="Footer Placeholder 12"/>
          <p:cNvSpPr txBox="1">
            <a:spLocks/>
          </p:cNvSpPr>
          <p:nvPr/>
        </p:nvSpPr>
        <p:spPr>
          <a:xfrm>
            <a:off x="228600" y="6367932"/>
            <a:ext cx="5029200" cy="365125"/>
          </a:xfrm>
          <a:prstGeom prst="rect">
            <a:avLst/>
          </a:prstGeom>
        </p:spPr>
        <p:txBody>
          <a:bodyPr vert="horz" lIns="91440" tIns="45720" rIns="91440" bIns="45720" rtlCol="0" anchor="ctr"/>
          <a:lstStyle/>
          <a:p>
            <a:pPr lvl="0" algn="ctr">
              <a:defRPr/>
            </a:pP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759803870"/>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2" presetClass="entr" presetSubtype="4"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 calcmode="lin" valueType="num">
                                      <p:cBhvr additive="base">
                                        <p:cTn id="49"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50"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par>
                    <p:cTn id="51" fill="hold">
                      <p:stCondLst>
                        <p:cond delay="indefinite"/>
                      </p:stCondLst>
                      <p:childTnLst>
                        <p:par>
                          <p:cTn id="52" fill="hold">
                            <p:stCondLst>
                              <p:cond delay="0"/>
                            </p:stCondLst>
                            <p:childTnLst>
                              <p:par>
                                <p:cTn id="53" presetID="2" presetClass="entr" presetSubtype="4" fill="hold" grpId="0" nodeType="clickEffect">
                                  <p:stCondLst>
                                    <p:cond delay="0"/>
                                  </p:stCondLst>
                                  <p:childTnLst>
                                    <p:set>
                                      <p:cBhvr>
                                        <p:cTn id="54" dur="1" fill="hold">
                                          <p:stCondLst>
                                            <p:cond delay="0"/>
                                          </p:stCondLst>
                                        </p:cTn>
                                        <p:tgtEl>
                                          <p:spTgt spid="3">
                                            <p:txEl>
                                              <p:pRg st="8" end="8"/>
                                            </p:txEl>
                                          </p:spTgt>
                                        </p:tgtEl>
                                        <p:attrNameLst>
                                          <p:attrName>style.visibility</p:attrName>
                                        </p:attrNameLst>
                                      </p:cBhvr>
                                      <p:to>
                                        <p:strVal val="visible"/>
                                      </p:to>
                                    </p:set>
                                    <p:anim calcmode="lin" valueType="num">
                                      <p:cBhvr additive="base">
                                        <p:cTn id="55" dur="500" fill="hold"/>
                                        <p:tgtEl>
                                          <p:spTgt spid="3">
                                            <p:txEl>
                                              <p:pRg st="8" end="8"/>
                                            </p:txEl>
                                          </p:spTgt>
                                        </p:tgtEl>
                                        <p:attrNameLst>
                                          <p:attrName>ppt_x</p:attrName>
                                        </p:attrNameLst>
                                      </p:cBhvr>
                                      <p:tavLst>
                                        <p:tav tm="0">
                                          <p:val>
                                            <p:strVal val="#ppt_x"/>
                                          </p:val>
                                        </p:tav>
                                        <p:tav tm="100000">
                                          <p:val>
                                            <p:strVal val="#ppt_x"/>
                                          </p:val>
                                        </p:tav>
                                      </p:tavLst>
                                    </p:anim>
                                    <p:anim calcmode="lin" valueType="num">
                                      <p:cBhvr additive="base">
                                        <p:cTn id="56" dur="500" fill="hold"/>
                                        <p:tgtEl>
                                          <p:spTgt spid="3">
                                            <p:txEl>
                                              <p:pRg st="8" end="8"/>
                                            </p:txEl>
                                          </p:spTgt>
                                        </p:tgtEl>
                                        <p:attrNameLst>
                                          <p:attrName>ppt_y</p:attrName>
                                        </p:attrNameLst>
                                      </p:cBhvr>
                                      <p:tavLst>
                                        <p:tav tm="0">
                                          <p:val>
                                            <p:strVal val="1+#ppt_h/2"/>
                                          </p:val>
                                        </p:tav>
                                        <p:tav tm="100000">
                                          <p:val>
                                            <p:strVal val="#ppt_y"/>
                                          </p:val>
                                        </p:tav>
                                      </p:tavLst>
                                    </p:anim>
                                  </p:childTnLst>
                                </p:cTn>
                              </p:par>
                            </p:childTnLst>
                          </p:cTn>
                        </p:par>
                      </p:childTnLst>
                    </p:cTn>
                  </p:par>
                  <p:par>
                    <p:cTn id="57" fill="hold">
                      <p:stCondLst>
                        <p:cond delay="indefinite"/>
                      </p:stCondLst>
                      <p:childTnLst>
                        <p:par>
                          <p:cTn id="58" fill="hold">
                            <p:stCondLst>
                              <p:cond delay="0"/>
                            </p:stCondLst>
                            <p:childTnLst>
                              <p:par>
                                <p:cTn id="59" presetID="2" presetClass="entr" presetSubtype="4" fill="hold" grpId="0" nodeType="clickEffect">
                                  <p:stCondLst>
                                    <p:cond delay="0"/>
                                  </p:stCondLst>
                                  <p:childTnLst>
                                    <p:set>
                                      <p:cBhvr>
                                        <p:cTn id="60" dur="1" fill="hold">
                                          <p:stCondLst>
                                            <p:cond delay="0"/>
                                          </p:stCondLst>
                                        </p:cTn>
                                        <p:tgtEl>
                                          <p:spTgt spid="3">
                                            <p:txEl>
                                              <p:pRg st="9" end="9"/>
                                            </p:txEl>
                                          </p:spTgt>
                                        </p:tgtEl>
                                        <p:attrNameLst>
                                          <p:attrName>style.visibility</p:attrName>
                                        </p:attrNameLst>
                                      </p:cBhvr>
                                      <p:to>
                                        <p:strVal val="visible"/>
                                      </p:to>
                                    </p:set>
                                    <p:anim calcmode="lin" valueType="num">
                                      <p:cBhvr additive="base">
                                        <p:cTn id="61" dur="500" fill="hold"/>
                                        <p:tgtEl>
                                          <p:spTgt spid="3">
                                            <p:txEl>
                                              <p:pRg st="9" end="9"/>
                                            </p:txEl>
                                          </p:spTgt>
                                        </p:tgtEl>
                                        <p:attrNameLst>
                                          <p:attrName>ppt_x</p:attrName>
                                        </p:attrNameLst>
                                      </p:cBhvr>
                                      <p:tavLst>
                                        <p:tav tm="0">
                                          <p:val>
                                            <p:strVal val="#ppt_x"/>
                                          </p:val>
                                        </p:tav>
                                        <p:tav tm="100000">
                                          <p:val>
                                            <p:strVal val="#ppt_x"/>
                                          </p:val>
                                        </p:tav>
                                      </p:tavLst>
                                    </p:anim>
                                    <p:anim calcmode="lin" valueType="num">
                                      <p:cBhvr additive="base">
                                        <p:cTn id="62" dur="500" fill="hold"/>
                                        <p:tgtEl>
                                          <p:spTgt spid="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838200" y="1722437"/>
                <a:ext cx="7848600" cy="3382963"/>
              </a:xfrm>
            </p:spPr>
            <p:txBody>
              <a:bodyPr>
                <a:noAutofit/>
              </a:bodyPr>
              <a:lstStyle/>
              <a:p>
                <a:pPr marL="0" indent="0">
                  <a:buNone/>
                </a:pPr>
                <a:r>
                  <a:rPr lang="en-US" sz="2200" b="1" dirty="0"/>
                  <a:t>Probability Mass Function:</a:t>
                </a:r>
                <a:r>
                  <a:rPr lang="en-US" sz="2200" dirty="0"/>
                  <a:t> </a:t>
                </a:r>
                <a:r>
                  <a:rPr lang="en-US" sz="2000" dirty="0"/>
                  <a:t>A function P(x) or p(x) defied by</a:t>
                </a:r>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𝑋</m:t>
                          </m:r>
                          <m:r>
                            <a:rPr lang="en-US" sz="2000" b="0" i="1" smtClean="0">
                              <a:latin typeface="Cambria Math"/>
                            </a:rPr>
                            <m:t>=</m:t>
                          </m:r>
                          <m:r>
                            <a:rPr lang="en-US" sz="2000" b="0" i="1" smtClean="0">
                              <a:latin typeface="Cambria Math"/>
                            </a:rPr>
                            <m:t>𝑥</m:t>
                          </m:r>
                        </m:e>
                      </m:d>
                      <m:r>
                        <a:rPr lang="en-US" sz="2000" b="0" i="0" smtClean="0">
                          <a:latin typeface="Cambria Math"/>
                        </a:rPr>
                        <m:t>=</m:t>
                      </m:r>
                      <m:r>
                        <m:rPr>
                          <m:sty m:val="p"/>
                        </m:rPr>
                        <a:rPr lang="en-US" sz="2000" b="0" i="0" smtClean="0">
                          <a:latin typeface="Cambria Math"/>
                        </a:rPr>
                        <m:t>p</m:t>
                      </m:r>
                      <m:d>
                        <m:dPr>
                          <m:ctrlPr>
                            <a:rPr lang="en-US" sz="2000" b="0" i="1" smtClean="0">
                              <a:latin typeface="Cambria Math" panose="02040503050406030204" pitchFamily="18" charset="0"/>
                            </a:rPr>
                          </m:ctrlPr>
                        </m:dPr>
                        <m:e>
                          <m:r>
                            <m:rPr>
                              <m:sty m:val="p"/>
                            </m:rPr>
                            <a:rPr lang="en-US" sz="2000" b="0" i="0" smtClean="0">
                              <a:latin typeface="Cambria Math"/>
                            </a:rPr>
                            <m:t>x</m:t>
                          </m:r>
                        </m:e>
                      </m:d>
                      <m:r>
                        <a:rPr lang="en-US" sz="2000" b="0" i="0" smtClean="0">
                          <a:latin typeface="Cambria Math"/>
                        </a:rPr>
                        <m:t>=</m:t>
                      </m:r>
                      <m:d>
                        <m:dPr>
                          <m:begChr m:val="{"/>
                          <m:endChr m:val=""/>
                          <m:ctrlPr>
                            <a:rPr lang="en-US" sz="2000" b="0" i="1" smtClean="0">
                              <a:latin typeface="Cambria Math" panose="02040503050406030204" pitchFamily="18" charset="0"/>
                            </a:rPr>
                          </m:ctrlPr>
                        </m:dPr>
                        <m:e>
                          <m:m>
                            <m:mPr>
                              <m:mcs>
                                <m:mc>
                                  <m:mcPr>
                                    <m:count m:val="1"/>
                                    <m:mcJc m:val="center"/>
                                  </m:mcPr>
                                </m:mc>
                              </m:mcs>
                              <m:ctrlPr>
                                <a:rPr lang="en-US" sz="2000" b="0" i="1" smtClean="0">
                                  <a:latin typeface="Cambria Math" panose="02040503050406030204" pitchFamily="18" charset="0"/>
                                </a:rPr>
                              </m:ctrlPr>
                            </m:mPr>
                            <m:mr>
                              <m:e>
                                <m:r>
                                  <m:rPr>
                                    <m:brk m:alnAt="7"/>
                                  </m:rPr>
                                  <a:rPr lang="en-US" sz="2000" b="0" i="1" smtClean="0">
                                    <a:latin typeface="Cambria Math"/>
                                  </a:rPr>
                                  <m:t>𝑝</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a:rPr>
                                          <m:t>𝑥</m:t>
                                        </m:r>
                                      </m:e>
                                      <m:sub>
                                        <m:r>
                                          <a:rPr lang="en-US" sz="2000" b="0" i="1" smtClean="0">
                                            <a:latin typeface="Cambria Math"/>
                                          </a:rPr>
                                          <m:t>𝑖</m:t>
                                        </m:r>
                                      </m:sub>
                                    </m:sSub>
                                  </m:e>
                                </m:d>
                                <m:r>
                                  <m:rPr>
                                    <m:brk m:alnAt="7"/>
                                  </m:rPr>
                                  <a:rPr lang="en-US" sz="2000" b="0" i="1" smtClean="0">
                                    <a:latin typeface="Cambria Math"/>
                                  </a:rPr>
                                  <m:t> </m:t>
                                </m:r>
                                <m:r>
                                  <a:rPr lang="en-US" sz="2000" b="0" i="1" smtClean="0">
                                    <a:latin typeface="Cambria Math"/>
                                  </a:rPr>
                                  <m:t> </m:t>
                                </m:r>
                                <m:r>
                                  <a:rPr lang="en-US" sz="2000" b="0" i="1" smtClean="0">
                                    <a:latin typeface="Cambria Math"/>
                                  </a:rPr>
                                  <m:t>𝑜𝑟</m:t>
                                </m:r>
                                <m:r>
                                  <a:rPr lang="en-US" sz="2000" b="0" i="1" smtClean="0">
                                    <a:latin typeface="Cambria Math"/>
                                  </a:rPr>
                                  <m:t> </m:t>
                                </m:r>
                                <m:sSub>
                                  <m:sSubPr>
                                    <m:ctrlPr>
                                      <a:rPr lang="en-US" sz="2000" b="0" i="1" smtClean="0">
                                        <a:latin typeface="Cambria Math" panose="02040503050406030204" pitchFamily="18" charset="0"/>
                                      </a:rPr>
                                    </m:ctrlPr>
                                  </m:sSubPr>
                                  <m:e>
                                    <m:r>
                                      <a:rPr lang="en-US" sz="2000" b="0" i="1" smtClean="0">
                                        <a:latin typeface="Cambria Math"/>
                                      </a:rPr>
                                      <m:t>𝑝</m:t>
                                    </m:r>
                                  </m:e>
                                  <m:sub>
                                    <m:r>
                                      <a:rPr lang="en-US" sz="2000" b="0" i="1" smtClean="0">
                                        <a:latin typeface="Cambria Math"/>
                                      </a:rPr>
                                      <m:t>𝑖</m:t>
                                    </m:r>
                                  </m:sub>
                                </m:sSub>
                                <m:r>
                                  <m:rPr>
                                    <m:brk m:alnAt="7"/>
                                  </m:rPr>
                                  <a:rPr lang="en-US" sz="2000" b="0" i="1" smtClean="0">
                                    <a:latin typeface="Cambria Math"/>
                                  </a:rPr>
                                  <m:t> </m:t>
                                </m:r>
                                <m:r>
                                  <a:rPr lang="en-US" sz="2000" b="0" i="1" smtClean="0">
                                    <a:latin typeface="Cambria Math"/>
                                  </a:rPr>
                                  <m:t>𝑤h𝑒𝑟𝑒</m:t>
                                </m:r>
                                <m:r>
                                  <a:rPr lang="en-US" sz="2000" b="0" i="1" smtClean="0">
                                    <a:latin typeface="Cambria Math"/>
                                  </a:rPr>
                                  <m:t> </m:t>
                                </m:r>
                                <m:r>
                                  <a:rPr lang="en-US" sz="2000" b="0" i="1" smtClean="0">
                                    <a:latin typeface="Cambria Math"/>
                                  </a:rPr>
                                  <m:t>𝑥</m:t>
                                </m:r>
                                <m:r>
                                  <a:rPr lang="en-US" sz="2000" b="0" i="1" smtClean="0">
                                    <a:latin typeface="Cambria Math"/>
                                  </a:rPr>
                                  <m:t>=</m:t>
                                </m:r>
                                <m:sSub>
                                  <m:sSubPr>
                                    <m:ctrlPr>
                                      <a:rPr lang="en-US" sz="2000" b="0" i="1" smtClean="0">
                                        <a:latin typeface="Cambria Math" panose="02040503050406030204" pitchFamily="18" charset="0"/>
                                      </a:rPr>
                                    </m:ctrlPr>
                                  </m:sSubPr>
                                  <m:e>
                                    <m:r>
                                      <a:rPr lang="en-US" sz="2000" b="0" i="1" smtClean="0">
                                        <a:latin typeface="Cambria Math"/>
                                      </a:rPr>
                                      <m:t>𝑥</m:t>
                                    </m:r>
                                  </m:e>
                                  <m:sub>
                                    <m:r>
                                      <a:rPr lang="en-US" sz="2000" b="0" i="1" smtClean="0">
                                        <a:latin typeface="Cambria Math"/>
                                      </a:rPr>
                                      <m:t>𝑖</m:t>
                                    </m:r>
                                  </m:sub>
                                </m:sSub>
                                <m:r>
                                  <m:rPr>
                                    <m:brk m:alnAt="7"/>
                                  </m:rPr>
                                  <a:rPr lang="en-US" sz="2000" b="0" i="1" smtClean="0">
                                    <a:latin typeface="Cambria Math"/>
                                  </a:rPr>
                                  <m:t>,</m:t>
                                </m:r>
                                <m:r>
                                  <a:rPr lang="en-US" sz="2000" b="0" i="1" smtClean="0">
                                    <a:latin typeface="Cambria Math"/>
                                  </a:rPr>
                                  <m:t>𝑖</m:t>
                                </m:r>
                                <m:r>
                                  <a:rPr lang="en-US" sz="2000" b="0" i="1" smtClean="0">
                                    <a:latin typeface="Cambria Math"/>
                                  </a:rPr>
                                  <m:t>=1,2,.. </m:t>
                                </m:r>
                              </m:e>
                            </m:mr>
                            <m:mr>
                              <m:e>
                                <m:r>
                                  <a:rPr lang="en-US" sz="2000" b="0" i="1" smtClean="0">
                                    <a:latin typeface="Cambria Math"/>
                                  </a:rPr>
                                  <m:t>0   </m:t>
                                </m:r>
                                <m:r>
                                  <a:rPr lang="en-US" sz="2000" b="0" i="1" smtClean="0">
                                    <a:latin typeface="Cambria Math"/>
                                  </a:rPr>
                                  <m:t>𝑜𝑡h𝑒𝑟𝑤𝑖𝑠𝑒</m:t>
                                </m:r>
                                <m:r>
                                  <a:rPr lang="en-US" sz="2000" b="0" i="1" smtClean="0">
                                    <a:latin typeface="Cambria Math"/>
                                  </a:rPr>
                                  <m:t>  </m:t>
                                </m:r>
                              </m:e>
                            </m:mr>
                          </m:m>
                        </m:e>
                      </m:d>
                    </m:oMath>
                  </m:oMathPara>
                </a14:m>
                <a:endParaRPr lang="en-US" sz="2000" dirty="0"/>
              </a:p>
              <a:p>
                <a:pPr marL="0" indent="0">
                  <a:buNone/>
                </a:pPr>
                <a:r>
                  <a:rPr lang="en-US" sz="2000" dirty="0"/>
                  <a:t>is called Probability function of the </a:t>
                </a:r>
                <a:r>
                  <a:rPr lang="en-US" sz="2000" b="1" dirty="0"/>
                  <a:t>discrete random variable </a:t>
                </a:r>
                <a:r>
                  <a:rPr lang="en-US" sz="2000" dirty="0"/>
                  <a:t>X. where X assumes values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a:rPr>
                          <m:t>𝑥</m:t>
                        </m:r>
                      </m:e>
                      <m:sub>
                        <m:r>
                          <a:rPr lang="en-US" sz="2000" b="0" i="1" smtClean="0">
                            <a:latin typeface="Cambria Math"/>
                          </a:rPr>
                          <m:t>1</m:t>
                        </m:r>
                      </m:sub>
                    </m:sSub>
                    <m:r>
                      <a:rPr lang="en-US" sz="2000" b="0" i="1" smtClean="0">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b="0" i="1" smtClean="0">
                            <a:latin typeface="Cambria Math"/>
                          </a:rPr>
                          <m:t>2</m:t>
                        </m:r>
                      </m:sub>
                    </m:sSub>
                    <m:r>
                      <a:rPr lang="en-US" sz="2000" i="1">
                        <a:latin typeface="Cambria Math"/>
                      </a:rPr>
                      <m:t>,</m:t>
                    </m:r>
                  </m:oMath>
                </a14:m>
                <a:r>
                  <a:rPr lang="en-US" sz="2000" dirty="0"/>
                  <a:t> </a:t>
                </a:r>
                <a14:m>
                  <m:oMath xmlns:m="http://schemas.openxmlformats.org/officeDocument/2006/math">
                    <m:sSub>
                      <m:sSubPr>
                        <m:ctrlPr>
                          <a:rPr lang="en-US" sz="2000" i="1">
                            <a:latin typeface="Cambria Math" panose="02040503050406030204" pitchFamily="18" charset="0"/>
                          </a:rPr>
                        </m:ctrlPr>
                      </m:sSubPr>
                      <m:e>
                        <m:r>
                          <a:rPr lang="en-US" sz="2000" i="1">
                            <a:latin typeface="Cambria Math"/>
                          </a:rPr>
                          <m:t>𝑥</m:t>
                        </m:r>
                      </m:e>
                      <m:sub>
                        <m:r>
                          <a:rPr lang="en-US" sz="2000" b="0" i="1" smtClean="0">
                            <a:latin typeface="Cambria Math"/>
                          </a:rPr>
                          <m:t>3</m:t>
                        </m:r>
                      </m:sub>
                    </m:sSub>
                    <m:r>
                      <a:rPr lang="en-US" sz="2000" b="0" i="1" smtClean="0">
                        <a:latin typeface="Cambria Math"/>
                      </a:rPr>
                      <m:t>….</m:t>
                    </m:r>
                    <m:sSub>
                      <m:sSubPr>
                        <m:ctrlPr>
                          <a:rPr lang="en-US" sz="2000" i="1">
                            <a:latin typeface="Cambria Math" panose="02040503050406030204" pitchFamily="18" charset="0"/>
                          </a:rPr>
                        </m:ctrlPr>
                      </m:sSubPr>
                      <m:e>
                        <m:r>
                          <a:rPr lang="en-US" sz="2000" i="1">
                            <a:latin typeface="Cambria Math"/>
                          </a:rPr>
                          <m:t>𝑥</m:t>
                        </m:r>
                      </m:e>
                      <m:sub>
                        <m:r>
                          <a:rPr lang="en-US" sz="2000" b="0" i="1" smtClean="0">
                            <a:latin typeface="Cambria Math"/>
                          </a:rPr>
                          <m:t>𝑛</m:t>
                        </m:r>
                      </m:sub>
                    </m:sSub>
                    <m:r>
                      <a:rPr lang="en-US" sz="2000" i="1">
                        <a:latin typeface="Cambria Math"/>
                      </a:rPr>
                      <m:t>,</m:t>
                    </m:r>
                  </m:oMath>
                </a14:m>
                <a:r>
                  <a:rPr lang="en-US" sz="2000" dirty="0"/>
                  <a:t> and </a:t>
                </a:r>
                <a14:m>
                  <m:oMath xmlns:m="http://schemas.openxmlformats.org/officeDocument/2006/math">
                    <m:sSub>
                      <m:sSubPr>
                        <m:ctrlPr>
                          <a:rPr lang="en-US" sz="2000" i="1">
                            <a:latin typeface="Cambria Math" panose="02040503050406030204" pitchFamily="18" charset="0"/>
                          </a:rPr>
                        </m:ctrlPr>
                      </m:sSubPr>
                      <m:e>
                        <m:r>
                          <a:rPr lang="en-US" sz="2000" b="0" i="1" smtClean="0">
                            <a:latin typeface="Cambria Math"/>
                          </a:rPr>
                          <m:t>𝑝</m:t>
                        </m:r>
                      </m:e>
                      <m:sub>
                        <m:r>
                          <a:rPr lang="en-US" sz="2000" b="0" i="1" smtClean="0">
                            <a:latin typeface="Cambria Math"/>
                          </a:rPr>
                          <m:t>1</m:t>
                        </m:r>
                      </m:sub>
                    </m:sSub>
                    <m:r>
                      <a:rPr lang="en-US" sz="2000" i="1">
                        <a:latin typeface="Cambria Math"/>
                      </a:rPr>
                      <m:t>,</m:t>
                    </m:r>
                    <m:sSub>
                      <m:sSubPr>
                        <m:ctrlPr>
                          <a:rPr lang="en-US" sz="2000" i="1">
                            <a:latin typeface="Cambria Math" panose="02040503050406030204" pitchFamily="18" charset="0"/>
                          </a:rPr>
                        </m:ctrlPr>
                      </m:sSubPr>
                      <m:e>
                        <m:r>
                          <a:rPr lang="en-US" sz="2000" i="1">
                            <a:latin typeface="Cambria Math"/>
                          </a:rPr>
                          <m:t>𝑝</m:t>
                        </m:r>
                      </m:e>
                      <m:sub>
                        <m:r>
                          <a:rPr lang="en-US" sz="2000" b="0" i="1" smtClean="0">
                            <a:latin typeface="Cambria Math"/>
                          </a:rPr>
                          <m:t>2</m:t>
                        </m:r>
                      </m:sub>
                    </m:sSub>
                    <m:r>
                      <a:rPr lang="en-US" sz="2000" b="0" i="0" smtClean="0">
                        <a:latin typeface="Cambria Math"/>
                      </a:rPr>
                      <m:t>,</m:t>
                    </m:r>
                    <m:r>
                      <a:rPr lang="en-US" sz="2000" i="1" smtClean="0">
                        <a:latin typeface="Cambria Math"/>
                      </a:rPr>
                      <m:t> </m:t>
                    </m:r>
                    <m:r>
                      <a:rPr lang="en-US" sz="2000" b="0" i="1" smtClean="0">
                        <a:latin typeface="Cambria Math"/>
                      </a:rPr>
                      <m:t>…..</m:t>
                    </m:r>
                    <m:sSub>
                      <m:sSubPr>
                        <m:ctrlPr>
                          <a:rPr lang="en-US" sz="2000" i="1">
                            <a:latin typeface="Cambria Math" panose="02040503050406030204" pitchFamily="18" charset="0"/>
                          </a:rPr>
                        </m:ctrlPr>
                      </m:sSubPr>
                      <m:e>
                        <m:r>
                          <a:rPr lang="en-US" sz="2000" i="1">
                            <a:latin typeface="Cambria Math"/>
                          </a:rPr>
                          <m:t>𝑝</m:t>
                        </m:r>
                      </m:e>
                      <m:sub>
                        <m:r>
                          <a:rPr lang="en-US" sz="2000" b="0" i="1" smtClean="0">
                            <a:latin typeface="Cambria Math"/>
                          </a:rPr>
                          <m:t>𝑛</m:t>
                        </m:r>
                      </m:sub>
                    </m:sSub>
                  </m:oMath>
                </a14:m>
                <a:r>
                  <a:rPr lang="en-US" sz="2000" dirty="0"/>
                  <a:t>are corresponding probabilities. In short, it is called </a:t>
                </a:r>
                <a:r>
                  <a:rPr lang="en-US" sz="2000" dirty="0" err="1"/>
                  <a:t>pmf</a:t>
                </a:r>
                <a:endParaRPr lang="en-US" sz="2000" dirty="0"/>
              </a:p>
              <a:p>
                <a:pPr marL="0" indent="0">
                  <a:buNone/>
                </a:pPr>
                <a:r>
                  <a:rPr lang="en-US" sz="2000" b="1" dirty="0"/>
                  <a:t>Properties:</a:t>
                </a:r>
              </a:p>
              <a:p>
                <a:pPr marL="400050" indent="-400050">
                  <a:buFont typeface="+mj-lt"/>
                  <a:buAutoNum type="romanLcPeriod"/>
                </a:pPr>
                <a14:m>
                  <m:oMath xmlns:m="http://schemas.openxmlformats.org/officeDocument/2006/math">
                    <m:r>
                      <m:rPr>
                        <m:brk m:alnAt="7"/>
                      </m:rPr>
                      <a:rPr lang="en-US" sz="2000" i="1">
                        <a:latin typeface="Cambria Math"/>
                      </a:rPr>
                      <m:t>𝑝</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𝑖</m:t>
                            </m:r>
                          </m:sub>
                        </m:sSub>
                      </m:e>
                    </m:d>
                    <m:r>
                      <a:rPr lang="en-US" sz="2000" i="1" smtClean="0">
                        <a:latin typeface="Cambria Math"/>
                        <a:ea typeface="Cambria Math"/>
                      </a:rPr>
                      <m:t>≥</m:t>
                    </m:r>
                    <m:r>
                      <a:rPr lang="en-US" sz="2000" b="0" i="1" smtClean="0">
                        <a:latin typeface="Cambria Math"/>
                        <a:ea typeface="Cambria Math"/>
                      </a:rPr>
                      <m:t>0</m:t>
                    </m:r>
                  </m:oMath>
                </a14:m>
                <a:endParaRPr lang="en-US" sz="2000" b="0" dirty="0">
                  <a:ea typeface="Cambria Math"/>
                </a:endParaRPr>
              </a:p>
              <a:p>
                <a:pPr marL="400050" indent="-400050">
                  <a:buFont typeface="+mj-lt"/>
                  <a:buAutoNum type="romanLcPeriod"/>
                </a:pPr>
                <a14:m>
                  <m:oMath xmlns:m="http://schemas.openxmlformats.org/officeDocument/2006/math">
                    <m:nary>
                      <m:naryPr>
                        <m:chr m:val="∑"/>
                        <m:subHide m:val="on"/>
                        <m:supHide m:val="on"/>
                        <m:ctrlPr>
                          <a:rPr lang="en-US" sz="2000" i="1" smtClean="0">
                            <a:latin typeface="Cambria Math" panose="02040503050406030204" pitchFamily="18" charset="0"/>
                          </a:rPr>
                        </m:ctrlPr>
                      </m:naryPr>
                      <m:sub/>
                      <m:sup/>
                      <m:e>
                        <m:r>
                          <m:rPr>
                            <m:brk m:alnAt="7"/>
                          </m:rPr>
                          <a:rPr lang="en-US" sz="2000" i="1">
                            <a:latin typeface="Cambria Math"/>
                          </a:rPr>
                          <m:t>𝑝</m:t>
                        </m:r>
                        <m:d>
                          <m:dPr>
                            <m:ctrlPr>
                              <a:rPr lang="en-US" sz="2000" i="1">
                                <a:latin typeface="Cambria Math" panose="02040503050406030204" pitchFamily="18" charset="0"/>
                              </a:rPr>
                            </m:ctrlPr>
                          </m:dPr>
                          <m:e>
                            <m:sSub>
                              <m:sSubPr>
                                <m:ctrlPr>
                                  <a:rPr lang="en-US" sz="2000" i="1">
                                    <a:latin typeface="Cambria Math" panose="02040503050406030204" pitchFamily="18" charset="0"/>
                                  </a:rPr>
                                </m:ctrlPr>
                              </m:sSubPr>
                              <m:e>
                                <m:r>
                                  <a:rPr lang="en-US" sz="2000" i="1">
                                    <a:latin typeface="Cambria Math"/>
                                  </a:rPr>
                                  <m:t>𝑥</m:t>
                                </m:r>
                              </m:e>
                              <m:sub>
                                <m:r>
                                  <a:rPr lang="en-US" sz="2000" i="1">
                                    <a:latin typeface="Cambria Math"/>
                                  </a:rPr>
                                  <m:t>𝑖</m:t>
                                </m:r>
                              </m:sub>
                            </m:sSub>
                          </m:e>
                        </m:d>
                        <m:r>
                          <a:rPr lang="en-US" sz="2000" b="0" i="1" smtClean="0">
                            <a:latin typeface="Cambria Math"/>
                          </a:rPr>
                          <m:t>=1</m:t>
                        </m:r>
                      </m:e>
                    </m:nary>
                  </m:oMath>
                </a14:m>
                <a:endParaRPr lang="en-US" sz="20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838200" y="1722437"/>
                <a:ext cx="7848600" cy="3382963"/>
              </a:xfrm>
              <a:blipFill>
                <a:blip r:embed="rId2"/>
                <a:stretch>
                  <a:fillRect l="-1010" t="-1261" r="-855" b="-16036"/>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12</a:t>
            </a:fld>
            <a:endParaRPr lang="en-US"/>
          </a:p>
        </p:txBody>
      </p:sp>
      <p:sp>
        <p:nvSpPr>
          <p:cNvPr id="9" name="Title 1"/>
          <p:cNvSpPr txBox="1">
            <a:spLocks/>
          </p:cNvSpPr>
          <p:nvPr/>
        </p:nvSpPr>
        <p:spPr>
          <a:xfrm>
            <a:off x="1600200" y="0"/>
            <a:ext cx="7543800" cy="9144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mj-lt"/>
              </a:rPr>
              <a:t> Probability Mass Function / probability distribution(CO3)</a:t>
            </a:r>
            <a:endParaRPr kumimoji="0" lang="en-US" sz="2400" b="1" i="0" u="none" strike="noStrike" kern="1200" cap="none" spc="0" normalizeH="0" baseline="0" noProof="0" dirty="0">
              <a:ln>
                <a:noFill/>
              </a:ln>
              <a:solidFill>
                <a:schemeClr val="dk1"/>
              </a:solidFill>
              <a:effectLst/>
              <a:uLnTx/>
              <a:uFillTx/>
              <a:latin typeface="+mj-lt"/>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03985561"/>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724400"/>
          </a:xfrm>
        </p:spPr>
        <p:txBody>
          <a:bodyPr>
            <a:normAutofit/>
          </a:bodyPr>
          <a:lstStyle/>
          <a:p>
            <a:pPr marL="0" indent="0">
              <a:buNone/>
            </a:pPr>
            <a:r>
              <a:rPr lang="en-US" sz="2000" b="1" dirty="0">
                <a:latin typeface="+mj-lt"/>
              </a:rPr>
              <a:t>Example</a:t>
            </a:r>
            <a:r>
              <a:rPr lang="en-US" sz="2000" dirty="0">
                <a:latin typeface="+mj-lt"/>
              </a:rPr>
              <a:t>: Is  P(X) a Probability distribution ?</a:t>
            </a:r>
          </a:p>
          <a:p>
            <a:pPr marL="0" indent="0">
              <a:buNone/>
            </a:pPr>
            <a:endParaRPr lang="en-US" sz="2000" dirty="0">
              <a:latin typeface="+mj-lt"/>
            </a:endParaRPr>
          </a:p>
          <a:p>
            <a:pPr marL="0" indent="0">
              <a:buNone/>
            </a:pPr>
            <a:endParaRPr lang="en-US" sz="2000" dirty="0">
              <a:latin typeface="+mj-lt"/>
            </a:endParaRPr>
          </a:p>
          <a:p>
            <a:pPr marL="0" indent="0">
              <a:buNone/>
            </a:pPr>
            <a:endParaRPr lang="en-US" sz="2000" dirty="0">
              <a:latin typeface="+mj-lt"/>
            </a:endParaRPr>
          </a:p>
          <a:p>
            <a:pPr marL="0" indent="0">
              <a:buNone/>
            </a:pPr>
            <a:r>
              <a:rPr lang="en-US" sz="2000" b="1" dirty="0">
                <a:latin typeface="+mj-lt"/>
              </a:rPr>
              <a:t>Solution</a:t>
            </a:r>
            <a:r>
              <a:rPr lang="en-US" sz="2000" dirty="0">
                <a:latin typeface="+mj-lt"/>
              </a:rPr>
              <a:t>: Yes, it is a Probability distribution because sum of all Probability (0.4+0.4+0.2= 1) is 1</a:t>
            </a:r>
          </a:p>
          <a:p>
            <a:pPr marL="0" indent="0">
              <a:buNone/>
            </a:pPr>
            <a:r>
              <a:rPr lang="en-US" sz="2000" b="1" dirty="0">
                <a:latin typeface="+mj-lt"/>
              </a:rPr>
              <a:t>Example:2 </a:t>
            </a:r>
            <a:r>
              <a:rPr lang="en-US" sz="2000" dirty="0">
                <a:latin typeface="+mj-lt"/>
              </a:rPr>
              <a:t>Find the probability distribution of number of heads in two tosses of a coin.</a:t>
            </a:r>
          </a:p>
          <a:p>
            <a:pPr marL="0" indent="0">
              <a:buNone/>
            </a:pPr>
            <a:r>
              <a:rPr lang="en-US" sz="2000" b="1" dirty="0">
                <a:latin typeface="+mj-lt"/>
              </a:rPr>
              <a:t>Solution: </a:t>
            </a:r>
            <a:r>
              <a:rPr lang="en-US" sz="2000" dirty="0">
                <a:latin typeface="+mj-lt"/>
              </a:rPr>
              <a:t>When one coin is tossed twice. the sample space is {HH,HT,TH,TT}</a:t>
            </a:r>
          </a:p>
          <a:p>
            <a:pPr marL="0" indent="0">
              <a:buNone/>
            </a:pPr>
            <a:r>
              <a:rPr lang="en-US" sz="2000" dirty="0">
                <a:latin typeface="+mj-lt"/>
              </a:rPr>
              <a:t>Let X represent the number of heads. X can take the value of 0, 1, or 2.</a:t>
            </a:r>
          </a:p>
          <a:p>
            <a:pPr marL="0" indent="0">
              <a:buNone/>
            </a:pPr>
            <a:endParaRPr lang="en-US" sz="2000" dirty="0">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13</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rPr>
              <a:t>Probability distribution of a Random Variable(CO3)</a:t>
            </a:r>
            <a:endParaRPr kumimoji="0" lang="en-US" sz="2400" b="1" i="0" u="none" strike="noStrike" kern="1200" cap="none" spc="0" normalizeH="0" baseline="0" noProof="0" dirty="0">
              <a:ln>
                <a:noFill/>
              </a:ln>
              <a:solidFill>
                <a:schemeClr val="dk1"/>
              </a:solidFill>
              <a:effectLst/>
              <a:uLnTx/>
              <a:uFillTx/>
              <a:latin typeface="+mj-lt"/>
              <a:ea typeface="+mn-ea"/>
              <a:cs typeface="+mn-cs"/>
            </a:endParaRPr>
          </a:p>
        </p:txBody>
      </p:sp>
      <p:sp>
        <p:nvSpPr>
          <p:cNvPr id="9" name="Footer Placeholder 12"/>
          <p:cNvSpPr txBox="1">
            <a:spLocks/>
          </p:cNvSpPr>
          <p:nvPr/>
        </p:nvSpPr>
        <p:spPr>
          <a:xfrm>
            <a:off x="228600" y="6367932"/>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graphicFrame>
        <p:nvGraphicFramePr>
          <p:cNvPr id="4" name="Table 3"/>
          <p:cNvGraphicFramePr>
            <a:graphicFrameLocks noGrp="1"/>
          </p:cNvGraphicFramePr>
          <p:nvPr>
            <p:extLst>
              <p:ext uri="{D42A27DB-BD31-4B8C-83A1-F6EECF244321}">
                <p14:modId xmlns:p14="http://schemas.microsoft.com/office/powerpoint/2010/main" val="626357655"/>
              </p:ext>
            </p:extLst>
          </p:nvPr>
        </p:nvGraphicFramePr>
        <p:xfrm>
          <a:off x="1447800" y="1625600"/>
          <a:ext cx="4114800" cy="81280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406400">
                <a:tc>
                  <a:txBody>
                    <a:bodyPr/>
                    <a:lstStyle/>
                    <a:p>
                      <a:pPr algn="ctr"/>
                      <a:r>
                        <a:rPr lang="en-US" dirty="0"/>
                        <a:t>X</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10000"/>
                  </a:ext>
                </a:extLst>
              </a:tr>
              <a:tr h="406400">
                <a:tc>
                  <a:txBody>
                    <a:bodyPr/>
                    <a:lstStyle/>
                    <a:p>
                      <a:pPr algn="ctr"/>
                      <a:r>
                        <a:rPr lang="en-US" dirty="0"/>
                        <a:t>P(X)</a:t>
                      </a:r>
                    </a:p>
                  </a:txBody>
                  <a:tcPr/>
                </a:tc>
                <a:tc>
                  <a:txBody>
                    <a:bodyPr/>
                    <a:lstStyle/>
                    <a:p>
                      <a:pPr algn="ctr"/>
                      <a:r>
                        <a:rPr lang="en-US" dirty="0"/>
                        <a:t>0.4</a:t>
                      </a:r>
                    </a:p>
                  </a:txBody>
                  <a:tcPr/>
                </a:tc>
                <a:tc>
                  <a:txBody>
                    <a:bodyPr/>
                    <a:lstStyle/>
                    <a:p>
                      <a:pPr algn="ctr"/>
                      <a:r>
                        <a:rPr lang="en-US" dirty="0"/>
                        <a:t>0.4</a:t>
                      </a:r>
                    </a:p>
                  </a:txBody>
                  <a:tcPr/>
                </a:tc>
                <a:tc>
                  <a:txBody>
                    <a:bodyPr/>
                    <a:lstStyle/>
                    <a:p>
                      <a:pPr algn="ctr"/>
                      <a:r>
                        <a:rPr lang="en-US" dirty="0"/>
                        <a:t>0.2</a:t>
                      </a:r>
                    </a:p>
                  </a:txBody>
                  <a:tcPr/>
                </a:tc>
                <a:extLst>
                  <a:ext uri="{0D108BD9-81ED-4DB2-BD59-A6C34878D82A}">
                    <a16:rowId xmlns:a16="http://schemas.microsoft.com/office/drawing/2014/main" val="10001"/>
                  </a:ext>
                </a:extLst>
              </a:tr>
            </a:tbl>
          </a:graphicData>
        </a:graphic>
      </p:graphicFrame>
      <p:sp>
        <p:nvSpPr>
          <p:cNvPr id="10" name="Footer Placeholder 9"/>
          <p:cNvSpPr>
            <a:spLocks noGrp="1"/>
          </p:cNvSpPr>
          <p:nvPr>
            <p:ph type="ftr" sz="quarter" idx="11"/>
          </p:nvPr>
        </p:nvSpPr>
        <p:spPr/>
        <p:txBody>
          <a:bodyPr/>
          <a:lstStyle/>
          <a:p>
            <a:r>
              <a:rPr lang="en-US" dirty="0"/>
              <a:t>Dr. Jyoti Singh        Statistics and Probability   Module 3 </a:t>
            </a:r>
          </a:p>
        </p:txBody>
      </p:sp>
      <p:graphicFrame>
        <p:nvGraphicFramePr>
          <p:cNvPr id="11" name="Table 10">
            <a:extLst>
              <a:ext uri="{FF2B5EF4-FFF2-40B4-BE49-F238E27FC236}">
                <a16:creationId xmlns:a16="http://schemas.microsoft.com/office/drawing/2014/main" id="{913BDD8E-697F-4160-A48F-84AB3C7F3592}"/>
              </a:ext>
            </a:extLst>
          </p:cNvPr>
          <p:cNvGraphicFramePr>
            <a:graphicFrameLocks noGrp="1"/>
          </p:cNvGraphicFramePr>
          <p:nvPr>
            <p:extLst>
              <p:ext uri="{D42A27DB-BD31-4B8C-83A1-F6EECF244321}">
                <p14:modId xmlns:p14="http://schemas.microsoft.com/office/powerpoint/2010/main" val="3801221291"/>
              </p:ext>
            </p:extLst>
          </p:nvPr>
        </p:nvGraphicFramePr>
        <p:xfrm>
          <a:off x="1828800" y="4800600"/>
          <a:ext cx="4114800" cy="812800"/>
        </p:xfrm>
        <a:graphic>
          <a:graphicData uri="http://schemas.openxmlformats.org/drawingml/2006/table">
            <a:tbl>
              <a:tblPr firstRow="1" bandRow="1">
                <a:tableStyleId>{5940675A-B579-460E-94D1-54222C63F5DA}</a:tableStyleId>
              </a:tblPr>
              <a:tblGrid>
                <a:gridCol w="1028700">
                  <a:extLst>
                    <a:ext uri="{9D8B030D-6E8A-4147-A177-3AD203B41FA5}">
                      <a16:colId xmlns:a16="http://schemas.microsoft.com/office/drawing/2014/main" val="20000"/>
                    </a:ext>
                  </a:extLst>
                </a:gridCol>
                <a:gridCol w="1028700">
                  <a:extLst>
                    <a:ext uri="{9D8B030D-6E8A-4147-A177-3AD203B41FA5}">
                      <a16:colId xmlns:a16="http://schemas.microsoft.com/office/drawing/2014/main" val="20001"/>
                    </a:ext>
                  </a:extLst>
                </a:gridCol>
                <a:gridCol w="1028700">
                  <a:extLst>
                    <a:ext uri="{9D8B030D-6E8A-4147-A177-3AD203B41FA5}">
                      <a16:colId xmlns:a16="http://schemas.microsoft.com/office/drawing/2014/main" val="20002"/>
                    </a:ext>
                  </a:extLst>
                </a:gridCol>
                <a:gridCol w="1028700">
                  <a:extLst>
                    <a:ext uri="{9D8B030D-6E8A-4147-A177-3AD203B41FA5}">
                      <a16:colId xmlns:a16="http://schemas.microsoft.com/office/drawing/2014/main" val="20003"/>
                    </a:ext>
                  </a:extLst>
                </a:gridCol>
              </a:tblGrid>
              <a:tr h="406400">
                <a:tc>
                  <a:txBody>
                    <a:bodyPr/>
                    <a:lstStyle/>
                    <a:p>
                      <a:pPr algn="ctr"/>
                      <a:r>
                        <a:rPr lang="en-US" dirty="0"/>
                        <a:t>X</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extLst>
                  <a:ext uri="{0D108BD9-81ED-4DB2-BD59-A6C34878D82A}">
                    <a16:rowId xmlns:a16="http://schemas.microsoft.com/office/drawing/2014/main" val="10000"/>
                  </a:ext>
                </a:extLst>
              </a:tr>
              <a:tr h="406400">
                <a:tc>
                  <a:txBody>
                    <a:bodyPr/>
                    <a:lstStyle/>
                    <a:p>
                      <a:pPr algn="ctr"/>
                      <a:r>
                        <a:rPr lang="en-US" dirty="0"/>
                        <a:t>P(X)</a:t>
                      </a:r>
                    </a:p>
                  </a:txBody>
                  <a:tcPr/>
                </a:tc>
                <a:tc>
                  <a:txBody>
                    <a:bodyPr/>
                    <a:lstStyle/>
                    <a:p>
                      <a:pPr algn="ctr"/>
                      <a:r>
                        <a:rPr lang="en-US" dirty="0"/>
                        <a:t>1/4</a:t>
                      </a:r>
                    </a:p>
                  </a:txBody>
                  <a:tcPr/>
                </a:tc>
                <a:tc>
                  <a:txBody>
                    <a:bodyPr/>
                    <a:lstStyle/>
                    <a:p>
                      <a:pPr algn="ctr"/>
                      <a:r>
                        <a:rPr lang="en-US" dirty="0"/>
                        <a:t>2/4</a:t>
                      </a:r>
                    </a:p>
                  </a:txBody>
                  <a:tcPr/>
                </a:tc>
                <a:tc>
                  <a:txBody>
                    <a:bodyPr/>
                    <a:lstStyle/>
                    <a:p>
                      <a:pPr algn="ctr"/>
                      <a:r>
                        <a:rPr lang="en-US" dirty="0"/>
                        <a:t>1/4</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805711802"/>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nodeType="clickEffect">
                                  <p:stCondLst>
                                    <p:cond delay="0"/>
                                  </p:stCondLst>
                                  <p:childTnLst>
                                    <p:set>
                                      <p:cBhvr>
                                        <p:cTn id="41" dur="1" fill="hold">
                                          <p:stCondLst>
                                            <p:cond delay="0"/>
                                          </p:stCondLst>
                                        </p:cTn>
                                        <p:tgtEl>
                                          <p:spTgt spid="4"/>
                                        </p:tgtEl>
                                        <p:attrNameLst>
                                          <p:attrName>style.visibility</p:attrName>
                                        </p:attrNameLst>
                                      </p:cBhvr>
                                      <p:to>
                                        <p:strVal val="visible"/>
                                      </p:to>
                                    </p:set>
                                    <p:animEffect transition="in" filter="fade">
                                      <p:cBhvr>
                                        <p:cTn id="42" dur="1000"/>
                                        <p:tgtEl>
                                          <p:spTgt spid="4"/>
                                        </p:tgtEl>
                                      </p:cBhvr>
                                    </p:animEffect>
                                    <p:anim calcmode="lin" valueType="num">
                                      <p:cBhvr>
                                        <p:cTn id="43" dur="1000" fill="hold"/>
                                        <p:tgtEl>
                                          <p:spTgt spid="4"/>
                                        </p:tgtEl>
                                        <p:attrNameLst>
                                          <p:attrName>ppt_x</p:attrName>
                                        </p:attrNameLst>
                                      </p:cBhvr>
                                      <p:tavLst>
                                        <p:tav tm="0">
                                          <p:val>
                                            <p:strVal val="#ppt_x"/>
                                          </p:val>
                                        </p:tav>
                                        <p:tav tm="100000">
                                          <p:val>
                                            <p:strVal val="#ppt_x"/>
                                          </p:val>
                                        </p:tav>
                                      </p:tavLst>
                                    </p:anim>
                                    <p:anim calcmode="lin" valueType="num">
                                      <p:cBhvr>
                                        <p:cTn id="44"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fade">
                                      <p:cBhvr>
                                        <p:cTn id="49" dur="1000"/>
                                        <p:tgtEl>
                                          <p:spTgt spid="11"/>
                                        </p:tgtEl>
                                      </p:cBhvr>
                                    </p:animEffect>
                                    <p:anim calcmode="lin" valueType="num">
                                      <p:cBhvr>
                                        <p:cTn id="50" dur="1000" fill="hold"/>
                                        <p:tgtEl>
                                          <p:spTgt spid="11"/>
                                        </p:tgtEl>
                                        <p:attrNameLst>
                                          <p:attrName>ppt_x</p:attrName>
                                        </p:attrNameLst>
                                      </p:cBhvr>
                                      <p:tavLst>
                                        <p:tav tm="0">
                                          <p:val>
                                            <p:strVal val="#ppt_x"/>
                                          </p:val>
                                        </p:tav>
                                        <p:tav tm="100000">
                                          <p:val>
                                            <p:strVal val="#ppt_x"/>
                                          </p:val>
                                        </p:tav>
                                      </p:tavLst>
                                    </p:anim>
                                    <p:anim calcmode="lin" valueType="num">
                                      <p:cBhvr>
                                        <p:cTn id="51"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14</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mj-lt"/>
              </a:rPr>
              <a:t>Daily Quiz (CO3)</a:t>
            </a:r>
            <a:endParaRPr kumimoji="0" lang="en-US" sz="2400" b="1" i="0" u="none" strike="noStrike" kern="1200" cap="none" spc="0" normalizeH="0" baseline="0" noProof="0" dirty="0">
              <a:ln>
                <a:noFill/>
              </a:ln>
              <a:solidFill>
                <a:schemeClr val="dk1"/>
              </a:solidFill>
              <a:effectLst/>
              <a:uLnTx/>
              <a:uFillTx/>
              <a:latin typeface="+mj-lt"/>
              <a:ea typeface="+mn-ea"/>
              <a:cs typeface="+mn-cs"/>
            </a:endParaRPr>
          </a:p>
        </p:txBody>
      </p:sp>
      <p:sp>
        <p:nvSpPr>
          <p:cNvPr id="9" name="Footer Placeholder 12"/>
          <p:cNvSpPr txBox="1">
            <a:spLocks/>
          </p:cNvSpPr>
          <p:nvPr/>
        </p:nvSpPr>
        <p:spPr>
          <a:xfrm>
            <a:off x="228600" y="6367932"/>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3" name="Rectangle 2"/>
          <p:cNvSpPr/>
          <p:nvPr/>
        </p:nvSpPr>
        <p:spPr>
          <a:xfrm>
            <a:off x="669701" y="990600"/>
            <a:ext cx="7804597" cy="4493538"/>
          </a:xfrm>
          <a:prstGeom prst="rect">
            <a:avLst/>
          </a:prstGeom>
        </p:spPr>
        <p:txBody>
          <a:bodyPr wrap="square">
            <a:spAutoFit/>
          </a:bodyPr>
          <a:lstStyle/>
          <a:p>
            <a:r>
              <a:rPr lang="en-US" sz="2200" b="1" dirty="0">
                <a:latin typeface="TimesNewRomanPS-BoldMT"/>
              </a:rPr>
              <a:t>Question 1: </a:t>
            </a:r>
            <a:r>
              <a:rPr lang="en-US" sz="2200" dirty="0">
                <a:solidFill>
                  <a:srgbClr val="000000"/>
                </a:solidFill>
                <a:latin typeface="TimesNewRomanPSMT"/>
              </a:rPr>
              <a:t>State which of the following are not the probability distribution of a random variable. Give reasons for your answer.</a:t>
            </a:r>
          </a:p>
          <a:p>
            <a:r>
              <a:rPr lang="en-US" sz="2200" dirty="0">
                <a:solidFill>
                  <a:srgbClr val="000000"/>
                </a:solidFill>
                <a:latin typeface="TimesNewRomanPSMT"/>
              </a:rPr>
              <a:t>(</a:t>
            </a:r>
            <a:r>
              <a:rPr lang="en-US" sz="2200" dirty="0" err="1">
                <a:solidFill>
                  <a:srgbClr val="000000"/>
                </a:solidFill>
                <a:latin typeface="TimesNewRomanPSMT"/>
              </a:rPr>
              <a:t>i</a:t>
            </a:r>
            <a:r>
              <a:rPr lang="en-US" sz="2200" dirty="0">
                <a:solidFill>
                  <a:srgbClr val="000000"/>
                </a:solidFill>
                <a:latin typeface="TimesNewRomanPSMT"/>
              </a:rPr>
              <a:t>)</a:t>
            </a:r>
          </a:p>
          <a:p>
            <a:r>
              <a:rPr lang="en-US" sz="2200" dirty="0">
                <a:solidFill>
                  <a:srgbClr val="000000"/>
                </a:solidFill>
                <a:latin typeface="TimesNewRomanPSMT"/>
              </a:rPr>
              <a:t>       </a:t>
            </a:r>
          </a:p>
          <a:p>
            <a:endParaRPr lang="en-US" sz="2200" dirty="0">
              <a:solidFill>
                <a:srgbClr val="000000"/>
              </a:solidFill>
              <a:latin typeface="TimesNewRomanPSMT"/>
            </a:endParaRPr>
          </a:p>
          <a:p>
            <a:r>
              <a:rPr lang="en-US" sz="2200" dirty="0">
                <a:solidFill>
                  <a:srgbClr val="000000"/>
                </a:solidFill>
                <a:latin typeface="TimesNewRomanPSMT"/>
              </a:rPr>
              <a:t>(ii)</a:t>
            </a:r>
          </a:p>
          <a:p>
            <a:endParaRPr lang="en-US" sz="2200" dirty="0">
              <a:solidFill>
                <a:srgbClr val="000000"/>
              </a:solidFill>
              <a:latin typeface="TimesNewRomanPSMT"/>
            </a:endParaRPr>
          </a:p>
          <a:p>
            <a:endParaRPr lang="en-US" sz="2200" dirty="0"/>
          </a:p>
          <a:p>
            <a:endParaRPr lang="en-US" sz="2200" dirty="0"/>
          </a:p>
          <a:p>
            <a:r>
              <a:rPr lang="en-US" sz="2200" dirty="0"/>
              <a:t>(iii) </a:t>
            </a:r>
          </a:p>
          <a:p>
            <a:endParaRPr lang="en-US" sz="2200" dirty="0"/>
          </a:p>
          <a:p>
            <a:endParaRPr lang="en-US" sz="2200" dirty="0"/>
          </a:p>
          <a:p>
            <a:r>
              <a:rPr lang="en-US" sz="2200" dirty="0"/>
              <a:t>(iv) </a:t>
            </a:r>
          </a:p>
        </p:txBody>
      </p:sp>
      <p:graphicFrame>
        <p:nvGraphicFramePr>
          <p:cNvPr id="4" name="Table 3"/>
          <p:cNvGraphicFramePr>
            <a:graphicFrameLocks noGrp="1"/>
          </p:cNvGraphicFramePr>
          <p:nvPr>
            <p:extLst>
              <p:ext uri="{D42A27DB-BD31-4B8C-83A1-F6EECF244321}">
                <p14:modId xmlns:p14="http://schemas.microsoft.com/office/powerpoint/2010/main" val="288025412"/>
              </p:ext>
            </p:extLst>
          </p:nvPr>
        </p:nvGraphicFramePr>
        <p:xfrm>
          <a:off x="1295400" y="1752600"/>
          <a:ext cx="3352800" cy="7721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406400">
                <a:tc>
                  <a:txBody>
                    <a:bodyPr/>
                    <a:lstStyle/>
                    <a:p>
                      <a:r>
                        <a:rPr lang="en-US" dirty="0"/>
                        <a:t>X</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0"/>
                  </a:ext>
                </a:extLst>
              </a:tr>
              <a:tr h="203200">
                <a:tc>
                  <a:txBody>
                    <a:bodyPr/>
                    <a:lstStyle/>
                    <a:p>
                      <a:r>
                        <a:rPr lang="en-US" dirty="0">
                          <a:solidFill>
                            <a:srgbClr val="000000"/>
                          </a:solidFill>
                          <a:latin typeface="TimesNewRomanPSMT"/>
                        </a:rPr>
                        <a:t>P (X)</a:t>
                      </a:r>
                      <a:endParaRPr lang="en-US" dirty="0"/>
                    </a:p>
                  </a:txBody>
                  <a:tcPr/>
                </a:tc>
                <a:tc>
                  <a:txBody>
                    <a:bodyPr/>
                    <a:lstStyle/>
                    <a:p>
                      <a:r>
                        <a:rPr lang="en-US" dirty="0"/>
                        <a:t>0.4</a:t>
                      </a:r>
                    </a:p>
                  </a:txBody>
                  <a:tcPr/>
                </a:tc>
                <a:tc>
                  <a:txBody>
                    <a:bodyPr/>
                    <a:lstStyle/>
                    <a:p>
                      <a:r>
                        <a:rPr lang="en-US" dirty="0"/>
                        <a:t>0.4</a:t>
                      </a:r>
                    </a:p>
                  </a:txBody>
                  <a:tcPr/>
                </a:tc>
                <a:tc>
                  <a:txBody>
                    <a:bodyPr/>
                    <a:lstStyle/>
                    <a:p>
                      <a:r>
                        <a:rPr lang="en-US" dirty="0"/>
                        <a:t>0.2</a:t>
                      </a:r>
                    </a:p>
                  </a:txBody>
                  <a:tcPr/>
                </a:tc>
                <a:extLst>
                  <a:ext uri="{0D108BD9-81ED-4DB2-BD59-A6C34878D82A}">
                    <a16:rowId xmlns:a16="http://schemas.microsoft.com/office/drawing/2014/main" val="10001"/>
                  </a:ext>
                </a:extLst>
              </a:tr>
            </a:tbl>
          </a:graphicData>
        </a:graphic>
      </p:graphicFrame>
      <p:graphicFrame>
        <p:nvGraphicFramePr>
          <p:cNvPr id="5" name="Table 4"/>
          <p:cNvGraphicFramePr>
            <a:graphicFrameLocks noGrp="1"/>
          </p:cNvGraphicFramePr>
          <p:nvPr>
            <p:extLst>
              <p:ext uri="{D42A27DB-BD31-4B8C-83A1-F6EECF244321}">
                <p14:modId xmlns:p14="http://schemas.microsoft.com/office/powerpoint/2010/main" val="645051472"/>
              </p:ext>
            </p:extLst>
          </p:nvPr>
        </p:nvGraphicFramePr>
        <p:xfrm>
          <a:off x="1295400" y="2743200"/>
          <a:ext cx="4343400" cy="100584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tblGrid>
              <a:tr h="342900">
                <a:tc>
                  <a:txBody>
                    <a:bodyPr/>
                    <a:lstStyle/>
                    <a:p>
                      <a:r>
                        <a:rPr lang="en-US" dirty="0"/>
                        <a:t>X</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10000"/>
                  </a:ext>
                </a:extLst>
              </a:tr>
              <a:tr h="342900">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a:solidFill>
                            <a:srgbClr val="000000"/>
                          </a:solidFill>
                          <a:latin typeface="TimesNewRomanPSMT"/>
                        </a:rPr>
                        <a:t>P (X)</a:t>
                      </a:r>
                      <a:endParaRPr lang="en-US" dirty="0"/>
                    </a:p>
                    <a:p>
                      <a:endParaRPr lang="en-US" dirty="0"/>
                    </a:p>
                  </a:txBody>
                  <a:tcPr/>
                </a:tc>
                <a:tc>
                  <a:txBody>
                    <a:bodyPr/>
                    <a:lstStyle/>
                    <a:p>
                      <a:r>
                        <a:rPr lang="en-US" dirty="0"/>
                        <a:t>0.1</a:t>
                      </a:r>
                    </a:p>
                  </a:txBody>
                  <a:tcPr/>
                </a:tc>
                <a:tc>
                  <a:txBody>
                    <a:bodyPr/>
                    <a:lstStyle/>
                    <a:p>
                      <a:r>
                        <a:rPr lang="en-US" dirty="0"/>
                        <a:t>0.5</a:t>
                      </a:r>
                    </a:p>
                  </a:txBody>
                  <a:tcPr/>
                </a:tc>
                <a:tc>
                  <a:txBody>
                    <a:bodyPr/>
                    <a:lstStyle/>
                    <a:p>
                      <a:r>
                        <a:rPr lang="en-US" dirty="0"/>
                        <a:t>0.2</a:t>
                      </a:r>
                    </a:p>
                  </a:txBody>
                  <a:tcPr/>
                </a:tc>
                <a:tc>
                  <a:txBody>
                    <a:bodyPr/>
                    <a:lstStyle/>
                    <a:p>
                      <a:r>
                        <a:rPr lang="en-US" dirty="0"/>
                        <a:t>-0.1</a:t>
                      </a:r>
                    </a:p>
                  </a:txBody>
                  <a:tcPr/>
                </a:tc>
                <a:tc>
                  <a:txBody>
                    <a:bodyPr/>
                    <a:lstStyle/>
                    <a:p>
                      <a:r>
                        <a:rPr lang="en-US" dirty="0"/>
                        <a:t>0.3</a:t>
                      </a:r>
                    </a:p>
                  </a:txBody>
                  <a:tcPr/>
                </a:tc>
                <a:extLst>
                  <a:ext uri="{0D108BD9-81ED-4DB2-BD59-A6C34878D82A}">
                    <a16:rowId xmlns:a16="http://schemas.microsoft.com/office/drawing/2014/main" val="10001"/>
                  </a:ext>
                </a:extLst>
              </a:tr>
            </a:tbl>
          </a:graphicData>
        </a:graphic>
      </p:graphicFrame>
      <p:sp>
        <p:nvSpPr>
          <p:cNvPr id="10" name="Footer Placeholder 9"/>
          <p:cNvSpPr>
            <a:spLocks noGrp="1"/>
          </p:cNvSpPr>
          <p:nvPr>
            <p:ph type="ftr" sz="quarter" idx="11"/>
          </p:nvPr>
        </p:nvSpPr>
        <p:spPr/>
        <p:txBody>
          <a:bodyPr/>
          <a:lstStyle/>
          <a:p>
            <a:r>
              <a:rPr lang="en-US" dirty="0"/>
              <a:t>Dr. Jyoti Singh        Statistics and Probability   Module 3 </a:t>
            </a:r>
          </a:p>
        </p:txBody>
      </p:sp>
      <p:graphicFrame>
        <p:nvGraphicFramePr>
          <p:cNvPr id="11" name="Table 10">
            <a:extLst>
              <a:ext uri="{FF2B5EF4-FFF2-40B4-BE49-F238E27FC236}">
                <a16:creationId xmlns:a16="http://schemas.microsoft.com/office/drawing/2014/main" id="{4451AAB8-5014-4AFA-B6F8-9C6E0075B893}"/>
              </a:ext>
            </a:extLst>
          </p:cNvPr>
          <p:cNvGraphicFramePr>
            <a:graphicFrameLocks noGrp="1"/>
          </p:cNvGraphicFramePr>
          <p:nvPr>
            <p:extLst>
              <p:ext uri="{D42A27DB-BD31-4B8C-83A1-F6EECF244321}">
                <p14:modId xmlns:p14="http://schemas.microsoft.com/office/powerpoint/2010/main" val="2157284132"/>
              </p:ext>
            </p:extLst>
          </p:nvPr>
        </p:nvGraphicFramePr>
        <p:xfrm>
          <a:off x="1447800" y="4028440"/>
          <a:ext cx="3352800" cy="772160"/>
        </p:xfrm>
        <a:graphic>
          <a:graphicData uri="http://schemas.openxmlformats.org/drawingml/2006/table">
            <a:tbl>
              <a:tblPr firstRow="1" bandRow="1">
                <a:tableStyleId>{5940675A-B579-460E-94D1-54222C63F5DA}</a:tableStyleId>
              </a:tblPr>
              <a:tblGrid>
                <a:gridCol w="838200">
                  <a:extLst>
                    <a:ext uri="{9D8B030D-6E8A-4147-A177-3AD203B41FA5}">
                      <a16:colId xmlns:a16="http://schemas.microsoft.com/office/drawing/2014/main" val="20000"/>
                    </a:ext>
                  </a:extLst>
                </a:gridCol>
                <a:gridCol w="838200">
                  <a:extLst>
                    <a:ext uri="{9D8B030D-6E8A-4147-A177-3AD203B41FA5}">
                      <a16:colId xmlns:a16="http://schemas.microsoft.com/office/drawing/2014/main" val="20001"/>
                    </a:ext>
                  </a:extLst>
                </a:gridCol>
                <a:gridCol w="838200">
                  <a:extLst>
                    <a:ext uri="{9D8B030D-6E8A-4147-A177-3AD203B41FA5}">
                      <a16:colId xmlns:a16="http://schemas.microsoft.com/office/drawing/2014/main" val="20002"/>
                    </a:ext>
                  </a:extLst>
                </a:gridCol>
                <a:gridCol w="838200">
                  <a:extLst>
                    <a:ext uri="{9D8B030D-6E8A-4147-A177-3AD203B41FA5}">
                      <a16:colId xmlns:a16="http://schemas.microsoft.com/office/drawing/2014/main" val="20003"/>
                    </a:ext>
                  </a:extLst>
                </a:gridCol>
              </a:tblGrid>
              <a:tr h="406400">
                <a:tc>
                  <a:txBody>
                    <a:bodyPr/>
                    <a:lstStyle/>
                    <a:p>
                      <a:r>
                        <a:rPr lang="en-US" dirty="0"/>
                        <a:t>X</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0"/>
                  </a:ext>
                </a:extLst>
              </a:tr>
              <a:tr h="203200">
                <a:tc>
                  <a:txBody>
                    <a:bodyPr/>
                    <a:lstStyle/>
                    <a:p>
                      <a:r>
                        <a:rPr lang="en-US" dirty="0">
                          <a:solidFill>
                            <a:srgbClr val="000000"/>
                          </a:solidFill>
                          <a:latin typeface="TimesNewRomanPSMT"/>
                        </a:rPr>
                        <a:t>P (X)</a:t>
                      </a:r>
                      <a:endParaRPr lang="en-US" dirty="0"/>
                    </a:p>
                  </a:txBody>
                  <a:tcPr/>
                </a:tc>
                <a:tc>
                  <a:txBody>
                    <a:bodyPr/>
                    <a:lstStyle/>
                    <a:p>
                      <a:r>
                        <a:rPr lang="en-US" dirty="0"/>
                        <a:t>0.6</a:t>
                      </a:r>
                    </a:p>
                  </a:txBody>
                  <a:tcPr/>
                </a:tc>
                <a:tc>
                  <a:txBody>
                    <a:bodyPr/>
                    <a:lstStyle/>
                    <a:p>
                      <a:r>
                        <a:rPr lang="en-US" dirty="0"/>
                        <a:t>0.1</a:t>
                      </a:r>
                    </a:p>
                  </a:txBody>
                  <a:tcPr/>
                </a:tc>
                <a:tc>
                  <a:txBody>
                    <a:bodyPr/>
                    <a:lstStyle/>
                    <a:p>
                      <a:r>
                        <a:rPr lang="en-US" dirty="0"/>
                        <a:t>0.2</a:t>
                      </a:r>
                    </a:p>
                  </a:txBody>
                  <a:tcPr/>
                </a:tc>
                <a:extLst>
                  <a:ext uri="{0D108BD9-81ED-4DB2-BD59-A6C34878D82A}">
                    <a16:rowId xmlns:a16="http://schemas.microsoft.com/office/drawing/2014/main" val="10001"/>
                  </a:ext>
                </a:extLst>
              </a:tr>
            </a:tbl>
          </a:graphicData>
        </a:graphic>
      </p:graphicFrame>
      <p:graphicFrame>
        <p:nvGraphicFramePr>
          <p:cNvPr id="12" name="Table 11">
            <a:extLst>
              <a:ext uri="{FF2B5EF4-FFF2-40B4-BE49-F238E27FC236}">
                <a16:creationId xmlns:a16="http://schemas.microsoft.com/office/drawing/2014/main" id="{951FF5A0-157F-4DAF-9406-6195049EBD0D}"/>
              </a:ext>
            </a:extLst>
          </p:cNvPr>
          <p:cNvGraphicFramePr>
            <a:graphicFrameLocks noGrp="1"/>
          </p:cNvGraphicFramePr>
          <p:nvPr>
            <p:extLst>
              <p:ext uri="{D42A27DB-BD31-4B8C-83A1-F6EECF244321}">
                <p14:modId xmlns:p14="http://schemas.microsoft.com/office/powerpoint/2010/main" val="2160735218"/>
              </p:ext>
            </p:extLst>
          </p:nvPr>
        </p:nvGraphicFramePr>
        <p:xfrm>
          <a:off x="1447800" y="5135880"/>
          <a:ext cx="4343400" cy="731520"/>
        </p:xfrm>
        <a:graphic>
          <a:graphicData uri="http://schemas.openxmlformats.org/drawingml/2006/table">
            <a:tbl>
              <a:tblPr firstRow="1" bandRow="1">
                <a:tableStyleId>{5940675A-B579-460E-94D1-54222C63F5DA}</a:tableStyleId>
              </a:tblPr>
              <a:tblGrid>
                <a:gridCol w="723900">
                  <a:extLst>
                    <a:ext uri="{9D8B030D-6E8A-4147-A177-3AD203B41FA5}">
                      <a16:colId xmlns:a16="http://schemas.microsoft.com/office/drawing/2014/main" val="20000"/>
                    </a:ext>
                  </a:extLst>
                </a:gridCol>
                <a:gridCol w="723900">
                  <a:extLst>
                    <a:ext uri="{9D8B030D-6E8A-4147-A177-3AD203B41FA5}">
                      <a16:colId xmlns:a16="http://schemas.microsoft.com/office/drawing/2014/main" val="20001"/>
                    </a:ext>
                  </a:extLst>
                </a:gridCol>
                <a:gridCol w="723900">
                  <a:extLst>
                    <a:ext uri="{9D8B030D-6E8A-4147-A177-3AD203B41FA5}">
                      <a16:colId xmlns:a16="http://schemas.microsoft.com/office/drawing/2014/main" val="20002"/>
                    </a:ext>
                  </a:extLst>
                </a:gridCol>
                <a:gridCol w="723900">
                  <a:extLst>
                    <a:ext uri="{9D8B030D-6E8A-4147-A177-3AD203B41FA5}">
                      <a16:colId xmlns:a16="http://schemas.microsoft.com/office/drawing/2014/main" val="20003"/>
                    </a:ext>
                  </a:extLst>
                </a:gridCol>
                <a:gridCol w="723900">
                  <a:extLst>
                    <a:ext uri="{9D8B030D-6E8A-4147-A177-3AD203B41FA5}">
                      <a16:colId xmlns:a16="http://schemas.microsoft.com/office/drawing/2014/main" val="20004"/>
                    </a:ext>
                  </a:extLst>
                </a:gridCol>
                <a:gridCol w="723900">
                  <a:extLst>
                    <a:ext uri="{9D8B030D-6E8A-4147-A177-3AD203B41FA5}">
                      <a16:colId xmlns:a16="http://schemas.microsoft.com/office/drawing/2014/main" val="20005"/>
                    </a:ext>
                  </a:extLst>
                </a:gridCol>
              </a:tblGrid>
              <a:tr h="342900">
                <a:tc>
                  <a:txBody>
                    <a:bodyPr/>
                    <a:lstStyle/>
                    <a:p>
                      <a:r>
                        <a:rPr lang="en-US" dirty="0"/>
                        <a:t>X</a:t>
                      </a:r>
                    </a:p>
                  </a:txBody>
                  <a:tcPr/>
                </a:tc>
                <a:tc>
                  <a:txBody>
                    <a:bodyPr/>
                    <a:lstStyle/>
                    <a:p>
                      <a:r>
                        <a:rPr lang="en-US" dirty="0"/>
                        <a:t>3</a:t>
                      </a:r>
                    </a:p>
                  </a:txBody>
                  <a:tcPr/>
                </a:tc>
                <a:tc>
                  <a:txBody>
                    <a:bodyPr/>
                    <a:lstStyle/>
                    <a:p>
                      <a:r>
                        <a:rPr lang="en-US" dirty="0"/>
                        <a:t>2</a:t>
                      </a:r>
                    </a:p>
                  </a:txBody>
                  <a:tcPr/>
                </a:tc>
                <a:tc>
                  <a:txBody>
                    <a:bodyPr/>
                    <a:lstStyle/>
                    <a:p>
                      <a:r>
                        <a:rPr lang="en-US" dirty="0"/>
                        <a:t>1</a:t>
                      </a:r>
                    </a:p>
                  </a:txBody>
                  <a:tcPr/>
                </a:tc>
                <a:tc>
                  <a:txBody>
                    <a:bodyPr/>
                    <a:lstStyle/>
                    <a:p>
                      <a:r>
                        <a:rPr lang="en-US" dirty="0"/>
                        <a:t>0</a:t>
                      </a:r>
                    </a:p>
                  </a:txBody>
                  <a:tcPr/>
                </a:tc>
                <a:tc>
                  <a:txBody>
                    <a:bodyPr/>
                    <a:lstStyle/>
                    <a:p>
                      <a:r>
                        <a:rPr lang="en-US" dirty="0"/>
                        <a:t>-1</a:t>
                      </a:r>
                    </a:p>
                  </a:txBody>
                  <a:tcPr/>
                </a:tc>
                <a:extLst>
                  <a:ext uri="{0D108BD9-81ED-4DB2-BD59-A6C34878D82A}">
                    <a16:rowId xmlns:a16="http://schemas.microsoft.com/office/drawing/2014/main" val="10000"/>
                  </a:ext>
                </a:extLst>
              </a:tr>
              <a:tr h="342900">
                <a:tc>
                  <a:txBody>
                    <a:bodyPr/>
                    <a:lstStyle/>
                    <a:p>
                      <a:r>
                        <a:rPr lang="en-US" dirty="0">
                          <a:solidFill>
                            <a:srgbClr val="000000"/>
                          </a:solidFill>
                          <a:latin typeface="TimesNewRomanPSMT"/>
                        </a:rPr>
                        <a:t>P (X)</a:t>
                      </a:r>
                      <a:endParaRPr lang="en-US" dirty="0"/>
                    </a:p>
                  </a:txBody>
                  <a:tcPr/>
                </a:tc>
                <a:tc>
                  <a:txBody>
                    <a:bodyPr/>
                    <a:lstStyle/>
                    <a:p>
                      <a:r>
                        <a:rPr lang="en-US" dirty="0"/>
                        <a:t>0.3</a:t>
                      </a:r>
                    </a:p>
                  </a:txBody>
                  <a:tcPr/>
                </a:tc>
                <a:tc>
                  <a:txBody>
                    <a:bodyPr/>
                    <a:lstStyle/>
                    <a:p>
                      <a:r>
                        <a:rPr lang="en-US" dirty="0"/>
                        <a:t>0.4</a:t>
                      </a:r>
                    </a:p>
                  </a:txBody>
                  <a:tcPr/>
                </a:tc>
                <a:tc>
                  <a:txBody>
                    <a:bodyPr/>
                    <a:lstStyle/>
                    <a:p>
                      <a:r>
                        <a:rPr lang="en-US" dirty="0"/>
                        <a:t>0.1</a:t>
                      </a:r>
                    </a:p>
                  </a:txBody>
                  <a:tcPr/>
                </a:tc>
                <a:tc>
                  <a:txBody>
                    <a:bodyPr/>
                    <a:lstStyle/>
                    <a:p>
                      <a:r>
                        <a:rPr lang="en-US" dirty="0"/>
                        <a:t>0.3</a:t>
                      </a:r>
                    </a:p>
                  </a:txBody>
                  <a:tcPr/>
                </a:tc>
                <a:tc>
                  <a:txBody>
                    <a:bodyPr/>
                    <a:lstStyle/>
                    <a:p>
                      <a:r>
                        <a:rPr lang="en-US" dirty="0"/>
                        <a:t>0.05</a:t>
                      </a:r>
                    </a:p>
                  </a:txBody>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544257146"/>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nodeType="clickEffect">
                                  <p:stCondLst>
                                    <p:cond delay="0"/>
                                  </p:stCondLst>
                                  <p:childTnLst>
                                    <p:set>
                                      <p:cBhvr>
                                        <p:cTn id="13" dur="1" fill="hold">
                                          <p:stCondLst>
                                            <p:cond delay="0"/>
                                          </p:stCondLst>
                                        </p:cTn>
                                        <p:tgtEl>
                                          <p:spTgt spid="4"/>
                                        </p:tgtEl>
                                        <p:attrNameLst>
                                          <p:attrName>style.visibility</p:attrName>
                                        </p:attrNameLst>
                                      </p:cBhvr>
                                      <p:to>
                                        <p:strVal val="visible"/>
                                      </p:to>
                                    </p:set>
                                    <p:animEffect transition="in" filter="fade">
                                      <p:cBhvr>
                                        <p:cTn id="14" dur="1000"/>
                                        <p:tgtEl>
                                          <p:spTgt spid="4"/>
                                        </p:tgtEl>
                                      </p:cBhvr>
                                    </p:animEffect>
                                    <p:anim calcmode="lin" valueType="num">
                                      <p:cBhvr>
                                        <p:cTn id="15" dur="1000" fill="hold"/>
                                        <p:tgtEl>
                                          <p:spTgt spid="4"/>
                                        </p:tgtEl>
                                        <p:attrNameLst>
                                          <p:attrName>ppt_x</p:attrName>
                                        </p:attrNameLst>
                                      </p:cBhvr>
                                      <p:tavLst>
                                        <p:tav tm="0">
                                          <p:val>
                                            <p:strVal val="#ppt_x"/>
                                          </p:val>
                                        </p:tav>
                                        <p:tav tm="100000">
                                          <p:val>
                                            <p:strVal val="#ppt_x"/>
                                          </p:val>
                                        </p:tav>
                                      </p:tavLst>
                                    </p:anim>
                                    <p:anim calcmode="lin" valueType="num">
                                      <p:cBhvr>
                                        <p:cTn id="16" dur="1000" fill="hold"/>
                                        <p:tgtEl>
                                          <p:spTgt spid="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nodeType="clickEffect">
                                  <p:stCondLst>
                                    <p:cond delay="0"/>
                                  </p:stCondLst>
                                  <p:childTnLst>
                                    <p:set>
                                      <p:cBhvr>
                                        <p:cTn id="20" dur="1" fill="hold">
                                          <p:stCondLst>
                                            <p:cond delay="0"/>
                                          </p:stCondLst>
                                        </p:cTn>
                                        <p:tgtEl>
                                          <p:spTgt spid="5"/>
                                        </p:tgtEl>
                                        <p:attrNameLst>
                                          <p:attrName>style.visibility</p:attrName>
                                        </p:attrNameLst>
                                      </p:cBhvr>
                                      <p:to>
                                        <p:strVal val="visible"/>
                                      </p:to>
                                    </p:set>
                                    <p:animEffect transition="in" filter="fade">
                                      <p:cBhvr>
                                        <p:cTn id="21" dur="1000"/>
                                        <p:tgtEl>
                                          <p:spTgt spid="5"/>
                                        </p:tgtEl>
                                      </p:cBhvr>
                                    </p:animEffect>
                                    <p:anim calcmode="lin" valueType="num">
                                      <p:cBhvr>
                                        <p:cTn id="22" dur="1000" fill="hold"/>
                                        <p:tgtEl>
                                          <p:spTgt spid="5"/>
                                        </p:tgtEl>
                                        <p:attrNameLst>
                                          <p:attrName>ppt_x</p:attrName>
                                        </p:attrNameLst>
                                      </p:cBhvr>
                                      <p:tavLst>
                                        <p:tav tm="0">
                                          <p:val>
                                            <p:strVal val="#ppt_x"/>
                                          </p:val>
                                        </p:tav>
                                        <p:tav tm="100000">
                                          <p:val>
                                            <p:strVal val="#ppt_x"/>
                                          </p:val>
                                        </p:tav>
                                      </p:tavLst>
                                    </p:anim>
                                    <p:anim calcmode="lin" valueType="num">
                                      <p:cBhvr>
                                        <p:cTn id="23" dur="1000" fill="hold"/>
                                        <p:tgtEl>
                                          <p:spTgt spid="5"/>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nodeType="click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1000"/>
                                        <p:tgtEl>
                                          <p:spTgt spid="11"/>
                                        </p:tgtEl>
                                      </p:cBhvr>
                                    </p:animEffect>
                                    <p:anim calcmode="lin" valueType="num">
                                      <p:cBhvr>
                                        <p:cTn id="29" dur="1000" fill="hold"/>
                                        <p:tgtEl>
                                          <p:spTgt spid="11"/>
                                        </p:tgtEl>
                                        <p:attrNameLst>
                                          <p:attrName>ppt_x</p:attrName>
                                        </p:attrNameLst>
                                      </p:cBhvr>
                                      <p:tavLst>
                                        <p:tav tm="0">
                                          <p:val>
                                            <p:strVal val="#ppt_x"/>
                                          </p:val>
                                        </p:tav>
                                        <p:tav tm="100000">
                                          <p:val>
                                            <p:strVal val="#ppt_x"/>
                                          </p:val>
                                        </p:tav>
                                      </p:tavLst>
                                    </p:anim>
                                    <p:anim calcmode="lin" valueType="num">
                                      <p:cBhvr>
                                        <p:cTn id="3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fade">
                                      <p:cBhvr>
                                        <p:cTn id="35" dur="1000"/>
                                        <p:tgtEl>
                                          <p:spTgt spid="12"/>
                                        </p:tgtEl>
                                      </p:cBhvr>
                                    </p:animEffect>
                                    <p:anim calcmode="lin" valueType="num">
                                      <p:cBhvr>
                                        <p:cTn id="36" dur="1000" fill="hold"/>
                                        <p:tgtEl>
                                          <p:spTgt spid="12"/>
                                        </p:tgtEl>
                                        <p:attrNameLst>
                                          <p:attrName>ppt_x</p:attrName>
                                        </p:attrNameLst>
                                      </p:cBhvr>
                                      <p:tavLst>
                                        <p:tav tm="0">
                                          <p:val>
                                            <p:strVal val="#ppt_x"/>
                                          </p:val>
                                        </p:tav>
                                        <p:tav tm="100000">
                                          <p:val>
                                            <p:strVal val="#ppt_x"/>
                                          </p:val>
                                        </p:tav>
                                      </p:tavLst>
                                    </p:anim>
                                    <p:anim calcmode="lin" valueType="num">
                                      <p:cBhvr>
                                        <p:cTn id="37"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153400" cy="5213350"/>
              </a:xfrm>
            </p:spPr>
            <p:txBody>
              <a:bodyPr>
                <a:noAutofit/>
              </a:bodyPr>
              <a:lstStyle/>
              <a:p>
                <a:pPr marL="0" indent="0">
                  <a:buNone/>
                </a:pPr>
                <a:endParaRPr lang="en-US" sz="2200" dirty="0"/>
              </a:p>
              <a:p>
                <a:pPr marL="0" indent="0">
                  <a:buNone/>
                </a:pPr>
                <a:endParaRPr lang="en-US" sz="2200" dirty="0"/>
              </a:p>
              <a:p>
                <a:pPr marL="0" indent="0">
                  <a:buNone/>
                </a:pPr>
                <a:r>
                  <a:rPr lang="en-US" sz="2200" dirty="0"/>
                  <a:t>1.Mean of discrete random variables:</a:t>
                </a:r>
              </a:p>
              <a:p>
                <a:pPr marL="0" indent="0">
                  <a:buNone/>
                </a:pPr>
                <a:r>
                  <a:rPr lang="en-US" sz="2200" dirty="0">
                    <a:ea typeface="Cambria Math"/>
                  </a:rPr>
                  <a:t>                   Mean </a:t>
                </a:r>
                <a14:m>
                  <m:oMath xmlns:m="http://schemas.openxmlformats.org/officeDocument/2006/math">
                    <m:r>
                      <a:rPr lang="en-US" sz="2200" i="1">
                        <a:latin typeface="Cambria Math"/>
                        <a:ea typeface="Cambria Math"/>
                      </a:rPr>
                      <m:t>𝜇</m:t>
                    </m:r>
                    <m:r>
                      <a:rPr lang="en-US" sz="2200" i="1">
                        <a:latin typeface="Cambria Math"/>
                        <a:ea typeface="Cambria Math"/>
                      </a:rPr>
                      <m:t>=</m:t>
                    </m:r>
                    <m:nary>
                      <m:naryPr>
                        <m:chr m:val="∑"/>
                        <m:subHide m:val="on"/>
                        <m:supHide m:val="on"/>
                        <m:ctrlPr>
                          <a:rPr lang="en-US" sz="2200" i="1" smtClean="0">
                            <a:latin typeface="Cambria Math" panose="02040503050406030204" pitchFamily="18" charset="0"/>
                            <a:ea typeface="Cambria Math"/>
                          </a:rPr>
                        </m:ctrlPr>
                      </m:naryPr>
                      <m:sub/>
                      <m:sup/>
                      <m:e>
                        <m:sSub>
                          <m:sSubPr>
                            <m:ctrlPr>
                              <a:rPr lang="en-US" sz="2200" i="1">
                                <a:latin typeface="Cambria Math" panose="02040503050406030204" pitchFamily="18" charset="0"/>
                                <a:ea typeface="Cambria Math"/>
                              </a:rPr>
                            </m:ctrlPr>
                          </m:sSubPr>
                          <m:e>
                            <m:r>
                              <a:rPr lang="en-US" sz="2200" i="1">
                                <a:latin typeface="Cambria Math"/>
                                <a:ea typeface="Cambria Math"/>
                              </a:rPr>
                              <m:t>𝑝</m:t>
                            </m:r>
                          </m:e>
                          <m:sub>
                            <m:r>
                              <a:rPr lang="en-US" sz="2200" i="1">
                                <a:latin typeface="Cambria Math"/>
                                <a:ea typeface="Cambria Math"/>
                              </a:rPr>
                              <m:t>𝑖</m:t>
                            </m:r>
                          </m:sub>
                        </m:sSub>
                        <m:sSub>
                          <m:sSubPr>
                            <m:ctrlPr>
                              <a:rPr lang="en-US" sz="2200" i="1">
                                <a:latin typeface="Cambria Math" panose="02040503050406030204" pitchFamily="18" charset="0"/>
                                <a:ea typeface="Cambria Math"/>
                              </a:rPr>
                            </m:ctrlPr>
                          </m:sSubPr>
                          <m:e>
                            <m:r>
                              <a:rPr lang="en-US" sz="2200" i="1">
                                <a:latin typeface="Cambria Math"/>
                                <a:ea typeface="Cambria Math"/>
                              </a:rPr>
                              <m:t>𝑥</m:t>
                            </m:r>
                          </m:e>
                          <m:sub>
                            <m:r>
                              <a:rPr lang="en-US" sz="2200" i="1">
                                <a:latin typeface="Cambria Math"/>
                                <a:ea typeface="Cambria Math"/>
                              </a:rPr>
                              <m:t>𝑖</m:t>
                            </m:r>
                          </m:sub>
                        </m:sSub>
                      </m:e>
                    </m:nary>
                  </m:oMath>
                </a14:m>
                <a:endParaRPr lang="en-US" sz="2200" dirty="0"/>
              </a:p>
              <a:p>
                <a:pPr marL="0" indent="0">
                  <a:buNone/>
                </a:pPr>
                <a:r>
                  <a:rPr lang="en-US" sz="2200" dirty="0"/>
                  <a:t>2.Variance of discrete random variables:</a:t>
                </a:r>
              </a:p>
              <a:p>
                <a:pPr marL="0" indent="0">
                  <a:buNone/>
                </a:pPr>
                <a:r>
                  <a:rPr lang="en-US" sz="2200" dirty="0"/>
                  <a:t>                   Variance =</a:t>
                </a:r>
                <a14:m>
                  <m:oMath xmlns:m="http://schemas.openxmlformats.org/officeDocument/2006/math">
                    <m:nary>
                      <m:naryPr>
                        <m:chr m:val="∑"/>
                        <m:subHide m:val="on"/>
                        <m:supHide m:val="on"/>
                        <m:ctrlPr>
                          <a:rPr lang="en-US" sz="2200" i="1" smtClean="0">
                            <a:latin typeface="Cambria Math" panose="02040503050406030204" pitchFamily="18" charset="0"/>
                          </a:rPr>
                        </m:ctrlPr>
                      </m:naryPr>
                      <m:sub/>
                      <m:sup/>
                      <m:e>
                        <m:sSub>
                          <m:sSubPr>
                            <m:ctrlPr>
                              <a:rPr lang="en-US" sz="2200" i="1">
                                <a:latin typeface="Cambria Math" panose="02040503050406030204" pitchFamily="18" charset="0"/>
                              </a:rPr>
                            </m:ctrlPr>
                          </m:sSubPr>
                          <m:e>
                            <m:r>
                              <a:rPr lang="en-US" sz="2200" i="1">
                                <a:latin typeface="Cambria Math"/>
                              </a:rPr>
                              <m:t>𝑝</m:t>
                            </m:r>
                          </m:e>
                          <m:sub>
                            <m:r>
                              <a:rPr lang="en-US" sz="2200" i="1">
                                <a:latin typeface="Cambria Math"/>
                              </a:rPr>
                              <m:t>𝑖</m:t>
                            </m:r>
                          </m:sub>
                        </m:sSub>
                        <m:sSubSup>
                          <m:sSubSupPr>
                            <m:ctrlPr>
                              <a:rPr lang="en-US" sz="2200" i="1" smtClean="0">
                                <a:latin typeface="Cambria Math" panose="02040503050406030204" pitchFamily="18" charset="0"/>
                              </a:rPr>
                            </m:ctrlPr>
                          </m:sSubSupPr>
                          <m:e>
                            <m:r>
                              <a:rPr lang="en-US" sz="2200" b="0" i="1" smtClean="0">
                                <a:latin typeface="Cambria Math" panose="02040503050406030204" pitchFamily="18" charset="0"/>
                              </a:rPr>
                              <m:t>𝑥</m:t>
                            </m:r>
                          </m:e>
                          <m:sub>
                            <m:r>
                              <a:rPr lang="en-US" sz="2200" b="0" i="1" smtClean="0">
                                <a:latin typeface="Cambria Math" panose="02040503050406030204" pitchFamily="18" charset="0"/>
                              </a:rPr>
                              <m:t>𝑖</m:t>
                            </m:r>
                          </m:sub>
                          <m:sup>
                            <m:r>
                              <a:rPr lang="en-US" sz="2200" b="0" i="1" smtClean="0">
                                <a:latin typeface="Cambria Math" panose="02040503050406030204" pitchFamily="18" charset="0"/>
                              </a:rPr>
                              <m:t>2</m:t>
                            </m:r>
                          </m:sup>
                        </m:sSubSup>
                        <m:r>
                          <a:rPr lang="en-US" sz="2200" i="1">
                            <a:latin typeface="Cambria Math"/>
                          </a:rPr>
                          <m:t>−</m:t>
                        </m:r>
                        <m:sSup>
                          <m:sSupPr>
                            <m:ctrlPr>
                              <a:rPr lang="en-US" sz="2200" i="1">
                                <a:latin typeface="Cambria Math" panose="02040503050406030204" pitchFamily="18" charset="0"/>
                              </a:rPr>
                            </m:ctrlPr>
                          </m:sSupPr>
                          <m:e>
                            <m:r>
                              <a:rPr lang="en-US" sz="2200" i="1">
                                <a:latin typeface="Cambria Math"/>
                                <a:ea typeface="Cambria Math"/>
                              </a:rPr>
                              <m:t>𝜇</m:t>
                            </m:r>
                          </m:e>
                          <m:sup>
                            <m:r>
                              <a:rPr lang="en-US" sz="2200" i="1">
                                <a:latin typeface="Cambria Math"/>
                              </a:rPr>
                              <m:t>2</m:t>
                            </m:r>
                          </m:sup>
                        </m:sSup>
                        <m:r>
                          <m:rPr>
                            <m:nor/>
                          </m:rPr>
                          <a:rPr lang="en-US" sz="2200" dirty="0"/>
                          <m:t> </m:t>
                        </m:r>
                      </m:e>
                    </m:nary>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153400" cy="5213350"/>
              </a:xfrm>
              <a:blipFill>
                <a:blip r:embed="rId2"/>
                <a:stretch>
                  <a:fillRect l="-972"/>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15</a:t>
            </a:fld>
            <a:endParaRPr lang="en-US"/>
          </a:p>
        </p:txBody>
      </p:sp>
      <p:sp>
        <p:nvSpPr>
          <p:cNvPr id="12"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mj-lt"/>
              </a:rPr>
              <a:t>Mean or Variance(CO3)</a:t>
            </a:r>
            <a:endParaRPr kumimoji="0" lang="en-US" sz="3000" b="1" i="0" u="none" strike="noStrike" kern="1200" cap="none" spc="0" normalizeH="0" baseline="0" noProof="0" dirty="0">
              <a:ln>
                <a:noFill/>
              </a:ln>
              <a:solidFill>
                <a:schemeClr val="dk1"/>
              </a:solidFill>
              <a:effectLst/>
              <a:uLnTx/>
              <a:uFillTx/>
              <a:latin typeface="+mj-lt"/>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467549212"/>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Effect transition="in" filter="fade">
                                      <p:cBhvr>
                                        <p:cTn id="7" dur="1000"/>
                                        <p:tgtEl>
                                          <p:spTgt spid="3">
                                            <p:txEl>
                                              <p:pRg st="2" end="2"/>
                                            </p:txEl>
                                          </p:spTgt>
                                        </p:tgtEl>
                                      </p:cBhvr>
                                    </p:animEffect>
                                    <p:anim calcmode="lin" valueType="num">
                                      <p:cBhvr>
                                        <p:cTn id="8"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3" end="3"/>
                                            </p:txEl>
                                          </p:spTgt>
                                        </p:tgtEl>
                                        <p:attrNameLst>
                                          <p:attrName>style.visibility</p:attrName>
                                        </p:attrNameLst>
                                      </p:cBhvr>
                                      <p:to>
                                        <p:strVal val="visible"/>
                                      </p:to>
                                    </p:set>
                                    <p:animEffect transition="in" filter="fade">
                                      <p:cBhvr>
                                        <p:cTn id="14" dur="1000"/>
                                        <p:tgtEl>
                                          <p:spTgt spid="3">
                                            <p:txEl>
                                              <p:pRg st="3" end="3"/>
                                            </p:txEl>
                                          </p:spTgt>
                                        </p:tgtEl>
                                      </p:cBhvr>
                                    </p:animEffect>
                                    <p:anim calcmode="lin" valueType="num">
                                      <p:cBhvr>
                                        <p:cTn id="15"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4" end="4"/>
                                            </p:txEl>
                                          </p:spTgt>
                                        </p:tgtEl>
                                        <p:attrNameLst>
                                          <p:attrName>style.visibility</p:attrName>
                                        </p:attrNameLst>
                                      </p:cBhvr>
                                      <p:to>
                                        <p:strVal val="visible"/>
                                      </p:to>
                                    </p:set>
                                    <p:animEffect transition="in" filter="fade">
                                      <p:cBhvr>
                                        <p:cTn id="21" dur="1000"/>
                                        <p:tgtEl>
                                          <p:spTgt spid="3">
                                            <p:txEl>
                                              <p:pRg st="4" end="4"/>
                                            </p:txEl>
                                          </p:spTgt>
                                        </p:tgtEl>
                                      </p:cBhvr>
                                    </p:animEffect>
                                    <p:anim calcmode="lin" valueType="num">
                                      <p:cBhvr>
                                        <p:cTn id="22"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fade">
                                      <p:cBhvr>
                                        <p:cTn id="28" dur="1000"/>
                                        <p:tgtEl>
                                          <p:spTgt spid="3">
                                            <p:txEl>
                                              <p:pRg st="5" end="5"/>
                                            </p:txEl>
                                          </p:spTgt>
                                        </p:tgtEl>
                                      </p:cBhvr>
                                    </p:animEffect>
                                    <p:anim calcmode="lin" valueType="num">
                                      <p:cBhvr>
                                        <p:cTn id="29"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153400" cy="5213350"/>
              </a:xfrm>
            </p:spPr>
            <p:txBody>
              <a:bodyPr>
                <a:noAutofit/>
              </a:bodyPr>
              <a:lstStyle/>
              <a:p>
                <a:pPr marL="0" indent="0">
                  <a:buNone/>
                </a:pPr>
                <a:r>
                  <a:rPr lang="en-US" sz="2000" b="1" dirty="0"/>
                  <a:t>Q1. </a:t>
                </a:r>
                <a:r>
                  <a:rPr lang="en-US" sz="2000" dirty="0"/>
                  <a:t>Five defective bulbs accidentally mixed with twenty good ones. It is not possible to just look at  a bulb and tell whether or not it is defective . Find the probability distribution of the number of defective bulbs,  if four bulbs are drawn at random from this lot. </a:t>
                </a:r>
              </a:p>
              <a:p>
                <a:pPr marL="0" indent="0">
                  <a:buNone/>
                </a:pPr>
                <a:r>
                  <a:rPr lang="en-US" sz="2000" b="1" dirty="0"/>
                  <a:t>Solution: </a:t>
                </a:r>
                <a:r>
                  <a:rPr lang="en-US" sz="2000" dirty="0"/>
                  <a:t>Let X denote the number of defective bulbs in 4 so X can take values 0,1,2,3 and 4. </a:t>
                </a:r>
              </a:p>
              <a:p>
                <a:pPr marL="0" indent="0">
                  <a:buNone/>
                </a:pPr>
                <a:r>
                  <a:rPr lang="en-US" sz="2000" dirty="0"/>
                  <a:t>Number of defective bulbs =5</a:t>
                </a:r>
              </a:p>
              <a:p>
                <a:pPr marL="0" indent="0">
                  <a:buNone/>
                </a:pPr>
                <a:r>
                  <a:rPr lang="en-US" sz="2000" dirty="0"/>
                  <a:t>Number of good bulbs =20</a:t>
                </a:r>
              </a:p>
              <a:p>
                <a:pPr marL="0" indent="0">
                  <a:buNone/>
                </a:pPr>
                <a:r>
                  <a:rPr lang="en-US" sz="2000" dirty="0"/>
                  <a:t>Total number of bulbs =25</a:t>
                </a:r>
              </a:p>
              <a:p>
                <a:pPr marL="0" indent="0">
                  <a:buNone/>
                </a:pPr>
                <a14:m>
                  <m:oMathPara xmlns:m="http://schemas.openxmlformats.org/officeDocument/2006/math">
                    <m:oMathParaPr>
                      <m:jc m:val="left"/>
                    </m:oMathParaPr>
                    <m:oMath xmlns:m="http://schemas.openxmlformats.org/officeDocument/2006/math">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𝑋</m:t>
                          </m:r>
                          <m:r>
                            <a:rPr lang="en-US" sz="2000" b="0" i="1" smtClean="0">
                              <a:latin typeface="Cambria Math"/>
                            </a:rPr>
                            <m:t>=0</m:t>
                          </m:r>
                        </m:e>
                      </m:d>
                      <m:r>
                        <a:rPr lang="en-US" sz="2000" b="0" i="1" smtClean="0">
                          <a:latin typeface="Cambria Math"/>
                        </a:rPr>
                        <m:t>=</m:t>
                      </m:r>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𝑛𝑜</m:t>
                          </m:r>
                          <m:r>
                            <a:rPr lang="en-US" sz="2000" b="0" i="1" smtClean="0">
                              <a:latin typeface="Cambria Math"/>
                            </a:rPr>
                            <m:t> </m:t>
                          </m:r>
                          <m:r>
                            <a:rPr lang="en-US" sz="2000" b="0" i="1" smtClean="0">
                              <a:latin typeface="Cambria Math"/>
                            </a:rPr>
                            <m:t>𝑑𝑒𝑓𝑒𝑐𝑡𝑖𝑣𝑒</m:t>
                          </m:r>
                        </m:e>
                      </m:d>
                      <m:r>
                        <a:rPr lang="en-US" sz="2000" b="0" i="1" smtClean="0">
                          <a:latin typeface="Cambria Math"/>
                        </a:rPr>
                        <m:t>=</m:t>
                      </m:r>
                      <m:r>
                        <a:rPr lang="en-US" sz="2000" b="0" i="1" smtClean="0">
                          <a:latin typeface="Cambria Math"/>
                        </a:rPr>
                        <m:t>𝑃</m:t>
                      </m:r>
                      <m:d>
                        <m:dPr>
                          <m:ctrlPr>
                            <a:rPr lang="en-US" sz="2000" b="0" i="1" smtClean="0">
                              <a:latin typeface="Cambria Math" panose="02040503050406030204" pitchFamily="18" charset="0"/>
                            </a:rPr>
                          </m:ctrlPr>
                        </m:dPr>
                        <m:e>
                          <m:r>
                            <a:rPr lang="en-US" sz="2000" b="0" i="1" smtClean="0">
                              <a:latin typeface="Cambria Math"/>
                            </a:rPr>
                            <m:t>𝑎𝑙𝑙</m:t>
                          </m:r>
                          <m:r>
                            <a:rPr lang="en-US" sz="2000" b="0" i="1" smtClean="0">
                              <a:latin typeface="Cambria Math"/>
                            </a:rPr>
                            <m:t> 4 </m:t>
                          </m:r>
                          <m:r>
                            <a:rPr lang="en-US" sz="2000" b="0" i="1" smtClean="0">
                              <a:latin typeface="Cambria Math"/>
                            </a:rPr>
                            <m:t>𝑔𝑜𝑜𝑑</m:t>
                          </m:r>
                          <m:r>
                            <a:rPr lang="en-US" sz="2000" b="0" i="1" smtClean="0">
                              <a:latin typeface="Cambria Math"/>
                            </a:rPr>
                            <m:t> </m:t>
                          </m:r>
                          <m:r>
                            <a:rPr lang="en-US" sz="2000" b="0" i="1" smtClean="0">
                              <a:latin typeface="Cambria Math"/>
                            </a:rPr>
                            <m:t>𝑜𝑛𝑒𝑠</m:t>
                          </m:r>
                        </m:e>
                      </m:d>
                    </m:oMath>
                  </m:oMathPara>
                </a14:m>
                <a:endParaRPr lang="en-US" sz="2000" b="0" dirty="0"/>
              </a:p>
              <a:p>
                <a:pPr marL="0" indent="0">
                  <a:buNone/>
                </a:pPr>
                <a14:m>
                  <m:oMathPara xmlns:m="http://schemas.openxmlformats.org/officeDocument/2006/math">
                    <m:oMathParaPr>
                      <m:jc m:val="centerGroup"/>
                    </m:oMathParaPr>
                    <m:oMath xmlns:m="http://schemas.openxmlformats.org/officeDocument/2006/math">
                      <m:r>
                        <a:rPr lang="en-US" sz="2000" b="0" i="1" smtClean="0">
                          <a:latin typeface="Cambria Math"/>
                        </a:rPr>
                        <m:t>=</m:t>
                      </m:r>
                      <m:f>
                        <m:fPr>
                          <m:ctrlPr>
                            <a:rPr lang="en-US" sz="2000" b="0" i="1" smtClean="0">
                              <a:latin typeface="Cambria Math" panose="02040503050406030204" pitchFamily="18" charset="0"/>
                            </a:rPr>
                          </m:ctrlPr>
                        </m:fPr>
                        <m:num>
                          <m:sPre>
                            <m:sPrePr>
                              <m:ctrlPr>
                                <a:rPr lang="en-US" sz="2000" b="0" i="1" smtClean="0">
                                  <a:latin typeface="Cambria Math" panose="02040503050406030204" pitchFamily="18" charset="0"/>
                                </a:rPr>
                              </m:ctrlPr>
                            </m:sPrePr>
                            <m:sub/>
                            <m:sup>
                              <m:r>
                                <a:rPr lang="en-US" sz="2000" b="0" i="1" smtClean="0">
                                  <a:latin typeface="Cambria Math"/>
                                </a:rPr>
                                <m:t>20</m:t>
                              </m:r>
                            </m:sup>
                            <m:e>
                              <m:sSub>
                                <m:sSubPr>
                                  <m:ctrlPr>
                                    <a:rPr lang="en-US" sz="2000" i="1" smtClean="0">
                                      <a:latin typeface="Cambria Math" panose="02040503050406030204" pitchFamily="18" charset="0"/>
                                    </a:rPr>
                                  </m:ctrlPr>
                                </m:sSubPr>
                                <m:e>
                                  <m:r>
                                    <a:rPr lang="en-US" sz="2000" b="0" i="1" smtClean="0">
                                      <a:latin typeface="Cambria Math"/>
                                    </a:rPr>
                                    <m:t>𝐶</m:t>
                                  </m:r>
                                </m:e>
                                <m:sub>
                                  <m:r>
                                    <a:rPr lang="en-US" sz="2000" b="0" i="1" smtClean="0">
                                      <a:latin typeface="Cambria Math"/>
                                    </a:rPr>
                                    <m:t>4</m:t>
                                  </m:r>
                                </m:sub>
                              </m:sSub>
                            </m:e>
                          </m:sPre>
                        </m:num>
                        <m:den>
                          <m:sPre>
                            <m:sPrePr>
                              <m:ctrlPr>
                                <a:rPr lang="en-US" sz="2000" i="1">
                                  <a:latin typeface="Cambria Math" panose="02040503050406030204" pitchFamily="18" charset="0"/>
                                </a:rPr>
                              </m:ctrlPr>
                            </m:sPrePr>
                            <m:sub/>
                            <m:sup>
                              <m:r>
                                <a:rPr lang="en-US" sz="2000" i="1">
                                  <a:latin typeface="Cambria Math"/>
                                </a:rPr>
                                <m:t>2</m:t>
                              </m:r>
                              <m:r>
                                <a:rPr lang="en-US" sz="2000" b="0" i="1" smtClean="0">
                                  <a:latin typeface="Cambria Math"/>
                                </a:rPr>
                                <m:t>5</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4</m:t>
                                  </m:r>
                                </m:sub>
                              </m:sSub>
                            </m:e>
                          </m:sPre>
                        </m:den>
                      </m:f>
                      <m:r>
                        <a:rPr lang="en-US" sz="2000" b="0" i="1"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20</m:t>
                          </m:r>
                          <m:r>
                            <a:rPr lang="en-US" sz="2000" b="0" i="1" smtClean="0">
                              <a:latin typeface="Cambria Math"/>
                              <a:ea typeface="Cambria Math"/>
                            </a:rPr>
                            <m:t>×19×18×17</m:t>
                          </m:r>
                        </m:num>
                        <m:den>
                          <m:r>
                            <a:rPr lang="en-US" sz="2000" b="0" i="1" smtClean="0">
                              <a:latin typeface="Cambria Math"/>
                            </a:rPr>
                            <m:t>25</m:t>
                          </m:r>
                          <m:r>
                            <a:rPr lang="en-US" sz="2000" b="0" i="1" smtClean="0">
                              <a:latin typeface="Cambria Math"/>
                              <a:ea typeface="Cambria Math"/>
                            </a:rPr>
                            <m:t>×24×23×22</m:t>
                          </m:r>
                        </m:den>
                      </m:f>
                      <m:r>
                        <a:rPr lang="en-US" sz="2000" b="0" i="1"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969</m:t>
                          </m:r>
                        </m:num>
                        <m:den>
                          <m:r>
                            <a:rPr lang="en-US" sz="2000" b="0" i="1" smtClean="0">
                              <a:latin typeface="Cambria Math"/>
                            </a:rPr>
                            <m:t>2530</m:t>
                          </m:r>
                        </m:den>
                      </m:f>
                    </m:oMath>
                  </m:oMathPara>
                </a14:m>
                <a:endParaRPr lang="en-US" sz="2000" b="0" dirty="0"/>
              </a:p>
              <a:p>
                <a:pPr marL="0" indent="0">
                  <a:buNone/>
                </a:pPr>
                <a:r>
                  <a:rPr lang="en-US" sz="2000" dirty="0"/>
                  <a:t>P(X=1)=P( one defective and 3 good ones)=</a:t>
                </a:r>
                <a14:m>
                  <m:oMath xmlns:m="http://schemas.openxmlformats.org/officeDocument/2006/math">
                    <m:f>
                      <m:fPr>
                        <m:ctrlPr>
                          <a:rPr lang="en-US" sz="2000" i="1">
                            <a:latin typeface="Cambria Math" panose="02040503050406030204" pitchFamily="18" charset="0"/>
                          </a:rPr>
                        </m:ctrlPr>
                      </m:fPr>
                      <m:num>
                        <m:sPre>
                          <m:sPrePr>
                            <m:ctrlPr>
                              <a:rPr lang="en-US" sz="2000" i="1">
                                <a:latin typeface="Cambria Math" panose="02040503050406030204" pitchFamily="18" charset="0"/>
                              </a:rPr>
                            </m:ctrlPr>
                          </m:sPrePr>
                          <m:sub/>
                          <m:sup>
                            <m:r>
                              <a:rPr lang="en-US" sz="2000" b="0" i="1" smtClean="0">
                                <a:latin typeface="Cambria Math"/>
                              </a:rPr>
                              <m:t>5</m:t>
                            </m:r>
                          </m:sup>
                          <m:e>
                            <m:sSub>
                              <m:sSubPr>
                                <m:ctrlPr>
                                  <a:rPr lang="en-US" sz="2000" i="1">
                                    <a:latin typeface="Cambria Math" panose="02040503050406030204" pitchFamily="18" charset="0"/>
                                  </a:rPr>
                                </m:ctrlPr>
                              </m:sSubPr>
                              <m:e>
                                <m:r>
                                  <a:rPr lang="en-US" sz="2000" i="1">
                                    <a:latin typeface="Cambria Math"/>
                                  </a:rPr>
                                  <m:t>𝐶</m:t>
                                </m:r>
                              </m:e>
                              <m:sub>
                                <m:r>
                                  <a:rPr lang="en-US" sz="2000" b="0" i="1" smtClean="0">
                                    <a:latin typeface="Cambria Math"/>
                                  </a:rPr>
                                  <m:t>1</m:t>
                                </m:r>
                              </m:sub>
                            </m:sSub>
                          </m:e>
                        </m:sPre>
                        <m:r>
                          <a:rPr lang="en-US" sz="2000" i="1" smtClean="0">
                            <a:latin typeface="Cambria Math"/>
                            <a:ea typeface="Cambria Math"/>
                          </a:rPr>
                          <m:t>×</m:t>
                        </m:r>
                        <m:sPre>
                          <m:sPrePr>
                            <m:ctrlPr>
                              <a:rPr lang="en-US" sz="2000" i="1">
                                <a:latin typeface="Cambria Math" panose="02040503050406030204" pitchFamily="18" charset="0"/>
                              </a:rPr>
                            </m:ctrlPr>
                          </m:sPrePr>
                          <m:sub/>
                          <m:sup>
                            <m:r>
                              <a:rPr lang="en-US" sz="2000" i="1">
                                <a:latin typeface="Cambria Math"/>
                              </a:rPr>
                              <m:t>20</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3</m:t>
                                </m:r>
                              </m:sub>
                            </m:sSub>
                          </m:e>
                        </m:sPre>
                      </m:num>
                      <m:den>
                        <m:sPre>
                          <m:sPrePr>
                            <m:ctrlPr>
                              <a:rPr lang="en-US" sz="2000" i="1">
                                <a:latin typeface="Cambria Math" panose="02040503050406030204" pitchFamily="18" charset="0"/>
                              </a:rPr>
                            </m:ctrlPr>
                          </m:sPrePr>
                          <m:sub/>
                          <m:sup>
                            <m:r>
                              <a:rPr lang="en-US" sz="2000" i="1">
                                <a:latin typeface="Cambria Math"/>
                              </a:rPr>
                              <m:t>25</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4</m:t>
                                </m:r>
                              </m:sub>
                            </m:sSub>
                          </m:e>
                        </m:sPre>
                      </m:den>
                    </m:f>
                    <m:r>
                      <a:rPr lang="en-US" sz="2000" b="0" i="1" smtClean="0">
                        <a:latin typeface="Cambria Math"/>
                      </a:rPr>
                      <m:t>=</m:t>
                    </m:r>
                    <m:f>
                      <m:fPr>
                        <m:ctrlPr>
                          <a:rPr lang="en-US" sz="2000" b="0" i="1" smtClean="0">
                            <a:latin typeface="Cambria Math" panose="02040503050406030204" pitchFamily="18" charset="0"/>
                          </a:rPr>
                        </m:ctrlPr>
                      </m:fPr>
                      <m:num>
                        <m:r>
                          <a:rPr lang="en-US" sz="2000" b="0" i="1" smtClean="0">
                            <a:latin typeface="Cambria Math"/>
                          </a:rPr>
                          <m:t>1140</m:t>
                        </m:r>
                      </m:num>
                      <m:den>
                        <m:r>
                          <a:rPr lang="en-US" sz="2000" b="0" i="1" smtClean="0">
                            <a:latin typeface="Cambria Math"/>
                          </a:rPr>
                          <m:t>2530</m:t>
                        </m:r>
                      </m:den>
                    </m:f>
                  </m:oMath>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153400" cy="5213350"/>
              </a:xfrm>
              <a:blipFill rotWithShape="0">
                <a:blip r:embed="rId2"/>
                <a:stretch>
                  <a:fillRect l="-823" t="-702" r="-75"/>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16</a:t>
            </a:fld>
            <a:endParaRPr lang="en-US"/>
          </a:p>
        </p:txBody>
      </p:sp>
      <p:sp>
        <p:nvSpPr>
          <p:cNvPr id="12"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mj-lt"/>
              </a:rPr>
              <a:t> Example(CO3)</a:t>
            </a:r>
            <a:endParaRPr kumimoji="0" lang="en-US" sz="2400" b="1" i="0" u="none" strike="noStrike" kern="1200" cap="none" spc="0" normalizeH="0" baseline="0" noProof="0" dirty="0">
              <a:ln>
                <a:noFill/>
              </a:ln>
              <a:solidFill>
                <a:schemeClr val="dk1"/>
              </a:solidFill>
              <a:effectLst/>
              <a:uLnTx/>
              <a:uFillTx/>
              <a:latin typeface="+mj-lt"/>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474136306"/>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17</a:t>
            </a:fld>
            <a:endParaRPr lang="en-US"/>
          </a:p>
        </p:txBody>
      </p:sp>
      <mc:AlternateContent xmlns:mc="http://schemas.openxmlformats.org/markup-compatibility/2006" xmlns:a14="http://schemas.microsoft.com/office/drawing/2010/main">
        <mc:Choice Requires="a14">
          <p:sp>
            <p:nvSpPr>
              <p:cNvPr id="9" name="Content Placeholder 8"/>
              <p:cNvSpPr>
                <a:spLocks noGrp="1"/>
              </p:cNvSpPr>
              <p:nvPr>
                <p:ph idx="1"/>
              </p:nvPr>
            </p:nvSpPr>
            <p:spPr>
              <a:xfrm>
                <a:off x="460375" y="1524000"/>
                <a:ext cx="8229600" cy="5638800"/>
              </a:xfrm>
            </p:spPr>
            <p:txBody>
              <a:bodyPr>
                <a:noAutofit/>
              </a:bodyPr>
              <a:lstStyle/>
              <a:p>
                <a:pPr marL="0" indent="0">
                  <a:buNone/>
                </a:pPr>
                <a:r>
                  <a:rPr lang="en-US" sz="2000" dirty="0"/>
                  <a:t>P(X=2)=P( 2 defective and 2 good ones)=</a:t>
                </a:r>
                <a14:m>
                  <m:oMath xmlns:m="http://schemas.openxmlformats.org/officeDocument/2006/math">
                    <m:f>
                      <m:fPr>
                        <m:ctrlPr>
                          <a:rPr lang="en-US" sz="2000" i="1">
                            <a:latin typeface="Cambria Math" panose="02040503050406030204" pitchFamily="18" charset="0"/>
                          </a:rPr>
                        </m:ctrlPr>
                      </m:fPr>
                      <m:num>
                        <m:sPre>
                          <m:sPrePr>
                            <m:ctrlPr>
                              <a:rPr lang="en-US" sz="2000" i="1">
                                <a:latin typeface="Cambria Math" panose="02040503050406030204" pitchFamily="18" charset="0"/>
                              </a:rPr>
                            </m:ctrlPr>
                          </m:sPrePr>
                          <m:sub/>
                          <m:sup>
                            <m:r>
                              <a:rPr lang="en-US" sz="2000" i="1">
                                <a:latin typeface="Cambria Math"/>
                              </a:rPr>
                              <m:t>5</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2</m:t>
                                </m:r>
                              </m:sub>
                            </m:sSub>
                          </m:e>
                        </m:sPre>
                        <m:r>
                          <a:rPr lang="en-US" sz="2000" i="1">
                            <a:latin typeface="Cambria Math"/>
                            <a:ea typeface="Cambria Math"/>
                          </a:rPr>
                          <m:t>×</m:t>
                        </m:r>
                        <m:sPre>
                          <m:sPrePr>
                            <m:ctrlPr>
                              <a:rPr lang="en-US" sz="2000" i="1">
                                <a:latin typeface="Cambria Math" panose="02040503050406030204" pitchFamily="18" charset="0"/>
                              </a:rPr>
                            </m:ctrlPr>
                          </m:sPrePr>
                          <m:sub/>
                          <m:sup>
                            <m:r>
                              <a:rPr lang="en-US" sz="2000" i="1">
                                <a:latin typeface="Cambria Math"/>
                              </a:rPr>
                              <m:t>20</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2</m:t>
                                </m:r>
                              </m:sub>
                            </m:sSub>
                          </m:e>
                        </m:sPre>
                      </m:num>
                      <m:den>
                        <m:sPre>
                          <m:sPrePr>
                            <m:ctrlPr>
                              <a:rPr lang="en-US" sz="2000" i="1">
                                <a:latin typeface="Cambria Math" panose="02040503050406030204" pitchFamily="18" charset="0"/>
                              </a:rPr>
                            </m:ctrlPr>
                          </m:sPrePr>
                          <m:sub/>
                          <m:sup>
                            <m:r>
                              <a:rPr lang="en-US" sz="2000" i="1">
                                <a:latin typeface="Cambria Math"/>
                              </a:rPr>
                              <m:t>25</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4</m:t>
                                </m:r>
                              </m:sub>
                            </m:sSub>
                          </m:e>
                        </m:sPre>
                      </m:den>
                    </m:f>
                    <m:r>
                      <a:rPr lang="en-US" sz="2000" i="1">
                        <a:latin typeface="Cambria Math"/>
                      </a:rPr>
                      <m:t>=</m:t>
                    </m:r>
                    <m:f>
                      <m:fPr>
                        <m:ctrlPr>
                          <a:rPr lang="en-US" sz="2000" i="1">
                            <a:latin typeface="Cambria Math" panose="02040503050406030204" pitchFamily="18" charset="0"/>
                          </a:rPr>
                        </m:ctrlPr>
                      </m:fPr>
                      <m:num>
                        <m:r>
                          <a:rPr lang="en-US" sz="2000" i="1">
                            <a:latin typeface="Cambria Math"/>
                          </a:rPr>
                          <m:t>380</m:t>
                        </m:r>
                      </m:num>
                      <m:den>
                        <m:r>
                          <a:rPr lang="en-US" sz="2000" i="1">
                            <a:latin typeface="Cambria Math"/>
                          </a:rPr>
                          <m:t>2530</m:t>
                        </m:r>
                      </m:den>
                    </m:f>
                  </m:oMath>
                </a14:m>
                <a:endParaRPr lang="en-US" sz="2000" dirty="0"/>
              </a:p>
              <a:p>
                <a:pPr marL="0" indent="0">
                  <a:buNone/>
                </a:pPr>
                <a:r>
                  <a:rPr lang="en-US" sz="2000" dirty="0"/>
                  <a:t>P(X=3)=P( 3 defective and 1 good ones)=</a:t>
                </a:r>
                <a14:m>
                  <m:oMath xmlns:m="http://schemas.openxmlformats.org/officeDocument/2006/math">
                    <m:f>
                      <m:fPr>
                        <m:ctrlPr>
                          <a:rPr lang="en-US" sz="2000" i="1">
                            <a:latin typeface="Cambria Math" panose="02040503050406030204" pitchFamily="18" charset="0"/>
                          </a:rPr>
                        </m:ctrlPr>
                      </m:fPr>
                      <m:num>
                        <m:sPre>
                          <m:sPrePr>
                            <m:ctrlPr>
                              <a:rPr lang="en-US" sz="2000" i="1">
                                <a:latin typeface="Cambria Math" panose="02040503050406030204" pitchFamily="18" charset="0"/>
                              </a:rPr>
                            </m:ctrlPr>
                          </m:sPrePr>
                          <m:sub/>
                          <m:sup>
                            <m:r>
                              <a:rPr lang="en-US" sz="2000" i="1">
                                <a:latin typeface="Cambria Math"/>
                              </a:rPr>
                              <m:t>5</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3</m:t>
                                </m:r>
                              </m:sub>
                            </m:sSub>
                          </m:e>
                        </m:sPre>
                        <m:r>
                          <a:rPr lang="en-US" sz="2000" i="1">
                            <a:latin typeface="Cambria Math"/>
                            <a:ea typeface="Cambria Math"/>
                          </a:rPr>
                          <m:t>×</m:t>
                        </m:r>
                        <m:sPre>
                          <m:sPrePr>
                            <m:ctrlPr>
                              <a:rPr lang="en-US" sz="2000" i="1">
                                <a:latin typeface="Cambria Math" panose="02040503050406030204" pitchFamily="18" charset="0"/>
                              </a:rPr>
                            </m:ctrlPr>
                          </m:sPrePr>
                          <m:sub/>
                          <m:sup>
                            <m:r>
                              <a:rPr lang="en-US" sz="2000" i="1">
                                <a:latin typeface="Cambria Math"/>
                              </a:rPr>
                              <m:t>20</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1</m:t>
                                </m:r>
                              </m:sub>
                            </m:sSub>
                          </m:e>
                        </m:sPre>
                      </m:num>
                      <m:den>
                        <m:sPre>
                          <m:sPrePr>
                            <m:ctrlPr>
                              <a:rPr lang="en-US" sz="2000" i="1">
                                <a:latin typeface="Cambria Math" panose="02040503050406030204" pitchFamily="18" charset="0"/>
                              </a:rPr>
                            </m:ctrlPr>
                          </m:sPrePr>
                          <m:sub/>
                          <m:sup>
                            <m:r>
                              <a:rPr lang="en-US" sz="2000" i="1">
                                <a:latin typeface="Cambria Math"/>
                              </a:rPr>
                              <m:t>25</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4</m:t>
                                </m:r>
                              </m:sub>
                            </m:sSub>
                          </m:e>
                        </m:sPre>
                      </m:den>
                    </m:f>
                    <m:r>
                      <a:rPr lang="en-US" sz="2000" i="1">
                        <a:latin typeface="Cambria Math"/>
                      </a:rPr>
                      <m:t>=</m:t>
                    </m:r>
                    <m:f>
                      <m:fPr>
                        <m:ctrlPr>
                          <a:rPr lang="en-US" sz="2000" i="1">
                            <a:latin typeface="Cambria Math" panose="02040503050406030204" pitchFamily="18" charset="0"/>
                          </a:rPr>
                        </m:ctrlPr>
                      </m:fPr>
                      <m:num>
                        <m:r>
                          <a:rPr lang="en-US" sz="2000" i="1">
                            <a:latin typeface="Cambria Math"/>
                          </a:rPr>
                          <m:t>40</m:t>
                        </m:r>
                      </m:num>
                      <m:den>
                        <m:r>
                          <a:rPr lang="en-US" sz="2000" i="1">
                            <a:latin typeface="Cambria Math"/>
                          </a:rPr>
                          <m:t>2530</m:t>
                        </m:r>
                      </m:den>
                    </m:f>
                  </m:oMath>
                </a14:m>
                <a:endParaRPr lang="en-US" sz="2000" dirty="0"/>
              </a:p>
              <a:p>
                <a:pPr marL="0" indent="0">
                  <a:buNone/>
                </a:pPr>
                <a:r>
                  <a:rPr lang="en-US" sz="2000" dirty="0"/>
                  <a:t>P(X=4)=P( all 4 defectives)=</a:t>
                </a:r>
                <a14:m>
                  <m:oMath xmlns:m="http://schemas.openxmlformats.org/officeDocument/2006/math">
                    <m:f>
                      <m:fPr>
                        <m:ctrlPr>
                          <a:rPr lang="en-US" sz="2000" i="1">
                            <a:latin typeface="Cambria Math" panose="02040503050406030204" pitchFamily="18" charset="0"/>
                          </a:rPr>
                        </m:ctrlPr>
                      </m:fPr>
                      <m:num>
                        <m:sPre>
                          <m:sPrePr>
                            <m:ctrlPr>
                              <a:rPr lang="en-US" sz="2000" i="1">
                                <a:latin typeface="Cambria Math" panose="02040503050406030204" pitchFamily="18" charset="0"/>
                              </a:rPr>
                            </m:ctrlPr>
                          </m:sPrePr>
                          <m:sub/>
                          <m:sup>
                            <m:r>
                              <a:rPr lang="en-US" sz="2000" i="1">
                                <a:latin typeface="Cambria Math"/>
                              </a:rPr>
                              <m:t>5</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4</m:t>
                                </m:r>
                              </m:sub>
                            </m:sSub>
                          </m:e>
                        </m:sPre>
                      </m:num>
                      <m:den>
                        <m:sPre>
                          <m:sPrePr>
                            <m:ctrlPr>
                              <a:rPr lang="en-US" sz="2000" i="1">
                                <a:latin typeface="Cambria Math" panose="02040503050406030204" pitchFamily="18" charset="0"/>
                              </a:rPr>
                            </m:ctrlPr>
                          </m:sPrePr>
                          <m:sub/>
                          <m:sup>
                            <m:r>
                              <a:rPr lang="en-US" sz="2000" i="1">
                                <a:latin typeface="Cambria Math"/>
                              </a:rPr>
                              <m:t>25</m:t>
                            </m:r>
                          </m:sup>
                          <m:e>
                            <m:sSub>
                              <m:sSubPr>
                                <m:ctrlPr>
                                  <a:rPr lang="en-US" sz="2000" i="1">
                                    <a:latin typeface="Cambria Math" panose="02040503050406030204" pitchFamily="18" charset="0"/>
                                  </a:rPr>
                                </m:ctrlPr>
                              </m:sSubPr>
                              <m:e>
                                <m:r>
                                  <a:rPr lang="en-US" sz="2000" i="1">
                                    <a:latin typeface="Cambria Math"/>
                                  </a:rPr>
                                  <m:t>𝐶</m:t>
                                </m:r>
                              </m:e>
                              <m:sub>
                                <m:r>
                                  <a:rPr lang="en-US" sz="2000" i="1">
                                    <a:latin typeface="Cambria Math"/>
                                  </a:rPr>
                                  <m:t>4</m:t>
                                </m:r>
                              </m:sub>
                            </m:sSub>
                          </m:e>
                        </m:sPre>
                      </m:den>
                    </m:f>
                    <m:r>
                      <a:rPr lang="en-US" sz="2000" i="1">
                        <a:latin typeface="Cambria Math"/>
                      </a:rPr>
                      <m:t>=</m:t>
                    </m:r>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2530</m:t>
                        </m:r>
                      </m:den>
                    </m:f>
                  </m:oMath>
                </a14:m>
                <a:endParaRPr lang="en-US" sz="2000" dirty="0"/>
              </a:p>
              <a:p>
                <a:pPr marL="0" indent="0">
                  <a:buNone/>
                </a:pPr>
                <a:r>
                  <a:rPr lang="en-US" sz="2000" dirty="0"/>
                  <a:t>Therefore probability distribution of the random variable X is </a:t>
                </a:r>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0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a:p>
                <a:pPr marL="0" indent="0">
                  <a:buNone/>
                </a:pPr>
                <a:endParaRPr lang="en-US" sz="2200" dirty="0"/>
              </a:p>
            </p:txBody>
          </p:sp>
        </mc:Choice>
        <mc:Fallback xmlns="">
          <p:sp>
            <p:nvSpPr>
              <p:cNvPr id="9" name="Content Placeholder 8"/>
              <p:cNvSpPr>
                <a:spLocks noGrp="1" noRot="1" noChangeAspect="1" noMove="1" noResize="1" noEditPoints="1" noAdjustHandles="1" noChangeArrowheads="1" noChangeShapeType="1" noTextEdit="1"/>
              </p:cNvSpPr>
              <p:nvPr>
                <p:ph idx="1"/>
              </p:nvPr>
            </p:nvSpPr>
            <p:spPr>
              <a:xfrm>
                <a:off x="460375" y="1524000"/>
                <a:ext cx="8229600" cy="5638800"/>
              </a:xfrm>
              <a:blipFill rotWithShape="0">
                <a:blip r:embed="rId2"/>
                <a:stretch>
                  <a:fillRect l="-815"/>
                </a:stretch>
              </a:blipFill>
            </p:spPr>
            <p:txBody>
              <a:bodyPr/>
              <a:lstStyle/>
              <a:p>
                <a:r>
                  <a:rPr lang="en-US">
                    <a:noFill/>
                  </a:rPr>
                  <a:t> </a:t>
                </a:r>
              </a:p>
            </p:txBody>
          </p:sp>
        </mc:Fallback>
      </mc:AlternateContent>
      <p:sp>
        <p:nvSpPr>
          <p:cNvPr id="11"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2400" b="1" dirty="0">
                <a:latin typeface="+mj-lt"/>
              </a:rPr>
              <a:t>continue…(CO3)</a:t>
            </a:r>
            <a:endParaRPr kumimoji="0" lang="en-US" sz="2400" b="1" i="0" u="none" strike="noStrike" kern="1200" cap="none" spc="0" normalizeH="0" baseline="0" noProof="0" dirty="0">
              <a:ln>
                <a:noFill/>
              </a:ln>
              <a:solidFill>
                <a:schemeClr val="dk1"/>
              </a:solidFill>
              <a:effectLst/>
              <a:uLnTx/>
              <a:uFillTx/>
              <a:latin typeface="+mj-lt"/>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0AC4C354-9B2C-4429-8975-FFDCBA100BF2}"/>
                  </a:ext>
                </a:extLst>
              </p:cNvPr>
              <p:cNvGraphicFramePr>
                <a:graphicFrameLocks noGrp="1"/>
              </p:cNvGraphicFramePr>
              <p:nvPr>
                <p:extLst>
                  <p:ext uri="{D42A27DB-BD31-4B8C-83A1-F6EECF244321}">
                    <p14:modId xmlns:p14="http://schemas.microsoft.com/office/powerpoint/2010/main" val="1674356594"/>
                  </p:ext>
                </p:extLst>
              </p:nvPr>
            </p:nvGraphicFramePr>
            <p:xfrm>
              <a:off x="1447800" y="4203890"/>
              <a:ext cx="6096000" cy="97771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3780270069"/>
                        </a:ext>
                      </a:extLst>
                    </a:gridCol>
                    <a:gridCol w="1016000">
                      <a:extLst>
                        <a:ext uri="{9D8B030D-6E8A-4147-A177-3AD203B41FA5}">
                          <a16:colId xmlns:a16="http://schemas.microsoft.com/office/drawing/2014/main" val="2326167961"/>
                        </a:ext>
                      </a:extLst>
                    </a:gridCol>
                    <a:gridCol w="1016000">
                      <a:extLst>
                        <a:ext uri="{9D8B030D-6E8A-4147-A177-3AD203B41FA5}">
                          <a16:colId xmlns:a16="http://schemas.microsoft.com/office/drawing/2014/main" val="3291984026"/>
                        </a:ext>
                      </a:extLst>
                    </a:gridCol>
                    <a:gridCol w="1016000">
                      <a:extLst>
                        <a:ext uri="{9D8B030D-6E8A-4147-A177-3AD203B41FA5}">
                          <a16:colId xmlns:a16="http://schemas.microsoft.com/office/drawing/2014/main" val="1157883856"/>
                        </a:ext>
                      </a:extLst>
                    </a:gridCol>
                    <a:gridCol w="1016000">
                      <a:extLst>
                        <a:ext uri="{9D8B030D-6E8A-4147-A177-3AD203B41FA5}">
                          <a16:colId xmlns:a16="http://schemas.microsoft.com/office/drawing/2014/main" val="3874043335"/>
                        </a:ext>
                      </a:extLst>
                    </a:gridCol>
                    <a:gridCol w="1016000">
                      <a:extLst>
                        <a:ext uri="{9D8B030D-6E8A-4147-A177-3AD203B41FA5}">
                          <a16:colId xmlns:a16="http://schemas.microsoft.com/office/drawing/2014/main" val="1224261150"/>
                        </a:ext>
                      </a:extLst>
                    </a:gridCol>
                  </a:tblGrid>
                  <a:tr h="370840">
                    <a:tc>
                      <a:txBody>
                        <a:bodyPr/>
                        <a:lstStyle/>
                        <a:p>
                          <a:r>
                            <a:rPr lang="en-US" dirty="0"/>
                            <a:t>x</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2396443553"/>
                      </a:ext>
                    </a:extLst>
                  </a:tr>
                  <a:tr h="370840">
                    <a:tc>
                      <a:txBody>
                        <a:bodyPr/>
                        <a:lstStyle/>
                        <a:p>
                          <a:r>
                            <a:rPr lang="en-US" dirty="0"/>
                            <a:t>P(x)</a:t>
                          </a:r>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9669</m:t>
                                    </m:r>
                                  </m:num>
                                  <m:den>
                                    <m:r>
                                      <a:rPr lang="en-US" b="0" i="1" smtClean="0">
                                        <a:latin typeface="Cambria Math" panose="02040503050406030204" pitchFamily="18" charset="0"/>
                                      </a:rPr>
                                      <m:t>2530</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1140</m:t>
                                    </m:r>
                                  </m:num>
                                  <m:den>
                                    <m:r>
                                      <a:rPr lang="en-US" b="0" i="1" smtClean="0">
                                        <a:latin typeface="Cambria Math" panose="02040503050406030204" pitchFamily="18" charset="0"/>
                                      </a:rPr>
                                      <m:t>2530</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380</m:t>
                                    </m:r>
                                  </m:num>
                                  <m:den>
                                    <m:r>
                                      <a:rPr lang="en-US" b="0" i="1" smtClean="0">
                                        <a:latin typeface="Cambria Math" panose="02040503050406030204" pitchFamily="18" charset="0"/>
                                      </a:rPr>
                                      <m:t>2530</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40</m:t>
                                    </m:r>
                                  </m:num>
                                  <m:den>
                                    <m:r>
                                      <a:rPr lang="en-US" b="0" i="1" smtClean="0">
                                        <a:latin typeface="Cambria Math" panose="02040503050406030204" pitchFamily="18" charset="0"/>
                                      </a:rPr>
                                      <m:t>2530</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2530</m:t>
                                    </m:r>
                                  </m:den>
                                </m:f>
                              </m:oMath>
                            </m:oMathPara>
                          </a14:m>
                          <a:endParaRPr lang="en-US" dirty="0"/>
                        </a:p>
                      </a:txBody>
                      <a:tcPr/>
                    </a:tc>
                    <a:extLst>
                      <a:ext uri="{0D108BD9-81ED-4DB2-BD59-A6C34878D82A}">
                        <a16:rowId xmlns:a16="http://schemas.microsoft.com/office/drawing/2014/main" val="2074176628"/>
                      </a:ext>
                    </a:extLst>
                  </a:tr>
                </a:tbl>
              </a:graphicData>
            </a:graphic>
          </p:graphicFrame>
        </mc:Choice>
        <mc:Fallback xmlns="">
          <p:graphicFrame>
            <p:nvGraphicFramePr>
              <p:cNvPr id="3" name="Table 2">
                <a:extLst>
                  <a:ext uri="{FF2B5EF4-FFF2-40B4-BE49-F238E27FC236}">
                    <a16:creationId xmlns:a16="http://schemas.microsoft.com/office/drawing/2014/main" id="{0AC4C354-9B2C-4429-8975-FFDCBA100BF2}"/>
                  </a:ext>
                </a:extLst>
              </p:cNvPr>
              <p:cNvGraphicFramePr>
                <a:graphicFrameLocks noGrp="1"/>
              </p:cNvGraphicFramePr>
              <p:nvPr>
                <p:extLst>
                  <p:ext uri="{D42A27DB-BD31-4B8C-83A1-F6EECF244321}">
                    <p14:modId xmlns:p14="http://schemas.microsoft.com/office/powerpoint/2010/main" val="1674356594"/>
                  </p:ext>
                </p:extLst>
              </p:nvPr>
            </p:nvGraphicFramePr>
            <p:xfrm>
              <a:off x="1447800" y="4203890"/>
              <a:ext cx="6096000" cy="977710"/>
            </p:xfrm>
            <a:graphic>
              <a:graphicData uri="http://schemas.openxmlformats.org/drawingml/2006/table">
                <a:tbl>
                  <a:tblPr firstRow="1" bandRow="1">
                    <a:tableStyleId>{5C22544A-7EE6-4342-B048-85BDC9FD1C3A}</a:tableStyleId>
                  </a:tblPr>
                  <a:tblGrid>
                    <a:gridCol w="1016000">
                      <a:extLst>
                        <a:ext uri="{9D8B030D-6E8A-4147-A177-3AD203B41FA5}">
                          <a16:colId xmlns:a16="http://schemas.microsoft.com/office/drawing/2014/main" val="3780270069"/>
                        </a:ext>
                      </a:extLst>
                    </a:gridCol>
                    <a:gridCol w="1016000">
                      <a:extLst>
                        <a:ext uri="{9D8B030D-6E8A-4147-A177-3AD203B41FA5}">
                          <a16:colId xmlns:a16="http://schemas.microsoft.com/office/drawing/2014/main" val="2326167961"/>
                        </a:ext>
                      </a:extLst>
                    </a:gridCol>
                    <a:gridCol w="1016000">
                      <a:extLst>
                        <a:ext uri="{9D8B030D-6E8A-4147-A177-3AD203B41FA5}">
                          <a16:colId xmlns:a16="http://schemas.microsoft.com/office/drawing/2014/main" val="3291984026"/>
                        </a:ext>
                      </a:extLst>
                    </a:gridCol>
                    <a:gridCol w="1016000">
                      <a:extLst>
                        <a:ext uri="{9D8B030D-6E8A-4147-A177-3AD203B41FA5}">
                          <a16:colId xmlns:a16="http://schemas.microsoft.com/office/drawing/2014/main" val="1157883856"/>
                        </a:ext>
                      </a:extLst>
                    </a:gridCol>
                    <a:gridCol w="1016000">
                      <a:extLst>
                        <a:ext uri="{9D8B030D-6E8A-4147-A177-3AD203B41FA5}">
                          <a16:colId xmlns:a16="http://schemas.microsoft.com/office/drawing/2014/main" val="3874043335"/>
                        </a:ext>
                      </a:extLst>
                    </a:gridCol>
                    <a:gridCol w="1016000">
                      <a:extLst>
                        <a:ext uri="{9D8B030D-6E8A-4147-A177-3AD203B41FA5}">
                          <a16:colId xmlns:a16="http://schemas.microsoft.com/office/drawing/2014/main" val="1224261150"/>
                        </a:ext>
                      </a:extLst>
                    </a:gridCol>
                  </a:tblGrid>
                  <a:tr h="370840">
                    <a:tc>
                      <a:txBody>
                        <a:bodyPr/>
                        <a:lstStyle/>
                        <a:p>
                          <a:r>
                            <a:rPr lang="en-US" dirty="0"/>
                            <a:t>x</a:t>
                          </a:r>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3</a:t>
                          </a:r>
                        </a:p>
                      </a:txBody>
                      <a:tcPr/>
                    </a:tc>
                    <a:tc>
                      <a:txBody>
                        <a:bodyPr/>
                        <a:lstStyle/>
                        <a:p>
                          <a:r>
                            <a:rPr lang="en-US" dirty="0"/>
                            <a:t>4</a:t>
                          </a:r>
                        </a:p>
                      </a:txBody>
                      <a:tcPr/>
                    </a:tc>
                    <a:extLst>
                      <a:ext uri="{0D108BD9-81ED-4DB2-BD59-A6C34878D82A}">
                        <a16:rowId xmlns:a16="http://schemas.microsoft.com/office/drawing/2014/main" val="2396443553"/>
                      </a:ext>
                    </a:extLst>
                  </a:tr>
                  <a:tr h="606870">
                    <a:tc>
                      <a:txBody>
                        <a:bodyPr/>
                        <a:lstStyle/>
                        <a:p>
                          <a:r>
                            <a:rPr lang="en-US" dirty="0"/>
                            <a:t>P(x)</a:t>
                          </a:r>
                        </a:p>
                      </a:txBody>
                      <a:tcPr/>
                    </a:tc>
                    <a:tc>
                      <a:txBody>
                        <a:bodyPr/>
                        <a:lstStyle/>
                        <a:p>
                          <a:endParaRPr lang="en-US"/>
                        </a:p>
                      </a:txBody>
                      <a:tcPr>
                        <a:blipFill>
                          <a:blip r:embed="rId3"/>
                          <a:stretch>
                            <a:fillRect l="-100599" t="-66000" r="-401796" b="-3000"/>
                          </a:stretch>
                        </a:blipFill>
                      </a:tcPr>
                    </a:tc>
                    <a:tc>
                      <a:txBody>
                        <a:bodyPr/>
                        <a:lstStyle/>
                        <a:p>
                          <a:endParaRPr lang="en-US"/>
                        </a:p>
                      </a:txBody>
                      <a:tcPr>
                        <a:blipFill>
                          <a:blip r:embed="rId3"/>
                          <a:stretch>
                            <a:fillRect l="-200599" t="-66000" r="-301796" b="-3000"/>
                          </a:stretch>
                        </a:blipFill>
                      </a:tcPr>
                    </a:tc>
                    <a:tc>
                      <a:txBody>
                        <a:bodyPr/>
                        <a:lstStyle/>
                        <a:p>
                          <a:endParaRPr lang="en-US"/>
                        </a:p>
                      </a:txBody>
                      <a:tcPr>
                        <a:blipFill>
                          <a:blip r:embed="rId3"/>
                          <a:stretch>
                            <a:fillRect l="-302410" t="-66000" r="-203614" b="-3000"/>
                          </a:stretch>
                        </a:blipFill>
                      </a:tcPr>
                    </a:tc>
                    <a:tc>
                      <a:txBody>
                        <a:bodyPr/>
                        <a:lstStyle/>
                        <a:p>
                          <a:endParaRPr lang="en-US"/>
                        </a:p>
                      </a:txBody>
                      <a:tcPr>
                        <a:blipFill>
                          <a:blip r:embed="rId3"/>
                          <a:stretch>
                            <a:fillRect l="-400000" t="-66000" r="-102395" b="-3000"/>
                          </a:stretch>
                        </a:blipFill>
                      </a:tcPr>
                    </a:tc>
                    <a:tc>
                      <a:txBody>
                        <a:bodyPr/>
                        <a:lstStyle/>
                        <a:p>
                          <a:endParaRPr lang="en-US"/>
                        </a:p>
                      </a:txBody>
                      <a:tcPr>
                        <a:blipFill>
                          <a:blip r:embed="rId3"/>
                          <a:stretch>
                            <a:fillRect l="-500000" t="-66000" r="-2395" b="-3000"/>
                          </a:stretch>
                        </a:blipFill>
                      </a:tcPr>
                    </a:tc>
                    <a:extLst>
                      <a:ext uri="{0D108BD9-81ED-4DB2-BD59-A6C34878D82A}">
                        <a16:rowId xmlns:a16="http://schemas.microsoft.com/office/drawing/2014/main" val="2074176628"/>
                      </a:ext>
                    </a:extLst>
                  </a:tr>
                </a:tbl>
              </a:graphicData>
            </a:graphic>
          </p:graphicFrame>
        </mc:Fallback>
      </mc:AlternateContent>
    </p:spTree>
    <p:extLst>
      <p:ext uri="{BB962C8B-B14F-4D97-AF65-F5344CB8AC3E}">
        <p14:creationId xmlns:p14="http://schemas.microsoft.com/office/powerpoint/2010/main" val="3075011216"/>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1000"/>
                                        <p:tgtEl>
                                          <p:spTgt spid="9">
                                            <p:txEl>
                                              <p:pRg st="0" end="0"/>
                                            </p:txEl>
                                          </p:spTgt>
                                        </p:tgtEl>
                                      </p:cBhvr>
                                    </p:animEffect>
                                    <p:anim calcmode="lin" valueType="num">
                                      <p:cBhvr>
                                        <p:cTn id="8" dur="1000" fill="hold"/>
                                        <p:tgtEl>
                                          <p:spTgt spid="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9">
                                            <p:txEl>
                                              <p:pRg st="1" end="1"/>
                                            </p:txEl>
                                          </p:spTgt>
                                        </p:tgtEl>
                                        <p:attrNameLst>
                                          <p:attrName>style.visibility</p:attrName>
                                        </p:attrNameLst>
                                      </p:cBhvr>
                                      <p:to>
                                        <p:strVal val="visible"/>
                                      </p:to>
                                    </p:set>
                                    <p:animEffect transition="in" filter="fade">
                                      <p:cBhvr>
                                        <p:cTn id="14" dur="1000"/>
                                        <p:tgtEl>
                                          <p:spTgt spid="9">
                                            <p:txEl>
                                              <p:pRg st="1" end="1"/>
                                            </p:txEl>
                                          </p:spTgt>
                                        </p:tgtEl>
                                      </p:cBhvr>
                                    </p:animEffect>
                                    <p:anim calcmode="lin" valueType="num">
                                      <p:cBhvr>
                                        <p:cTn id="15" dur="1000" fill="hold"/>
                                        <p:tgtEl>
                                          <p:spTgt spid="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9">
                                            <p:txEl>
                                              <p:pRg st="2" end="2"/>
                                            </p:txEl>
                                          </p:spTgt>
                                        </p:tgtEl>
                                        <p:attrNameLst>
                                          <p:attrName>style.visibility</p:attrName>
                                        </p:attrNameLst>
                                      </p:cBhvr>
                                      <p:to>
                                        <p:strVal val="visible"/>
                                      </p:to>
                                    </p:set>
                                    <p:animEffect transition="in" filter="fade">
                                      <p:cBhvr>
                                        <p:cTn id="21" dur="1000"/>
                                        <p:tgtEl>
                                          <p:spTgt spid="9">
                                            <p:txEl>
                                              <p:pRg st="2" end="2"/>
                                            </p:txEl>
                                          </p:spTgt>
                                        </p:tgtEl>
                                      </p:cBhvr>
                                    </p:animEffect>
                                    <p:anim calcmode="lin" valueType="num">
                                      <p:cBhvr>
                                        <p:cTn id="22" dur="1000" fill="hold"/>
                                        <p:tgtEl>
                                          <p:spTgt spid="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9">
                                            <p:txEl>
                                              <p:pRg st="3" end="3"/>
                                            </p:txEl>
                                          </p:spTgt>
                                        </p:tgtEl>
                                        <p:attrNameLst>
                                          <p:attrName>style.visibility</p:attrName>
                                        </p:attrNameLst>
                                      </p:cBhvr>
                                      <p:to>
                                        <p:strVal val="visible"/>
                                      </p:to>
                                    </p:set>
                                    <p:animEffect transition="in" filter="fade">
                                      <p:cBhvr>
                                        <p:cTn id="28" dur="1000"/>
                                        <p:tgtEl>
                                          <p:spTgt spid="9">
                                            <p:txEl>
                                              <p:pRg st="3" end="3"/>
                                            </p:txEl>
                                          </p:spTgt>
                                        </p:tgtEl>
                                      </p:cBhvr>
                                    </p:animEffect>
                                    <p:anim calcmode="lin" valueType="num">
                                      <p:cBhvr>
                                        <p:cTn id="29" dur="1000" fill="hold"/>
                                        <p:tgtEl>
                                          <p:spTgt spid="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9">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b="1" dirty="0"/>
                  <a:t>Q 2.</a:t>
                </a:r>
                <a:r>
                  <a:rPr lang="en-US" sz="2200" dirty="0"/>
                  <a:t> A die is tossed thrice . A success is ‘getting 1 or 6’ on a toss . Find the mean and the variance of the number of success.</a:t>
                </a:r>
              </a:p>
              <a:p>
                <a:pPr marL="0" indent="0">
                  <a:buNone/>
                </a:pPr>
                <a:r>
                  <a:rPr lang="en-US" sz="2200" b="1" dirty="0"/>
                  <a:t>Solution:</a:t>
                </a:r>
                <a:r>
                  <a:rPr lang="en-US" sz="2200" dirty="0"/>
                  <a:t> Let X denote the number of success . Clearly X can take the values 0,1,2 or 3.</a:t>
                </a:r>
              </a:p>
              <a:p>
                <a:pPr marL="0" indent="0">
                  <a:buNone/>
                </a:pPr>
                <a:r>
                  <a:rPr lang="en-US" sz="2200" dirty="0"/>
                  <a:t>Probability of success</a:t>
                </a:r>
                <a14:m>
                  <m:oMath xmlns:m="http://schemas.openxmlformats.org/officeDocument/2006/math">
                    <m:r>
                      <a:rPr lang="en-US" sz="2200">
                        <a:latin typeface="Cambria Math"/>
                      </a:rPr>
                      <m:t>=</m:t>
                    </m:r>
                    <m:f>
                      <m:fPr>
                        <m:ctrlPr>
                          <a:rPr lang="en-US" sz="2200" i="1">
                            <a:latin typeface="Cambria Math" panose="02040503050406030204" pitchFamily="18" charset="0"/>
                          </a:rPr>
                        </m:ctrlPr>
                      </m:fPr>
                      <m:num>
                        <m:r>
                          <a:rPr lang="en-US" sz="2200" i="1">
                            <a:latin typeface="Cambria Math"/>
                          </a:rPr>
                          <m:t>2</m:t>
                        </m:r>
                      </m:num>
                      <m:den>
                        <m:r>
                          <a:rPr lang="en-US" sz="2200" i="1">
                            <a:latin typeface="Cambria Math"/>
                          </a:rPr>
                          <m:t>6</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3</m:t>
                        </m:r>
                      </m:den>
                    </m:f>
                  </m:oMath>
                </a14:m>
                <a:endParaRPr lang="en-US" sz="2200" dirty="0"/>
              </a:p>
              <a:p>
                <a:pPr marL="0" indent="0">
                  <a:buNone/>
                </a:pPr>
                <a:r>
                  <a:rPr lang="en-US" sz="2200" dirty="0"/>
                  <a:t>Probability of failure</a:t>
                </a:r>
                <a14:m>
                  <m:oMath xmlns:m="http://schemas.openxmlformats.org/officeDocument/2006/math">
                    <m:r>
                      <a:rPr lang="en-US" sz="2200">
                        <a:latin typeface="Cambria Math"/>
                      </a:rPr>
                      <m:t>=</m:t>
                    </m:r>
                    <m:r>
                      <a:rPr lang="en-US" sz="2200" i="1">
                        <a:latin typeface="Cambria Math"/>
                      </a:rPr>
                      <m:t>1−</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3</m:t>
                        </m:r>
                      </m:den>
                    </m:f>
                    <m:r>
                      <a:rPr lang="en-US" sz="2200" i="1">
                        <a:latin typeface="Cambria Math"/>
                      </a:rPr>
                      <m:t>=</m:t>
                    </m:r>
                    <m:f>
                      <m:fPr>
                        <m:ctrlPr>
                          <a:rPr lang="en-US" sz="2200" i="1">
                            <a:latin typeface="Cambria Math" panose="02040503050406030204" pitchFamily="18" charset="0"/>
                          </a:rPr>
                        </m:ctrlPr>
                      </m:fPr>
                      <m:num>
                        <m:r>
                          <a:rPr lang="en-US" sz="2200" i="1">
                            <a:latin typeface="Cambria Math"/>
                          </a:rPr>
                          <m:t>2</m:t>
                        </m:r>
                      </m:num>
                      <m:den>
                        <m:r>
                          <a:rPr lang="en-US" sz="2200" i="1">
                            <a:latin typeface="Cambria Math"/>
                          </a:rPr>
                          <m:t>3</m:t>
                        </m:r>
                      </m:den>
                    </m:f>
                  </m:oMath>
                </a14:m>
                <a:endParaRPr lang="en-US" sz="2200" dirty="0"/>
              </a:p>
              <a:p>
                <a:pPr marL="0" indent="0">
                  <a:buNone/>
                </a:pPr>
                <a:r>
                  <a:rPr lang="en-US" sz="2200" dirty="0"/>
                  <a:t>P(X=0)=P(no success)=P( all 3 failures)</a:t>
                </a:r>
                <a14:m>
                  <m:oMath xmlns:m="http://schemas.openxmlformats.org/officeDocument/2006/math">
                    <m:r>
                      <a:rPr lang="en-US" sz="2200">
                        <a:latin typeface="Cambria Math"/>
                      </a:rPr>
                      <m:t>=</m:t>
                    </m:r>
                    <m:f>
                      <m:fPr>
                        <m:ctrlPr>
                          <a:rPr lang="en-US" sz="2200" i="1">
                            <a:latin typeface="Cambria Math" panose="02040503050406030204" pitchFamily="18" charset="0"/>
                          </a:rPr>
                        </m:ctrlPr>
                      </m:fPr>
                      <m:num>
                        <m:r>
                          <a:rPr lang="en-US" sz="2200" i="1">
                            <a:latin typeface="Cambria Math"/>
                          </a:rPr>
                          <m:t>2</m:t>
                        </m:r>
                      </m:num>
                      <m:den>
                        <m:r>
                          <a:rPr lang="en-US" sz="2200" i="1">
                            <a:latin typeface="Cambria Math"/>
                          </a:rPr>
                          <m:t>3</m:t>
                        </m:r>
                      </m:den>
                    </m:f>
                    <m:r>
                      <a:rPr lang="en-US" sz="2200" i="1">
                        <a:latin typeface="Cambria Math"/>
                        <a:ea typeface="Cambria Math"/>
                      </a:rPr>
                      <m:t>×</m:t>
                    </m:r>
                  </m:oMath>
                </a14:m>
                <a:r>
                  <a:rPr lang="en-US" sz="2200" dirty="0"/>
                  <a:t> </a:t>
                </a:r>
                <a14:m>
                  <m:oMath xmlns:m="http://schemas.openxmlformats.org/officeDocument/2006/math">
                    <m:f>
                      <m:fPr>
                        <m:ctrlPr>
                          <a:rPr lang="en-US" sz="2200" i="1">
                            <a:latin typeface="Cambria Math" panose="02040503050406030204" pitchFamily="18" charset="0"/>
                          </a:rPr>
                        </m:ctrlPr>
                      </m:fPr>
                      <m:num>
                        <m:r>
                          <a:rPr lang="en-US" sz="2200" i="1">
                            <a:latin typeface="Cambria Math"/>
                          </a:rPr>
                          <m:t>2</m:t>
                        </m:r>
                      </m:num>
                      <m:den>
                        <m:r>
                          <a:rPr lang="en-US" sz="2200" i="1">
                            <a:latin typeface="Cambria Math"/>
                          </a:rPr>
                          <m:t>3</m:t>
                        </m:r>
                      </m:den>
                    </m:f>
                    <m:r>
                      <a:rPr lang="en-US" sz="2200" i="1">
                        <a:latin typeface="Cambria Math"/>
                        <a:ea typeface="Cambria Math"/>
                      </a:rPr>
                      <m:t>×</m:t>
                    </m:r>
                    <m:f>
                      <m:fPr>
                        <m:ctrlPr>
                          <a:rPr lang="en-US" sz="2200" i="1">
                            <a:latin typeface="Cambria Math" panose="02040503050406030204" pitchFamily="18" charset="0"/>
                          </a:rPr>
                        </m:ctrlPr>
                      </m:fPr>
                      <m:num>
                        <m:r>
                          <a:rPr lang="en-US" sz="2200" i="1">
                            <a:latin typeface="Cambria Math"/>
                          </a:rPr>
                          <m:t>2</m:t>
                        </m:r>
                      </m:num>
                      <m:den>
                        <m:r>
                          <a:rPr lang="en-US" sz="2200" i="1">
                            <a:latin typeface="Cambria Math"/>
                          </a:rPr>
                          <m:t>3</m:t>
                        </m:r>
                      </m:den>
                    </m:f>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8</m:t>
                        </m:r>
                      </m:num>
                      <m:den>
                        <m:r>
                          <a:rPr lang="en-US" sz="2200" i="1">
                            <a:latin typeface="Cambria Math"/>
                            <a:ea typeface="Cambria Math"/>
                          </a:rPr>
                          <m:t>27</m:t>
                        </m:r>
                      </m:den>
                    </m:f>
                  </m:oMath>
                </a14:m>
                <a:endParaRPr lang="en-US" sz="2200" dirty="0"/>
              </a:p>
              <a:p>
                <a:pPr marL="0" indent="0">
                  <a:buNone/>
                </a:pPr>
                <a:r>
                  <a:rPr lang="en-US" sz="2200" dirty="0"/>
                  <a:t>P(X=1)= P(1 success and 2 failure) </a:t>
                </a:r>
                <a14:m>
                  <m:oMath xmlns:m="http://schemas.openxmlformats.org/officeDocument/2006/math">
                    <m:r>
                      <a:rPr lang="en-US" sz="2200">
                        <a:latin typeface="Cambria Math"/>
                      </a:rPr>
                      <m:t>=</m:t>
                    </m:r>
                    <m:sPre>
                      <m:sPrePr>
                        <m:ctrlPr>
                          <a:rPr lang="en-US" sz="2200" i="1">
                            <a:latin typeface="Cambria Math" panose="02040503050406030204" pitchFamily="18" charset="0"/>
                          </a:rPr>
                        </m:ctrlPr>
                      </m:sPrePr>
                      <m:sub/>
                      <m:sup>
                        <m:r>
                          <a:rPr lang="en-US" sz="2200" i="1">
                            <a:latin typeface="Cambria Math"/>
                          </a:rPr>
                          <m:t>3</m:t>
                        </m:r>
                      </m:sup>
                      <m:e>
                        <m:sSub>
                          <m:sSubPr>
                            <m:ctrlPr>
                              <a:rPr lang="en-US" sz="2200" i="1">
                                <a:latin typeface="Cambria Math" panose="02040503050406030204" pitchFamily="18" charset="0"/>
                              </a:rPr>
                            </m:ctrlPr>
                          </m:sSubPr>
                          <m:e>
                            <m:r>
                              <a:rPr lang="en-US" sz="2200" i="1">
                                <a:latin typeface="Cambria Math"/>
                              </a:rPr>
                              <m:t>𝐶</m:t>
                            </m:r>
                          </m:e>
                          <m:sub>
                            <m:r>
                              <a:rPr lang="en-US" sz="2200" i="1">
                                <a:latin typeface="Cambria Math"/>
                              </a:rPr>
                              <m:t>1</m:t>
                            </m:r>
                          </m:sub>
                        </m:sSub>
                        <m:r>
                          <a:rPr lang="en-US" sz="2200" i="1">
                            <a:latin typeface="Cambria Math"/>
                            <a:ea typeface="Cambria Math"/>
                          </a:rPr>
                          <m:t>×</m:t>
                        </m:r>
                      </m:e>
                    </m:sPre>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3</m:t>
                        </m:r>
                      </m:den>
                    </m:f>
                    <m:r>
                      <a:rPr lang="en-US" sz="2200" i="1">
                        <a:latin typeface="Cambria Math"/>
                        <a:ea typeface="Cambria Math"/>
                      </a:rPr>
                      <m:t>×</m:t>
                    </m:r>
                  </m:oMath>
                </a14:m>
                <a:r>
                  <a:rPr lang="en-US" sz="2200" dirty="0"/>
                  <a:t> </a:t>
                </a:r>
                <a14:m>
                  <m:oMath xmlns:m="http://schemas.openxmlformats.org/officeDocument/2006/math">
                    <m:f>
                      <m:fPr>
                        <m:ctrlPr>
                          <a:rPr lang="en-US" sz="2200" i="1">
                            <a:latin typeface="Cambria Math" panose="02040503050406030204" pitchFamily="18" charset="0"/>
                          </a:rPr>
                        </m:ctrlPr>
                      </m:fPr>
                      <m:num>
                        <m:r>
                          <a:rPr lang="en-US" sz="2200" i="1">
                            <a:latin typeface="Cambria Math"/>
                          </a:rPr>
                          <m:t>2</m:t>
                        </m:r>
                      </m:num>
                      <m:den>
                        <m:r>
                          <a:rPr lang="en-US" sz="2200" i="1">
                            <a:latin typeface="Cambria Math"/>
                          </a:rPr>
                          <m:t>3</m:t>
                        </m:r>
                      </m:den>
                    </m:f>
                    <m:r>
                      <a:rPr lang="en-US" sz="2200" i="1">
                        <a:latin typeface="Cambria Math"/>
                        <a:ea typeface="Cambria Math"/>
                      </a:rPr>
                      <m:t>×</m:t>
                    </m:r>
                    <m:f>
                      <m:fPr>
                        <m:ctrlPr>
                          <a:rPr lang="en-US" sz="2200" i="1">
                            <a:latin typeface="Cambria Math" panose="02040503050406030204" pitchFamily="18" charset="0"/>
                          </a:rPr>
                        </m:ctrlPr>
                      </m:fPr>
                      <m:num>
                        <m:r>
                          <a:rPr lang="en-US" sz="2200" i="1">
                            <a:latin typeface="Cambria Math"/>
                          </a:rPr>
                          <m:t>2</m:t>
                        </m:r>
                      </m:num>
                      <m:den>
                        <m:r>
                          <a:rPr lang="en-US" sz="2200" i="1">
                            <a:latin typeface="Cambria Math"/>
                          </a:rPr>
                          <m:t>3</m:t>
                        </m:r>
                      </m:den>
                    </m:f>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12</m:t>
                        </m:r>
                      </m:num>
                      <m:den>
                        <m:r>
                          <a:rPr lang="en-US" sz="2200" i="1">
                            <a:latin typeface="Cambria Math"/>
                            <a:ea typeface="Cambria Math"/>
                          </a:rPr>
                          <m:t>27</m:t>
                        </m:r>
                      </m:den>
                    </m:f>
                  </m:oMath>
                </a14:m>
                <a:endParaRPr lang="en-US" sz="2200" dirty="0"/>
              </a:p>
              <a:p>
                <a:pPr marL="0" indent="0">
                  <a:buNone/>
                </a:pPr>
                <a:r>
                  <a:rPr lang="en-US" sz="2200" dirty="0"/>
                  <a:t>P(X=2)= P(2 success and 1 failure) </a:t>
                </a:r>
                <a14:m>
                  <m:oMath xmlns:m="http://schemas.openxmlformats.org/officeDocument/2006/math">
                    <m:r>
                      <a:rPr lang="en-US" sz="2200">
                        <a:latin typeface="Cambria Math"/>
                      </a:rPr>
                      <m:t>=</m:t>
                    </m:r>
                    <m:sPre>
                      <m:sPrePr>
                        <m:ctrlPr>
                          <a:rPr lang="en-US" sz="2200" i="1">
                            <a:latin typeface="Cambria Math" panose="02040503050406030204" pitchFamily="18" charset="0"/>
                          </a:rPr>
                        </m:ctrlPr>
                      </m:sPrePr>
                      <m:sub/>
                      <m:sup>
                        <m:r>
                          <a:rPr lang="en-US" sz="2200" i="1">
                            <a:latin typeface="Cambria Math"/>
                          </a:rPr>
                          <m:t>3</m:t>
                        </m:r>
                      </m:sup>
                      <m:e>
                        <m:sSub>
                          <m:sSubPr>
                            <m:ctrlPr>
                              <a:rPr lang="en-US" sz="2200" i="1">
                                <a:latin typeface="Cambria Math" panose="02040503050406030204" pitchFamily="18" charset="0"/>
                              </a:rPr>
                            </m:ctrlPr>
                          </m:sSubPr>
                          <m:e>
                            <m:r>
                              <a:rPr lang="en-US" sz="2200" i="1">
                                <a:latin typeface="Cambria Math"/>
                              </a:rPr>
                              <m:t>𝐶</m:t>
                            </m:r>
                          </m:e>
                          <m:sub>
                            <m:r>
                              <a:rPr lang="en-US" sz="2200" b="0" i="1" smtClean="0">
                                <a:latin typeface="Cambria Math"/>
                              </a:rPr>
                              <m:t>2</m:t>
                            </m:r>
                          </m:sub>
                        </m:sSub>
                        <m:r>
                          <a:rPr lang="en-US" sz="2200" i="1">
                            <a:latin typeface="Cambria Math"/>
                            <a:ea typeface="Cambria Math"/>
                          </a:rPr>
                          <m:t>×</m:t>
                        </m:r>
                      </m:e>
                    </m:sPre>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3</m:t>
                        </m:r>
                      </m:den>
                    </m:f>
                    <m:r>
                      <a:rPr lang="en-US" sz="2200" i="1">
                        <a:latin typeface="Cambria Math"/>
                        <a:ea typeface="Cambria Math"/>
                      </a:rPr>
                      <m:t>×</m:t>
                    </m:r>
                  </m:oMath>
                </a14:m>
                <a:r>
                  <a:rPr lang="en-US" sz="2200" dirty="0"/>
                  <a:t> </a:t>
                </a:r>
                <a14:m>
                  <m:oMath xmlns:m="http://schemas.openxmlformats.org/officeDocument/2006/math">
                    <m:f>
                      <m:fPr>
                        <m:ctrlPr>
                          <a:rPr lang="en-US" sz="2200" i="1">
                            <a:latin typeface="Cambria Math" panose="02040503050406030204" pitchFamily="18" charset="0"/>
                          </a:rPr>
                        </m:ctrlPr>
                      </m:fPr>
                      <m:num>
                        <m:r>
                          <a:rPr lang="en-US" sz="2200" b="0" i="1" smtClean="0">
                            <a:latin typeface="Cambria Math"/>
                          </a:rPr>
                          <m:t>1</m:t>
                        </m:r>
                      </m:num>
                      <m:den>
                        <m:r>
                          <a:rPr lang="en-US" sz="2200" i="1">
                            <a:latin typeface="Cambria Math"/>
                          </a:rPr>
                          <m:t>3</m:t>
                        </m:r>
                      </m:den>
                    </m:f>
                    <m:r>
                      <a:rPr lang="en-US" sz="2200" i="1">
                        <a:latin typeface="Cambria Math"/>
                        <a:ea typeface="Cambria Math"/>
                      </a:rPr>
                      <m:t>×</m:t>
                    </m:r>
                    <m:f>
                      <m:fPr>
                        <m:ctrlPr>
                          <a:rPr lang="en-US" sz="2200" i="1">
                            <a:latin typeface="Cambria Math" panose="02040503050406030204" pitchFamily="18" charset="0"/>
                          </a:rPr>
                        </m:ctrlPr>
                      </m:fPr>
                      <m:num>
                        <m:r>
                          <a:rPr lang="en-US" sz="2200" i="1">
                            <a:latin typeface="Cambria Math"/>
                          </a:rPr>
                          <m:t>2</m:t>
                        </m:r>
                      </m:num>
                      <m:den>
                        <m:r>
                          <a:rPr lang="en-US" sz="2200" i="1">
                            <a:latin typeface="Cambria Math"/>
                          </a:rPr>
                          <m:t>3</m:t>
                        </m:r>
                      </m:den>
                    </m:f>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b="0" i="1" smtClean="0">
                            <a:latin typeface="Cambria Math"/>
                            <a:ea typeface="Cambria Math"/>
                          </a:rPr>
                          <m:t>6</m:t>
                        </m:r>
                      </m:num>
                      <m:den>
                        <m:r>
                          <a:rPr lang="en-US" sz="2200" i="1">
                            <a:latin typeface="Cambria Math"/>
                            <a:ea typeface="Cambria Math"/>
                          </a:rPr>
                          <m:t>27</m:t>
                        </m:r>
                      </m:den>
                    </m:f>
                  </m:oMath>
                </a14:m>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l="-963" t="-943"/>
                </a:stretch>
              </a:blipFill>
            </p:spPr>
            <p:txBody>
              <a:bodyPr/>
              <a:lstStyle/>
              <a:p>
                <a:r>
                  <a:rPr lang="en-US">
                    <a:noFill/>
                  </a:rPr>
                  <a:t> </a:t>
                </a:r>
              </a:p>
            </p:txBody>
          </p:sp>
        </mc:Fallback>
      </mc:AlternateContent>
      <p:sp>
        <p:nvSpPr>
          <p:cNvPr id="10"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 </a:t>
            </a:r>
          </a:p>
          <a:p>
            <a:pPr algn="ctr">
              <a:spcBef>
                <a:spcPct val="0"/>
              </a:spcBef>
              <a:defRPr/>
            </a:pPr>
            <a:r>
              <a:rPr lang="en-US" sz="2400" b="1" dirty="0"/>
              <a:t>Example(CO3)</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1" i="0" u="none" strike="noStrike" kern="1200" cap="none" spc="0" normalizeH="0" baseline="0" noProof="0" dirty="0">
              <a:ln>
                <a:noFill/>
              </a:ln>
              <a:solidFill>
                <a:schemeClr val="dk1"/>
              </a:solidFill>
              <a:effectLst/>
              <a:uLnTx/>
              <a:uFillTx/>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433719650"/>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200" dirty="0"/>
                  <a:t>P(X=3)= P(all 3 successes) </a:t>
                </a:r>
                <a14:m>
                  <m:oMath xmlns:m="http://schemas.openxmlformats.org/officeDocument/2006/math">
                    <m:r>
                      <a:rPr lang="en-US" sz="2200">
                        <a:latin typeface="Cambria Math"/>
                      </a:rPr>
                      <m: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3</m:t>
                        </m:r>
                      </m:den>
                    </m:f>
                    <m:r>
                      <a:rPr lang="en-US" sz="2200" i="1">
                        <a:latin typeface="Cambria Math"/>
                        <a:ea typeface="Cambria Math"/>
                      </a:rPr>
                      <m:t>×</m:t>
                    </m:r>
                  </m:oMath>
                </a14:m>
                <a:r>
                  <a:rPr lang="en-US" sz="2200" dirty="0"/>
                  <a:t> </a:t>
                </a:r>
                <a14:m>
                  <m:oMath xmlns:m="http://schemas.openxmlformats.org/officeDocument/2006/math">
                    <m:f>
                      <m:fPr>
                        <m:ctrlPr>
                          <a:rPr lang="en-US" sz="2200" i="1">
                            <a:latin typeface="Cambria Math" panose="02040503050406030204" pitchFamily="18" charset="0"/>
                          </a:rPr>
                        </m:ctrlPr>
                      </m:fPr>
                      <m:num>
                        <m:r>
                          <a:rPr lang="en-US" sz="2200" b="0" i="1" smtClean="0">
                            <a:latin typeface="Cambria Math"/>
                          </a:rPr>
                          <m:t>1</m:t>
                        </m:r>
                      </m:num>
                      <m:den>
                        <m:r>
                          <a:rPr lang="en-US" sz="2200" i="1">
                            <a:latin typeface="Cambria Math"/>
                          </a:rPr>
                          <m:t>3</m:t>
                        </m:r>
                      </m:den>
                    </m:f>
                    <m:r>
                      <a:rPr lang="en-US" sz="2200" i="1">
                        <a:latin typeface="Cambria Math"/>
                        <a:ea typeface="Cambria Math"/>
                      </a:rPr>
                      <m:t>×</m:t>
                    </m:r>
                    <m:f>
                      <m:fPr>
                        <m:ctrlPr>
                          <a:rPr lang="en-US" sz="2200" i="1">
                            <a:latin typeface="Cambria Math" panose="02040503050406030204" pitchFamily="18" charset="0"/>
                          </a:rPr>
                        </m:ctrlPr>
                      </m:fPr>
                      <m:num>
                        <m:r>
                          <a:rPr lang="en-US" sz="2200" b="0" i="1" smtClean="0">
                            <a:latin typeface="Cambria Math"/>
                          </a:rPr>
                          <m:t>1</m:t>
                        </m:r>
                      </m:num>
                      <m:den>
                        <m:r>
                          <a:rPr lang="en-US" sz="2200" i="1">
                            <a:latin typeface="Cambria Math"/>
                          </a:rPr>
                          <m:t>3</m:t>
                        </m:r>
                      </m:den>
                    </m:f>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m:t>
                        </m:r>
                      </m:num>
                      <m:den>
                        <m:r>
                          <a:rPr lang="en-US" sz="2200" i="1">
                            <a:latin typeface="Cambria Math"/>
                            <a:ea typeface="Cambria Math"/>
                          </a:rPr>
                          <m:t>27</m:t>
                        </m:r>
                      </m:den>
                    </m:f>
                  </m:oMath>
                </a14:m>
                <a:endParaRPr lang="en-US" sz="2200" dirty="0">
                  <a:ea typeface="Cambria Math"/>
                </a:endParaRPr>
              </a:p>
              <a:p>
                <a:pPr marL="0" indent="0">
                  <a:buNone/>
                </a:pPr>
                <a:r>
                  <a:rPr lang="en-US" sz="2200" dirty="0"/>
                  <a:t>Therefore the probability distribution of the random variable X is </a:t>
                </a:r>
              </a:p>
              <a:p>
                <a:pPr marL="0" indent="0">
                  <a:buNone/>
                </a:pPr>
                <a:endParaRPr lang="en-US" sz="2200" dirty="0"/>
              </a:p>
              <a:p>
                <a:pPr marL="0" indent="0">
                  <a:buNone/>
                </a:pPr>
                <a:endParaRPr lang="en-US" sz="2200" dirty="0"/>
              </a:p>
              <a:p>
                <a:pPr marL="0" indent="0">
                  <a:buNone/>
                </a:pPr>
                <a:endParaRPr lang="en-US" sz="2200" dirty="0"/>
              </a:p>
              <a:p>
                <a:pPr marL="0" indent="0">
                  <a:buNone/>
                </a:pPr>
                <a:r>
                  <a:rPr lang="en-US" sz="2200" dirty="0"/>
                  <a:t> To find the  mean and Variance</a:t>
                </a:r>
              </a:p>
              <a:p>
                <a:pPr marL="0" indent="0">
                  <a:buNone/>
                </a:pPr>
                <a:r>
                  <a:rPr lang="en-US" sz="2200" dirty="0">
                    <a:ea typeface="Cambria Math"/>
                  </a:rPr>
                  <a:t>Mean </a:t>
                </a:r>
                <a14:m>
                  <m:oMath xmlns:m="http://schemas.openxmlformats.org/officeDocument/2006/math">
                    <m:r>
                      <a:rPr lang="en-US" sz="2200" i="1" smtClean="0">
                        <a:latin typeface="Cambria Math"/>
                        <a:ea typeface="Cambria Math"/>
                      </a:rPr>
                      <m:t>𝜇</m:t>
                    </m:r>
                    <m:r>
                      <a:rPr lang="en-US" sz="2200" i="1" smtClean="0">
                        <a:latin typeface="Cambria Math"/>
                        <a:ea typeface="Cambria Math"/>
                      </a:rPr>
                      <m:t>=</m:t>
                    </m:r>
                    <m:nary>
                      <m:naryPr>
                        <m:chr m:val="∑"/>
                        <m:subHide m:val="on"/>
                        <m:supHide m:val="on"/>
                        <m:ctrlPr>
                          <a:rPr lang="en-US" sz="2200" i="1" smtClean="0">
                            <a:latin typeface="Cambria Math" panose="02040503050406030204" pitchFamily="18" charset="0"/>
                            <a:ea typeface="Cambria Math"/>
                          </a:rPr>
                        </m:ctrlPr>
                      </m:naryPr>
                      <m:sub/>
                      <m:sup/>
                      <m:e>
                        <m:sSub>
                          <m:sSubPr>
                            <m:ctrlPr>
                              <a:rPr lang="en-US" sz="2200" i="1" smtClean="0">
                                <a:latin typeface="Cambria Math" panose="02040503050406030204" pitchFamily="18" charset="0"/>
                                <a:ea typeface="Cambria Math"/>
                              </a:rPr>
                            </m:ctrlPr>
                          </m:sSubPr>
                          <m:e>
                            <m:r>
                              <a:rPr lang="en-US" sz="2200" b="0" i="1" smtClean="0">
                                <a:latin typeface="Cambria Math"/>
                                <a:ea typeface="Cambria Math"/>
                              </a:rPr>
                              <m:t>𝑝</m:t>
                            </m:r>
                          </m:e>
                          <m:sub>
                            <m:r>
                              <a:rPr lang="en-US" sz="2200" b="0" i="1" smtClean="0">
                                <a:latin typeface="Cambria Math"/>
                                <a:ea typeface="Cambria Math"/>
                              </a:rPr>
                              <m:t>𝑖</m:t>
                            </m:r>
                          </m:sub>
                        </m:sSub>
                        <m:sSub>
                          <m:sSubPr>
                            <m:ctrlPr>
                              <a:rPr lang="en-US" sz="2200" i="1" smtClean="0">
                                <a:latin typeface="Cambria Math" panose="02040503050406030204" pitchFamily="18" charset="0"/>
                                <a:ea typeface="Cambria Math"/>
                              </a:rPr>
                            </m:ctrlPr>
                          </m:sSubPr>
                          <m:e>
                            <m:r>
                              <a:rPr lang="en-US" sz="2200" b="0" i="1" smtClean="0">
                                <a:latin typeface="Cambria Math"/>
                                <a:ea typeface="Cambria Math"/>
                              </a:rPr>
                              <m:t>𝑥</m:t>
                            </m:r>
                          </m:e>
                          <m:sub>
                            <m:r>
                              <a:rPr lang="en-US" sz="2200" b="0" i="1" smtClean="0">
                                <a:latin typeface="Cambria Math"/>
                                <a:ea typeface="Cambria Math"/>
                              </a:rPr>
                              <m:t>𝑖</m:t>
                            </m:r>
                          </m:sub>
                        </m:sSub>
                        <m:r>
                          <a:rPr lang="en-US" sz="2200" b="0" i="1" smtClean="0">
                            <a:latin typeface="Cambria Math"/>
                            <a:ea typeface="Cambria Math"/>
                          </a:rPr>
                          <m:t>=</m:t>
                        </m:r>
                      </m:e>
                    </m:nary>
                  </m:oMath>
                </a14:m>
                <a:r>
                  <a:rPr lang="en-US" sz="2200" dirty="0"/>
                  <a:t> </a:t>
                </a:r>
                <a14:m>
                  <m:oMath xmlns:m="http://schemas.openxmlformats.org/officeDocument/2006/math">
                    <m:sSub>
                      <m:sSubPr>
                        <m:ctrlPr>
                          <a:rPr lang="en-US" sz="2200" i="1" dirty="0" smtClean="0">
                            <a:latin typeface="Cambria Math" panose="02040503050406030204" pitchFamily="18" charset="0"/>
                          </a:rPr>
                        </m:ctrlPr>
                      </m:sSubPr>
                      <m:e>
                        <m:sSub>
                          <m:sSubPr>
                            <m:ctrlPr>
                              <a:rPr lang="en-US" sz="2200" i="1" dirty="0">
                                <a:latin typeface="Cambria Math" panose="02040503050406030204" pitchFamily="18" charset="0"/>
                              </a:rPr>
                            </m:ctrlPr>
                          </m:sSubPr>
                          <m:e>
                            <m:r>
                              <a:rPr lang="en-US" sz="2200" i="1" dirty="0">
                                <a:latin typeface="Cambria Math"/>
                              </a:rPr>
                              <m:t>𝑥</m:t>
                            </m:r>
                          </m:e>
                          <m:sub>
                            <m:r>
                              <a:rPr lang="en-US" sz="2200" b="0" i="1" dirty="0" smtClean="0">
                                <a:latin typeface="Cambria Math"/>
                              </a:rPr>
                              <m:t>0</m:t>
                            </m:r>
                          </m:sub>
                        </m:sSub>
                        <m:sSub>
                          <m:sSubPr>
                            <m:ctrlPr>
                              <a:rPr lang="en-US" sz="2200" i="1" dirty="0">
                                <a:latin typeface="Cambria Math" panose="02040503050406030204" pitchFamily="18" charset="0"/>
                              </a:rPr>
                            </m:ctrlPr>
                          </m:sSubPr>
                          <m:e>
                            <m:r>
                              <a:rPr lang="en-US" sz="2200" i="1" dirty="0">
                                <a:latin typeface="Cambria Math"/>
                              </a:rPr>
                              <m:t>𝑝</m:t>
                            </m:r>
                          </m:e>
                          <m:sub>
                            <m:r>
                              <a:rPr lang="en-US" sz="2200" b="0" i="1" dirty="0" smtClean="0">
                                <a:latin typeface="Cambria Math"/>
                              </a:rPr>
                              <m:t>0</m:t>
                            </m:r>
                          </m:sub>
                        </m:sSub>
                        <m:r>
                          <a:rPr lang="en-US" sz="2200" b="0" i="1" dirty="0" smtClean="0">
                            <a:latin typeface="Cambria Math"/>
                          </a:rPr>
                          <m:t>+</m:t>
                        </m:r>
                        <m:r>
                          <a:rPr lang="en-US" sz="2200" b="0" i="1" dirty="0" smtClean="0">
                            <a:latin typeface="Cambria Math"/>
                          </a:rPr>
                          <m:t>𝑥</m:t>
                        </m:r>
                      </m:e>
                      <m:sub>
                        <m:r>
                          <a:rPr lang="en-US" sz="2200" b="0" i="1" dirty="0" smtClean="0">
                            <a:latin typeface="Cambria Math"/>
                          </a:rPr>
                          <m:t>1</m:t>
                        </m:r>
                      </m:sub>
                    </m:sSub>
                    <m:sSub>
                      <m:sSubPr>
                        <m:ctrlPr>
                          <a:rPr lang="en-US" sz="2200" i="1" dirty="0" smtClean="0">
                            <a:latin typeface="Cambria Math" panose="02040503050406030204" pitchFamily="18" charset="0"/>
                          </a:rPr>
                        </m:ctrlPr>
                      </m:sSubPr>
                      <m:e>
                        <m:r>
                          <a:rPr lang="en-US" sz="2200" b="0" i="1" dirty="0" smtClean="0">
                            <a:latin typeface="Cambria Math"/>
                          </a:rPr>
                          <m:t>𝑝</m:t>
                        </m:r>
                      </m:e>
                      <m:sub>
                        <m:r>
                          <a:rPr lang="en-US" sz="2200" b="0" i="1" dirty="0" smtClean="0">
                            <a:latin typeface="Cambria Math"/>
                          </a:rPr>
                          <m:t>1</m:t>
                        </m:r>
                      </m:sub>
                    </m:sSub>
                    <m:r>
                      <a:rPr lang="en-US" sz="2200" i="1" dirty="0" smtClean="0">
                        <a:latin typeface="Cambria Math"/>
                        <a:ea typeface="Cambria Math"/>
                      </a:rPr>
                      <m:t>+</m:t>
                    </m:r>
                    <m:sSub>
                      <m:sSubPr>
                        <m:ctrlPr>
                          <a:rPr lang="en-US" sz="2200" i="1" dirty="0">
                            <a:latin typeface="Cambria Math" panose="02040503050406030204" pitchFamily="18" charset="0"/>
                          </a:rPr>
                        </m:ctrlPr>
                      </m:sSubPr>
                      <m:e>
                        <m:r>
                          <a:rPr lang="en-US" sz="2200" i="1" dirty="0">
                            <a:latin typeface="Cambria Math"/>
                          </a:rPr>
                          <m:t>𝑥</m:t>
                        </m:r>
                      </m:e>
                      <m:sub>
                        <m:r>
                          <a:rPr lang="en-US" sz="2200" b="0" i="1" dirty="0" smtClean="0">
                            <a:latin typeface="Cambria Math"/>
                          </a:rPr>
                          <m:t>2</m:t>
                        </m:r>
                      </m:sub>
                    </m:sSub>
                    <m:sSub>
                      <m:sSubPr>
                        <m:ctrlPr>
                          <a:rPr lang="en-US" sz="2200" i="1" dirty="0">
                            <a:latin typeface="Cambria Math" panose="02040503050406030204" pitchFamily="18" charset="0"/>
                          </a:rPr>
                        </m:ctrlPr>
                      </m:sSubPr>
                      <m:e>
                        <m:r>
                          <a:rPr lang="en-US" sz="2200" i="1" dirty="0">
                            <a:latin typeface="Cambria Math"/>
                          </a:rPr>
                          <m:t>𝑝</m:t>
                        </m:r>
                      </m:e>
                      <m:sub>
                        <m:r>
                          <a:rPr lang="en-US" sz="2200" b="0" i="1" dirty="0" smtClean="0">
                            <a:latin typeface="Cambria Math"/>
                          </a:rPr>
                          <m:t>2</m:t>
                        </m:r>
                      </m:sub>
                    </m:sSub>
                    <m:r>
                      <a:rPr lang="en-US" sz="2200" b="0" i="1" dirty="0" smtClean="0">
                        <a:latin typeface="Cambria Math"/>
                      </a:rPr>
                      <m:t>+</m:t>
                    </m:r>
                    <m:sSub>
                      <m:sSubPr>
                        <m:ctrlPr>
                          <a:rPr lang="en-US" sz="2200" i="1" dirty="0">
                            <a:latin typeface="Cambria Math" panose="02040503050406030204" pitchFamily="18" charset="0"/>
                          </a:rPr>
                        </m:ctrlPr>
                      </m:sSubPr>
                      <m:e>
                        <m:r>
                          <a:rPr lang="en-US" sz="2200" i="1" dirty="0">
                            <a:latin typeface="Cambria Math"/>
                          </a:rPr>
                          <m:t>𝑥</m:t>
                        </m:r>
                      </m:e>
                      <m:sub>
                        <m:r>
                          <a:rPr lang="en-US" sz="2200" b="0" i="1" dirty="0" smtClean="0">
                            <a:latin typeface="Cambria Math"/>
                          </a:rPr>
                          <m:t>3</m:t>
                        </m:r>
                      </m:sub>
                    </m:sSub>
                    <m:sSub>
                      <m:sSubPr>
                        <m:ctrlPr>
                          <a:rPr lang="en-US" sz="2200" i="1" dirty="0">
                            <a:latin typeface="Cambria Math" panose="02040503050406030204" pitchFamily="18" charset="0"/>
                          </a:rPr>
                        </m:ctrlPr>
                      </m:sSubPr>
                      <m:e>
                        <m:r>
                          <a:rPr lang="en-US" sz="2200" i="1" dirty="0">
                            <a:latin typeface="Cambria Math"/>
                          </a:rPr>
                          <m:t>𝑝</m:t>
                        </m:r>
                      </m:e>
                      <m:sub>
                        <m:r>
                          <a:rPr lang="en-US" sz="2200" b="0" i="1" dirty="0" smtClean="0">
                            <a:latin typeface="Cambria Math"/>
                          </a:rPr>
                          <m:t>3</m:t>
                        </m:r>
                      </m:sub>
                    </m:sSub>
                  </m:oMath>
                </a14:m>
                <a:endParaRPr lang="en-US" sz="2200" dirty="0"/>
              </a:p>
              <a:p>
                <a:pPr marL="0" indent="0">
                  <a:buNone/>
                </a:pPr>
                <a14:m>
                  <m:oMathPara xmlns:m="http://schemas.openxmlformats.org/officeDocument/2006/math">
                    <m:oMathParaPr>
                      <m:jc m:val="centerGroup"/>
                    </m:oMathParaPr>
                    <m:oMath xmlns:m="http://schemas.openxmlformats.org/officeDocument/2006/math">
                      <m:r>
                        <a:rPr lang="en-US" sz="2200" i="1">
                          <a:latin typeface="Cambria Math"/>
                          <a:ea typeface="Cambria Math"/>
                        </a:rPr>
                        <m:t>=</m:t>
                      </m:r>
                      <m:r>
                        <a:rPr lang="en-US" sz="2200" b="0" i="1" smtClean="0">
                          <a:latin typeface="Cambria Math"/>
                          <a:ea typeface="Cambria Math"/>
                        </a:rPr>
                        <m:t>0×</m:t>
                      </m:r>
                      <m:f>
                        <m:fPr>
                          <m:ctrlPr>
                            <a:rPr lang="en-US" sz="2200" i="1">
                              <a:latin typeface="Cambria Math" panose="02040503050406030204" pitchFamily="18" charset="0"/>
                              <a:ea typeface="Cambria Math"/>
                            </a:rPr>
                          </m:ctrlPr>
                        </m:fPr>
                        <m:num>
                          <m:r>
                            <a:rPr lang="en-US" sz="2200" i="1">
                              <a:latin typeface="Cambria Math"/>
                              <a:ea typeface="Cambria Math"/>
                            </a:rPr>
                            <m:t>8</m:t>
                          </m:r>
                        </m:num>
                        <m:den>
                          <m:r>
                            <a:rPr lang="en-US" sz="2200" i="1">
                              <a:latin typeface="Cambria Math"/>
                              <a:ea typeface="Cambria Math"/>
                            </a:rPr>
                            <m:t>27</m:t>
                          </m:r>
                        </m:den>
                      </m:f>
                      <m:r>
                        <a:rPr lang="en-US" sz="2200" b="0" i="0" smtClean="0">
                          <a:latin typeface="Cambria Math"/>
                          <a:ea typeface="Cambria Math"/>
                        </a:rPr>
                        <m:t>+1</m:t>
                      </m:r>
                      <m:r>
                        <a:rPr lang="en-US" sz="2200" b="0" i="1" smtClean="0">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12</m:t>
                          </m:r>
                        </m:num>
                        <m:den>
                          <m:r>
                            <a:rPr lang="en-US" sz="2200" i="1">
                              <a:latin typeface="Cambria Math"/>
                              <a:ea typeface="Cambria Math"/>
                            </a:rPr>
                            <m:t>27</m:t>
                          </m:r>
                        </m:den>
                      </m:f>
                      <m:r>
                        <a:rPr lang="en-US" sz="2200" b="0" i="1" smtClean="0">
                          <a:latin typeface="Cambria Math"/>
                          <a:ea typeface="Cambria Math"/>
                        </a:rPr>
                        <m:t>+2×</m:t>
                      </m:r>
                      <m:f>
                        <m:fPr>
                          <m:ctrlPr>
                            <a:rPr lang="en-US" sz="2200" i="1">
                              <a:latin typeface="Cambria Math" panose="02040503050406030204" pitchFamily="18" charset="0"/>
                              <a:ea typeface="Cambria Math"/>
                            </a:rPr>
                          </m:ctrlPr>
                        </m:fPr>
                        <m:num>
                          <m:r>
                            <a:rPr lang="en-US" sz="2200" i="1">
                              <a:latin typeface="Cambria Math"/>
                              <a:ea typeface="Cambria Math"/>
                            </a:rPr>
                            <m:t>6</m:t>
                          </m:r>
                        </m:num>
                        <m:den>
                          <m:r>
                            <a:rPr lang="en-US" sz="2200" i="1">
                              <a:latin typeface="Cambria Math"/>
                              <a:ea typeface="Cambria Math"/>
                            </a:rPr>
                            <m:t>27</m:t>
                          </m:r>
                        </m:den>
                      </m:f>
                      <m:r>
                        <a:rPr lang="en-US" sz="2200" b="0" i="0" smtClean="0">
                          <a:latin typeface="Cambria Math"/>
                          <a:ea typeface="Cambria Math"/>
                        </a:rPr>
                        <m:t>+3</m:t>
                      </m:r>
                      <m:r>
                        <a:rPr lang="en-US" sz="2200" b="0" i="1" smtClean="0">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m:t>
                          </m:r>
                        </m:num>
                        <m:den>
                          <m:r>
                            <a:rPr lang="en-US" sz="2200" i="1">
                              <a:latin typeface="Cambria Math"/>
                              <a:ea typeface="Cambria Math"/>
                            </a:rPr>
                            <m:t>27</m:t>
                          </m:r>
                        </m:den>
                      </m:f>
                      <m:r>
                        <a:rPr lang="en-US" sz="2200" b="0" i="1" smtClean="0">
                          <a:latin typeface="Cambria Math"/>
                          <a:ea typeface="Cambria Math"/>
                        </a:rPr>
                        <m:t>=1</m:t>
                      </m:r>
                    </m:oMath>
                  </m:oMathPara>
                </a14:m>
                <a:endParaRPr lang="en-US" sz="2200" dirty="0"/>
              </a:p>
              <a:p>
                <a:pPr marL="0" indent="0">
                  <a:buNone/>
                </a:pPr>
                <a:r>
                  <a:rPr lang="en-US" sz="2200" dirty="0"/>
                  <a:t>Variance =</a:t>
                </a:r>
                <a14:m>
                  <m:oMath xmlns:m="http://schemas.openxmlformats.org/officeDocument/2006/math">
                    <m:nary>
                      <m:naryPr>
                        <m:chr m:val="∑"/>
                        <m:subHide m:val="on"/>
                        <m:supHide m:val="on"/>
                        <m:ctrlPr>
                          <a:rPr lang="en-US" sz="2200" i="1" smtClean="0">
                            <a:latin typeface="Cambria Math" panose="02040503050406030204" pitchFamily="18" charset="0"/>
                          </a:rPr>
                        </m:ctrlPr>
                      </m:naryPr>
                      <m:sub/>
                      <m:sup/>
                      <m:e>
                        <m:sSub>
                          <m:sSubPr>
                            <m:ctrlPr>
                              <a:rPr lang="en-US" sz="2200" i="1" smtClean="0">
                                <a:latin typeface="Cambria Math" panose="02040503050406030204" pitchFamily="18" charset="0"/>
                              </a:rPr>
                            </m:ctrlPr>
                          </m:sSubPr>
                          <m:e>
                            <m:r>
                              <a:rPr lang="en-US" sz="2200" b="0" i="1" smtClean="0">
                                <a:latin typeface="Cambria Math"/>
                              </a:rPr>
                              <m:t>𝑝</m:t>
                            </m:r>
                          </m:e>
                          <m:sub>
                            <m:r>
                              <a:rPr lang="en-US" sz="2200" b="0" i="1" smtClean="0">
                                <a:latin typeface="Cambria Math"/>
                              </a:rPr>
                              <m:t>𝑖</m:t>
                            </m:r>
                          </m:sub>
                        </m:sSub>
                        <m:sSubSup>
                          <m:sSubSupPr>
                            <m:ctrlPr>
                              <a:rPr lang="en-US" sz="2200" i="1" smtClean="0">
                                <a:latin typeface="Cambria Math" panose="02040503050406030204" pitchFamily="18" charset="0"/>
                              </a:rPr>
                            </m:ctrlPr>
                          </m:sSubSupPr>
                          <m:e>
                            <m:sSub>
                              <m:sSubPr>
                                <m:ctrlPr>
                                  <a:rPr lang="en-US" sz="2200" i="1" smtClean="0">
                                    <a:latin typeface="Cambria Math" panose="02040503050406030204" pitchFamily="18" charset="0"/>
                                  </a:rPr>
                                </m:ctrlPr>
                              </m:sSubPr>
                              <m:e>
                                <m:r>
                                  <a:rPr lang="en-US" sz="2200" b="0" i="1" smtClean="0">
                                    <a:latin typeface="Cambria Math"/>
                                  </a:rPr>
                                  <m:t>𝑥</m:t>
                                </m:r>
                              </m:e>
                              <m:sub>
                                <m:r>
                                  <a:rPr lang="en-US" sz="2200" b="0" i="1" smtClean="0">
                                    <a:latin typeface="Cambria Math"/>
                                  </a:rPr>
                                  <m:t>𝑖</m:t>
                                </m:r>
                              </m:sub>
                            </m:sSub>
                          </m:e>
                          <m:sub/>
                          <m:sup>
                            <m:r>
                              <a:rPr lang="en-US" sz="2200" b="0" i="1" smtClean="0">
                                <a:latin typeface="Cambria Math"/>
                              </a:rPr>
                              <m:t>2</m:t>
                            </m:r>
                          </m:sup>
                        </m:sSubSup>
                        <m:r>
                          <a:rPr lang="en-US" sz="2200" b="0" i="1" smtClean="0">
                            <a:latin typeface="Cambria Math"/>
                          </a:rPr>
                          <m:t>−</m:t>
                        </m:r>
                        <m:sSup>
                          <m:sSupPr>
                            <m:ctrlPr>
                              <a:rPr lang="en-US" sz="2200" b="0" i="1" smtClean="0">
                                <a:latin typeface="Cambria Math" panose="02040503050406030204" pitchFamily="18" charset="0"/>
                              </a:rPr>
                            </m:ctrlPr>
                          </m:sSupPr>
                          <m:e>
                            <m:r>
                              <a:rPr lang="en-US" sz="2200" b="0" i="1" smtClean="0">
                                <a:latin typeface="Cambria Math"/>
                                <a:ea typeface="Cambria Math"/>
                              </a:rPr>
                              <m:t>𝜇</m:t>
                            </m:r>
                          </m:e>
                          <m:sup>
                            <m:r>
                              <a:rPr lang="en-US" sz="2200" b="0" i="1" smtClean="0">
                                <a:latin typeface="Cambria Math"/>
                              </a:rPr>
                              <m:t>2</m:t>
                            </m:r>
                          </m:sup>
                        </m:sSup>
                        <m:r>
                          <a:rPr lang="en-US" sz="2200" b="0" i="1" smtClean="0">
                            <a:latin typeface="Cambria Math"/>
                          </a:rPr>
                          <m:t>=</m:t>
                        </m:r>
                        <m:f>
                          <m:fPr>
                            <m:ctrlPr>
                              <a:rPr lang="en-US" sz="2200" i="1">
                                <a:latin typeface="Cambria Math" panose="02040503050406030204" pitchFamily="18" charset="0"/>
                                <a:ea typeface="Cambria Math"/>
                              </a:rPr>
                            </m:ctrlPr>
                          </m:fPr>
                          <m:num>
                            <m:r>
                              <a:rPr lang="en-US" sz="2200" b="0" i="1" smtClean="0">
                                <a:latin typeface="Cambria Math"/>
                                <a:ea typeface="Cambria Math"/>
                              </a:rPr>
                              <m:t>5</m:t>
                            </m:r>
                          </m:num>
                          <m:den>
                            <m:r>
                              <a:rPr lang="en-US" sz="2200" b="0" i="1" smtClean="0">
                                <a:latin typeface="Cambria Math"/>
                                <a:ea typeface="Cambria Math"/>
                              </a:rPr>
                              <m:t>3</m:t>
                            </m:r>
                          </m:den>
                        </m:f>
                        <m:r>
                          <m:rPr>
                            <m:nor/>
                          </m:rPr>
                          <a:rPr lang="en-US" sz="2200" dirty="0"/>
                          <m:t> </m:t>
                        </m:r>
                        <m:r>
                          <a:rPr lang="en-US" sz="2200" b="0" i="1" dirty="0" smtClean="0">
                            <a:latin typeface="Cambria Math"/>
                          </a:rPr>
                          <m:t>−1=</m:t>
                        </m:r>
                        <m:f>
                          <m:fPr>
                            <m:ctrlPr>
                              <a:rPr lang="en-US" sz="2200" i="1">
                                <a:latin typeface="Cambria Math" panose="02040503050406030204" pitchFamily="18" charset="0"/>
                                <a:ea typeface="Cambria Math"/>
                              </a:rPr>
                            </m:ctrlPr>
                          </m:fPr>
                          <m:num>
                            <m:r>
                              <a:rPr lang="en-US" sz="2200" b="0" i="1" smtClean="0">
                                <a:latin typeface="Cambria Math"/>
                                <a:ea typeface="Cambria Math"/>
                              </a:rPr>
                              <m:t>2</m:t>
                            </m:r>
                          </m:num>
                          <m:den>
                            <m:r>
                              <a:rPr lang="en-US" sz="2200" b="0" i="1" smtClean="0">
                                <a:latin typeface="Cambria Math"/>
                                <a:ea typeface="Cambria Math"/>
                              </a:rPr>
                              <m:t>3</m:t>
                            </m:r>
                          </m:den>
                        </m:f>
                        <m:r>
                          <m:rPr>
                            <m:nor/>
                          </m:rPr>
                          <a:rPr lang="en-US" sz="2200" dirty="0"/>
                          <m:t> </m:t>
                        </m:r>
                      </m:e>
                    </m:nary>
                  </m:oMath>
                </a14:m>
                <a:endParaRPr lang="en-US" sz="2200" dirty="0"/>
              </a:p>
              <a:p>
                <a:pPr mar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l="-96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2" name="Table 1"/>
              <p:cNvGraphicFramePr>
                <a:graphicFrameLocks noGrp="1"/>
              </p:cNvGraphicFramePr>
              <p:nvPr/>
            </p:nvGraphicFramePr>
            <p:xfrm>
              <a:off x="723900" y="2209800"/>
              <a:ext cx="6096000" cy="976694"/>
            </p:xfrm>
            <a:graphic>
              <a:graphicData uri="http://schemas.openxmlformats.org/drawingml/2006/table">
                <a:tbl>
                  <a:tblPr firstRow="1" bandRow="1">
                    <a:tableStyleId>{5C22544A-7EE6-4342-B048-85BDC9FD1C3A}</a:tableStyleId>
                  </a:tblPr>
                  <a:tblGrid>
                    <a:gridCol w="1219200">
                      <a:extLst>
                        <a:ext uri="{9D8B030D-6E8A-4147-A177-3AD203B41FA5}">
                          <a16:colId xmlns:a16="http://schemas.microsoft.com/office/drawing/2014/main" val="20000"/>
                        </a:ext>
                      </a:extLst>
                    </a:gridCol>
                    <a:gridCol w="1219200">
                      <a:extLst>
                        <a:ext uri="{9D8B030D-6E8A-4147-A177-3AD203B41FA5}">
                          <a16:colId xmlns:a16="http://schemas.microsoft.com/office/drawing/2014/main" val="20001"/>
                        </a:ext>
                      </a:extLst>
                    </a:gridCol>
                    <a:gridCol w="1219200">
                      <a:extLst>
                        <a:ext uri="{9D8B030D-6E8A-4147-A177-3AD203B41FA5}">
                          <a16:colId xmlns:a16="http://schemas.microsoft.com/office/drawing/2014/main" val="20002"/>
                        </a:ext>
                      </a:extLst>
                    </a:gridCol>
                    <a:gridCol w="1219200">
                      <a:extLst>
                        <a:ext uri="{9D8B030D-6E8A-4147-A177-3AD203B41FA5}">
                          <a16:colId xmlns:a16="http://schemas.microsoft.com/office/drawing/2014/main" val="20003"/>
                        </a:ext>
                      </a:extLst>
                    </a:gridCol>
                    <a:gridCol w="1219200">
                      <a:extLst>
                        <a:ext uri="{9D8B030D-6E8A-4147-A177-3AD203B41FA5}">
                          <a16:colId xmlns:a16="http://schemas.microsoft.com/office/drawing/2014/main" val="20004"/>
                        </a:ext>
                      </a:extLst>
                    </a:gridCol>
                  </a:tblGrid>
                  <a:tr h="370840">
                    <a:tc>
                      <a:txBody>
                        <a:bodyPr/>
                        <a:lstStyle/>
                        <a:p>
                          <a:pPr algn="ctr"/>
                          <a:r>
                            <a:rPr lang="en-US" dirty="0"/>
                            <a:t>X</a:t>
                          </a:r>
                        </a:p>
                      </a:txBody>
                      <a:tcPr/>
                    </a:tc>
                    <a:tc>
                      <a:txBody>
                        <a:bodyPr/>
                        <a:lstStyle/>
                        <a:p>
                          <a:pPr algn="ctr"/>
                          <a:r>
                            <a:rPr lang="en-US" dirty="0"/>
                            <a:t>0</a:t>
                          </a:r>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extLst>
                      <a:ext uri="{0D108BD9-81ED-4DB2-BD59-A6C34878D82A}">
                        <a16:rowId xmlns:a16="http://schemas.microsoft.com/office/drawing/2014/main" val="10000"/>
                      </a:ext>
                    </a:extLst>
                  </a:tr>
                  <a:tr h="370840">
                    <a:tc>
                      <a:txBody>
                        <a:bodyPr/>
                        <a:lstStyle/>
                        <a:p>
                          <a:pPr algn="ctr"/>
                          <a:r>
                            <a:rPr lang="en-US" dirty="0"/>
                            <a:t>P(X)</a:t>
                          </a:r>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ea typeface="Cambria Math"/>
                                      </a:rPr>
                                    </m:ctrlPr>
                                  </m:fPr>
                                  <m:num>
                                    <m:r>
                                      <a:rPr lang="en-US" sz="1800" b="0" i="1" smtClean="0">
                                        <a:latin typeface="Cambria Math"/>
                                        <a:ea typeface="Cambria Math"/>
                                      </a:rPr>
                                      <m:t>8</m:t>
                                    </m:r>
                                  </m:num>
                                  <m:den>
                                    <m:r>
                                      <a:rPr lang="en-US" sz="1800" b="0" i="1" smtClean="0">
                                        <a:latin typeface="Cambria Math"/>
                                        <a:ea typeface="Cambria Math"/>
                                      </a:rPr>
                                      <m:t>27</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ea typeface="Cambria Math"/>
                                      </a:rPr>
                                    </m:ctrlPr>
                                  </m:fPr>
                                  <m:num>
                                    <m:r>
                                      <a:rPr lang="en-US" sz="1800" b="0" i="1" smtClean="0">
                                        <a:latin typeface="Cambria Math"/>
                                        <a:ea typeface="Cambria Math"/>
                                      </a:rPr>
                                      <m:t>12</m:t>
                                    </m:r>
                                  </m:num>
                                  <m:den>
                                    <m:r>
                                      <a:rPr lang="en-US" sz="1800" b="0" i="1" smtClean="0">
                                        <a:latin typeface="Cambria Math"/>
                                        <a:ea typeface="Cambria Math"/>
                                      </a:rPr>
                                      <m:t>27</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ea typeface="Cambria Math"/>
                                      </a:rPr>
                                    </m:ctrlPr>
                                  </m:fPr>
                                  <m:num>
                                    <m:r>
                                      <a:rPr lang="en-US" sz="1800" b="0" i="1" smtClean="0">
                                        <a:latin typeface="Cambria Math"/>
                                        <a:ea typeface="Cambria Math"/>
                                      </a:rPr>
                                      <m:t>6</m:t>
                                    </m:r>
                                  </m:num>
                                  <m:den>
                                    <m:r>
                                      <a:rPr lang="en-US" sz="1800" i="1">
                                        <a:latin typeface="Cambria Math"/>
                                        <a:ea typeface="Cambria Math"/>
                                      </a:rPr>
                                      <m:t>27</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ctrlPr>
                                      <a:rPr lang="en-US" sz="1800" i="1" smtClean="0">
                                        <a:latin typeface="Cambria Math" panose="02040503050406030204" pitchFamily="18" charset="0"/>
                                        <a:ea typeface="Cambria Math"/>
                                      </a:rPr>
                                    </m:ctrlPr>
                                  </m:fPr>
                                  <m:num>
                                    <m:r>
                                      <a:rPr lang="en-US" sz="1800" i="1">
                                        <a:latin typeface="Cambria Math"/>
                                        <a:ea typeface="Cambria Math"/>
                                      </a:rPr>
                                      <m:t>1</m:t>
                                    </m:r>
                                  </m:num>
                                  <m:den>
                                    <m:r>
                                      <a:rPr lang="en-US" sz="1800" i="1">
                                        <a:latin typeface="Cambria Math"/>
                                        <a:ea typeface="Cambria Math"/>
                                      </a:rPr>
                                      <m:t>27</m:t>
                                    </m:r>
                                  </m:den>
                                </m:f>
                              </m:oMath>
                            </m:oMathPara>
                          </a14:m>
                          <a:endParaRPr lang="en-US" dirty="0"/>
                        </a:p>
                      </a:txBody>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nvPr>
            </p:nvGraphicFramePr>
            <p:xfrm>
              <a:off x="723900" y="2209800"/>
              <a:ext cx="6096000" cy="976694"/>
            </p:xfrm>
            <a:graphic>
              <a:graphicData uri="http://schemas.openxmlformats.org/drawingml/2006/table">
                <a:tbl>
                  <a:tblPr firstRow="1" bandRow="1">
                    <a:tableStyleId>{5C22544A-7EE6-4342-B048-85BDC9FD1C3A}</a:tableStyleId>
                  </a:tblPr>
                  <a:tblGrid>
                    <a:gridCol w="1219200"/>
                    <a:gridCol w="1219200"/>
                    <a:gridCol w="1219200"/>
                    <a:gridCol w="1219200"/>
                    <a:gridCol w="1219200"/>
                  </a:tblGrid>
                  <a:tr h="370840">
                    <a:tc>
                      <a:txBody>
                        <a:bodyPr/>
                        <a:lstStyle/>
                        <a:p>
                          <a:pPr algn="ctr"/>
                          <a:r>
                            <a:rPr lang="en-US" dirty="0" smtClean="0"/>
                            <a:t>X</a:t>
                          </a:r>
                          <a:endParaRPr lang="en-US" dirty="0"/>
                        </a:p>
                      </a:txBody>
                      <a:tcPr/>
                    </a:tc>
                    <a:tc>
                      <a:txBody>
                        <a:bodyPr/>
                        <a:lstStyle/>
                        <a:p>
                          <a:pPr algn="ctr"/>
                          <a:r>
                            <a:rPr lang="en-US" dirty="0" smtClean="0"/>
                            <a:t>0</a:t>
                          </a:r>
                          <a:endParaRPr lang="en-US" dirty="0"/>
                        </a:p>
                      </a:txBody>
                      <a:tcPr/>
                    </a:tc>
                    <a:tc>
                      <a:txBody>
                        <a:bodyPr/>
                        <a:lstStyle/>
                        <a:p>
                          <a:pPr algn="ctr"/>
                          <a:r>
                            <a:rPr lang="en-US" dirty="0" smtClean="0"/>
                            <a:t>1</a:t>
                          </a:r>
                          <a:endParaRPr lang="en-US" dirty="0"/>
                        </a:p>
                      </a:txBody>
                      <a:tcPr/>
                    </a:tc>
                    <a:tc>
                      <a:txBody>
                        <a:bodyPr/>
                        <a:lstStyle/>
                        <a:p>
                          <a:pPr algn="ctr"/>
                          <a:r>
                            <a:rPr lang="en-US" dirty="0" smtClean="0"/>
                            <a:t>2</a:t>
                          </a:r>
                          <a:endParaRPr lang="en-US" dirty="0"/>
                        </a:p>
                      </a:txBody>
                      <a:tcPr/>
                    </a:tc>
                    <a:tc>
                      <a:txBody>
                        <a:bodyPr/>
                        <a:lstStyle/>
                        <a:p>
                          <a:pPr algn="ctr"/>
                          <a:r>
                            <a:rPr lang="en-US" dirty="0" smtClean="0"/>
                            <a:t>3</a:t>
                          </a:r>
                          <a:endParaRPr lang="en-US" dirty="0"/>
                        </a:p>
                      </a:txBody>
                      <a:tcPr/>
                    </a:tc>
                  </a:tr>
                  <a:tr h="605854">
                    <a:tc>
                      <a:txBody>
                        <a:bodyPr/>
                        <a:lstStyle/>
                        <a:p>
                          <a:pPr algn="ctr"/>
                          <a:r>
                            <a:rPr lang="en-US" dirty="0" smtClean="0"/>
                            <a:t>P(X)</a:t>
                          </a:r>
                          <a:endParaRPr lang="en-US" dirty="0"/>
                        </a:p>
                      </a:txBody>
                      <a:tcPr/>
                    </a:tc>
                    <a:tc>
                      <a:txBody>
                        <a:bodyPr/>
                        <a:lstStyle/>
                        <a:p>
                          <a:endParaRPr lang="en-US"/>
                        </a:p>
                      </a:txBody>
                      <a:tcPr>
                        <a:blipFill rotWithShape="0">
                          <a:blip r:embed="rId4"/>
                          <a:stretch>
                            <a:fillRect l="-100500" t="-66000" r="-302500" b="-2000"/>
                          </a:stretch>
                        </a:blipFill>
                      </a:tcPr>
                    </a:tc>
                    <a:tc>
                      <a:txBody>
                        <a:bodyPr/>
                        <a:lstStyle/>
                        <a:p>
                          <a:endParaRPr lang="en-US"/>
                        </a:p>
                      </a:txBody>
                      <a:tcPr>
                        <a:blipFill rotWithShape="0">
                          <a:blip r:embed="rId4"/>
                          <a:stretch>
                            <a:fillRect l="-199502" t="-66000" r="-200995" b="-2000"/>
                          </a:stretch>
                        </a:blipFill>
                      </a:tcPr>
                    </a:tc>
                    <a:tc>
                      <a:txBody>
                        <a:bodyPr/>
                        <a:lstStyle/>
                        <a:p>
                          <a:endParaRPr lang="en-US"/>
                        </a:p>
                      </a:txBody>
                      <a:tcPr>
                        <a:blipFill rotWithShape="0">
                          <a:blip r:embed="rId4"/>
                          <a:stretch>
                            <a:fillRect l="-301000" t="-66000" r="-102000" b="-2000"/>
                          </a:stretch>
                        </a:blipFill>
                      </a:tcPr>
                    </a:tc>
                    <a:tc>
                      <a:txBody>
                        <a:bodyPr/>
                        <a:lstStyle/>
                        <a:p>
                          <a:endParaRPr lang="en-US"/>
                        </a:p>
                      </a:txBody>
                      <a:tcPr>
                        <a:blipFill rotWithShape="0">
                          <a:blip r:embed="rId4"/>
                          <a:stretch>
                            <a:fillRect l="-401000" t="-66000" r="-2000" b="-2000"/>
                          </a:stretch>
                        </a:blipFill>
                      </a:tcPr>
                    </a:tc>
                  </a:tr>
                </a:tbl>
              </a:graphicData>
            </a:graphic>
          </p:graphicFrame>
        </mc:Fallback>
      </mc:AlternateContent>
      <p:sp>
        <p:nvSpPr>
          <p:cNvPr id="9"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 </a:t>
            </a:r>
          </a:p>
          <a:p>
            <a:pPr algn="ctr">
              <a:spcBef>
                <a:spcPct val="0"/>
              </a:spcBef>
              <a:defRPr/>
            </a:pPr>
            <a:r>
              <a:rPr lang="en-US" sz="2400" b="1" dirty="0"/>
              <a:t>Continue…(CO3)</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1" i="0" u="none" strike="noStrike" kern="1200" cap="none" spc="0" normalizeH="0" baseline="0" noProof="0" dirty="0">
              <a:ln>
                <a:noFill/>
              </a:ln>
              <a:solidFill>
                <a:schemeClr val="dk1"/>
              </a:solidFill>
              <a:effectLst/>
              <a:uLnTx/>
              <a:uFillTx/>
            </a:endParaRPr>
          </a:p>
        </p:txBody>
      </p:sp>
      <p:sp>
        <p:nvSpPr>
          <p:cNvPr id="7" name="Footer Placeholder 6"/>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909077071"/>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Continuous Random Variable:</a:t>
                </a:r>
                <a:r>
                  <a:rPr lang="en-US" sz="2200" dirty="0"/>
                  <a:t> </a:t>
                </a:r>
                <a:r>
                  <a:rPr lang="en-US" sz="2000" dirty="0"/>
                  <a:t>Which variables can assume any value within interval is called continuous.</a:t>
                </a:r>
              </a:p>
              <a:p>
                <a:pPr marL="0" indent="0">
                  <a:buNone/>
                </a:pPr>
                <a:r>
                  <a:rPr lang="en-US" sz="2000" b="1" dirty="0"/>
                  <a:t>Example :</a:t>
                </a:r>
                <a:r>
                  <a:rPr lang="en-US" sz="2000" dirty="0"/>
                  <a:t> The heights of a group of individuals, Weight of Students etc.</a:t>
                </a:r>
              </a:p>
              <a:p>
                <a:pPr marL="0" indent="0">
                  <a:buNone/>
                </a:pPr>
                <a:r>
                  <a:rPr lang="en-US" sz="2000" b="1" dirty="0"/>
                  <a:t>Probability Density function: </a:t>
                </a:r>
                <a:r>
                  <a:rPr lang="en-US" sz="2000" dirty="0"/>
                  <a:t>It is expressed as </a:t>
                </a:r>
              </a:p>
              <a:p>
                <a:pPr marL="0" indent="0">
                  <a:buNone/>
                </a:pPr>
                <a14:m>
                  <m:oMathPara xmlns:m="http://schemas.openxmlformats.org/officeDocument/2006/math">
                    <m:oMathParaPr>
                      <m:jc m:val="centerGroup"/>
                    </m:oMathParaPr>
                    <m:oMath xmlns:m="http://schemas.openxmlformats.org/officeDocument/2006/math">
                      <m:r>
                        <a:rPr lang="en-US" sz="2000" i="1">
                          <a:latin typeface="Cambria Math"/>
                        </a:rPr>
                        <m:t>𝑃</m:t>
                      </m:r>
                      <m:d>
                        <m:dPr>
                          <m:ctrlPr>
                            <a:rPr lang="en-US" sz="2000" i="1">
                              <a:latin typeface="Cambria Math" panose="02040503050406030204" pitchFamily="18" charset="0"/>
                            </a:rPr>
                          </m:ctrlPr>
                        </m:dPr>
                        <m:e>
                          <m:r>
                            <a:rPr lang="en-US" sz="2000" i="1">
                              <a:latin typeface="Cambria Math"/>
                            </a:rPr>
                            <m:t>𝑥</m:t>
                          </m:r>
                          <m:r>
                            <a:rPr lang="en-US" sz="2000" i="1">
                              <a:latin typeface="Cambria Math"/>
                            </a:rPr>
                            <m:t>−</m:t>
                          </m:r>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r>
                            <a:rPr lang="en-US" sz="2000" i="1">
                              <a:latin typeface="Cambria Math"/>
                            </a:rPr>
                            <m:t>𝑑𝑥</m:t>
                          </m:r>
                          <m:r>
                            <a:rPr lang="en-US" sz="2000" i="1">
                              <a:latin typeface="Cambria Math"/>
                              <a:ea typeface="Cambria Math"/>
                            </a:rPr>
                            <m:t>≤</m:t>
                          </m:r>
                          <m:r>
                            <a:rPr lang="en-US" sz="2000" i="1">
                              <a:latin typeface="Cambria Math"/>
                              <a:ea typeface="Cambria Math"/>
                            </a:rPr>
                            <m:t>𝑋</m:t>
                          </m:r>
                          <m:r>
                            <a:rPr lang="en-US" sz="2000" i="1">
                              <a:latin typeface="Cambria Math"/>
                              <a:ea typeface="Cambria Math"/>
                            </a:rPr>
                            <m:t>≤</m:t>
                          </m:r>
                          <m:r>
                            <a:rPr lang="en-US" sz="2000" i="1">
                              <a:latin typeface="Cambria Math"/>
                              <a:ea typeface="Cambria Math"/>
                            </a:rPr>
                            <m:t>𝑥</m:t>
                          </m:r>
                          <m:r>
                            <a:rPr lang="en-US" sz="2000" i="1">
                              <a:latin typeface="Cambria Math"/>
                              <a:ea typeface="Cambria Math"/>
                            </a:rPr>
                            <m:t>+</m:t>
                          </m:r>
                          <m:f>
                            <m:fPr>
                              <m:ctrlPr>
                                <a:rPr lang="en-US" sz="2000" i="1">
                                  <a:latin typeface="Cambria Math" panose="02040503050406030204" pitchFamily="18" charset="0"/>
                                </a:rPr>
                              </m:ctrlPr>
                            </m:fPr>
                            <m:num>
                              <m:r>
                                <a:rPr lang="en-US" sz="2000" i="1">
                                  <a:latin typeface="Cambria Math"/>
                                </a:rPr>
                                <m:t>1</m:t>
                              </m:r>
                            </m:num>
                            <m:den>
                              <m:r>
                                <a:rPr lang="en-US" sz="2000" i="1">
                                  <a:latin typeface="Cambria Math"/>
                                </a:rPr>
                                <m:t>2</m:t>
                              </m:r>
                            </m:den>
                          </m:f>
                          <m:r>
                            <a:rPr lang="en-US" sz="2000" i="1">
                              <a:latin typeface="Cambria Math"/>
                            </a:rPr>
                            <m:t>𝑑𝑥</m:t>
                          </m:r>
                        </m:e>
                      </m:d>
                      <m:r>
                        <a:rPr lang="en-US" sz="2000">
                          <a:latin typeface="Cambria Math"/>
                        </a:rPr>
                        <m:t>=</m:t>
                      </m:r>
                      <m:r>
                        <m:rPr>
                          <m:sty m:val="p"/>
                        </m:rPr>
                        <a:rPr lang="en-US" sz="2000">
                          <a:latin typeface="Cambria Math"/>
                        </a:rPr>
                        <m:t>f</m:t>
                      </m:r>
                      <m:d>
                        <m:dPr>
                          <m:ctrlPr>
                            <a:rPr lang="en-US" sz="2000" i="1">
                              <a:latin typeface="Cambria Math" panose="02040503050406030204" pitchFamily="18" charset="0"/>
                            </a:rPr>
                          </m:ctrlPr>
                        </m:dPr>
                        <m:e>
                          <m:r>
                            <m:rPr>
                              <m:sty m:val="p"/>
                            </m:rPr>
                            <a:rPr lang="en-US" sz="2000">
                              <a:latin typeface="Cambria Math"/>
                            </a:rPr>
                            <m:t>x</m:t>
                          </m:r>
                        </m:e>
                      </m:d>
                      <m:r>
                        <m:rPr>
                          <m:sty m:val="p"/>
                        </m:rPr>
                        <a:rPr lang="en-US" sz="2000">
                          <a:latin typeface="Cambria Math"/>
                        </a:rPr>
                        <m:t>dx</m:t>
                      </m:r>
                    </m:oMath>
                  </m:oMathPara>
                </a14:m>
                <a:endParaRPr lang="en-US" sz="2000" dirty="0"/>
              </a:p>
              <a:p>
                <a:pPr marL="0" indent="0">
                  <a:buNone/>
                </a:pPr>
                <a:r>
                  <a:rPr lang="en-US" sz="2000" b="1" dirty="0"/>
                  <a:t>Properties of probability Density function:</a:t>
                </a:r>
              </a:p>
              <a:p>
                <a:pPr marL="514350" indent="-514350">
                  <a:buFont typeface="+mj-lt"/>
                  <a:buAutoNum type="romanLcPeriod"/>
                </a:pPr>
                <a14:m>
                  <m:oMath xmlns:m="http://schemas.openxmlformats.org/officeDocument/2006/math">
                    <m:r>
                      <a:rPr lang="en-US" sz="2000" i="1">
                        <a:latin typeface="Cambria Math"/>
                      </a:rPr>
                      <m:t>𝑓</m:t>
                    </m:r>
                    <m:d>
                      <m:dPr>
                        <m:ctrlPr>
                          <a:rPr lang="en-US" sz="2000" i="1">
                            <a:latin typeface="Cambria Math" panose="02040503050406030204" pitchFamily="18" charset="0"/>
                          </a:rPr>
                        </m:ctrlPr>
                      </m:dPr>
                      <m:e>
                        <m:r>
                          <a:rPr lang="en-US" sz="2000" i="1">
                            <a:latin typeface="Cambria Math"/>
                          </a:rPr>
                          <m:t>𝑥</m:t>
                        </m:r>
                      </m:e>
                    </m:d>
                    <m:r>
                      <a:rPr lang="en-US" sz="2000" i="1">
                        <a:latin typeface="Cambria Math"/>
                        <a:ea typeface="Cambria Math"/>
                      </a:rPr>
                      <m:t>≥0</m:t>
                    </m:r>
                  </m:oMath>
                </a14:m>
                <a:r>
                  <a:rPr lang="en-US" sz="2000" dirty="0"/>
                  <a:t> for every x, </a:t>
                </a:r>
              </a:p>
              <a:p>
                <a:pPr marL="514350" indent="-514350">
                  <a:buFont typeface="+mj-lt"/>
                  <a:buAutoNum type="romanLcPeriod"/>
                </a:pPr>
                <a14:m>
                  <m:oMath xmlns:m="http://schemas.openxmlformats.org/officeDocument/2006/math">
                    <m:nary>
                      <m:naryPr>
                        <m:limLoc m:val="undOvr"/>
                        <m:ctrlPr>
                          <a:rPr lang="en-US" sz="2000" i="1">
                            <a:latin typeface="Cambria Math" panose="02040503050406030204" pitchFamily="18" charset="0"/>
                          </a:rPr>
                        </m:ctrlPr>
                      </m:naryPr>
                      <m:sub>
                        <m:r>
                          <m:rPr>
                            <m:brk m:alnAt="24"/>
                          </m:rPr>
                          <a:rPr lang="en-US" sz="2000" i="1">
                            <a:latin typeface="Cambria Math"/>
                          </a:rPr>
                          <m:t>−</m:t>
                        </m:r>
                        <m:r>
                          <a:rPr lang="en-US" sz="2000" i="1">
                            <a:latin typeface="Cambria Math"/>
                            <a:ea typeface="Cambria Math"/>
                          </a:rPr>
                          <m:t>∞</m:t>
                        </m:r>
                      </m:sub>
                      <m:sup>
                        <m:r>
                          <a:rPr lang="en-US" sz="2000" i="1">
                            <a:latin typeface="Cambria Math"/>
                            <a:ea typeface="Cambria Math"/>
                          </a:rPr>
                          <m:t>∞</m:t>
                        </m:r>
                      </m:sup>
                      <m:e>
                        <m:r>
                          <a:rPr lang="en-US" sz="2000" i="1">
                            <a:latin typeface="Cambria Math"/>
                          </a:rPr>
                          <m:t>𝑓</m:t>
                        </m:r>
                        <m:d>
                          <m:dPr>
                            <m:ctrlPr>
                              <a:rPr lang="en-US" sz="2000" i="1">
                                <a:latin typeface="Cambria Math" panose="02040503050406030204" pitchFamily="18" charset="0"/>
                              </a:rPr>
                            </m:ctrlPr>
                          </m:dPr>
                          <m:e>
                            <m:r>
                              <a:rPr lang="en-US" sz="2000" i="1">
                                <a:latin typeface="Cambria Math"/>
                              </a:rPr>
                              <m:t>𝑥</m:t>
                            </m:r>
                          </m:e>
                        </m:d>
                        <m:r>
                          <a:rPr lang="en-US" sz="2000" i="1">
                            <a:latin typeface="Cambria Math"/>
                          </a:rPr>
                          <m:t>𝑑𝑥</m:t>
                        </m:r>
                        <m:r>
                          <a:rPr lang="en-US" sz="2000" i="1">
                            <a:latin typeface="Cambria Math"/>
                          </a:rPr>
                          <m:t>=1</m:t>
                        </m:r>
                      </m:e>
                    </m:nary>
                  </m:oMath>
                </a14:m>
                <a:endParaRPr lang="en-US" sz="2000" dirty="0"/>
              </a:p>
              <a:p>
                <a:pPr marL="0" lvl="0" indent="0">
                  <a:buNone/>
                </a:pPr>
                <a:endParaRPr lang="en-US" sz="1800" dirty="0">
                  <a:solidFill>
                    <a:schemeClr val="dk1"/>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3"/>
                <a:stretch>
                  <a:fillRect l="-963" t="-94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20</a:t>
            </a:fld>
            <a:endParaRPr lang="en-US"/>
          </a:p>
        </p:txBody>
      </p:sp>
      <p:sp>
        <p:nvSpPr>
          <p:cNvPr id="7"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 </a:t>
            </a:r>
          </a:p>
          <a:p>
            <a:pPr lvl="0" algn="ctr">
              <a:spcBef>
                <a:spcPct val="0"/>
              </a:spcBef>
              <a:defRPr/>
            </a:pPr>
            <a:r>
              <a:rPr lang="en-US" sz="2400" b="1" dirty="0"/>
              <a:t>Continuous Random Variables(CO3)</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1" i="0" u="none" strike="noStrike" kern="1200" cap="none" spc="0" normalizeH="0" baseline="0" noProof="0" dirty="0">
              <a:ln>
                <a:noFill/>
              </a:ln>
              <a:solidFill>
                <a:schemeClr val="dk1"/>
              </a:solidFill>
              <a:effectLst/>
              <a:uLnTx/>
              <a:uFillTx/>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844987164"/>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39" fill="hold">
                      <p:stCondLst>
                        <p:cond delay="indefinite"/>
                      </p:stCondLst>
                      <p:childTnLst>
                        <p:par>
                          <p:cTn id="40" fill="hold">
                            <p:stCondLst>
                              <p:cond delay="0"/>
                            </p:stCondLst>
                            <p:childTnLst>
                              <p:par>
                                <p:cTn id="41" presetID="2" presetClass="entr" presetSubtype="4" fill="hold" grpId="0" nodeType="clickEffect">
                                  <p:stCondLst>
                                    <p:cond delay="0"/>
                                  </p:stCondLst>
                                  <p:childTnLst>
                                    <p:set>
                                      <p:cBhvr>
                                        <p:cTn id="42" dur="1" fill="hold">
                                          <p:stCondLst>
                                            <p:cond delay="0"/>
                                          </p:stCondLst>
                                        </p:cTn>
                                        <p:tgtEl>
                                          <p:spTgt spid="3">
                                            <p:txEl>
                                              <p:pRg st="6" end="6"/>
                                            </p:txEl>
                                          </p:spTgt>
                                        </p:tgtEl>
                                        <p:attrNameLst>
                                          <p:attrName>style.visibility</p:attrName>
                                        </p:attrNameLst>
                                      </p:cBhvr>
                                      <p:to>
                                        <p:strVal val="visible"/>
                                      </p:to>
                                    </p:set>
                                    <p:anim calcmode="lin" valueType="num">
                                      <p:cBhvr additive="base">
                                        <p:cTn id="43"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33400" y="1143000"/>
                <a:ext cx="8229600" cy="4724400"/>
              </a:xfrm>
            </p:spPr>
            <p:txBody>
              <a:bodyPr>
                <a:normAutofit/>
              </a:bodyPr>
              <a:lstStyle/>
              <a:p>
                <a:pPr marL="0" indent="0">
                  <a:buNone/>
                </a:pPr>
                <a:r>
                  <a:rPr lang="en-US" sz="2200" b="1" dirty="0"/>
                  <a:t>Q1.</a:t>
                </a:r>
                <a:r>
                  <a:rPr lang="en-US" sz="2200" dirty="0"/>
                  <a:t> If f(x) has probability density </a:t>
                </a:r>
                <a14:m>
                  <m:oMath xmlns:m="http://schemas.openxmlformats.org/officeDocument/2006/math">
                    <m:r>
                      <a:rPr lang="en-US" sz="2200" b="0" i="1" smtClean="0">
                        <a:latin typeface="Cambria Math"/>
                      </a:rPr>
                      <m:t>𝑐</m:t>
                    </m:r>
                    <m:sSup>
                      <m:sSupPr>
                        <m:ctrlPr>
                          <a:rPr lang="en-US" sz="2200" i="1" smtClean="0">
                            <a:latin typeface="Cambria Math" panose="02040503050406030204" pitchFamily="18" charset="0"/>
                          </a:rPr>
                        </m:ctrlPr>
                      </m:sSupPr>
                      <m:e>
                        <m:r>
                          <a:rPr lang="en-US" sz="2200" b="0" i="1" smtClean="0">
                            <a:latin typeface="Cambria Math"/>
                          </a:rPr>
                          <m:t>𝑥</m:t>
                        </m:r>
                      </m:e>
                      <m:sup>
                        <m:r>
                          <a:rPr lang="en-US" sz="2200" b="0" i="1" smtClean="0">
                            <a:latin typeface="Cambria Math"/>
                          </a:rPr>
                          <m:t>2</m:t>
                        </m:r>
                      </m:sup>
                    </m:sSup>
                    <m:r>
                      <a:rPr lang="en-US" sz="2200" b="0" i="1" smtClean="0">
                        <a:latin typeface="Cambria Math"/>
                      </a:rPr>
                      <m:t>,0</m:t>
                    </m:r>
                    <m:r>
                      <a:rPr lang="en-US" sz="2200" b="0" i="1" smtClean="0">
                        <a:latin typeface="Cambria Math"/>
                        <a:ea typeface="Cambria Math"/>
                      </a:rPr>
                      <m:t>&lt;</m:t>
                    </m:r>
                    <m:r>
                      <a:rPr lang="en-US" sz="2200" b="0" i="1" smtClean="0">
                        <a:latin typeface="Cambria Math"/>
                        <a:ea typeface="Cambria Math"/>
                      </a:rPr>
                      <m:t>𝑥</m:t>
                    </m:r>
                    <m:r>
                      <a:rPr lang="en-US" sz="2200" b="0" i="1" smtClean="0">
                        <a:latin typeface="Cambria Math"/>
                        <a:ea typeface="Cambria Math"/>
                      </a:rPr>
                      <m:t>&lt;1,</m:t>
                    </m:r>
                  </m:oMath>
                </a14:m>
                <a:r>
                  <a:rPr lang="en-US" sz="2200" dirty="0"/>
                  <a:t> determine c and find the probability that </a:t>
                </a:r>
                <a14:m>
                  <m:oMath xmlns:m="http://schemas.openxmlformats.org/officeDocument/2006/math">
                    <m:f>
                      <m:fPr>
                        <m:ctrlPr>
                          <a:rPr lang="en-US" sz="220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3</m:t>
                        </m:r>
                      </m:den>
                    </m:f>
                    <m:r>
                      <a:rPr lang="en-US" sz="2200" b="0" i="1" smtClean="0">
                        <a:latin typeface="Cambria Math"/>
                        <a:ea typeface="Cambria Math"/>
                      </a:rPr>
                      <m:t>&lt;</m:t>
                    </m:r>
                    <m:r>
                      <a:rPr lang="en-US" sz="2200" b="0" i="1" smtClean="0">
                        <a:latin typeface="Cambria Math"/>
                        <a:ea typeface="Cambria Math"/>
                      </a:rPr>
                      <m:t>𝑥</m:t>
                    </m:r>
                    <m:r>
                      <a:rPr lang="en-US" sz="2200" b="0" i="1" smtClean="0">
                        <a:latin typeface="Cambria Math"/>
                        <a:ea typeface="Cambria Math"/>
                      </a:rPr>
                      <m:t>&lt;</m:t>
                    </m:r>
                    <m:f>
                      <m:fPr>
                        <m:ctrlPr>
                          <a:rPr lang="en-US" sz="2200" i="1" smtClean="0">
                            <a:latin typeface="Cambria Math" panose="02040503050406030204" pitchFamily="18" charset="0"/>
                            <a:ea typeface="Cambria Math"/>
                          </a:rPr>
                        </m:ctrlPr>
                      </m:fPr>
                      <m:num>
                        <m:r>
                          <a:rPr lang="en-US" sz="2200" b="0" i="1" smtClean="0">
                            <a:latin typeface="Cambria Math"/>
                            <a:ea typeface="Cambria Math"/>
                          </a:rPr>
                          <m:t>1</m:t>
                        </m:r>
                      </m:num>
                      <m:den>
                        <m:r>
                          <a:rPr lang="en-US" sz="2200" b="0" i="1" smtClean="0">
                            <a:latin typeface="Cambria Math"/>
                            <a:ea typeface="Cambria Math"/>
                          </a:rPr>
                          <m:t>2</m:t>
                        </m:r>
                      </m:den>
                    </m:f>
                  </m:oMath>
                </a14:m>
                <a:r>
                  <a:rPr lang="en-US" sz="2200" dirty="0"/>
                  <a:t>, i.e. </a:t>
                </a:r>
                <a14:m>
                  <m:oMath xmlns:m="http://schemas.openxmlformats.org/officeDocument/2006/math">
                    <m:r>
                      <m:rPr>
                        <m:sty m:val="p"/>
                      </m:rPr>
                      <a:rPr lang="en-US" sz="2200" b="0" i="0" smtClean="0">
                        <a:latin typeface="Cambria Math"/>
                      </a:rPr>
                      <m:t>P</m:t>
                    </m:r>
                    <m:d>
                      <m:dPr>
                        <m:ctrlPr>
                          <a:rPr lang="en-US" sz="2200" i="1" smtClean="0">
                            <a:latin typeface="Cambria Math" panose="02040503050406030204" pitchFamily="18" charset="0"/>
                          </a:rPr>
                        </m:ctrlPr>
                      </m:dPr>
                      <m:e>
                        <m:f>
                          <m:fPr>
                            <m:ctrlPr>
                              <a:rPr lang="en-US" sz="2200" i="1">
                                <a:latin typeface="Cambria Math" panose="02040503050406030204" pitchFamily="18" charset="0"/>
                              </a:rPr>
                            </m:ctrlPr>
                          </m:fPr>
                          <m:num>
                            <m:r>
                              <a:rPr lang="en-US" sz="2200" b="0" i="1">
                                <a:latin typeface="Cambria Math"/>
                              </a:rPr>
                              <m:t>1</m:t>
                            </m:r>
                          </m:num>
                          <m:den>
                            <m:r>
                              <a:rPr lang="en-US" sz="2200" b="0" i="1">
                                <a:latin typeface="Cambria Math"/>
                              </a:rPr>
                              <m:t>3</m:t>
                            </m:r>
                          </m:den>
                        </m:f>
                        <m:r>
                          <a:rPr lang="en-US" sz="2200" b="0" i="1">
                            <a:latin typeface="Cambria Math"/>
                            <a:ea typeface="Cambria Math"/>
                          </a:rPr>
                          <m:t>&lt;</m:t>
                        </m:r>
                        <m:r>
                          <a:rPr lang="en-US" sz="2200" b="0" i="1">
                            <a:latin typeface="Cambria Math"/>
                            <a:ea typeface="Cambria Math"/>
                          </a:rPr>
                          <m:t>𝑥</m:t>
                        </m:r>
                        <m:r>
                          <a:rPr lang="en-US" sz="2200" b="0" i="1">
                            <a:latin typeface="Cambria Math"/>
                            <a:ea typeface="Cambria Math"/>
                          </a:rPr>
                          <m:t>&lt;</m:t>
                        </m:r>
                        <m:f>
                          <m:fPr>
                            <m:ctrlPr>
                              <a:rPr lang="en-US" sz="2200" i="1">
                                <a:latin typeface="Cambria Math" panose="02040503050406030204" pitchFamily="18" charset="0"/>
                                <a:ea typeface="Cambria Math"/>
                              </a:rPr>
                            </m:ctrlPr>
                          </m:fPr>
                          <m:num>
                            <m:r>
                              <a:rPr lang="en-US" sz="2200" b="0" i="1">
                                <a:latin typeface="Cambria Math"/>
                                <a:ea typeface="Cambria Math"/>
                              </a:rPr>
                              <m:t>1</m:t>
                            </m:r>
                          </m:num>
                          <m:den>
                            <m:r>
                              <a:rPr lang="en-US" sz="2200" b="0" i="1">
                                <a:latin typeface="Cambria Math"/>
                                <a:ea typeface="Cambria Math"/>
                              </a:rPr>
                              <m:t>2</m:t>
                            </m:r>
                          </m:den>
                        </m:f>
                      </m:e>
                    </m:d>
                  </m:oMath>
                </a14:m>
                <a:r>
                  <a:rPr lang="en-US" sz="2200" dirty="0"/>
                  <a:t>.</a:t>
                </a:r>
              </a:p>
              <a:p>
                <a:pPr marL="0" indent="0">
                  <a:buNone/>
                </a:pPr>
                <a:r>
                  <a:rPr lang="en-US" sz="2200" b="1" dirty="0"/>
                  <a:t>Solution: </a:t>
                </a:r>
                <a:r>
                  <a:rPr lang="en-US" sz="2200" dirty="0"/>
                  <a:t>Probability density function </a:t>
                </a:r>
                <a14:m>
                  <m:oMath xmlns:m="http://schemas.openxmlformats.org/officeDocument/2006/math">
                    <m:r>
                      <m:rPr>
                        <m:sty m:val="p"/>
                      </m:rPr>
                      <a:rPr lang="en-US" sz="2200" b="0" i="0" smtClean="0">
                        <a:latin typeface="Cambria Math"/>
                      </a:rPr>
                      <m:t>f</m:t>
                    </m:r>
                    <m:d>
                      <m:dPr>
                        <m:ctrlPr>
                          <a:rPr lang="en-US" sz="2200" i="1" smtClean="0">
                            <a:latin typeface="Cambria Math" panose="02040503050406030204" pitchFamily="18" charset="0"/>
                          </a:rPr>
                        </m:ctrlPr>
                      </m:dPr>
                      <m:e>
                        <m:r>
                          <m:rPr>
                            <m:sty m:val="p"/>
                          </m:rPr>
                          <a:rPr lang="en-US" sz="2200" b="0" i="0" smtClean="0">
                            <a:latin typeface="Cambria Math"/>
                          </a:rPr>
                          <m:t>x</m:t>
                        </m:r>
                      </m:e>
                    </m:d>
                    <m:r>
                      <a:rPr lang="en-US" sz="2200" b="0" i="0" smtClean="0">
                        <a:latin typeface="Cambria Math"/>
                      </a:rPr>
                      <m:t>=</m:t>
                    </m:r>
                    <m:r>
                      <a:rPr lang="en-US" sz="2200" b="0" i="1">
                        <a:latin typeface="Cambria Math"/>
                      </a:rPr>
                      <m:t>𝑐</m:t>
                    </m:r>
                    <m:sSup>
                      <m:sSupPr>
                        <m:ctrlPr>
                          <a:rPr lang="en-US" sz="2200" i="1">
                            <a:latin typeface="Cambria Math" panose="02040503050406030204" pitchFamily="18" charset="0"/>
                          </a:rPr>
                        </m:ctrlPr>
                      </m:sSupPr>
                      <m:e>
                        <m:r>
                          <a:rPr lang="en-US" sz="2200" b="0" i="1">
                            <a:latin typeface="Cambria Math"/>
                          </a:rPr>
                          <m:t>𝑥</m:t>
                        </m:r>
                      </m:e>
                      <m:sup>
                        <m:r>
                          <a:rPr lang="en-US" sz="2200" b="0" i="1">
                            <a:latin typeface="Cambria Math"/>
                          </a:rPr>
                          <m:t>2</m:t>
                        </m:r>
                      </m:sup>
                    </m:sSup>
                  </m:oMath>
                </a14:m>
                <a:r>
                  <a:rPr lang="en-US" sz="2200" dirty="0"/>
                  <a:t>……..(1)</a:t>
                </a:r>
              </a:p>
              <a:p>
                <a:pPr marL="0" indent="0">
                  <a:buNone/>
                </a:pPr>
                <a:r>
                  <a:rPr lang="en-US" sz="2200" dirty="0"/>
                  <a:t>Using  2</a:t>
                </a:r>
                <a:r>
                  <a:rPr lang="en-US" sz="2200" baseline="30000" dirty="0"/>
                  <a:t>nd</a:t>
                </a:r>
                <a:r>
                  <a:rPr lang="en-US" sz="2200" dirty="0"/>
                  <a:t> property </a:t>
                </a:r>
                <a14:m>
                  <m:oMath xmlns:m="http://schemas.openxmlformats.org/officeDocument/2006/math">
                    <m:nary>
                      <m:naryPr>
                        <m:limLoc m:val="undOvr"/>
                        <m:ctrlPr>
                          <a:rPr lang="en-US" sz="2200" i="1">
                            <a:latin typeface="Cambria Math" panose="02040503050406030204" pitchFamily="18" charset="0"/>
                          </a:rPr>
                        </m:ctrlPr>
                      </m:naryPr>
                      <m:sub>
                        <m:r>
                          <m:rPr>
                            <m:brk m:alnAt="24"/>
                          </m:rPr>
                          <a:rPr lang="en-US" sz="2200" i="1">
                            <a:latin typeface="Cambria Math"/>
                          </a:rPr>
                          <m:t>−</m:t>
                        </m:r>
                        <m:r>
                          <a:rPr lang="en-US" sz="2200" i="1">
                            <a:latin typeface="Cambria Math"/>
                            <a:ea typeface="Cambria Math"/>
                          </a:rPr>
                          <m:t>∞</m:t>
                        </m:r>
                      </m:sub>
                      <m:sup>
                        <m:r>
                          <a:rPr lang="en-US" sz="2200" i="1">
                            <a:latin typeface="Cambria Math"/>
                            <a:ea typeface="Cambria Math"/>
                          </a:rPr>
                          <m:t>∞</m:t>
                        </m:r>
                      </m:sup>
                      <m:e>
                        <m:r>
                          <a:rPr lang="en-US" sz="2200" i="1">
                            <a:latin typeface="Cambria Math"/>
                          </a:rPr>
                          <m:t>𝑓</m:t>
                        </m:r>
                        <m:d>
                          <m:dPr>
                            <m:ctrlPr>
                              <a:rPr lang="en-US" sz="2200" i="1">
                                <a:latin typeface="Cambria Math" panose="02040503050406030204" pitchFamily="18" charset="0"/>
                              </a:rPr>
                            </m:ctrlPr>
                          </m:dPr>
                          <m:e>
                            <m:r>
                              <a:rPr lang="en-US" sz="2200" i="1">
                                <a:latin typeface="Cambria Math"/>
                              </a:rPr>
                              <m:t>𝑥</m:t>
                            </m:r>
                          </m:e>
                        </m:d>
                        <m:r>
                          <a:rPr lang="en-US" sz="2200" i="1">
                            <a:latin typeface="Cambria Math"/>
                          </a:rPr>
                          <m:t>𝑑𝑥</m:t>
                        </m:r>
                        <m:r>
                          <a:rPr lang="en-US" sz="2200" i="1">
                            <a:latin typeface="Cambria Math"/>
                          </a:rPr>
                          <m:t>=1</m:t>
                        </m:r>
                      </m:e>
                    </m:nary>
                  </m:oMath>
                </a14:m>
                <a:endParaRPr lang="en-US" sz="2200" dirty="0"/>
              </a:p>
              <a:p>
                <a:pPr marL="0" indent="0">
                  <a:buNone/>
                </a:pPr>
                <a:r>
                  <a:rPr lang="en-US" sz="2200" dirty="0"/>
                  <a:t>We have</a:t>
                </a:r>
              </a:p>
              <a:p>
                <a:pPr marL="0" indent="0">
                  <a:buNone/>
                </a:pPr>
                <a:r>
                  <a:rPr lang="en-US" sz="2200" dirty="0"/>
                  <a:t> </a:t>
                </a:r>
                <a14:m>
                  <m:oMath xmlns:m="http://schemas.openxmlformats.org/officeDocument/2006/math">
                    <m:nary>
                      <m:naryPr>
                        <m:limLoc m:val="undOvr"/>
                        <m:ctrlPr>
                          <a:rPr lang="en-US" sz="2200" i="1">
                            <a:latin typeface="Cambria Math" panose="02040503050406030204" pitchFamily="18" charset="0"/>
                          </a:rPr>
                        </m:ctrlPr>
                      </m:naryPr>
                      <m:sub>
                        <m:r>
                          <m:rPr>
                            <m:brk/>
                          </m:rPr>
                          <a:rPr lang="en-US" sz="2200" i="1">
                            <a:latin typeface="Cambria Math"/>
                          </a:rPr>
                          <m:t>0</m:t>
                        </m:r>
                      </m:sub>
                      <m:sup>
                        <m:r>
                          <a:rPr lang="en-US" sz="2200" i="1">
                            <a:latin typeface="Cambria Math"/>
                            <a:ea typeface="Cambria Math"/>
                          </a:rPr>
                          <m:t>1</m:t>
                        </m:r>
                      </m:sup>
                      <m:e>
                        <m:r>
                          <a:rPr lang="en-US" sz="2200" i="1">
                            <a:latin typeface="Cambria Math"/>
                          </a:rPr>
                          <m:t>𝑐</m:t>
                        </m:r>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r>
                          <a:rPr lang="en-US" sz="2200" i="1">
                            <a:latin typeface="Cambria Math"/>
                          </a:rPr>
                          <m:t>=1</m:t>
                        </m:r>
                      </m:e>
                    </m:nary>
                  </m:oMath>
                </a14:m>
                <a:endParaRPr lang="en-US" sz="2200" i="1" dirty="0">
                  <a:latin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m:t>
                      </m:r>
                      <m:f>
                        <m:fPr>
                          <m:ctrlPr>
                            <a:rPr lang="en-US" sz="2200" i="1">
                              <a:latin typeface="Cambria Math" panose="02040503050406030204" pitchFamily="18" charset="0"/>
                              <a:ea typeface="Cambria Math"/>
                            </a:rPr>
                          </m:ctrlPr>
                        </m:fPr>
                        <m:num>
                          <m:r>
                            <a:rPr lang="en-US" sz="2200" i="1">
                              <a:latin typeface="Cambria Math"/>
                              <a:ea typeface="Cambria Math"/>
                            </a:rPr>
                            <m:t>1</m:t>
                          </m:r>
                        </m:num>
                        <m:den>
                          <m:r>
                            <a:rPr lang="en-US" sz="2200" i="1">
                              <a:latin typeface="Cambria Math"/>
                              <a:ea typeface="Cambria Math"/>
                            </a:rPr>
                            <m:t>3</m:t>
                          </m:r>
                        </m:den>
                      </m:f>
                      <m:sSubSup>
                        <m:sSubSupPr>
                          <m:ctrlPr>
                            <a:rPr lang="en-US" sz="2200" i="1">
                              <a:latin typeface="Cambria Math" panose="02040503050406030204" pitchFamily="18" charset="0"/>
                              <a:ea typeface="Cambria Math"/>
                            </a:rPr>
                          </m:ctrlPr>
                        </m:sSubSupPr>
                        <m:e>
                          <m:sSup>
                            <m:sSupPr>
                              <m:ctrlPr>
                                <a:rPr lang="en-US" sz="2200" i="1">
                                  <a:latin typeface="Cambria Math" panose="02040503050406030204" pitchFamily="18" charset="0"/>
                                  <a:ea typeface="Cambria Math"/>
                                </a:rPr>
                              </m:ctrlPr>
                            </m:sSupPr>
                            <m:e>
                              <m:d>
                                <m:dPr>
                                  <m:begChr m:val="["/>
                                  <m:endChr m:val="]"/>
                                  <m:ctrlPr>
                                    <a:rPr lang="en-US" sz="2200" i="1">
                                      <a:latin typeface="Cambria Math" panose="02040503050406030204" pitchFamily="18" charset="0"/>
                                      <a:ea typeface="Cambria Math"/>
                                    </a:rPr>
                                  </m:ctrlPr>
                                </m:dPr>
                                <m:e>
                                  <m:r>
                                    <a:rPr lang="en-US" sz="2200" i="1">
                                      <a:latin typeface="Cambria Math"/>
                                      <a:ea typeface="Cambria Math"/>
                                    </a:rPr>
                                    <m:t>𝑐</m:t>
                                  </m:r>
                                  <m:sSup>
                                    <m:sSupPr>
                                      <m:ctrlPr>
                                        <a:rPr lang="en-US" sz="2200" i="1">
                                          <a:latin typeface="Cambria Math" panose="02040503050406030204" pitchFamily="18" charset="0"/>
                                          <a:ea typeface="Cambria Math"/>
                                        </a:rPr>
                                      </m:ctrlPr>
                                    </m:sSupPr>
                                    <m:e>
                                      <m:r>
                                        <a:rPr lang="en-US" sz="2200" i="1">
                                          <a:latin typeface="Cambria Math"/>
                                          <a:ea typeface="Cambria Math"/>
                                        </a:rPr>
                                        <m:t>𝑥</m:t>
                                      </m:r>
                                    </m:e>
                                    <m:sup>
                                      <m:r>
                                        <a:rPr lang="en-US" sz="2200" i="1">
                                          <a:latin typeface="Cambria Math"/>
                                          <a:ea typeface="Cambria Math"/>
                                        </a:rPr>
                                        <m:t>3</m:t>
                                      </m:r>
                                    </m:sup>
                                  </m:sSup>
                                </m:e>
                              </m:d>
                            </m:e>
                            <m:sup>
                              <m:r>
                                <a:rPr lang="en-US" sz="2200" i="1">
                                  <a:latin typeface="Cambria Math"/>
                                  <a:ea typeface="Cambria Math"/>
                                </a:rPr>
                                <m:t>1</m:t>
                              </m:r>
                            </m:sup>
                          </m:sSup>
                        </m:e>
                        <m:sub>
                          <m:r>
                            <a:rPr lang="en-US" sz="2200" i="1">
                              <a:latin typeface="Cambria Math"/>
                              <a:ea typeface="Cambria Math"/>
                            </a:rPr>
                            <m:t>0</m:t>
                          </m:r>
                        </m:sub>
                        <m:sup>
                          <m:r>
                            <a:rPr lang="en-IN" sz="2200" i="1">
                              <a:latin typeface="Cambria Math" panose="02040503050406030204" pitchFamily="18" charset="0"/>
                              <a:ea typeface="Cambria Math"/>
                            </a:rPr>
                            <m:t> </m:t>
                          </m:r>
                        </m:sup>
                      </m:sSubSup>
                      <m:r>
                        <a:rPr lang="en-US" sz="2200">
                          <a:latin typeface="Cambria Math"/>
                          <a:ea typeface="Cambria Math"/>
                        </a:rPr>
                        <m:t>=1</m:t>
                      </m:r>
                    </m:oMath>
                  </m:oMathPara>
                </a14:m>
                <a:endParaRPr lang="en-US" sz="2200" dirty="0">
                  <a:latin typeface="Cambria Math"/>
                  <a:ea typeface="Cambria Math"/>
                </a:endParaRPr>
              </a:p>
              <a:p>
                <a:pPr marL="0" indent="0">
                  <a:buNone/>
                </a:pPr>
                <a14:m>
                  <m:oMathPara xmlns:m="http://schemas.openxmlformats.org/officeDocument/2006/math">
                    <m:oMathParaPr>
                      <m:jc m:val="left"/>
                    </m:oMathParaPr>
                    <m:oMath xmlns:m="http://schemas.openxmlformats.org/officeDocument/2006/math">
                      <m:r>
                        <a:rPr lang="en-US" sz="2200" i="1">
                          <a:latin typeface="Cambria Math"/>
                          <a:ea typeface="Cambria Math"/>
                        </a:rPr>
                        <m:t>⟹</m:t>
                      </m:r>
                      <m:r>
                        <a:rPr lang="en-US" sz="2200" i="1">
                          <a:latin typeface="Cambria Math"/>
                          <a:ea typeface="Cambria Math"/>
                        </a:rPr>
                        <m:t>𝑐</m:t>
                      </m:r>
                      <m:r>
                        <a:rPr lang="en-US" sz="2200" i="1">
                          <a:latin typeface="Cambria Math"/>
                          <a:ea typeface="Cambria Math"/>
                        </a:rPr>
                        <m:t>=3</m:t>
                      </m:r>
                    </m:oMath>
                  </m:oMathPara>
                </a14:m>
                <a:endParaRPr lang="en-US" sz="2200" dirty="0"/>
              </a:p>
              <a:p>
                <a:pPr marL="0" indent="0">
                  <a:buNone/>
                </a:pPr>
                <a14:m>
                  <m:oMathPara xmlns:m="http://schemas.openxmlformats.org/officeDocument/2006/math">
                    <m:oMathParaPr>
                      <m:jc m:val="left"/>
                    </m:oMathParaPr>
                    <m:oMath xmlns:m="http://schemas.openxmlformats.org/officeDocument/2006/math">
                      <m:r>
                        <m:rPr>
                          <m:sty m:val="p"/>
                        </m:rPr>
                        <a:rPr lang="en-US" sz="2200">
                          <a:latin typeface="Cambria Math"/>
                        </a:rPr>
                        <m:t>P</m:t>
                      </m:r>
                      <m:d>
                        <m:dPr>
                          <m:ctrlPr>
                            <a:rPr lang="en-US" sz="2200" i="1">
                              <a:latin typeface="Cambria Math" panose="02040503050406030204" pitchFamily="18" charset="0"/>
                            </a:rPr>
                          </m:ctrlPr>
                        </m:dPr>
                        <m:e>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3</m:t>
                              </m:r>
                            </m:den>
                          </m:f>
                          <m:r>
                            <a:rPr lang="en-US" sz="2200" i="1">
                              <a:latin typeface="Cambria Math"/>
                              <a:ea typeface="Cambria Math"/>
                            </a:rPr>
                            <m:t>&lt;</m:t>
                          </m:r>
                          <m:r>
                            <a:rPr lang="en-US" sz="2200" i="1">
                              <a:latin typeface="Cambria Math"/>
                              <a:ea typeface="Cambria Math"/>
                            </a:rPr>
                            <m:t>𝑥</m:t>
                          </m:r>
                          <m:r>
                            <a:rPr lang="en-US" sz="2200" i="1">
                              <a:latin typeface="Cambria Math"/>
                              <a:ea typeface="Cambria Math"/>
                            </a:rPr>
                            <m:t>&lt;</m:t>
                          </m:r>
                          <m:f>
                            <m:fPr>
                              <m:ctrlPr>
                                <a:rPr lang="en-US" sz="2200" i="1">
                                  <a:latin typeface="Cambria Math" panose="02040503050406030204" pitchFamily="18" charset="0"/>
                                  <a:ea typeface="Cambria Math"/>
                                </a:rPr>
                              </m:ctrlPr>
                            </m:fPr>
                            <m:num>
                              <m:r>
                                <a:rPr lang="en-US" sz="2200" i="1">
                                  <a:latin typeface="Cambria Math"/>
                                  <a:ea typeface="Cambria Math"/>
                                </a:rPr>
                                <m:t>1</m:t>
                              </m:r>
                            </m:num>
                            <m:den>
                              <m:r>
                                <a:rPr lang="en-US" sz="2200" i="1">
                                  <a:latin typeface="Cambria Math"/>
                                  <a:ea typeface="Cambria Math"/>
                                </a:rPr>
                                <m:t>2</m:t>
                              </m:r>
                            </m:den>
                          </m:f>
                        </m:e>
                      </m:d>
                      <m:r>
                        <a:rPr lang="en-US" sz="2200" i="1">
                          <a:latin typeface="Cambria Math"/>
                          <a:ea typeface="Cambria Math"/>
                        </a:rPr>
                        <m:t>=</m:t>
                      </m:r>
                      <m:nary>
                        <m:naryPr>
                          <m:ctrlPr>
                            <a:rPr lang="en-US" sz="2200" i="1">
                              <a:latin typeface="Cambria Math" panose="02040503050406030204" pitchFamily="18" charset="0"/>
                              <a:ea typeface="Cambria Math"/>
                            </a:rPr>
                          </m:ctrlPr>
                        </m:naryPr>
                        <m:sub>
                          <m:f>
                            <m:fPr>
                              <m:type m:val="skw"/>
                              <m:ctrlPr>
                                <a:rPr lang="en-US" sz="2200" i="1">
                                  <a:latin typeface="Cambria Math" panose="02040503050406030204" pitchFamily="18" charset="0"/>
                                  <a:ea typeface="Cambria Math"/>
                                </a:rPr>
                              </m:ctrlPr>
                            </m:fPr>
                            <m:num>
                              <m:r>
                                <a:rPr lang="en-US" sz="2200" i="1">
                                  <a:latin typeface="Cambria Math"/>
                                  <a:ea typeface="Cambria Math"/>
                                </a:rPr>
                                <m:t>1</m:t>
                              </m:r>
                            </m:num>
                            <m:den>
                              <m:r>
                                <a:rPr lang="en-US" sz="2200" i="1">
                                  <a:latin typeface="Cambria Math"/>
                                  <a:ea typeface="Cambria Math"/>
                                </a:rPr>
                                <m:t>3</m:t>
                              </m:r>
                            </m:den>
                          </m:f>
                        </m:sub>
                        <m:sup>
                          <m:f>
                            <m:fPr>
                              <m:type m:val="skw"/>
                              <m:ctrlPr>
                                <a:rPr lang="en-US" sz="2200" i="1">
                                  <a:latin typeface="Cambria Math" panose="02040503050406030204" pitchFamily="18" charset="0"/>
                                  <a:ea typeface="Cambria Math"/>
                                </a:rPr>
                              </m:ctrlPr>
                            </m:fPr>
                            <m:num>
                              <m:r>
                                <a:rPr lang="en-US" sz="2200" i="1">
                                  <a:latin typeface="Cambria Math"/>
                                  <a:ea typeface="Cambria Math"/>
                                </a:rPr>
                                <m:t>1</m:t>
                              </m:r>
                            </m:num>
                            <m:den>
                              <m:r>
                                <a:rPr lang="en-US" sz="2200" i="1">
                                  <a:latin typeface="Cambria Math"/>
                                  <a:ea typeface="Cambria Math"/>
                                </a:rPr>
                                <m:t>2</m:t>
                              </m:r>
                            </m:den>
                          </m:f>
                        </m:sup>
                        <m:e>
                          <m:r>
                            <a:rPr lang="en-US" sz="2200" i="1">
                              <a:latin typeface="Cambria Math"/>
                              <a:ea typeface="Cambria Math"/>
                            </a:rPr>
                            <m:t>3</m:t>
                          </m:r>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r>
                            <a:rPr lang="en-US" sz="2200" i="1">
                              <a:latin typeface="Cambria Math" panose="02040503050406030204" pitchFamily="18" charset="0"/>
                            </a:rPr>
                            <m:t>𝑑𝑥</m:t>
                          </m:r>
                          <m:r>
                            <a:rPr lang="en-US" sz="2200" i="1">
                              <a:latin typeface="Cambria Math"/>
                            </a:rPr>
                            <m:t>=</m:t>
                          </m:r>
                          <m:f>
                            <m:fPr>
                              <m:ctrlPr>
                                <a:rPr lang="en-US" sz="2200" i="1">
                                  <a:latin typeface="Cambria Math" panose="02040503050406030204" pitchFamily="18" charset="0"/>
                                </a:rPr>
                              </m:ctrlPr>
                            </m:fPr>
                            <m:num>
                              <m:r>
                                <a:rPr lang="en-US" sz="2200" i="1">
                                  <a:latin typeface="Cambria Math"/>
                                </a:rPr>
                                <m:t>19</m:t>
                              </m:r>
                            </m:num>
                            <m:den>
                              <m:r>
                                <a:rPr lang="en-US" sz="2200" i="1">
                                  <a:latin typeface="Cambria Math"/>
                                </a:rPr>
                                <m:t>216</m:t>
                              </m:r>
                            </m:den>
                          </m:f>
                        </m:e>
                      </m:nary>
                    </m:oMath>
                  </m:oMathPara>
                </a14:m>
                <a:endParaRPr lang="en-US" sz="2200"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724400"/>
              </a:xfrm>
              <a:blipFill>
                <a:blip r:embed="rId2"/>
                <a:stretch>
                  <a:fillRect l="-963" t="-903" r="-140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21</a:t>
            </a:fld>
            <a:endParaRPr lang="en-US"/>
          </a:p>
        </p:txBody>
      </p:sp>
      <p:sp>
        <p:nvSpPr>
          <p:cNvPr id="7" name="Title 1"/>
          <p:cNvSpPr txBox="1">
            <a:spLocks/>
          </p:cNvSpPr>
          <p:nvPr/>
        </p:nvSpPr>
        <p:spPr>
          <a:xfrm>
            <a:off x="1391433"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endParaRPr lang="en-US" sz="3000" b="1" dirty="0"/>
          </a:p>
          <a:p>
            <a:pPr lvl="0" algn="ctr">
              <a:spcBef>
                <a:spcPct val="0"/>
              </a:spcBef>
              <a:defRPr/>
            </a:pPr>
            <a:r>
              <a:rPr lang="en-US" sz="3000" b="1" dirty="0"/>
              <a:t> </a:t>
            </a:r>
          </a:p>
          <a:p>
            <a:pPr lvl="0" algn="ctr">
              <a:spcBef>
                <a:spcPct val="0"/>
              </a:spcBef>
              <a:defRPr/>
            </a:pPr>
            <a:r>
              <a:rPr lang="en-US" sz="2400" b="1" dirty="0"/>
              <a:t>Probability Density function(CO3)</a:t>
            </a:r>
          </a:p>
          <a:p>
            <a:pPr algn="ctr">
              <a:spcBef>
                <a:spcPct val="0"/>
              </a:spcBef>
              <a:defRPr/>
            </a:pPr>
            <a:endParaRPr lang="en-US" sz="3000" b="1" dirty="0"/>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1" i="0" u="none" strike="noStrike" kern="1200" cap="none" spc="0" normalizeH="0" baseline="0" noProof="0" dirty="0">
              <a:ln>
                <a:noFill/>
              </a:ln>
              <a:solidFill>
                <a:schemeClr val="dk1"/>
              </a:solidFill>
              <a:effectLst/>
              <a:uLnTx/>
              <a:uFillTx/>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42095721"/>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Cumulative distribution function:</a:t>
                </a:r>
                <a:r>
                  <a:rPr lang="en-US" sz="2200" dirty="0"/>
                  <a:t> when value of </a:t>
                </a:r>
                <a:r>
                  <a:rPr lang="en-US" sz="2200" dirty="0" err="1"/>
                  <a:t>variate</a:t>
                </a:r>
                <a:r>
                  <a:rPr lang="en-US" sz="2200" dirty="0"/>
                  <a:t> </a:t>
                </a:r>
                <a14:m>
                  <m:oMath xmlns:m="http://schemas.openxmlformats.org/officeDocument/2006/math">
                    <m:r>
                      <a:rPr lang="en-US" sz="2200" b="0" i="1" smtClean="0">
                        <a:latin typeface="Cambria Math"/>
                      </a:rPr>
                      <m:t>𝑋</m:t>
                    </m:r>
                    <m:r>
                      <a:rPr lang="en-US" sz="2200" b="0" i="1" smtClean="0">
                        <a:latin typeface="Cambria Math"/>
                        <a:ea typeface="Cambria Math"/>
                      </a:rPr>
                      <m:t>≤</m:t>
                    </m:r>
                    <m:r>
                      <a:rPr lang="en-US" sz="2200" b="0" i="1" smtClean="0">
                        <a:latin typeface="Cambria Math"/>
                        <a:ea typeface="Cambria Math"/>
                      </a:rPr>
                      <m:t>𝑥</m:t>
                    </m:r>
                    <m:r>
                      <a:rPr lang="en-US" sz="2200" b="0" i="1" smtClean="0">
                        <a:latin typeface="Cambria Math"/>
                        <a:ea typeface="Cambria Math"/>
                      </a:rPr>
                      <m:t> </m:t>
                    </m:r>
                  </m:oMath>
                </a14:m>
                <a:r>
                  <a:rPr lang="en-US" sz="2200" dirty="0"/>
                  <a:t>then the probability of function </a:t>
                </a:r>
                <a14:m>
                  <m:oMath xmlns:m="http://schemas.openxmlformats.org/officeDocument/2006/math">
                    <m:r>
                      <a:rPr lang="en-US" sz="2200" b="0" i="1" smtClean="0">
                        <a:latin typeface="Cambria Math"/>
                      </a:rPr>
                      <m:t>𝐹</m:t>
                    </m:r>
                    <m:d>
                      <m:dPr>
                        <m:ctrlPr>
                          <a:rPr lang="en-US" sz="2200" b="0" i="1" smtClean="0">
                            <a:latin typeface="Cambria Math" panose="02040503050406030204" pitchFamily="18" charset="0"/>
                          </a:rPr>
                        </m:ctrlPr>
                      </m:dPr>
                      <m:e>
                        <m:r>
                          <a:rPr lang="en-US" sz="2200" b="0" i="1" smtClean="0">
                            <a:latin typeface="Cambria Math"/>
                          </a:rPr>
                          <m:t>𝑥</m:t>
                        </m:r>
                      </m:e>
                    </m:d>
                  </m:oMath>
                </a14:m>
                <a:r>
                  <a:rPr lang="en-US" sz="2200" dirty="0"/>
                  <a:t> is written as</a:t>
                </a:r>
              </a:p>
              <a:p>
                <a:pPr marL="0" indent="0">
                  <a:buNone/>
                </a:pPr>
                <a14:m>
                  <m:oMathPara xmlns:m="http://schemas.openxmlformats.org/officeDocument/2006/math">
                    <m:oMathParaPr>
                      <m:jc m:val="centerGroup"/>
                    </m:oMathParaPr>
                    <m:oMath xmlns:m="http://schemas.openxmlformats.org/officeDocument/2006/math">
                      <m:r>
                        <a:rPr lang="en-US" sz="2200" b="0" i="1" smtClean="0">
                          <a:latin typeface="Cambria Math"/>
                        </a:rPr>
                        <m:t>𝐹</m:t>
                      </m:r>
                      <m:d>
                        <m:dPr>
                          <m:ctrlPr>
                            <a:rPr lang="en-US" sz="2200" b="0" i="1" smtClean="0">
                              <a:latin typeface="Cambria Math" panose="02040503050406030204" pitchFamily="18" charset="0"/>
                            </a:rPr>
                          </m:ctrlPr>
                        </m:dPr>
                        <m:e>
                          <m:r>
                            <a:rPr lang="en-US" sz="2200" b="0" i="1" smtClean="0">
                              <a:latin typeface="Cambria Math"/>
                            </a:rPr>
                            <m:t>𝑥</m:t>
                          </m:r>
                        </m:e>
                      </m:d>
                      <m:r>
                        <a:rPr lang="en-US" sz="2200" b="0" i="1" smtClean="0">
                          <a:latin typeface="Cambria Math"/>
                        </a:rPr>
                        <m:t>=</m:t>
                      </m:r>
                      <m:nary>
                        <m:naryPr>
                          <m:limLoc m:val="undOvr"/>
                          <m:ctrlPr>
                            <a:rPr lang="en-US" sz="2200" b="0" i="1" smtClean="0">
                              <a:latin typeface="Cambria Math" panose="02040503050406030204" pitchFamily="18" charset="0"/>
                            </a:rPr>
                          </m:ctrlPr>
                        </m:naryPr>
                        <m:sub>
                          <m:r>
                            <m:rPr>
                              <m:brk m:alnAt="24"/>
                            </m:rPr>
                            <a:rPr lang="en-US" sz="2200" b="0" i="1" smtClean="0">
                              <a:latin typeface="Cambria Math"/>
                            </a:rPr>
                            <m:t>−</m:t>
                          </m:r>
                          <m:r>
                            <a:rPr lang="en-US" sz="2200" b="0" i="1" smtClean="0">
                              <a:latin typeface="Cambria Math"/>
                              <a:ea typeface="Cambria Math"/>
                            </a:rPr>
                            <m:t>∞</m:t>
                          </m:r>
                        </m:sub>
                        <m:sup>
                          <m:r>
                            <a:rPr lang="en-US" sz="2200" b="0" i="1" smtClean="0">
                              <a:latin typeface="Cambria Math"/>
                            </a:rPr>
                            <m:t>𝑥</m:t>
                          </m:r>
                        </m:sup>
                        <m:e>
                          <m:r>
                            <a:rPr lang="en-US" sz="2200" b="0" i="1" smtClean="0">
                              <a:latin typeface="Cambria Math"/>
                            </a:rPr>
                            <m:t>𝑓</m:t>
                          </m:r>
                          <m:d>
                            <m:dPr>
                              <m:ctrlPr>
                                <a:rPr lang="en-US" sz="2200" b="0" i="1" smtClean="0">
                                  <a:latin typeface="Cambria Math" panose="02040503050406030204" pitchFamily="18" charset="0"/>
                                </a:rPr>
                              </m:ctrlPr>
                            </m:dPr>
                            <m:e>
                              <m:r>
                                <a:rPr lang="en-US" sz="2200" b="0" i="1" smtClean="0">
                                  <a:latin typeface="Cambria Math"/>
                                </a:rPr>
                                <m:t>𝑥</m:t>
                              </m:r>
                            </m:e>
                          </m:d>
                          <m:r>
                            <a:rPr lang="en-US" sz="2200" b="0" i="1" smtClean="0">
                              <a:latin typeface="Cambria Math"/>
                            </a:rPr>
                            <m:t>𝑑𝑥</m:t>
                          </m:r>
                        </m:e>
                      </m:nary>
                      <m:r>
                        <a:rPr lang="en-US" sz="2200" i="1">
                          <a:latin typeface="Cambria Math"/>
                        </a:rPr>
                        <m:t>=</m:t>
                      </m:r>
                      <m:r>
                        <a:rPr lang="en-US" sz="2200" i="1">
                          <a:latin typeface="Cambria Math"/>
                        </a:rPr>
                        <m:t>𝑃</m:t>
                      </m:r>
                      <m:d>
                        <m:dPr>
                          <m:ctrlPr>
                            <a:rPr lang="en-US" sz="2200" i="1">
                              <a:latin typeface="Cambria Math" panose="02040503050406030204" pitchFamily="18" charset="0"/>
                            </a:rPr>
                          </m:ctrlPr>
                        </m:dPr>
                        <m:e>
                          <m:r>
                            <a:rPr lang="en-US" sz="2200" i="1">
                              <a:latin typeface="Cambria Math"/>
                            </a:rPr>
                            <m:t>𝑋</m:t>
                          </m:r>
                          <m:r>
                            <a:rPr lang="en-US" sz="2200" i="1">
                              <a:latin typeface="Cambria Math"/>
                              <a:ea typeface="Cambria Math"/>
                            </a:rPr>
                            <m:t>≤</m:t>
                          </m:r>
                          <m:r>
                            <a:rPr lang="en-US" sz="2200" i="1">
                              <a:latin typeface="Cambria Math"/>
                              <a:ea typeface="Cambria Math"/>
                            </a:rPr>
                            <m:t>𝑥</m:t>
                          </m:r>
                        </m:e>
                      </m:d>
                    </m:oMath>
                  </m:oMathPara>
                </a14:m>
                <a:endParaRPr lang="en-US" sz="2200" b="0" dirty="0">
                  <a:ea typeface="Cambria Math"/>
                </a:endParaRPr>
              </a:p>
              <a:p>
                <a:pPr marL="0" indent="0">
                  <a:buNone/>
                </a:pPr>
                <a:r>
                  <a:rPr lang="en-US" sz="2200" dirty="0"/>
                  <a:t>Then the function F(x) is called the cumulative distribution function or simply the distributive functions.</a:t>
                </a:r>
              </a:p>
              <a:p>
                <a:pPr marL="0" indent="0">
                  <a:buNone/>
                </a:pPr>
                <a:r>
                  <a:rPr lang="en-US" sz="2200" b="1" dirty="0"/>
                  <a:t>Properties of  cumulative distribution function:</a:t>
                </a:r>
              </a:p>
              <a:p>
                <a:pPr marL="514350" indent="-514350">
                  <a:buFont typeface="+mj-lt"/>
                  <a:buAutoNum type="romanLcPeriod"/>
                </a:pPr>
                <a14:m>
                  <m:oMath xmlns:m="http://schemas.openxmlformats.org/officeDocument/2006/math">
                    <m:sSup>
                      <m:sSupPr>
                        <m:ctrlPr>
                          <a:rPr lang="en-US" sz="2200" b="0" i="1" smtClean="0">
                            <a:latin typeface="Cambria Math" panose="02040503050406030204" pitchFamily="18" charset="0"/>
                          </a:rPr>
                        </m:ctrlPr>
                      </m:sSupPr>
                      <m:e>
                        <m:r>
                          <a:rPr lang="en-US" sz="2200" b="0" i="1" smtClean="0">
                            <a:latin typeface="Cambria Math"/>
                          </a:rPr>
                          <m:t>𝐹</m:t>
                        </m:r>
                      </m:e>
                      <m:sup>
                        <m:r>
                          <a:rPr lang="en-US" sz="2200" b="0" i="1" smtClean="0">
                            <a:latin typeface="Cambria Math"/>
                          </a:rPr>
                          <m:t>′</m:t>
                        </m:r>
                      </m:sup>
                    </m:sSup>
                    <m:d>
                      <m:dPr>
                        <m:ctrlPr>
                          <a:rPr lang="en-US" sz="2200" b="0" i="1" smtClean="0">
                            <a:latin typeface="Cambria Math" panose="02040503050406030204" pitchFamily="18" charset="0"/>
                          </a:rPr>
                        </m:ctrlPr>
                      </m:dPr>
                      <m:e>
                        <m:r>
                          <a:rPr lang="en-US" sz="2200" b="0" i="1" smtClean="0">
                            <a:latin typeface="Cambria Math"/>
                          </a:rPr>
                          <m:t>𝑥</m:t>
                        </m:r>
                      </m:e>
                    </m:d>
                    <m:r>
                      <a:rPr lang="en-US" sz="2200" b="0" i="1" smtClean="0">
                        <a:latin typeface="Cambria Math"/>
                      </a:rPr>
                      <m:t>=</m:t>
                    </m:r>
                    <m:r>
                      <a:rPr lang="en-US" sz="2200" b="0" i="1" smtClean="0">
                        <a:latin typeface="Cambria Math"/>
                      </a:rPr>
                      <m:t>𝑓</m:t>
                    </m:r>
                    <m:d>
                      <m:dPr>
                        <m:ctrlPr>
                          <a:rPr lang="en-US" sz="2200" b="0" i="1" smtClean="0">
                            <a:latin typeface="Cambria Math" panose="02040503050406030204" pitchFamily="18" charset="0"/>
                          </a:rPr>
                        </m:ctrlPr>
                      </m:dPr>
                      <m:e>
                        <m:r>
                          <a:rPr lang="en-US" sz="2200" b="0" i="1" smtClean="0">
                            <a:latin typeface="Cambria Math"/>
                          </a:rPr>
                          <m:t>𝑥</m:t>
                        </m:r>
                      </m:e>
                    </m:d>
                    <m:r>
                      <a:rPr lang="en-US" sz="2200" b="0" i="1" smtClean="0">
                        <a:latin typeface="Cambria Math"/>
                        <a:ea typeface="Cambria Math"/>
                      </a:rPr>
                      <m:t>≥0</m:t>
                    </m:r>
                  </m:oMath>
                </a14:m>
                <a:r>
                  <a:rPr lang="en-US" sz="2200" b="0" dirty="0">
                    <a:ea typeface="Cambria Math"/>
                  </a:rPr>
                  <a:t> ,i.e. </a:t>
                </a:r>
                <a14:m>
                  <m:oMath xmlns:m="http://schemas.openxmlformats.org/officeDocument/2006/math">
                    <m:r>
                      <a:rPr lang="en-US" sz="2200" b="0" i="1" smtClean="0">
                        <a:latin typeface="Cambria Math"/>
                        <a:ea typeface="Cambria Math"/>
                      </a:rPr>
                      <m:t>𝑑𝐹</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𝑥</m:t>
                        </m:r>
                      </m:e>
                    </m:d>
                    <m:r>
                      <a:rPr lang="en-US" sz="2200" b="0" i="1" smtClean="0">
                        <a:latin typeface="Cambria Math"/>
                        <a:ea typeface="Cambria Math"/>
                      </a:rPr>
                      <m:t>=</m:t>
                    </m:r>
                    <m:r>
                      <a:rPr lang="en-US" sz="2200" b="0" i="1" smtClean="0">
                        <a:latin typeface="Cambria Math"/>
                        <a:ea typeface="Cambria Math"/>
                      </a:rPr>
                      <m:t>𝑓</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𝑥</m:t>
                        </m:r>
                      </m:e>
                    </m:d>
                    <m:r>
                      <a:rPr lang="en-US" sz="2200" b="0" i="1" smtClean="0">
                        <a:latin typeface="Cambria Math"/>
                        <a:ea typeface="Cambria Math"/>
                      </a:rPr>
                      <m:t>𝑑𝑥</m:t>
                    </m:r>
                  </m:oMath>
                </a14:m>
                <a:endParaRPr lang="en-US" sz="2200" b="0" dirty="0">
                  <a:ea typeface="Cambria Math"/>
                </a:endParaRPr>
              </a:p>
              <a:p>
                <a:pPr marL="514350" indent="-514350">
                  <a:buFont typeface="+mj-lt"/>
                  <a:buAutoNum type="romanLcPeriod"/>
                </a:pPr>
                <a14:m>
                  <m:oMath xmlns:m="http://schemas.openxmlformats.org/officeDocument/2006/math">
                    <m:r>
                      <a:rPr lang="en-US" sz="2200" b="0" i="1" smtClean="0">
                        <a:latin typeface="Cambria Math"/>
                        <a:ea typeface="Cambria Math"/>
                      </a:rPr>
                      <m:t>𝐹</m:t>
                    </m:r>
                    <m:d>
                      <m:dPr>
                        <m:ctrlPr>
                          <a:rPr lang="en-US" sz="2200" b="0" i="1" smtClean="0">
                            <a:latin typeface="Cambria Math" panose="02040503050406030204" pitchFamily="18" charset="0"/>
                            <a:ea typeface="Cambria Math"/>
                          </a:rPr>
                        </m:ctrlPr>
                      </m:dPr>
                      <m:e>
                        <m:r>
                          <a:rPr lang="en-US" sz="2200" b="0" i="1" smtClean="0">
                            <a:latin typeface="Cambria Math"/>
                            <a:ea typeface="Cambria Math"/>
                          </a:rPr>
                          <m:t>−∞</m:t>
                        </m:r>
                      </m:e>
                    </m:d>
                    <m:r>
                      <a:rPr lang="en-US" sz="2200" b="0" i="1" smtClean="0">
                        <a:latin typeface="Cambria Math"/>
                        <a:ea typeface="Cambria Math"/>
                      </a:rPr>
                      <m:t>=0</m:t>
                    </m:r>
                  </m:oMath>
                </a14:m>
                <a:endParaRPr lang="en-US" sz="2200" b="0" dirty="0">
                  <a:ea typeface="Cambria Math"/>
                </a:endParaRPr>
              </a:p>
              <a:p>
                <a:pPr marL="514350" indent="-514350">
                  <a:buFont typeface="+mj-lt"/>
                  <a:buAutoNum type="romanLcPeriod"/>
                </a:pPr>
                <a14:m>
                  <m:oMath xmlns:m="http://schemas.openxmlformats.org/officeDocument/2006/math">
                    <m:r>
                      <a:rPr lang="en-US" sz="2200" i="1">
                        <a:latin typeface="Cambria Math"/>
                        <a:ea typeface="Cambria Math"/>
                      </a:rPr>
                      <m:t>𝐹</m:t>
                    </m:r>
                    <m:d>
                      <m:dPr>
                        <m:ctrlPr>
                          <a:rPr lang="en-US" sz="2200" i="1">
                            <a:latin typeface="Cambria Math" panose="02040503050406030204" pitchFamily="18" charset="0"/>
                            <a:ea typeface="Cambria Math"/>
                          </a:rPr>
                        </m:ctrlPr>
                      </m:dPr>
                      <m:e>
                        <m:r>
                          <a:rPr lang="en-US" sz="2200" i="1">
                            <a:latin typeface="Cambria Math"/>
                            <a:ea typeface="Cambria Math"/>
                          </a:rPr>
                          <m:t>∞</m:t>
                        </m:r>
                      </m:e>
                    </m:d>
                    <m:r>
                      <a:rPr lang="en-US" sz="2200" i="1">
                        <a:latin typeface="Cambria Math"/>
                        <a:ea typeface="Cambria Math"/>
                      </a:rPr>
                      <m:t>=</m:t>
                    </m:r>
                    <m:r>
                      <a:rPr lang="en-US" sz="2200" b="0" i="1" smtClean="0">
                        <a:latin typeface="Cambria Math"/>
                        <a:ea typeface="Cambria Math"/>
                      </a:rPr>
                      <m:t>1</m:t>
                    </m:r>
                  </m:oMath>
                </a14:m>
                <a:endParaRPr lang="en-US" sz="2200" dirty="0">
                  <a:ea typeface="Cambria Math"/>
                </a:endParaRPr>
              </a:p>
              <a:p>
                <a:pPr marL="514350" indent="-514350">
                  <a:buFont typeface="+mj-lt"/>
                  <a:buAutoNum type="romanLcPeriod"/>
                </a:pPr>
                <a14:m>
                  <m:oMath xmlns:m="http://schemas.openxmlformats.org/officeDocument/2006/math">
                    <m:r>
                      <a:rPr lang="en-US" sz="2200" i="1">
                        <a:latin typeface="Cambria Math"/>
                        <a:ea typeface="Cambria Math"/>
                      </a:rPr>
                      <m:t>𝐹</m:t>
                    </m:r>
                    <m:d>
                      <m:dPr>
                        <m:ctrlPr>
                          <a:rPr lang="en-US" sz="2200" i="1">
                            <a:latin typeface="Cambria Math" panose="02040503050406030204" pitchFamily="18" charset="0"/>
                            <a:ea typeface="Cambria Math"/>
                          </a:rPr>
                        </m:ctrlPr>
                      </m:dPr>
                      <m:e>
                        <m:r>
                          <a:rPr lang="en-US" sz="2200" b="0" i="1" smtClean="0">
                            <a:latin typeface="Cambria Math"/>
                            <a:ea typeface="Cambria Math"/>
                          </a:rPr>
                          <m:t>𝑥</m:t>
                        </m:r>
                      </m:e>
                    </m:d>
                  </m:oMath>
                </a14:m>
                <a:r>
                  <a:rPr lang="en-US" sz="2200" dirty="0">
                    <a:ea typeface="Cambria Math"/>
                  </a:rPr>
                  <a:t> is a </a:t>
                </a:r>
                <a:r>
                  <a:rPr lang="en-US" sz="2200" dirty="0" err="1">
                    <a:ea typeface="Cambria Math"/>
                  </a:rPr>
                  <a:t>continous</a:t>
                </a:r>
                <a:r>
                  <a:rPr lang="en-US" sz="2200" dirty="0">
                    <a:ea typeface="Cambria Math"/>
                  </a:rPr>
                  <a:t> function of x on the right.</a:t>
                </a:r>
              </a:p>
              <a:p>
                <a:pPr marL="514350" indent="-514350">
                  <a:buFont typeface="+mj-lt"/>
                  <a:buAutoNum type="romanLcPeriod"/>
                </a:pPr>
                <a:endParaRPr lang="en-US" sz="2200" dirty="0">
                  <a:ea typeface="Cambria Math"/>
                </a:endParaRPr>
              </a:p>
              <a:p>
                <a:pPr marL="514350" indent="-514350">
                  <a:buFont typeface="+mj-lt"/>
                  <a:buAutoNum type="romanLcPeriod"/>
                </a:pPr>
                <a:endParaRPr lang="en-US" sz="2200" b="0" dirty="0">
                  <a:ea typeface="Cambria Math"/>
                </a:endParaRPr>
              </a:p>
              <a:p>
                <a:pPr marL="514350" indent="-514350">
                  <a:buFont typeface="+mj-lt"/>
                  <a:buAutoNum type="romanLcPeriod"/>
                </a:pPr>
                <a:endParaRPr lang="en-US" sz="2200" b="0" dirty="0">
                  <a:ea typeface="Cambria Math"/>
                </a:endParaRPr>
              </a:p>
              <a:p>
                <a:pPr marL="514350" indent="-514350">
                  <a:buFont typeface="+mj-lt"/>
                  <a:buAutoNum type="romanLcPeriod"/>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l="-963" t="-943" b="-2022"/>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22</a:t>
            </a:fld>
            <a:endParaRPr lang="en-US"/>
          </a:p>
        </p:txBody>
      </p:sp>
      <p:sp>
        <p:nvSpPr>
          <p:cNvPr id="7" name="Title 1"/>
          <p:cNvSpPr txBox="1">
            <a:spLocks/>
          </p:cNvSpPr>
          <p:nvPr/>
        </p:nvSpPr>
        <p:spPr>
          <a:xfrm>
            <a:off x="1600199" y="0"/>
            <a:ext cx="7563633"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 </a:t>
            </a:r>
          </a:p>
          <a:p>
            <a:pPr algn="ctr">
              <a:spcBef>
                <a:spcPct val="0"/>
              </a:spcBef>
              <a:defRPr/>
            </a:pPr>
            <a:r>
              <a:rPr lang="en-US" sz="2400" b="1" dirty="0"/>
              <a:t>Cumulative distribution function(CO3)</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1" i="0" u="none" strike="noStrike" kern="1200" cap="none" spc="0" normalizeH="0" baseline="0" noProof="0" dirty="0">
              <a:ln>
                <a:noFill/>
              </a:ln>
              <a:solidFill>
                <a:schemeClr val="dk1"/>
              </a:solidFill>
              <a:effectLst/>
              <a:uLnTx/>
              <a:uFillTx/>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849556954"/>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Q1.</a:t>
                </a:r>
                <a:r>
                  <a:rPr lang="en-US" sz="2200" dirty="0"/>
                  <a:t> the diameter, say X , of an electric cable, is assumed to be a continuous random variable with </a:t>
                </a:r>
                <a:r>
                  <a:rPr lang="en-US" sz="2200" dirty="0" err="1"/>
                  <a:t>p.d.f</a:t>
                </a:r>
                <a:r>
                  <a:rPr lang="en-US" sz="2200" dirty="0"/>
                  <a:t>.:</a:t>
                </a:r>
                <a14:m>
                  <m:oMath xmlns:m="http://schemas.openxmlformats.org/officeDocument/2006/math">
                    <m:r>
                      <a:rPr lang="en-US" sz="2200" b="0" i="1" smtClean="0">
                        <a:latin typeface="Cambria Math"/>
                      </a:rPr>
                      <m:t>𝑓</m:t>
                    </m:r>
                    <m:d>
                      <m:dPr>
                        <m:ctrlPr>
                          <a:rPr lang="en-US" sz="2200" b="0" i="1" smtClean="0">
                            <a:latin typeface="Cambria Math" panose="02040503050406030204" pitchFamily="18" charset="0"/>
                          </a:rPr>
                        </m:ctrlPr>
                      </m:dPr>
                      <m:e>
                        <m:r>
                          <a:rPr lang="en-US" sz="2200" b="0" i="1" smtClean="0">
                            <a:latin typeface="Cambria Math"/>
                          </a:rPr>
                          <m:t>𝑥</m:t>
                        </m:r>
                      </m:e>
                    </m:d>
                    <m:r>
                      <a:rPr lang="en-US" sz="2200" b="0" i="1" smtClean="0">
                        <a:latin typeface="Cambria Math"/>
                      </a:rPr>
                      <m:t>=6</m:t>
                    </m:r>
                    <m:r>
                      <a:rPr lang="en-US" sz="2200" b="0" i="1" smtClean="0">
                        <a:latin typeface="Cambria Math"/>
                      </a:rPr>
                      <m:t>𝑥</m:t>
                    </m:r>
                    <m:d>
                      <m:dPr>
                        <m:ctrlPr>
                          <a:rPr lang="en-US" sz="2200" b="0" i="1" smtClean="0">
                            <a:latin typeface="Cambria Math" panose="02040503050406030204" pitchFamily="18" charset="0"/>
                          </a:rPr>
                        </m:ctrlPr>
                      </m:dPr>
                      <m:e>
                        <m:r>
                          <a:rPr lang="en-US" sz="2200" b="0" i="1" smtClean="0">
                            <a:latin typeface="Cambria Math"/>
                          </a:rPr>
                          <m:t>1−</m:t>
                        </m:r>
                        <m:r>
                          <a:rPr lang="en-US" sz="2200" b="0" i="1" smtClean="0">
                            <a:latin typeface="Cambria Math"/>
                          </a:rPr>
                          <m:t>𝑥</m:t>
                        </m:r>
                      </m:e>
                    </m:d>
                    <m:r>
                      <a:rPr lang="en-US" sz="2200" b="0" i="1" smtClean="0">
                        <a:latin typeface="Cambria Math"/>
                      </a:rPr>
                      <m:t>,0</m:t>
                    </m:r>
                    <m:r>
                      <a:rPr lang="en-US" sz="2200" b="0" i="1" smtClean="0">
                        <a:latin typeface="Cambria Math"/>
                        <a:ea typeface="Cambria Math"/>
                      </a:rPr>
                      <m:t>≤</m:t>
                    </m:r>
                    <m:r>
                      <a:rPr lang="en-US" sz="2200" b="0" i="1" smtClean="0">
                        <a:latin typeface="Cambria Math"/>
                        <a:ea typeface="Cambria Math"/>
                      </a:rPr>
                      <m:t>𝑥</m:t>
                    </m:r>
                    <m:r>
                      <a:rPr lang="en-US" sz="2200" b="0" i="1" smtClean="0">
                        <a:latin typeface="Cambria Math"/>
                        <a:ea typeface="Cambria Math"/>
                      </a:rPr>
                      <m:t>≤1</m:t>
                    </m:r>
                  </m:oMath>
                </a14:m>
                <a:endParaRPr lang="en-US" sz="2200" b="1" dirty="0"/>
              </a:p>
              <a:p>
                <a:pPr marL="514350" indent="-514350">
                  <a:buFont typeface="+mj-lt"/>
                  <a:buAutoNum type="romanLcPeriod"/>
                </a:pPr>
                <a:r>
                  <a:rPr lang="en-US" sz="2200" dirty="0"/>
                  <a:t>Check that above is </a:t>
                </a:r>
                <a:r>
                  <a:rPr lang="en-US" sz="2200" dirty="0" err="1"/>
                  <a:t>p.d.f</a:t>
                </a:r>
                <a:r>
                  <a:rPr lang="en-US" sz="2200" dirty="0"/>
                  <a:t>.</a:t>
                </a:r>
              </a:p>
              <a:p>
                <a:pPr marL="514350" indent="-514350">
                  <a:buFont typeface="+mj-lt"/>
                  <a:buAutoNum type="romanLcPeriod"/>
                </a:pPr>
                <a:r>
                  <a:rPr lang="en-US" sz="2200" dirty="0"/>
                  <a:t>Obtain an expression for the </a:t>
                </a:r>
                <a:r>
                  <a:rPr lang="en-US" sz="2200" dirty="0" err="1"/>
                  <a:t>c.d.f</a:t>
                </a:r>
                <a:r>
                  <a:rPr lang="en-US" sz="2200" dirty="0"/>
                  <a:t>. of  X.</a:t>
                </a:r>
              </a:p>
              <a:p>
                <a:pPr marL="514350" indent="-514350">
                  <a:buFont typeface="+mj-lt"/>
                  <a:buAutoNum type="romanLcPeriod"/>
                </a:pPr>
                <a:r>
                  <a:rPr lang="en-US" sz="2200" dirty="0"/>
                  <a:t>Compute </a:t>
                </a:r>
                <a14:m>
                  <m:oMath xmlns:m="http://schemas.openxmlformats.org/officeDocument/2006/math">
                    <m:r>
                      <a:rPr lang="en-US" sz="2200" b="0" i="1" smtClean="0">
                        <a:latin typeface="Cambria Math"/>
                      </a:rPr>
                      <m:t>𝑃</m:t>
                    </m:r>
                    <m:d>
                      <m:dPr>
                        <m:ctrlPr>
                          <a:rPr lang="en-US" sz="2200" i="1" smtClean="0">
                            <a:latin typeface="Cambria Math" panose="02040503050406030204" pitchFamily="18" charset="0"/>
                          </a:rPr>
                        </m:ctrlPr>
                      </m:dPr>
                      <m:e>
                        <m:r>
                          <a:rPr lang="en-US" sz="2200" b="0" i="1">
                            <a:latin typeface="Cambria Math"/>
                          </a:rPr>
                          <m:t>𝑋</m:t>
                        </m:r>
                        <m:r>
                          <a:rPr lang="en-US" sz="2200" b="0" i="1">
                            <a:latin typeface="Cambria Math"/>
                            <a:ea typeface="Cambria Math"/>
                          </a:rPr>
                          <m:t>≤</m:t>
                        </m:r>
                        <m:f>
                          <m:fPr>
                            <m:ctrlPr>
                              <a:rPr lang="en-US" sz="2200" i="1">
                                <a:latin typeface="Cambria Math" panose="02040503050406030204" pitchFamily="18" charset="0"/>
                                <a:ea typeface="Cambria Math"/>
                              </a:rPr>
                            </m:ctrlPr>
                          </m:fPr>
                          <m:num>
                            <m:r>
                              <a:rPr lang="en-US" sz="2200" b="0" i="1">
                                <a:latin typeface="Cambria Math"/>
                                <a:ea typeface="Cambria Math"/>
                              </a:rPr>
                              <m:t>1</m:t>
                            </m:r>
                          </m:num>
                          <m:den>
                            <m:r>
                              <a:rPr lang="en-US" sz="2200" b="0" i="1">
                                <a:latin typeface="Cambria Math"/>
                                <a:ea typeface="Cambria Math"/>
                              </a:rPr>
                              <m:t>2</m:t>
                            </m:r>
                          </m:den>
                        </m:f>
                      </m:e>
                      <m:e>
                        <m:f>
                          <m:fPr>
                            <m:ctrlPr>
                              <a:rPr lang="en-US" sz="2200" i="1" smtClean="0">
                                <a:latin typeface="Cambria Math" panose="02040503050406030204" pitchFamily="18" charset="0"/>
                              </a:rPr>
                            </m:ctrlPr>
                          </m:fPr>
                          <m:num>
                            <m:r>
                              <a:rPr lang="en-US" sz="2200" b="0" i="1" smtClean="0">
                                <a:latin typeface="Cambria Math"/>
                              </a:rPr>
                              <m:t>1</m:t>
                            </m:r>
                          </m:num>
                          <m:den>
                            <m:r>
                              <a:rPr lang="en-US" sz="2200" b="0" i="1" smtClean="0">
                                <a:latin typeface="Cambria Math"/>
                              </a:rPr>
                              <m:t>3</m:t>
                            </m:r>
                          </m:den>
                        </m:f>
                        <m:r>
                          <a:rPr lang="en-US" sz="2200" b="0" i="1" smtClean="0">
                            <a:latin typeface="Cambria Math"/>
                            <a:ea typeface="Cambria Math"/>
                          </a:rPr>
                          <m:t>≤</m:t>
                        </m:r>
                        <m:r>
                          <a:rPr lang="en-US" sz="2200" b="0" i="1">
                            <a:latin typeface="Cambria Math"/>
                          </a:rPr>
                          <m:t>𝑋</m:t>
                        </m:r>
                        <m:r>
                          <a:rPr lang="en-US" sz="2200" b="0" i="1">
                            <a:latin typeface="Cambria Math"/>
                            <a:ea typeface="Cambria Math"/>
                          </a:rPr>
                          <m:t>≤</m:t>
                        </m:r>
                        <m:f>
                          <m:fPr>
                            <m:ctrlPr>
                              <a:rPr lang="en-US" sz="2200" i="1">
                                <a:latin typeface="Cambria Math" panose="02040503050406030204" pitchFamily="18" charset="0"/>
                                <a:ea typeface="Cambria Math"/>
                              </a:rPr>
                            </m:ctrlPr>
                          </m:fPr>
                          <m:num>
                            <m:r>
                              <a:rPr lang="en-US" sz="2200" b="0" i="1" smtClean="0">
                                <a:latin typeface="Cambria Math"/>
                                <a:ea typeface="Cambria Math"/>
                              </a:rPr>
                              <m:t>2</m:t>
                            </m:r>
                          </m:num>
                          <m:den>
                            <m:r>
                              <a:rPr lang="en-US" sz="2200" b="0" i="1" smtClean="0">
                                <a:latin typeface="Cambria Math"/>
                                <a:ea typeface="Cambria Math"/>
                              </a:rPr>
                              <m:t>3</m:t>
                            </m:r>
                          </m:den>
                        </m:f>
                      </m:e>
                    </m:d>
                    <m:r>
                      <a:rPr lang="en-US" sz="2200" b="0" i="1" smtClean="0">
                        <a:latin typeface="Cambria Math"/>
                      </a:rPr>
                      <m:t>, </m:t>
                    </m:r>
                  </m:oMath>
                </a14:m>
                <a:r>
                  <a:rPr lang="en-US" sz="2200" dirty="0"/>
                  <a:t>and</a:t>
                </a:r>
              </a:p>
              <a:p>
                <a:pPr marL="514350" indent="-514350">
                  <a:buFont typeface="+mj-lt"/>
                  <a:buAutoNum type="romanLcPeriod"/>
                </a:pPr>
                <a:r>
                  <a:rPr lang="en-US" sz="2200" dirty="0"/>
                  <a:t>Determine the number k such that </a:t>
                </a:r>
                <a14:m>
                  <m:oMath xmlns:m="http://schemas.openxmlformats.org/officeDocument/2006/math">
                    <m:r>
                      <a:rPr lang="en-US" sz="2200" b="0" i="1" smtClean="0">
                        <a:latin typeface="Cambria Math"/>
                      </a:rPr>
                      <m:t>𝑃</m:t>
                    </m:r>
                    <m:d>
                      <m:dPr>
                        <m:ctrlPr>
                          <a:rPr lang="en-US" sz="2200" b="0" i="1" smtClean="0">
                            <a:latin typeface="Cambria Math" panose="02040503050406030204" pitchFamily="18" charset="0"/>
                          </a:rPr>
                        </m:ctrlPr>
                      </m:dPr>
                      <m:e>
                        <m:r>
                          <a:rPr lang="en-US" sz="2200" b="0" i="1" smtClean="0">
                            <a:latin typeface="Cambria Math"/>
                          </a:rPr>
                          <m:t>𝑋</m:t>
                        </m:r>
                        <m:r>
                          <a:rPr lang="en-US" sz="2200" b="0" i="1" smtClean="0">
                            <a:latin typeface="Cambria Math"/>
                          </a:rPr>
                          <m:t>&lt;</m:t>
                        </m:r>
                        <m:r>
                          <a:rPr lang="en-US" sz="2200" b="0" i="1" smtClean="0">
                            <a:latin typeface="Cambria Math"/>
                          </a:rPr>
                          <m:t>𝑘</m:t>
                        </m:r>
                      </m:e>
                    </m:d>
                    <m:r>
                      <a:rPr lang="en-US" sz="2200" b="0" i="1" smtClean="0">
                        <a:latin typeface="Cambria Math"/>
                      </a:rPr>
                      <m:t>=</m:t>
                    </m:r>
                    <m:r>
                      <a:rPr lang="en-US" sz="2200" b="0" i="1" smtClean="0">
                        <a:latin typeface="Cambria Math"/>
                      </a:rPr>
                      <m:t>𝑃</m:t>
                    </m:r>
                    <m:d>
                      <m:dPr>
                        <m:ctrlPr>
                          <a:rPr lang="en-US" sz="2200" b="0" i="1" smtClean="0">
                            <a:latin typeface="Cambria Math" panose="02040503050406030204" pitchFamily="18" charset="0"/>
                          </a:rPr>
                        </m:ctrlPr>
                      </m:dPr>
                      <m:e>
                        <m:r>
                          <a:rPr lang="en-US" sz="2200" b="0" i="1" smtClean="0">
                            <a:latin typeface="Cambria Math"/>
                          </a:rPr>
                          <m:t>𝑋</m:t>
                        </m:r>
                        <m:r>
                          <a:rPr lang="en-US" sz="2200" b="0" i="1" smtClean="0">
                            <a:latin typeface="Cambria Math"/>
                          </a:rPr>
                          <m:t>&gt;</m:t>
                        </m:r>
                        <m:r>
                          <a:rPr lang="en-US" sz="2200" b="0" i="1" smtClean="0">
                            <a:latin typeface="Cambria Math"/>
                          </a:rPr>
                          <m:t>𝑘</m:t>
                        </m:r>
                      </m:e>
                    </m:d>
                  </m:oMath>
                </a14:m>
                <a:endParaRPr lang="en-US" sz="2200" b="0" dirty="0"/>
              </a:p>
              <a:p>
                <a:pPr marL="0" indent="0">
                  <a:buNone/>
                </a:pPr>
                <a:r>
                  <a:rPr lang="en-US" sz="2200" b="1" dirty="0"/>
                  <a:t>Solution:</a:t>
                </a:r>
              </a:p>
              <a:p>
                <a:pPr marL="514350" indent="-514350">
                  <a:buFont typeface="+mj-lt"/>
                  <a:buAutoNum type="romanLcPeriod"/>
                </a:pPr>
                <a:r>
                  <a:rPr lang="en-US" sz="2200" dirty="0"/>
                  <a:t> </a:t>
                </a:r>
                <a14:m>
                  <m:oMath xmlns:m="http://schemas.openxmlformats.org/officeDocument/2006/math">
                    <m:nary>
                      <m:naryPr>
                        <m:limLoc m:val="undOvr"/>
                        <m:ctrlPr>
                          <a:rPr lang="en-US" sz="2200" i="1" smtClean="0">
                            <a:latin typeface="Cambria Math" panose="02040503050406030204" pitchFamily="18" charset="0"/>
                          </a:rPr>
                        </m:ctrlPr>
                      </m:naryPr>
                      <m:sub>
                        <m:r>
                          <m:rPr>
                            <m:brk m:alnAt="24"/>
                          </m:rPr>
                          <a:rPr lang="en-US" sz="2200" b="0" i="1" smtClean="0">
                            <a:latin typeface="Cambria Math"/>
                          </a:rPr>
                          <m:t>0</m:t>
                        </m:r>
                      </m:sub>
                      <m:sup>
                        <m:r>
                          <a:rPr lang="en-US" sz="2200" b="0" i="1" smtClean="0">
                            <a:latin typeface="Cambria Math"/>
                          </a:rPr>
                          <m:t>1</m:t>
                        </m:r>
                      </m:sup>
                      <m:e>
                        <m:r>
                          <a:rPr lang="en-US" sz="2200" b="0" i="1" smtClean="0">
                            <a:latin typeface="Cambria Math"/>
                          </a:rPr>
                          <m:t>6</m:t>
                        </m:r>
                        <m:r>
                          <a:rPr lang="en-US" sz="2200" b="0" i="1" smtClean="0">
                            <a:latin typeface="Cambria Math"/>
                          </a:rPr>
                          <m:t>𝑥</m:t>
                        </m:r>
                        <m:d>
                          <m:dPr>
                            <m:ctrlPr>
                              <a:rPr lang="en-US" sz="2200" i="1" smtClean="0">
                                <a:latin typeface="Cambria Math" panose="02040503050406030204" pitchFamily="18" charset="0"/>
                              </a:rPr>
                            </m:ctrlPr>
                          </m:dPr>
                          <m:e>
                            <m:r>
                              <a:rPr lang="en-US" sz="2200" b="0" i="1" smtClean="0">
                                <a:latin typeface="Cambria Math"/>
                              </a:rPr>
                              <m:t>1−</m:t>
                            </m:r>
                            <m:r>
                              <a:rPr lang="en-US" sz="2200" b="0" i="1" smtClean="0">
                                <a:latin typeface="Cambria Math"/>
                              </a:rPr>
                              <m:t>𝑥</m:t>
                            </m:r>
                          </m:e>
                        </m:d>
                        <m:r>
                          <a:rPr lang="en-US" sz="2200" b="0" i="1" smtClean="0">
                            <a:latin typeface="Cambria Math"/>
                          </a:rPr>
                          <m:t>𝑑𝑥</m:t>
                        </m:r>
                        <m:r>
                          <a:rPr lang="en-US" sz="2200" b="0" i="1" smtClean="0">
                            <a:latin typeface="Cambria Math"/>
                          </a:rPr>
                          <m:t>=6</m:t>
                        </m:r>
                        <m:sSub>
                          <m:sSubPr>
                            <m:ctrlPr>
                              <a:rPr lang="en-US" sz="2200" i="1" smtClean="0">
                                <a:latin typeface="Cambria Math" panose="02040503050406030204" pitchFamily="18" charset="0"/>
                              </a:rPr>
                            </m:ctrlPr>
                          </m:sSubPr>
                          <m:e>
                            <m:sSubSup>
                              <m:sSubSupPr>
                                <m:ctrlPr>
                                  <a:rPr lang="en-US" sz="2200" i="1">
                                    <a:latin typeface="Cambria Math" panose="02040503050406030204" pitchFamily="18" charset="0"/>
                                  </a:rPr>
                                </m:ctrlPr>
                              </m:sSubSupPr>
                              <m:e>
                                <m:d>
                                  <m:dPr>
                                    <m:begChr m:val="|"/>
                                    <m:endChr m:val="|"/>
                                    <m:ctrlPr>
                                      <a:rPr lang="en-US" sz="2200" i="1">
                                        <a:latin typeface="Cambria Math" panose="02040503050406030204" pitchFamily="18" charset="0"/>
                                      </a:rPr>
                                    </m:ctrlPr>
                                  </m:dPr>
                                  <m:e>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b="0" i="1">
                                                <a:latin typeface="Cambria Math"/>
                                              </a:rPr>
                                              <m:t>𝑥</m:t>
                                            </m:r>
                                          </m:e>
                                          <m:sup>
                                            <m:r>
                                              <a:rPr lang="en-US" sz="2200" b="0" i="1">
                                                <a:latin typeface="Cambria Math"/>
                                              </a:rPr>
                                              <m:t>2</m:t>
                                            </m:r>
                                          </m:sup>
                                        </m:sSup>
                                      </m:num>
                                      <m:den>
                                        <m:r>
                                          <a:rPr lang="en-US" sz="2200" b="0" i="1">
                                            <a:latin typeface="Cambria Math"/>
                                          </a:rPr>
                                          <m:t>2</m:t>
                                        </m:r>
                                      </m:den>
                                    </m:f>
                                    <m:r>
                                      <a:rPr lang="en-US" sz="2200" b="0" i="1">
                                        <a:latin typeface="Cambria Math"/>
                                      </a:rPr>
                                      <m:t>−</m:t>
                                    </m:r>
                                    <m:f>
                                      <m:fPr>
                                        <m:ctrlPr>
                                          <a:rPr lang="en-US" sz="2200" i="1">
                                            <a:latin typeface="Cambria Math" panose="02040503050406030204" pitchFamily="18" charset="0"/>
                                          </a:rPr>
                                        </m:ctrlPr>
                                      </m:fPr>
                                      <m:num>
                                        <m:sSup>
                                          <m:sSupPr>
                                            <m:ctrlPr>
                                              <a:rPr lang="en-US" sz="2200" i="1">
                                                <a:latin typeface="Cambria Math" panose="02040503050406030204" pitchFamily="18" charset="0"/>
                                              </a:rPr>
                                            </m:ctrlPr>
                                          </m:sSupPr>
                                          <m:e>
                                            <m:r>
                                              <a:rPr lang="en-US" sz="2200" b="0" i="1">
                                                <a:latin typeface="Cambria Math"/>
                                              </a:rPr>
                                              <m:t>𝑥</m:t>
                                            </m:r>
                                          </m:e>
                                          <m:sup>
                                            <m:r>
                                              <a:rPr lang="en-US" sz="2200" b="0" i="1">
                                                <a:latin typeface="Cambria Math"/>
                                              </a:rPr>
                                              <m:t>3</m:t>
                                            </m:r>
                                          </m:sup>
                                        </m:sSup>
                                      </m:num>
                                      <m:den>
                                        <m:r>
                                          <a:rPr lang="en-US" sz="2200" b="0" i="1">
                                            <a:latin typeface="Cambria Math"/>
                                          </a:rPr>
                                          <m:t>3</m:t>
                                        </m:r>
                                      </m:den>
                                    </m:f>
                                  </m:e>
                                </m:d>
                              </m:e>
                              <m:sub>
                                <m:r>
                                  <a:rPr lang="en-IN" sz="2200" b="0" i="1" smtClean="0">
                                    <a:latin typeface="Cambria Math" panose="02040503050406030204" pitchFamily="18" charset="0"/>
                                  </a:rPr>
                                  <m:t> </m:t>
                                </m:r>
                              </m:sub>
                              <m:sup>
                                <m:r>
                                  <a:rPr lang="en-US" sz="2200" b="0" i="1">
                                    <a:latin typeface="Cambria Math"/>
                                  </a:rPr>
                                  <m:t>1</m:t>
                                </m:r>
                              </m:sup>
                            </m:sSubSup>
                          </m:e>
                          <m:sub>
                            <m:r>
                              <a:rPr lang="en-US" sz="2200" b="0" i="1" smtClean="0">
                                <a:latin typeface="Cambria Math"/>
                              </a:rPr>
                              <m:t>0</m:t>
                            </m:r>
                          </m:sub>
                        </m:sSub>
                      </m:e>
                    </m:nary>
                    <m:r>
                      <a:rPr lang="en-US" sz="2200" b="0" i="0" smtClean="0">
                        <a:latin typeface="Cambria Math"/>
                      </a:rPr>
                      <m:t>= 1, </m:t>
                    </m:r>
                  </m:oMath>
                </a14:m>
                <a:r>
                  <a:rPr lang="en-US" sz="2200" dirty="0"/>
                  <a:t>it satisfies the first property of probability density function so f(x) is </a:t>
                </a:r>
                <a:r>
                  <a:rPr lang="en-US" sz="2200" dirty="0" err="1"/>
                  <a:t>p.d.f</a:t>
                </a:r>
                <a:r>
                  <a:rPr lang="en-US" sz="2200" dirty="0"/>
                  <a:t>.</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963" t="-943" r="-111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23</a:t>
            </a:fld>
            <a:endParaRPr lang="en-US"/>
          </a:p>
        </p:txBody>
      </p:sp>
      <p:sp>
        <p:nvSpPr>
          <p:cNvPr id="9" name="Title 1"/>
          <p:cNvSpPr txBox="1">
            <a:spLocks/>
          </p:cNvSpPr>
          <p:nvPr/>
        </p:nvSpPr>
        <p:spPr>
          <a:xfrm>
            <a:off x="1600199" y="0"/>
            <a:ext cx="7563633"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 </a:t>
            </a:r>
          </a:p>
          <a:p>
            <a:pPr algn="ctr">
              <a:spcBef>
                <a:spcPct val="0"/>
              </a:spcBef>
              <a:defRPr/>
            </a:pPr>
            <a:r>
              <a:rPr lang="en-US" sz="2400" b="1" dirty="0"/>
              <a:t>Cumulative distribution function(CO3)</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1" i="0" u="none" strike="noStrike" kern="1200" cap="none" spc="0" normalizeH="0" baseline="0" noProof="0" dirty="0">
              <a:ln>
                <a:noFill/>
              </a:ln>
              <a:solidFill>
                <a:schemeClr val="dk1"/>
              </a:solidFill>
              <a:effectLst/>
              <a:uLnTx/>
              <a:uFillTx/>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726145940"/>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fontScale="92500"/>
              </a:bodyPr>
              <a:lstStyle/>
              <a:p>
                <a:pPr marL="400050" indent="-400050">
                  <a:buAutoNum type="romanLcPeriod" startAt="2"/>
                </a:pPr>
                <a14:m>
                  <m:oMath xmlns:m="http://schemas.openxmlformats.org/officeDocument/2006/math">
                    <m:r>
                      <a:rPr lang="en-US" sz="2200" b="0" i="1" smtClean="0">
                        <a:latin typeface="Cambria Math"/>
                      </a:rPr>
                      <m:t>𝐹</m:t>
                    </m:r>
                    <m:d>
                      <m:dPr>
                        <m:ctrlPr>
                          <a:rPr lang="en-US" sz="2200" i="1" smtClean="0">
                            <a:latin typeface="Cambria Math" panose="02040503050406030204" pitchFamily="18" charset="0"/>
                          </a:rPr>
                        </m:ctrlPr>
                      </m:dPr>
                      <m:e>
                        <m:r>
                          <a:rPr lang="en-US" sz="2200" b="0" i="1" smtClean="0">
                            <a:latin typeface="Cambria Math"/>
                          </a:rPr>
                          <m:t>𝑥</m:t>
                        </m:r>
                      </m:e>
                    </m:d>
                    <m:r>
                      <a:rPr lang="en-US" sz="2200" b="0" i="1" smtClean="0">
                        <a:latin typeface="Cambria Math"/>
                      </a:rPr>
                      <m:t>=</m:t>
                    </m:r>
                    <m:d>
                      <m:dPr>
                        <m:begChr m:val="{"/>
                        <m:endChr m:val=""/>
                        <m:ctrlPr>
                          <a:rPr lang="en-US" sz="2200" i="1" smtClean="0">
                            <a:latin typeface="Cambria Math" panose="02040503050406030204" pitchFamily="18" charset="0"/>
                          </a:rPr>
                        </m:ctrlPr>
                      </m:dPr>
                      <m:e>
                        <m:m>
                          <m:mPr>
                            <m:mcs>
                              <m:mc>
                                <m:mcPr>
                                  <m:count m:val="1"/>
                                  <m:mcJc m:val="center"/>
                                </m:mcPr>
                              </m:mc>
                            </m:mcs>
                            <m:ctrlPr>
                              <a:rPr lang="en-US" sz="2200" i="1" smtClean="0">
                                <a:latin typeface="Cambria Math" panose="02040503050406030204" pitchFamily="18" charset="0"/>
                              </a:rPr>
                            </m:ctrlPr>
                          </m:mPr>
                          <m:mr>
                            <m:e>
                              <m:r>
                                <m:rPr>
                                  <m:brk m:alnAt="7"/>
                                </m:rPr>
                                <a:rPr lang="en-US" sz="2200" b="0" i="1" smtClean="0">
                                  <a:latin typeface="Cambria Math"/>
                                </a:rPr>
                                <m:t>0</m:t>
                              </m:r>
                              <m:r>
                                <a:rPr lang="en-US" sz="2200" b="0" i="1" smtClean="0">
                                  <a:latin typeface="Cambria Math"/>
                                </a:rPr>
                                <m:t>, </m:t>
                              </m:r>
                              <m:r>
                                <a:rPr lang="en-US" sz="2200" b="0" i="1" smtClean="0">
                                  <a:latin typeface="Cambria Math" panose="02040503050406030204" pitchFamily="18" charset="0"/>
                                </a:rPr>
                                <m:t>                                                       </m:t>
                              </m:r>
                              <m:r>
                                <a:rPr lang="en-US" sz="2200" b="0" i="1" smtClean="0">
                                  <a:latin typeface="Cambria Math"/>
                                </a:rPr>
                                <m:t>𝑖𝑓</m:t>
                              </m:r>
                              <m:r>
                                <a:rPr lang="en-US" sz="2200" b="0" i="1" smtClean="0">
                                  <a:latin typeface="Cambria Math"/>
                                </a:rPr>
                                <m:t> </m:t>
                              </m:r>
                              <m:r>
                                <a:rPr lang="en-US" sz="2200" b="0" i="1" smtClean="0">
                                  <a:latin typeface="Cambria Math"/>
                                </a:rPr>
                                <m:t>𝑥</m:t>
                              </m:r>
                              <m:r>
                                <a:rPr lang="en-US" sz="2200" b="0" i="1" smtClean="0">
                                  <a:latin typeface="Cambria Math"/>
                                  <a:ea typeface="Cambria Math"/>
                                </a:rPr>
                                <m:t>≤0</m:t>
                              </m:r>
                            </m:e>
                          </m:mr>
                          <m:mr>
                            <m:e>
                              <m:r>
                                <a:rPr lang="en-US" sz="2200" i="1">
                                  <a:latin typeface="Cambria Math"/>
                                </a:rPr>
                                <m:t>3</m:t>
                              </m:r>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2</m:t>
                                  </m:r>
                                </m:sup>
                              </m:sSup>
                              <m:r>
                                <a:rPr lang="en-US" sz="2200" i="1">
                                  <a:latin typeface="Cambria Math"/>
                                </a:rPr>
                                <m:t>−2</m:t>
                              </m:r>
                              <m:sSup>
                                <m:sSupPr>
                                  <m:ctrlPr>
                                    <a:rPr lang="en-US" sz="2200" i="1">
                                      <a:latin typeface="Cambria Math" panose="02040503050406030204" pitchFamily="18" charset="0"/>
                                    </a:rPr>
                                  </m:ctrlPr>
                                </m:sSupPr>
                                <m:e>
                                  <m:r>
                                    <a:rPr lang="en-US" sz="2200" i="1">
                                      <a:latin typeface="Cambria Math"/>
                                    </a:rPr>
                                    <m:t>𝑥</m:t>
                                  </m:r>
                                </m:e>
                                <m:sup>
                                  <m:r>
                                    <a:rPr lang="en-US" sz="2200" i="1">
                                      <a:latin typeface="Cambria Math"/>
                                    </a:rPr>
                                    <m:t>3</m:t>
                                  </m:r>
                                </m:sup>
                              </m:sSup>
                              <m:r>
                                <a:rPr lang="en-US" sz="2200" i="1">
                                  <a:latin typeface="Cambria Math"/>
                                </a:rPr>
                                <m:t>,</m:t>
                              </m:r>
                              <m:r>
                                <a:rPr lang="en-US" sz="2200" b="0" i="1" smtClean="0">
                                  <a:latin typeface="Cambria Math" panose="02040503050406030204" pitchFamily="18" charset="0"/>
                                </a:rPr>
                                <m:t>                                               </m:t>
                              </m:r>
                              <m:r>
                                <a:rPr lang="en-US" sz="2200" b="0" i="1" smtClean="0">
                                  <a:latin typeface="Cambria Math" panose="02040503050406030204" pitchFamily="18" charset="0"/>
                                </a:rPr>
                                <m:t>𝑖𝑓</m:t>
                              </m:r>
                              <m:r>
                                <a:rPr lang="en-US" sz="2200" b="0" i="1" smtClean="0">
                                  <a:latin typeface="Cambria Math" panose="02040503050406030204" pitchFamily="18" charset="0"/>
                                </a:rPr>
                                <m:t> 0&lt;</m:t>
                              </m:r>
                              <m:r>
                                <a:rPr lang="en-US" sz="2200" i="1">
                                  <a:latin typeface="Cambria Math"/>
                                </a:rPr>
                                <m:t>𝑥</m:t>
                              </m:r>
                              <m:r>
                                <a:rPr lang="en-US" sz="2200" i="1">
                                  <a:latin typeface="Cambria Math"/>
                                  <a:ea typeface="Cambria Math"/>
                                </a:rPr>
                                <m:t>≤1</m:t>
                              </m:r>
                            </m:e>
                          </m:mr>
                          <m:mr>
                            <m:e>
                              <m:r>
                                <a:rPr lang="en-US" sz="2200" b="0" i="1" smtClean="0">
                                  <a:latin typeface="Cambria Math"/>
                                </a:rPr>
                                <m:t>1,</m:t>
                              </m:r>
                              <m:r>
                                <a:rPr lang="en-US" sz="2200" b="0" i="1" smtClean="0">
                                  <a:latin typeface="Cambria Math" panose="02040503050406030204" pitchFamily="18" charset="0"/>
                                </a:rPr>
                                <m:t>                                                        </m:t>
                              </m:r>
                              <m:r>
                                <a:rPr lang="en-US" sz="2200" b="0" i="1" smtClean="0">
                                  <a:latin typeface="Cambria Math"/>
                                </a:rPr>
                                <m:t> </m:t>
                              </m:r>
                              <m:r>
                                <a:rPr lang="en-US" sz="2200" b="0" i="1" smtClean="0">
                                  <a:latin typeface="Cambria Math"/>
                                </a:rPr>
                                <m:t>𝑖𝑓</m:t>
                              </m:r>
                              <m:r>
                                <a:rPr lang="en-US" sz="2200" b="0" i="1" smtClean="0">
                                  <a:latin typeface="Cambria Math"/>
                                </a:rPr>
                                <m:t> </m:t>
                              </m:r>
                              <m:r>
                                <a:rPr lang="en-US" sz="2200" b="0" i="1" smtClean="0">
                                  <a:latin typeface="Cambria Math"/>
                                </a:rPr>
                                <m:t>𝑥</m:t>
                              </m:r>
                              <m:r>
                                <a:rPr lang="en-US" sz="2200" b="0" i="1" smtClean="0">
                                  <a:latin typeface="Cambria Math"/>
                                </a:rPr>
                                <m:t>&gt;1</m:t>
                              </m:r>
                            </m:e>
                          </m:mr>
                        </m:m>
                      </m:e>
                    </m:d>
                  </m:oMath>
                </a14:m>
                <a:endParaRPr lang="en-US" sz="2200" dirty="0"/>
              </a:p>
              <a:p>
                <a:pPr marL="400050" indent="-400050">
                  <a:buAutoNum type="romanLcPeriod" startAt="2"/>
                </a:pPr>
                <a14:m>
                  <m:oMath xmlns:m="http://schemas.openxmlformats.org/officeDocument/2006/math">
                    <m:r>
                      <a:rPr lang="en-US" sz="2200" b="0" i="1">
                        <a:latin typeface="Cambria Math"/>
                      </a:rPr>
                      <m:t>𝑃</m:t>
                    </m:r>
                    <m:d>
                      <m:dPr>
                        <m:ctrlPr>
                          <a:rPr lang="en-US" sz="2200" i="1">
                            <a:latin typeface="Cambria Math" panose="02040503050406030204" pitchFamily="18" charset="0"/>
                          </a:rPr>
                        </m:ctrlPr>
                      </m:dPr>
                      <m:e>
                        <m:r>
                          <a:rPr lang="en-US" sz="2200" b="0" i="1">
                            <a:latin typeface="Cambria Math"/>
                          </a:rPr>
                          <m:t>𝑋</m:t>
                        </m:r>
                        <m:r>
                          <a:rPr lang="en-US" sz="2200" b="0" i="1">
                            <a:latin typeface="Cambria Math"/>
                            <a:ea typeface="Cambria Math"/>
                          </a:rPr>
                          <m:t>≤</m:t>
                        </m:r>
                        <m:f>
                          <m:fPr>
                            <m:ctrlPr>
                              <a:rPr lang="en-US" sz="2200" i="1">
                                <a:latin typeface="Cambria Math" panose="02040503050406030204" pitchFamily="18" charset="0"/>
                                <a:ea typeface="Cambria Math"/>
                              </a:rPr>
                            </m:ctrlPr>
                          </m:fPr>
                          <m:num>
                            <m:r>
                              <a:rPr lang="en-US" sz="2200" b="0" i="1">
                                <a:latin typeface="Cambria Math"/>
                                <a:ea typeface="Cambria Math"/>
                              </a:rPr>
                              <m:t>1</m:t>
                            </m:r>
                          </m:num>
                          <m:den>
                            <m:r>
                              <a:rPr lang="en-US" sz="2200" b="0" i="1">
                                <a:latin typeface="Cambria Math"/>
                                <a:ea typeface="Cambria Math"/>
                              </a:rPr>
                              <m:t>2</m:t>
                            </m:r>
                          </m:den>
                        </m:f>
                      </m:e>
                      <m:e>
                        <m:f>
                          <m:fPr>
                            <m:ctrlPr>
                              <a:rPr lang="en-US" sz="2200" i="1">
                                <a:latin typeface="Cambria Math" panose="02040503050406030204" pitchFamily="18" charset="0"/>
                              </a:rPr>
                            </m:ctrlPr>
                          </m:fPr>
                          <m:num>
                            <m:r>
                              <a:rPr lang="en-US" sz="2200" b="0" i="1">
                                <a:latin typeface="Cambria Math"/>
                              </a:rPr>
                              <m:t>1</m:t>
                            </m:r>
                          </m:num>
                          <m:den>
                            <m:r>
                              <a:rPr lang="en-US" sz="2200" b="0" i="1">
                                <a:latin typeface="Cambria Math"/>
                              </a:rPr>
                              <m:t>3</m:t>
                            </m:r>
                          </m:den>
                        </m:f>
                        <m:r>
                          <a:rPr lang="en-US" sz="2200" b="0" i="1">
                            <a:latin typeface="Cambria Math"/>
                            <a:ea typeface="Cambria Math"/>
                          </a:rPr>
                          <m:t>≤</m:t>
                        </m:r>
                        <m:r>
                          <a:rPr lang="en-US" sz="2200" b="0" i="1">
                            <a:latin typeface="Cambria Math"/>
                          </a:rPr>
                          <m:t>𝑋</m:t>
                        </m:r>
                        <m:r>
                          <a:rPr lang="en-US" sz="2200" b="0" i="1">
                            <a:latin typeface="Cambria Math"/>
                            <a:ea typeface="Cambria Math"/>
                          </a:rPr>
                          <m:t>≤</m:t>
                        </m:r>
                        <m:f>
                          <m:fPr>
                            <m:ctrlPr>
                              <a:rPr lang="en-US" sz="2200" i="1">
                                <a:latin typeface="Cambria Math" panose="02040503050406030204" pitchFamily="18" charset="0"/>
                                <a:ea typeface="Cambria Math"/>
                              </a:rPr>
                            </m:ctrlPr>
                          </m:fPr>
                          <m:num>
                            <m:r>
                              <a:rPr lang="en-US" sz="2200" b="0" i="1">
                                <a:latin typeface="Cambria Math"/>
                                <a:ea typeface="Cambria Math"/>
                              </a:rPr>
                              <m:t>2</m:t>
                            </m:r>
                          </m:num>
                          <m:den>
                            <m:r>
                              <a:rPr lang="en-US" sz="2200" b="0" i="1">
                                <a:latin typeface="Cambria Math"/>
                                <a:ea typeface="Cambria Math"/>
                              </a:rPr>
                              <m:t>3</m:t>
                            </m:r>
                          </m:den>
                        </m:f>
                      </m:e>
                    </m:d>
                    <m:r>
                      <a:rPr lang="en-US" sz="2200" b="0" i="1" smtClean="0">
                        <a:latin typeface="Cambria Math"/>
                        <a:ea typeface="Cambria Math"/>
                      </a:rPr>
                      <m:t>=</m:t>
                    </m:r>
                    <m:f>
                      <m:fPr>
                        <m:ctrlPr>
                          <a:rPr lang="en-US" sz="2200" i="1" smtClean="0">
                            <a:latin typeface="Cambria Math" panose="02040503050406030204" pitchFamily="18" charset="0"/>
                            <a:ea typeface="Cambria Math"/>
                          </a:rPr>
                        </m:ctrlPr>
                      </m:fPr>
                      <m:num>
                        <m:r>
                          <a:rPr lang="en-US" sz="2200" b="0" i="1">
                            <a:latin typeface="Cambria Math"/>
                          </a:rPr>
                          <m:t>𝑃</m:t>
                        </m:r>
                        <m:d>
                          <m:dPr>
                            <m:ctrlPr>
                              <a:rPr lang="en-US" sz="2200" i="1">
                                <a:latin typeface="Cambria Math" panose="02040503050406030204" pitchFamily="18" charset="0"/>
                                <a:ea typeface="Cambria Math"/>
                              </a:rPr>
                            </m:ctrlPr>
                          </m:dPr>
                          <m:e>
                            <m:f>
                              <m:fPr>
                                <m:ctrlPr>
                                  <a:rPr lang="en-US" sz="2200" i="1">
                                    <a:latin typeface="Cambria Math" panose="02040503050406030204" pitchFamily="18" charset="0"/>
                                  </a:rPr>
                                </m:ctrlPr>
                              </m:fPr>
                              <m:num>
                                <m:r>
                                  <a:rPr lang="en-US" sz="2200" b="0" i="1">
                                    <a:latin typeface="Cambria Math"/>
                                  </a:rPr>
                                  <m:t>1</m:t>
                                </m:r>
                              </m:num>
                              <m:den>
                                <m:r>
                                  <a:rPr lang="en-US" sz="2200" b="0" i="1">
                                    <a:latin typeface="Cambria Math"/>
                                  </a:rPr>
                                  <m:t>3</m:t>
                                </m:r>
                              </m:den>
                            </m:f>
                            <m:r>
                              <a:rPr lang="en-US" sz="2200" b="0" i="1">
                                <a:latin typeface="Cambria Math"/>
                                <a:ea typeface="Cambria Math"/>
                              </a:rPr>
                              <m:t>≤</m:t>
                            </m:r>
                            <m:r>
                              <a:rPr lang="en-US" sz="2200" b="0" i="1">
                                <a:latin typeface="Cambria Math"/>
                              </a:rPr>
                              <m:t>𝑋</m:t>
                            </m:r>
                            <m:r>
                              <a:rPr lang="en-US" sz="2200" b="0" i="1">
                                <a:latin typeface="Cambria Math"/>
                                <a:ea typeface="Cambria Math"/>
                              </a:rPr>
                              <m:t>≤</m:t>
                            </m:r>
                            <m:f>
                              <m:fPr>
                                <m:ctrlPr>
                                  <a:rPr lang="en-US" sz="2200" i="1">
                                    <a:latin typeface="Cambria Math" panose="02040503050406030204" pitchFamily="18" charset="0"/>
                                    <a:ea typeface="Cambria Math"/>
                                  </a:rPr>
                                </m:ctrlPr>
                              </m:fPr>
                              <m:num>
                                <m:r>
                                  <a:rPr lang="en-US" sz="2200" b="0" i="1" smtClean="0">
                                    <a:latin typeface="Cambria Math"/>
                                    <a:ea typeface="Cambria Math"/>
                                  </a:rPr>
                                  <m:t>1</m:t>
                                </m:r>
                              </m:num>
                              <m:den>
                                <m:r>
                                  <a:rPr lang="en-US" sz="2200" b="0" i="1" smtClean="0">
                                    <a:latin typeface="Cambria Math"/>
                                    <a:ea typeface="Cambria Math"/>
                                  </a:rPr>
                                  <m:t>2</m:t>
                                </m:r>
                              </m:den>
                            </m:f>
                          </m:e>
                        </m:d>
                      </m:num>
                      <m:den>
                        <m:r>
                          <a:rPr lang="en-US" sz="2200" b="0" i="1">
                            <a:latin typeface="Cambria Math"/>
                          </a:rPr>
                          <m:t>𝑃</m:t>
                        </m:r>
                        <m:d>
                          <m:dPr>
                            <m:ctrlPr>
                              <a:rPr lang="en-US" sz="2200" i="1" smtClean="0">
                                <a:latin typeface="Cambria Math" panose="02040503050406030204" pitchFamily="18" charset="0"/>
                              </a:rPr>
                            </m:ctrlPr>
                          </m:dPr>
                          <m:e>
                            <m:f>
                              <m:fPr>
                                <m:ctrlPr>
                                  <a:rPr lang="en-US" sz="2200" i="1">
                                    <a:latin typeface="Cambria Math" panose="02040503050406030204" pitchFamily="18" charset="0"/>
                                  </a:rPr>
                                </m:ctrlPr>
                              </m:fPr>
                              <m:num>
                                <m:r>
                                  <a:rPr lang="en-US" sz="2200" b="0" i="1">
                                    <a:latin typeface="Cambria Math"/>
                                  </a:rPr>
                                  <m:t>1</m:t>
                                </m:r>
                              </m:num>
                              <m:den>
                                <m:r>
                                  <a:rPr lang="en-US" sz="2200" b="0" i="1">
                                    <a:latin typeface="Cambria Math"/>
                                  </a:rPr>
                                  <m:t>3</m:t>
                                </m:r>
                              </m:den>
                            </m:f>
                            <m:r>
                              <a:rPr lang="en-US" sz="2200" b="0" i="1">
                                <a:latin typeface="Cambria Math"/>
                                <a:ea typeface="Cambria Math"/>
                              </a:rPr>
                              <m:t>≤</m:t>
                            </m:r>
                            <m:r>
                              <a:rPr lang="en-US" sz="2200" b="0" i="1">
                                <a:latin typeface="Cambria Math"/>
                              </a:rPr>
                              <m:t>𝑋</m:t>
                            </m:r>
                            <m:r>
                              <a:rPr lang="en-US" sz="2200" b="0" i="1">
                                <a:latin typeface="Cambria Math"/>
                                <a:ea typeface="Cambria Math"/>
                              </a:rPr>
                              <m:t>≤</m:t>
                            </m:r>
                            <m:f>
                              <m:fPr>
                                <m:ctrlPr>
                                  <a:rPr lang="en-US" sz="2200" i="1">
                                    <a:latin typeface="Cambria Math" panose="02040503050406030204" pitchFamily="18" charset="0"/>
                                    <a:ea typeface="Cambria Math"/>
                                  </a:rPr>
                                </m:ctrlPr>
                              </m:fPr>
                              <m:num>
                                <m:r>
                                  <a:rPr lang="en-US" sz="2200" b="0" i="1">
                                    <a:latin typeface="Cambria Math"/>
                                    <a:ea typeface="Cambria Math"/>
                                  </a:rPr>
                                  <m:t>2</m:t>
                                </m:r>
                              </m:num>
                              <m:den>
                                <m:r>
                                  <a:rPr lang="en-US" sz="2200" b="0" i="1">
                                    <a:latin typeface="Cambria Math"/>
                                    <a:ea typeface="Cambria Math"/>
                                  </a:rPr>
                                  <m:t>3</m:t>
                                </m:r>
                              </m:den>
                            </m:f>
                          </m:e>
                        </m:d>
                      </m:den>
                    </m:f>
                    <m:r>
                      <a:rPr lang="en-US" sz="2200" b="0" i="1" smtClean="0">
                        <a:latin typeface="Cambria Math"/>
                        <a:ea typeface="Cambria Math"/>
                      </a:rPr>
                      <m:t>=</m:t>
                    </m:r>
                    <m:f>
                      <m:fPr>
                        <m:ctrlPr>
                          <a:rPr lang="en-US" sz="2200" i="1" smtClean="0">
                            <a:latin typeface="Cambria Math" panose="02040503050406030204" pitchFamily="18" charset="0"/>
                            <a:ea typeface="Cambria Math"/>
                          </a:rPr>
                        </m:ctrlPr>
                      </m:fPr>
                      <m:num>
                        <m:nary>
                          <m:naryPr>
                            <m:limLoc m:val="undOvr"/>
                            <m:ctrlPr>
                              <a:rPr lang="en-US" sz="2200" i="1" smtClean="0">
                                <a:latin typeface="Cambria Math" panose="02040503050406030204" pitchFamily="18" charset="0"/>
                                <a:ea typeface="Cambria Math"/>
                              </a:rPr>
                            </m:ctrlPr>
                          </m:naryPr>
                          <m:sub>
                            <m:f>
                              <m:fPr>
                                <m:type m:val="skw"/>
                                <m:ctrlPr>
                                  <a:rPr lang="en-US" sz="2200" i="1" smtClean="0">
                                    <a:latin typeface="Cambria Math" panose="02040503050406030204" pitchFamily="18" charset="0"/>
                                    <a:ea typeface="Cambria Math"/>
                                  </a:rPr>
                                </m:ctrlPr>
                              </m:fPr>
                              <m:num>
                                <m:r>
                                  <a:rPr lang="en-US" sz="2200" b="0" i="1" smtClean="0">
                                    <a:latin typeface="Cambria Math"/>
                                    <a:ea typeface="Cambria Math"/>
                                  </a:rPr>
                                  <m:t>1</m:t>
                                </m:r>
                              </m:num>
                              <m:den>
                                <m:r>
                                  <a:rPr lang="en-US" sz="2200" b="0" i="1" smtClean="0">
                                    <a:latin typeface="Cambria Math"/>
                                    <a:ea typeface="Cambria Math"/>
                                  </a:rPr>
                                  <m:t>3</m:t>
                                </m:r>
                              </m:den>
                            </m:f>
                          </m:sub>
                          <m:sup>
                            <m:f>
                              <m:fPr>
                                <m:type m:val="skw"/>
                                <m:ctrlPr>
                                  <a:rPr lang="en-US" sz="2200" i="1" smtClean="0">
                                    <a:latin typeface="Cambria Math" panose="02040503050406030204" pitchFamily="18" charset="0"/>
                                    <a:ea typeface="Cambria Math"/>
                                  </a:rPr>
                                </m:ctrlPr>
                              </m:fPr>
                              <m:num>
                                <m:r>
                                  <a:rPr lang="en-US" sz="2200" b="0" i="1" smtClean="0">
                                    <a:latin typeface="Cambria Math"/>
                                    <a:ea typeface="Cambria Math"/>
                                  </a:rPr>
                                  <m:t>1</m:t>
                                </m:r>
                              </m:num>
                              <m:den>
                                <m:r>
                                  <a:rPr lang="en-US" sz="2200" b="0" i="1" smtClean="0">
                                    <a:latin typeface="Cambria Math"/>
                                    <a:ea typeface="Cambria Math"/>
                                  </a:rPr>
                                  <m:t>2</m:t>
                                </m:r>
                              </m:den>
                            </m:f>
                          </m:sup>
                          <m:e>
                            <m:r>
                              <a:rPr lang="en-US" sz="2200" b="0" i="1" smtClean="0">
                                <a:latin typeface="Cambria Math"/>
                                <a:ea typeface="Cambria Math"/>
                              </a:rPr>
                              <m:t>6</m:t>
                            </m:r>
                            <m:r>
                              <a:rPr lang="en-US" sz="2200" b="0" i="1" smtClean="0">
                                <a:latin typeface="Cambria Math"/>
                                <a:ea typeface="Cambria Math"/>
                              </a:rPr>
                              <m:t>𝑥</m:t>
                            </m:r>
                            <m:d>
                              <m:dPr>
                                <m:ctrlPr>
                                  <a:rPr lang="en-US" sz="2200" i="1" smtClean="0">
                                    <a:latin typeface="Cambria Math" panose="02040503050406030204" pitchFamily="18" charset="0"/>
                                    <a:ea typeface="Cambria Math"/>
                                  </a:rPr>
                                </m:ctrlPr>
                              </m:dPr>
                              <m:e>
                                <m:r>
                                  <a:rPr lang="en-US" sz="2200" b="0" i="1" smtClean="0">
                                    <a:latin typeface="Cambria Math"/>
                                    <a:ea typeface="Cambria Math"/>
                                  </a:rPr>
                                  <m:t>1−</m:t>
                                </m:r>
                                <m:r>
                                  <a:rPr lang="en-US" sz="2200" b="0" i="1" smtClean="0">
                                    <a:latin typeface="Cambria Math"/>
                                    <a:ea typeface="Cambria Math"/>
                                  </a:rPr>
                                  <m:t>𝑥</m:t>
                                </m:r>
                              </m:e>
                            </m:d>
                            <m:r>
                              <a:rPr lang="en-US" sz="2200" b="0" i="1" smtClean="0">
                                <a:latin typeface="Cambria Math"/>
                                <a:ea typeface="Cambria Math"/>
                              </a:rPr>
                              <m:t>𝑑𝑥</m:t>
                            </m:r>
                          </m:e>
                        </m:nary>
                      </m:num>
                      <m:den>
                        <m:nary>
                          <m:naryPr>
                            <m:limLoc m:val="undOvr"/>
                            <m:ctrlPr>
                              <a:rPr lang="en-US" sz="2200" i="1" smtClean="0">
                                <a:latin typeface="Cambria Math" panose="02040503050406030204" pitchFamily="18" charset="0"/>
                                <a:ea typeface="Cambria Math"/>
                              </a:rPr>
                            </m:ctrlPr>
                          </m:naryPr>
                          <m:sub>
                            <m:f>
                              <m:fPr>
                                <m:type m:val="skw"/>
                                <m:ctrlPr>
                                  <a:rPr lang="en-US" sz="2200" i="1" smtClean="0">
                                    <a:latin typeface="Cambria Math" panose="02040503050406030204" pitchFamily="18" charset="0"/>
                                    <a:ea typeface="Cambria Math"/>
                                  </a:rPr>
                                </m:ctrlPr>
                              </m:fPr>
                              <m:num>
                                <m:r>
                                  <a:rPr lang="en-US" sz="2200" b="0" i="1" smtClean="0">
                                    <a:latin typeface="Cambria Math"/>
                                    <a:ea typeface="Cambria Math"/>
                                  </a:rPr>
                                  <m:t>1</m:t>
                                </m:r>
                              </m:num>
                              <m:den>
                                <m:r>
                                  <a:rPr lang="en-US" sz="2200" b="0" i="1" smtClean="0">
                                    <a:latin typeface="Cambria Math"/>
                                    <a:ea typeface="Cambria Math"/>
                                  </a:rPr>
                                  <m:t>3</m:t>
                                </m:r>
                              </m:den>
                            </m:f>
                          </m:sub>
                          <m:sup>
                            <m:f>
                              <m:fPr>
                                <m:type m:val="skw"/>
                                <m:ctrlPr>
                                  <a:rPr lang="en-US" sz="2200" i="1" smtClean="0">
                                    <a:latin typeface="Cambria Math" panose="02040503050406030204" pitchFamily="18" charset="0"/>
                                    <a:ea typeface="Cambria Math"/>
                                  </a:rPr>
                                </m:ctrlPr>
                              </m:fPr>
                              <m:num>
                                <m:r>
                                  <a:rPr lang="en-US" sz="2200" b="0" i="1" smtClean="0">
                                    <a:latin typeface="Cambria Math"/>
                                    <a:ea typeface="Cambria Math"/>
                                  </a:rPr>
                                  <m:t>2</m:t>
                                </m:r>
                              </m:num>
                              <m:den>
                                <m:r>
                                  <a:rPr lang="en-US" sz="2200" b="0" i="1" smtClean="0">
                                    <a:latin typeface="Cambria Math"/>
                                    <a:ea typeface="Cambria Math"/>
                                  </a:rPr>
                                  <m:t>3</m:t>
                                </m:r>
                              </m:den>
                            </m:f>
                          </m:sup>
                          <m:e>
                            <m:r>
                              <a:rPr lang="en-US" sz="2200" b="0" i="1">
                                <a:latin typeface="Cambria Math"/>
                                <a:ea typeface="Cambria Math"/>
                              </a:rPr>
                              <m:t>6</m:t>
                            </m:r>
                            <m:r>
                              <a:rPr lang="en-US" sz="2200" b="0" i="1">
                                <a:latin typeface="Cambria Math"/>
                                <a:ea typeface="Cambria Math"/>
                              </a:rPr>
                              <m:t>𝑥</m:t>
                            </m:r>
                            <m:d>
                              <m:dPr>
                                <m:ctrlPr>
                                  <a:rPr lang="en-US" sz="2200" i="1">
                                    <a:latin typeface="Cambria Math" panose="02040503050406030204" pitchFamily="18" charset="0"/>
                                    <a:ea typeface="Cambria Math"/>
                                  </a:rPr>
                                </m:ctrlPr>
                              </m:dPr>
                              <m:e>
                                <m:r>
                                  <a:rPr lang="en-US" sz="2200" b="0" i="1">
                                    <a:latin typeface="Cambria Math"/>
                                    <a:ea typeface="Cambria Math"/>
                                  </a:rPr>
                                  <m:t>1−</m:t>
                                </m:r>
                                <m:r>
                                  <a:rPr lang="en-US" sz="2200" b="0" i="1">
                                    <a:latin typeface="Cambria Math"/>
                                    <a:ea typeface="Cambria Math"/>
                                  </a:rPr>
                                  <m:t>𝑥</m:t>
                                </m:r>
                              </m:e>
                            </m:d>
                            <m:r>
                              <a:rPr lang="en-US" sz="2200" b="0" i="1">
                                <a:latin typeface="Cambria Math"/>
                                <a:ea typeface="Cambria Math"/>
                              </a:rPr>
                              <m:t>𝑑𝑥</m:t>
                            </m:r>
                          </m:e>
                        </m:nary>
                      </m:den>
                    </m:f>
                    <m:r>
                      <a:rPr lang="en-US" sz="2200" b="0" i="1" smtClean="0">
                        <a:latin typeface="Cambria Math"/>
                        <a:ea typeface="Cambria Math"/>
                      </a:rPr>
                      <m:t>=</m:t>
                    </m:r>
                    <m:f>
                      <m:fPr>
                        <m:ctrlPr>
                          <a:rPr lang="en-US" sz="2200" i="1" smtClean="0">
                            <a:latin typeface="Cambria Math" panose="02040503050406030204" pitchFamily="18" charset="0"/>
                            <a:ea typeface="Cambria Math"/>
                          </a:rPr>
                        </m:ctrlPr>
                      </m:fPr>
                      <m:num>
                        <m:f>
                          <m:fPr>
                            <m:type m:val="lin"/>
                            <m:ctrlPr>
                              <a:rPr lang="en-US" sz="2200" i="1" smtClean="0">
                                <a:latin typeface="Cambria Math" panose="02040503050406030204" pitchFamily="18" charset="0"/>
                                <a:ea typeface="Cambria Math"/>
                              </a:rPr>
                            </m:ctrlPr>
                          </m:fPr>
                          <m:num>
                            <m:r>
                              <a:rPr lang="en-US" sz="2200" b="0" i="1" smtClean="0">
                                <a:latin typeface="Cambria Math"/>
                                <a:ea typeface="Cambria Math"/>
                              </a:rPr>
                              <m:t>11</m:t>
                            </m:r>
                          </m:num>
                          <m:den>
                            <m:r>
                              <a:rPr lang="en-US" sz="2200" b="0" i="1" smtClean="0">
                                <a:latin typeface="Cambria Math"/>
                                <a:ea typeface="Cambria Math"/>
                              </a:rPr>
                              <m:t>54</m:t>
                            </m:r>
                          </m:den>
                        </m:f>
                      </m:num>
                      <m:den>
                        <m:f>
                          <m:fPr>
                            <m:type m:val="lin"/>
                            <m:ctrlPr>
                              <a:rPr lang="en-US" sz="2200" i="1" smtClean="0">
                                <a:latin typeface="Cambria Math" panose="02040503050406030204" pitchFamily="18" charset="0"/>
                                <a:ea typeface="Cambria Math"/>
                              </a:rPr>
                            </m:ctrlPr>
                          </m:fPr>
                          <m:num>
                            <m:r>
                              <a:rPr lang="en-US" sz="2200" b="0" i="1" smtClean="0">
                                <a:latin typeface="Cambria Math"/>
                                <a:ea typeface="Cambria Math"/>
                              </a:rPr>
                              <m:t>13</m:t>
                            </m:r>
                          </m:num>
                          <m:den>
                            <m:r>
                              <a:rPr lang="en-US" sz="2200" b="0" i="1" smtClean="0">
                                <a:latin typeface="Cambria Math"/>
                                <a:ea typeface="Cambria Math"/>
                              </a:rPr>
                              <m:t>27</m:t>
                            </m:r>
                          </m:den>
                        </m:f>
                      </m:den>
                    </m:f>
                    <m:r>
                      <a:rPr lang="en-US" sz="2200" b="0" i="1" smtClean="0">
                        <a:latin typeface="Cambria Math"/>
                        <a:ea typeface="Cambria Math"/>
                      </a:rPr>
                      <m:t>=</m:t>
                    </m:r>
                    <m:f>
                      <m:fPr>
                        <m:ctrlPr>
                          <a:rPr lang="en-US" sz="2200" i="1" smtClean="0">
                            <a:latin typeface="Cambria Math" panose="02040503050406030204" pitchFamily="18" charset="0"/>
                            <a:ea typeface="Cambria Math"/>
                          </a:rPr>
                        </m:ctrlPr>
                      </m:fPr>
                      <m:num>
                        <m:r>
                          <a:rPr lang="en-US" sz="2200" b="0" i="1" smtClean="0">
                            <a:latin typeface="Cambria Math"/>
                            <a:ea typeface="Cambria Math"/>
                          </a:rPr>
                          <m:t>11</m:t>
                        </m:r>
                      </m:num>
                      <m:den>
                        <m:r>
                          <a:rPr lang="en-US" sz="2200" b="0" i="1" smtClean="0">
                            <a:latin typeface="Cambria Math"/>
                            <a:ea typeface="Cambria Math"/>
                          </a:rPr>
                          <m:t>26</m:t>
                        </m:r>
                      </m:den>
                    </m:f>
                  </m:oMath>
                </a14:m>
                <a:endParaRPr lang="en-US" sz="2200" dirty="0"/>
              </a:p>
              <a:p>
                <a:pPr marL="400050" indent="-400050">
                  <a:buFont typeface="Arial" pitchFamily="34" charset="0"/>
                  <a:buAutoNum type="romanLcPeriod" startAt="2"/>
                </a:pPr>
                <a:r>
                  <a:rPr lang="en-US" sz="2200" dirty="0"/>
                  <a:t>For finding values of k given condition is </a:t>
                </a:r>
                <a14:m>
                  <m:oMath xmlns:m="http://schemas.openxmlformats.org/officeDocument/2006/math">
                    <m:r>
                      <a:rPr lang="en-US" sz="2200" b="0" i="1">
                        <a:latin typeface="Cambria Math"/>
                      </a:rPr>
                      <m:t>𝑃</m:t>
                    </m:r>
                    <m:d>
                      <m:dPr>
                        <m:ctrlPr>
                          <a:rPr lang="en-US" sz="2200" i="1">
                            <a:latin typeface="Cambria Math" panose="02040503050406030204" pitchFamily="18" charset="0"/>
                          </a:rPr>
                        </m:ctrlPr>
                      </m:dPr>
                      <m:e>
                        <m:r>
                          <a:rPr lang="en-US" sz="2200" b="0" i="1">
                            <a:latin typeface="Cambria Math"/>
                          </a:rPr>
                          <m:t>𝑋</m:t>
                        </m:r>
                        <m:r>
                          <a:rPr lang="en-US" sz="2200" b="0" i="1">
                            <a:latin typeface="Cambria Math"/>
                          </a:rPr>
                          <m:t>&lt;</m:t>
                        </m:r>
                        <m:r>
                          <a:rPr lang="en-US" sz="2200" b="0" i="1">
                            <a:latin typeface="Cambria Math"/>
                          </a:rPr>
                          <m:t>𝑘</m:t>
                        </m:r>
                      </m:e>
                    </m:d>
                    <m:r>
                      <a:rPr lang="en-US" sz="2200" b="0" i="1">
                        <a:latin typeface="Cambria Math"/>
                      </a:rPr>
                      <m:t>=</m:t>
                    </m:r>
                    <m:r>
                      <a:rPr lang="en-US" sz="2200" b="0" i="1">
                        <a:latin typeface="Cambria Math"/>
                      </a:rPr>
                      <m:t>𝑃</m:t>
                    </m:r>
                    <m:d>
                      <m:dPr>
                        <m:ctrlPr>
                          <a:rPr lang="en-US" sz="2200" i="1">
                            <a:latin typeface="Cambria Math" panose="02040503050406030204" pitchFamily="18" charset="0"/>
                          </a:rPr>
                        </m:ctrlPr>
                      </m:dPr>
                      <m:e>
                        <m:r>
                          <a:rPr lang="en-US" sz="2200" b="0" i="1">
                            <a:latin typeface="Cambria Math"/>
                          </a:rPr>
                          <m:t>𝑋</m:t>
                        </m:r>
                        <m:r>
                          <a:rPr lang="en-US" sz="2200" b="0" i="1">
                            <a:latin typeface="Cambria Math"/>
                          </a:rPr>
                          <m:t>&gt;</m:t>
                        </m:r>
                        <m:r>
                          <a:rPr lang="en-US" sz="2200" b="0" i="1">
                            <a:latin typeface="Cambria Math"/>
                          </a:rPr>
                          <m:t>𝑘</m:t>
                        </m:r>
                      </m:e>
                    </m:d>
                  </m:oMath>
                </a14:m>
                <a:endParaRPr lang="en-US" sz="2200" dirty="0"/>
              </a:p>
              <a:p>
                <a:pPr marL="0" indent="0">
                  <a:buNone/>
                </a:pPr>
                <a14:m>
                  <m:oMathPara xmlns:m="http://schemas.openxmlformats.org/officeDocument/2006/math">
                    <m:oMathParaPr>
                      <m:jc m:val="left"/>
                    </m:oMathParaPr>
                    <m:oMath xmlns:m="http://schemas.openxmlformats.org/officeDocument/2006/math">
                      <m:r>
                        <a:rPr lang="en-US" sz="2200" b="0" i="1" smtClean="0">
                          <a:latin typeface="Cambria Math"/>
                          <a:ea typeface="Cambria Math"/>
                        </a:rPr>
                        <m:t>⟹</m:t>
                      </m:r>
                      <m:nary>
                        <m:naryPr>
                          <m:limLoc m:val="undOvr"/>
                          <m:ctrlPr>
                            <a:rPr lang="en-US" sz="2200" i="1" smtClean="0">
                              <a:latin typeface="Cambria Math" panose="02040503050406030204" pitchFamily="18" charset="0"/>
                              <a:ea typeface="Cambria Math"/>
                            </a:rPr>
                          </m:ctrlPr>
                        </m:naryPr>
                        <m:sub>
                          <m:r>
                            <m:rPr>
                              <m:brk m:alnAt="24"/>
                            </m:rPr>
                            <a:rPr lang="en-US" sz="2200" b="0" i="1" smtClean="0">
                              <a:latin typeface="Cambria Math"/>
                              <a:ea typeface="Cambria Math"/>
                            </a:rPr>
                            <m:t>0</m:t>
                          </m:r>
                        </m:sub>
                        <m:sup>
                          <m:r>
                            <a:rPr lang="en-US" sz="2200" b="0" i="1" smtClean="0">
                              <a:latin typeface="Cambria Math"/>
                              <a:ea typeface="Cambria Math"/>
                            </a:rPr>
                            <m:t>𝑘</m:t>
                          </m:r>
                        </m:sup>
                        <m:e>
                          <m:r>
                            <a:rPr lang="en-US" sz="2200" b="0" i="1" smtClean="0">
                              <a:latin typeface="Cambria Math"/>
                              <a:ea typeface="Cambria Math"/>
                            </a:rPr>
                            <m:t>6</m:t>
                          </m:r>
                          <m:r>
                            <a:rPr lang="en-US" sz="2200" b="0" i="1" smtClean="0">
                              <a:latin typeface="Cambria Math"/>
                              <a:ea typeface="Cambria Math"/>
                            </a:rPr>
                            <m:t>𝑥</m:t>
                          </m:r>
                          <m:d>
                            <m:dPr>
                              <m:ctrlPr>
                                <a:rPr lang="en-US" sz="2200" i="1" smtClean="0">
                                  <a:latin typeface="Cambria Math" panose="02040503050406030204" pitchFamily="18" charset="0"/>
                                  <a:ea typeface="Cambria Math"/>
                                </a:rPr>
                              </m:ctrlPr>
                            </m:dPr>
                            <m:e>
                              <m:r>
                                <a:rPr lang="en-US" sz="2200" b="0" i="1" smtClean="0">
                                  <a:latin typeface="Cambria Math"/>
                                  <a:ea typeface="Cambria Math"/>
                                </a:rPr>
                                <m:t>1−</m:t>
                              </m:r>
                              <m:r>
                                <a:rPr lang="en-US" sz="2200" b="0" i="1" smtClean="0">
                                  <a:latin typeface="Cambria Math"/>
                                  <a:ea typeface="Cambria Math"/>
                                </a:rPr>
                                <m:t>𝑥</m:t>
                              </m:r>
                            </m:e>
                          </m:d>
                          <m:r>
                            <a:rPr lang="en-US" sz="2200" b="0" i="1" smtClean="0">
                              <a:latin typeface="Cambria Math"/>
                              <a:ea typeface="Cambria Math"/>
                            </a:rPr>
                            <m:t>𝑑𝑥</m:t>
                          </m:r>
                          <m:r>
                            <a:rPr lang="en-US" sz="2200" b="0" i="1" smtClean="0">
                              <a:latin typeface="Cambria Math"/>
                              <a:ea typeface="Cambria Math"/>
                            </a:rPr>
                            <m:t>=</m:t>
                          </m:r>
                          <m:nary>
                            <m:naryPr>
                              <m:limLoc m:val="undOvr"/>
                              <m:ctrlPr>
                                <a:rPr lang="en-US" sz="2200" i="1" smtClean="0">
                                  <a:latin typeface="Cambria Math" panose="02040503050406030204" pitchFamily="18" charset="0"/>
                                  <a:ea typeface="Cambria Math"/>
                                </a:rPr>
                              </m:ctrlPr>
                            </m:naryPr>
                            <m:sub>
                              <m:r>
                                <m:rPr>
                                  <m:brk m:alnAt="24"/>
                                </m:rPr>
                                <a:rPr lang="en-US" sz="2200" b="0" i="1" smtClean="0">
                                  <a:latin typeface="Cambria Math"/>
                                  <a:ea typeface="Cambria Math"/>
                                </a:rPr>
                                <m:t>𝑘</m:t>
                              </m:r>
                            </m:sub>
                            <m:sup>
                              <m:r>
                                <a:rPr lang="en-US" sz="2200" b="0" i="1" smtClean="0">
                                  <a:latin typeface="Cambria Math"/>
                                  <a:ea typeface="Cambria Math"/>
                                </a:rPr>
                                <m:t>1</m:t>
                              </m:r>
                            </m:sup>
                            <m:e>
                              <m:r>
                                <a:rPr lang="en-US" sz="2200" b="0" i="1">
                                  <a:latin typeface="Cambria Math"/>
                                  <a:ea typeface="Cambria Math"/>
                                </a:rPr>
                                <m:t>6</m:t>
                              </m:r>
                              <m:r>
                                <a:rPr lang="en-US" sz="2200" b="0" i="1">
                                  <a:latin typeface="Cambria Math"/>
                                  <a:ea typeface="Cambria Math"/>
                                </a:rPr>
                                <m:t>𝑥</m:t>
                              </m:r>
                              <m:d>
                                <m:dPr>
                                  <m:ctrlPr>
                                    <a:rPr lang="en-US" sz="2200" i="1">
                                      <a:latin typeface="Cambria Math" panose="02040503050406030204" pitchFamily="18" charset="0"/>
                                      <a:ea typeface="Cambria Math"/>
                                    </a:rPr>
                                  </m:ctrlPr>
                                </m:dPr>
                                <m:e>
                                  <m:r>
                                    <a:rPr lang="en-US" sz="2200" b="0" i="1">
                                      <a:latin typeface="Cambria Math"/>
                                      <a:ea typeface="Cambria Math"/>
                                    </a:rPr>
                                    <m:t>1−</m:t>
                                  </m:r>
                                  <m:r>
                                    <a:rPr lang="en-US" sz="2200" b="0" i="1">
                                      <a:latin typeface="Cambria Math"/>
                                      <a:ea typeface="Cambria Math"/>
                                    </a:rPr>
                                    <m:t>𝑥</m:t>
                                  </m:r>
                                </m:e>
                              </m:d>
                              <m:r>
                                <a:rPr lang="en-US" sz="2200" b="0" i="1">
                                  <a:latin typeface="Cambria Math"/>
                                  <a:ea typeface="Cambria Math"/>
                                </a:rPr>
                                <m:t>𝑑𝑥</m:t>
                              </m:r>
                            </m:e>
                          </m:nary>
                        </m:e>
                      </m:nary>
                    </m:oMath>
                  </m:oMathPara>
                </a14:m>
                <a:endParaRPr lang="en-US" sz="2200" dirty="0"/>
              </a:p>
              <a:p>
                <a:pPr marL="0" indent="0">
                  <a:buNone/>
                </a:pPr>
                <a14:m>
                  <m:oMath xmlns:m="http://schemas.openxmlformats.org/officeDocument/2006/math">
                    <m:r>
                      <a:rPr lang="en-US" sz="2200" i="1">
                        <a:latin typeface="Cambria Math"/>
                        <a:ea typeface="Cambria Math"/>
                      </a:rPr>
                      <m:t>⟹</m:t>
                    </m:r>
                    <m:r>
                      <a:rPr lang="en-US" sz="2200" b="0" i="1" smtClean="0">
                        <a:latin typeface="Cambria Math"/>
                        <a:ea typeface="Cambria Math"/>
                      </a:rPr>
                      <m:t>4</m:t>
                    </m:r>
                    <m:sSup>
                      <m:sSupPr>
                        <m:ctrlPr>
                          <a:rPr lang="en-US" sz="2200" b="0" i="1" smtClean="0">
                            <a:latin typeface="Cambria Math" panose="02040503050406030204" pitchFamily="18" charset="0"/>
                            <a:ea typeface="Cambria Math"/>
                          </a:rPr>
                        </m:ctrlPr>
                      </m:sSupPr>
                      <m:e>
                        <m:r>
                          <a:rPr lang="en-US" sz="2200" b="0" i="1" smtClean="0">
                            <a:latin typeface="Cambria Math"/>
                            <a:ea typeface="Cambria Math"/>
                          </a:rPr>
                          <m:t>𝑘</m:t>
                        </m:r>
                      </m:e>
                      <m:sup>
                        <m:r>
                          <a:rPr lang="en-US" sz="2200" b="0" i="1" smtClean="0">
                            <a:latin typeface="Cambria Math"/>
                            <a:ea typeface="Cambria Math"/>
                          </a:rPr>
                          <m:t>3</m:t>
                        </m:r>
                      </m:sup>
                    </m:sSup>
                    <m:r>
                      <a:rPr lang="en-US" sz="2200" b="0" i="1" smtClean="0">
                        <a:latin typeface="Cambria Math"/>
                        <a:ea typeface="Cambria Math"/>
                      </a:rPr>
                      <m:t>−6</m:t>
                    </m:r>
                    <m:sSup>
                      <m:sSupPr>
                        <m:ctrlPr>
                          <a:rPr lang="en-US" sz="2200" b="0" i="1" smtClean="0">
                            <a:latin typeface="Cambria Math" panose="02040503050406030204" pitchFamily="18" charset="0"/>
                            <a:ea typeface="Cambria Math"/>
                          </a:rPr>
                        </m:ctrlPr>
                      </m:sSupPr>
                      <m:e>
                        <m:r>
                          <a:rPr lang="en-US" sz="2200" b="0" i="1" smtClean="0">
                            <a:latin typeface="Cambria Math"/>
                            <a:ea typeface="Cambria Math"/>
                          </a:rPr>
                          <m:t>𝑘</m:t>
                        </m:r>
                      </m:e>
                      <m:sup>
                        <m:r>
                          <a:rPr lang="en-US" sz="2200" b="0" i="1" smtClean="0">
                            <a:latin typeface="Cambria Math"/>
                            <a:ea typeface="Cambria Math"/>
                          </a:rPr>
                          <m:t>2</m:t>
                        </m:r>
                      </m:sup>
                    </m:sSup>
                    <m:r>
                      <a:rPr lang="en-US" sz="2200" b="0" i="1" smtClean="0">
                        <a:latin typeface="Cambria Math"/>
                        <a:ea typeface="Cambria Math"/>
                      </a:rPr>
                      <m:t>+1=0⟹</m:t>
                    </m:r>
                    <m:r>
                      <a:rPr lang="en-US" sz="2200" b="0" i="1" smtClean="0">
                        <a:latin typeface="Cambria Math"/>
                        <a:ea typeface="Cambria Math"/>
                      </a:rPr>
                      <m:t>𝑘</m:t>
                    </m:r>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1</m:t>
                        </m:r>
                      </m:num>
                      <m:den>
                        <m:r>
                          <a:rPr lang="en-US" sz="2200" b="0" i="1" smtClean="0">
                            <a:latin typeface="Cambria Math"/>
                            <a:ea typeface="Cambria Math"/>
                          </a:rPr>
                          <m:t>2</m:t>
                        </m:r>
                      </m:den>
                    </m:f>
                    <m:r>
                      <a:rPr lang="en-US" sz="2200" b="0" i="1" smtClean="0">
                        <a:latin typeface="Cambria Math"/>
                        <a:ea typeface="Cambria Math"/>
                      </a:rPr>
                      <m:t>,</m:t>
                    </m:r>
                    <m:f>
                      <m:fPr>
                        <m:ctrlPr>
                          <a:rPr lang="en-US" sz="2200" b="0" i="1" smtClean="0">
                            <a:latin typeface="Cambria Math" panose="02040503050406030204" pitchFamily="18" charset="0"/>
                            <a:ea typeface="Cambria Math"/>
                          </a:rPr>
                        </m:ctrlPr>
                      </m:fPr>
                      <m:num>
                        <m:r>
                          <a:rPr lang="en-US" sz="2200" b="0" i="1" smtClean="0">
                            <a:latin typeface="Cambria Math"/>
                            <a:ea typeface="Cambria Math"/>
                          </a:rPr>
                          <m:t>1±</m:t>
                        </m:r>
                        <m:rad>
                          <m:radPr>
                            <m:degHide m:val="on"/>
                            <m:ctrlPr>
                              <a:rPr lang="en-US" sz="2200" b="0" i="1" smtClean="0">
                                <a:latin typeface="Cambria Math" panose="02040503050406030204" pitchFamily="18" charset="0"/>
                                <a:ea typeface="Cambria Math"/>
                              </a:rPr>
                            </m:ctrlPr>
                          </m:radPr>
                          <m:deg/>
                          <m:e>
                            <m:r>
                              <a:rPr lang="en-US" sz="2200" b="0" i="1" smtClean="0">
                                <a:latin typeface="Cambria Math"/>
                                <a:ea typeface="Cambria Math"/>
                              </a:rPr>
                              <m:t>3</m:t>
                            </m:r>
                          </m:e>
                        </m:rad>
                      </m:num>
                      <m:den>
                        <m:r>
                          <a:rPr lang="en-US" sz="2200" b="0" i="1" smtClean="0">
                            <a:latin typeface="Cambria Math"/>
                            <a:ea typeface="Cambria Math"/>
                          </a:rPr>
                          <m:t>2</m:t>
                        </m:r>
                      </m:den>
                    </m:f>
                  </m:oMath>
                </a14:m>
                <a:r>
                  <a:rPr lang="en-US" sz="2200" dirty="0"/>
                  <a:t>  so value of k is </a:t>
                </a:r>
                <a14:m>
                  <m:oMath xmlns:m="http://schemas.openxmlformats.org/officeDocument/2006/math">
                    <m:f>
                      <m:fPr>
                        <m:ctrlPr>
                          <a:rPr lang="en-US" sz="2200" i="1">
                            <a:latin typeface="Cambria Math" panose="02040503050406030204" pitchFamily="18" charset="0"/>
                            <a:ea typeface="Cambria Math"/>
                          </a:rPr>
                        </m:ctrlPr>
                      </m:fPr>
                      <m:num>
                        <m:r>
                          <a:rPr lang="en-US" sz="2200" i="1">
                            <a:latin typeface="Cambria Math"/>
                            <a:ea typeface="Cambria Math"/>
                          </a:rPr>
                          <m:t>1</m:t>
                        </m:r>
                      </m:num>
                      <m:den>
                        <m:r>
                          <a:rPr lang="en-US" sz="2200" i="1">
                            <a:latin typeface="Cambria Math"/>
                            <a:ea typeface="Cambria Math"/>
                          </a:rPr>
                          <m:t>2</m:t>
                        </m:r>
                      </m:den>
                    </m:f>
                  </m:oMath>
                </a14:m>
                <a:r>
                  <a:rPr lang="en-US" sz="2200" dirty="0"/>
                  <a:t> because it is in given range.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b="-188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24</a:t>
            </a:fld>
            <a:endParaRPr lang="en-US"/>
          </a:p>
        </p:txBody>
      </p:sp>
      <p:sp>
        <p:nvSpPr>
          <p:cNvPr id="9" name="Title 1"/>
          <p:cNvSpPr txBox="1">
            <a:spLocks/>
          </p:cNvSpPr>
          <p:nvPr/>
        </p:nvSpPr>
        <p:spPr>
          <a:xfrm>
            <a:off x="1600199" y="0"/>
            <a:ext cx="7563633"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algn="ctr">
              <a:spcBef>
                <a:spcPct val="0"/>
              </a:spcBef>
              <a:defRPr/>
            </a:pPr>
            <a:r>
              <a:rPr lang="en-US" sz="3000" b="1" dirty="0"/>
              <a:t> </a:t>
            </a:r>
          </a:p>
          <a:p>
            <a:pPr algn="ctr">
              <a:spcBef>
                <a:spcPct val="0"/>
              </a:spcBef>
              <a:defRPr/>
            </a:pPr>
            <a:r>
              <a:rPr lang="en-US" sz="2400" b="1" dirty="0"/>
              <a:t>Cumulative distribution function(CO3)</a:t>
            </a:r>
          </a:p>
          <a:p>
            <a:pPr marL="0" marR="0" lvl="0" indent="0" algn="ctr" defTabSz="914400" rtl="0" eaLnBrk="1" fontAlgn="auto" latinLnBrk="0" hangingPunct="1">
              <a:lnSpc>
                <a:spcPct val="100000"/>
              </a:lnSpc>
              <a:spcBef>
                <a:spcPct val="0"/>
              </a:spcBef>
              <a:spcAft>
                <a:spcPts val="0"/>
              </a:spcAft>
              <a:buClrTx/>
              <a:buSzTx/>
              <a:buFontTx/>
              <a:buNone/>
              <a:tabLst/>
              <a:defRPr/>
            </a:pPr>
            <a:endParaRPr kumimoji="0" lang="en-US" sz="3000" b="1" i="0" u="none" strike="noStrike" kern="1200" cap="none" spc="0" normalizeH="0" baseline="0" noProof="0" dirty="0">
              <a:ln>
                <a:noFill/>
              </a:ln>
              <a:solidFill>
                <a:schemeClr val="dk1"/>
              </a:solidFill>
              <a:effectLst/>
              <a:uLnTx/>
              <a:uFillTx/>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664627201"/>
      </p:ext>
    </p:extLst>
  </p:cSld>
  <p:clrMapOvr>
    <a:masterClrMapping/>
  </p:clrMapOvr>
  <p:transition spd="slow" advTm="2000">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Q1. A random variable </a:t>
                </a:r>
                <a14:m>
                  <m:oMath xmlns:m="http://schemas.openxmlformats.org/officeDocument/2006/math">
                    <m:r>
                      <a:rPr lang="en-US" sz="2200" i="1">
                        <a:latin typeface="Cambria Math"/>
                      </a:rPr>
                      <m:t>𝑋</m:t>
                    </m:r>
                  </m:oMath>
                </a14:m>
                <a:r>
                  <a:rPr lang="en-US" sz="2200" dirty="0"/>
                  <a:t> has the following probability mass function:</a:t>
                </a:r>
              </a:p>
              <a:p>
                <a:pPr marL="0" lvl="0" indent="0">
                  <a:buNone/>
                </a:pPr>
                <a:endParaRPr lang="en-US" sz="2200" dirty="0"/>
              </a:p>
              <a:p>
                <a:pPr marL="0" lvl="0" indent="0">
                  <a:buNone/>
                </a:pPr>
                <a:endParaRPr lang="en-US" sz="2200" dirty="0"/>
              </a:p>
              <a:p>
                <a:pPr marL="0" lvl="0" indent="0">
                  <a:buNone/>
                </a:pPr>
                <a:endParaRPr lang="en-US" sz="2200" dirty="0"/>
              </a:p>
              <a:p>
                <a:pPr marL="514350" lvl="0" indent="-514350">
                  <a:buFont typeface="+mj-lt"/>
                  <a:buAutoNum type="romanLcPeriod"/>
                </a:pPr>
                <a:r>
                  <a:rPr lang="en-US" sz="2200" dirty="0"/>
                  <a:t>Find </a:t>
                </a:r>
                <a14:m>
                  <m:oMath xmlns:m="http://schemas.openxmlformats.org/officeDocument/2006/math">
                    <m:r>
                      <a:rPr lang="en-US" sz="2200" i="1">
                        <a:latin typeface="Cambria Math"/>
                      </a:rPr>
                      <m:t>𝑘</m:t>
                    </m:r>
                    <m:r>
                      <a:rPr lang="en-US" sz="2200" i="1">
                        <a:latin typeface="Cambria Math"/>
                      </a:rPr>
                      <m:t>.</m:t>
                    </m:r>
                  </m:oMath>
                </a14:m>
                <a:endParaRPr lang="en-US" sz="2200" dirty="0"/>
              </a:p>
              <a:p>
                <a:pPr marL="514350" lvl="0" indent="-514350">
                  <a:buFont typeface="+mj-lt"/>
                  <a:buAutoNum type="romanLcPeriod"/>
                </a:pPr>
                <a:r>
                  <a:rPr lang="en-US" sz="2200" dirty="0"/>
                  <a:t>Evaluate </a:t>
                </a: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𝑋</m:t>
                        </m:r>
                        <m:r>
                          <a:rPr lang="en-US" sz="2200" i="1">
                            <a:latin typeface="Cambria Math"/>
                          </a:rPr>
                          <m:t>&lt;6</m:t>
                        </m:r>
                      </m:e>
                    </m:d>
                    <m:r>
                      <a:rPr lang="en-US" sz="2200" i="1">
                        <a:latin typeface="Cambria Math"/>
                      </a:rPr>
                      <m:t>,</m:t>
                    </m:r>
                    <m:r>
                      <a:rPr lang="en-US" sz="2200" i="1">
                        <a:latin typeface="Cambria Math"/>
                      </a:rPr>
                      <m:t>𝑃</m:t>
                    </m:r>
                    <m:r>
                      <a:rPr lang="en-US" sz="2200" i="1">
                        <a:latin typeface="Cambria Math"/>
                      </a:rPr>
                      <m:t>(</m:t>
                    </m:r>
                    <m:r>
                      <a:rPr lang="en-US" sz="2200" i="1">
                        <a:latin typeface="Cambria Math"/>
                      </a:rPr>
                      <m:t>𝑋</m:t>
                    </m:r>
                    <m:r>
                      <a:rPr lang="en-US" sz="2200" i="1">
                        <a:latin typeface="Cambria Math"/>
                      </a:rPr>
                      <m:t>≥6)</m:t>
                    </m:r>
                  </m:oMath>
                </a14:m>
                <a:r>
                  <a:rPr lang="en-US" sz="2200" dirty="0"/>
                  <a:t> and </a:t>
                </a: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0&lt;</m:t>
                        </m:r>
                        <m:r>
                          <a:rPr lang="en-US" sz="2200" i="1">
                            <a:latin typeface="Cambria Math"/>
                          </a:rPr>
                          <m:t>𝑋</m:t>
                        </m:r>
                        <m:r>
                          <a:rPr lang="en-US" sz="2200" i="1">
                            <a:latin typeface="Cambria Math"/>
                          </a:rPr>
                          <m:t>&lt;5</m:t>
                        </m:r>
                      </m:e>
                    </m:d>
                    <m:r>
                      <a:rPr lang="en-US" sz="2200" i="1">
                        <a:latin typeface="Cambria Math"/>
                      </a:rPr>
                      <m:t>.</m:t>
                    </m:r>
                  </m:oMath>
                </a14:m>
                <a:endParaRPr lang="en-US" sz="2200" dirty="0"/>
              </a:p>
              <a:p>
                <a:pPr marL="514350" lvl="0" indent="-514350">
                  <a:buFont typeface="+mj-lt"/>
                  <a:buAutoNum type="romanLcPeriod"/>
                </a:pPr>
                <a:r>
                  <a:rPr lang="en-US" sz="2200" dirty="0"/>
                  <a:t>If </a:t>
                </a: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𝑋</m:t>
                        </m:r>
                        <m:r>
                          <a:rPr lang="en-US" sz="2200" i="1">
                            <a:latin typeface="Cambria Math"/>
                          </a:rPr>
                          <m:t>≤</m:t>
                        </m:r>
                        <m:r>
                          <a:rPr lang="en-US" sz="2200" i="1">
                            <a:latin typeface="Cambria Math"/>
                          </a:rPr>
                          <m:t>𝑎</m:t>
                        </m:r>
                      </m:e>
                    </m:d>
                    <m:r>
                      <a:rPr lang="en-US" sz="2200" i="1">
                        <a:latin typeface="Cambria Math"/>
                      </a:rPr>
                      <m:t>&gt;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oMath>
                </a14:m>
                <a:r>
                  <a:rPr lang="en-US" sz="2200" dirty="0"/>
                  <a:t> find the minimum value of </a:t>
                </a:r>
                <a14:m>
                  <m:oMath xmlns:m="http://schemas.openxmlformats.org/officeDocument/2006/math">
                    <m:r>
                      <a:rPr lang="en-US" sz="2200" i="1">
                        <a:latin typeface="Cambria Math"/>
                      </a:rPr>
                      <m:t>𝑎</m:t>
                    </m:r>
                    <m:r>
                      <a:rPr lang="en-US" sz="2200" i="1">
                        <a:latin typeface="Cambria Math"/>
                      </a:rPr>
                      <m:t>.</m:t>
                    </m:r>
                  </m:oMath>
                </a14:m>
                <a:endParaRPr lang="en-US" sz="2200" dirty="0"/>
              </a:p>
              <a:p>
                <a:pPr marL="514350" lvl="0" indent="-514350">
                  <a:buFont typeface="+mj-lt"/>
                  <a:buAutoNum type="romanLcPeriod"/>
                </a:pPr>
                <a:r>
                  <a:rPr lang="en-US" sz="2200" dirty="0"/>
                  <a:t>Determine the distribution function of </a:t>
                </a:r>
                <a14:m>
                  <m:oMath xmlns:m="http://schemas.openxmlformats.org/officeDocument/2006/math">
                    <m:r>
                      <a:rPr lang="en-US" sz="2200" i="1">
                        <a:latin typeface="Cambria Math"/>
                      </a:rPr>
                      <m:t>𝑋</m:t>
                    </m:r>
                    <m:r>
                      <a:rPr lang="en-US" sz="2200" i="1">
                        <a:latin typeface="Cambria Math"/>
                      </a:rPr>
                      <m:t>.</m:t>
                    </m:r>
                  </m:oMath>
                </a14:m>
                <a:endParaRPr lang="en-US" sz="2200" dirty="0"/>
              </a:p>
              <a:p>
                <a:pPr marL="0" lvl="0" indent="0">
                  <a:buNone/>
                </a:pPr>
                <a:endParaRPr lang="en-US" sz="2200" dirty="0"/>
              </a:p>
              <a:p>
                <a:pPr marL="0" lv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l="-1037" t="-94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25</a:t>
            </a:fld>
            <a:endParaRPr lang="en-US"/>
          </a:p>
        </p:txBody>
      </p:sp>
      <p:sp>
        <p:nvSpPr>
          <p:cNvPr id="7" name="Title 1"/>
          <p:cNvSpPr txBox="1">
            <a:spLocks/>
          </p:cNvSpPr>
          <p:nvPr/>
        </p:nvSpPr>
        <p:spPr>
          <a:xfrm>
            <a:off x="1752600" y="0"/>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Quiz(CO3)</a:t>
            </a:r>
            <a:endParaRPr kumimoji="0" lang="en-US" sz="2400" b="1" i="0" u="none" strike="noStrike" kern="1200" cap="none" spc="0" normalizeH="0" baseline="0" noProof="0" dirty="0">
              <a:ln>
                <a:noFill/>
              </a:ln>
              <a:solidFill>
                <a:schemeClr val="dk1"/>
              </a:solidFill>
              <a:effectLst/>
              <a:uLnTx/>
              <a:uFillTx/>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nvGraphicFramePr>
            <p:xfrm>
              <a:off x="914400" y="1600200"/>
              <a:ext cx="6781801" cy="990600"/>
            </p:xfrm>
            <a:graphic>
              <a:graphicData uri="http://schemas.openxmlformats.org/drawingml/2006/table">
                <a:tbl>
                  <a:tblPr firstRow="1" firstCol="1" bandRow="1">
                    <a:tableStyleId>{5C22544A-7EE6-4342-B048-85BDC9FD1C3A}</a:tableStyleId>
                  </a:tblPr>
                  <a:tblGrid>
                    <a:gridCol w="784043">
                      <a:extLst>
                        <a:ext uri="{9D8B030D-6E8A-4147-A177-3AD203B41FA5}">
                          <a16:colId xmlns:a16="http://schemas.microsoft.com/office/drawing/2014/main" val="20000"/>
                        </a:ext>
                      </a:extLst>
                    </a:gridCol>
                    <a:gridCol w="816948">
                      <a:extLst>
                        <a:ext uri="{9D8B030D-6E8A-4147-A177-3AD203B41FA5}">
                          <a16:colId xmlns:a16="http://schemas.microsoft.com/office/drawing/2014/main" val="20001"/>
                        </a:ext>
                      </a:extLst>
                    </a:gridCol>
                    <a:gridCol w="714829">
                      <a:extLst>
                        <a:ext uri="{9D8B030D-6E8A-4147-A177-3AD203B41FA5}">
                          <a16:colId xmlns:a16="http://schemas.microsoft.com/office/drawing/2014/main" val="20002"/>
                        </a:ext>
                      </a:extLst>
                    </a:gridCol>
                    <a:gridCol w="714829">
                      <a:extLst>
                        <a:ext uri="{9D8B030D-6E8A-4147-A177-3AD203B41FA5}">
                          <a16:colId xmlns:a16="http://schemas.microsoft.com/office/drawing/2014/main" val="20003"/>
                        </a:ext>
                      </a:extLst>
                    </a:gridCol>
                    <a:gridCol w="554844">
                      <a:extLst>
                        <a:ext uri="{9D8B030D-6E8A-4147-A177-3AD203B41FA5}">
                          <a16:colId xmlns:a16="http://schemas.microsoft.com/office/drawing/2014/main" val="20004"/>
                        </a:ext>
                      </a:extLst>
                    </a:gridCol>
                    <a:gridCol w="554844">
                      <a:extLst>
                        <a:ext uri="{9D8B030D-6E8A-4147-A177-3AD203B41FA5}">
                          <a16:colId xmlns:a16="http://schemas.microsoft.com/office/drawing/2014/main" val="20005"/>
                        </a:ext>
                      </a:extLst>
                    </a:gridCol>
                    <a:gridCol w="714829">
                      <a:extLst>
                        <a:ext uri="{9D8B030D-6E8A-4147-A177-3AD203B41FA5}">
                          <a16:colId xmlns:a16="http://schemas.microsoft.com/office/drawing/2014/main" val="20006"/>
                        </a:ext>
                      </a:extLst>
                    </a:gridCol>
                    <a:gridCol w="683059">
                      <a:extLst>
                        <a:ext uri="{9D8B030D-6E8A-4147-A177-3AD203B41FA5}">
                          <a16:colId xmlns:a16="http://schemas.microsoft.com/office/drawing/2014/main" val="20007"/>
                        </a:ext>
                      </a:extLst>
                    </a:gridCol>
                    <a:gridCol w="1243576">
                      <a:extLst>
                        <a:ext uri="{9D8B030D-6E8A-4147-A177-3AD203B41FA5}">
                          <a16:colId xmlns:a16="http://schemas.microsoft.com/office/drawing/2014/main" val="20008"/>
                        </a:ext>
                      </a:extLst>
                    </a:gridCol>
                  </a:tblGrid>
                  <a:tr h="562178">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𝑥</m:t>
                                </m:r>
                              </m:oMath>
                            </m:oMathPara>
                          </a14:m>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0</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1</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dirty="0">
                              <a:effectLst/>
                            </a:rPr>
                            <a:t>   2</a:t>
                          </a:r>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3</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4</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5</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6</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7</a:t>
                          </a:r>
                          <a:endParaRPr lang="en-US" sz="2000">
                            <a:effectLst/>
                            <a:latin typeface="Calibri"/>
                            <a:ea typeface="Calibri"/>
                            <a:cs typeface="Mangal"/>
                          </a:endParaRPr>
                        </a:p>
                      </a:txBody>
                      <a:tcPr marL="68580" marR="68580" marT="0" marB="0"/>
                    </a:tc>
                    <a:extLst>
                      <a:ext uri="{0D108BD9-81ED-4DB2-BD59-A6C34878D82A}">
                        <a16:rowId xmlns:a16="http://schemas.microsoft.com/office/drawing/2014/main" val="10000"/>
                      </a:ext>
                    </a:extLst>
                  </a:tr>
                  <a:tr h="428422">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𝑝</m:t>
                                </m:r>
                                <m:r>
                                  <a:rPr lang="en-US" sz="2000">
                                    <a:effectLst/>
                                    <a:latin typeface="Cambria Math"/>
                                  </a:rPr>
                                  <m:t>(</m:t>
                                </m:r>
                                <m:r>
                                  <a:rPr lang="en-US" sz="2000">
                                    <a:effectLst/>
                                    <a:latin typeface="Cambria Math"/>
                                  </a:rPr>
                                  <m:t>𝑥</m:t>
                                </m:r>
                                <m:r>
                                  <a:rPr lang="en-US" sz="2000">
                                    <a:effectLst/>
                                    <a:latin typeface="Cambria Math"/>
                                  </a:rPr>
                                  <m:t>)</m:t>
                                </m:r>
                              </m:oMath>
                            </m:oMathPara>
                          </a14:m>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dirty="0">
                              <a:effectLst/>
                            </a:rPr>
                            <a:t>   0 </a:t>
                          </a:r>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𝑘</m:t>
                                </m:r>
                              </m:oMath>
                            </m:oMathPara>
                          </a14:m>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2</m:t>
                                </m:r>
                                <m:r>
                                  <a:rPr lang="en-US" sz="2000">
                                    <a:effectLst/>
                                    <a:latin typeface="Cambria Math"/>
                                  </a:rPr>
                                  <m:t>𝑘</m:t>
                                </m:r>
                              </m:oMath>
                            </m:oMathPara>
                          </a14:m>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2</m:t>
                                </m:r>
                                <m:r>
                                  <a:rPr lang="en-US" sz="2000">
                                    <a:effectLst/>
                                    <a:latin typeface="Cambria Math"/>
                                  </a:rPr>
                                  <m:t>𝑘</m:t>
                                </m:r>
                              </m:oMath>
                            </m:oMathPara>
                          </a14:m>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3</m:t>
                                </m:r>
                                <m:r>
                                  <a:rPr lang="en-US" sz="2000">
                                    <a:effectLst/>
                                    <a:latin typeface="Cambria Math"/>
                                  </a:rPr>
                                  <m:t>𝑘</m:t>
                                </m:r>
                              </m:oMath>
                            </m:oMathPara>
                          </a14:m>
                          <a:endParaRPr lang="en-US" sz="2000" dirty="0">
                            <a:effectLst/>
                            <a:latin typeface="Calibri"/>
                            <a:ea typeface="Calibri"/>
                            <a:cs typeface="Mangal"/>
                          </a:endParaRPr>
                        </a:p>
                      </a:txBody>
                      <a:tcPr marL="68580" marR="68580" marT="0" marB="0"/>
                    </a:tc>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a:rPr>
                                      <m:t>𝑘</m:t>
                                    </m:r>
                                  </m:e>
                                  <m:sup>
                                    <m:r>
                                      <a:rPr lang="en-US" sz="2000">
                                        <a:effectLst/>
                                        <a:latin typeface="Cambria Math"/>
                                      </a:rPr>
                                      <m:t>2</m:t>
                                    </m:r>
                                  </m:sup>
                                </m:sSup>
                              </m:oMath>
                            </m:oMathPara>
                          </a14:m>
                          <a:endParaRPr lang="en-US" sz="2000" dirty="0">
                            <a:effectLst/>
                            <a:latin typeface="Calibri"/>
                            <a:ea typeface="Calibri"/>
                            <a:cs typeface="Mangal"/>
                          </a:endParaRPr>
                        </a:p>
                      </a:txBody>
                      <a:tcPr marL="68580" marR="68580" marT="0" marB="0"/>
                    </a:tc>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a:rPr>
                                      <m:t>2</m:t>
                                    </m:r>
                                    <m:r>
                                      <a:rPr lang="en-US" sz="2000">
                                        <a:effectLst/>
                                        <a:latin typeface="Cambria Math"/>
                                      </a:rPr>
                                      <m:t>𝑘</m:t>
                                    </m:r>
                                  </m:e>
                                  <m:sup>
                                    <m:r>
                                      <a:rPr lang="en-US" sz="2000">
                                        <a:effectLst/>
                                        <a:latin typeface="Cambria Math"/>
                                      </a:rPr>
                                      <m:t>2</m:t>
                                    </m:r>
                                  </m:sup>
                                </m:sSup>
                              </m:oMath>
                            </m:oMathPara>
                          </a14:m>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a:rPr>
                                      <m:t>7</m:t>
                                    </m:r>
                                    <m:r>
                                      <a:rPr lang="en-US" sz="2000">
                                        <a:effectLst/>
                                        <a:latin typeface="Cambria Math"/>
                                      </a:rPr>
                                      <m:t>𝑘</m:t>
                                    </m:r>
                                  </m:e>
                                  <m:sup>
                                    <m:r>
                                      <a:rPr lang="en-US" sz="2000">
                                        <a:effectLst/>
                                        <a:latin typeface="Cambria Math"/>
                                      </a:rPr>
                                      <m:t>2</m:t>
                                    </m:r>
                                  </m:sup>
                                </m:sSup>
                                <m:r>
                                  <a:rPr lang="en-US" sz="2000">
                                    <a:effectLst/>
                                    <a:latin typeface="Cambria Math"/>
                                  </a:rPr>
                                  <m:t>+</m:t>
                                </m:r>
                                <m:r>
                                  <a:rPr lang="en-US" sz="2000">
                                    <a:effectLst/>
                                    <a:latin typeface="Cambria Math"/>
                                  </a:rPr>
                                  <m:t>𝑘</m:t>
                                </m:r>
                              </m:oMath>
                            </m:oMathPara>
                          </a14:m>
                          <a:endParaRPr lang="en-US" sz="2000" dirty="0">
                            <a:effectLst/>
                            <a:latin typeface="Calibri"/>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nvPr>
            </p:nvGraphicFramePr>
            <p:xfrm>
              <a:off x="914400" y="1600200"/>
              <a:ext cx="6781801" cy="990600"/>
            </p:xfrm>
            <a:graphic>
              <a:graphicData uri="http://schemas.openxmlformats.org/drawingml/2006/table">
                <a:tbl>
                  <a:tblPr firstRow="1" firstCol="1" bandRow="1">
                    <a:tableStyleId>{5C22544A-7EE6-4342-B048-85BDC9FD1C3A}</a:tableStyleId>
                  </a:tblPr>
                  <a:tblGrid>
                    <a:gridCol w="784043"/>
                    <a:gridCol w="816948"/>
                    <a:gridCol w="714829"/>
                    <a:gridCol w="714829"/>
                    <a:gridCol w="554844"/>
                    <a:gridCol w="554844"/>
                    <a:gridCol w="714829"/>
                    <a:gridCol w="683059"/>
                    <a:gridCol w="1243576"/>
                  </a:tblGrid>
                  <a:tr h="562178">
                    <a:tc>
                      <a:txBody>
                        <a:bodyPr/>
                        <a:lstStyle/>
                        <a:p>
                          <a:endParaRPr lang="en-US"/>
                        </a:p>
                      </a:txBody>
                      <a:tcPr marL="68580" marR="68580" marT="0" marB="0">
                        <a:blipFill rotWithShape="0">
                          <a:blip r:embed="rId4"/>
                          <a:stretch>
                            <a:fillRect l="-1550" t="-12903" r="-765891" b="-80645"/>
                          </a:stretch>
                        </a:blipFill>
                      </a:tcPr>
                    </a:tc>
                    <a:tc>
                      <a:txBody>
                        <a:bodyPr/>
                        <a:lstStyle/>
                        <a:p>
                          <a:pPr marL="0" marR="0" algn="l">
                            <a:spcBef>
                              <a:spcPts val="0"/>
                            </a:spcBef>
                            <a:spcAft>
                              <a:spcPts val="0"/>
                            </a:spcAft>
                          </a:pPr>
                          <a:r>
                            <a:rPr lang="en-US" sz="2000">
                              <a:effectLst/>
                            </a:rPr>
                            <a:t>   0</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1</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dirty="0">
                              <a:effectLst/>
                            </a:rPr>
                            <a:t>   2</a:t>
                          </a:r>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3</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4</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5</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6</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7</a:t>
                          </a:r>
                          <a:endParaRPr lang="en-US" sz="2000">
                            <a:effectLst/>
                            <a:latin typeface="Calibri"/>
                            <a:ea typeface="Calibri"/>
                            <a:cs typeface="Mangal"/>
                          </a:endParaRPr>
                        </a:p>
                      </a:txBody>
                      <a:tcPr marL="68580" marR="68580" marT="0" marB="0"/>
                    </a:tc>
                  </a:tr>
                  <a:tr h="428422">
                    <a:tc>
                      <a:txBody>
                        <a:bodyPr/>
                        <a:lstStyle/>
                        <a:p>
                          <a:endParaRPr lang="en-US"/>
                        </a:p>
                      </a:txBody>
                      <a:tcPr marL="68580" marR="68580" marT="0" marB="0">
                        <a:blipFill rotWithShape="0">
                          <a:blip r:embed="rId4"/>
                          <a:stretch>
                            <a:fillRect l="-1550" t="-150000" r="-765891" b="-7143"/>
                          </a:stretch>
                        </a:blipFill>
                      </a:tcPr>
                    </a:tc>
                    <a:tc>
                      <a:txBody>
                        <a:bodyPr/>
                        <a:lstStyle/>
                        <a:p>
                          <a:pPr marL="0" marR="0" algn="l">
                            <a:spcBef>
                              <a:spcPts val="0"/>
                            </a:spcBef>
                            <a:spcAft>
                              <a:spcPts val="0"/>
                            </a:spcAft>
                          </a:pPr>
                          <a:r>
                            <a:rPr lang="en-US" sz="2000">
                              <a:effectLst/>
                            </a:rPr>
                            <a:t>   0 </a:t>
                          </a:r>
                          <a:endParaRPr lang="en-US" sz="2000">
                            <a:effectLst/>
                            <a:latin typeface="Calibri"/>
                            <a:ea typeface="Calibri"/>
                            <a:cs typeface="Mangal"/>
                          </a:endParaRPr>
                        </a:p>
                      </a:txBody>
                      <a:tcPr marL="68580" marR="68580" marT="0" marB="0"/>
                    </a:tc>
                    <a:tc>
                      <a:txBody>
                        <a:bodyPr/>
                        <a:lstStyle/>
                        <a:p>
                          <a:endParaRPr lang="en-US"/>
                        </a:p>
                      </a:txBody>
                      <a:tcPr marL="68580" marR="68580" marT="0" marB="0">
                        <a:blipFill rotWithShape="0">
                          <a:blip r:embed="rId4"/>
                          <a:stretch>
                            <a:fillRect l="-226496" t="-150000" r="-629915" b="-7143"/>
                          </a:stretch>
                        </a:blipFill>
                      </a:tcPr>
                    </a:tc>
                    <a:tc>
                      <a:txBody>
                        <a:bodyPr/>
                        <a:lstStyle/>
                        <a:p>
                          <a:endParaRPr lang="en-US"/>
                        </a:p>
                      </a:txBody>
                      <a:tcPr marL="68580" marR="68580" marT="0" marB="0">
                        <a:blipFill rotWithShape="0">
                          <a:blip r:embed="rId4"/>
                          <a:stretch>
                            <a:fillRect l="-326496" t="-150000" r="-529915" b="-7143"/>
                          </a:stretch>
                        </a:blipFill>
                      </a:tcPr>
                    </a:tc>
                    <a:tc>
                      <a:txBody>
                        <a:bodyPr/>
                        <a:lstStyle/>
                        <a:p>
                          <a:endParaRPr lang="en-US"/>
                        </a:p>
                      </a:txBody>
                      <a:tcPr marL="68580" marR="68580" marT="0" marB="0">
                        <a:blipFill rotWithShape="0">
                          <a:blip r:embed="rId4"/>
                          <a:stretch>
                            <a:fillRect l="-548352" t="-150000" r="-581319" b="-7143"/>
                          </a:stretch>
                        </a:blipFill>
                      </a:tcPr>
                    </a:tc>
                    <a:tc>
                      <a:txBody>
                        <a:bodyPr/>
                        <a:lstStyle/>
                        <a:p>
                          <a:endParaRPr lang="en-US"/>
                        </a:p>
                      </a:txBody>
                      <a:tcPr marL="68580" marR="68580" marT="0" marB="0">
                        <a:blipFill rotWithShape="0">
                          <a:blip r:embed="rId4"/>
                          <a:stretch>
                            <a:fillRect l="-648352" t="-150000" r="-481319" b="-7143"/>
                          </a:stretch>
                        </a:blipFill>
                      </a:tcPr>
                    </a:tc>
                    <a:tc>
                      <a:txBody>
                        <a:bodyPr/>
                        <a:lstStyle/>
                        <a:p>
                          <a:endParaRPr lang="en-US"/>
                        </a:p>
                      </a:txBody>
                      <a:tcPr marL="68580" marR="68580" marT="0" marB="0">
                        <a:blipFill rotWithShape="0">
                          <a:blip r:embed="rId4"/>
                          <a:stretch>
                            <a:fillRect l="-577119" t="-150000" r="-271186" b="-7143"/>
                          </a:stretch>
                        </a:blipFill>
                      </a:tcPr>
                    </a:tc>
                    <a:tc>
                      <a:txBody>
                        <a:bodyPr/>
                        <a:lstStyle/>
                        <a:p>
                          <a:endParaRPr lang="en-US"/>
                        </a:p>
                      </a:txBody>
                      <a:tcPr marL="68580" marR="68580" marT="0" marB="0">
                        <a:blipFill rotWithShape="0">
                          <a:blip r:embed="rId4"/>
                          <a:stretch>
                            <a:fillRect l="-713393" t="-150000" r="-185714" b="-7143"/>
                          </a:stretch>
                        </a:blipFill>
                      </a:tcPr>
                    </a:tc>
                    <a:tc>
                      <a:txBody>
                        <a:bodyPr/>
                        <a:lstStyle/>
                        <a:p>
                          <a:endParaRPr lang="en-US"/>
                        </a:p>
                      </a:txBody>
                      <a:tcPr marL="68580" marR="68580" marT="0" marB="0">
                        <a:blipFill rotWithShape="0">
                          <a:blip r:embed="rId4"/>
                          <a:stretch>
                            <a:fillRect l="-446569" t="-150000" r="-1961" b="-7143"/>
                          </a:stretch>
                        </a:blipFill>
                      </a:tcPr>
                    </a:tc>
                  </a:tr>
                </a:tbl>
              </a:graphicData>
            </a:graphic>
          </p:graphicFrame>
        </mc:Fallback>
      </mc:AlternateContent>
      <p:sp>
        <p:nvSpPr>
          <p:cNvPr id="8" name="Footer Placeholder 7"/>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0705260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200" dirty="0"/>
                  <a:t>Q1. A random variable </a:t>
                </a:r>
                <a14:m>
                  <m:oMath xmlns:m="http://schemas.openxmlformats.org/officeDocument/2006/math">
                    <m:r>
                      <a:rPr lang="en-US" sz="2200" i="1">
                        <a:latin typeface="Cambria Math"/>
                      </a:rPr>
                      <m:t>𝑋</m:t>
                    </m:r>
                  </m:oMath>
                </a14:m>
                <a:r>
                  <a:rPr lang="en-US" sz="2200" dirty="0"/>
                  <a:t> has the following probability mass function:</a:t>
                </a:r>
              </a:p>
              <a:p>
                <a:pPr marL="0" lvl="0" indent="0">
                  <a:buNone/>
                </a:pPr>
                <a:endParaRPr lang="en-US" sz="2200" dirty="0"/>
              </a:p>
              <a:p>
                <a:pPr marL="0" lvl="0" indent="0">
                  <a:buNone/>
                </a:pPr>
                <a:endParaRPr lang="en-US" sz="2200" dirty="0"/>
              </a:p>
              <a:p>
                <a:pPr marL="0" lvl="0" indent="0">
                  <a:buNone/>
                </a:pPr>
                <a:endParaRPr lang="en-US" sz="2200" dirty="0"/>
              </a:p>
              <a:p>
                <a:pPr marL="514350" lvl="0" indent="-514350">
                  <a:buFont typeface="+mj-lt"/>
                  <a:buAutoNum type="romanLcPeriod"/>
                </a:pPr>
                <a:r>
                  <a:rPr lang="en-US" sz="2200" dirty="0"/>
                  <a:t>Find </a:t>
                </a:r>
                <a14:m>
                  <m:oMath xmlns:m="http://schemas.openxmlformats.org/officeDocument/2006/math">
                    <m:r>
                      <a:rPr lang="en-US" sz="2200" i="1">
                        <a:latin typeface="Cambria Math"/>
                      </a:rPr>
                      <m:t>𝑘</m:t>
                    </m:r>
                    <m:r>
                      <a:rPr lang="en-US" sz="2200" i="1">
                        <a:latin typeface="Cambria Math"/>
                      </a:rPr>
                      <m:t>.</m:t>
                    </m:r>
                  </m:oMath>
                </a14:m>
                <a:endParaRPr lang="en-US" sz="2200" dirty="0"/>
              </a:p>
              <a:p>
                <a:pPr marL="514350" lvl="0" indent="-514350">
                  <a:buFont typeface="+mj-lt"/>
                  <a:buAutoNum type="romanLcPeriod"/>
                </a:pPr>
                <a:r>
                  <a:rPr lang="en-US" sz="2200" dirty="0"/>
                  <a:t>Evaluate </a:t>
                </a: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𝑋</m:t>
                        </m:r>
                        <m:r>
                          <a:rPr lang="en-US" sz="2200" i="1">
                            <a:latin typeface="Cambria Math"/>
                          </a:rPr>
                          <m:t>&lt;6</m:t>
                        </m:r>
                      </m:e>
                    </m:d>
                    <m:r>
                      <a:rPr lang="en-US" sz="2200" i="1">
                        <a:latin typeface="Cambria Math"/>
                      </a:rPr>
                      <m:t>,</m:t>
                    </m:r>
                    <m:r>
                      <a:rPr lang="en-US" sz="2200" i="1">
                        <a:latin typeface="Cambria Math"/>
                      </a:rPr>
                      <m:t>𝑃</m:t>
                    </m:r>
                    <m:r>
                      <a:rPr lang="en-US" sz="2200" i="1">
                        <a:latin typeface="Cambria Math"/>
                      </a:rPr>
                      <m:t>(</m:t>
                    </m:r>
                    <m:r>
                      <a:rPr lang="en-US" sz="2200" i="1">
                        <a:latin typeface="Cambria Math"/>
                      </a:rPr>
                      <m:t>𝑋</m:t>
                    </m:r>
                    <m:r>
                      <a:rPr lang="en-US" sz="2200" i="1">
                        <a:latin typeface="Cambria Math"/>
                      </a:rPr>
                      <m:t>≥6)</m:t>
                    </m:r>
                  </m:oMath>
                </a14:m>
                <a:r>
                  <a:rPr lang="en-US" sz="2200" dirty="0"/>
                  <a:t> and </a:t>
                </a: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0&lt;</m:t>
                        </m:r>
                        <m:r>
                          <a:rPr lang="en-US" sz="2200" i="1">
                            <a:latin typeface="Cambria Math"/>
                          </a:rPr>
                          <m:t>𝑋</m:t>
                        </m:r>
                        <m:r>
                          <a:rPr lang="en-US" sz="2200" i="1">
                            <a:latin typeface="Cambria Math"/>
                          </a:rPr>
                          <m:t>&lt;5</m:t>
                        </m:r>
                      </m:e>
                    </m:d>
                    <m:r>
                      <a:rPr lang="en-US" sz="2200" i="1">
                        <a:latin typeface="Cambria Math"/>
                      </a:rPr>
                      <m:t>.</m:t>
                    </m:r>
                  </m:oMath>
                </a14:m>
                <a:endParaRPr lang="en-US" sz="2200" dirty="0"/>
              </a:p>
              <a:p>
                <a:pPr marL="514350" lvl="0" indent="-514350">
                  <a:buFont typeface="+mj-lt"/>
                  <a:buAutoNum type="romanLcPeriod"/>
                </a:pPr>
                <a:r>
                  <a:rPr lang="en-US" sz="2200" dirty="0"/>
                  <a:t>If </a:t>
                </a:r>
                <a14:m>
                  <m:oMath xmlns:m="http://schemas.openxmlformats.org/officeDocument/2006/math">
                    <m:r>
                      <a:rPr lang="en-US" sz="2200" i="1">
                        <a:latin typeface="Cambria Math"/>
                      </a:rPr>
                      <m:t>𝑃</m:t>
                    </m:r>
                    <m:d>
                      <m:dPr>
                        <m:ctrlPr>
                          <a:rPr lang="en-US" sz="2200" i="1">
                            <a:latin typeface="Cambria Math" panose="02040503050406030204" pitchFamily="18" charset="0"/>
                          </a:rPr>
                        </m:ctrlPr>
                      </m:dPr>
                      <m:e>
                        <m:r>
                          <a:rPr lang="en-US" sz="2200" i="1">
                            <a:latin typeface="Cambria Math"/>
                          </a:rPr>
                          <m:t>𝑋</m:t>
                        </m:r>
                        <m:r>
                          <a:rPr lang="en-US" sz="2200" i="1">
                            <a:latin typeface="Cambria Math"/>
                          </a:rPr>
                          <m:t>≤</m:t>
                        </m:r>
                        <m:r>
                          <a:rPr lang="en-US" sz="2200" i="1">
                            <a:latin typeface="Cambria Math"/>
                          </a:rPr>
                          <m:t>𝑎</m:t>
                        </m:r>
                      </m:e>
                    </m:d>
                    <m:r>
                      <a:rPr lang="en-US" sz="2200" i="1">
                        <a:latin typeface="Cambria Math"/>
                      </a:rPr>
                      <m:t>&gt;</m:t>
                    </m:r>
                    <m:f>
                      <m:fPr>
                        <m:ctrlPr>
                          <a:rPr lang="en-US" sz="2200" i="1">
                            <a:latin typeface="Cambria Math" panose="02040503050406030204" pitchFamily="18" charset="0"/>
                          </a:rPr>
                        </m:ctrlPr>
                      </m:fPr>
                      <m:num>
                        <m:r>
                          <a:rPr lang="en-US" sz="2200" i="1">
                            <a:latin typeface="Cambria Math"/>
                          </a:rPr>
                          <m:t>1</m:t>
                        </m:r>
                      </m:num>
                      <m:den>
                        <m:r>
                          <a:rPr lang="en-US" sz="2200" i="1">
                            <a:latin typeface="Cambria Math"/>
                          </a:rPr>
                          <m:t>2</m:t>
                        </m:r>
                      </m:den>
                    </m:f>
                  </m:oMath>
                </a14:m>
                <a:r>
                  <a:rPr lang="en-US" sz="2200" dirty="0"/>
                  <a:t> find the minimum value of </a:t>
                </a:r>
                <a14:m>
                  <m:oMath xmlns:m="http://schemas.openxmlformats.org/officeDocument/2006/math">
                    <m:r>
                      <a:rPr lang="en-US" sz="2200" i="1">
                        <a:latin typeface="Cambria Math"/>
                      </a:rPr>
                      <m:t>𝑎</m:t>
                    </m:r>
                    <m:r>
                      <a:rPr lang="en-US" sz="2200" i="1">
                        <a:latin typeface="Cambria Math"/>
                      </a:rPr>
                      <m:t>.</m:t>
                    </m:r>
                  </m:oMath>
                </a14:m>
                <a:endParaRPr lang="en-US" sz="2200" dirty="0"/>
              </a:p>
              <a:p>
                <a:pPr marL="514350" lvl="0" indent="-514350">
                  <a:buFont typeface="+mj-lt"/>
                  <a:buAutoNum type="romanLcPeriod"/>
                </a:pPr>
                <a:r>
                  <a:rPr lang="en-US" sz="2200" dirty="0"/>
                  <a:t>Determine the distribution function of </a:t>
                </a:r>
                <a14:m>
                  <m:oMath xmlns:m="http://schemas.openxmlformats.org/officeDocument/2006/math">
                    <m:r>
                      <a:rPr lang="en-US" sz="2200" i="1">
                        <a:latin typeface="Cambria Math"/>
                      </a:rPr>
                      <m:t>𝑋</m:t>
                    </m:r>
                    <m:r>
                      <a:rPr lang="en-US" sz="2200" i="1">
                        <a:latin typeface="Cambria Math"/>
                      </a:rPr>
                      <m:t>.</m:t>
                    </m:r>
                  </m:oMath>
                </a14:m>
                <a:endParaRPr lang="en-US" sz="2200" dirty="0"/>
              </a:p>
              <a:p>
                <a:pPr marL="0" lvl="0" indent="0">
                  <a:buNone/>
                </a:pPr>
                <a:endParaRPr lang="en-US" sz="2200" dirty="0"/>
              </a:p>
              <a:p>
                <a:pPr marL="0" lvl="0" indent="0">
                  <a:buNone/>
                </a:pPr>
                <a:endParaRPr lang="en-US" sz="2200" dirty="0"/>
              </a:p>
              <a:p>
                <a:pPr marL="0" indent="0">
                  <a:buNone/>
                </a:pPr>
                <a:endParaRPr lang="en-US" sz="22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l="-1037" t="-94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26</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Daily Quiz(CO3)</a:t>
            </a:r>
            <a:endParaRPr kumimoji="0" lang="en-US" sz="2400" b="1" i="0" u="none" strike="noStrike" kern="1200" cap="none" spc="0" normalizeH="0" baseline="0" noProof="0" dirty="0">
              <a:ln>
                <a:noFill/>
              </a:ln>
              <a:solidFill>
                <a:schemeClr val="dk1"/>
              </a:solidFill>
              <a:effectLst/>
              <a:uLnTx/>
              <a:uFillTx/>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nvGraphicFramePr>
            <p:xfrm>
              <a:off x="914400" y="1600200"/>
              <a:ext cx="6781801" cy="990600"/>
            </p:xfrm>
            <a:graphic>
              <a:graphicData uri="http://schemas.openxmlformats.org/drawingml/2006/table">
                <a:tbl>
                  <a:tblPr firstRow="1" firstCol="1" bandRow="1">
                    <a:tableStyleId>{5C22544A-7EE6-4342-B048-85BDC9FD1C3A}</a:tableStyleId>
                  </a:tblPr>
                  <a:tblGrid>
                    <a:gridCol w="784043">
                      <a:extLst>
                        <a:ext uri="{9D8B030D-6E8A-4147-A177-3AD203B41FA5}">
                          <a16:colId xmlns:a16="http://schemas.microsoft.com/office/drawing/2014/main" val="20000"/>
                        </a:ext>
                      </a:extLst>
                    </a:gridCol>
                    <a:gridCol w="816948">
                      <a:extLst>
                        <a:ext uri="{9D8B030D-6E8A-4147-A177-3AD203B41FA5}">
                          <a16:colId xmlns:a16="http://schemas.microsoft.com/office/drawing/2014/main" val="20001"/>
                        </a:ext>
                      </a:extLst>
                    </a:gridCol>
                    <a:gridCol w="714829">
                      <a:extLst>
                        <a:ext uri="{9D8B030D-6E8A-4147-A177-3AD203B41FA5}">
                          <a16:colId xmlns:a16="http://schemas.microsoft.com/office/drawing/2014/main" val="20002"/>
                        </a:ext>
                      </a:extLst>
                    </a:gridCol>
                    <a:gridCol w="714829">
                      <a:extLst>
                        <a:ext uri="{9D8B030D-6E8A-4147-A177-3AD203B41FA5}">
                          <a16:colId xmlns:a16="http://schemas.microsoft.com/office/drawing/2014/main" val="20003"/>
                        </a:ext>
                      </a:extLst>
                    </a:gridCol>
                    <a:gridCol w="554844">
                      <a:extLst>
                        <a:ext uri="{9D8B030D-6E8A-4147-A177-3AD203B41FA5}">
                          <a16:colId xmlns:a16="http://schemas.microsoft.com/office/drawing/2014/main" val="20004"/>
                        </a:ext>
                      </a:extLst>
                    </a:gridCol>
                    <a:gridCol w="554844">
                      <a:extLst>
                        <a:ext uri="{9D8B030D-6E8A-4147-A177-3AD203B41FA5}">
                          <a16:colId xmlns:a16="http://schemas.microsoft.com/office/drawing/2014/main" val="20005"/>
                        </a:ext>
                      </a:extLst>
                    </a:gridCol>
                    <a:gridCol w="714829">
                      <a:extLst>
                        <a:ext uri="{9D8B030D-6E8A-4147-A177-3AD203B41FA5}">
                          <a16:colId xmlns:a16="http://schemas.microsoft.com/office/drawing/2014/main" val="20006"/>
                        </a:ext>
                      </a:extLst>
                    </a:gridCol>
                    <a:gridCol w="683059">
                      <a:extLst>
                        <a:ext uri="{9D8B030D-6E8A-4147-A177-3AD203B41FA5}">
                          <a16:colId xmlns:a16="http://schemas.microsoft.com/office/drawing/2014/main" val="20007"/>
                        </a:ext>
                      </a:extLst>
                    </a:gridCol>
                    <a:gridCol w="1243576">
                      <a:extLst>
                        <a:ext uri="{9D8B030D-6E8A-4147-A177-3AD203B41FA5}">
                          <a16:colId xmlns:a16="http://schemas.microsoft.com/office/drawing/2014/main" val="20008"/>
                        </a:ext>
                      </a:extLst>
                    </a:gridCol>
                  </a:tblGrid>
                  <a:tr h="562178">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𝑥</m:t>
                                </m:r>
                              </m:oMath>
                            </m:oMathPara>
                          </a14:m>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0</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1</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dirty="0">
                              <a:effectLst/>
                            </a:rPr>
                            <a:t>   2</a:t>
                          </a:r>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3</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4</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5</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6</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7</a:t>
                          </a:r>
                          <a:endParaRPr lang="en-US" sz="2000">
                            <a:effectLst/>
                            <a:latin typeface="Calibri"/>
                            <a:ea typeface="Calibri"/>
                            <a:cs typeface="Mangal"/>
                          </a:endParaRPr>
                        </a:p>
                      </a:txBody>
                      <a:tcPr marL="68580" marR="68580" marT="0" marB="0"/>
                    </a:tc>
                    <a:extLst>
                      <a:ext uri="{0D108BD9-81ED-4DB2-BD59-A6C34878D82A}">
                        <a16:rowId xmlns:a16="http://schemas.microsoft.com/office/drawing/2014/main" val="10000"/>
                      </a:ext>
                    </a:extLst>
                  </a:tr>
                  <a:tr h="428422">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𝑝</m:t>
                                </m:r>
                                <m:r>
                                  <a:rPr lang="en-US" sz="2000">
                                    <a:effectLst/>
                                    <a:latin typeface="Cambria Math"/>
                                  </a:rPr>
                                  <m:t>(</m:t>
                                </m:r>
                                <m:r>
                                  <a:rPr lang="en-US" sz="2000">
                                    <a:effectLst/>
                                    <a:latin typeface="Cambria Math"/>
                                  </a:rPr>
                                  <m:t>𝑥</m:t>
                                </m:r>
                                <m:r>
                                  <a:rPr lang="en-US" sz="2000">
                                    <a:effectLst/>
                                    <a:latin typeface="Cambria Math"/>
                                  </a:rPr>
                                  <m:t>)</m:t>
                                </m:r>
                              </m:oMath>
                            </m:oMathPara>
                          </a14:m>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0 </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𝑘</m:t>
                                </m:r>
                              </m:oMath>
                            </m:oMathPara>
                          </a14:m>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2</m:t>
                                </m:r>
                                <m:r>
                                  <a:rPr lang="en-US" sz="2000">
                                    <a:effectLst/>
                                    <a:latin typeface="Cambria Math"/>
                                  </a:rPr>
                                  <m:t>𝑘</m:t>
                                </m:r>
                              </m:oMath>
                            </m:oMathPara>
                          </a14:m>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2</m:t>
                                </m:r>
                                <m:r>
                                  <a:rPr lang="en-US" sz="2000">
                                    <a:effectLst/>
                                    <a:latin typeface="Cambria Math"/>
                                  </a:rPr>
                                  <m:t>𝑘</m:t>
                                </m:r>
                              </m:oMath>
                            </m:oMathPara>
                          </a14:m>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r>
                                  <a:rPr lang="en-US" sz="2000">
                                    <a:effectLst/>
                                    <a:latin typeface="Cambria Math"/>
                                  </a:rPr>
                                  <m:t>3</m:t>
                                </m:r>
                                <m:r>
                                  <a:rPr lang="en-US" sz="2000">
                                    <a:effectLst/>
                                    <a:latin typeface="Cambria Math"/>
                                  </a:rPr>
                                  <m:t>𝑘</m:t>
                                </m:r>
                              </m:oMath>
                            </m:oMathPara>
                          </a14:m>
                          <a:endParaRPr lang="en-US" sz="2000">
                            <a:effectLst/>
                            <a:latin typeface="Calibri"/>
                            <a:ea typeface="Calibri"/>
                            <a:cs typeface="Mangal"/>
                          </a:endParaRPr>
                        </a:p>
                      </a:txBody>
                      <a:tcPr marL="68580" marR="68580" marT="0" marB="0"/>
                    </a:tc>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a:rPr>
                                      <m:t>𝑘</m:t>
                                    </m:r>
                                  </m:e>
                                  <m:sup>
                                    <m:r>
                                      <a:rPr lang="en-US" sz="2000">
                                        <a:effectLst/>
                                        <a:latin typeface="Cambria Math"/>
                                      </a:rPr>
                                      <m:t>2</m:t>
                                    </m:r>
                                  </m:sup>
                                </m:sSup>
                              </m:oMath>
                            </m:oMathPara>
                          </a14:m>
                          <a:endParaRPr lang="en-US" sz="2000">
                            <a:effectLst/>
                            <a:latin typeface="Calibri"/>
                            <a:ea typeface="Calibri"/>
                            <a:cs typeface="Mangal"/>
                          </a:endParaRPr>
                        </a:p>
                      </a:txBody>
                      <a:tcPr marL="68580" marR="68580" marT="0" marB="0"/>
                    </a:tc>
                    <a:tc>
                      <a:txBody>
                        <a:bodyPr/>
                        <a:lstStyle/>
                        <a:p>
                          <a:pPr marL="0" marR="0" algn="l">
                            <a:lnSpc>
                              <a:spcPct val="115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a:rPr>
                                      <m:t>2</m:t>
                                    </m:r>
                                    <m:r>
                                      <a:rPr lang="en-US" sz="2000">
                                        <a:effectLst/>
                                        <a:latin typeface="Cambria Math"/>
                                      </a:rPr>
                                      <m:t>𝑘</m:t>
                                    </m:r>
                                  </m:e>
                                  <m:sup>
                                    <m:r>
                                      <a:rPr lang="en-US" sz="2000">
                                        <a:effectLst/>
                                        <a:latin typeface="Cambria Math"/>
                                      </a:rPr>
                                      <m:t>2</m:t>
                                    </m:r>
                                  </m:sup>
                                </m:sSup>
                              </m:oMath>
                            </m:oMathPara>
                          </a14:m>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14:m>
                            <m:oMathPara xmlns:m="http://schemas.openxmlformats.org/officeDocument/2006/math">
                              <m:oMathParaPr>
                                <m:jc m:val="centerGroup"/>
                              </m:oMathParaPr>
                              <m:oMath xmlns:m="http://schemas.openxmlformats.org/officeDocument/2006/math">
                                <m:sSup>
                                  <m:sSupPr>
                                    <m:ctrlPr>
                                      <a:rPr lang="en-US" sz="2000" i="1">
                                        <a:effectLst/>
                                        <a:latin typeface="Cambria Math" panose="02040503050406030204" pitchFamily="18" charset="0"/>
                                      </a:rPr>
                                    </m:ctrlPr>
                                  </m:sSupPr>
                                  <m:e>
                                    <m:r>
                                      <a:rPr lang="en-US" sz="2000">
                                        <a:effectLst/>
                                        <a:latin typeface="Cambria Math"/>
                                      </a:rPr>
                                      <m:t>7</m:t>
                                    </m:r>
                                    <m:r>
                                      <a:rPr lang="en-US" sz="2000">
                                        <a:effectLst/>
                                        <a:latin typeface="Cambria Math"/>
                                      </a:rPr>
                                      <m:t>𝑘</m:t>
                                    </m:r>
                                  </m:e>
                                  <m:sup>
                                    <m:r>
                                      <a:rPr lang="en-US" sz="2000">
                                        <a:effectLst/>
                                        <a:latin typeface="Cambria Math"/>
                                      </a:rPr>
                                      <m:t>2</m:t>
                                    </m:r>
                                  </m:sup>
                                </m:sSup>
                                <m:r>
                                  <a:rPr lang="en-US" sz="2000">
                                    <a:effectLst/>
                                    <a:latin typeface="Cambria Math"/>
                                  </a:rPr>
                                  <m:t>+</m:t>
                                </m:r>
                                <m:r>
                                  <a:rPr lang="en-US" sz="2000">
                                    <a:effectLst/>
                                    <a:latin typeface="Cambria Math"/>
                                  </a:rPr>
                                  <m:t>𝑘</m:t>
                                </m:r>
                              </m:oMath>
                            </m:oMathPara>
                          </a14:m>
                          <a:endParaRPr lang="en-US" sz="2000" dirty="0">
                            <a:effectLst/>
                            <a:latin typeface="Calibri"/>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nvPr>
            </p:nvGraphicFramePr>
            <p:xfrm>
              <a:off x="914400" y="1600200"/>
              <a:ext cx="6781801" cy="990600"/>
            </p:xfrm>
            <a:graphic>
              <a:graphicData uri="http://schemas.openxmlformats.org/drawingml/2006/table">
                <a:tbl>
                  <a:tblPr firstRow="1" firstCol="1" bandRow="1">
                    <a:tableStyleId>{5C22544A-7EE6-4342-B048-85BDC9FD1C3A}</a:tableStyleId>
                  </a:tblPr>
                  <a:tblGrid>
                    <a:gridCol w="784043"/>
                    <a:gridCol w="816948"/>
                    <a:gridCol w="714829"/>
                    <a:gridCol w="714829"/>
                    <a:gridCol w="554844"/>
                    <a:gridCol w="554844"/>
                    <a:gridCol w="714829"/>
                    <a:gridCol w="683059"/>
                    <a:gridCol w="1243576"/>
                  </a:tblGrid>
                  <a:tr h="562178">
                    <a:tc>
                      <a:txBody>
                        <a:bodyPr/>
                        <a:lstStyle/>
                        <a:p>
                          <a:endParaRPr lang="en-US"/>
                        </a:p>
                      </a:txBody>
                      <a:tcPr marL="68580" marR="68580" marT="0" marB="0">
                        <a:blipFill rotWithShape="0">
                          <a:blip r:embed="rId4"/>
                          <a:stretch>
                            <a:fillRect l="-1550" t="-12903" r="-765891" b="-80645"/>
                          </a:stretch>
                        </a:blipFill>
                      </a:tcPr>
                    </a:tc>
                    <a:tc>
                      <a:txBody>
                        <a:bodyPr/>
                        <a:lstStyle/>
                        <a:p>
                          <a:pPr marL="0" marR="0" algn="l">
                            <a:spcBef>
                              <a:spcPts val="0"/>
                            </a:spcBef>
                            <a:spcAft>
                              <a:spcPts val="0"/>
                            </a:spcAft>
                          </a:pPr>
                          <a:r>
                            <a:rPr lang="en-US" sz="2000">
                              <a:effectLst/>
                            </a:rPr>
                            <a:t>   0</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1</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dirty="0">
                              <a:effectLst/>
                            </a:rPr>
                            <a:t>   2</a:t>
                          </a:r>
                          <a:endParaRPr lang="en-US" sz="2000" dirty="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3</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4</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5</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6</a:t>
                          </a:r>
                          <a:endParaRPr lang="en-US" sz="2000">
                            <a:effectLst/>
                            <a:latin typeface="Calibri"/>
                            <a:ea typeface="Calibri"/>
                            <a:cs typeface="Mangal"/>
                          </a:endParaRPr>
                        </a:p>
                      </a:txBody>
                      <a:tcPr marL="68580" marR="68580" marT="0" marB="0"/>
                    </a:tc>
                    <a:tc>
                      <a:txBody>
                        <a:bodyPr/>
                        <a:lstStyle/>
                        <a:p>
                          <a:pPr marL="0" marR="0" algn="l">
                            <a:spcBef>
                              <a:spcPts val="0"/>
                            </a:spcBef>
                            <a:spcAft>
                              <a:spcPts val="0"/>
                            </a:spcAft>
                          </a:pPr>
                          <a:r>
                            <a:rPr lang="en-US" sz="2000">
                              <a:effectLst/>
                            </a:rPr>
                            <a:t>     7</a:t>
                          </a:r>
                          <a:endParaRPr lang="en-US" sz="2000">
                            <a:effectLst/>
                            <a:latin typeface="Calibri"/>
                            <a:ea typeface="Calibri"/>
                            <a:cs typeface="Mangal"/>
                          </a:endParaRPr>
                        </a:p>
                      </a:txBody>
                      <a:tcPr marL="68580" marR="68580" marT="0" marB="0"/>
                    </a:tc>
                  </a:tr>
                  <a:tr h="428422">
                    <a:tc>
                      <a:txBody>
                        <a:bodyPr/>
                        <a:lstStyle/>
                        <a:p>
                          <a:endParaRPr lang="en-US"/>
                        </a:p>
                      </a:txBody>
                      <a:tcPr marL="68580" marR="68580" marT="0" marB="0">
                        <a:blipFill rotWithShape="0">
                          <a:blip r:embed="rId4"/>
                          <a:stretch>
                            <a:fillRect l="-1550" t="-150000" r="-765891" b="-7143"/>
                          </a:stretch>
                        </a:blipFill>
                      </a:tcPr>
                    </a:tc>
                    <a:tc>
                      <a:txBody>
                        <a:bodyPr/>
                        <a:lstStyle/>
                        <a:p>
                          <a:pPr marL="0" marR="0" algn="l">
                            <a:spcBef>
                              <a:spcPts val="0"/>
                            </a:spcBef>
                            <a:spcAft>
                              <a:spcPts val="0"/>
                            </a:spcAft>
                          </a:pPr>
                          <a:r>
                            <a:rPr lang="en-US" sz="2000">
                              <a:effectLst/>
                            </a:rPr>
                            <a:t>   0 </a:t>
                          </a:r>
                          <a:endParaRPr lang="en-US" sz="2000">
                            <a:effectLst/>
                            <a:latin typeface="Calibri"/>
                            <a:ea typeface="Calibri"/>
                            <a:cs typeface="Mangal"/>
                          </a:endParaRPr>
                        </a:p>
                      </a:txBody>
                      <a:tcPr marL="68580" marR="68580" marT="0" marB="0"/>
                    </a:tc>
                    <a:tc>
                      <a:txBody>
                        <a:bodyPr/>
                        <a:lstStyle/>
                        <a:p>
                          <a:endParaRPr lang="en-US"/>
                        </a:p>
                      </a:txBody>
                      <a:tcPr marL="68580" marR="68580" marT="0" marB="0">
                        <a:blipFill rotWithShape="0">
                          <a:blip r:embed="rId4"/>
                          <a:stretch>
                            <a:fillRect l="-226496" t="-150000" r="-629915" b="-7143"/>
                          </a:stretch>
                        </a:blipFill>
                      </a:tcPr>
                    </a:tc>
                    <a:tc>
                      <a:txBody>
                        <a:bodyPr/>
                        <a:lstStyle/>
                        <a:p>
                          <a:endParaRPr lang="en-US"/>
                        </a:p>
                      </a:txBody>
                      <a:tcPr marL="68580" marR="68580" marT="0" marB="0">
                        <a:blipFill rotWithShape="0">
                          <a:blip r:embed="rId4"/>
                          <a:stretch>
                            <a:fillRect l="-326496" t="-150000" r="-529915" b="-7143"/>
                          </a:stretch>
                        </a:blipFill>
                      </a:tcPr>
                    </a:tc>
                    <a:tc>
                      <a:txBody>
                        <a:bodyPr/>
                        <a:lstStyle/>
                        <a:p>
                          <a:endParaRPr lang="en-US"/>
                        </a:p>
                      </a:txBody>
                      <a:tcPr marL="68580" marR="68580" marT="0" marB="0">
                        <a:blipFill rotWithShape="0">
                          <a:blip r:embed="rId4"/>
                          <a:stretch>
                            <a:fillRect l="-548352" t="-150000" r="-581319" b="-7143"/>
                          </a:stretch>
                        </a:blipFill>
                      </a:tcPr>
                    </a:tc>
                    <a:tc>
                      <a:txBody>
                        <a:bodyPr/>
                        <a:lstStyle/>
                        <a:p>
                          <a:endParaRPr lang="en-US"/>
                        </a:p>
                      </a:txBody>
                      <a:tcPr marL="68580" marR="68580" marT="0" marB="0">
                        <a:blipFill rotWithShape="0">
                          <a:blip r:embed="rId4"/>
                          <a:stretch>
                            <a:fillRect l="-648352" t="-150000" r="-481319" b="-7143"/>
                          </a:stretch>
                        </a:blipFill>
                      </a:tcPr>
                    </a:tc>
                    <a:tc>
                      <a:txBody>
                        <a:bodyPr/>
                        <a:lstStyle/>
                        <a:p>
                          <a:endParaRPr lang="en-US"/>
                        </a:p>
                      </a:txBody>
                      <a:tcPr marL="68580" marR="68580" marT="0" marB="0">
                        <a:blipFill rotWithShape="0">
                          <a:blip r:embed="rId4"/>
                          <a:stretch>
                            <a:fillRect l="-577119" t="-150000" r="-271186" b="-7143"/>
                          </a:stretch>
                        </a:blipFill>
                      </a:tcPr>
                    </a:tc>
                    <a:tc>
                      <a:txBody>
                        <a:bodyPr/>
                        <a:lstStyle/>
                        <a:p>
                          <a:endParaRPr lang="en-US"/>
                        </a:p>
                      </a:txBody>
                      <a:tcPr marL="68580" marR="68580" marT="0" marB="0">
                        <a:blipFill rotWithShape="0">
                          <a:blip r:embed="rId4"/>
                          <a:stretch>
                            <a:fillRect l="-713393" t="-150000" r="-185714" b="-7143"/>
                          </a:stretch>
                        </a:blipFill>
                      </a:tcPr>
                    </a:tc>
                    <a:tc>
                      <a:txBody>
                        <a:bodyPr/>
                        <a:lstStyle/>
                        <a:p>
                          <a:endParaRPr lang="en-US"/>
                        </a:p>
                      </a:txBody>
                      <a:tcPr marL="68580" marR="68580" marT="0" marB="0">
                        <a:blipFill rotWithShape="0">
                          <a:blip r:embed="rId4"/>
                          <a:stretch>
                            <a:fillRect l="-446569" t="-150000" r="-1961" b="-7143"/>
                          </a:stretch>
                        </a:blipFill>
                      </a:tcPr>
                    </a:tc>
                  </a:tr>
                </a:tbl>
              </a:graphicData>
            </a:graphic>
          </p:graphicFrame>
        </mc:Fallback>
      </mc:AlternateContent>
      <p:sp>
        <p:nvSpPr>
          <p:cNvPr id="8" name="Footer Placeholder 7"/>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070526053"/>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029200"/>
              </a:xfrm>
            </p:spPr>
            <p:txBody>
              <a:bodyPr>
                <a:noAutofit/>
              </a:bodyPr>
              <a:lstStyle/>
              <a:p>
                <a:pPr marL="0" indent="0">
                  <a:buNone/>
                </a:pPr>
                <a:r>
                  <a:rPr lang="en-US" sz="2000" dirty="0"/>
                  <a:t>Q1. Find the probability distribution of the number of doublets in four throws of a pair of dice.</a:t>
                </a:r>
              </a:p>
              <a:p>
                <a:pPr marL="0" indent="0">
                  <a:buNone/>
                </a:pPr>
                <a:r>
                  <a:rPr lang="en-US" sz="2000" dirty="0"/>
                  <a:t>Q2. The probability distribution of a random variable X is given by:</a:t>
                </a:r>
              </a:p>
              <a:p>
                <a:pPr marL="0" indent="0">
                  <a:buNone/>
                </a:pPr>
                <a:r>
                  <a:rPr lang="en-US" sz="2000" dirty="0"/>
                  <a:t>        </a:t>
                </a:r>
                <a14:m>
                  <m:oMath xmlns:m="http://schemas.openxmlformats.org/officeDocument/2006/math">
                    <m:r>
                      <a:rPr lang="en-US" sz="2000" b="0" i="1" smtClean="0">
                        <a:latin typeface="Cambria Math" panose="02040503050406030204" pitchFamily="18" charset="0"/>
                      </a:rPr>
                      <m:t>𝐹</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1−</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𝑥</m:t>
                                </m:r>
                              </m:e>
                            </m:d>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rPr>
                                  <m:t>𝑥</m:t>
                                </m:r>
                              </m:sup>
                            </m:sSup>
                            <m:r>
                              <a:rPr lang="en-US" sz="2000" b="0" i="1" smtClean="0">
                                <a:latin typeface="Cambria Math" panose="02040503050406030204" pitchFamily="18" charset="0"/>
                              </a:rPr>
                              <m:t>, </m:t>
                            </m:r>
                            <m:r>
                              <a:rPr lang="en-US" sz="2000" b="0" i="1" smtClean="0">
                                <a:latin typeface="Cambria Math" panose="02040503050406030204" pitchFamily="18" charset="0"/>
                              </a:rPr>
                              <m:t>𝑓𝑜𝑟</m:t>
                            </m:r>
                            <m:r>
                              <a:rPr lang="en-US" sz="2000" b="0" i="1" smtClean="0">
                                <a:latin typeface="Cambria Math" panose="02040503050406030204" pitchFamily="18" charset="0"/>
                              </a:rPr>
                              <m:t> </m:t>
                            </m:r>
                            <m:r>
                              <a:rPr lang="en-US" sz="2000" b="0" i="1" smtClean="0">
                                <a:latin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≥0</m:t>
                            </m:r>
                          </m:e>
                          <m:e>
                            <m:r>
                              <a:rPr lang="en-US" sz="2000" b="0" i="1" smtClean="0">
                                <a:latin typeface="Cambria Math" panose="02040503050406030204" pitchFamily="18" charset="0"/>
                              </a:rPr>
                              <m:t>0,                    </m:t>
                            </m:r>
                            <m:r>
                              <a:rPr lang="en-US" sz="2000" b="0" i="1" smtClean="0">
                                <a:latin typeface="Cambria Math" panose="02040503050406030204" pitchFamily="18" charset="0"/>
                              </a:rPr>
                              <m:t>𝑓𝑜𝑟</m:t>
                            </m:r>
                            <m:r>
                              <a:rPr lang="en-US" sz="2000" b="0" i="1" smtClean="0">
                                <a:latin typeface="Cambria Math" panose="02040503050406030204" pitchFamily="18" charset="0"/>
                              </a:rPr>
                              <m:t> </m:t>
                            </m:r>
                            <m:r>
                              <a:rPr lang="en-US" sz="2000" b="0" i="1" smtClean="0">
                                <a:latin typeface="Cambria Math" panose="02040503050406030204" pitchFamily="18" charset="0"/>
                              </a:rPr>
                              <m:t>𝑥</m:t>
                            </m:r>
                            <m:r>
                              <a:rPr lang="en-US" sz="2000" b="0" i="1" smtClean="0">
                                <a:latin typeface="Cambria Math" panose="02040503050406030204" pitchFamily="18" charset="0"/>
                              </a:rPr>
                              <m:t>&lt;0</m:t>
                            </m:r>
                          </m:e>
                        </m:eqArr>
                      </m:e>
                    </m:d>
                  </m:oMath>
                </a14:m>
                <a:endParaRPr lang="en-US" sz="2000" dirty="0"/>
              </a:p>
              <a:p>
                <a:pPr marL="0" indent="0">
                  <a:buNone/>
                </a:pPr>
                <a:r>
                  <a:rPr lang="en-US" sz="2000" dirty="0"/>
                  <a:t> find the corresponding density function.</a:t>
                </a:r>
              </a:p>
              <a:p>
                <a:pPr marL="0" indent="0">
                  <a:buNone/>
                </a:pPr>
                <a:r>
                  <a:rPr lang="en-US" sz="2000" dirty="0"/>
                  <a:t>Q3. A random variable x has the density function </a:t>
                </a:r>
              </a:p>
              <a:p>
                <a:pPr marL="0" indent="0">
                  <a:buNone/>
                </a:pPr>
                <a:r>
                  <a:rPr lang="en-US" sz="2000" dirty="0"/>
                  <a:t>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𝑘</m:t>
                        </m:r>
                      </m:num>
                      <m:den>
                        <m:r>
                          <a:rPr lang="en-US" sz="2000" b="0" i="1" smtClean="0">
                            <a:latin typeface="Cambria Math" panose="02040503050406030204" pitchFamily="18" charset="0"/>
                          </a:rPr>
                          <m:t>1+</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den>
                    </m:f>
                    <m:r>
                      <a:rPr lang="en-US" sz="2000" b="0" i="1" smtClean="0">
                        <a:latin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∞&lt;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&lt;∞</m:t>
                    </m:r>
                  </m:oMath>
                </a14:m>
                <a:endParaRPr lang="en-US" sz="2000" dirty="0"/>
              </a:p>
              <a:p>
                <a:pPr marL="0" indent="0">
                  <a:buNone/>
                </a:pPr>
                <a:r>
                  <a:rPr lang="en-US" sz="2000" dirty="0"/>
                  <a:t>   Determine k and the prob. Distribution.</a:t>
                </a:r>
              </a:p>
              <a:p>
                <a:pPr marL="0" indent="0" algn="just">
                  <a:buNone/>
                </a:pPr>
                <a:r>
                  <a:rPr lang="en-US" sz="2000" dirty="0"/>
                  <a:t>Q4. The diameter (say X) of an electric cable is assumed to be a continuous random variable with pdf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=6</m:t>
                    </m:r>
                    <m:r>
                      <a:rPr lang="en-US" sz="2000" b="0" i="1" smtClean="0">
                        <a:latin typeface="Cambria Math" panose="02040503050406030204" pitchFamily="18" charset="0"/>
                      </a:rPr>
                      <m:t>𝑥</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1−</m:t>
                        </m:r>
                        <m:r>
                          <a:rPr lang="en-US" sz="2000" b="0" i="1" smtClean="0">
                            <a:latin typeface="Cambria Math" panose="02040503050406030204" pitchFamily="18" charset="0"/>
                          </a:rPr>
                          <m:t>𝑥</m:t>
                        </m:r>
                      </m:e>
                    </m:d>
                    <m:r>
                      <a:rPr lang="en-US" sz="2000" b="0" i="1" smtClean="0">
                        <a:latin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endParaRPr lang="en-US" sz="2000" dirty="0"/>
              </a:p>
              <a:p>
                <a:pPr marL="0" indent="0" algn="just">
                  <a:buNone/>
                </a:pPr>
                <a:r>
                  <a:rPr lang="en-US" sz="2000" dirty="0"/>
                  <a:t> (</a:t>
                </a:r>
                <a:r>
                  <a:rPr lang="en-US" sz="2000" dirty="0" err="1"/>
                  <a:t>i</a:t>
                </a:r>
                <a:r>
                  <a:rPr lang="en-US" sz="2000" dirty="0"/>
                  <a:t>) Check that function is a pdf. (ii)Obtain an expression for the </a:t>
                </a:r>
                <a:r>
                  <a:rPr lang="en-US" sz="2000" dirty="0" err="1"/>
                  <a:t>cdf</a:t>
                </a:r>
                <a:r>
                  <a:rPr lang="en-US" sz="2000" dirty="0"/>
                  <a:t> of X.</a:t>
                </a:r>
              </a:p>
              <a:p>
                <a:pPr marL="0" indent="0" algn="just">
                  <a:buNone/>
                </a:pPr>
                <a:r>
                  <a:rPr lang="en-US" sz="2000" dirty="0"/>
                  <a:t> (iii) Determine the k such that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&lt;</m:t>
                        </m:r>
                        <m:r>
                          <a:rPr lang="en-US" sz="2000" b="0" i="1" smtClean="0">
                            <a:latin typeface="Cambria Math" panose="02040503050406030204" pitchFamily="18" charset="0"/>
                          </a:rPr>
                          <m:t>𝑘</m:t>
                        </m:r>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&gt;</m:t>
                        </m:r>
                        <m:r>
                          <a:rPr lang="en-US" sz="2000" b="0" i="1" smtClean="0">
                            <a:latin typeface="Cambria Math" panose="02040503050406030204" pitchFamily="18" charset="0"/>
                          </a:rPr>
                          <m:t>𝑘</m:t>
                        </m:r>
                      </m:e>
                    </m:d>
                    <m:r>
                      <a:rPr lang="en-US" sz="2000" b="0" i="1" smtClean="0">
                        <a:latin typeface="Cambria Math" panose="02040503050406030204" pitchFamily="18" charset="0"/>
                      </a:rPr>
                      <m:t>.</m:t>
                    </m:r>
                  </m:oMath>
                </a14:m>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029200"/>
              </a:xfrm>
              <a:blipFill>
                <a:blip r:embed="rId2"/>
                <a:stretch>
                  <a:fillRect l="-815" t="-727" r="-74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27</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noProof="0" dirty="0">
                <a:cs typeface="Times New Roman" pitchFamily="18" charset="0"/>
              </a:rPr>
              <a:t>Weekly assignment</a:t>
            </a:r>
            <a:r>
              <a:rPr kumimoji="0" lang="en-US" sz="2400" b="1" i="0" u="none" strike="noStrike" kern="1200" cap="none" spc="0" normalizeH="0" baseline="0" noProof="0" dirty="0">
                <a:ln>
                  <a:noFill/>
                </a:ln>
                <a:solidFill>
                  <a:schemeClr val="dk1"/>
                </a:solidFill>
                <a:effectLst/>
                <a:uLnTx/>
                <a:uFillTx/>
                <a:ea typeface="+mn-ea"/>
                <a:cs typeface="+mn-cs"/>
              </a:rPr>
              <a:t>(CO3)</a:t>
            </a: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60807563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endParaRPr lang="en-US" sz="2200" dirty="0"/>
          </a:p>
          <a:p>
            <a:pPr>
              <a:buFont typeface="Wingdings" pitchFamily="2" charset="2"/>
              <a:buChar char="ü"/>
            </a:pPr>
            <a:r>
              <a:rPr lang="en-US" sz="2200" dirty="0"/>
              <a:t>Random Variables for one dimension.</a:t>
            </a:r>
          </a:p>
          <a:p>
            <a:pPr>
              <a:buFont typeface="Wingdings" pitchFamily="2" charset="2"/>
              <a:buChar char="ü"/>
            </a:pPr>
            <a:r>
              <a:rPr lang="en-US" sz="2200" dirty="0"/>
              <a:t>Probability mass function</a:t>
            </a:r>
          </a:p>
          <a:p>
            <a:pPr>
              <a:buFont typeface="Wingdings" pitchFamily="2" charset="2"/>
              <a:buChar char="ü"/>
            </a:pPr>
            <a:r>
              <a:rPr lang="en-US" sz="2200" dirty="0"/>
              <a:t>Probability Density function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28</a:t>
            </a:fld>
            <a:endParaRPr lang="en-US"/>
          </a:p>
        </p:txBody>
      </p:sp>
      <p:sp>
        <p:nvSpPr>
          <p:cNvPr id="7" name="Title 1"/>
          <p:cNvSpPr txBox="1">
            <a:spLocks/>
          </p:cNvSpPr>
          <p:nvPr/>
        </p:nvSpPr>
        <p:spPr>
          <a:xfrm>
            <a:off x="15240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cs typeface="Times New Roman" pitchFamily="18" charset="0"/>
              </a:rPr>
              <a:t> Recap</a:t>
            </a:r>
            <a:r>
              <a:rPr kumimoji="0" lang="en-US" sz="2400" b="1" i="0" u="none" strike="noStrike" kern="1200" cap="none" spc="0" normalizeH="0" baseline="0" noProof="0" dirty="0">
                <a:ln>
                  <a:noFill/>
                </a:ln>
                <a:solidFill>
                  <a:schemeClr val="dk1"/>
                </a:solidFill>
                <a:effectLst/>
                <a:uLnTx/>
                <a:uFillTx/>
                <a:ea typeface="+mn-ea"/>
                <a:cs typeface="+mn-cs"/>
              </a:rPr>
              <a:t>(CO3)</a:t>
            </a: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327954241"/>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buNone/>
            </a:pPr>
            <a:r>
              <a:rPr lang="en-US" sz="2200" b="1" dirty="0"/>
              <a:t>Multivariable random variable:</a:t>
            </a:r>
          </a:p>
          <a:p>
            <a:pPr marL="0" indent="0">
              <a:buNone/>
            </a:pPr>
            <a:r>
              <a:rPr lang="en-US" sz="2200" dirty="0"/>
              <a:t>  In this lecture, we will extend the idea of single random variable in to the two dimensional variables.</a:t>
            </a:r>
          </a:p>
          <a:p>
            <a:pPr marL="0" indent="0">
              <a:buNone/>
            </a:pPr>
            <a:r>
              <a:rPr lang="en-US" sz="2200" dirty="0"/>
              <a:t>         Based on this idea , we will discuss the joint probability distribution, Marginal probability distribution and Conditional probability distribution.</a:t>
            </a:r>
          </a:p>
        </p:txBody>
      </p:sp>
      <p:sp>
        <p:nvSpPr>
          <p:cNvPr id="6" name="Slide Number Placeholder 5"/>
          <p:cNvSpPr>
            <a:spLocks noGrp="1"/>
          </p:cNvSpPr>
          <p:nvPr>
            <p:ph type="sldNum" sz="quarter" idx="12"/>
          </p:nvPr>
        </p:nvSpPr>
        <p:spPr/>
        <p:txBody>
          <a:bodyPr/>
          <a:lstStyle/>
          <a:p>
            <a:fld id="{B6F15528-21DE-4FAA-801E-634DDDAF4B2B}" type="slidenum">
              <a:rPr lang="en-US" smtClean="0"/>
              <a:pPr/>
              <a:t>29</a:t>
            </a:fld>
            <a:endParaRPr lang="en-US"/>
          </a:p>
        </p:txBody>
      </p:sp>
      <p:sp>
        <p:nvSpPr>
          <p:cNvPr id="7" name="Title 1"/>
          <p:cNvSpPr txBox="1">
            <a:spLocks/>
          </p:cNvSpPr>
          <p:nvPr/>
        </p:nvSpPr>
        <p:spPr>
          <a:xfrm>
            <a:off x="1676400" y="112713"/>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lang="en-US" sz="2400" b="1" dirty="0"/>
              <a:t>Topic Objective</a:t>
            </a:r>
            <a:r>
              <a:rPr kumimoji="0" lang="en-US" sz="2400" b="1" i="0" u="none" strike="noStrike" kern="1200" cap="none" spc="0" normalizeH="0" baseline="0" noProof="0" dirty="0">
                <a:ln>
                  <a:noFill/>
                </a:ln>
                <a:solidFill>
                  <a:schemeClr val="dk1"/>
                </a:solidFill>
                <a:effectLst/>
                <a:uLnTx/>
                <a:uFillTx/>
                <a:latin typeface="+mn-lt"/>
                <a:ea typeface="+mn-ea"/>
                <a:cs typeface="+mn-cs"/>
              </a:rPr>
              <a:t>(CO3)</a:t>
            </a: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384891167"/>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876800"/>
          </a:xfrm>
        </p:spPr>
        <p:txBody>
          <a:bodyPr>
            <a:noAutofit/>
          </a:bodyPr>
          <a:lstStyle/>
          <a:p>
            <a:pPr marL="0" lvl="0" indent="0" algn="just">
              <a:buNone/>
            </a:pPr>
            <a:r>
              <a:rPr lang="en-US" sz="2000" b="1" dirty="0">
                <a:latin typeface="+mj-lt"/>
              </a:rPr>
              <a:t>Two dimensional random variables(Multiple random variables):</a:t>
            </a:r>
            <a:endParaRPr lang="en-US" sz="2000" dirty="0">
              <a:latin typeface="+mj-lt"/>
            </a:endParaRPr>
          </a:p>
          <a:p>
            <a:pPr marL="0" lvl="0" indent="0" algn="just">
              <a:buNone/>
            </a:pPr>
            <a:r>
              <a:rPr lang="en-US" sz="2000" b="1" dirty="0">
                <a:latin typeface="+mj-lt"/>
              </a:rPr>
              <a:t>   </a:t>
            </a:r>
            <a:r>
              <a:rPr lang="en-US" sz="2000" dirty="0">
                <a:latin typeface="+mj-lt"/>
              </a:rPr>
              <a:t>Let S be the sample space of the random experiment. Let X and Y be two random variables, then the pair (X,Y) is called a bivariate random variable(or two dimensional random variable) if each of X and Y associates a real number with every outcomes.</a:t>
            </a:r>
          </a:p>
          <a:p>
            <a:pPr marL="0" lvl="0" indent="0" algn="just">
              <a:buNone/>
            </a:pPr>
            <a:r>
              <a:rPr lang="en-US" sz="2000" b="1" dirty="0">
                <a:latin typeface="+mj-lt"/>
              </a:rPr>
              <a:t>  </a:t>
            </a:r>
            <a:r>
              <a:rPr lang="en-US" sz="2000" dirty="0">
                <a:latin typeface="+mj-lt"/>
              </a:rPr>
              <a:t>If the random variables X and Y are both discrete then (X,Y) is called discrete bivariate random variable.</a:t>
            </a:r>
          </a:p>
          <a:p>
            <a:pPr marL="0" lvl="0" indent="0" algn="just">
              <a:buNone/>
            </a:pPr>
            <a:r>
              <a:rPr lang="en-US" sz="2000" b="1" dirty="0">
                <a:latin typeface="+mj-lt"/>
              </a:rPr>
              <a:t>   </a:t>
            </a:r>
            <a:r>
              <a:rPr lang="en-US" sz="2000" dirty="0">
                <a:latin typeface="+mj-lt"/>
              </a:rPr>
              <a:t>If the random variables X and Y are both continuous then (X,Y) is called continuous bivariate random variable.</a:t>
            </a:r>
          </a:p>
          <a:p>
            <a:pPr marL="0" lvl="0" indent="0" algn="just">
              <a:buNone/>
            </a:pPr>
            <a:r>
              <a:rPr lang="en-US" sz="2000" b="1" dirty="0">
                <a:latin typeface="+mj-lt"/>
              </a:rPr>
              <a:t> </a:t>
            </a:r>
            <a:r>
              <a:rPr lang="en-US" sz="2000" dirty="0">
                <a:latin typeface="+mj-lt"/>
              </a:rPr>
              <a:t>For Example: Consider a random experiment of tossing a fair coin thrice. Let the random variable X denote the number of heads and Y denotes the number of tails that occurs in three tosses. Then, X takes the values 0,1,2,3 and Y takes the values 0,1,2,3.</a:t>
            </a:r>
          </a:p>
          <a:p>
            <a:pPr marL="0" lvl="0" indent="0" algn="just">
              <a:buNone/>
            </a:pPr>
            <a:r>
              <a:rPr lang="en-US" sz="2000" dirty="0">
                <a:latin typeface="+mj-lt"/>
              </a:rPr>
              <a:t>Here (X,Y) is the discrete bivariate random variable.</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30</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Multiple random variable(CO3)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3886200" y="5181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40671372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533400" y="1143000"/>
                <a:ext cx="8229600" cy="5148168"/>
              </a:xfrm>
            </p:spPr>
            <p:txBody>
              <a:bodyPr>
                <a:noAutofit/>
              </a:bodyPr>
              <a:lstStyle/>
              <a:p>
                <a:pPr marL="0" lvl="0" indent="0" algn="just">
                  <a:buNone/>
                </a:pPr>
                <a:r>
                  <a:rPr lang="en-US" sz="2000" dirty="0">
                    <a:latin typeface="+mj-lt"/>
                  </a:rPr>
                  <a:t> The range space of X 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𝑋</m:t>
                        </m:r>
                      </m:sub>
                    </m:sSub>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0,1,2,3</m:t>
                        </m:r>
                      </m:e>
                    </m:d>
                  </m:oMath>
                </a14:m>
                <a:r>
                  <a:rPr lang="en-US" sz="2000" dirty="0">
                    <a:latin typeface="+mj-lt"/>
                  </a:rPr>
                  <a:t> </a:t>
                </a:r>
              </a:p>
              <a:p>
                <a:pPr marL="0" lvl="0" indent="0" algn="just">
                  <a:buNone/>
                </a:pPr>
                <a:r>
                  <a:rPr lang="en-US" sz="2000" b="1" dirty="0">
                    <a:latin typeface="+mj-lt"/>
                  </a:rPr>
                  <a:t> </a:t>
                </a:r>
                <a:r>
                  <a:rPr lang="en-US" sz="2000" dirty="0">
                    <a:latin typeface="+mj-lt"/>
                  </a:rPr>
                  <a:t>The range space of Y 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𝑌</m:t>
                        </m:r>
                      </m:sub>
                    </m:sSub>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r>
                          <a:rPr lang="en-US" sz="2000" i="1">
                            <a:latin typeface="Cambria Math" panose="02040503050406030204" pitchFamily="18" charset="0"/>
                          </a:rPr>
                          <m:t>0,1,2,3</m:t>
                        </m:r>
                      </m:e>
                    </m:d>
                  </m:oMath>
                </a14:m>
                <a:endParaRPr lang="en-US" sz="2000" b="1" dirty="0">
                  <a:latin typeface="+mj-lt"/>
                </a:endParaRPr>
              </a:p>
              <a:p>
                <a:pPr marL="0" lvl="0" indent="0" algn="just">
                  <a:buNone/>
                </a:pPr>
                <a:r>
                  <a:rPr lang="en-US" sz="2000" b="1" dirty="0">
                    <a:latin typeface="+mj-lt"/>
                  </a:rPr>
                  <a:t> </a:t>
                </a:r>
                <a:r>
                  <a:rPr lang="en-US" sz="2000" dirty="0">
                    <a:latin typeface="+mj-lt"/>
                  </a:rPr>
                  <a:t>The range space of (X,Y) is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𝑅</m:t>
                        </m:r>
                      </m:e>
                      <m:sub>
                        <m:r>
                          <a:rPr lang="en-US" sz="2000" i="1">
                            <a:latin typeface="Cambria Math" panose="02040503050406030204" pitchFamily="18" charset="0"/>
                          </a:rPr>
                          <m:t>𝑋𝑌</m:t>
                        </m:r>
                      </m:sub>
                    </m:sSub>
                    <m:r>
                      <a:rPr lang="en-US" sz="2000" i="1">
                        <a:latin typeface="Cambria Math" panose="02040503050406030204" pitchFamily="18" charset="0"/>
                      </a:rPr>
                      <m:t>=</m:t>
                    </m:r>
                    <m:d>
                      <m:dPr>
                        <m:begChr m:val="{"/>
                        <m:endChr m:val="}"/>
                        <m:ctrlPr>
                          <a:rPr lang="en-US" sz="2000" i="1">
                            <a:latin typeface="Cambria Math" panose="02040503050406030204" pitchFamily="18" charset="0"/>
                          </a:rPr>
                        </m:ctrlPr>
                      </m:dPr>
                      <m:e>
                        <m:d>
                          <m:dPr>
                            <m:ctrlPr>
                              <a:rPr lang="en-US" sz="2000" i="1">
                                <a:latin typeface="Cambria Math" panose="02040503050406030204" pitchFamily="18" charset="0"/>
                              </a:rPr>
                            </m:ctrlPr>
                          </m:dPr>
                          <m:e>
                            <m:r>
                              <a:rPr lang="en-US" sz="2000" i="1">
                                <a:latin typeface="Cambria Math" panose="02040503050406030204" pitchFamily="18" charset="0"/>
                              </a:rPr>
                              <m:t>0,3</m:t>
                            </m:r>
                          </m:e>
                        </m:d>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3,0</m:t>
                            </m:r>
                          </m:e>
                        </m:d>
                        <m:r>
                          <a:rPr lang="en-US" sz="2000" i="1">
                            <a:latin typeface="Cambria Math" panose="02040503050406030204" pitchFamily="18" charset="0"/>
                          </a:rPr>
                          <m:t>,</m:t>
                        </m:r>
                        <m:d>
                          <m:dPr>
                            <m:ctrlPr>
                              <a:rPr lang="en-US" sz="2000" i="1">
                                <a:latin typeface="Cambria Math" panose="02040503050406030204" pitchFamily="18" charset="0"/>
                              </a:rPr>
                            </m:ctrlPr>
                          </m:dPr>
                          <m:e>
                            <m:r>
                              <a:rPr lang="en-US" sz="2000" i="1">
                                <a:latin typeface="Cambria Math" panose="02040503050406030204" pitchFamily="18" charset="0"/>
                              </a:rPr>
                              <m:t>1,2</m:t>
                            </m:r>
                          </m:e>
                        </m:d>
                        <m:r>
                          <a:rPr lang="en-US" sz="2000" i="1">
                            <a:latin typeface="Cambria Math" panose="02040503050406030204" pitchFamily="18" charset="0"/>
                          </a:rPr>
                          <m:t>,(2,1)</m:t>
                        </m:r>
                      </m:e>
                    </m:d>
                  </m:oMath>
                </a14:m>
                <a:endParaRPr lang="en-US" sz="2000" b="1" dirty="0">
                  <a:latin typeface="+mj-lt"/>
                </a:endParaRPr>
              </a:p>
              <a:p>
                <a:pPr marL="0" lvl="0" indent="0" algn="just">
                  <a:buNone/>
                </a:pPr>
                <a:endParaRPr lang="en-US" sz="2000" b="1" dirty="0">
                  <a:latin typeface="+mj-lt"/>
                </a:endParaRPr>
              </a:p>
              <a:p>
                <a:pPr marL="0" lvl="0" indent="0" algn="just">
                  <a:buNone/>
                </a:pPr>
                <a:r>
                  <a:rPr lang="en-US" sz="2000" b="1" dirty="0">
                    <a:latin typeface="+mj-lt"/>
                  </a:rPr>
                  <a:t>Joint Probability function or distribution: </a:t>
                </a:r>
              </a:p>
              <a:p>
                <a:pPr marL="0" lvl="0" indent="0" algn="just">
                  <a:buNone/>
                </a:pPr>
                <a:r>
                  <a:rPr lang="en-US" sz="2000" dirty="0">
                    <a:latin typeface="+mj-lt"/>
                  </a:rPr>
                  <a:t>   Let X and Y be two random variables defined on the same sample space.</a:t>
                </a:r>
              </a:p>
              <a:p>
                <a:pPr marL="0" lvl="0" indent="0" algn="just">
                  <a:buNone/>
                </a:pPr>
                <a:r>
                  <a:rPr lang="en-US" sz="2000" b="1" dirty="0">
                    <a:latin typeface="+mj-lt"/>
                  </a:rPr>
                  <a:t>Case 1: </a:t>
                </a:r>
                <a:r>
                  <a:rPr lang="en-US" sz="2000" dirty="0">
                    <a:latin typeface="+mj-lt"/>
                  </a:rPr>
                  <a:t>If X and Y are discrete random variables then a probability function</a:t>
                </a:r>
              </a:p>
              <a:p>
                <a:pPr marL="0" lvl="0" indent="0" algn="just">
                  <a:buNone/>
                </a:pPr>
                <a:r>
                  <a:rPr lang="en-US" sz="2000" dirty="0">
                    <a:latin typeface="+mj-lt"/>
                  </a:rPr>
                  <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r>
                          <a:rPr lang="en-US" sz="2000" b="0" i="1" smtClean="0">
                            <a:latin typeface="Cambria Math" panose="02040503050406030204" pitchFamily="18" charset="0"/>
                          </a:rPr>
                          <m:t>𝑌</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e>
                    </m:d>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e>
                    </m:d>
                  </m:oMath>
                </a14:m>
                <a:endParaRPr lang="en-US" sz="2000" b="0" dirty="0">
                  <a:latin typeface="+mj-lt"/>
                </a:endParaRPr>
              </a:p>
              <a:p>
                <a:pPr marL="0" lvl="0" indent="0" algn="just">
                  <a:buNone/>
                </a:pPr>
                <a:r>
                  <a:rPr lang="en-US" sz="2000" dirty="0">
                    <a:latin typeface="+mj-lt"/>
                  </a:rPr>
                  <a:t>That yields the probability that X will assume a particular value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oMath>
                </a14:m>
                <a:r>
                  <a:rPr lang="en-US" sz="2000" dirty="0">
                    <a:latin typeface="+mj-lt"/>
                  </a:rPr>
                  <a:t> while at the same time Y assumes a particular value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oMath>
                </a14:m>
                <a:r>
                  <a:rPr lang="en-US" sz="2000" dirty="0">
                    <a:latin typeface="+mj-lt"/>
                  </a:rPr>
                  <a:t> called a joint  probability function of X and Y and the following properties: </a:t>
                </a:r>
              </a:p>
              <a:p>
                <a:pPr marL="0" lvl="0" indent="0" algn="just">
                  <a:buNone/>
                </a:pPr>
                <a:r>
                  <a:rPr lang="en-US" sz="2000" dirty="0">
                    <a:latin typeface="+mj-lt"/>
                  </a:rPr>
                  <a:t>(</a:t>
                </a:r>
                <a:r>
                  <a:rPr lang="en-US" sz="2000" dirty="0" err="1">
                    <a:latin typeface="+mj-lt"/>
                  </a:rPr>
                  <a:t>i</a:t>
                </a:r>
                <a:r>
                  <a:rPr lang="en-US" sz="2000" dirty="0">
                    <a:latin typeface="+mj-lt"/>
                  </a:rPr>
                  <a:t>)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sSub>
                      <m:sSubPr>
                        <m:ctrlPr>
                          <a:rPr lang="en-US" sz="2000" b="0" i="1" smtClean="0">
                            <a:latin typeface="Cambria Math" panose="02040503050406030204" pitchFamily="18" charset="0"/>
                          </a:rPr>
                        </m:ctrlPr>
                      </m:sSubPr>
                      <m:e>
                        <m:r>
                          <m:rPr>
                            <m:sty m:val="p"/>
                          </m:rPr>
                          <a:rPr lang="en-US" sz="2000" b="0" i="0" smtClean="0">
                            <a:latin typeface="Cambria Math" panose="02040503050406030204" pitchFamily="18" charset="0"/>
                          </a:rPr>
                          <m:t>x</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m:t>
                    </m:r>
                  </m:oMath>
                </a14:m>
                <a:endParaRPr lang="en-US" sz="2000" dirty="0">
                  <a:latin typeface="+mj-lt"/>
                </a:endParaRPr>
              </a:p>
              <a:p>
                <a:pPr marL="0" lvl="0" indent="0" algn="just">
                  <a:buNone/>
                </a:pPr>
                <a:r>
                  <a:rPr lang="en-US" sz="2000" dirty="0">
                    <a:latin typeface="+mj-lt"/>
                  </a:rPr>
                  <a:t>(ii)  </a:t>
                </a:r>
                <a14:m>
                  <m:oMath xmlns:m="http://schemas.openxmlformats.org/officeDocument/2006/math">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𝑖</m:t>
                        </m:r>
                      </m:sub>
                      <m:sup/>
                      <m:e>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𝑗</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𝑥</m:t>
                                    </m:r>
                                  </m:e>
                                  <m:sub>
                                    <m:r>
                                      <a:rPr lang="en-US" sz="2000" b="0" i="1" smtClean="0">
                                        <a:latin typeface="Cambria Math" panose="02040503050406030204" pitchFamily="18" charset="0"/>
                                      </a:rPr>
                                      <m:t>𝑖</m:t>
                                    </m:r>
                                  </m:sub>
                                </m:sSub>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𝑦</m:t>
                                    </m:r>
                                  </m:e>
                                  <m:sub>
                                    <m:r>
                                      <a:rPr lang="en-US" sz="2000" b="0" i="1" smtClean="0">
                                        <a:latin typeface="Cambria Math" panose="02040503050406030204" pitchFamily="18" charset="0"/>
                                      </a:rPr>
                                      <m:t>𝑗</m:t>
                                    </m:r>
                                  </m:sub>
                                </m:sSub>
                              </m:e>
                            </m:d>
                            <m:r>
                              <a:rPr lang="en-US" sz="2000" b="0" i="1" smtClean="0">
                                <a:latin typeface="Cambria Math" panose="02040503050406030204" pitchFamily="18" charset="0"/>
                              </a:rPr>
                              <m:t>=1.</m:t>
                            </m:r>
                          </m:e>
                        </m:nary>
                      </m:e>
                    </m:nary>
                  </m:oMath>
                </a14:m>
                <a:endParaRPr lang="en-US" sz="2000" dirty="0">
                  <a:latin typeface="+mj-lt"/>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148168"/>
              </a:xfrm>
              <a:blipFill>
                <a:blip r:embed="rId2"/>
                <a:stretch>
                  <a:fillRect l="-815" t="-711" r="-741" b="-770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31</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Joint Probability function(CO3)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940598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10" end="10"/>
                                            </p:txEl>
                                          </p:spTgt>
                                        </p:tgtEl>
                                        <p:attrNameLst>
                                          <p:attrName>style.visibility</p:attrName>
                                        </p:attrNameLst>
                                      </p:cBhvr>
                                      <p:to>
                                        <p:strVal val="visible"/>
                                      </p:to>
                                    </p:set>
                                    <p:animEffect transition="in" filter="fade">
                                      <p:cBhvr>
                                        <p:cTn id="70" dur="1000"/>
                                        <p:tgtEl>
                                          <p:spTgt spid="3">
                                            <p:txEl>
                                              <p:pRg st="10" end="10"/>
                                            </p:txEl>
                                          </p:spTgt>
                                        </p:tgtEl>
                                      </p:cBhvr>
                                    </p:animEffect>
                                    <p:anim calcmode="lin" valueType="num">
                                      <p:cBhvr>
                                        <p:cTn id="71"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148168"/>
              </a:xfrm>
            </p:spPr>
            <p:txBody>
              <a:bodyPr>
                <a:noAutofit/>
              </a:bodyPr>
              <a:lstStyle/>
              <a:p>
                <a:pPr marL="0" lvl="0" indent="0" algn="just">
                  <a:buNone/>
                </a:pPr>
                <a:r>
                  <a:rPr lang="en-US" sz="2000" b="1" dirty="0">
                    <a:latin typeface="+mj-lt"/>
                  </a:rPr>
                  <a:t>Case 2: </a:t>
                </a:r>
                <a:r>
                  <a:rPr lang="en-US" sz="2000" dirty="0">
                    <a:latin typeface="+mj-lt"/>
                  </a:rPr>
                  <a:t>If X and Y are continuous random variables then the probability density function</a:t>
                </a:r>
              </a:p>
              <a:p>
                <a:pPr marL="0" lvl="0" indent="0" algn="just">
                  <a:buNone/>
                </a:pPr>
                <a:r>
                  <a:rPr lang="en-US" sz="2000" b="1" dirty="0">
                    <a:latin typeface="+mj-lt"/>
                  </a:rPr>
                  <a:t>            </a:t>
                </a:r>
                <a14:m>
                  <m:oMath xmlns:m="http://schemas.openxmlformats.org/officeDocument/2006/math">
                    <m:r>
                      <m:rPr>
                        <m:sty m:val="p"/>
                      </m:rPr>
                      <a:rPr lang="en-US" sz="2000" b="0" i="0" smtClean="0">
                        <a:latin typeface="Cambria Math" panose="02040503050406030204" pitchFamily="18" charset="0"/>
                      </a:rPr>
                      <m:t>P</m:t>
                    </m:r>
                    <m:d>
                      <m:dPr>
                        <m:begChr m:val="["/>
                        <m:endChr m:val="]"/>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𝑑𝑥</m:t>
                            </m:r>
                          </m:num>
                          <m:den>
                            <m:r>
                              <a:rPr lang="en-US" sz="2000" b="0" i="1" smtClean="0">
                                <a:latin typeface="Cambria Math" panose="02040503050406030204" pitchFamily="18" charset="0"/>
                              </a:rPr>
                              <m:t>2</m:t>
                            </m:r>
                          </m:den>
                        </m:f>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𝑑𝑥</m:t>
                            </m:r>
                          </m:num>
                          <m:den>
                            <m:r>
                              <a:rPr lang="en-US" sz="2000" b="0" i="1" smtClean="0">
                                <a:latin typeface="Cambria Math" panose="02040503050406030204" pitchFamily="18" charset="0"/>
                                <a:ea typeface="Cambria Math" panose="02040503050406030204" pitchFamily="18" charset="0"/>
                              </a:rPr>
                              <m:t>2</m:t>
                            </m:r>
                          </m:den>
                        </m:f>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m:rPr>
                                <m:sty m:val="p"/>
                              </m:rPr>
                              <a:rPr lang="en-US" sz="2000" b="0" i="0" smtClean="0">
                                <a:latin typeface="Cambria Math" panose="02040503050406030204" pitchFamily="18" charset="0"/>
                                <a:ea typeface="Cambria Math" panose="02040503050406030204" pitchFamily="18" charset="0"/>
                              </a:rPr>
                              <m:t>dy</m:t>
                            </m:r>
                          </m:num>
                          <m:den>
                            <m:r>
                              <a:rPr lang="en-US" sz="2000" b="0" i="1" smtClean="0">
                                <a:latin typeface="Cambria Math" panose="02040503050406030204" pitchFamily="18" charset="0"/>
                                <a:ea typeface="Cambria Math" panose="02040503050406030204" pitchFamily="18" charset="0"/>
                              </a:rPr>
                              <m:t>2</m:t>
                            </m:r>
                          </m:den>
                        </m:f>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𝑌</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𝑑𝑦</m:t>
                            </m:r>
                          </m:num>
                          <m:den>
                            <m:r>
                              <a:rPr lang="en-US" sz="2000" b="0" i="1" smtClean="0">
                                <a:latin typeface="Cambria Math" panose="02040503050406030204" pitchFamily="18" charset="0"/>
                                <a:ea typeface="Cambria Math" panose="02040503050406030204" pitchFamily="18" charset="0"/>
                              </a:rPr>
                              <m:t>2</m:t>
                            </m:r>
                          </m:den>
                        </m:f>
                      </m:e>
                    </m:d>
                    <m:r>
                      <a:rPr lang="en-US" sz="2000" b="0" i="1" smtClean="0">
                        <a:latin typeface="Cambria Math" panose="02040503050406030204" pitchFamily="18" charset="0"/>
                      </a:rPr>
                      <m:t>=</m:t>
                    </m:r>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oMath>
                </a14:m>
                <a:endParaRPr lang="en-US" sz="2000" dirty="0">
                  <a:latin typeface="+mj-lt"/>
                </a:endParaRPr>
              </a:p>
              <a:p>
                <a:pPr marL="0" lvl="0" indent="0" algn="just">
                  <a:buNone/>
                </a:pPr>
                <a:r>
                  <a:rPr lang="en-US" sz="2000" dirty="0">
                    <a:latin typeface="+mj-lt"/>
                  </a:rPr>
                  <a:t>  that yields the probability that the point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oMath>
                </a14:m>
                <a:r>
                  <a:rPr lang="en-US" sz="2000" dirty="0">
                    <a:latin typeface="+mj-lt"/>
                  </a:rPr>
                  <a:t> lies in the infinitesimal rectangular region of area </a:t>
                </a:r>
                <a14:m>
                  <m:oMath xmlns:m="http://schemas.openxmlformats.org/officeDocument/2006/math">
                    <m:r>
                      <a:rPr lang="en-US" sz="2000" b="0" i="1" smtClean="0">
                        <a:latin typeface="Cambria Math" panose="02040503050406030204" pitchFamily="18" charset="0"/>
                      </a:rPr>
                      <m:t>𝑑𝑥𝑑𝑦</m:t>
                    </m:r>
                  </m:oMath>
                </a14:m>
                <a:r>
                  <a:rPr lang="en-US" sz="2000" dirty="0">
                    <a:latin typeface="+mj-lt"/>
                  </a:rPr>
                  <a:t> is called the joint probability density function of X and Y and following properties:</a:t>
                </a:r>
              </a:p>
              <a:p>
                <a:pPr marL="400050" lvl="0" indent="-400050" algn="just">
                  <a:buAutoNum type="romanLcParenBoth"/>
                </a:pP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𝑦</m:t>
                        </m:r>
                      </m:e>
                    </m:d>
                    <m:r>
                      <a:rPr lang="en-US" sz="2000" b="0" i="1" smtClean="0">
                        <a:latin typeface="Cambria Math" panose="02040503050406030204" pitchFamily="18" charset="0"/>
                        <a:ea typeface="Cambria Math" panose="02040503050406030204" pitchFamily="18" charset="0"/>
                      </a:rPr>
                      <m:t>≥0</m:t>
                    </m:r>
                  </m:oMath>
                </a14:m>
                <a:r>
                  <a:rPr lang="en-US" sz="2000" dirty="0">
                    <a:latin typeface="+mj-lt"/>
                  </a:rPr>
                  <a:t> for all </a:t>
                </a:r>
                <a14:m>
                  <m:oMath xmlns:m="http://schemas.openxmlformats.org/officeDocument/2006/math">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oMath>
                </a14:m>
                <a:r>
                  <a:rPr lang="en-US" sz="2000" dirty="0">
                    <a:latin typeface="+mj-lt"/>
                  </a:rPr>
                  <a:t> in the given range.</a:t>
                </a:r>
              </a:p>
              <a:p>
                <a:pPr marL="400050" lvl="0" indent="-400050" algn="just">
                  <a:buAutoNum type="romanLcParenBoth"/>
                </a:pPr>
                <a14:m>
                  <m:oMath xmlns:m="http://schemas.openxmlformats.org/officeDocument/2006/math">
                    <m:nary>
                      <m:naryPr>
                        <m:limLoc m:val="undOvr"/>
                        <m:ctrlPr>
                          <a:rPr lang="en-US" sz="2000" i="1" smtClean="0">
                            <a:latin typeface="Cambria Math" panose="02040503050406030204" pitchFamily="18" charset="0"/>
                          </a:rPr>
                        </m:ctrlPr>
                      </m:naryPr>
                      <m:sub>
                        <m:r>
                          <m:rPr>
                            <m:brk m:alnAt="24"/>
                          </m:rP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i="1" smtClean="0">
                            <a:latin typeface="Cambria Math" panose="02040503050406030204" pitchFamily="18" charset="0"/>
                            <a:ea typeface="Cambria Math" panose="02040503050406030204" pitchFamily="18" charset="0"/>
                          </a:rPr>
                          <m:t>∞</m:t>
                        </m:r>
                      </m:sup>
                      <m:e>
                        <m:nary>
                          <m:naryPr>
                            <m:limLoc m:val="undOvr"/>
                            <m:ctrlPr>
                              <a:rPr lang="en-US" sz="2000" i="1" smtClean="0">
                                <a:latin typeface="Cambria Math" panose="02040503050406030204" pitchFamily="18" charset="0"/>
                              </a:rPr>
                            </m:ctrlPr>
                          </m:naryPr>
                          <m:sub>
                            <m:r>
                              <m:rPr>
                                <m:brk m:alnAt="24"/>
                              </m:rP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i="1" smtClean="0">
                                <a:latin typeface="Cambria Math" panose="02040503050406030204" pitchFamily="18" charset="0"/>
                                <a:ea typeface="Cambria Math" panose="02040503050406030204" pitchFamily="18" charset="0"/>
                              </a:rPr>
                              <m:t>∞</m:t>
                            </m:r>
                          </m:sup>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𝑦</m:t>
                                </m:r>
                              </m:e>
                            </m:d>
                            <m:r>
                              <a:rPr lang="en-US" sz="2000" b="0" i="1" smtClean="0">
                                <a:latin typeface="Cambria Math" panose="02040503050406030204" pitchFamily="18" charset="0"/>
                              </a:rPr>
                              <m:t>𝑑𝑥𝑑𝑦</m:t>
                            </m:r>
                          </m:e>
                        </m:nary>
                      </m:e>
                    </m:nary>
                  </m:oMath>
                </a14:m>
                <a:r>
                  <a:rPr lang="en-US" sz="2000" dirty="0">
                    <a:latin typeface="+mj-lt"/>
                  </a:rPr>
                  <a:t> exists and is equal to 1.</a:t>
                </a:r>
              </a:p>
              <a:p>
                <a:pPr marL="400050" lvl="0" indent="-400050" algn="just">
                  <a:buAutoNum type="romanLcParenBoth"/>
                </a:pP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a</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𝑋</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𝑏</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𝑐</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𝑌</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𝑑</m:t>
                        </m:r>
                      </m:e>
                    </m:d>
                    <m:r>
                      <a:rPr lang="en-US" sz="2000" b="0" i="1" smtClean="0">
                        <a:latin typeface="Cambria Math" panose="02040503050406030204" pitchFamily="18" charset="0"/>
                        <a:ea typeface="Cambria Math" panose="02040503050406030204" pitchFamily="18" charset="0"/>
                      </a:rPr>
                      <m:t>=</m:t>
                    </m:r>
                    <m:nary>
                      <m:naryPr>
                        <m:limLoc m:val="undOvr"/>
                        <m:ctrlPr>
                          <a:rPr lang="en-US" sz="2000" b="0" i="1" smtClean="0">
                            <a:latin typeface="Cambria Math" panose="02040503050406030204" pitchFamily="18" charset="0"/>
                            <a:ea typeface="Cambria Math" panose="02040503050406030204" pitchFamily="18" charset="0"/>
                          </a:rPr>
                        </m:ctrlPr>
                      </m:naryPr>
                      <m:sub>
                        <m:r>
                          <m:rPr>
                            <m:brk m:alnAt="24"/>
                          </m:rPr>
                          <a:rPr lang="en-US" sz="2000" b="0" i="1" smtClean="0">
                            <a:latin typeface="Cambria Math" panose="02040503050406030204" pitchFamily="18" charset="0"/>
                            <a:ea typeface="Cambria Math" panose="02040503050406030204" pitchFamily="18" charset="0"/>
                          </a:rPr>
                          <m:t>𝑎</m:t>
                        </m:r>
                      </m:sub>
                      <m:sup>
                        <m:r>
                          <a:rPr lang="en-US" sz="2000" b="0" i="1" smtClean="0">
                            <a:latin typeface="Cambria Math" panose="02040503050406030204" pitchFamily="18" charset="0"/>
                            <a:ea typeface="Cambria Math" panose="02040503050406030204" pitchFamily="18" charset="0"/>
                          </a:rPr>
                          <m:t>𝑏</m:t>
                        </m:r>
                      </m:sup>
                      <m:e>
                        <m:nary>
                          <m:naryPr>
                            <m:limLoc m:val="undOvr"/>
                            <m:ctrlPr>
                              <a:rPr lang="en-US" sz="2000" b="0" i="1" smtClean="0">
                                <a:latin typeface="Cambria Math" panose="02040503050406030204" pitchFamily="18" charset="0"/>
                                <a:ea typeface="Cambria Math" panose="02040503050406030204" pitchFamily="18" charset="0"/>
                              </a:rPr>
                            </m:ctrlPr>
                          </m:naryPr>
                          <m:sub>
                            <m:r>
                              <m:rPr>
                                <m:brk m:alnAt="24"/>
                              </m:rPr>
                              <a:rPr lang="en-US" sz="2000" b="0" i="1" smtClean="0">
                                <a:latin typeface="Cambria Math" panose="02040503050406030204" pitchFamily="18" charset="0"/>
                                <a:ea typeface="Cambria Math" panose="02040503050406030204" pitchFamily="18" charset="0"/>
                              </a:rPr>
                              <m:t>𝑐</m:t>
                            </m:r>
                          </m:sub>
                          <m:sup>
                            <m:r>
                              <a:rPr lang="en-US" sz="2000" b="0" i="1" smtClean="0">
                                <a:latin typeface="Cambria Math" panose="02040503050406030204" pitchFamily="18" charset="0"/>
                                <a:ea typeface="Cambria Math" panose="02040503050406030204" pitchFamily="18" charset="0"/>
                              </a:rPr>
                              <m:t>𝑑</m:t>
                            </m:r>
                          </m:sup>
                          <m:e>
                            <m:r>
                              <a:rPr lang="en-US" sz="2000" b="0" i="1" smtClean="0">
                                <a:latin typeface="Cambria Math" panose="02040503050406030204" pitchFamily="18" charset="0"/>
                                <a:ea typeface="Cambria Math" panose="02040503050406030204" pitchFamily="18" charset="0"/>
                              </a:rPr>
                              <m:t>𝑓</m:t>
                            </m:r>
                            <m:d>
                              <m:dPr>
                                <m:ctrlPr>
                                  <a:rPr lang="en-US" sz="2000" b="0" i="1" smtClean="0">
                                    <a:latin typeface="Cambria Math" panose="02040503050406030204" pitchFamily="18" charset="0"/>
                                    <a:ea typeface="Cambria Math" panose="02040503050406030204" pitchFamily="18" charset="0"/>
                                  </a:rPr>
                                </m:ctrlPr>
                              </m:dPr>
                              <m:e>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 </m:t>
                                </m:r>
                                <m:r>
                                  <a:rPr lang="en-US" sz="2000" b="0" i="1" smtClean="0">
                                    <a:latin typeface="Cambria Math" panose="02040503050406030204" pitchFamily="18" charset="0"/>
                                    <a:ea typeface="Cambria Math" panose="02040503050406030204" pitchFamily="18" charset="0"/>
                                  </a:rPr>
                                  <m:t>𝑦</m:t>
                                </m:r>
                              </m:e>
                            </m:d>
                            <m:r>
                              <a:rPr lang="en-US" sz="2000" b="0" i="1" smtClean="0">
                                <a:latin typeface="Cambria Math" panose="02040503050406030204" pitchFamily="18" charset="0"/>
                                <a:ea typeface="Cambria Math" panose="02040503050406030204" pitchFamily="18" charset="0"/>
                              </a:rPr>
                              <m:t>𝑑𝑥𝑑𝑦</m:t>
                            </m:r>
                          </m:e>
                        </m:nary>
                      </m:e>
                    </m:nary>
                  </m:oMath>
                </a14:m>
                <a:endParaRPr lang="en-US" sz="2000" dirty="0">
                  <a:latin typeface="+mj-lt"/>
                </a:endParaRPr>
              </a:p>
              <a:p>
                <a:pPr marL="0" lvl="0" indent="0" algn="just">
                  <a:buNone/>
                </a:pPr>
                <a:r>
                  <a:rPr lang="en-US" sz="2000" dirty="0">
                    <a:latin typeface="+mj-lt"/>
                  </a:rPr>
                  <a:t>       The probability distribution defined in terms of joint probability function or joint probability density function is called a joint probability distribution.</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148168"/>
              </a:xfrm>
              <a:blipFill>
                <a:blip r:embed="rId2"/>
                <a:stretch>
                  <a:fillRect l="-889" t="-711" r="-74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32</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Joint Probability function(CO3)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2496461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458200" cy="4953000"/>
              </a:xfrm>
            </p:spPr>
            <p:txBody>
              <a:bodyPr>
                <a:normAutofit/>
              </a:bodyPr>
              <a:lstStyle/>
              <a:p>
                <a:pPr marL="0" lvl="0" indent="0" algn="just">
                  <a:buNone/>
                </a:pPr>
                <a:r>
                  <a:rPr lang="en-US" sz="2000" dirty="0">
                    <a:latin typeface="+mj-lt"/>
                  </a:rPr>
                  <a:t>Example: The joint density function of X and Y is given by</a:t>
                </a:r>
              </a:p>
              <a:p>
                <a:pPr marL="0" lvl="0" indent="0" algn="just">
                  <a:buNone/>
                </a:pPr>
                <a:r>
                  <a:rPr lang="en-US" sz="2000" dirty="0">
                    <a:latin typeface="+mj-lt"/>
                  </a:rPr>
                  <a:t>               </a:t>
                </a:r>
                <a14:m>
                  <m:oMath xmlns:m="http://schemas.openxmlformats.org/officeDocument/2006/math">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𝑦</m:t>
                    </m:r>
                    <m:r>
                      <a:rPr lang="en-US" sz="2000" b="0" i="1" smtClean="0">
                        <a:latin typeface="Cambria Math" panose="02040503050406030204" pitchFamily="18" charset="0"/>
                      </a:rPr>
                      <m:t>)=</m:t>
                    </m:r>
                    <m:r>
                      <a:rPr lang="en-US" sz="2000" b="0" i="1" smtClean="0">
                        <a:latin typeface="Cambria Math" panose="02040503050406030204" pitchFamily="18" charset="0"/>
                      </a:rPr>
                      <m:t>𝑘</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2</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=0,1,2;</m:t>
                    </m:r>
                    <m:r>
                      <a:rPr lang="en-US" sz="2000" b="0" i="1" smtClean="0">
                        <a:latin typeface="Cambria Math" panose="02040503050406030204" pitchFamily="18" charset="0"/>
                      </a:rPr>
                      <m:t>𝑦</m:t>
                    </m:r>
                    <m:r>
                      <a:rPr lang="en-US" sz="2000" b="0" i="1" smtClean="0">
                        <a:latin typeface="Cambria Math" panose="02040503050406030204" pitchFamily="18" charset="0"/>
                      </a:rPr>
                      <m:t>=0,1,2</m:t>
                    </m:r>
                  </m:oMath>
                </a14:m>
                <a:r>
                  <a:rPr lang="en-US" sz="2000" dirty="0">
                    <a:latin typeface="+mj-lt"/>
                  </a:rPr>
                  <a:t>        </a:t>
                </a:r>
              </a:p>
              <a:p>
                <a:pPr marL="0" lvl="0" indent="0" algn="just">
                  <a:buNone/>
                </a:pPr>
                <a:r>
                  <a:rPr lang="en-US" sz="2000" dirty="0">
                    <a:latin typeface="+mj-lt"/>
                  </a:rPr>
                  <a:t>     Find the value of k.                                                                </a:t>
                </a:r>
              </a:p>
              <a:p>
                <a:pPr marL="0" lvl="0" indent="0" algn="just">
                  <a:buNone/>
                </a:pPr>
                <a:r>
                  <a:rPr lang="en-US" sz="2000" dirty="0">
                    <a:latin typeface="+mj-lt"/>
                  </a:rPr>
                  <a:t>Solution: For joint density function, we have</a:t>
                </a:r>
              </a:p>
              <a:p>
                <a:pPr marL="0" lvl="0" indent="0">
                  <a:buNone/>
                </a:pPr>
                <a14:m>
                  <m:oMathPara xmlns:m="http://schemas.openxmlformats.org/officeDocument/2006/math">
                    <m:oMathParaPr>
                      <m:jc m:val="left"/>
                    </m:oMathParaPr>
                    <m:oMath xmlns:m="http://schemas.openxmlformats.org/officeDocument/2006/math">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𝑥</m:t>
                          </m:r>
                        </m:sub>
                        <m:sup/>
                        <m:e>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𝑦</m:t>
                              </m:r>
                            </m:sub>
                            <m:sup/>
                            <m:e>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𝑦</m:t>
                                  </m:r>
                                </m:e>
                              </m:d>
                              <m:r>
                                <a:rPr lang="en-US" sz="2000" b="0" i="1" smtClean="0">
                                  <a:latin typeface="Cambria Math" panose="02040503050406030204" pitchFamily="18" charset="0"/>
                                </a:rPr>
                                <m:t>=1</m:t>
                              </m:r>
                            </m:e>
                          </m:nary>
                        </m:e>
                      </m:nary>
                    </m:oMath>
                  </m:oMathPara>
                </a14:m>
                <a:endParaRPr lang="en-US" sz="2000" b="0" i="1" dirty="0">
                  <a:latin typeface="+mj-lt"/>
                </a:endParaRPr>
              </a:p>
              <a:p>
                <a:pPr marL="0" lvl="0" indent="0">
                  <a:buNone/>
                </a:pPr>
                <a14:m>
                  <m:oMathPara xmlns:m="http://schemas.openxmlformats.org/officeDocument/2006/math">
                    <m:oMathParaPr>
                      <m:jc m:val="left"/>
                    </m:oMathParaPr>
                    <m:oMath xmlns:m="http://schemas.openxmlformats.org/officeDocument/2006/math">
                      <m:r>
                        <a:rPr lang="en-US" sz="200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0+1</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+2</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+3</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+4</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+4</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+5</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+6</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=1</m:t>
                      </m:r>
                    </m:oMath>
                  </m:oMathPara>
                </a14:m>
                <a:endParaRPr lang="en-US" sz="2000" dirty="0">
                  <a:latin typeface="+mj-lt"/>
                </a:endParaRPr>
              </a:p>
              <a:p>
                <a:pPr marL="0" lv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b="0" i="0" smtClean="0">
                          <a:latin typeface="Cambria Math" panose="02040503050406030204" pitchFamily="18" charset="0"/>
                          <a:ea typeface="Cambria Math" panose="02040503050406030204" pitchFamily="18" charset="0"/>
                        </a:rPr>
                        <m:t>27</m:t>
                      </m:r>
                      <m:r>
                        <m:rPr>
                          <m:sty m:val="p"/>
                        </m:rPr>
                        <a:rPr lang="en-US" sz="2000" b="0" i="0" smtClean="0">
                          <a:latin typeface="Cambria Math" panose="02040503050406030204" pitchFamily="18" charset="0"/>
                          <a:ea typeface="Cambria Math" panose="02040503050406030204" pitchFamily="18" charset="0"/>
                        </a:rPr>
                        <m:t>k</m:t>
                      </m:r>
                      <m:r>
                        <a:rPr lang="en-US" sz="2000" b="0" i="0" smtClean="0">
                          <a:latin typeface="Cambria Math" panose="02040503050406030204" pitchFamily="18" charset="0"/>
                          <a:ea typeface="Cambria Math" panose="02040503050406030204" pitchFamily="18" charset="0"/>
                        </a:rPr>
                        <m:t>=1</m:t>
                      </m:r>
                    </m:oMath>
                  </m:oMathPara>
                </a14:m>
                <a:endParaRPr lang="en-US" sz="2000" dirty="0">
                  <a:latin typeface="+mj-lt"/>
                </a:endParaRPr>
              </a:p>
              <a:p>
                <a:pPr marL="0" lvl="0" indent="0">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𝑘</m:t>
                      </m:r>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27</m:t>
                          </m:r>
                        </m:den>
                      </m:f>
                      <m:r>
                        <a:rPr lang="en-US" sz="2000" b="0" i="1" smtClean="0">
                          <a:latin typeface="Cambria Math" panose="02040503050406030204" pitchFamily="18" charset="0"/>
                          <a:ea typeface="Cambria Math" panose="02040503050406030204" pitchFamily="18" charset="0"/>
                        </a:rPr>
                        <m:t>.</m:t>
                      </m:r>
                    </m:oMath>
                  </m:oMathPara>
                </a14:m>
                <a:endParaRPr lang="en-US" sz="2000"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458200" cy="4953000"/>
              </a:xfrm>
              <a:blipFill>
                <a:blip r:embed="rId2"/>
                <a:stretch>
                  <a:fillRect l="-793" t="-739"/>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33</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Joint Probability function(CO3)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952763197"/>
                  </p:ext>
                </p:extLst>
              </p:nvPr>
            </p:nvGraphicFramePr>
            <p:xfrm>
              <a:off x="4800600" y="3908106"/>
              <a:ext cx="3276600" cy="1806894"/>
            </p:xfrm>
            <a:graphic>
              <a:graphicData uri="http://schemas.openxmlformats.org/drawingml/2006/table">
                <a:tbl>
                  <a:tblPr firstRow="1" bandRow="1">
                    <a:tableStyleId>{5C22544A-7EE6-4342-B048-85BDC9FD1C3A}</a:tableStyleId>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388938">
                    <a:tc>
                      <a:txBody>
                        <a:bodyPr/>
                        <a:lstStyle/>
                        <a:p>
                          <a:r>
                            <a:rPr lang="en-US" dirty="0"/>
                            <a:t>x</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y</a:t>
                          </a:r>
                          <a14:m>
                            <m:oMath xmlns:m="http://schemas.openxmlformats.org/officeDocument/2006/math">
                              <m:r>
                                <a:rPr lang="en-US" i="1" dirty="0" smtClean="0">
                                  <a:latin typeface="Cambria Math" panose="02040503050406030204" pitchFamily="18" charset="0"/>
                                  <a:ea typeface="Cambria Math" panose="02040503050406030204" pitchFamily="18" charset="0"/>
                                </a:rPr>
                                <m:t>↓</m:t>
                              </m:r>
                            </m:oMath>
                          </a14:m>
                          <a:endParaRPr lang="en-US" dirty="0"/>
                        </a:p>
                      </a:txBody>
                      <a:tcPr/>
                    </a:tc>
                    <a:tc>
                      <a:txBody>
                        <a:bodyPr/>
                        <a:lstStyle/>
                        <a:p>
                          <a:pPr algn="ctr"/>
                          <a:r>
                            <a:rPr lang="en-US" b="0" dirty="0"/>
                            <a:t>0</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0"/>
                      </a:ext>
                    </a:extLst>
                  </a:tr>
                  <a:tr h="388938">
                    <a:tc>
                      <a:txBody>
                        <a:bodyPr/>
                        <a:lstStyle/>
                        <a:p>
                          <a:pPr algn="ctr"/>
                          <a:r>
                            <a:rPr lang="en-US" dirty="0"/>
                            <a:t>0</a:t>
                          </a:r>
                        </a:p>
                      </a:txBody>
                      <a:tcPr/>
                    </a:tc>
                    <a:tc>
                      <a:txBody>
                        <a:bodyPr/>
                        <a:lstStyle/>
                        <a:p>
                          <a:pPr algn="ctr"/>
                          <a:r>
                            <a:rPr lang="en-US" dirty="0"/>
                            <a:t>0</a:t>
                          </a:r>
                        </a:p>
                      </a:txBody>
                      <a:tcPr/>
                    </a:tc>
                    <a:tc>
                      <a:txBody>
                        <a:bodyPr/>
                        <a:lstStyle/>
                        <a:p>
                          <a:pPr algn="ctr"/>
                          <a:r>
                            <a:rPr lang="en-US" dirty="0"/>
                            <a:t>2k</a:t>
                          </a:r>
                        </a:p>
                      </a:txBody>
                      <a:tcPr/>
                    </a:tc>
                    <a:tc>
                      <a:txBody>
                        <a:bodyPr/>
                        <a:lstStyle/>
                        <a:p>
                          <a:pPr algn="ctr"/>
                          <a:r>
                            <a:rPr lang="en-US" dirty="0"/>
                            <a:t>4k</a:t>
                          </a:r>
                        </a:p>
                      </a:txBody>
                      <a:tcPr/>
                    </a:tc>
                    <a:extLst>
                      <a:ext uri="{0D108BD9-81ED-4DB2-BD59-A6C34878D82A}">
                        <a16:rowId xmlns:a16="http://schemas.microsoft.com/office/drawing/2014/main" val="10001"/>
                      </a:ext>
                    </a:extLst>
                  </a:tr>
                  <a:tr h="388938">
                    <a:tc>
                      <a:txBody>
                        <a:bodyPr/>
                        <a:lstStyle/>
                        <a:p>
                          <a:pPr algn="ctr"/>
                          <a:r>
                            <a:rPr lang="en-US" dirty="0"/>
                            <a:t>1</a:t>
                          </a:r>
                        </a:p>
                      </a:txBody>
                      <a:tcPr/>
                    </a:tc>
                    <a:tc>
                      <a:txBody>
                        <a:bodyPr/>
                        <a:lstStyle/>
                        <a:p>
                          <a:pPr algn="ctr"/>
                          <a:r>
                            <a:rPr lang="en-US" dirty="0"/>
                            <a:t>k</a:t>
                          </a:r>
                        </a:p>
                      </a:txBody>
                      <a:tcPr/>
                    </a:tc>
                    <a:tc>
                      <a:txBody>
                        <a:bodyPr/>
                        <a:lstStyle/>
                        <a:p>
                          <a:pPr algn="ctr"/>
                          <a:r>
                            <a:rPr lang="en-US" dirty="0"/>
                            <a:t>3k</a:t>
                          </a:r>
                        </a:p>
                      </a:txBody>
                      <a:tcPr/>
                    </a:tc>
                    <a:tc>
                      <a:txBody>
                        <a:bodyPr/>
                        <a:lstStyle/>
                        <a:p>
                          <a:pPr algn="ctr"/>
                          <a:r>
                            <a:rPr lang="en-US" dirty="0"/>
                            <a:t>5k</a:t>
                          </a:r>
                        </a:p>
                      </a:txBody>
                      <a:tcPr/>
                    </a:tc>
                    <a:extLst>
                      <a:ext uri="{0D108BD9-81ED-4DB2-BD59-A6C34878D82A}">
                        <a16:rowId xmlns:a16="http://schemas.microsoft.com/office/drawing/2014/main" val="10002"/>
                      </a:ext>
                    </a:extLst>
                  </a:tr>
                  <a:tr h="388938">
                    <a:tc>
                      <a:txBody>
                        <a:bodyPr/>
                        <a:lstStyle/>
                        <a:p>
                          <a:pPr algn="ctr"/>
                          <a:r>
                            <a:rPr lang="en-US" dirty="0"/>
                            <a:t>2</a:t>
                          </a:r>
                        </a:p>
                      </a:txBody>
                      <a:tcPr/>
                    </a:tc>
                    <a:tc>
                      <a:txBody>
                        <a:bodyPr/>
                        <a:lstStyle/>
                        <a:p>
                          <a:pPr algn="ctr"/>
                          <a:r>
                            <a:rPr lang="en-US" dirty="0"/>
                            <a:t>2k</a:t>
                          </a:r>
                        </a:p>
                      </a:txBody>
                      <a:tcPr/>
                    </a:tc>
                    <a:tc>
                      <a:txBody>
                        <a:bodyPr/>
                        <a:lstStyle/>
                        <a:p>
                          <a:pPr algn="ctr"/>
                          <a:r>
                            <a:rPr lang="en-US" dirty="0"/>
                            <a:t>4k</a:t>
                          </a:r>
                        </a:p>
                      </a:txBody>
                      <a:tcPr/>
                    </a:tc>
                    <a:tc>
                      <a:txBody>
                        <a:bodyPr/>
                        <a:lstStyle/>
                        <a:p>
                          <a:pPr algn="ctr"/>
                          <a:r>
                            <a:rPr lang="en-US" dirty="0"/>
                            <a:t>6k</a:t>
                          </a:r>
                        </a:p>
                      </a:txBody>
                      <a:tcPr/>
                    </a:tc>
                    <a:extLst>
                      <a:ext uri="{0D108BD9-81ED-4DB2-BD59-A6C34878D82A}">
                        <a16:rowId xmlns:a16="http://schemas.microsoft.com/office/drawing/2014/main" val="10003"/>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952763197"/>
                  </p:ext>
                </p:extLst>
              </p:nvPr>
            </p:nvGraphicFramePr>
            <p:xfrm>
              <a:off x="4800600" y="3908106"/>
              <a:ext cx="3276600" cy="1806894"/>
            </p:xfrm>
            <a:graphic>
              <a:graphicData uri="http://schemas.openxmlformats.org/drawingml/2006/table">
                <a:tbl>
                  <a:tblPr firstRow="1" bandRow="1">
                    <a:tableStyleId>{5C22544A-7EE6-4342-B048-85BDC9FD1C3A}</a:tableStyleId>
                  </a:tblPr>
                  <a:tblGrid>
                    <a:gridCol w="819150">
                      <a:extLst>
                        <a:ext uri="{9D8B030D-6E8A-4147-A177-3AD203B41FA5}">
                          <a16:colId xmlns:a16="http://schemas.microsoft.com/office/drawing/2014/main" val="20000"/>
                        </a:ext>
                      </a:extLst>
                    </a:gridCol>
                    <a:gridCol w="819150">
                      <a:extLst>
                        <a:ext uri="{9D8B030D-6E8A-4147-A177-3AD203B41FA5}">
                          <a16:colId xmlns:a16="http://schemas.microsoft.com/office/drawing/2014/main" val="20001"/>
                        </a:ext>
                      </a:extLst>
                    </a:gridCol>
                    <a:gridCol w="819150">
                      <a:extLst>
                        <a:ext uri="{9D8B030D-6E8A-4147-A177-3AD203B41FA5}">
                          <a16:colId xmlns:a16="http://schemas.microsoft.com/office/drawing/2014/main" val="20002"/>
                        </a:ext>
                      </a:extLst>
                    </a:gridCol>
                    <a:gridCol w="819150">
                      <a:extLst>
                        <a:ext uri="{9D8B030D-6E8A-4147-A177-3AD203B41FA5}">
                          <a16:colId xmlns:a16="http://schemas.microsoft.com/office/drawing/2014/main" val="20003"/>
                        </a:ext>
                      </a:extLst>
                    </a:gridCol>
                  </a:tblGrid>
                  <a:tr h="640080">
                    <a:tc>
                      <a:txBody>
                        <a:bodyPr/>
                        <a:lstStyle/>
                        <a:p>
                          <a:endParaRPr lang="en-US"/>
                        </a:p>
                      </a:txBody>
                      <a:tcPr>
                        <a:blipFill>
                          <a:blip r:embed="rId3"/>
                          <a:stretch>
                            <a:fillRect l="-741" t="-4762" r="-302222" b="-194286"/>
                          </a:stretch>
                        </a:blipFill>
                      </a:tcPr>
                    </a:tc>
                    <a:tc>
                      <a:txBody>
                        <a:bodyPr/>
                        <a:lstStyle/>
                        <a:p>
                          <a:pPr algn="ctr"/>
                          <a:r>
                            <a:rPr lang="en-US" b="0" dirty="0"/>
                            <a:t>0</a:t>
                          </a:r>
                        </a:p>
                      </a:txBody>
                      <a:tcPr/>
                    </a:tc>
                    <a:tc>
                      <a:txBody>
                        <a:bodyPr/>
                        <a:lstStyle/>
                        <a:p>
                          <a:r>
                            <a:rPr lang="en-US" dirty="0"/>
                            <a:t>1</a:t>
                          </a:r>
                        </a:p>
                      </a:txBody>
                      <a:tcPr/>
                    </a:tc>
                    <a:tc>
                      <a:txBody>
                        <a:bodyPr/>
                        <a:lstStyle/>
                        <a:p>
                          <a:r>
                            <a:rPr lang="en-US" dirty="0"/>
                            <a:t>2</a:t>
                          </a:r>
                        </a:p>
                      </a:txBody>
                      <a:tcPr/>
                    </a:tc>
                    <a:extLst>
                      <a:ext uri="{0D108BD9-81ED-4DB2-BD59-A6C34878D82A}">
                        <a16:rowId xmlns:a16="http://schemas.microsoft.com/office/drawing/2014/main" val="10000"/>
                      </a:ext>
                    </a:extLst>
                  </a:tr>
                  <a:tr h="388938">
                    <a:tc>
                      <a:txBody>
                        <a:bodyPr/>
                        <a:lstStyle/>
                        <a:p>
                          <a:pPr algn="ctr"/>
                          <a:r>
                            <a:rPr lang="en-US" dirty="0"/>
                            <a:t>0</a:t>
                          </a:r>
                        </a:p>
                      </a:txBody>
                      <a:tcPr/>
                    </a:tc>
                    <a:tc>
                      <a:txBody>
                        <a:bodyPr/>
                        <a:lstStyle/>
                        <a:p>
                          <a:pPr algn="ctr"/>
                          <a:r>
                            <a:rPr lang="en-US" dirty="0"/>
                            <a:t>0</a:t>
                          </a:r>
                        </a:p>
                      </a:txBody>
                      <a:tcPr/>
                    </a:tc>
                    <a:tc>
                      <a:txBody>
                        <a:bodyPr/>
                        <a:lstStyle/>
                        <a:p>
                          <a:pPr algn="ctr"/>
                          <a:r>
                            <a:rPr lang="en-US" dirty="0"/>
                            <a:t>2k</a:t>
                          </a:r>
                        </a:p>
                      </a:txBody>
                      <a:tcPr/>
                    </a:tc>
                    <a:tc>
                      <a:txBody>
                        <a:bodyPr/>
                        <a:lstStyle/>
                        <a:p>
                          <a:pPr algn="ctr"/>
                          <a:r>
                            <a:rPr lang="en-US" dirty="0"/>
                            <a:t>4k</a:t>
                          </a:r>
                        </a:p>
                      </a:txBody>
                      <a:tcPr/>
                    </a:tc>
                    <a:extLst>
                      <a:ext uri="{0D108BD9-81ED-4DB2-BD59-A6C34878D82A}">
                        <a16:rowId xmlns:a16="http://schemas.microsoft.com/office/drawing/2014/main" val="10001"/>
                      </a:ext>
                    </a:extLst>
                  </a:tr>
                  <a:tr h="388938">
                    <a:tc>
                      <a:txBody>
                        <a:bodyPr/>
                        <a:lstStyle/>
                        <a:p>
                          <a:pPr algn="ctr"/>
                          <a:r>
                            <a:rPr lang="en-US" dirty="0"/>
                            <a:t>1</a:t>
                          </a:r>
                        </a:p>
                      </a:txBody>
                      <a:tcPr/>
                    </a:tc>
                    <a:tc>
                      <a:txBody>
                        <a:bodyPr/>
                        <a:lstStyle/>
                        <a:p>
                          <a:pPr algn="ctr"/>
                          <a:r>
                            <a:rPr lang="en-US" dirty="0"/>
                            <a:t>k</a:t>
                          </a:r>
                        </a:p>
                      </a:txBody>
                      <a:tcPr/>
                    </a:tc>
                    <a:tc>
                      <a:txBody>
                        <a:bodyPr/>
                        <a:lstStyle/>
                        <a:p>
                          <a:pPr algn="ctr"/>
                          <a:r>
                            <a:rPr lang="en-US" dirty="0"/>
                            <a:t>3k</a:t>
                          </a:r>
                        </a:p>
                      </a:txBody>
                      <a:tcPr/>
                    </a:tc>
                    <a:tc>
                      <a:txBody>
                        <a:bodyPr/>
                        <a:lstStyle/>
                        <a:p>
                          <a:pPr algn="ctr"/>
                          <a:r>
                            <a:rPr lang="en-US" dirty="0"/>
                            <a:t>5k</a:t>
                          </a:r>
                        </a:p>
                      </a:txBody>
                      <a:tcPr/>
                    </a:tc>
                    <a:extLst>
                      <a:ext uri="{0D108BD9-81ED-4DB2-BD59-A6C34878D82A}">
                        <a16:rowId xmlns:a16="http://schemas.microsoft.com/office/drawing/2014/main" val="10002"/>
                      </a:ext>
                    </a:extLst>
                  </a:tr>
                  <a:tr h="388938">
                    <a:tc>
                      <a:txBody>
                        <a:bodyPr/>
                        <a:lstStyle/>
                        <a:p>
                          <a:pPr algn="ctr"/>
                          <a:r>
                            <a:rPr lang="en-US" dirty="0"/>
                            <a:t>2</a:t>
                          </a:r>
                        </a:p>
                      </a:txBody>
                      <a:tcPr/>
                    </a:tc>
                    <a:tc>
                      <a:txBody>
                        <a:bodyPr/>
                        <a:lstStyle/>
                        <a:p>
                          <a:pPr algn="ctr"/>
                          <a:r>
                            <a:rPr lang="en-US" dirty="0"/>
                            <a:t>2k</a:t>
                          </a:r>
                        </a:p>
                      </a:txBody>
                      <a:tcPr/>
                    </a:tc>
                    <a:tc>
                      <a:txBody>
                        <a:bodyPr/>
                        <a:lstStyle/>
                        <a:p>
                          <a:pPr algn="ctr"/>
                          <a:r>
                            <a:rPr lang="en-US" dirty="0"/>
                            <a:t>4k</a:t>
                          </a:r>
                        </a:p>
                      </a:txBody>
                      <a:tcPr/>
                    </a:tc>
                    <a:tc>
                      <a:txBody>
                        <a:bodyPr/>
                        <a:lstStyle/>
                        <a:p>
                          <a:pPr algn="ctr"/>
                          <a:r>
                            <a:rPr lang="en-US" dirty="0"/>
                            <a:t>6k</a:t>
                          </a:r>
                        </a:p>
                      </a:txBody>
                      <a:tcPr/>
                    </a:tc>
                    <a:extLst>
                      <a:ext uri="{0D108BD9-81ED-4DB2-BD59-A6C34878D82A}">
                        <a16:rowId xmlns:a16="http://schemas.microsoft.com/office/drawing/2014/main" val="10003"/>
                      </a:ext>
                    </a:extLst>
                  </a:tr>
                </a:tbl>
              </a:graphicData>
            </a:graphic>
          </p:graphicFrame>
        </mc:Fallback>
      </mc:AlternateContent>
      <p:sp>
        <p:nvSpPr>
          <p:cNvPr id="8" name="Footer Placeholder 7"/>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084196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325991"/>
              </a:xfrm>
            </p:spPr>
            <p:txBody>
              <a:bodyPr>
                <a:normAutofit/>
              </a:bodyPr>
              <a:lstStyle/>
              <a:p>
                <a:pPr marL="0" lvl="0" indent="0" algn="just">
                  <a:buNone/>
                </a:pPr>
                <a:r>
                  <a:rPr lang="en-US" sz="2000" b="1" dirty="0">
                    <a:latin typeface="+mj-lt"/>
                  </a:rPr>
                  <a:t>Marginal Probability distribution or function:</a:t>
                </a:r>
                <a:endParaRPr lang="en-US" sz="2000" dirty="0">
                  <a:latin typeface="+mj-lt"/>
                </a:endParaRPr>
              </a:p>
              <a:p>
                <a:pPr marL="0" lvl="0" indent="0" algn="just">
                  <a:buNone/>
                </a:pPr>
                <a:r>
                  <a:rPr lang="en-US" sz="2000" b="1" dirty="0">
                    <a:latin typeface="+mj-lt"/>
                  </a:rPr>
                  <a:t>    (</a:t>
                </a:r>
                <a:r>
                  <a:rPr lang="en-US" sz="2000" b="1" dirty="0" err="1">
                    <a:latin typeface="+mj-lt"/>
                  </a:rPr>
                  <a:t>i</a:t>
                </a:r>
                <a:r>
                  <a:rPr lang="en-US" sz="2000" b="1" dirty="0">
                    <a:latin typeface="+mj-lt"/>
                  </a:rPr>
                  <a:t>) </a:t>
                </a:r>
                <a:r>
                  <a:rPr lang="en-US" sz="2000" dirty="0">
                    <a:latin typeface="+mj-lt"/>
                  </a:rPr>
                  <a:t>for two random variables X and Y, the marginal probability distribution of X, denoted by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 </m:t>
                    </m:r>
                    <m:r>
                      <a:rPr lang="en-US" sz="2000" b="0" i="1" smtClean="0">
                        <a:latin typeface="Cambria Math" panose="02040503050406030204" pitchFamily="18" charset="0"/>
                      </a:rPr>
                      <m:t>𝑜𝑟</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𝑥</m:t>
                        </m:r>
                      </m:sub>
                    </m:sSub>
                    <m:r>
                      <a:rPr lang="en-US" sz="2000" b="0" i="1" smtClean="0">
                        <a:latin typeface="Cambria Math" panose="02040503050406030204" pitchFamily="18" charset="0"/>
                      </a:rPr>
                      <m:t>, </m:t>
                    </m:r>
                  </m:oMath>
                </a14:m>
                <a:r>
                  <a:rPr lang="en-US" sz="2000" b="1" dirty="0">
                    <a:latin typeface="+mj-lt"/>
                  </a:rPr>
                  <a:t> </a:t>
                </a:r>
                <a:r>
                  <a:rPr lang="en-US" sz="2000" dirty="0">
                    <a:latin typeface="+mj-lt"/>
                  </a:rPr>
                  <a:t>is given as: </a:t>
                </a:r>
              </a:p>
              <a:p>
                <a:pPr marL="0" lvl="0" indent="0" algn="just">
                  <a:buNone/>
                </a:pPr>
                <a:r>
                  <a:rPr lang="en-US" sz="2000" b="1" dirty="0">
                    <a:latin typeface="+mj-lt"/>
                  </a:rPr>
                  <a:t>    </a:t>
                </a:r>
                <a:r>
                  <a:rPr lang="en-US" sz="2000" dirty="0">
                    <a:latin typeface="+mj-lt"/>
                  </a:rPr>
                  <a:t>For Discrete random variables: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nary>
                      <m:naryPr>
                        <m:chr m:val="∑"/>
                        <m:supHide m:val="on"/>
                        <m:ctrlPr>
                          <a:rPr lang="en-US" sz="2000" b="0" i="1" smtClean="0">
                            <a:latin typeface="Cambria Math" panose="02040503050406030204" pitchFamily="18" charset="0"/>
                          </a:rPr>
                        </m:ctrlPr>
                      </m:naryPr>
                      <m:sub>
                        <m:r>
                          <m:rPr>
                            <m:brk m:alnAt="7"/>
                          </m:rPr>
                          <a:rPr lang="en-US" sz="2000" b="0" i="1" smtClean="0">
                            <a:latin typeface="Cambria Math" panose="02040503050406030204" pitchFamily="18" charset="0"/>
                          </a:rPr>
                          <m:t>𝑦</m:t>
                        </m:r>
                      </m:sub>
                      <m:sup/>
                      <m:e>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e>
                    </m:nary>
                  </m:oMath>
                </a14:m>
                <a:endParaRPr lang="en-US" sz="2000" b="1" dirty="0">
                  <a:latin typeface="+mj-lt"/>
                </a:endParaRPr>
              </a:p>
              <a:p>
                <a:pPr marL="0" lvl="0" indent="0" algn="just">
                  <a:buNone/>
                </a:pPr>
                <a:r>
                  <a:rPr lang="en-US" sz="2000" b="1" dirty="0">
                    <a:latin typeface="+mj-lt"/>
                  </a:rPr>
                  <a:t>    </a:t>
                </a:r>
                <a:r>
                  <a:rPr lang="en-US" sz="2000" dirty="0">
                    <a:latin typeface="+mj-lt"/>
                  </a:rPr>
                  <a:t>For Continuous random variables:    </a:t>
                </a:r>
                <a:r>
                  <a:rPr lang="en-US" sz="2000" i="1" dirty="0">
                    <a:latin typeface="+mj-lt"/>
                  </a:rPr>
                  <a:t>f</a:t>
                </a:r>
                <a:r>
                  <a:rPr lang="en-US" sz="2000" i="1" baseline="-25000" dirty="0">
                    <a:latin typeface="+mj-lt"/>
                  </a:rPr>
                  <a:t>X</a:t>
                </a:r>
                <a14:m>
                  <m:oMath xmlns:m="http://schemas.openxmlformats.org/officeDocument/2006/math">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nary>
                      <m:naryPr>
                        <m:limLoc m:val="undOvr"/>
                        <m:ctrlPr>
                          <a:rPr lang="en-US" sz="2000" b="0" i="1" smtClean="0">
                            <a:latin typeface="Cambria Math" panose="02040503050406030204" pitchFamily="18" charset="0"/>
                          </a:rPr>
                        </m:ctrlPr>
                      </m:naryPr>
                      <m:sub>
                        <m:r>
                          <m:rPr>
                            <m:brk m:alnAt="24"/>
                          </m:rPr>
                          <a:rPr lang="en-US" sz="2000" b="0" i="1" smtClean="0">
                            <a:latin typeface="Cambria Math" panose="02040503050406030204" pitchFamily="18" charset="0"/>
                          </a:rPr>
                          <m:t>𝑦</m:t>
                        </m:r>
                      </m:sub>
                      <m:sup/>
                      <m:e>
                        <m:r>
                          <a:rPr lang="en-IN"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𝑦</m:t>
                            </m:r>
                          </m:e>
                        </m:d>
                        <m:r>
                          <a:rPr lang="en-US" sz="2000" b="0" i="1" smtClean="0">
                            <a:latin typeface="Cambria Math" panose="02040503050406030204" pitchFamily="18" charset="0"/>
                          </a:rPr>
                          <m:t>𝑑𝑦</m:t>
                        </m:r>
                      </m:e>
                    </m:nary>
                  </m:oMath>
                </a14:m>
                <a:endParaRPr lang="en-US" sz="2000" b="1" dirty="0">
                  <a:latin typeface="+mj-lt"/>
                </a:endParaRPr>
              </a:p>
              <a:p>
                <a:pPr marL="0" lvl="0" indent="0" algn="just">
                  <a:buNone/>
                </a:pPr>
                <a:r>
                  <a:rPr lang="en-US" sz="2000" b="1" dirty="0">
                    <a:latin typeface="+mj-lt"/>
                  </a:rPr>
                  <a:t>   (ii) </a:t>
                </a:r>
                <a:r>
                  <a:rPr lang="en-US" sz="2000" dirty="0">
                    <a:latin typeface="+mj-lt"/>
                  </a:rPr>
                  <a:t>for two random variables X and Y, the marginal probability distribution of Y, denoted by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𝑦</m:t>
                        </m:r>
                      </m:e>
                    </m:d>
                    <m:r>
                      <a:rPr lang="en-US" sz="2000" b="1" i="0" smtClean="0">
                        <a:latin typeface="Cambria Math" panose="02040503050406030204" pitchFamily="18" charset="0"/>
                      </a:rPr>
                      <m:t> </m:t>
                    </m:r>
                    <m:r>
                      <m:rPr>
                        <m:sty m:val="p"/>
                      </m:rPr>
                      <a:rPr lang="en-US" sz="2000" b="0" i="0" smtClean="0">
                        <a:latin typeface="Cambria Math" panose="02040503050406030204" pitchFamily="18" charset="0"/>
                      </a:rPr>
                      <m:t>or</m:t>
                    </m:r>
                    <m:r>
                      <a:rPr lang="en-US" sz="2000" b="0" i="0"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𝑦</m:t>
                        </m:r>
                      </m:sub>
                    </m:sSub>
                  </m:oMath>
                </a14:m>
                <a:r>
                  <a:rPr lang="en-US" sz="2000" b="1" dirty="0">
                    <a:latin typeface="+mj-lt"/>
                  </a:rPr>
                  <a:t> </a:t>
                </a:r>
                <a:r>
                  <a:rPr lang="en-US" sz="2000" dirty="0">
                    <a:latin typeface="+mj-lt"/>
                  </a:rPr>
                  <a:t>, is given as:</a:t>
                </a:r>
              </a:p>
              <a:p>
                <a:pPr marL="0" lvl="0" indent="0" algn="just">
                  <a:buNone/>
                </a:pPr>
                <a:r>
                  <a:rPr lang="en-US" sz="2000" b="1" dirty="0">
                    <a:latin typeface="+mj-lt"/>
                  </a:rPr>
                  <a:t>   </a:t>
                </a:r>
                <a:r>
                  <a:rPr lang="en-US" sz="2000" dirty="0">
                    <a:latin typeface="+mj-lt"/>
                  </a:rPr>
                  <a:t>  For Discrete random Variables: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b="0" i="1" smtClean="0">
                            <a:latin typeface="Cambria Math" panose="02040503050406030204" pitchFamily="18" charset="0"/>
                          </a:rPr>
                          <m:t>𝑦</m:t>
                        </m:r>
                      </m:e>
                    </m:d>
                    <m:r>
                      <a:rPr lang="en-US" sz="2000" i="1">
                        <a:latin typeface="Cambria Math" panose="02040503050406030204" pitchFamily="18" charset="0"/>
                      </a:rPr>
                      <m:t>=</m:t>
                    </m:r>
                    <m:nary>
                      <m:naryPr>
                        <m:chr m:val="∑"/>
                        <m:supHide m:val="on"/>
                        <m:ctrlPr>
                          <a:rPr lang="en-US" sz="2000" i="1" smtClean="0">
                            <a:latin typeface="Cambria Math" panose="02040503050406030204" pitchFamily="18" charset="0"/>
                          </a:rPr>
                        </m:ctrlPr>
                      </m:naryPr>
                      <m:sub>
                        <m:r>
                          <m:rPr>
                            <m:brk m:alnAt="7"/>
                          </m:rPr>
                          <a:rPr lang="en-US" sz="2000" b="0" i="1" smtClean="0">
                            <a:latin typeface="Cambria Math" panose="02040503050406030204" pitchFamily="18" charset="0"/>
                          </a:rPr>
                          <m:t>𝑥</m:t>
                        </m:r>
                      </m:sub>
                      <m:sup/>
                      <m:e>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 </m:t>
                        </m:r>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e>
                    </m:nary>
                  </m:oMath>
                </a14:m>
                <a:endParaRPr lang="en-US" sz="2000" b="1" dirty="0">
                  <a:latin typeface="+mj-lt"/>
                </a:endParaRPr>
              </a:p>
              <a:p>
                <a:pPr marL="0" lvl="0" indent="0" algn="just">
                  <a:buNone/>
                </a:pPr>
                <a:r>
                  <a:rPr lang="en-US" sz="2000" b="1" dirty="0">
                    <a:latin typeface="+mj-lt"/>
                  </a:rPr>
                  <a:t>     </a:t>
                </a:r>
                <a:r>
                  <a:rPr lang="en-US" sz="2000" dirty="0">
                    <a:latin typeface="+mj-lt"/>
                  </a:rPr>
                  <a:t>For Continuous random variables:  </a:t>
                </a:r>
                <a:r>
                  <a:rPr lang="en-US" sz="2000" b="1" dirty="0">
                    <a:latin typeface="+mj-lt"/>
                  </a:rPr>
                  <a:t>   </a:t>
                </a:r>
                <a:r>
                  <a:rPr lang="en-US" sz="2000" i="1" dirty="0">
                    <a:latin typeface="+mj-lt"/>
                  </a:rPr>
                  <a:t>f</a:t>
                </a:r>
                <a:r>
                  <a:rPr lang="en-US" sz="2000" i="1" baseline="-25000" dirty="0">
                    <a:latin typeface="+mj-lt"/>
                  </a:rPr>
                  <a:t>Y</a:t>
                </a:r>
                <a14:m>
                  <m:oMath xmlns:m="http://schemas.openxmlformats.org/officeDocument/2006/math">
                    <m:d>
                      <m:dPr>
                        <m:ctrlPr>
                          <a:rPr lang="en-US" sz="2000" i="1">
                            <a:latin typeface="Cambria Math" panose="02040503050406030204" pitchFamily="18" charset="0"/>
                          </a:rPr>
                        </m:ctrlPr>
                      </m:dPr>
                      <m:e>
                        <m:r>
                          <a:rPr lang="en-US" sz="2000" b="0" i="1" smtClean="0">
                            <a:latin typeface="Cambria Math" panose="02040503050406030204" pitchFamily="18" charset="0"/>
                          </a:rPr>
                          <m:t>𝑦</m:t>
                        </m:r>
                      </m:e>
                    </m:d>
                    <m:r>
                      <a:rPr lang="en-US" sz="2000" i="1">
                        <a:latin typeface="Cambria Math" panose="02040503050406030204" pitchFamily="18" charset="0"/>
                      </a:rPr>
                      <m:t>=</m:t>
                    </m:r>
                    <m:nary>
                      <m:naryPr>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𝑥</m:t>
                        </m:r>
                      </m:sub>
                      <m:sup/>
                      <m:e>
                        <m:r>
                          <a:rPr lang="en-IN"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𝑑𝑥</m:t>
                        </m:r>
                      </m:e>
                    </m:nary>
                  </m:oMath>
                </a14:m>
                <a:endParaRPr lang="en-US" sz="2000" b="1"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325991"/>
              </a:xfrm>
              <a:blipFill>
                <a:blip r:embed="rId2"/>
                <a:stretch>
                  <a:fillRect l="-815" t="-687" r="-74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34</a:t>
            </a:fld>
            <a:endParaRPr lang="en-US"/>
          </a:p>
        </p:txBody>
      </p:sp>
      <p:sp>
        <p:nvSpPr>
          <p:cNvPr id="7" name="Title 1"/>
          <p:cNvSpPr txBox="1">
            <a:spLocks/>
          </p:cNvSpPr>
          <p:nvPr/>
        </p:nvSpPr>
        <p:spPr>
          <a:xfrm>
            <a:off x="1371600"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Marginal Probability distribution(CO3)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6243246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410200"/>
              </a:xfrm>
            </p:spPr>
            <p:txBody>
              <a:bodyPr>
                <a:noAutofit/>
              </a:bodyPr>
              <a:lstStyle/>
              <a:p>
                <a:pPr marL="0" indent="0" algn="just">
                  <a:buNone/>
                </a:pPr>
                <a:r>
                  <a:rPr lang="en-US" sz="2000" b="1" dirty="0">
                    <a:latin typeface="+mj-lt"/>
                  </a:rPr>
                  <a:t>Example:</a:t>
                </a:r>
                <a:r>
                  <a:rPr lang="en-US" sz="2000" dirty="0">
                    <a:latin typeface="+mj-lt"/>
                  </a:rPr>
                  <a:t> For the joint probability distribution of two random variables X and Y given below:      </a:t>
                </a:r>
              </a:p>
              <a:p>
                <a:pPr marL="0" indent="0" algn="just">
                  <a:buNone/>
                </a:pPr>
                <a:r>
                  <a:rPr lang="en-US" sz="2000" dirty="0">
                    <a:latin typeface="+mj-lt"/>
                  </a:rPr>
                  <a:t>      </a:t>
                </a:r>
              </a:p>
              <a:p>
                <a:pPr marL="0" indent="0" algn="just">
                  <a:buNone/>
                </a:pPr>
                <a:endParaRPr lang="en-US" sz="2000" dirty="0">
                  <a:latin typeface="+mj-lt"/>
                </a:endParaRPr>
              </a:p>
              <a:p>
                <a:pPr marL="0" indent="0" algn="just">
                  <a:buNone/>
                </a:pPr>
                <a:endParaRPr lang="en-US" sz="2000" dirty="0">
                  <a:latin typeface="+mj-lt"/>
                </a:endParaRPr>
              </a:p>
              <a:p>
                <a:pPr marL="0" indent="0" algn="just">
                  <a:buNone/>
                </a:pPr>
                <a:endParaRPr lang="en-US" sz="2000" dirty="0">
                  <a:latin typeface="+mj-lt"/>
                </a:endParaRPr>
              </a:p>
              <a:p>
                <a:pPr marL="0" indent="0" algn="just">
                  <a:buNone/>
                </a:pPr>
                <a:endParaRPr lang="en-US" sz="2000" dirty="0">
                  <a:latin typeface="+mj-lt"/>
                </a:endParaRPr>
              </a:p>
              <a:p>
                <a:pPr marL="0" indent="0" algn="just">
                  <a:buNone/>
                </a:pPr>
                <a:endParaRPr lang="en-US" sz="2000" dirty="0">
                  <a:latin typeface="+mj-lt"/>
                </a:endParaRPr>
              </a:p>
              <a:p>
                <a:pPr marL="0" indent="0" algn="just">
                  <a:buNone/>
                </a:pPr>
                <a:endParaRPr lang="en-US" sz="2000" dirty="0">
                  <a:latin typeface="+mj-lt"/>
                </a:endParaRPr>
              </a:p>
              <a:p>
                <a:pPr marL="0" indent="0" algn="just">
                  <a:buNone/>
                </a:pPr>
                <a:endParaRPr lang="en-US" sz="2000" dirty="0">
                  <a:latin typeface="+mj-lt"/>
                </a:endParaRPr>
              </a:p>
              <a:p>
                <a:pPr marL="0" indent="0" algn="just">
                  <a:buNone/>
                </a:pPr>
                <a:r>
                  <a:rPr lang="en-US" sz="2000" dirty="0">
                    <a:latin typeface="+mj-lt"/>
                  </a:rPr>
                  <a:t>Find the marginal probability distribution of X and Y.</a:t>
                </a:r>
              </a:p>
              <a:p>
                <a:pPr marL="0" indent="0" algn="just">
                  <a:buNone/>
                </a:pPr>
                <a:r>
                  <a:rPr lang="en-US" sz="2000" dirty="0">
                    <a:latin typeface="+mj-lt"/>
                  </a:rPr>
                  <a:t>Solution:  The marginal probability distribution of X is given by</a:t>
                </a:r>
              </a:p>
              <a:p>
                <a:pPr marL="0" indent="0" algn="just">
                  <a:buNone/>
                </a:pPr>
                <a:r>
                  <a:rPr lang="en-US" sz="2000" dirty="0">
                    <a:latin typeface="+mj-lt"/>
                  </a:rPr>
                  <a:t> </a:t>
                </a:r>
              </a:p>
              <a:p>
                <a:pPr marL="0" indent="0" algn="just">
                  <a:buNone/>
                </a:pPr>
                <a:r>
                  <a:rPr lang="en-US" sz="2000" dirty="0">
                    <a:latin typeface="+mj-lt"/>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410200"/>
              </a:xfrm>
              <a:blipFill>
                <a:blip r:embed="rId2"/>
                <a:stretch>
                  <a:fillRect l="-815" t="-676" r="-741" b="-112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35</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Marginal Probability distribution(CO3)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mc:AlternateContent xmlns:mc="http://schemas.openxmlformats.org/markup-compatibility/2006" xmlns:a14="http://schemas.microsoft.com/office/drawing/2010/main">
        <mc:Choice Requires="a14">
          <p:graphicFrame>
            <p:nvGraphicFramePr>
              <p:cNvPr id="5" name="Table 4"/>
              <p:cNvGraphicFramePr>
                <a:graphicFrameLocks noGrp="1"/>
              </p:cNvGraphicFramePr>
              <p:nvPr>
                <p:extLst>
                  <p:ext uri="{D42A27DB-BD31-4B8C-83A1-F6EECF244321}">
                    <p14:modId xmlns:p14="http://schemas.microsoft.com/office/powerpoint/2010/main" val="2521686509"/>
                  </p:ext>
                </p:extLst>
              </p:nvPr>
            </p:nvGraphicFramePr>
            <p:xfrm>
              <a:off x="2667000" y="1600200"/>
              <a:ext cx="4495800" cy="2909636"/>
            </p:xfrm>
            <a:graphic>
              <a:graphicData uri="http://schemas.openxmlformats.org/drawingml/2006/table">
                <a:tbl>
                  <a:tblPr firstRow="1" bandRow="1">
                    <a:tableStyleId>{5C22544A-7EE6-4342-B048-85BDC9FD1C3A}</a:tableStyleId>
                  </a:tblPr>
                  <a:tblGrid>
                    <a:gridCol w="749300">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49300">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tblGrid>
                  <a:tr h="603466">
                    <a:tc>
                      <a:txBody>
                        <a:bodyPr/>
                        <a:lstStyle/>
                        <a:p>
                          <a:pPr algn="l"/>
                          <a:r>
                            <a:rPr lang="en-US" b="0" dirty="0"/>
                            <a:t>Y</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r>
                            <a:rPr lang="en-US" b="0" dirty="0"/>
                            <a:t> </a:t>
                          </a:r>
                        </a:p>
                        <a:p>
                          <a:pPr algn="l"/>
                          <a:r>
                            <a:rPr lang="en-US" b="0" dirty="0"/>
                            <a:t>X</a:t>
                          </a:r>
                          <a14:m>
                            <m:oMath xmlns:m="http://schemas.openxmlformats.org/officeDocument/2006/math">
                              <m:r>
                                <a:rPr lang="en-US" b="0" i="1" smtClean="0">
                                  <a:latin typeface="Cambria Math" panose="02040503050406030204" pitchFamily="18" charset="0"/>
                                  <a:ea typeface="Cambria Math" panose="02040503050406030204" pitchFamily="18" charset="0"/>
                                </a:rPr>
                                <m:t>↓</m:t>
                              </m:r>
                            </m:oMath>
                          </a14:m>
                          <a:endParaRPr lang="en-US" b="0" dirty="0"/>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Total</a:t>
                          </a:r>
                        </a:p>
                      </a:txBody>
                      <a:tcPr/>
                    </a:tc>
                    <a:extLst>
                      <a:ext uri="{0D108BD9-81ED-4DB2-BD59-A6C34878D82A}">
                        <a16:rowId xmlns:a16="http://schemas.microsoft.com/office/drawing/2014/main" val="10000"/>
                      </a:ext>
                    </a:extLst>
                  </a:tr>
                  <a:tr h="425839">
                    <a:tc>
                      <a:txBody>
                        <a:bodyPr/>
                        <a:lstStyle/>
                        <a:p>
                          <a:pPr algn="ctr"/>
                          <a:r>
                            <a:rPr lang="en-US" dirty="0"/>
                            <a:t>1</a:t>
                          </a:r>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4</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10</m:t>
                                    </m:r>
                                  </m:num>
                                  <m:den>
                                    <m:r>
                                      <a:rPr lang="en-US" b="0" i="1" smtClean="0">
                                        <a:latin typeface="Cambria Math" panose="02040503050406030204" pitchFamily="18" charset="0"/>
                                      </a:rPr>
                                      <m:t>36</m:t>
                                    </m:r>
                                  </m:den>
                                </m:f>
                              </m:oMath>
                            </m:oMathPara>
                          </a14:m>
                          <a:endParaRPr lang="en-US" dirty="0"/>
                        </a:p>
                      </a:txBody>
                      <a:tcPr/>
                    </a:tc>
                    <a:extLst>
                      <a:ext uri="{0D108BD9-81ED-4DB2-BD59-A6C34878D82A}">
                        <a16:rowId xmlns:a16="http://schemas.microsoft.com/office/drawing/2014/main" val="10001"/>
                      </a:ext>
                    </a:extLst>
                  </a:tr>
                  <a:tr h="425839">
                    <a:tc>
                      <a:txBody>
                        <a:bodyPr/>
                        <a:lstStyle/>
                        <a:p>
                          <a:pPr algn="ctr"/>
                          <a:r>
                            <a:rPr lang="en-US" dirty="0"/>
                            <a:t>2</a:t>
                          </a:r>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3</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36</m:t>
                                    </m:r>
                                  </m:den>
                                </m:f>
                              </m:oMath>
                            </m:oMathPara>
                          </a14:m>
                          <a:endParaRPr lang="en-US" dirty="0"/>
                        </a:p>
                      </a:txBody>
                      <a:tcPr/>
                    </a:tc>
                    <a:extLst>
                      <a:ext uri="{0D108BD9-81ED-4DB2-BD59-A6C34878D82A}">
                        <a16:rowId xmlns:a16="http://schemas.microsoft.com/office/drawing/2014/main" val="10002"/>
                      </a:ext>
                    </a:extLst>
                  </a:tr>
                  <a:tr h="431108">
                    <a:tc>
                      <a:txBody>
                        <a:bodyPr/>
                        <a:lstStyle/>
                        <a:p>
                          <a:pPr algn="ctr"/>
                          <a:r>
                            <a:rPr lang="en-US" dirty="0"/>
                            <a:t>3</a:t>
                          </a:r>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8</m:t>
                                    </m:r>
                                  </m:num>
                                  <m:den>
                                    <m:r>
                                      <a:rPr lang="en-US" b="0" i="1" smtClean="0">
                                        <a:latin typeface="Cambria Math" panose="02040503050406030204" pitchFamily="18" charset="0"/>
                                      </a:rPr>
                                      <m:t>36</m:t>
                                    </m:r>
                                  </m:den>
                                </m:f>
                              </m:oMath>
                            </m:oMathPara>
                          </a14:m>
                          <a:endParaRPr lang="en-US" dirty="0"/>
                        </a:p>
                      </a:txBody>
                      <a:tcPr/>
                    </a:tc>
                    <a:extLst>
                      <a:ext uri="{0D108BD9-81ED-4DB2-BD59-A6C34878D82A}">
                        <a16:rowId xmlns:a16="http://schemas.microsoft.com/office/drawing/2014/main" val="10003"/>
                      </a:ext>
                    </a:extLst>
                  </a:tr>
                  <a:tr h="431108">
                    <a:tc>
                      <a:txBody>
                        <a:bodyPr/>
                        <a:lstStyle/>
                        <a:p>
                          <a:pPr algn="ctr"/>
                          <a:r>
                            <a:rPr lang="en-US" dirty="0"/>
                            <a:t>4</a:t>
                          </a:r>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2</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5</m:t>
                                    </m:r>
                                  </m:num>
                                  <m:den>
                                    <m:r>
                                      <a:rPr lang="en-US"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36</m:t>
                                    </m:r>
                                  </m:den>
                                </m:f>
                              </m:oMath>
                            </m:oMathPara>
                          </a14:m>
                          <a:endParaRPr lang="en-US" dirty="0"/>
                        </a:p>
                      </a:txBody>
                      <a:tcPr/>
                    </a:tc>
                    <a:extLst>
                      <a:ext uri="{0D108BD9-81ED-4DB2-BD59-A6C34878D82A}">
                        <a16:rowId xmlns:a16="http://schemas.microsoft.com/office/drawing/2014/main" val="10004"/>
                      </a:ext>
                    </a:extLst>
                  </a:tr>
                  <a:tr h="425839">
                    <a:tc>
                      <a:txBody>
                        <a:bodyPr/>
                        <a:lstStyle/>
                        <a:p>
                          <a:r>
                            <a:rPr lang="en-US" dirty="0"/>
                            <a:t>Total</a:t>
                          </a:r>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11</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36</m:t>
                                    </m:r>
                                  </m:den>
                                </m:f>
                              </m:oMath>
                            </m:oMathPara>
                          </a14:m>
                          <a:endParaRPr lang="en-US" dirty="0"/>
                        </a:p>
                      </a:txBody>
                      <a:tcPr/>
                    </a:tc>
                    <a:tc>
                      <a:txBody>
                        <a:bodyPr/>
                        <a:lstStyle/>
                        <a:p>
                          <a:pPr algn="ct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7</m:t>
                                    </m:r>
                                  </m:num>
                                  <m:den>
                                    <m:r>
                                      <a:rPr lang="en-US"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type m:val="skw"/>
                                    <m:ctrlPr>
                                      <a:rPr lang="en-US" i="1" smtClean="0">
                                        <a:latin typeface="Cambria Math" panose="02040503050406030204" pitchFamily="18" charset="0"/>
                                      </a:rPr>
                                    </m:ctrlPr>
                                  </m:fPr>
                                  <m:num>
                                    <m:r>
                                      <a:rPr lang="en-US" b="0" i="1" smtClean="0">
                                        <a:latin typeface="Cambria Math" panose="02040503050406030204" pitchFamily="18" charset="0"/>
                                      </a:rPr>
                                      <m:t>9</m:t>
                                    </m:r>
                                  </m:num>
                                  <m:den>
                                    <m:r>
                                      <a:rPr lang="en-US" b="0" i="1" smtClean="0">
                                        <a:latin typeface="Cambria Math" panose="02040503050406030204" pitchFamily="18" charset="0"/>
                                      </a:rPr>
                                      <m:t>36</m:t>
                                    </m:r>
                                  </m:den>
                                </m:f>
                              </m:oMath>
                            </m:oMathPara>
                          </a14:m>
                          <a:endParaRPr lang="en-US" dirty="0"/>
                        </a:p>
                      </a:txBody>
                      <a:tcPr/>
                    </a:tc>
                    <a:tc>
                      <a:txBody>
                        <a:bodyPr/>
                        <a:lstStyle/>
                        <a:p>
                          <a:r>
                            <a:rPr lang="en-US" dirty="0"/>
                            <a:t>1</a:t>
                          </a:r>
                        </a:p>
                      </a:txBody>
                      <a:tcPr/>
                    </a:tc>
                    <a:extLst>
                      <a:ext uri="{0D108BD9-81ED-4DB2-BD59-A6C34878D82A}">
                        <a16:rowId xmlns:a16="http://schemas.microsoft.com/office/drawing/2014/main" val="10005"/>
                      </a:ext>
                    </a:extLst>
                  </a:tr>
                </a:tbl>
              </a:graphicData>
            </a:graphic>
          </p:graphicFrame>
        </mc:Choice>
        <mc:Fallback xmlns="">
          <p:graphicFrame>
            <p:nvGraphicFramePr>
              <p:cNvPr id="5" name="Table 4"/>
              <p:cNvGraphicFramePr>
                <a:graphicFrameLocks noGrp="1"/>
              </p:cNvGraphicFramePr>
              <p:nvPr>
                <p:extLst>
                  <p:ext uri="{D42A27DB-BD31-4B8C-83A1-F6EECF244321}">
                    <p14:modId xmlns:p14="http://schemas.microsoft.com/office/powerpoint/2010/main" val="2521686509"/>
                  </p:ext>
                </p:extLst>
              </p:nvPr>
            </p:nvGraphicFramePr>
            <p:xfrm>
              <a:off x="2667000" y="1600200"/>
              <a:ext cx="4495800" cy="2909636"/>
            </p:xfrm>
            <a:graphic>
              <a:graphicData uri="http://schemas.openxmlformats.org/drawingml/2006/table">
                <a:tbl>
                  <a:tblPr firstRow="1" bandRow="1">
                    <a:tableStyleId>{5C22544A-7EE6-4342-B048-85BDC9FD1C3A}</a:tableStyleId>
                  </a:tblPr>
                  <a:tblGrid>
                    <a:gridCol w="749300">
                      <a:extLst>
                        <a:ext uri="{9D8B030D-6E8A-4147-A177-3AD203B41FA5}">
                          <a16:colId xmlns:a16="http://schemas.microsoft.com/office/drawing/2014/main" val="20000"/>
                        </a:ext>
                      </a:extLst>
                    </a:gridCol>
                    <a:gridCol w="749300">
                      <a:extLst>
                        <a:ext uri="{9D8B030D-6E8A-4147-A177-3AD203B41FA5}">
                          <a16:colId xmlns:a16="http://schemas.microsoft.com/office/drawing/2014/main" val="20001"/>
                        </a:ext>
                      </a:extLst>
                    </a:gridCol>
                    <a:gridCol w="749300">
                      <a:extLst>
                        <a:ext uri="{9D8B030D-6E8A-4147-A177-3AD203B41FA5}">
                          <a16:colId xmlns:a16="http://schemas.microsoft.com/office/drawing/2014/main" val="20002"/>
                        </a:ext>
                      </a:extLst>
                    </a:gridCol>
                    <a:gridCol w="749300">
                      <a:extLst>
                        <a:ext uri="{9D8B030D-6E8A-4147-A177-3AD203B41FA5}">
                          <a16:colId xmlns:a16="http://schemas.microsoft.com/office/drawing/2014/main" val="20003"/>
                        </a:ext>
                      </a:extLst>
                    </a:gridCol>
                    <a:gridCol w="749300">
                      <a:extLst>
                        <a:ext uri="{9D8B030D-6E8A-4147-A177-3AD203B41FA5}">
                          <a16:colId xmlns:a16="http://schemas.microsoft.com/office/drawing/2014/main" val="20004"/>
                        </a:ext>
                      </a:extLst>
                    </a:gridCol>
                    <a:gridCol w="749300">
                      <a:extLst>
                        <a:ext uri="{9D8B030D-6E8A-4147-A177-3AD203B41FA5}">
                          <a16:colId xmlns:a16="http://schemas.microsoft.com/office/drawing/2014/main" val="20005"/>
                        </a:ext>
                      </a:extLst>
                    </a:gridCol>
                  </a:tblGrid>
                  <a:tr h="640080">
                    <a:tc>
                      <a:txBody>
                        <a:bodyPr/>
                        <a:lstStyle/>
                        <a:p>
                          <a:endParaRPr lang="en-US"/>
                        </a:p>
                      </a:txBody>
                      <a:tcPr>
                        <a:blipFill>
                          <a:blip r:embed="rId3"/>
                          <a:stretch>
                            <a:fillRect l="-813" t="-4762" r="-504065" b="-487619"/>
                          </a:stretch>
                        </a:blipFill>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tc>
                      <a:txBody>
                        <a:bodyPr/>
                        <a:lstStyle/>
                        <a:p>
                          <a:pPr algn="ctr"/>
                          <a:r>
                            <a:rPr lang="en-US" dirty="0"/>
                            <a:t>Total</a:t>
                          </a:r>
                        </a:p>
                      </a:txBody>
                      <a:tcPr/>
                    </a:tc>
                    <a:extLst>
                      <a:ext uri="{0D108BD9-81ED-4DB2-BD59-A6C34878D82A}">
                        <a16:rowId xmlns:a16="http://schemas.microsoft.com/office/drawing/2014/main" val="10000"/>
                      </a:ext>
                    </a:extLst>
                  </a:tr>
                  <a:tr h="451676">
                    <a:tc>
                      <a:txBody>
                        <a:bodyPr/>
                        <a:lstStyle/>
                        <a:p>
                          <a:pPr algn="ctr"/>
                          <a:r>
                            <a:rPr lang="en-US" dirty="0"/>
                            <a:t>1</a:t>
                          </a:r>
                        </a:p>
                      </a:txBody>
                      <a:tcPr/>
                    </a:tc>
                    <a:tc>
                      <a:txBody>
                        <a:bodyPr/>
                        <a:lstStyle/>
                        <a:p>
                          <a:endParaRPr lang="en-US"/>
                        </a:p>
                      </a:txBody>
                      <a:tcPr>
                        <a:blipFill>
                          <a:blip r:embed="rId3"/>
                          <a:stretch>
                            <a:fillRect l="-100813" t="-148649" r="-404065" b="-591892"/>
                          </a:stretch>
                        </a:blipFill>
                      </a:tcPr>
                    </a:tc>
                    <a:tc>
                      <a:txBody>
                        <a:bodyPr/>
                        <a:lstStyle/>
                        <a:p>
                          <a:endParaRPr lang="en-US"/>
                        </a:p>
                      </a:txBody>
                      <a:tcPr>
                        <a:blipFill>
                          <a:blip r:embed="rId3"/>
                          <a:stretch>
                            <a:fillRect l="-200813" t="-148649" r="-304065" b="-591892"/>
                          </a:stretch>
                        </a:blipFill>
                      </a:tcPr>
                    </a:tc>
                    <a:tc>
                      <a:txBody>
                        <a:bodyPr/>
                        <a:lstStyle/>
                        <a:p>
                          <a:endParaRPr lang="en-US"/>
                        </a:p>
                      </a:txBody>
                      <a:tcPr>
                        <a:blipFill>
                          <a:blip r:embed="rId3"/>
                          <a:stretch>
                            <a:fillRect l="-300813" t="-148649" r="-204065" b="-591892"/>
                          </a:stretch>
                        </a:blipFill>
                      </a:tcPr>
                    </a:tc>
                    <a:tc>
                      <a:txBody>
                        <a:bodyPr/>
                        <a:lstStyle/>
                        <a:p>
                          <a:endParaRPr lang="en-US"/>
                        </a:p>
                      </a:txBody>
                      <a:tcPr>
                        <a:blipFill>
                          <a:blip r:embed="rId3"/>
                          <a:stretch>
                            <a:fillRect l="-400813" t="-148649" r="-104065" b="-591892"/>
                          </a:stretch>
                        </a:blipFill>
                      </a:tcPr>
                    </a:tc>
                    <a:tc>
                      <a:txBody>
                        <a:bodyPr/>
                        <a:lstStyle/>
                        <a:p>
                          <a:endParaRPr lang="en-US"/>
                        </a:p>
                      </a:txBody>
                      <a:tcPr>
                        <a:blipFill>
                          <a:blip r:embed="rId3"/>
                          <a:stretch>
                            <a:fillRect l="-500813" t="-148649" r="-4065" b="-591892"/>
                          </a:stretch>
                        </a:blipFill>
                      </a:tcPr>
                    </a:tc>
                    <a:extLst>
                      <a:ext uri="{0D108BD9-81ED-4DB2-BD59-A6C34878D82A}">
                        <a16:rowId xmlns:a16="http://schemas.microsoft.com/office/drawing/2014/main" val="10001"/>
                      </a:ext>
                    </a:extLst>
                  </a:tr>
                  <a:tr h="451676">
                    <a:tc>
                      <a:txBody>
                        <a:bodyPr/>
                        <a:lstStyle/>
                        <a:p>
                          <a:pPr algn="ctr"/>
                          <a:r>
                            <a:rPr lang="en-US" dirty="0"/>
                            <a:t>2</a:t>
                          </a:r>
                        </a:p>
                      </a:txBody>
                      <a:tcPr/>
                    </a:tc>
                    <a:tc>
                      <a:txBody>
                        <a:bodyPr/>
                        <a:lstStyle/>
                        <a:p>
                          <a:endParaRPr lang="en-US"/>
                        </a:p>
                      </a:txBody>
                      <a:tcPr>
                        <a:blipFill>
                          <a:blip r:embed="rId3"/>
                          <a:stretch>
                            <a:fillRect l="-100813" t="-245333" r="-404065" b="-484000"/>
                          </a:stretch>
                        </a:blipFill>
                      </a:tcPr>
                    </a:tc>
                    <a:tc>
                      <a:txBody>
                        <a:bodyPr/>
                        <a:lstStyle/>
                        <a:p>
                          <a:endParaRPr lang="en-US"/>
                        </a:p>
                      </a:txBody>
                      <a:tcPr>
                        <a:blipFill>
                          <a:blip r:embed="rId3"/>
                          <a:stretch>
                            <a:fillRect l="-200813" t="-245333" r="-304065" b="-484000"/>
                          </a:stretch>
                        </a:blipFill>
                      </a:tcPr>
                    </a:tc>
                    <a:tc>
                      <a:txBody>
                        <a:bodyPr/>
                        <a:lstStyle/>
                        <a:p>
                          <a:endParaRPr lang="en-US"/>
                        </a:p>
                      </a:txBody>
                      <a:tcPr>
                        <a:blipFill>
                          <a:blip r:embed="rId3"/>
                          <a:stretch>
                            <a:fillRect l="-300813" t="-245333" r="-204065" b="-484000"/>
                          </a:stretch>
                        </a:blipFill>
                      </a:tcPr>
                    </a:tc>
                    <a:tc>
                      <a:txBody>
                        <a:bodyPr/>
                        <a:lstStyle/>
                        <a:p>
                          <a:endParaRPr lang="en-US"/>
                        </a:p>
                      </a:txBody>
                      <a:tcPr>
                        <a:blipFill>
                          <a:blip r:embed="rId3"/>
                          <a:stretch>
                            <a:fillRect l="-400813" t="-245333" r="-104065" b="-484000"/>
                          </a:stretch>
                        </a:blipFill>
                      </a:tcPr>
                    </a:tc>
                    <a:tc>
                      <a:txBody>
                        <a:bodyPr/>
                        <a:lstStyle/>
                        <a:p>
                          <a:endParaRPr lang="en-US"/>
                        </a:p>
                      </a:txBody>
                      <a:tcPr>
                        <a:blipFill>
                          <a:blip r:embed="rId3"/>
                          <a:stretch>
                            <a:fillRect l="-500813" t="-245333" r="-4065" b="-484000"/>
                          </a:stretch>
                        </a:blipFill>
                      </a:tcPr>
                    </a:tc>
                    <a:extLst>
                      <a:ext uri="{0D108BD9-81ED-4DB2-BD59-A6C34878D82A}">
                        <a16:rowId xmlns:a16="http://schemas.microsoft.com/office/drawing/2014/main" val="10002"/>
                      </a:ext>
                    </a:extLst>
                  </a:tr>
                  <a:tr h="457264">
                    <a:tc>
                      <a:txBody>
                        <a:bodyPr/>
                        <a:lstStyle/>
                        <a:p>
                          <a:pPr algn="ctr"/>
                          <a:r>
                            <a:rPr lang="en-US" dirty="0"/>
                            <a:t>3</a:t>
                          </a:r>
                        </a:p>
                      </a:txBody>
                      <a:tcPr/>
                    </a:tc>
                    <a:tc>
                      <a:txBody>
                        <a:bodyPr/>
                        <a:lstStyle/>
                        <a:p>
                          <a:endParaRPr lang="en-US"/>
                        </a:p>
                      </a:txBody>
                      <a:tcPr>
                        <a:blipFill>
                          <a:blip r:embed="rId3"/>
                          <a:stretch>
                            <a:fillRect l="-100813" t="-345333" r="-404065" b="-384000"/>
                          </a:stretch>
                        </a:blipFill>
                      </a:tcPr>
                    </a:tc>
                    <a:tc>
                      <a:txBody>
                        <a:bodyPr/>
                        <a:lstStyle/>
                        <a:p>
                          <a:endParaRPr lang="en-US"/>
                        </a:p>
                      </a:txBody>
                      <a:tcPr>
                        <a:blipFill>
                          <a:blip r:embed="rId3"/>
                          <a:stretch>
                            <a:fillRect l="-200813" t="-345333" r="-304065" b="-384000"/>
                          </a:stretch>
                        </a:blipFill>
                      </a:tcPr>
                    </a:tc>
                    <a:tc>
                      <a:txBody>
                        <a:bodyPr/>
                        <a:lstStyle/>
                        <a:p>
                          <a:endParaRPr lang="en-US"/>
                        </a:p>
                      </a:txBody>
                      <a:tcPr>
                        <a:blipFill>
                          <a:blip r:embed="rId3"/>
                          <a:stretch>
                            <a:fillRect l="-300813" t="-345333" r="-204065" b="-384000"/>
                          </a:stretch>
                        </a:blipFill>
                      </a:tcPr>
                    </a:tc>
                    <a:tc>
                      <a:txBody>
                        <a:bodyPr/>
                        <a:lstStyle/>
                        <a:p>
                          <a:endParaRPr lang="en-US"/>
                        </a:p>
                      </a:txBody>
                      <a:tcPr>
                        <a:blipFill>
                          <a:blip r:embed="rId3"/>
                          <a:stretch>
                            <a:fillRect l="-400813" t="-345333" r="-104065" b="-384000"/>
                          </a:stretch>
                        </a:blipFill>
                      </a:tcPr>
                    </a:tc>
                    <a:tc>
                      <a:txBody>
                        <a:bodyPr/>
                        <a:lstStyle/>
                        <a:p>
                          <a:endParaRPr lang="en-US"/>
                        </a:p>
                      </a:txBody>
                      <a:tcPr>
                        <a:blipFill>
                          <a:blip r:embed="rId3"/>
                          <a:stretch>
                            <a:fillRect l="-500813" t="-345333" r="-4065" b="-384000"/>
                          </a:stretch>
                        </a:blipFill>
                      </a:tcPr>
                    </a:tc>
                    <a:extLst>
                      <a:ext uri="{0D108BD9-81ED-4DB2-BD59-A6C34878D82A}">
                        <a16:rowId xmlns:a16="http://schemas.microsoft.com/office/drawing/2014/main" val="10003"/>
                      </a:ext>
                    </a:extLst>
                  </a:tr>
                  <a:tr h="457264">
                    <a:tc>
                      <a:txBody>
                        <a:bodyPr/>
                        <a:lstStyle/>
                        <a:p>
                          <a:pPr algn="ctr"/>
                          <a:r>
                            <a:rPr lang="en-US" dirty="0"/>
                            <a:t>4</a:t>
                          </a:r>
                        </a:p>
                      </a:txBody>
                      <a:tcPr/>
                    </a:tc>
                    <a:tc>
                      <a:txBody>
                        <a:bodyPr/>
                        <a:lstStyle/>
                        <a:p>
                          <a:endParaRPr lang="en-US"/>
                        </a:p>
                      </a:txBody>
                      <a:tcPr>
                        <a:blipFill>
                          <a:blip r:embed="rId3"/>
                          <a:stretch>
                            <a:fillRect l="-100813" t="-445333" r="-404065" b="-284000"/>
                          </a:stretch>
                        </a:blipFill>
                      </a:tcPr>
                    </a:tc>
                    <a:tc>
                      <a:txBody>
                        <a:bodyPr/>
                        <a:lstStyle/>
                        <a:p>
                          <a:endParaRPr lang="en-US"/>
                        </a:p>
                      </a:txBody>
                      <a:tcPr>
                        <a:blipFill>
                          <a:blip r:embed="rId3"/>
                          <a:stretch>
                            <a:fillRect l="-200813" t="-445333" r="-304065" b="-284000"/>
                          </a:stretch>
                        </a:blipFill>
                      </a:tcPr>
                    </a:tc>
                    <a:tc>
                      <a:txBody>
                        <a:bodyPr/>
                        <a:lstStyle/>
                        <a:p>
                          <a:endParaRPr lang="en-US"/>
                        </a:p>
                      </a:txBody>
                      <a:tcPr>
                        <a:blipFill>
                          <a:blip r:embed="rId3"/>
                          <a:stretch>
                            <a:fillRect l="-300813" t="-445333" r="-204065" b="-284000"/>
                          </a:stretch>
                        </a:blipFill>
                      </a:tcPr>
                    </a:tc>
                    <a:tc>
                      <a:txBody>
                        <a:bodyPr/>
                        <a:lstStyle/>
                        <a:p>
                          <a:endParaRPr lang="en-US"/>
                        </a:p>
                      </a:txBody>
                      <a:tcPr>
                        <a:blipFill>
                          <a:blip r:embed="rId3"/>
                          <a:stretch>
                            <a:fillRect l="-400813" t="-445333" r="-104065" b="-284000"/>
                          </a:stretch>
                        </a:blipFill>
                      </a:tcPr>
                    </a:tc>
                    <a:tc>
                      <a:txBody>
                        <a:bodyPr/>
                        <a:lstStyle/>
                        <a:p>
                          <a:endParaRPr lang="en-US"/>
                        </a:p>
                      </a:txBody>
                      <a:tcPr>
                        <a:blipFill>
                          <a:blip r:embed="rId3"/>
                          <a:stretch>
                            <a:fillRect l="-500813" t="-445333" r="-4065" b="-284000"/>
                          </a:stretch>
                        </a:blipFill>
                      </a:tcPr>
                    </a:tc>
                    <a:extLst>
                      <a:ext uri="{0D108BD9-81ED-4DB2-BD59-A6C34878D82A}">
                        <a16:rowId xmlns:a16="http://schemas.microsoft.com/office/drawing/2014/main" val="10004"/>
                      </a:ext>
                    </a:extLst>
                  </a:tr>
                  <a:tr h="451676">
                    <a:tc>
                      <a:txBody>
                        <a:bodyPr/>
                        <a:lstStyle/>
                        <a:p>
                          <a:r>
                            <a:rPr lang="en-US" dirty="0"/>
                            <a:t>Total</a:t>
                          </a:r>
                        </a:p>
                      </a:txBody>
                      <a:tcPr/>
                    </a:tc>
                    <a:tc>
                      <a:txBody>
                        <a:bodyPr/>
                        <a:lstStyle/>
                        <a:p>
                          <a:endParaRPr lang="en-US"/>
                        </a:p>
                      </a:txBody>
                      <a:tcPr>
                        <a:blipFill>
                          <a:blip r:embed="rId3"/>
                          <a:stretch>
                            <a:fillRect l="-100813" t="-552703" r="-404065" b="-187838"/>
                          </a:stretch>
                        </a:blipFill>
                      </a:tcPr>
                    </a:tc>
                    <a:tc>
                      <a:txBody>
                        <a:bodyPr/>
                        <a:lstStyle/>
                        <a:p>
                          <a:endParaRPr lang="en-US"/>
                        </a:p>
                      </a:txBody>
                      <a:tcPr>
                        <a:blipFill>
                          <a:blip r:embed="rId3"/>
                          <a:stretch>
                            <a:fillRect l="-200813" t="-552703" r="-304065" b="-187838"/>
                          </a:stretch>
                        </a:blipFill>
                      </a:tcPr>
                    </a:tc>
                    <a:tc>
                      <a:txBody>
                        <a:bodyPr/>
                        <a:lstStyle/>
                        <a:p>
                          <a:endParaRPr lang="en-US"/>
                        </a:p>
                      </a:txBody>
                      <a:tcPr>
                        <a:blipFill>
                          <a:blip r:embed="rId3"/>
                          <a:stretch>
                            <a:fillRect l="-300813" t="-552703" r="-204065" b="-187838"/>
                          </a:stretch>
                        </a:blipFill>
                      </a:tcPr>
                    </a:tc>
                    <a:tc>
                      <a:txBody>
                        <a:bodyPr/>
                        <a:lstStyle/>
                        <a:p>
                          <a:endParaRPr lang="en-US"/>
                        </a:p>
                      </a:txBody>
                      <a:tcPr>
                        <a:blipFill>
                          <a:blip r:embed="rId3"/>
                          <a:stretch>
                            <a:fillRect l="-400813" t="-552703" r="-104065" b="-187838"/>
                          </a:stretch>
                        </a:blipFill>
                      </a:tcPr>
                    </a:tc>
                    <a:tc>
                      <a:txBody>
                        <a:bodyPr/>
                        <a:lstStyle/>
                        <a:p>
                          <a:r>
                            <a:rPr lang="en-US" dirty="0"/>
                            <a:t>1</a:t>
                          </a:r>
                        </a:p>
                      </a:txBody>
                      <a:tcPr/>
                    </a:tc>
                    <a:extLst>
                      <a:ext uri="{0D108BD9-81ED-4DB2-BD59-A6C34878D82A}">
                        <a16:rowId xmlns:a16="http://schemas.microsoft.com/office/drawing/2014/main" val="10005"/>
                      </a:ext>
                    </a:extLst>
                  </a:tr>
                </a:tbl>
              </a:graphicData>
            </a:graphic>
          </p:graphicFrame>
        </mc:Fallback>
      </mc:AlternateContent>
      <p:sp>
        <p:nvSpPr>
          <p:cNvPr id="8" name="Footer Placeholder 7"/>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016002130"/>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9" end="9"/>
                                            </p:txEl>
                                          </p:spTgt>
                                        </p:tgtEl>
                                        <p:attrNameLst>
                                          <p:attrName>style.visibility</p:attrName>
                                        </p:attrNameLst>
                                      </p:cBhvr>
                                      <p:to>
                                        <p:strVal val="visible"/>
                                      </p:to>
                                    </p:set>
                                    <p:animEffect transition="in" filter="fade">
                                      <p:cBhvr>
                                        <p:cTn id="21" dur="1000"/>
                                        <p:tgtEl>
                                          <p:spTgt spid="3">
                                            <p:txEl>
                                              <p:pRg st="9" end="9"/>
                                            </p:txEl>
                                          </p:spTgt>
                                        </p:tgtEl>
                                      </p:cBhvr>
                                    </p:animEffect>
                                    <p:anim calcmode="lin" valueType="num">
                                      <p:cBhvr>
                                        <p:cTn id="22"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10" end="10"/>
                                            </p:txEl>
                                          </p:spTgt>
                                        </p:tgtEl>
                                        <p:attrNameLst>
                                          <p:attrName>style.visibility</p:attrName>
                                        </p:attrNameLst>
                                      </p:cBhvr>
                                      <p:to>
                                        <p:strVal val="visible"/>
                                      </p:to>
                                    </p:set>
                                    <p:animEffect transition="in" filter="fade">
                                      <p:cBhvr>
                                        <p:cTn id="28" dur="1000"/>
                                        <p:tgtEl>
                                          <p:spTgt spid="3">
                                            <p:txEl>
                                              <p:pRg st="10" end="10"/>
                                            </p:txEl>
                                          </p:spTgt>
                                        </p:tgtEl>
                                      </p:cBhvr>
                                    </p:animEffect>
                                    <p:anim calcmode="lin" valueType="num">
                                      <p:cBhvr>
                                        <p:cTn id="29"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11" end="11"/>
                                            </p:txEl>
                                          </p:spTgt>
                                        </p:tgtEl>
                                        <p:attrNameLst>
                                          <p:attrName>style.visibility</p:attrName>
                                        </p:attrNameLst>
                                      </p:cBhvr>
                                      <p:to>
                                        <p:strVal val="visible"/>
                                      </p:to>
                                    </p:set>
                                    <p:animEffect transition="in" filter="fade">
                                      <p:cBhvr>
                                        <p:cTn id="35" dur="1000"/>
                                        <p:tgtEl>
                                          <p:spTgt spid="3">
                                            <p:txEl>
                                              <p:pRg st="11" end="11"/>
                                            </p:txEl>
                                          </p:spTgt>
                                        </p:tgtEl>
                                      </p:cBhvr>
                                    </p:animEffect>
                                    <p:anim calcmode="lin" valueType="num">
                                      <p:cBhvr>
                                        <p:cTn id="36" dur="1000" fill="hold"/>
                                        <p:tgtEl>
                                          <p:spTgt spid="3">
                                            <p:txEl>
                                              <p:pRg st="11" end="11"/>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11" end="11"/>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12" end="12"/>
                                            </p:txEl>
                                          </p:spTgt>
                                        </p:tgtEl>
                                        <p:attrNameLst>
                                          <p:attrName>style.visibility</p:attrName>
                                        </p:attrNameLst>
                                      </p:cBhvr>
                                      <p:to>
                                        <p:strVal val="visible"/>
                                      </p:to>
                                    </p:set>
                                    <p:animEffect transition="in" filter="fade">
                                      <p:cBhvr>
                                        <p:cTn id="42" dur="1000"/>
                                        <p:tgtEl>
                                          <p:spTgt spid="3">
                                            <p:txEl>
                                              <p:pRg st="12" end="12"/>
                                            </p:txEl>
                                          </p:spTgt>
                                        </p:tgtEl>
                                      </p:cBhvr>
                                    </p:animEffect>
                                    <p:anim calcmode="lin" valueType="num">
                                      <p:cBhvr>
                                        <p:cTn id="43" dur="1000" fill="hold"/>
                                        <p:tgtEl>
                                          <p:spTgt spid="3">
                                            <p:txEl>
                                              <p:pRg st="12" end="12"/>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12" end="12"/>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800600"/>
              </a:xfrm>
            </p:spPr>
            <p:txBody>
              <a:bodyPr>
                <a:noAutofit/>
              </a:bodyPr>
              <a:lstStyle/>
              <a:p>
                <a:pPr marL="0" indent="0" algn="just">
                  <a:buNone/>
                </a:pPr>
                <a:r>
                  <a:rPr lang="en-US" sz="2000" dirty="0"/>
                  <a:t> Now,  </a:t>
                </a:r>
              </a:p>
              <a:p>
                <a:pPr marL="0" indent="0" algn="just">
                  <a:buNone/>
                </a:pPr>
                <a14:m>
                  <m:oMathPara xmlns:m="http://schemas.openxmlformats.org/officeDocument/2006/math">
                    <m:oMathParaPr>
                      <m:jc m:val="left"/>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1</m:t>
                          </m:r>
                        </m:e>
                      </m:d>
                      <m:r>
                        <a:rPr lang="en-US" sz="2000" i="1">
                          <a:latin typeface="Cambria Math" panose="02040503050406030204" pitchFamily="18" charset="0"/>
                        </a:rPr>
                        <m:t>=</m:t>
                      </m:r>
                      <m:nary>
                        <m:naryPr>
                          <m:chr m:val="∑"/>
                          <m:supHide m:val="on"/>
                          <m:ctrlPr>
                            <a:rPr lang="en-US" sz="2000" i="1">
                              <a:latin typeface="Cambria Math" panose="02040503050406030204" pitchFamily="18" charset="0"/>
                            </a:rPr>
                          </m:ctrlPr>
                        </m:naryPr>
                        <m:sub>
                          <m:r>
                            <m:rPr>
                              <m:brk m:alnAt="7"/>
                            </m:rPr>
                            <a:rPr lang="en-US" sz="2000" i="1">
                              <a:latin typeface="Cambria Math" panose="02040503050406030204" pitchFamily="18" charset="0"/>
                            </a:rPr>
                            <m:t>𝑦</m:t>
                          </m:r>
                        </m:sub>
                        <m:sup/>
                        <m:e>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rPr>
                            <m:t>=1, </m:t>
                          </m:r>
                          <m:r>
                            <a:rPr lang="en-US" sz="2000" i="1">
                              <a:latin typeface="Cambria Math" panose="02040503050406030204" pitchFamily="18" charset="0"/>
                            </a:rPr>
                            <m:t>𝑌</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nary>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r>
                            <a:rPr lang="en-US" sz="2000" i="1">
                              <a:latin typeface="Cambria Math" panose="02040503050406030204" pitchFamily="18" charset="0"/>
                            </a:rPr>
                            <m:t>𝑌</m:t>
                          </m:r>
                          <m:r>
                            <a:rPr lang="en-US" sz="2000" i="1">
                              <a:latin typeface="Cambria Math" panose="02040503050406030204" pitchFamily="18" charset="0"/>
                            </a:rPr>
                            <m:t>=1</m:t>
                          </m:r>
                        </m:e>
                      </m:d>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r>
                            <a:rPr lang="en-US" sz="2000" i="1">
                              <a:latin typeface="Cambria Math" panose="02040503050406030204" pitchFamily="18" charset="0"/>
                            </a:rPr>
                            <m:t>𝑌</m:t>
                          </m:r>
                          <m:r>
                            <a:rPr lang="en-US" sz="2000" i="1">
                              <a:latin typeface="Cambria Math" panose="02040503050406030204" pitchFamily="18" charset="0"/>
                            </a:rPr>
                            <m:t>=2</m:t>
                          </m:r>
                        </m:e>
                      </m:d>
                    </m:oMath>
                  </m:oMathPara>
                </a14:m>
                <a:endParaRPr lang="en-US" sz="2000" dirty="0"/>
              </a:p>
              <a:p>
                <a:pPr marL="0" indent="0" algn="just">
                  <a:buNone/>
                </a:pPr>
                <a:r>
                  <a:rPr lang="en-US" sz="2000" dirty="0"/>
                  <a:t>                                                                </a:t>
                </a:r>
                <a14:m>
                  <m:oMath xmlns:m="http://schemas.openxmlformats.org/officeDocument/2006/math">
                    <m:r>
                      <a:rPr lang="en-US" sz="2000" i="1">
                        <a:latin typeface="Cambria Math" panose="02040503050406030204" pitchFamily="18" charset="0"/>
                      </a:rPr>
                      <m:t>+</m:t>
                    </m:r>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𝑋</m:t>
                        </m:r>
                        <m:r>
                          <a:rPr lang="en-US" sz="2000" i="1">
                            <a:latin typeface="Cambria Math" panose="02040503050406030204" pitchFamily="18" charset="0"/>
                          </a:rPr>
                          <m:t>=1,</m:t>
                        </m:r>
                        <m:r>
                          <a:rPr lang="en-US" sz="2000" i="1">
                            <a:latin typeface="Cambria Math" panose="02040503050406030204" pitchFamily="18" charset="0"/>
                          </a:rPr>
                          <m:t>𝑌</m:t>
                        </m:r>
                        <m:r>
                          <a:rPr lang="en-US" sz="2000" i="1">
                            <a:latin typeface="Cambria Math" panose="02040503050406030204" pitchFamily="18" charset="0"/>
                          </a:rPr>
                          <m:t>=3</m:t>
                        </m:r>
                      </m:e>
                    </m:d>
                    <m:r>
                      <a:rPr lang="en-US" sz="2000" i="1">
                        <a:latin typeface="Cambria Math" panose="02040503050406030204" pitchFamily="18" charset="0"/>
                      </a:rPr>
                      <m:t>+</m:t>
                    </m:r>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rPr>
                      <m:t>=1,</m:t>
                    </m:r>
                    <m:r>
                      <a:rPr lang="en-US" sz="2000" i="1">
                        <a:latin typeface="Cambria Math" panose="02040503050406030204" pitchFamily="18" charset="0"/>
                      </a:rPr>
                      <m:t>𝑌</m:t>
                    </m:r>
                    <m:r>
                      <a:rPr lang="en-US" sz="2000" i="1">
                        <a:latin typeface="Cambria Math" panose="02040503050406030204" pitchFamily="18" charset="0"/>
                      </a:rPr>
                      <m:t>=4)</m:t>
                    </m:r>
                  </m:oMath>
                </a14:m>
                <a:endParaRPr lang="en-US" sz="2000" dirty="0"/>
              </a:p>
              <a:p>
                <a:pPr marL="0" lvl="0" indent="0" algn="just">
                  <a:buNone/>
                </a:pPr>
                <a14:m>
                  <m:oMath xmlns:m="http://schemas.openxmlformats.org/officeDocument/2006/math">
                    <m:r>
                      <a:rPr lang="en-US" sz="2000" b="1" i="1" smtClean="0">
                        <a:latin typeface="Cambria Math" panose="02040503050406030204" pitchFamily="18" charset="0"/>
                        <a:ea typeface="Cambria Math" panose="02040503050406030204" pitchFamily="18" charset="0"/>
                      </a:rPr>
                      <m:t>⟹</m:t>
                    </m:r>
                    <m:r>
                      <m:rPr>
                        <m:sty m:val="p"/>
                      </m:rPr>
                      <a:rPr lang="en-US" sz="2000" b="0" i="0" smtClean="0">
                        <a:latin typeface="Cambria Math" panose="02040503050406030204" pitchFamily="18" charset="0"/>
                        <a:ea typeface="Cambria Math" panose="02040503050406030204" pitchFamily="18" charset="0"/>
                      </a:rPr>
                      <m:t>P</m:t>
                    </m:r>
                    <m:d>
                      <m:dPr>
                        <m:ctrlPr>
                          <a:rPr lang="en-US" sz="2000" b="0" i="1" smtClean="0">
                            <a:latin typeface="Cambria Math" panose="02040503050406030204" pitchFamily="18" charset="0"/>
                            <a:ea typeface="Cambria Math" panose="02040503050406030204" pitchFamily="18" charset="0"/>
                          </a:rPr>
                        </m:ctrlPr>
                      </m:dPr>
                      <m:e>
                        <m:r>
                          <a:rPr lang="en-US" sz="2000" b="0" i="0" smtClean="0">
                            <a:latin typeface="Cambria Math" panose="02040503050406030204" pitchFamily="18" charset="0"/>
                            <a:ea typeface="Cambria Math" panose="02040503050406030204" pitchFamily="18" charset="0"/>
                          </a:rPr>
                          <m:t>1</m:t>
                        </m:r>
                      </m:e>
                    </m:d>
                    <m:r>
                      <a:rPr lang="en-US" sz="2000" b="0" i="0"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4</m:t>
                        </m:r>
                      </m:num>
                      <m:den>
                        <m:r>
                          <a:rPr lang="en-US" sz="2000" b="0" i="1" smtClean="0">
                            <a:latin typeface="Cambria Math" panose="02040503050406030204" pitchFamily="18" charset="0"/>
                            <a:ea typeface="Cambria Math" panose="02040503050406030204" pitchFamily="18" charset="0"/>
                          </a:rPr>
                          <m:t>36</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3</m:t>
                        </m:r>
                      </m:num>
                      <m:den>
                        <m:r>
                          <a:rPr lang="en-US" sz="2000" b="0" i="1" smtClean="0">
                            <a:latin typeface="Cambria Math" panose="02040503050406030204" pitchFamily="18" charset="0"/>
                            <a:ea typeface="Cambria Math" panose="02040503050406030204" pitchFamily="18" charset="0"/>
                          </a:rPr>
                          <m:t>36</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2</m:t>
                        </m:r>
                      </m:num>
                      <m:den>
                        <m:r>
                          <a:rPr lang="en-US" sz="2000" b="0" i="1" smtClean="0">
                            <a:latin typeface="Cambria Math" panose="02040503050406030204" pitchFamily="18" charset="0"/>
                            <a:ea typeface="Cambria Math" panose="02040503050406030204" pitchFamily="18" charset="0"/>
                          </a:rPr>
                          <m:t>36</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m:t>
                        </m:r>
                      </m:num>
                      <m:den>
                        <m:r>
                          <a:rPr lang="en-US" sz="2000" b="0" i="1" smtClean="0">
                            <a:latin typeface="Cambria Math" panose="02040503050406030204" pitchFamily="18" charset="0"/>
                            <a:ea typeface="Cambria Math" panose="02040503050406030204" pitchFamily="18" charset="0"/>
                          </a:rPr>
                          <m:t>36</m:t>
                        </m:r>
                      </m:den>
                    </m:f>
                    <m:r>
                      <a:rPr lang="en-US" sz="2000" b="0" i="1" smtClean="0">
                        <a:latin typeface="Cambria Math" panose="02040503050406030204" pitchFamily="18" charset="0"/>
                        <a:ea typeface="Cambria Math" panose="02040503050406030204" pitchFamily="18" charset="0"/>
                      </a:rPr>
                      <m:t>=</m:t>
                    </m:r>
                    <m:f>
                      <m:fPr>
                        <m:ctrlPr>
                          <a:rPr lang="en-US" sz="2000" b="0" i="1" smtClean="0">
                            <a:latin typeface="Cambria Math" panose="02040503050406030204" pitchFamily="18" charset="0"/>
                            <a:ea typeface="Cambria Math" panose="02040503050406030204" pitchFamily="18" charset="0"/>
                          </a:rPr>
                        </m:ctrlPr>
                      </m:fPr>
                      <m:num>
                        <m:r>
                          <a:rPr lang="en-US" sz="2000" b="0" i="1" smtClean="0">
                            <a:latin typeface="Cambria Math" panose="02040503050406030204" pitchFamily="18" charset="0"/>
                            <a:ea typeface="Cambria Math" panose="02040503050406030204" pitchFamily="18" charset="0"/>
                          </a:rPr>
                          <m:t>10</m:t>
                        </m:r>
                      </m:num>
                      <m:den>
                        <m:r>
                          <a:rPr lang="en-US" sz="2000" b="0" i="1" smtClean="0">
                            <a:latin typeface="Cambria Math" panose="02040503050406030204" pitchFamily="18" charset="0"/>
                            <a:ea typeface="Cambria Math" panose="02040503050406030204" pitchFamily="18" charset="0"/>
                          </a:rPr>
                          <m:t>36</m:t>
                        </m:r>
                      </m:den>
                    </m:f>
                  </m:oMath>
                </a14:m>
                <a:r>
                  <a:rPr lang="en-US" sz="2000" b="1" dirty="0">
                    <a:latin typeface="+mj-lt"/>
                  </a:rPr>
                  <a:t>	</a:t>
                </a:r>
                <a:endParaRPr lang="en-US" sz="2000" dirty="0">
                  <a:latin typeface="+mj-lt"/>
                </a:endParaRPr>
              </a:p>
              <a:p>
                <a:pPr marL="0" lvl="0" indent="0" algn="just">
                  <a:buNone/>
                </a:pPr>
                <a:r>
                  <a:rPr lang="en-US" sz="2000" dirty="0">
                    <a:latin typeface="+mj-lt"/>
                  </a:rPr>
                  <a:t>Similarly, we can evaluate</a:t>
                </a:r>
              </a:p>
              <a:p>
                <a:pPr marL="0" lvl="0" indent="0" algn="just">
                  <a:buNone/>
                </a:pPr>
                <a:r>
                  <a:rPr lang="en-US" sz="2000" b="1" dirty="0">
                    <a:latin typeface="+mj-lt"/>
                  </a:rPr>
                  <a:t>         </a:t>
                </a:r>
                <a14:m>
                  <m:oMath xmlns:m="http://schemas.openxmlformats.org/officeDocument/2006/math">
                    <m:r>
                      <m:rPr>
                        <m:sty m:val="p"/>
                      </m:rPr>
                      <a:rPr lang="en-US" sz="2000" b="0" i="0" smtClean="0">
                        <a:latin typeface="Cambria Math" panose="02040503050406030204" pitchFamily="18" charset="0"/>
                      </a:rPr>
                      <m:t>P</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r>
                          <a:rPr lang="en-US" sz="2000" b="0" i="0" smtClean="0">
                            <a:latin typeface="Cambria Math" panose="02040503050406030204" pitchFamily="18" charset="0"/>
                          </a:rPr>
                          <m:t>=2</m:t>
                        </m:r>
                      </m:e>
                    </m:d>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9</m:t>
                        </m:r>
                      </m:num>
                      <m:den>
                        <m:r>
                          <a:rPr lang="en-US" sz="2000" b="0" i="1" smtClean="0">
                            <a:latin typeface="Cambria Math" panose="02040503050406030204" pitchFamily="18" charset="0"/>
                          </a:rPr>
                          <m:t>36</m:t>
                        </m:r>
                      </m:den>
                    </m:f>
                    <m:r>
                      <a:rPr lang="en-US" sz="2000" b="0" i="0" smtClean="0">
                        <a:latin typeface="Cambria Math" panose="02040503050406030204" pitchFamily="18" charset="0"/>
                      </a:rPr>
                      <m:t>;</m:t>
                    </m:r>
                    <m:r>
                      <m:rPr>
                        <m:sty m:val="p"/>
                      </m:rPr>
                      <a:rPr lang="en-US" sz="2000" b="0" i="0" smtClean="0">
                        <a:latin typeface="Cambria Math" panose="02040503050406030204" pitchFamily="18" charset="0"/>
                      </a:rPr>
                      <m:t>P</m:t>
                    </m:r>
                    <m:d>
                      <m:dPr>
                        <m:ctrlPr>
                          <a:rPr lang="en-US" sz="2000" b="0" i="1" smtClean="0">
                            <a:latin typeface="Cambria Math" panose="02040503050406030204" pitchFamily="18" charset="0"/>
                          </a:rPr>
                        </m:ctrlPr>
                      </m:dPr>
                      <m:e>
                        <m:r>
                          <m:rPr>
                            <m:sty m:val="p"/>
                          </m:rPr>
                          <a:rPr lang="en-US" sz="2000" b="0" i="0" smtClean="0">
                            <a:latin typeface="Cambria Math" panose="02040503050406030204" pitchFamily="18" charset="0"/>
                          </a:rPr>
                          <m:t>X</m:t>
                        </m:r>
                        <m:r>
                          <a:rPr lang="en-US" sz="2000" b="0" i="0" smtClean="0">
                            <a:latin typeface="Cambria Math" panose="02040503050406030204" pitchFamily="18" charset="0"/>
                          </a:rPr>
                          <m:t>=3</m:t>
                        </m:r>
                      </m:e>
                    </m:d>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8</m:t>
                        </m:r>
                      </m:num>
                      <m:den>
                        <m:r>
                          <a:rPr lang="en-US" sz="2000" b="0" i="1" smtClean="0">
                            <a:latin typeface="Cambria Math" panose="02040503050406030204" pitchFamily="18" charset="0"/>
                          </a:rPr>
                          <m:t>36</m:t>
                        </m:r>
                      </m:den>
                    </m:f>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=4</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9</m:t>
                        </m:r>
                      </m:num>
                      <m:den>
                        <m:r>
                          <a:rPr lang="en-US" sz="2000" b="0" i="1" smtClean="0">
                            <a:latin typeface="Cambria Math" panose="02040503050406030204" pitchFamily="18" charset="0"/>
                          </a:rPr>
                          <m:t>36</m:t>
                        </m:r>
                      </m:den>
                    </m:f>
                    <m:r>
                      <a:rPr lang="en-US" sz="2000" b="0" i="1" smtClean="0">
                        <a:latin typeface="Cambria Math" panose="02040503050406030204" pitchFamily="18" charset="0"/>
                      </a:rPr>
                      <m:t>.</m:t>
                    </m:r>
                  </m:oMath>
                </a14:m>
                <a:r>
                  <a:rPr lang="en-US" sz="2000" b="1" dirty="0">
                    <a:latin typeface="+mj-lt"/>
                  </a:rPr>
                  <a:t>	</a:t>
                </a:r>
                <a:endParaRPr lang="en-US" sz="2000" dirty="0">
                  <a:latin typeface="+mj-lt"/>
                </a:endParaRPr>
              </a:p>
              <a:p>
                <a:pPr marL="0" lvl="0" indent="0" algn="just">
                  <a:buNone/>
                </a:pPr>
                <a:endParaRPr lang="en-US" sz="2000" dirty="0">
                  <a:latin typeface="+mj-lt"/>
                </a:endParaRPr>
              </a:p>
              <a:p>
                <a:pPr marL="0" lvl="0" indent="0" algn="just">
                  <a:buNone/>
                </a:pPr>
                <a:r>
                  <a:rPr lang="en-US" sz="2000" dirty="0">
                    <a:latin typeface="+mj-lt"/>
                  </a:rPr>
                  <a:t>Now marginal probability distribution of Y is given by</a:t>
                </a:r>
              </a:p>
              <a:p>
                <a:pPr marL="0" lvl="0" indent="0" algn="just">
                  <a:buNone/>
                </a:pPr>
                <a:r>
                  <a:rPr lang="en-US" sz="2000" dirty="0">
                    <a:latin typeface="+mj-lt"/>
                  </a:rPr>
                  <a:t>        </a:t>
                </a:r>
                <a14:m>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r>
                          <a:rPr lang="en-US" sz="2000" i="1">
                            <a:latin typeface="Cambria Math" panose="02040503050406030204" pitchFamily="18" charset="0"/>
                          </a:rPr>
                          <m:t>𝑦</m:t>
                        </m:r>
                      </m:e>
                    </m:d>
                    <m:r>
                      <a:rPr lang="en-US" sz="2000" i="1">
                        <a:latin typeface="Cambria Math" panose="02040503050406030204" pitchFamily="18" charset="0"/>
                      </a:rPr>
                      <m:t>=</m:t>
                    </m:r>
                    <m:nary>
                      <m:naryPr>
                        <m:chr m:val="∑"/>
                        <m:supHide m:val="on"/>
                        <m:ctrlPr>
                          <a:rPr lang="en-US" sz="2000" i="1">
                            <a:latin typeface="Cambria Math" panose="02040503050406030204" pitchFamily="18" charset="0"/>
                          </a:rPr>
                        </m:ctrlPr>
                      </m:naryPr>
                      <m:sub>
                        <m:r>
                          <m:rPr>
                            <m:brk m:alnAt="7"/>
                          </m:rPr>
                          <a:rPr lang="en-US" sz="2000" i="1">
                            <a:latin typeface="Cambria Math" panose="02040503050406030204" pitchFamily="18" charset="0"/>
                          </a:rPr>
                          <m:t>𝑥</m:t>
                        </m:r>
                      </m:sub>
                      <m:sup/>
                      <m:e>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 </m:t>
                        </m:r>
                        <m:r>
                          <a:rPr lang="en-US" sz="2000" i="1">
                            <a:latin typeface="Cambria Math" panose="02040503050406030204" pitchFamily="18" charset="0"/>
                          </a:rPr>
                          <m:t>𝑌</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e>
                    </m:nary>
                  </m:oMath>
                </a14:m>
                <a:r>
                  <a:rPr lang="en-US" sz="2000" dirty="0">
                    <a:latin typeface="+mj-lt"/>
                  </a:rPr>
                  <a:t>  </a:t>
                </a:r>
              </a:p>
              <a:p>
                <a:pPr marL="0" lvl="0" indent="0" algn="just">
                  <a:buNone/>
                </a:pPr>
                <a:r>
                  <a:rPr lang="en-US" sz="2000" dirty="0">
                    <a:latin typeface="+mj-lt"/>
                  </a:rPr>
                  <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r>
                          <a:rPr lang="en-US" sz="2000" b="0" i="1" smtClean="0">
                            <a:latin typeface="Cambria Math" panose="02040503050406030204" pitchFamily="18" charset="0"/>
                          </a:rPr>
                          <m:t>=1</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11</m:t>
                        </m:r>
                      </m:num>
                      <m:den>
                        <m:r>
                          <a:rPr lang="en-US" sz="2000" b="0" i="1" smtClean="0">
                            <a:latin typeface="Cambria Math" panose="02040503050406030204" pitchFamily="18" charset="0"/>
                          </a:rPr>
                          <m:t>36</m:t>
                        </m:r>
                      </m:den>
                    </m:f>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r>
                          <a:rPr lang="en-US" sz="2000" b="0" i="1" smtClean="0">
                            <a:latin typeface="Cambria Math" panose="02040503050406030204" pitchFamily="18" charset="0"/>
                          </a:rPr>
                          <m:t>=2</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9</m:t>
                        </m:r>
                      </m:num>
                      <m:den>
                        <m:r>
                          <a:rPr lang="en-US" sz="2000" b="0" i="1" smtClean="0">
                            <a:latin typeface="Cambria Math" panose="02040503050406030204" pitchFamily="18" charset="0"/>
                          </a:rPr>
                          <m:t>36</m:t>
                        </m:r>
                      </m:den>
                    </m:f>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r>
                          <a:rPr lang="en-US" sz="2000" b="0" i="1" smtClean="0">
                            <a:latin typeface="Cambria Math" panose="02040503050406030204" pitchFamily="18" charset="0"/>
                          </a:rPr>
                          <m:t>=3</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7</m:t>
                        </m:r>
                      </m:num>
                      <m:den>
                        <m:r>
                          <a:rPr lang="en-US" sz="2000" b="0" i="1" smtClean="0">
                            <a:latin typeface="Cambria Math" panose="02040503050406030204" pitchFamily="18" charset="0"/>
                          </a:rPr>
                          <m:t>36</m:t>
                        </m:r>
                      </m:den>
                    </m:f>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𝑌</m:t>
                        </m:r>
                        <m:r>
                          <a:rPr lang="en-US" sz="2000" b="0" i="1" smtClean="0">
                            <a:latin typeface="Cambria Math" panose="02040503050406030204" pitchFamily="18" charset="0"/>
                          </a:rPr>
                          <m:t>=4</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9</m:t>
                        </m:r>
                      </m:num>
                      <m:den>
                        <m:r>
                          <a:rPr lang="en-US" sz="2000" b="0" i="1" smtClean="0">
                            <a:latin typeface="Cambria Math" panose="02040503050406030204" pitchFamily="18" charset="0"/>
                          </a:rPr>
                          <m:t>36</m:t>
                        </m:r>
                      </m:den>
                    </m:f>
                    <m:r>
                      <a:rPr lang="en-US" sz="2000" b="0" i="1" smtClean="0">
                        <a:latin typeface="Cambria Math" panose="02040503050406030204" pitchFamily="18" charset="0"/>
                      </a:rPr>
                      <m:t>.</m:t>
                    </m:r>
                  </m:oMath>
                </a14:m>
                <a:endParaRPr lang="en-US" sz="2000" dirty="0">
                  <a:latin typeface="+mj-lt"/>
                </a:endParaRPr>
              </a:p>
              <a:p>
                <a:pPr marL="0" indent="0" algn="just">
                  <a:buNone/>
                </a:pPr>
                <a:r>
                  <a:rPr lang="en-US" sz="2000" dirty="0">
                    <a:latin typeface="+mj-lt"/>
                  </a:rPr>
                  <a:t>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800600"/>
              </a:xfrm>
              <a:blipFill>
                <a:blip r:embed="rId2"/>
                <a:stretch>
                  <a:fillRect l="-815" t="-762" r="-222"/>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36</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Marginal Probability distribution(CO3)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8" name="Footer Placeholder 7"/>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46722690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8" end="8"/>
                                            </p:txEl>
                                          </p:spTgt>
                                        </p:tgtEl>
                                        <p:attrNameLst>
                                          <p:attrName>style.visibility</p:attrName>
                                        </p:attrNameLst>
                                      </p:cBhvr>
                                      <p:to>
                                        <p:strVal val="visible"/>
                                      </p:to>
                                    </p:set>
                                    <p:animEffect transition="in" filter="fade">
                                      <p:cBhvr>
                                        <p:cTn id="56" dur="1000"/>
                                        <p:tgtEl>
                                          <p:spTgt spid="3">
                                            <p:txEl>
                                              <p:pRg st="8" end="8"/>
                                            </p:txEl>
                                          </p:spTgt>
                                        </p:tgtEl>
                                      </p:cBhvr>
                                    </p:animEffect>
                                    <p:anim calcmode="lin" valueType="num">
                                      <p:cBhvr>
                                        <p:cTn id="57"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9" end="9"/>
                                            </p:txEl>
                                          </p:spTgt>
                                        </p:tgtEl>
                                        <p:attrNameLst>
                                          <p:attrName>style.visibility</p:attrName>
                                        </p:attrNameLst>
                                      </p:cBhvr>
                                      <p:to>
                                        <p:strVal val="visible"/>
                                      </p:to>
                                    </p:set>
                                    <p:animEffect transition="in" filter="fade">
                                      <p:cBhvr>
                                        <p:cTn id="63" dur="1000"/>
                                        <p:tgtEl>
                                          <p:spTgt spid="3">
                                            <p:txEl>
                                              <p:pRg st="9" end="9"/>
                                            </p:txEl>
                                          </p:spTgt>
                                        </p:tgtEl>
                                      </p:cBhvr>
                                    </p:animEffect>
                                    <p:anim calcmode="lin" valueType="num">
                                      <p:cBhvr>
                                        <p:cTn id="64"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10" end="10"/>
                                            </p:txEl>
                                          </p:spTgt>
                                        </p:tgtEl>
                                        <p:attrNameLst>
                                          <p:attrName>style.visibility</p:attrName>
                                        </p:attrNameLst>
                                      </p:cBhvr>
                                      <p:to>
                                        <p:strVal val="visible"/>
                                      </p:to>
                                    </p:set>
                                    <p:animEffect transition="in" filter="fade">
                                      <p:cBhvr>
                                        <p:cTn id="70" dur="1000"/>
                                        <p:tgtEl>
                                          <p:spTgt spid="3">
                                            <p:txEl>
                                              <p:pRg st="10" end="10"/>
                                            </p:txEl>
                                          </p:spTgt>
                                        </p:tgtEl>
                                      </p:cBhvr>
                                    </p:animEffect>
                                    <p:anim calcmode="lin" valueType="num">
                                      <p:cBhvr>
                                        <p:cTn id="71"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rmAutofit/>
          </a:bodyPr>
          <a:lstStyle/>
          <a:p>
            <a:pPr marL="0" indent="0" algn="just">
              <a:buNone/>
            </a:pPr>
            <a:r>
              <a:rPr lang="en-US" sz="2000" dirty="0">
                <a:latin typeface="+mj-lt"/>
              </a:rPr>
              <a:t>Hence, The marginal distribution of X</a:t>
            </a:r>
          </a:p>
          <a:p>
            <a:pPr marL="0" indent="0" algn="just">
              <a:buNone/>
            </a:pPr>
            <a:endParaRPr lang="en-US" sz="2000" dirty="0">
              <a:latin typeface="+mj-lt"/>
            </a:endParaRPr>
          </a:p>
          <a:p>
            <a:pPr marL="0" indent="0" algn="just">
              <a:buNone/>
            </a:pPr>
            <a:endParaRPr lang="en-US" sz="2000" dirty="0">
              <a:latin typeface="+mj-lt"/>
            </a:endParaRPr>
          </a:p>
          <a:p>
            <a:pPr marL="0" indent="0" algn="just">
              <a:buNone/>
            </a:pPr>
            <a:endParaRPr lang="en-US" sz="2000" dirty="0">
              <a:latin typeface="+mj-lt"/>
            </a:endParaRPr>
          </a:p>
          <a:p>
            <a:pPr marL="0" indent="0" algn="just">
              <a:buNone/>
            </a:pPr>
            <a:endParaRPr lang="en-US" sz="2000" dirty="0">
              <a:latin typeface="+mj-lt"/>
            </a:endParaRPr>
          </a:p>
          <a:p>
            <a:pPr marL="0" indent="0" algn="just">
              <a:buNone/>
            </a:pPr>
            <a:endParaRPr lang="en-US" sz="2000" dirty="0">
              <a:latin typeface="+mj-lt"/>
            </a:endParaRPr>
          </a:p>
          <a:p>
            <a:pPr marL="0" indent="0" algn="just">
              <a:buNone/>
            </a:pPr>
            <a:r>
              <a:rPr lang="en-US" sz="2000" dirty="0">
                <a:latin typeface="+mj-lt"/>
              </a:rPr>
              <a:t>The marginal distribution of Y</a:t>
            </a:r>
          </a:p>
          <a:p>
            <a:pPr marL="0" indent="0" algn="just">
              <a:buNone/>
            </a:pPr>
            <a:r>
              <a:rPr lang="en-US" sz="2000" dirty="0">
                <a:latin typeface="+mj-lt"/>
              </a:rPr>
              <a:t>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37</a:t>
            </a:fld>
            <a:endParaRPr lang="en-US"/>
          </a:p>
        </p:txBody>
      </p:sp>
      <p:sp>
        <p:nvSpPr>
          <p:cNvPr id="7" name="Title 1"/>
          <p:cNvSpPr txBox="1">
            <a:spLocks/>
          </p:cNvSpPr>
          <p:nvPr/>
        </p:nvSpPr>
        <p:spPr>
          <a:xfrm>
            <a:off x="1524000" y="0"/>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Marginal Probability distribution(CO3)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mc:AlternateContent xmlns:mc="http://schemas.openxmlformats.org/markup-compatibility/2006" xmlns:a14="http://schemas.microsoft.com/office/drawing/2010/main">
        <mc:Choice Requires="a14">
          <p:graphicFrame>
            <p:nvGraphicFramePr>
              <p:cNvPr id="2" name="Table 1"/>
              <p:cNvGraphicFramePr>
                <a:graphicFrameLocks noGrp="1"/>
              </p:cNvGraphicFramePr>
              <p:nvPr>
                <p:extLst>
                  <p:ext uri="{D42A27DB-BD31-4B8C-83A1-F6EECF244321}">
                    <p14:modId xmlns:p14="http://schemas.microsoft.com/office/powerpoint/2010/main" val="4010030036"/>
                  </p:ext>
                </p:extLst>
              </p:nvPr>
            </p:nvGraphicFramePr>
            <p:xfrm>
              <a:off x="2743200" y="1752600"/>
              <a:ext cx="3048000" cy="1201166"/>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594360">
                    <a:tc>
                      <a:txBody>
                        <a:bodyPr/>
                        <a:lstStyle/>
                        <a:p>
                          <a:pPr algn="l"/>
                          <a:r>
                            <a:rPr lang="en-US" dirty="0"/>
                            <a:t>X</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endParaRPr lang="en-US" dirty="0"/>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extLst>
                      <a:ext uri="{0D108BD9-81ED-4DB2-BD59-A6C34878D82A}">
                        <a16:rowId xmlns:a16="http://schemas.microsoft.com/office/drawing/2014/main" val="10000"/>
                      </a:ext>
                    </a:extLst>
                  </a:tr>
                  <a:tr h="59436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𝑋</m:t>
                                </m:r>
                                <m:r>
                                  <a:rPr lang="en-US" b="0"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ea typeface="Cambria Math" panose="02040503050406030204" pitchFamily="18" charset="0"/>
                                      </a:rPr>
                                    </m:ctrlPr>
                                  </m:fPr>
                                  <m:num>
                                    <m:r>
                                      <a:rPr lang="en-US" sz="1800" b="0" i="1" smtClean="0">
                                        <a:latin typeface="Cambria Math" panose="02040503050406030204" pitchFamily="18" charset="0"/>
                                        <a:ea typeface="Cambria Math" panose="02040503050406030204" pitchFamily="18" charset="0"/>
                                      </a:rPr>
                                      <m:t>10</m:t>
                                    </m:r>
                                  </m:num>
                                  <m:den>
                                    <m:r>
                                      <a:rPr lang="en-US" sz="1800" b="0" i="1" smtClean="0">
                                        <a:latin typeface="Cambria Math" panose="02040503050406030204" pitchFamily="18" charset="0"/>
                                        <a:ea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9</m:t>
                                    </m:r>
                                  </m:num>
                                  <m:den>
                                    <m:r>
                                      <a:rPr lang="en-US" sz="1800"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8</m:t>
                                    </m:r>
                                  </m:num>
                                  <m:den>
                                    <m:r>
                                      <a:rPr lang="en-US" sz="1800"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9</m:t>
                                    </m:r>
                                  </m:num>
                                  <m:den>
                                    <m:r>
                                      <a:rPr lang="en-US" sz="1800" b="0" i="1" smtClean="0">
                                        <a:latin typeface="Cambria Math" panose="02040503050406030204" pitchFamily="18" charset="0"/>
                                      </a:rPr>
                                      <m:t>36</m:t>
                                    </m:r>
                                  </m:den>
                                </m:f>
                              </m:oMath>
                            </m:oMathPara>
                          </a14:m>
                          <a:endParaRPr lang="en-US" dirty="0"/>
                        </a:p>
                      </a:txBody>
                      <a:tcPr/>
                    </a:tc>
                    <a:extLst>
                      <a:ext uri="{0D108BD9-81ED-4DB2-BD59-A6C34878D82A}">
                        <a16:rowId xmlns:a16="http://schemas.microsoft.com/office/drawing/2014/main" val="10001"/>
                      </a:ext>
                    </a:extLst>
                  </a:tr>
                </a:tbl>
              </a:graphicData>
            </a:graphic>
          </p:graphicFrame>
        </mc:Choice>
        <mc:Fallback xmlns="">
          <p:graphicFrame>
            <p:nvGraphicFramePr>
              <p:cNvPr id="2" name="Table 1"/>
              <p:cNvGraphicFramePr>
                <a:graphicFrameLocks noGrp="1"/>
              </p:cNvGraphicFramePr>
              <p:nvPr>
                <p:extLst>
                  <p:ext uri="{D42A27DB-BD31-4B8C-83A1-F6EECF244321}">
                    <p14:modId xmlns:p14="http://schemas.microsoft.com/office/powerpoint/2010/main" val="4010030036"/>
                  </p:ext>
                </p:extLst>
              </p:nvPr>
            </p:nvGraphicFramePr>
            <p:xfrm>
              <a:off x="2743200" y="1752600"/>
              <a:ext cx="3048000" cy="1201166"/>
            </p:xfrm>
            <a:graphic>
              <a:graphicData uri="http://schemas.openxmlformats.org/drawingml/2006/table">
                <a:tbl>
                  <a:tblPr firstRow="1" bandRow="1">
                    <a:tableStyleId>{5C22544A-7EE6-4342-B048-85BDC9FD1C3A}</a:tableStyleId>
                  </a:tblPr>
                  <a:tblGrid>
                    <a:gridCol w="6096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609600">
                      <a:extLst>
                        <a:ext uri="{9D8B030D-6E8A-4147-A177-3AD203B41FA5}">
                          <a16:colId xmlns:a16="http://schemas.microsoft.com/office/drawing/2014/main" val="20002"/>
                        </a:ext>
                      </a:extLst>
                    </a:gridCol>
                    <a:gridCol w="609600">
                      <a:extLst>
                        <a:ext uri="{9D8B030D-6E8A-4147-A177-3AD203B41FA5}">
                          <a16:colId xmlns:a16="http://schemas.microsoft.com/office/drawing/2014/main" val="20003"/>
                        </a:ext>
                      </a:extLst>
                    </a:gridCol>
                    <a:gridCol w="609600">
                      <a:extLst>
                        <a:ext uri="{9D8B030D-6E8A-4147-A177-3AD203B41FA5}">
                          <a16:colId xmlns:a16="http://schemas.microsoft.com/office/drawing/2014/main" val="20004"/>
                        </a:ext>
                      </a:extLst>
                    </a:gridCol>
                  </a:tblGrid>
                  <a:tr h="594360">
                    <a:tc>
                      <a:txBody>
                        <a:bodyPr/>
                        <a:lstStyle/>
                        <a:p>
                          <a:endParaRPr lang="en-US"/>
                        </a:p>
                      </a:txBody>
                      <a:tcPr>
                        <a:blipFill>
                          <a:blip r:embed="rId2"/>
                          <a:stretch>
                            <a:fillRect l="-2000" t="-5102" r="-405000" b="-104082"/>
                          </a:stretch>
                        </a:blipFill>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extLst>
                      <a:ext uri="{0D108BD9-81ED-4DB2-BD59-A6C34878D82A}">
                        <a16:rowId xmlns:a16="http://schemas.microsoft.com/office/drawing/2014/main" val="10000"/>
                      </a:ext>
                    </a:extLst>
                  </a:tr>
                  <a:tr h="606806">
                    <a:tc>
                      <a:txBody>
                        <a:bodyPr/>
                        <a:lstStyle/>
                        <a:p>
                          <a:endParaRPr lang="en-US"/>
                        </a:p>
                      </a:txBody>
                      <a:tcPr>
                        <a:blipFill>
                          <a:blip r:embed="rId2"/>
                          <a:stretch>
                            <a:fillRect l="-2000" t="-103000" r="-405000" b="-2000"/>
                          </a:stretch>
                        </a:blipFill>
                      </a:tcPr>
                    </a:tc>
                    <a:tc>
                      <a:txBody>
                        <a:bodyPr/>
                        <a:lstStyle/>
                        <a:p>
                          <a:endParaRPr lang="en-US"/>
                        </a:p>
                      </a:txBody>
                      <a:tcPr>
                        <a:blipFill>
                          <a:blip r:embed="rId2"/>
                          <a:stretch>
                            <a:fillRect l="-102000" t="-103000" r="-305000" b="-2000"/>
                          </a:stretch>
                        </a:blipFill>
                      </a:tcPr>
                    </a:tc>
                    <a:tc>
                      <a:txBody>
                        <a:bodyPr/>
                        <a:lstStyle/>
                        <a:p>
                          <a:endParaRPr lang="en-US"/>
                        </a:p>
                      </a:txBody>
                      <a:tcPr>
                        <a:blipFill>
                          <a:blip r:embed="rId2"/>
                          <a:stretch>
                            <a:fillRect l="-202000" t="-103000" r="-205000" b="-2000"/>
                          </a:stretch>
                        </a:blipFill>
                      </a:tcPr>
                    </a:tc>
                    <a:tc>
                      <a:txBody>
                        <a:bodyPr/>
                        <a:lstStyle/>
                        <a:p>
                          <a:endParaRPr lang="en-US"/>
                        </a:p>
                      </a:txBody>
                      <a:tcPr>
                        <a:blipFill>
                          <a:blip r:embed="rId2"/>
                          <a:stretch>
                            <a:fillRect l="-302000" t="-103000" r="-105000" b="-2000"/>
                          </a:stretch>
                        </a:blipFill>
                      </a:tcPr>
                    </a:tc>
                    <a:tc>
                      <a:txBody>
                        <a:bodyPr/>
                        <a:lstStyle/>
                        <a:p>
                          <a:endParaRPr lang="en-US"/>
                        </a:p>
                      </a:txBody>
                      <a:tcPr>
                        <a:blipFill>
                          <a:blip r:embed="rId2"/>
                          <a:stretch>
                            <a:fillRect l="-402000" t="-103000" r="-5000" b="-2000"/>
                          </a:stretch>
                        </a:blipFill>
                      </a:tcPr>
                    </a:tc>
                    <a:extLst>
                      <a:ext uri="{0D108BD9-81ED-4DB2-BD59-A6C34878D82A}">
                        <a16:rowId xmlns:a16="http://schemas.microsoft.com/office/drawing/2014/main" val="10001"/>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9" name="Table 8"/>
              <p:cNvGraphicFramePr>
                <a:graphicFrameLocks noGrp="1"/>
              </p:cNvGraphicFramePr>
              <p:nvPr>
                <p:extLst>
                  <p:ext uri="{D42A27DB-BD31-4B8C-83A1-F6EECF244321}">
                    <p14:modId xmlns:p14="http://schemas.microsoft.com/office/powerpoint/2010/main" val="3600886810"/>
                  </p:ext>
                </p:extLst>
              </p:nvPr>
            </p:nvGraphicFramePr>
            <p:xfrm>
              <a:off x="2590800" y="4038600"/>
              <a:ext cx="2819400" cy="1178306"/>
            </p:xfrm>
            <a:graphic>
              <a:graphicData uri="http://schemas.openxmlformats.org/drawingml/2006/table">
                <a:tbl>
                  <a:tblPr firstRow="1" bandRow="1">
                    <a:tableStyleId>{5C22544A-7EE6-4342-B048-85BDC9FD1C3A}</a:tableStyleId>
                  </a:tblPr>
                  <a:tblGrid>
                    <a:gridCol w="563880">
                      <a:extLst>
                        <a:ext uri="{9D8B030D-6E8A-4147-A177-3AD203B41FA5}">
                          <a16:colId xmlns:a16="http://schemas.microsoft.com/office/drawing/2014/main" val="20000"/>
                        </a:ext>
                      </a:extLst>
                    </a:gridCol>
                    <a:gridCol w="563880">
                      <a:extLst>
                        <a:ext uri="{9D8B030D-6E8A-4147-A177-3AD203B41FA5}">
                          <a16:colId xmlns:a16="http://schemas.microsoft.com/office/drawing/2014/main" val="20001"/>
                        </a:ext>
                      </a:extLst>
                    </a:gridCol>
                    <a:gridCol w="563880">
                      <a:extLst>
                        <a:ext uri="{9D8B030D-6E8A-4147-A177-3AD203B41FA5}">
                          <a16:colId xmlns:a16="http://schemas.microsoft.com/office/drawing/2014/main" val="20002"/>
                        </a:ext>
                      </a:extLst>
                    </a:gridCol>
                    <a:gridCol w="563880">
                      <a:extLst>
                        <a:ext uri="{9D8B030D-6E8A-4147-A177-3AD203B41FA5}">
                          <a16:colId xmlns:a16="http://schemas.microsoft.com/office/drawing/2014/main" val="20003"/>
                        </a:ext>
                      </a:extLst>
                    </a:gridCol>
                    <a:gridCol w="563880">
                      <a:extLst>
                        <a:ext uri="{9D8B030D-6E8A-4147-A177-3AD203B41FA5}">
                          <a16:colId xmlns:a16="http://schemas.microsoft.com/office/drawing/2014/main" val="20004"/>
                        </a:ext>
                      </a:extLst>
                    </a:gridCol>
                  </a:tblGrid>
                  <a:tr h="571500">
                    <a:tc>
                      <a:txBody>
                        <a:bodyPr/>
                        <a:lstStyle/>
                        <a:p>
                          <a:r>
                            <a:rPr lang="en-US" dirty="0"/>
                            <a:t>Y</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endParaRPr lang="en-US" dirty="0"/>
                        </a:p>
                      </a:txBody>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extLst>
                      <a:ext uri="{0D108BD9-81ED-4DB2-BD59-A6C34878D82A}">
                        <a16:rowId xmlns:a16="http://schemas.microsoft.com/office/drawing/2014/main" val="10000"/>
                      </a:ext>
                    </a:extLst>
                  </a:tr>
                  <a:tr h="571500">
                    <a:tc>
                      <a:txBody>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rPr>
                                  <m:t>𝑃</m:t>
                                </m:r>
                                <m:r>
                                  <a:rPr lang="en-US" b="0" i="1" smtClean="0">
                                    <a:latin typeface="Cambria Math" panose="02040503050406030204" pitchFamily="18" charset="0"/>
                                  </a:rPr>
                                  <m:t>(</m:t>
                                </m:r>
                                <m:r>
                                  <a:rPr lang="en-US" b="0" i="1" smtClean="0">
                                    <a:latin typeface="Cambria Math" panose="02040503050406030204" pitchFamily="18" charset="0"/>
                                  </a:rPr>
                                  <m:t>𝑌</m:t>
                                </m:r>
                                <m:r>
                                  <a:rPr lang="en-US" b="0" i="1" smtClean="0">
                                    <a:latin typeface="Cambria Math" panose="02040503050406030204" pitchFamily="18" charset="0"/>
                                  </a:rPr>
                                  <m:t>)</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11</m:t>
                                    </m:r>
                                  </m:num>
                                  <m:den>
                                    <m:r>
                                      <a:rPr lang="en-US" sz="1800"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9</m:t>
                                    </m:r>
                                  </m:num>
                                  <m:den>
                                    <m:r>
                                      <a:rPr lang="en-US" sz="1800"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7</m:t>
                                    </m:r>
                                  </m:num>
                                  <m:den>
                                    <m:r>
                                      <a:rPr lang="en-US" sz="1800" b="0" i="1" smtClean="0">
                                        <a:latin typeface="Cambria Math" panose="02040503050406030204" pitchFamily="18" charset="0"/>
                                      </a:rPr>
                                      <m:t>36</m:t>
                                    </m:r>
                                  </m:den>
                                </m:f>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f>
                                  <m:fPr>
                                    <m:ctrlPr>
                                      <a:rPr lang="en-US" sz="1800" b="0" i="1" smtClean="0">
                                        <a:latin typeface="Cambria Math" panose="02040503050406030204" pitchFamily="18" charset="0"/>
                                      </a:rPr>
                                    </m:ctrlPr>
                                  </m:fPr>
                                  <m:num>
                                    <m:r>
                                      <a:rPr lang="en-US" sz="1800" b="0" i="1" smtClean="0">
                                        <a:latin typeface="Cambria Math" panose="02040503050406030204" pitchFamily="18" charset="0"/>
                                      </a:rPr>
                                      <m:t>9</m:t>
                                    </m:r>
                                  </m:num>
                                  <m:den>
                                    <m:r>
                                      <a:rPr lang="en-US" sz="1800" b="0" i="1" smtClean="0">
                                        <a:latin typeface="Cambria Math" panose="02040503050406030204" pitchFamily="18" charset="0"/>
                                      </a:rPr>
                                      <m:t>36</m:t>
                                    </m:r>
                                  </m:den>
                                </m:f>
                              </m:oMath>
                            </m:oMathPara>
                          </a14:m>
                          <a:endParaRPr lang="en-US" dirty="0"/>
                        </a:p>
                      </a:txBody>
                      <a:tcPr/>
                    </a:tc>
                    <a:extLst>
                      <a:ext uri="{0D108BD9-81ED-4DB2-BD59-A6C34878D82A}">
                        <a16:rowId xmlns:a16="http://schemas.microsoft.com/office/drawing/2014/main" val="10001"/>
                      </a:ext>
                    </a:extLst>
                  </a:tr>
                </a:tbl>
              </a:graphicData>
            </a:graphic>
          </p:graphicFrame>
        </mc:Choice>
        <mc:Fallback xmlns="">
          <p:graphicFrame>
            <p:nvGraphicFramePr>
              <p:cNvPr id="9" name="Table 8"/>
              <p:cNvGraphicFramePr>
                <a:graphicFrameLocks noGrp="1"/>
              </p:cNvGraphicFramePr>
              <p:nvPr>
                <p:extLst>
                  <p:ext uri="{D42A27DB-BD31-4B8C-83A1-F6EECF244321}">
                    <p14:modId xmlns:p14="http://schemas.microsoft.com/office/powerpoint/2010/main" val="3600886810"/>
                  </p:ext>
                </p:extLst>
              </p:nvPr>
            </p:nvGraphicFramePr>
            <p:xfrm>
              <a:off x="2590800" y="4038600"/>
              <a:ext cx="2819400" cy="1178306"/>
            </p:xfrm>
            <a:graphic>
              <a:graphicData uri="http://schemas.openxmlformats.org/drawingml/2006/table">
                <a:tbl>
                  <a:tblPr firstRow="1" bandRow="1">
                    <a:tableStyleId>{5C22544A-7EE6-4342-B048-85BDC9FD1C3A}</a:tableStyleId>
                  </a:tblPr>
                  <a:tblGrid>
                    <a:gridCol w="563880">
                      <a:extLst>
                        <a:ext uri="{9D8B030D-6E8A-4147-A177-3AD203B41FA5}">
                          <a16:colId xmlns:a16="http://schemas.microsoft.com/office/drawing/2014/main" val="20000"/>
                        </a:ext>
                      </a:extLst>
                    </a:gridCol>
                    <a:gridCol w="563880">
                      <a:extLst>
                        <a:ext uri="{9D8B030D-6E8A-4147-A177-3AD203B41FA5}">
                          <a16:colId xmlns:a16="http://schemas.microsoft.com/office/drawing/2014/main" val="20001"/>
                        </a:ext>
                      </a:extLst>
                    </a:gridCol>
                    <a:gridCol w="563880">
                      <a:extLst>
                        <a:ext uri="{9D8B030D-6E8A-4147-A177-3AD203B41FA5}">
                          <a16:colId xmlns:a16="http://schemas.microsoft.com/office/drawing/2014/main" val="20002"/>
                        </a:ext>
                      </a:extLst>
                    </a:gridCol>
                    <a:gridCol w="563880">
                      <a:extLst>
                        <a:ext uri="{9D8B030D-6E8A-4147-A177-3AD203B41FA5}">
                          <a16:colId xmlns:a16="http://schemas.microsoft.com/office/drawing/2014/main" val="20003"/>
                        </a:ext>
                      </a:extLst>
                    </a:gridCol>
                    <a:gridCol w="563880">
                      <a:extLst>
                        <a:ext uri="{9D8B030D-6E8A-4147-A177-3AD203B41FA5}">
                          <a16:colId xmlns:a16="http://schemas.microsoft.com/office/drawing/2014/main" val="20004"/>
                        </a:ext>
                      </a:extLst>
                    </a:gridCol>
                  </a:tblGrid>
                  <a:tr h="571500">
                    <a:tc>
                      <a:txBody>
                        <a:bodyPr/>
                        <a:lstStyle/>
                        <a:p>
                          <a:endParaRPr lang="en-US"/>
                        </a:p>
                      </a:txBody>
                      <a:tcPr>
                        <a:blipFill>
                          <a:blip r:embed="rId3"/>
                          <a:stretch>
                            <a:fillRect l="-2151" t="-5319" r="-402151" b="-108511"/>
                          </a:stretch>
                        </a:blipFill>
                      </a:tcPr>
                    </a:tc>
                    <a:tc>
                      <a:txBody>
                        <a:bodyPr/>
                        <a:lstStyle/>
                        <a:p>
                          <a:pPr algn="ctr"/>
                          <a:r>
                            <a:rPr lang="en-US" dirty="0"/>
                            <a:t>1</a:t>
                          </a:r>
                        </a:p>
                      </a:txBody>
                      <a:tcPr/>
                    </a:tc>
                    <a:tc>
                      <a:txBody>
                        <a:bodyPr/>
                        <a:lstStyle/>
                        <a:p>
                          <a:pPr algn="ctr"/>
                          <a:r>
                            <a:rPr lang="en-US" dirty="0"/>
                            <a:t>2</a:t>
                          </a:r>
                        </a:p>
                      </a:txBody>
                      <a:tcPr/>
                    </a:tc>
                    <a:tc>
                      <a:txBody>
                        <a:bodyPr/>
                        <a:lstStyle/>
                        <a:p>
                          <a:pPr algn="ctr"/>
                          <a:r>
                            <a:rPr lang="en-US" dirty="0"/>
                            <a:t>3</a:t>
                          </a:r>
                        </a:p>
                      </a:txBody>
                      <a:tcPr/>
                    </a:tc>
                    <a:tc>
                      <a:txBody>
                        <a:bodyPr/>
                        <a:lstStyle/>
                        <a:p>
                          <a:pPr algn="ctr"/>
                          <a:r>
                            <a:rPr lang="en-US" dirty="0"/>
                            <a:t>4</a:t>
                          </a:r>
                        </a:p>
                      </a:txBody>
                      <a:tcPr/>
                    </a:tc>
                    <a:extLst>
                      <a:ext uri="{0D108BD9-81ED-4DB2-BD59-A6C34878D82A}">
                        <a16:rowId xmlns:a16="http://schemas.microsoft.com/office/drawing/2014/main" val="10000"/>
                      </a:ext>
                    </a:extLst>
                  </a:tr>
                  <a:tr h="606806">
                    <a:tc>
                      <a:txBody>
                        <a:bodyPr/>
                        <a:lstStyle/>
                        <a:p>
                          <a:endParaRPr lang="en-US"/>
                        </a:p>
                      </a:txBody>
                      <a:tcPr>
                        <a:blipFill>
                          <a:blip r:embed="rId3"/>
                          <a:stretch>
                            <a:fillRect l="-2151" t="-99000" r="-402151" b="-2000"/>
                          </a:stretch>
                        </a:blipFill>
                      </a:tcPr>
                    </a:tc>
                    <a:tc>
                      <a:txBody>
                        <a:bodyPr/>
                        <a:lstStyle/>
                        <a:p>
                          <a:endParaRPr lang="en-US"/>
                        </a:p>
                      </a:txBody>
                      <a:tcPr>
                        <a:blipFill>
                          <a:blip r:embed="rId3"/>
                          <a:stretch>
                            <a:fillRect l="-103261" t="-99000" r="-306522" b="-2000"/>
                          </a:stretch>
                        </a:blipFill>
                      </a:tcPr>
                    </a:tc>
                    <a:tc>
                      <a:txBody>
                        <a:bodyPr/>
                        <a:lstStyle/>
                        <a:p>
                          <a:endParaRPr lang="en-US"/>
                        </a:p>
                      </a:txBody>
                      <a:tcPr>
                        <a:blipFill>
                          <a:blip r:embed="rId3"/>
                          <a:stretch>
                            <a:fillRect l="-201075" t="-99000" r="-203226" b="-2000"/>
                          </a:stretch>
                        </a:blipFill>
                      </a:tcPr>
                    </a:tc>
                    <a:tc>
                      <a:txBody>
                        <a:bodyPr/>
                        <a:lstStyle/>
                        <a:p>
                          <a:endParaRPr lang="en-US"/>
                        </a:p>
                      </a:txBody>
                      <a:tcPr>
                        <a:blipFill>
                          <a:blip r:embed="rId3"/>
                          <a:stretch>
                            <a:fillRect l="-304348" t="-99000" r="-105435" b="-2000"/>
                          </a:stretch>
                        </a:blipFill>
                      </a:tcPr>
                    </a:tc>
                    <a:tc>
                      <a:txBody>
                        <a:bodyPr/>
                        <a:lstStyle/>
                        <a:p>
                          <a:endParaRPr lang="en-US"/>
                        </a:p>
                      </a:txBody>
                      <a:tcPr>
                        <a:blipFill>
                          <a:blip r:embed="rId3"/>
                          <a:stretch>
                            <a:fillRect l="-400000" t="-99000" r="-4301" b="-2000"/>
                          </a:stretch>
                        </a:blipFill>
                      </a:tcPr>
                    </a:tc>
                    <a:extLst>
                      <a:ext uri="{0D108BD9-81ED-4DB2-BD59-A6C34878D82A}">
                        <a16:rowId xmlns:a16="http://schemas.microsoft.com/office/drawing/2014/main" val="10001"/>
                      </a:ext>
                    </a:extLst>
                  </a:tr>
                </a:tbl>
              </a:graphicData>
            </a:graphic>
          </p:graphicFrame>
        </mc:Fallback>
      </mc:AlternateContent>
      <p:sp>
        <p:nvSpPr>
          <p:cNvPr id="8" name="Footer Placeholder 7"/>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355726164"/>
      </p:ext>
    </p:extLst>
  </p:cSld>
  <p:clrMapOvr>
    <a:masterClrMapping/>
  </p:clrMapOvr>
  <p:transition spd="slow">
    <p:push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6" end="6"/>
                                            </p:txEl>
                                          </p:spTgt>
                                        </p:tgtEl>
                                        <p:attrNameLst>
                                          <p:attrName>style.visibility</p:attrName>
                                        </p:attrNameLst>
                                      </p:cBhvr>
                                      <p:to>
                                        <p:strVal val="visible"/>
                                      </p:to>
                                    </p:set>
                                    <p:animEffect transition="in" filter="fade">
                                      <p:cBhvr>
                                        <p:cTn id="14" dur="1000"/>
                                        <p:tgtEl>
                                          <p:spTgt spid="3">
                                            <p:txEl>
                                              <p:pRg st="6" end="6"/>
                                            </p:txEl>
                                          </p:spTgt>
                                        </p:tgtEl>
                                      </p:cBhvr>
                                    </p:animEffect>
                                    <p:anim calcmode="lin" valueType="num">
                                      <p:cBhvr>
                                        <p:cTn id="15"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7" end="7"/>
                                            </p:txEl>
                                          </p:spTgt>
                                        </p:tgtEl>
                                        <p:attrNameLst>
                                          <p:attrName>style.visibility</p:attrName>
                                        </p:attrNameLst>
                                      </p:cBhvr>
                                      <p:to>
                                        <p:strVal val="visible"/>
                                      </p:to>
                                    </p:set>
                                    <p:animEffect transition="in" filter="fade">
                                      <p:cBhvr>
                                        <p:cTn id="21" dur="1000"/>
                                        <p:tgtEl>
                                          <p:spTgt spid="3">
                                            <p:txEl>
                                              <p:pRg st="7" end="7"/>
                                            </p:txEl>
                                          </p:spTgt>
                                        </p:tgtEl>
                                      </p:cBhvr>
                                    </p:animEffect>
                                    <p:anim calcmode="lin" valueType="num">
                                      <p:cBhvr>
                                        <p:cTn id="22"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914399" y="1524000"/>
                <a:ext cx="7543801" cy="3810000"/>
              </a:xfrm>
            </p:spPr>
            <p:txBody>
              <a:bodyPr>
                <a:normAutofit/>
              </a:bodyPr>
              <a:lstStyle/>
              <a:p>
                <a:pPr marL="0" lvl="0" indent="0" algn="just">
                  <a:buNone/>
                </a:pPr>
                <a:r>
                  <a:rPr lang="en-US" sz="2000" dirty="0">
                    <a:latin typeface="+mj-lt"/>
                  </a:rPr>
                  <a:t>The conditional Probability distribution for X given Y, denoted by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𝑋</m:t>
                            </m:r>
                          </m:num>
                          <m:den>
                            <m:r>
                              <a:rPr lang="en-US" sz="2000" b="0" i="1" smtClean="0">
                                <a:latin typeface="Cambria Math" panose="02040503050406030204" pitchFamily="18" charset="0"/>
                              </a:rPr>
                              <m:t>𝑌</m:t>
                            </m:r>
                          </m:den>
                        </m:f>
                      </m:e>
                    </m:d>
                    <m:r>
                      <a:rPr lang="en-US" sz="2000" b="0" i="1" smtClean="0">
                        <a:latin typeface="Cambria Math" panose="02040503050406030204" pitchFamily="18" charset="0"/>
                      </a:rPr>
                      <m:t>𝑜𝑟</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𝑋</m:t>
                            </m:r>
                          </m:num>
                          <m:den>
                            <m:r>
                              <a:rPr lang="en-US" sz="2000" b="0" i="1" smtClean="0">
                                <a:latin typeface="Cambria Math" panose="02040503050406030204" pitchFamily="18" charset="0"/>
                              </a:rPr>
                              <m:t>𝑌</m:t>
                            </m:r>
                          </m:den>
                        </m:f>
                      </m:sub>
                    </m:sSub>
                  </m:oMath>
                </a14:m>
                <a:r>
                  <a:rPr lang="en-US" sz="2000" dirty="0">
                    <a:latin typeface="+mj-lt"/>
                  </a:rPr>
                  <a:t> is defined as :        </a:t>
                </a:r>
                <a:endParaRPr lang="en-US" sz="2000" i="1" dirty="0">
                  <a:latin typeface="+mj-lt"/>
                </a:endParaRPr>
              </a:p>
              <a:p>
                <a:pPr marL="0" lvl="0" indent="0" algn="just">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f>
                            <m:fPr>
                              <m:type m:val="skw"/>
                              <m:ctrlPr>
                                <a:rPr lang="en-US" sz="2000" i="1">
                                  <a:latin typeface="Cambria Math" panose="02040503050406030204" pitchFamily="18" charset="0"/>
                                </a:rPr>
                              </m:ctrlPr>
                            </m:fPr>
                            <m:num>
                              <m:r>
                                <a:rPr lang="en-US" sz="2000" i="1">
                                  <a:latin typeface="Cambria Math" panose="02040503050406030204" pitchFamily="18" charset="0"/>
                                </a:rPr>
                                <m:t>𝑋</m:t>
                              </m:r>
                            </m:num>
                            <m:den>
                              <m:r>
                                <a:rPr lang="en-US" sz="2000" i="1">
                                  <a:latin typeface="Cambria Math" panose="02040503050406030204" pitchFamily="18" charset="0"/>
                                </a:rPr>
                                <m:t>𝑌</m:t>
                              </m:r>
                            </m:den>
                          </m:f>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den>
                      </m:f>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𝐽𝑜𝑖𝑛𝑡</m:t>
                          </m:r>
                          <m:r>
                            <a:rPr lang="en-US" sz="2000" b="0" i="1" smtClean="0">
                              <a:latin typeface="Cambria Math" panose="02040503050406030204" pitchFamily="18" charset="0"/>
                            </a:rPr>
                            <m:t> </m:t>
                          </m:r>
                          <m:r>
                            <a:rPr lang="en-US" sz="2000" b="0" i="1" smtClean="0">
                              <a:latin typeface="Cambria Math" panose="02040503050406030204" pitchFamily="18" charset="0"/>
                            </a:rPr>
                            <m:t>𝑑𝑒𝑛𝑠𝑖𝑡𝑦</m:t>
                          </m:r>
                          <m:r>
                            <a:rPr lang="en-US" sz="2000" b="0" i="1" smtClean="0">
                              <a:latin typeface="Cambria Math" panose="02040503050406030204" pitchFamily="18" charset="0"/>
                            </a:rPr>
                            <m:t> </m:t>
                          </m:r>
                          <m:r>
                            <a:rPr lang="en-US" sz="2000" b="0" i="1" smtClean="0">
                              <a:latin typeface="Cambria Math" panose="02040503050406030204" pitchFamily="18" charset="0"/>
                            </a:rPr>
                            <m:t>𝑓𝑢𝑛𝑐𝑡𝑖𝑜𝑛</m:t>
                          </m:r>
                        </m:num>
                        <m:den>
                          <m:r>
                            <a:rPr lang="en-US" sz="2000" b="0" i="1" smtClean="0">
                              <a:latin typeface="Cambria Math" panose="02040503050406030204" pitchFamily="18" charset="0"/>
                            </a:rPr>
                            <m:t>𝑀𝑎𝑟𝑔𝑖𝑛𝑎𝑙</m:t>
                          </m:r>
                          <m:r>
                            <a:rPr lang="en-US" sz="2000" b="0" i="1" smtClean="0">
                              <a:latin typeface="Cambria Math" panose="02040503050406030204" pitchFamily="18" charset="0"/>
                            </a:rPr>
                            <m:t> </m:t>
                          </m:r>
                          <m:r>
                            <a:rPr lang="en-US" sz="2000" b="0" i="1" smtClean="0">
                              <a:latin typeface="Cambria Math" panose="02040503050406030204" pitchFamily="18" charset="0"/>
                            </a:rPr>
                            <m:t>𝑃𝑟𝑜𝑏</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𝑌</m:t>
                          </m:r>
                        </m:den>
                      </m:f>
                    </m:oMath>
                  </m:oMathPara>
                </a14:m>
                <a:endParaRPr lang="en-US" sz="2000" dirty="0">
                  <a:latin typeface="+mj-lt"/>
                </a:endParaRPr>
              </a:p>
              <a:p>
                <a:pPr marL="0" lvl="0" indent="0" algn="just">
                  <a:buNone/>
                </a:pPr>
                <a:endParaRPr lang="en-US" sz="2000" dirty="0">
                  <a:latin typeface="+mj-lt"/>
                </a:endParaRPr>
              </a:p>
              <a:p>
                <a:pPr marL="0" indent="0" algn="just">
                  <a:buNone/>
                </a:pPr>
                <a:r>
                  <a:rPr lang="en-US" sz="2000" dirty="0">
                    <a:latin typeface="+mj-lt"/>
                  </a:rPr>
                  <a:t>Similarly , the conditional Probability distribution for Y given X, denoted by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𝑌</m:t>
                            </m:r>
                          </m:num>
                          <m:den>
                            <m:r>
                              <a:rPr lang="en-US" sz="2000" b="0" i="1" smtClean="0">
                                <a:latin typeface="Cambria Math" panose="02040503050406030204" pitchFamily="18" charset="0"/>
                              </a:rPr>
                              <m:t>𝑋</m:t>
                            </m:r>
                          </m:den>
                        </m:f>
                      </m:e>
                    </m:d>
                    <m:r>
                      <a:rPr lang="en-US" sz="2000" b="0" i="1" smtClean="0">
                        <a:latin typeface="Cambria Math" panose="02040503050406030204" pitchFamily="18" charset="0"/>
                      </a:rPr>
                      <m:t>𝑜𝑟</m:t>
                    </m:r>
                    <m:r>
                      <a:rPr lang="en-US" sz="2000" b="0" i="1" smtClean="0">
                        <a:latin typeface="Cambria Math" panose="02040503050406030204" pitchFamily="18" charset="0"/>
                      </a:rPr>
                      <m:t> </m:t>
                    </m:r>
                    <m:sSub>
                      <m:sSubPr>
                        <m:ctrlPr>
                          <a:rPr lang="en-US" sz="2000" b="0" i="1" smtClean="0">
                            <a:latin typeface="Cambria Math" panose="02040503050406030204" pitchFamily="18" charset="0"/>
                          </a:rPr>
                        </m:ctrlPr>
                      </m:sSubPr>
                      <m:e>
                        <m:r>
                          <a:rPr lang="en-US" sz="2000" b="0" i="1" smtClean="0">
                            <a:latin typeface="Cambria Math" panose="02040503050406030204" pitchFamily="18" charset="0"/>
                          </a:rPr>
                          <m:t>𝑃</m:t>
                        </m:r>
                      </m:e>
                      <m:sub>
                        <m:f>
                          <m:fPr>
                            <m:type m:val="lin"/>
                            <m:ctrlPr>
                              <a:rPr lang="en-US" sz="2000" b="0" i="1" smtClean="0">
                                <a:latin typeface="Cambria Math" panose="02040503050406030204" pitchFamily="18" charset="0"/>
                              </a:rPr>
                            </m:ctrlPr>
                          </m:fPr>
                          <m:num>
                            <m:r>
                              <a:rPr lang="en-US" sz="2000" b="0" i="1" smtClean="0">
                                <a:latin typeface="Cambria Math" panose="02040503050406030204" pitchFamily="18" charset="0"/>
                              </a:rPr>
                              <m:t>𝑌</m:t>
                            </m:r>
                          </m:num>
                          <m:den>
                            <m:r>
                              <a:rPr lang="en-US" sz="2000" b="0" i="1" smtClean="0">
                                <a:latin typeface="Cambria Math" panose="02040503050406030204" pitchFamily="18" charset="0"/>
                              </a:rPr>
                              <m:t>𝑋</m:t>
                            </m:r>
                          </m:den>
                        </m:f>
                      </m:sub>
                    </m:sSub>
                  </m:oMath>
                </a14:m>
                <a:r>
                  <a:rPr lang="en-US" sz="2000" dirty="0">
                    <a:latin typeface="+mj-lt"/>
                  </a:rPr>
                  <a:t>  is defined as :      </a:t>
                </a:r>
                <a:endParaRPr lang="en-US" sz="2000" i="1" dirty="0">
                  <a:latin typeface="+mj-lt"/>
                </a:endParaRPr>
              </a:p>
              <a:p>
                <a:pPr marL="0" indent="0" algn="just">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𝑃</m:t>
                      </m:r>
                      <m:d>
                        <m:dPr>
                          <m:ctrlPr>
                            <a:rPr lang="en-US" sz="2000" i="1">
                              <a:latin typeface="Cambria Math" panose="02040503050406030204" pitchFamily="18" charset="0"/>
                            </a:rPr>
                          </m:ctrlPr>
                        </m:dPr>
                        <m:e>
                          <m:f>
                            <m:fPr>
                              <m:type m:val="skw"/>
                              <m:ctrlPr>
                                <a:rPr lang="en-US" sz="2000" i="1">
                                  <a:latin typeface="Cambria Math" panose="02040503050406030204" pitchFamily="18" charset="0"/>
                                </a:rPr>
                              </m:ctrlPr>
                            </m:fPr>
                            <m:num>
                              <m:r>
                                <a:rPr lang="en-US" sz="2000" b="0" i="1" smtClean="0">
                                  <a:latin typeface="Cambria Math" panose="02040503050406030204" pitchFamily="18" charset="0"/>
                                </a:rPr>
                                <m:t>𝑌</m:t>
                              </m:r>
                            </m:num>
                            <m:den>
                              <m:r>
                                <a:rPr lang="en-US" sz="2000" b="0" i="1" smtClean="0">
                                  <a:latin typeface="Cambria Math" panose="02040503050406030204" pitchFamily="18" charset="0"/>
                                </a:rPr>
                                <m:t>𝑋</m:t>
                              </m:r>
                            </m:den>
                          </m:f>
                        </m:e>
                      </m:d>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𝑋</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𝑌</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r>
                            <a:rPr lang="en-US" sz="2000" b="0" i="1" smtClean="0">
                              <a:latin typeface="Cambria Math" panose="02040503050406030204" pitchFamily="18" charset="0"/>
                            </a:rPr>
                            <m:t>𝑥</m:t>
                          </m:r>
                          <m:r>
                            <a:rPr lang="en-US" sz="2000" i="1">
                              <a:latin typeface="Cambria Math" panose="02040503050406030204" pitchFamily="18" charset="0"/>
                            </a:rPr>
                            <m:t>)</m:t>
                          </m:r>
                        </m:den>
                      </m:f>
                      <m:r>
                        <a:rPr lang="en-US" sz="2000" i="1">
                          <a:latin typeface="Cambria Math" panose="02040503050406030204" pitchFamily="18" charset="0"/>
                        </a:rPr>
                        <m:t>=</m:t>
                      </m:r>
                      <m:f>
                        <m:fPr>
                          <m:ctrlPr>
                            <a:rPr lang="en-US" sz="2000" i="1">
                              <a:latin typeface="Cambria Math" panose="02040503050406030204" pitchFamily="18" charset="0"/>
                            </a:rPr>
                          </m:ctrlPr>
                        </m:fPr>
                        <m:num>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m:t>
                          </m:r>
                          <m:r>
                            <a:rPr lang="en-US" sz="2000" i="1">
                              <a:latin typeface="Cambria Math" panose="02040503050406030204" pitchFamily="18" charset="0"/>
                            </a:rPr>
                            <m:t>𝑦</m:t>
                          </m:r>
                          <m:r>
                            <a:rPr lang="en-US" sz="2000" i="1">
                              <a:latin typeface="Cambria Math" panose="02040503050406030204" pitchFamily="18" charset="0"/>
                            </a:rPr>
                            <m:t>)</m:t>
                          </m:r>
                        </m:num>
                        <m:den>
                          <m:r>
                            <a:rPr lang="en-US" sz="2000" i="1">
                              <a:latin typeface="Cambria Math" panose="02040503050406030204" pitchFamily="18" charset="0"/>
                            </a:rPr>
                            <m:t>𝑃</m:t>
                          </m:r>
                          <m:r>
                            <a:rPr lang="en-US" sz="2000" i="1">
                              <a:latin typeface="Cambria Math" panose="02040503050406030204" pitchFamily="18" charset="0"/>
                            </a:rPr>
                            <m:t>(</m:t>
                          </m:r>
                          <m:r>
                            <a:rPr lang="en-US" sz="2000" b="0" i="1" smtClean="0">
                              <a:latin typeface="Cambria Math" panose="02040503050406030204" pitchFamily="18" charset="0"/>
                            </a:rPr>
                            <m:t>𝑥</m:t>
                          </m:r>
                          <m:r>
                            <a:rPr lang="en-US" sz="2000" i="1">
                              <a:latin typeface="Cambria Math" panose="02040503050406030204" pitchFamily="18" charset="0"/>
                            </a:rPr>
                            <m:t>)</m:t>
                          </m:r>
                        </m:den>
                      </m:f>
                      <m:r>
                        <a:rPr lang="en-US" sz="2000" b="0" i="0"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𝐽𝑜𝑖𝑛𝑡</m:t>
                          </m:r>
                          <m:r>
                            <a:rPr lang="en-US" sz="2000" b="0" i="1" smtClean="0">
                              <a:latin typeface="Cambria Math" panose="02040503050406030204" pitchFamily="18" charset="0"/>
                            </a:rPr>
                            <m:t> </m:t>
                          </m:r>
                          <m:r>
                            <a:rPr lang="en-US" sz="2000" b="0" i="1" smtClean="0">
                              <a:latin typeface="Cambria Math" panose="02040503050406030204" pitchFamily="18" charset="0"/>
                            </a:rPr>
                            <m:t>𝑑𝑒𝑛𝑠𝑖𝑡𝑦</m:t>
                          </m:r>
                          <m:r>
                            <a:rPr lang="en-US" sz="2000" b="0" i="1" smtClean="0">
                              <a:latin typeface="Cambria Math" panose="02040503050406030204" pitchFamily="18" charset="0"/>
                            </a:rPr>
                            <m:t> </m:t>
                          </m:r>
                          <m:r>
                            <a:rPr lang="en-US" sz="2000" b="0" i="1" smtClean="0">
                              <a:latin typeface="Cambria Math" panose="02040503050406030204" pitchFamily="18" charset="0"/>
                            </a:rPr>
                            <m:t>𝑓𝑢𝑛𝑐𝑡𝑖𝑜𝑛</m:t>
                          </m:r>
                        </m:num>
                        <m:den>
                          <m:r>
                            <a:rPr lang="en-US" sz="2000" b="0" i="1" smtClean="0">
                              <a:latin typeface="Cambria Math" panose="02040503050406030204" pitchFamily="18" charset="0"/>
                            </a:rPr>
                            <m:t>𝑀𝑎𝑟𝑔𝑖𝑛𝑎𝑙</m:t>
                          </m:r>
                          <m:r>
                            <a:rPr lang="en-US" sz="2000" b="0" i="1" smtClean="0">
                              <a:latin typeface="Cambria Math" panose="02040503050406030204" pitchFamily="18" charset="0"/>
                            </a:rPr>
                            <m:t> </m:t>
                          </m:r>
                          <m:r>
                            <a:rPr lang="en-US" sz="2000" b="0" i="1" smtClean="0">
                              <a:latin typeface="Cambria Math" panose="02040503050406030204" pitchFamily="18" charset="0"/>
                            </a:rPr>
                            <m:t>𝑃𝑟𝑜𝑏</m:t>
                          </m:r>
                          <m:r>
                            <a:rPr lang="en-US" sz="2000" b="0" i="1" smtClean="0">
                              <a:latin typeface="Cambria Math" panose="02040503050406030204" pitchFamily="18" charset="0"/>
                            </a:rPr>
                            <m:t>. </m:t>
                          </m:r>
                          <m:r>
                            <a:rPr lang="en-US" sz="2000" b="0" i="1" smtClean="0">
                              <a:latin typeface="Cambria Math" panose="02040503050406030204" pitchFamily="18" charset="0"/>
                            </a:rPr>
                            <m:t>𝑜𝑓</m:t>
                          </m:r>
                          <m:r>
                            <a:rPr lang="en-US" sz="2000" b="0" i="1" smtClean="0">
                              <a:latin typeface="Cambria Math" panose="02040503050406030204" pitchFamily="18" charset="0"/>
                            </a:rPr>
                            <m:t> </m:t>
                          </m:r>
                          <m:r>
                            <a:rPr lang="en-US" sz="2000" b="0" i="1" smtClean="0">
                              <a:latin typeface="Cambria Math" panose="02040503050406030204" pitchFamily="18" charset="0"/>
                            </a:rPr>
                            <m:t>𝑋</m:t>
                          </m:r>
                        </m:den>
                      </m:f>
                    </m:oMath>
                  </m:oMathPara>
                </a14:m>
                <a:endParaRPr lang="en-US" sz="2000" dirty="0">
                  <a:latin typeface="+mj-lt"/>
                </a:endParaRPr>
              </a:p>
              <a:p>
                <a:pPr marL="0" indent="0">
                  <a:buNone/>
                </a:pPr>
                <a:endParaRPr lang="en-US" sz="2000"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914399" y="1524000"/>
                <a:ext cx="7543801" cy="3810000"/>
              </a:xfrm>
              <a:blipFill>
                <a:blip r:embed="rId2"/>
                <a:stretch>
                  <a:fillRect l="-808" t="-4160" r="-72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38</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Conditional Probability distribution(CO3)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879004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149850"/>
              </a:xfrm>
            </p:spPr>
            <p:txBody>
              <a:bodyPr>
                <a:normAutofit/>
              </a:bodyPr>
              <a:lstStyle/>
              <a:p>
                <a:pPr marL="0" lvl="0" indent="0" algn="just">
                  <a:buNone/>
                </a:pPr>
                <a:r>
                  <a:rPr lang="en-US" sz="2000" b="1" dirty="0">
                    <a:latin typeface="+mj-lt"/>
                  </a:rPr>
                  <a:t>Example:</a:t>
                </a:r>
                <a:r>
                  <a:rPr lang="en-US" sz="2000" dirty="0">
                    <a:latin typeface="+mj-lt"/>
                  </a:rPr>
                  <a:t> The joint density function of X and Y is given by</a:t>
                </a:r>
              </a:p>
              <a:p>
                <a:pPr marL="0" lvl="0" indent="0" algn="just">
                  <a:buNone/>
                </a:pPr>
                <a:r>
                  <a:rPr lang="en-US" sz="2000" dirty="0">
                    <a:latin typeface="+mj-lt"/>
                  </a:rPr>
                  <a:t>               </a:t>
                </a:r>
                <a14:m>
                  <m:oMath xmlns:m="http://schemas.openxmlformats.org/officeDocument/2006/math">
                    <m:r>
                      <a:rPr lang="en-US" sz="2000" i="1">
                        <a:latin typeface="Cambria Math" panose="02040503050406030204" pitchFamily="18" charset="0"/>
                      </a:rPr>
                      <m:t>𝑃</m:t>
                    </m:r>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 </m:t>
                    </m:r>
                    <m:r>
                      <a:rPr lang="en-US" sz="2000" i="1">
                        <a:latin typeface="Cambria Math" panose="02040503050406030204" pitchFamily="18" charset="0"/>
                      </a:rPr>
                      <m:t>𝑦</m:t>
                    </m:r>
                    <m:r>
                      <a:rPr lang="en-US" sz="2000" i="1">
                        <a:latin typeface="Cambria Math" panose="02040503050406030204" pitchFamily="18" charset="0"/>
                      </a:rPr>
                      <m:t>)=</m:t>
                    </m:r>
                    <m:f>
                      <m:fPr>
                        <m:ctrlPr>
                          <a:rPr lang="en-US" sz="2000" i="1" smtClean="0">
                            <a:latin typeface="Cambria Math" panose="02040503050406030204" pitchFamily="18" charset="0"/>
                          </a:rPr>
                        </m:ctrlPr>
                      </m:fPr>
                      <m:num>
                        <m:r>
                          <a:rPr lang="en-US" sz="2000" b="0" i="1" smtClean="0">
                            <a:latin typeface="Cambria Math" panose="02040503050406030204" pitchFamily="18" charset="0"/>
                          </a:rPr>
                          <m:t>(2</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num>
                      <m:den>
                        <m:r>
                          <a:rPr lang="en-US" sz="2000" b="0" i="1" smtClean="0">
                            <a:latin typeface="Cambria Math" panose="02040503050406030204" pitchFamily="18" charset="0"/>
                          </a:rPr>
                          <m:t>27</m:t>
                        </m:r>
                      </m:den>
                    </m:f>
                    <m:r>
                      <a:rPr lang="en-US" sz="2000" i="1">
                        <a:latin typeface="Cambria Math" panose="02040503050406030204" pitchFamily="18" charset="0"/>
                      </a:rPr>
                      <m:t>;</m:t>
                    </m:r>
                    <m:r>
                      <a:rPr lang="en-US" sz="2000" i="1">
                        <a:latin typeface="Cambria Math" panose="02040503050406030204" pitchFamily="18" charset="0"/>
                      </a:rPr>
                      <m:t>𝑥</m:t>
                    </m:r>
                    <m:r>
                      <a:rPr lang="en-US" sz="2000" i="1">
                        <a:latin typeface="Cambria Math" panose="02040503050406030204" pitchFamily="18" charset="0"/>
                      </a:rPr>
                      <m:t>=0,1,2;</m:t>
                    </m:r>
                    <m:r>
                      <a:rPr lang="en-US" sz="2000" i="1">
                        <a:latin typeface="Cambria Math" panose="02040503050406030204" pitchFamily="18" charset="0"/>
                      </a:rPr>
                      <m:t>𝑦</m:t>
                    </m:r>
                    <m:r>
                      <a:rPr lang="en-US" sz="2000" i="1">
                        <a:latin typeface="Cambria Math" panose="02040503050406030204" pitchFamily="18" charset="0"/>
                      </a:rPr>
                      <m:t>=0,1,2</m:t>
                    </m:r>
                  </m:oMath>
                </a14:m>
                <a:r>
                  <a:rPr lang="en-US" sz="2000" dirty="0">
                    <a:latin typeface="+mj-lt"/>
                  </a:rPr>
                  <a:t>   </a:t>
                </a:r>
              </a:p>
              <a:p>
                <a:pPr marL="0" lvl="0" indent="0" algn="just">
                  <a:buNone/>
                </a:pPr>
                <a:r>
                  <a:rPr lang="en-US" sz="2000" dirty="0">
                    <a:latin typeface="+mj-lt"/>
                  </a:rPr>
                  <a:t>Find the conditional probability distribution of Y  given </a:t>
                </a:r>
                <a14:m>
                  <m:oMath xmlns:m="http://schemas.openxmlformats.org/officeDocument/2006/math">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oMath>
                </a14:m>
                <a:r>
                  <a:rPr lang="en-US" sz="2000" dirty="0">
                    <a:latin typeface="+mj-lt"/>
                  </a:rPr>
                  <a:t>  </a:t>
                </a:r>
              </a:p>
              <a:p>
                <a:pPr marL="0" lvl="0" indent="0" algn="just">
                  <a:buNone/>
                </a:pPr>
                <a:r>
                  <a:rPr lang="en-US" sz="2000" b="1" dirty="0">
                    <a:latin typeface="+mj-lt"/>
                  </a:rPr>
                  <a:t>Solution:</a:t>
                </a:r>
                <a:r>
                  <a:rPr lang="en-US" sz="2000" dirty="0">
                    <a:latin typeface="+mj-lt"/>
                  </a:rPr>
                  <a:t> The conditional Prob. Distribution of Y when </a:t>
                </a:r>
                <a14:m>
                  <m:oMath xmlns:m="http://schemas.openxmlformats.org/officeDocument/2006/math">
                    <m:r>
                      <a:rPr lang="en-US" sz="2000" i="1">
                        <a:latin typeface="Cambria Math" panose="02040503050406030204" pitchFamily="18" charset="0"/>
                      </a:rPr>
                      <m:t>𝑋</m:t>
                    </m:r>
                    <m:r>
                      <a:rPr lang="en-US" sz="2000" i="1">
                        <a:latin typeface="Cambria Math" panose="02040503050406030204" pitchFamily="18" charset="0"/>
                      </a:rPr>
                      <m:t>=</m:t>
                    </m:r>
                    <m:r>
                      <a:rPr lang="en-US" sz="2000" i="1">
                        <a:latin typeface="Cambria Math" panose="02040503050406030204" pitchFamily="18" charset="0"/>
                      </a:rPr>
                      <m:t>𝑥</m:t>
                    </m:r>
                  </m:oMath>
                </a14:m>
                <a:r>
                  <a:rPr lang="en-US" sz="2000" dirty="0">
                    <a:latin typeface="+mj-lt"/>
                  </a:rPr>
                  <a:t> is given:</a:t>
                </a:r>
              </a:p>
              <a:p>
                <a:pPr marL="0" lvl="0" indent="0" algn="just">
                  <a:buNone/>
                </a:pPr>
                <a:r>
                  <a:rPr lang="en-US" sz="2000" dirty="0">
                    <a:latin typeface="+mj-lt"/>
                  </a:rPr>
                  <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𝑌</m:t>
                            </m:r>
                          </m:num>
                          <m:den>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𝑥</m:t>
                            </m:r>
                          </m:den>
                        </m:f>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den>
                    </m:f>
                  </m:oMath>
                </a14:m>
                <a:r>
                  <a:rPr lang="en-US" sz="2000" dirty="0">
                    <a:latin typeface="+mj-lt"/>
                  </a:rPr>
                  <a:t>       </a:t>
                </a:r>
              </a:p>
              <a:p>
                <a:pPr marL="0" lvl="0" indent="0" algn="just">
                  <a:buNone/>
                </a:pPr>
                <a:r>
                  <a:rPr lang="en-US" sz="2000" dirty="0">
                    <a:latin typeface="+mj-lt"/>
                  </a:rPr>
                  <a:t>For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=0:</m:t>
                    </m:r>
                  </m:oMath>
                </a14:m>
                <a:r>
                  <a:rPr lang="en-US" sz="2000" dirty="0">
                    <a:latin typeface="+mj-lt"/>
                  </a:rPr>
                  <a:t>        </a:t>
                </a:r>
                <a14:m>
                  <m:oMath xmlns:m="http://schemas.openxmlformats.org/officeDocument/2006/math">
                    <m:r>
                      <a:rPr lang="en-US" sz="2000" b="0" i="1" dirty="0" smtClean="0">
                        <a:latin typeface="Cambria Math" panose="02040503050406030204" pitchFamily="18" charset="0"/>
                      </a:rPr>
                      <m:t>𝑃</m:t>
                    </m:r>
                    <m:d>
                      <m:dPr>
                        <m:ctrlPr>
                          <a:rPr lang="en-US" sz="2000" b="0" i="1" dirty="0" smtClean="0">
                            <a:latin typeface="Cambria Math" panose="02040503050406030204" pitchFamily="18" charset="0"/>
                          </a:rPr>
                        </m:ctrlPr>
                      </m:dPr>
                      <m:e>
                        <m:f>
                          <m:fPr>
                            <m:type m:val="skw"/>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𝑌</m:t>
                            </m:r>
                          </m:num>
                          <m:den>
                            <m:r>
                              <a:rPr lang="en-US" sz="2000" b="0" i="1" dirty="0" smtClean="0">
                                <a:latin typeface="Cambria Math" panose="02040503050406030204" pitchFamily="18" charset="0"/>
                              </a:rPr>
                              <m:t>𝑋</m:t>
                            </m:r>
                            <m:r>
                              <a:rPr lang="en-US" sz="2000" b="0" i="1" dirty="0" smtClean="0">
                                <a:latin typeface="Cambria Math" panose="02040503050406030204" pitchFamily="18" charset="0"/>
                              </a:rPr>
                              <m:t>=</m:t>
                            </m:r>
                            <m:r>
                              <a:rPr lang="en-US" sz="2000" b="0" i="1" dirty="0" smtClean="0">
                                <a:latin typeface="Cambria Math" panose="02040503050406030204" pitchFamily="18" charset="0"/>
                              </a:rPr>
                              <m:t>𝑥</m:t>
                            </m:r>
                          </m:den>
                        </m:f>
                      </m:e>
                    </m:d>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𝑃</m:t>
                        </m:r>
                        <m:r>
                          <a:rPr lang="en-US" sz="2000" b="0" i="1" dirty="0" smtClean="0">
                            <a:latin typeface="Cambria Math" panose="02040503050406030204" pitchFamily="18" charset="0"/>
                          </a:rPr>
                          <m:t>(0,</m:t>
                        </m:r>
                        <m:r>
                          <a:rPr lang="en-US" sz="2000" b="0" i="1" dirty="0" smtClean="0">
                            <a:latin typeface="Cambria Math" panose="02040503050406030204" pitchFamily="18" charset="0"/>
                          </a:rPr>
                          <m:t>𝑌</m:t>
                        </m:r>
                        <m:r>
                          <a:rPr lang="en-US" sz="2000" b="0" i="1" dirty="0" smtClean="0">
                            <a:latin typeface="Cambria Math" panose="02040503050406030204" pitchFamily="18" charset="0"/>
                          </a:rPr>
                          <m:t>)</m:t>
                        </m:r>
                      </m:num>
                      <m:den>
                        <m:r>
                          <a:rPr lang="en-US" sz="2000" b="0" i="1" dirty="0" smtClean="0">
                            <a:latin typeface="Cambria Math" panose="02040503050406030204" pitchFamily="18" charset="0"/>
                          </a:rPr>
                          <m:t>𝑃</m:t>
                        </m:r>
                        <m:r>
                          <a:rPr lang="en-US" sz="2000" b="0" i="1" dirty="0" smtClean="0">
                            <a:latin typeface="Cambria Math" panose="02040503050406030204" pitchFamily="18" charset="0"/>
                          </a:rPr>
                          <m:t>(0)</m:t>
                        </m:r>
                      </m:den>
                    </m:f>
                  </m:oMath>
                </a14:m>
                <a:endParaRPr lang="en-US" sz="2000" b="0" i="1" dirty="0">
                  <a:latin typeface="+mj-lt"/>
                </a:endParaRPr>
              </a:p>
              <a:p>
                <a:pPr marL="0" lvl="0" indent="0" algn="just">
                  <a:buNone/>
                </a:pPr>
                <a:r>
                  <a:rPr lang="en-US" sz="2000" b="0" dirty="0"/>
                  <a:t>			</a:t>
                </a:r>
                <a14:m>
                  <m:oMath xmlns:m="http://schemas.openxmlformats.org/officeDocument/2006/math">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0</m:t>
                        </m:r>
                      </m:num>
                      <m:den>
                        <m:f>
                          <m:fPr>
                            <m:type m:val="skw"/>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3</m:t>
                            </m:r>
                          </m:num>
                          <m:den>
                            <m:r>
                              <a:rPr lang="en-US" sz="2000" b="0" i="1" dirty="0" smtClean="0">
                                <a:latin typeface="Cambria Math" panose="02040503050406030204" pitchFamily="18" charset="0"/>
                              </a:rPr>
                              <m:t>27</m:t>
                            </m:r>
                          </m:den>
                        </m:f>
                      </m:den>
                    </m:f>
                    <m:r>
                      <a:rPr lang="en-US" sz="2000" b="0" i="1" dirty="0" smtClean="0">
                        <a:latin typeface="Cambria Math" panose="02040503050406030204" pitchFamily="18" charset="0"/>
                      </a:rPr>
                      <m:t>=0</m:t>
                    </m:r>
                  </m:oMath>
                </a14:m>
                <a:endParaRPr lang="en-US" sz="2000" b="0" dirty="0">
                  <a:latin typeface="+mj-lt"/>
                </a:endParaRPr>
              </a:p>
              <a:p>
                <a:pPr marL="0" lvl="0" indent="0" algn="just">
                  <a:buNone/>
                </a:pPr>
                <a:r>
                  <a:rPr lang="en-US" sz="2000" dirty="0">
                    <a:latin typeface="+mj-lt"/>
                  </a:rPr>
                  <a:t>For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=1:        </m:t>
                    </m:r>
                  </m:oMath>
                </a14:m>
                <a:r>
                  <a:rPr lang="en-US" sz="2000" dirty="0">
                    <a:latin typeface="+mj-lt"/>
                  </a:rPr>
                  <a:t> </a:t>
                </a:r>
                <a14:m>
                  <m:oMath xmlns:m="http://schemas.openxmlformats.org/officeDocument/2006/math">
                    <m:r>
                      <a:rPr lang="en-US" sz="2000" i="1" dirty="0">
                        <a:latin typeface="Cambria Math" panose="02040503050406030204" pitchFamily="18" charset="0"/>
                      </a:rPr>
                      <m:t>𝑃</m:t>
                    </m:r>
                    <m:d>
                      <m:dPr>
                        <m:ctrlPr>
                          <a:rPr lang="en-US" sz="2000" i="1" dirty="0">
                            <a:latin typeface="Cambria Math" panose="02040503050406030204" pitchFamily="18" charset="0"/>
                          </a:rPr>
                        </m:ctrlPr>
                      </m:dPr>
                      <m:e>
                        <m:f>
                          <m:fPr>
                            <m:type m:val="skw"/>
                            <m:ctrlPr>
                              <a:rPr lang="en-US" sz="2000" i="1" dirty="0">
                                <a:latin typeface="Cambria Math" panose="02040503050406030204" pitchFamily="18" charset="0"/>
                              </a:rPr>
                            </m:ctrlPr>
                          </m:fPr>
                          <m:num>
                            <m:r>
                              <a:rPr lang="en-US" sz="2000" i="1" dirty="0">
                                <a:latin typeface="Cambria Math" panose="02040503050406030204" pitchFamily="18" charset="0"/>
                              </a:rPr>
                              <m:t>𝑌</m:t>
                            </m:r>
                          </m:num>
                          <m:den>
                            <m:r>
                              <a:rPr lang="en-US" sz="2000" i="1" dirty="0">
                                <a:latin typeface="Cambria Math" panose="02040503050406030204" pitchFamily="18" charset="0"/>
                              </a:rPr>
                              <m:t>𝑋</m:t>
                            </m:r>
                            <m:r>
                              <a:rPr lang="en-US" sz="2000" i="1" dirty="0">
                                <a:latin typeface="Cambria Math" panose="02040503050406030204" pitchFamily="18" charset="0"/>
                              </a:rPr>
                              <m:t>=</m:t>
                            </m:r>
                            <m:r>
                              <a:rPr lang="en-US" sz="2000" i="1" dirty="0">
                                <a:latin typeface="Cambria Math" panose="02040503050406030204" pitchFamily="18" charset="0"/>
                              </a:rPr>
                              <m:t>𝑥</m:t>
                            </m:r>
                          </m:den>
                        </m:f>
                      </m:e>
                    </m:d>
                    <m:r>
                      <a:rPr lang="en-US" sz="2000" b="0" i="0"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0" dirty="0" smtClean="0">
                            <a:latin typeface="Cambria Math" panose="02040503050406030204" pitchFamily="18" charset="0"/>
                          </a:rPr>
                          <m:t>3</m:t>
                        </m:r>
                      </m:num>
                      <m:den>
                        <m:r>
                          <a:rPr lang="en-US" sz="2000" b="0" i="0" dirty="0" smtClean="0">
                            <a:latin typeface="Cambria Math" panose="02040503050406030204" pitchFamily="18" charset="0"/>
                          </a:rPr>
                          <m:t>9</m:t>
                        </m:r>
                      </m:den>
                    </m:f>
                  </m:oMath>
                </a14:m>
                <a:endParaRPr lang="en-US" sz="2000" b="0" dirty="0">
                  <a:latin typeface="+mj-lt"/>
                </a:endParaRPr>
              </a:p>
              <a:p>
                <a:pPr marL="0" lvl="0" indent="0" algn="just">
                  <a:buNone/>
                </a:pPr>
                <a:r>
                  <a:rPr lang="en-US" sz="2000" dirty="0">
                    <a:latin typeface="+mj-lt"/>
                  </a:rPr>
                  <a:t>For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=2:</m:t>
                    </m:r>
                  </m:oMath>
                </a14:m>
                <a:r>
                  <a:rPr lang="en-US" sz="2000" dirty="0">
                    <a:latin typeface="+mj-lt"/>
                  </a:rPr>
                  <a:t>       </a:t>
                </a:r>
                <a14:m>
                  <m:oMath xmlns:m="http://schemas.openxmlformats.org/officeDocument/2006/math">
                    <m:r>
                      <a:rPr lang="en-US" sz="2000" i="1" dirty="0">
                        <a:latin typeface="Cambria Math" panose="02040503050406030204" pitchFamily="18" charset="0"/>
                      </a:rPr>
                      <m:t>𝑃</m:t>
                    </m:r>
                    <m:d>
                      <m:dPr>
                        <m:ctrlPr>
                          <a:rPr lang="en-US" sz="2000" i="1" dirty="0">
                            <a:latin typeface="Cambria Math" panose="02040503050406030204" pitchFamily="18" charset="0"/>
                          </a:rPr>
                        </m:ctrlPr>
                      </m:dPr>
                      <m:e>
                        <m:f>
                          <m:fPr>
                            <m:type m:val="skw"/>
                            <m:ctrlPr>
                              <a:rPr lang="en-US" sz="2000" i="1" dirty="0">
                                <a:latin typeface="Cambria Math" panose="02040503050406030204" pitchFamily="18" charset="0"/>
                              </a:rPr>
                            </m:ctrlPr>
                          </m:fPr>
                          <m:num>
                            <m:r>
                              <a:rPr lang="en-US" sz="2000" i="1" dirty="0">
                                <a:latin typeface="Cambria Math" panose="02040503050406030204" pitchFamily="18" charset="0"/>
                              </a:rPr>
                              <m:t>𝑌</m:t>
                            </m:r>
                          </m:num>
                          <m:den>
                            <m:r>
                              <a:rPr lang="en-US" sz="2000" i="1" dirty="0">
                                <a:latin typeface="Cambria Math" panose="02040503050406030204" pitchFamily="18" charset="0"/>
                              </a:rPr>
                              <m:t>𝑋</m:t>
                            </m:r>
                            <m:r>
                              <a:rPr lang="en-US" sz="2000" i="1" dirty="0">
                                <a:latin typeface="Cambria Math" panose="02040503050406030204" pitchFamily="18" charset="0"/>
                              </a:rPr>
                              <m:t>=</m:t>
                            </m:r>
                            <m:r>
                              <a:rPr lang="en-US" sz="2000" i="1" dirty="0">
                                <a:latin typeface="Cambria Math" panose="02040503050406030204" pitchFamily="18" charset="0"/>
                              </a:rPr>
                              <m:t>𝑥</m:t>
                            </m:r>
                          </m:den>
                        </m:f>
                      </m:e>
                    </m:d>
                    <m:r>
                      <a:rPr lang="en-US" sz="2000" b="0" i="1" dirty="0" smtClean="0">
                        <a:latin typeface="Cambria Math" panose="02040503050406030204" pitchFamily="18" charset="0"/>
                      </a:rPr>
                      <m:t>=</m:t>
                    </m:r>
                    <m:f>
                      <m:fPr>
                        <m:ctrlPr>
                          <a:rPr lang="en-US" sz="2000" b="0" i="1" dirty="0" smtClean="0">
                            <a:latin typeface="Cambria Math" panose="02040503050406030204" pitchFamily="18" charset="0"/>
                          </a:rPr>
                        </m:ctrlPr>
                      </m:fPr>
                      <m:num>
                        <m:r>
                          <a:rPr lang="en-US" sz="2000" b="0" i="1" dirty="0" smtClean="0">
                            <a:latin typeface="Cambria Math" panose="02040503050406030204" pitchFamily="18" charset="0"/>
                          </a:rPr>
                          <m:t>4</m:t>
                        </m:r>
                      </m:num>
                      <m:den>
                        <m:r>
                          <a:rPr lang="en-US" sz="2000" b="0" i="1" dirty="0" smtClean="0">
                            <a:latin typeface="Cambria Math" panose="02040503050406030204" pitchFamily="18" charset="0"/>
                          </a:rPr>
                          <m:t>9</m:t>
                        </m:r>
                      </m:den>
                    </m:f>
                  </m:oMath>
                </a14:m>
                <a:endParaRPr lang="en-US" sz="2000" dirty="0">
                  <a:latin typeface="+mj-lt"/>
                </a:endParaRPr>
              </a:p>
              <a:p>
                <a:pPr marL="0" lvl="0" indent="0" algn="just">
                  <a:buNone/>
                </a:pPr>
                <a:r>
                  <a:rPr lang="en-US" sz="2000" dirty="0">
                    <a:latin typeface="+mj-lt"/>
                  </a:rPr>
                  <a:t> </a:t>
                </a:r>
              </a:p>
              <a:p>
                <a:pPr marL="0" indent="0">
                  <a:buNone/>
                </a:pPr>
                <a:endParaRPr lang="en-US" sz="2000" dirty="0">
                  <a:latin typeface="+mj-lt"/>
                </a:endParaRPr>
              </a:p>
              <a:p>
                <a:pPr marL="0" lvl="0" indent="0">
                  <a:buNone/>
                </a:pPr>
                <a:endParaRPr lang="en-US" sz="2000" dirty="0">
                  <a:latin typeface="+mj-lt"/>
                </a:endParaRPr>
              </a:p>
              <a:p>
                <a:pPr marL="0" indent="0">
                  <a:buNone/>
                </a:pPr>
                <a:endParaRPr lang="en-US" sz="2000"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149850"/>
              </a:xfrm>
              <a:blipFill>
                <a:blip r:embed="rId2"/>
                <a:stretch>
                  <a:fillRect l="-815" t="-71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39</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Conditional Probability distribution(CO3)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mc:AlternateContent xmlns:mc="http://schemas.openxmlformats.org/markup-compatibility/2006" xmlns:a14="http://schemas.microsoft.com/office/drawing/2010/main">
        <mc:Choice Requires="a14">
          <p:graphicFrame>
            <p:nvGraphicFramePr>
              <p:cNvPr id="8" name="Table 7"/>
              <p:cNvGraphicFramePr>
                <a:graphicFrameLocks noGrp="1"/>
              </p:cNvGraphicFramePr>
              <p:nvPr>
                <p:extLst>
                  <p:ext uri="{D42A27DB-BD31-4B8C-83A1-F6EECF244321}">
                    <p14:modId xmlns:p14="http://schemas.microsoft.com/office/powerpoint/2010/main" val="1636668984"/>
                  </p:ext>
                </p:extLst>
              </p:nvPr>
            </p:nvGraphicFramePr>
            <p:xfrm>
              <a:off x="4876800" y="3215975"/>
              <a:ext cx="3733800" cy="2499026"/>
            </p:xfrm>
            <a:graphic>
              <a:graphicData uri="http://schemas.openxmlformats.org/drawingml/2006/table">
                <a:tbl>
                  <a:tblPr firstRow="1" bandRow="1">
                    <a:tableStyleId>{5C22544A-7EE6-4342-B048-85BDC9FD1C3A}</a:tableStyleId>
                  </a:tblPr>
                  <a:tblGrid>
                    <a:gridCol w="730526">
                      <a:extLst>
                        <a:ext uri="{9D8B030D-6E8A-4147-A177-3AD203B41FA5}">
                          <a16:colId xmlns:a16="http://schemas.microsoft.com/office/drawing/2014/main" val="20000"/>
                        </a:ext>
                      </a:extLst>
                    </a:gridCol>
                    <a:gridCol w="730526">
                      <a:extLst>
                        <a:ext uri="{9D8B030D-6E8A-4147-A177-3AD203B41FA5}">
                          <a16:colId xmlns:a16="http://schemas.microsoft.com/office/drawing/2014/main" val="20001"/>
                        </a:ext>
                      </a:extLst>
                    </a:gridCol>
                    <a:gridCol w="730526">
                      <a:extLst>
                        <a:ext uri="{9D8B030D-6E8A-4147-A177-3AD203B41FA5}">
                          <a16:colId xmlns:a16="http://schemas.microsoft.com/office/drawing/2014/main" val="20002"/>
                        </a:ext>
                      </a:extLst>
                    </a:gridCol>
                    <a:gridCol w="764349">
                      <a:extLst>
                        <a:ext uri="{9D8B030D-6E8A-4147-A177-3AD203B41FA5}">
                          <a16:colId xmlns:a16="http://schemas.microsoft.com/office/drawing/2014/main" val="20003"/>
                        </a:ext>
                      </a:extLst>
                    </a:gridCol>
                    <a:gridCol w="777873">
                      <a:extLst>
                        <a:ext uri="{9D8B030D-6E8A-4147-A177-3AD203B41FA5}">
                          <a16:colId xmlns:a16="http://schemas.microsoft.com/office/drawing/2014/main" val="20004"/>
                        </a:ext>
                      </a:extLst>
                    </a:gridCol>
                  </a:tblGrid>
                  <a:tr h="728994">
                    <a:tc>
                      <a:txBody>
                        <a:bodyPr/>
                        <a:lstStyle/>
                        <a:p>
                          <a:r>
                            <a:rPr lang="en-US" dirty="0"/>
                            <a:t>Y</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endParaRPr lang="en-US" dirty="0"/>
                        </a:p>
                        <a:p>
                          <a:r>
                            <a:rPr lang="en-US" dirty="0"/>
                            <a:t>X</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endParaRPr lang="en-US" dirty="0"/>
                        </a:p>
                      </a:txBody>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Total</a:t>
                          </a:r>
                        </a:p>
                      </a:txBody>
                      <a:tcPr/>
                    </a:tc>
                    <a:extLst>
                      <a:ext uri="{0D108BD9-81ED-4DB2-BD59-A6C34878D82A}">
                        <a16:rowId xmlns:a16="http://schemas.microsoft.com/office/drawing/2014/main" val="10000"/>
                      </a:ext>
                    </a:extLst>
                  </a:tr>
                  <a:tr h="416568">
                    <a:tc>
                      <a:txBody>
                        <a:bodyPr/>
                        <a:lstStyle/>
                        <a:p>
                          <a:r>
                            <a:rPr lang="en-US" dirty="0"/>
                            <a:t>0</a:t>
                          </a:r>
                        </a:p>
                      </a:txBody>
                      <a:tcPr/>
                    </a:tc>
                    <a:tc>
                      <a:txBody>
                        <a:bodyPr/>
                        <a:lstStyle/>
                        <a:p>
                          <a:r>
                            <a:rPr lang="en-US" dirty="0"/>
                            <a:t>0</a:t>
                          </a:r>
                        </a:p>
                      </a:txBody>
                      <a:tcPr/>
                    </a:tc>
                    <a:tc>
                      <a:txBody>
                        <a:bodyPr/>
                        <a:lstStyle/>
                        <a:p>
                          <a:r>
                            <a:rPr lang="en-US" dirty="0"/>
                            <a:t>1/27</a:t>
                          </a:r>
                        </a:p>
                      </a:txBody>
                      <a:tcPr/>
                    </a:tc>
                    <a:tc>
                      <a:txBody>
                        <a:bodyPr/>
                        <a:lstStyle/>
                        <a:p>
                          <a:r>
                            <a:rPr lang="en-US" dirty="0"/>
                            <a:t>2/27</a:t>
                          </a:r>
                        </a:p>
                      </a:txBody>
                      <a:tcPr/>
                    </a:tc>
                    <a:tc>
                      <a:txBody>
                        <a:bodyPr/>
                        <a:lstStyle/>
                        <a:p>
                          <a:r>
                            <a:rPr lang="en-US" dirty="0"/>
                            <a:t>3/27</a:t>
                          </a:r>
                        </a:p>
                      </a:txBody>
                      <a:tcPr/>
                    </a:tc>
                    <a:extLst>
                      <a:ext uri="{0D108BD9-81ED-4DB2-BD59-A6C34878D82A}">
                        <a16:rowId xmlns:a16="http://schemas.microsoft.com/office/drawing/2014/main" val="10001"/>
                      </a:ext>
                    </a:extLst>
                  </a:tr>
                  <a:tr h="416568">
                    <a:tc>
                      <a:txBody>
                        <a:bodyPr/>
                        <a:lstStyle/>
                        <a:p>
                          <a:r>
                            <a:rPr lang="en-US" dirty="0"/>
                            <a:t>1</a:t>
                          </a:r>
                        </a:p>
                      </a:txBody>
                      <a:tcPr/>
                    </a:tc>
                    <a:tc>
                      <a:txBody>
                        <a:bodyPr/>
                        <a:lstStyle/>
                        <a:p>
                          <a:r>
                            <a:rPr lang="en-US" dirty="0"/>
                            <a:t>2/27</a:t>
                          </a:r>
                        </a:p>
                      </a:txBody>
                      <a:tcPr/>
                    </a:tc>
                    <a:tc>
                      <a:txBody>
                        <a:bodyPr/>
                        <a:lstStyle/>
                        <a:p>
                          <a:r>
                            <a:rPr lang="en-US" dirty="0"/>
                            <a:t>3/27</a:t>
                          </a:r>
                        </a:p>
                      </a:txBody>
                      <a:tcPr/>
                    </a:tc>
                    <a:tc>
                      <a:txBody>
                        <a:bodyPr/>
                        <a:lstStyle/>
                        <a:p>
                          <a:r>
                            <a:rPr lang="en-US" dirty="0"/>
                            <a:t>4/27</a:t>
                          </a:r>
                        </a:p>
                      </a:txBody>
                      <a:tcPr/>
                    </a:tc>
                    <a:tc>
                      <a:txBody>
                        <a:bodyPr/>
                        <a:lstStyle/>
                        <a:p>
                          <a:r>
                            <a:rPr lang="en-US" dirty="0"/>
                            <a:t>9/27</a:t>
                          </a:r>
                        </a:p>
                      </a:txBody>
                      <a:tcPr/>
                    </a:tc>
                    <a:extLst>
                      <a:ext uri="{0D108BD9-81ED-4DB2-BD59-A6C34878D82A}">
                        <a16:rowId xmlns:a16="http://schemas.microsoft.com/office/drawing/2014/main" val="10002"/>
                      </a:ext>
                    </a:extLst>
                  </a:tr>
                  <a:tr h="448334">
                    <a:tc>
                      <a:txBody>
                        <a:bodyPr/>
                        <a:lstStyle/>
                        <a:p>
                          <a:r>
                            <a:rPr lang="en-US" dirty="0"/>
                            <a:t>2</a:t>
                          </a:r>
                        </a:p>
                      </a:txBody>
                      <a:tcPr/>
                    </a:tc>
                    <a:tc>
                      <a:txBody>
                        <a:bodyPr/>
                        <a:lstStyle/>
                        <a:p>
                          <a:r>
                            <a:rPr lang="en-US" dirty="0"/>
                            <a:t>4/27</a:t>
                          </a:r>
                        </a:p>
                      </a:txBody>
                      <a:tcPr/>
                    </a:tc>
                    <a:tc>
                      <a:txBody>
                        <a:bodyPr/>
                        <a:lstStyle/>
                        <a:p>
                          <a:r>
                            <a:rPr lang="en-US" dirty="0"/>
                            <a:t>5/27</a:t>
                          </a:r>
                        </a:p>
                      </a:txBody>
                      <a:tcPr/>
                    </a:tc>
                    <a:tc>
                      <a:txBody>
                        <a:bodyPr/>
                        <a:lstStyle/>
                        <a:p>
                          <a:r>
                            <a:rPr lang="en-US" dirty="0"/>
                            <a:t>6/27</a:t>
                          </a:r>
                        </a:p>
                      </a:txBody>
                      <a:tcPr/>
                    </a:tc>
                    <a:tc>
                      <a:txBody>
                        <a:bodyPr/>
                        <a:lstStyle/>
                        <a:p>
                          <a:r>
                            <a:rPr lang="en-US" dirty="0"/>
                            <a:t>15/27</a:t>
                          </a:r>
                        </a:p>
                      </a:txBody>
                      <a:tcPr/>
                    </a:tc>
                    <a:extLst>
                      <a:ext uri="{0D108BD9-81ED-4DB2-BD59-A6C34878D82A}">
                        <a16:rowId xmlns:a16="http://schemas.microsoft.com/office/drawing/2014/main" val="10003"/>
                      </a:ext>
                    </a:extLst>
                  </a:tr>
                  <a:tr h="488562">
                    <a:tc>
                      <a:txBody>
                        <a:bodyPr/>
                        <a:lstStyle/>
                        <a:p>
                          <a:r>
                            <a:rPr lang="en-US" dirty="0"/>
                            <a:t>Total</a:t>
                          </a:r>
                        </a:p>
                      </a:txBody>
                      <a:tcPr/>
                    </a:tc>
                    <a:tc>
                      <a:txBody>
                        <a:bodyPr/>
                        <a:lstStyle/>
                        <a:p>
                          <a:r>
                            <a:rPr lang="en-US" dirty="0"/>
                            <a:t>6/27</a:t>
                          </a:r>
                        </a:p>
                      </a:txBody>
                      <a:tcPr/>
                    </a:tc>
                    <a:tc>
                      <a:txBody>
                        <a:bodyPr/>
                        <a:lstStyle/>
                        <a:p>
                          <a:r>
                            <a:rPr lang="en-US" dirty="0"/>
                            <a:t>9/27</a:t>
                          </a:r>
                        </a:p>
                      </a:txBody>
                      <a:tcPr/>
                    </a:tc>
                    <a:tc>
                      <a:txBody>
                        <a:bodyPr/>
                        <a:lstStyle/>
                        <a:p>
                          <a:r>
                            <a:rPr lang="en-US" dirty="0"/>
                            <a:t>12/27</a:t>
                          </a:r>
                        </a:p>
                      </a:txBody>
                      <a:tcPr/>
                    </a:tc>
                    <a:tc>
                      <a:txBody>
                        <a:bodyPr/>
                        <a:lstStyle/>
                        <a:p>
                          <a:r>
                            <a:rPr lang="en-US" dirty="0"/>
                            <a:t>1</a:t>
                          </a:r>
                        </a:p>
                      </a:txBody>
                      <a:tcPr/>
                    </a:tc>
                    <a:extLst>
                      <a:ext uri="{0D108BD9-81ED-4DB2-BD59-A6C34878D82A}">
                        <a16:rowId xmlns:a16="http://schemas.microsoft.com/office/drawing/2014/main" val="10004"/>
                      </a:ext>
                    </a:extLst>
                  </a:tr>
                </a:tbl>
              </a:graphicData>
            </a:graphic>
          </p:graphicFrame>
        </mc:Choice>
        <mc:Fallback xmlns="">
          <p:graphicFrame>
            <p:nvGraphicFramePr>
              <p:cNvPr id="8" name="Table 7"/>
              <p:cNvGraphicFramePr>
                <a:graphicFrameLocks noGrp="1"/>
              </p:cNvGraphicFramePr>
              <p:nvPr>
                <p:extLst>
                  <p:ext uri="{D42A27DB-BD31-4B8C-83A1-F6EECF244321}">
                    <p14:modId xmlns:p14="http://schemas.microsoft.com/office/powerpoint/2010/main" val="1636668984"/>
                  </p:ext>
                </p:extLst>
              </p:nvPr>
            </p:nvGraphicFramePr>
            <p:xfrm>
              <a:off x="4876800" y="3215975"/>
              <a:ext cx="3733800" cy="2499026"/>
            </p:xfrm>
            <a:graphic>
              <a:graphicData uri="http://schemas.openxmlformats.org/drawingml/2006/table">
                <a:tbl>
                  <a:tblPr firstRow="1" bandRow="1">
                    <a:tableStyleId>{5C22544A-7EE6-4342-B048-85BDC9FD1C3A}</a:tableStyleId>
                  </a:tblPr>
                  <a:tblGrid>
                    <a:gridCol w="730526">
                      <a:extLst>
                        <a:ext uri="{9D8B030D-6E8A-4147-A177-3AD203B41FA5}">
                          <a16:colId xmlns:a16="http://schemas.microsoft.com/office/drawing/2014/main" val="20000"/>
                        </a:ext>
                      </a:extLst>
                    </a:gridCol>
                    <a:gridCol w="730526">
                      <a:extLst>
                        <a:ext uri="{9D8B030D-6E8A-4147-A177-3AD203B41FA5}">
                          <a16:colId xmlns:a16="http://schemas.microsoft.com/office/drawing/2014/main" val="20001"/>
                        </a:ext>
                      </a:extLst>
                    </a:gridCol>
                    <a:gridCol w="730526">
                      <a:extLst>
                        <a:ext uri="{9D8B030D-6E8A-4147-A177-3AD203B41FA5}">
                          <a16:colId xmlns:a16="http://schemas.microsoft.com/office/drawing/2014/main" val="20002"/>
                        </a:ext>
                      </a:extLst>
                    </a:gridCol>
                    <a:gridCol w="764349">
                      <a:extLst>
                        <a:ext uri="{9D8B030D-6E8A-4147-A177-3AD203B41FA5}">
                          <a16:colId xmlns:a16="http://schemas.microsoft.com/office/drawing/2014/main" val="20003"/>
                        </a:ext>
                      </a:extLst>
                    </a:gridCol>
                    <a:gridCol w="777873">
                      <a:extLst>
                        <a:ext uri="{9D8B030D-6E8A-4147-A177-3AD203B41FA5}">
                          <a16:colId xmlns:a16="http://schemas.microsoft.com/office/drawing/2014/main" val="20004"/>
                        </a:ext>
                      </a:extLst>
                    </a:gridCol>
                  </a:tblGrid>
                  <a:tr h="728994">
                    <a:tc>
                      <a:txBody>
                        <a:bodyPr/>
                        <a:lstStyle/>
                        <a:p>
                          <a:endParaRPr lang="en-US"/>
                        </a:p>
                      </a:txBody>
                      <a:tcPr>
                        <a:blipFill>
                          <a:blip r:embed="rId3"/>
                          <a:stretch>
                            <a:fillRect l="-1667" t="-4167" r="-414167" b="-244167"/>
                          </a:stretch>
                        </a:blipFill>
                      </a:tcPr>
                    </a:tc>
                    <a:tc>
                      <a:txBody>
                        <a:bodyPr/>
                        <a:lstStyle/>
                        <a:p>
                          <a:r>
                            <a:rPr lang="en-US" dirty="0"/>
                            <a:t>0</a:t>
                          </a:r>
                        </a:p>
                      </a:txBody>
                      <a:tcPr/>
                    </a:tc>
                    <a:tc>
                      <a:txBody>
                        <a:bodyPr/>
                        <a:lstStyle/>
                        <a:p>
                          <a:r>
                            <a:rPr lang="en-US" dirty="0"/>
                            <a:t>1</a:t>
                          </a:r>
                        </a:p>
                      </a:txBody>
                      <a:tcPr/>
                    </a:tc>
                    <a:tc>
                      <a:txBody>
                        <a:bodyPr/>
                        <a:lstStyle/>
                        <a:p>
                          <a:r>
                            <a:rPr lang="en-US" dirty="0"/>
                            <a:t>2</a:t>
                          </a:r>
                        </a:p>
                      </a:txBody>
                      <a:tcPr/>
                    </a:tc>
                    <a:tc>
                      <a:txBody>
                        <a:bodyPr/>
                        <a:lstStyle/>
                        <a:p>
                          <a:r>
                            <a:rPr lang="en-US" dirty="0"/>
                            <a:t>Total</a:t>
                          </a:r>
                        </a:p>
                      </a:txBody>
                      <a:tcPr/>
                    </a:tc>
                    <a:extLst>
                      <a:ext uri="{0D108BD9-81ED-4DB2-BD59-A6C34878D82A}">
                        <a16:rowId xmlns:a16="http://schemas.microsoft.com/office/drawing/2014/main" val="10000"/>
                      </a:ext>
                    </a:extLst>
                  </a:tr>
                  <a:tr h="416568">
                    <a:tc>
                      <a:txBody>
                        <a:bodyPr/>
                        <a:lstStyle/>
                        <a:p>
                          <a:r>
                            <a:rPr lang="en-US" dirty="0"/>
                            <a:t>0</a:t>
                          </a:r>
                        </a:p>
                      </a:txBody>
                      <a:tcPr/>
                    </a:tc>
                    <a:tc>
                      <a:txBody>
                        <a:bodyPr/>
                        <a:lstStyle/>
                        <a:p>
                          <a:r>
                            <a:rPr lang="en-US" dirty="0"/>
                            <a:t>0</a:t>
                          </a:r>
                        </a:p>
                      </a:txBody>
                      <a:tcPr/>
                    </a:tc>
                    <a:tc>
                      <a:txBody>
                        <a:bodyPr/>
                        <a:lstStyle/>
                        <a:p>
                          <a:r>
                            <a:rPr lang="en-US" dirty="0"/>
                            <a:t>1/27</a:t>
                          </a:r>
                        </a:p>
                      </a:txBody>
                      <a:tcPr/>
                    </a:tc>
                    <a:tc>
                      <a:txBody>
                        <a:bodyPr/>
                        <a:lstStyle/>
                        <a:p>
                          <a:r>
                            <a:rPr lang="en-US" dirty="0"/>
                            <a:t>2/27</a:t>
                          </a:r>
                        </a:p>
                      </a:txBody>
                      <a:tcPr/>
                    </a:tc>
                    <a:tc>
                      <a:txBody>
                        <a:bodyPr/>
                        <a:lstStyle/>
                        <a:p>
                          <a:r>
                            <a:rPr lang="en-US" dirty="0"/>
                            <a:t>3/27</a:t>
                          </a:r>
                        </a:p>
                      </a:txBody>
                      <a:tcPr/>
                    </a:tc>
                    <a:extLst>
                      <a:ext uri="{0D108BD9-81ED-4DB2-BD59-A6C34878D82A}">
                        <a16:rowId xmlns:a16="http://schemas.microsoft.com/office/drawing/2014/main" val="10001"/>
                      </a:ext>
                    </a:extLst>
                  </a:tr>
                  <a:tr h="416568">
                    <a:tc>
                      <a:txBody>
                        <a:bodyPr/>
                        <a:lstStyle/>
                        <a:p>
                          <a:r>
                            <a:rPr lang="en-US" dirty="0"/>
                            <a:t>1</a:t>
                          </a:r>
                        </a:p>
                      </a:txBody>
                      <a:tcPr/>
                    </a:tc>
                    <a:tc>
                      <a:txBody>
                        <a:bodyPr/>
                        <a:lstStyle/>
                        <a:p>
                          <a:r>
                            <a:rPr lang="en-US" dirty="0"/>
                            <a:t>2/27</a:t>
                          </a:r>
                        </a:p>
                      </a:txBody>
                      <a:tcPr/>
                    </a:tc>
                    <a:tc>
                      <a:txBody>
                        <a:bodyPr/>
                        <a:lstStyle/>
                        <a:p>
                          <a:r>
                            <a:rPr lang="en-US" dirty="0"/>
                            <a:t>3/27</a:t>
                          </a:r>
                        </a:p>
                      </a:txBody>
                      <a:tcPr/>
                    </a:tc>
                    <a:tc>
                      <a:txBody>
                        <a:bodyPr/>
                        <a:lstStyle/>
                        <a:p>
                          <a:r>
                            <a:rPr lang="en-US" dirty="0"/>
                            <a:t>4/27</a:t>
                          </a:r>
                        </a:p>
                      </a:txBody>
                      <a:tcPr/>
                    </a:tc>
                    <a:tc>
                      <a:txBody>
                        <a:bodyPr/>
                        <a:lstStyle/>
                        <a:p>
                          <a:r>
                            <a:rPr lang="en-US" dirty="0"/>
                            <a:t>9/27</a:t>
                          </a:r>
                        </a:p>
                      </a:txBody>
                      <a:tcPr/>
                    </a:tc>
                    <a:extLst>
                      <a:ext uri="{0D108BD9-81ED-4DB2-BD59-A6C34878D82A}">
                        <a16:rowId xmlns:a16="http://schemas.microsoft.com/office/drawing/2014/main" val="10002"/>
                      </a:ext>
                    </a:extLst>
                  </a:tr>
                  <a:tr h="448334">
                    <a:tc>
                      <a:txBody>
                        <a:bodyPr/>
                        <a:lstStyle/>
                        <a:p>
                          <a:r>
                            <a:rPr lang="en-US" dirty="0"/>
                            <a:t>2</a:t>
                          </a:r>
                        </a:p>
                      </a:txBody>
                      <a:tcPr/>
                    </a:tc>
                    <a:tc>
                      <a:txBody>
                        <a:bodyPr/>
                        <a:lstStyle/>
                        <a:p>
                          <a:r>
                            <a:rPr lang="en-US" dirty="0"/>
                            <a:t>4/27</a:t>
                          </a:r>
                        </a:p>
                      </a:txBody>
                      <a:tcPr/>
                    </a:tc>
                    <a:tc>
                      <a:txBody>
                        <a:bodyPr/>
                        <a:lstStyle/>
                        <a:p>
                          <a:r>
                            <a:rPr lang="en-US" dirty="0"/>
                            <a:t>5/27</a:t>
                          </a:r>
                        </a:p>
                      </a:txBody>
                      <a:tcPr/>
                    </a:tc>
                    <a:tc>
                      <a:txBody>
                        <a:bodyPr/>
                        <a:lstStyle/>
                        <a:p>
                          <a:r>
                            <a:rPr lang="en-US" dirty="0"/>
                            <a:t>6/27</a:t>
                          </a:r>
                        </a:p>
                      </a:txBody>
                      <a:tcPr/>
                    </a:tc>
                    <a:tc>
                      <a:txBody>
                        <a:bodyPr/>
                        <a:lstStyle/>
                        <a:p>
                          <a:r>
                            <a:rPr lang="en-US" dirty="0"/>
                            <a:t>15/27</a:t>
                          </a:r>
                        </a:p>
                      </a:txBody>
                      <a:tcPr/>
                    </a:tc>
                    <a:extLst>
                      <a:ext uri="{0D108BD9-81ED-4DB2-BD59-A6C34878D82A}">
                        <a16:rowId xmlns:a16="http://schemas.microsoft.com/office/drawing/2014/main" val="10003"/>
                      </a:ext>
                    </a:extLst>
                  </a:tr>
                  <a:tr h="488562">
                    <a:tc>
                      <a:txBody>
                        <a:bodyPr/>
                        <a:lstStyle/>
                        <a:p>
                          <a:r>
                            <a:rPr lang="en-US" dirty="0"/>
                            <a:t>Total</a:t>
                          </a:r>
                        </a:p>
                      </a:txBody>
                      <a:tcPr/>
                    </a:tc>
                    <a:tc>
                      <a:txBody>
                        <a:bodyPr/>
                        <a:lstStyle/>
                        <a:p>
                          <a:r>
                            <a:rPr lang="en-US" dirty="0"/>
                            <a:t>6/27</a:t>
                          </a:r>
                        </a:p>
                      </a:txBody>
                      <a:tcPr/>
                    </a:tc>
                    <a:tc>
                      <a:txBody>
                        <a:bodyPr/>
                        <a:lstStyle/>
                        <a:p>
                          <a:r>
                            <a:rPr lang="en-US" dirty="0"/>
                            <a:t>9/27</a:t>
                          </a:r>
                        </a:p>
                      </a:txBody>
                      <a:tcPr/>
                    </a:tc>
                    <a:tc>
                      <a:txBody>
                        <a:bodyPr/>
                        <a:lstStyle/>
                        <a:p>
                          <a:r>
                            <a:rPr lang="en-US" dirty="0"/>
                            <a:t>12/27</a:t>
                          </a:r>
                        </a:p>
                      </a:txBody>
                      <a:tcPr/>
                    </a:tc>
                    <a:tc>
                      <a:txBody>
                        <a:bodyPr/>
                        <a:lstStyle/>
                        <a:p>
                          <a:r>
                            <a:rPr lang="en-US" dirty="0"/>
                            <a:t>1</a:t>
                          </a:r>
                        </a:p>
                      </a:txBody>
                      <a:tcPr/>
                    </a:tc>
                    <a:extLst>
                      <a:ext uri="{0D108BD9-81ED-4DB2-BD59-A6C34878D82A}">
                        <a16:rowId xmlns:a16="http://schemas.microsoft.com/office/drawing/2014/main" val="10004"/>
                      </a:ext>
                    </a:extLst>
                  </a:tr>
                </a:tbl>
              </a:graphicData>
            </a:graphic>
          </p:graphicFrame>
        </mc:Fallback>
      </mc:AlternateContent>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1774245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7" end="7"/>
                                            </p:txEl>
                                          </p:spTgt>
                                        </p:tgtEl>
                                        <p:attrNameLst>
                                          <p:attrName>style.visibility</p:attrName>
                                        </p:attrNameLst>
                                      </p:cBhvr>
                                      <p:to>
                                        <p:strVal val="visible"/>
                                      </p:to>
                                    </p:set>
                                    <p:animEffect transition="in" filter="fade">
                                      <p:cBhvr>
                                        <p:cTn id="56" dur="1000"/>
                                        <p:tgtEl>
                                          <p:spTgt spid="3">
                                            <p:txEl>
                                              <p:pRg st="7" end="7"/>
                                            </p:txEl>
                                          </p:spTgt>
                                        </p:tgtEl>
                                      </p:cBhvr>
                                    </p:animEffect>
                                    <p:anim calcmode="lin" valueType="num">
                                      <p:cBhvr>
                                        <p:cTn id="57"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59" fill="hold">
                      <p:stCondLst>
                        <p:cond delay="indefinite"/>
                      </p:stCondLst>
                      <p:childTnLst>
                        <p:par>
                          <p:cTn id="60" fill="hold">
                            <p:stCondLst>
                              <p:cond delay="0"/>
                            </p:stCondLst>
                            <p:childTnLst>
                              <p:par>
                                <p:cTn id="61" presetID="42" presetClass="entr" presetSubtype="0" fill="hold" grpId="0" nodeType="clickEffect">
                                  <p:stCondLst>
                                    <p:cond delay="0"/>
                                  </p:stCondLst>
                                  <p:childTnLst>
                                    <p:set>
                                      <p:cBhvr>
                                        <p:cTn id="62" dur="1" fill="hold">
                                          <p:stCondLst>
                                            <p:cond delay="0"/>
                                          </p:stCondLst>
                                        </p:cTn>
                                        <p:tgtEl>
                                          <p:spTgt spid="3">
                                            <p:txEl>
                                              <p:pRg st="8" end="8"/>
                                            </p:txEl>
                                          </p:spTgt>
                                        </p:tgtEl>
                                        <p:attrNameLst>
                                          <p:attrName>style.visibility</p:attrName>
                                        </p:attrNameLst>
                                      </p:cBhvr>
                                      <p:to>
                                        <p:strVal val="visible"/>
                                      </p:to>
                                    </p:set>
                                    <p:animEffect transition="in" filter="fade">
                                      <p:cBhvr>
                                        <p:cTn id="63" dur="1000"/>
                                        <p:tgtEl>
                                          <p:spTgt spid="3">
                                            <p:txEl>
                                              <p:pRg st="8" end="8"/>
                                            </p:txEl>
                                          </p:spTgt>
                                        </p:tgtEl>
                                      </p:cBhvr>
                                    </p:animEffect>
                                    <p:anim calcmode="lin" valueType="num">
                                      <p:cBhvr>
                                        <p:cTn id="64"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65"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66" fill="hold">
                      <p:stCondLst>
                        <p:cond delay="indefinite"/>
                      </p:stCondLst>
                      <p:childTnLst>
                        <p:par>
                          <p:cTn id="67" fill="hold">
                            <p:stCondLst>
                              <p:cond delay="0"/>
                            </p:stCondLst>
                            <p:childTnLst>
                              <p:par>
                                <p:cTn id="68" presetID="42" presetClass="entr" presetSubtype="0" fill="hold" grpId="0" nodeType="clickEffect">
                                  <p:stCondLst>
                                    <p:cond delay="0"/>
                                  </p:stCondLst>
                                  <p:childTnLst>
                                    <p:set>
                                      <p:cBhvr>
                                        <p:cTn id="69" dur="1" fill="hold">
                                          <p:stCondLst>
                                            <p:cond delay="0"/>
                                          </p:stCondLst>
                                        </p:cTn>
                                        <p:tgtEl>
                                          <p:spTgt spid="3">
                                            <p:txEl>
                                              <p:pRg st="9" end="9"/>
                                            </p:txEl>
                                          </p:spTgt>
                                        </p:tgtEl>
                                        <p:attrNameLst>
                                          <p:attrName>style.visibility</p:attrName>
                                        </p:attrNameLst>
                                      </p:cBhvr>
                                      <p:to>
                                        <p:strVal val="visible"/>
                                      </p:to>
                                    </p:set>
                                    <p:animEffect transition="in" filter="fade">
                                      <p:cBhvr>
                                        <p:cTn id="70" dur="1000"/>
                                        <p:tgtEl>
                                          <p:spTgt spid="3">
                                            <p:txEl>
                                              <p:pRg st="9" end="9"/>
                                            </p:txEl>
                                          </p:spTgt>
                                        </p:tgtEl>
                                      </p:cBhvr>
                                    </p:animEffect>
                                    <p:anim calcmode="lin" valueType="num">
                                      <p:cBhvr>
                                        <p:cTn id="71"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72"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rmAutofit/>
              </a:bodyPr>
              <a:lstStyle/>
              <a:p>
                <a:pPr marL="0" lvl="0" indent="0">
                  <a:buNone/>
                </a:pPr>
                <a:r>
                  <a:rPr lang="en-US" sz="2000" dirty="0"/>
                  <a:t>Q1. The joint probability distribution of two random variables X and Y is given by:</a:t>
                </a:r>
              </a:p>
              <a:p>
                <a:pPr marL="0" lvl="0" indent="0" algn="just">
                  <a:buNone/>
                </a:pPr>
                <a:r>
                  <a:rPr lang="en-US" sz="2000" dirty="0"/>
                  <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=0,</m:t>
                        </m:r>
                        <m:r>
                          <a:rPr lang="en-US" sz="2000" b="0" i="1" smtClean="0">
                            <a:latin typeface="Cambria Math" panose="02040503050406030204" pitchFamily="18" charset="0"/>
                          </a:rPr>
                          <m:t>𝑌</m:t>
                        </m:r>
                        <m:r>
                          <a:rPr lang="en-US" sz="2000" b="0" i="1" smtClean="0">
                            <a:latin typeface="Cambria Math" panose="02040503050406030204" pitchFamily="18" charset="0"/>
                          </a:rPr>
                          <m:t>=1</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m:t>
                    </m:r>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=1,</m:t>
                        </m:r>
                        <m:r>
                          <a:rPr lang="en-US" sz="2000" b="0" i="1" smtClean="0">
                            <a:latin typeface="Cambria Math" panose="02040503050406030204" pitchFamily="18" charset="0"/>
                          </a:rPr>
                          <m:t>𝑌</m:t>
                        </m:r>
                        <m:r>
                          <a:rPr lang="en-US" sz="2000" b="0" i="1" smtClean="0">
                            <a:latin typeface="Cambria Math" panose="02040503050406030204" pitchFamily="18" charset="0"/>
                          </a:rPr>
                          <m:t>=−1</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 </m:t>
                    </m:r>
                  </m:oMath>
                </a14:m>
                <a:r>
                  <a:rPr lang="en-US" sz="2000" dirty="0"/>
                  <a:t>  and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=1,</m:t>
                        </m:r>
                        <m:r>
                          <a:rPr lang="en-US" sz="2000" b="0" i="1" smtClean="0">
                            <a:latin typeface="Cambria Math" panose="02040503050406030204" pitchFamily="18" charset="0"/>
                          </a:rPr>
                          <m:t>𝑌</m:t>
                        </m:r>
                        <m:r>
                          <a:rPr lang="en-US" sz="2000" b="0" i="1" smtClean="0">
                            <a:latin typeface="Cambria Math" panose="02040503050406030204" pitchFamily="18" charset="0"/>
                          </a:rPr>
                          <m:t>=1</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m:t>
                    </m:r>
                  </m:oMath>
                </a14:m>
                <a:endParaRPr lang="en-US" sz="2000" dirty="0"/>
              </a:p>
              <a:p>
                <a:pPr marL="0" lvl="0" indent="0" algn="just">
                  <a:buNone/>
                </a:pPr>
                <a:r>
                  <a:rPr lang="en-US" sz="2000" dirty="0"/>
                  <a:t>Find (</a:t>
                </a:r>
                <a:r>
                  <a:rPr lang="en-US" sz="2000" dirty="0" err="1"/>
                  <a:t>i</a:t>
                </a:r>
                <a:r>
                  <a:rPr lang="en-US" sz="2000" dirty="0"/>
                  <a:t>) Marginal Probability distribution of X and Y(ii) Conditional Probability  distribution of X given Y=1.</a:t>
                </a:r>
              </a:p>
              <a:p>
                <a:pPr marL="0" lvl="0" indent="0" algn="just">
                  <a:buNone/>
                </a:pPr>
                <a:r>
                  <a:rPr lang="en-US" sz="2000" dirty="0"/>
                  <a:t>Q2. The joint probability density function of the two dimensional random variable (X,Y) is of the form: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r>
                                  <a:rPr lang="en-US" sz="2000" b="0" i="1" smtClean="0">
                                    <a:latin typeface="Cambria Math" panose="02040503050406030204" pitchFamily="18" charset="0"/>
                                  </a:rPr>
                                  <m:t>𝑘</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sup>
                            </m:sSup>
                            <m:r>
                              <a:rPr lang="en-US" sz="2000" b="0" i="1" smtClean="0">
                                <a:latin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&lt;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&lt;∞</m:t>
                            </m:r>
                          </m:e>
                          <m:e>
                            <m:r>
                              <a:rPr lang="en-US" sz="2000" b="0" i="1" smtClean="0">
                                <a:latin typeface="Cambria Math" panose="02040503050406030204" pitchFamily="18" charset="0"/>
                              </a:rPr>
                              <m:t>0,                  </m:t>
                            </m:r>
                            <m:r>
                              <a:rPr lang="en-US" sz="2000" b="0" i="1" smtClean="0">
                                <a:latin typeface="Cambria Math" panose="02040503050406030204" pitchFamily="18" charset="0"/>
                              </a:rPr>
                              <m:t>𝑜𝑡h𝑒𝑟𝑤𝑖𝑠𝑒</m:t>
                            </m:r>
                          </m:e>
                        </m:eqArr>
                      </m:e>
                    </m:d>
                  </m:oMath>
                </a14:m>
                <a:endParaRPr lang="en-US" sz="2000" dirty="0"/>
              </a:p>
              <a:p>
                <a:pPr marL="0" lvl="0" indent="0" algn="just">
                  <a:buNone/>
                </a:pPr>
                <a:r>
                  <a:rPr lang="en-US" sz="2000" dirty="0"/>
                  <a:t>  (</a:t>
                </a:r>
                <a:r>
                  <a:rPr lang="en-US" sz="2000" dirty="0" err="1"/>
                  <a:t>i</a:t>
                </a:r>
                <a:r>
                  <a:rPr lang="en-US" sz="2000" dirty="0"/>
                  <a:t>) Determine the value of k.</a:t>
                </a:r>
              </a:p>
              <a:p>
                <a:pPr marL="0" lvl="0" indent="0" algn="just">
                  <a:buNone/>
                </a:pPr>
                <a:r>
                  <a:rPr lang="en-US" sz="2000" dirty="0"/>
                  <a:t>  (ii) The marginal Probability density function.</a:t>
                </a:r>
              </a:p>
              <a:p>
                <a:pPr marL="0" lvl="0" indent="0" algn="just">
                  <a:buNone/>
                </a:pPr>
                <a:r>
                  <a:rPr lang="en-US" sz="2000" dirty="0"/>
                  <a:t>  (iii) The conditional Probability density functions of X and Y.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40</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Daily Quiz(CO3)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6855889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000" dirty="0">
                    <a:latin typeface="+mj-lt"/>
                  </a:rPr>
                  <a:t>Q1. The joint probability distribution of X and Y is given by</a:t>
                </a:r>
              </a:p>
              <a:p>
                <a:pPr marL="0" indent="0">
                  <a:buNone/>
                </a:pPr>
                <a:r>
                  <a:rPr lang="en-US" sz="2000" dirty="0">
                    <a:latin typeface="+mj-lt"/>
                  </a:rPr>
                  <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num>
                      <m:den>
                        <m:r>
                          <a:rPr lang="en-US" sz="2000" b="0" i="1" smtClean="0">
                            <a:latin typeface="Cambria Math" panose="02040503050406030204" pitchFamily="18" charset="0"/>
                          </a:rPr>
                          <m:t>21</m:t>
                        </m:r>
                      </m:den>
                    </m:f>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=1,2,3;</m:t>
                    </m:r>
                    <m:r>
                      <a:rPr lang="en-US" sz="2000" b="0" i="1" smtClean="0">
                        <a:latin typeface="Cambria Math" panose="02040503050406030204" pitchFamily="18" charset="0"/>
                      </a:rPr>
                      <m:t>𝑦</m:t>
                    </m:r>
                    <m:r>
                      <a:rPr lang="en-US" sz="2000" b="0" i="1" smtClean="0">
                        <a:latin typeface="Cambria Math" panose="02040503050406030204" pitchFamily="18" charset="0"/>
                      </a:rPr>
                      <m:t>=1,2</m:t>
                    </m:r>
                  </m:oMath>
                </a14:m>
                <a:endParaRPr lang="en-US" sz="2000" b="0" dirty="0">
                  <a:latin typeface="+mj-lt"/>
                </a:endParaRPr>
              </a:p>
              <a:p>
                <a:pPr marL="0" indent="0" algn="just">
                  <a:buNone/>
                </a:pPr>
                <a:r>
                  <a:rPr lang="en-US" sz="2000" dirty="0">
                    <a:latin typeface="+mj-lt"/>
                  </a:rPr>
                  <a:t>   find the marginal Prob. Distribution of X and Y. Also find the conditional Prob. Distribution of Y given X=3.</a:t>
                </a:r>
              </a:p>
              <a:p>
                <a:pPr marL="0" indent="0" algn="just">
                  <a:buNone/>
                </a:pPr>
                <a:r>
                  <a:rPr lang="en-US" sz="2000" dirty="0">
                    <a:latin typeface="+mj-lt"/>
                  </a:rPr>
                  <a:t>Q2. Suppose that two dimensional continuous random variable (X,Y) has joint pdf given by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m:t>
                    </m:r>
                    <m:d>
                      <m:dPr>
                        <m:begChr m:val="{"/>
                        <m:endChr m:val=""/>
                        <m:ctrlPr>
                          <a:rPr lang="en-US" sz="2000" b="0" i="1" smtClean="0">
                            <a:latin typeface="Cambria Math" panose="02040503050406030204" pitchFamily="18" charset="0"/>
                          </a:rPr>
                        </m:ctrlPr>
                      </m:dPr>
                      <m:e>
                        <m:eqArr>
                          <m:eqArrPr>
                            <m:ctrlPr>
                              <a:rPr lang="en-US" sz="2000" b="0" i="1" smtClean="0">
                                <a:latin typeface="Cambria Math" panose="02040503050406030204" pitchFamily="18" charset="0"/>
                              </a:rPr>
                            </m:ctrlPr>
                          </m:eqArrPr>
                          <m:e>
                            <m:r>
                              <a:rPr lang="en-US" sz="2000" b="0" i="1" smtClean="0">
                                <a:latin typeface="Cambria Math" panose="02040503050406030204" pitchFamily="18" charset="0"/>
                              </a:rPr>
                              <m:t>6</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𝑦</m:t>
                            </m:r>
                            <m:r>
                              <a:rPr lang="en-US" sz="2000" b="0" i="1" smtClean="0">
                                <a:latin typeface="Cambria Math" panose="02040503050406030204" pitchFamily="18" charset="0"/>
                              </a:rPr>
                              <m:t>,    0&lt;</m:t>
                            </m:r>
                            <m:r>
                              <a:rPr lang="en-US" sz="2000" b="0" i="1" smtClean="0">
                                <a:latin typeface="Cambria Math" panose="02040503050406030204" pitchFamily="18" charset="0"/>
                              </a:rPr>
                              <m:t>𝑥</m:t>
                            </m:r>
                            <m:r>
                              <a:rPr lang="en-US" sz="2000" b="0" i="1" smtClean="0">
                                <a:latin typeface="Cambria Math" panose="02040503050406030204" pitchFamily="18" charset="0"/>
                              </a:rPr>
                              <m:t>&lt;1,0&lt;</m:t>
                            </m:r>
                            <m:r>
                              <a:rPr lang="en-US" sz="2000" b="0" i="1" smtClean="0">
                                <a:latin typeface="Cambria Math" panose="02040503050406030204" pitchFamily="18" charset="0"/>
                              </a:rPr>
                              <m:t>𝑦</m:t>
                            </m:r>
                            <m:r>
                              <a:rPr lang="en-US" sz="2000" b="0" i="1" smtClean="0">
                                <a:latin typeface="Cambria Math" panose="02040503050406030204" pitchFamily="18" charset="0"/>
                              </a:rPr>
                              <m:t>&lt;1</m:t>
                            </m:r>
                          </m:e>
                          <m:e>
                            <m:r>
                              <a:rPr lang="en-US" sz="2000" b="0" i="0" smtClean="0">
                                <a:latin typeface="Cambria Math" panose="02040503050406030204" pitchFamily="18" charset="0"/>
                              </a:rPr>
                              <m:t>0,           </m:t>
                            </m:r>
                            <m:r>
                              <m:rPr>
                                <m:sty m:val="p"/>
                              </m:rPr>
                              <a:rPr lang="en-US" sz="2000" b="0" i="0" smtClean="0">
                                <a:latin typeface="Cambria Math" panose="02040503050406030204" pitchFamily="18" charset="0"/>
                              </a:rPr>
                              <m:t>elsewhere</m:t>
                            </m:r>
                          </m:e>
                        </m:eqArr>
                      </m:e>
                    </m:d>
                  </m:oMath>
                </a14:m>
                <a:endParaRPr lang="en-US" sz="2000" dirty="0">
                  <a:latin typeface="+mj-lt"/>
                </a:endParaRPr>
              </a:p>
              <a:p>
                <a:pPr marL="0" indent="0" algn="just">
                  <a:buNone/>
                </a:pPr>
                <a:r>
                  <a:rPr lang="en-US" sz="2000" dirty="0">
                    <a:latin typeface="+mj-lt"/>
                  </a:rPr>
                  <a:t> (a) Verify that </a:t>
                </a:r>
                <a14:m>
                  <m:oMath xmlns:m="http://schemas.openxmlformats.org/officeDocument/2006/math">
                    <m:nary>
                      <m:naryPr>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0</m:t>
                        </m:r>
                      </m:sub>
                      <m:sup>
                        <m:r>
                          <a:rPr lang="en-US" sz="2000" b="0" i="1" smtClean="0">
                            <a:latin typeface="Cambria Math" panose="02040503050406030204" pitchFamily="18" charset="0"/>
                          </a:rPr>
                          <m:t>1</m:t>
                        </m:r>
                      </m:sup>
                      <m:e>
                        <m:nary>
                          <m:naryPr>
                            <m:limLoc m:val="undOvr"/>
                            <m:ctrlPr>
                              <a:rPr lang="en-US" sz="2000" i="1" smtClean="0">
                                <a:latin typeface="Cambria Math" panose="02040503050406030204" pitchFamily="18" charset="0"/>
                              </a:rPr>
                            </m:ctrlPr>
                          </m:naryPr>
                          <m:sub>
                            <m:r>
                              <m:rPr>
                                <m:brk m:alnAt="24"/>
                              </m:rPr>
                              <a:rPr lang="en-US" sz="2000" b="0" i="1" smtClean="0">
                                <a:latin typeface="Cambria Math" panose="02040503050406030204" pitchFamily="18" charset="0"/>
                              </a:rPr>
                              <m:t>0</m:t>
                            </m:r>
                          </m:sub>
                          <m:sup>
                            <m:r>
                              <a:rPr lang="en-US" sz="2000" b="0" i="1" smtClean="0">
                                <a:latin typeface="Cambria Math" panose="02040503050406030204" pitchFamily="18" charset="0"/>
                              </a:rPr>
                              <m:t>1</m:t>
                            </m:r>
                          </m:sup>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𝑑𝑥𝑑𝑦</m:t>
                            </m:r>
                          </m:e>
                        </m:nary>
                      </m:e>
                    </m:nary>
                  </m:oMath>
                </a14:m>
                <a:r>
                  <a:rPr lang="en-US" sz="2000" dirty="0">
                    <a:latin typeface="+mj-lt"/>
                  </a:rPr>
                  <a:t>  </a:t>
                </a:r>
              </a:p>
              <a:p>
                <a:pPr marL="0" indent="0" algn="just">
                  <a:buNone/>
                </a:pPr>
                <a:r>
                  <a:rPr lang="en-US" sz="2000" dirty="0">
                    <a:latin typeface="+mj-lt"/>
                  </a:rPr>
                  <a:t> (b) Find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0&lt;</m:t>
                        </m:r>
                        <m:r>
                          <a:rPr lang="en-US" sz="2000" b="0" i="1" smtClean="0">
                            <a:latin typeface="Cambria Math" panose="02040503050406030204" pitchFamily="18" charset="0"/>
                          </a:rPr>
                          <m:t>𝑋</m:t>
                        </m:r>
                        <m:r>
                          <a:rPr lang="en-US" sz="2000" b="0" i="1" smtClean="0">
                            <a:latin typeface="Cambria Math" panose="02040503050406030204" pitchFamily="18" charset="0"/>
                          </a:rPr>
                          <m:t>&lt;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3</m:t>
                            </m:r>
                          </m:num>
                          <m:den>
                            <m:r>
                              <a:rPr lang="en-US" sz="2000" b="0" i="1" smtClean="0">
                                <a:latin typeface="Cambria Math" panose="02040503050406030204" pitchFamily="18" charset="0"/>
                              </a:rPr>
                              <m:t>4</m:t>
                            </m:r>
                          </m:den>
                        </m:f>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&lt;</m:t>
                        </m:r>
                        <m:r>
                          <a:rPr lang="en-US" sz="2000" b="0" i="1" smtClean="0">
                            <a:latin typeface="Cambria Math" panose="02040503050406030204" pitchFamily="18" charset="0"/>
                          </a:rPr>
                          <m:t>𝑌</m:t>
                        </m:r>
                        <m:r>
                          <a:rPr lang="en-US" sz="2000" b="0" i="1" smtClean="0">
                            <a:latin typeface="Cambria Math" panose="02040503050406030204" pitchFamily="18" charset="0"/>
                          </a:rPr>
                          <m:t>&lt;2</m:t>
                        </m:r>
                      </m:e>
                    </m:d>
                    <m:r>
                      <a:rPr lang="en-US" sz="2000" b="0" i="1" smtClean="0">
                        <a:latin typeface="Cambria Math" panose="02040503050406030204" pitchFamily="18" charset="0"/>
                      </a:rPr>
                      <m:t>.</m:t>
                    </m:r>
                  </m:oMath>
                </a14:m>
                <a:endParaRPr lang="en-US" sz="2000" dirty="0">
                  <a:latin typeface="+mj-lt"/>
                </a:endParaRPr>
              </a:p>
              <a:p>
                <a:pPr marL="0" indent="0" algn="just">
                  <a:buNone/>
                </a:pPr>
                <a:r>
                  <a:rPr lang="en-US" sz="2000" dirty="0">
                    <a:latin typeface="+mj-lt"/>
                  </a:rPr>
                  <a:t>Q3. Find k so that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m:t>
                    </m:r>
                    <m:r>
                      <a:rPr lang="en-US" sz="2000" b="0" i="1" smtClean="0">
                        <a:latin typeface="Cambria Math" panose="02040503050406030204" pitchFamily="18" charset="0"/>
                      </a:rPr>
                      <m:t>𝑘𝑥𝑦</m:t>
                    </m:r>
                    <m:r>
                      <a:rPr lang="en-US" sz="2000" b="0" i="1" smtClean="0">
                        <a:latin typeface="Cambria Math" panose="02040503050406030204" pitchFamily="18" charset="0"/>
                      </a:rPr>
                      <m:t>, 1≤</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𝑦</m:t>
                    </m:r>
                    <m:r>
                      <a:rPr lang="en-US" sz="2000" b="0" i="1" smtClean="0">
                        <a:latin typeface="Cambria Math" panose="02040503050406030204" pitchFamily="18" charset="0"/>
                        <a:ea typeface="Cambria Math" panose="02040503050406030204" pitchFamily="18" charset="0"/>
                      </a:rPr>
                      <m:t>≤2</m:t>
                    </m:r>
                  </m:oMath>
                </a14:m>
                <a:r>
                  <a:rPr lang="en-US" sz="2000" dirty="0">
                    <a:latin typeface="+mj-lt"/>
                  </a:rPr>
                  <a:t>   will be a probability density function. </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41</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Weekly</a:t>
            </a:r>
            <a:r>
              <a:rPr kumimoji="0" lang="en-US" sz="2400" b="1" i="0" u="none" strike="noStrike" kern="1200" cap="none" spc="0" normalizeH="0" noProof="0" dirty="0">
                <a:ln>
                  <a:noFill/>
                </a:ln>
                <a:solidFill>
                  <a:schemeClr val="dk1"/>
                </a:solidFill>
                <a:effectLst/>
                <a:uLnTx/>
                <a:uFillTx/>
                <a:latin typeface="+mn-lt"/>
                <a:ea typeface="+mn-ea"/>
                <a:cs typeface="+mn-cs"/>
              </a:rPr>
              <a:t> Assignment</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000" dirty="0">
                    <a:latin typeface="+mj-lt"/>
                  </a:rPr>
                  <a:t>Q4. A two dimensional random variable (X,Y) have a bivariate distribution given by:</a:t>
                </a:r>
              </a:p>
              <a:p>
                <a:pPr marL="0" indent="0" algn="just">
                  <a:buNone/>
                </a:pPr>
                <a:r>
                  <a:rPr lang="en-US" sz="2000" dirty="0">
                    <a:latin typeface="+mj-lt"/>
                  </a:rPr>
                  <a:t>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𝑋</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𝑌</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m:t>
                    </m:r>
                    <m:f>
                      <m:fPr>
                        <m:ctrlPr>
                          <a:rPr lang="en-US" sz="2000" b="0" i="1" smtClean="0">
                            <a:latin typeface="Cambria Math" panose="02040503050406030204" pitchFamily="18" charset="0"/>
                          </a:rPr>
                        </m:ctrlPr>
                      </m:fPr>
                      <m:num>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m:t>
                        </m:r>
                        <m:r>
                          <a:rPr lang="en-US" sz="2000" b="0" i="1" smtClean="0">
                            <a:latin typeface="Cambria Math" panose="02040503050406030204" pitchFamily="18" charset="0"/>
                          </a:rPr>
                          <m:t>𝑦</m:t>
                        </m:r>
                      </m:num>
                      <m:den>
                        <m:r>
                          <a:rPr lang="en-US" sz="2000" b="0" i="1" smtClean="0">
                            <a:latin typeface="Cambria Math" panose="02040503050406030204" pitchFamily="18" charset="0"/>
                          </a:rPr>
                          <m:t>32</m:t>
                        </m:r>
                      </m:den>
                    </m:f>
                    <m:r>
                      <a:rPr lang="en-US" sz="2000" b="0" i="1" smtClean="0">
                        <a:latin typeface="Cambria Math" panose="02040503050406030204" pitchFamily="18" charset="0"/>
                      </a:rPr>
                      <m:t>,</m:t>
                    </m:r>
                  </m:oMath>
                </a14:m>
                <a:r>
                  <a:rPr lang="en-US" sz="2000" dirty="0">
                    <a:latin typeface="+mj-lt"/>
                  </a:rPr>
                  <a:t> for </a:t>
                </a:r>
                <a14:m>
                  <m:oMath xmlns:m="http://schemas.openxmlformats.org/officeDocument/2006/math">
                    <m:r>
                      <a:rPr lang="en-US" sz="2000" b="0" i="1" smtClean="0">
                        <a:latin typeface="Cambria Math" panose="02040503050406030204" pitchFamily="18" charset="0"/>
                      </a:rPr>
                      <m:t>𝑥</m:t>
                    </m:r>
                    <m:r>
                      <a:rPr lang="en-US" sz="2000" b="0" i="1" smtClean="0">
                        <a:latin typeface="Cambria Math" panose="02040503050406030204" pitchFamily="18" charset="0"/>
                      </a:rPr>
                      <m:t>=0,1,2,3</m:t>
                    </m:r>
                  </m:oMath>
                </a14:m>
                <a:r>
                  <a:rPr lang="en-US" sz="2000" dirty="0">
                    <a:latin typeface="+mj-lt"/>
                  </a:rPr>
                  <a:t> and </a:t>
                </a:r>
                <a14:m>
                  <m:oMath xmlns:m="http://schemas.openxmlformats.org/officeDocument/2006/math">
                    <m:r>
                      <a:rPr lang="en-US" sz="2000" b="0" i="1" smtClean="0">
                        <a:latin typeface="Cambria Math" panose="02040503050406030204" pitchFamily="18" charset="0"/>
                      </a:rPr>
                      <m:t>𝑦</m:t>
                    </m:r>
                    <m:r>
                      <a:rPr lang="en-US" sz="2000" b="0" i="1" smtClean="0">
                        <a:latin typeface="Cambria Math" panose="02040503050406030204" pitchFamily="18" charset="0"/>
                      </a:rPr>
                      <m:t>=0,1.</m:t>
                    </m:r>
                  </m:oMath>
                </a14:m>
                <a:r>
                  <a:rPr lang="en-US" sz="2000" dirty="0">
                    <a:latin typeface="+mj-lt"/>
                  </a:rPr>
                  <a:t> Find the marginal distribution o X and Y.</a:t>
                </a:r>
              </a:p>
              <a:p>
                <a:pPr marL="0" indent="0">
                  <a:buNone/>
                </a:pPr>
                <a:endParaRPr lang="en-US" sz="2000" dirty="0">
                  <a:latin typeface="+mj-lt"/>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r="-74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42</a:t>
            </a:fld>
            <a:endParaRPr lang="en-US"/>
          </a:p>
        </p:txBody>
      </p:sp>
      <p:sp>
        <p:nvSpPr>
          <p:cNvPr id="7" name="Title 1"/>
          <p:cNvSpPr txBox="1">
            <a:spLocks/>
          </p:cNvSpPr>
          <p:nvPr/>
        </p:nvSpPr>
        <p:spPr>
          <a:xfrm>
            <a:off x="1600200" y="0"/>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Weekly</a:t>
            </a:r>
            <a:r>
              <a:rPr kumimoji="0" lang="en-US" sz="2400" b="1" i="0" u="none" strike="noStrike" kern="1200" cap="none" spc="0" normalizeH="0" noProof="0" dirty="0">
                <a:ln>
                  <a:noFill/>
                </a:ln>
                <a:solidFill>
                  <a:schemeClr val="dk1"/>
                </a:solidFill>
                <a:effectLst/>
                <a:uLnTx/>
                <a:uFillTx/>
                <a:latin typeface="+mn-lt"/>
                <a:ea typeface="+mn-ea"/>
                <a:cs typeface="+mn-cs"/>
              </a:rPr>
              <a:t> Assignment</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63223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43</a:t>
            </a:fld>
            <a:endParaRPr lang="en-US"/>
          </a:p>
        </p:txBody>
      </p:sp>
      <p:sp>
        <p:nvSpPr>
          <p:cNvPr id="7" name="Title 1"/>
          <p:cNvSpPr txBox="1">
            <a:spLocks/>
          </p:cNvSpPr>
          <p:nvPr/>
        </p:nvSpPr>
        <p:spPr>
          <a:xfrm>
            <a:off x="1524000" y="0"/>
            <a:ext cx="7620000" cy="6017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Statistical Independence(CO3)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23" name="AutoShape 15" descr="X"/>
          <p:cNvSpPr>
            <a:spLocks noChangeAspect="1" noChangeArrowheads="1"/>
          </p:cNvSpPr>
          <p:nvPr/>
        </p:nvSpPr>
        <p:spPr bwMode="auto">
          <a:xfrm>
            <a:off x="1812925" y="-114300"/>
            <a:ext cx="12382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6" descr="Y"/>
          <p:cNvSpPr>
            <a:spLocks noChangeAspect="1" noChangeArrowheads="1"/>
          </p:cNvSpPr>
          <p:nvPr/>
        </p:nvSpPr>
        <p:spPr bwMode="auto">
          <a:xfrm>
            <a:off x="2279650" y="-114300"/>
            <a:ext cx="10477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mc:Choice xmlns:a14="http://schemas.microsoft.com/office/drawing/2010/main" Requires="a14">
          <p:sp>
            <p:nvSpPr>
              <p:cNvPr id="29" name="Content Placeholder 28"/>
              <p:cNvSpPr>
                <a:spLocks noGrp="1"/>
              </p:cNvSpPr>
              <p:nvPr>
                <p:ph idx="1"/>
              </p:nvPr>
            </p:nvSpPr>
            <p:spPr>
              <a:xfrm>
                <a:off x="457200" y="1600201"/>
                <a:ext cx="8229600" cy="3657600"/>
              </a:xfrm>
            </p:spPr>
            <p:txBody>
              <a:bodyPr>
                <a:normAutofit/>
              </a:bodyPr>
              <a:lstStyle/>
              <a:p>
                <a:pPr marL="0" indent="0">
                  <a:buNone/>
                </a:pPr>
                <a:r>
                  <a:rPr lang="en-US" sz="2000" dirty="0"/>
                  <a:t>The concept of independent random variables is very similar to independent events. </a:t>
                </a:r>
              </a:p>
              <a:p>
                <a:pPr marL="0" indent="0">
                  <a:buNone/>
                </a:pPr>
                <a:r>
                  <a:rPr lang="en-US" sz="2000" dirty="0"/>
                  <a:t>Two events A and B are independent if we have</a:t>
                </a:r>
              </a:p>
              <a:p>
                <a:pPr marL="0" indent="0">
                  <a:buNone/>
                </a:pPr>
                <a:r>
                  <a:rPr lang="en-US" sz="2000" dirty="0"/>
                  <a:t>	</a:t>
                </a:r>
                <a14:m>
                  <m:oMath xmlns:m="http://schemas.openxmlformats.org/officeDocument/2006/math">
                    <m:r>
                      <a:rPr lang="en-US" sz="2000" i="1" dirty="0" smtClean="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𝐴</m:t>
                    </m:r>
                    <m:r>
                      <a:rPr lang="en-US" sz="2000" i="1" dirty="0">
                        <a:latin typeface="Cambria Math" panose="02040503050406030204" pitchFamily="18" charset="0"/>
                      </a:rPr>
                      <m:t>,</m:t>
                    </m:r>
                    <m:r>
                      <a:rPr lang="en-US" sz="2000" i="1" dirty="0">
                        <a:latin typeface="Cambria Math" panose="02040503050406030204" pitchFamily="18" charset="0"/>
                      </a:rPr>
                      <m:t>𝐵</m:t>
                    </m:r>
                    <m:r>
                      <a:rPr lang="en-US" sz="2000" i="1" dirty="0">
                        <a:latin typeface="Cambria Math" panose="02040503050406030204" pitchFamily="18" charset="0"/>
                      </a:rPr>
                      <m:t>)=</m:t>
                    </m:r>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𝐴</m:t>
                    </m:r>
                    <m:r>
                      <a:rPr lang="en-US" sz="2000" i="1" dirty="0">
                        <a:latin typeface="Cambria Math" panose="02040503050406030204" pitchFamily="18" charset="0"/>
                      </a:rPr>
                      <m:t>) </m:t>
                    </m:r>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𝐵</m:t>
                    </m:r>
                    <m:r>
                      <a:rPr lang="en-US" sz="2000" i="1" dirty="0">
                        <a:latin typeface="Cambria Math" panose="02040503050406030204" pitchFamily="18" charset="0"/>
                      </a:rPr>
                      <m:t>)</m:t>
                    </m:r>
                  </m:oMath>
                </a14:m>
                <a:endParaRPr lang="en-US" sz="2000" dirty="0"/>
              </a:p>
              <a:p>
                <a:pPr marL="0" indent="0">
                  <a:buNone/>
                </a:pPr>
                <a:r>
                  <a:rPr lang="en-US" sz="2000" dirty="0"/>
                  <a:t>	</a:t>
                </a:r>
                <a14:m>
                  <m:oMath xmlns:m="http://schemas.openxmlformats.org/officeDocument/2006/math">
                    <m:r>
                      <a:rPr lang="en-US" sz="2000" i="1" dirty="0" smtClean="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𝐴</m:t>
                    </m:r>
                    <m:r>
                      <a:rPr lang="en-US" sz="2000" i="1" dirty="0">
                        <a:latin typeface="Cambria Math" panose="02040503050406030204" pitchFamily="18" charset="0"/>
                      </a:rPr>
                      <m:t>,</m:t>
                    </m:r>
                    <m:r>
                      <a:rPr lang="en-US" sz="2000" i="1" dirty="0">
                        <a:latin typeface="Cambria Math" panose="02040503050406030204" pitchFamily="18" charset="0"/>
                      </a:rPr>
                      <m:t>𝐵</m:t>
                    </m:r>
                    <m:r>
                      <a:rPr lang="en-US" sz="2000" i="1" dirty="0">
                        <a:latin typeface="Cambria Math" panose="02040503050406030204" pitchFamily="18" charset="0"/>
                      </a:rPr>
                      <m:t>)=</m:t>
                    </m:r>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𝐴</m:t>
                    </m:r>
                    <m:r>
                      <a:rPr lang="en-US" sz="2000" i="1" dirty="0">
                        <a:latin typeface="Cambria Math" panose="02040503050406030204" pitchFamily="18" charset="0"/>
                      </a:rPr>
                      <m:t> </m:t>
                    </m:r>
                    <m:r>
                      <a:rPr lang="en-US" sz="2000" i="1" dirty="0">
                        <a:latin typeface="Cambria Math" panose="02040503050406030204" pitchFamily="18" charset="0"/>
                      </a:rPr>
                      <m:t>𝑎𝑛𝑑</m:t>
                    </m:r>
                    <m:r>
                      <a:rPr lang="en-US" sz="2000" i="1" dirty="0">
                        <a:latin typeface="Cambria Math" panose="02040503050406030204" pitchFamily="18" charset="0"/>
                      </a:rPr>
                      <m:t> </m:t>
                    </m:r>
                    <m:r>
                      <a:rPr lang="en-US" sz="2000" i="1" dirty="0">
                        <a:latin typeface="Cambria Math" panose="02040503050406030204" pitchFamily="18" charset="0"/>
                      </a:rPr>
                      <m:t>𝐵</m:t>
                    </m:r>
                    <m:r>
                      <a:rPr lang="en-US" sz="2000" i="1" dirty="0">
                        <a:latin typeface="Cambria Math" panose="02040503050406030204" pitchFamily="18" charset="0"/>
                      </a:rPr>
                      <m:t>)=</m:t>
                    </m:r>
                    <m:r>
                      <a:rPr lang="en-US" sz="2000" i="1" dirty="0">
                        <a:latin typeface="Cambria Math" panose="02040503050406030204" pitchFamily="18" charset="0"/>
                      </a:rPr>
                      <m:t>𝑃</m:t>
                    </m:r>
                    <m:r>
                      <a:rPr lang="en-US" sz="2000" i="1" dirty="0">
                        <a:latin typeface="Cambria Math" panose="02040503050406030204" pitchFamily="18" charset="0"/>
                      </a:rPr>
                      <m:t>(</m:t>
                    </m:r>
                    <m:r>
                      <a:rPr lang="en-US" sz="2000" i="1" dirty="0">
                        <a:latin typeface="Cambria Math" panose="02040503050406030204" pitchFamily="18" charset="0"/>
                      </a:rPr>
                      <m:t>𝐴</m:t>
                    </m:r>
                    <m:r>
                      <a:rPr lang="en-US" sz="2000" i="1" dirty="0">
                        <a:latin typeface="Cambria Math" panose="02040503050406030204" pitchFamily="18" charset="0"/>
                      </a:rPr>
                      <m:t>∩</m:t>
                    </m:r>
                    <m:r>
                      <a:rPr lang="en-US" sz="2000" i="1" dirty="0">
                        <a:latin typeface="Cambria Math" panose="02040503050406030204" pitchFamily="18" charset="0"/>
                      </a:rPr>
                      <m:t>𝐵</m:t>
                    </m:r>
                    <m:r>
                      <a:rPr lang="en-US" sz="2000" i="1" dirty="0">
                        <a:latin typeface="Cambria Math" panose="02040503050406030204" pitchFamily="18" charset="0"/>
                      </a:rPr>
                      <m:t>)</m:t>
                    </m:r>
                  </m:oMath>
                </a14:m>
                <a:endParaRPr lang="en-US" sz="2000" dirty="0"/>
              </a:p>
              <a:p>
                <a:pPr marL="0" indent="0">
                  <a:buNone/>
                </a:pPr>
                <a:endParaRPr lang="en-US" sz="2000" dirty="0"/>
              </a:p>
              <a:p>
                <a:pPr marL="0" indent="0">
                  <a:buNone/>
                </a:pPr>
                <a:endParaRPr lang="en-US" sz="2000" dirty="0"/>
              </a:p>
              <a:p>
                <a:pPr marL="0" indent="0">
                  <a:buNone/>
                </a:pPr>
                <a:r>
                  <a:rPr lang="en-US" sz="2000" dirty="0"/>
                  <a:t>An independent random variable is a random variable that doesn't have an effect on the other random variables in your experiment. In other words, it doesn't affect the probability of another event happening.</a:t>
                </a:r>
              </a:p>
            </p:txBody>
          </p:sp>
        </mc:Choice>
        <mc:Fallback>
          <p:sp>
            <p:nvSpPr>
              <p:cNvPr id="29" name="Content Placeholder 28"/>
              <p:cNvSpPr>
                <a:spLocks noGrp="1" noRot="1" noChangeAspect="1" noMove="1" noResize="1" noEditPoints="1" noAdjustHandles="1" noChangeArrowheads="1" noChangeShapeType="1" noTextEdit="1"/>
              </p:cNvSpPr>
              <p:nvPr>
                <p:ph idx="1"/>
              </p:nvPr>
            </p:nvSpPr>
            <p:spPr>
              <a:xfrm>
                <a:off x="457200" y="1600201"/>
                <a:ext cx="8229600" cy="3657600"/>
              </a:xfrm>
              <a:blipFill>
                <a:blip r:embed="rId3"/>
                <a:stretch>
                  <a:fillRect l="-741" t="-1000"/>
                </a:stretch>
              </a:blipFill>
            </p:spPr>
            <p:txBody>
              <a:bodyPr/>
              <a:lstStyle/>
              <a:p>
                <a:r>
                  <a:rPr lang="en-US">
                    <a:noFill/>
                  </a:rPr>
                  <a:t> </a:t>
                </a:r>
              </a:p>
            </p:txBody>
          </p:sp>
        </mc:Fallback>
      </mc:AlternateContent>
      <p:sp>
        <p:nvSpPr>
          <p:cNvPr id="32" name="Footer Placeholder 3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8001820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29">
                                            <p:txEl>
                                              <p:pRg st="0" end="0"/>
                                            </p:txEl>
                                          </p:spTgt>
                                        </p:tgtEl>
                                        <p:attrNameLst>
                                          <p:attrName>style.visibility</p:attrName>
                                        </p:attrNameLst>
                                      </p:cBhvr>
                                      <p:to>
                                        <p:strVal val="visible"/>
                                      </p:to>
                                    </p:set>
                                    <p:animEffect transition="in" filter="fade">
                                      <p:cBhvr>
                                        <p:cTn id="7" dur="1000"/>
                                        <p:tgtEl>
                                          <p:spTgt spid="29">
                                            <p:txEl>
                                              <p:pRg st="0" end="0"/>
                                            </p:txEl>
                                          </p:spTgt>
                                        </p:tgtEl>
                                      </p:cBhvr>
                                    </p:animEffect>
                                    <p:anim calcmode="lin" valueType="num">
                                      <p:cBhvr>
                                        <p:cTn id="8" dur="1000" fill="hold"/>
                                        <p:tgtEl>
                                          <p:spTgt spid="29">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2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29">
                                            <p:txEl>
                                              <p:pRg st="1" end="1"/>
                                            </p:txEl>
                                          </p:spTgt>
                                        </p:tgtEl>
                                        <p:attrNameLst>
                                          <p:attrName>style.visibility</p:attrName>
                                        </p:attrNameLst>
                                      </p:cBhvr>
                                      <p:to>
                                        <p:strVal val="visible"/>
                                      </p:to>
                                    </p:set>
                                    <p:animEffect transition="in" filter="fade">
                                      <p:cBhvr>
                                        <p:cTn id="14" dur="1000"/>
                                        <p:tgtEl>
                                          <p:spTgt spid="29">
                                            <p:txEl>
                                              <p:pRg st="1" end="1"/>
                                            </p:txEl>
                                          </p:spTgt>
                                        </p:tgtEl>
                                      </p:cBhvr>
                                    </p:animEffect>
                                    <p:anim calcmode="lin" valueType="num">
                                      <p:cBhvr>
                                        <p:cTn id="15" dur="1000" fill="hold"/>
                                        <p:tgtEl>
                                          <p:spTgt spid="29">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2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29">
                                            <p:txEl>
                                              <p:pRg st="2" end="2"/>
                                            </p:txEl>
                                          </p:spTgt>
                                        </p:tgtEl>
                                        <p:attrNameLst>
                                          <p:attrName>style.visibility</p:attrName>
                                        </p:attrNameLst>
                                      </p:cBhvr>
                                      <p:to>
                                        <p:strVal val="visible"/>
                                      </p:to>
                                    </p:set>
                                    <p:animEffect transition="in" filter="fade">
                                      <p:cBhvr>
                                        <p:cTn id="21" dur="1000"/>
                                        <p:tgtEl>
                                          <p:spTgt spid="29">
                                            <p:txEl>
                                              <p:pRg st="2" end="2"/>
                                            </p:txEl>
                                          </p:spTgt>
                                        </p:tgtEl>
                                      </p:cBhvr>
                                    </p:animEffect>
                                    <p:anim calcmode="lin" valueType="num">
                                      <p:cBhvr>
                                        <p:cTn id="22" dur="1000" fill="hold"/>
                                        <p:tgtEl>
                                          <p:spTgt spid="29">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2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29">
                                            <p:txEl>
                                              <p:pRg st="3" end="3"/>
                                            </p:txEl>
                                          </p:spTgt>
                                        </p:tgtEl>
                                        <p:attrNameLst>
                                          <p:attrName>style.visibility</p:attrName>
                                        </p:attrNameLst>
                                      </p:cBhvr>
                                      <p:to>
                                        <p:strVal val="visible"/>
                                      </p:to>
                                    </p:set>
                                    <p:animEffect transition="in" filter="fade">
                                      <p:cBhvr>
                                        <p:cTn id="28" dur="1000"/>
                                        <p:tgtEl>
                                          <p:spTgt spid="29">
                                            <p:txEl>
                                              <p:pRg st="3" end="3"/>
                                            </p:txEl>
                                          </p:spTgt>
                                        </p:tgtEl>
                                      </p:cBhvr>
                                    </p:animEffect>
                                    <p:anim calcmode="lin" valueType="num">
                                      <p:cBhvr>
                                        <p:cTn id="29" dur="1000" fill="hold"/>
                                        <p:tgtEl>
                                          <p:spTgt spid="29">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2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29">
                                            <p:txEl>
                                              <p:pRg st="6" end="6"/>
                                            </p:txEl>
                                          </p:spTgt>
                                        </p:tgtEl>
                                        <p:attrNameLst>
                                          <p:attrName>style.visibility</p:attrName>
                                        </p:attrNameLst>
                                      </p:cBhvr>
                                      <p:to>
                                        <p:strVal val="visible"/>
                                      </p:to>
                                    </p:set>
                                    <p:animEffect transition="in" filter="fade">
                                      <p:cBhvr>
                                        <p:cTn id="35" dur="1000"/>
                                        <p:tgtEl>
                                          <p:spTgt spid="29">
                                            <p:txEl>
                                              <p:pRg st="6" end="6"/>
                                            </p:txEl>
                                          </p:spTgt>
                                        </p:tgtEl>
                                      </p:cBhvr>
                                    </p:animEffect>
                                    <p:anim calcmode="lin" valueType="num">
                                      <p:cBhvr>
                                        <p:cTn id="36" dur="1000" fill="hold"/>
                                        <p:tgtEl>
                                          <p:spTgt spid="29">
                                            <p:txEl>
                                              <p:pRg st="6" end="6"/>
                                            </p:txEl>
                                          </p:spTgt>
                                        </p:tgtEl>
                                        <p:attrNameLst>
                                          <p:attrName>ppt_x</p:attrName>
                                        </p:attrNameLst>
                                      </p:cBhvr>
                                      <p:tavLst>
                                        <p:tav tm="0">
                                          <p:val>
                                            <p:strVal val="#ppt_x"/>
                                          </p:val>
                                        </p:tav>
                                        <p:tav tm="100000">
                                          <p:val>
                                            <p:strVal val="#ppt_x"/>
                                          </p:val>
                                        </p:tav>
                                      </p:tavLst>
                                    </p:anim>
                                    <p:anim calcmode="lin" valueType="num">
                                      <p:cBhvr>
                                        <p:cTn id="37" dur="1000" fill="hold"/>
                                        <p:tgtEl>
                                          <p:spTgt spid="29">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9"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lvl="0" indent="0">
                  <a:buNone/>
                </a:pPr>
                <a:r>
                  <a:rPr lang="en-US" sz="2000" dirty="0"/>
                  <a:t>Two random variables are independent if and only if the events related to those random variables are independent events. </a:t>
                </a:r>
              </a:p>
              <a:p>
                <a:pPr marL="0" lvl="0" indent="0">
                  <a:buNone/>
                </a:pPr>
                <a:r>
                  <a:rPr lang="en-US" sz="2000" dirty="0"/>
                  <a:t>The independence between two random variables is also called statistical independence.</a:t>
                </a:r>
              </a:p>
              <a:p>
                <a:pPr marL="0" lvl="0" indent="0">
                  <a:buNone/>
                </a:pPr>
                <a:r>
                  <a:rPr lang="en-US" sz="2000" dirty="0"/>
                  <a:t>1.Two  discrete random variable  X and Y are said to be independent if</a:t>
                </a:r>
              </a:p>
              <a:p>
                <a:pPr marL="0" lvl="0" indent="0">
                  <a:buNone/>
                </a:pPr>
                <a:r>
                  <a:rPr lang="en-US" sz="2000" dirty="0"/>
                  <a:t> </a:t>
                </a:r>
                <a14:m>
                  <m:oMath xmlns:m="http://schemas.openxmlformats.org/officeDocument/2006/math">
                    <m:sSub>
                      <m:sSubPr>
                        <m:ctrlPr>
                          <a:rPr lang="en-US" sz="2000" b="1" i="1" smtClean="0">
                            <a:latin typeface="Cambria Math" panose="02040503050406030204" pitchFamily="18" charset="0"/>
                          </a:rPr>
                        </m:ctrlPr>
                      </m:sSubPr>
                      <m:e>
                        <m:r>
                          <a:rPr lang="en-US" sz="2000" b="1" i="1" smtClean="0">
                            <a:latin typeface="Cambria Math" panose="02040503050406030204" pitchFamily="18" charset="0"/>
                          </a:rPr>
                          <m:t>         </m:t>
                        </m:r>
                        <m:r>
                          <a:rPr lang="en-US" sz="2000" b="1" i="1" smtClean="0">
                            <a:latin typeface="Cambria Math" panose="02040503050406030204" pitchFamily="18" charset="0"/>
                          </a:rPr>
                          <m:t>𝑷</m:t>
                        </m:r>
                        <m:r>
                          <a:rPr lang="en-US" sz="2000" b="1" i="1" smtClean="0">
                            <a:latin typeface="Cambria Math" panose="02040503050406030204" pitchFamily="18" charset="0"/>
                          </a:rPr>
                          <m:t> </m:t>
                        </m:r>
                      </m:e>
                      <m:sub>
                        <m:r>
                          <a:rPr lang="en-US" sz="2000" b="1" i="1" smtClean="0">
                            <a:latin typeface="Cambria Math" panose="02040503050406030204" pitchFamily="18" charset="0"/>
                          </a:rPr>
                          <m:t>𝑿𝒀</m:t>
                        </m:r>
                      </m:sub>
                    </m:sSub>
                  </m:oMath>
                </a14:m>
                <a:r>
                  <a:rPr lang="en-US" sz="2000" b="1" dirty="0"/>
                  <a:t> (</a:t>
                </a:r>
                <a14:m>
                  <m:oMath xmlns:m="http://schemas.openxmlformats.org/officeDocument/2006/math">
                    <m:r>
                      <a:rPr lang="en-US" sz="2000" b="1" i="1" smtClean="0">
                        <a:latin typeface="Cambria Math" panose="02040503050406030204" pitchFamily="18" charset="0"/>
                      </a:rPr>
                      <m:t>𝒙</m:t>
                    </m:r>
                    <m:r>
                      <a:rPr lang="en-US" sz="2000" b="1" i="1" smtClean="0">
                        <a:latin typeface="Cambria Math" panose="02040503050406030204" pitchFamily="18" charset="0"/>
                      </a:rPr>
                      <m:t>,</m:t>
                    </m:r>
                    <m:r>
                      <a:rPr lang="en-US" sz="2000" b="1" i="1" smtClean="0">
                        <a:latin typeface="Cambria Math" panose="02040503050406030204" pitchFamily="18" charset="0"/>
                      </a:rPr>
                      <m:t>𝒚</m:t>
                    </m:r>
                    <m:r>
                      <a:rPr lang="en-US" sz="2000" b="1" i="1" smtClean="0">
                        <a:latin typeface="Cambria Math" panose="02040503050406030204" pitchFamily="18" charset="0"/>
                      </a:rPr>
                      <m:t>)</m:t>
                    </m:r>
                  </m:oMath>
                </a14:m>
                <a:r>
                  <a:rPr lang="en-US" sz="2000" b="1" dirty="0"/>
                  <a:t> =</a:t>
                </a:r>
                <a14:m>
                  <m:oMath xmlns:m="http://schemas.openxmlformats.org/officeDocument/2006/math">
                    <m:sSub>
                      <m:sSubPr>
                        <m:ctrlPr>
                          <a:rPr lang="en-US" sz="2000" b="1" i="1">
                            <a:latin typeface="Cambria Math" panose="02040503050406030204" pitchFamily="18" charset="0"/>
                          </a:rPr>
                        </m:ctrlPr>
                      </m:sSubPr>
                      <m:e>
                        <m:sSub>
                          <m:sSubPr>
                            <m:ctrlPr>
                              <a:rPr lang="en-US" sz="2000" b="1" i="1">
                                <a:latin typeface="Cambria Math" panose="02040503050406030204" pitchFamily="18" charset="0"/>
                              </a:rPr>
                            </m:ctrlPr>
                          </m:sSubPr>
                          <m:e>
                            <m:r>
                              <a:rPr lang="en-US" sz="2000" b="1" i="1">
                                <a:latin typeface="Cambria Math" panose="02040503050406030204" pitchFamily="18" charset="0"/>
                              </a:rPr>
                              <m:t> </m:t>
                            </m:r>
                            <m:r>
                              <a:rPr lang="en-US" sz="2000" b="1" i="1">
                                <a:latin typeface="Cambria Math" panose="02040503050406030204" pitchFamily="18" charset="0"/>
                              </a:rPr>
                              <m:t>𝑷</m:t>
                            </m:r>
                            <m:r>
                              <a:rPr lang="en-US" sz="2000" b="1" i="1">
                                <a:latin typeface="Cambria Math" panose="02040503050406030204" pitchFamily="18" charset="0"/>
                              </a:rPr>
                              <m:t> </m:t>
                            </m:r>
                          </m:e>
                          <m:sub>
                            <m:r>
                              <a:rPr lang="en-US" sz="2000" b="1" i="1">
                                <a:latin typeface="Cambria Math" panose="02040503050406030204" pitchFamily="18" charset="0"/>
                              </a:rPr>
                              <m:t>𝑿</m:t>
                            </m:r>
                          </m:sub>
                        </m:sSub>
                        <m:r>
                          <m:rPr>
                            <m:nor/>
                          </m:rPr>
                          <a:rPr lang="en-US" sz="2000" b="1" dirty="0"/>
                          <m:t>(</m:t>
                        </m:r>
                        <m:r>
                          <a:rPr lang="en-US" sz="2000" b="1" i="1">
                            <a:latin typeface="Cambria Math" panose="02040503050406030204" pitchFamily="18" charset="0"/>
                          </a:rPr>
                          <m:t>𝒙</m:t>
                        </m:r>
                        <m:r>
                          <a:rPr lang="en-US" sz="2000" b="1" i="1">
                            <a:latin typeface="Cambria Math" panose="02040503050406030204" pitchFamily="18" charset="0"/>
                          </a:rPr>
                          <m:t>)</m:t>
                        </m:r>
                        <m:r>
                          <a:rPr lang="en-US" sz="2000" b="1" i="0" smtClean="0">
                            <a:latin typeface="Cambria Math" panose="02040503050406030204" pitchFamily="18" charset="0"/>
                          </a:rPr>
                          <m:t>  . </m:t>
                        </m:r>
                        <m:r>
                          <a:rPr lang="en-US" sz="2000" b="1" i="1">
                            <a:latin typeface="Cambria Math" panose="02040503050406030204" pitchFamily="18" charset="0"/>
                          </a:rPr>
                          <m:t>𝑷</m:t>
                        </m:r>
                        <m:r>
                          <a:rPr lang="en-US" sz="2000" b="1" i="1">
                            <a:latin typeface="Cambria Math" panose="02040503050406030204" pitchFamily="18" charset="0"/>
                          </a:rPr>
                          <m:t> </m:t>
                        </m:r>
                      </m:e>
                      <m:sub>
                        <m:r>
                          <a:rPr lang="en-US" sz="2000" b="1" i="1">
                            <a:latin typeface="Cambria Math" panose="02040503050406030204" pitchFamily="18" charset="0"/>
                          </a:rPr>
                          <m:t>𝒀</m:t>
                        </m:r>
                      </m:sub>
                    </m:sSub>
                  </m:oMath>
                </a14:m>
                <a:r>
                  <a:rPr lang="en-US" sz="2000" b="1" dirty="0"/>
                  <a:t>(</a:t>
                </a:r>
                <a14:m>
                  <m:oMath xmlns:m="http://schemas.openxmlformats.org/officeDocument/2006/math">
                    <m:r>
                      <a:rPr lang="en-US" sz="2000" b="1" i="1">
                        <a:latin typeface="Cambria Math" panose="02040503050406030204" pitchFamily="18" charset="0"/>
                      </a:rPr>
                      <m:t>𝒚</m:t>
                    </m:r>
                    <m:r>
                      <a:rPr lang="en-US" sz="2000" b="1" i="1">
                        <a:latin typeface="Cambria Math" panose="02040503050406030204" pitchFamily="18" charset="0"/>
                      </a:rPr>
                      <m:t>)</m:t>
                    </m:r>
                  </m:oMath>
                </a14:m>
                <a:r>
                  <a:rPr lang="en-US" sz="2000" b="1" dirty="0"/>
                  <a:t> ,</a:t>
                </a:r>
                <a14:m>
                  <m:oMath xmlns:m="http://schemas.openxmlformats.org/officeDocument/2006/math">
                    <m:r>
                      <a:rPr lang="en-US" sz="2000" b="1" i="0" dirty="0" smtClean="0">
                        <a:latin typeface="Cambria Math" panose="02040503050406030204" pitchFamily="18" charset="0"/>
                        <a:ea typeface="Cambria Math" panose="02040503050406030204" pitchFamily="18" charset="0"/>
                      </a:rPr>
                      <m:t>   </m:t>
                    </m:r>
                    <m:r>
                      <a:rPr lang="en-US" sz="2000" b="1" i="1" dirty="0" smtClean="0">
                        <a:latin typeface="Cambria Math" panose="02040503050406030204" pitchFamily="18" charset="0"/>
                        <a:ea typeface="Cambria Math" panose="02040503050406030204" pitchFamily="18" charset="0"/>
                      </a:rPr>
                      <m:t>     ∀ </m:t>
                    </m:r>
                  </m:oMath>
                </a14:m>
                <a:r>
                  <a:rPr lang="en-US" sz="2000" b="1" dirty="0"/>
                  <a:t>(</a:t>
                </a:r>
                <a14:m>
                  <m:oMath xmlns:m="http://schemas.openxmlformats.org/officeDocument/2006/math">
                    <m:r>
                      <a:rPr lang="en-US" sz="2000" b="1" i="1">
                        <a:latin typeface="Cambria Math" panose="02040503050406030204" pitchFamily="18" charset="0"/>
                      </a:rPr>
                      <m:t>𝒙</m:t>
                    </m:r>
                    <m:r>
                      <a:rPr lang="en-US" sz="2000" b="1" i="1">
                        <a:latin typeface="Cambria Math" panose="02040503050406030204" pitchFamily="18" charset="0"/>
                      </a:rPr>
                      <m:t>,</m:t>
                    </m:r>
                    <m:r>
                      <a:rPr lang="en-US" sz="2000" b="1" i="1">
                        <a:latin typeface="Cambria Math" panose="02040503050406030204" pitchFamily="18" charset="0"/>
                      </a:rPr>
                      <m:t>𝒚</m:t>
                    </m:r>
                    <m:r>
                      <a:rPr lang="en-US" sz="2000" b="1" i="1">
                        <a:latin typeface="Cambria Math" panose="02040503050406030204" pitchFamily="18" charset="0"/>
                      </a:rPr>
                      <m:t>)</m:t>
                    </m:r>
                  </m:oMath>
                </a14:m>
                <a:r>
                  <a:rPr lang="en-US" sz="2000" b="1" dirty="0"/>
                  <a:t> </a:t>
                </a:r>
                <a14:m>
                  <m:oMath xmlns:m="http://schemas.openxmlformats.org/officeDocument/2006/math">
                    <m:r>
                      <a:rPr lang="en-US" sz="2000" b="1" i="1" dirty="0" smtClean="0">
                        <a:latin typeface="Cambria Math" panose="02040503050406030204" pitchFamily="18" charset="0"/>
                        <a:ea typeface="Cambria Math" panose="02040503050406030204" pitchFamily="18" charset="0"/>
                      </a:rPr>
                      <m:t>∈</m:t>
                    </m:r>
                    <m:r>
                      <a:rPr lang="en-US" sz="2000" b="1" i="1" dirty="0" smtClean="0">
                        <a:latin typeface="Cambria Math" panose="02040503050406030204" pitchFamily="18" charset="0"/>
                        <a:ea typeface="Cambria Math" panose="02040503050406030204" pitchFamily="18" charset="0"/>
                      </a:rPr>
                      <m:t>𝑹</m:t>
                    </m:r>
                  </m:oMath>
                </a14:m>
                <a:endParaRPr lang="en-US" sz="2000" b="1" dirty="0"/>
              </a:p>
              <a:p>
                <a:pPr marL="0" lvl="0" indent="0">
                  <a:buNone/>
                </a:pPr>
                <a:endParaRPr lang="en-US" sz="2000" b="1" dirty="0"/>
              </a:p>
              <a:p>
                <a:pPr marL="0" indent="0">
                  <a:buNone/>
                </a:pPr>
                <a:r>
                  <a:rPr lang="en-US" sz="2000" b="1" dirty="0"/>
                  <a:t>  </a:t>
                </a: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         </m:t>
                        </m:r>
                        <m:r>
                          <a:rPr lang="en-US" sz="2000" b="1" i="1">
                            <a:latin typeface="Cambria Math" panose="02040503050406030204" pitchFamily="18" charset="0"/>
                          </a:rPr>
                          <m:t>𝑷</m:t>
                        </m:r>
                        <m:r>
                          <a:rPr lang="en-US" sz="2000" b="1" i="1">
                            <a:latin typeface="Cambria Math" panose="02040503050406030204" pitchFamily="18" charset="0"/>
                          </a:rPr>
                          <m:t> </m:t>
                        </m:r>
                      </m:e>
                      <m:sub>
                        <m:r>
                          <a:rPr lang="en-US" sz="2000" b="1" i="1">
                            <a:latin typeface="Cambria Math" panose="02040503050406030204" pitchFamily="18" charset="0"/>
                          </a:rPr>
                          <m:t>𝑿𝒀</m:t>
                        </m:r>
                      </m:sub>
                    </m:sSub>
                  </m:oMath>
                </a14:m>
                <a:r>
                  <a:rPr lang="en-US" sz="2000" b="1" dirty="0"/>
                  <a:t> (</a:t>
                </a:r>
                <a14:m>
                  <m:oMath xmlns:m="http://schemas.openxmlformats.org/officeDocument/2006/math">
                    <m:r>
                      <a:rPr lang="en-US" sz="2000" b="1" i="1">
                        <a:latin typeface="Cambria Math" panose="02040503050406030204" pitchFamily="18" charset="0"/>
                      </a:rPr>
                      <m:t>𝒙</m:t>
                    </m:r>
                    <m:r>
                      <a:rPr lang="en-US" sz="2000" b="1" i="1">
                        <a:latin typeface="Cambria Math" panose="02040503050406030204" pitchFamily="18" charset="0"/>
                      </a:rPr>
                      <m:t>,</m:t>
                    </m:r>
                    <m:r>
                      <a:rPr lang="en-US" sz="2000" b="1" i="1">
                        <a:latin typeface="Cambria Math" panose="02040503050406030204" pitchFamily="18" charset="0"/>
                      </a:rPr>
                      <m:t>𝒚</m:t>
                    </m:r>
                    <m:r>
                      <a:rPr lang="en-US" sz="2000" b="1" i="1">
                        <a:latin typeface="Cambria Math" panose="02040503050406030204" pitchFamily="18" charset="0"/>
                      </a:rPr>
                      <m:t>)</m:t>
                    </m:r>
                  </m:oMath>
                </a14:m>
                <a:r>
                  <a:rPr lang="en-US" sz="2000" b="1" dirty="0"/>
                  <a:t> : Joint </a:t>
                </a:r>
                <a14:m>
                  <m:oMath xmlns:m="http://schemas.openxmlformats.org/officeDocument/2006/math">
                    <m:r>
                      <a:rPr lang="en-US" sz="2000" b="1">
                        <a:latin typeface="Cambria Math" panose="02040503050406030204" pitchFamily="18" charset="0"/>
                      </a:rPr>
                      <m:t>𝐩𝐫𝐨𝐛𝐚𝐛𝐢𝐥𝐢𝐭𝐲</m:t>
                    </m:r>
                    <m:r>
                      <a:rPr lang="en-US" sz="2000" b="1">
                        <a:latin typeface="Cambria Math" panose="02040503050406030204" pitchFamily="18" charset="0"/>
                      </a:rPr>
                      <m:t> </m:t>
                    </m:r>
                    <m:r>
                      <a:rPr lang="en-US" sz="2000" b="1">
                        <a:latin typeface="Cambria Math" panose="02040503050406030204" pitchFamily="18" charset="0"/>
                      </a:rPr>
                      <m:t>𝐦𝐚𝐬𝐬</m:t>
                    </m:r>
                    <m:r>
                      <a:rPr lang="en-US" sz="2000" b="1">
                        <a:latin typeface="Cambria Math" panose="02040503050406030204" pitchFamily="18" charset="0"/>
                      </a:rPr>
                      <m:t> </m:t>
                    </m:r>
                    <m:r>
                      <a:rPr lang="en-US" sz="2000" b="1">
                        <a:latin typeface="Cambria Math" panose="02040503050406030204" pitchFamily="18" charset="0"/>
                      </a:rPr>
                      <m:t>𝐟𝐮𝐧𝐜𝐭𝐢𝐨𝐧</m:t>
                    </m:r>
                    <m:r>
                      <a:rPr lang="en-US" sz="2000" b="0" i="0" smtClean="0">
                        <a:latin typeface="Cambria Math" panose="02040503050406030204" pitchFamily="18" charset="0"/>
                      </a:rPr>
                      <m:t> </m:t>
                    </m:r>
                  </m:oMath>
                </a14:m>
                <a:r>
                  <a:rPr lang="en-US" sz="2000" b="1" dirty="0"/>
                  <a:t>of two variable</a:t>
                </a:r>
              </a:p>
              <a:p>
                <a:pPr marL="0" lvl="0" indent="0">
                  <a:buNone/>
                </a:pPr>
                <a:r>
                  <a:rPr lang="en-US" sz="2000" dirty="0"/>
                  <a:t>          </a:t>
                </a: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 </m:t>
                        </m:r>
                        <m:r>
                          <a:rPr lang="en-US" sz="2000" b="1" i="1">
                            <a:latin typeface="Cambria Math" panose="02040503050406030204" pitchFamily="18" charset="0"/>
                          </a:rPr>
                          <m:t>𝑷</m:t>
                        </m:r>
                        <m:r>
                          <a:rPr lang="en-US" sz="2000" b="1" i="1">
                            <a:latin typeface="Cambria Math" panose="02040503050406030204" pitchFamily="18" charset="0"/>
                          </a:rPr>
                          <m:t> </m:t>
                        </m:r>
                      </m:e>
                      <m:sub>
                        <m:r>
                          <a:rPr lang="en-US" sz="2000" b="1" i="1">
                            <a:latin typeface="Cambria Math" panose="02040503050406030204" pitchFamily="18" charset="0"/>
                          </a:rPr>
                          <m:t>𝑿</m:t>
                        </m:r>
                      </m:sub>
                    </m:sSub>
                  </m:oMath>
                </a14:m>
                <a:r>
                  <a:rPr lang="en-US" sz="2000" b="1" dirty="0"/>
                  <a:t>(</a:t>
                </a:r>
                <a14:m>
                  <m:oMath xmlns:m="http://schemas.openxmlformats.org/officeDocument/2006/math">
                    <m:r>
                      <a:rPr lang="en-US" sz="2000" b="1" i="1">
                        <a:latin typeface="Cambria Math" panose="02040503050406030204" pitchFamily="18" charset="0"/>
                      </a:rPr>
                      <m:t>𝒙</m:t>
                    </m:r>
                    <m:r>
                      <a:rPr lang="en-US" sz="2000" b="1" i="1">
                        <a:latin typeface="Cambria Math" panose="02040503050406030204" pitchFamily="18" charset="0"/>
                      </a:rPr>
                      <m:t>)</m:t>
                    </m:r>
                    <m:r>
                      <a:rPr lang="en-US" sz="2000" b="1" i="0" smtClean="0">
                        <a:latin typeface="Cambria Math" panose="02040503050406030204" pitchFamily="18" charset="0"/>
                      </a:rPr>
                      <m:t>:</m:t>
                    </m:r>
                    <m:r>
                      <a:rPr lang="en-US" sz="2000" b="1" i="0" smtClean="0">
                        <a:latin typeface="Cambria Math" panose="02040503050406030204" pitchFamily="18" charset="0"/>
                      </a:rPr>
                      <m:t>𝐌𝐚𝐫𝐠𝐢𝐧𝐚𝐥</m:t>
                    </m:r>
                    <m:r>
                      <a:rPr lang="en-US" sz="2000" b="1" i="0" smtClean="0">
                        <a:latin typeface="Cambria Math" panose="02040503050406030204" pitchFamily="18" charset="0"/>
                      </a:rPr>
                      <m:t> </m:t>
                    </m:r>
                    <m:r>
                      <a:rPr lang="en-US" sz="2000" b="1" i="0" smtClean="0">
                        <a:latin typeface="Cambria Math" panose="02040503050406030204" pitchFamily="18" charset="0"/>
                      </a:rPr>
                      <m:t>𝐩𝐫𝐨𝐛𝐚𝐛𝐢𝐥𝐢𝐭𝐲</m:t>
                    </m:r>
                    <m:r>
                      <a:rPr lang="en-US" sz="2000" b="1" i="0" smtClean="0">
                        <a:latin typeface="Cambria Math" panose="02040503050406030204" pitchFamily="18" charset="0"/>
                      </a:rPr>
                      <m:t> </m:t>
                    </m:r>
                    <m:r>
                      <a:rPr lang="en-US" sz="2000" b="1" i="0" smtClean="0">
                        <a:latin typeface="Cambria Math" panose="02040503050406030204" pitchFamily="18" charset="0"/>
                      </a:rPr>
                      <m:t>𝐦𝐚𝐬𝐬</m:t>
                    </m:r>
                    <m:r>
                      <a:rPr lang="en-US" sz="2000" b="1" i="0" smtClean="0">
                        <a:latin typeface="Cambria Math" panose="02040503050406030204" pitchFamily="18" charset="0"/>
                      </a:rPr>
                      <m:t> </m:t>
                    </m:r>
                    <m:r>
                      <a:rPr lang="en-US" sz="2000" b="1" i="0" smtClean="0">
                        <a:latin typeface="Cambria Math" panose="02040503050406030204" pitchFamily="18" charset="0"/>
                      </a:rPr>
                      <m:t>𝐟𝐮𝐧𝐜𝐭𝐢𝐨𝐧</m:t>
                    </m:r>
                  </m:oMath>
                </a14:m>
                <a:r>
                  <a:rPr lang="en-US" sz="2000" dirty="0"/>
                  <a:t> of X= x</a:t>
                </a:r>
              </a:p>
              <a:p>
                <a:pPr marL="0" lvl="0" indent="0">
                  <a:buNone/>
                </a:pPr>
                <a:r>
                  <a:rPr lang="en-US" sz="2000" dirty="0"/>
                  <a:t>           </a:t>
                </a:r>
                <a14:m>
                  <m:oMath xmlns:m="http://schemas.openxmlformats.org/officeDocument/2006/math">
                    <m:sSub>
                      <m:sSubPr>
                        <m:ctrlPr>
                          <a:rPr lang="en-US" sz="2000" b="1" i="1">
                            <a:latin typeface="Cambria Math" panose="02040503050406030204" pitchFamily="18" charset="0"/>
                          </a:rPr>
                        </m:ctrlPr>
                      </m:sSubPr>
                      <m:e>
                        <m:r>
                          <a:rPr lang="en-US" sz="2000" b="1" i="1">
                            <a:latin typeface="Cambria Math" panose="02040503050406030204" pitchFamily="18" charset="0"/>
                          </a:rPr>
                          <m:t> </m:t>
                        </m:r>
                        <m:r>
                          <a:rPr lang="en-US" sz="2000" b="1" i="1">
                            <a:latin typeface="Cambria Math" panose="02040503050406030204" pitchFamily="18" charset="0"/>
                          </a:rPr>
                          <m:t>𝑷</m:t>
                        </m:r>
                        <m:r>
                          <a:rPr lang="en-US" sz="2000" b="1" i="1">
                            <a:latin typeface="Cambria Math" panose="02040503050406030204" pitchFamily="18" charset="0"/>
                          </a:rPr>
                          <m:t> </m:t>
                        </m:r>
                      </m:e>
                      <m:sub>
                        <m:r>
                          <a:rPr lang="en-US" sz="2000" b="1" i="1" smtClean="0">
                            <a:latin typeface="Cambria Math" panose="02040503050406030204" pitchFamily="18" charset="0"/>
                          </a:rPr>
                          <m:t>𝒀</m:t>
                        </m:r>
                      </m:sub>
                    </m:sSub>
                  </m:oMath>
                </a14:m>
                <a:r>
                  <a:rPr lang="en-US" sz="2000" b="1" dirty="0"/>
                  <a:t>(y</a:t>
                </a:r>
                <a14:m>
                  <m:oMath xmlns:m="http://schemas.openxmlformats.org/officeDocument/2006/math">
                    <m:r>
                      <a:rPr lang="en-US" sz="2000" b="1" i="1">
                        <a:latin typeface="Cambria Math" panose="02040503050406030204" pitchFamily="18" charset="0"/>
                      </a:rPr>
                      <m:t>)</m:t>
                    </m:r>
                    <m:r>
                      <a:rPr lang="en-US" sz="2000" b="1">
                        <a:latin typeface="Cambria Math" panose="02040503050406030204" pitchFamily="18" charset="0"/>
                      </a:rPr>
                      <m:t>:</m:t>
                    </m:r>
                  </m:oMath>
                </a14:m>
                <a:r>
                  <a:rPr lang="en-US" sz="2000" b="1" dirty="0"/>
                  <a:t> </a:t>
                </a:r>
                <a14:m>
                  <m:oMath xmlns:m="http://schemas.openxmlformats.org/officeDocument/2006/math">
                    <m:r>
                      <a:rPr lang="en-US" sz="2000" b="1">
                        <a:latin typeface="Cambria Math" panose="02040503050406030204" pitchFamily="18" charset="0"/>
                      </a:rPr>
                      <m:t>𝐌𝐚𝐫𝐠𝐢𝐧𝐚𝐥</m:t>
                    </m:r>
                    <m:r>
                      <a:rPr lang="en-US" sz="2000" b="1">
                        <a:latin typeface="Cambria Math" panose="02040503050406030204" pitchFamily="18" charset="0"/>
                      </a:rPr>
                      <m:t> </m:t>
                    </m:r>
                    <m:r>
                      <a:rPr lang="en-US" sz="2000" b="1">
                        <a:latin typeface="Cambria Math" panose="02040503050406030204" pitchFamily="18" charset="0"/>
                      </a:rPr>
                      <m:t>𝐩𝐫𝐨𝐛𝐚𝐛𝐢𝐥𝐢𝐭𝐲</m:t>
                    </m:r>
                    <m:r>
                      <a:rPr lang="en-US" sz="2000" b="1">
                        <a:latin typeface="Cambria Math" panose="02040503050406030204" pitchFamily="18" charset="0"/>
                      </a:rPr>
                      <m:t> </m:t>
                    </m:r>
                    <m:r>
                      <a:rPr lang="en-US" sz="2000" b="1">
                        <a:latin typeface="Cambria Math" panose="02040503050406030204" pitchFamily="18" charset="0"/>
                      </a:rPr>
                      <m:t>𝐦𝐚𝐬𝐬</m:t>
                    </m:r>
                    <m:r>
                      <a:rPr lang="en-US" sz="2000" b="1">
                        <a:latin typeface="Cambria Math" panose="02040503050406030204" pitchFamily="18" charset="0"/>
                      </a:rPr>
                      <m:t> </m:t>
                    </m:r>
                    <m:r>
                      <a:rPr lang="en-US" sz="2000" b="1">
                        <a:latin typeface="Cambria Math" panose="02040503050406030204" pitchFamily="18" charset="0"/>
                      </a:rPr>
                      <m:t>𝐟𝐮𝐧𝐜𝐭𝐢𝐨𝐧</m:t>
                    </m:r>
                  </m:oMath>
                </a14:m>
                <a:r>
                  <a:rPr lang="en-US" sz="2000" dirty="0"/>
                  <a:t> of Y= y</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rotWithShape="0">
                <a:blip r:embed="rId2"/>
                <a:stretch>
                  <a:fillRect l="-815" t="-809" r="-1111"/>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44</a:t>
            </a:fld>
            <a:endParaRPr lang="en-US"/>
          </a:p>
        </p:txBody>
      </p:sp>
      <p:sp>
        <p:nvSpPr>
          <p:cNvPr id="7" name="Title 1"/>
          <p:cNvSpPr txBox="1">
            <a:spLocks/>
          </p:cNvSpPr>
          <p:nvPr/>
        </p:nvSpPr>
        <p:spPr>
          <a:xfrm>
            <a:off x="1524000" y="0"/>
            <a:ext cx="7620000" cy="6017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Statistical Independence(CO3)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23" name="AutoShape 15" descr="X"/>
          <p:cNvSpPr>
            <a:spLocks noChangeAspect="1" noChangeArrowheads="1"/>
          </p:cNvSpPr>
          <p:nvPr/>
        </p:nvSpPr>
        <p:spPr bwMode="auto">
          <a:xfrm>
            <a:off x="1812925" y="-114300"/>
            <a:ext cx="12382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6" descr="Y"/>
          <p:cNvSpPr>
            <a:spLocks noChangeAspect="1" noChangeArrowheads="1"/>
          </p:cNvSpPr>
          <p:nvPr/>
        </p:nvSpPr>
        <p:spPr bwMode="auto">
          <a:xfrm>
            <a:off x="2279650" y="-114300"/>
            <a:ext cx="10477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728740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6" end="6"/>
                                            </p:txEl>
                                          </p:spTgt>
                                        </p:tgtEl>
                                        <p:attrNameLst>
                                          <p:attrName>style.visibility</p:attrName>
                                        </p:attrNameLst>
                                      </p:cBhvr>
                                      <p:to>
                                        <p:strVal val="visible"/>
                                      </p:to>
                                    </p:set>
                                    <p:animEffect transition="in" filter="fade">
                                      <p:cBhvr>
                                        <p:cTn id="42" dur="1000"/>
                                        <p:tgtEl>
                                          <p:spTgt spid="3">
                                            <p:txEl>
                                              <p:pRg st="6" end="6"/>
                                            </p:txEl>
                                          </p:spTgt>
                                        </p:tgtEl>
                                      </p:cBhvr>
                                    </p:animEffect>
                                    <p:anim calcmode="lin" valueType="num">
                                      <p:cBhvr>
                                        <p:cTn id="43"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7" end="7"/>
                                            </p:txEl>
                                          </p:spTgt>
                                        </p:tgtEl>
                                        <p:attrNameLst>
                                          <p:attrName>style.visibility</p:attrName>
                                        </p:attrNameLst>
                                      </p:cBhvr>
                                      <p:to>
                                        <p:strVal val="visible"/>
                                      </p:to>
                                    </p:set>
                                    <p:animEffect transition="in" filter="fade">
                                      <p:cBhvr>
                                        <p:cTn id="49" dur="1000"/>
                                        <p:tgtEl>
                                          <p:spTgt spid="3">
                                            <p:txEl>
                                              <p:pRg st="7" end="7"/>
                                            </p:txEl>
                                          </p:spTgt>
                                        </p:tgtEl>
                                      </p:cBhvr>
                                    </p:animEffect>
                                    <p:anim calcmode="lin" valueType="num">
                                      <p:cBhvr>
                                        <p:cTn id="50"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45</a:t>
            </a:fld>
            <a:endParaRPr lang="en-US"/>
          </a:p>
        </p:txBody>
      </p:sp>
      <p:sp>
        <p:nvSpPr>
          <p:cNvPr id="7" name="Title 1"/>
          <p:cNvSpPr txBox="1">
            <a:spLocks/>
          </p:cNvSpPr>
          <p:nvPr/>
        </p:nvSpPr>
        <p:spPr>
          <a:xfrm>
            <a:off x="1524000" y="0"/>
            <a:ext cx="7620000" cy="6017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Statistical Independence(CO3)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23" name="AutoShape 15" descr="X"/>
          <p:cNvSpPr>
            <a:spLocks noChangeAspect="1" noChangeArrowheads="1"/>
          </p:cNvSpPr>
          <p:nvPr/>
        </p:nvSpPr>
        <p:spPr bwMode="auto">
          <a:xfrm>
            <a:off x="1812925" y="-114300"/>
            <a:ext cx="12382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6" descr="Y"/>
          <p:cNvSpPr>
            <a:spLocks noChangeAspect="1" noChangeArrowheads="1"/>
          </p:cNvSpPr>
          <p:nvPr/>
        </p:nvSpPr>
        <p:spPr bwMode="auto">
          <a:xfrm>
            <a:off x="2279650" y="-114300"/>
            <a:ext cx="10477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1" name="Rectangle 5"/>
          <p:cNvSpPr>
            <a:spLocks noChangeArrowheads="1"/>
          </p:cNvSpPr>
          <p:nvPr/>
        </p:nvSpPr>
        <p:spPr bwMode="auto">
          <a:xfrm>
            <a:off x="423930" y="1703458"/>
            <a:ext cx="8602933" cy="707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Open Sans"/>
              </a:rPr>
              <a:t>Two random variables X and Y forming a continuous random vector, are</a:t>
            </a:r>
          </a:p>
          <a:p>
            <a:pPr marL="0" marR="0" lvl="0" indent="0" algn="l"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effectLst/>
                <a:latin typeface="Open Sans"/>
              </a:rPr>
              <a:t> independent if and only if</a:t>
            </a:r>
            <a:r>
              <a:rPr kumimoji="0" lang="en-US" sz="2000" b="0" i="0" u="none" strike="noStrike" cap="none" normalizeH="0" baseline="0" dirty="0">
                <a:ln>
                  <a:noFill/>
                </a:ln>
                <a:effectLst/>
              </a:rPr>
              <a:t> </a:t>
            </a:r>
            <a:endParaRPr kumimoji="0" lang="en-US" sz="2000" b="0" i="0" u="none" strike="noStrike" cap="none" normalizeH="0" baseline="0" dirty="0">
              <a:ln>
                <a:noFill/>
              </a:ln>
              <a:effectLst/>
              <a:latin typeface="Open Sans"/>
            </a:endParaRPr>
          </a:p>
        </p:txBody>
      </p:sp>
      <p:sp>
        <p:nvSpPr>
          <p:cNvPr id="12" name="AutoShape 6" descr="X"/>
          <p:cNvSpPr>
            <a:spLocks noChangeAspect="1" noChangeArrowheads="1"/>
          </p:cNvSpPr>
          <p:nvPr/>
        </p:nvSpPr>
        <p:spPr bwMode="auto">
          <a:xfrm>
            <a:off x="2498725" y="1028700"/>
            <a:ext cx="12382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7" descr="Y"/>
          <p:cNvSpPr>
            <a:spLocks noChangeAspect="1" noChangeArrowheads="1"/>
          </p:cNvSpPr>
          <p:nvPr/>
        </p:nvSpPr>
        <p:spPr bwMode="auto">
          <a:xfrm>
            <a:off x="2965450" y="1028700"/>
            <a:ext cx="10477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14" name="Rectangle 13"/>
              <p:cNvSpPr/>
              <p:nvPr/>
            </p:nvSpPr>
            <p:spPr>
              <a:xfrm>
                <a:off x="914400" y="2528032"/>
                <a:ext cx="5486400" cy="369332"/>
              </a:xfrm>
              <a:prstGeom prst="rect">
                <a:avLst/>
              </a:prstGeom>
            </p:spPr>
            <p:txBody>
              <a:bodyPr wrap="square">
                <a:spAutoFit/>
              </a:bodyPr>
              <a:lstStyle/>
              <a:p>
                <a:pPr lvl="0"/>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         </m:t>
                        </m:r>
                        <m:r>
                          <a:rPr lang="en-US" b="1" i="1" smtClean="0">
                            <a:latin typeface="Cambria Math" panose="02040503050406030204" pitchFamily="18" charset="0"/>
                          </a:rPr>
                          <m:t>𝑭</m:t>
                        </m:r>
                      </m:e>
                      <m:sub>
                        <m:r>
                          <a:rPr lang="en-US" b="1" i="1">
                            <a:latin typeface="Cambria Math" panose="02040503050406030204" pitchFamily="18" charset="0"/>
                          </a:rPr>
                          <m:t>𝑿𝒀</m:t>
                        </m:r>
                      </m:sub>
                    </m:sSub>
                  </m:oMath>
                </a14:m>
                <a:r>
                  <a:rPr lang="en-US" b="1" dirty="0"/>
                  <a:t> (</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𝒚</m:t>
                    </m:r>
                    <m:r>
                      <a:rPr lang="en-US" b="1" i="1">
                        <a:latin typeface="Cambria Math" panose="02040503050406030204" pitchFamily="18" charset="0"/>
                      </a:rPr>
                      <m:t>)</m:t>
                    </m:r>
                  </m:oMath>
                </a14:m>
                <a:r>
                  <a:rPr lang="en-US" b="1" dirty="0"/>
                  <a:t> =</a:t>
                </a:r>
                <a14:m>
                  <m:oMath xmlns:m="http://schemas.openxmlformats.org/officeDocument/2006/math">
                    <m:sSub>
                      <m:sSubPr>
                        <m:ctrlPr>
                          <a:rPr lang="en-US" b="1" i="1">
                            <a:latin typeface="Cambria Math" panose="02040503050406030204" pitchFamily="18" charset="0"/>
                          </a:rPr>
                        </m:ctrlPr>
                      </m:sSubPr>
                      <m:e>
                        <m:sSub>
                          <m:sSubPr>
                            <m:ctrlPr>
                              <a:rPr lang="en-US" b="1" i="1">
                                <a:latin typeface="Cambria Math" panose="02040503050406030204" pitchFamily="18" charset="0"/>
                              </a:rPr>
                            </m:ctrlPr>
                          </m:sSubPr>
                          <m:e>
                            <m:r>
                              <a:rPr lang="en-US" b="1" i="1">
                                <a:latin typeface="Cambria Math" panose="02040503050406030204" pitchFamily="18" charset="0"/>
                              </a:rPr>
                              <m:t> </m:t>
                            </m:r>
                            <m:r>
                              <a:rPr lang="en-US" b="1" i="1" smtClean="0">
                                <a:latin typeface="Cambria Math" panose="02040503050406030204" pitchFamily="18" charset="0"/>
                              </a:rPr>
                              <m:t>𝑭</m:t>
                            </m:r>
                            <m:r>
                              <a:rPr lang="en-US" b="1" i="1">
                                <a:latin typeface="Cambria Math" panose="02040503050406030204" pitchFamily="18" charset="0"/>
                              </a:rPr>
                              <m:t> </m:t>
                            </m:r>
                          </m:e>
                          <m:sub>
                            <m:r>
                              <a:rPr lang="en-US" b="1" i="1">
                                <a:latin typeface="Cambria Math" panose="02040503050406030204" pitchFamily="18" charset="0"/>
                              </a:rPr>
                              <m:t>𝑿</m:t>
                            </m:r>
                          </m:sub>
                        </m:sSub>
                        <m:r>
                          <m:rPr>
                            <m:nor/>
                          </m:rPr>
                          <a:rPr lang="en-US" b="1" dirty="0"/>
                          <m:t>(</m:t>
                        </m:r>
                        <m:r>
                          <a:rPr lang="en-US" b="1" i="1">
                            <a:latin typeface="Cambria Math" panose="02040503050406030204" pitchFamily="18" charset="0"/>
                          </a:rPr>
                          <m:t>𝒙</m:t>
                        </m:r>
                        <m:r>
                          <a:rPr lang="en-US" b="1" i="1">
                            <a:latin typeface="Cambria Math" panose="02040503050406030204" pitchFamily="18" charset="0"/>
                          </a:rPr>
                          <m:t>)</m:t>
                        </m:r>
                        <m:r>
                          <a:rPr lang="en-US" b="1">
                            <a:latin typeface="Cambria Math" panose="02040503050406030204" pitchFamily="18" charset="0"/>
                          </a:rPr>
                          <m:t>   </m:t>
                        </m:r>
                        <m:r>
                          <a:rPr lang="en-US" b="1" i="1" smtClean="0">
                            <a:latin typeface="Cambria Math" panose="02040503050406030204" pitchFamily="18" charset="0"/>
                          </a:rPr>
                          <m:t>𝑭</m:t>
                        </m:r>
                        <m:r>
                          <a:rPr lang="en-US" b="1" i="1">
                            <a:latin typeface="Cambria Math" panose="02040503050406030204" pitchFamily="18" charset="0"/>
                          </a:rPr>
                          <m:t> </m:t>
                        </m:r>
                      </m:e>
                      <m:sub>
                        <m:r>
                          <a:rPr lang="en-US" b="1" i="1">
                            <a:latin typeface="Cambria Math" panose="02040503050406030204" pitchFamily="18" charset="0"/>
                          </a:rPr>
                          <m:t>𝒀</m:t>
                        </m:r>
                      </m:sub>
                    </m:sSub>
                  </m:oMath>
                </a14:m>
                <a:r>
                  <a:rPr lang="en-US" b="1" dirty="0"/>
                  <a:t>(</a:t>
                </a:r>
                <a14:m>
                  <m:oMath xmlns:m="http://schemas.openxmlformats.org/officeDocument/2006/math">
                    <m:r>
                      <a:rPr lang="en-US" b="1" i="1">
                        <a:latin typeface="Cambria Math" panose="02040503050406030204" pitchFamily="18" charset="0"/>
                      </a:rPr>
                      <m:t>𝒚</m:t>
                    </m:r>
                    <m:r>
                      <a:rPr lang="en-US" b="1" i="1">
                        <a:latin typeface="Cambria Math" panose="02040503050406030204" pitchFamily="18" charset="0"/>
                      </a:rPr>
                      <m:t>)</m:t>
                    </m:r>
                  </m:oMath>
                </a14:m>
                <a:r>
                  <a:rPr lang="en-US" b="1" dirty="0"/>
                  <a:t> ,</a:t>
                </a:r>
                <a14:m>
                  <m:oMath xmlns:m="http://schemas.openxmlformats.org/officeDocument/2006/math">
                    <m:r>
                      <a:rPr lang="en-US" b="1" dirty="0">
                        <a:latin typeface="Cambria Math" panose="02040503050406030204" pitchFamily="18" charset="0"/>
                        <a:ea typeface="Cambria Math" panose="02040503050406030204" pitchFamily="18" charset="0"/>
                      </a:rPr>
                      <m:t>   </m:t>
                    </m:r>
                    <m:r>
                      <a:rPr lang="en-US" b="1" i="1" dirty="0">
                        <a:latin typeface="Cambria Math" panose="02040503050406030204" pitchFamily="18" charset="0"/>
                        <a:ea typeface="Cambria Math" panose="02040503050406030204" pitchFamily="18" charset="0"/>
                      </a:rPr>
                      <m:t>     ∀ </m:t>
                    </m:r>
                  </m:oMath>
                </a14:m>
                <a:r>
                  <a:rPr lang="en-US" b="1" dirty="0"/>
                  <a:t>(</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𝒚</m:t>
                    </m:r>
                    <m:r>
                      <a:rPr lang="en-US" b="1" i="1">
                        <a:latin typeface="Cambria Math" panose="02040503050406030204" pitchFamily="18" charset="0"/>
                      </a:rPr>
                      <m:t>)</m:t>
                    </m:r>
                  </m:oMath>
                </a14:m>
                <a:r>
                  <a:rPr lang="en-US" b="1" dirty="0"/>
                  <a:t> </a:t>
                </a:r>
                <a14:m>
                  <m:oMath xmlns:m="http://schemas.openxmlformats.org/officeDocument/2006/math">
                    <m:r>
                      <a:rPr lang="en-US" b="1" i="1" dirty="0">
                        <a:latin typeface="Cambria Math" panose="02040503050406030204" pitchFamily="18" charset="0"/>
                        <a:ea typeface="Cambria Math" panose="02040503050406030204" pitchFamily="18" charset="0"/>
                      </a:rPr>
                      <m:t>∈</m:t>
                    </m:r>
                    <m:r>
                      <a:rPr lang="en-US" b="1" i="1" dirty="0">
                        <a:latin typeface="Cambria Math" panose="02040503050406030204" pitchFamily="18" charset="0"/>
                        <a:ea typeface="Cambria Math" panose="02040503050406030204" pitchFamily="18" charset="0"/>
                      </a:rPr>
                      <m:t>𝑹</m:t>
                    </m:r>
                  </m:oMath>
                </a14:m>
                <a:endParaRPr lang="en-US" b="1" dirty="0"/>
              </a:p>
            </p:txBody>
          </p:sp>
        </mc:Choice>
        <mc:Fallback xmlns="">
          <p:sp>
            <p:nvSpPr>
              <p:cNvPr id="14" name="Rectangle 13"/>
              <p:cNvSpPr>
                <a:spLocks noRot="1" noChangeAspect="1" noMove="1" noResize="1" noEditPoints="1" noAdjustHandles="1" noChangeArrowheads="1" noChangeShapeType="1" noTextEdit="1"/>
              </p:cNvSpPr>
              <p:nvPr/>
            </p:nvSpPr>
            <p:spPr>
              <a:xfrm>
                <a:off x="914400" y="2528032"/>
                <a:ext cx="5486400" cy="369332"/>
              </a:xfrm>
              <a:prstGeom prst="rect">
                <a:avLst/>
              </a:prstGeom>
              <a:blipFill rotWithShape="0">
                <a:blip r:embed="rId2"/>
                <a:stretch>
                  <a:fillRect t="-1000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5" name="Rectangle 14"/>
              <p:cNvSpPr/>
              <p:nvPr/>
            </p:nvSpPr>
            <p:spPr>
              <a:xfrm>
                <a:off x="1219200" y="3055182"/>
                <a:ext cx="7162800" cy="2456313"/>
              </a:xfrm>
              <a:prstGeom prst="rect">
                <a:avLst/>
              </a:prstGeom>
            </p:spPr>
            <p:txBody>
              <a:bodyPr wrap="square">
                <a:spAutoFit/>
              </a:bodyPr>
              <a:lstStyle/>
              <a:p>
                <a:pPr marL="285750" indent="-285750">
                  <a:buFont typeface="Arial" panose="020B0604020202020204" pitchFamily="34" charset="0"/>
                  <a:buChar char="•"/>
                </a:pP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         </m:t>
                        </m:r>
                        <m:r>
                          <a:rPr lang="en-US" b="1" i="1" smtClean="0">
                            <a:latin typeface="Cambria Math" panose="02040503050406030204" pitchFamily="18" charset="0"/>
                          </a:rPr>
                          <m:t>𝑭</m:t>
                        </m:r>
                        <m:r>
                          <a:rPr lang="en-US" b="1" i="1">
                            <a:latin typeface="Cambria Math" panose="02040503050406030204" pitchFamily="18" charset="0"/>
                          </a:rPr>
                          <m:t> </m:t>
                        </m:r>
                      </m:e>
                      <m:sub>
                        <m:r>
                          <a:rPr lang="en-US" b="1" i="1">
                            <a:latin typeface="Cambria Math" panose="02040503050406030204" pitchFamily="18" charset="0"/>
                          </a:rPr>
                          <m:t>𝑿𝒀</m:t>
                        </m:r>
                      </m:sub>
                    </m:sSub>
                  </m:oMath>
                </a14:m>
                <a:r>
                  <a:rPr lang="en-US" b="1" dirty="0"/>
                  <a:t> (</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𝒚</m:t>
                    </m:r>
                    <m:r>
                      <a:rPr lang="en-US" b="1" i="1">
                        <a:latin typeface="Cambria Math" panose="02040503050406030204" pitchFamily="18" charset="0"/>
                      </a:rPr>
                      <m:t>)</m:t>
                    </m:r>
                  </m:oMath>
                </a14:m>
                <a:r>
                  <a:rPr lang="en-US" b="1" dirty="0"/>
                  <a:t> : Joint </a:t>
                </a:r>
                <a14:m>
                  <m:oMath xmlns:m="http://schemas.openxmlformats.org/officeDocument/2006/math">
                    <m:r>
                      <a:rPr lang="en-US" b="1">
                        <a:latin typeface="Cambria Math" panose="02040503050406030204" pitchFamily="18" charset="0"/>
                      </a:rPr>
                      <m:t>𝐩𝐫𝐨𝐛𝐚𝐛𝐢𝐥𝐢𝐭𝐲</m:t>
                    </m:r>
                    <m:r>
                      <a:rPr lang="en-US" b="1" i="0" smtClean="0">
                        <a:latin typeface="Cambria Math" panose="02040503050406030204" pitchFamily="18" charset="0"/>
                      </a:rPr>
                      <m:t> </m:t>
                    </m:r>
                    <m:r>
                      <a:rPr lang="en-US" b="1" i="0" smtClean="0">
                        <a:latin typeface="Cambria Math" panose="02040503050406030204" pitchFamily="18" charset="0"/>
                      </a:rPr>
                      <m:t>𝐝𝐞𝐧𝐬𝐢𝐭𝐲</m:t>
                    </m:r>
                    <m:r>
                      <a:rPr lang="en-US" b="1" i="0" smtClean="0">
                        <a:latin typeface="Cambria Math" panose="02040503050406030204" pitchFamily="18" charset="0"/>
                      </a:rPr>
                      <m:t> </m:t>
                    </m:r>
                    <m:r>
                      <a:rPr lang="en-US" b="1">
                        <a:latin typeface="Cambria Math" panose="02040503050406030204" pitchFamily="18" charset="0"/>
                      </a:rPr>
                      <m:t>𝐟𝐮𝐧𝐜𝐭𝐢𝐨𝐧</m:t>
                    </m:r>
                    <m:r>
                      <a:rPr lang="en-US">
                        <a:latin typeface="Cambria Math" panose="02040503050406030204" pitchFamily="18" charset="0"/>
                      </a:rPr>
                      <m:t> </m:t>
                    </m:r>
                  </m:oMath>
                </a14:m>
                <a:r>
                  <a:rPr lang="en-US" b="1" dirty="0"/>
                  <a:t>of two variable</a:t>
                </a:r>
              </a:p>
              <a:p>
                <a:pPr marL="285750" lvl="0" indent="-285750">
                  <a:buFont typeface="Arial" panose="020B0604020202020204" pitchFamily="34" charset="0"/>
                  <a:buChar char="•"/>
                </a:pPr>
                <a:r>
                  <a:rPr lang="en-US"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 </m:t>
                        </m:r>
                        <m:r>
                          <a:rPr lang="en-US" b="1" i="1" smtClean="0">
                            <a:latin typeface="Cambria Math" panose="02040503050406030204" pitchFamily="18" charset="0"/>
                          </a:rPr>
                          <m:t>𝑭</m:t>
                        </m:r>
                        <m:r>
                          <a:rPr lang="en-US" b="1" i="1">
                            <a:latin typeface="Cambria Math" panose="02040503050406030204" pitchFamily="18" charset="0"/>
                          </a:rPr>
                          <m:t> </m:t>
                        </m:r>
                      </m:e>
                      <m:sub>
                        <m:r>
                          <a:rPr lang="en-US" b="1" i="1">
                            <a:latin typeface="Cambria Math" panose="02040503050406030204" pitchFamily="18" charset="0"/>
                          </a:rPr>
                          <m:t>𝑿</m:t>
                        </m:r>
                      </m:sub>
                    </m:sSub>
                  </m:oMath>
                </a14:m>
                <a:r>
                  <a:rPr lang="en-US" b="1" dirty="0"/>
                  <a:t>(</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r>
                      <a:rPr lang="en-US" b="1">
                        <a:latin typeface="Cambria Math" panose="02040503050406030204" pitchFamily="18" charset="0"/>
                      </a:rPr>
                      <m:t>:</m:t>
                    </m:r>
                    <m:r>
                      <a:rPr lang="en-US" b="1">
                        <a:latin typeface="Cambria Math" panose="02040503050406030204" pitchFamily="18" charset="0"/>
                      </a:rPr>
                      <m:t>𝐌𝐚𝐫𝐠𝐢𝐧𝐚𝐥</m:t>
                    </m:r>
                    <m:r>
                      <a:rPr lang="en-US" b="1">
                        <a:latin typeface="Cambria Math" panose="02040503050406030204" pitchFamily="18" charset="0"/>
                      </a:rPr>
                      <m:t> </m:t>
                    </m:r>
                    <m:r>
                      <a:rPr lang="en-US" b="1">
                        <a:latin typeface="Cambria Math" panose="02040503050406030204" pitchFamily="18" charset="0"/>
                      </a:rPr>
                      <m:t>𝐩𝐫𝐨𝐛𝐚𝐛𝐢𝐥𝐢𝐭𝐲</m:t>
                    </m:r>
                    <m:r>
                      <a:rPr lang="en-US" b="1" i="0" smtClean="0">
                        <a:latin typeface="Cambria Math" panose="02040503050406030204" pitchFamily="18" charset="0"/>
                      </a:rPr>
                      <m:t> </m:t>
                    </m:r>
                    <m:r>
                      <a:rPr lang="en-US" b="1">
                        <a:latin typeface="Cambria Math" panose="02040503050406030204" pitchFamily="18" charset="0"/>
                      </a:rPr>
                      <m:t>𝐝𝐞𝐧𝐬𝐢𝐭𝐲</m:t>
                    </m:r>
                    <m:r>
                      <a:rPr lang="en-US" b="1" i="0" smtClean="0">
                        <a:latin typeface="Cambria Math" panose="02040503050406030204" pitchFamily="18" charset="0"/>
                      </a:rPr>
                      <m:t>  </m:t>
                    </m:r>
                    <m:r>
                      <a:rPr lang="en-US" b="1">
                        <a:latin typeface="Cambria Math" panose="02040503050406030204" pitchFamily="18" charset="0"/>
                      </a:rPr>
                      <m:t>𝐟𝐮𝐧𝐜𝐭𝐢𝐨𝐧</m:t>
                    </m:r>
                  </m:oMath>
                </a14:m>
                <a:r>
                  <a:rPr lang="en-US" dirty="0"/>
                  <a:t> of X= x</a:t>
                </a:r>
              </a:p>
              <a:p>
                <a:pPr marL="285750" lvl="0" indent="-285750">
                  <a:buFont typeface="Arial" panose="020B0604020202020204" pitchFamily="34" charset="0"/>
                  <a:buChar char="•"/>
                </a:pPr>
                <a:r>
                  <a:rPr lang="en-US" b="1" dirty="0"/>
                  <a:t>           </a:t>
                </a:r>
                <a14:m>
                  <m:oMath xmlns:m="http://schemas.openxmlformats.org/officeDocument/2006/math">
                    <m:r>
                      <a:rPr lang="en-US" b="1" i="1">
                        <a:latin typeface="Cambria Math" panose="02040503050406030204" pitchFamily="18" charset="0"/>
                      </a:rPr>
                      <m:t>𝑭</m:t>
                    </m:r>
                  </m:oMath>
                </a14:m>
                <a:r>
                  <a:rPr lang="en-US" b="1" dirty="0"/>
                  <a:t> (</a:t>
                </a:r>
                <a14:m>
                  <m:oMath xmlns:m="http://schemas.openxmlformats.org/officeDocument/2006/math">
                    <m:r>
                      <a:rPr lang="en-US" b="1" i="1">
                        <a:latin typeface="Cambria Math" panose="02040503050406030204" pitchFamily="18" charset="0"/>
                      </a:rPr>
                      <m:t>𝒙</m:t>
                    </m:r>
                    <m:r>
                      <a:rPr lang="en-US" b="1" i="1">
                        <a:latin typeface="Cambria Math" panose="02040503050406030204" pitchFamily="18" charset="0"/>
                      </a:rPr>
                      <m:t>)</m:t>
                    </m:r>
                    <m:r>
                      <a:rPr lang="en-US" b="1" i="0" smtClean="0">
                        <a:latin typeface="Cambria Math" panose="02040503050406030204" pitchFamily="18" charset="0"/>
                      </a:rPr>
                      <m:t>=</m:t>
                    </m:r>
                  </m:oMath>
                </a14:m>
                <a:r>
                  <a:rPr lang="en-US" dirty="0"/>
                  <a:t>  </a:t>
                </a:r>
                <a14:m>
                  <m:oMath xmlns:m="http://schemas.openxmlformats.org/officeDocument/2006/math">
                    <m:nary>
                      <m:naryPr>
                        <m:ctrlPr>
                          <a:rPr lang="en-US" i="1" smtClean="0">
                            <a:latin typeface="Cambria Math" panose="02040503050406030204" pitchFamily="18" charset="0"/>
                          </a:rPr>
                        </m:ctrlPr>
                      </m:naryPr>
                      <m:sub>
                        <m:r>
                          <a:rPr lang="en-US" b="0" i="1" smtClean="0">
                            <a:latin typeface="Cambria Math" panose="02040503050406030204" pitchFamily="18" charset="0"/>
                          </a:rPr>
                          <m:t>−</m:t>
                        </m:r>
                        <m:r>
                          <m:rPr>
                            <m:brk m:alnAt="23"/>
                          </m:rPr>
                          <a:rPr lang="en-US" i="1" smtClean="0">
                            <a:latin typeface="Cambria Math" panose="02040503050406030204" pitchFamily="18" charset="0"/>
                            <a:ea typeface="Cambria Math" panose="02040503050406030204" pitchFamily="18" charset="0"/>
                          </a:rPr>
                          <m:t>∞</m:t>
                        </m:r>
                      </m:sub>
                      <m:sup>
                        <m:r>
                          <a:rPr lang="en-US" i="1" smtClean="0">
                            <a:latin typeface="Cambria Math" panose="02040503050406030204" pitchFamily="18" charset="0"/>
                            <a:ea typeface="Cambria Math" panose="02040503050406030204" pitchFamily="18" charset="0"/>
                          </a:rPr>
                          <m:t>∞</m:t>
                        </m:r>
                      </m:sup>
                      <m:e>
                        <m:sSub>
                          <m:sSubPr>
                            <m:ctrlPr>
                              <a:rPr lang="en-US" b="1" i="1">
                                <a:latin typeface="Cambria Math" panose="02040503050406030204" pitchFamily="18" charset="0"/>
                              </a:rPr>
                            </m:ctrlPr>
                          </m:sSubPr>
                          <m:e>
                            <m:r>
                              <a:rPr lang="en-US" b="1" i="1">
                                <a:latin typeface="Cambria Math" panose="02040503050406030204" pitchFamily="18" charset="0"/>
                              </a:rPr>
                              <m:t>         </m:t>
                            </m:r>
                            <m:r>
                              <a:rPr lang="en-US" b="1" i="1">
                                <a:latin typeface="Cambria Math" panose="02040503050406030204" pitchFamily="18" charset="0"/>
                              </a:rPr>
                              <m:t>𝑭</m:t>
                            </m:r>
                            <m:r>
                              <a:rPr lang="en-US" b="1" i="1">
                                <a:latin typeface="Cambria Math" panose="02040503050406030204" pitchFamily="18" charset="0"/>
                              </a:rPr>
                              <m:t> </m:t>
                            </m:r>
                          </m:e>
                          <m:sub>
                            <m:r>
                              <a:rPr lang="en-US" b="1" i="1">
                                <a:latin typeface="Cambria Math" panose="02040503050406030204" pitchFamily="18" charset="0"/>
                              </a:rPr>
                              <m:t>𝑿𝒀</m:t>
                            </m:r>
                          </m:sub>
                        </m:sSub>
                        <m:r>
                          <m:rPr>
                            <m:nor/>
                          </m:rPr>
                          <a:rPr lang="en-US" b="1" dirty="0"/>
                          <m:t> (</m:t>
                        </m:r>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𝒚</m:t>
                        </m:r>
                        <m:r>
                          <a:rPr lang="en-US" b="1" i="1">
                            <a:latin typeface="Cambria Math" panose="02040503050406030204" pitchFamily="18" charset="0"/>
                          </a:rPr>
                          <m:t>)</m:t>
                        </m:r>
                        <m:r>
                          <a:rPr lang="en-US" b="0" i="1" smtClean="0">
                            <a:latin typeface="Cambria Math" panose="02040503050406030204" pitchFamily="18" charset="0"/>
                          </a:rPr>
                          <m:t> </m:t>
                        </m:r>
                        <m:r>
                          <a:rPr lang="en-US" b="0" i="1" smtClean="0">
                            <a:latin typeface="Cambria Math" panose="02040503050406030204" pitchFamily="18" charset="0"/>
                          </a:rPr>
                          <m:t>𝑑𝑦</m:t>
                        </m:r>
                      </m:e>
                    </m:nary>
                  </m:oMath>
                </a14:m>
                <a:endParaRPr lang="en-US" dirty="0"/>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r>
                  <a:rPr lang="en-US" dirty="0"/>
                  <a:t>           </a:t>
                </a:r>
                <a14:m>
                  <m:oMath xmlns:m="http://schemas.openxmlformats.org/officeDocument/2006/math">
                    <m:sSub>
                      <m:sSubPr>
                        <m:ctrlPr>
                          <a:rPr lang="en-US" b="1" i="1">
                            <a:latin typeface="Cambria Math" panose="02040503050406030204" pitchFamily="18" charset="0"/>
                          </a:rPr>
                        </m:ctrlPr>
                      </m:sSubPr>
                      <m:e>
                        <m:r>
                          <a:rPr lang="en-US" b="1" i="1">
                            <a:latin typeface="Cambria Math" panose="02040503050406030204" pitchFamily="18" charset="0"/>
                          </a:rPr>
                          <m:t> </m:t>
                        </m:r>
                        <m:r>
                          <a:rPr lang="en-US" b="1" i="1" smtClean="0">
                            <a:latin typeface="Cambria Math" panose="02040503050406030204" pitchFamily="18" charset="0"/>
                          </a:rPr>
                          <m:t>𝑭</m:t>
                        </m:r>
                        <m:r>
                          <a:rPr lang="en-US" b="1" i="1">
                            <a:latin typeface="Cambria Math" panose="02040503050406030204" pitchFamily="18" charset="0"/>
                          </a:rPr>
                          <m:t> </m:t>
                        </m:r>
                      </m:e>
                      <m:sub>
                        <m:r>
                          <a:rPr lang="en-US" b="1" i="1">
                            <a:latin typeface="Cambria Math" panose="02040503050406030204" pitchFamily="18" charset="0"/>
                          </a:rPr>
                          <m:t>𝒀</m:t>
                        </m:r>
                      </m:sub>
                    </m:sSub>
                  </m:oMath>
                </a14:m>
                <a:r>
                  <a:rPr lang="en-US" b="1" dirty="0"/>
                  <a:t>(y</a:t>
                </a:r>
                <a14:m>
                  <m:oMath xmlns:m="http://schemas.openxmlformats.org/officeDocument/2006/math">
                    <m:r>
                      <a:rPr lang="en-US" b="1" i="1">
                        <a:latin typeface="Cambria Math" panose="02040503050406030204" pitchFamily="18" charset="0"/>
                      </a:rPr>
                      <m:t>)</m:t>
                    </m:r>
                    <m:r>
                      <a:rPr lang="en-US" b="1">
                        <a:latin typeface="Cambria Math" panose="02040503050406030204" pitchFamily="18" charset="0"/>
                      </a:rPr>
                      <m:t>:</m:t>
                    </m:r>
                  </m:oMath>
                </a14:m>
                <a:r>
                  <a:rPr lang="en-US" b="1" dirty="0"/>
                  <a:t> </a:t>
                </a:r>
                <a14:m>
                  <m:oMath xmlns:m="http://schemas.openxmlformats.org/officeDocument/2006/math">
                    <m:r>
                      <a:rPr lang="en-US" b="1">
                        <a:latin typeface="Cambria Math" panose="02040503050406030204" pitchFamily="18" charset="0"/>
                      </a:rPr>
                      <m:t>𝐌𝐚𝐫𝐠𝐢𝐧𝐚𝐥</m:t>
                    </m:r>
                    <m:r>
                      <a:rPr lang="en-US" b="1">
                        <a:latin typeface="Cambria Math" panose="02040503050406030204" pitchFamily="18" charset="0"/>
                      </a:rPr>
                      <m:t> </m:t>
                    </m:r>
                    <m:r>
                      <a:rPr lang="en-US" b="1">
                        <a:latin typeface="Cambria Math" panose="02040503050406030204" pitchFamily="18" charset="0"/>
                      </a:rPr>
                      <m:t>𝐩𝐫𝐨𝐛𝐚𝐛𝐢𝐥𝐢𝐭𝐲</m:t>
                    </m:r>
                    <m:r>
                      <a:rPr lang="en-US" b="1" i="0" smtClean="0">
                        <a:latin typeface="Cambria Math" panose="02040503050406030204" pitchFamily="18" charset="0"/>
                      </a:rPr>
                      <m:t> </m:t>
                    </m:r>
                    <m:r>
                      <a:rPr lang="en-US" b="1">
                        <a:latin typeface="Cambria Math" panose="02040503050406030204" pitchFamily="18" charset="0"/>
                      </a:rPr>
                      <m:t>𝐝𝐞𝐧𝐬𝐢𝐭𝐲</m:t>
                    </m:r>
                    <m:r>
                      <a:rPr lang="en-US" b="1" i="0" smtClean="0">
                        <a:latin typeface="Cambria Math" panose="02040503050406030204" pitchFamily="18" charset="0"/>
                      </a:rPr>
                      <m:t> </m:t>
                    </m:r>
                    <m:r>
                      <a:rPr lang="en-US" b="1">
                        <a:latin typeface="Cambria Math" panose="02040503050406030204" pitchFamily="18" charset="0"/>
                      </a:rPr>
                      <m:t>𝐟𝐮𝐧𝐜𝐭𝐢𝐨𝐧</m:t>
                    </m:r>
                  </m:oMath>
                </a14:m>
                <a:r>
                  <a:rPr lang="en-US" dirty="0"/>
                  <a:t> of Y= y</a:t>
                </a:r>
              </a:p>
              <a:p>
                <a:pPr marL="285750" lvl="0" indent="-285750">
                  <a:buFont typeface="Arial" panose="020B0604020202020204" pitchFamily="34" charset="0"/>
                  <a:buChar char="•"/>
                </a:pPr>
                <a:r>
                  <a:rPr lang="en-US" dirty="0"/>
                  <a:t>                 </a:t>
                </a:r>
                <a14:m>
                  <m:oMath xmlns:m="http://schemas.openxmlformats.org/officeDocument/2006/math">
                    <m:sSub>
                      <m:sSubPr>
                        <m:ctrlPr>
                          <a:rPr lang="en-US" b="1" i="1" smtClean="0">
                            <a:latin typeface="Cambria Math" panose="02040503050406030204" pitchFamily="18" charset="0"/>
                          </a:rPr>
                        </m:ctrlPr>
                      </m:sSubPr>
                      <m:e>
                        <m:r>
                          <a:rPr lang="en-US" b="1" i="1">
                            <a:latin typeface="Cambria Math" panose="02040503050406030204" pitchFamily="18" charset="0"/>
                          </a:rPr>
                          <m:t> </m:t>
                        </m:r>
                        <m:r>
                          <a:rPr lang="en-US" b="1" i="1">
                            <a:latin typeface="Cambria Math" panose="02040503050406030204" pitchFamily="18" charset="0"/>
                          </a:rPr>
                          <m:t>𝑭</m:t>
                        </m:r>
                        <m:r>
                          <a:rPr lang="en-US" b="1" i="1">
                            <a:latin typeface="Cambria Math" panose="02040503050406030204" pitchFamily="18" charset="0"/>
                          </a:rPr>
                          <m:t> </m:t>
                        </m:r>
                      </m:e>
                      <m:sub>
                        <m:r>
                          <a:rPr lang="en-US" b="1" i="1" smtClean="0">
                            <a:latin typeface="Cambria Math" panose="02040503050406030204" pitchFamily="18" charset="0"/>
                          </a:rPr>
                          <m:t>𝒀</m:t>
                        </m:r>
                      </m:sub>
                    </m:sSub>
                  </m:oMath>
                </a14:m>
                <a:r>
                  <a:rPr lang="en-US" b="1" dirty="0"/>
                  <a:t>(</a:t>
                </a:r>
                <a14:m>
                  <m:oMath xmlns:m="http://schemas.openxmlformats.org/officeDocument/2006/math">
                    <m:r>
                      <a:rPr lang="en-US" b="1" i="1">
                        <a:latin typeface="Cambria Math" panose="02040503050406030204" pitchFamily="18" charset="0"/>
                      </a:rPr>
                      <m:t>𝒚</m:t>
                    </m:r>
                    <m:r>
                      <a:rPr lang="en-US" b="1" i="1">
                        <a:latin typeface="Cambria Math" panose="02040503050406030204" pitchFamily="18" charset="0"/>
                      </a:rPr>
                      <m:t>)</m:t>
                    </m:r>
                    <m:r>
                      <a:rPr lang="en-US" b="1">
                        <a:latin typeface="Cambria Math" panose="02040503050406030204" pitchFamily="18" charset="0"/>
                      </a:rPr>
                      <m:t>=</m:t>
                    </m:r>
                  </m:oMath>
                </a14:m>
                <a:r>
                  <a:rPr lang="en-US" dirty="0"/>
                  <a:t>  </a:t>
                </a:r>
                <a14:m>
                  <m:oMath xmlns:m="http://schemas.openxmlformats.org/officeDocument/2006/math">
                    <m:nary>
                      <m:naryPr>
                        <m:ctrlPr>
                          <a:rPr lang="en-US" i="1">
                            <a:latin typeface="Cambria Math" panose="02040503050406030204" pitchFamily="18" charset="0"/>
                          </a:rPr>
                        </m:ctrlPr>
                      </m:naryPr>
                      <m:sub>
                        <m:r>
                          <a:rPr lang="en-US" b="0" i="1" smtClean="0">
                            <a:latin typeface="Cambria Math" panose="02040503050406030204" pitchFamily="18" charset="0"/>
                          </a:rPr>
                          <m:t>−</m:t>
                        </m:r>
                        <m:r>
                          <m:rPr>
                            <m:brk m:alnAt="23"/>
                          </m:rPr>
                          <a:rPr lang="en-US" i="1">
                            <a:latin typeface="Cambria Math" panose="02040503050406030204" pitchFamily="18" charset="0"/>
                            <a:ea typeface="Cambria Math" panose="02040503050406030204" pitchFamily="18" charset="0"/>
                          </a:rPr>
                          <m:t>∞</m:t>
                        </m:r>
                      </m:sub>
                      <m:sup>
                        <m:r>
                          <a:rPr lang="en-US" i="1">
                            <a:latin typeface="Cambria Math" panose="02040503050406030204" pitchFamily="18" charset="0"/>
                            <a:ea typeface="Cambria Math" panose="02040503050406030204" pitchFamily="18" charset="0"/>
                          </a:rPr>
                          <m:t>∞</m:t>
                        </m:r>
                      </m:sup>
                      <m:e>
                        <m:sSub>
                          <m:sSubPr>
                            <m:ctrlPr>
                              <a:rPr lang="en-US" b="1" i="1">
                                <a:latin typeface="Cambria Math" panose="02040503050406030204" pitchFamily="18" charset="0"/>
                              </a:rPr>
                            </m:ctrlPr>
                          </m:sSubPr>
                          <m:e>
                            <m:r>
                              <a:rPr lang="en-US" b="1" i="1">
                                <a:latin typeface="Cambria Math" panose="02040503050406030204" pitchFamily="18" charset="0"/>
                              </a:rPr>
                              <m:t>         </m:t>
                            </m:r>
                            <m:r>
                              <a:rPr lang="en-US" b="1" i="1">
                                <a:latin typeface="Cambria Math" panose="02040503050406030204" pitchFamily="18" charset="0"/>
                              </a:rPr>
                              <m:t>𝑭</m:t>
                            </m:r>
                            <m:r>
                              <a:rPr lang="en-US" b="1" i="1">
                                <a:latin typeface="Cambria Math" panose="02040503050406030204" pitchFamily="18" charset="0"/>
                              </a:rPr>
                              <m:t> </m:t>
                            </m:r>
                          </m:e>
                          <m:sub>
                            <m:r>
                              <a:rPr lang="en-US" b="1" i="1">
                                <a:latin typeface="Cambria Math" panose="02040503050406030204" pitchFamily="18" charset="0"/>
                              </a:rPr>
                              <m:t>𝑿𝒀</m:t>
                            </m:r>
                          </m:sub>
                        </m:sSub>
                        <m:r>
                          <m:rPr>
                            <m:nor/>
                          </m:rPr>
                          <a:rPr lang="en-US" b="1" dirty="0"/>
                          <m:t> (</m:t>
                        </m:r>
                        <m:r>
                          <a:rPr lang="en-US" b="1" i="1">
                            <a:latin typeface="Cambria Math" panose="02040503050406030204" pitchFamily="18" charset="0"/>
                          </a:rPr>
                          <m:t>𝒙</m:t>
                        </m:r>
                        <m:r>
                          <a:rPr lang="en-US" b="1" i="1">
                            <a:latin typeface="Cambria Math" panose="02040503050406030204" pitchFamily="18" charset="0"/>
                          </a:rPr>
                          <m:t>,</m:t>
                        </m:r>
                        <m:r>
                          <a:rPr lang="en-US" b="1" i="1">
                            <a:latin typeface="Cambria Math" panose="02040503050406030204" pitchFamily="18" charset="0"/>
                          </a:rPr>
                          <m:t>𝒚</m:t>
                        </m:r>
                        <m:r>
                          <a:rPr lang="en-US" b="1" i="1">
                            <a:latin typeface="Cambria Math" panose="02040503050406030204" pitchFamily="18" charset="0"/>
                          </a:rPr>
                          <m:t>)</m:t>
                        </m:r>
                        <m:r>
                          <a:rPr lang="en-US" i="1">
                            <a:latin typeface="Cambria Math" panose="02040503050406030204" pitchFamily="18" charset="0"/>
                          </a:rPr>
                          <m:t> </m:t>
                        </m:r>
                        <m:r>
                          <a:rPr lang="en-US" b="0" i="1" smtClean="0">
                            <a:latin typeface="Cambria Math" panose="02040503050406030204" pitchFamily="18" charset="0"/>
                          </a:rPr>
                          <m:t>    </m:t>
                        </m:r>
                        <m:r>
                          <a:rPr lang="en-US" i="1">
                            <a:latin typeface="Cambria Math" panose="02040503050406030204" pitchFamily="18" charset="0"/>
                          </a:rPr>
                          <m:t>𝑑</m:t>
                        </m:r>
                      </m:e>
                    </m:nary>
                    <m:r>
                      <a:rPr lang="en-US" b="1" i="1">
                        <a:latin typeface="Cambria Math" panose="02040503050406030204" pitchFamily="18" charset="0"/>
                      </a:rPr>
                      <m:t>𝒙</m:t>
                    </m:r>
                  </m:oMath>
                </a14:m>
                <a:endParaRPr lang="en-US" dirty="0"/>
              </a:p>
              <a:p>
                <a:pPr marL="285750" lvl="0" indent="-285750">
                  <a:buFont typeface="Arial" panose="020B0604020202020204" pitchFamily="34" charset="0"/>
                  <a:buChar char="•"/>
                </a:pPr>
                <a:endParaRPr lang="en-US" dirty="0"/>
              </a:p>
              <a:p>
                <a:pPr marL="285750" lvl="0" indent="-285750">
                  <a:buFont typeface="Arial" panose="020B0604020202020204" pitchFamily="34" charset="0"/>
                  <a:buChar char="•"/>
                </a:pPr>
                <a:endParaRPr lang="en-US" dirty="0"/>
              </a:p>
            </p:txBody>
          </p:sp>
        </mc:Choice>
        <mc:Fallback xmlns="">
          <p:sp>
            <p:nvSpPr>
              <p:cNvPr id="15" name="Rectangle 14"/>
              <p:cNvSpPr>
                <a:spLocks noRot="1" noChangeAspect="1" noMove="1" noResize="1" noEditPoints="1" noAdjustHandles="1" noChangeArrowheads="1" noChangeShapeType="1" noTextEdit="1"/>
              </p:cNvSpPr>
              <p:nvPr/>
            </p:nvSpPr>
            <p:spPr>
              <a:xfrm>
                <a:off x="1219200" y="3055182"/>
                <a:ext cx="7162800" cy="2456313"/>
              </a:xfrm>
              <a:prstGeom prst="rect">
                <a:avLst/>
              </a:prstGeom>
              <a:blipFill rotWithShape="0">
                <a:blip r:embed="rId3"/>
                <a:stretch>
                  <a:fillRect l="-511" t="-1241" r="-340" b="-9429"/>
                </a:stretch>
              </a:blipFill>
            </p:spPr>
            <p:txBody>
              <a:bodyPr/>
              <a:lstStyle/>
              <a:p>
                <a:r>
                  <a:rPr lang="en-US">
                    <a:noFill/>
                  </a:rPr>
                  <a:t> </a:t>
                </a:r>
              </a:p>
            </p:txBody>
          </p:sp>
        </mc:Fallback>
      </mc:AlternateContent>
      <p:sp>
        <p:nvSpPr>
          <p:cNvPr id="16" name="Footer Placeholder 15"/>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6800423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1000"/>
                                        <p:tgtEl>
                                          <p:spTgt spid="11"/>
                                        </p:tgtEl>
                                      </p:cBhvr>
                                    </p:animEffect>
                                    <p:anim calcmode="lin" valueType="num">
                                      <p:cBhvr>
                                        <p:cTn id="8" dur="1000" fill="hold"/>
                                        <p:tgtEl>
                                          <p:spTgt spid="11"/>
                                        </p:tgtEl>
                                        <p:attrNameLst>
                                          <p:attrName>ppt_x</p:attrName>
                                        </p:attrNameLst>
                                      </p:cBhvr>
                                      <p:tavLst>
                                        <p:tav tm="0">
                                          <p:val>
                                            <p:strVal val="#ppt_x"/>
                                          </p:val>
                                        </p:tav>
                                        <p:tav tm="100000">
                                          <p:val>
                                            <p:strVal val="#ppt_x"/>
                                          </p:val>
                                        </p:tav>
                                      </p:tavLst>
                                    </p:anim>
                                    <p:anim calcmode="lin" valueType="num">
                                      <p:cBhvr>
                                        <p:cTn id="9"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14"/>
                                        </p:tgtEl>
                                        <p:attrNameLst>
                                          <p:attrName>style.visibility</p:attrName>
                                        </p:attrNameLst>
                                      </p:cBhvr>
                                      <p:to>
                                        <p:strVal val="visible"/>
                                      </p:to>
                                    </p:set>
                                    <p:animEffect transition="in" filter="fade">
                                      <p:cBhvr>
                                        <p:cTn id="14" dur="1000"/>
                                        <p:tgtEl>
                                          <p:spTgt spid="14"/>
                                        </p:tgtEl>
                                      </p:cBhvr>
                                    </p:animEffect>
                                    <p:anim calcmode="lin" valueType="num">
                                      <p:cBhvr>
                                        <p:cTn id="15" dur="1000" fill="hold"/>
                                        <p:tgtEl>
                                          <p:spTgt spid="14"/>
                                        </p:tgtEl>
                                        <p:attrNameLst>
                                          <p:attrName>ppt_x</p:attrName>
                                        </p:attrNameLst>
                                      </p:cBhvr>
                                      <p:tavLst>
                                        <p:tav tm="0">
                                          <p:val>
                                            <p:strVal val="#ppt_x"/>
                                          </p:val>
                                        </p:tav>
                                        <p:tav tm="100000">
                                          <p:val>
                                            <p:strVal val="#ppt_x"/>
                                          </p:val>
                                        </p:tav>
                                      </p:tavLst>
                                    </p:anim>
                                    <p:anim calcmode="lin" valueType="num">
                                      <p:cBhvr>
                                        <p:cTn id="16" dur="1000" fill="hold"/>
                                        <p:tgtEl>
                                          <p:spTgt spid="14"/>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1000"/>
                                        <p:tgtEl>
                                          <p:spTgt spid="15"/>
                                        </p:tgtEl>
                                      </p:cBhvr>
                                    </p:animEffect>
                                    <p:anim calcmode="lin" valueType="num">
                                      <p:cBhvr>
                                        <p:cTn id="22" dur="1000" fill="hold"/>
                                        <p:tgtEl>
                                          <p:spTgt spid="15"/>
                                        </p:tgtEl>
                                        <p:attrNameLst>
                                          <p:attrName>ppt_x</p:attrName>
                                        </p:attrNameLst>
                                      </p:cBhvr>
                                      <p:tavLst>
                                        <p:tav tm="0">
                                          <p:val>
                                            <p:strVal val="#ppt_x"/>
                                          </p:val>
                                        </p:tav>
                                        <p:tav tm="100000">
                                          <p:val>
                                            <p:strVal val="#ppt_x"/>
                                          </p:val>
                                        </p:tav>
                                      </p:tavLst>
                                    </p:anim>
                                    <p:anim calcmode="lin" valueType="num">
                                      <p:cBhvr>
                                        <p:cTn id="23"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P spid="15"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46</a:t>
            </a:fld>
            <a:endParaRPr lang="en-US"/>
          </a:p>
        </p:txBody>
      </p:sp>
      <p:sp>
        <p:nvSpPr>
          <p:cNvPr id="7" name="Title 1"/>
          <p:cNvSpPr txBox="1">
            <a:spLocks/>
          </p:cNvSpPr>
          <p:nvPr/>
        </p:nvSpPr>
        <p:spPr>
          <a:xfrm>
            <a:off x="1524000" y="0"/>
            <a:ext cx="7620000" cy="6017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Statistical Independence(CO3)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23" name="AutoShape 15" descr="X"/>
          <p:cNvSpPr>
            <a:spLocks noChangeAspect="1" noChangeArrowheads="1"/>
          </p:cNvSpPr>
          <p:nvPr/>
        </p:nvSpPr>
        <p:spPr bwMode="auto">
          <a:xfrm>
            <a:off x="1812925" y="-114300"/>
            <a:ext cx="12382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6" descr="Y"/>
          <p:cNvSpPr>
            <a:spLocks noChangeAspect="1" noChangeArrowheads="1"/>
          </p:cNvSpPr>
          <p:nvPr/>
        </p:nvSpPr>
        <p:spPr bwMode="auto">
          <a:xfrm>
            <a:off x="2279650" y="-114300"/>
            <a:ext cx="10477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6" descr="X"/>
          <p:cNvSpPr>
            <a:spLocks noChangeAspect="1" noChangeArrowheads="1"/>
          </p:cNvSpPr>
          <p:nvPr/>
        </p:nvSpPr>
        <p:spPr bwMode="auto">
          <a:xfrm>
            <a:off x="2498725" y="1028700"/>
            <a:ext cx="12382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7" descr="Y"/>
          <p:cNvSpPr>
            <a:spLocks noChangeAspect="1" noChangeArrowheads="1"/>
          </p:cNvSpPr>
          <p:nvPr/>
        </p:nvSpPr>
        <p:spPr bwMode="auto">
          <a:xfrm>
            <a:off x="2965450" y="1028700"/>
            <a:ext cx="10477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mc:AlternateContent xmlns:mc="http://schemas.openxmlformats.org/markup-compatibility/2006" xmlns:a14="http://schemas.microsoft.com/office/drawing/2010/main">
        <mc:Choice Requires="a14">
          <p:sp>
            <p:nvSpPr>
              <p:cNvPr id="8" name="Rectangle 2"/>
              <p:cNvSpPr>
                <a:spLocks noChangeArrowheads="1"/>
              </p:cNvSpPr>
              <p:nvPr/>
            </p:nvSpPr>
            <p:spPr bwMode="auto">
              <a:xfrm>
                <a:off x="583805" y="1218616"/>
                <a:ext cx="8102995" cy="4093428"/>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1" i="0" u="none" strike="noStrike" cap="none" normalizeH="0" baseline="0" dirty="0">
                    <a:ln>
                      <a:noFill/>
                    </a:ln>
                    <a:solidFill>
                      <a:srgbClr val="333333"/>
                    </a:solidFill>
                    <a:effectLst/>
                    <a:latin typeface="+mn-lt"/>
                  </a:rPr>
                  <a:t>Exampl</a:t>
                </a:r>
                <a:r>
                  <a:rPr kumimoji="0" lang="en-US" sz="2000" b="0" i="0" u="none" strike="noStrike" cap="none" normalizeH="0" baseline="0" dirty="0">
                    <a:ln>
                      <a:noFill/>
                    </a:ln>
                    <a:solidFill>
                      <a:srgbClr val="333333"/>
                    </a:solidFill>
                    <a:effectLst/>
                    <a:latin typeface="+mn-lt"/>
                  </a:rPr>
                  <a:t>e: I toss a coin twice and define X  to be the number of heads I observe. Then,</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333333"/>
                    </a:solidFill>
                    <a:effectLst/>
                    <a:latin typeface="+mn-lt"/>
                  </a:rPr>
                  <a:t> I toss</a:t>
                </a:r>
                <a:r>
                  <a:rPr kumimoji="0" lang="en-US" sz="2000" b="0" i="0" u="none" strike="noStrike" cap="none" normalizeH="0" dirty="0">
                    <a:ln>
                      <a:noFill/>
                    </a:ln>
                    <a:solidFill>
                      <a:srgbClr val="333333"/>
                    </a:solidFill>
                    <a:effectLst/>
                    <a:latin typeface="+mn-lt"/>
                  </a:rPr>
                  <a:t> </a:t>
                </a:r>
                <a:r>
                  <a:rPr kumimoji="0" lang="en-US" sz="2000" b="0" i="0" u="none" strike="noStrike" cap="none" normalizeH="0" baseline="0" dirty="0">
                    <a:ln>
                      <a:noFill/>
                    </a:ln>
                    <a:solidFill>
                      <a:srgbClr val="333333"/>
                    </a:solidFill>
                    <a:effectLst/>
                    <a:latin typeface="+mn-lt"/>
                  </a:rPr>
                  <a:t>the coin two more times and define Y to be the number of heads that I observe</a:t>
                </a:r>
                <a:r>
                  <a:rPr kumimoji="0" lang="en-US" sz="2000" b="0" i="0" u="none" strike="noStrike" cap="none" normalizeH="0" dirty="0">
                    <a:ln>
                      <a:noFill/>
                    </a:ln>
                    <a:solidFill>
                      <a:srgbClr val="333333"/>
                    </a:solidFill>
                    <a:effectLst/>
                    <a:latin typeface="+mn-lt"/>
                  </a:rPr>
                  <a:t> </a:t>
                </a:r>
                <a:r>
                  <a:rPr kumimoji="0" lang="en-US" sz="2000" b="0" i="0" u="none" strike="noStrike" cap="none" normalizeH="0" baseline="0" dirty="0">
                    <a:ln>
                      <a:noFill/>
                    </a:ln>
                    <a:solidFill>
                      <a:srgbClr val="333333"/>
                    </a:solidFill>
                    <a:effectLst/>
                    <a:latin typeface="+mn-lt"/>
                  </a:rPr>
                  <a:t>this time.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2000" b="0" i="0" u="none" strike="noStrike" cap="none" normalizeH="0" baseline="0" dirty="0">
                    <a:ln>
                      <a:noFill/>
                    </a:ln>
                    <a:solidFill>
                      <a:srgbClr val="333333"/>
                    </a:solidFill>
                    <a:effectLst/>
                    <a:latin typeface="+mn-lt"/>
                  </a:rPr>
                  <a:t>Find</a:t>
                </a:r>
                <a:r>
                  <a:rPr kumimoji="0" lang="en-US" sz="2000" b="0" i="0" u="none" strike="noStrike" cap="none" normalizeH="0" baseline="0" dirty="0">
                    <a:ln>
                      <a:noFill/>
                    </a:ln>
                    <a:solidFill>
                      <a:schemeClr val="tx1"/>
                    </a:solidFill>
                    <a:effectLst/>
                    <a:latin typeface="+mn-lt"/>
                  </a:rPr>
                  <a:t>  P(</a:t>
                </a:r>
                <a:r>
                  <a:rPr kumimoji="0" lang="en-US" sz="2000" b="0" i="0" u="none" strike="noStrike" cap="none" normalizeH="0" dirty="0">
                    <a:ln>
                      <a:noFill/>
                    </a:ln>
                    <a:solidFill>
                      <a:schemeClr val="tx1"/>
                    </a:solidFill>
                    <a:effectLst/>
                    <a:latin typeface="+mn-lt"/>
                  </a:rPr>
                  <a:t> X &lt; 2 and Y &gt; 1)</a:t>
                </a:r>
              </a:p>
              <a:p>
                <a:pPr marL="0" marR="0" lvl="0" indent="0" algn="just" defTabSz="914400" rtl="0" eaLnBrk="0" fontAlgn="base" latinLnBrk="0" hangingPunct="0">
                  <a:lnSpc>
                    <a:spcPct val="100000"/>
                  </a:lnSpc>
                  <a:spcBef>
                    <a:spcPct val="0"/>
                  </a:spcBef>
                  <a:spcAft>
                    <a:spcPct val="0"/>
                  </a:spcAft>
                  <a:buClrTx/>
                  <a:buSzTx/>
                  <a:buFontTx/>
                  <a:buNone/>
                  <a:tabLst/>
                </a:pPr>
                <a:r>
                  <a:rPr lang="en-US" sz="2000" b="1" baseline="0" dirty="0">
                    <a:latin typeface="+mn-lt"/>
                  </a:rPr>
                  <a:t>Solution</a:t>
                </a:r>
                <a:r>
                  <a:rPr lang="en-US" sz="2000" baseline="0" dirty="0">
                    <a:latin typeface="+mn-lt"/>
                  </a:rPr>
                  <a:t>: since X and Y </a:t>
                </a:r>
                <a:r>
                  <a:rPr lang="en-US" sz="2000" dirty="0">
                    <a:latin typeface="+mn-lt"/>
                  </a:rPr>
                  <a:t> are result of independent coin tosses.</a:t>
                </a:r>
              </a:p>
              <a:p>
                <a:pPr algn="just"/>
                <a:r>
                  <a:rPr lang="en-US" sz="2000" dirty="0">
                    <a:latin typeface="+mn-lt"/>
                  </a:rPr>
                  <a:t>P( X &lt; 2 and Y &gt; 1) = P( X &lt; 2)  P (Y &gt; 1) ,Since X and Y are independent </a:t>
                </a:r>
              </a:p>
              <a:p>
                <a:pPr algn="just"/>
                <a:r>
                  <a:rPr lang="en-US" sz="2000" dirty="0">
                    <a:latin typeface="+mn-lt"/>
                  </a:rPr>
                  <a:t>                                = {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b="0" i="1" smtClean="0">
                            <a:latin typeface="Cambria Math" panose="02040503050406030204" pitchFamily="18" charset="0"/>
                          </a:rPr>
                          <m:t>𝑋</m:t>
                        </m:r>
                      </m:sub>
                    </m:sSub>
                    <m:r>
                      <a:rPr lang="en-US" sz="2000" i="1">
                        <a:latin typeface="Cambria Math" panose="02040503050406030204" pitchFamily="18" charset="0"/>
                      </a:rPr>
                      <m:t> </m:t>
                    </m:r>
                  </m:oMath>
                </a14:m>
                <a:r>
                  <a:rPr lang="en-US" sz="2000" dirty="0">
                    <a:latin typeface="+mn-lt"/>
                  </a:rPr>
                  <a:t>(X=0) + </a:t>
                </a:r>
                <a14:m>
                  <m:oMath xmlns:m="http://schemas.openxmlformats.org/officeDocument/2006/math">
                    <m:sSub>
                      <m:sSubPr>
                        <m:ctrlPr>
                          <a:rPr lang="en-US" sz="2000" i="1">
                            <a:latin typeface="Cambria Math" panose="02040503050406030204" pitchFamily="18" charset="0"/>
                          </a:rPr>
                        </m:ctrlPr>
                      </m:sSubPr>
                      <m:e>
                        <m:r>
                          <a:rPr lang="en-US" sz="2000" i="1">
                            <a:latin typeface="Cambria Math" panose="02040503050406030204" pitchFamily="18" charset="0"/>
                          </a:rPr>
                          <m:t>𝑃</m:t>
                        </m:r>
                      </m:e>
                      <m:sub>
                        <m:r>
                          <a:rPr lang="en-US" sz="2000" i="1">
                            <a:latin typeface="Cambria Math" panose="02040503050406030204" pitchFamily="18" charset="0"/>
                          </a:rPr>
                          <m:t>𝑋</m:t>
                        </m:r>
                      </m:sub>
                    </m:sSub>
                    <m:r>
                      <a:rPr lang="en-US" sz="2000" i="1">
                        <a:latin typeface="Cambria Math" panose="02040503050406030204" pitchFamily="18" charset="0"/>
                      </a:rPr>
                      <m:t> </m:t>
                    </m:r>
                  </m:oMath>
                </a14:m>
                <a:r>
                  <a:rPr lang="en-US" sz="2000" dirty="0">
                    <a:latin typeface="+mn-lt"/>
                  </a:rPr>
                  <a:t>(X=1)}  </a:t>
                </a:r>
                <a14:m>
                  <m:oMath xmlns:m="http://schemas.openxmlformats.org/officeDocument/2006/math">
                    <m:sSub>
                      <m:sSubPr>
                        <m:ctrlPr>
                          <a:rPr lang="en-US" sz="2000" i="1" smtClean="0">
                            <a:latin typeface="Cambria Math" panose="02040503050406030204" pitchFamily="18" charset="0"/>
                          </a:rPr>
                        </m:ctrlPr>
                      </m:sSubPr>
                      <m:e>
                        <m:r>
                          <a:rPr lang="en-US" sz="2000" b="0" i="1" smtClean="0">
                            <a:latin typeface="Cambria Math" panose="02040503050406030204" pitchFamily="18" charset="0"/>
                          </a:rPr>
                          <m:t>𝑃</m:t>
                        </m:r>
                      </m:e>
                      <m:sub>
                        <m:r>
                          <a:rPr lang="en-US" sz="2000" b="0" i="1" smtClean="0">
                            <a:latin typeface="Cambria Math" panose="02040503050406030204" pitchFamily="18" charset="0"/>
                          </a:rPr>
                          <m:t>𝑌</m:t>
                        </m:r>
                      </m:sub>
                    </m:sSub>
                  </m:oMath>
                </a14:m>
                <a:r>
                  <a:rPr lang="en-US" sz="2000" dirty="0">
                    <a:latin typeface="+mn-lt"/>
                  </a:rPr>
                  <a:t>(2)</a:t>
                </a:r>
              </a:p>
              <a:p>
                <a:pPr algn="just"/>
                <a:r>
                  <a:rPr lang="en-US" sz="2000" dirty="0">
                    <a:latin typeface="+mn-lt"/>
                  </a:rPr>
                  <a:t>                                 = (1/4 + ½ ) ¼</a:t>
                </a:r>
              </a:p>
              <a:p>
                <a:pPr algn="just"/>
                <a:r>
                  <a:rPr lang="en-US" sz="2000" dirty="0">
                    <a:latin typeface="+mn-lt"/>
                  </a:rPr>
                  <a:t>                                = 3/16</a:t>
                </a:r>
              </a:p>
              <a:p>
                <a:pPr algn="just"/>
                <a:endParaRPr lang="en-US" sz="2000" dirty="0">
                  <a:latin typeface="+mn-lt"/>
                </a:endParaRPr>
              </a:p>
              <a:p>
                <a:pPr algn="just"/>
                <a:endParaRPr lang="en-US" sz="2000" dirty="0"/>
              </a:p>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sz="2000" b="0" i="0" u="none" strike="noStrike" cap="none" normalizeH="0" baseline="0" dirty="0">
                  <a:ln>
                    <a:noFill/>
                  </a:ln>
                  <a:solidFill>
                    <a:schemeClr val="tx1"/>
                  </a:solidFill>
                  <a:effectLst/>
                  <a:latin typeface="+mn-lt"/>
                </a:endParaRPr>
              </a:p>
            </p:txBody>
          </p:sp>
        </mc:Choice>
        <mc:Fallback xmlns="">
          <p:sp>
            <p:nvSpPr>
              <p:cNvPr id="8" name="Rectangle 2"/>
              <p:cNvSpPr>
                <a:spLocks noRot="1" noChangeAspect="1" noMove="1" noResize="1" noEditPoints="1" noAdjustHandles="1" noChangeArrowheads="1" noChangeShapeType="1" noTextEdit="1"/>
              </p:cNvSpPr>
              <p:nvPr/>
            </p:nvSpPr>
            <p:spPr bwMode="auto">
              <a:xfrm>
                <a:off x="583805" y="1218616"/>
                <a:ext cx="8102995" cy="4093428"/>
              </a:xfrm>
              <a:prstGeom prst="rect">
                <a:avLst/>
              </a:prstGeom>
              <a:blipFill rotWithShape="0">
                <a:blip r:embed="rId2"/>
                <a:stretch>
                  <a:fillRect l="-828" t="-298" r="-752"/>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sp>
        <p:nvSpPr>
          <p:cNvPr id="18" name="Footer Placeholder 17"/>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0105497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1000"/>
                                        <p:tgtEl>
                                          <p:spTgt spid="8"/>
                                        </p:tgtEl>
                                      </p:cBhvr>
                                    </p:animEffect>
                                    <p:anim calcmode="lin" valueType="num">
                                      <p:cBhvr>
                                        <p:cTn id="8" dur="1000" fill="hold"/>
                                        <p:tgtEl>
                                          <p:spTgt spid="8"/>
                                        </p:tgtEl>
                                        <p:attrNameLst>
                                          <p:attrName>ppt_x</p:attrName>
                                        </p:attrNameLst>
                                      </p:cBhvr>
                                      <p:tavLst>
                                        <p:tav tm="0">
                                          <p:val>
                                            <p:strVal val="#ppt_x"/>
                                          </p:val>
                                        </p:tav>
                                        <p:tav tm="100000">
                                          <p:val>
                                            <p:strVal val="#ppt_x"/>
                                          </p:val>
                                        </p:tav>
                                      </p:tavLst>
                                    </p:anim>
                                    <p:anim calcmode="lin" valueType="num">
                                      <p:cBhvr>
                                        <p:cTn id="9" dur="1000" fill="hold"/>
                                        <p:tgtEl>
                                          <p:spTgt spid="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lvl="0" indent="0">
              <a:buNone/>
            </a:pPr>
            <a:endParaRPr lang="en-US" sz="2000" dirty="0"/>
          </a:p>
          <a:p>
            <a:pPr marL="0" lvl="0" indent="0">
              <a:buNone/>
            </a:pPr>
            <a:r>
              <a:rPr lang="en-US" sz="2000" dirty="0"/>
              <a:t>The central limit theorem says that the sampling distribution of the mean will always be normally distributed, as long as the sample size is large enough. Regardless of whether the population has a normal, Poisson, binomial, or any other distribution, the sampling distribution of the mean will be normal.</a:t>
            </a:r>
          </a:p>
        </p:txBody>
      </p:sp>
      <p:sp>
        <p:nvSpPr>
          <p:cNvPr id="6" name="Slide Number Placeholder 5"/>
          <p:cNvSpPr>
            <a:spLocks noGrp="1"/>
          </p:cNvSpPr>
          <p:nvPr>
            <p:ph type="sldNum" sz="quarter" idx="12"/>
          </p:nvPr>
        </p:nvSpPr>
        <p:spPr/>
        <p:txBody>
          <a:bodyPr/>
          <a:lstStyle/>
          <a:p>
            <a:fld id="{B6F15528-21DE-4FAA-801E-634DDDAF4B2B}" type="slidenum">
              <a:rPr lang="en-US" smtClean="0"/>
              <a:pPr/>
              <a:t>47</a:t>
            </a:fld>
            <a:endParaRPr lang="en-US"/>
          </a:p>
        </p:txBody>
      </p:sp>
      <p:sp>
        <p:nvSpPr>
          <p:cNvPr id="7" name="Title 1"/>
          <p:cNvSpPr txBox="1">
            <a:spLocks/>
          </p:cNvSpPr>
          <p:nvPr/>
        </p:nvSpPr>
        <p:spPr>
          <a:xfrm>
            <a:off x="1524000" y="0"/>
            <a:ext cx="7620000" cy="6017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Central Limit Theorem</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6967298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Effect transition="in" filter="fade">
                                      <p:cBhvr>
                                        <p:cTn id="7" dur="1000"/>
                                        <p:tgtEl>
                                          <p:spTgt spid="3">
                                            <p:txEl>
                                              <p:pRg st="1" end="1"/>
                                            </p:txEl>
                                          </p:spTgt>
                                        </p:tgtEl>
                                      </p:cBhvr>
                                    </p:animEffect>
                                    <p:anim calcmode="lin" valueType="num">
                                      <p:cBhvr>
                                        <p:cTn id="8"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r>
              <a:rPr lang="en-US" sz="2000" dirty="0"/>
              <a:t>The central limit theorem (CLT) states that the distribution of sample means approximates a normal distribution as the sample size gets larger, regardless of the population's distribution.</a:t>
            </a:r>
          </a:p>
          <a:p>
            <a:r>
              <a:rPr lang="en-US" sz="2000" dirty="0"/>
              <a:t>A sufficiently large sample size can predict the characteristics of a population more accurately.</a:t>
            </a:r>
          </a:p>
          <a:p>
            <a:r>
              <a:rPr lang="en-US" sz="2000" dirty="0"/>
              <a:t>Sample sizes equal to or greater than 30 are often considered sufficient for the CLT to hold.</a:t>
            </a:r>
          </a:p>
          <a:p>
            <a:r>
              <a:rPr lang="en-US" sz="2000" dirty="0"/>
              <a:t>A key aspect of CLT is that the average of the sample means and standard deviations will equal the population mean and standard deviation.</a:t>
            </a:r>
          </a:p>
          <a:p>
            <a:r>
              <a:rPr lang="en-US" sz="2000" dirty="0"/>
              <a:t>CLT is useful in finance and investing when analyzing a large collection of securities to estimate portfolio distributions and traits for returns, risk, and correlation.</a:t>
            </a:r>
          </a:p>
          <a:p>
            <a:pPr marL="0" lvl="0" indent="0">
              <a:buNone/>
            </a:pP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48</a:t>
            </a:fld>
            <a:endParaRPr lang="en-US"/>
          </a:p>
        </p:txBody>
      </p:sp>
      <p:sp>
        <p:nvSpPr>
          <p:cNvPr id="7" name="Title 1"/>
          <p:cNvSpPr txBox="1">
            <a:spLocks/>
          </p:cNvSpPr>
          <p:nvPr/>
        </p:nvSpPr>
        <p:spPr>
          <a:xfrm>
            <a:off x="1524000" y="0"/>
            <a:ext cx="7620000" cy="6017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Central Limit Theorem</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44223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49</a:t>
            </a:fld>
            <a:endParaRPr lang="en-US"/>
          </a:p>
        </p:txBody>
      </p:sp>
      <p:sp>
        <p:nvSpPr>
          <p:cNvPr id="7" name="Title 1"/>
          <p:cNvSpPr txBox="1">
            <a:spLocks/>
          </p:cNvSpPr>
          <p:nvPr/>
        </p:nvSpPr>
        <p:spPr>
          <a:xfrm>
            <a:off x="1676400" y="0"/>
            <a:ext cx="74676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Recap(CO3)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
        <p:nvSpPr>
          <p:cNvPr id="5" name="Content Placeholder 4"/>
          <p:cNvSpPr>
            <a:spLocks noGrp="1"/>
          </p:cNvSpPr>
          <p:nvPr>
            <p:ph idx="1"/>
          </p:nvPr>
        </p:nvSpPr>
        <p:spPr/>
        <p:txBody>
          <a:bodyPr/>
          <a:lstStyle/>
          <a:p>
            <a:pPr>
              <a:buFont typeface="Wingdings" panose="05000000000000000000" pitchFamily="2" charset="2"/>
              <a:buChar char="ü"/>
            </a:pPr>
            <a:r>
              <a:rPr lang="en-US" dirty="0"/>
              <a:t>Multi -variable probability distribution</a:t>
            </a:r>
          </a:p>
          <a:p>
            <a:pPr>
              <a:buFont typeface="Wingdings" panose="05000000000000000000" pitchFamily="2" charset="2"/>
              <a:buChar char="ü"/>
            </a:pPr>
            <a:r>
              <a:rPr lang="en-US" dirty="0"/>
              <a:t>Conditional probability distribution</a:t>
            </a:r>
          </a:p>
          <a:p>
            <a:pPr>
              <a:buFont typeface="Wingdings" panose="05000000000000000000" pitchFamily="2" charset="2"/>
              <a:buChar char="ü"/>
            </a:pPr>
            <a:r>
              <a:rPr lang="en-US" dirty="0"/>
              <a:t>Central limit theorem</a:t>
            </a:r>
          </a:p>
          <a:p>
            <a:pPr>
              <a:buFont typeface="Wingdings" panose="05000000000000000000" pitchFamily="2" charset="2"/>
              <a:buChar char="ü"/>
            </a:pPr>
            <a:r>
              <a:rPr lang="en-US" dirty="0"/>
              <a:t>Statistical independence</a:t>
            </a:r>
          </a:p>
          <a:p>
            <a:endParaRPr lang="en-US" dirty="0"/>
          </a:p>
        </p:txBody>
      </p:sp>
    </p:spTree>
    <p:extLst>
      <p:ext uri="{BB962C8B-B14F-4D97-AF65-F5344CB8AC3E}">
        <p14:creationId xmlns:p14="http://schemas.microsoft.com/office/powerpoint/2010/main" val="2056937425"/>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50</a:t>
            </a:fld>
            <a:endParaRPr lang="en-US"/>
          </a:p>
        </p:txBody>
      </p:sp>
      <p:sp>
        <p:nvSpPr>
          <p:cNvPr id="7" name="Title 1"/>
          <p:cNvSpPr txBox="1">
            <a:spLocks/>
          </p:cNvSpPr>
          <p:nvPr/>
        </p:nvSpPr>
        <p:spPr>
          <a:xfrm>
            <a:off x="1524000" y="0"/>
            <a:ext cx="7620000" cy="6017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Assignment 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23" name="AutoShape 15" descr="X"/>
          <p:cNvSpPr>
            <a:spLocks noChangeAspect="1" noChangeArrowheads="1"/>
          </p:cNvSpPr>
          <p:nvPr/>
        </p:nvSpPr>
        <p:spPr bwMode="auto">
          <a:xfrm>
            <a:off x="1812925" y="-114300"/>
            <a:ext cx="12382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24" name="AutoShape 16" descr="Y"/>
          <p:cNvSpPr>
            <a:spLocks noChangeAspect="1" noChangeArrowheads="1"/>
          </p:cNvSpPr>
          <p:nvPr/>
        </p:nvSpPr>
        <p:spPr bwMode="auto">
          <a:xfrm>
            <a:off x="2279650" y="-114300"/>
            <a:ext cx="10477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2" name="AutoShape 6" descr="X"/>
          <p:cNvSpPr>
            <a:spLocks noChangeAspect="1" noChangeArrowheads="1"/>
          </p:cNvSpPr>
          <p:nvPr/>
        </p:nvSpPr>
        <p:spPr bwMode="auto">
          <a:xfrm>
            <a:off x="2498725" y="1028700"/>
            <a:ext cx="12382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13" name="AutoShape 7" descr="Y"/>
          <p:cNvSpPr>
            <a:spLocks noChangeAspect="1" noChangeArrowheads="1"/>
          </p:cNvSpPr>
          <p:nvPr/>
        </p:nvSpPr>
        <p:spPr bwMode="auto">
          <a:xfrm>
            <a:off x="2965450" y="1028700"/>
            <a:ext cx="104775" cy="23812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
        <p:nvSpPr>
          <p:cNvPr id="3" name="Rectangle 2"/>
          <p:cNvSpPr/>
          <p:nvPr/>
        </p:nvSpPr>
        <p:spPr>
          <a:xfrm>
            <a:off x="990600" y="1447800"/>
            <a:ext cx="7173759" cy="1631216"/>
          </a:xfrm>
          <a:prstGeom prst="rect">
            <a:avLst/>
          </a:prstGeom>
        </p:spPr>
        <p:txBody>
          <a:bodyPr wrap="none">
            <a:spAutoFit/>
          </a:bodyPr>
          <a:lstStyle/>
          <a:p>
            <a:r>
              <a:rPr lang="en-US" sz="2000" dirty="0">
                <a:latin typeface="+mj-lt"/>
              </a:rPr>
              <a:t>Q1. Write central limit theorem.</a:t>
            </a:r>
          </a:p>
          <a:p>
            <a:endParaRPr lang="en-US" sz="2000" dirty="0">
              <a:latin typeface="+mj-lt"/>
            </a:endParaRPr>
          </a:p>
          <a:p>
            <a:r>
              <a:rPr lang="en-US" sz="2000" dirty="0">
                <a:latin typeface="+mj-lt"/>
              </a:rPr>
              <a:t>Q2. Define statistical independence for discrete random variable </a:t>
            </a:r>
          </a:p>
          <a:p>
            <a:endParaRPr lang="en-US" sz="2000" dirty="0">
              <a:latin typeface="+mj-lt"/>
            </a:endParaRPr>
          </a:p>
          <a:p>
            <a:r>
              <a:rPr lang="en-US" sz="2000" dirty="0">
                <a:latin typeface="+mj-lt"/>
              </a:rPr>
              <a:t>Q3. Define statistical independence for continuous random variable </a:t>
            </a: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6795060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876800"/>
              </a:xfrm>
            </p:spPr>
            <p:txBody>
              <a:bodyPr>
                <a:noAutofit/>
              </a:bodyPr>
              <a:lstStyle/>
              <a:p>
                <a:pPr marL="0" lvl="0" indent="0">
                  <a:buNone/>
                </a:pPr>
                <a:r>
                  <a:rPr lang="en-US" sz="2000" b="1" dirty="0">
                    <a:latin typeface="+mj-lt"/>
                  </a:rPr>
                  <a:t>Q1.</a:t>
                </a:r>
                <a:r>
                  <a:rPr lang="en-US" sz="2000" dirty="0">
                    <a:latin typeface="+mj-lt"/>
                  </a:rPr>
                  <a:t> Four person are chosen at random from a group containing 3 men, 2 women and 4 children then the probability that exactly two of them will be children is</a:t>
                </a:r>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9</m:t>
                        </m:r>
                      </m:num>
                      <m:den>
                        <m:r>
                          <a:rPr lang="en-US" sz="2000" i="1">
                            <a:latin typeface="Cambria Math" panose="02040503050406030204" pitchFamily="18" charset="0"/>
                          </a:rPr>
                          <m:t>21</m:t>
                        </m:r>
                      </m:den>
                    </m:f>
                  </m:oMath>
                </a14:m>
                <a:endParaRPr lang="en-US" sz="2000" dirty="0">
                  <a:latin typeface="+mj-lt"/>
                </a:endParaRPr>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10</m:t>
                        </m:r>
                      </m:num>
                      <m:den>
                        <m:r>
                          <a:rPr lang="en-US" sz="2000" i="1">
                            <a:latin typeface="Cambria Math" panose="02040503050406030204" pitchFamily="18" charset="0"/>
                          </a:rPr>
                          <m:t>21</m:t>
                        </m:r>
                      </m:den>
                    </m:f>
                  </m:oMath>
                </a14:m>
                <a:endParaRPr lang="en-US" sz="2000" dirty="0">
                  <a:latin typeface="+mj-lt"/>
                </a:endParaRPr>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panose="02040503050406030204" pitchFamily="18" charset="0"/>
                          </a:rPr>
                          <m:t>6</m:t>
                        </m:r>
                      </m:num>
                      <m:den>
                        <m:r>
                          <a:rPr lang="en-US" sz="2000" i="1">
                            <a:latin typeface="Cambria Math" panose="02040503050406030204" pitchFamily="18" charset="0"/>
                          </a:rPr>
                          <m:t>21</m:t>
                        </m:r>
                      </m:den>
                    </m:f>
                  </m:oMath>
                </a14:m>
                <a:endParaRPr lang="en-US" sz="2000" dirty="0">
                  <a:latin typeface="+mj-lt"/>
                </a:endParaRPr>
              </a:p>
              <a:p>
                <a:pPr lvl="0">
                  <a:buFont typeface="+mj-lt"/>
                  <a:buAutoNum type="alphaLcPeriod"/>
                </a:pPr>
                <a:r>
                  <a:rPr lang="en-US" sz="2000" dirty="0">
                    <a:latin typeface="+mj-lt"/>
                  </a:rPr>
                  <a:t>None of these</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876800"/>
              </a:xfrm>
              <a:blipFill>
                <a:blip r:embed="rId2"/>
                <a:stretch>
                  <a:fillRect l="-815" t="-750"/>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51</a:t>
            </a:fld>
            <a:endParaRPr lang="en-US"/>
          </a:p>
        </p:txBody>
      </p:sp>
      <p:sp>
        <p:nvSpPr>
          <p:cNvPr id="7" name="Title 1"/>
          <p:cNvSpPr txBox="1">
            <a:spLocks/>
          </p:cNvSpPr>
          <p:nvPr/>
        </p:nvSpPr>
        <p:spPr>
          <a:xfrm>
            <a:off x="155512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4572000" y="42672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876800"/>
          </a:xfrm>
        </p:spPr>
        <p:txBody>
          <a:bodyPr>
            <a:noAutofit/>
          </a:bodyPr>
          <a:lstStyle/>
          <a:p>
            <a:pPr marL="0" lvl="0" indent="0">
              <a:buNone/>
            </a:pPr>
            <a:r>
              <a:rPr lang="en-US" sz="2000" b="1" dirty="0">
                <a:latin typeface="+mj-lt"/>
              </a:rPr>
              <a:t>Q 2.</a:t>
            </a:r>
            <a:r>
              <a:rPr lang="en-US" sz="2000" dirty="0">
                <a:latin typeface="+mj-lt"/>
              </a:rPr>
              <a:t> In a certain state, 25 percent of all cars emit excessive amounts of pollutants. If the probability is 0.99 that a car emitting excessive amounts will fail the state’s vehicular emission test, and the probability is 0.17 that a car not emitting excessive amounts of pollutants will </a:t>
            </a:r>
            <a:r>
              <a:rPr lang="en-US" sz="2000" dirty="0"/>
              <a:t>nevertheless fail the test. What is the probability that a car that fails the test actually emits excessive amounts of pollutants?</a:t>
            </a:r>
          </a:p>
          <a:p>
            <a:pPr lvl="0">
              <a:buFont typeface="+mj-lt"/>
              <a:buAutoNum type="alphaLcPeriod"/>
            </a:pPr>
            <a:r>
              <a:rPr lang="en-US" sz="2000" dirty="0"/>
              <a:t>0.60</a:t>
            </a:r>
          </a:p>
          <a:p>
            <a:pPr lvl="0">
              <a:buFont typeface="+mj-lt"/>
              <a:buAutoNum type="alphaLcPeriod"/>
            </a:pPr>
            <a:r>
              <a:rPr lang="en-US" sz="2000" dirty="0"/>
              <a:t>0.70</a:t>
            </a:r>
          </a:p>
          <a:p>
            <a:pPr lvl="0">
              <a:buFont typeface="+mj-lt"/>
              <a:buAutoNum type="alphaLcPeriod"/>
            </a:pPr>
            <a:r>
              <a:rPr lang="en-US" sz="2000" dirty="0"/>
              <a:t>0.66</a:t>
            </a:r>
          </a:p>
          <a:p>
            <a:pPr lvl="0">
              <a:buFont typeface="+mj-lt"/>
              <a:buAutoNum type="alphaLcPeriod"/>
            </a:pPr>
            <a:r>
              <a:rPr lang="en-US" sz="2000" dirty="0"/>
              <a:t>None of these</a:t>
            </a:r>
            <a:endParaRPr lang="en-US" sz="2000" dirty="0">
              <a:latin typeface="+mj-lt"/>
            </a:endParaRPr>
          </a:p>
        </p:txBody>
      </p:sp>
      <p:sp>
        <p:nvSpPr>
          <p:cNvPr id="6" name="Slide Number Placeholder 5"/>
          <p:cNvSpPr>
            <a:spLocks noGrp="1"/>
          </p:cNvSpPr>
          <p:nvPr>
            <p:ph type="sldNum" sz="quarter" idx="12"/>
          </p:nvPr>
        </p:nvSpPr>
        <p:spPr/>
        <p:txBody>
          <a:bodyPr/>
          <a:lstStyle/>
          <a:p>
            <a:fld id="{B6F15528-21DE-4FAA-801E-634DDDAF4B2B}" type="slidenum">
              <a:rPr lang="en-US" smtClean="0"/>
              <a:pPr/>
              <a:t>52</a:t>
            </a:fld>
            <a:endParaRPr lang="en-US"/>
          </a:p>
        </p:txBody>
      </p:sp>
      <p:sp>
        <p:nvSpPr>
          <p:cNvPr id="7" name="Title 1"/>
          <p:cNvSpPr txBox="1">
            <a:spLocks/>
          </p:cNvSpPr>
          <p:nvPr/>
        </p:nvSpPr>
        <p:spPr>
          <a:xfrm>
            <a:off x="1555124" y="0"/>
            <a:ext cx="7772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4572000" y="42672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9923955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525963"/>
          </a:xfrm>
        </p:spPr>
        <p:txBody>
          <a:bodyPr>
            <a:noAutofit/>
          </a:bodyPr>
          <a:lstStyle/>
          <a:p>
            <a:pPr marL="0" lvl="0" indent="0">
              <a:buNone/>
            </a:pPr>
            <a:r>
              <a:rPr lang="en-US" sz="2000" b="1" dirty="0"/>
              <a:t>Q3.</a:t>
            </a:r>
            <a:r>
              <a:rPr lang="en-US" sz="2000" dirty="0"/>
              <a:t>  A can hit a target 3 times in 5 shots, B 2 times in 5 shots and C 3 times in 4 shots. All of them fire one shot each simultaneously at the target. What  is the probability that at least two shots hit-</a:t>
            </a:r>
          </a:p>
          <a:p>
            <a:pPr lvl="0">
              <a:buFont typeface="+mj-lt"/>
              <a:buAutoNum type="alphaLcPeriod"/>
            </a:pPr>
            <a:r>
              <a:rPr lang="en-US" sz="2000" dirty="0"/>
              <a:t>0.60</a:t>
            </a:r>
          </a:p>
          <a:p>
            <a:pPr lvl="0">
              <a:buFont typeface="+mj-lt"/>
              <a:buAutoNum type="alphaLcPeriod"/>
            </a:pPr>
            <a:r>
              <a:rPr lang="en-US" sz="2000" dirty="0"/>
              <a:t>0.62</a:t>
            </a:r>
          </a:p>
          <a:p>
            <a:pPr lvl="0">
              <a:buFont typeface="+mj-lt"/>
              <a:buAutoNum type="alphaLcPeriod"/>
            </a:pPr>
            <a:r>
              <a:rPr lang="en-US" sz="2000" dirty="0"/>
              <a:t>0.63</a:t>
            </a:r>
          </a:p>
          <a:p>
            <a:pPr lvl="0">
              <a:buFont typeface="+mj-lt"/>
              <a:buAutoNum type="alphaLcPeriod"/>
            </a:pPr>
            <a:r>
              <a:rPr lang="en-US" sz="2000" dirty="0"/>
              <a:t>0.50</a:t>
            </a:r>
          </a:p>
          <a:p>
            <a:pPr marL="0" lvl="0" indent="0">
              <a:buNone/>
            </a:pPr>
            <a:endParaRPr lang="en-US" sz="2000" dirty="0"/>
          </a:p>
          <a:p>
            <a:pPr marL="0" lvl="0" indent="0">
              <a:buNone/>
            </a:pPr>
            <a:endParaRPr lang="en-US" sz="2000" dirty="0"/>
          </a:p>
        </p:txBody>
      </p:sp>
      <p:sp>
        <p:nvSpPr>
          <p:cNvPr id="6" name="Slide Number Placeholder 5"/>
          <p:cNvSpPr>
            <a:spLocks noGrp="1"/>
          </p:cNvSpPr>
          <p:nvPr>
            <p:ph type="sldNum" sz="quarter" idx="12"/>
          </p:nvPr>
        </p:nvSpPr>
        <p:spPr/>
        <p:txBody>
          <a:bodyPr/>
          <a:lstStyle/>
          <a:p>
            <a:fld id="{B6F15528-21DE-4FAA-801E-634DDDAF4B2B}" type="slidenum">
              <a:rPr lang="en-US" smtClean="0"/>
              <a:pPr/>
              <a:t>53</a:t>
            </a:fld>
            <a:endParaRPr lang="en-US"/>
          </a:p>
        </p:txBody>
      </p:sp>
      <p:sp>
        <p:nvSpPr>
          <p:cNvPr id="7" name="Title 1"/>
          <p:cNvSpPr txBox="1">
            <a:spLocks/>
          </p:cNvSpPr>
          <p:nvPr/>
        </p:nvSpPr>
        <p:spPr>
          <a:xfrm>
            <a:off x="1524000" y="1"/>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lang="en-US" sz="1200" dirty="0">
                <a:solidFill>
                  <a:schemeClr val="tx1">
                    <a:tint val="75000"/>
                  </a:schemeClr>
                </a:solidFill>
              </a:rPr>
              <a:t>Module II</a:t>
            </a: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252237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953000"/>
              </a:xfrm>
            </p:spPr>
            <p:txBody>
              <a:bodyPr>
                <a:noAutofit/>
              </a:bodyPr>
              <a:lstStyle/>
              <a:p>
                <a:pPr marL="0" lvl="0" indent="0">
                  <a:buNone/>
                </a:pPr>
                <a:r>
                  <a:rPr lang="en-US" sz="2000" b="1" dirty="0"/>
                  <a:t>Q4.</a:t>
                </a:r>
                <a:r>
                  <a:rPr lang="en-US" sz="2000" dirty="0"/>
                  <a:t>  The probability that a civilian can hit a target is 2/5 and the probability that an army officer can hit the same target is 3/5 while the civilian can fire 8 shots in the time the army officer fires 10 shots. If they fire together, then what is the probability that army officer shoots the target?</a:t>
                </a:r>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a:rPr>
                          <m:t>6</m:t>
                        </m:r>
                      </m:num>
                      <m:den>
                        <m:r>
                          <a:rPr lang="en-US" sz="2000" i="1">
                            <a:latin typeface="Cambria Math"/>
                          </a:rPr>
                          <m:t>11</m:t>
                        </m:r>
                      </m:den>
                    </m:f>
                  </m:oMath>
                </a14:m>
                <a:endParaRPr lang="en-US" sz="2000" dirty="0"/>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a:rPr>
                          <m:t>5</m:t>
                        </m:r>
                      </m:num>
                      <m:den>
                        <m:r>
                          <a:rPr lang="en-US" sz="2000" i="1">
                            <a:latin typeface="Cambria Math"/>
                          </a:rPr>
                          <m:t>11</m:t>
                        </m:r>
                      </m:den>
                    </m:f>
                  </m:oMath>
                </a14:m>
                <a:endParaRPr lang="en-US" sz="2000" dirty="0"/>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a:rPr>
                          <m:t>3</m:t>
                        </m:r>
                      </m:num>
                      <m:den>
                        <m:r>
                          <a:rPr lang="en-US" sz="2000" i="1">
                            <a:latin typeface="Cambria Math"/>
                          </a:rPr>
                          <m:t>11</m:t>
                        </m:r>
                      </m:den>
                    </m:f>
                  </m:oMath>
                </a14:m>
                <a:endParaRPr lang="en-US" sz="2000" dirty="0"/>
              </a:p>
              <a:p>
                <a:pPr lvl="0">
                  <a:buFont typeface="+mj-lt"/>
                  <a:buAutoNum type="alphaLcPeriod"/>
                </a:pPr>
                <a:r>
                  <a:rPr lang="en-US" sz="2000" dirty="0"/>
                  <a:t>None of these </a:t>
                </a:r>
              </a:p>
              <a:p>
                <a:pPr marL="0" lv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953000"/>
              </a:xfrm>
              <a:blipFill>
                <a:blip r:embed="rId2"/>
                <a:stretch>
                  <a:fillRect l="-815" t="-739" r="-815"/>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54</a:t>
            </a:fld>
            <a:endParaRPr lang="en-US"/>
          </a:p>
        </p:txBody>
      </p:sp>
      <p:sp>
        <p:nvSpPr>
          <p:cNvPr id="7"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42550164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lvl="0" indent="0">
                  <a:buNone/>
                </a:pPr>
                <a:r>
                  <a:rPr lang="en-US" sz="2000" b="1" dirty="0"/>
                  <a:t>Q5.</a:t>
                </a:r>
                <a:r>
                  <a:rPr lang="en-US" sz="2000" dirty="0"/>
                  <a:t> The </a:t>
                </a:r>
                <a:r>
                  <a:rPr lang="en-US" sz="2000" dirty="0" err="1"/>
                  <a:t>p.d.f</a:t>
                </a:r>
                <a:r>
                  <a:rPr lang="en-US" sz="2000" dirty="0"/>
                  <a:t> </a:t>
                </a:r>
                <a14:m>
                  <m:oMath xmlns:m="http://schemas.openxmlformats.org/officeDocument/2006/math">
                    <m:r>
                      <a:rPr lang="en-US" sz="2000" i="1">
                        <a:latin typeface="Cambria Math"/>
                      </a:rPr>
                      <m:t>𝑓</m:t>
                    </m:r>
                    <m:r>
                      <a:rPr lang="en-US" sz="2000" i="1">
                        <a:latin typeface="Cambria Math"/>
                      </a:rPr>
                      <m:t>(</m:t>
                    </m:r>
                    <m:r>
                      <a:rPr lang="en-US" sz="2000" i="1">
                        <a:latin typeface="Cambria Math"/>
                      </a:rPr>
                      <m:t>𝑥</m:t>
                    </m:r>
                    <m:r>
                      <a:rPr lang="en-US" sz="2000" i="1">
                        <a:latin typeface="Cambria Math"/>
                      </a:rPr>
                      <m:t>)</m:t>
                    </m:r>
                  </m:oMath>
                </a14:m>
                <a:r>
                  <a:rPr lang="en-US" sz="2000" dirty="0"/>
                  <a:t>  of  a continuous random variable </a:t>
                </a:r>
                <a14:m>
                  <m:oMath xmlns:m="http://schemas.openxmlformats.org/officeDocument/2006/math">
                    <m:r>
                      <a:rPr lang="en-US" sz="2000" i="1">
                        <a:latin typeface="Cambria Math"/>
                      </a:rPr>
                      <m:t>𝑥</m:t>
                    </m:r>
                  </m:oMath>
                </a14:m>
                <a:r>
                  <a:rPr lang="en-US" sz="2000" dirty="0"/>
                  <a:t> is defined by- </a:t>
                </a:r>
              </a:p>
              <a:p>
                <a:pPr marL="0" lvl="0" indent="0">
                  <a:buNone/>
                </a:pPr>
                <a14:m>
                  <m:oMath xmlns:m="http://schemas.openxmlformats.org/officeDocument/2006/math">
                    <m:r>
                      <a:rPr lang="en-US" sz="2000" i="1">
                        <a:latin typeface="Cambria Math"/>
                      </a:rPr>
                      <m:t>𝑓</m:t>
                    </m:r>
                    <m:d>
                      <m:dPr>
                        <m:ctrlPr>
                          <a:rPr lang="en-US" sz="2000" i="1">
                            <a:latin typeface="Cambria Math" panose="02040503050406030204" pitchFamily="18" charset="0"/>
                          </a:rPr>
                        </m:ctrlPr>
                      </m:dPr>
                      <m:e>
                        <m:r>
                          <a:rPr lang="en-US" sz="2000" i="1">
                            <a:latin typeface="Cambria Math"/>
                          </a:rPr>
                          <m:t>𝑥</m:t>
                        </m:r>
                      </m:e>
                    </m:d>
                    <m:r>
                      <a:rPr lang="en-US" sz="2000" i="1">
                        <a:latin typeface="Cambria Math"/>
                      </a:rPr>
                      <m:t>=</m:t>
                    </m:r>
                    <m:d>
                      <m:dPr>
                        <m:begChr m:val="{"/>
                        <m:endChr m:val=""/>
                        <m:ctrlPr>
                          <a:rPr lang="en-US" sz="2000" i="1">
                            <a:latin typeface="Cambria Math" panose="02040503050406030204" pitchFamily="18" charset="0"/>
                          </a:rPr>
                        </m:ctrlPr>
                      </m:dPr>
                      <m:e>
                        <m:eqArr>
                          <m:eqArrPr>
                            <m:ctrlPr>
                              <a:rPr lang="en-US" sz="2000" i="1">
                                <a:latin typeface="Cambria Math" panose="02040503050406030204" pitchFamily="18" charset="0"/>
                              </a:rPr>
                            </m:ctrlPr>
                          </m:eqArrPr>
                          <m:e>
                            <m:f>
                              <m:fPr>
                                <m:ctrlPr>
                                  <a:rPr lang="en-US" sz="2000" i="1">
                                    <a:latin typeface="Cambria Math" panose="02040503050406030204" pitchFamily="18" charset="0"/>
                                  </a:rPr>
                                </m:ctrlPr>
                              </m:fPr>
                              <m:num>
                                <m:r>
                                  <a:rPr lang="en-US" sz="2000" i="1">
                                    <a:latin typeface="Cambria Math"/>
                                  </a:rPr>
                                  <m:t>𝐴</m:t>
                                </m:r>
                              </m:num>
                              <m:den>
                                <m:sSup>
                                  <m:sSupPr>
                                    <m:ctrlPr>
                                      <a:rPr lang="en-US" sz="2000" i="1">
                                        <a:latin typeface="Cambria Math" panose="02040503050406030204" pitchFamily="18" charset="0"/>
                                      </a:rPr>
                                    </m:ctrlPr>
                                  </m:sSupPr>
                                  <m:e>
                                    <m:r>
                                      <a:rPr lang="en-US" sz="2000" i="1">
                                        <a:latin typeface="Cambria Math"/>
                                      </a:rPr>
                                      <m:t>𝑥</m:t>
                                    </m:r>
                                  </m:e>
                                  <m:sup>
                                    <m:r>
                                      <a:rPr lang="en-US" sz="2000" i="1">
                                        <a:latin typeface="Cambria Math"/>
                                      </a:rPr>
                                      <m:t>3</m:t>
                                    </m:r>
                                  </m:sup>
                                </m:sSup>
                              </m:den>
                            </m:f>
                            <m:r>
                              <a:rPr lang="en-US" sz="2000" i="1">
                                <a:latin typeface="Cambria Math"/>
                              </a:rPr>
                              <m:t>,       5≤</m:t>
                            </m:r>
                            <m:r>
                              <a:rPr lang="en-US" sz="2000" i="1">
                                <a:latin typeface="Cambria Math"/>
                              </a:rPr>
                              <m:t>𝑥</m:t>
                            </m:r>
                            <m:r>
                              <a:rPr lang="en-US" sz="2000" i="1">
                                <a:latin typeface="Cambria Math"/>
                              </a:rPr>
                              <m:t>≤10</m:t>
                            </m:r>
                          </m:e>
                          <m:e>
                            <m:r>
                              <a:rPr lang="en-US" sz="2000" i="1">
                                <a:latin typeface="Cambria Math"/>
                              </a:rPr>
                              <m:t>0,         </m:t>
                            </m:r>
                            <m:r>
                              <a:rPr lang="en-US" sz="2000" i="1">
                                <a:latin typeface="Cambria Math"/>
                              </a:rPr>
                              <m:t>𝑜𝑡h𝑒𝑟𝑤𝑖𝑠𝑒</m:t>
                            </m:r>
                          </m:e>
                        </m:eqArr>
                      </m:e>
                    </m:d>
                  </m:oMath>
                </a14:m>
                <a:r>
                  <a:rPr lang="en-US" sz="2000" dirty="0"/>
                  <a:t> . Then the value of </a:t>
                </a:r>
                <a14:m>
                  <m:oMath xmlns:m="http://schemas.openxmlformats.org/officeDocument/2006/math">
                    <m:r>
                      <a:rPr lang="en-US" sz="2000" i="1">
                        <a:latin typeface="Cambria Math"/>
                      </a:rPr>
                      <m:t>𝐴</m:t>
                    </m:r>
                  </m:oMath>
                </a14:m>
                <a:r>
                  <a:rPr lang="en-US" sz="2000" dirty="0"/>
                  <a:t> is-</a:t>
                </a:r>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a:rPr>
                          <m:t>100</m:t>
                        </m:r>
                      </m:num>
                      <m:den>
                        <m:r>
                          <a:rPr lang="en-US" sz="2000" i="1">
                            <a:latin typeface="Cambria Math"/>
                          </a:rPr>
                          <m:t>3</m:t>
                        </m:r>
                      </m:den>
                    </m:f>
                  </m:oMath>
                </a14:m>
                <a:endParaRPr lang="en-US" sz="2000" dirty="0"/>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a:rPr>
                          <m:t>200</m:t>
                        </m:r>
                      </m:num>
                      <m:den>
                        <m:r>
                          <a:rPr lang="en-US" sz="2000" i="1">
                            <a:latin typeface="Cambria Math"/>
                          </a:rPr>
                          <m:t>3</m:t>
                        </m:r>
                      </m:den>
                    </m:f>
                  </m:oMath>
                </a14:m>
                <a:endParaRPr lang="en-US" sz="2000" dirty="0"/>
              </a:p>
              <a:p>
                <a:pPr lvl="0">
                  <a:buFont typeface="+mj-lt"/>
                  <a:buAutoNum type="alphaLcPeriod"/>
                </a:pPr>
                <a14:m>
                  <m:oMath xmlns:m="http://schemas.openxmlformats.org/officeDocument/2006/math">
                    <m:f>
                      <m:fPr>
                        <m:ctrlPr>
                          <a:rPr lang="en-US" sz="2000" i="1">
                            <a:latin typeface="Cambria Math" panose="02040503050406030204" pitchFamily="18" charset="0"/>
                          </a:rPr>
                        </m:ctrlPr>
                      </m:fPr>
                      <m:num>
                        <m:r>
                          <a:rPr lang="en-US" sz="2000" i="1">
                            <a:latin typeface="Cambria Math"/>
                          </a:rPr>
                          <m:t>50</m:t>
                        </m:r>
                      </m:num>
                      <m:den>
                        <m:r>
                          <a:rPr lang="en-US" sz="2000" i="1">
                            <a:latin typeface="Cambria Math"/>
                          </a:rPr>
                          <m:t>3</m:t>
                        </m:r>
                      </m:den>
                    </m:f>
                  </m:oMath>
                </a14:m>
                <a:endParaRPr lang="en-US" sz="2000" dirty="0"/>
              </a:p>
              <a:p>
                <a:pPr lvl="0">
                  <a:buFont typeface="+mj-lt"/>
                  <a:buAutoNum type="alphaLcPeriod"/>
                </a:pPr>
                <a:r>
                  <a:rPr lang="en-US" sz="2000" dirty="0"/>
                  <a:t>None of these</a:t>
                </a:r>
              </a:p>
              <a:p>
                <a:pPr marL="0" lv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809"/>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55</a:t>
            </a:fld>
            <a:endParaRPr lang="en-US"/>
          </a:p>
        </p:txBody>
      </p:sp>
      <p:sp>
        <p:nvSpPr>
          <p:cNvPr id="7" name="Title 1"/>
          <p:cNvSpPr txBox="1">
            <a:spLocks/>
          </p:cNvSpPr>
          <p:nvPr/>
        </p:nvSpPr>
        <p:spPr>
          <a:xfrm>
            <a:off x="1524000" y="0"/>
            <a:ext cx="7620000" cy="601718"/>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kumimoji="0" lang="en-US" sz="2400" b="1" i="0" u="none" strike="noStrike" kern="1200" cap="none" spc="0" normalizeH="0" baseline="0" noProof="0" dirty="0">
                <a:ln>
                  <a:noFill/>
                </a:ln>
                <a:solidFill>
                  <a:schemeClr val="dk1"/>
                </a:solidFill>
                <a:effectLst/>
                <a:uLnTx/>
                <a:uFillTx/>
                <a:latin typeface="+mn-lt"/>
                <a:ea typeface="+mn-ea"/>
                <a:cs typeface="+mn-cs"/>
              </a:rPr>
              <a:t>MCQ</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3974387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029200"/>
              </a:xfrm>
            </p:spPr>
            <p:txBody>
              <a:bodyPr>
                <a:noAutofit/>
              </a:bodyPr>
              <a:lstStyle/>
              <a:p>
                <a:pPr marL="0" lvl="0" indent="0">
                  <a:buNone/>
                </a:pPr>
                <a:r>
                  <a:rPr lang="en-US" sz="2000" dirty="0">
                    <a:latin typeface="+mj-lt"/>
                  </a:rPr>
                  <a:t>Q: Please select the correct option from the given Glossary:</a:t>
                </a:r>
              </a:p>
              <a:p>
                <a:pPr marL="0" lvl="0" indent="0" algn="just">
                  <a:buNone/>
                </a:pPr>
                <a:r>
                  <a:rPr lang="en-US" sz="2000" dirty="0">
                    <a:latin typeface="+mj-lt"/>
                  </a:rPr>
                  <a:t>    (</a:t>
                </a:r>
                <a:r>
                  <a:rPr lang="en-US" sz="2000" dirty="0" err="1">
                    <a:latin typeface="+mj-lt"/>
                  </a:rPr>
                  <a:t>i</a:t>
                </a:r>
                <a:r>
                  <a:rPr lang="en-US" sz="2000" dirty="0">
                    <a:latin typeface="+mj-lt"/>
                  </a:rPr>
                  <a:t>) 1    (ii)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oMath>
                </a14:m>
                <a:r>
                  <a:rPr lang="en-US" sz="2000" dirty="0">
                    <a:latin typeface="+mj-lt"/>
                  </a:rPr>
                  <a:t>   (iii)  (0,1,2)    (iv)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19</m:t>
                        </m:r>
                      </m:num>
                      <m:den>
                        <m:r>
                          <a:rPr lang="en-US" sz="2000" b="0" i="1" smtClean="0">
                            <a:latin typeface="Cambria Math" panose="02040503050406030204" pitchFamily="18" charset="0"/>
                          </a:rPr>
                          <m:t>216</m:t>
                        </m:r>
                      </m:den>
                    </m:f>
                  </m:oMath>
                </a14:m>
                <a:r>
                  <a:rPr lang="en-US" sz="2000" dirty="0">
                    <a:latin typeface="+mj-lt"/>
                  </a:rPr>
                  <a:t>    (v)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den>
                    </m:f>
                  </m:oMath>
                </a14:m>
                <a:r>
                  <a:rPr lang="en-US" sz="2000" dirty="0">
                    <a:latin typeface="+mj-lt"/>
                  </a:rPr>
                  <a:t> .</a:t>
                </a:r>
              </a:p>
              <a:p>
                <a:pPr marL="0" lvl="0" indent="0">
                  <a:buNone/>
                </a:pPr>
                <a:r>
                  <a:rPr lang="en-US" sz="2000" dirty="0">
                    <a:latin typeface="+mj-lt"/>
                  </a:rPr>
                  <a:t> (a) The value of k _____ so that function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𝑘</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𝑥</m:t>
                            </m:r>
                          </m:num>
                          <m:den>
                            <m:r>
                              <a:rPr lang="en-US" sz="2000" b="0" i="1" smtClean="0">
                                <a:latin typeface="Cambria Math" panose="02040503050406030204" pitchFamily="18" charset="0"/>
                              </a:rPr>
                              <m:t>3</m:t>
                            </m:r>
                          </m:den>
                        </m:f>
                      </m:sup>
                    </m:sSup>
                    <m:r>
                      <a:rPr lang="en-US" sz="2000" b="0" i="1" smtClean="0">
                        <a:latin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&lt;∞</m:t>
                    </m:r>
                  </m:oMath>
                </a14:m>
                <a:r>
                  <a:rPr lang="en-US" sz="2000" dirty="0">
                    <a:latin typeface="+mj-lt"/>
                  </a:rPr>
                  <a:t> will be a probability density function.</a:t>
                </a:r>
              </a:p>
              <a:p>
                <a:pPr marL="0" lvl="0" indent="0">
                  <a:buNone/>
                </a:pPr>
                <a:r>
                  <a:rPr lang="en-US" sz="2000" dirty="0">
                    <a:latin typeface="+mj-lt"/>
                  </a:rPr>
                  <a:t> (b) The random variable takes the value _______ from the number of aces in a draw of two cards from a well shuffled deck of 52 cards.</a:t>
                </a:r>
              </a:p>
              <a:p>
                <a:pPr marL="0" lvl="0" indent="0" algn="just">
                  <a:buNone/>
                </a:pPr>
                <a:r>
                  <a:rPr lang="en-US" sz="2000" dirty="0">
                    <a:latin typeface="+mj-lt"/>
                  </a:rPr>
                  <a:t> (c) The value of </a:t>
                </a:r>
                <a14:m>
                  <m:oMath xmlns:m="http://schemas.openxmlformats.org/officeDocument/2006/math">
                    <m:nary>
                      <m:naryPr>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i="1" smtClean="0">
                            <a:latin typeface="Cambria Math" panose="02040503050406030204" pitchFamily="18" charset="0"/>
                            <a:ea typeface="Cambria Math" panose="02040503050406030204" pitchFamily="18" charset="0"/>
                          </a:rPr>
                          <m:t>∞</m:t>
                        </m:r>
                      </m:sup>
                      <m:e>
                        <m:nary>
                          <m:naryPr>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i="1" smtClean="0">
                                <a:latin typeface="Cambria Math" panose="02040503050406030204" pitchFamily="18" charset="0"/>
                                <a:ea typeface="Cambria Math" panose="02040503050406030204" pitchFamily="18" charset="0"/>
                              </a:rPr>
                              <m:t>∞</m:t>
                            </m:r>
                          </m:sup>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𝑑𝑥𝑑𝑦</m:t>
                            </m:r>
                          </m:e>
                        </m:nary>
                      </m:e>
                    </m:nary>
                  </m:oMath>
                </a14:m>
                <a:r>
                  <a:rPr lang="en-US" sz="2000" dirty="0">
                    <a:latin typeface="+mj-lt"/>
                  </a:rPr>
                  <a:t> is equal to ______. If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oMath>
                </a14:m>
                <a:r>
                  <a:rPr lang="en-US" sz="2000" dirty="0">
                    <a:latin typeface="+mj-lt"/>
                  </a:rPr>
                  <a:t> is a probability density function.</a:t>
                </a:r>
              </a:p>
              <a:p>
                <a:pPr marL="0" lvl="0" indent="0" algn="just">
                  <a:buNone/>
                </a:pPr>
                <a:r>
                  <a:rPr lang="en-US" sz="2000" dirty="0">
                    <a:latin typeface="+mj-lt"/>
                  </a:rPr>
                  <a:t> (d) The formula of the Conditional probability distribution X given Y is ____________.</a:t>
                </a:r>
              </a:p>
              <a:p>
                <a:pPr marL="0" lvl="0" indent="0" algn="just">
                  <a:buNone/>
                </a:pPr>
                <a:r>
                  <a:rPr lang="en-US" sz="2000" dirty="0">
                    <a:latin typeface="+mj-lt"/>
                  </a:rPr>
                  <a:t> (e) If the pdf of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=3</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r>
                  <a:rPr lang="en-US" sz="2000" dirty="0">
                    <a:latin typeface="+mj-lt"/>
                  </a:rPr>
                  <a:t>, then the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&lt;</m:t>
                        </m:r>
                        <m:r>
                          <a:rPr lang="en-US" sz="2000" b="0" i="1" smtClean="0">
                            <a:latin typeface="Cambria Math" panose="02040503050406030204" pitchFamily="18" charset="0"/>
                          </a:rPr>
                          <m:t>𝑥</m:t>
                        </m:r>
                        <m:r>
                          <a:rPr lang="en-US" sz="2000" b="0" i="1" smtClean="0">
                            <a:latin typeface="Cambria Math" panose="02040503050406030204" pitchFamily="18" charset="0"/>
                          </a:rPr>
                          <m:t>&lt;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e>
                    </m:d>
                  </m:oMath>
                </a14:m>
                <a:r>
                  <a:rPr lang="en-US" sz="2000" dirty="0">
                    <a:latin typeface="+mj-lt"/>
                  </a:rPr>
                  <a:t> is _________.</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029200"/>
              </a:xfrm>
              <a:blipFill>
                <a:blip r:embed="rId2"/>
                <a:stretch>
                  <a:fillRect l="-815" t="-727" r="-140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56</a:t>
            </a:fld>
            <a:endParaRPr lang="en-US"/>
          </a:p>
        </p:txBody>
      </p:sp>
      <p:sp>
        <p:nvSpPr>
          <p:cNvPr id="7"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Glossary Questions</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63680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5029200"/>
              </a:xfrm>
            </p:spPr>
            <p:txBody>
              <a:bodyPr>
                <a:noAutofit/>
              </a:bodyPr>
              <a:lstStyle/>
              <a:p>
                <a:pPr marL="0" lvl="0" indent="0">
                  <a:buNone/>
                </a:pPr>
                <a:r>
                  <a:rPr lang="en-US" sz="2000" dirty="0">
                    <a:latin typeface="+mj-lt"/>
                  </a:rPr>
                  <a:t>Q: Please select the correct option from the given Glossary:</a:t>
                </a:r>
              </a:p>
              <a:p>
                <a:pPr marL="0" lvl="0" indent="0" algn="just">
                  <a:buNone/>
                </a:pPr>
                <a:r>
                  <a:rPr lang="en-US" sz="2000" dirty="0">
                    <a:latin typeface="+mj-lt"/>
                  </a:rPr>
                  <a:t>    (</a:t>
                </a:r>
                <a:r>
                  <a:rPr lang="en-US" sz="2000" dirty="0" err="1">
                    <a:latin typeface="+mj-lt"/>
                  </a:rPr>
                  <a:t>i</a:t>
                </a:r>
                <a:r>
                  <a:rPr lang="en-US" sz="2000" dirty="0">
                    <a:latin typeface="+mj-lt"/>
                  </a:rPr>
                  <a:t>) 1    (ii)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oMath>
                </a14:m>
                <a:r>
                  <a:rPr lang="en-US" sz="2000" dirty="0">
                    <a:latin typeface="+mj-lt"/>
                  </a:rPr>
                  <a:t>   (iii)  (0,1,2)    (iv)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19</m:t>
                        </m:r>
                      </m:num>
                      <m:den>
                        <m:r>
                          <a:rPr lang="en-US" sz="2000" b="0" i="1" smtClean="0">
                            <a:latin typeface="Cambria Math" panose="02040503050406030204" pitchFamily="18" charset="0"/>
                          </a:rPr>
                          <m:t>216</m:t>
                        </m:r>
                      </m:den>
                    </m:f>
                  </m:oMath>
                </a14:m>
                <a:r>
                  <a:rPr lang="en-US" sz="2000" dirty="0">
                    <a:latin typeface="+mj-lt"/>
                  </a:rPr>
                  <a:t>    (v) </a:t>
                </a:r>
                <a14:m>
                  <m:oMath xmlns:m="http://schemas.openxmlformats.org/officeDocument/2006/math">
                    <m:f>
                      <m:fPr>
                        <m:ctrlPr>
                          <a:rPr lang="en-US" sz="2000" i="1" smtClean="0">
                            <a:latin typeface="Cambria Math" panose="02040503050406030204" pitchFamily="18" charset="0"/>
                          </a:rPr>
                        </m:ctrlPr>
                      </m:fPr>
                      <m:num>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num>
                      <m:den>
                        <m:r>
                          <a:rPr lang="en-US" sz="2000" b="0" i="1" smtClean="0">
                            <a:latin typeface="Cambria Math" panose="02040503050406030204" pitchFamily="18" charset="0"/>
                          </a:rPr>
                          <m:t>𝑃</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den>
                    </m:f>
                  </m:oMath>
                </a14:m>
                <a:r>
                  <a:rPr lang="en-US" sz="2000" dirty="0">
                    <a:latin typeface="+mj-lt"/>
                  </a:rPr>
                  <a:t> .</a:t>
                </a:r>
              </a:p>
              <a:p>
                <a:pPr marL="0" lvl="0" indent="0">
                  <a:buNone/>
                </a:pPr>
                <a:r>
                  <a:rPr lang="en-US" sz="2000" dirty="0">
                    <a:latin typeface="+mj-lt"/>
                  </a:rPr>
                  <a:t> (a) The value of k _____ so that function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m:t>
                    </m:r>
                    <m:r>
                      <a:rPr lang="en-US" sz="2000" b="0" i="1" smtClean="0">
                        <a:latin typeface="Cambria Math" panose="02040503050406030204" pitchFamily="18" charset="0"/>
                      </a:rPr>
                      <m:t>𝑘</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𝑒</m:t>
                        </m:r>
                      </m:e>
                      <m:sup>
                        <m:r>
                          <a:rPr lang="en-US" sz="2000" b="0" i="1" smtClean="0">
                            <a:latin typeface="Cambria Math" panose="02040503050406030204" pitchFamily="18" charset="0"/>
                          </a:rPr>
                          <m:t>−</m:t>
                        </m:r>
                        <m:f>
                          <m:fPr>
                            <m:type m:val="skw"/>
                            <m:ctrlPr>
                              <a:rPr lang="en-US" sz="2000" b="0" i="1" smtClean="0">
                                <a:latin typeface="Cambria Math" panose="02040503050406030204" pitchFamily="18" charset="0"/>
                              </a:rPr>
                            </m:ctrlPr>
                          </m:fPr>
                          <m:num>
                            <m:r>
                              <a:rPr lang="en-US" sz="2000" b="0" i="1" smtClean="0">
                                <a:latin typeface="Cambria Math" panose="02040503050406030204" pitchFamily="18" charset="0"/>
                              </a:rPr>
                              <m:t>𝑥</m:t>
                            </m:r>
                          </m:num>
                          <m:den>
                            <m:r>
                              <a:rPr lang="en-US" sz="2000" b="0" i="1" smtClean="0">
                                <a:latin typeface="Cambria Math" panose="02040503050406030204" pitchFamily="18" charset="0"/>
                              </a:rPr>
                              <m:t>3</m:t>
                            </m:r>
                          </m:den>
                        </m:f>
                      </m:sup>
                    </m:sSup>
                    <m:r>
                      <a:rPr lang="en-US" sz="2000" b="0" i="1" smtClean="0">
                        <a:latin typeface="Cambria Math" panose="02040503050406030204" pitchFamily="18" charset="0"/>
                      </a:rPr>
                      <m:t> ,0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&lt;∞</m:t>
                    </m:r>
                  </m:oMath>
                </a14:m>
                <a:r>
                  <a:rPr lang="en-US" sz="2000" dirty="0">
                    <a:latin typeface="+mj-lt"/>
                  </a:rPr>
                  <a:t> will be a probability density function.</a:t>
                </a:r>
              </a:p>
              <a:p>
                <a:pPr marL="0" lvl="0" indent="0">
                  <a:buNone/>
                </a:pPr>
                <a:r>
                  <a:rPr lang="en-US" sz="2000" dirty="0">
                    <a:latin typeface="+mj-lt"/>
                  </a:rPr>
                  <a:t> (b) The random variable takes the value _______ from the number of aces in a draw of two cards from a well shuffled deck of 52 cards.</a:t>
                </a:r>
              </a:p>
              <a:p>
                <a:pPr marL="0" lvl="0" indent="0" algn="just">
                  <a:buNone/>
                </a:pPr>
                <a:r>
                  <a:rPr lang="en-US" sz="2000" dirty="0">
                    <a:latin typeface="+mj-lt"/>
                  </a:rPr>
                  <a:t> (c) The value of </a:t>
                </a:r>
                <a14:m>
                  <m:oMath xmlns:m="http://schemas.openxmlformats.org/officeDocument/2006/math">
                    <m:nary>
                      <m:naryPr>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i="1" smtClean="0">
                            <a:latin typeface="Cambria Math" panose="02040503050406030204" pitchFamily="18" charset="0"/>
                            <a:ea typeface="Cambria Math" panose="02040503050406030204" pitchFamily="18" charset="0"/>
                          </a:rPr>
                          <m:t>∞</m:t>
                        </m:r>
                      </m:sup>
                      <m:e>
                        <m:nary>
                          <m:naryPr>
                            <m:ctrlPr>
                              <a:rPr lang="en-US" sz="2000" i="1" smtClean="0">
                                <a:latin typeface="Cambria Math" panose="02040503050406030204" pitchFamily="18" charset="0"/>
                              </a:rPr>
                            </m:ctrlPr>
                          </m:naryPr>
                          <m:sub>
                            <m:r>
                              <m:rPr>
                                <m:brk m:alnAt="23"/>
                              </m:rPr>
                              <a:rPr lang="en-US" sz="2000" b="0" i="1" smtClean="0">
                                <a:latin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m:t>
                            </m:r>
                          </m:sub>
                          <m:sup>
                            <m:r>
                              <a:rPr lang="en-US" sz="2000" i="1" smtClean="0">
                                <a:latin typeface="Cambria Math" panose="02040503050406030204" pitchFamily="18" charset="0"/>
                                <a:ea typeface="Cambria Math" panose="02040503050406030204" pitchFamily="18" charset="0"/>
                              </a:rPr>
                              <m:t>∞</m:t>
                            </m:r>
                          </m:sup>
                          <m:e>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e>
                            </m:d>
                            <m:r>
                              <a:rPr lang="en-US" sz="2000" b="0" i="1" smtClean="0">
                                <a:latin typeface="Cambria Math" panose="02040503050406030204" pitchFamily="18" charset="0"/>
                              </a:rPr>
                              <m:t>𝑑𝑥𝑑𝑦</m:t>
                            </m:r>
                          </m:e>
                        </m:nary>
                      </m:e>
                    </m:nary>
                  </m:oMath>
                </a14:m>
                <a:r>
                  <a:rPr lang="en-US" sz="2000" dirty="0">
                    <a:latin typeface="+mj-lt"/>
                  </a:rPr>
                  <a:t> is equal to ______. If </a:t>
                </a:r>
                <a14:m>
                  <m:oMath xmlns:m="http://schemas.openxmlformats.org/officeDocument/2006/math">
                    <m:r>
                      <a:rPr lang="en-US" sz="2000" b="0" i="1" smtClean="0">
                        <a:latin typeface="Cambria Math" panose="02040503050406030204" pitchFamily="18" charset="0"/>
                      </a:rPr>
                      <m:t>𝑓</m:t>
                    </m:r>
                    <m:r>
                      <a:rPr lang="en-US" sz="2000" b="0" i="1" smtClean="0">
                        <a:latin typeface="Cambria Math" panose="02040503050406030204" pitchFamily="18" charset="0"/>
                      </a:rPr>
                      <m:t>(</m:t>
                    </m:r>
                    <m:r>
                      <a:rPr lang="en-US" sz="2000" b="0" i="1" smtClean="0">
                        <a:latin typeface="Cambria Math" panose="02040503050406030204" pitchFamily="18" charset="0"/>
                      </a:rPr>
                      <m:t>𝑥</m:t>
                    </m:r>
                    <m:r>
                      <a:rPr lang="en-US" sz="2000" b="0" i="1" smtClean="0">
                        <a:latin typeface="Cambria Math" panose="02040503050406030204" pitchFamily="18" charset="0"/>
                      </a:rPr>
                      <m:t>,</m:t>
                    </m:r>
                    <m:r>
                      <a:rPr lang="en-US" sz="2000" b="0" i="1" smtClean="0">
                        <a:latin typeface="Cambria Math" panose="02040503050406030204" pitchFamily="18" charset="0"/>
                      </a:rPr>
                      <m:t>𝑦</m:t>
                    </m:r>
                    <m:r>
                      <a:rPr lang="en-US" sz="2000" b="0" i="1" smtClean="0">
                        <a:latin typeface="Cambria Math" panose="02040503050406030204" pitchFamily="18" charset="0"/>
                      </a:rPr>
                      <m:t>)</m:t>
                    </m:r>
                  </m:oMath>
                </a14:m>
                <a:r>
                  <a:rPr lang="en-US" sz="2000" dirty="0">
                    <a:latin typeface="+mj-lt"/>
                  </a:rPr>
                  <a:t> is a probability density function.</a:t>
                </a:r>
              </a:p>
              <a:p>
                <a:pPr marL="0" lvl="0" indent="0" algn="just">
                  <a:buNone/>
                </a:pPr>
                <a:r>
                  <a:rPr lang="en-US" sz="2000" dirty="0">
                    <a:latin typeface="+mj-lt"/>
                  </a:rPr>
                  <a:t> (d) The formula of the Conditional probability distribution X given Y is ____________.</a:t>
                </a:r>
              </a:p>
              <a:p>
                <a:pPr marL="0" lvl="0" indent="0" algn="just">
                  <a:buNone/>
                </a:pPr>
                <a:r>
                  <a:rPr lang="en-US" sz="2000" dirty="0">
                    <a:latin typeface="+mj-lt"/>
                  </a:rPr>
                  <a:t> (e) If the pdf of </a:t>
                </a:r>
                <a14:m>
                  <m:oMath xmlns:m="http://schemas.openxmlformats.org/officeDocument/2006/math">
                    <m:r>
                      <a:rPr lang="en-US" sz="2000" b="0" i="1" smtClean="0">
                        <a:latin typeface="Cambria Math" panose="02040503050406030204" pitchFamily="18" charset="0"/>
                      </a:rPr>
                      <m:t>𝑓</m:t>
                    </m:r>
                    <m:d>
                      <m:dPr>
                        <m:ctrlPr>
                          <a:rPr lang="en-US" sz="2000" b="0" i="1" smtClean="0">
                            <a:latin typeface="Cambria Math" panose="02040503050406030204" pitchFamily="18" charset="0"/>
                          </a:rPr>
                        </m:ctrlPr>
                      </m:dPr>
                      <m:e>
                        <m:r>
                          <a:rPr lang="en-US" sz="2000" b="0" i="1" smtClean="0">
                            <a:latin typeface="Cambria Math" panose="02040503050406030204" pitchFamily="18" charset="0"/>
                          </a:rPr>
                          <m:t>𝑥</m:t>
                        </m:r>
                      </m:e>
                    </m:d>
                    <m:r>
                      <a:rPr lang="en-US" sz="2000" b="0" i="1" smtClean="0">
                        <a:latin typeface="Cambria Math" panose="02040503050406030204" pitchFamily="18" charset="0"/>
                      </a:rPr>
                      <m:t>=3</m:t>
                    </m:r>
                    <m:sSup>
                      <m:sSupPr>
                        <m:ctrlPr>
                          <a:rPr lang="en-US" sz="2000" b="0" i="1" smtClean="0">
                            <a:latin typeface="Cambria Math" panose="02040503050406030204" pitchFamily="18" charset="0"/>
                          </a:rPr>
                        </m:ctrlPr>
                      </m:sSupPr>
                      <m:e>
                        <m:r>
                          <a:rPr lang="en-US" sz="2000" b="0" i="1" smtClean="0">
                            <a:latin typeface="Cambria Math" panose="02040503050406030204" pitchFamily="18" charset="0"/>
                          </a:rPr>
                          <m:t>𝑥</m:t>
                        </m:r>
                      </m:e>
                      <m:sup>
                        <m:r>
                          <a:rPr lang="en-US" sz="2000" b="0" i="1" smtClean="0">
                            <a:latin typeface="Cambria Math" panose="02040503050406030204" pitchFamily="18" charset="0"/>
                          </a:rPr>
                          <m:t>2</m:t>
                        </m:r>
                      </m:sup>
                    </m:sSup>
                    <m:r>
                      <a:rPr lang="en-US" sz="2000" b="0" i="1" smtClean="0">
                        <a:latin typeface="Cambria Math" panose="02040503050406030204" pitchFamily="18" charset="0"/>
                      </a:rPr>
                      <m:t>;0</m:t>
                    </m:r>
                    <m:r>
                      <a:rPr lang="en-US" sz="2000" b="0" i="1" smtClean="0">
                        <a:latin typeface="Cambria Math" panose="02040503050406030204" pitchFamily="18" charset="0"/>
                        <a:ea typeface="Cambria Math" panose="02040503050406030204" pitchFamily="18" charset="0"/>
                      </a:rPr>
                      <m:t>≤</m:t>
                    </m:r>
                    <m:r>
                      <a:rPr lang="en-US" sz="2000" b="0" i="1" smtClean="0">
                        <a:latin typeface="Cambria Math" panose="02040503050406030204" pitchFamily="18" charset="0"/>
                        <a:ea typeface="Cambria Math" panose="02040503050406030204" pitchFamily="18" charset="0"/>
                      </a:rPr>
                      <m:t>𝑥</m:t>
                    </m:r>
                    <m:r>
                      <a:rPr lang="en-US" sz="2000" b="0" i="1" smtClean="0">
                        <a:latin typeface="Cambria Math" panose="02040503050406030204" pitchFamily="18" charset="0"/>
                        <a:ea typeface="Cambria Math" panose="02040503050406030204" pitchFamily="18" charset="0"/>
                      </a:rPr>
                      <m:t>≤1</m:t>
                    </m:r>
                  </m:oMath>
                </a14:m>
                <a:r>
                  <a:rPr lang="en-US" sz="2000" dirty="0">
                    <a:latin typeface="+mj-lt"/>
                  </a:rPr>
                  <a:t>, then the </a:t>
                </a:r>
                <a14:m>
                  <m:oMath xmlns:m="http://schemas.openxmlformats.org/officeDocument/2006/math">
                    <m:r>
                      <a:rPr lang="en-US" sz="2000" b="0" i="1" smtClean="0">
                        <a:latin typeface="Cambria Math" panose="02040503050406030204" pitchFamily="18" charset="0"/>
                      </a:rPr>
                      <m:t>𝑃</m:t>
                    </m:r>
                    <m:d>
                      <m:dPr>
                        <m:ctrlPr>
                          <a:rPr lang="en-US" sz="2000" b="0" i="1" smtClean="0">
                            <a:latin typeface="Cambria Math" panose="02040503050406030204" pitchFamily="18" charset="0"/>
                          </a:rPr>
                        </m:ctrlPr>
                      </m:dPr>
                      <m:e>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3</m:t>
                            </m:r>
                          </m:den>
                        </m:f>
                        <m:r>
                          <a:rPr lang="en-US" sz="2000" b="0" i="1" smtClean="0">
                            <a:latin typeface="Cambria Math" panose="02040503050406030204" pitchFamily="18" charset="0"/>
                          </a:rPr>
                          <m:t>&lt;</m:t>
                        </m:r>
                        <m:r>
                          <a:rPr lang="en-US" sz="2000" b="0" i="1" smtClean="0">
                            <a:latin typeface="Cambria Math" panose="02040503050406030204" pitchFamily="18" charset="0"/>
                          </a:rPr>
                          <m:t>𝑥</m:t>
                        </m:r>
                        <m:r>
                          <a:rPr lang="en-US" sz="2000" b="0" i="1" smtClean="0">
                            <a:latin typeface="Cambria Math" panose="02040503050406030204" pitchFamily="18" charset="0"/>
                          </a:rPr>
                          <m:t>&lt;</m:t>
                        </m:r>
                        <m:f>
                          <m:fPr>
                            <m:ctrlPr>
                              <a:rPr lang="en-US" sz="2000" b="0" i="1" smtClean="0">
                                <a:latin typeface="Cambria Math" panose="02040503050406030204" pitchFamily="18" charset="0"/>
                              </a:rPr>
                            </m:ctrlPr>
                          </m:fPr>
                          <m:num>
                            <m:r>
                              <a:rPr lang="en-US" sz="2000" b="0" i="1" smtClean="0">
                                <a:latin typeface="Cambria Math" panose="02040503050406030204" pitchFamily="18" charset="0"/>
                              </a:rPr>
                              <m:t>1</m:t>
                            </m:r>
                          </m:num>
                          <m:den>
                            <m:r>
                              <a:rPr lang="en-US" sz="2000" b="0" i="1" smtClean="0">
                                <a:latin typeface="Cambria Math" panose="02040503050406030204" pitchFamily="18" charset="0"/>
                              </a:rPr>
                              <m:t>2</m:t>
                            </m:r>
                          </m:den>
                        </m:f>
                      </m:e>
                    </m:d>
                  </m:oMath>
                </a14:m>
                <a:r>
                  <a:rPr lang="en-US" sz="2000" dirty="0">
                    <a:latin typeface="+mj-lt"/>
                  </a:rPr>
                  <a:t> is _________.</a:t>
                </a: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5029200"/>
              </a:xfrm>
              <a:blipFill>
                <a:blip r:embed="rId2"/>
                <a:stretch>
                  <a:fillRect l="-815" t="-727" r="-1407"/>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p:txBody>
          <a:bodyPr/>
          <a:lstStyle/>
          <a:p>
            <a:fld id="{B6F15528-21DE-4FAA-801E-634DDDAF4B2B}" type="slidenum">
              <a:rPr lang="en-US" smtClean="0"/>
              <a:pPr/>
              <a:t>57</a:t>
            </a:fld>
            <a:endParaRPr lang="en-US"/>
          </a:p>
        </p:txBody>
      </p:sp>
      <p:sp>
        <p:nvSpPr>
          <p:cNvPr id="7"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Glossary Questions</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16368020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fade">
                                      <p:cBhvr>
                                        <p:cTn id="14" dur="1000"/>
                                        <p:tgtEl>
                                          <p:spTgt spid="3">
                                            <p:txEl>
                                              <p:pRg st="1" end="1"/>
                                            </p:txEl>
                                          </p:spTgt>
                                        </p:tgtEl>
                                      </p:cBhvr>
                                    </p:animEffect>
                                    <p:anim calcmode="lin" valueType="num">
                                      <p:cBhvr>
                                        <p:cTn id="15" dur="1000" fill="hold"/>
                                        <p:tgtEl>
                                          <p:spTgt spid="3">
                                            <p:txEl>
                                              <p:pRg st="1" end="1"/>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2" end="2"/>
                                            </p:txEl>
                                          </p:spTgt>
                                        </p:tgtEl>
                                        <p:attrNameLst>
                                          <p:attrName>style.visibility</p:attrName>
                                        </p:attrNameLst>
                                      </p:cBhvr>
                                      <p:to>
                                        <p:strVal val="visible"/>
                                      </p:to>
                                    </p:set>
                                    <p:animEffect transition="in" filter="fade">
                                      <p:cBhvr>
                                        <p:cTn id="21" dur="1000"/>
                                        <p:tgtEl>
                                          <p:spTgt spid="3">
                                            <p:txEl>
                                              <p:pRg st="2" end="2"/>
                                            </p:txEl>
                                          </p:spTgt>
                                        </p:tgtEl>
                                      </p:cBhvr>
                                    </p:animEffect>
                                    <p:anim calcmode="lin" valueType="num">
                                      <p:cBhvr>
                                        <p:cTn id="22"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3" end="3"/>
                                            </p:txEl>
                                          </p:spTgt>
                                        </p:tgtEl>
                                        <p:attrNameLst>
                                          <p:attrName>style.visibility</p:attrName>
                                        </p:attrNameLst>
                                      </p:cBhvr>
                                      <p:to>
                                        <p:strVal val="visible"/>
                                      </p:to>
                                    </p:set>
                                    <p:animEffect transition="in" filter="fade">
                                      <p:cBhvr>
                                        <p:cTn id="28" dur="1000"/>
                                        <p:tgtEl>
                                          <p:spTgt spid="3">
                                            <p:txEl>
                                              <p:pRg st="3" end="3"/>
                                            </p:txEl>
                                          </p:spTgt>
                                        </p:tgtEl>
                                      </p:cBhvr>
                                    </p:animEffect>
                                    <p:anim calcmode="lin" valueType="num">
                                      <p:cBhvr>
                                        <p:cTn id="29"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4" end="4"/>
                                            </p:txEl>
                                          </p:spTgt>
                                        </p:tgtEl>
                                        <p:attrNameLst>
                                          <p:attrName>style.visibility</p:attrName>
                                        </p:attrNameLst>
                                      </p:cBhvr>
                                      <p:to>
                                        <p:strVal val="visible"/>
                                      </p:to>
                                    </p:set>
                                    <p:animEffect transition="in" filter="fade">
                                      <p:cBhvr>
                                        <p:cTn id="35" dur="1000"/>
                                        <p:tgtEl>
                                          <p:spTgt spid="3">
                                            <p:txEl>
                                              <p:pRg st="4" end="4"/>
                                            </p:txEl>
                                          </p:spTgt>
                                        </p:tgtEl>
                                      </p:cBhvr>
                                    </p:animEffect>
                                    <p:anim calcmode="lin" valueType="num">
                                      <p:cBhvr>
                                        <p:cTn id="36"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5" end="5"/>
                                            </p:txEl>
                                          </p:spTgt>
                                        </p:tgtEl>
                                        <p:attrNameLst>
                                          <p:attrName>style.visibility</p:attrName>
                                        </p:attrNameLst>
                                      </p:cBhvr>
                                      <p:to>
                                        <p:strVal val="visible"/>
                                      </p:to>
                                    </p:set>
                                    <p:animEffect transition="in" filter="fade">
                                      <p:cBhvr>
                                        <p:cTn id="42" dur="1000"/>
                                        <p:tgtEl>
                                          <p:spTgt spid="3">
                                            <p:txEl>
                                              <p:pRg st="5" end="5"/>
                                            </p:txEl>
                                          </p:spTgt>
                                        </p:tgtEl>
                                      </p:cBhvr>
                                    </p:animEffect>
                                    <p:anim calcmode="lin" valueType="num">
                                      <p:cBhvr>
                                        <p:cTn id="43"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6" end="6"/>
                                            </p:txEl>
                                          </p:spTgt>
                                        </p:tgtEl>
                                        <p:attrNameLst>
                                          <p:attrName>style.visibility</p:attrName>
                                        </p:attrNameLst>
                                      </p:cBhvr>
                                      <p:to>
                                        <p:strVal val="visible"/>
                                      </p:to>
                                    </p:set>
                                    <p:animEffect transition="in" filter="fade">
                                      <p:cBhvr>
                                        <p:cTn id="49" dur="1000"/>
                                        <p:tgtEl>
                                          <p:spTgt spid="3">
                                            <p:txEl>
                                              <p:pRg st="6" end="6"/>
                                            </p:txEl>
                                          </p:spTgt>
                                        </p:tgtEl>
                                      </p:cBhvr>
                                    </p:animEffect>
                                    <p:anim calcmode="lin" valueType="num">
                                      <p:cBhvr>
                                        <p:cTn id="50"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876800"/>
          </a:xfrm>
        </p:spPr>
        <p:txBody>
          <a:bodyPr>
            <a:noAutofit/>
          </a:bodyPr>
          <a:lstStyle/>
          <a:p>
            <a:pPr marL="0" indent="0">
              <a:buNone/>
            </a:pPr>
            <a:r>
              <a:rPr lang="en-US" sz="2000" dirty="0"/>
              <a:t>Q1. Let X represents the difference between the number of heads and the number of tails obtained when a coin is tossed 6 times. What are possible values of X?</a:t>
            </a:r>
          </a:p>
          <a:p>
            <a:pPr marL="0" indent="0">
              <a:buNone/>
            </a:pPr>
            <a:endParaRPr lang="en-US" sz="2000" dirty="0"/>
          </a:p>
          <a:p>
            <a:pPr marL="0" indent="0">
              <a:buNone/>
            </a:pPr>
            <a:r>
              <a:rPr lang="en-US" sz="2000" dirty="0"/>
              <a:t>Q2. Find the probability distribution of</a:t>
            </a:r>
          </a:p>
          <a:p>
            <a:pPr marL="0" indent="0">
              <a:buNone/>
            </a:pPr>
            <a:r>
              <a:rPr lang="en-US" sz="2000" dirty="0"/>
              <a:t>(</a:t>
            </a:r>
            <a:r>
              <a:rPr lang="en-US" sz="2000" dirty="0" err="1"/>
              <a:t>i</a:t>
            </a:r>
            <a:r>
              <a:rPr lang="en-US" sz="2000" dirty="0"/>
              <a:t>) number of heads in two tosses of a coin</a:t>
            </a:r>
          </a:p>
          <a:p>
            <a:pPr marL="0" indent="0">
              <a:buNone/>
            </a:pPr>
            <a:r>
              <a:rPr lang="en-US" sz="2000" dirty="0"/>
              <a:t>(ii) number of tails in the simultaneous tosses of three coins</a:t>
            </a:r>
          </a:p>
          <a:p>
            <a:pPr marL="0" indent="0">
              <a:buNone/>
            </a:pPr>
            <a:r>
              <a:rPr lang="en-US" sz="2000" dirty="0"/>
              <a:t>(iii) number of heads in four tosses of a coin</a:t>
            </a:r>
          </a:p>
          <a:p>
            <a:pPr marL="0" indent="0">
              <a:buNone/>
            </a:pPr>
            <a:endParaRPr lang="en-US" sz="2000" dirty="0"/>
          </a:p>
          <a:p>
            <a:pPr marL="0" indent="0">
              <a:buNone/>
            </a:pPr>
            <a:r>
              <a:rPr lang="en-US" sz="2000" dirty="0"/>
              <a:t>Q3 Find the probability distribution of the number of success in two tosses of die, where a success</a:t>
            </a:r>
          </a:p>
          <a:p>
            <a:pPr marL="0" indent="0">
              <a:buNone/>
            </a:pPr>
            <a:r>
              <a:rPr lang="en-US" sz="2000" dirty="0"/>
              <a:t>is defined as</a:t>
            </a:r>
          </a:p>
          <a:p>
            <a:pPr marL="0" indent="0">
              <a:buNone/>
            </a:pPr>
            <a:r>
              <a:rPr lang="en-US" sz="2000" dirty="0"/>
              <a:t>(</a:t>
            </a:r>
            <a:r>
              <a:rPr lang="en-US" sz="2000" dirty="0" err="1"/>
              <a:t>i</a:t>
            </a:r>
            <a:r>
              <a:rPr lang="en-US" sz="2000" dirty="0"/>
              <a:t>) number greater than 4</a:t>
            </a:r>
          </a:p>
        </p:txBody>
      </p:sp>
      <p:sp>
        <p:nvSpPr>
          <p:cNvPr id="6" name="Slide Number Placeholder 5"/>
          <p:cNvSpPr>
            <a:spLocks noGrp="1"/>
          </p:cNvSpPr>
          <p:nvPr>
            <p:ph type="sldNum" sz="quarter" idx="12"/>
          </p:nvPr>
        </p:nvSpPr>
        <p:spPr/>
        <p:txBody>
          <a:bodyPr/>
          <a:lstStyle/>
          <a:p>
            <a:fld id="{B6F15528-21DE-4FAA-801E-634DDDAF4B2B}" type="slidenum">
              <a:rPr lang="en-US" smtClean="0"/>
              <a:pPr/>
              <a:t>58</a:t>
            </a:fld>
            <a:endParaRPr lang="en-US"/>
          </a:p>
        </p:txBody>
      </p:sp>
      <p:sp>
        <p:nvSpPr>
          <p:cNvPr id="7"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Expected University Questions</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9492502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2" end="2"/>
                                            </p:txEl>
                                          </p:spTgt>
                                        </p:tgtEl>
                                        <p:attrNameLst>
                                          <p:attrName>style.visibility</p:attrName>
                                        </p:attrNameLst>
                                      </p:cBhvr>
                                      <p:to>
                                        <p:strVal val="visible"/>
                                      </p:to>
                                    </p:set>
                                    <p:animEffect transition="in" filter="fade">
                                      <p:cBhvr>
                                        <p:cTn id="14" dur="1000"/>
                                        <p:tgtEl>
                                          <p:spTgt spid="3">
                                            <p:txEl>
                                              <p:pRg st="2" end="2"/>
                                            </p:txEl>
                                          </p:spTgt>
                                        </p:tgtEl>
                                      </p:cBhvr>
                                    </p:animEffect>
                                    <p:anim calcmode="lin" valueType="num">
                                      <p:cBhvr>
                                        <p:cTn id="15" dur="1000" fill="hold"/>
                                        <p:tgtEl>
                                          <p:spTgt spid="3">
                                            <p:txEl>
                                              <p:pRg st="2" end="2"/>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3" end="3"/>
                                            </p:txEl>
                                          </p:spTgt>
                                        </p:tgtEl>
                                        <p:attrNameLst>
                                          <p:attrName>style.visibility</p:attrName>
                                        </p:attrNameLst>
                                      </p:cBhvr>
                                      <p:to>
                                        <p:strVal val="visible"/>
                                      </p:to>
                                    </p:set>
                                    <p:animEffect transition="in" filter="fade">
                                      <p:cBhvr>
                                        <p:cTn id="21" dur="1000"/>
                                        <p:tgtEl>
                                          <p:spTgt spid="3">
                                            <p:txEl>
                                              <p:pRg st="3" end="3"/>
                                            </p:txEl>
                                          </p:spTgt>
                                        </p:tgtEl>
                                      </p:cBhvr>
                                    </p:animEffect>
                                    <p:anim calcmode="lin" valueType="num">
                                      <p:cBhvr>
                                        <p:cTn id="22" dur="1000" fill="hold"/>
                                        <p:tgtEl>
                                          <p:spTgt spid="3">
                                            <p:txEl>
                                              <p:pRg st="3" end="3"/>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4" end="4"/>
                                            </p:txEl>
                                          </p:spTgt>
                                        </p:tgtEl>
                                        <p:attrNameLst>
                                          <p:attrName>style.visibility</p:attrName>
                                        </p:attrNameLst>
                                      </p:cBhvr>
                                      <p:to>
                                        <p:strVal val="visible"/>
                                      </p:to>
                                    </p:set>
                                    <p:animEffect transition="in" filter="fade">
                                      <p:cBhvr>
                                        <p:cTn id="28" dur="1000"/>
                                        <p:tgtEl>
                                          <p:spTgt spid="3">
                                            <p:txEl>
                                              <p:pRg st="4" end="4"/>
                                            </p:txEl>
                                          </p:spTgt>
                                        </p:tgtEl>
                                      </p:cBhvr>
                                    </p:animEffect>
                                    <p:anim calcmode="lin" valueType="num">
                                      <p:cBhvr>
                                        <p:cTn id="29"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5" end="5"/>
                                            </p:txEl>
                                          </p:spTgt>
                                        </p:tgtEl>
                                        <p:attrNameLst>
                                          <p:attrName>style.visibility</p:attrName>
                                        </p:attrNameLst>
                                      </p:cBhvr>
                                      <p:to>
                                        <p:strVal val="visible"/>
                                      </p:to>
                                    </p:set>
                                    <p:animEffect transition="in" filter="fade">
                                      <p:cBhvr>
                                        <p:cTn id="35" dur="1000"/>
                                        <p:tgtEl>
                                          <p:spTgt spid="3">
                                            <p:txEl>
                                              <p:pRg st="5" end="5"/>
                                            </p:txEl>
                                          </p:spTgt>
                                        </p:tgtEl>
                                      </p:cBhvr>
                                    </p:animEffect>
                                    <p:anim calcmode="lin" valueType="num">
                                      <p:cBhvr>
                                        <p:cTn id="36"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7" end="7"/>
                                            </p:txEl>
                                          </p:spTgt>
                                        </p:tgtEl>
                                        <p:attrNameLst>
                                          <p:attrName>style.visibility</p:attrName>
                                        </p:attrNameLst>
                                      </p:cBhvr>
                                      <p:to>
                                        <p:strVal val="visible"/>
                                      </p:to>
                                    </p:set>
                                    <p:animEffect transition="in" filter="fade">
                                      <p:cBhvr>
                                        <p:cTn id="42" dur="1000"/>
                                        <p:tgtEl>
                                          <p:spTgt spid="3">
                                            <p:txEl>
                                              <p:pRg st="7" end="7"/>
                                            </p:txEl>
                                          </p:spTgt>
                                        </p:tgtEl>
                                      </p:cBhvr>
                                    </p:animEffect>
                                    <p:anim calcmode="lin" valueType="num">
                                      <p:cBhvr>
                                        <p:cTn id="43"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8" end="8"/>
                                            </p:txEl>
                                          </p:spTgt>
                                        </p:tgtEl>
                                        <p:attrNameLst>
                                          <p:attrName>style.visibility</p:attrName>
                                        </p:attrNameLst>
                                      </p:cBhvr>
                                      <p:to>
                                        <p:strVal val="visible"/>
                                      </p:to>
                                    </p:set>
                                    <p:animEffect transition="in" filter="fade">
                                      <p:cBhvr>
                                        <p:cTn id="49" dur="1000"/>
                                        <p:tgtEl>
                                          <p:spTgt spid="3">
                                            <p:txEl>
                                              <p:pRg st="8" end="8"/>
                                            </p:txEl>
                                          </p:spTgt>
                                        </p:tgtEl>
                                      </p:cBhvr>
                                    </p:animEffect>
                                    <p:anim calcmode="lin" valueType="num">
                                      <p:cBhvr>
                                        <p:cTn id="50"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9" end="9"/>
                                            </p:txEl>
                                          </p:spTgt>
                                        </p:tgtEl>
                                        <p:attrNameLst>
                                          <p:attrName>style.visibility</p:attrName>
                                        </p:attrNameLst>
                                      </p:cBhvr>
                                      <p:to>
                                        <p:strVal val="visible"/>
                                      </p:to>
                                    </p:set>
                                    <p:animEffect transition="in" filter="fade">
                                      <p:cBhvr>
                                        <p:cTn id="56" dur="1000"/>
                                        <p:tgtEl>
                                          <p:spTgt spid="3">
                                            <p:txEl>
                                              <p:pRg st="9" end="9"/>
                                            </p:txEl>
                                          </p:spTgt>
                                        </p:tgtEl>
                                      </p:cBhvr>
                                    </p:animEffect>
                                    <p:anim calcmode="lin" valueType="num">
                                      <p:cBhvr>
                                        <p:cTn id="57"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525963"/>
              </a:xfrm>
            </p:spPr>
            <p:txBody>
              <a:bodyPr>
                <a:noAutofit/>
              </a:bodyPr>
              <a:lstStyle/>
              <a:p>
                <a:pPr marL="0" indent="0">
                  <a:buNone/>
                </a:pPr>
                <a:r>
                  <a:rPr lang="en-US" sz="2000" dirty="0"/>
                  <a:t>Q4. A random variable 𝑋 has the following probability mass function:</a:t>
                </a:r>
              </a:p>
              <a:p>
                <a:pPr marL="0" lvl="0" indent="0">
                  <a:buNone/>
                </a:pPr>
                <a:endParaRPr lang="en-US" sz="2000" dirty="0"/>
              </a:p>
              <a:p>
                <a:pPr marL="0" lvl="0" indent="0">
                  <a:buNone/>
                </a:pPr>
                <a:endParaRPr lang="en-US" sz="2000" dirty="0"/>
              </a:p>
              <a:p>
                <a:pPr marL="0" lvl="0" indent="0">
                  <a:buNone/>
                </a:pPr>
                <a:endParaRPr lang="en-US" sz="2000" dirty="0"/>
              </a:p>
              <a:p>
                <a:pPr lvl="0">
                  <a:spcBef>
                    <a:spcPts val="0"/>
                  </a:spcBef>
                  <a:buFont typeface="+mj-lt"/>
                  <a:buAutoNum type="romanUcPeriod"/>
                  <a:tabLst>
                    <a:tab pos="525780" algn="l"/>
                  </a:tabLst>
                </a:pPr>
                <a:r>
                  <a:rPr lang="en-US" sz="2000" dirty="0">
                    <a:ea typeface="Times New Roman" panose="02020603050405020304" pitchFamily="18" charset="0"/>
                  </a:rPr>
                  <a:t>Find</a:t>
                </a:r>
                <a:r>
                  <a:rPr lang="en-US" sz="2000" spc="-10" dirty="0">
                    <a:ea typeface="Times New Roman" panose="02020603050405020304" pitchFamily="18" charset="0"/>
                  </a:rPr>
                  <a:t> </a:t>
                </a:r>
                <a:r>
                  <a:rPr lang="en-US" sz="2000" spc="20" dirty="0">
                    <a:latin typeface="Cambria Math" panose="02040503050406030204" pitchFamily="18" charset="0"/>
                    <a:ea typeface="Tinos"/>
                    <a:cs typeface="Cambria Math" panose="02040503050406030204" pitchFamily="18" charset="0"/>
                  </a:rPr>
                  <a:t>𝑐</a:t>
                </a:r>
                <a:r>
                  <a:rPr lang="en-US" sz="2000" spc="20" dirty="0">
                    <a:ea typeface="Tinos"/>
                  </a:rPr>
                  <a:t>.</a:t>
                </a:r>
                <a:endParaRPr lang="en-US" sz="2000" dirty="0">
                  <a:ea typeface="Times New Roman" panose="02020603050405020304" pitchFamily="18" charset="0"/>
                </a:endParaRPr>
              </a:p>
              <a:p>
                <a:pPr lvl="0">
                  <a:spcBef>
                    <a:spcPts val="0"/>
                  </a:spcBef>
                  <a:buFont typeface="+mj-lt"/>
                  <a:buAutoNum type="romanUcPeriod"/>
                </a:pPr>
                <a:r>
                  <a:rPr lang="en-US" sz="2000" dirty="0">
                    <a:ea typeface="Times New Roman" panose="02020603050405020304" pitchFamily="18" charset="0"/>
                  </a:rPr>
                  <a:t>Evaluate</a:t>
                </a:r>
                <a:r>
                  <a:rPr lang="en-US" sz="2000" spc="-105" dirty="0">
                    <a:ea typeface="Times New Roman" panose="02020603050405020304" pitchFamily="18" charset="0"/>
                  </a:rPr>
                  <a:t> </a:t>
                </a:r>
                <a:r>
                  <a:rPr lang="en-US" sz="2000" dirty="0">
                    <a:ea typeface="Tinos"/>
                  </a:rPr>
                  <a:t>(</a:t>
                </a:r>
                <a:r>
                  <a:rPr lang="en-US" sz="2000" dirty="0">
                    <a:latin typeface="Cambria Math" panose="02040503050406030204" pitchFamily="18" charset="0"/>
                    <a:ea typeface="Tinos"/>
                    <a:cs typeface="Cambria Math" panose="02040503050406030204" pitchFamily="18" charset="0"/>
                  </a:rPr>
                  <a:t>𝑋</a:t>
                </a:r>
                <a:r>
                  <a:rPr lang="en-US" sz="2000" spc="-70" dirty="0">
                    <a:ea typeface="Tinos"/>
                  </a:rPr>
                  <a:t> </a:t>
                </a:r>
                <a:r>
                  <a:rPr lang="en-US" sz="2000" dirty="0">
                    <a:ea typeface="Tinos"/>
                  </a:rPr>
                  <a:t>&lt;</a:t>
                </a:r>
                <a:r>
                  <a:rPr lang="en-US" sz="2000" spc="-80" dirty="0">
                    <a:ea typeface="Tinos"/>
                  </a:rPr>
                  <a:t> </a:t>
                </a:r>
                <a:r>
                  <a:rPr lang="en-US" sz="2000" dirty="0">
                    <a:ea typeface="Tinos"/>
                  </a:rPr>
                  <a:t>2),</a:t>
                </a:r>
                <a:r>
                  <a:rPr lang="en-US" sz="2000" spc="-185" dirty="0">
                    <a:ea typeface="Tinos"/>
                  </a:rPr>
                  <a:t> </a:t>
                </a:r>
                <a:r>
                  <a:rPr lang="en-US" sz="2000" dirty="0">
                    <a:ea typeface="Tinos"/>
                  </a:rPr>
                  <a:t>(2</a:t>
                </a:r>
                <a:r>
                  <a:rPr lang="en-US" sz="2000" dirty="0">
                    <a:latin typeface="Cambria Math" panose="02040503050406030204" pitchFamily="18" charset="0"/>
                    <a:ea typeface="Tinos"/>
                    <a:cs typeface="Cambria Math" panose="02040503050406030204" pitchFamily="18" charset="0"/>
                  </a:rPr>
                  <a:t>𝑋</a:t>
                </a:r>
                <a:r>
                  <a:rPr lang="en-US" sz="2000" spc="-110" dirty="0">
                    <a:ea typeface="Tinos"/>
                  </a:rPr>
                  <a:t> </a:t>
                </a:r>
                <a:r>
                  <a:rPr lang="en-US" sz="2000" dirty="0">
                    <a:ea typeface="Tinos"/>
                  </a:rPr>
                  <a:t>+</a:t>
                </a:r>
                <a:r>
                  <a:rPr lang="en-US" sz="2000" spc="-135" dirty="0">
                    <a:ea typeface="Tinos"/>
                  </a:rPr>
                  <a:t> </a:t>
                </a:r>
                <a:r>
                  <a:rPr lang="en-US" sz="2000" dirty="0">
                    <a:ea typeface="Tinos"/>
                  </a:rPr>
                  <a:t>3</a:t>
                </a:r>
                <a:r>
                  <a:rPr lang="en-US" sz="2000" spc="-85" dirty="0">
                    <a:ea typeface="Tinos"/>
                  </a:rPr>
                  <a:t> </a:t>
                </a:r>
                <a:r>
                  <a:rPr lang="en-US" sz="2000" dirty="0">
                    <a:ea typeface="Tinos"/>
                  </a:rPr>
                  <a:t>≥</a:t>
                </a:r>
                <a:r>
                  <a:rPr lang="en-US" sz="2000" spc="-85" dirty="0">
                    <a:ea typeface="Tinos"/>
                  </a:rPr>
                  <a:t> </a:t>
                </a:r>
                <a:r>
                  <a:rPr lang="en-US" sz="2000" dirty="0">
                    <a:ea typeface="Tinos"/>
                  </a:rPr>
                  <a:t>5)</a:t>
                </a:r>
                <a:r>
                  <a:rPr lang="en-US" sz="2000" spc="-95" dirty="0">
                    <a:ea typeface="Tinos"/>
                  </a:rPr>
                  <a:t> </a:t>
                </a:r>
                <a:r>
                  <a:rPr lang="en-US" sz="2000" dirty="0">
                    <a:ea typeface="Times New Roman" panose="02020603050405020304" pitchFamily="18" charset="0"/>
                  </a:rPr>
                  <a:t>and</a:t>
                </a:r>
                <a:r>
                  <a:rPr lang="en-US" sz="2000" spc="-105" dirty="0">
                    <a:ea typeface="Times New Roman" panose="02020603050405020304" pitchFamily="18" charset="0"/>
                  </a:rPr>
                  <a:t> </a:t>
                </a:r>
                <a:r>
                  <a:rPr lang="en-US" sz="2000" dirty="0">
                    <a:ea typeface="Tinos"/>
                  </a:rPr>
                  <a:t>(1</a:t>
                </a:r>
                <a:r>
                  <a:rPr lang="en-US" sz="2000" spc="-85" dirty="0">
                    <a:ea typeface="Tinos"/>
                  </a:rPr>
                  <a:t> </a:t>
                </a:r>
                <a:r>
                  <a:rPr lang="en-US" sz="2000" dirty="0">
                    <a:ea typeface="Tinos"/>
                  </a:rPr>
                  <a:t>&lt;</a:t>
                </a:r>
                <a:r>
                  <a:rPr lang="en-US" sz="2000" spc="-80" dirty="0">
                    <a:ea typeface="Tinos"/>
                  </a:rPr>
                  <a:t> </a:t>
                </a:r>
                <a:r>
                  <a:rPr lang="en-US" sz="2000" dirty="0">
                    <a:latin typeface="Cambria Math" panose="02040503050406030204" pitchFamily="18" charset="0"/>
                    <a:ea typeface="Tinos"/>
                    <a:cs typeface="Cambria Math" panose="02040503050406030204" pitchFamily="18" charset="0"/>
                  </a:rPr>
                  <a:t>𝑋</a:t>
                </a:r>
                <a:r>
                  <a:rPr lang="en-US" sz="2000" spc="-65" dirty="0">
                    <a:ea typeface="Tinos"/>
                  </a:rPr>
                  <a:t> </a:t>
                </a:r>
                <a:r>
                  <a:rPr lang="en-US" sz="2000" dirty="0">
                    <a:ea typeface="Tinos"/>
                  </a:rPr>
                  <a:t>≤</a:t>
                </a:r>
                <a:r>
                  <a:rPr lang="en-US" sz="2000" spc="-80" dirty="0">
                    <a:ea typeface="Tinos"/>
                  </a:rPr>
                  <a:t> </a:t>
                </a:r>
                <a:r>
                  <a:rPr lang="en-US" sz="2000" dirty="0">
                    <a:ea typeface="Tinos"/>
                  </a:rPr>
                  <a:t>2).</a:t>
                </a:r>
                <a:endParaRPr lang="en-US" sz="2000" dirty="0">
                  <a:ea typeface="Times New Roman" panose="02020603050405020304" pitchFamily="18" charset="0"/>
                </a:endParaRPr>
              </a:p>
              <a:p>
                <a:pPr lvl="0">
                  <a:spcBef>
                    <a:spcPts val="0"/>
                  </a:spcBef>
                  <a:buFont typeface="+mj-lt"/>
                  <a:buAutoNum type="romanUcPeriod"/>
                </a:pPr>
                <a:r>
                  <a:rPr lang="en-US" sz="2000" dirty="0">
                    <a:ea typeface="Times New Roman" panose="02020603050405020304" pitchFamily="18" charset="0"/>
                  </a:rPr>
                  <a:t>If</a:t>
                </a:r>
                <a:r>
                  <a:rPr lang="en-US" sz="2000" spc="-120" dirty="0">
                    <a:ea typeface="Times New Roman" panose="02020603050405020304" pitchFamily="18" charset="0"/>
                  </a:rPr>
                  <a:t> </a:t>
                </a:r>
                <a:r>
                  <a:rPr lang="en-US" sz="2000" dirty="0">
                    <a:ea typeface="Tinos"/>
                  </a:rPr>
                  <a:t>(</a:t>
                </a:r>
                <a:r>
                  <a:rPr lang="en-US" sz="2000" dirty="0">
                    <a:latin typeface="Cambria Math" panose="02040503050406030204" pitchFamily="18" charset="0"/>
                    <a:ea typeface="Tinos"/>
                    <a:cs typeface="Cambria Math" panose="02040503050406030204" pitchFamily="18" charset="0"/>
                  </a:rPr>
                  <a:t>𝑋</a:t>
                </a:r>
                <a:r>
                  <a:rPr lang="en-US" sz="2000" spc="-85" dirty="0">
                    <a:ea typeface="Tinos"/>
                  </a:rPr>
                  <a:t> </a:t>
                </a:r>
                <a:r>
                  <a:rPr lang="en-US" sz="2000" dirty="0">
                    <a:ea typeface="Tinos"/>
                  </a:rPr>
                  <a:t>≤</a:t>
                </a:r>
                <a:r>
                  <a:rPr lang="en-US" sz="2000" spc="-110" dirty="0">
                    <a:ea typeface="Tinos"/>
                  </a:rPr>
                  <a:t> </a:t>
                </a:r>
                <a:r>
                  <a:rPr lang="en-US" sz="2000" spc="10" dirty="0">
                    <a:latin typeface="Cambria Math" panose="02040503050406030204" pitchFamily="18" charset="0"/>
                    <a:ea typeface="Tinos"/>
                    <a:cs typeface="Cambria Math" panose="02040503050406030204" pitchFamily="18" charset="0"/>
                  </a:rPr>
                  <a:t>𝑎</a:t>
                </a:r>
                <a:r>
                  <a:rPr lang="en-US" sz="2000" spc="10" dirty="0">
                    <a:ea typeface="Tinos"/>
                  </a:rPr>
                  <a:t>)</a:t>
                </a:r>
                <a:r>
                  <a:rPr lang="en-US" sz="2000" spc="-100" dirty="0">
                    <a:ea typeface="Tinos"/>
                  </a:rPr>
                  <a:t> </a:t>
                </a:r>
                <a:r>
                  <a:rPr lang="en-US" sz="2000" dirty="0">
                    <a:ea typeface="Tinos"/>
                  </a:rPr>
                  <a:t>&lt;</a:t>
                </a:r>
                <a:r>
                  <a:rPr lang="en-US" sz="2000" spc="-115" dirty="0">
                    <a:ea typeface="Tinos"/>
                  </a:rPr>
                  <a:t> 1 ,  </a:t>
                </a:r>
                <a:r>
                  <a:rPr lang="en-US" sz="2000" dirty="0">
                    <a:ea typeface="Times New Roman" panose="02020603050405020304" pitchFamily="18" charset="0"/>
                  </a:rPr>
                  <a:t>find</a:t>
                </a:r>
                <a:r>
                  <a:rPr lang="en-US" sz="2000" spc="-120" dirty="0">
                    <a:ea typeface="Times New Roman" panose="02020603050405020304" pitchFamily="18" charset="0"/>
                  </a:rPr>
                  <a:t> </a:t>
                </a:r>
                <a:r>
                  <a:rPr lang="en-US" sz="2000" dirty="0">
                    <a:ea typeface="Times New Roman" panose="02020603050405020304" pitchFamily="18" charset="0"/>
                  </a:rPr>
                  <a:t>the</a:t>
                </a:r>
                <a:r>
                  <a:rPr lang="en-US" sz="2000" spc="-120" dirty="0">
                    <a:ea typeface="Times New Roman" panose="02020603050405020304" pitchFamily="18" charset="0"/>
                  </a:rPr>
                  <a:t> </a:t>
                </a:r>
                <a:r>
                  <a:rPr lang="en-US" sz="2000" dirty="0">
                    <a:ea typeface="Times New Roman" panose="02020603050405020304" pitchFamily="18" charset="0"/>
                  </a:rPr>
                  <a:t>maximum</a:t>
                </a:r>
                <a:r>
                  <a:rPr lang="en-US" sz="2000" spc="-120" dirty="0">
                    <a:ea typeface="Times New Roman" panose="02020603050405020304" pitchFamily="18" charset="0"/>
                  </a:rPr>
                  <a:t> </a:t>
                </a:r>
                <a:r>
                  <a:rPr lang="en-US" sz="2000" dirty="0">
                    <a:ea typeface="Times New Roman" panose="02020603050405020304" pitchFamily="18" charset="0"/>
                  </a:rPr>
                  <a:t>value</a:t>
                </a:r>
                <a:r>
                  <a:rPr lang="en-US" sz="2000" spc="-125" dirty="0">
                    <a:ea typeface="Times New Roman" panose="02020603050405020304" pitchFamily="18" charset="0"/>
                  </a:rPr>
                  <a:t> </a:t>
                </a:r>
                <a:r>
                  <a:rPr lang="en-US" sz="2000" dirty="0">
                    <a:ea typeface="Times New Roman" panose="02020603050405020304" pitchFamily="18" charset="0"/>
                  </a:rPr>
                  <a:t>of</a:t>
                </a:r>
                <a:r>
                  <a:rPr lang="en-US" sz="2000" spc="-115" dirty="0">
                    <a:ea typeface="Times New Roman" panose="02020603050405020304" pitchFamily="18" charset="0"/>
                  </a:rPr>
                  <a:t> </a:t>
                </a:r>
                <a:r>
                  <a:rPr lang="en-US" sz="2000" spc="10" dirty="0">
                    <a:latin typeface="Cambria Math" panose="02040503050406030204" pitchFamily="18" charset="0"/>
                    <a:ea typeface="Tinos"/>
                    <a:cs typeface="Cambria Math" panose="02040503050406030204" pitchFamily="18" charset="0"/>
                  </a:rPr>
                  <a:t>𝑎</a:t>
                </a:r>
                <a:r>
                  <a:rPr lang="en-US" sz="2000" spc="10" dirty="0">
                    <a:ea typeface="Tinos"/>
                  </a:rPr>
                  <a:t>.</a:t>
                </a:r>
                <a:endParaRPr lang="en-US" sz="2000" dirty="0">
                  <a:ea typeface="Times New Roman" panose="02020603050405020304" pitchFamily="18" charset="0"/>
                </a:endParaRPr>
              </a:p>
              <a:p>
                <a:pPr marL="0" indent="0">
                  <a:buNone/>
                </a:pPr>
                <a:r>
                  <a:rPr lang="en-US" sz="2000" dirty="0">
                    <a:ea typeface="Times New Roman" panose="02020603050405020304" pitchFamily="18" charset="0"/>
                  </a:rPr>
                  <a:t>Q5. If X and Y are two random variables having joint density function:</a:t>
                </a:r>
              </a:p>
              <a:p>
                <a:pPr marL="0" indent="0">
                  <a:buNone/>
                </a:pPr>
                <a14:m>
                  <m:oMathPara xmlns:m="http://schemas.openxmlformats.org/officeDocument/2006/math">
                    <m:oMathParaPr>
                      <m:jc m:val="centerGroup"/>
                    </m:oMathParaPr>
                    <m:oMath xmlns:m="http://schemas.openxmlformats.org/officeDocument/2006/math">
                      <m:r>
                        <a:rPr lang="en-US" sz="2000" i="1">
                          <a:latin typeface="Cambria Math" panose="02040503050406030204" pitchFamily="18" charset="0"/>
                        </a:rPr>
                        <m:t>𝑓</m:t>
                      </m:r>
                      <m:d>
                        <m:dPr>
                          <m:ctrlPr>
                            <a:rPr lang="en-US" sz="2000" i="1">
                              <a:latin typeface="Cambria Math" panose="02040503050406030204" pitchFamily="18" charset="0"/>
                            </a:rPr>
                          </m:ctrlPr>
                        </m:dPr>
                        <m:e>
                          <m:r>
                            <a:rPr lang="en-US" sz="2000" i="1">
                              <a:latin typeface="Cambria Math" panose="02040503050406030204" pitchFamily="18" charset="0"/>
                            </a:rPr>
                            <m:t>𝑥</m:t>
                          </m:r>
                          <m:r>
                            <a:rPr lang="en-US" sz="2000">
                              <a:latin typeface="Cambria Math" panose="02040503050406030204" pitchFamily="18" charset="0"/>
                            </a:rPr>
                            <m:t>,</m:t>
                          </m:r>
                          <m:r>
                            <a:rPr lang="en-US" sz="2000" i="1">
                              <a:latin typeface="Cambria Math" panose="02040503050406030204" pitchFamily="18" charset="0"/>
                            </a:rPr>
                            <m:t>𝑦</m:t>
                          </m:r>
                        </m:e>
                      </m:d>
                      <m:r>
                        <a:rPr lang="en-US" sz="2000" i="1">
                          <a:latin typeface="Cambria Math" panose="02040503050406030204" pitchFamily="18" charset="0"/>
                        </a:rPr>
                        <m:t>     </m:t>
                      </m:r>
                      <m:r>
                        <a:rPr lang="en-US" sz="2000">
                          <a:latin typeface="Cambria Math" panose="02040503050406030204" pitchFamily="18" charset="0"/>
                        </a:rPr>
                        <m:t>=</m:t>
                      </m:r>
                      <m:d>
                        <m:dPr>
                          <m:begChr m:val="{"/>
                          <m:endChr m:val=""/>
                          <m:ctrlPr>
                            <a:rPr lang="en-US" sz="2000" i="1">
                              <a:latin typeface="Cambria Math" panose="02040503050406030204" pitchFamily="18" charset="0"/>
                            </a:rPr>
                          </m:ctrlPr>
                        </m:dPr>
                        <m:e>
                          <m:eqArr>
                            <m:eqArrPr>
                              <m:ctrlPr>
                                <a:rPr lang="en-US" sz="2000" i="1">
                                  <a:latin typeface="Cambria Math" panose="02040503050406030204" pitchFamily="18" charset="0"/>
                                </a:rPr>
                              </m:ctrlPr>
                            </m:eqArrPr>
                            <m:e>
                              <m:r>
                                <a:rPr lang="en-US" sz="2000">
                                  <a:latin typeface="Cambria Math" panose="02040503050406030204" pitchFamily="18" charset="0"/>
                                </a:rPr>
                                <m:t>&amp;6</m:t>
                              </m:r>
                              <m:d>
                                <m:dPr>
                                  <m:ctrlPr>
                                    <a:rPr lang="en-US" sz="2000" i="1">
                                      <a:latin typeface="Cambria Math" panose="02040503050406030204" pitchFamily="18" charset="0"/>
                                    </a:rPr>
                                  </m:ctrlPr>
                                </m:dPr>
                                <m:e>
                                  <m:r>
                                    <a:rPr lang="en-US" sz="2000">
                                      <a:latin typeface="Cambria Math" panose="02040503050406030204" pitchFamily="18" charset="0"/>
                                    </a:rPr>
                                    <m:t>1−</m:t>
                                  </m:r>
                                  <m:r>
                                    <a:rPr lang="en-US" sz="2000" i="1">
                                      <a:latin typeface="Cambria Math" panose="02040503050406030204" pitchFamily="18" charset="0"/>
                                    </a:rPr>
                                    <m:t>𝑥</m:t>
                                  </m:r>
                                  <m:r>
                                    <a:rPr lang="en-US" sz="2000">
                                      <a:latin typeface="Cambria Math" panose="02040503050406030204" pitchFamily="18" charset="0"/>
                                    </a:rPr>
                                    <m:t>−</m:t>
                                  </m:r>
                                  <m:r>
                                    <a:rPr lang="en-US" sz="2000" i="1">
                                      <a:latin typeface="Cambria Math" panose="02040503050406030204" pitchFamily="18" charset="0"/>
                                    </a:rPr>
                                    <m:t>𝑦</m:t>
                                  </m:r>
                                </m:e>
                              </m:d>
                              <m:r>
                                <a:rPr lang="en-US" sz="2000">
                                  <a:latin typeface="Cambria Math" panose="02040503050406030204" pitchFamily="18" charset="0"/>
                                </a:rPr>
                                <m:t>    0≤</m:t>
                              </m:r>
                              <m:r>
                                <a:rPr lang="en-US" sz="2000" i="1">
                                  <a:latin typeface="Cambria Math" panose="02040503050406030204" pitchFamily="18" charset="0"/>
                                </a:rPr>
                                <m:t>𝑥</m:t>
                              </m:r>
                              <m:r>
                                <a:rPr lang="en-US" sz="2000">
                                  <a:latin typeface="Cambria Math" panose="02040503050406030204" pitchFamily="18" charset="0"/>
                                </a:rPr>
                                <m:t>&lt;2, 2≤</m:t>
                              </m:r>
                              <m:r>
                                <a:rPr lang="en-US" sz="2000" i="1">
                                  <a:latin typeface="Cambria Math" panose="02040503050406030204" pitchFamily="18" charset="0"/>
                                </a:rPr>
                                <m:t>𝑦</m:t>
                              </m:r>
                              <m:r>
                                <a:rPr lang="en-US" sz="2000">
                                  <a:latin typeface="Cambria Math" panose="02040503050406030204" pitchFamily="18" charset="0"/>
                                </a:rPr>
                                <m:t>&lt;4</m:t>
                              </m:r>
                            </m:e>
                            <m:e>
                              <m:r>
                                <a:rPr lang="en-US" sz="2000">
                                  <a:latin typeface="Cambria Math" panose="02040503050406030204" pitchFamily="18" charset="0"/>
                                </a:rPr>
                                <m:t>&amp; 0                 </m:t>
                              </m:r>
                              <m:r>
                                <a:rPr lang="en-US" sz="2000" i="1">
                                  <a:latin typeface="Cambria Math" panose="02040503050406030204" pitchFamily="18" charset="0"/>
                                </a:rPr>
                                <m:t>𝑒𝑙𝑠𝑒𝑤h𝑒𝑟𝑒</m:t>
                              </m:r>
                            </m:e>
                          </m:eqArr>
                        </m:e>
                      </m:d>
                    </m:oMath>
                  </m:oMathPara>
                </a14:m>
                <a:endParaRPr lang="en-US" sz="2000" dirty="0"/>
              </a:p>
              <a:p>
                <a:pPr marL="0" indent="0">
                  <a:buNone/>
                </a:pPr>
                <a:r>
                  <a:rPr lang="en-US" sz="2000" dirty="0"/>
                  <a:t>Find marginal density function of 𝑋 and 𝑌. Hence examine if 𝑋 and 𝑌 are independent</a:t>
                </a:r>
              </a:p>
              <a:p>
                <a:pPr marL="0" indent="0">
                  <a:buNone/>
                </a:pPr>
                <a:r>
                  <a:rPr lang="en-US" sz="2000" dirty="0">
                    <a:ea typeface="Times New Roman" panose="02020603050405020304" pitchFamily="18" charset="0"/>
                  </a:rPr>
                  <a:t> </a:t>
                </a:r>
              </a:p>
              <a:p>
                <a:pPr marL="0" lvl="0" indent="0">
                  <a:buNone/>
                </a:pPr>
                <a:endParaRPr lang="en-US" sz="2000"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525963"/>
              </a:xfrm>
              <a:blipFill>
                <a:blip r:embed="rId2"/>
                <a:stretch>
                  <a:fillRect l="-815" t="-943"/>
                </a:stretch>
              </a:blipFill>
            </p:spPr>
            <p:txBody>
              <a:bodyPr/>
              <a:lstStyle/>
              <a:p>
                <a:r>
                  <a:rPr lang="en-US">
                    <a:noFill/>
                  </a:rPr>
                  <a:t> </a:t>
                </a:r>
              </a:p>
            </p:txBody>
          </p:sp>
        </mc:Fallback>
      </mc:AlternateContent>
      <p:sp>
        <p:nvSpPr>
          <p:cNvPr id="6" name="Slide Number Placeholder 5"/>
          <p:cNvSpPr>
            <a:spLocks noGrp="1"/>
          </p:cNvSpPr>
          <p:nvPr>
            <p:ph type="sldNum" sz="quarter" idx="12"/>
          </p:nvPr>
        </p:nvSpPr>
        <p:spPr>
          <a:xfrm>
            <a:off x="6553200" y="6356350"/>
            <a:ext cx="2133600" cy="365125"/>
          </a:xfrm>
        </p:spPr>
        <p:txBody>
          <a:bodyPr/>
          <a:lstStyle/>
          <a:p>
            <a:fld id="{B6F15528-21DE-4FAA-801E-634DDDAF4B2B}" type="slidenum">
              <a:rPr lang="en-US" smtClean="0"/>
              <a:pPr/>
              <a:t>59</a:t>
            </a:fld>
            <a:endParaRPr lang="en-US"/>
          </a:p>
        </p:txBody>
      </p:sp>
      <p:sp>
        <p:nvSpPr>
          <p:cNvPr id="7" name="Title 1"/>
          <p:cNvSpPr txBox="1">
            <a:spLocks/>
          </p:cNvSpPr>
          <p:nvPr/>
        </p:nvSpPr>
        <p:spPr>
          <a:xfrm>
            <a:off x="1600200" y="1"/>
            <a:ext cx="75438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t>Expected University Questions</a:t>
            </a:r>
            <a:r>
              <a:rPr kumimoji="0" lang="en-US" sz="2400" b="1" i="0" u="none" strike="noStrike" kern="1200" cap="none" spc="0" normalizeH="0" noProof="0" dirty="0">
                <a:ln>
                  <a:noFill/>
                </a:ln>
                <a:solidFill>
                  <a:schemeClr val="dk1"/>
                </a:solidFill>
                <a:effectLst/>
                <a:uLnTx/>
                <a:uFillTx/>
                <a:latin typeface="+mn-lt"/>
                <a:ea typeface="+mn-ea"/>
                <a:cs typeface="+mn-cs"/>
              </a:rPr>
              <a:t> </a:t>
            </a:r>
            <a:r>
              <a:rPr lang="en-US" sz="2400" b="1" dirty="0"/>
              <a:t>(CO3)</a:t>
            </a:r>
            <a:endParaRPr kumimoji="0" lang="en-US" sz="2400" b="1" i="0" u="none" strike="noStrike" kern="1200" cap="none" spc="0" normalizeH="0" baseline="0" noProof="0" dirty="0">
              <a:ln>
                <a:noFill/>
              </a:ln>
              <a:solidFill>
                <a:schemeClr val="dk1"/>
              </a:solidFill>
              <a:effectLst/>
              <a:uLnTx/>
              <a:uFillTx/>
              <a:latin typeface="+mn-lt"/>
              <a:ea typeface="+mn-ea"/>
              <a:cs typeface="+mn-cs"/>
            </a:endParaRPr>
          </a:p>
        </p:txBody>
      </p:sp>
      <p:sp>
        <p:nvSpPr>
          <p:cNvPr id="9" name="Footer Placeholder 12"/>
          <p:cNvSpPr txBox="1">
            <a:spLocks/>
          </p:cNvSpPr>
          <p:nvPr/>
        </p:nvSpPr>
        <p:spPr>
          <a:xfrm>
            <a:off x="2362200" y="6324600"/>
            <a:ext cx="5029200" cy="365125"/>
          </a:xfrm>
          <a:prstGeom prst="rect">
            <a:avLst/>
          </a:prstGeom>
        </p:spPr>
        <p:txBody>
          <a:bodyPr vert="horz" lIns="91440" tIns="45720" rIns="91440" bIns="45720" rtlCol="0" anchor="ctr"/>
          <a:lstStyle/>
          <a:p>
            <a:pPr lvl="0" algn="ctr">
              <a:defRPr/>
            </a:pPr>
            <a:r>
              <a:rPr kumimoji="0" lang="en-US" sz="1200" b="0" i="0" u="none" strike="noStrike" kern="1200" cap="none" spc="0" normalizeH="0" baseline="0" noProof="0" dirty="0">
                <a:ln>
                  <a:noFill/>
                </a:ln>
                <a:solidFill>
                  <a:schemeClr val="tx1">
                    <a:tint val="75000"/>
                  </a:schemeClr>
                </a:solidFill>
                <a:effectLst/>
                <a:uLnTx/>
                <a:uFillTx/>
                <a:latin typeface="+mn-lt"/>
                <a:ea typeface="+mn-ea"/>
                <a:cs typeface="+mn-cs"/>
              </a:rPr>
              <a:t>            </a:t>
            </a:r>
            <a:endParaRPr lang="en-US" sz="1200" dirty="0">
              <a:solidFill>
                <a:schemeClr val="tx1">
                  <a:tint val="75000"/>
                </a:schemeClr>
              </a:solidFill>
            </a:endParaRPr>
          </a:p>
        </p:txBody>
      </p:sp>
      <p:sp>
        <p:nvSpPr>
          <p:cNvPr id="5" name="Footer Placeholder 4"/>
          <p:cNvSpPr>
            <a:spLocks noGrp="1"/>
          </p:cNvSpPr>
          <p:nvPr>
            <p:ph type="ftr" sz="quarter" idx="11"/>
          </p:nvPr>
        </p:nvSpPr>
        <p:spPr>
          <a:xfrm>
            <a:off x="3124200" y="6356350"/>
            <a:ext cx="2895600" cy="365125"/>
          </a:xfrm>
        </p:spPr>
        <p:txBody>
          <a:bodyPr/>
          <a:lstStyle/>
          <a:p>
            <a:r>
              <a:rPr lang="en-US" dirty="0"/>
              <a:t>Dr. Jyoti Singh        Statistics and Probability   Module 3 </a:t>
            </a:r>
          </a:p>
        </p:txBody>
      </p:sp>
      <p:graphicFrame>
        <p:nvGraphicFramePr>
          <p:cNvPr id="2" name="Table 1"/>
          <p:cNvGraphicFramePr>
            <a:graphicFrameLocks noGrp="1"/>
          </p:cNvGraphicFramePr>
          <p:nvPr>
            <p:extLst>
              <p:ext uri="{D42A27DB-BD31-4B8C-83A1-F6EECF244321}">
                <p14:modId xmlns:p14="http://schemas.microsoft.com/office/powerpoint/2010/main" val="1828174630"/>
              </p:ext>
            </p:extLst>
          </p:nvPr>
        </p:nvGraphicFramePr>
        <p:xfrm>
          <a:off x="1828800" y="1791398"/>
          <a:ext cx="3810000" cy="647002"/>
        </p:xfrm>
        <a:graphic>
          <a:graphicData uri="http://schemas.openxmlformats.org/drawingml/2006/table">
            <a:tbl>
              <a:tblPr firstRow="1" firstCol="1" lastRow="1" lastCol="1" bandRow="1" bandCol="1">
                <a:tableStyleId>{5940675A-B579-460E-94D1-54222C63F5DA}</a:tableStyleId>
              </a:tblPr>
              <a:tblGrid>
                <a:gridCol w="691961">
                  <a:extLst>
                    <a:ext uri="{9D8B030D-6E8A-4147-A177-3AD203B41FA5}">
                      <a16:colId xmlns:a16="http://schemas.microsoft.com/office/drawing/2014/main" val="20000"/>
                    </a:ext>
                  </a:extLst>
                </a:gridCol>
                <a:gridCol w="674171">
                  <a:extLst>
                    <a:ext uri="{9D8B030D-6E8A-4147-A177-3AD203B41FA5}">
                      <a16:colId xmlns:a16="http://schemas.microsoft.com/office/drawing/2014/main" val="20001"/>
                    </a:ext>
                  </a:extLst>
                </a:gridCol>
                <a:gridCol w="1517820">
                  <a:extLst>
                    <a:ext uri="{9D8B030D-6E8A-4147-A177-3AD203B41FA5}">
                      <a16:colId xmlns:a16="http://schemas.microsoft.com/office/drawing/2014/main" val="20002"/>
                    </a:ext>
                  </a:extLst>
                </a:gridCol>
                <a:gridCol w="926048">
                  <a:extLst>
                    <a:ext uri="{9D8B030D-6E8A-4147-A177-3AD203B41FA5}">
                      <a16:colId xmlns:a16="http://schemas.microsoft.com/office/drawing/2014/main" val="20003"/>
                    </a:ext>
                  </a:extLst>
                </a:gridCol>
              </a:tblGrid>
              <a:tr h="304800">
                <a:tc>
                  <a:txBody>
                    <a:bodyPr/>
                    <a:lstStyle/>
                    <a:p>
                      <a:pPr marL="48260" marR="46355" algn="ctr">
                        <a:lnSpc>
                          <a:spcPct val="115000"/>
                        </a:lnSpc>
                        <a:spcBef>
                          <a:spcPts val="30"/>
                        </a:spcBef>
                        <a:spcAft>
                          <a:spcPts val="0"/>
                        </a:spcAft>
                      </a:pPr>
                      <a:r>
                        <a:rPr lang="en-US" sz="1800" dirty="0">
                          <a:effectLst/>
                        </a:rPr>
                        <a:t>𝑥</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tc>
                <a:tc>
                  <a:txBody>
                    <a:bodyPr/>
                    <a:lstStyle/>
                    <a:p>
                      <a:pPr marL="180975" marR="0">
                        <a:lnSpc>
                          <a:spcPct val="115000"/>
                        </a:lnSpc>
                        <a:spcBef>
                          <a:spcPts val="5"/>
                        </a:spcBef>
                        <a:spcAft>
                          <a:spcPts val="0"/>
                        </a:spcAft>
                      </a:pPr>
                      <a:r>
                        <a:rPr lang="en-US" sz="1800" dirty="0">
                          <a:effectLst/>
                        </a:rPr>
                        <a:t>0</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tc>
                <a:tc>
                  <a:txBody>
                    <a:bodyPr/>
                    <a:lstStyle/>
                    <a:p>
                      <a:pPr marL="1905" marR="0" algn="ctr">
                        <a:lnSpc>
                          <a:spcPct val="115000"/>
                        </a:lnSpc>
                        <a:spcBef>
                          <a:spcPts val="5"/>
                        </a:spcBef>
                        <a:spcAft>
                          <a:spcPts val="0"/>
                        </a:spcAft>
                      </a:pPr>
                      <a:r>
                        <a:rPr lang="en-US" sz="1800" dirty="0">
                          <a:effectLst/>
                        </a:rPr>
                        <a:t>1</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tc>
                <a:tc>
                  <a:txBody>
                    <a:bodyPr/>
                    <a:lstStyle/>
                    <a:p>
                      <a:pPr marL="2540" marR="0" algn="ctr">
                        <a:lnSpc>
                          <a:spcPct val="115000"/>
                        </a:lnSpc>
                        <a:spcBef>
                          <a:spcPts val="5"/>
                        </a:spcBef>
                        <a:spcAft>
                          <a:spcPts val="0"/>
                        </a:spcAft>
                      </a:pPr>
                      <a:r>
                        <a:rPr lang="en-US" sz="1800">
                          <a:effectLst/>
                        </a:rPr>
                        <a:t>2</a:t>
                      </a:r>
                      <a:endParaRPr lang="en-US" sz="1800">
                        <a:effectLst/>
                        <a:latin typeface="Times New Roman" panose="02020603050405020304" pitchFamily="18" charset="0"/>
                        <a:ea typeface="Times New Roman" panose="02020603050405020304" pitchFamily="18" charset="0"/>
                        <a:cs typeface="Mangal"/>
                      </a:endParaRPr>
                    </a:p>
                  </a:txBody>
                  <a:tcPr marL="0" marR="0" marT="0" marB="0"/>
                </a:tc>
                <a:extLst>
                  <a:ext uri="{0D108BD9-81ED-4DB2-BD59-A6C34878D82A}">
                    <a16:rowId xmlns:a16="http://schemas.microsoft.com/office/drawing/2014/main" val="10000"/>
                  </a:ext>
                </a:extLst>
              </a:tr>
              <a:tr h="298310">
                <a:tc>
                  <a:txBody>
                    <a:bodyPr/>
                    <a:lstStyle/>
                    <a:p>
                      <a:pPr marL="51435" marR="46355" algn="ctr">
                        <a:lnSpc>
                          <a:spcPts val="1305"/>
                        </a:lnSpc>
                        <a:spcBef>
                          <a:spcPts val="15"/>
                        </a:spcBef>
                        <a:spcAft>
                          <a:spcPts val="0"/>
                        </a:spcAft>
                      </a:pPr>
                      <a:endParaRPr lang="en-US" sz="1800" dirty="0">
                        <a:effectLst/>
                      </a:endParaRPr>
                    </a:p>
                    <a:p>
                      <a:pPr marL="51435" marR="46355" algn="ctr">
                        <a:lnSpc>
                          <a:spcPts val="1305"/>
                        </a:lnSpc>
                        <a:spcBef>
                          <a:spcPts val="15"/>
                        </a:spcBef>
                        <a:spcAft>
                          <a:spcPts val="0"/>
                        </a:spcAft>
                      </a:pPr>
                      <a:r>
                        <a:rPr lang="en-US" sz="1800" dirty="0">
                          <a:effectLst/>
                        </a:rPr>
                        <a:t>𝑝(𝑥)</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tc>
                <a:tc>
                  <a:txBody>
                    <a:bodyPr/>
                    <a:lstStyle/>
                    <a:p>
                      <a:pPr marL="142875" marR="0">
                        <a:lnSpc>
                          <a:spcPts val="1295"/>
                        </a:lnSpc>
                        <a:spcBef>
                          <a:spcPts val="30"/>
                        </a:spcBef>
                        <a:spcAft>
                          <a:spcPts val="0"/>
                        </a:spcAft>
                      </a:pPr>
                      <a:endParaRPr lang="en-US" sz="1800" dirty="0">
                        <a:effectLst/>
                      </a:endParaRPr>
                    </a:p>
                    <a:p>
                      <a:pPr marL="142875" marR="0">
                        <a:lnSpc>
                          <a:spcPts val="1295"/>
                        </a:lnSpc>
                        <a:spcBef>
                          <a:spcPts val="30"/>
                        </a:spcBef>
                        <a:spcAft>
                          <a:spcPts val="0"/>
                        </a:spcAft>
                      </a:pPr>
                      <a:r>
                        <a:rPr lang="en-US" sz="1800" dirty="0">
                          <a:effectLst/>
                        </a:rPr>
                        <a:t>3𝑐</a:t>
                      </a:r>
                      <a:r>
                        <a:rPr lang="en-US" sz="1800" baseline="30000" dirty="0">
                          <a:effectLst/>
                        </a:rPr>
                        <a:t>3</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tc>
                <a:tc>
                  <a:txBody>
                    <a:bodyPr/>
                    <a:lstStyle/>
                    <a:p>
                      <a:pPr marL="142240" marR="143510" algn="ctr">
                        <a:lnSpc>
                          <a:spcPts val="1295"/>
                        </a:lnSpc>
                        <a:spcBef>
                          <a:spcPts val="30"/>
                        </a:spcBef>
                        <a:spcAft>
                          <a:spcPts val="0"/>
                        </a:spcAft>
                      </a:pPr>
                      <a:endParaRPr lang="en-US" sz="1800" dirty="0">
                        <a:effectLst/>
                      </a:endParaRPr>
                    </a:p>
                    <a:p>
                      <a:pPr marL="142240" marR="143510" algn="ctr">
                        <a:lnSpc>
                          <a:spcPts val="1295"/>
                        </a:lnSpc>
                        <a:spcBef>
                          <a:spcPts val="30"/>
                        </a:spcBef>
                        <a:spcAft>
                          <a:spcPts val="0"/>
                        </a:spcAft>
                      </a:pPr>
                      <a:r>
                        <a:rPr lang="en-US" sz="1800" dirty="0">
                          <a:effectLst/>
                        </a:rPr>
                        <a:t>4c-10c</a:t>
                      </a:r>
                      <a:r>
                        <a:rPr lang="en-US" sz="1800" baseline="30000" dirty="0">
                          <a:effectLst/>
                        </a:rPr>
                        <a:t>2</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tc>
                <a:tc>
                  <a:txBody>
                    <a:bodyPr/>
                    <a:lstStyle/>
                    <a:p>
                      <a:pPr marL="69215" marR="66040" algn="ctr">
                        <a:lnSpc>
                          <a:spcPts val="1305"/>
                        </a:lnSpc>
                        <a:spcBef>
                          <a:spcPts val="15"/>
                        </a:spcBef>
                        <a:spcAft>
                          <a:spcPts val="0"/>
                        </a:spcAft>
                      </a:pPr>
                      <a:endParaRPr lang="en-US" sz="1800" dirty="0">
                        <a:effectLst/>
                      </a:endParaRPr>
                    </a:p>
                    <a:p>
                      <a:pPr marL="69215" marR="66040" algn="ctr">
                        <a:lnSpc>
                          <a:spcPts val="1305"/>
                        </a:lnSpc>
                        <a:spcBef>
                          <a:spcPts val="15"/>
                        </a:spcBef>
                        <a:spcAft>
                          <a:spcPts val="0"/>
                        </a:spcAft>
                      </a:pPr>
                      <a:r>
                        <a:rPr lang="en-US" sz="1800" dirty="0">
                          <a:effectLst/>
                        </a:rPr>
                        <a:t>5𝑐 − 1</a:t>
                      </a:r>
                      <a:endParaRPr lang="en-US" sz="1800" dirty="0">
                        <a:effectLst/>
                        <a:latin typeface="Times New Roman" panose="02020603050405020304" pitchFamily="18" charset="0"/>
                        <a:ea typeface="Times New Roman" panose="02020603050405020304" pitchFamily="18" charset="0"/>
                        <a:cs typeface="Mangal"/>
                      </a:endParaRPr>
                    </a:p>
                  </a:txBody>
                  <a:tcPr marL="0" marR="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650907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1000"/>
                                        <p:tgtEl>
                                          <p:spTgt spid="3">
                                            <p:txEl>
                                              <p:pRg st="0" end="0"/>
                                            </p:txEl>
                                          </p:spTgt>
                                        </p:tgtEl>
                                      </p:cBhvr>
                                    </p:animEffect>
                                    <p:anim calcmode="lin" valueType="num">
                                      <p:cBhvr>
                                        <p:cTn id="8" dur="1000" fill="hold"/>
                                        <p:tgtEl>
                                          <p:spTgt spid="3">
                                            <p:txEl>
                                              <p:pRg st="0" end="0"/>
                                            </p:txEl>
                                          </p:spTgt>
                                        </p:tgtEl>
                                        <p:attrNameLst>
                                          <p:attrName>ppt_x</p:attrName>
                                        </p:attrNameLst>
                                      </p:cBhvr>
                                      <p:tavLst>
                                        <p:tav tm="0">
                                          <p:val>
                                            <p:strVal val="#ppt_x"/>
                                          </p:val>
                                        </p:tav>
                                        <p:tav tm="100000">
                                          <p:val>
                                            <p:strVal val="#ppt_x"/>
                                          </p:val>
                                        </p:tav>
                                      </p:tavLst>
                                    </p:anim>
                                    <p:anim calcmode="lin" valueType="num">
                                      <p:cBhvr>
                                        <p:cTn id="9" dur="1000" fill="hold"/>
                                        <p:tgtEl>
                                          <p:spTgt spid="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10" fill="hold">
                      <p:stCondLst>
                        <p:cond delay="indefinite"/>
                      </p:stCondLst>
                      <p:childTnLst>
                        <p:par>
                          <p:cTn id="11" fill="hold">
                            <p:stCondLst>
                              <p:cond delay="0"/>
                            </p:stCondLst>
                            <p:childTnLst>
                              <p:par>
                                <p:cTn id="12" presetID="42" presetClass="entr" presetSubtype="0" fill="hold" grpId="0" nodeType="clickEffect">
                                  <p:stCondLst>
                                    <p:cond delay="0"/>
                                  </p:stCondLst>
                                  <p:childTnLst>
                                    <p:set>
                                      <p:cBhvr>
                                        <p:cTn id="13" dur="1" fill="hold">
                                          <p:stCondLst>
                                            <p:cond delay="0"/>
                                          </p:stCondLst>
                                        </p:cTn>
                                        <p:tgtEl>
                                          <p:spTgt spid="3">
                                            <p:txEl>
                                              <p:pRg st="4" end="4"/>
                                            </p:txEl>
                                          </p:spTgt>
                                        </p:tgtEl>
                                        <p:attrNameLst>
                                          <p:attrName>style.visibility</p:attrName>
                                        </p:attrNameLst>
                                      </p:cBhvr>
                                      <p:to>
                                        <p:strVal val="visible"/>
                                      </p:to>
                                    </p:set>
                                    <p:animEffect transition="in" filter="fade">
                                      <p:cBhvr>
                                        <p:cTn id="14" dur="1000"/>
                                        <p:tgtEl>
                                          <p:spTgt spid="3">
                                            <p:txEl>
                                              <p:pRg st="4" end="4"/>
                                            </p:txEl>
                                          </p:spTgt>
                                        </p:tgtEl>
                                      </p:cBhvr>
                                    </p:animEffect>
                                    <p:anim calcmode="lin" valueType="num">
                                      <p:cBhvr>
                                        <p:cTn id="15" dur="1000" fill="hold"/>
                                        <p:tgtEl>
                                          <p:spTgt spid="3">
                                            <p:txEl>
                                              <p:pRg st="4" end="4"/>
                                            </p:txEl>
                                          </p:spTgt>
                                        </p:tgtEl>
                                        <p:attrNameLst>
                                          <p:attrName>ppt_x</p:attrName>
                                        </p:attrNameLst>
                                      </p:cBhvr>
                                      <p:tavLst>
                                        <p:tav tm="0">
                                          <p:val>
                                            <p:strVal val="#ppt_x"/>
                                          </p:val>
                                        </p:tav>
                                        <p:tav tm="100000">
                                          <p:val>
                                            <p:strVal val="#ppt_x"/>
                                          </p:val>
                                        </p:tav>
                                      </p:tavLst>
                                    </p:anim>
                                    <p:anim calcmode="lin" valueType="num">
                                      <p:cBhvr>
                                        <p:cTn id="16" dur="1000" fill="hold"/>
                                        <p:tgtEl>
                                          <p:spTgt spid="3">
                                            <p:txEl>
                                              <p:pRg st="4" end="4"/>
                                            </p:txEl>
                                          </p:spTgt>
                                        </p:tgtEl>
                                        <p:attrNameLst>
                                          <p:attrName>ppt_y</p:attrName>
                                        </p:attrNameLst>
                                      </p:cBhvr>
                                      <p:tavLst>
                                        <p:tav tm="0">
                                          <p:val>
                                            <p:strVal val="#ppt_y+.1"/>
                                          </p:val>
                                        </p:tav>
                                        <p:tav tm="100000">
                                          <p:val>
                                            <p:strVal val="#ppt_y"/>
                                          </p:val>
                                        </p:tav>
                                      </p:tavLst>
                                    </p:anim>
                                  </p:childTnLst>
                                </p:cTn>
                              </p:par>
                            </p:childTnLst>
                          </p:cTn>
                        </p:par>
                      </p:childTnLst>
                    </p:cTn>
                  </p:par>
                  <p:par>
                    <p:cTn id="17" fill="hold">
                      <p:stCondLst>
                        <p:cond delay="indefinite"/>
                      </p:stCondLst>
                      <p:childTnLst>
                        <p:par>
                          <p:cTn id="18" fill="hold">
                            <p:stCondLst>
                              <p:cond delay="0"/>
                            </p:stCondLst>
                            <p:childTnLst>
                              <p:par>
                                <p:cTn id="19" presetID="42" presetClass="entr" presetSubtype="0" fill="hold" grpId="0" nodeType="clickEffect">
                                  <p:stCondLst>
                                    <p:cond delay="0"/>
                                  </p:stCondLst>
                                  <p:childTnLst>
                                    <p:set>
                                      <p:cBhvr>
                                        <p:cTn id="20" dur="1" fill="hold">
                                          <p:stCondLst>
                                            <p:cond delay="0"/>
                                          </p:stCondLst>
                                        </p:cTn>
                                        <p:tgtEl>
                                          <p:spTgt spid="3">
                                            <p:txEl>
                                              <p:pRg st="5" end="5"/>
                                            </p:txEl>
                                          </p:spTgt>
                                        </p:tgtEl>
                                        <p:attrNameLst>
                                          <p:attrName>style.visibility</p:attrName>
                                        </p:attrNameLst>
                                      </p:cBhvr>
                                      <p:to>
                                        <p:strVal val="visible"/>
                                      </p:to>
                                    </p:set>
                                    <p:animEffect transition="in" filter="fade">
                                      <p:cBhvr>
                                        <p:cTn id="21" dur="1000"/>
                                        <p:tgtEl>
                                          <p:spTgt spid="3">
                                            <p:txEl>
                                              <p:pRg st="5" end="5"/>
                                            </p:txEl>
                                          </p:spTgt>
                                        </p:tgtEl>
                                      </p:cBhvr>
                                    </p:animEffect>
                                    <p:anim calcmode="lin" valueType="num">
                                      <p:cBhvr>
                                        <p:cTn id="22" dur="1000" fill="hold"/>
                                        <p:tgtEl>
                                          <p:spTgt spid="3">
                                            <p:txEl>
                                              <p:pRg st="5" end="5"/>
                                            </p:txEl>
                                          </p:spTgt>
                                        </p:tgtEl>
                                        <p:attrNameLst>
                                          <p:attrName>ppt_x</p:attrName>
                                        </p:attrNameLst>
                                      </p:cBhvr>
                                      <p:tavLst>
                                        <p:tav tm="0">
                                          <p:val>
                                            <p:strVal val="#ppt_x"/>
                                          </p:val>
                                        </p:tav>
                                        <p:tav tm="100000">
                                          <p:val>
                                            <p:strVal val="#ppt_x"/>
                                          </p:val>
                                        </p:tav>
                                      </p:tavLst>
                                    </p:anim>
                                    <p:anim calcmode="lin" valueType="num">
                                      <p:cBhvr>
                                        <p:cTn id="23" dur="1000" fill="hold"/>
                                        <p:tgtEl>
                                          <p:spTgt spid="3">
                                            <p:txEl>
                                              <p:pRg st="5" end="5"/>
                                            </p:txEl>
                                          </p:spTgt>
                                        </p:tgtEl>
                                        <p:attrNameLst>
                                          <p:attrName>ppt_y</p:attrName>
                                        </p:attrNameLst>
                                      </p:cBhvr>
                                      <p:tavLst>
                                        <p:tav tm="0">
                                          <p:val>
                                            <p:strVal val="#ppt_y+.1"/>
                                          </p:val>
                                        </p:tav>
                                        <p:tav tm="100000">
                                          <p:val>
                                            <p:strVal val="#ppt_y"/>
                                          </p:val>
                                        </p:tav>
                                      </p:tavLst>
                                    </p:anim>
                                  </p:childTnLst>
                                </p:cTn>
                              </p:par>
                            </p:childTnLst>
                          </p:cTn>
                        </p:par>
                      </p:childTnLst>
                    </p:cTn>
                  </p:par>
                  <p:par>
                    <p:cTn id="24" fill="hold">
                      <p:stCondLst>
                        <p:cond delay="indefinite"/>
                      </p:stCondLst>
                      <p:childTnLst>
                        <p:par>
                          <p:cTn id="25" fill="hold">
                            <p:stCondLst>
                              <p:cond delay="0"/>
                            </p:stCondLst>
                            <p:childTnLst>
                              <p:par>
                                <p:cTn id="26" presetID="42" presetClass="entr" presetSubtype="0" fill="hold" grpId="0" nodeType="clickEffect">
                                  <p:stCondLst>
                                    <p:cond delay="0"/>
                                  </p:stCondLst>
                                  <p:childTnLst>
                                    <p:set>
                                      <p:cBhvr>
                                        <p:cTn id="27" dur="1" fill="hold">
                                          <p:stCondLst>
                                            <p:cond delay="0"/>
                                          </p:stCondLst>
                                        </p:cTn>
                                        <p:tgtEl>
                                          <p:spTgt spid="3">
                                            <p:txEl>
                                              <p:pRg st="6" end="6"/>
                                            </p:txEl>
                                          </p:spTgt>
                                        </p:tgtEl>
                                        <p:attrNameLst>
                                          <p:attrName>style.visibility</p:attrName>
                                        </p:attrNameLst>
                                      </p:cBhvr>
                                      <p:to>
                                        <p:strVal val="visible"/>
                                      </p:to>
                                    </p:set>
                                    <p:animEffect transition="in" filter="fade">
                                      <p:cBhvr>
                                        <p:cTn id="28" dur="1000"/>
                                        <p:tgtEl>
                                          <p:spTgt spid="3">
                                            <p:txEl>
                                              <p:pRg st="6" end="6"/>
                                            </p:txEl>
                                          </p:spTgt>
                                        </p:tgtEl>
                                      </p:cBhvr>
                                    </p:animEffect>
                                    <p:anim calcmode="lin" valueType="num">
                                      <p:cBhvr>
                                        <p:cTn id="29" dur="1000" fill="hold"/>
                                        <p:tgtEl>
                                          <p:spTgt spid="3">
                                            <p:txEl>
                                              <p:pRg st="6" end="6"/>
                                            </p:txEl>
                                          </p:spTgt>
                                        </p:tgtEl>
                                        <p:attrNameLst>
                                          <p:attrName>ppt_x</p:attrName>
                                        </p:attrNameLst>
                                      </p:cBhvr>
                                      <p:tavLst>
                                        <p:tav tm="0">
                                          <p:val>
                                            <p:strVal val="#ppt_x"/>
                                          </p:val>
                                        </p:tav>
                                        <p:tav tm="100000">
                                          <p:val>
                                            <p:strVal val="#ppt_x"/>
                                          </p:val>
                                        </p:tav>
                                      </p:tavLst>
                                    </p:anim>
                                    <p:anim calcmode="lin" valueType="num">
                                      <p:cBhvr>
                                        <p:cTn id="30" dur="1000" fill="hold"/>
                                        <p:tgtEl>
                                          <p:spTgt spid="3">
                                            <p:txEl>
                                              <p:pRg st="6" end="6"/>
                                            </p:txEl>
                                          </p:spTgt>
                                        </p:tgtEl>
                                        <p:attrNameLst>
                                          <p:attrName>ppt_y</p:attrName>
                                        </p:attrNameLst>
                                      </p:cBhvr>
                                      <p:tavLst>
                                        <p:tav tm="0">
                                          <p:val>
                                            <p:strVal val="#ppt_y+.1"/>
                                          </p:val>
                                        </p:tav>
                                        <p:tav tm="100000">
                                          <p:val>
                                            <p:strVal val="#ppt_y"/>
                                          </p:val>
                                        </p:tav>
                                      </p:tavLst>
                                    </p:anim>
                                  </p:childTnLst>
                                </p:cTn>
                              </p:par>
                            </p:childTnLst>
                          </p:cTn>
                        </p:par>
                      </p:childTnLst>
                    </p:cTn>
                  </p:par>
                  <p:par>
                    <p:cTn id="31" fill="hold">
                      <p:stCondLst>
                        <p:cond delay="indefinite"/>
                      </p:stCondLst>
                      <p:childTnLst>
                        <p:par>
                          <p:cTn id="32" fill="hold">
                            <p:stCondLst>
                              <p:cond delay="0"/>
                            </p:stCondLst>
                            <p:childTnLst>
                              <p:par>
                                <p:cTn id="33" presetID="42"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Effect transition="in" filter="fade">
                                      <p:cBhvr>
                                        <p:cTn id="35" dur="1000"/>
                                        <p:tgtEl>
                                          <p:spTgt spid="3">
                                            <p:txEl>
                                              <p:pRg st="7" end="7"/>
                                            </p:txEl>
                                          </p:spTgt>
                                        </p:tgtEl>
                                      </p:cBhvr>
                                    </p:animEffect>
                                    <p:anim calcmode="lin" valueType="num">
                                      <p:cBhvr>
                                        <p:cTn id="36" dur="1000" fill="hold"/>
                                        <p:tgtEl>
                                          <p:spTgt spid="3">
                                            <p:txEl>
                                              <p:pRg st="7" end="7"/>
                                            </p:txEl>
                                          </p:spTgt>
                                        </p:tgtEl>
                                        <p:attrNameLst>
                                          <p:attrName>ppt_x</p:attrName>
                                        </p:attrNameLst>
                                      </p:cBhvr>
                                      <p:tavLst>
                                        <p:tav tm="0">
                                          <p:val>
                                            <p:strVal val="#ppt_x"/>
                                          </p:val>
                                        </p:tav>
                                        <p:tav tm="100000">
                                          <p:val>
                                            <p:strVal val="#ppt_x"/>
                                          </p:val>
                                        </p:tav>
                                      </p:tavLst>
                                    </p:anim>
                                    <p:anim calcmode="lin" valueType="num">
                                      <p:cBhvr>
                                        <p:cTn id="37" dur="1000" fill="hold"/>
                                        <p:tgtEl>
                                          <p:spTgt spid="3">
                                            <p:txEl>
                                              <p:pRg st="7" end="7"/>
                                            </p:txEl>
                                          </p:spTgt>
                                        </p:tgtEl>
                                        <p:attrNameLst>
                                          <p:attrName>ppt_y</p:attrName>
                                        </p:attrNameLst>
                                      </p:cBhvr>
                                      <p:tavLst>
                                        <p:tav tm="0">
                                          <p:val>
                                            <p:strVal val="#ppt_y+.1"/>
                                          </p:val>
                                        </p:tav>
                                        <p:tav tm="100000">
                                          <p:val>
                                            <p:strVal val="#ppt_y"/>
                                          </p:val>
                                        </p:tav>
                                      </p:tavLst>
                                    </p:anim>
                                  </p:childTnLst>
                                </p:cTn>
                              </p:par>
                            </p:childTnLst>
                          </p:cTn>
                        </p:par>
                      </p:childTnLst>
                    </p:cTn>
                  </p:par>
                  <p:par>
                    <p:cTn id="38" fill="hold">
                      <p:stCondLst>
                        <p:cond delay="indefinite"/>
                      </p:stCondLst>
                      <p:childTnLst>
                        <p:par>
                          <p:cTn id="39" fill="hold">
                            <p:stCondLst>
                              <p:cond delay="0"/>
                            </p:stCondLst>
                            <p:childTnLst>
                              <p:par>
                                <p:cTn id="40" presetID="42"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1000"/>
                                        <p:tgtEl>
                                          <p:spTgt spid="3">
                                            <p:txEl>
                                              <p:pRg st="8" end="8"/>
                                            </p:txEl>
                                          </p:spTgt>
                                        </p:tgtEl>
                                      </p:cBhvr>
                                    </p:animEffect>
                                    <p:anim calcmode="lin" valueType="num">
                                      <p:cBhvr>
                                        <p:cTn id="43" dur="1000" fill="hold"/>
                                        <p:tgtEl>
                                          <p:spTgt spid="3">
                                            <p:txEl>
                                              <p:pRg st="8" end="8"/>
                                            </p:txEl>
                                          </p:spTgt>
                                        </p:tgtEl>
                                        <p:attrNameLst>
                                          <p:attrName>ppt_x</p:attrName>
                                        </p:attrNameLst>
                                      </p:cBhvr>
                                      <p:tavLst>
                                        <p:tav tm="0">
                                          <p:val>
                                            <p:strVal val="#ppt_x"/>
                                          </p:val>
                                        </p:tav>
                                        <p:tav tm="100000">
                                          <p:val>
                                            <p:strVal val="#ppt_x"/>
                                          </p:val>
                                        </p:tav>
                                      </p:tavLst>
                                    </p:anim>
                                    <p:anim calcmode="lin" valueType="num">
                                      <p:cBhvr>
                                        <p:cTn id="44" dur="1000" fill="hold"/>
                                        <p:tgtEl>
                                          <p:spTgt spid="3">
                                            <p:txEl>
                                              <p:pRg st="8" end="8"/>
                                            </p:txEl>
                                          </p:spTgt>
                                        </p:tgtEl>
                                        <p:attrNameLst>
                                          <p:attrName>ppt_y</p:attrName>
                                        </p:attrNameLst>
                                      </p:cBhvr>
                                      <p:tavLst>
                                        <p:tav tm="0">
                                          <p:val>
                                            <p:strVal val="#ppt_y+.1"/>
                                          </p:val>
                                        </p:tav>
                                        <p:tav tm="100000">
                                          <p:val>
                                            <p:strVal val="#ppt_y"/>
                                          </p:val>
                                        </p:tav>
                                      </p:tavLst>
                                    </p:anim>
                                  </p:childTnLst>
                                </p:cTn>
                              </p:par>
                            </p:childTnLst>
                          </p:cTn>
                        </p:par>
                      </p:childTnLst>
                    </p:cTn>
                  </p:par>
                  <p:par>
                    <p:cTn id="45" fill="hold">
                      <p:stCondLst>
                        <p:cond delay="indefinite"/>
                      </p:stCondLst>
                      <p:childTnLst>
                        <p:par>
                          <p:cTn id="46" fill="hold">
                            <p:stCondLst>
                              <p:cond delay="0"/>
                            </p:stCondLst>
                            <p:childTnLst>
                              <p:par>
                                <p:cTn id="47" presetID="42" presetClass="entr" presetSubtype="0" fill="hold" grpId="0" nodeType="clickEffect">
                                  <p:stCondLst>
                                    <p:cond delay="0"/>
                                  </p:stCondLst>
                                  <p:childTnLst>
                                    <p:set>
                                      <p:cBhvr>
                                        <p:cTn id="48" dur="1" fill="hold">
                                          <p:stCondLst>
                                            <p:cond delay="0"/>
                                          </p:stCondLst>
                                        </p:cTn>
                                        <p:tgtEl>
                                          <p:spTgt spid="3">
                                            <p:txEl>
                                              <p:pRg st="9" end="9"/>
                                            </p:txEl>
                                          </p:spTgt>
                                        </p:tgtEl>
                                        <p:attrNameLst>
                                          <p:attrName>style.visibility</p:attrName>
                                        </p:attrNameLst>
                                      </p:cBhvr>
                                      <p:to>
                                        <p:strVal val="visible"/>
                                      </p:to>
                                    </p:set>
                                    <p:animEffect transition="in" filter="fade">
                                      <p:cBhvr>
                                        <p:cTn id="49" dur="1000"/>
                                        <p:tgtEl>
                                          <p:spTgt spid="3">
                                            <p:txEl>
                                              <p:pRg st="9" end="9"/>
                                            </p:txEl>
                                          </p:spTgt>
                                        </p:tgtEl>
                                      </p:cBhvr>
                                    </p:animEffect>
                                    <p:anim calcmode="lin" valueType="num">
                                      <p:cBhvr>
                                        <p:cTn id="50" dur="1000" fill="hold"/>
                                        <p:tgtEl>
                                          <p:spTgt spid="3">
                                            <p:txEl>
                                              <p:pRg st="9" end="9"/>
                                            </p:txEl>
                                          </p:spTgt>
                                        </p:tgtEl>
                                        <p:attrNameLst>
                                          <p:attrName>ppt_x</p:attrName>
                                        </p:attrNameLst>
                                      </p:cBhvr>
                                      <p:tavLst>
                                        <p:tav tm="0">
                                          <p:val>
                                            <p:strVal val="#ppt_x"/>
                                          </p:val>
                                        </p:tav>
                                        <p:tav tm="100000">
                                          <p:val>
                                            <p:strVal val="#ppt_x"/>
                                          </p:val>
                                        </p:tav>
                                      </p:tavLst>
                                    </p:anim>
                                    <p:anim calcmode="lin" valueType="num">
                                      <p:cBhvr>
                                        <p:cTn id="51" dur="1000" fill="hold"/>
                                        <p:tgtEl>
                                          <p:spTgt spid="3">
                                            <p:txEl>
                                              <p:pRg st="9" end="9"/>
                                            </p:txEl>
                                          </p:spTgt>
                                        </p:tgtEl>
                                        <p:attrNameLst>
                                          <p:attrName>ppt_y</p:attrName>
                                        </p:attrNameLst>
                                      </p:cBhvr>
                                      <p:tavLst>
                                        <p:tav tm="0">
                                          <p:val>
                                            <p:strVal val="#ppt_y+.1"/>
                                          </p:val>
                                        </p:tav>
                                        <p:tav tm="100000">
                                          <p:val>
                                            <p:strVal val="#ppt_y"/>
                                          </p:val>
                                        </p:tav>
                                      </p:tavLst>
                                    </p:anim>
                                  </p:childTnLst>
                                </p:cTn>
                              </p:par>
                            </p:childTnLst>
                          </p:cTn>
                        </p:par>
                      </p:childTnLst>
                    </p:cTn>
                  </p:par>
                  <p:par>
                    <p:cTn id="52" fill="hold">
                      <p:stCondLst>
                        <p:cond delay="indefinite"/>
                      </p:stCondLst>
                      <p:childTnLst>
                        <p:par>
                          <p:cTn id="53" fill="hold">
                            <p:stCondLst>
                              <p:cond delay="0"/>
                            </p:stCondLst>
                            <p:childTnLst>
                              <p:par>
                                <p:cTn id="54" presetID="42" presetClass="entr" presetSubtype="0" fill="hold" grpId="0" nodeType="clickEffect">
                                  <p:stCondLst>
                                    <p:cond delay="0"/>
                                  </p:stCondLst>
                                  <p:childTnLst>
                                    <p:set>
                                      <p:cBhvr>
                                        <p:cTn id="55" dur="1" fill="hold">
                                          <p:stCondLst>
                                            <p:cond delay="0"/>
                                          </p:stCondLst>
                                        </p:cTn>
                                        <p:tgtEl>
                                          <p:spTgt spid="3">
                                            <p:txEl>
                                              <p:pRg st="10" end="10"/>
                                            </p:txEl>
                                          </p:spTgt>
                                        </p:tgtEl>
                                        <p:attrNameLst>
                                          <p:attrName>style.visibility</p:attrName>
                                        </p:attrNameLst>
                                      </p:cBhvr>
                                      <p:to>
                                        <p:strVal val="visible"/>
                                      </p:to>
                                    </p:set>
                                    <p:animEffect transition="in" filter="fade">
                                      <p:cBhvr>
                                        <p:cTn id="56" dur="1000"/>
                                        <p:tgtEl>
                                          <p:spTgt spid="3">
                                            <p:txEl>
                                              <p:pRg st="10" end="10"/>
                                            </p:txEl>
                                          </p:spTgt>
                                        </p:tgtEl>
                                      </p:cBhvr>
                                    </p:animEffect>
                                    <p:anim calcmode="lin" valueType="num">
                                      <p:cBhvr>
                                        <p:cTn id="57" dur="1000" fill="hold"/>
                                        <p:tgtEl>
                                          <p:spTgt spid="3">
                                            <p:txEl>
                                              <p:pRg st="10" end="10"/>
                                            </p:txEl>
                                          </p:spTgt>
                                        </p:tgtEl>
                                        <p:attrNameLst>
                                          <p:attrName>ppt_x</p:attrName>
                                        </p:attrNameLst>
                                      </p:cBhvr>
                                      <p:tavLst>
                                        <p:tav tm="0">
                                          <p:val>
                                            <p:strVal val="#ppt_x"/>
                                          </p:val>
                                        </p:tav>
                                        <p:tav tm="100000">
                                          <p:val>
                                            <p:strVal val="#ppt_x"/>
                                          </p:val>
                                        </p:tav>
                                      </p:tavLst>
                                    </p:anim>
                                    <p:anim calcmode="lin" valueType="num">
                                      <p:cBhvr>
                                        <p:cTn id="58" dur="1000" fill="hold"/>
                                        <p:tgtEl>
                                          <p:spTgt spid="3">
                                            <p:txEl>
                                              <p:pRg st="10" end="10"/>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60</a:t>
            </a:fld>
            <a:endParaRPr lang="en-US"/>
          </a:p>
        </p:txBody>
      </p:sp>
      <p:sp>
        <p:nvSpPr>
          <p:cNvPr id="7" name="Title 1"/>
          <p:cNvSpPr txBox="1">
            <a:spLocks/>
          </p:cNvSpPr>
          <p:nvPr/>
        </p:nvSpPr>
        <p:spPr>
          <a:xfrm>
            <a:off x="1524000" y="1"/>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rPr>
              <a:t>Old</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Question Papers</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cs typeface="Times New Roman" panose="02020603050405020304" pitchFamily="18" charset="0"/>
            </a:endParaRPr>
          </a:p>
        </p:txBody>
      </p:sp>
      <p:sp>
        <p:nvSpPr>
          <p:cNvPr id="2" name="Content Placeholder 1">
            <a:extLst>
              <a:ext uri="{FF2B5EF4-FFF2-40B4-BE49-F238E27FC236}">
                <a16:creationId xmlns:a16="http://schemas.microsoft.com/office/drawing/2014/main" id="{DB46EDC8-9A19-4821-9AA0-545F66EE0A52}"/>
              </a:ext>
            </a:extLst>
          </p:cNvPr>
          <p:cNvSpPr>
            <a:spLocks noGrp="1"/>
          </p:cNvSpPr>
          <p:nvPr>
            <p:ph idx="1"/>
          </p:nvPr>
        </p:nvSpPr>
        <p:spPr>
          <a:xfrm>
            <a:off x="457200" y="1169482"/>
            <a:ext cx="8229600" cy="4519036"/>
          </a:xfrm>
        </p:spPr>
        <p:txBody>
          <a:bodyPr>
            <a:normAutofit/>
          </a:bodyPr>
          <a:lstStyle/>
          <a:p>
            <a:pPr marL="0" indent="0">
              <a:buNone/>
            </a:pPr>
            <a:r>
              <a:rPr lang="en-US" sz="2000" dirty="0">
                <a:hlinkClick r:id="rId2"/>
              </a:rPr>
              <a:t>First Sessional Set-1 (CSE,IT,CS,ECE,IOT).docx</a:t>
            </a:r>
            <a:endParaRPr lang="en-US" sz="2000" dirty="0"/>
          </a:p>
          <a:p>
            <a:pPr marL="0" indent="0">
              <a:buNone/>
            </a:pPr>
            <a:r>
              <a:rPr lang="en-US" sz="2000" dirty="0">
                <a:hlinkClick r:id="rId3"/>
              </a:rPr>
              <a:t>Second Sessional Set-2 (CSE,IT,CS,ECE,IOT).docx</a:t>
            </a:r>
            <a:endParaRPr lang="en-US" sz="2000" dirty="0"/>
          </a:p>
          <a:p>
            <a:pPr marL="0" indent="0">
              <a:buNone/>
            </a:pPr>
            <a:r>
              <a:rPr lang="en-IN" sz="2000" dirty="0">
                <a:hlinkClick r:id="rId4"/>
              </a:rPr>
              <a:t>Maths IV PUT.docx</a:t>
            </a:r>
            <a:endParaRPr lang="en-IN" sz="2000" dirty="0"/>
          </a:p>
        </p:txBody>
      </p:sp>
      <p:sp>
        <p:nvSpPr>
          <p:cNvPr id="3" name="Footer Placeholder 2"/>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163336516"/>
      </p:ext>
    </p:extLst>
  </p:cSld>
  <p:clrMapOvr>
    <a:masterClrMapping/>
  </p:clrMapOvr>
  <p:transition spd="slow">
    <p:push dir="u"/>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61</a:t>
            </a:fld>
            <a:endParaRPr lang="en-US"/>
          </a:p>
        </p:txBody>
      </p:sp>
      <p:sp>
        <p:nvSpPr>
          <p:cNvPr id="8" name="Title 1"/>
          <p:cNvSpPr txBox="1">
            <a:spLocks noGrp="1"/>
          </p:cNvSpPr>
          <p:nvPr>
            <p:ph type="title"/>
          </p:nvPr>
        </p:nvSpPr>
        <p:spPr>
          <a:xfrm>
            <a:off x="1541172" y="0"/>
            <a:ext cx="7602828"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dirty="0"/>
              <a:t>Dr. Jyoti Singh        Statistics and Probability   Module-1 </a:t>
            </a:r>
          </a:p>
        </p:txBody>
      </p:sp>
      <p:pic>
        <p:nvPicPr>
          <p:cNvPr id="5" name="Picture 4">
            <a:extLst>
              <a:ext uri="{FF2B5EF4-FFF2-40B4-BE49-F238E27FC236}">
                <a16:creationId xmlns:a16="http://schemas.microsoft.com/office/drawing/2014/main" id="{646F58D2-FE5A-4B9D-95BE-B3F46D1A6E8F}"/>
              </a:ext>
            </a:extLst>
          </p:cNvPr>
          <p:cNvPicPr>
            <a:picLocks noChangeAspect="1"/>
          </p:cNvPicPr>
          <p:nvPr/>
        </p:nvPicPr>
        <p:blipFill>
          <a:blip r:embed="rId2"/>
          <a:stretch>
            <a:fillRect/>
          </a:stretch>
        </p:blipFill>
        <p:spPr>
          <a:xfrm>
            <a:off x="990600" y="1066800"/>
            <a:ext cx="7391400" cy="3439005"/>
          </a:xfrm>
          <a:prstGeom prst="rect">
            <a:avLst/>
          </a:prstGeom>
        </p:spPr>
      </p:pic>
      <p:pic>
        <p:nvPicPr>
          <p:cNvPr id="9" name="Picture 8">
            <a:extLst>
              <a:ext uri="{FF2B5EF4-FFF2-40B4-BE49-F238E27FC236}">
                <a16:creationId xmlns:a16="http://schemas.microsoft.com/office/drawing/2014/main" id="{63B7C3C7-EEE8-484B-8808-0C230C658C04}"/>
              </a:ext>
            </a:extLst>
          </p:cNvPr>
          <p:cNvPicPr>
            <a:picLocks noChangeAspect="1"/>
          </p:cNvPicPr>
          <p:nvPr/>
        </p:nvPicPr>
        <p:blipFill>
          <a:blip r:embed="rId3"/>
          <a:stretch>
            <a:fillRect/>
          </a:stretch>
        </p:blipFill>
        <p:spPr>
          <a:xfrm>
            <a:off x="1066800" y="4571787"/>
            <a:ext cx="7086600" cy="1600413"/>
          </a:xfrm>
          <a:prstGeom prst="rect">
            <a:avLst/>
          </a:prstGeom>
        </p:spPr>
      </p:pic>
    </p:spTree>
    <p:extLst>
      <p:ext uri="{BB962C8B-B14F-4D97-AF65-F5344CB8AC3E}">
        <p14:creationId xmlns:p14="http://schemas.microsoft.com/office/powerpoint/2010/main" val="390698461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62</a:t>
            </a:fld>
            <a:endParaRPr lang="en-US"/>
          </a:p>
        </p:txBody>
      </p:sp>
      <p:sp>
        <p:nvSpPr>
          <p:cNvPr id="8" name="Title 1"/>
          <p:cNvSpPr txBox="1">
            <a:spLocks noGrp="1"/>
          </p:cNvSpPr>
          <p:nvPr>
            <p:ph type="title"/>
          </p:nvPr>
        </p:nvSpPr>
        <p:spPr>
          <a:xfrm>
            <a:off x="1660124" y="2146"/>
            <a:ext cx="7483875" cy="72969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2" name="Footer Placeholder 1"/>
          <p:cNvSpPr>
            <a:spLocks noGrp="1"/>
          </p:cNvSpPr>
          <p:nvPr>
            <p:ph type="ftr" sz="quarter" idx="11"/>
          </p:nvPr>
        </p:nvSpPr>
        <p:spPr/>
        <p:txBody>
          <a:bodyPr/>
          <a:lstStyle/>
          <a:p>
            <a:r>
              <a:rPr lang="en-US" dirty="0"/>
              <a:t>Dr. Jyoti Singh        Statistics and Probability   Module-1 </a:t>
            </a:r>
          </a:p>
        </p:txBody>
      </p:sp>
      <p:pic>
        <p:nvPicPr>
          <p:cNvPr id="5" name="Picture 4">
            <a:extLst>
              <a:ext uri="{FF2B5EF4-FFF2-40B4-BE49-F238E27FC236}">
                <a16:creationId xmlns:a16="http://schemas.microsoft.com/office/drawing/2014/main" id="{48C27AB1-F9E3-45D0-9B82-3FEBFB8F6E3C}"/>
              </a:ext>
            </a:extLst>
          </p:cNvPr>
          <p:cNvPicPr>
            <a:picLocks noChangeAspect="1"/>
          </p:cNvPicPr>
          <p:nvPr/>
        </p:nvPicPr>
        <p:blipFill>
          <a:blip r:embed="rId2"/>
          <a:stretch>
            <a:fillRect/>
          </a:stretch>
        </p:blipFill>
        <p:spPr>
          <a:xfrm>
            <a:off x="685800" y="990600"/>
            <a:ext cx="7772399" cy="2724530"/>
          </a:xfrm>
          <a:prstGeom prst="rect">
            <a:avLst/>
          </a:prstGeom>
        </p:spPr>
      </p:pic>
      <p:pic>
        <p:nvPicPr>
          <p:cNvPr id="7" name="Picture 6">
            <a:extLst>
              <a:ext uri="{FF2B5EF4-FFF2-40B4-BE49-F238E27FC236}">
                <a16:creationId xmlns:a16="http://schemas.microsoft.com/office/drawing/2014/main" id="{C6082FAB-7B07-4090-AB4F-2DD8E04EA8EE}"/>
              </a:ext>
            </a:extLst>
          </p:cNvPr>
          <p:cNvPicPr>
            <a:picLocks noChangeAspect="1"/>
          </p:cNvPicPr>
          <p:nvPr/>
        </p:nvPicPr>
        <p:blipFill>
          <a:blip r:embed="rId3"/>
          <a:stretch>
            <a:fillRect/>
          </a:stretch>
        </p:blipFill>
        <p:spPr>
          <a:xfrm>
            <a:off x="914401" y="3943167"/>
            <a:ext cx="7543798" cy="1771833"/>
          </a:xfrm>
          <a:prstGeom prst="rect">
            <a:avLst/>
          </a:prstGeom>
        </p:spPr>
      </p:pic>
    </p:spTree>
    <p:extLst>
      <p:ext uri="{BB962C8B-B14F-4D97-AF65-F5344CB8AC3E}">
        <p14:creationId xmlns:p14="http://schemas.microsoft.com/office/powerpoint/2010/main" val="839411322"/>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63</a:t>
            </a:fld>
            <a:endParaRPr lang="en-US"/>
          </a:p>
        </p:txBody>
      </p:sp>
      <p:sp>
        <p:nvSpPr>
          <p:cNvPr id="8" name="Title 1"/>
          <p:cNvSpPr txBox="1">
            <a:spLocks noGrp="1"/>
          </p:cNvSpPr>
          <p:nvPr>
            <p:ph type="title"/>
          </p:nvPr>
        </p:nvSpPr>
        <p:spPr>
          <a:xfrm>
            <a:off x="1676400" y="19318"/>
            <a:ext cx="7467600"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Dr. Jyoti Singh        Statistics and Probability   Module-1 </a:t>
            </a:r>
          </a:p>
        </p:txBody>
      </p:sp>
      <p:pic>
        <p:nvPicPr>
          <p:cNvPr id="7" name="Picture 6">
            <a:extLst>
              <a:ext uri="{FF2B5EF4-FFF2-40B4-BE49-F238E27FC236}">
                <a16:creationId xmlns:a16="http://schemas.microsoft.com/office/drawing/2014/main" id="{AB35E215-ED8A-4CC4-80E8-8EC554551789}"/>
              </a:ext>
            </a:extLst>
          </p:cNvPr>
          <p:cNvPicPr>
            <a:picLocks noChangeAspect="1"/>
          </p:cNvPicPr>
          <p:nvPr/>
        </p:nvPicPr>
        <p:blipFill>
          <a:blip r:embed="rId2"/>
          <a:stretch>
            <a:fillRect/>
          </a:stretch>
        </p:blipFill>
        <p:spPr>
          <a:xfrm>
            <a:off x="914400" y="990601"/>
            <a:ext cx="7467600" cy="3657600"/>
          </a:xfrm>
          <a:prstGeom prst="rect">
            <a:avLst/>
          </a:prstGeom>
        </p:spPr>
      </p:pic>
      <p:pic>
        <p:nvPicPr>
          <p:cNvPr id="9" name="Picture 8">
            <a:extLst>
              <a:ext uri="{FF2B5EF4-FFF2-40B4-BE49-F238E27FC236}">
                <a16:creationId xmlns:a16="http://schemas.microsoft.com/office/drawing/2014/main" id="{0572AA7D-5000-48F6-9C93-35CAD33ED94D}"/>
              </a:ext>
            </a:extLst>
          </p:cNvPr>
          <p:cNvPicPr>
            <a:picLocks noChangeAspect="1"/>
          </p:cNvPicPr>
          <p:nvPr/>
        </p:nvPicPr>
        <p:blipFill>
          <a:blip r:embed="rId3"/>
          <a:stretch>
            <a:fillRect/>
          </a:stretch>
        </p:blipFill>
        <p:spPr>
          <a:xfrm>
            <a:off x="914400" y="5019504"/>
            <a:ext cx="7467600" cy="1228896"/>
          </a:xfrm>
          <a:prstGeom prst="rect">
            <a:avLst/>
          </a:prstGeom>
        </p:spPr>
      </p:pic>
    </p:spTree>
    <p:extLst>
      <p:ext uri="{BB962C8B-B14F-4D97-AF65-F5344CB8AC3E}">
        <p14:creationId xmlns:p14="http://schemas.microsoft.com/office/powerpoint/2010/main" val="368848121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64</a:t>
            </a:fld>
            <a:endParaRPr lang="en-US"/>
          </a:p>
        </p:txBody>
      </p:sp>
      <p:sp>
        <p:nvSpPr>
          <p:cNvPr id="8" name="Title 1"/>
          <p:cNvSpPr txBox="1">
            <a:spLocks noGrp="1"/>
          </p:cNvSpPr>
          <p:nvPr>
            <p:ph type="title"/>
          </p:nvPr>
        </p:nvSpPr>
        <p:spPr>
          <a:xfrm>
            <a:off x="1598026" y="22538"/>
            <a:ext cx="7545974" cy="731836"/>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Dr. Jyoti Singh        Statistics and Probability   Module-1 </a:t>
            </a:r>
          </a:p>
        </p:txBody>
      </p:sp>
      <p:pic>
        <p:nvPicPr>
          <p:cNvPr id="7" name="Picture 6">
            <a:extLst>
              <a:ext uri="{FF2B5EF4-FFF2-40B4-BE49-F238E27FC236}">
                <a16:creationId xmlns:a16="http://schemas.microsoft.com/office/drawing/2014/main" id="{5E47A160-07D5-4957-8FAD-5D6674051540}"/>
              </a:ext>
            </a:extLst>
          </p:cNvPr>
          <p:cNvPicPr>
            <a:picLocks noChangeAspect="1"/>
          </p:cNvPicPr>
          <p:nvPr/>
        </p:nvPicPr>
        <p:blipFill>
          <a:blip r:embed="rId2"/>
          <a:stretch>
            <a:fillRect/>
          </a:stretch>
        </p:blipFill>
        <p:spPr>
          <a:xfrm>
            <a:off x="1542627" y="1404655"/>
            <a:ext cx="6058746" cy="4048690"/>
          </a:xfrm>
          <a:prstGeom prst="rect">
            <a:avLst/>
          </a:prstGeom>
        </p:spPr>
      </p:pic>
    </p:spTree>
    <p:extLst>
      <p:ext uri="{BB962C8B-B14F-4D97-AF65-F5344CB8AC3E}">
        <p14:creationId xmlns:p14="http://schemas.microsoft.com/office/powerpoint/2010/main" val="363680442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65</a:t>
            </a:fld>
            <a:endParaRPr lang="en-US"/>
          </a:p>
        </p:txBody>
      </p:sp>
      <p:sp>
        <p:nvSpPr>
          <p:cNvPr id="8" name="Title 1"/>
          <p:cNvSpPr txBox="1">
            <a:spLocks noGrp="1"/>
          </p:cNvSpPr>
          <p:nvPr>
            <p:ph type="title"/>
          </p:nvPr>
        </p:nvSpPr>
        <p:spPr>
          <a:xfrm>
            <a:off x="1828800" y="-19318"/>
            <a:ext cx="7315200" cy="70353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Dr. Jyoti Singh        Statistics and Probability   Module-1 </a:t>
            </a:r>
          </a:p>
        </p:txBody>
      </p:sp>
      <p:pic>
        <p:nvPicPr>
          <p:cNvPr id="7" name="Picture 6">
            <a:extLst>
              <a:ext uri="{FF2B5EF4-FFF2-40B4-BE49-F238E27FC236}">
                <a16:creationId xmlns:a16="http://schemas.microsoft.com/office/drawing/2014/main" id="{81588560-69CA-4A34-96DC-55776ED079B2}"/>
              </a:ext>
            </a:extLst>
          </p:cNvPr>
          <p:cNvPicPr>
            <a:picLocks noChangeAspect="1"/>
          </p:cNvPicPr>
          <p:nvPr/>
        </p:nvPicPr>
        <p:blipFill>
          <a:blip r:embed="rId2"/>
          <a:stretch>
            <a:fillRect/>
          </a:stretch>
        </p:blipFill>
        <p:spPr>
          <a:xfrm>
            <a:off x="762000" y="1295400"/>
            <a:ext cx="7852365" cy="4329345"/>
          </a:xfrm>
          <a:prstGeom prst="rect">
            <a:avLst/>
          </a:prstGeom>
        </p:spPr>
      </p:pic>
    </p:spTree>
    <p:extLst>
      <p:ext uri="{BB962C8B-B14F-4D97-AF65-F5344CB8AC3E}">
        <p14:creationId xmlns:p14="http://schemas.microsoft.com/office/powerpoint/2010/main" val="25879255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66</a:t>
            </a:fld>
            <a:endParaRPr lang="en-US"/>
          </a:p>
        </p:txBody>
      </p:sp>
      <p:sp>
        <p:nvSpPr>
          <p:cNvPr id="8" name="Title 1"/>
          <p:cNvSpPr txBox="1">
            <a:spLocks noGrp="1"/>
          </p:cNvSpPr>
          <p:nvPr>
            <p:ph type="title"/>
          </p:nvPr>
        </p:nvSpPr>
        <p:spPr>
          <a:xfrm>
            <a:off x="1752600" y="0"/>
            <a:ext cx="73914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Dr. Jyoti Singh        Statistics and Probability   Module-1 </a:t>
            </a:r>
          </a:p>
        </p:txBody>
      </p:sp>
      <p:pic>
        <p:nvPicPr>
          <p:cNvPr id="7" name="Content Placeholder 6">
            <a:extLst>
              <a:ext uri="{FF2B5EF4-FFF2-40B4-BE49-F238E27FC236}">
                <a16:creationId xmlns:a16="http://schemas.microsoft.com/office/drawing/2014/main" id="{71EF8110-EA64-49B4-A6AB-920EC6589C3C}"/>
              </a:ext>
            </a:extLst>
          </p:cNvPr>
          <p:cNvPicPr>
            <a:picLocks noGrp="1" noChangeAspect="1"/>
          </p:cNvPicPr>
          <p:nvPr>
            <p:ph idx="1"/>
          </p:nvPr>
        </p:nvPicPr>
        <p:blipFill>
          <a:blip r:embed="rId2"/>
          <a:stretch>
            <a:fillRect/>
          </a:stretch>
        </p:blipFill>
        <p:spPr>
          <a:xfrm>
            <a:off x="1066800" y="1143000"/>
            <a:ext cx="7391400" cy="4724400"/>
          </a:xfrm>
          <a:prstGeom prst="rect">
            <a:avLst/>
          </a:prstGeom>
        </p:spPr>
      </p:pic>
    </p:spTree>
    <p:extLst>
      <p:ext uri="{BB962C8B-B14F-4D97-AF65-F5344CB8AC3E}">
        <p14:creationId xmlns:p14="http://schemas.microsoft.com/office/powerpoint/2010/main" val="384116875"/>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67</a:t>
            </a:fld>
            <a:endParaRPr lang="en-US"/>
          </a:p>
        </p:txBody>
      </p:sp>
      <p:sp>
        <p:nvSpPr>
          <p:cNvPr id="8" name="Title 1"/>
          <p:cNvSpPr txBox="1">
            <a:spLocks noGrp="1"/>
          </p:cNvSpPr>
          <p:nvPr>
            <p:ph type="title"/>
          </p:nvPr>
        </p:nvSpPr>
        <p:spPr>
          <a:xfrm>
            <a:off x="1752600" y="0"/>
            <a:ext cx="7391400" cy="64531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Dr. Jyoti Singh        Statistics and Probability   Module-1 </a:t>
            </a:r>
          </a:p>
        </p:txBody>
      </p:sp>
      <p:sp>
        <p:nvSpPr>
          <p:cNvPr id="5" name="Content Placeholder 4">
            <a:extLst>
              <a:ext uri="{FF2B5EF4-FFF2-40B4-BE49-F238E27FC236}">
                <a16:creationId xmlns:a16="http://schemas.microsoft.com/office/drawing/2014/main" id="{765AD767-036F-4E5A-B917-5F3EAAD990A2}"/>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AEDC727-2A68-45FF-B890-0AC0D195970B}"/>
              </a:ext>
            </a:extLst>
          </p:cNvPr>
          <p:cNvPicPr>
            <a:picLocks noChangeAspect="1"/>
          </p:cNvPicPr>
          <p:nvPr/>
        </p:nvPicPr>
        <p:blipFill>
          <a:blip r:embed="rId2"/>
          <a:stretch>
            <a:fillRect/>
          </a:stretch>
        </p:blipFill>
        <p:spPr>
          <a:xfrm>
            <a:off x="457199" y="1143000"/>
            <a:ext cx="8229600" cy="4724400"/>
          </a:xfrm>
          <a:prstGeom prst="rect">
            <a:avLst/>
          </a:prstGeom>
        </p:spPr>
      </p:pic>
    </p:spTree>
    <p:extLst>
      <p:ext uri="{BB962C8B-B14F-4D97-AF65-F5344CB8AC3E}">
        <p14:creationId xmlns:p14="http://schemas.microsoft.com/office/powerpoint/2010/main" val="1563758452"/>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68</a:t>
            </a:fld>
            <a:endParaRPr lang="en-US"/>
          </a:p>
        </p:txBody>
      </p:sp>
      <p:sp>
        <p:nvSpPr>
          <p:cNvPr id="8" name="Title 1"/>
          <p:cNvSpPr txBox="1">
            <a:spLocks noGrp="1"/>
          </p:cNvSpPr>
          <p:nvPr>
            <p:ph type="title"/>
          </p:nvPr>
        </p:nvSpPr>
        <p:spPr>
          <a:xfrm>
            <a:off x="1905000" y="19318"/>
            <a:ext cx="7239000" cy="666482"/>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Dr. Jyoti Singh        Statistics and Probability   Module-1 </a:t>
            </a:r>
          </a:p>
        </p:txBody>
      </p:sp>
      <p:sp>
        <p:nvSpPr>
          <p:cNvPr id="5" name="Content Placeholder 4">
            <a:extLst>
              <a:ext uri="{FF2B5EF4-FFF2-40B4-BE49-F238E27FC236}">
                <a16:creationId xmlns:a16="http://schemas.microsoft.com/office/drawing/2014/main" id="{0917DDCA-7CF9-4099-AEEC-F65AA6AD9E08}"/>
              </a:ext>
            </a:extLst>
          </p:cNvPr>
          <p:cNvSpPr>
            <a:spLocks noGrp="1"/>
          </p:cNvSpPr>
          <p:nvPr>
            <p:ph idx="1"/>
          </p:nvPr>
        </p:nvSpPr>
        <p:spPr/>
        <p:txBody>
          <a:bodyPr/>
          <a:lstStyle/>
          <a:p>
            <a:endParaRPr lang="en-US"/>
          </a:p>
        </p:txBody>
      </p:sp>
      <p:pic>
        <p:nvPicPr>
          <p:cNvPr id="7" name="Picture 6">
            <a:extLst>
              <a:ext uri="{FF2B5EF4-FFF2-40B4-BE49-F238E27FC236}">
                <a16:creationId xmlns:a16="http://schemas.microsoft.com/office/drawing/2014/main" id="{E6A2A8AD-4128-4D79-9298-D7BA2FB110CB}"/>
              </a:ext>
            </a:extLst>
          </p:cNvPr>
          <p:cNvPicPr>
            <a:picLocks noChangeAspect="1"/>
          </p:cNvPicPr>
          <p:nvPr/>
        </p:nvPicPr>
        <p:blipFill>
          <a:blip r:embed="rId2"/>
          <a:stretch>
            <a:fillRect/>
          </a:stretch>
        </p:blipFill>
        <p:spPr>
          <a:xfrm>
            <a:off x="782276" y="1219199"/>
            <a:ext cx="7523524" cy="4800601"/>
          </a:xfrm>
          <a:prstGeom prst="rect">
            <a:avLst/>
          </a:prstGeom>
        </p:spPr>
      </p:pic>
    </p:spTree>
    <p:extLst>
      <p:ext uri="{BB962C8B-B14F-4D97-AF65-F5344CB8AC3E}">
        <p14:creationId xmlns:p14="http://schemas.microsoft.com/office/powerpoint/2010/main" val="3837135613"/>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69</a:t>
            </a:fld>
            <a:endParaRPr lang="en-US"/>
          </a:p>
        </p:txBody>
      </p:sp>
      <p:sp>
        <p:nvSpPr>
          <p:cNvPr id="8" name="Title 1"/>
          <p:cNvSpPr txBox="1">
            <a:spLocks noGrp="1"/>
          </p:cNvSpPr>
          <p:nvPr>
            <p:ph type="title"/>
          </p:nvPr>
        </p:nvSpPr>
        <p:spPr>
          <a:xfrm>
            <a:off x="1600200" y="33270"/>
            <a:ext cx="7543800" cy="775113"/>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7" name="Footer Placeholder 6"/>
          <p:cNvSpPr>
            <a:spLocks noGrp="1"/>
          </p:cNvSpPr>
          <p:nvPr>
            <p:ph type="ftr" sz="quarter" idx="11"/>
          </p:nvPr>
        </p:nvSpPr>
        <p:spPr/>
        <p:txBody>
          <a:bodyPr/>
          <a:lstStyle/>
          <a:p>
            <a:r>
              <a:rPr lang="en-US" dirty="0"/>
              <a:t>Dr. Jyoti Singh        Statistics and Probability   Module-1 </a:t>
            </a:r>
          </a:p>
        </p:txBody>
      </p:sp>
      <p:pic>
        <p:nvPicPr>
          <p:cNvPr id="4" name="Picture 3">
            <a:extLst>
              <a:ext uri="{FF2B5EF4-FFF2-40B4-BE49-F238E27FC236}">
                <a16:creationId xmlns:a16="http://schemas.microsoft.com/office/drawing/2014/main" id="{0CB8F498-20C3-45C8-B977-F3CD49EF044B}"/>
              </a:ext>
            </a:extLst>
          </p:cNvPr>
          <p:cNvPicPr>
            <a:picLocks noChangeAspect="1"/>
          </p:cNvPicPr>
          <p:nvPr/>
        </p:nvPicPr>
        <p:blipFill>
          <a:blip r:embed="rId2"/>
          <a:stretch>
            <a:fillRect/>
          </a:stretch>
        </p:blipFill>
        <p:spPr>
          <a:xfrm>
            <a:off x="838200" y="1676400"/>
            <a:ext cx="7391400" cy="4038600"/>
          </a:xfrm>
          <a:prstGeom prst="rect">
            <a:avLst/>
          </a:prstGeom>
        </p:spPr>
      </p:pic>
    </p:spTree>
    <p:extLst>
      <p:ext uri="{BB962C8B-B14F-4D97-AF65-F5344CB8AC3E}">
        <p14:creationId xmlns:p14="http://schemas.microsoft.com/office/powerpoint/2010/main" val="2544107723"/>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70</a:t>
            </a:fld>
            <a:endParaRPr lang="en-US"/>
          </a:p>
        </p:txBody>
      </p:sp>
      <p:sp>
        <p:nvSpPr>
          <p:cNvPr id="8" name="Title 1"/>
          <p:cNvSpPr txBox="1">
            <a:spLocks noGrp="1"/>
          </p:cNvSpPr>
          <p:nvPr>
            <p:ph type="title"/>
          </p:nvPr>
        </p:nvSpPr>
        <p:spPr>
          <a:xfrm>
            <a:off x="1905000" y="0"/>
            <a:ext cx="7239000" cy="762000"/>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Dr. Jyoti Singh        Statistics and Probability   Module-1 </a:t>
            </a:r>
          </a:p>
        </p:txBody>
      </p:sp>
      <p:pic>
        <p:nvPicPr>
          <p:cNvPr id="7" name="Picture 6">
            <a:extLst>
              <a:ext uri="{FF2B5EF4-FFF2-40B4-BE49-F238E27FC236}">
                <a16:creationId xmlns:a16="http://schemas.microsoft.com/office/drawing/2014/main" id="{FDCE1061-A8CE-4196-B58E-A5D41EDDE513}"/>
              </a:ext>
            </a:extLst>
          </p:cNvPr>
          <p:cNvPicPr>
            <a:picLocks noChangeAspect="1"/>
          </p:cNvPicPr>
          <p:nvPr/>
        </p:nvPicPr>
        <p:blipFill>
          <a:blip r:embed="rId2"/>
          <a:stretch>
            <a:fillRect/>
          </a:stretch>
        </p:blipFill>
        <p:spPr>
          <a:xfrm>
            <a:off x="1075468" y="1143000"/>
            <a:ext cx="7239000" cy="4495800"/>
          </a:xfrm>
          <a:prstGeom prst="rect">
            <a:avLst/>
          </a:prstGeom>
        </p:spPr>
      </p:pic>
    </p:spTree>
    <p:extLst>
      <p:ext uri="{BB962C8B-B14F-4D97-AF65-F5344CB8AC3E}">
        <p14:creationId xmlns:p14="http://schemas.microsoft.com/office/powerpoint/2010/main" val="3640224153"/>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71</a:t>
            </a:fld>
            <a:endParaRPr lang="en-US"/>
          </a:p>
        </p:txBody>
      </p:sp>
      <p:sp>
        <p:nvSpPr>
          <p:cNvPr id="8" name="Title 1"/>
          <p:cNvSpPr txBox="1">
            <a:spLocks noGrp="1"/>
          </p:cNvSpPr>
          <p:nvPr>
            <p:ph type="title"/>
          </p:nvPr>
        </p:nvSpPr>
        <p:spPr>
          <a:xfrm>
            <a:off x="1691828" y="6439"/>
            <a:ext cx="7452172" cy="755561"/>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defRPr/>
            </a:pPr>
            <a:r>
              <a:rPr lang="en-US" sz="2400" b="1" dirty="0"/>
              <a:t>End Semester Question Paper</a:t>
            </a:r>
            <a:endParaRPr kumimoji="0" lang="en-US" sz="2400" b="1" i="0" u="none" strike="noStrike" kern="1200" cap="none" spc="0" normalizeH="0" baseline="0" noProof="0" dirty="0">
              <a:ln>
                <a:noFill/>
              </a:ln>
              <a:solidFill>
                <a:schemeClr val="dk1"/>
              </a:solidFill>
              <a:effectLst/>
              <a:uLnTx/>
              <a:uFillTx/>
              <a:latin typeface="Times New Roman" pitchFamily="18" charset="0"/>
              <a:cs typeface="Times New Roman" pitchFamily="18" charset="0"/>
            </a:endParaRPr>
          </a:p>
        </p:txBody>
      </p:sp>
      <p:sp>
        <p:nvSpPr>
          <p:cNvPr id="3" name="Footer Placeholder 2"/>
          <p:cNvSpPr>
            <a:spLocks noGrp="1"/>
          </p:cNvSpPr>
          <p:nvPr>
            <p:ph type="ftr" sz="quarter" idx="11"/>
          </p:nvPr>
        </p:nvSpPr>
        <p:spPr/>
        <p:txBody>
          <a:bodyPr/>
          <a:lstStyle/>
          <a:p>
            <a:r>
              <a:rPr lang="en-US" dirty="0"/>
              <a:t>Dr. Jyoti Singh        Statistics and Probability   Module-1 </a:t>
            </a:r>
          </a:p>
        </p:txBody>
      </p:sp>
      <p:pic>
        <p:nvPicPr>
          <p:cNvPr id="7" name="Picture 6">
            <a:extLst>
              <a:ext uri="{FF2B5EF4-FFF2-40B4-BE49-F238E27FC236}">
                <a16:creationId xmlns:a16="http://schemas.microsoft.com/office/drawing/2014/main" id="{E750AE95-E9F7-4917-B995-BD6C038A75EE}"/>
              </a:ext>
            </a:extLst>
          </p:cNvPr>
          <p:cNvPicPr>
            <a:picLocks noChangeAspect="1"/>
          </p:cNvPicPr>
          <p:nvPr/>
        </p:nvPicPr>
        <p:blipFill>
          <a:blip r:embed="rId2"/>
          <a:stretch>
            <a:fillRect/>
          </a:stretch>
        </p:blipFill>
        <p:spPr>
          <a:xfrm>
            <a:off x="777428" y="1314154"/>
            <a:ext cx="7452172" cy="4553245"/>
          </a:xfrm>
          <a:prstGeom prst="rect">
            <a:avLst/>
          </a:prstGeom>
        </p:spPr>
      </p:pic>
    </p:spTree>
    <p:extLst>
      <p:ext uri="{BB962C8B-B14F-4D97-AF65-F5344CB8AC3E}">
        <p14:creationId xmlns:p14="http://schemas.microsoft.com/office/powerpoint/2010/main" val="2026853771"/>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3400" y="1143000"/>
            <a:ext cx="8229600" cy="4953000"/>
          </a:xfrm>
        </p:spPr>
        <p:txBody>
          <a:bodyPr>
            <a:noAutofit/>
          </a:bodyPr>
          <a:lstStyle/>
          <a:p>
            <a:pPr marL="0" lvl="0" indent="0">
              <a:buNone/>
            </a:pPr>
            <a:r>
              <a:rPr lang="en-US" sz="2200" b="1" dirty="0">
                <a:latin typeface="Times New Roman" pitchFamily="18" charset="0"/>
                <a:cs typeface="Times New Roman" pitchFamily="18" charset="0"/>
              </a:rPr>
              <a:t>Q1:</a:t>
            </a:r>
            <a:r>
              <a:rPr lang="en-US" sz="2200" dirty="0">
                <a:latin typeface="Times New Roman" pitchFamily="18" charset="0"/>
                <a:cs typeface="Times New Roman" pitchFamily="18" charset="0"/>
              </a:rPr>
              <a:t> An incomplete distribution of families according to their expenditure per week is given below. The median and mode for the distribution are </a:t>
            </a:r>
            <a:r>
              <a:rPr lang="en-US" sz="2200" dirty="0" err="1">
                <a:latin typeface="Times New Roman" pitchFamily="18" charset="0"/>
                <a:cs typeface="Times New Roman" pitchFamily="18" charset="0"/>
              </a:rPr>
              <a:t>Rs</a:t>
            </a:r>
            <a:r>
              <a:rPr lang="en-US" sz="2200" dirty="0">
                <a:latin typeface="Times New Roman" pitchFamily="18" charset="0"/>
                <a:cs typeface="Times New Roman" pitchFamily="18" charset="0"/>
              </a:rPr>
              <a:t> 25 and </a:t>
            </a:r>
            <a:r>
              <a:rPr lang="en-US" sz="2200" dirty="0" err="1">
                <a:latin typeface="Times New Roman" pitchFamily="18" charset="0"/>
                <a:cs typeface="Times New Roman" pitchFamily="18" charset="0"/>
              </a:rPr>
              <a:t>Rs</a:t>
            </a:r>
            <a:r>
              <a:rPr lang="en-US" sz="2200" dirty="0">
                <a:latin typeface="Times New Roman" pitchFamily="18" charset="0"/>
                <a:cs typeface="Times New Roman" pitchFamily="18" charset="0"/>
              </a:rPr>
              <a:t> 24 respectively. Calculate the missing frequencies.</a:t>
            </a:r>
          </a:p>
          <a:p>
            <a:pPr marL="0" lvl="0" indent="0">
              <a:buNone/>
            </a:pPr>
            <a:endParaRPr lang="en-US" sz="2200" dirty="0">
              <a:latin typeface="Times New Roman" pitchFamily="18" charset="0"/>
              <a:cs typeface="Times New Roman" pitchFamily="18" charset="0"/>
            </a:endParaRPr>
          </a:p>
          <a:p>
            <a:pPr marL="0" lvl="0" indent="0">
              <a:buNone/>
            </a:pPr>
            <a:endParaRPr lang="en-US" sz="2200" dirty="0">
              <a:latin typeface="Times New Roman" pitchFamily="18" charset="0"/>
              <a:cs typeface="Times New Roman" pitchFamily="18" charset="0"/>
            </a:endParaRPr>
          </a:p>
          <a:p>
            <a:pPr marL="0" indent="0">
              <a:buNone/>
            </a:pPr>
            <a:r>
              <a:rPr lang="en-US" sz="2200" b="1" dirty="0">
                <a:latin typeface="Times New Roman" pitchFamily="18" charset="0"/>
                <a:cs typeface="Times New Roman" pitchFamily="18" charset="0"/>
              </a:rPr>
              <a:t>Q2:</a:t>
            </a:r>
            <a:r>
              <a:rPr lang="en-US" sz="2200" dirty="0">
                <a:latin typeface="Times New Roman" pitchFamily="18" charset="0"/>
                <a:cs typeface="Times New Roman" pitchFamily="18" charset="0"/>
              </a:rPr>
              <a:t> The first four moments of a distribution about 2 are 1,2.5,5.5 and 16 respectively. Calculate the four moments about mean and  about the origin.</a:t>
            </a:r>
          </a:p>
          <a:p>
            <a:pPr marL="0" indent="0">
              <a:buNone/>
            </a:pPr>
            <a:endParaRPr lang="en-US" sz="2200" dirty="0">
              <a:latin typeface="Times New Roman" pitchFamily="18" charset="0"/>
              <a:cs typeface="Times New Roman" pitchFamily="18" charset="0"/>
            </a:endParaRPr>
          </a:p>
          <a:p>
            <a:pPr marL="0" lvl="0" indent="0">
              <a:buNone/>
            </a:pPr>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						</a:t>
            </a:r>
          </a:p>
          <a:p>
            <a:pPr marL="0" indent="0">
              <a:buNone/>
            </a:pPr>
            <a:endParaRPr lang="en-US" sz="2200" dirty="0">
              <a:latin typeface="Times New Roman" pitchFamily="18" charset="0"/>
              <a:cs typeface="Times New Roman" pitchFamily="18" charset="0"/>
            </a:endParaRPr>
          </a:p>
          <a:p>
            <a:pPr marL="0" lvl="0" indent="0">
              <a:buNone/>
            </a:pPr>
            <a:endParaRPr lang="en-US" sz="2200" dirty="0">
              <a:latin typeface="Times New Roman" pitchFamily="18" charset="0"/>
              <a:cs typeface="Times New Roman" pitchFamily="18" charset="0"/>
            </a:endParaRPr>
          </a:p>
          <a:p>
            <a:pPr marL="0" indent="0">
              <a:buNone/>
            </a:pPr>
            <a:endParaRPr lang="en-US" sz="2200" dirty="0">
              <a:latin typeface="Times New Roman" pitchFamily="18" charset="0"/>
              <a:cs typeface="Times New Roman" pitchFamily="18" charset="0"/>
            </a:endParaRPr>
          </a:p>
        </p:txBody>
      </p:sp>
      <p:sp>
        <p:nvSpPr>
          <p:cNvPr id="5" name="Footer Placeholder 4"/>
          <p:cNvSpPr>
            <a:spLocks noGrp="1"/>
          </p:cNvSpPr>
          <p:nvPr>
            <p:ph type="ftr" sz="quarter" idx="11"/>
          </p:nvPr>
        </p:nvSpPr>
        <p:spPr>
          <a:xfrm>
            <a:off x="2209800" y="6356350"/>
            <a:ext cx="5562600" cy="365125"/>
          </a:xfrm>
        </p:spPr>
        <p:txBody>
          <a:bodyPr/>
          <a:lstStyle/>
          <a:p>
            <a:r>
              <a:rPr lang="en-US" dirty="0"/>
              <a:t>Dr. Jyoti Singh        Statistics and Probability   Module-1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72</a:t>
            </a:fld>
            <a:endParaRPr lang="en-US"/>
          </a:p>
        </p:txBody>
      </p:sp>
      <p:sp>
        <p:nvSpPr>
          <p:cNvPr id="7"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Expected Questions for University Exam(CO1)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graphicFrame>
        <p:nvGraphicFramePr>
          <p:cNvPr id="8" name="Table 7"/>
          <p:cNvGraphicFramePr>
            <a:graphicFrameLocks noGrp="1"/>
          </p:cNvGraphicFramePr>
          <p:nvPr>
            <p:extLst/>
          </p:nvPr>
        </p:nvGraphicFramePr>
        <p:xfrm>
          <a:off x="1143002" y="2590800"/>
          <a:ext cx="6553198" cy="685800"/>
        </p:xfrm>
        <a:graphic>
          <a:graphicData uri="http://schemas.openxmlformats.org/drawingml/2006/table">
            <a:tbl>
              <a:tblPr firstRow="1" firstCol="1" bandRow="1">
                <a:tableStyleId>{5C22544A-7EE6-4342-B048-85BDC9FD1C3A}</a:tableStyleId>
              </a:tblPr>
              <a:tblGrid>
                <a:gridCol w="1901548">
                  <a:extLst>
                    <a:ext uri="{9D8B030D-6E8A-4147-A177-3AD203B41FA5}">
                      <a16:colId xmlns:a16="http://schemas.microsoft.com/office/drawing/2014/main" val="20000"/>
                    </a:ext>
                  </a:extLst>
                </a:gridCol>
                <a:gridCol w="954975">
                  <a:extLst>
                    <a:ext uri="{9D8B030D-6E8A-4147-A177-3AD203B41FA5}">
                      <a16:colId xmlns:a16="http://schemas.microsoft.com/office/drawing/2014/main" val="20001"/>
                    </a:ext>
                  </a:extLst>
                </a:gridCol>
                <a:gridCol w="924168">
                  <a:extLst>
                    <a:ext uri="{9D8B030D-6E8A-4147-A177-3AD203B41FA5}">
                      <a16:colId xmlns:a16="http://schemas.microsoft.com/office/drawing/2014/main" val="20002"/>
                    </a:ext>
                  </a:extLst>
                </a:gridCol>
                <a:gridCol w="840155">
                  <a:extLst>
                    <a:ext uri="{9D8B030D-6E8A-4147-A177-3AD203B41FA5}">
                      <a16:colId xmlns:a16="http://schemas.microsoft.com/office/drawing/2014/main" val="20003"/>
                    </a:ext>
                  </a:extLst>
                </a:gridCol>
                <a:gridCol w="1008184">
                  <a:extLst>
                    <a:ext uri="{9D8B030D-6E8A-4147-A177-3AD203B41FA5}">
                      <a16:colId xmlns:a16="http://schemas.microsoft.com/office/drawing/2014/main" val="20004"/>
                    </a:ext>
                  </a:extLst>
                </a:gridCol>
                <a:gridCol w="924168">
                  <a:extLst>
                    <a:ext uri="{9D8B030D-6E8A-4147-A177-3AD203B41FA5}">
                      <a16:colId xmlns:a16="http://schemas.microsoft.com/office/drawing/2014/main" val="20005"/>
                    </a:ext>
                  </a:extLst>
                </a:gridCol>
              </a:tblGrid>
              <a:tr h="342900">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Expenditure</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0-10</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10-20</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20-30</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30-40</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40-50</a:t>
                      </a:r>
                      <a:endParaRPr lang="en-US" sz="20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0"/>
                  </a:ext>
                </a:extLst>
              </a:tr>
              <a:tr h="342900">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No. of families</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14</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27</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a:t>
                      </a:r>
                      <a:endParaRPr lang="en-US" sz="2000" dirty="0">
                        <a:effectLst/>
                        <a:latin typeface="Times New Roman" panose="02020603050405020304" pitchFamily="18" charset="0"/>
                        <a:ea typeface="Calibri"/>
                        <a:cs typeface="Mangal"/>
                      </a:endParaRPr>
                    </a:p>
                  </a:txBody>
                  <a:tcPr marL="68580" marR="68580" marT="0" marB="0"/>
                </a:tc>
                <a:tc>
                  <a:txBody>
                    <a:bodyPr/>
                    <a:lstStyle/>
                    <a:p>
                      <a:pPr marL="0" marR="0" algn="ctr">
                        <a:lnSpc>
                          <a:spcPct val="115000"/>
                        </a:lnSpc>
                        <a:spcBef>
                          <a:spcPts val="0"/>
                        </a:spcBef>
                        <a:spcAft>
                          <a:spcPts val="0"/>
                        </a:spcAft>
                        <a:tabLst>
                          <a:tab pos="114300" algn="l"/>
                        </a:tabLst>
                      </a:pPr>
                      <a:r>
                        <a:rPr lang="en-US" sz="2000" dirty="0">
                          <a:effectLst/>
                          <a:latin typeface="Times New Roman" panose="02020603050405020304" pitchFamily="18" charset="0"/>
                        </a:rPr>
                        <a:t>15</a:t>
                      </a:r>
                      <a:endParaRPr lang="en-US" sz="2000" dirty="0">
                        <a:effectLst/>
                        <a:latin typeface="Times New Roman" panose="02020603050405020304" pitchFamily="18" charset="0"/>
                        <a:ea typeface="Calibri"/>
                        <a:cs typeface="Mangal"/>
                      </a:endParaRPr>
                    </a:p>
                  </a:txBody>
                  <a:tcPr marL="68580" marR="68580" marT="0" marB="0"/>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397193697"/>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p:cNvSpPr>
                <a:spLocks noGrp="1"/>
              </p:cNvSpPr>
              <p:nvPr>
                <p:ph idx="1"/>
              </p:nvPr>
            </p:nvSpPr>
            <p:spPr>
              <a:xfrm>
                <a:off x="533400" y="1143000"/>
                <a:ext cx="8229600" cy="4953000"/>
              </a:xfrm>
            </p:spPr>
            <p:txBody>
              <a:bodyPr>
                <a:noAutofit/>
              </a:bodyPr>
              <a:lstStyle/>
              <a:p>
                <a:pPr marL="0" lvl="0" indent="0">
                  <a:buNone/>
                </a:pPr>
                <a:r>
                  <a:rPr lang="en-US" sz="2200" b="1" dirty="0"/>
                  <a:t>Q3: </a:t>
                </a:r>
                <a:r>
                  <a:rPr lang="en-US" sz="2200" dirty="0"/>
                  <a:t>Calculate the mean and standard deviation for the following data:</a:t>
                </a:r>
              </a:p>
              <a:p>
                <a:pPr marL="0" indent="0">
                  <a:buNone/>
                </a:pPr>
                <a:endParaRPr lang="en-US" sz="2200" dirty="0">
                  <a:latin typeface="Times New Roman" pitchFamily="18" charset="0"/>
                  <a:cs typeface="Times New Roman" pitchFamily="18" charset="0"/>
                </a:endParaRPr>
              </a:p>
              <a:p>
                <a:pPr marL="0" lvl="0" indent="0">
                  <a:buNone/>
                </a:pPr>
                <a:endParaRPr lang="en-US" sz="2200" dirty="0">
                  <a:latin typeface="Times New Roman" pitchFamily="18" charset="0"/>
                  <a:cs typeface="Times New Roman" pitchFamily="18" charset="0"/>
                </a:endParaRPr>
              </a:p>
              <a:p>
                <a:pPr marL="0" indent="0">
                  <a:buNone/>
                </a:pPr>
                <a:r>
                  <a:rPr lang="en-US" sz="2200" dirty="0">
                    <a:latin typeface="Times New Roman" pitchFamily="18" charset="0"/>
                    <a:cs typeface="Times New Roman" pitchFamily="18" charset="0"/>
                  </a:rPr>
                  <a:t>						</a:t>
                </a:r>
              </a:p>
              <a:p>
                <a:pPr marL="0" indent="0">
                  <a:buNone/>
                </a:pPr>
                <a:r>
                  <a:rPr lang="en-US" sz="2200" b="1" dirty="0">
                    <a:latin typeface="Times New Roman" pitchFamily="18" charset="0"/>
                    <a:cs typeface="Times New Roman" pitchFamily="18" charset="0"/>
                  </a:rPr>
                  <a:t>Q4: </a:t>
                </a:r>
                <a:r>
                  <a:rPr lang="en-US" sz="2200" dirty="0">
                    <a:latin typeface="Times New Roman" pitchFamily="18" charset="0"/>
                    <a:cs typeface="Times New Roman" pitchFamily="18" charset="0"/>
                  </a:rPr>
                  <a:t>The first four moments of the distribution about the value 4 of the variable are -1.5, 17, -30, and 108. Find the moments about mean, </a:t>
                </a:r>
                <a14:m>
                  <m:oMath xmlns:m="http://schemas.openxmlformats.org/officeDocument/2006/math">
                    <m:sSub>
                      <m:sSubPr>
                        <m:ctrlPr>
                          <a:rPr lang="en-US" sz="2200" i="1" smtClean="0">
                            <a:latin typeface="Cambria Math" panose="02040503050406030204" pitchFamily="18" charset="0"/>
                            <a:cs typeface="Times New Roman" pitchFamily="18" charset="0"/>
                          </a:rPr>
                        </m:ctrlPr>
                      </m:sSubPr>
                      <m:e>
                        <m:r>
                          <a:rPr lang="en-US" sz="2200" i="1" smtClean="0">
                            <a:latin typeface="Cambria Math" panose="02040503050406030204" pitchFamily="18" charset="0"/>
                            <a:ea typeface="Cambria Math" panose="02040503050406030204" pitchFamily="18" charset="0"/>
                          </a:rPr>
                          <m:t>𝛽</m:t>
                        </m:r>
                      </m:e>
                      <m:sub>
                        <m:r>
                          <a:rPr lang="en-US" sz="2200" b="0" i="1" smtClean="0">
                            <a:latin typeface="Cambria Math" panose="02040503050406030204" pitchFamily="18" charset="0"/>
                            <a:cs typeface="Times New Roman" pitchFamily="18" charset="0"/>
                          </a:rPr>
                          <m:t>1</m:t>
                        </m:r>
                      </m:sub>
                    </m:sSub>
                  </m:oMath>
                </a14:m>
                <a:r>
                  <a:rPr lang="en-US" sz="2200" b="1" dirty="0">
                    <a:latin typeface="Times New Roman" pitchFamily="18" charset="0"/>
                    <a:cs typeface="Times New Roman" pitchFamily="18" charset="0"/>
                  </a:rPr>
                  <a:t> </a:t>
                </a:r>
                <a:r>
                  <a:rPr lang="en-US" sz="2200" dirty="0">
                    <a:latin typeface="Times New Roman" pitchFamily="18" charset="0"/>
                    <a:cs typeface="Times New Roman" pitchFamily="18" charset="0"/>
                  </a:rPr>
                  <a:t>and </a:t>
                </a:r>
                <a14:m>
                  <m:oMath xmlns:m="http://schemas.openxmlformats.org/officeDocument/2006/math">
                    <m:sSub>
                      <m:sSubPr>
                        <m:ctrlPr>
                          <a:rPr lang="en-US" sz="2200" i="1">
                            <a:latin typeface="Cambria Math" panose="02040503050406030204" pitchFamily="18" charset="0"/>
                          </a:rPr>
                        </m:ctrlPr>
                      </m:sSubPr>
                      <m:e>
                        <m:r>
                          <a:rPr lang="en-US" sz="2200" i="1">
                            <a:latin typeface="Cambria Math" panose="02040503050406030204" pitchFamily="18" charset="0"/>
                            <a:ea typeface="Cambria Math" panose="02040503050406030204" pitchFamily="18" charset="0"/>
                          </a:rPr>
                          <m:t>𝛽</m:t>
                        </m:r>
                      </m:e>
                      <m:sub>
                        <m:r>
                          <a:rPr lang="en-US" sz="2200" b="0" i="1" smtClean="0">
                            <a:latin typeface="Cambria Math" panose="02040503050406030204" pitchFamily="18" charset="0"/>
                          </a:rPr>
                          <m:t>2</m:t>
                        </m:r>
                      </m:sub>
                    </m:sSub>
                  </m:oMath>
                </a14:m>
                <a:r>
                  <a:rPr lang="en-US" sz="2200" dirty="0">
                    <a:latin typeface="Times New Roman" pitchFamily="18" charset="0"/>
                    <a:cs typeface="Times New Roman" pitchFamily="18" charset="0"/>
                  </a:rPr>
                  <a:t>.</a:t>
                </a:r>
              </a:p>
              <a:p>
                <a:pPr marL="0" lvl="0" indent="0">
                  <a:buNone/>
                </a:pPr>
                <a:endParaRPr lang="en-US" sz="2200" dirty="0">
                  <a:latin typeface="Times New Roman" pitchFamily="18" charset="0"/>
                  <a:cs typeface="Times New Roman" pitchFamily="18" charset="0"/>
                </a:endParaRPr>
              </a:p>
              <a:p>
                <a:pPr marL="0" indent="0">
                  <a:buNone/>
                </a:pPr>
                <a:endParaRPr lang="en-US" sz="2200" dirty="0">
                  <a:latin typeface="Times New Roman" pitchFamily="18" charset="0"/>
                  <a:cs typeface="Times New Roman" pitchFamily="18" charset="0"/>
                </a:endParaRPr>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xfrm>
                <a:off x="533400" y="1143000"/>
                <a:ext cx="8229600" cy="4953000"/>
              </a:xfrm>
              <a:blipFill>
                <a:blip r:embed="rId2"/>
                <a:stretch>
                  <a:fillRect l="-963" t="-862"/>
                </a:stretch>
              </a:blipFill>
            </p:spPr>
            <p:txBody>
              <a:bodyPr/>
              <a:lstStyle/>
              <a:p>
                <a:r>
                  <a:rPr lang="en-US">
                    <a:noFill/>
                  </a:rPr>
                  <a:t> </a:t>
                </a:r>
              </a:p>
            </p:txBody>
          </p:sp>
        </mc:Fallback>
      </mc:AlternateContent>
      <p:sp>
        <p:nvSpPr>
          <p:cNvPr id="5" name="Footer Placeholder 4"/>
          <p:cNvSpPr>
            <a:spLocks noGrp="1"/>
          </p:cNvSpPr>
          <p:nvPr>
            <p:ph type="ftr" sz="quarter" idx="11"/>
          </p:nvPr>
        </p:nvSpPr>
        <p:spPr>
          <a:xfrm>
            <a:off x="2209800" y="6356350"/>
            <a:ext cx="5562600" cy="365125"/>
          </a:xfrm>
        </p:spPr>
        <p:txBody>
          <a:bodyPr/>
          <a:lstStyle/>
          <a:p>
            <a:r>
              <a:rPr lang="en-US" dirty="0"/>
              <a:t>Dr. Jyoti Singh        Statistics and Probability   Module-1 </a:t>
            </a:r>
          </a:p>
        </p:txBody>
      </p:sp>
      <p:sp>
        <p:nvSpPr>
          <p:cNvPr id="6" name="Slide Number Placeholder 5"/>
          <p:cNvSpPr>
            <a:spLocks noGrp="1"/>
          </p:cNvSpPr>
          <p:nvPr>
            <p:ph type="sldNum" sz="quarter" idx="12"/>
          </p:nvPr>
        </p:nvSpPr>
        <p:spPr/>
        <p:txBody>
          <a:bodyPr/>
          <a:lstStyle/>
          <a:p>
            <a:fld id="{B6F15528-21DE-4FAA-801E-634DDDAF4B2B}" type="slidenum">
              <a:rPr lang="en-US" smtClean="0"/>
              <a:pPr/>
              <a:t>73</a:t>
            </a:fld>
            <a:endParaRPr lang="en-US"/>
          </a:p>
        </p:txBody>
      </p:sp>
      <p:sp>
        <p:nvSpPr>
          <p:cNvPr id="7" name="Title 1"/>
          <p:cNvSpPr txBox="1">
            <a:spLocks/>
          </p:cNvSpPr>
          <p:nvPr/>
        </p:nvSpPr>
        <p:spPr>
          <a:xfrm>
            <a:off x="1752600" y="1"/>
            <a:ext cx="73914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rPr>
              <a:t>Expected Questions for University Exam(CO1) </a:t>
            </a:r>
            <a:endParaRPr kumimoji="0" lang="en-US" sz="2400" b="1" i="0" u="none" strike="noStrike" kern="1200" cap="none" spc="0" normalizeH="0" baseline="0" noProof="0" dirty="0">
              <a:ln>
                <a:noFill/>
              </a:ln>
              <a:solidFill>
                <a:schemeClr val="dk1"/>
              </a:solidFill>
              <a:effectLst/>
              <a:uLnTx/>
              <a:uFillTx/>
              <a:latin typeface="Times New Roman" panose="02020603050405020304" pitchFamily="18" charset="0"/>
            </a:endParaRPr>
          </a:p>
        </p:txBody>
      </p:sp>
      <p:graphicFrame>
        <p:nvGraphicFramePr>
          <p:cNvPr id="2" name="Table 1">
            <a:extLst>
              <a:ext uri="{FF2B5EF4-FFF2-40B4-BE49-F238E27FC236}">
                <a16:creationId xmlns:a16="http://schemas.microsoft.com/office/drawing/2014/main" id="{C30A03FF-BE21-4660-B00D-2DC9AE4DDD54}"/>
              </a:ext>
            </a:extLst>
          </p:cNvPr>
          <p:cNvGraphicFramePr>
            <a:graphicFrameLocks noGrp="1"/>
          </p:cNvGraphicFramePr>
          <p:nvPr>
            <p:extLst/>
          </p:nvPr>
        </p:nvGraphicFramePr>
        <p:xfrm>
          <a:off x="1066800" y="1676400"/>
          <a:ext cx="7086600" cy="1010920"/>
        </p:xfrm>
        <a:graphic>
          <a:graphicData uri="http://schemas.openxmlformats.org/drawingml/2006/table">
            <a:tbl>
              <a:tblPr firstRow="1" bandRow="1">
                <a:tableStyleId>{5C22544A-7EE6-4342-B048-85BDC9FD1C3A}</a:tableStyleId>
              </a:tblPr>
              <a:tblGrid>
                <a:gridCol w="1388096">
                  <a:extLst>
                    <a:ext uri="{9D8B030D-6E8A-4147-A177-3AD203B41FA5}">
                      <a16:colId xmlns:a16="http://schemas.microsoft.com/office/drawing/2014/main" val="3566647417"/>
                    </a:ext>
                  </a:extLst>
                </a:gridCol>
                <a:gridCol w="876692">
                  <a:extLst>
                    <a:ext uri="{9D8B030D-6E8A-4147-A177-3AD203B41FA5}">
                      <a16:colId xmlns:a16="http://schemas.microsoft.com/office/drawing/2014/main" val="3540916081"/>
                    </a:ext>
                  </a:extLst>
                </a:gridCol>
                <a:gridCol w="730578">
                  <a:extLst>
                    <a:ext uri="{9D8B030D-6E8A-4147-A177-3AD203B41FA5}">
                      <a16:colId xmlns:a16="http://schemas.microsoft.com/office/drawing/2014/main" val="4158764076"/>
                    </a:ext>
                  </a:extLst>
                </a:gridCol>
                <a:gridCol w="876692">
                  <a:extLst>
                    <a:ext uri="{9D8B030D-6E8A-4147-A177-3AD203B41FA5}">
                      <a16:colId xmlns:a16="http://schemas.microsoft.com/office/drawing/2014/main" val="1469794974"/>
                    </a:ext>
                  </a:extLst>
                </a:gridCol>
                <a:gridCol w="876692">
                  <a:extLst>
                    <a:ext uri="{9D8B030D-6E8A-4147-A177-3AD203B41FA5}">
                      <a16:colId xmlns:a16="http://schemas.microsoft.com/office/drawing/2014/main" val="1653737099"/>
                    </a:ext>
                  </a:extLst>
                </a:gridCol>
                <a:gridCol w="803636">
                  <a:extLst>
                    <a:ext uri="{9D8B030D-6E8A-4147-A177-3AD203B41FA5}">
                      <a16:colId xmlns:a16="http://schemas.microsoft.com/office/drawing/2014/main" val="1404104010"/>
                    </a:ext>
                  </a:extLst>
                </a:gridCol>
                <a:gridCol w="803636">
                  <a:extLst>
                    <a:ext uri="{9D8B030D-6E8A-4147-A177-3AD203B41FA5}">
                      <a16:colId xmlns:a16="http://schemas.microsoft.com/office/drawing/2014/main" val="654022955"/>
                    </a:ext>
                  </a:extLst>
                </a:gridCol>
                <a:gridCol w="730578">
                  <a:extLst>
                    <a:ext uri="{9D8B030D-6E8A-4147-A177-3AD203B41FA5}">
                      <a16:colId xmlns:a16="http://schemas.microsoft.com/office/drawing/2014/main" val="3082218269"/>
                    </a:ext>
                  </a:extLst>
                </a:gridCol>
              </a:tblGrid>
              <a:tr h="370840">
                <a:tc>
                  <a:txBody>
                    <a:bodyPr/>
                    <a:lstStyle/>
                    <a:p>
                      <a:r>
                        <a:rPr lang="en-US" dirty="0"/>
                        <a:t>Size of item</a:t>
                      </a:r>
                    </a:p>
                  </a:txBody>
                  <a:tcPr/>
                </a:tc>
                <a:tc>
                  <a:txBody>
                    <a:bodyPr/>
                    <a:lstStyle/>
                    <a:p>
                      <a:r>
                        <a:rPr lang="en-US" dirty="0"/>
                        <a:t>6</a:t>
                      </a:r>
                    </a:p>
                  </a:txBody>
                  <a:tcPr/>
                </a:tc>
                <a:tc>
                  <a:txBody>
                    <a:bodyPr/>
                    <a:lstStyle/>
                    <a:p>
                      <a:r>
                        <a:rPr lang="en-US" dirty="0"/>
                        <a:t>7</a:t>
                      </a:r>
                    </a:p>
                  </a:txBody>
                  <a:tcPr/>
                </a:tc>
                <a:tc>
                  <a:txBody>
                    <a:bodyPr/>
                    <a:lstStyle/>
                    <a:p>
                      <a:r>
                        <a:rPr lang="en-US" dirty="0"/>
                        <a:t>8</a:t>
                      </a:r>
                    </a:p>
                  </a:txBody>
                  <a:tcPr/>
                </a:tc>
                <a:tc>
                  <a:txBody>
                    <a:bodyPr/>
                    <a:lstStyle/>
                    <a:p>
                      <a:r>
                        <a:rPr lang="en-US" dirty="0"/>
                        <a:t>9</a:t>
                      </a:r>
                    </a:p>
                  </a:txBody>
                  <a:tcPr/>
                </a:tc>
                <a:tc>
                  <a:txBody>
                    <a:bodyPr/>
                    <a:lstStyle/>
                    <a:p>
                      <a:r>
                        <a:rPr lang="en-US" dirty="0"/>
                        <a:t>10</a:t>
                      </a:r>
                    </a:p>
                  </a:txBody>
                  <a:tcPr/>
                </a:tc>
                <a:tc>
                  <a:txBody>
                    <a:bodyPr/>
                    <a:lstStyle/>
                    <a:p>
                      <a:r>
                        <a:rPr lang="en-US" dirty="0"/>
                        <a:t>11</a:t>
                      </a:r>
                    </a:p>
                  </a:txBody>
                  <a:tcPr/>
                </a:tc>
                <a:tc>
                  <a:txBody>
                    <a:bodyPr/>
                    <a:lstStyle/>
                    <a:p>
                      <a:r>
                        <a:rPr lang="en-US" dirty="0"/>
                        <a:t>12</a:t>
                      </a:r>
                    </a:p>
                  </a:txBody>
                  <a:tcPr/>
                </a:tc>
                <a:extLst>
                  <a:ext uri="{0D108BD9-81ED-4DB2-BD59-A6C34878D82A}">
                    <a16:rowId xmlns:a16="http://schemas.microsoft.com/office/drawing/2014/main" val="1303256374"/>
                  </a:ext>
                </a:extLst>
              </a:tr>
              <a:tr h="370840">
                <a:tc>
                  <a:txBody>
                    <a:bodyPr/>
                    <a:lstStyle/>
                    <a:p>
                      <a:r>
                        <a:rPr lang="en-US" dirty="0"/>
                        <a:t>Frequency</a:t>
                      </a:r>
                    </a:p>
                  </a:txBody>
                  <a:tcPr/>
                </a:tc>
                <a:tc>
                  <a:txBody>
                    <a:bodyPr/>
                    <a:lstStyle/>
                    <a:p>
                      <a:r>
                        <a:rPr lang="en-US" dirty="0"/>
                        <a:t>3</a:t>
                      </a:r>
                    </a:p>
                  </a:txBody>
                  <a:tcPr/>
                </a:tc>
                <a:tc>
                  <a:txBody>
                    <a:bodyPr/>
                    <a:lstStyle/>
                    <a:p>
                      <a:r>
                        <a:rPr lang="en-US" dirty="0"/>
                        <a:t>6</a:t>
                      </a:r>
                    </a:p>
                  </a:txBody>
                  <a:tcPr/>
                </a:tc>
                <a:tc>
                  <a:txBody>
                    <a:bodyPr/>
                    <a:lstStyle/>
                    <a:p>
                      <a:r>
                        <a:rPr lang="en-US" dirty="0"/>
                        <a:t>9</a:t>
                      </a:r>
                    </a:p>
                  </a:txBody>
                  <a:tcPr/>
                </a:tc>
                <a:tc>
                  <a:txBody>
                    <a:bodyPr/>
                    <a:lstStyle/>
                    <a:p>
                      <a:r>
                        <a:rPr lang="en-US" dirty="0"/>
                        <a:t>13</a:t>
                      </a:r>
                    </a:p>
                  </a:txBody>
                  <a:tcPr/>
                </a:tc>
                <a:tc>
                  <a:txBody>
                    <a:bodyPr/>
                    <a:lstStyle/>
                    <a:p>
                      <a:r>
                        <a:rPr lang="en-US" dirty="0"/>
                        <a:t>8</a:t>
                      </a:r>
                    </a:p>
                  </a:txBody>
                  <a:tcPr/>
                </a:tc>
                <a:tc>
                  <a:txBody>
                    <a:bodyPr/>
                    <a:lstStyle/>
                    <a:p>
                      <a:r>
                        <a:rPr lang="en-US" dirty="0"/>
                        <a:t>5</a:t>
                      </a:r>
                    </a:p>
                  </a:txBody>
                  <a:tcPr/>
                </a:tc>
                <a:tc>
                  <a:txBody>
                    <a:bodyPr/>
                    <a:lstStyle/>
                    <a:p>
                      <a:r>
                        <a:rPr lang="en-US" dirty="0"/>
                        <a:t>4</a:t>
                      </a:r>
                    </a:p>
                  </a:txBody>
                  <a:tcPr/>
                </a:tc>
                <a:extLst>
                  <a:ext uri="{0D108BD9-81ED-4DB2-BD59-A6C34878D82A}">
                    <a16:rowId xmlns:a16="http://schemas.microsoft.com/office/drawing/2014/main" val="575277928"/>
                  </a:ext>
                </a:extLst>
              </a:tr>
            </a:tbl>
          </a:graphicData>
        </a:graphic>
      </p:graphicFrame>
    </p:spTree>
    <p:extLst>
      <p:ext uri="{BB962C8B-B14F-4D97-AF65-F5344CB8AC3E}">
        <p14:creationId xmlns:p14="http://schemas.microsoft.com/office/powerpoint/2010/main" val="232621811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1"/>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References</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(CO3)</a:t>
            </a:r>
          </a:p>
        </p:txBody>
      </p:sp>
      <p:sp>
        <p:nvSpPr>
          <p:cNvPr id="9" name="Content Placeholder 8"/>
          <p:cNvSpPr>
            <a:spLocks noGrp="1"/>
          </p:cNvSpPr>
          <p:nvPr>
            <p:ph idx="1"/>
          </p:nvPr>
        </p:nvSpPr>
        <p:spPr>
          <a:xfrm>
            <a:off x="457200" y="1295400"/>
            <a:ext cx="8305800" cy="4290405"/>
          </a:xfrm>
          <a:prstGeom prst="rect">
            <a:avLst/>
          </a:prstGeom>
          <a:noFill/>
        </p:spPr>
        <p:txBody>
          <a:bodyPr wrap="square" lIns="91440" tIns="45720" rIns="91440" bIns="45720">
            <a:spAutoFit/>
          </a:bodyPr>
          <a:lstStyle/>
          <a:p>
            <a:pPr marL="0" lvl="0" indent="0" algn="ctr">
              <a:buNone/>
            </a:pPr>
            <a:r>
              <a:rPr lang="en-US" sz="2200" b="1" u="sng" dirty="0"/>
              <a:t>Text Books</a:t>
            </a:r>
          </a:p>
          <a:p>
            <a:pPr lvl="0"/>
            <a:r>
              <a:rPr lang="en-US" sz="2200" dirty="0"/>
              <a:t>N. P. Bali: A Textbook of Engineering Mathematics-IV, University Science Press.</a:t>
            </a:r>
          </a:p>
          <a:p>
            <a:pPr marL="0" lvl="0" indent="0">
              <a:buNone/>
            </a:pPr>
            <a:endParaRPr lang="en-US" sz="2200" dirty="0"/>
          </a:p>
          <a:p>
            <a:pPr lvl="0"/>
            <a:r>
              <a:rPr lang="en-US" sz="2200" dirty="0"/>
              <a:t>H. K. </a:t>
            </a:r>
            <a:r>
              <a:rPr lang="en-US" sz="2200" dirty="0" err="1"/>
              <a:t>Dass</a:t>
            </a:r>
            <a:r>
              <a:rPr lang="en-US" sz="2200" dirty="0"/>
              <a:t>: Introduction to Engineering Mathematics, S. Chand.</a:t>
            </a:r>
          </a:p>
          <a:p>
            <a:pPr lvl="0"/>
            <a:endParaRPr lang="en-US" sz="2200" dirty="0"/>
          </a:p>
          <a:p>
            <a:pPr lvl="0"/>
            <a:r>
              <a:rPr lang="en-US" sz="2200" dirty="0"/>
              <a:t>S. Ross: A First Course in Probability, 6th Ed., Pearson Education India, 2002.</a:t>
            </a:r>
          </a:p>
          <a:p>
            <a:pPr lvl="0"/>
            <a:endParaRPr lang="en-US" sz="2200" dirty="0"/>
          </a:p>
          <a:p>
            <a:pPr lvl="0"/>
            <a:r>
              <a:rPr lang="en-US" sz="2200" dirty="0"/>
              <a:t>W. Feller, An Introduction to Probability Theory and its Applications, Vol. 1, 3rd Ed., Wiley, 1968.</a:t>
            </a:r>
          </a:p>
        </p:txBody>
      </p:sp>
      <p:sp>
        <p:nvSpPr>
          <p:cNvPr id="2" name="Slide Number Placeholder 1"/>
          <p:cNvSpPr>
            <a:spLocks noGrp="1"/>
          </p:cNvSpPr>
          <p:nvPr>
            <p:ph type="sldNum" sz="quarter" idx="12"/>
          </p:nvPr>
        </p:nvSpPr>
        <p:spPr/>
        <p:txBody>
          <a:bodyPr/>
          <a:lstStyle/>
          <a:p>
            <a:fld id="{B6F15528-21DE-4FAA-801E-634DDDAF4B2B}" type="slidenum">
              <a:rPr lang="en-US" smtClean="0"/>
              <a:pPr/>
              <a:t>74</a:t>
            </a:fld>
            <a:endParaRPr lang="en-US"/>
          </a:p>
        </p:txBody>
      </p:sp>
      <p:sp>
        <p:nvSpPr>
          <p:cNvPr id="3" name="Footer Placeholder 2"/>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41530188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5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Effect transition="in" filter="fade">
                                      <p:cBhvr>
                                        <p:cTn id="27"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1524000" y="1"/>
            <a:ext cx="7620000" cy="685799"/>
          </a:xfrm>
          <a:prstGeom prst="rect">
            <a:avLst/>
          </a:prstGeom>
        </p:spPr>
        <p:style>
          <a:lnRef idx="1">
            <a:schemeClr val="accent5"/>
          </a:lnRef>
          <a:fillRef idx="2">
            <a:schemeClr val="accent5"/>
          </a:fillRef>
          <a:effectRef idx="1">
            <a:schemeClr val="accent5"/>
          </a:effectRef>
          <a:fontRef idx="minor">
            <a:schemeClr val="dk1"/>
          </a:fontRef>
        </p:style>
        <p:txBody>
          <a:bodyPr vert="horz" lIns="91440" tIns="45720" rIns="91440" bIns="45720" rtlCol="0" anchor="ctr">
            <a:noAutofit/>
          </a:bodyPr>
          <a:lstStyle/>
          <a:p>
            <a:pPr lvl="0" algn="ctr">
              <a:spcBef>
                <a:spcPct val="0"/>
              </a:spcBef>
              <a:defRPr/>
            </a:pPr>
            <a:r>
              <a:rPr lang="en-US" sz="2400" b="1" dirty="0">
                <a:latin typeface="Times New Roman" panose="02020603050405020304" pitchFamily="18" charset="0"/>
                <a:cs typeface="Times New Roman" panose="02020603050405020304" pitchFamily="18" charset="0"/>
              </a:rPr>
              <a:t>References</a:t>
            </a:r>
            <a:r>
              <a:rPr kumimoji="0" lang="en-US" sz="2400" b="1" i="0" u="none" strike="noStrike" kern="1200" cap="none" spc="0" normalizeH="0" noProof="0" dirty="0">
                <a:ln>
                  <a:noFill/>
                </a:ln>
                <a:solidFill>
                  <a:schemeClr val="dk1"/>
                </a:solidFill>
                <a:effectLst/>
                <a:uLnTx/>
                <a:uFillTx/>
                <a:latin typeface="Times New Roman" panose="02020603050405020304" pitchFamily="18" charset="0"/>
                <a:cs typeface="Times New Roman" panose="02020603050405020304" pitchFamily="18" charset="0"/>
              </a:rPr>
              <a:t> (CO3)</a:t>
            </a:r>
          </a:p>
        </p:txBody>
      </p:sp>
      <p:sp>
        <p:nvSpPr>
          <p:cNvPr id="9" name="Content Placeholder 8"/>
          <p:cNvSpPr>
            <a:spLocks noGrp="1"/>
          </p:cNvSpPr>
          <p:nvPr>
            <p:ph idx="1"/>
          </p:nvPr>
        </p:nvSpPr>
        <p:spPr>
          <a:xfrm>
            <a:off x="381000" y="1219200"/>
            <a:ext cx="8610600" cy="4628960"/>
          </a:xfrm>
          <a:prstGeom prst="rect">
            <a:avLst/>
          </a:prstGeom>
          <a:noFill/>
        </p:spPr>
        <p:txBody>
          <a:bodyPr wrap="square" lIns="91440" tIns="45720" rIns="91440" bIns="45720">
            <a:spAutoFit/>
          </a:bodyPr>
          <a:lstStyle/>
          <a:p>
            <a:pPr algn="ctr">
              <a:buNone/>
            </a:pPr>
            <a:r>
              <a:rPr lang="en-US" sz="2200" b="1" u="sng" dirty="0"/>
              <a:t>Reference Books</a:t>
            </a:r>
            <a:endParaRPr lang="en-US" sz="2200" u="sng" dirty="0"/>
          </a:p>
          <a:p>
            <a:r>
              <a:rPr lang="en-US" sz="2200" dirty="0"/>
              <a:t>P. G. </a:t>
            </a:r>
            <a:r>
              <a:rPr lang="en-US" sz="2200" dirty="0" err="1"/>
              <a:t>Hoel</a:t>
            </a:r>
            <a:r>
              <a:rPr lang="en-US" sz="2200" dirty="0"/>
              <a:t>, S. C. Port and C. J. Stone, Introduction to Probability Theory, Universal Book Stall, 2003(Reprint).</a:t>
            </a:r>
          </a:p>
          <a:p>
            <a:pPr lvl="0"/>
            <a:endParaRPr lang="en-US" sz="2200" dirty="0"/>
          </a:p>
          <a:p>
            <a:pPr lvl="0"/>
            <a:r>
              <a:rPr lang="en-US" sz="2200" dirty="0"/>
              <a:t>R.K. Jain and S.R.K. </a:t>
            </a:r>
            <a:r>
              <a:rPr lang="en-US" sz="2200" dirty="0" err="1"/>
              <a:t>Iyenger</a:t>
            </a:r>
            <a:r>
              <a:rPr lang="en-US" sz="2200" dirty="0"/>
              <a:t>: Advance Engineering Mathematics; </a:t>
            </a:r>
            <a:r>
              <a:rPr lang="en-US" sz="2200" dirty="0" err="1"/>
              <a:t>Narosa</a:t>
            </a:r>
            <a:r>
              <a:rPr lang="en-US" sz="2200" dirty="0"/>
              <a:t> Publishing House, New Delhi.</a:t>
            </a:r>
          </a:p>
          <a:p>
            <a:pPr lvl="0"/>
            <a:endParaRPr lang="en-US" sz="2200" dirty="0"/>
          </a:p>
          <a:p>
            <a:pPr lvl="0"/>
            <a:r>
              <a:rPr lang="en-US" sz="2200" dirty="0"/>
              <a:t>J.N. </a:t>
            </a:r>
            <a:r>
              <a:rPr lang="en-US" sz="2200" dirty="0" err="1"/>
              <a:t>Kapur</a:t>
            </a:r>
            <a:r>
              <a:rPr lang="en-US" sz="2200" dirty="0"/>
              <a:t>: Mathematical Statistics; S. Chand &amp; Sons Company Limited, New Delhi.</a:t>
            </a:r>
          </a:p>
          <a:p>
            <a:pPr lvl="0"/>
            <a:endParaRPr lang="en-US" sz="2200" dirty="0"/>
          </a:p>
          <a:p>
            <a:pPr lvl="0"/>
            <a:r>
              <a:rPr lang="en-US" sz="2200" dirty="0" err="1"/>
              <a:t>D.N.Elhance,V</a:t>
            </a:r>
            <a:r>
              <a:rPr lang="en-US" sz="2200" dirty="0"/>
              <a:t>. </a:t>
            </a:r>
            <a:r>
              <a:rPr lang="en-US" sz="2200" dirty="0" err="1"/>
              <a:t>Elhance</a:t>
            </a:r>
            <a:r>
              <a:rPr lang="en-US" sz="2200" dirty="0"/>
              <a:t> &amp; B.M. Aggarwal: Fundamentals of Statistics; Kitab Mahal Distributers, New Delhi.</a:t>
            </a:r>
          </a:p>
        </p:txBody>
      </p:sp>
      <p:sp>
        <p:nvSpPr>
          <p:cNvPr id="2" name="Slide Number Placeholder 1"/>
          <p:cNvSpPr>
            <a:spLocks noGrp="1"/>
          </p:cNvSpPr>
          <p:nvPr>
            <p:ph type="sldNum" sz="quarter" idx="12"/>
          </p:nvPr>
        </p:nvSpPr>
        <p:spPr/>
        <p:txBody>
          <a:bodyPr/>
          <a:lstStyle/>
          <a:p>
            <a:fld id="{B6F15528-21DE-4FAA-801E-634DDDAF4B2B}" type="slidenum">
              <a:rPr lang="en-US" smtClean="0"/>
              <a:pPr/>
              <a:t>75</a:t>
            </a:fld>
            <a:endParaRPr lang="en-US"/>
          </a:p>
        </p:txBody>
      </p:sp>
      <p:sp>
        <p:nvSpPr>
          <p:cNvPr id="3" name="Footer Placeholder 2"/>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40390782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9">
                                            <p:txEl>
                                              <p:pRg st="1" end="1"/>
                                            </p:txEl>
                                          </p:spTgt>
                                        </p:tgtEl>
                                        <p:attrNameLst>
                                          <p:attrName>style.visibility</p:attrName>
                                        </p:attrNameLst>
                                      </p:cBhvr>
                                      <p:to>
                                        <p:strVal val="visible"/>
                                      </p:to>
                                    </p:set>
                                    <p:animEffect transition="in" filter="fade">
                                      <p:cBhvr>
                                        <p:cTn id="12" dur="500"/>
                                        <p:tgtEl>
                                          <p:spTgt spid="9">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9">
                                            <p:txEl>
                                              <p:pRg st="3" end="3"/>
                                            </p:txEl>
                                          </p:spTgt>
                                        </p:tgtEl>
                                        <p:attrNameLst>
                                          <p:attrName>style.visibility</p:attrName>
                                        </p:attrNameLst>
                                      </p:cBhvr>
                                      <p:to>
                                        <p:strVal val="visible"/>
                                      </p:to>
                                    </p:set>
                                    <p:animEffect transition="in" filter="fade">
                                      <p:cBhvr>
                                        <p:cTn id="17" dur="500"/>
                                        <p:tgtEl>
                                          <p:spTgt spid="9">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9">
                                            <p:txEl>
                                              <p:pRg st="5" end="5"/>
                                            </p:txEl>
                                          </p:spTgt>
                                        </p:tgtEl>
                                        <p:attrNameLst>
                                          <p:attrName>style.visibility</p:attrName>
                                        </p:attrNameLst>
                                      </p:cBhvr>
                                      <p:to>
                                        <p:strVal val="visible"/>
                                      </p:to>
                                    </p:set>
                                    <p:animEffect transition="in" filter="fade">
                                      <p:cBhvr>
                                        <p:cTn id="22" dur="500"/>
                                        <p:tgtEl>
                                          <p:spTgt spid="9">
                                            <p:txEl>
                                              <p:pRg st="5" end="5"/>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7" end="7"/>
                                            </p:txEl>
                                          </p:spTgt>
                                        </p:tgtEl>
                                        <p:attrNameLst>
                                          <p:attrName>style.visibility</p:attrName>
                                        </p:attrNameLst>
                                      </p:cBhvr>
                                      <p:to>
                                        <p:strVal val="visible"/>
                                      </p:to>
                                    </p:set>
                                    <p:animEffect transition="in" filter="fade">
                                      <p:cBhvr>
                                        <p:cTn id="27" dur="500"/>
                                        <p:tgtEl>
                                          <p:spTgt spid="9">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B6F15528-21DE-4FAA-801E-634DDDAF4B2B}" type="slidenum">
              <a:rPr lang="en-US" smtClean="0"/>
              <a:pPr/>
              <a:t>76</a:t>
            </a:fld>
            <a:endParaRPr lang="en-US"/>
          </a:p>
        </p:txBody>
      </p:sp>
      <p:sp>
        <p:nvSpPr>
          <p:cNvPr id="9" name="Content Placeholder 8"/>
          <p:cNvSpPr>
            <a:spLocks noGrp="1"/>
          </p:cNvSpPr>
          <p:nvPr>
            <p:ph idx="1"/>
          </p:nvPr>
        </p:nvSpPr>
        <p:spPr>
          <a:xfrm>
            <a:off x="533400" y="1143000"/>
            <a:ext cx="8229600" cy="4525963"/>
          </a:xfrm>
          <a:prstGeom prst="rect">
            <a:avLst/>
          </a:prstGeom>
          <a:noFill/>
        </p:spPr>
        <p:txBody>
          <a:bodyPr wrap="none" lIns="91440" tIns="45720" rIns="91440" bIns="45720">
            <a:spAutoFit/>
          </a:bodyPr>
          <a:lstStyle/>
          <a:p>
            <a:pPr algn="ctr">
              <a:buNone/>
            </a:pPr>
            <a:r>
              <a:rPr lang="en-US" sz="6600" b="1" dirty="0">
                <a:ln w="10541" cmpd="sng">
                  <a:solidFill>
                    <a:schemeClr val="accent1">
                      <a:shade val="88000"/>
                      <a:satMod val="110000"/>
                    </a:schemeClr>
                  </a:solidFill>
                  <a:prstDash val="solid"/>
                </a:ln>
                <a:gradFill>
                  <a:gsLst>
                    <a:gs pos="0">
                      <a:schemeClr val="accent1">
                        <a:tint val="40000"/>
                        <a:satMod val="250000"/>
                      </a:schemeClr>
                    </a:gs>
                    <a:gs pos="9000">
                      <a:schemeClr val="accent1">
                        <a:tint val="52000"/>
                        <a:satMod val="300000"/>
                      </a:schemeClr>
                    </a:gs>
                    <a:gs pos="50000">
                      <a:schemeClr val="accent1">
                        <a:shade val="20000"/>
                        <a:satMod val="300000"/>
                      </a:schemeClr>
                    </a:gs>
                    <a:gs pos="79000">
                      <a:schemeClr val="accent1">
                        <a:tint val="52000"/>
                        <a:satMod val="300000"/>
                      </a:schemeClr>
                    </a:gs>
                    <a:gs pos="100000">
                      <a:schemeClr val="accent1">
                        <a:tint val="40000"/>
                        <a:satMod val="250000"/>
                      </a:schemeClr>
                    </a:gs>
                  </a:gsLst>
                  <a:lin ang="5400000"/>
                </a:gradFill>
              </a:rPr>
              <a:t>Thank You</a:t>
            </a:r>
          </a:p>
        </p:txBody>
      </p:sp>
      <p:sp>
        <p:nvSpPr>
          <p:cNvPr id="2" name="Footer Placeholder 1"/>
          <p:cNvSpPr>
            <a:spLocks noGrp="1"/>
          </p:cNvSpPr>
          <p:nvPr>
            <p:ph type="ftr" sz="quarter" idx="11"/>
          </p:nvPr>
        </p:nvSpPr>
        <p:spPr/>
        <p:txBody>
          <a:bodyPr/>
          <a:lstStyle/>
          <a:p>
            <a:r>
              <a:rPr lang="en-US" dirty="0"/>
              <a:t>Dr. Jyoti Singh        Statistics and Probability   Module 3 </a:t>
            </a:r>
          </a:p>
        </p:txBody>
      </p:sp>
    </p:spTree>
    <p:extLst>
      <p:ext uri="{BB962C8B-B14F-4D97-AF65-F5344CB8AC3E}">
        <p14:creationId xmlns:p14="http://schemas.microsoft.com/office/powerpoint/2010/main" val="2945062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6" presetClass="emph" presetSubtype="0" fill="hold" grpId="0" nodeType="clickEffect">
                                  <p:stCondLst>
                                    <p:cond delay="0"/>
                                  </p:stCondLst>
                                  <p:childTnLst>
                                    <p:animScale>
                                      <p:cBhvr>
                                        <p:cTn id="6" dur="2000" fill="hold"/>
                                        <p:tgtEl>
                                          <p:spTgt spid="9">
                                            <p:txEl>
                                              <p:pRg st="0" end="0"/>
                                            </p:txEl>
                                          </p:spTgt>
                                        </p:tgtEl>
                                      </p:cBhvr>
                                      <p:by x="150000" y="150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bldLst>
  </p:timing>
</p:sld>
</file>

<file path=ppt/theme/theme1.xml><?xml version="1.0" encoding="utf-8"?>
<a:theme xmlns:a="http://schemas.openxmlformats.org/drawingml/2006/main" name="Office Theme">
  <a:themeElements>
    <a:clrScheme name="Custom 1">
      <a:dk1>
        <a:sysClr val="windowText" lastClr="000000"/>
      </a:dk1>
      <a:lt1>
        <a:sysClr val="window" lastClr="FFFFFF"/>
      </a:lt1>
      <a:dk2>
        <a:srgbClr val="000000"/>
      </a:dk2>
      <a:lt2>
        <a:srgbClr val="FFC000"/>
      </a:lt2>
      <a:accent1>
        <a:srgbClr val="FF0000"/>
      </a:accent1>
      <a:accent2>
        <a:srgbClr val="C00000"/>
      </a:accent2>
      <a:accent3>
        <a:srgbClr val="FF0000"/>
      </a:accent3>
      <a:accent4>
        <a:srgbClr val="C00000"/>
      </a:accent4>
      <a:accent5>
        <a:srgbClr val="FF0000"/>
      </a:accent5>
      <a:accent6>
        <a:srgbClr val="C00000"/>
      </a:accent6>
      <a:hlink>
        <a:srgbClr val="C00000"/>
      </a:hlink>
      <a:folHlink>
        <a:srgbClr val="C00000"/>
      </a:folHlink>
    </a:clrScheme>
    <a:fontScheme name="Custom 1">
      <a:majorFont>
        <a:latin typeface="Times New Roman"/>
        <a:ea typeface=""/>
        <a:cs typeface=""/>
      </a:majorFont>
      <a:minorFont>
        <a:latin typeface="Times New Roman"/>
        <a:ea typeface=""/>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1_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1_Office Theme">
  <a:themeElements>
    <a:clrScheme name="Custom 1">
      <a:dk1>
        <a:sysClr val="windowText" lastClr="000000"/>
      </a:dk1>
      <a:lt1>
        <a:sysClr val="window" lastClr="FFFFFF"/>
      </a:lt1>
      <a:dk2>
        <a:srgbClr val="000000"/>
      </a:dk2>
      <a:lt2>
        <a:srgbClr val="FFC000"/>
      </a:lt2>
      <a:accent1>
        <a:srgbClr val="FF0000"/>
      </a:accent1>
      <a:accent2>
        <a:srgbClr val="C00000"/>
      </a:accent2>
      <a:accent3>
        <a:srgbClr val="FF0000"/>
      </a:accent3>
      <a:accent4>
        <a:srgbClr val="C00000"/>
      </a:accent4>
      <a:accent5>
        <a:srgbClr val="FF0000"/>
      </a:accent5>
      <a:accent6>
        <a:srgbClr val="C00000"/>
      </a:accent6>
      <a:hlink>
        <a:srgbClr val="C00000"/>
      </a:hlink>
      <a:folHlink>
        <a:srgbClr val="C00000"/>
      </a:folHlink>
    </a:clrScheme>
    <a:fontScheme name="Times New Roman-Arial">
      <a:majorFont>
        <a:latin typeface="Times New Roman" panose="02020603050405020304"/>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panose="020B0604020202020204"/>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465F5D2497114C46BF668ACF705D6D91" ma:contentTypeVersion="6" ma:contentTypeDescription="Create a new document." ma:contentTypeScope="" ma:versionID="e1d907458d78491f7eb7a4723304f702">
  <xsd:schema xmlns:xsd="http://www.w3.org/2001/XMLSchema" xmlns:xs="http://www.w3.org/2001/XMLSchema" xmlns:p="http://schemas.microsoft.com/office/2006/metadata/properties" xmlns:ns2="1272c761-4f4b-4b2f-848f-3595bd28f94f" xmlns:ns3="ade6cbf7-db5e-4e10-bca8-d98d5ec0529f" targetNamespace="http://schemas.microsoft.com/office/2006/metadata/properties" ma:root="true" ma:fieldsID="7c2f0fa6a83d8244edb5e790f580adc2" ns2:_="" ns3:_="">
    <xsd:import namespace="1272c761-4f4b-4b2f-848f-3595bd28f94f"/>
    <xsd:import namespace="ade6cbf7-db5e-4e10-bca8-d98d5ec0529f"/>
    <xsd:element name="properties">
      <xsd:complexType>
        <xsd:sequence>
          <xsd:element name="documentManagement">
            <xsd:complexType>
              <xsd:all>
                <xsd:element ref="ns2:MediaServiceMetadata" minOccurs="0"/>
                <xsd:element ref="ns2:MediaServiceFastMetadata" minOccurs="0"/>
                <xsd:element ref="ns2:MediaServiceObjectDetectorVersions" minOccurs="0"/>
                <xsd:element ref="ns3:SharedWithUsers" minOccurs="0"/>
                <xsd:element ref="ns3:SharedWithDetails"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272c761-4f4b-4b2f-848f-3595bd28f94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bjectDetectorVersions" ma:index="10" nillable="true" ma:displayName="MediaServiceObjectDetectorVersions" ma:hidden="true" ma:indexed="true" ma:internalName="MediaServiceObjectDetectorVersions" ma:readOnly="true">
      <xsd:simpleType>
        <xsd:restriction base="dms:Text"/>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de6cbf7-db5e-4e10-bca8-d98d5ec0529f"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6B3F2790-7AB3-4905-B34C-0D420860F14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272c761-4f4b-4b2f-848f-3595bd28f94f"/>
    <ds:schemaRef ds:uri="ade6cbf7-db5e-4e10-bca8-d98d5ec0529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CC515D13-A47C-4B46-B500-418892D532E7}">
  <ds:schemaRefs>
    <ds:schemaRef ds:uri="http://schemas.microsoft.com/sharepoint/v3/contenttype/forms"/>
  </ds:schemaRefs>
</ds:datastoreItem>
</file>

<file path=customXml/itemProps3.xml><?xml version="1.0" encoding="utf-8"?>
<ds:datastoreItem xmlns:ds="http://schemas.openxmlformats.org/officeDocument/2006/customXml" ds:itemID="{B98F8DA0-950A-492D-A2B9-2360E624092B}">
  <ds:schemaRefs>
    <ds:schemaRef ds:uri="http://purl.org/dc/terms/"/>
    <ds:schemaRef ds:uri="ade6cbf7-db5e-4e10-bca8-d98d5ec0529f"/>
    <ds:schemaRef ds:uri="http://schemas.microsoft.com/office/infopath/2007/PartnerControls"/>
    <ds:schemaRef ds:uri="http://purl.org/dc/elements/1.1/"/>
    <ds:schemaRef ds:uri="http://purl.org/dc/dcmitype/"/>
    <ds:schemaRef ds:uri="http://schemas.microsoft.com/office/2006/metadata/properties"/>
    <ds:schemaRef ds:uri="http://schemas.microsoft.com/office/2006/documentManagement/types"/>
    <ds:schemaRef ds:uri="http://schemas.openxmlformats.org/package/2006/metadata/core-properties"/>
    <ds:schemaRef ds:uri="1272c761-4f4b-4b2f-848f-3595bd28f94f"/>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4209</TotalTime>
  <Words>6622</Words>
  <Application>Microsoft Office PowerPoint</Application>
  <PresentationFormat>On-screen Show (4:3)</PresentationFormat>
  <Paragraphs>976</Paragraphs>
  <Slides>76</Slides>
  <Notes>10</Notes>
  <HiddenSlides>0</HiddenSlides>
  <MMClips>0</MMClips>
  <ScaleCrop>false</ScaleCrop>
  <HeadingPairs>
    <vt:vector size="6" baseType="variant">
      <vt:variant>
        <vt:lpstr>Fonts Used</vt:lpstr>
      </vt:variant>
      <vt:variant>
        <vt:i4>10</vt:i4>
      </vt:variant>
      <vt:variant>
        <vt:lpstr>Theme</vt:lpstr>
      </vt:variant>
      <vt:variant>
        <vt:i4>5</vt:i4>
      </vt:variant>
      <vt:variant>
        <vt:lpstr>Slide Titles</vt:lpstr>
      </vt:variant>
      <vt:variant>
        <vt:i4>76</vt:i4>
      </vt:variant>
    </vt:vector>
  </HeadingPairs>
  <TitlesOfParts>
    <vt:vector size="91" baseType="lpstr">
      <vt:lpstr>Arial</vt:lpstr>
      <vt:lpstr>Calibri</vt:lpstr>
      <vt:lpstr>Cambria Math</vt:lpstr>
      <vt:lpstr>Mangal</vt:lpstr>
      <vt:lpstr>Open Sans</vt:lpstr>
      <vt:lpstr>Times New Roman</vt:lpstr>
      <vt:lpstr>TimesNewRomanPS-BoldMT</vt:lpstr>
      <vt:lpstr>TimesNewRomanPSMT</vt:lpstr>
      <vt:lpstr>Tinos</vt:lpstr>
      <vt:lpstr>Wingdings</vt:lpstr>
      <vt:lpstr>Office Theme</vt:lpstr>
      <vt:lpstr>2_Custom Design</vt:lpstr>
      <vt:lpstr>Custom Design</vt:lpstr>
      <vt:lpstr>1_Custom Design</vt:lpstr>
      <vt:lpstr>1_Office Theme</vt:lpstr>
      <vt:lpstr>Noida Institute of Engineering and Technology, Greater Noida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End Semester Question Paper</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Noida Institute of Engineering and Technology, Greater Noida</dc:title>
  <dc:creator>Raman</dc:creator>
  <cp:lastModifiedBy>Ms. Jyoti Singh </cp:lastModifiedBy>
  <cp:revision>318</cp:revision>
  <dcterms:created xsi:type="dcterms:W3CDTF">2006-08-16T00:00:00Z</dcterms:created>
  <dcterms:modified xsi:type="dcterms:W3CDTF">2025-09-13T11:07:33Z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0x010100465F5D2497114C46BF668ACF705D6D91</vt:lpwstr>
  </property>
</Properties>
</file>