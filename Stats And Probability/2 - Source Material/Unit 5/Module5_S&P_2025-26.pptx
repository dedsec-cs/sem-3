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0"/>
  </p:notesMasterIdLst>
  <p:handoutMasterIdLst>
    <p:handoutMasterId r:id="rId171"/>
  </p:handoutMasterIdLst>
  <p:sldIdLst>
    <p:sldId id="728" r:id="rId2"/>
    <p:sldId id="593" r:id="rId3"/>
    <p:sldId id="613" r:id="rId4"/>
    <p:sldId id="610" r:id="rId5"/>
    <p:sldId id="756" r:id="rId6"/>
    <p:sldId id="757" r:id="rId7"/>
    <p:sldId id="758" r:id="rId8"/>
    <p:sldId id="257" r:id="rId9"/>
    <p:sldId id="455" r:id="rId10"/>
    <p:sldId id="454" r:id="rId11"/>
    <p:sldId id="314" r:id="rId12"/>
    <p:sldId id="272" r:id="rId13"/>
    <p:sldId id="307" r:id="rId14"/>
    <p:sldId id="308" r:id="rId15"/>
    <p:sldId id="309" r:id="rId16"/>
    <p:sldId id="311" r:id="rId17"/>
    <p:sldId id="312" r:id="rId18"/>
    <p:sldId id="313" r:id="rId19"/>
    <p:sldId id="306" r:id="rId20"/>
    <p:sldId id="316" r:id="rId21"/>
    <p:sldId id="317" r:id="rId22"/>
    <p:sldId id="318" r:id="rId23"/>
    <p:sldId id="319" r:id="rId24"/>
    <p:sldId id="320" r:id="rId25"/>
    <p:sldId id="321" r:id="rId26"/>
    <p:sldId id="322" r:id="rId27"/>
    <p:sldId id="323" r:id="rId28"/>
    <p:sldId id="324" r:id="rId29"/>
    <p:sldId id="325" r:id="rId30"/>
    <p:sldId id="326" r:id="rId31"/>
    <p:sldId id="327" r:id="rId32"/>
    <p:sldId id="328" r:id="rId33"/>
    <p:sldId id="258" r:id="rId34"/>
    <p:sldId id="690" r:id="rId35"/>
    <p:sldId id="691" r:id="rId36"/>
    <p:sldId id="330" r:id="rId37"/>
    <p:sldId id="331" r:id="rId38"/>
    <p:sldId id="461" r:id="rId39"/>
    <p:sldId id="458" r:id="rId40"/>
    <p:sldId id="459" r:id="rId41"/>
    <p:sldId id="460" r:id="rId42"/>
    <p:sldId id="332" r:id="rId43"/>
    <p:sldId id="333" r:id="rId44"/>
    <p:sldId id="334" r:id="rId45"/>
    <p:sldId id="335" r:id="rId46"/>
    <p:sldId id="336" r:id="rId47"/>
    <p:sldId id="337" r:id="rId48"/>
    <p:sldId id="338" r:id="rId49"/>
    <p:sldId id="342" r:id="rId50"/>
    <p:sldId id="456" r:id="rId51"/>
    <p:sldId id="346" r:id="rId52"/>
    <p:sldId id="347" r:id="rId53"/>
    <p:sldId id="348" r:id="rId54"/>
    <p:sldId id="343" r:id="rId55"/>
    <p:sldId id="350" r:id="rId56"/>
    <p:sldId id="351" r:id="rId57"/>
    <p:sldId id="352" r:id="rId58"/>
    <p:sldId id="354" r:id="rId59"/>
    <p:sldId id="355" r:id="rId60"/>
    <p:sldId id="463" r:id="rId61"/>
    <p:sldId id="365" r:id="rId62"/>
    <p:sldId id="259" r:id="rId63"/>
    <p:sldId id="260" r:id="rId64"/>
    <p:sldId id="261" r:id="rId65"/>
    <p:sldId id="262" r:id="rId66"/>
    <p:sldId id="263" r:id="rId67"/>
    <p:sldId id="683" r:id="rId68"/>
    <p:sldId id="265" r:id="rId69"/>
    <p:sldId id="684" r:id="rId70"/>
    <p:sldId id="268" r:id="rId71"/>
    <p:sldId id="685" r:id="rId72"/>
    <p:sldId id="462" r:id="rId73"/>
    <p:sldId id="353" r:id="rId74"/>
    <p:sldId id="356" r:id="rId75"/>
    <p:sldId id="357" r:id="rId76"/>
    <p:sldId id="358" r:id="rId77"/>
    <p:sldId id="359" r:id="rId78"/>
    <p:sldId id="360" r:id="rId79"/>
    <p:sldId id="361" r:id="rId80"/>
    <p:sldId id="362" r:id="rId81"/>
    <p:sldId id="363" r:id="rId82"/>
    <p:sldId id="364" r:id="rId83"/>
    <p:sldId id="366" r:id="rId84"/>
    <p:sldId id="367" r:id="rId85"/>
    <p:sldId id="368" r:id="rId86"/>
    <p:sldId id="315" r:id="rId87"/>
    <p:sldId id="369" r:id="rId88"/>
    <p:sldId id="370" r:id="rId89"/>
    <p:sldId id="371" r:id="rId90"/>
    <p:sldId id="687" r:id="rId91"/>
    <p:sldId id="382" r:id="rId92"/>
    <p:sldId id="464" r:id="rId93"/>
    <p:sldId id="375" r:id="rId94"/>
    <p:sldId id="376" r:id="rId95"/>
    <p:sldId id="381" r:id="rId96"/>
    <p:sldId id="377" r:id="rId97"/>
    <p:sldId id="378" r:id="rId98"/>
    <p:sldId id="379" r:id="rId99"/>
    <p:sldId id="380" r:id="rId100"/>
    <p:sldId id="373" r:id="rId101"/>
    <p:sldId id="374" r:id="rId102"/>
    <p:sldId id="383" r:id="rId103"/>
    <p:sldId id="384" r:id="rId104"/>
    <p:sldId id="387" r:id="rId105"/>
    <p:sldId id="385" r:id="rId106"/>
    <p:sldId id="386" r:id="rId107"/>
    <p:sldId id="400" r:id="rId108"/>
    <p:sldId id="401" r:id="rId109"/>
    <p:sldId id="414" r:id="rId110"/>
    <p:sldId id="465" r:id="rId111"/>
    <p:sldId id="403" r:id="rId112"/>
    <p:sldId id="404" r:id="rId113"/>
    <p:sldId id="406" r:id="rId114"/>
    <p:sldId id="413" r:id="rId115"/>
    <p:sldId id="405" r:id="rId116"/>
    <p:sldId id="407" r:id="rId117"/>
    <p:sldId id="408" r:id="rId118"/>
    <p:sldId id="409" r:id="rId119"/>
    <p:sldId id="410" r:id="rId120"/>
    <p:sldId id="411" r:id="rId121"/>
    <p:sldId id="412" r:id="rId122"/>
    <p:sldId id="415" r:id="rId123"/>
    <p:sldId id="416" r:id="rId124"/>
    <p:sldId id="417" r:id="rId125"/>
    <p:sldId id="418" r:id="rId126"/>
    <p:sldId id="419" r:id="rId127"/>
    <p:sldId id="420" r:id="rId128"/>
    <p:sldId id="421" r:id="rId129"/>
    <p:sldId id="422" r:id="rId130"/>
    <p:sldId id="423" r:id="rId131"/>
    <p:sldId id="424" r:id="rId132"/>
    <p:sldId id="425" r:id="rId133"/>
    <p:sldId id="426" r:id="rId134"/>
    <p:sldId id="427" r:id="rId135"/>
    <p:sldId id="430" r:id="rId136"/>
    <p:sldId id="429" r:id="rId137"/>
    <p:sldId id="434" r:id="rId138"/>
    <p:sldId id="435" r:id="rId139"/>
    <p:sldId id="436" r:id="rId140"/>
    <p:sldId id="437" r:id="rId141"/>
    <p:sldId id="432" r:id="rId142"/>
    <p:sldId id="397" r:id="rId143"/>
    <p:sldId id="393" r:id="rId144"/>
    <p:sldId id="466" r:id="rId145"/>
    <p:sldId id="273" r:id="rId146"/>
    <p:sldId id="301" r:id="rId147"/>
    <p:sldId id="300" r:id="rId148"/>
    <p:sldId id="302" r:id="rId149"/>
    <p:sldId id="264" r:id="rId150"/>
    <p:sldId id="303" r:id="rId151"/>
    <p:sldId id="304" r:id="rId152"/>
    <p:sldId id="692" r:id="rId153"/>
    <p:sldId id="693" r:id="rId154"/>
    <p:sldId id="679" r:id="rId155"/>
    <p:sldId id="883" r:id="rId156"/>
    <p:sldId id="884" r:id="rId157"/>
    <p:sldId id="885" r:id="rId158"/>
    <p:sldId id="886" r:id="rId159"/>
    <p:sldId id="887" r:id="rId160"/>
    <p:sldId id="888" r:id="rId161"/>
    <p:sldId id="889" r:id="rId162"/>
    <p:sldId id="890" r:id="rId163"/>
    <p:sldId id="891" r:id="rId164"/>
    <p:sldId id="892" r:id="rId165"/>
    <p:sldId id="893" r:id="rId166"/>
    <p:sldId id="754" r:id="rId167"/>
    <p:sldId id="894" r:id="rId168"/>
    <p:sldId id="755" r:id="rId1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71" autoAdjust="0"/>
  </p:normalViewPr>
  <p:slideViewPr>
    <p:cSldViewPr>
      <p:cViewPr varScale="1">
        <p:scale>
          <a:sx n="105" d="100"/>
          <a:sy n="105" d="100"/>
        </p:scale>
        <p:origin x="1968" y="114"/>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handoutMaster" Target="handoutMasters/handoutMaster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7/28/2025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25661760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7/28/2025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74322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2295114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351741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1023761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2991748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306011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74F3A79B-38CB-4FE7-95EA-D8F7DEB8A21F}"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19200" y="990600"/>
            <a:ext cx="7467600" cy="427038"/>
          </a:xfrm>
        </p:spPr>
        <p:txBody>
          <a:bodyPr>
            <a:normAutofit/>
          </a:bodyPr>
          <a:lstStyle>
            <a:lvl1pPr>
              <a:defRPr sz="2400"/>
            </a:lvl1pPr>
          </a:lstStyle>
          <a:p>
            <a:r>
              <a:rPr lang="en-US" dirty="0"/>
              <a:t>Click to edit Master title style</a:t>
            </a:r>
          </a:p>
        </p:txBody>
      </p:sp>
      <p:sp>
        <p:nvSpPr>
          <p:cNvPr id="3" name="Content Placeholder 2"/>
          <p:cNvSpPr>
            <a:spLocks noGrp="1"/>
          </p:cNvSpPr>
          <p:nvPr>
            <p:ph idx="1"/>
          </p:nvPr>
        </p:nvSpPr>
        <p:spPr/>
        <p:txBody>
          <a:bodyPr/>
          <a:lstStyle>
            <a:lvl1pPr>
              <a:defRPr b="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BEF7444-DEB1-4DBB-8C94-874F8770D88F}"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66472C-C54E-42A1-964C-05859E1AE11D}"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2DA540-BA33-4AC8-9494-F52FE25A4AF9}"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AD520FA-2479-4F57-A749-1A2601BFA42F}" type="datetime1">
              <a:rPr lang="en-US" smtClean="0"/>
              <a:t>7/28/2025</a:t>
            </a:fld>
            <a:endParaRPr lang="en-US"/>
          </a:p>
        </p:txBody>
      </p:sp>
      <p:sp>
        <p:nvSpPr>
          <p:cNvPr id="8" name="Footer Placeholder 7"/>
          <p:cNvSpPr>
            <a:spLocks noGrp="1"/>
          </p:cNvSpPr>
          <p:nvPr>
            <p:ph type="ftr" sz="quarter" idx="11"/>
          </p:nvPr>
        </p:nvSpPr>
        <p:spPr/>
        <p:txBody>
          <a:bodyPr/>
          <a:lstStyle/>
          <a:p>
            <a:r>
              <a:rPr lang="en-US"/>
              <a:t>Dr. Lokesh chaudhary       Statistics and Probability   Module-5</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a:lvl1pPr>
          </a:lstStyle>
          <a:p>
            <a:r>
              <a:rPr lang="en-US" dirty="0"/>
              <a:t>Click to edit Master title style</a:t>
            </a:r>
          </a:p>
        </p:txBody>
      </p:sp>
      <p:sp>
        <p:nvSpPr>
          <p:cNvPr id="3" name="Date Placeholder 2"/>
          <p:cNvSpPr>
            <a:spLocks noGrp="1"/>
          </p:cNvSpPr>
          <p:nvPr>
            <p:ph type="dt" sz="half" idx="10"/>
          </p:nvPr>
        </p:nvSpPr>
        <p:spPr/>
        <p:txBody>
          <a:bodyPr/>
          <a:lstStyle/>
          <a:p>
            <a:fld id="{141BD1B2-B2AA-413B-AE8B-95E5A4287215}" type="datetime1">
              <a:rPr lang="en-US" smtClean="0"/>
              <a:t>7/28/2025</a:t>
            </a:fld>
            <a:endParaRPr lang="en-US"/>
          </a:p>
        </p:txBody>
      </p:sp>
      <p:sp>
        <p:nvSpPr>
          <p:cNvPr id="4" name="Footer Placeholder 3"/>
          <p:cNvSpPr>
            <a:spLocks noGrp="1"/>
          </p:cNvSpPr>
          <p:nvPr>
            <p:ph type="ftr" sz="quarter" idx="11"/>
          </p:nvPr>
        </p:nvSpPr>
        <p:spPr/>
        <p:txBody>
          <a:bodyPr/>
          <a:lstStyle/>
          <a:p>
            <a:r>
              <a:rPr lang="en-US"/>
              <a:t>Dr. Lokesh chaudhary       Statistics and Probability   Module-5</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D52FD1-7756-4E6C-BA59-5DA51EE9E15A}" type="datetime1">
              <a:rPr lang="en-US" smtClean="0"/>
              <a:t>7/28/2025</a:t>
            </a:fld>
            <a:endParaRPr lang="en-US"/>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96C205-DEFE-4F3A-A9DB-A2BFFB3D643F}"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148F04-31D9-43CA-99C7-4AFAA9A0E53E}" type="datetime1">
              <a:rPr lang="en-US" smtClean="0"/>
              <a:t>7/28/2025</a:t>
            </a:fld>
            <a:endParaRPr lang="en-US"/>
          </a:p>
        </p:txBody>
      </p:sp>
      <p:sp>
        <p:nvSpPr>
          <p:cNvPr id="6" name="Footer Placeholder 5"/>
          <p:cNvSpPr>
            <a:spLocks noGrp="1"/>
          </p:cNvSpPr>
          <p:nvPr>
            <p:ph type="ftr" sz="quarter" idx="11"/>
          </p:nvPr>
        </p:nvSpPr>
        <p:spPr/>
        <p:txBody>
          <a:bodyPr/>
          <a:lstStyle/>
          <a:p>
            <a:r>
              <a:rPr lang="en-US"/>
              <a:t>Dr. Lokesh chaudhary       Statistics and Probability   Module-5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F67602-072C-4E19-B015-E94805992D3B}"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86EC154-A7D4-46D0-AF82-399302582CD5}" type="datetime1">
              <a:rPr lang="en-US" smtClean="0"/>
              <a:t>7/28/2025</a:t>
            </a:fld>
            <a:endParaRPr lang="en-US"/>
          </a:p>
        </p:txBody>
      </p:sp>
      <p:sp>
        <p:nvSpPr>
          <p:cNvPr id="5" name="Footer Placeholder 4"/>
          <p:cNvSpPr>
            <a:spLocks noGrp="1"/>
          </p:cNvSpPr>
          <p:nvPr>
            <p:ph type="ftr" sz="quarter" idx="11"/>
          </p:nvPr>
        </p:nvSpPr>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38400" y="0"/>
            <a:ext cx="6705600" cy="8382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848304-6C13-4128-AD7E-8B2C9212C3C0}" type="datetime1">
              <a:rPr lang="en-US" smtClean="0"/>
              <a:t>7/28/2025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Lokesh chaudhary       Statistics and Probability   Module-5</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204BC513-0FA6-4AD8-B112-CDD2EEE83B2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523999" cy="73183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2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b="1"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4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8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8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83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8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820.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hyperlink" Target="https://youtu.be/a8MYgSRknmI" TargetMode="External"/><Relationship Id="rId2" Type="http://schemas.openxmlformats.org/officeDocument/2006/relationships/hyperlink" Target="https://youtu.be/h-NtACvrPfQ" TargetMode="External"/><Relationship Id="rId1" Type="http://schemas.openxmlformats.org/officeDocument/2006/relationships/slideLayout" Target="../slideLayouts/slideLayout2.xml"/><Relationship Id="rId6" Type="http://schemas.openxmlformats.org/officeDocument/2006/relationships/hyperlink" Target="https://youtu.be/ayaa7_e1cIA" TargetMode="External"/><Relationship Id="rId5" Type="http://schemas.openxmlformats.org/officeDocument/2006/relationships/hyperlink" Target="https://youtu.be/argjx9DJdxY" TargetMode="External"/><Relationship Id="rId4" Type="http://schemas.openxmlformats.org/officeDocument/2006/relationships/hyperlink" Target="https://youtu.be/msJXJgrY1t4" TargetMode="External"/></Relationships>
</file>

<file path=ppt/slides/_rels/slide143.xml.rels><?xml version="1.0" encoding="UTF-8" standalone="yes"?>
<Relationships xmlns="http://schemas.openxmlformats.org/package/2006/relationships"><Relationship Id="rId3" Type="http://schemas.openxmlformats.org/officeDocument/2006/relationships/hyperlink" Target="https://youtu.be/q6BwAotTI04" TargetMode="External"/><Relationship Id="rId2" Type="http://schemas.openxmlformats.org/officeDocument/2006/relationships/hyperlink" Target="https://youtu.be/89bs12h_Cg0" TargetMode="Externa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hyperlink" Target="https://nptel.ac.in/content/storage2/courses/103106120/LectureNotes/Lec3_1.pdf" TargetMode="Externa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hyperlink" Target="https://noidainstituteofengtech-my.sharepoint.com/:w:/g/personal/kuntimishra_niet_co_in/EWSTpgxrY3JMjv1TFFUu95EB8hi85bVGtLTxK0JPOlbGQQ?e=Qhroes" TargetMode="External"/><Relationship Id="rId2" Type="http://schemas.openxmlformats.org/officeDocument/2006/relationships/hyperlink" Target="https://noidainstituteofengtech-my.sharepoint.com/:w:/g/personal/kuntimishra_niet_co_in/EeKp0XZTy5xIoPSVlpDEDu8BajgQdfMqE3HX2M0sIHeEew?e=LabCTc" TargetMode="External"/><Relationship Id="rId1" Type="http://schemas.openxmlformats.org/officeDocument/2006/relationships/slideLayout" Target="../slideLayouts/slideLayout2.xml"/><Relationship Id="rId5" Type="http://schemas.openxmlformats.org/officeDocument/2006/relationships/hyperlink" Target="https://noidainstituteofengtech-my.sharepoint.com/:b:/g/personal/kuntimishra_niet_co_in/EQjn8gCwSXNAggC69pGDdG8BmUvJ4ORfHNH-3TJAua3xyQ?e=za2raN" TargetMode="External"/><Relationship Id="rId4" Type="http://schemas.openxmlformats.org/officeDocument/2006/relationships/hyperlink" Target="https://noidainstituteofengtech-my.sharepoint.com/:w:/g/personal/kuntimishra_niet_co_in/EZ2QtOdGyNdCn7UR0t2z-osBAR-Cf4N1haMplFXri2KYSA?e=P6Cz8F" TargetMode="External"/></Relationships>
</file>

<file path=ppt/slides/_rels/slide1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0" y="0"/>
            <a:ext cx="7315200" cy="830354"/>
          </a:xfrm>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err="1"/>
              <a:t>Noida</a:t>
            </a:r>
            <a:r>
              <a:rPr lang="en-US" sz="2400" b="1" dirty="0"/>
              <a:t> Institute of Engineering and Technology, Greater </a:t>
            </a:r>
            <a:r>
              <a:rPr lang="en-US" sz="2400" b="1" dirty="0" err="1"/>
              <a:t>Noida</a:t>
            </a:r>
            <a:endParaRPr lang="en-US" sz="2400" b="1" dirty="0"/>
          </a:p>
        </p:txBody>
      </p:sp>
      <p:sp>
        <p:nvSpPr>
          <p:cNvPr id="6" name="Subtitle 2"/>
          <p:cNvSpPr txBox="1">
            <a:spLocks/>
          </p:cNvSpPr>
          <p:nvPr/>
        </p:nvSpPr>
        <p:spPr>
          <a:xfrm>
            <a:off x="5029202" y="3415507"/>
            <a:ext cx="3505198" cy="1080293"/>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chor="t">
            <a:normAutofit/>
          </a:bodyPr>
          <a:lstStyle/>
          <a:p>
            <a:pPr algn="ct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Dr. </a:t>
            </a:r>
            <a:r>
              <a:rPr lang="en-US" sz="2200">
                <a:solidFill>
                  <a:schemeClr val="tx1"/>
                </a:solidFill>
                <a:latin typeface="Times New Roman" panose="02020603050405020304" pitchFamily="18" charset="0"/>
                <a:cs typeface="Times New Roman" panose="02020603050405020304" pitchFamily="18" charset="0"/>
              </a:rPr>
              <a:t>Lokesh Chaudhary</a:t>
            </a:r>
            <a:endParaRPr lang="en-US" sz="2200" dirty="0">
              <a:solidFill>
                <a:schemeClr val="tx1"/>
              </a:solidFill>
              <a:latin typeface="Times New Roman" panose="02020603050405020304" pitchFamily="18" charset="0"/>
              <a:cs typeface="Times New Roman" panose="02020603050405020304" pitchFamily="18" charset="0"/>
            </a:endParaRPr>
          </a:p>
          <a:p>
            <a:pPr lvl="0">
              <a:spcBef>
                <a:spcPct val="20000"/>
              </a:spcBef>
              <a:defRPr/>
            </a:pPr>
            <a:r>
              <a:rPr lang="en-US" sz="2200" dirty="0">
                <a:solidFill>
                  <a:schemeClr val="tx1"/>
                </a:solidFill>
              </a:rPr>
              <a:t>Department of Mathematics</a:t>
            </a:r>
          </a:p>
        </p:txBody>
      </p:sp>
      <p:pic>
        <p:nvPicPr>
          <p:cNvPr id="11" name="Picture 4" descr="C:\Users\Manks\Downloads\speak.png"/>
          <p:cNvPicPr>
            <a:picLocks noChangeAspect="1" noChangeArrowheads="1"/>
          </p:cNvPicPr>
          <p:nvPr/>
        </p:nvPicPr>
        <p:blipFill>
          <a:blip r:embed="rId3" cstate="print"/>
          <a:srcRect/>
          <a:stretch>
            <a:fillRect/>
          </a:stretch>
        </p:blipFill>
        <p:spPr bwMode="auto">
          <a:xfrm>
            <a:off x="6172200" y="2286000"/>
            <a:ext cx="1143000" cy="1143000"/>
          </a:xfrm>
          <a:prstGeom prst="rect">
            <a:avLst/>
          </a:prstGeom>
          <a:noFill/>
        </p:spPr>
      </p:pic>
      <p:sp>
        <p:nvSpPr>
          <p:cNvPr id="12" name="Subtitle 2"/>
          <p:cNvSpPr txBox="1">
            <a:spLocks/>
          </p:cNvSpPr>
          <p:nvPr/>
        </p:nvSpPr>
        <p:spPr>
          <a:xfrm>
            <a:off x="914400" y="2286000"/>
            <a:ext cx="1543050" cy="400050"/>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lgn="ctr">
              <a:spcBef>
                <a:spcPct val="20000"/>
              </a:spcBef>
              <a:defRPr/>
            </a:pPr>
            <a:r>
              <a:rPr lang="en-US" sz="2200" dirty="0">
                <a:solidFill>
                  <a:schemeClr val="tx1"/>
                </a:solidFill>
              </a:rPr>
              <a:t>Module 5</a:t>
            </a:r>
          </a:p>
        </p:txBody>
      </p:sp>
      <p:sp>
        <p:nvSpPr>
          <p:cNvPr id="14" name="Subtitle 2"/>
          <p:cNvSpPr txBox="1">
            <a:spLocks/>
          </p:cNvSpPr>
          <p:nvPr/>
        </p:nvSpPr>
        <p:spPr>
          <a:xfrm>
            <a:off x="914400" y="3257550"/>
            <a:ext cx="3505198" cy="1238250"/>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Name:	Statistics and 		Probability</a:t>
            </a:r>
          </a:p>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Code:	BAS0303N</a:t>
            </a:r>
          </a:p>
        </p:txBody>
      </p:sp>
      <p:sp>
        <p:nvSpPr>
          <p:cNvPr id="16" name="Footer Placeholder 12"/>
          <p:cNvSpPr txBox="1">
            <a:spLocks/>
          </p:cNvSpPr>
          <p:nvPr/>
        </p:nvSpPr>
        <p:spPr>
          <a:xfrm>
            <a:off x="2914650" y="5612607"/>
            <a:ext cx="3771900" cy="273844"/>
          </a:xfrm>
          <a:prstGeom prst="rect">
            <a:avLst/>
          </a:prstGeom>
        </p:spPr>
        <p:txBody>
          <a:bodyPr vert="horz" lIns="68580" tIns="34290" rIns="68580" bIns="34290" rtlCol="0" anchor="ctr"/>
          <a:lstStyle/>
          <a:p>
            <a:pPr algn="ctr">
              <a:defRPr/>
            </a:pPr>
            <a:endParaRPr lang="en-US" sz="900" dirty="0">
              <a:solidFill>
                <a:schemeClr val="tx1">
                  <a:tint val="75000"/>
                </a:schemeClr>
              </a:solidFill>
            </a:endParaRPr>
          </a:p>
        </p:txBody>
      </p:sp>
      <p:sp>
        <p:nvSpPr>
          <p:cNvPr id="4" name="Footer Placeholder 3"/>
          <p:cNvSpPr>
            <a:spLocks noGrp="1"/>
          </p:cNvSpPr>
          <p:nvPr>
            <p:ph type="ftr" sz="quarter" idx="11"/>
          </p:nvPr>
        </p:nvSpPr>
        <p:spPr>
          <a:xfrm>
            <a:off x="3417026" y="6074081"/>
            <a:ext cx="2857500" cy="411956"/>
          </a:xfrm>
        </p:spPr>
        <p:txBody>
          <a:bodyPr/>
          <a:lstStyle/>
          <a:p>
            <a:r>
              <a:rPr lang="en-US" b="1"/>
              <a:t>Dr. Lokesh chaudhary       Statistics and Probability   Module-5</a:t>
            </a:r>
            <a:endParaRPr lang="en-US" b="1" dirty="0"/>
          </a:p>
        </p:txBody>
      </p:sp>
      <p:sp>
        <p:nvSpPr>
          <p:cNvPr id="18" name="Subtitle 2"/>
          <p:cNvSpPr txBox="1">
            <a:spLocks/>
          </p:cNvSpPr>
          <p:nvPr/>
        </p:nvSpPr>
        <p:spPr>
          <a:xfrm>
            <a:off x="926374" y="4991099"/>
            <a:ext cx="2655026" cy="571501"/>
          </a:xfrm>
          <a:prstGeom prst="rect">
            <a:avLst/>
          </a:prstGeom>
        </p:spPr>
        <p:style>
          <a:lnRef idx="2">
            <a:schemeClr val="accent5"/>
          </a:lnRef>
          <a:fillRef idx="1">
            <a:schemeClr val="lt1"/>
          </a:fillRef>
          <a:effectRef idx="0">
            <a:schemeClr val="accent5"/>
          </a:effectRef>
          <a:fontRef idx="minor">
            <a:schemeClr val="dk1"/>
          </a:fontRef>
        </p:style>
        <p:txBody>
          <a:bodyPr vert="horz" lIns="51435" tIns="25718" rIns="51435" bIns="25718" rtlCol="0">
            <a:normAutofit/>
          </a:bodyPr>
          <a:lstStyle/>
          <a:p>
            <a:pPr algn="ctr">
              <a:spcBef>
                <a:spcPct val="20000"/>
              </a:spcBef>
              <a:defRPr/>
            </a:pPr>
            <a:r>
              <a:rPr lang="en-US" sz="2000" dirty="0">
                <a:solidFill>
                  <a:schemeClr val="tx1"/>
                </a:solidFill>
                <a:latin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B Tech 3</a:t>
            </a:r>
            <a:r>
              <a:rPr lang="en-US" sz="2000" baseline="30000" dirty="0">
                <a:solidFill>
                  <a:schemeClr val="tx1"/>
                </a:solidFill>
                <a:latin typeface="Times New Roman" panose="02020603050405020304" pitchFamily="18" charset="0"/>
                <a:cs typeface="Times New Roman" panose="02020603050405020304" pitchFamily="18" charset="0"/>
              </a:rPr>
              <a:t>rd</a:t>
            </a:r>
            <a:r>
              <a:rPr lang="en-US" sz="2000" dirty="0">
                <a:solidFill>
                  <a:schemeClr val="tx1"/>
                </a:solidFill>
                <a:latin typeface="Times New Roman" panose="02020603050405020304" pitchFamily="18" charset="0"/>
                <a:cs typeface="Times New Roman" panose="02020603050405020304" pitchFamily="18" charset="0"/>
              </a:rPr>
              <a:t> Sem</a:t>
            </a:r>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
        <p:nvSpPr>
          <p:cNvPr id="19" name="Subtitle 2"/>
          <p:cNvSpPr txBox="1">
            <a:spLocks/>
          </p:cNvSpPr>
          <p:nvPr/>
        </p:nvSpPr>
        <p:spPr>
          <a:xfrm>
            <a:off x="2171700" y="1371599"/>
            <a:ext cx="5524500" cy="577851"/>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200" b="1" dirty="0">
                <a:solidFill>
                  <a:schemeClr val="tx1"/>
                </a:solidFill>
              </a:rPr>
              <a:t>Hypothesis Tests and Control Charts</a:t>
            </a:r>
            <a:endParaRPr lang="en-US" sz="2200" dirty="0">
              <a:solidFill>
                <a:schemeClr val="tx1"/>
              </a:solidFill>
            </a:endParaRPr>
          </a:p>
        </p:txBody>
      </p:sp>
    </p:spTree>
    <p:extLst>
      <p:ext uri="{BB962C8B-B14F-4D97-AF65-F5344CB8AC3E}">
        <p14:creationId xmlns:p14="http://schemas.microsoft.com/office/powerpoint/2010/main" val="3677729688"/>
      </p:ext>
    </p:extLst>
  </p:cSld>
  <p:clrMapOvr>
    <a:masterClrMapping/>
  </p:clrMapOvr>
  <p:transition spd="med" advTm="2000">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2" name="Content Placeholder 1"/>
          <p:cNvSpPr>
            <a:spLocks noGrp="1"/>
          </p:cNvSpPr>
          <p:nvPr>
            <p:ph idx="1"/>
          </p:nvPr>
        </p:nvSpPr>
        <p:spPr>
          <a:xfrm>
            <a:off x="457200" y="1143000"/>
            <a:ext cx="8229600" cy="5137150"/>
          </a:xfrm>
        </p:spPr>
        <p:txBody>
          <a:bodyPr>
            <a:noAutofit/>
          </a:bodyPr>
          <a:lstStyle/>
          <a:p>
            <a:pPr marL="0" indent="0" algn="just">
              <a:buNone/>
            </a:pPr>
            <a:r>
              <a:rPr lang="en-US" sz="2000" b="1" dirty="0">
                <a:ea typeface="Times New Roman" pitchFamily="18" charset="0"/>
              </a:rPr>
              <a:t>Module 1: (</a:t>
            </a:r>
            <a:r>
              <a:rPr lang="en-US" sz="2000" b="1" dirty="0">
                <a:ea typeface="Calibri" panose="020F0502020204030204" pitchFamily="34" charset="0"/>
              </a:rPr>
              <a:t>Statistical Techniques-I)</a:t>
            </a:r>
            <a:endParaRPr lang="en-US" sz="2000" b="1" dirty="0">
              <a:ea typeface="Times New Roman" panose="02020603050405020304" pitchFamily="18" charset="0"/>
            </a:endParaRPr>
          </a:p>
          <a:p>
            <a:pPr marL="0" indent="0" algn="just">
              <a:buNone/>
            </a:pPr>
            <a:r>
              <a:rPr lang="en-US" sz="2000" dirty="0"/>
              <a:t>Introduction: Measures of central tendency: Mean, Median, Mode, Standard deviation, Quartile deviation, Moment, Skewness, Kurtosis.</a:t>
            </a:r>
            <a:endParaRPr lang="en-US" sz="2000" dirty="0">
              <a:ea typeface="Calibri" panose="020F0502020204030204" pitchFamily="34" charset="0"/>
            </a:endParaRPr>
          </a:p>
          <a:p>
            <a:pPr marL="0" indent="0" algn="just">
              <a:buNone/>
            </a:pPr>
            <a:r>
              <a:rPr lang="en-US" sz="2000" b="1" dirty="0">
                <a:ea typeface="Times New Roman" panose="02020603050405020304" pitchFamily="18" charset="0"/>
              </a:rPr>
              <a:t>Module 2: (</a:t>
            </a:r>
            <a:r>
              <a:rPr lang="en-US" sz="2000" b="1" dirty="0">
                <a:ea typeface="Calibri" panose="020F0502020204030204" pitchFamily="34" charset="0"/>
              </a:rPr>
              <a:t>Statistical Techniques-II)</a:t>
            </a:r>
          </a:p>
          <a:p>
            <a:pPr marL="0" indent="0" algn="just">
              <a:buNone/>
            </a:pPr>
            <a:r>
              <a:rPr lang="en-US" sz="2000" dirty="0"/>
              <a:t>Curve Fitting, Method of least squares, fitting of straight lines, Fitting of second-degree parabola, Exponential curves, Correlation and Rank correlation, Linear regression, nonlinear regression and multiple linear regression.</a:t>
            </a:r>
          </a:p>
          <a:p>
            <a:pPr marL="0" indent="0">
              <a:buNone/>
            </a:pPr>
            <a:r>
              <a:rPr lang="en-US" sz="2000" b="1" dirty="0">
                <a:ea typeface="Times New Roman" panose="02020603050405020304" pitchFamily="18" charset="0"/>
              </a:rPr>
              <a:t>Module 3: (</a:t>
            </a:r>
            <a:r>
              <a:rPr lang="en-US" sz="2000" b="1" dirty="0">
                <a:ea typeface="Calibri" panose="020F0502020204030204" pitchFamily="34" charset="0"/>
              </a:rPr>
              <a:t>Probability and Random Variable) </a:t>
            </a:r>
          </a:p>
          <a:p>
            <a:pPr marL="0" indent="0">
              <a:buNone/>
            </a:pPr>
            <a:r>
              <a:rPr lang="en-US" sz="2000" dirty="0"/>
              <a:t>Random Variable: Definition of a Random Variable, Discrete Random Variable, Continuous Random Variable, Probability mass function, Probability Density Function, Distribution functions. </a:t>
            </a:r>
          </a:p>
          <a:p>
            <a:pPr marL="0" indent="0">
              <a:buNone/>
            </a:pPr>
            <a:r>
              <a:rPr lang="en-US" sz="2000" dirty="0"/>
              <a:t>Multiple Random Variables:  Joint density and distribution Function, Properties of Joint Distribution function, Marginal density Functions, Conditional Distribution and Density, Statistical Independence, Central Limit Theorem (Proof not expected).</a:t>
            </a:r>
          </a:p>
        </p:txBody>
      </p:sp>
    </p:spTree>
    <p:extLst>
      <p:ext uri="{BB962C8B-B14F-4D97-AF65-F5344CB8AC3E}">
        <p14:creationId xmlns:p14="http://schemas.microsoft.com/office/powerpoint/2010/main" val="3362988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2" name="Content Placeholder 1"/>
          <p:cNvSpPr>
            <a:spLocks noGrp="1"/>
          </p:cNvSpPr>
          <p:nvPr>
            <p:ph idx="1"/>
          </p:nvPr>
        </p:nvSpPr>
        <p:spPr/>
        <p:txBody>
          <a:bodyPr>
            <a:normAutofit/>
          </a:bodyPr>
          <a:lstStyle/>
          <a:p>
            <a:pPr marL="0" indent="0" algn="just">
              <a:buNone/>
            </a:pPr>
            <a:r>
              <a:rPr lang="en-IN" sz="2000" b="1" dirty="0">
                <a:solidFill>
                  <a:srgbClr val="000000"/>
                </a:solidFill>
                <a:ea typeface="Times New Roman" panose="02020603050405020304" pitchFamily="18" charset="0"/>
              </a:rPr>
              <a:t>Module 4: (</a:t>
            </a:r>
            <a:r>
              <a:rPr lang="en-US" sz="2000" b="1" dirty="0">
                <a:ea typeface="Calibri" panose="020F0502020204030204" pitchFamily="34" charset="0"/>
              </a:rPr>
              <a:t>Expectations and Probability Distribution)</a:t>
            </a:r>
            <a:endParaRPr lang="en-IN" sz="2000" b="1" dirty="0">
              <a:solidFill>
                <a:srgbClr val="000000"/>
              </a:solidFill>
              <a:ea typeface="Times New Roman" panose="02020603050405020304" pitchFamily="18" charset="0"/>
            </a:endParaRPr>
          </a:p>
          <a:p>
            <a:pPr marL="0" indent="0" algn="just">
              <a:buNone/>
            </a:pPr>
            <a:r>
              <a:rPr lang="en-US" sz="2000" dirty="0"/>
              <a:t>Expectations of single Random Variable, Mean, Variance, Moment Generating Function, Binomial, Poisson, Normal, Exponential distribution.</a:t>
            </a:r>
          </a:p>
          <a:p>
            <a:pPr marL="0" indent="0" algn="just">
              <a:buNone/>
            </a:pPr>
            <a:r>
              <a:rPr lang="en-US" sz="2000" b="1" dirty="0">
                <a:ea typeface="Calibri" panose="020F0502020204030204" pitchFamily="34" charset="0"/>
              </a:rPr>
              <a:t>Module 5: (</a:t>
            </a:r>
            <a:r>
              <a:rPr lang="en-US" sz="2000" b="1" dirty="0"/>
              <a:t>Hypothesis Tests and Control Charts</a:t>
            </a:r>
            <a:r>
              <a:rPr lang="en-US" sz="2000" b="1" dirty="0">
                <a:ea typeface="Calibri" panose="020F0502020204030204" pitchFamily="34" charset="0"/>
              </a:rPr>
              <a:t>)</a:t>
            </a:r>
          </a:p>
          <a:p>
            <a:pPr marL="0" indent="0">
              <a:buNone/>
            </a:pPr>
            <a:r>
              <a:rPr lang="en-US" sz="2000" dirty="0"/>
              <a:t>Testing a Hypothesis, Null hypothesis, Alternative hypothesis, Level of significance, Confidence limits, Test of significance of difference of means, Z-test, t-test and Chi-square test, F-test, One way ANOVA.</a:t>
            </a:r>
          </a:p>
          <a:p>
            <a:pPr marL="0" indent="0">
              <a:buNone/>
            </a:pPr>
            <a:r>
              <a:rPr lang="en-US" sz="2000" dirty="0"/>
              <a:t>Statistical Quality Control (SQC), Control Charts, Control Charts for variables (Mean and Range Charts), Control Charts for Variables (p, np and C charts).</a:t>
            </a:r>
            <a:endParaRPr lang="en-US" sz="2000" dirty="0">
              <a:ea typeface="Calibri" panose="020F0502020204030204" pitchFamily="34" charset="0"/>
            </a:endParaRPr>
          </a:p>
          <a:p>
            <a:pPr marL="0" indent="0" algn="just">
              <a:buNone/>
            </a:pPr>
            <a:endParaRPr lang="en-IN" sz="2000" b="1" dirty="0">
              <a:solidFill>
                <a:srgbClr val="000000"/>
              </a:solidFill>
              <a:ea typeface="Times New Roman" panose="02020603050405020304" pitchFamily="18" charset="0"/>
            </a:endParaRPr>
          </a:p>
        </p:txBody>
      </p:sp>
    </p:spTree>
    <p:extLst>
      <p:ext uri="{BB962C8B-B14F-4D97-AF65-F5344CB8AC3E}">
        <p14:creationId xmlns:p14="http://schemas.microsoft.com/office/powerpoint/2010/main" val="3144728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v"/>
            </a:pPr>
            <a:r>
              <a:rPr lang="en-US" sz="2200" dirty="0">
                <a:latin typeface="Times New Roman" panose="02020603050405020304" pitchFamily="18" charset="0"/>
                <a:cs typeface="Times New Roman" panose="02020603050405020304" pitchFamily="18" charset="0"/>
              </a:rPr>
              <a:t>Data Analysis</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Artificial intelligence</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Network and Traffic modeling</a:t>
            </a:r>
            <a:endParaRPr lang="en-US" sz="2200" dirty="0">
              <a:latin typeface="Times New Roman" panose="02020603050405020304" pitchFamily="18" charset="0"/>
              <a:cs typeface="Times New Roman" panose="02020603050405020304" pitchFamily="18" charset="0"/>
            </a:endParaRPr>
          </a:p>
          <a:p>
            <a:pPr>
              <a:buFont typeface="Wingdings" pitchFamily="2" charset="2"/>
              <a:buChar char="v"/>
            </a:pPr>
            <a:endParaRPr lang="en-US" sz="2200" dirty="0">
              <a:effectLst/>
            </a:endParaRP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Wise Application </a:t>
            </a:r>
          </a:p>
        </p:txBody>
      </p:sp>
    </p:spTree>
    <p:extLst>
      <p:ext uri="{BB962C8B-B14F-4D97-AF65-F5344CB8AC3E}">
        <p14:creationId xmlns:p14="http://schemas.microsoft.com/office/powerpoint/2010/main" val="81395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lnSpcReduction="10000"/>
          </a:bodyPr>
          <a:lstStyle/>
          <a:p>
            <a:pPr algn="just"/>
            <a:r>
              <a:rPr lang="en-US" dirty="0"/>
              <a:t>The objective of this course is to familiarize the students with concepts of Probability and statistical techniques. It aims to equip the students with adequate Knowledge of statistics that will enable them in formulating Problems and solving problems analytically.</a:t>
            </a:r>
            <a:endParaRPr lang="en-US" dirty="0">
              <a:ea typeface="Calibri" panose="020F0502020204030204" pitchFamily="34" charset="0"/>
            </a:endParaRPr>
          </a:p>
          <a:p>
            <a:pPr marL="0" indent="0" algn="just">
              <a:buNone/>
            </a:pPr>
            <a:r>
              <a:rPr lang="en-US" dirty="0"/>
              <a:t>     The students will learn: </a:t>
            </a:r>
          </a:p>
          <a:p>
            <a:r>
              <a:rPr lang="en-US" dirty="0">
                <a:ea typeface="Calibri" panose="020F0502020204030204" pitchFamily="34" charset="0"/>
              </a:rPr>
              <a:t>Understand the concept of correlation, moments, skewness and kurtosis and curve fitting.</a:t>
            </a:r>
          </a:p>
          <a:p>
            <a:r>
              <a:rPr lang="en-US" dirty="0">
                <a:ea typeface="Calibri" panose="020F0502020204030204" pitchFamily="34" charset="0"/>
              </a:rPr>
              <a:t>Apply the concept of hypothesis testing and statistical quality control to create control charts.</a:t>
            </a:r>
          </a:p>
          <a:p>
            <a:r>
              <a:rPr lang="en-US" dirty="0">
                <a:ea typeface="Calibri" panose="020F0502020204030204" pitchFamily="34" charset="0"/>
              </a:rPr>
              <a:t>Remember the concept of probability to evaluate probability distributions. </a:t>
            </a:r>
          </a:p>
          <a:p>
            <a:r>
              <a:rPr lang="en-US" dirty="0">
                <a:ea typeface="Calibri" panose="020F0502020204030204" pitchFamily="34" charset="0"/>
              </a:rPr>
              <a:t>Understand the concept of Mathematical Expectations and Probability Distribution.</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Objectives</a:t>
            </a:r>
          </a:p>
        </p:txBody>
      </p:sp>
    </p:spTree>
    <p:extLst>
      <p:ext uri="{BB962C8B-B14F-4D97-AF65-F5344CB8AC3E}">
        <p14:creationId xmlns:p14="http://schemas.microsoft.com/office/powerpoint/2010/main" val="273942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dirty="0"/>
              <a:t>CO1: Apply the concept of moments, skewness and kurtosis in relevant field.</a:t>
            </a:r>
          </a:p>
          <a:p>
            <a:pPr marL="0" indent="0">
              <a:buNone/>
            </a:pPr>
            <a:r>
              <a:rPr lang="en-US" dirty="0"/>
              <a:t>CO2: Apply the concept of correlation, regression and curve fitting with real world problems.</a:t>
            </a:r>
          </a:p>
          <a:p>
            <a:pPr marL="0" indent="0">
              <a:buNone/>
            </a:pPr>
            <a:r>
              <a:rPr lang="en-US" dirty="0"/>
              <a:t>CO3: Apply the concept of probability and random variable.</a:t>
            </a:r>
          </a:p>
          <a:p>
            <a:pPr marL="0" indent="0">
              <a:buNone/>
            </a:pPr>
            <a:r>
              <a:rPr lang="en-US" dirty="0"/>
              <a:t>CO4: Apply the concept of Mathematical Expectations and Probability Distribution in real life problems.</a:t>
            </a:r>
          </a:p>
          <a:p>
            <a:pPr marL="0" indent="0">
              <a:buNone/>
            </a:pPr>
            <a:r>
              <a:rPr lang="en-US" b="1" dirty="0"/>
              <a:t>CO5: Apply the concept of hypothesis testing and statistical quality control to create control charts.</a:t>
            </a:r>
          </a:p>
          <a:p>
            <a:pPr marL="0" indent="0">
              <a:buNone/>
            </a:pP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Outcomes</a:t>
            </a:r>
          </a:p>
        </p:txBody>
      </p:sp>
    </p:spTree>
    <p:extLst>
      <p:ext uri="{BB962C8B-B14F-4D97-AF65-F5344CB8AC3E}">
        <p14:creationId xmlns:p14="http://schemas.microsoft.com/office/powerpoint/2010/main" val="196606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
            </a:pPr>
            <a:r>
              <a:rPr lang="en-US" dirty="0"/>
              <a:t>Knowledge of </a:t>
            </a:r>
            <a:r>
              <a:rPr lang="en-US" dirty="0" err="1"/>
              <a:t>Maths</a:t>
            </a:r>
            <a:r>
              <a:rPr lang="en-US" dirty="0"/>
              <a:t> 1 B.Tech.</a:t>
            </a:r>
          </a:p>
          <a:p>
            <a:pPr>
              <a:buFont typeface="Wingdings" pitchFamily="2" charset="2"/>
              <a:buChar char="§"/>
            </a:pPr>
            <a:r>
              <a:rPr lang="en-US" dirty="0"/>
              <a:t>Knowledge of  </a:t>
            </a:r>
            <a:r>
              <a:rPr lang="en-US" dirty="0" err="1"/>
              <a:t>Maths</a:t>
            </a:r>
            <a:r>
              <a:rPr lang="en-US" dirty="0"/>
              <a:t> 2 B.Tech.</a:t>
            </a:r>
          </a:p>
          <a:p>
            <a:pPr>
              <a:buFont typeface="Wingdings" pitchFamily="2" charset="2"/>
              <a:buChar char="§"/>
            </a:pPr>
            <a:r>
              <a:rPr lang="en-US" dirty="0"/>
              <a:t>Knowledge of  Permutation and Combination.</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Prerequisite and Recap</a:t>
            </a:r>
          </a:p>
        </p:txBody>
      </p:sp>
    </p:spTree>
    <p:extLst>
      <p:ext uri="{BB962C8B-B14F-4D97-AF65-F5344CB8AC3E}">
        <p14:creationId xmlns:p14="http://schemas.microsoft.com/office/powerpoint/2010/main" val="2812629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4724400" cy="4724400"/>
          </a:xfrm>
        </p:spPr>
        <p:txBody>
          <a:bodyPr>
            <a:noAutofit/>
          </a:bodyPr>
          <a:lstStyle/>
          <a:p>
            <a:endParaRPr lang="en-US" sz="2200" dirty="0"/>
          </a:p>
          <a:p>
            <a:endParaRPr lang="en-US" sz="2200" dirty="0"/>
          </a:p>
          <a:p>
            <a:endParaRPr lang="en-US" sz="2200"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
        <p:nvSpPr>
          <p:cNvPr id="8"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Module Content</a:t>
            </a:r>
          </a:p>
        </p:txBody>
      </p:sp>
      <p:sp>
        <p:nvSpPr>
          <p:cNvPr id="10" name="Footer Placeholder 9"/>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11" name="TextBox 10">
            <a:extLst>
              <a:ext uri="{FF2B5EF4-FFF2-40B4-BE49-F238E27FC236}">
                <a16:creationId xmlns:a16="http://schemas.microsoft.com/office/drawing/2014/main" id="{F58943FA-4C8A-4A0E-9BE4-589FF0524F89}"/>
              </a:ext>
            </a:extLst>
          </p:cNvPr>
          <p:cNvSpPr txBox="1"/>
          <p:nvPr/>
        </p:nvSpPr>
        <p:spPr>
          <a:xfrm>
            <a:off x="609600" y="914400"/>
            <a:ext cx="8305800" cy="5170646"/>
          </a:xfrm>
          <a:prstGeom prst="rect">
            <a:avLst/>
          </a:prstGeom>
          <a:noFill/>
        </p:spPr>
        <p:txBody>
          <a:bodyPr wrap="square">
            <a:spAutoFit/>
          </a:bodyPr>
          <a:lstStyle/>
          <a:p>
            <a:pPr marL="342900" indent="-342900" algn="just">
              <a:buFont typeface="Arial" panose="020B0604020202020204" pitchFamily="34" charset="0"/>
              <a:buChar char="•"/>
            </a:pPr>
            <a:r>
              <a:rPr lang="en-US" sz="2200" dirty="0">
                <a:effectLst/>
                <a:ea typeface="Times New Roman" panose="02020603050405020304" pitchFamily="18" charset="0"/>
              </a:rPr>
              <a:t>Testing a Hypothesis, </a:t>
            </a:r>
            <a:endParaRPr lang="en-US" sz="2200" dirty="0">
              <a:ea typeface="Times New Roman" panose="02020603050405020304" pitchFamily="18" charset="0"/>
            </a:endParaRPr>
          </a:p>
          <a:p>
            <a:pPr marL="342900" indent="-342900" algn="just">
              <a:buFont typeface="Arial" panose="020B0604020202020204" pitchFamily="34" charset="0"/>
              <a:buChar char="•"/>
            </a:pPr>
            <a:r>
              <a:rPr lang="en-US" sz="2200" dirty="0">
                <a:effectLst/>
                <a:ea typeface="Times New Roman" panose="02020603050405020304" pitchFamily="18" charset="0"/>
              </a:rPr>
              <a:t>Null and Alternative hypothesis</a:t>
            </a:r>
          </a:p>
          <a:p>
            <a:pPr marL="342900" indent="-342900" algn="just">
              <a:buFont typeface="Arial" panose="020B0604020202020204" pitchFamily="34" charset="0"/>
              <a:buChar char="•"/>
            </a:pPr>
            <a:r>
              <a:rPr lang="en-US" sz="2200" dirty="0">
                <a:effectLst/>
                <a:ea typeface="Times New Roman" panose="02020603050405020304" pitchFamily="18" charset="0"/>
              </a:rPr>
              <a:t>Level of significance</a:t>
            </a:r>
            <a:endParaRPr lang="en-US" sz="2200" dirty="0">
              <a:ea typeface="Times New Roman" panose="02020603050405020304" pitchFamily="18" charset="0"/>
            </a:endParaRPr>
          </a:p>
          <a:p>
            <a:pPr marL="342900" indent="-342900" algn="just">
              <a:buFont typeface="Arial" panose="020B0604020202020204" pitchFamily="34" charset="0"/>
              <a:buChar char="•"/>
            </a:pPr>
            <a:r>
              <a:rPr lang="en-US" sz="2200" dirty="0">
                <a:effectLst/>
                <a:ea typeface="Times New Roman" panose="02020603050405020304" pitchFamily="18" charset="0"/>
              </a:rPr>
              <a:t>Confidence limits </a:t>
            </a:r>
          </a:p>
          <a:p>
            <a:pPr marL="342900" indent="-342900" algn="just">
              <a:buFont typeface="Arial" panose="020B0604020202020204" pitchFamily="34" charset="0"/>
              <a:buChar char="•"/>
            </a:pPr>
            <a:r>
              <a:rPr lang="en-US" sz="2200" dirty="0">
                <a:effectLst/>
                <a:ea typeface="Times New Roman" panose="02020603050405020304" pitchFamily="18" charset="0"/>
              </a:rPr>
              <a:t>p-value</a:t>
            </a:r>
          </a:p>
          <a:p>
            <a:pPr marL="342900" indent="-342900" algn="just">
              <a:buFont typeface="Arial" panose="020B0604020202020204" pitchFamily="34" charset="0"/>
              <a:buChar char="•"/>
            </a:pPr>
            <a:r>
              <a:rPr lang="en-US" sz="2200" dirty="0">
                <a:effectLst/>
                <a:ea typeface="Times New Roman" panose="02020603050405020304" pitchFamily="18" charset="0"/>
              </a:rPr>
              <a:t>Test of significance of difference of means</a:t>
            </a:r>
            <a:r>
              <a:rPr lang="en-US" sz="2200" dirty="0">
                <a:ea typeface="Times New Roman" panose="02020603050405020304" pitchFamily="18" charset="0"/>
              </a:rPr>
              <a:t>:</a:t>
            </a:r>
          </a:p>
          <a:p>
            <a:pPr marL="342900" indent="-342900" algn="just">
              <a:buFont typeface="Arial" panose="020B0604020202020204" pitchFamily="34" charset="0"/>
              <a:buChar char="•"/>
            </a:pPr>
            <a:r>
              <a:rPr lang="en-US" sz="2200" dirty="0">
                <a:effectLst/>
                <a:ea typeface="Times New Roman" panose="02020603050405020304" pitchFamily="18" charset="0"/>
              </a:rPr>
              <a:t>Z-test </a:t>
            </a:r>
          </a:p>
          <a:p>
            <a:pPr marL="342900" indent="-342900" algn="just">
              <a:buFont typeface="Arial" panose="020B0604020202020204" pitchFamily="34" charset="0"/>
              <a:buChar char="•"/>
            </a:pPr>
            <a:r>
              <a:rPr lang="en-US" sz="2200" dirty="0">
                <a:effectLst/>
                <a:ea typeface="Times New Roman" panose="02020603050405020304" pitchFamily="18" charset="0"/>
              </a:rPr>
              <a:t>t-test </a:t>
            </a:r>
            <a:endParaRPr lang="en-US" sz="2200" dirty="0">
              <a:ea typeface="Times New Roman" panose="02020603050405020304" pitchFamily="18" charset="0"/>
            </a:endParaRPr>
          </a:p>
          <a:p>
            <a:pPr marL="342900" indent="-342900" algn="just">
              <a:buFont typeface="Arial" panose="020B0604020202020204" pitchFamily="34" charset="0"/>
              <a:buChar char="•"/>
            </a:pPr>
            <a:r>
              <a:rPr lang="en-US" sz="2200" dirty="0">
                <a:effectLst/>
                <a:ea typeface="Times New Roman" panose="02020603050405020304" pitchFamily="18" charset="0"/>
              </a:rPr>
              <a:t>Chi-square test </a:t>
            </a:r>
          </a:p>
          <a:p>
            <a:pPr marL="342900" indent="-342900" algn="just">
              <a:buFont typeface="Arial" panose="020B0604020202020204" pitchFamily="34" charset="0"/>
              <a:buChar char="•"/>
            </a:pPr>
            <a:r>
              <a:rPr lang="en-US" sz="2200" dirty="0">
                <a:effectLst/>
                <a:ea typeface="Times New Roman" panose="02020603050405020304" pitchFamily="18" charset="0"/>
              </a:rPr>
              <a:t>F-test</a:t>
            </a:r>
          </a:p>
          <a:p>
            <a:pPr marL="342900" indent="-342900" algn="just">
              <a:buFont typeface="Arial" panose="020B0604020202020204" pitchFamily="34" charset="0"/>
              <a:buChar char="•"/>
            </a:pPr>
            <a:r>
              <a:rPr lang="en-US" sz="2200" dirty="0">
                <a:effectLst/>
                <a:ea typeface="Times New Roman" panose="02020603050405020304" pitchFamily="18" charset="0"/>
              </a:rPr>
              <a:t>ANOVA: One way and Two way</a:t>
            </a:r>
          </a:p>
          <a:p>
            <a:pPr marL="342900" indent="-342900" algn="just">
              <a:buFont typeface="Arial" panose="020B0604020202020204" pitchFamily="34" charset="0"/>
              <a:buChar char="•"/>
            </a:pPr>
            <a:r>
              <a:rPr lang="en-US" sz="2200" dirty="0">
                <a:effectLst/>
                <a:ea typeface="Times New Roman" panose="02020603050405020304" pitchFamily="18" charset="0"/>
              </a:rPr>
              <a:t>Statistical Quality Control (SQC)</a:t>
            </a:r>
          </a:p>
          <a:p>
            <a:pPr marL="342900" indent="-342900" algn="just">
              <a:buFont typeface="Arial" panose="020B0604020202020204" pitchFamily="34" charset="0"/>
              <a:buChar char="•"/>
            </a:pPr>
            <a:r>
              <a:rPr lang="en-US" sz="2200" dirty="0">
                <a:effectLst/>
                <a:ea typeface="Times New Roman" panose="02020603050405020304" pitchFamily="18" charset="0"/>
              </a:rPr>
              <a:t>Control Charts</a:t>
            </a:r>
            <a:endParaRPr lang="en-US" sz="2200" dirty="0">
              <a:ea typeface="Times New Roman" panose="02020603050405020304" pitchFamily="18" charset="0"/>
            </a:endParaRPr>
          </a:p>
          <a:p>
            <a:pPr marL="342900" indent="-342900" algn="just">
              <a:buFont typeface="Arial" panose="020B0604020202020204" pitchFamily="34" charset="0"/>
              <a:buChar char="•"/>
            </a:pPr>
            <a:r>
              <a:rPr lang="en-US" sz="2200" dirty="0">
                <a:effectLst/>
                <a:ea typeface="Times New Roman" panose="02020603050405020304" pitchFamily="18" charset="0"/>
              </a:rPr>
              <a:t>Control Charts for variables (Mean and Range Charts)</a:t>
            </a:r>
          </a:p>
          <a:p>
            <a:pPr marL="342900" indent="-342900" algn="just">
              <a:buFont typeface="Arial" panose="020B0604020202020204" pitchFamily="34" charset="0"/>
              <a:buChar char="•"/>
            </a:pPr>
            <a:r>
              <a:rPr lang="en-US" sz="2200" dirty="0">
                <a:effectLst/>
                <a:ea typeface="Times New Roman" panose="02020603050405020304" pitchFamily="18" charset="0"/>
              </a:rPr>
              <a:t>Control Charts for Variables ( p, np and C charts).</a:t>
            </a:r>
          </a:p>
        </p:txBody>
      </p:sp>
    </p:spTree>
    <p:extLst>
      <p:ext uri="{BB962C8B-B14F-4D97-AF65-F5344CB8AC3E}">
        <p14:creationId xmlns:p14="http://schemas.microsoft.com/office/powerpoint/2010/main" val="195413051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579164"/>
            <a:ext cx="8001000" cy="2992836"/>
          </a:xfrm>
        </p:spPr>
        <p:txBody>
          <a:bodyPr>
            <a:noAutofit/>
          </a:bodyPr>
          <a:lstStyle/>
          <a:p>
            <a:pPr algn="just"/>
            <a:r>
              <a:rPr lang="en-US" sz="2200" dirty="0"/>
              <a:t>The objective of this course is to familiarize the engineers with Statistical techniques  and its applications in real world. </a:t>
            </a:r>
          </a:p>
          <a:p>
            <a:pPr algn="just"/>
            <a:r>
              <a:rPr lang="en-US" sz="2200" dirty="0"/>
              <a:t>The concept of hypothesis, ANOVA and quality control by control charts.</a:t>
            </a:r>
          </a:p>
        </p:txBody>
      </p:sp>
      <p:sp>
        <p:nvSpPr>
          <p:cNvPr id="5" name="Footer Placeholder 4"/>
          <p:cNvSpPr>
            <a:spLocks noGrp="1"/>
          </p:cNvSpPr>
          <p:nvPr>
            <p:ph type="ftr" sz="quarter" idx="11"/>
          </p:nvPr>
        </p:nvSpPr>
        <p:spPr>
          <a:xfrm>
            <a:off x="2819400" y="6248400"/>
            <a:ext cx="47244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noProof="0" dirty="0">
                <a:ln>
                  <a:noFill/>
                </a:ln>
                <a:solidFill>
                  <a:schemeClr val="dk1"/>
                </a:solidFill>
                <a:effectLst/>
                <a:uLnTx/>
                <a:uFillTx/>
              </a:rPr>
              <a:t>Module Objective(CO5)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1186483961"/>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1"/>
            <a:ext cx="8229600" cy="2590800"/>
          </a:xfrm>
        </p:spPr>
        <p:txBody>
          <a:bodyPr>
            <a:normAutofit/>
          </a:bodyPr>
          <a:lstStyle/>
          <a:p>
            <a:pPr marL="0" indent="0">
              <a:buNone/>
            </a:pPr>
            <a:r>
              <a:rPr lang="en-US" sz="2200" b="1" dirty="0"/>
              <a:t>Test of Hypothesis</a:t>
            </a:r>
          </a:p>
          <a:p>
            <a:r>
              <a:rPr lang="en-US" sz="2200" dirty="0"/>
              <a:t>Describe real-life examples to explain the motivation behind</a:t>
            </a:r>
            <a:r>
              <a:rPr lang="en-US" dirty="0"/>
              <a:t> </a:t>
            </a:r>
            <a:r>
              <a:rPr lang="en-US" sz="2200" dirty="0"/>
              <a:t>hypothesis</a:t>
            </a:r>
            <a:r>
              <a:rPr lang="en-US" dirty="0"/>
              <a:t> </a:t>
            </a: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Topic objective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0246937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Test of Hypothesis:</a:t>
            </a:r>
          </a:p>
          <a:p>
            <a:r>
              <a:rPr lang="en-US" sz="2200" dirty="0"/>
              <a:t>Some information about a characteristic of the population is known, we wish to know whether the information can be accepted or rejected, we choose a random sample and obtain information about the characteristic, based on this information.</a:t>
            </a:r>
          </a:p>
          <a:p>
            <a:r>
              <a:rPr lang="en-US" sz="2200" dirty="0"/>
              <a:t>we conclude whether the available information of the characteristic of the population can be accepted or rejected. This is called Test of hypothesis.</a:t>
            </a:r>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9220954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1"/>
            <a:ext cx="8229600" cy="609600"/>
          </a:xfrm>
        </p:spPr>
        <p:txBody>
          <a:bodyPr>
            <a:normAutofit/>
          </a:bodyPr>
          <a:lstStyle/>
          <a:p>
            <a:pPr marL="0" indent="0">
              <a:buNone/>
            </a:pPr>
            <a:r>
              <a:rPr lang="en-US" sz="2200" b="1" dirty="0"/>
              <a:t>Symbols for Population &amp; Samples:</a:t>
            </a: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D17AF087-264F-4BDD-B232-84C9C53BF9A7}"/>
                  </a:ext>
                </a:extLst>
              </p:cNvPr>
              <p:cNvGraphicFramePr>
                <a:graphicFrameLocks noGrp="1"/>
              </p:cNvGraphicFramePr>
              <p:nvPr>
                <p:extLst>
                  <p:ext uri="{D42A27DB-BD31-4B8C-83A1-F6EECF244321}">
                    <p14:modId xmlns:p14="http://schemas.microsoft.com/office/powerpoint/2010/main" val="2010405791"/>
                  </p:ext>
                </p:extLst>
              </p:nvPr>
            </p:nvGraphicFramePr>
            <p:xfrm>
              <a:off x="762000" y="2057400"/>
              <a:ext cx="7239001" cy="3090135"/>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974011113"/>
                        </a:ext>
                      </a:extLst>
                    </a:gridCol>
                    <a:gridCol w="3454401">
                      <a:extLst>
                        <a:ext uri="{9D8B030D-6E8A-4147-A177-3AD203B41FA5}">
                          <a16:colId xmlns:a16="http://schemas.microsoft.com/office/drawing/2014/main" val="1025599255"/>
                        </a:ext>
                      </a:extLst>
                    </a:gridCol>
                    <a:gridCol w="2413000">
                      <a:extLst>
                        <a:ext uri="{9D8B030D-6E8A-4147-A177-3AD203B41FA5}">
                          <a16:colId xmlns:a16="http://schemas.microsoft.com/office/drawing/2014/main" val="980557726"/>
                        </a:ext>
                      </a:extLst>
                    </a:gridCol>
                  </a:tblGrid>
                  <a:tr h="990600">
                    <a:tc rowSpan="5">
                      <a:txBody>
                        <a:bodyPr/>
                        <a:lstStyle/>
                        <a:p>
                          <a:pPr algn="ctr"/>
                          <a:r>
                            <a:rPr lang="en-US" sz="2000" dirty="0">
                              <a:latin typeface="+mn-lt"/>
                            </a:rPr>
                            <a:t>Symbols</a:t>
                          </a:r>
                        </a:p>
                      </a:txBody>
                      <a:tcPr anchor="ctr">
                        <a:solidFill>
                          <a:srgbClr val="FF0000"/>
                        </a:solidFill>
                      </a:tcPr>
                    </a:tc>
                    <a:tc>
                      <a:txBody>
                        <a:bodyPr/>
                        <a:lstStyle/>
                        <a:p>
                          <a:pPr algn="ctr"/>
                          <a:r>
                            <a:rPr lang="en-US" sz="2000" dirty="0">
                              <a:latin typeface="+mn-lt"/>
                            </a:rPr>
                            <a:t>Population parameter/ characteristic</a:t>
                          </a:r>
                        </a:p>
                      </a:txBody>
                      <a:tcPr anchor="ctr"/>
                    </a:tc>
                    <a:tc>
                      <a:txBody>
                        <a:bodyPr/>
                        <a:lstStyle/>
                        <a:p>
                          <a:pPr algn="ctr"/>
                          <a:r>
                            <a:rPr lang="en-US" sz="2000" dirty="0">
                              <a:latin typeface="+mn-lt"/>
                            </a:rPr>
                            <a:t>Sample Statistic</a:t>
                          </a:r>
                        </a:p>
                      </a:txBody>
                      <a:tcPr anchor="ctr"/>
                    </a:tc>
                    <a:extLst>
                      <a:ext uri="{0D108BD9-81ED-4DB2-BD59-A6C34878D82A}">
                        <a16:rowId xmlns:a16="http://schemas.microsoft.com/office/drawing/2014/main" val="1103001389"/>
                      </a:ext>
                    </a:extLst>
                  </a:tr>
                  <a:tr h="466165">
                    <a:tc vMerge="1">
                      <a:txBody>
                        <a:bodyPr/>
                        <a:lstStyle/>
                        <a:p>
                          <a:endParaRPr lang="en-US" dirty="0"/>
                        </a:p>
                      </a:txBody>
                      <a:tcPr>
                        <a:solidFill>
                          <a:srgbClr val="FF0000"/>
                        </a:solidFill>
                      </a:tcPr>
                    </a:tc>
                    <a:tc>
                      <a:txBody>
                        <a:bodyPr/>
                        <a:lstStyle/>
                        <a:p>
                          <a:pPr algn="l"/>
                          <a:r>
                            <a:rPr lang="en-US" sz="2000" dirty="0">
                              <a:latin typeface="+mn-lt"/>
                            </a:rPr>
                            <a:t>Population Size (N)</a:t>
                          </a:r>
                        </a:p>
                      </a:txBody>
                      <a:tcPr anchor="ctr"/>
                    </a:tc>
                    <a:tc>
                      <a:txBody>
                        <a:bodyPr/>
                        <a:lstStyle/>
                        <a:p>
                          <a:pPr algn="l"/>
                          <a:r>
                            <a:rPr lang="en-US" sz="2000" dirty="0">
                              <a:latin typeface="+mn-lt"/>
                            </a:rPr>
                            <a:t>Sample Size (n)</a:t>
                          </a:r>
                        </a:p>
                      </a:txBody>
                      <a:tcPr anchor="ctr"/>
                    </a:tc>
                    <a:extLst>
                      <a:ext uri="{0D108BD9-81ED-4DB2-BD59-A6C34878D82A}">
                        <a16:rowId xmlns:a16="http://schemas.microsoft.com/office/drawing/2014/main" val="1412725619"/>
                      </a:ext>
                    </a:extLst>
                  </a:tr>
                  <a:tr h="466165">
                    <a:tc vMerge="1">
                      <a:txBody>
                        <a:bodyPr/>
                        <a:lstStyle/>
                        <a:p>
                          <a:endParaRPr lang="en-US" dirty="0"/>
                        </a:p>
                      </a:txBody>
                      <a:tcPr>
                        <a:solidFill>
                          <a:srgbClr val="FF0000"/>
                        </a:solidFill>
                      </a:tcPr>
                    </a:tc>
                    <a:tc>
                      <a:txBody>
                        <a:bodyPr/>
                        <a:lstStyle/>
                        <a:p>
                          <a:pPr algn="l"/>
                          <a:r>
                            <a:rPr lang="en-US" sz="2000" dirty="0">
                              <a:latin typeface="+mn-lt"/>
                            </a:rPr>
                            <a:t>Population Mean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oMath>
                          </a14:m>
                          <a:r>
                            <a:rPr lang="en-US" sz="2000" dirty="0">
                              <a:latin typeface="+mn-lt"/>
                            </a:rPr>
                            <a:t>)</a:t>
                          </a:r>
                        </a:p>
                      </a:txBody>
                      <a:tcPr anchor="ctr"/>
                    </a:tc>
                    <a:tc>
                      <a:txBody>
                        <a:bodyPr/>
                        <a:lstStyle/>
                        <a:p>
                          <a:pPr algn="l"/>
                          <a:r>
                            <a:rPr lang="en-US" sz="2000" dirty="0">
                              <a:latin typeface="+mn-lt"/>
                            </a:rPr>
                            <a:t>Sample Mean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𝑥</m:t>
                                  </m:r>
                                </m:e>
                              </m:acc>
                            </m:oMath>
                          </a14:m>
                          <a:r>
                            <a:rPr lang="en-US" sz="2000" dirty="0">
                              <a:latin typeface="+mn-lt"/>
                            </a:rPr>
                            <a:t>)</a:t>
                          </a:r>
                        </a:p>
                      </a:txBody>
                      <a:tcPr anchor="ctr"/>
                    </a:tc>
                    <a:extLst>
                      <a:ext uri="{0D108BD9-81ED-4DB2-BD59-A6C34878D82A}">
                        <a16:rowId xmlns:a16="http://schemas.microsoft.com/office/drawing/2014/main" val="3999190808"/>
                      </a:ext>
                    </a:extLst>
                  </a:tr>
                  <a:tr h="466165">
                    <a:tc vMerge="1">
                      <a:txBody>
                        <a:bodyPr/>
                        <a:lstStyle/>
                        <a:p>
                          <a:endParaRPr lang="en-US" dirty="0"/>
                        </a:p>
                      </a:txBody>
                      <a:tcPr>
                        <a:solidFill>
                          <a:srgbClr val="FF0000"/>
                        </a:solidFill>
                      </a:tcPr>
                    </a:tc>
                    <a:tc>
                      <a:txBody>
                        <a:bodyPr/>
                        <a:lstStyle/>
                        <a:p>
                          <a:pPr algn="l"/>
                          <a:r>
                            <a:rPr lang="en-US" sz="2000" dirty="0">
                              <a:latin typeface="+mn-lt"/>
                            </a:rPr>
                            <a:t>Population Standard Deviation (</a:t>
                          </a:r>
                          <a14:m>
                            <m:oMath xmlns:m="http://schemas.openxmlformats.org/officeDocument/2006/math">
                              <m:r>
                                <a:rPr lang="en-US" sz="2000" i="1" smtClean="0">
                                  <a:latin typeface="Cambria Math" panose="02040503050406030204" pitchFamily="18" charset="0"/>
                                  <a:ea typeface="Cambria Math" panose="02040503050406030204" pitchFamily="18" charset="0"/>
                                </a:rPr>
                                <m:t>𝜎</m:t>
                              </m:r>
                            </m:oMath>
                          </a14:m>
                          <a:r>
                            <a:rPr lang="en-US" sz="2000" dirty="0">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latin typeface="+mn-lt"/>
                            </a:rPr>
                            <a:t>Sample Standard Deviation (</a:t>
                          </a:r>
                          <a14:m>
                            <m:oMath xmlns:m="http://schemas.openxmlformats.org/officeDocument/2006/math">
                              <m:r>
                                <a:rPr lang="en-US" sz="2000" b="0" i="1" smtClean="0">
                                  <a:latin typeface="Cambria Math" panose="02040503050406030204" pitchFamily="18" charset="0"/>
                                  <a:ea typeface="Cambria Math" panose="02040503050406030204" pitchFamily="18" charset="0"/>
                                </a:rPr>
                                <m:t>𝑠</m:t>
                              </m:r>
                            </m:oMath>
                          </a14:m>
                          <a:r>
                            <a:rPr lang="en-US" sz="2000" dirty="0">
                              <a:latin typeface="+mn-lt"/>
                            </a:rPr>
                            <a:t>)</a:t>
                          </a:r>
                        </a:p>
                      </a:txBody>
                      <a:tcPr anchor="ctr"/>
                    </a:tc>
                    <a:extLst>
                      <a:ext uri="{0D108BD9-81ED-4DB2-BD59-A6C34878D82A}">
                        <a16:rowId xmlns:a16="http://schemas.microsoft.com/office/drawing/2014/main" val="1330951742"/>
                      </a:ext>
                    </a:extLst>
                  </a:tr>
                  <a:tr h="466165">
                    <a:tc vMerge="1">
                      <a:txBody>
                        <a:bodyPr/>
                        <a:lstStyle/>
                        <a:p>
                          <a:endParaRPr lang="en-US" dirty="0"/>
                        </a:p>
                      </a:txBody>
                      <a:tcPr>
                        <a:solidFill>
                          <a:srgbClr val="FF0000"/>
                        </a:solidFill>
                      </a:tcPr>
                    </a:tc>
                    <a:tc>
                      <a:txBody>
                        <a:bodyPr/>
                        <a:lstStyle/>
                        <a:p>
                          <a:pPr algn="l"/>
                          <a:r>
                            <a:rPr lang="en-US" sz="2000" dirty="0">
                              <a:latin typeface="+mn-lt"/>
                            </a:rPr>
                            <a:t>Population Variance (</a:t>
                          </a:r>
                          <a14:m>
                            <m:oMath xmlns:m="http://schemas.openxmlformats.org/officeDocument/2006/math">
                              <m:sSup>
                                <m:sSupPr>
                                  <m:ctrlPr>
                                    <a:rPr lang="en-US" sz="2000" i="1" smtClean="0">
                                      <a:latin typeface="Cambria Math" panose="02040503050406030204" pitchFamily="18" charset="0"/>
                                    </a:rPr>
                                  </m:ctrlPr>
                                </m:sSupPr>
                                <m:e>
                                  <m:r>
                                    <a:rPr lang="en-US" sz="2000" i="1" smtClean="0">
                                      <a:latin typeface="Cambria Math" panose="02040503050406030204" pitchFamily="18" charset="0"/>
                                      <a:ea typeface="Cambria Math" panose="02040503050406030204" pitchFamily="18" charset="0"/>
                                    </a:rPr>
                                    <m:t>𝜎</m:t>
                                  </m:r>
                                </m:e>
                                <m:sup>
                                  <m:r>
                                    <a:rPr lang="en-US" sz="2000" b="0" i="1" smtClean="0">
                                      <a:latin typeface="Cambria Math" panose="02040503050406030204" pitchFamily="18" charset="0"/>
                                    </a:rPr>
                                    <m:t>2</m:t>
                                  </m:r>
                                </m:sup>
                              </m:sSup>
                            </m:oMath>
                          </a14:m>
                          <a:r>
                            <a:rPr lang="en-US" sz="2000" dirty="0">
                              <a:latin typeface="+mn-lt"/>
                            </a:rPr>
                            <a:t>)</a:t>
                          </a:r>
                        </a:p>
                      </a:txBody>
                      <a:tcPr anchor="ctr"/>
                    </a:tc>
                    <a:tc>
                      <a:txBody>
                        <a:bodyPr/>
                        <a:lstStyle/>
                        <a:p>
                          <a:pPr algn="l"/>
                          <a:r>
                            <a:rPr lang="en-US" sz="2000" dirty="0">
                              <a:latin typeface="+mn-lt"/>
                            </a:rPr>
                            <a:t>Sample Variance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𝑠</m:t>
                                  </m:r>
                                </m:e>
                                <m:sup>
                                  <m:r>
                                    <a:rPr lang="en-US" sz="2000" b="0" i="1" smtClean="0">
                                      <a:latin typeface="Cambria Math" panose="02040503050406030204" pitchFamily="18" charset="0"/>
                                    </a:rPr>
                                    <m:t>2</m:t>
                                  </m:r>
                                </m:sup>
                              </m:sSup>
                            </m:oMath>
                          </a14:m>
                          <a:r>
                            <a:rPr lang="en-US" sz="2000" dirty="0">
                              <a:latin typeface="+mn-lt"/>
                            </a:rPr>
                            <a:t>)</a:t>
                          </a:r>
                        </a:p>
                      </a:txBody>
                      <a:tcPr anchor="ctr"/>
                    </a:tc>
                    <a:extLst>
                      <a:ext uri="{0D108BD9-81ED-4DB2-BD59-A6C34878D82A}">
                        <a16:rowId xmlns:a16="http://schemas.microsoft.com/office/drawing/2014/main" val="1230740687"/>
                      </a:ext>
                    </a:extLst>
                  </a:tr>
                </a:tbl>
              </a:graphicData>
            </a:graphic>
          </p:graphicFrame>
        </mc:Choice>
        <mc:Fallback xmlns="">
          <p:graphicFrame>
            <p:nvGraphicFramePr>
              <p:cNvPr id="2" name="Table 1">
                <a:extLst>
                  <a:ext uri="{FF2B5EF4-FFF2-40B4-BE49-F238E27FC236}">
                    <a16:creationId xmlns:a16="http://schemas.microsoft.com/office/drawing/2014/main" id="{D17AF087-264F-4BDD-B232-84C9C53BF9A7}"/>
                  </a:ext>
                </a:extLst>
              </p:cNvPr>
              <p:cNvGraphicFramePr>
                <a:graphicFrameLocks noGrp="1"/>
              </p:cNvGraphicFramePr>
              <p:nvPr>
                <p:extLst>
                  <p:ext uri="{D42A27DB-BD31-4B8C-83A1-F6EECF244321}">
                    <p14:modId xmlns:p14="http://schemas.microsoft.com/office/powerpoint/2010/main" val="2010405791"/>
                  </p:ext>
                </p:extLst>
              </p:nvPr>
            </p:nvGraphicFramePr>
            <p:xfrm>
              <a:off x="762000" y="2057400"/>
              <a:ext cx="7239001" cy="3090135"/>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974011113"/>
                        </a:ext>
                      </a:extLst>
                    </a:gridCol>
                    <a:gridCol w="3454401">
                      <a:extLst>
                        <a:ext uri="{9D8B030D-6E8A-4147-A177-3AD203B41FA5}">
                          <a16:colId xmlns:a16="http://schemas.microsoft.com/office/drawing/2014/main" val="1025599255"/>
                        </a:ext>
                      </a:extLst>
                    </a:gridCol>
                    <a:gridCol w="2413000">
                      <a:extLst>
                        <a:ext uri="{9D8B030D-6E8A-4147-A177-3AD203B41FA5}">
                          <a16:colId xmlns:a16="http://schemas.microsoft.com/office/drawing/2014/main" val="980557726"/>
                        </a:ext>
                      </a:extLst>
                    </a:gridCol>
                  </a:tblGrid>
                  <a:tr h="990600">
                    <a:tc rowSpan="5">
                      <a:txBody>
                        <a:bodyPr/>
                        <a:lstStyle/>
                        <a:p>
                          <a:pPr algn="ctr"/>
                          <a:r>
                            <a:rPr lang="en-US" sz="2000" dirty="0">
                              <a:latin typeface="+mn-lt"/>
                            </a:rPr>
                            <a:t>Symbols</a:t>
                          </a:r>
                        </a:p>
                      </a:txBody>
                      <a:tcPr anchor="ctr">
                        <a:solidFill>
                          <a:srgbClr val="FF0000"/>
                        </a:solidFill>
                      </a:tcPr>
                    </a:tc>
                    <a:tc>
                      <a:txBody>
                        <a:bodyPr/>
                        <a:lstStyle/>
                        <a:p>
                          <a:pPr algn="ctr"/>
                          <a:r>
                            <a:rPr lang="en-US" sz="2000" dirty="0">
                              <a:latin typeface="+mn-lt"/>
                            </a:rPr>
                            <a:t>Population parameter/ characteristic</a:t>
                          </a:r>
                        </a:p>
                      </a:txBody>
                      <a:tcPr anchor="ctr"/>
                    </a:tc>
                    <a:tc>
                      <a:txBody>
                        <a:bodyPr/>
                        <a:lstStyle/>
                        <a:p>
                          <a:pPr algn="ctr"/>
                          <a:r>
                            <a:rPr lang="en-US" sz="2000" dirty="0">
                              <a:latin typeface="+mn-lt"/>
                            </a:rPr>
                            <a:t>Sample Statistic</a:t>
                          </a:r>
                        </a:p>
                      </a:txBody>
                      <a:tcPr anchor="ctr"/>
                    </a:tc>
                    <a:extLst>
                      <a:ext uri="{0D108BD9-81ED-4DB2-BD59-A6C34878D82A}">
                        <a16:rowId xmlns:a16="http://schemas.microsoft.com/office/drawing/2014/main" val="1103001389"/>
                      </a:ext>
                    </a:extLst>
                  </a:tr>
                  <a:tr h="466165">
                    <a:tc vMerge="1">
                      <a:txBody>
                        <a:bodyPr/>
                        <a:lstStyle/>
                        <a:p>
                          <a:endParaRPr lang="en-US" dirty="0"/>
                        </a:p>
                      </a:txBody>
                      <a:tcPr>
                        <a:solidFill>
                          <a:srgbClr val="FF0000"/>
                        </a:solidFill>
                      </a:tcPr>
                    </a:tc>
                    <a:tc>
                      <a:txBody>
                        <a:bodyPr/>
                        <a:lstStyle/>
                        <a:p>
                          <a:pPr algn="l"/>
                          <a:r>
                            <a:rPr lang="en-US" sz="2000" dirty="0">
                              <a:latin typeface="+mn-lt"/>
                            </a:rPr>
                            <a:t>Population Size (N)</a:t>
                          </a:r>
                        </a:p>
                      </a:txBody>
                      <a:tcPr anchor="ctr"/>
                    </a:tc>
                    <a:tc>
                      <a:txBody>
                        <a:bodyPr/>
                        <a:lstStyle/>
                        <a:p>
                          <a:pPr algn="l"/>
                          <a:r>
                            <a:rPr lang="en-US" sz="2000" dirty="0">
                              <a:latin typeface="+mn-lt"/>
                            </a:rPr>
                            <a:t>Sample Size (n)</a:t>
                          </a:r>
                        </a:p>
                      </a:txBody>
                      <a:tcPr anchor="ctr"/>
                    </a:tc>
                    <a:extLst>
                      <a:ext uri="{0D108BD9-81ED-4DB2-BD59-A6C34878D82A}">
                        <a16:rowId xmlns:a16="http://schemas.microsoft.com/office/drawing/2014/main" val="1412725619"/>
                      </a:ext>
                    </a:extLst>
                  </a:tr>
                  <a:tr h="466165">
                    <a:tc vMerge="1">
                      <a:txBody>
                        <a:bodyPr/>
                        <a:lstStyle/>
                        <a:p>
                          <a:endParaRPr lang="en-US" dirty="0"/>
                        </a:p>
                      </a:txBody>
                      <a:tcPr>
                        <a:solidFill>
                          <a:srgbClr val="FF0000"/>
                        </a:solidFill>
                      </a:tcPr>
                    </a:tc>
                    <a:tc>
                      <a:txBody>
                        <a:bodyPr/>
                        <a:lstStyle/>
                        <a:p>
                          <a:endParaRPr lang="en-US"/>
                        </a:p>
                      </a:txBody>
                      <a:tcPr anchor="ctr">
                        <a:blipFill>
                          <a:blip r:embed="rId2"/>
                          <a:stretch>
                            <a:fillRect l="-40035" t="-311688" r="-70547" b="-264935"/>
                          </a:stretch>
                        </a:blipFill>
                      </a:tcPr>
                    </a:tc>
                    <a:tc>
                      <a:txBody>
                        <a:bodyPr/>
                        <a:lstStyle/>
                        <a:p>
                          <a:endParaRPr lang="en-US"/>
                        </a:p>
                      </a:txBody>
                      <a:tcPr anchor="ctr">
                        <a:blipFill>
                          <a:blip r:embed="rId2"/>
                          <a:stretch>
                            <a:fillRect l="-200505" t="-311688" r="-1010" b="-264935"/>
                          </a:stretch>
                        </a:blipFill>
                      </a:tcPr>
                    </a:tc>
                    <a:extLst>
                      <a:ext uri="{0D108BD9-81ED-4DB2-BD59-A6C34878D82A}">
                        <a16:rowId xmlns:a16="http://schemas.microsoft.com/office/drawing/2014/main" val="3999190808"/>
                      </a:ext>
                    </a:extLst>
                  </a:tr>
                  <a:tr h="701040">
                    <a:tc vMerge="1">
                      <a:txBody>
                        <a:bodyPr/>
                        <a:lstStyle/>
                        <a:p>
                          <a:endParaRPr lang="en-US" dirty="0"/>
                        </a:p>
                      </a:txBody>
                      <a:tcPr>
                        <a:solidFill>
                          <a:srgbClr val="FF0000"/>
                        </a:solidFill>
                      </a:tcPr>
                    </a:tc>
                    <a:tc>
                      <a:txBody>
                        <a:bodyPr/>
                        <a:lstStyle/>
                        <a:p>
                          <a:endParaRPr lang="en-US"/>
                        </a:p>
                      </a:txBody>
                      <a:tcPr anchor="ctr">
                        <a:blipFill>
                          <a:blip r:embed="rId2"/>
                          <a:stretch>
                            <a:fillRect l="-40035" t="-275652" r="-70547" b="-77391"/>
                          </a:stretch>
                        </a:blipFill>
                      </a:tcPr>
                    </a:tc>
                    <a:tc>
                      <a:txBody>
                        <a:bodyPr/>
                        <a:lstStyle/>
                        <a:p>
                          <a:endParaRPr lang="en-US"/>
                        </a:p>
                      </a:txBody>
                      <a:tcPr anchor="ctr">
                        <a:blipFill>
                          <a:blip r:embed="rId2"/>
                          <a:stretch>
                            <a:fillRect l="-200505" t="-275652" r="-1010" b="-77391"/>
                          </a:stretch>
                        </a:blipFill>
                      </a:tcPr>
                    </a:tc>
                    <a:extLst>
                      <a:ext uri="{0D108BD9-81ED-4DB2-BD59-A6C34878D82A}">
                        <a16:rowId xmlns:a16="http://schemas.microsoft.com/office/drawing/2014/main" val="1330951742"/>
                      </a:ext>
                    </a:extLst>
                  </a:tr>
                  <a:tr h="466165">
                    <a:tc vMerge="1">
                      <a:txBody>
                        <a:bodyPr/>
                        <a:lstStyle/>
                        <a:p>
                          <a:endParaRPr lang="en-US" dirty="0"/>
                        </a:p>
                      </a:txBody>
                      <a:tcPr>
                        <a:solidFill>
                          <a:srgbClr val="FF0000"/>
                        </a:solidFill>
                      </a:tcPr>
                    </a:tc>
                    <a:tc>
                      <a:txBody>
                        <a:bodyPr/>
                        <a:lstStyle/>
                        <a:p>
                          <a:endParaRPr lang="en-US"/>
                        </a:p>
                      </a:txBody>
                      <a:tcPr anchor="ctr">
                        <a:blipFill>
                          <a:blip r:embed="rId2"/>
                          <a:stretch>
                            <a:fillRect l="-40035" t="-561039" r="-70547" b="-15584"/>
                          </a:stretch>
                        </a:blipFill>
                      </a:tcPr>
                    </a:tc>
                    <a:tc>
                      <a:txBody>
                        <a:bodyPr/>
                        <a:lstStyle/>
                        <a:p>
                          <a:endParaRPr lang="en-US"/>
                        </a:p>
                      </a:txBody>
                      <a:tcPr anchor="ctr">
                        <a:blipFill>
                          <a:blip r:embed="rId2"/>
                          <a:stretch>
                            <a:fillRect l="-200505" t="-561039" r="-1010" b="-15584"/>
                          </a:stretch>
                        </a:blipFill>
                      </a:tcPr>
                    </a:tc>
                    <a:extLst>
                      <a:ext uri="{0D108BD9-81ED-4DB2-BD59-A6C34878D82A}">
                        <a16:rowId xmlns:a16="http://schemas.microsoft.com/office/drawing/2014/main" val="1230740687"/>
                      </a:ext>
                    </a:extLst>
                  </a:tr>
                </a:tbl>
              </a:graphicData>
            </a:graphic>
          </p:graphicFrame>
        </mc:Fallback>
      </mc:AlternateContent>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Procedure of Test of hypothesis</a:t>
            </a:r>
          </a:p>
          <a:p>
            <a:r>
              <a:rPr lang="en-US" sz="2200" dirty="0"/>
              <a:t>State Null hypothesis &amp; Alternate hypothesis</a:t>
            </a:r>
          </a:p>
          <a:p>
            <a:r>
              <a:rPr lang="en-US" sz="2200" dirty="0"/>
              <a:t>Define level of significance</a:t>
            </a:r>
          </a:p>
          <a:p>
            <a:r>
              <a:rPr lang="en-US" sz="2200" dirty="0"/>
              <a:t>Use suitable test statistics </a:t>
            </a:r>
          </a:p>
          <a:p>
            <a:r>
              <a:rPr lang="en-US" sz="2200" dirty="0"/>
              <a:t>Establish critical region (Table value) </a:t>
            </a:r>
          </a:p>
          <a:p>
            <a:r>
              <a:rPr lang="en-US" sz="2200" dirty="0"/>
              <a:t>Conclusion </a:t>
            </a: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6967250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lgn="just">
                  <a:buNone/>
                </a:pPr>
                <a:r>
                  <a:rPr lang="en-US" sz="2200" b="1" dirty="0"/>
                  <a:t>Null Hypothesis</a:t>
                </a:r>
                <a:endParaRPr lang="en-US" sz="2200" dirty="0"/>
              </a:p>
              <a:p>
                <a:pPr algn="just"/>
                <a:r>
                  <a:rPr lang="en-US" sz="2200" dirty="0"/>
                  <a:t>A population is given to us and we wish to have information about a parameter of the Population.</a:t>
                </a:r>
              </a:p>
              <a:p>
                <a:pPr algn="just"/>
                <a:r>
                  <a:rPr lang="en-US" sz="2200" dirty="0"/>
                  <a:t> we start with the assumption that there is no significant difference between the sample statistic  and the corresponding population parameter or between two sample statistic.</a:t>
                </a:r>
              </a:p>
              <a:p>
                <a:pPr algn="just"/>
                <a:r>
                  <a:rPr lang="en-US" sz="2200" dirty="0"/>
                  <a:t> This assumption there is no significant difference is called a null hypothesis and is denoted by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m:t>
                    </m:r>
                  </m:oMath>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77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8723537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200" b="1" dirty="0"/>
                  <a:t>Alternate Hypothesis</a:t>
                </a:r>
              </a:p>
              <a:p>
                <a:pPr marL="0" indent="0" algn="just">
                  <a:buNone/>
                </a:pPr>
                <a:r>
                  <a:rPr lang="en-US" sz="2200" dirty="0"/>
                  <a:t>A hypothesis that is different from the null hypothesis is called alternate hypothesis and is denoted by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m:t>
                    </m:r>
                  </m:oMath>
                </a14:m>
                <a:endParaRPr lang="en-US" sz="2200" dirty="0"/>
              </a:p>
              <a:p>
                <a:pPr marL="0" indent="0" algn="just">
                  <a:buNone/>
                </a:pPr>
                <a:r>
                  <a:rPr lang="en-US" sz="2200" b="1" dirty="0"/>
                  <a:t>Single tailed &amp; two tailed test</a:t>
                </a:r>
              </a:p>
              <a:p>
                <a:pPr marL="0" indent="0" algn="just">
                  <a:buNone/>
                </a:pPr>
                <a:r>
                  <a:rPr lang="en-US" sz="2200" dirty="0"/>
                  <a:t>Consider the following example-</a:t>
                </a:r>
              </a:p>
              <a:p>
                <a:pPr algn="just">
                  <a:buNone/>
                </a:pPr>
                <a:r>
                  <a:rPr lang="en-US" sz="2200" dirty="0"/>
                  <a:t>let the null hypothesis is define as-</a:t>
                </a:r>
              </a:p>
              <a:p>
                <a:pPr algn="just">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The population has an assume value of</a:t>
                </a:r>
              </a:p>
              <a:p>
                <a:pPr algn="just">
                  <a:buNone/>
                </a:pPr>
                <a:r>
                  <a:rPr lang="en-US" sz="2200" dirty="0"/>
                  <a:t>mean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0</m:t>
                        </m:r>
                      </m:sub>
                    </m:sSub>
                  </m:oMath>
                </a14:m>
                <a:r>
                  <a:rPr lang="en-US" sz="2200" dirty="0"/>
                  <a:t> i.e. </a:t>
                </a:r>
                <a14:m>
                  <m:oMath xmlns:m="http://schemas.openxmlformats.org/officeDocument/2006/math">
                    <m:r>
                      <a:rPr lang="en-US" sz="2200" i="1">
                        <a:latin typeface="Cambria Math"/>
                        <a:ea typeface="Cambria Math"/>
                      </a:rPr>
                      <m:t>𝜇</m:t>
                    </m:r>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0</m:t>
                        </m:r>
                      </m:sub>
                    </m:sSub>
                  </m:oMath>
                </a14:m>
                <a:r>
                  <a:rPr lang="en-US" sz="2200" dirty="0"/>
                  <a:t>.</a:t>
                </a:r>
              </a:p>
              <a:p>
                <a:pPr algn="just">
                  <a:buNone/>
                </a:pPr>
                <a:r>
                  <a:rPr lang="en-US" sz="2200" dirty="0"/>
                  <a:t>Then alternate hypothesis can be define as any</a:t>
                </a:r>
              </a:p>
              <a:p>
                <a:pPr algn="just">
                  <a:buNone/>
                </a:pPr>
                <a:r>
                  <a:rPr lang="en-US" sz="2200" dirty="0"/>
                  <a:t>of the following-</a:t>
                </a:r>
              </a:p>
              <a:p>
                <a:pPr>
                  <a:buNone/>
                </a:pPr>
                <a:endParaRPr lang="en-US" sz="2200" dirty="0"/>
              </a:p>
              <a:p>
                <a:pPr>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704" b="-1725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8121902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571500" indent="-571500">
                  <a:buFont typeface="+mj-lt"/>
                  <a:buAutoNum type="romanUcPeriod"/>
                </a:pP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m:t>
                    </m:r>
                    <m:r>
                      <a:rPr lang="en-US" sz="2200" i="1">
                        <a:latin typeface="Cambria Math"/>
                        <a:ea typeface="Cambria Math"/>
                      </a:rPr>
                      <m:t>𝜇</m:t>
                    </m:r>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0</m:t>
                        </m:r>
                      </m:sub>
                    </m:sSub>
                  </m:oMath>
                </a14:m>
                <a:endParaRPr lang="en-US" sz="2200" dirty="0"/>
              </a:p>
              <a:p>
                <a:pPr marL="571500" indent="-571500">
                  <a:buFont typeface="+mj-lt"/>
                  <a:buAutoNum type="romanUcPeriod"/>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 </m:t>
                        </m:r>
                        <m:r>
                          <a:rPr lang="en-US" sz="2200" i="1">
                            <a:latin typeface="Cambria Math"/>
                          </a:rPr>
                          <m:t>𝐻</m:t>
                        </m:r>
                      </m:e>
                      <m:sub>
                        <m:r>
                          <a:rPr lang="en-US" sz="2200" i="1">
                            <a:latin typeface="Cambria Math"/>
                          </a:rPr>
                          <m:t>1</m:t>
                        </m:r>
                      </m:sub>
                    </m:sSub>
                    <m:r>
                      <a:rPr lang="en-US" sz="2200" i="1">
                        <a:latin typeface="Cambria Math"/>
                      </a:rPr>
                      <m:t>:</m:t>
                    </m:r>
                    <m:r>
                      <a:rPr lang="en-US" sz="2200" i="1">
                        <a:latin typeface="Cambria Math"/>
                        <a:ea typeface="Cambria Math"/>
                      </a:rPr>
                      <m:t>𝜇</m:t>
                    </m:r>
                    <m:r>
                      <a:rPr lang="en-US" sz="2200" i="1">
                        <a:latin typeface="Cambria Math"/>
                        <a:ea typeface="Cambria Math"/>
                      </a:rPr>
                      <m:t>&gt;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0</m:t>
                        </m:r>
                      </m:sub>
                    </m:sSub>
                  </m:oMath>
                </a14:m>
                <a:endParaRPr lang="en-US" sz="2200" dirty="0"/>
              </a:p>
              <a:p>
                <a:pPr marL="571500" indent="-571500">
                  <a:buFont typeface="+mj-lt"/>
                  <a:buAutoNum type="romanUcPeriod"/>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 </m:t>
                        </m:r>
                        <m:r>
                          <a:rPr lang="en-US" sz="2200" i="1">
                            <a:latin typeface="Cambria Math"/>
                          </a:rPr>
                          <m:t>𝐻</m:t>
                        </m:r>
                      </m:e>
                      <m:sub>
                        <m:r>
                          <a:rPr lang="en-US" sz="2200" i="1">
                            <a:latin typeface="Cambria Math"/>
                          </a:rPr>
                          <m:t>1</m:t>
                        </m:r>
                      </m:sub>
                    </m:sSub>
                    <m:r>
                      <a:rPr lang="en-US" sz="2200" i="1">
                        <a:latin typeface="Cambria Math"/>
                      </a:rPr>
                      <m:t>:</m:t>
                    </m:r>
                    <m:r>
                      <a:rPr lang="en-US" sz="2200" i="1">
                        <a:latin typeface="Cambria Math"/>
                        <a:ea typeface="Cambria Math"/>
                      </a:rPr>
                      <m:t>𝜇</m:t>
                    </m:r>
                    <m:r>
                      <a:rPr lang="en-US" sz="2200" i="1">
                        <a:latin typeface="Cambria Math"/>
                        <a:ea typeface="Cambria Math"/>
                      </a:rPr>
                      <m:t>&lt;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0</m:t>
                        </m:r>
                      </m:sub>
                    </m:sSub>
                  </m:oMath>
                </a14:m>
                <a:endParaRPr lang="en-US" sz="2200" dirty="0"/>
              </a:p>
              <a:p>
                <a:pPr marL="0" indent="0">
                  <a:buNone/>
                </a:pPr>
                <a:r>
                  <a:rPr lang="en-US" sz="2200" dirty="0"/>
                  <a:t>Depending upon the problem we use single tail or two tailed test to estimate the significance of result. In two tailed test the areas of the both the tails of the curve representing the sampling distribution are taken into account whereas in single tail test only the area on left or right of is taken into account.</a:t>
                </a:r>
              </a:p>
              <a:p>
                <a:pPr marL="0" indent="0">
                  <a:buNone/>
                </a:pPr>
                <a:endParaRPr lang="en-US" sz="2200" dirty="0"/>
              </a:p>
              <a:p>
                <a:pPr marL="0" indent="0">
                  <a:buNone/>
                </a:pPr>
                <a:r>
                  <a:rPr lang="en-US" sz="22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1037" t="-1078"/>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6704885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Level of significance</a:t>
                </a:r>
              </a:p>
              <a:p>
                <a:pPr marL="0" indent="0">
                  <a:buNone/>
                </a:pPr>
                <a:r>
                  <a:rPr lang="en-US" sz="2200" dirty="0"/>
                  <a:t>The probability level below which we reject the hypothesis is known as level of significance. It is denoted by </a:t>
                </a:r>
                <a14:m>
                  <m:oMath xmlns:m="http://schemas.openxmlformats.org/officeDocument/2006/math">
                    <m:r>
                      <a:rPr lang="en-US" sz="2200" i="1">
                        <a:latin typeface="Cambria Math"/>
                        <a:ea typeface="Cambria Math"/>
                      </a:rPr>
                      <m:t>𝛼</m:t>
                    </m:r>
                  </m:oMath>
                </a14:m>
                <a:r>
                  <a:rPr lang="en-US" sz="2200" dirty="0"/>
                  <a:t> and generally specified before sample are drawn. </a:t>
                </a:r>
              </a:p>
              <a:p>
                <a:pPr marL="0" indent="0">
                  <a:buNone/>
                </a:pPr>
                <a:r>
                  <a:rPr lang="en-US" sz="2200" dirty="0"/>
                  <a:t>Generally we take </a:t>
                </a:r>
                <a14:m>
                  <m:oMath xmlns:m="http://schemas.openxmlformats.org/officeDocument/2006/math">
                    <m:r>
                      <a:rPr lang="en-US" sz="2200" i="1">
                        <a:latin typeface="Cambria Math"/>
                        <a:ea typeface="Cambria Math"/>
                      </a:rPr>
                      <m:t>𝛼</m:t>
                    </m:r>
                    <m:r>
                      <a:rPr lang="en-US" sz="2200" i="1">
                        <a:latin typeface="Cambria Math"/>
                        <a:ea typeface="Cambria Math"/>
                      </a:rPr>
                      <m:t>=5%</m:t>
                    </m:r>
                  </m:oMath>
                </a14:m>
                <a:r>
                  <a:rPr lang="en-US" sz="2200" dirty="0"/>
                  <a:t> or </a:t>
                </a:r>
                <a14:m>
                  <m:oMath xmlns:m="http://schemas.openxmlformats.org/officeDocument/2006/math">
                    <m:r>
                      <a:rPr lang="en-US" sz="2200" i="1" dirty="0">
                        <a:latin typeface="Cambria Math"/>
                        <a:ea typeface="Cambria Math"/>
                      </a:rPr>
                      <m:t>1</m:t>
                    </m:r>
                    <m:r>
                      <a:rPr lang="en-US" sz="2200" i="1">
                        <a:latin typeface="Cambria Math"/>
                        <a:ea typeface="Cambria Math"/>
                      </a:rPr>
                      <m:t>%</m:t>
                    </m:r>
                  </m:oMath>
                </a14:m>
                <a:r>
                  <a:rPr lang="en-US" sz="2200" dirty="0"/>
                  <a:t>. </a:t>
                </a:r>
              </a:p>
              <a:p>
                <a:pPr marL="0" indent="0">
                  <a:buNone/>
                </a:pPr>
                <a:r>
                  <a:rPr lang="en-US" sz="2200" b="1" dirty="0"/>
                  <a:t>Critical value</a:t>
                </a:r>
              </a:p>
              <a:p>
                <a:pPr marL="0" indent="0">
                  <a:buNone/>
                </a:pPr>
                <a:r>
                  <a:rPr lang="en-US" sz="2200" dirty="0"/>
                  <a:t>The value of test statistic which separates the critical region (or rejection) and acceptance region is called the critical value and it depends upon </a:t>
                </a:r>
              </a:p>
              <a:p>
                <a:r>
                  <a:rPr lang="en-US" sz="2200" dirty="0"/>
                  <a:t>Level of significance</a:t>
                </a:r>
              </a:p>
              <a:p>
                <a:r>
                  <a:rPr lang="en-US" sz="2200" dirty="0"/>
                  <a:t>Alternate hypothesis ( whether it is two tailed or single tailed)</a:t>
                </a:r>
              </a:p>
              <a:p>
                <a:pPr marL="0" indent="0">
                  <a:buNone/>
                </a:pPr>
                <a:endParaRPr lang="en-US" sz="2200" b="1" dirty="0"/>
              </a:p>
              <a:p>
                <a:pPr marL="0" indent="0">
                  <a:buNone/>
                </a:pPr>
                <a:r>
                  <a:rPr lang="en-US" sz="2200" dirty="0"/>
                  <a:t> </a:t>
                </a:r>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333" b="-3948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757297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Critical Region or rejection region</a:t>
                </a:r>
                <a:endParaRPr lang="en-US" sz="2200" dirty="0"/>
              </a:p>
              <a:p>
                <a:pPr marL="0" indent="0">
                  <a:buNone/>
                </a:pPr>
                <a:r>
                  <a:rPr lang="en-US" sz="2200" dirty="0"/>
                  <a:t>Critical region is the region in which a sample value is rejected.</a:t>
                </a:r>
              </a:p>
              <a:p>
                <a:pPr marL="0" indent="0">
                  <a:buNone/>
                </a:pPr>
                <a:r>
                  <a:rPr lang="en-US" sz="2200" dirty="0"/>
                  <a:t>Single left tailed test </a:t>
                </a:r>
                <a14:m>
                  <m:oMath xmlns:m="http://schemas.openxmlformats.org/officeDocument/2006/math">
                    <m:r>
                      <a:rPr lang="en-US" sz="2200" i="1" spc="-260">
                        <a:latin typeface="Cambria Math"/>
                        <a:ea typeface="Cambria Math"/>
                      </a:rPr>
                      <m:t>𝛼</m:t>
                    </m:r>
                    <m:r>
                      <a:rPr lang="en-US" sz="2200" i="1" spc="-260">
                        <a:latin typeface="Cambria Math"/>
                        <a:ea typeface="Cambria Math"/>
                      </a:rPr>
                      <m:t>=5%</m:t>
                    </m:r>
                  </m:oMath>
                </a14:m>
                <a:r>
                  <a:rPr lang="en-US" sz="2200" spc="-260" dirty="0"/>
                  <a:t> :</a:t>
                </a:r>
              </a:p>
              <a:p>
                <a:pPr marL="0" indent="0">
                  <a:buNone/>
                </a:pPr>
                <a:endParaRPr lang="en-US" sz="2200" spc="-26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3"/>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512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34916" t="39881" r="23698" b="17064"/>
          <a:stretch/>
        </p:blipFill>
        <p:spPr bwMode="auto">
          <a:xfrm>
            <a:off x="914400" y="2743200"/>
            <a:ext cx="5384801" cy="3149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905000" y="0"/>
            <a:ext cx="7239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3231674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4770" t="21581" r="20655" b="18421"/>
          <a:stretch/>
        </p:blipFill>
        <p:spPr bwMode="auto">
          <a:xfrm>
            <a:off x="914400" y="1066800"/>
            <a:ext cx="7239000"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474844738"/>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717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4769" t="23112" r="19623" b="18727"/>
          <a:stretch/>
        </p:blipFill>
        <p:spPr bwMode="auto">
          <a:xfrm>
            <a:off x="723900" y="1219200"/>
            <a:ext cx="7886700"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25394104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Conclusion</a:t>
                </a:r>
                <a:r>
                  <a:rPr lang="en-US" sz="2200" dirty="0"/>
                  <a:t> </a:t>
                </a:r>
              </a:p>
              <a:p>
                <a:pPr marL="0" indent="0">
                  <a:buNone/>
                </a:pPr>
                <a:r>
                  <a:rPr lang="en-US" sz="2200" dirty="0"/>
                  <a:t>If absolute calculated value of test statistic is less than or equal to its critical value(table value), we accept the null hypothesis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otherwise reject it.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7458197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Test of hypothesis for large samples and Small samples</a:t>
            </a:r>
          </a:p>
          <a:p>
            <a:pPr marL="0" indent="0">
              <a:buNone/>
            </a:pPr>
            <a:r>
              <a:rPr lang="en-US" sz="2200" u="sng" spc="-5" dirty="0">
                <a:uFill>
                  <a:solidFill>
                    <a:srgbClr val="000000"/>
                  </a:solidFill>
                </a:uFill>
                <a:latin typeface="Times New Roman"/>
                <a:cs typeface="Times New Roman"/>
              </a:rPr>
              <a:t>Difference </a:t>
            </a:r>
            <a:r>
              <a:rPr lang="en-US" sz="2200" u="sng" dirty="0">
                <a:uFill>
                  <a:solidFill>
                    <a:srgbClr val="000000"/>
                  </a:solidFill>
                </a:uFill>
                <a:latin typeface="Times New Roman"/>
                <a:cs typeface="Times New Roman"/>
              </a:rPr>
              <a:t>between Large and </a:t>
            </a:r>
            <a:r>
              <a:rPr lang="en-US" sz="2200" u="sng" spc="-5" dirty="0">
                <a:uFill>
                  <a:solidFill>
                    <a:srgbClr val="000000"/>
                  </a:solidFill>
                </a:uFill>
                <a:latin typeface="Times New Roman"/>
                <a:cs typeface="Times New Roman"/>
              </a:rPr>
              <a:t>Small</a:t>
            </a:r>
            <a:r>
              <a:rPr lang="en-US" sz="2200" u="sng" spc="-90" dirty="0">
                <a:uFill>
                  <a:solidFill>
                    <a:srgbClr val="000000"/>
                  </a:solidFill>
                </a:uFill>
                <a:latin typeface="Times New Roman"/>
                <a:cs typeface="Times New Roman"/>
              </a:rPr>
              <a:t> </a:t>
            </a:r>
            <a:r>
              <a:rPr lang="en-US" sz="2200" u="sng" dirty="0">
                <a:uFill>
                  <a:solidFill>
                    <a:srgbClr val="000000"/>
                  </a:solidFill>
                </a:uFill>
                <a:latin typeface="Times New Roman"/>
                <a:cs typeface="Times New Roman"/>
              </a:rPr>
              <a:t>sample</a:t>
            </a: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2" name="Table 1">
            <a:extLst>
              <a:ext uri="{FF2B5EF4-FFF2-40B4-BE49-F238E27FC236}">
                <a16:creationId xmlns:a16="http://schemas.microsoft.com/office/drawing/2014/main" id="{9E42686A-D9DA-4503-B84C-497B258FE819}"/>
              </a:ext>
            </a:extLst>
          </p:cNvPr>
          <p:cNvGraphicFramePr>
            <a:graphicFrameLocks noGrp="1"/>
          </p:cNvGraphicFramePr>
          <p:nvPr>
            <p:extLst>
              <p:ext uri="{D42A27DB-BD31-4B8C-83A1-F6EECF244321}">
                <p14:modId xmlns:p14="http://schemas.microsoft.com/office/powerpoint/2010/main" val="555016450"/>
              </p:ext>
            </p:extLst>
          </p:nvPr>
        </p:nvGraphicFramePr>
        <p:xfrm>
          <a:off x="1219200" y="2174240"/>
          <a:ext cx="7010400" cy="341376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369036863"/>
                    </a:ext>
                  </a:extLst>
                </a:gridCol>
                <a:gridCol w="3048000">
                  <a:extLst>
                    <a:ext uri="{9D8B030D-6E8A-4147-A177-3AD203B41FA5}">
                      <a16:colId xmlns:a16="http://schemas.microsoft.com/office/drawing/2014/main" val="2334573118"/>
                    </a:ext>
                  </a:extLst>
                </a:gridCol>
                <a:gridCol w="3200400">
                  <a:extLst>
                    <a:ext uri="{9D8B030D-6E8A-4147-A177-3AD203B41FA5}">
                      <a16:colId xmlns:a16="http://schemas.microsoft.com/office/drawing/2014/main" val="1991906885"/>
                    </a:ext>
                  </a:extLst>
                </a:gridCol>
              </a:tblGrid>
              <a:tr h="694690">
                <a:tc>
                  <a:txBody>
                    <a:bodyPr/>
                    <a:lstStyle/>
                    <a:p>
                      <a:r>
                        <a:rPr lang="en-US" sz="2000" dirty="0"/>
                        <a:t>Sr. No.</a:t>
                      </a:r>
                    </a:p>
                  </a:txBody>
                  <a:tcPr/>
                </a:tc>
                <a:tc>
                  <a:txBody>
                    <a:bodyPr/>
                    <a:lstStyle/>
                    <a:p>
                      <a:r>
                        <a:rPr lang="en-US" sz="2000" dirty="0"/>
                        <a:t>Large Sample</a:t>
                      </a:r>
                    </a:p>
                  </a:txBody>
                  <a:tcPr/>
                </a:tc>
                <a:tc>
                  <a:txBody>
                    <a:bodyPr/>
                    <a:lstStyle/>
                    <a:p>
                      <a:r>
                        <a:rPr lang="en-US" sz="2000" dirty="0"/>
                        <a:t>Small Sample</a:t>
                      </a:r>
                    </a:p>
                  </a:txBody>
                  <a:tcPr/>
                </a:tc>
                <a:extLst>
                  <a:ext uri="{0D108BD9-81ED-4DB2-BD59-A6C34878D82A}">
                    <a16:rowId xmlns:a16="http://schemas.microsoft.com/office/drawing/2014/main" val="1998071782"/>
                  </a:ext>
                </a:extLst>
              </a:tr>
              <a:tr h="694690">
                <a:tc>
                  <a:txBody>
                    <a:bodyPr/>
                    <a:lstStyle/>
                    <a:p>
                      <a:r>
                        <a:rPr lang="en-US" sz="2000" dirty="0"/>
                        <a:t>1</a:t>
                      </a:r>
                    </a:p>
                  </a:txBody>
                  <a:tcPr/>
                </a:tc>
                <a:tc>
                  <a:txBody>
                    <a:bodyPr/>
                    <a:lstStyle/>
                    <a:p>
                      <a:r>
                        <a:rPr lang="en-US" sz="2000" dirty="0"/>
                        <a:t>The sample size is greater than 30.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sample size is less than or equal to 30.</a:t>
                      </a:r>
                    </a:p>
                  </a:txBody>
                  <a:tcPr/>
                </a:tc>
                <a:extLst>
                  <a:ext uri="{0D108BD9-81ED-4DB2-BD59-A6C34878D82A}">
                    <a16:rowId xmlns:a16="http://schemas.microsoft.com/office/drawing/2014/main" val="1085874345"/>
                  </a:ext>
                </a:extLst>
              </a:tr>
              <a:tr h="694690">
                <a:tc>
                  <a:txBody>
                    <a:bodyPr/>
                    <a:lstStyle/>
                    <a:p>
                      <a:r>
                        <a:rPr lang="en-US" sz="2000" dirty="0"/>
                        <a:t>2</a:t>
                      </a:r>
                    </a:p>
                  </a:txBody>
                  <a:tcPr/>
                </a:tc>
                <a:tc>
                  <a:txBody>
                    <a:bodyPr/>
                    <a:lstStyle/>
                    <a:p>
                      <a:r>
                        <a:rPr lang="en-US" sz="2000" dirty="0"/>
                        <a:t>The value of statistic obtain from the sample can be taken as an estimate of population parameter.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value of statistic obtain from the sample can not be taken as an estimate of population parameter.</a:t>
                      </a:r>
                    </a:p>
                  </a:txBody>
                  <a:tcPr/>
                </a:tc>
                <a:extLst>
                  <a:ext uri="{0D108BD9-81ED-4DB2-BD59-A6C34878D82A}">
                    <a16:rowId xmlns:a16="http://schemas.microsoft.com/office/drawing/2014/main" val="2605160766"/>
                  </a:ext>
                </a:extLst>
              </a:tr>
              <a:tr h="694690">
                <a:tc>
                  <a:txBody>
                    <a:bodyPr/>
                    <a:lstStyle/>
                    <a:p>
                      <a:r>
                        <a:rPr lang="en-US" sz="2000" dirty="0"/>
                        <a:t>3</a:t>
                      </a:r>
                    </a:p>
                  </a:txBody>
                  <a:tcPr/>
                </a:tc>
                <a:tc>
                  <a:txBody>
                    <a:bodyPr/>
                    <a:lstStyle/>
                    <a:p>
                      <a:r>
                        <a:rPr lang="en-US" sz="2000" dirty="0"/>
                        <a:t>Normal distribution (z-test) is used for testing.</a:t>
                      </a:r>
                    </a:p>
                  </a:txBody>
                  <a:tcPr/>
                </a:tc>
                <a:tc>
                  <a:txBody>
                    <a:bodyPr/>
                    <a:lstStyle/>
                    <a:p>
                      <a:r>
                        <a:rPr lang="en-US" sz="2000" dirty="0"/>
                        <a:t>Sampling distribution like t, F etc. are used for testing. </a:t>
                      </a:r>
                    </a:p>
                  </a:txBody>
                  <a:tcPr/>
                </a:tc>
                <a:extLst>
                  <a:ext uri="{0D108BD9-81ED-4DB2-BD59-A6C34878D82A}">
                    <a16:rowId xmlns:a16="http://schemas.microsoft.com/office/drawing/2014/main" val="1123012801"/>
                  </a:ext>
                </a:extLst>
              </a:tr>
            </a:tbl>
          </a:graphicData>
        </a:graphic>
      </p:graphicFrame>
    </p:spTree>
    <p:extLst>
      <p:ext uri="{BB962C8B-B14F-4D97-AF65-F5344CB8AC3E}">
        <p14:creationId xmlns:p14="http://schemas.microsoft.com/office/powerpoint/2010/main" val="42096475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a:buFont typeface="Wingdings" pitchFamily="2" charset="2"/>
                  <a:buChar char="v"/>
                </a:pPr>
                <a:r>
                  <a:rPr lang="en-US" sz="2200" b="1" dirty="0"/>
                  <a:t>Test of hypothesis for large samples(n&gt;30)</a:t>
                </a:r>
              </a:p>
              <a:p>
                <a:pPr marL="0" indent="0">
                  <a:buNone/>
                </a:pPr>
                <a:r>
                  <a:rPr lang="en-US" sz="2200" dirty="0"/>
                  <a:t>The following are the some important applications of test of hypothesis in case of large samples-</a:t>
                </a:r>
              </a:p>
              <a:p>
                <a:r>
                  <a:rPr lang="en-US" sz="2200" dirty="0"/>
                  <a:t>Test of hypothesis about population mean</a:t>
                </a:r>
              </a:p>
              <a:p>
                <a:r>
                  <a:rPr lang="en-US" sz="2200" dirty="0"/>
                  <a:t>Test of hypothesis about difference between two population mean</a:t>
                </a:r>
              </a:p>
              <a:p>
                <a:pPr marL="0" indent="0">
                  <a:buNone/>
                </a:pPr>
                <a:r>
                  <a:rPr lang="en-US" sz="2200" b="1" dirty="0"/>
                  <a:t>Test of hypothesis about population mean</a:t>
                </a:r>
              </a:p>
              <a:p>
                <a:pPr marL="0" indent="0">
                  <a:buNone/>
                </a:pPr>
                <a:r>
                  <a:rPr lang="en-US" sz="2200" dirty="0"/>
                  <a:t>let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oMath>
                </a14:m>
                <a:r>
                  <a:rPr lang="en-US" sz="2200" dirty="0"/>
                  <a:t> be the mean of a large random sample of size n drawn from a normal population with mean </a:t>
                </a:r>
                <a14:m>
                  <m:oMath xmlns:m="http://schemas.openxmlformats.org/officeDocument/2006/math">
                    <m:r>
                      <a:rPr lang="en-US" sz="2200" i="1">
                        <a:latin typeface="Cambria Math"/>
                        <a:ea typeface="Cambria Math"/>
                      </a:rPr>
                      <m:t>𝜇</m:t>
                    </m:r>
                  </m:oMath>
                </a14:m>
                <a:r>
                  <a:rPr lang="en-US" sz="2200" dirty="0"/>
                  <a:t> and S.D. </a:t>
                </a:r>
                <a14:m>
                  <m:oMath xmlns:m="http://schemas.openxmlformats.org/officeDocument/2006/math">
                    <m:r>
                      <a:rPr lang="en-US" sz="2200" i="1">
                        <a:latin typeface="Cambria Math"/>
                        <a:ea typeface="Cambria Math"/>
                      </a:rPr>
                      <m:t>𝜎</m:t>
                    </m:r>
                  </m:oMath>
                </a14:m>
                <a:r>
                  <a:rPr lang="en-US" sz="2200" dirty="0"/>
                  <a:t>. To test the hypothesis that population mean </a:t>
                </a:r>
                <a14:m>
                  <m:oMath xmlns:m="http://schemas.openxmlformats.org/officeDocument/2006/math">
                    <m:r>
                      <a:rPr lang="en-US" sz="2200" i="1">
                        <a:latin typeface="Cambria Math"/>
                        <a:ea typeface="Cambria Math"/>
                      </a:rPr>
                      <m:t>𝜇</m:t>
                    </m:r>
                  </m:oMath>
                </a14:m>
                <a:r>
                  <a:rPr lang="en-US" sz="2200" dirty="0"/>
                  <a:t> has a specified value the test statistics to be used is given by </a:t>
                </a:r>
              </a:p>
              <a:p>
                <a:pPr marL="0" indent="0">
                  <a:buNone/>
                </a:pPr>
                <a14:m>
                  <m:oMathPara xmlns:m="http://schemas.openxmlformats.org/officeDocument/2006/math">
                    <m:oMathParaPr>
                      <m:jc m:val="centerGroup"/>
                    </m:oMathParaPr>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den>
                      </m:f>
                    </m:oMath>
                  </m:oMathPara>
                </a14:m>
                <a:br>
                  <a:rPr lang="en-US" sz="2200" dirty="0"/>
                </a:br>
                <a:endParaRPr lang="en-US" sz="2200" dirty="0"/>
              </a:p>
              <a:p>
                <a:pPr marL="0" indent="0">
                  <a:buNone/>
                </a:pPr>
                <a:r>
                  <a:rPr lang="en-US" sz="2200" dirty="0"/>
                  <a:t>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407" b="-2789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9" name="Title 1"/>
          <p:cNvSpPr txBox="1">
            <a:spLocks/>
          </p:cNvSpPr>
          <p:nvPr/>
        </p:nvSpPr>
        <p:spPr>
          <a:xfrm>
            <a:off x="1905000" y="0"/>
            <a:ext cx="7239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416864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For large sample </a:t>
                </a:r>
                <a14:m>
                  <m:oMath xmlns:m="http://schemas.openxmlformats.org/officeDocument/2006/math">
                    <m:r>
                      <a:rPr lang="en-US" sz="2200" i="1">
                        <a:latin typeface="Cambria Math"/>
                        <a:ea typeface="Cambria Math"/>
                      </a:rPr>
                      <m:t>𝜎</m:t>
                    </m:r>
                    <m:r>
                      <a:rPr lang="en-US" sz="2200" i="1">
                        <a:latin typeface="Cambria Math"/>
                        <a:ea typeface="Cambria Math"/>
                      </a:rPr>
                      <m:t>≅</m:t>
                    </m:r>
                    <m:r>
                      <a:rPr lang="en-US" sz="2200" i="1">
                        <a:latin typeface="Cambria Math"/>
                        <a:ea typeface="Cambria Math"/>
                      </a:rPr>
                      <m:t>𝑠</m:t>
                    </m:r>
                  </m:oMath>
                </a14:m>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p>
              <a:p>
                <a:pPr marL="0" indent="0">
                  <a:buNone/>
                </a:pPr>
                <a:endParaRPr lang="en-US" sz="2200" dirty="0">
                  <a:ea typeface="Cambria Math"/>
                </a:endParaRP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EFBAA4E-5DEB-415C-B6F2-21CB3B8F76ED}"/>
                  </a:ext>
                </a:extLst>
              </p:cNvPr>
              <p:cNvGraphicFramePr>
                <a:graphicFrameLocks noGrp="1"/>
              </p:cNvGraphicFramePr>
              <p:nvPr>
                <p:extLst>
                  <p:ext uri="{D42A27DB-BD31-4B8C-83A1-F6EECF244321}">
                    <p14:modId xmlns:p14="http://schemas.microsoft.com/office/powerpoint/2010/main" val="1937490123"/>
                  </p:ext>
                </p:extLst>
              </p:nvPr>
            </p:nvGraphicFramePr>
            <p:xfrm>
              <a:off x="1143000" y="2225040"/>
              <a:ext cx="6858000" cy="2423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4141920709"/>
                        </a:ext>
                      </a:extLst>
                    </a:gridCol>
                    <a:gridCol w="2286000">
                      <a:extLst>
                        <a:ext uri="{9D8B030D-6E8A-4147-A177-3AD203B41FA5}">
                          <a16:colId xmlns:a16="http://schemas.microsoft.com/office/drawing/2014/main" val="426898093"/>
                        </a:ext>
                      </a:extLst>
                    </a:gridCol>
                    <a:gridCol w="2286000">
                      <a:extLst>
                        <a:ext uri="{9D8B030D-6E8A-4147-A177-3AD203B41FA5}">
                          <a16:colId xmlns:a16="http://schemas.microsoft.com/office/drawing/2014/main" val="1197307237"/>
                        </a:ext>
                      </a:extLst>
                    </a:gridCol>
                  </a:tblGrid>
                  <a:tr h="605790">
                    <a:tc rowSpan="2">
                      <a:txBody>
                        <a:bodyPr/>
                        <a:lstStyle/>
                        <a:p>
                          <a:pPr algn="ctr"/>
                          <a:r>
                            <a:rPr lang="en-US" sz="2000" dirty="0"/>
                            <a:t>Critical value</a:t>
                          </a:r>
                        </a:p>
                      </a:txBody>
                      <a:tcPr anchor="ctr"/>
                    </a:tc>
                    <a:tc gridSpan="2">
                      <a:txBody>
                        <a:bodyPr/>
                        <a:lstStyle/>
                        <a:p>
                          <a:pPr algn="ctr"/>
                          <a:r>
                            <a:rPr lang="en-US" sz="2000" dirty="0"/>
                            <a:t>Level of significance</a:t>
                          </a:r>
                        </a:p>
                      </a:txBody>
                      <a:tcPr anchor="ctr"/>
                    </a:tc>
                    <a:tc hMerge="1">
                      <a:txBody>
                        <a:bodyPr/>
                        <a:lstStyle/>
                        <a:p>
                          <a:endParaRPr lang="en-US" dirty="0"/>
                        </a:p>
                      </a:txBody>
                      <a:tcPr/>
                    </a:tc>
                    <a:extLst>
                      <a:ext uri="{0D108BD9-81ED-4DB2-BD59-A6C34878D82A}">
                        <a16:rowId xmlns:a16="http://schemas.microsoft.com/office/drawing/2014/main" val="2380875053"/>
                      </a:ext>
                    </a:extLst>
                  </a:tr>
                  <a:tr h="605790">
                    <a:tc vMerge="1">
                      <a:txBody>
                        <a:bodyPr/>
                        <a:lstStyle/>
                        <a:p>
                          <a:endParaRPr lang="en-US" dirty="0"/>
                        </a:p>
                      </a:txBody>
                      <a:tcPr/>
                    </a:tc>
                    <a:tc>
                      <a:txBody>
                        <a:bodyPr/>
                        <a:lstStyle/>
                        <a:p>
                          <a:pPr algn="ctr"/>
                          <a:r>
                            <a:rPr lang="en-US" sz="2000" dirty="0"/>
                            <a:t>1%</a:t>
                          </a:r>
                        </a:p>
                      </a:txBody>
                      <a:tcPr anchor="ctr"/>
                    </a:tc>
                    <a:tc>
                      <a:txBody>
                        <a:bodyPr/>
                        <a:lstStyle/>
                        <a:p>
                          <a:pPr algn="ctr"/>
                          <a:r>
                            <a:rPr lang="en-US" sz="2000" dirty="0"/>
                            <a:t>5%</a:t>
                          </a:r>
                        </a:p>
                      </a:txBody>
                      <a:tcPr anchor="ctr"/>
                    </a:tc>
                    <a:extLst>
                      <a:ext uri="{0D108BD9-81ED-4DB2-BD59-A6C34878D82A}">
                        <a16:rowId xmlns:a16="http://schemas.microsoft.com/office/drawing/2014/main" val="3565795865"/>
                      </a:ext>
                    </a:extLst>
                  </a:tr>
                  <a:tr h="605790">
                    <a:tc>
                      <a:txBody>
                        <a:bodyPr/>
                        <a:lstStyle/>
                        <a:p>
                          <a:pPr algn="ctr"/>
                          <a:r>
                            <a:rPr lang="en-US" sz="2000" dirty="0"/>
                            <a:t>Two tailed</a:t>
                          </a:r>
                        </a:p>
                      </a:txBody>
                      <a:tcPr anchor="ctr"/>
                    </a:tc>
                    <a:tc>
                      <a:txBody>
                        <a:bodyPr/>
                        <a:lstStyle/>
                        <a:p>
                          <a:pPr algn="ct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𝑍</m:t>
                                    </m:r>
                                  </m:e>
                                </m:d>
                                <m:r>
                                  <a:rPr lang="en-US" sz="2000" b="0" i="1" smtClean="0">
                                    <a:latin typeface="Cambria Math" panose="02040503050406030204" pitchFamily="18" charset="0"/>
                                  </a:rPr>
                                  <m:t>=2.58</m:t>
                                </m:r>
                              </m:oMath>
                            </m:oMathPara>
                          </a14:m>
                          <a:endParaRPr 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𝑍</m:t>
                                    </m:r>
                                  </m:e>
                                </m:d>
                                <m:r>
                                  <a:rPr lang="en-US" sz="2000" b="0" i="1" smtClean="0">
                                    <a:latin typeface="Cambria Math" panose="02040503050406030204" pitchFamily="18" charset="0"/>
                                  </a:rPr>
                                  <m:t>=1.96</m:t>
                                </m:r>
                              </m:oMath>
                            </m:oMathPara>
                          </a14:m>
                          <a:endParaRPr lang="en-US" sz="2000" dirty="0"/>
                        </a:p>
                      </a:txBody>
                      <a:tcPr anchor="ctr"/>
                    </a:tc>
                    <a:extLst>
                      <a:ext uri="{0D108BD9-81ED-4DB2-BD59-A6C34878D82A}">
                        <a16:rowId xmlns:a16="http://schemas.microsoft.com/office/drawing/2014/main" val="3221736941"/>
                      </a:ext>
                    </a:extLst>
                  </a:tr>
                  <a:tr h="605790">
                    <a:tc>
                      <a:txBody>
                        <a:bodyPr/>
                        <a:lstStyle/>
                        <a:p>
                          <a:pPr algn="ctr"/>
                          <a:r>
                            <a:rPr lang="en-US" sz="2000" dirty="0"/>
                            <a:t>One tailed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𝑍</m:t>
                                    </m:r>
                                  </m:e>
                                </m:d>
                                <m:r>
                                  <a:rPr lang="en-US" sz="2000" b="0" i="1" smtClean="0">
                                    <a:latin typeface="Cambria Math" panose="02040503050406030204" pitchFamily="18" charset="0"/>
                                  </a:rPr>
                                  <m:t>=2.33</m:t>
                                </m:r>
                              </m:oMath>
                            </m:oMathPara>
                          </a14:m>
                          <a:endParaRPr lang="en-US"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begChr m:val="|"/>
                                    <m:endChr m:val="|"/>
                                    <m:ctrlPr>
                                      <a:rPr lang="en-US" sz="2000" i="1" smtClean="0">
                                        <a:latin typeface="Cambria Math" panose="02040503050406030204" pitchFamily="18" charset="0"/>
                                      </a:rPr>
                                    </m:ctrlPr>
                                  </m:dPr>
                                  <m:e>
                                    <m:r>
                                      <a:rPr lang="en-US" sz="2000" b="0" i="1" smtClean="0">
                                        <a:latin typeface="Cambria Math" panose="02040503050406030204" pitchFamily="18" charset="0"/>
                                      </a:rPr>
                                      <m:t>𝑍</m:t>
                                    </m:r>
                                  </m:e>
                                </m:d>
                                <m:r>
                                  <a:rPr lang="en-US" sz="2000" b="0" i="1" smtClean="0">
                                    <a:latin typeface="Cambria Math" panose="02040503050406030204" pitchFamily="18" charset="0"/>
                                  </a:rPr>
                                  <m:t>=1.64</m:t>
                                </m:r>
                              </m:oMath>
                            </m:oMathPara>
                          </a14:m>
                          <a:endParaRPr lang="en-US" sz="2000" dirty="0"/>
                        </a:p>
                      </a:txBody>
                      <a:tcPr anchor="ctr"/>
                    </a:tc>
                    <a:extLst>
                      <a:ext uri="{0D108BD9-81ED-4DB2-BD59-A6C34878D82A}">
                        <a16:rowId xmlns:a16="http://schemas.microsoft.com/office/drawing/2014/main" val="3636715241"/>
                      </a:ext>
                    </a:extLst>
                  </a:tr>
                </a:tbl>
              </a:graphicData>
            </a:graphic>
          </p:graphicFrame>
        </mc:Choice>
        <mc:Fallback xmlns="">
          <p:graphicFrame>
            <p:nvGraphicFramePr>
              <p:cNvPr id="2" name="Table 1">
                <a:extLst>
                  <a:ext uri="{FF2B5EF4-FFF2-40B4-BE49-F238E27FC236}">
                    <a16:creationId xmlns:a16="http://schemas.microsoft.com/office/drawing/2014/main" id="{BEFBAA4E-5DEB-415C-B6F2-21CB3B8F76ED}"/>
                  </a:ext>
                </a:extLst>
              </p:cNvPr>
              <p:cNvGraphicFramePr>
                <a:graphicFrameLocks noGrp="1"/>
              </p:cNvGraphicFramePr>
              <p:nvPr>
                <p:extLst>
                  <p:ext uri="{D42A27DB-BD31-4B8C-83A1-F6EECF244321}">
                    <p14:modId xmlns:p14="http://schemas.microsoft.com/office/powerpoint/2010/main" val="1937490123"/>
                  </p:ext>
                </p:extLst>
              </p:nvPr>
            </p:nvGraphicFramePr>
            <p:xfrm>
              <a:off x="1143000" y="2225040"/>
              <a:ext cx="6858000" cy="2423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4141920709"/>
                        </a:ext>
                      </a:extLst>
                    </a:gridCol>
                    <a:gridCol w="2286000">
                      <a:extLst>
                        <a:ext uri="{9D8B030D-6E8A-4147-A177-3AD203B41FA5}">
                          <a16:colId xmlns:a16="http://schemas.microsoft.com/office/drawing/2014/main" val="426898093"/>
                        </a:ext>
                      </a:extLst>
                    </a:gridCol>
                    <a:gridCol w="2286000">
                      <a:extLst>
                        <a:ext uri="{9D8B030D-6E8A-4147-A177-3AD203B41FA5}">
                          <a16:colId xmlns:a16="http://schemas.microsoft.com/office/drawing/2014/main" val="1197307237"/>
                        </a:ext>
                      </a:extLst>
                    </a:gridCol>
                  </a:tblGrid>
                  <a:tr h="605790">
                    <a:tc rowSpan="2">
                      <a:txBody>
                        <a:bodyPr/>
                        <a:lstStyle/>
                        <a:p>
                          <a:pPr algn="ctr"/>
                          <a:r>
                            <a:rPr lang="en-US" sz="2000" dirty="0"/>
                            <a:t>Critical value</a:t>
                          </a:r>
                        </a:p>
                      </a:txBody>
                      <a:tcPr anchor="ctr"/>
                    </a:tc>
                    <a:tc gridSpan="2">
                      <a:txBody>
                        <a:bodyPr/>
                        <a:lstStyle/>
                        <a:p>
                          <a:pPr algn="ctr"/>
                          <a:r>
                            <a:rPr lang="en-US" sz="2000" dirty="0"/>
                            <a:t>Level of significance</a:t>
                          </a:r>
                        </a:p>
                      </a:txBody>
                      <a:tcPr anchor="ctr"/>
                    </a:tc>
                    <a:tc hMerge="1">
                      <a:txBody>
                        <a:bodyPr/>
                        <a:lstStyle/>
                        <a:p>
                          <a:endParaRPr lang="en-US" dirty="0"/>
                        </a:p>
                      </a:txBody>
                      <a:tcPr/>
                    </a:tc>
                    <a:extLst>
                      <a:ext uri="{0D108BD9-81ED-4DB2-BD59-A6C34878D82A}">
                        <a16:rowId xmlns:a16="http://schemas.microsoft.com/office/drawing/2014/main" val="2380875053"/>
                      </a:ext>
                    </a:extLst>
                  </a:tr>
                  <a:tr h="605790">
                    <a:tc vMerge="1">
                      <a:txBody>
                        <a:bodyPr/>
                        <a:lstStyle/>
                        <a:p>
                          <a:endParaRPr lang="en-US" dirty="0"/>
                        </a:p>
                      </a:txBody>
                      <a:tcPr/>
                    </a:tc>
                    <a:tc>
                      <a:txBody>
                        <a:bodyPr/>
                        <a:lstStyle/>
                        <a:p>
                          <a:pPr algn="ctr"/>
                          <a:r>
                            <a:rPr lang="en-US" sz="2000" dirty="0"/>
                            <a:t>1%</a:t>
                          </a:r>
                        </a:p>
                      </a:txBody>
                      <a:tcPr anchor="ctr"/>
                    </a:tc>
                    <a:tc>
                      <a:txBody>
                        <a:bodyPr/>
                        <a:lstStyle/>
                        <a:p>
                          <a:pPr algn="ctr"/>
                          <a:r>
                            <a:rPr lang="en-US" sz="2000" dirty="0"/>
                            <a:t>5%</a:t>
                          </a:r>
                        </a:p>
                      </a:txBody>
                      <a:tcPr anchor="ctr"/>
                    </a:tc>
                    <a:extLst>
                      <a:ext uri="{0D108BD9-81ED-4DB2-BD59-A6C34878D82A}">
                        <a16:rowId xmlns:a16="http://schemas.microsoft.com/office/drawing/2014/main" val="3565795865"/>
                      </a:ext>
                    </a:extLst>
                  </a:tr>
                  <a:tr h="605790">
                    <a:tc>
                      <a:txBody>
                        <a:bodyPr/>
                        <a:lstStyle/>
                        <a:p>
                          <a:pPr algn="ctr"/>
                          <a:r>
                            <a:rPr lang="en-US" sz="2000" dirty="0"/>
                            <a:t>Two tailed</a:t>
                          </a:r>
                        </a:p>
                      </a:txBody>
                      <a:tcPr anchor="ctr"/>
                    </a:tc>
                    <a:tc>
                      <a:txBody>
                        <a:bodyPr/>
                        <a:lstStyle/>
                        <a:p>
                          <a:endParaRPr lang="en-US"/>
                        </a:p>
                      </a:txBody>
                      <a:tcPr anchor="ctr">
                        <a:blipFill>
                          <a:blip r:embed="rId3"/>
                          <a:stretch>
                            <a:fillRect l="-100000" t="-201000" r="-100798" b="-101000"/>
                          </a:stretch>
                        </a:blipFill>
                      </a:tcPr>
                    </a:tc>
                    <a:tc>
                      <a:txBody>
                        <a:bodyPr/>
                        <a:lstStyle/>
                        <a:p>
                          <a:endParaRPr lang="en-US"/>
                        </a:p>
                      </a:txBody>
                      <a:tcPr anchor="ctr">
                        <a:blipFill>
                          <a:blip r:embed="rId3"/>
                          <a:stretch>
                            <a:fillRect l="-200533" t="-201000" r="-1067" b="-101000"/>
                          </a:stretch>
                        </a:blipFill>
                      </a:tcPr>
                    </a:tc>
                    <a:extLst>
                      <a:ext uri="{0D108BD9-81ED-4DB2-BD59-A6C34878D82A}">
                        <a16:rowId xmlns:a16="http://schemas.microsoft.com/office/drawing/2014/main" val="3221736941"/>
                      </a:ext>
                    </a:extLst>
                  </a:tr>
                  <a:tr h="605790">
                    <a:tc>
                      <a:txBody>
                        <a:bodyPr/>
                        <a:lstStyle/>
                        <a:p>
                          <a:pPr algn="ctr"/>
                          <a:r>
                            <a:rPr lang="en-US" sz="2000" dirty="0"/>
                            <a:t>One tailed</a:t>
                          </a:r>
                        </a:p>
                      </a:txBody>
                      <a:tcPr anchor="ctr"/>
                    </a:tc>
                    <a:tc>
                      <a:txBody>
                        <a:bodyPr/>
                        <a:lstStyle/>
                        <a:p>
                          <a:endParaRPr lang="en-US"/>
                        </a:p>
                      </a:txBody>
                      <a:tcPr anchor="ctr">
                        <a:blipFill>
                          <a:blip r:embed="rId3"/>
                          <a:stretch>
                            <a:fillRect l="-100000" t="-304040" r="-100798" b="-2020"/>
                          </a:stretch>
                        </a:blipFill>
                      </a:tcPr>
                    </a:tc>
                    <a:tc>
                      <a:txBody>
                        <a:bodyPr/>
                        <a:lstStyle/>
                        <a:p>
                          <a:endParaRPr lang="en-US"/>
                        </a:p>
                      </a:txBody>
                      <a:tcPr anchor="ctr">
                        <a:blipFill>
                          <a:blip r:embed="rId3"/>
                          <a:stretch>
                            <a:fillRect l="-200533" t="-304040" r="-1067" b="-2020"/>
                          </a:stretch>
                        </a:blipFill>
                      </a:tcPr>
                    </a:tc>
                    <a:extLst>
                      <a:ext uri="{0D108BD9-81ED-4DB2-BD59-A6C34878D82A}">
                        <a16:rowId xmlns:a16="http://schemas.microsoft.com/office/drawing/2014/main" val="3636715241"/>
                      </a:ext>
                    </a:extLst>
                  </a:tr>
                </a:tbl>
              </a:graphicData>
            </a:graphic>
          </p:graphicFrame>
        </mc:Fallback>
      </mc:AlternateContent>
    </p:spTree>
    <p:extLst>
      <p:ext uri="{BB962C8B-B14F-4D97-AF65-F5344CB8AC3E}">
        <p14:creationId xmlns:p14="http://schemas.microsoft.com/office/powerpoint/2010/main" val="38737123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lnSpcReduction="20000"/>
              </a:bodyPr>
              <a:lstStyle/>
              <a:p>
                <a:pPr marL="0" indent="0">
                  <a:buNone/>
                </a:pPr>
                <a:r>
                  <a:rPr lang="en-US" sz="2200" b="1" dirty="0"/>
                  <a:t>Example</a:t>
                </a:r>
                <a:r>
                  <a:rPr lang="en-US" sz="2200" dirty="0"/>
                  <a:t>-1: A random sample of 900 members has a mean 3.4 cm. Can it be reasonably regarded as a sample from a large population of mean 3.2 cm and S.D. 2.3 cm?(Test at 5% level of significance)</a:t>
                </a:r>
              </a:p>
              <a:p>
                <a:pPr marL="0" indent="0">
                  <a:buNone/>
                </a:pPr>
                <a:endParaRPr lang="en-US" sz="2200" b="1" dirty="0"/>
              </a:p>
              <a:p>
                <a:pPr marL="0" indent="0">
                  <a:buNone/>
                </a:pPr>
                <a:r>
                  <a:rPr lang="en-US" sz="2200" b="1" dirty="0"/>
                  <a:t>Sol:</a:t>
                </a:r>
                <a:r>
                  <a:rPr lang="en-US" sz="2200" dirty="0"/>
                  <a:t> Given </a:t>
                </a:r>
                <a14:m>
                  <m:oMath xmlns:m="http://schemas.openxmlformats.org/officeDocument/2006/math">
                    <m:r>
                      <a:rPr lang="en-US" sz="2200" i="1">
                        <a:latin typeface="Cambria Math"/>
                      </a:rPr>
                      <m:t>𝑛</m:t>
                    </m:r>
                    <m:r>
                      <a:rPr lang="en-US" sz="2200" i="1">
                        <a:latin typeface="Cambria Math"/>
                      </a:rPr>
                      <m:t>=900, </m:t>
                    </m:r>
                    <m:r>
                      <a:rPr lang="en-US" sz="2200" i="1">
                        <a:latin typeface="Cambria Math"/>
                        <a:ea typeface="Cambria Math"/>
                      </a:rPr>
                      <m:t>𝜇</m:t>
                    </m:r>
                    <m:r>
                      <a:rPr lang="en-US" sz="2200" i="1">
                        <a:latin typeface="Cambria Math"/>
                        <a:ea typeface="Cambria Math"/>
                      </a:rPr>
                      <m:t>=3.2, </m:t>
                    </m:r>
                    <m:r>
                      <a:rPr lang="en-US" sz="2200" i="1">
                        <a:latin typeface="Cambria Math"/>
                        <a:ea typeface="Cambria Math"/>
                      </a:rPr>
                      <m:t>𝜎</m:t>
                    </m:r>
                    <m:r>
                      <a:rPr lang="en-US" sz="2200" i="1">
                        <a:latin typeface="Cambria Math"/>
                        <a:ea typeface="Cambria Math"/>
                      </a:rPr>
                      <m:t>=2.3,</m:t>
                    </m:r>
                    <m:acc>
                      <m:accPr>
                        <m:chr m:val="̅"/>
                        <m:ctrlPr>
                          <a:rPr lang="en-US" sz="2200" i="1">
                            <a:latin typeface="Cambria Math" panose="02040503050406030204" pitchFamily="18" charset="0"/>
                            <a:ea typeface="Cambria Math"/>
                          </a:rPr>
                        </m:ctrlPr>
                      </m:accPr>
                      <m:e>
                        <m:r>
                          <a:rPr lang="en-US" sz="2200" i="1">
                            <a:latin typeface="Cambria Math"/>
                            <a:ea typeface="Cambria Math"/>
                          </a:rPr>
                          <m:t>𝑥</m:t>
                        </m:r>
                      </m:e>
                    </m:acc>
                    <m:r>
                      <a:rPr lang="en-US" sz="2200" i="1">
                        <a:latin typeface="Cambria Math"/>
                      </a:rPr>
                      <m:t>=3.4</m:t>
                    </m:r>
                  </m:oMath>
                </a14:m>
                <a:r>
                  <a:rPr lang="en-US" sz="2200" dirty="0"/>
                  <a:t> </a:t>
                </a:r>
                <a:endParaRPr lang="en-US" sz="2200" b="1"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 </m:t>
                      </m:r>
                      <m:r>
                        <a:rPr lang="en-US" sz="2200" i="1">
                          <a:latin typeface="Cambria Math"/>
                          <a:ea typeface="Cambria Math"/>
                        </a:rPr>
                        <m:t>𝜇</m:t>
                      </m:r>
                      <m:r>
                        <a:rPr lang="en-US" sz="2200" i="1">
                          <a:latin typeface="Cambria Math"/>
                          <a:ea typeface="Cambria Math"/>
                        </a:rPr>
                        <m:t>=3.2</m:t>
                      </m:r>
                    </m:oMath>
                  </m:oMathPara>
                </a14:m>
                <a:endParaRPr lang="en-US" sz="2200" dirty="0">
                  <a:ea typeface="Cambria Math"/>
                </a:endParaRP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 </m:t>
                    </m:r>
                    <m:r>
                      <a:rPr lang="en-US" sz="2200" i="1">
                        <a:latin typeface="Cambria Math"/>
                        <a:ea typeface="Cambria Math"/>
                      </a:rPr>
                      <m:t>𝜇</m:t>
                    </m:r>
                    <m:r>
                      <a:rPr lang="en-US" sz="2200" i="1">
                        <a:latin typeface="Cambria Math"/>
                        <a:ea typeface="Cambria Math"/>
                      </a:rPr>
                      <m:t>≠3.2 </m:t>
                    </m:r>
                  </m:oMath>
                </a14:m>
                <a:r>
                  <a:rPr lang="en-US" sz="2200" dirty="0">
                    <a:ea typeface="Cambria Math"/>
                  </a:rPr>
                  <a:t>(Two tailed test)</a:t>
                </a: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𝛼</m:t>
                      </m:r>
                      <m:r>
                        <a:rPr lang="en-US" sz="2200" i="1">
                          <a:latin typeface="Cambria Math"/>
                          <a:ea typeface="Cambria Math"/>
                        </a:rPr>
                        <m:t>=0.05</m:t>
                      </m:r>
                    </m:oMath>
                  </m:oMathPara>
                </a14:m>
                <a:endParaRPr lang="en-US" sz="2200" dirty="0">
                  <a:ea typeface="Cambria Math"/>
                </a:endParaRPr>
              </a:p>
              <a:p>
                <a:pPr marL="0" indent="0">
                  <a:buNone/>
                </a:pPr>
                <a14:m>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den>
                    </m:f>
                  </m:oMath>
                </a14:m>
                <a:r>
                  <a:rPr lang="en-US" sz="2200" dirty="0"/>
                  <a:t> =2.61</a:t>
                </a:r>
              </a:p>
              <a:p>
                <a:pPr marL="0" indent="0">
                  <a:buNone/>
                </a:pPr>
                <a:r>
                  <a:rPr lang="en-US" sz="2200" dirty="0"/>
                  <a:t>Table value </a:t>
                </a:r>
                <a14:m>
                  <m:oMath xmlns:m="http://schemas.openxmlformats.org/officeDocument/2006/math">
                    <m:r>
                      <a:rPr lang="en-US" sz="2200" i="1">
                        <a:latin typeface="Cambria Math"/>
                      </a:rPr>
                      <m:t>𝑍</m:t>
                    </m:r>
                    <m:r>
                      <a:rPr lang="en-US" sz="2200" i="1">
                        <a:latin typeface="Cambria Math"/>
                      </a:rPr>
                      <m:t>=1.96</m:t>
                    </m:r>
                  </m:oMath>
                </a14:m>
                <a:endParaRPr lang="en-US" sz="2200" dirty="0"/>
              </a:p>
              <a:p>
                <a:pPr marL="0" indent="0">
                  <a:buNone/>
                </a:pPr>
                <a:r>
                  <a:rPr lang="en-US" sz="2200" dirty="0"/>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𝑍</m:t>
                            </m:r>
                          </m:e>
                        </m:d>
                      </m:e>
                      <m:sub>
                        <m:r>
                          <a:rPr lang="en-US" sz="2200" i="1">
                            <a:latin typeface="Cambria Math"/>
                          </a:rPr>
                          <m:t>𝑐𝑎𝑙</m:t>
                        </m:r>
                      </m:sub>
                    </m:sSub>
                    <m:r>
                      <a:rPr lang="en-US" sz="2200" b="0" i="1" smtClean="0">
                        <a:latin typeface="Cambria Math" panose="02040503050406030204" pitchFamily="18" charset="0"/>
                      </a:rPr>
                      <m:t>&gt;</m:t>
                    </m:r>
                    <m:r>
                      <a:rPr lang="en-US" sz="2200" i="1">
                        <a:latin typeface="Cambria Math"/>
                      </a:rPr>
                      <m:t>𝑡𝑎𝑏𝑙𝑒</m:t>
                    </m:r>
                    <m:r>
                      <a:rPr lang="en-US" sz="2200" i="1">
                        <a:latin typeface="Cambria Math"/>
                      </a:rPr>
                      <m:t> </m:t>
                    </m:r>
                    <m:r>
                      <a:rPr lang="en-US" sz="2200" i="1">
                        <a:latin typeface="Cambria Math"/>
                      </a:rPr>
                      <m:t>𝑣𝑎𝑙𝑢𝑒</m:t>
                    </m:r>
                  </m:oMath>
                </a14:m>
                <a:endParaRPr lang="en-US" sz="2200" dirty="0"/>
              </a:p>
              <a:p>
                <a:pPr marL="0" indent="0">
                  <a:buNone/>
                </a:pPr>
                <a:r>
                  <a:rPr lang="en-US" sz="2200" dirty="0"/>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is rejected.</a:t>
                </a:r>
              </a:p>
              <a:p>
                <a:pPr marL="0" indent="0">
                  <a:buNone/>
                </a:pPr>
                <a:r>
                  <a:rPr lang="en-US" sz="2200" dirty="0"/>
                  <a:t>i.e. sample not comes out from population</a:t>
                </a:r>
              </a:p>
              <a:p>
                <a:pPr marL="0" indent="0">
                  <a:buNone/>
                </a:pPr>
                <a:r>
                  <a:rPr lang="en-US" sz="2200" dirty="0"/>
                  <a:t>  </a:t>
                </a:r>
                <a:endParaRPr lang="en-US" sz="2200" b="1"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215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285560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3">
                                            <p:txEl>
                                              <p:pRg st="11" end="11"/>
                                            </p:txEl>
                                          </p:spTgt>
                                        </p:tgtEl>
                                        <p:attrNameLst>
                                          <p:attrName>style.visibility</p:attrName>
                                        </p:attrNameLst>
                                      </p:cBhvr>
                                      <p:to>
                                        <p:strVal val="visible"/>
                                      </p:to>
                                    </p:set>
                                    <p:animEffect transition="in" filter="fade">
                                      <p:cBhvr>
                                        <p:cTn id="77" dur="1000"/>
                                        <p:tgtEl>
                                          <p:spTgt spid="3">
                                            <p:txEl>
                                              <p:pRg st="11" end="11"/>
                                            </p:txEl>
                                          </p:spTgt>
                                        </p:tgtEl>
                                      </p:cBhvr>
                                    </p:animEffect>
                                    <p:anim calcmode="lin" valueType="num">
                                      <p:cBhvr>
                                        <p:cTn id="7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Example-2:</a:t>
            </a:r>
            <a:r>
              <a:rPr lang="en-US" sz="2200" dirty="0"/>
              <a:t> An insurance agent has claimed that the avg. age of policy holders who insure through him is less then the avg. age of all agents which is 30.5 yrs.</a:t>
            </a:r>
          </a:p>
          <a:p>
            <a:pPr marL="0" indent="0">
              <a:buNone/>
            </a:pPr>
            <a:r>
              <a:rPr lang="en-US" sz="2200" dirty="0"/>
              <a:t>A random sample of 100 policy holders who had insured through him gave the following age distribution-</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Calculate arithmetic mean and standard deviation(S.D.) of this distribution and test his claim at 5% level of significance.</a:t>
            </a:r>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2" name="Table 1">
            <a:extLst>
              <a:ext uri="{FF2B5EF4-FFF2-40B4-BE49-F238E27FC236}">
                <a16:creationId xmlns:a16="http://schemas.microsoft.com/office/drawing/2014/main" id="{6C20F32F-B3A0-410E-8608-95A755FE530A}"/>
              </a:ext>
            </a:extLst>
          </p:cNvPr>
          <p:cNvGraphicFramePr>
            <a:graphicFrameLocks noGrp="1"/>
          </p:cNvGraphicFramePr>
          <p:nvPr>
            <p:extLst>
              <p:ext uri="{D42A27DB-BD31-4B8C-83A1-F6EECF244321}">
                <p14:modId xmlns:p14="http://schemas.microsoft.com/office/powerpoint/2010/main" val="1950959343"/>
              </p:ext>
            </p:extLst>
          </p:nvPr>
        </p:nvGraphicFramePr>
        <p:xfrm>
          <a:off x="1143000" y="3144520"/>
          <a:ext cx="6559548" cy="1097280"/>
        </p:xfrm>
        <a:graphic>
          <a:graphicData uri="http://schemas.openxmlformats.org/drawingml/2006/table">
            <a:tbl>
              <a:tblPr firstRow="1" bandRow="1">
                <a:tableStyleId>{5C22544A-7EE6-4342-B048-85BDC9FD1C3A}</a:tableStyleId>
              </a:tblPr>
              <a:tblGrid>
                <a:gridCol w="1093258">
                  <a:extLst>
                    <a:ext uri="{9D8B030D-6E8A-4147-A177-3AD203B41FA5}">
                      <a16:colId xmlns:a16="http://schemas.microsoft.com/office/drawing/2014/main" val="497561144"/>
                    </a:ext>
                  </a:extLst>
                </a:gridCol>
                <a:gridCol w="1093258">
                  <a:extLst>
                    <a:ext uri="{9D8B030D-6E8A-4147-A177-3AD203B41FA5}">
                      <a16:colId xmlns:a16="http://schemas.microsoft.com/office/drawing/2014/main" val="3723318876"/>
                    </a:ext>
                  </a:extLst>
                </a:gridCol>
                <a:gridCol w="1093258">
                  <a:extLst>
                    <a:ext uri="{9D8B030D-6E8A-4147-A177-3AD203B41FA5}">
                      <a16:colId xmlns:a16="http://schemas.microsoft.com/office/drawing/2014/main" val="2070314509"/>
                    </a:ext>
                  </a:extLst>
                </a:gridCol>
                <a:gridCol w="1093258">
                  <a:extLst>
                    <a:ext uri="{9D8B030D-6E8A-4147-A177-3AD203B41FA5}">
                      <a16:colId xmlns:a16="http://schemas.microsoft.com/office/drawing/2014/main" val="1460690660"/>
                    </a:ext>
                  </a:extLst>
                </a:gridCol>
                <a:gridCol w="1093258">
                  <a:extLst>
                    <a:ext uri="{9D8B030D-6E8A-4147-A177-3AD203B41FA5}">
                      <a16:colId xmlns:a16="http://schemas.microsoft.com/office/drawing/2014/main" val="3336511918"/>
                    </a:ext>
                  </a:extLst>
                </a:gridCol>
                <a:gridCol w="1093258">
                  <a:extLst>
                    <a:ext uri="{9D8B030D-6E8A-4147-A177-3AD203B41FA5}">
                      <a16:colId xmlns:a16="http://schemas.microsoft.com/office/drawing/2014/main" val="3397301835"/>
                    </a:ext>
                  </a:extLst>
                </a:gridCol>
              </a:tblGrid>
              <a:tr h="370840">
                <a:tc>
                  <a:txBody>
                    <a:bodyPr/>
                    <a:lstStyle/>
                    <a:p>
                      <a:r>
                        <a:rPr lang="en-US" sz="2000" dirty="0"/>
                        <a:t>Age</a:t>
                      </a:r>
                    </a:p>
                  </a:txBody>
                  <a:tcPr/>
                </a:tc>
                <a:tc>
                  <a:txBody>
                    <a:bodyPr/>
                    <a:lstStyle/>
                    <a:p>
                      <a:r>
                        <a:rPr lang="en-US" sz="2000" dirty="0"/>
                        <a:t>16-20</a:t>
                      </a:r>
                    </a:p>
                  </a:txBody>
                  <a:tcPr/>
                </a:tc>
                <a:tc>
                  <a:txBody>
                    <a:bodyPr/>
                    <a:lstStyle/>
                    <a:p>
                      <a:r>
                        <a:rPr lang="en-US" sz="2000" dirty="0"/>
                        <a:t>21-25</a:t>
                      </a:r>
                    </a:p>
                  </a:txBody>
                  <a:tcPr/>
                </a:tc>
                <a:tc>
                  <a:txBody>
                    <a:bodyPr/>
                    <a:lstStyle/>
                    <a:p>
                      <a:r>
                        <a:rPr lang="en-US" sz="2000" dirty="0"/>
                        <a:t>26-30</a:t>
                      </a:r>
                    </a:p>
                  </a:txBody>
                  <a:tcPr/>
                </a:tc>
                <a:tc>
                  <a:txBody>
                    <a:bodyPr/>
                    <a:lstStyle/>
                    <a:p>
                      <a:r>
                        <a:rPr lang="en-US" sz="2000" dirty="0"/>
                        <a:t>31-35</a:t>
                      </a:r>
                    </a:p>
                  </a:txBody>
                  <a:tcPr/>
                </a:tc>
                <a:tc>
                  <a:txBody>
                    <a:bodyPr/>
                    <a:lstStyle/>
                    <a:p>
                      <a:r>
                        <a:rPr lang="en-US" sz="2000" dirty="0"/>
                        <a:t>36-40</a:t>
                      </a:r>
                    </a:p>
                  </a:txBody>
                  <a:tcPr/>
                </a:tc>
                <a:extLst>
                  <a:ext uri="{0D108BD9-81ED-4DB2-BD59-A6C34878D82A}">
                    <a16:rowId xmlns:a16="http://schemas.microsoft.com/office/drawing/2014/main" val="2243966430"/>
                  </a:ext>
                </a:extLst>
              </a:tr>
              <a:tr h="370840">
                <a:tc>
                  <a:txBody>
                    <a:bodyPr/>
                    <a:lstStyle/>
                    <a:p>
                      <a:r>
                        <a:rPr lang="en-US" sz="2000" dirty="0"/>
                        <a:t>No. of person</a:t>
                      </a:r>
                    </a:p>
                  </a:txBody>
                  <a:tcPr/>
                </a:tc>
                <a:tc>
                  <a:txBody>
                    <a:bodyPr/>
                    <a:lstStyle/>
                    <a:p>
                      <a:r>
                        <a:rPr lang="en-US" sz="2000" dirty="0"/>
                        <a:t>12</a:t>
                      </a:r>
                    </a:p>
                  </a:txBody>
                  <a:tcPr/>
                </a:tc>
                <a:tc>
                  <a:txBody>
                    <a:bodyPr/>
                    <a:lstStyle/>
                    <a:p>
                      <a:r>
                        <a:rPr lang="en-US" sz="2000" dirty="0"/>
                        <a:t>22</a:t>
                      </a:r>
                    </a:p>
                  </a:txBody>
                  <a:tcPr/>
                </a:tc>
                <a:tc>
                  <a:txBody>
                    <a:bodyPr/>
                    <a:lstStyle/>
                    <a:p>
                      <a:r>
                        <a:rPr lang="en-US" sz="2000" dirty="0"/>
                        <a:t>20</a:t>
                      </a:r>
                    </a:p>
                  </a:txBody>
                  <a:tcPr/>
                </a:tc>
                <a:tc>
                  <a:txBody>
                    <a:bodyPr/>
                    <a:lstStyle/>
                    <a:p>
                      <a:r>
                        <a:rPr lang="en-US" sz="2000" dirty="0"/>
                        <a:t>30</a:t>
                      </a:r>
                    </a:p>
                  </a:txBody>
                  <a:tcPr/>
                </a:tc>
                <a:tc>
                  <a:txBody>
                    <a:bodyPr/>
                    <a:lstStyle/>
                    <a:p>
                      <a:r>
                        <a:rPr lang="en-US" sz="2000" dirty="0"/>
                        <a:t>16</a:t>
                      </a:r>
                    </a:p>
                  </a:txBody>
                  <a:tcPr/>
                </a:tc>
                <a:extLst>
                  <a:ext uri="{0D108BD9-81ED-4DB2-BD59-A6C34878D82A}">
                    <a16:rowId xmlns:a16="http://schemas.microsoft.com/office/drawing/2014/main" val="2635509207"/>
                  </a:ext>
                </a:extLst>
              </a:tr>
            </a:tbl>
          </a:graphicData>
        </a:graphic>
      </p:graphicFrame>
    </p:spTree>
    <p:extLst>
      <p:ext uri="{BB962C8B-B14F-4D97-AF65-F5344CB8AC3E}">
        <p14:creationId xmlns:p14="http://schemas.microsoft.com/office/powerpoint/2010/main" val="23568910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lnSpcReduction="20000"/>
              </a:bodyPr>
              <a:lstStyle/>
              <a:p>
                <a:pPr marL="0" indent="0">
                  <a:buNone/>
                </a:pPr>
                <a:r>
                  <a:rPr lang="en-US" sz="2400" dirty="0"/>
                  <a:t>Sol:</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i="1" dirty="0">
                  <a:latin typeface="Cambria Math"/>
                </a:endParaRPr>
              </a:p>
              <a:p>
                <a:pPr marL="0" indent="0">
                  <a:buNone/>
                </a:pPr>
                <a:endParaRPr lang="en-US" sz="2400" i="1" dirty="0">
                  <a:latin typeface="Cambria Math"/>
                </a:endParaRPr>
              </a:p>
              <a:p>
                <a:pPr marL="0" indent="0">
                  <a:buNone/>
                </a:pPr>
                <a:endParaRPr lang="en-US" sz="2400" i="1" dirty="0">
                  <a:latin typeface="Cambria Math"/>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a:rPr>
                            <m:t>𝑥</m:t>
                          </m:r>
                        </m:e>
                      </m:acc>
                      <m:r>
                        <a:rPr lang="en-US" sz="2400" i="1">
                          <a:latin typeface="Cambria Math"/>
                        </a:rPr>
                        <m:t>=</m:t>
                      </m:r>
                      <m:f>
                        <m:fPr>
                          <m:ctrlPr>
                            <a:rPr lang="en-US" sz="2400" i="1">
                              <a:latin typeface="Cambria Math" panose="02040503050406030204" pitchFamily="18" charset="0"/>
                            </a:rPr>
                          </m:ctrlPr>
                        </m:fPr>
                        <m:num>
                          <m:nary>
                            <m:naryPr>
                              <m:chr m:val="∑"/>
                              <m:subHide m:val="on"/>
                              <m:supHide m:val="on"/>
                              <m:ctrlPr>
                                <a:rPr lang="en-US" sz="2400" i="1">
                                  <a:latin typeface="Cambria Math" panose="02040503050406030204" pitchFamily="18" charset="0"/>
                                </a:rPr>
                              </m:ctrlPr>
                            </m:naryPr>
                            <m:sub/>
                            <m:sup/>
                            <m:e>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𝑖</m:t>
                                  </m:r>
                                </m:sub>
                              </m:sSub>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e>
                          </m:nary>
                        </m:num>
                        <m:den>
                          <m:r>
                            <a:rPr lang="en-US" sz="2400" i="1">
                              <a:latin typeface="Cambria Math"/>
                            </a:rPr>
                            <m:t>𝑁</m:t>
                          </m:r>
                        </m:den>
                      </m:f>
                      <m:r>
                        <a:rPr lang="en-US" sz="2400" i="1">
                          <a:latin typeface="Cambria Math"/>
                        </a:rPr>
                        <m:t>=</m:t>
                      </m:r>
                      <m:f>
                        <m:fPr>
                          <m:ctrlPr>
                            <a:rPr lang="en-US" sz="2400" i="1">
                              <a:latin typeface="Cambria Math" panose="02040503050406030204" pitchFamily="18" charset="0"/>
                            </a:rPr>
                          </m:ctrlPr>
                        </m:fPr>
                        <m:num>
                          <m:r>
                            <a:rPr lang="en-US" sz="2400" i="1">
                              <a:latin typeface="Cambria Math"/>
                            </a:rPr>
                            <m:t>2880</m:t>
                          </m:r>
                        </m:num>
                        <m:den>
                          <m:r>
                            <a:rPr lang="en-US" sz="2400" i="1">
                              <a:latin typeface="Cambria Math"/>
                            </a:rPr>
                            <m:t>100</m:t>
                          </m:r>
                        </m:den>
                      </m:f>
                      <m:r>
                        <a:rPr lang="en-US" sz="2400" i="1">
                          <a:latin typeface="Cambria Math"/>
                        </a:rPr>
                        <m:t>=28.8</m:t>
                      </m:r>
                      <m:r>
                        <a:rPr lang="en-IN" sz="2400" b="0" i="1" smtClean="0">
                          <a:latin typeface="Cambria Math" panose="02040503050406030204" pitchFamily="18" charset="0"/>
                        </a:rPr>
                        <m:t>;  </m:t>
                      </m:r>
                      <m:r>
                        <a:rPr lang="en-US" sz="2400" i="1">
                          <a:latin typeface="Cambria Math"/>
                        </a:rPr>
                        <m:t>𝑠</m:t>
                      </m:r>
                      <m:r>
                        <a:rPr lang="en-US" sz="2400" i="1">
                          <a:latin typeface="Cambria Math"/>
                        </a:rPr>
                        <m:t>=</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nary>
                                <m:naryPr>
                                  <m:chr m:val="∑"/>
                                  <m:subHide m:val="on"/>
                                  <m:supHide m:val="on"/>
                                  <m:ctrlPr>
                                    <a:rPr lang="en-US" sz="2400" i="1">
                                      <a:latin typeface="Cambria Math" panose="02040503050406030204" pitchFamily="18" charset="0"/>
                                    </a:rPr>
                                  </m:ctrlPr>
                                </m:naryPr>
                                <m:sub/>
                                <m:sup/>
                                <m:e>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𝑖</m:t>
                                      </m:r>
                                    </m:sub>
                                  </m:sSub>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r>
                                            <a:rPr lang="en-US" sz="2400" i="1">
                                              <a:latin typeface="Cambria Math"/>
                                            </a:rPr>
                                            <m:t>−</m:t>
                                          </m:r>
                                          <m:acc>
                                            <m:accPr>
                                              <m:chr m:val="̅"/>
                                              <m:ctrlPr>
                                                <a:rPr lang="en-US" sz="2400" i="1">
                                                  <a:latin typeface="Cambria Math" panose="02040503050406030204" pitchFamily="18" charset="0"/>
                                                </a:rPr>
                                              </m:ctrlPr>
                                            </m:accPr>
                                            <m:e>
                                              <m:r>
                                                <a:rPr lang="en-US" sz="2400" i="1">
                                                  <a:latin typeface="Cambria Math"/>
                                                </a:rPr>
                                                <m:t>𝑥</m:t>
                                              </m:r>
                                            </m:e>
                                          </m:acc>
                                        </m:e>
                                      </m:d>
                                    </m:e>
                                    <m:sup>
                                      <m:r>
                                        <a:rPr lang="en-US" sz="2400" i="1">
                                          <a:latin typeface="Cambria Math"/>
                                        </a:rPr>
                                        <m:t>2</m:t>
                                      </m:r>
                                    </m:sup>
                                  </m:sSup>
                                </m:e>
                              </m:nary>
                            </m:num>
                            <m:den>
                              <m:r>
                                <a:rPr lang="en-US" sz="2400" i="1">
                                  <a:latin typeface="Cambria Math"/>
                                </a:rPr>
                                <m:t>𝑁</m:t>
                              </m:r>
                            </m:den>
                          </m:f>
                        </m:e>
                      </m:rad>
                      <m:r>
                        <a:rPr lang="en-US" sz="2400" i="1">
                          <a:latin typeface="Cambria Math"/>
                        </a:rPr>
                        <m:t>=6.352</m:t>
                      </m:r>
                    </m:oMath>
                  </m:oMathPara>
                </a14:m>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2426"/>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5D0FD15-EEE6-46D9-8B81-A2339F1ED6E8}"/>
                  </a:ext>
                </a:extLst>
              </p:cNvPr>
              <p:cNvGraphicFramePr>
                <a:graphicFrameLocks noGrp="1"/>
              </p:cNvGraphicFramePr>
              <p:nvPr>
                <p:extLst>
                  <p:ext uri="{D42A27DB-BD31-4B8C-83A1-F6EECF244321}">
                    <p14:modId xmlns:p14="http://schemas.microsoft.com/office/powerpoint/2010/main" val="1036209736"/>
                  </p:ext>
                </p:extLst>
              </p:nvPr>
            </p:nvGraphicFramePr>
            <p:xfrm>
              <a:off x="1676400" y="1219200"/>
              <a:ext cx="6096000" cy="2780602"/>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960019984"/>
                        </a:ext>
                      </a:extLst>
                    </a:gridCol>
                    <a:gridCol w="2057400">
                      <a:extLst>
                        <a:ext uri="{9D8B030D-6E8A-4147-A177-3AD203B41FA5}">
                          <a16:colId xmlns:a16="http://schemas.microsoft.com/office/drawing/2014/main" val="1332819251"/>
                        </a:ext>
                      </a:extLst>
                    </a:gridCol>
                    <a:gridCol w="762000">
                      <a:extLst>
                        <a:ext uri="{9D8B030D-6E8A-4147-A177-3AD203B41FA5}">
                          <a16:colId xmlns:a16="http://schemas.microsoft.com/office/drawing/2014/main" val="581169743"/>
                        </a:ext>
                      </a:extLst>
                    </a:gridCol>
                    <a:gridCol w="1219200">
                      <a:extLst>
                        <a:ext uri="{9D8B030D-6E8A-4147-A177-3AD203B41FA5}">
                          <a16:colId xmlns:a16="http://schemas.microsoft.com/office/drawing/2014/main" val="3249488576"/>
                        </a:ext>
                      </a:extLst>
                    </a:gridCol>
                    <a:gridCol w="1219200">
                      <a:extLst>
                        <a:ext uri="{9D8B030D-6E8A-4147-A177-3AD203B41FA5}">
                          <a16:colId xmlns:a16="http://schemas.microsoft.com/office/drawing/2014/main" val="1434942263"/>
                        </a:ext>
                      </a:extLst>
                    </a:gridCol>
                  </a:tblGrid>
                  <a:tr h="370840">
                    <a:tc>
                      <a:txBody>
                        <a:bodyPr/>
                        <a:lstStyle/>
                        <a:p>
                          <a:r>
                            <a:rPr lang="en-US" sz="2000" dirty="0"/>
                            <a:t>Age</a:t>
                          </a:r>
                        </a:p>
                      </a:txBody>
                      <a:tcPr/>
                    </a:tc>
                    <a:tc>
                      <a:txBody>
                        <a:bodyPr/>
                        <a:lstStyle/>
                        <a:p>
                          <a:r>
                            <a:rPr lang="en-US" sz="2000" dirty="0"/>
                            <a:t>No. of person </a:t>
                          </a:r>
                          <a14:m>
                            <m:oMath xmlns:m="http://schemas.openxmlformats.org/officeDocument/2006/math">
                              <m:d>
                                <m:dPr>
                                  <m:ctrlPr>
                                    <a:rPr lang="en-US" sz="2000" i="1" smtClean="0">
                                      <a:latin typeface="Cambria Math" panose="02040503050406030204" pitchFamily="18" charset="0"/>
                                    </a:rPr>
                                  </m:ctrlPr>
                                </m:dPr>
                                <m:e>
                                  <m:r>
                                    <a:rPr lang="en-US" sz="2000" b="1" i="1" smtClean="0">
                                      <a:latin typeface="Cambria Math" panose="02040503050406030204" pitchFamily="18" charset="0"/>
                                    </a:rPr>
                                    <m:t>𝒇</m:t>
                                  </m:r>
                                </m:e>
                              </m:d>
                            </m:oMath>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𝑥</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oMath>
                            </m:oMathPara>
                          </a14:m>
                          <a:endParaRPr lang="en-US" sz="2000" dirty="0"/>
                        </a:p>
                      </a:txBody>
                      <a:tcPr/>
                    </a:tc>
                    <a:tc>
                      <a:txBody>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𝒇</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rPr>
                                          <m:t>𝒙</m:t>
                                        </m:r>
                                      </m:e>
                                    </m:acc>
                                    <m:r>
                                      <a:rPr lang="en-US" sz="2000" b="1" i="1" smtClean="0">
                                        <a:latin typeface="Cambria Math" panose="02040503050406030204" pitchFamily="18" charset="0"/>
                                      </a:rPr>
                                      <m:t>)</m:t>
                                    </m:r>
                                  </m:e>
                                  <m:sup>
                                    <m:r>
                                      <a:rPr lang="en-US" sz="2000" b="1" i="1" smtClean="0">
                                        <a:latin typeface="Cambria Math" panose="02040503050406030204" pitchFamily="18" charset="0"/>
                                      </a:rPr>
                                      <m:t>𝟐</m:t>
                                    </m:r>
                                  </m:sup>
                                </m:sSup>
                              </m:oMath>
                            </m:oMathPara>
                          </a14:m>
                          <a:endParaRPr lang="en-US" sz="2000" dirty="0"/>
                        </a:p>
                      </a:txBody>
                      <a:tcPr/>
                    </a:tc>
                    <a:extLst>
                      <a:ext uri="{0D108BD9-81ED-4DB2-BD59-A6C34878D82A}">
                        <a16:rowId xmlns:a16="http://schemas.microsoft.com/office/drawing/2014/main" val="1194165660"/>
                      </a:ext>
                    </a:extLst>
                  </a:tr>
                  <a:tr h="370840">
                    <a:tc>
                      <a:txBody>
                        <a:bodyPr/>
                        <a:lstStyle/>
                        <a:p>
                          <a:r>
                            <a:rPr lang="en-US" sz="2000" dirty="0"/>
                            <a:t>16-20</a:t>
                          </a:r>
                        </a:p>
                      </a:txBody>
                      <a:tcPr/>
                    </a:tc>
                    <a:tc>
                      <a:txBody>
                        <a:bodyPr/>
                        <a:lstStyle/>
                        <a:p>
                          <a:r>
                            <a:rPr lang="en-US" sz="2000" dirty="0"/>
                            <a:t>12</a:t>
                          </a:r>
                        </a:p>
                      </a:txBody>
                      <a:tcPr/>
                    </a:tc>
                    <a:tc>
                      <a:txBody>
                        <a:bodyPr/>
                        <a:lstStyle/>
                        <a:p>
                          <a:r>
                            <a:rPr lang="en-US" sz="2000" dirty="0"/>
                            <a:t>18</a:t>
                          </a:r>
                        </a:p>
                      </a:txBody>
                      <a:tcPr/>
                    </a:tc>
                    <a:tc>
                      <a:txBody>
                        <a:bodyPr/>
                        <a:lstStyle/>
                        <a:p>
                          <a:r>
                            <a:rPr lang="en-US" sz="2000" dirty="0"/>
                            <a:t>216</a:t>
                          </a:r>
                        </a:p>
                      </a:txBody>
                      <a:tcPr/>
                    </a:tc>
                    <a:tc>
                      <a:txBody>
                        <a:bodyPr/>
                        <a:lstStyle/>
                        <a:p>
                          <a:r>
                            <a:rPr lang="en-US" sz="2000" dirty="0"/>
                            <a:t>1399.68</a:t>
                          </a:r>
                        </a:p>
                      </a:txBody>
                      <a:tcPr/>
                    </a:tc>
                    <a:extLst>
                      <a:ext uri="{0D108BD9-81ED-4DB2-BD59-A6C34878D82A}">
                        <a16:rowId xmlns:a16="http://schemas.microsoft.com/office/drawing/2014/main" val="3346837807"/>
                      </a:ext>
                    </a:extLst>
                  </a:tr>
                  <a:tr h="370840">
                    <a:tc>
                      <a:txBody>
                        <a:bodyPr/>
                        <a:lstStyle/>
                        <a:p>
                          <a:r>
                            <a:rPr lang="en-US" sz="2000" dirty="0"/>
                            <a:t>21-25</a:t>
                          </a:r>
                        </a:p>
                      </a:txBody>
                      <a:tcPr/>
                    </a:tc>
                    <a:tc>
                      <a:txBody>
                        <a:bodyPr/>
                        <a:lstStyle/>
                        <a:p>
                          <a:r>
                            <a:rPr lang="en-US" sz="2000" dirty="0"/>
                            <a:t>22</a:t>
                          </a:r>
                        </a:p>
                      </a:txBody>
                      <a:tcPr/>
                    </a:tc>
                    <a:tc>
                      <a:txBody>
                        <a:bodyPr/>
                        <a:lstStyle/>
                        <a:p>
                          <a:r>
                            <a:rPr lang="en-US" sz="2000" dirty="0"/>
                            <a:t>23</a:t>
                          </a:r>
                        </a:p>
                      </a:txBody>
                      <a:tcPr/>
                    </a:tc>
                    <a:tc>
                      <a:txBody>
                        <a:bodyPr/>
                        <a:lstStyle/>
                        <a:p>
                          <a:r>
                            <a:rPr lang="en-US" sz="2000" dirty="0"/>
                            <a:t>506</a:t>
                          </a:r>
                        </a:p>
                      </a:txBody>
                      <a:tcPr/>
                    </a:tc>
                    <a:tc>
                      <a:txBody>
                        <a:bodyPr/>
                        <a:lstStyle/>
                        <a:p>
                          <a:r>
                            <a:rPr lang="en-US" sz="2000" dirty="0"/>
                            <a:t>740.08</a:t>
                          </a:r>
                        </a:p>
                      </a:txBody>
                      <a:tcPr/>
                    </a:tc>
                    <a:extLst>
                      <a:ext uri="{0D108BD9-81ED-4DB2-BD59-A6C34878D82A}">
                        <a16:rowId xmlns:a16="http://schemas.microsoft.com/office/drawing/2014/main" val="2223725899"/>
                      </a:ext>
                    </a:extLst>
                  </a:tr>
                  <a:tr h="370840">
                    <a:tc>
                      <a:txBody>
                        <a:bodyPr/>
                        <a:lstStyle/>
                        <a:p>
                          <a:r>
                            <a:rPr lang="en-US" sz="2000" dirty="0"/>
                            <a:t>26-30</a:t>
                          </a:r>
                        </a:p>
                      </a:txBody>
                      <a:tcPr/>
                    </a:tc>
                    <a:tc>
                      <a:txBody>
                        <a:bodyPr/>
                        <a:lstStyle/>
                        <a:p>
                          <a:r>
                            <a:rPr lang="en-US" sz="2000" dirty="0"/>
                            <a:t>20</a:t>
                          </a:r>
                        </a:p>
                      </a:txBody>
                      <a:tcPr/>
                    </a:tc>
                    <a:tc>
                      <a:txBody>
                        <a:bodyPr/>
                        <a:lstStyle/>
                        <a:p>
                          <a:r>
                            <a:rPr lang="en-US" sz="2000" dirty="0"/>
                            <a:t>28</a:t>
                          </a:r>
                        </a:p>
                      </a:txBody>
                      <a:tcPr/>
                    </a:tc>
                    <a:tc>
                      <a:txBody>
                        <a:bodyPr/>
                        <a:lstStyle/>
                        <a:p>
                          <a:r>
                            <a:rPr lang="en-US" sz="2000" dirty="0"/>
                            <a:t>560</a:t>
                          </a:r>
                        </a:p>
                      </a:txBody>
                      <a:tcPr/>
                    </a:tc>
                    <a:tc>
                      <a:txBody>
                        <a:bodyPr/>
                        <a:lstStyle/>
                        <a:p>
                          <a:r>
                            <a:rPr lang="en-US" sz="2000" dirty="0"/>
                            <a:t>12.8</a:t>
                          </a:r>
                        </a:p>
                      </a:txBody>
                      <a:tcPr/>
                    </a:tc>
                    <a:extLst>
                      <a:ext uri="{0D108BD9-81ED-4DB2-BD59-A6C34878D82A}">
                        <a16:rowId xmlns:a16="http://schemas.microsoft.com/office/drawing/2014/main" val="664448851"/>
                      </a:ext>
                    </a:extLst>
                  </a:tr>
                  <a:tr h="370840">
                    <a:tc>
                      <a:txBody>
                        <a:bodyPr/>
                        <a:lstStyle/>
                        <a:p>
                          <a:r>
                            <a:rPr lang="en-US" sz="2000" dirty="0"/>
                            <a:t>31-35</a:t>
                          </a:r>
                        </a:p>
                      </a:txBody>
                      <a:tcPr/>
                    </a:tc>
                    <a:tc>
                      <a:txBody>
                        <a:bodyPr/>
                        <a:lstStyle/>
                        <a:p>
                          <a:r>
                            <a:rPr lang="en-US" sz="2000" dirty="0"/>
                            <a:t>30</a:t>
                          </a:r>
                        </a:p>
                      </a:txBody>
                      <a:tcPr/>
                    </a:tc>
                    <a:tc>
                      <a:txBody>
                        <a:bodyPr/>
                        <a:lstStyle/>
                        <a:p>
                          <a:r>
                            <a:rPr lang="en-US" sz="2000" dirty="0"/>
                            <a:t>33</a:t>
                          </a:r>
                        </a:p>
                      </a:txBody>
                      <a:tcPr/>
                    </a:tc>
                    <a:tc>
                      <a:txBody>
                        <a:bodyPr/>
                        <a:lstStyle/>
                        <a:p>
                          <a:r>
                            <a:rPr lang="en-US" sz="2000" dirty="0"/>
                            <a:t>990</a:t>
                          </a:r>
                        </a:p>
                      </a:txBody>
                      <a:tcPr/>
                    </a:tc>
                    <a:tc>
                      <a:txBody>
                        <a:bodyPr/>
                        <a:lstStyle/>
                        <a:p>
                          <a:r>
                            <a:rPr lang="en-US" sz="2000" dirty="0"/>
                            <a:t>529.2</a:t>
                          </a:r>
                        </a:p>
                      </a:txBody>
                      <a:tcPr/>
                    </a:tc>
                    <a:extLst>
                      <a:ext uri="{0D108BD9-81ED-4DB2-BD59-A6C34878D82A}">
                        <a16:rowId xmlns:a16="http://schemas.microsoft.com/office/drawing/2014/main" val="1665204316"/>
                      </a:ext>
                    </a:extLst>
                  </a:tr>
                  <a:tr h="370840">
                    <a:tc>
                      <a:txBody>
                        <a:bodyPr/>
                        <a:lstStyle/>
                        <a:p>
                          <a:r>
                            <a:rPr lang="en-US" sz="2000" dirty="0"/>
                            <a:t>36-40</a:t>
                          </a:r>
                        </a:p>
                      </a:txBody>
                      <a:tcPr/>
                    </a:tc>
                    <a:tc>
                      <a:txBody>
                        <a:bodyPr/>
                        <a:lstStyle/>
                        <a:p>
                          <a:r>
                            <a:rPr lang="en-US" sz="2000" dirty="0"/>
                            <a:t>16</a:t>
                          </a:r>
                        </a:p>
                      </a:txBody>
                      <a:tcPr/>
                    </a:tc>
                    <a:tc>
                      <a:txBody>
                        <a:bodyPr/>
                        <a:lstStyle/>
                        <a:p>
                          <a:r>
                            <a:rPr lang="en-US" sz="2000" dirty="0"/>
                            <a:t>38</a:t>
                          </a:r>
                        </a:p>
                      </a:txBody>
                      <a:tcPr/>
                    </a:tc>
                    <a:tc>
                      <a:txBody>
                        <a:bodyPr/>
                        <a:lstStyle/>
                        <a:p>
                          <a:r>
                            <a:rPr lang="en-US" sz="2000" dirty="0"/>
                            <a:t>608</a:t>
                          </a:r>
                        </a:p>
                      </a:txBody>
                      <a:tcPr/>
                    </a:tc>
                    <a:tc>
                      <a:txBody>
                        <a:bodyPr/>
                        <a:lstStyle/>
                        <a:p>
                          <a:r>
                            <a:rPr lang="en-US" sz="2000" dirty="0"/>
                            <a:t>1354.24</a:t>
                          </a:r>
                        </a:p>
                      </a:txBody>
                      <a:tcPr/>
                    </a:tc>
                    <a:extLst>
                      <a:ext uri="{0D108BD9-81ED-4DB2-BD59-A6C34878D82A}">
                        <a16:rowId xmlns:a16="http://schemas.microsoft.com/office/drawing/2014/main" val="3479339523"/>
                      </a:ext>
                    </a:extLst>
                  </a:tr>
                  <a:tr h="370840">
                    <a:tc>
                      <a:txBody>
                        <a:bodyPr/>
                        <a:lstStyle/>
                        <a:p>
                          <a:r>
                            <a:rPr lang="en-US" sz="2000" dirty="0"/>
                            <a:t>Total</a:t>
                          </a:r>
                        </a:p>
                      </a:txBody>
                      <a:tcPr/>
                    </a:tc>
                    <a:tc>
                      <a:txBody>
                        <a:bodyPr/>
                        <a:lstStyle/>
                        <a:p>
                          <a:r>
                            <a:rPr lang="en-US" sz="2000" dirty="0"/>
                            <a:t>100</a:t>
                          </a:r>
                        </a:p>
                      </a:txBody>
                      <a:tcPr/>
                    </a:tc>
                    <a:tc>
                      <a:txBody>
                        <a:bodyPr/>
                        <a:lstStyle/>
                        <a:p>
                          <a:endParaRPr lang="en-US" sz="2000" dirty="0"/>
                        </a:p>
                      </a:txBody>
                      <a:tcPr/>
                    </a:tc>
                    <a:tc>
                      <a:txBody>
                        <a:bodyPr/>
                        <a:lstStyle/>
                        <a:p>
                          <a:r>
                            <a:rPr lang="en-US" sz="2000" dirty="0"/>
                            <a:t>2880</a:t>
                          </a:r>
                        </a:p>
                      </a:txBody>
                      <a:tcPr/>
                    </a:tc>
                    <a:tc>
                      <a:txBody>
                        <a:bodyPr/>
                        <a:lstStyle/>
                        <a:p>
                          <a:r>
                            <a:rPr lang="en-US" sz="2000" dirty="0"/>
                            <a:t>4036</a:t>
                          </a:r>
                        </a:p>
                      </a:txBody>
                      <a:tcPr/>
                    </a:tc>
                    <a:extLst>
                      <a:ext uri="{0D108BD9-81ED-4DB2-BD59-A6C34878D82A}">
                        <a16:rowId xmlns:a16="http://schemas.microsoft.com/office/drawing/2014/main" val="1803552625"/>
                      </a:ext>
                    </a:extLst>
                  </a:tr>
                </a:tbl>
              </a:graphicData>
            </a:graphic>
          </p:graphicFrame>
        </mc:Choice>
        <mc:Fallback xmlns="">
          <p:graphicFrame>
            <p:nvGraphicFramePr>
              <p:cNvPr id="2" name="Table 1">
                <a:extLst>
                  <a:ext uri="{FF2B5EF4-FFF2-40B4-BE49-F238E27FC236}">
                    <a16:creationId xmlns:a16="http://schemas.microsoft.com/office/drawing/2014/main" id="{85D0FD15-EEE6-46D9-8B81-A2339F1ED6E8}"/>
                  </a:ext>
                </a:extLst>
              </p:cNvPr>
              <p:cNvGraphicFramePr>
                <a:graphicFrameLocks noGrp="1"/>
              </p:cNvGraphicFramePr>
              <p:nvPr>
                <p:extLst>
                  <p:ext uri="{D42A27DB-BD31-4B8C-83A1-F6EECF244321}">
                    <p14:modId xmlns:p14="http://schemas.microsoft.com/office/powerpoint/2010/main" val="1036209736"/>
                  </p:ext>
                </p:extLst>
              </p:nvPr>
            </p:nvGraphicFramePr>
            <p:xfrm>
              <a:off x="1676400" y="1219200"/>
              <a:ext cx="6096000" cy="2780602"/>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960019984"/>
                        </a:ext>
                      </a:extLst>
                    </a:gridCol>
                    <a:gridCol w="2057400">
                      <a:extLst>
                        <a:ext uri="{9D8B030D-6E8A-4147-A177-3AD203B41FA5}">
                          <a16:colId xmlns:a16="http://schemas.microsoft.com/office/drawing/2014/main" val="1332819251"/>
                        </a:ext>
                      </a:extLst>
                    </a:gridCol>
                    <a:gridCol w="762000">
                      <a:extLst>
                        <a:ext uri="{9D8B030D-6E8A-4147-A177-3AD203B41FA5}">
                          <a16:colId xmlns:a16="http://schemas.microsoft.com/office/drawing/2014/main" val="581169743"/>
                        </a:ext>
                      </a:extLst>
                    </a:gridCol>
                    <a:gridCol w="1219200">
                      <a:extLst>
                        <a:ext uri="{9D8B030D-6E8A-4147-A177-3AD203B41FA5}">
                          <a16:colId xmlns:a16="http://schemas.microsoft.com/office/drawing/2014/main" val="3249488576"/>
                        </a:ext>
                      </a:extLst>
                    </a:gridCol>
                    <a:gridCol w="1219200">
                      <a:extLst>
                        <a:ext uri="{9D8B030D-6E8A-4147-A177-3AD203B41FA5}">
                          <a16:colId xmlns:a16="http://schemas.microsoft.com/office/drawing/2014/main" val="1434942263"/>
                        </a:ext>
                      </a:extLst>
                    </a:gridCol>
                  </a:tblGrid>
                  <a:tr h="403162">
                    <a:tc>
                      <a:txBody>
                        <a:bodyPr/>
                        <a:lstStyle/>
                        <a:p>
                          <a:r>
                            <a:rPr lang="en-US" sz="2000" dirty="0"/>
                            <a:t>Age</a:t>
                          </a:r>
                        </a:p>
                      </a:txBody>
                      <a:tcPr/>
                    </a:tc>
                    <a:tc>
                      <a:txBody>
                        <a:bodyPr/>
                        <a:lstStyle/>
                        <a:p>
                          <a:endParaRPr lang="en-US"/>
                        </a:p>
                      </a:txBody>
                      <a:tcPr>
                        <a:blipFill>
                          <a:blip r:embed="rId3"/>
                          <a:stretch>
                            <a:fillRect l="-41543" t="-7576" r="-157270" b="-618182"/>
                          </a:stretch>
                        </a:blipFill>
                      </a:tcPr>
                    </a:tc>
                    <a:tc>
                      <a:txBody>
                        <a:bodyPr/>
                        <a:lstStyle/>
                        <a:p>
                          <a:endParaRPr lang="en-US"/>
                        </a:p>
                      </a:txBody>
                      <a:tcPr>
                        <a:blipFill>
                          <a:blip r:embed="rId3"/>
                          <a:stretch>
                            <a:fillRect l="-381600" t="-7576" r="-324000" b="-618182"/>
                          </a:stretch>
                        </a:blipFill>
                      </a:tcPr>
                    </a:tc>
                    <a:tc>
                      <a:txBody>
                        <a:bodyPr/>
                        <a:lstStyle/>
                        <a:p>
                          <a:endParaRPr lang="en-US"/>
                        </a:p>
                      </a:txBody>
                      <a:tcPr>
                        <a:blipFill>
                          <a:blip r:embed="rId3"/>
                          <a:stretch>
                            <a:fillRect l="-301000" t="-7576" r="-102500" b="-618182"/>
                          </a:stretch>
                        </a:blipFill>
                      </a:tcPr>
                    </a:tc>
                    <a:tc>
                      <a:txBody>
                        <a:bodyPr/>
                        <a:lstStyle/>
                        <a:p>
                          <a:endParaRPr lang="en-US"/>
                        </a:p>
                      </a:txBody>
                      <a:tcPr>
                        <a:blipFill>
                          <a:blip r:embed="rId3"/>
                          <a:stretch>
                            <a:fillRect l="-401000" t="-7576" r="-2500" b="-618182"/>
                          </a:stretch>
                        </a:blipFill>
                      </a:tcPr>
                    </a:tc>
                    <a:extLst>
                      <a:ext uri="{0D108BD9-81ED-4DB2-BD59-A6C34878D82A}">
                        <a16:rowId xmlns:a16="http://schemas.microsoft.com/office/drawing/2014/main" val="1194165660"/>
                      </a:ext>
                    </a:extLst>
                  </a:tr>
                  <a:tr h="396240">
                    <a:tc>
                      <a:txBody>
                        <a:bodyPr/>
                        <a:lstStyle/>
                        <a:p>
                          <a:r>
                            <a:rPr lang="en-US" sz="2000" dirty="0"/>
                            <a:t>16-20</a:t>
                          </a:r>
                        </a:p>
                      </a:txBody>
                      <a:tcPr/>
                    </a:tc>
                    <a:tc>
                      <a:txBody>
                        <a:bodyPr/>
                        <a:lstStyle/>
                        <a:p>
                          <a:r>
                            <a:rPr lang="en-US" sz="2000" dirty="0"/>
                            <a:t>12</a:t>
                          </a:r>
                        </a:p>
                      </a:txBody>
                      <a:tcPr/>
                    </a:tc>
                    <a:tc>
                      <a:txBody>
                        <a:bodyPr/>
                        <a:lstStyle/>
                        <a:p>
                          <a:r>
                            <a:rPr lang="en-US" sz="2000" dirty="0"/>
                            <a:t>18</a:t>
                          </a:r>
                        </a:p>
                      </a:txBody>
                      <a:tcPr/>
                    </a:tc>
                    <a:tc>
                      <a:txBody>
                        <a:bodyPr/>
                        <a:lstStyle/>
                        <a:p>
                          <a:r>
                            <a:rPr lang="en-US" sz="2000" dirty="0"/>
                            <a:t>216</a:t>
                          </a:r>
                        </a:p>
                      </a:txBody>
                      <a:tcPr/>
                    </a:tc>
                    <a:tc>
                      <a:txBody>
                        <a:bodyPr/>
                        <a:lstStyle/>
                        <a:p>
                          <a:r>
                            <a:rPr lang="en-US" sz="2000" dirty="0"/>
                            <a:t>1399.68</a:t>
                          </a:r>
                        </a:p>
                      </a:txBody>
                      <a:tcPr/>
                    </a:tc>
                    <a:extLst>
                      <a:ext uri="{0D108BD9-81ED-4DB2-BD59-A6C34878D82A}">
                        <a16:rowId xmlns:a16="http://schemas.microsoft.com/office/drawing/2014/main" val="3346837807"/>
                      </a:ext>
                    </a:extLst>
                  </a:tr>
                  <a:tr h="396240">
                    <a:tc>
                      <a:txBody>
                        <a:bodyPr/>
                        <a:lstStyle/>
                        <a:p>
                          <a:r>
                            <a:rPr lang="en-US" sz="2000" dirty="0"/>
                            <a:t>21-25</a:t>
                          </a:r>
                        </a:p>
                      </a:txBody>
                      <a:tcPr/>
                    </a:tc>
                    <a:tc>
                      <a:txBody>
                        <a:bodyPr/>
                        <a:lstStyle/>
                        <a:p>
                          <a:r>
                            <a:rPr lang="en-US" sz="2000" dirty="0"/>
                            <a:t>22</a:t>
                          </a:r>
                        </a:p>
                      </a:txBody>
                      <a:tcPr/>
                    </a:tc>
                    <a:tc>
                      <a:txBody>
                        <a:bodyPr/>
                        <a:lstStyle/>
                        <a:p>
                          <a:r>
                            <a:rPr lang="en-US" sz="2000" dirty="0"/>
                            <a:t>23</a:t>
                          </a:r>
                        </a:p>
                      </a:txBody>
                      <a:tcPr/>
                    </a:tc>
                    <a:tc>
                      <a:txBody>
                        <a:bodyPr/>
                        <a:lstStyle/>
                        <a:p>
                          <a:r>
                            <a:rPr lang="en-US" sz="2000" dirty="0"/>
                            <a:t>506</a:t>
                          </a:r>
                        </a:p>
                      </a:txBody>
                      <a:tcPr/>
                    </a:tc>
                    <a:tc>
                      <a:txBody>
                        <a:bodyPr/>
                        <a:lstStyle/>
                        <a:p>
                          <a:r>
                            <a:rPr lang="en-US" sz="2000" dirty="0"/>
                            <a:t>740.08</a:t>
                          </a:r>
                        </a:p>
                      </a:txBody>
                      <a:tcPr/>
                    </a:tc>
                    <a:extLst>
                      <a:ext uri="{0D108BD9-81ED-4DB2-BD59-A6C34878D82A}">
                        <a16:rowId xmlns:a16="http://schemas.microsoft.com/office/drawing/2014/main" val="2223725899"/>
                      </a:ext>
                    </a:extLst>
                  </a:tr>
                  <a:tr h="396240">
                    <a:tc>
                      <a:txBody>
                        <a:bodyPr/>
                        <a:lstStyle/>
                        <a:p>
                          <a:r>
                            <a:rPr lang="en-US" sz="2000" dirty="0"/>
                            <a:t>26-30</a:t>
                          </a:r>
                        </a:p>
                      </a:txBody>
                      <a:tcPr/>
                    </a:tc>
                    <a:tc>
                      <a:txBody>
                        <a:bodyPr/>
                        <a:lstStyle/>
                        <a:p>
                          <a:r>
                            <a:rPr lang="en-US" sz="2000" dirty="0"/>
                            <a:t>20</a:t>
                          </a:r>
                        </a:p>
                      </a:txBody>
                      <a:tcPr/>
                    </a:tc>
                    <a:tc>
                      <a:txBody>
                        <a:bodyPr/>
                        <a:lstStyle/>
                        <a:p>
                          <a:r>
                            <a:rPr lang="en-US" sz="2000" dirty="0"/>
                            <a:t>28</a:t>
                          </a:r>
                        </a:p>
                      </a:txBody>
                      <a:tcPr/>
                    </a:tc>
                    <a:tc>
                      <a:txBody>
                        <a:bodyPr/>
                        <a:lstStyle/>
                        <a:p>
                          <a:r>
                            <a:rPr lang="en-US" sz="2000" dirty="0"/>
                            <a:t>560</a:t>
                          </a:r>
                        </a:p>
                      </a:txBody>
                      <a:tcPr/>
                    </a:tc>
                    <a:tc>
                      <a:txBody>
                        <a:bodyPr/>
                        <a:lstStyle/>
                        <a:p>
                          <a:r>
                            <a:rPr lang="en-US" sz="2000" dirty="0"/>
                            <a:t>12.8</a:t>
                          </a:r>
                        </a:p>
                      </a:txBody>
                      <a:tcPr/>
                    </a:tc>
                    <a:extLst>
                      <a:ext uri="{0D108BD9-81ED-4DB2-BD59-A6C34878D82A}">
                        <a16:rowId xmlns:a16="http://schemas.microsoft.com/office/drawing/2014/main" val="664448851"/>
                      </a:ext>
                    </a:extLst>
                  </a:tr>
                  <a:tr h="396240">
                    <a:tc>
                      <a:txBody>
                        <a:bodyPr/>
                        <a:lstStyle/>
                        <a:p>
                          <a:r>
                            <a:rPr lang="en-US" sz="2000" dirty="0"/>
                            <a:t>31-35</a:t>
                          </a:r>
                        </a:p>
                      </a:txBody>
                      <a:tcPr/>
                    </a:tc>
                    <a:tc>
                      <a:txBody>
                        <a:bodyPr/>
                        <a:lstStyle/>
                        <a:p>
                          <a:r>
                            <a:rPr lang="en-US" sz="2000" dirty="0"/>
                            <a:t>30</a:t>
                          </a:r>
                        </a:p>
                      </a:txBody>
                      <a:tcPr/>
                    </a:tc>
                    <a:tc>
                      <a:txBody>
                        <a:bodyPr/>
                        <a:lstStyle/>
                        <a:p>
                          <a:r>
                            <a:rPr lang="en-US" sz="2000" dirty="0"/>
                            <a:t>33</a:t>
                          </a:r>
                        </a:p>
                      </a:txBody>
                      <a:tcPr/>
                    </a:tc>
                    <a:tc>
                      <a:txBody>
                        <a:bodyPr/>
                        <a:lstStyle/>
                        <a:p>
                          <a:r>
                            <a:rPr lang="en-US" sz="2000" dirty="0"/>
                            <a:t>990</a:t>
                          </a:r>
                        </a:p>
                      </a:txBody>
                      <a:tcPr/>
                    </a:tc>
                    <a:tc>
                      <a:txBody>
                        <a:bodyPr/>
                        <a:lstStyle/>
                        <a:p>
                          <a:r>
                            <a:rPr lang="en-US" sz="2000" dirty="0"/>
                            <a:t>529.2</a:t>
                          </a:r>
                        </a:p>
                      </a:txBody>
                      <a:tcPr/>
                    </a:tc>
                    <a:extLst>
                      <a:ext uri="{0D108BD9-81ED-4DB2-BD59-A6C34878D82A}">
                        <a16:rowId xmlns:a16="http://schemas.microsoft.com/office/drawing/2014/main" val="1665204316"/>
                      </a:ext>
                    </a:extLst>
                  </a:tr>
                  <a:tr h="396240">
                    <a:tc>
                      <a:txBody>
                        <a:bodyPr/>
                        <a:lstStyle/>
                        <a:p>
                          <a:r>
                            <a:rPr lang="en-US" sz="2000" dirty="0"/>
                            <a:t>36-40</a:t>
                          </a:r>
                        </a:p>
                      </a:txBody>
                      <a:tcPr/>
                    </a:tc>
                    <a:tc>
                      <a:txBody>
                        <a:bodyPr/>
                        <a:lstStyle/>
                        <a:p>
                          <a:r>
                            <a:rPr lang="en-US" sz="2000" dirty="0"/>
                            <a:t>16</a:t>
                          </a:r>
                        </a:p>
                      </a:txBody>
                      <a:tcPr/>
                    </a:tc>
                    <a:tc>
                      <a:txBody>
                        <a:bodyPr/>
                        <a:lstStyle/>
                        <a:p>
                          <a:r>
                            <a:rPr lang="en-US" sz="2000" dirty="0"/>
                            <a:t>38</a:t>
                          </a:r>
                        </a:p>
                      </a:txBody>
                      <a:tcPr/>
                    </a:tc>
                    <a:tc>
                      <a:txBody>
                        <a:bodyPr/>
                        <a:lstStyle/>
                        <a:p>
                          <a:r>
                            <a:rPr lang="en-US" sz="2000" dirty="0"/>
                            <a:t>608</a:t>
                          </a:r>
                        </a:p>
                      </a:txBody>
                      <a:tcPr/>
                    </a:tc>
                    <a:tc>
                      <a:txBody>
                        <a:bodyPr/>
                        <a:lstStyle/>
                        <a:p>
                          <a:r>
                            <a:rPr lang="en-US" sz="2000" dirty="0"/>
                            <a:t>1354.24</a:t>
                          </a:r>
                        </a:p>
                      </a:txBody>
                      <a:tcPr/>
                    </a:tc>
                    <a:extLst>
                      <a:ext uri="{0D108BD9-81ED-4DB2-BD59-A6C34878D82A}">
                        <a16:rowId xmlns:a16="http://schemas.microsoft.com/office/drawing/2014/main" val="3479339523"/>
                      </a:ext>
                    </a:extLst>
                  </a:tr>
                  <a:tr h="396240">
                    <a:tc>
                      <a:txBody>
                        <a:bodyPr/>
                        <a:lstStyle/>
                        <a:p>
                          <a:r>
                            <a:rPr lang="en-US" sz="2000" dirty="0"/>
                            <a:t>Total</a:t>
                          </a:r>
                        </a:p>
                      </a:txBody>
                      <a:tcPr/>
                    </a:tc>
                    <a:tc>
                      <a:txBody>
                        <a:bodyPr/>
                        <a:lstStyle/>
                        <a:p>
                          <a:r>
                            <a:rPr lang="en-US" sz="2000" dirty="0"/>
                            <a:t>100</a:t>
                          </a:r>
                        </a:p>
                      </a:txBody>
                      <a:tcPr/>
                    </a:tc>
                    <a:tc>
                      <a:txBody>
                        <a:bodyPr/>
                        <a:lstStyle/>
                        <a:p>
                          <a:endParaRPr lang="en-US" sz="2000" dirty="0"/>
                        </a:p>
                      </a:txBody>
                      <a:tcPr/>
                    </a:tc>
                    <a:tc>
                      <a:txBody>
                        <a:bodyPr/>
                        <a:lstStyle/>
                        <a:p>
                          <a:r>
                            <a:rPr lang="en-US" sz="2000" dirty="0"/>
                            <a:t>2880</a:t>
                          </a:r>
                        </a:p>
                      </a:txBody>
                      <a:tcPr/>
                    </a:tc>
                    <a:tc>
                      <a:txBody>
                        <a:bodyPr/>
                        <a:lstStyle/>
                        <a:p>
                          <a:r>
                            <a:rPr lang="en-US" sz="2000" dirty="0"/>
                            <a:t>4036</a:t>
                          </a:r>
                        </a:p>
                      </a:txBody>
                      <a:tcPr/>
                    </a:tc>
                    <a:extLst>
                      <a:ext uri="{0D108BD9-81ED-4DB2-BD59-A6C34878D82A}">
                        <a16:rowId xmlns:a16="http://schemas.microsoft.com/office/drawing/2014/main" val="1803552625"/>
                      </a:ext>
                    </a:extLst>
                  </a:tr>
                </a:tbl>
              </a:graphicData>
            </a:graphic>
          </p:graphicFrame>
        </mc:Fallback>
      </mc:AlternateContent>
    </p:spTree>
    <p:extLst>
      <p:ext uri="{BB962C8B-B14F-4D97-AF65-F5344CB8AC3E}">
        <p14:creationId xmlns:p14="http://schemas.microsoft.com/office/powerpoint/2010/main" val="25668291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0" end="10"/>
                                            </p:txEl>
                                          </p:spTgt>
                                        </p:tgtEl>
                                        <p:attrNameLst>
                                          <p:attrName>style.visibility</p:attrName>
                                        </p:attrNameLst>
                                      </p:cBhvr>
                                      <p:to>
                                        <p:strVal val="visible"/>
                                      </p:to>
                                    </p:set>
                                    <p:animEffect transition="in" filter="fade">
                                      <p:cBhvr>
                                        <p:cTn id="14" dur="1000"/>
                                        <p:tgtEl>
                                          <p:spTgt spid="3">
                                            <p:txEl>
                                              <p:pRg st="10" end="10"/>
                                            </p:txEl>
                                          </p:spTgt>
                                        </p:tgtEl>
                                      </p:cBhvr>
                                    </p:animEffect>
                                    <p:anim calcmode="lin" valueType="num">
                                      <p:cBhvr>
                                        <p:cTn id="15"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m:t>
                      </m:r>
                      <m:r>
                        <a:rPr lang="en-US" sz="2200" i="1">
                          <a:latin typeface="Cambria Math"/>
                          <a:ea typeface="Cambria Math"/>
                        </a:rPr>
                        <m:t>𝜇</m:t>
                      </m:r>
                      <m:r>
                        <a:rPr lang="en-US" sz="2200" i="1">
                          <a:latin typeface="Cambria Math"/>
                          <a:ea typeface="Cambria Math"/>
                        </a:rPr>
                        <m:t>=30.5</m:t>
                      </m:r>
                    </m:oMath>
                  </m:oMathPara>
                </a14:m>
                <a:endParaRPr lang="en-US" sz="2200" dirty="0">
                  <a:ea typeface="Cambria Math"/>
                </a:endParaRPr>
              </a:p>
              <a:p>
                <a:pPr marL="0" indent="0">
                  <a:buNone/>
                </a:pPr>
                <a14:m>
                  <m:oMath xmlns:m="http://schemas.openxmlformats.org/officeDocument/2006/math">
                    <m:sSub>
                      <m:sSubPr>
                        <m:ctrlPr>
                          <a:rPr lang="en-US" sz="2200" i="1">
                            <a:latin typeface="Cambria Math" panose="02040503050406030204" pitchFamily="18" charset="0"/>
                            <a:ea typeface="Cambria Math"/>
                          </a:rPr>
                        </m:ctrlPr>
                      </m:sSubPr>
                      <m:e>
                        <m:r>
                          <a:rPr lang="en-US" sz="2200" i="1">
                            <a:latin typeface="Cambria Math"/>
                            <a:ea typeface="Cambria Math"/>
                          </a:rPr>
                          <m:t>𝐻</m:t>
                        </m:r>
                      </m:e>
                      <m:sub>
                        <m:r>
                          <a:rPr lang="en-US" sz="2200" i="1">
                            <a:latin typeface="Cambria Math"/>
                            <a:ea typeface="Cambria Math"/>
                          </a:rPr>
                          <m:t>1</m:t>
                        </m:r>
                      </m:sub>
                    </m:sSub>
                    <m:r>
                      <a:rPr lang="en-US" sz="2200" i="1">
                        <a:latin typeface="Cambria Math"/>
                        <a:ea typeface="Cambria Math"/>
                      </a:rPr>
                      <m:t>: </m:t>
                    </m:r>
                    <m:r>
                      <a:rPr lang="en-US" sz="2200" i="1">
                        <a:latin typeface="Cambria Math"/>
                        <a:ea typeface="Cambria Math"/>
                      </a:rPr>
                      <m:t>𝜇</m:t>
                    </m:r>
                    <m:r>
                      <a:rPr lang="en-US" sz="2200" i="1">
                        <a:latin typeface="Cambria Math"/>
                        <a:ea typeface="Cambria Math"/>
                      </a:rPr>
                      <m:t>&lt;30.5</m:t>
                    </m:r>
                  </m:oMath>
                </a14:m>
                <a:r>
                  <a:rPr lang="en-US" sz="2200" dirty="0">
                    <a:ea typeface="Cambria Math"/>
                  </a:rPr>
                  <a:t> (Single tailed test)</a:t>
                </a: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𝛼</m:t>
                      </m:r>
                      <m:r>
                        <a:rPr lang="en-US" sz="2200" i="1">
                          <a:latin typeface="Cambria Math"/>
                          <a:ea typeface="Cambria Math"/>
                        </a:rPr>
                        <m:t>=0.05</m:t>
                      </m:r>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den>
                      </m:f>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rPr>
                                <m:t>𝑠</m:t>
                              </m:r>
                            </m:num>
                            <m:den>
                              <m:rad>
                                <m:radPr>
                                  <m:degHide m:val="on"/>
                                  <m:ctrlPr>
                                    <a:rPr lang="en-US" sz="2200" i="1">
                                      <a:latin typeface="Cambria Math" panose="02040503050406030204" pitchFamily="18" charset="0"/>
                                    </a:rPr>
                                  </m:ctrlPr>
                                </m:radPr>
                                <m:deg/>
                                <m:e>
                                  <m:r>
                                    <a:rPr lang="en-US" sz="2200" i="1">
                                      <a:latin typeface="Cambria Math"/>
                                    </a:rPr>
                                    <m:t>𝑛</m:t>
                                  </m:r>
                                </m:e>
                              </m:rad>
                            </m:den>
                          </m:f>
                        </m:den>
                      </m:f>
                      <m:r>
                        <a:rPr lang="en-US" sz="2200" i="1">
                          <a:latin typeface="Cambria Math"/>
                        </a:rPr>
                        <m:t>=</m:t>
                      </m:r>
                      <m:r>
                        <m:rPr>
                          <m:nor/>
                        </m:rPr>
                        <a:rPr lang="en-US" sz="2200" dirty="0"/>
                        <m:t>=−2.681</m:t>
                      </m:r>
                    </m:oMath>
                  </m:oMathPara>
                </a14:m>
                <a:endParaRPr lang="en-US" sz="2200" dirty="0"/>
              </a:p>
              <a:p>
                <a:pPr marL="0" indent="0">
                  <a:buNone/>
                </a:pPr>
                <a:r>
                  <a:rPr lang="en-US" sz="2200" dirty="0"/>
                  <a:t>Table value:</a:t>
                </a:r>
                <a14:m>
                  <m:oMath xmlns:m="http://schemas.openxmlformats.org/officeDocument/2006/math">
                    <m:r>
                      <a:rPr lang="en-US" sz="2200" i="1">
                        <a:latin typeface="Cambria Math"/>
                      </a:rPr>
                      <m:t>𝑍</m:t>
                    </m:r>
                    <m:r>
                      <a:rPr lang="en-US" sz="2200" i="1">
                        <a:latin typeface="Cambria Math"/>
                      </a:rPr>
                      <m:t>=1.64</m:t>
                    </m:r>
                  </m:oMath>
                </a14:m>
                <a:endParaRPr lang="en-US" sz="2200" dirty="0"/>
              </a:p>
              <a:p>
                <a:pPr marL="0" indent="0">
                  <a:buNone/>
                </a:pPr>
                <a:r>
                  <a:rPr lang="en-US" sz="2200" dirty="0"/>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𝑍</m:t>
                            </m:r>
                          </m:e>
                        </m:d>
                      </m:e>
                      <m:sub>
                        <m:r>
                          <a:rPr lang="en-US" sz="2200" i="1">
                            <a:latin typeface="Cambria Math"/>
                          </a:rPr>
                          <m:t>𝑐𝑎𝑙</m:t>
                        </m:r>
                      </m:sub>
                    </m:sSub>
                    <m:r>
                      <a:rPr lang="en-US" sz="2200" i="1">
                        <a:latin typeface="Cambria Math"/>
                      </a:rPr>
                      <m:t>&gt;</m:t>
                    </m:r>
                    <m:r>
                      <a:rPr lang="en-US" sz="2200" i="1">
                        <a:latin typeface="Cambria Math"/>
                      </a:rPr>
                      <m:t>𝑡𝑎𝑏𝑙𝑒</m:t>
                    </m:r>
                    <m:r>
                      <a:rPr lang="en-US" sz="2200" i="1">
                        <a:latin typeface="Cambria Math"/>
                      </a:rPr>
                      <m:t> </m:t>
                    </m:r>
                    <m:r>
                      <a:rPr lang="en-US" sz="2200" i="1">
                        <a:latin typeface="Cambria Math"/>
                      </a:rPr>
                      <m:t>𝑣𝑎𝑙𝑢𝑒</m:t>
                    </m:r>
                  </m:oMath>
                </a14:m>
                <a:endParaRPr lang="en-US" sz="2200" dirty="0"/>
              </a:p>
              <a:p>
                <a:pPr marL="0" indent="0">
                  <a:buNone/>
                </a:pPr>
                <a:r>
                  <a:rPr lang="en-US" sz="2200" dirty="0"/>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is rejected.</a:t>
                </a:r>
              </a:p>
              <a:p>
                <a:pPr marL="0" indent="0">
                  <a:buNone/>
                </a:pPr>
                <a:r>
                  <a:rPr lang="en-US" sz="2200" dirty="0"/>
                  <a:t>His claim is right.</a:t>
                </a:r>
              </a:p>
              <a:p>
                <a:pPr marL="0" indent="0">
                  <a:buNone/>
                </a:pPr>
                <a:endParaRPr lang="en-US" sz="2200" dirty="0"/>
              </a:p>
              <a:p>
                <a:pPr marL="0" indent="0">
                  <a:buNone/>
                </a:pPr>
                <a:endParaRPr lang="en-US" sz="2200" dirty="0">
                  <a:ea typeface="Cambria Math"/>
                </a:endParaRPr>
              </a:p>
              <a:p>
                <a:pPr marL="0" indent="0">
                  <a:buNone/>
                </a:pPr>
                <a:endParaRPr lang="en-US" sz="2200" dirty="0">
                  <a:ea typeface="Cambria Math"/>
                </a:endParaRP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2345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4245907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v"/>
                </a:pPr>
                <a:r>
                  <a:rPr lang="en-US" sz="2200" b="1" dirty="0"/>
                  <a:t>Test of hypothesis about difference between two population mean</a:t>
                </a:r>
                <a:br>
                  <a:rPr lang="en-US" sz="2200" dirty="0"/>
                </a:br>
                <a:r>
                  <a:rPr lang="en-US" sz="2200" dirty="0"/>
                  <a:t>Let </a:t>
                </a:r>
                <a14:m>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oMath>
                </a14:m>
                <a:r>
                  <a:rPr lang="en-US" sz="2200" dirty="0"/>
                  <a:t> be the mean of a sample of size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oMath>
                </a14:m>
                <a:r>
                  <a:rPr lang="en-US" sz="2200" dirty="0"/>
                  <a:t>from a population with mean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1</m:t>
                        </m:r>
                      </m:sub>
                    </m:sSub>
                  </m:oMath>
                </a14:m>
                <a:r>
                  <a:rPr lang="en-US" sz="2200" dirty="0"/>
                  <a:t>and variance </a:t>
                </a:r>
                <a14:m>
                  <m:oMath xmlns:m="http://schemas.openxmlformats.org/officeDocument/2006/math">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oMath>
                </a14:m>
                <a:r>
                  <a:rPr lang="en-US" sz="2200" dirty="0"/>
                  <a:t>. Let </a:t>
                </a:r>
                <a14:m>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oMath>
                </a14:m>
                <a:r>
                  <a:rPr lang="en-US" sz="2200" dirty="0"/>
                  <a:t> be the mean of a sample of size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oMath>
                </a14:m>
                <a:r>
                  <a:rPr lang="en-US" sz="2200" dirty="0"/>
                  <a:t> from a population with mean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ea typeface="Cambria Math"/>
                          </a:rPr>
                          <m:t>2</m:t>
                        </m:r>
                      </m:sub>
                    </m:sSub>
                  </m:oMath>
                </a14:m>
                <a:r>
                  <a:rPr lang="en-US" sz="2200" dirty="0"/>
                  <a:t>and variance </a:t>
                </a:r>
                <a14:m>
                  <m:oMath xmlns:m="http://schemas.openxmlformats.org/officeDocument/2006/math">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2</m:t>
                            </m:r>
                          </m:sub>
                        </m:sSub>
                      </m:e>
                      <m:sub>
                        <m:r>
                          <a:rPr lang="en-US" sz="2200" b="0" i="1" smtClean="0">
                            <a:latin typeface="Cambria Math" panose="02040503050406030204" pitchFamily="18" charset="0"/>
                            <a:ea typeface="Cambria Math"/>
                          </a:rPr>
                          <m:t> </m:t>
                        </m:r>
                      </m:sub>
                      <m:sup>
                        <m:r>
                          <a:rPr lang="en-US" sz="2200" i="1">
                            <a:latin typeface="Cambria Math"/>
                          </a:rPr>
                          <m:t>2</m:t>
                        </m:r>
                      </m:sup>
                    </m:sSubSup>
                  </m:oMath>
                </a14:m>
                <a:r>
                  <a:rPr lang="en-US" sz="2200" dirty="0"/>
                  <a:t>. To test whether the two population means are equal or not, the test statistic to be used as-</a:t>
                </a:r>
              </a:p>
              <a:p>
                <a:pPr marL="0" indent="0" algn="just">
                  <a:buNone/>
                </a:pPr>
                <a:r>
                  <a:rPr lang="en-US" sz="2200" dirty="0"/>
                  <a:t> </a:t>
                </a:r>
                <a14:m>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ea typeface="Cambria Math"/>
                                          </a:rPr>
                                          <m:t>2</m:t>
                                        </m:r>
                                      </m:sub>
                                    </m:sSub>
                                  </m:e>
                                  <m:sub>
                                    <m:r>
                                      <a:rPr lang="en-US" sz="2200" b="0" i="1" smtClean="0">
                                        <a:latin typeface="Cambria Math" panose="02040503050406030204" pitchFamily="18" charset="0"/>
                                        <a:ea typeface="Cambria Math"/>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oMath>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198253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Note :</a:t>
                </a:r>
              </a:p>
              <a:p>
                <a:r>
                  <a:rPr lang="en-US" sz="2200" dirty="0"/>
                  <a:t>When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2</m:t>
                        </m:r>
                      </m:sub>
                    </m:sSub>
                    <m:r>
                      <a:rPr lang="en-US" sz="2200" i="1">
                        <a:latin typeface="Cambria Math"/>
                      </a:rPr>
                      <m:t>=</m:t>
                    </m:r>
                    <m:r>
                      <a:rPr lang="en-US" sz="2200" i="1">
                        <a:latin typeface="Cambria Math"/>
                        <a:ea typeface="Cambria Math"/>
                      </a:rPr>
                      <m:t>𝜎</m:t>
                    </m:r>
                    <m:r>
                      <a:rPr lang="en-US" sz="2200" i="1">
                        <a:latin typeface="Cambria Math"/>
                        <a:ea typeface="Cambria Math"/>
                      </a:rPr>
                      <m:t> </m:t>
                    </m:r>
                  </m:oMath>
                </a14:m>
                <a:r>
                  <a:rPr lang="en-US" sz="2200" dirty="0"/>
                  <a:t>then </a:t>
                </a:r>
                <a14:m>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
                          <a:rPr lang="en-US" sz="2200" i="1">
                            <a:latin typeface="Cambria Math"/>
                            <a:ea typeface="Cambria Math"/>
                          </a:rPr>
                          <m:t>𝜎</m:t>
                        </m:r>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oMath>
                </a14:m>
                <a:r>
                  <a:rPr lang="en-US" sz="2200" dirty="0"/>
                  <a:t> </a:t>
                </a:r>
              </a:p>
              <a:p>
                <a:pPr marL="0" indent="0">
                  <a:buNone/>
                </a:pPr>
                <a:r>
                  <a:rPr lang="en-US" sz="2200" dirty="0"/>
                  <a:t>If </a:t>
                </a:r>
                <a14:m>
                  <m:oMath xmlns:m="http://schemas.openxmlformats.org/officeDocument/2006/math">
                    <m:r>
                      <a:rPr lang="en-US" sz="2200" i="1">
                        <a:latin typeface="Cambria Math"/>
                        <a:ea typeface="Cambria Math"/>
                      </a:rPr>
                      <m:t>𝜎</m:t>
                    </m:r>
                  </m:oMath>
                </a14:m>
                <a:r>
                  <a:rPr lang="en-US" sz="2200" dirty="0"/>
                  <a:t> is unknown 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2</m:t>
                        </m:r>
                      </m:sub>
                    </m:sSub>
                  </m:oMath>
                </a14:m>
                <a:r>
                  <a:rPr lang="en-US" sz="2200" dirty="0"/>
                  <a:t> then </a:t>
                </a:r>
              </a:p>
              <a:p>
                <a:pPr marL="0" indent="0">
                  <a:buNone/>
                </a:pPr>
                <a14:m>
                  <m:oMathPara xmlns:m="http://schemas.openxmlformats.org/officeDocument/2006/math">
                    <m:oMathParaPr>
                      <m:jc m:val="centerGroup"/>
                    </m:oMathParaPr>
                    <m:oMath xmlns:m="http://schemas.openxmlformats.org/officeDocument/2006/math">
                      <m:sSup>
                        <m:sSupPr>
                          <m:ctrlPr>
                            <a:rPr lang="en-US" sz="2200" i="1">
                              <a:latin typeface="Cambria Math" panose="02040503050406030204" pitchFamily="18" charset="0"/>
                            </a:rPr>
                          </m:ctrlPr>
                        </m:sSupPr>
                        <m:e>
                          <m:r>
                            <a:rPr lang="en-US" sz="2200" i="1">
                              <a:latin typeface="Cambria Math"/>
                              <a:ea typeface="Cambria Math"/>
                            </a:rPr>
                            <m:t>𝜎</m:t>
                          </m:r>
                        </m:e>
                        <m:sup>
                          <m:r>
                            <a:rPr lang="en-US" sz="2200" i="1">
                              <a:latin typeface="Cambria Math"/>
                            </a:rPr>
                            <m:t>2</m:t>
                          </m:r>
                        </m:sup>
                      </m:sSup>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ea typeface="Cambria Math"/>
                                    </a:rPr>
                                    <m:t>1</m:t>
                                  </m:r>
                                </m:sub>
                              </m:sSub>
                            </m:e>
                            <m:sub>
                              <m:r>
                                <a:rPr lang="en-US" sz="2200" b="0" i="1" smtClean="0">
                                  <a:latin typeface="Cambria Math" panose="02040503050406030204" pitchFamily="18" charset="0"/>
                                  <a:ea typeface="Cambria Math"/>
                                </a:rPr>
                                <m:t> </m:t>
                              </m:r>
                            </m:sub>
                            <m:sup>
                              <m:r>
                                <a:rPr lang="en-US" sz="2200" i="1">
                                  <a:latin typeface="Cambria Math"/>
                                </a:rPr>
                                <m:t>2</m:t>
                              </m:r>
                            </m:sup>
                          </m:sSubSup>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oMath>
                  </m:oMathPara>
                </a14:m>
                <a:endParaRPr lang="en-US" sz="2200" dirty="0"/>
              </a:p>
              <a:p>
                <a:r>
                  <a:rPr lang="en-US" sz="2200" dirty="0"/>
                  <a:t>If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2</m:t>
                        </m:r>
                      </m:sub>
                    </m:sSub>
                  </m:oMath>
                </a14:m>
                <a:r>
                  <a:rPr lang="en-US" sz="2200" dirty="0"/>
                  <a:t> are unknown &amp;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1</m:t>
                        </m:r>
                      </m:sub>
                    </m:sSub>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ea typeface="Cambria Math"/>
                          </a:rPr>
                          <m:t>𝜎</m:t>
                        </m:r>
                      </m:e>
                      <m:sub>
                        <m:r>
                          <a:rPr lang="en-US" sz="2200" i="1">
                            <a:latin typeface="Cambria Math"/>
                          </a:rPr>
                          <m:t>2</m:t>
                        </m:r>
                      </m:sub>
                    </m:sSub>
                  </m:oMath>
                </a14:m>
                <a:r>
                  <a:rPr lang="en-US" sz="2200" dirty="0"/>
                  <a:t> then</a:t>
                </a:r>
              </a:p>
              <a:p>
                <a:pPr marL="0" indent="0">
                  <a:buNone/>
                </a:pPr>
                <a14:m>
                  <m:oMathPara xmlns:m="http://schemas.openxmlformats.org/officeDocument/2006/math">
                    <m:oMathParaPr>
                      <m:jc m:val="centerGroup"/>
                    </m:oMathParaPr>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ea typeface="Cambria Math"/>
                                            </a:rPr>
                                            <m:t>2</m:t>
                                          </m:r>
                                        </m:sub>
                                      </m:sSub>
                                    </m:e>
                                    <m:sub>
                                      <m:r>
                                        <a:rPr lang="en-US" sz="2200" b="0" i="1" smtClean="0">
                                          <a:latin typeface="Cambria Math" panose="02040503050406030204" pitchFamily="18" charset="0"/>
                                          <a:ea typeface="Cambria Math"/>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oMath>
                  </m:oMathPara>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7934280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Example: </a:t>
                </a:r>
                <a:r>
                  <a:rPr lang="en-US" sz="2200" dirty="0"/>
                  <a:t>The average income of persons was Rs 210 with S.D. of Rs 10 in a sample of 100 people of a city. For another  sample of 150 persons the avg. income was Rs 220 with S.D. of Rs 12. Test whether there is any significance difference between the avg. income of the localities.( Test at 5% level of significance)</a:t>
                </a:r>
              </a:p>
              <a:p>
                <a:pPr marL="0" indent="0">
                  <a:buNone/>
                </a:pPr>
                <a:r>
                  <a:rPr lang="en-US" sz="2200" b="1" dirty="0"/>
                  <a:t>Sol:</a:t>
                </a:r>
              </a:p>
              <a:p>
                <a:pPr marL="0" indent="0">
                  <a:buNone/>
                </a:pPr>
                <a:r>
                  <a:rPr lang="en-US" sz="2200" dirty="0"/>
                  <a:t>Given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=100,</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=150,</m:t>
                    </m:r>
                  </m:oMath>
                </a14:m>
                <a:r>
                  <a:rPr lang="en-US" sz="2200" dirty="0"/>
                  <a:t> </a:t>
                </a:r>
                <a14:m>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=210,</m:t>
                    </m:r>
                  </m:oMath>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r>
                        <a:rPr lang="en-US" sz="2200" i="1">
                          <a:latin typeface="Cambria Math"/>
                        </a:rPr>
                        <m:t>=220</m:t>
                      </m:r>
                      <m:r>
                        <a:rPr lang="en-US" sz="2200">
                          <a:latin typeface="Cambria Math"/>
                        </a:rPr>
                        <m:t>, </m:t>
                      </m:r>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r>
                        <a:rPr lang="en-US" sz="2200" i="1">
                          <a:latin typeface="Cambria Math"/>
                        </a:rPr>
                        <m:t>=10,</m:t>
                      </m:r>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r>
                        <a:rPr lang="en-US" sz="2200" i="1">
                          <a:latin typeface="Cambria Math"/>
                        </a:rPr>
                        <m:t>=12</m:t>
                      </m:r>
                    </m:oMath>
                  </m:oMathPara>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 </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ea typeface="Cambria Math"/>
                            </a:rPr>
                            <m:t>2</m:t>
                          </m:r>
                        </m:sub>
                      </m:sSub>
                      <m:r>
                        <a:rPr lang="en-US" sz="2200" i="1">
                          <a:latin typeface="Cambria Math"/>
                        </a:rPr>
                        <m:t> </m:t>
                      </m:r>
                    </m:oMath>
                  </m:oMathPara>
                </a14:m>
                <a:endParaRPr lang="en-US" sz="2200" dirty="0"/>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 </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1</m:t>
                          </m:r>
                        </m:sub>
                      </m:sSub>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ea typeface="Cambria Math"/>
                            </a:rPr>
                            <m:t>2</m:t>
                          </m:r>
                        </m:sub>
                      </m:sSub>
                    </m:oMath>
                  </m:oMathPara>
                </a14:m>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25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660268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sz="2200" i="1" smtClean="0">
                          <a:latin typeface="Cambria Math"/>
                          <a:ea typeface="Cambria Math"/>
                        </a:rPr>
                        <m:t>𝛼</m:t>
                      </m:r>
                      <m:r>
                        <a:rPr lang="en-US" sz="2200" i="1" smtClean="0">
                          <a:latin typeface="Cambria Math"/>
                          <a:ea typeface="Cambria Math"/>
                        </a:rPr>
                        <m:t>=0.05</m:t>
                      </m:r>
                    </m:oMath>
                  </m:oMathPara>
                </a14:m>
                <a:endParaRPr lang="en-US" sz="22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𝑍</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ea typeface="Cambria Math"/>
                                            </a:rPr>
                                            <m:t>2</m:t>
                                          </m:r>
                                        </m:sub>
                                      </m:sSub>
                                    </m:e>
                                    <m:sub>
                                      <m:r>
                                        <a:rPr lang="en-US" sz="2200" b="0" i="1" smtClean="0">
                                          <a:latin typeface="Cambria Math" panose="02040503050406030204" pitchFamily="18" charset="0"/>
                                          <a:ea typeface="Cambria Math"/>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r>
                        <a:rPr lang="en-US" sz="2200" i="1">
                          <a:latin typeface="Cambria Math"/>
                        </a:rPr>
                        <m:t>=−7.14</m:t>
                      </m:r>
                    </m:oMath>
                  </m:oMathPara>
                </a14:m>
                <a:endParaRPr lang="en-US" sz="2200" dirty="0">
                  <a:ea typeface="Cambria Math"/>
                </a:endParaRPr>
              </a:p>
              <a:p>
                <a:pPr marL="0" indent="0">
                  <a:buNone/>
                </a:pPr>
                <a:r>
                  <a:rPr lang="en-US" sz="2200" dirty="0"/>
                  <a:t>Table value </a:t>
                </a:r>
                <a14:m>
                  <m:oMath xmlns:m="http://schemas.openxmlformats.org/officeDocument/2006/math">
                    <m:r>
                      <m:rPr>
                        <m:sty m:val="p"/>
                      </m:rPr>
                      <a:rPr lang="en-US" sz="2200">
                        <a:latin typeface="Cambria Math"/>
                      </a:rPr>
                      <m:t>Z</m:t>
                    </m:r>
                    <m:r>
                      <a:rPr lang="en-US" sz="2200" i="1">
                        <a:latin typeface="Cambria Math"/>
                      </a:rPr>
                      <m:t>=1.96</m:t>
                    </m:r>
                  </m:oMath>
                </a14:m>
                <a:endParaRPr lang="en-US" sz="2200" dirty="0"/>
              </a:p>
              <a:p>
                <a:pPr marL="0" indent="0">
                  <a:buNone/>
                </a:pPr>
                <a:r>
                  <a:rPr lang="en-US" sz="2200" dirty="0"/>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𝑍</m:t>
                            </m:r>
                          </m:e>
                        </m:d>
                      </m:e>
                      <m:sub>
                        <m:r>
                          <a:rPr lang="en-US" sz="2200" i="1">
                            <a:latin typeface="Cambria Math"/>
                          </a:rPr>
                          <m:t>𝑐𝑎𝑙</m:t>
                        </m:r>
                      </m:sub>
                    </m:sSub>
                    <m:r>
                      <a:rPr lang="en-US" sz="2200" i="1">
                        <a:latin typeface="Cambria Math"/>
                      </a:rPr>
                      <m:t>&gt;</m:t>
                    </m:r>
                    <m:r>
                      <a:rPr lang="en-US" sz="2200" i="1">
                        <a:latin typeface="Cambria Math"/>
                      </a:rPr>
                      <m:t>𝑡𝑎𝑏𝑙𝑒</m:t>
                    </m:r>
                    <m:r>
                      <a:rPr lang="en-US" sz="2200" i="1">
                        <a:latin typeface="Cambria Math"/>
                      </a:rPr>
                      <m:t> </m:t>
                    </m:r>
                    <m:r>
                      <a:rPr lang="en-US" sz="2200" i="1">
                        <a:latin typeface="Cambria Math"/>
                      </a:rPr>
                      <m:t>𝑣𝑎𝑙𝑢𝑒</m:t>
                    </m:r>
                  </m:oMath>
                </a14:m>
                <a:endParaRPr lang="en-US" sz="2200" dirty="0"/>
              </a:p>
              <a:p>
                <a:pPr marL="0" indent="0">
                  <a:buNone/>
                </a:pPr>
                <a:r>
                  <a:rPr lang="en-US" sz="2200" dirty="0"/>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is rejected.</a:t>
                </a:r>
              </a:p>
              <a:p>
                <a:pPr marL="0" indent="0">
                  <a:buNone/>
                </a:pPr>
                <a:r>
                  <a:rPr lang="en-US" sz="2200" dirty="0"/>
                  <a:t>Yes there is a significance difference the avg. income of localities.</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4458405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lnSpcReduction="20000"/>
              </a:bodyPr>
              <a:lstStyle/>
              <a:p>
                <a:pPr marL="0" indent="0">
                  <a:buNone/>
                </a:pPr>
                <a:r>
                  <a:rPr lang="en-US" altLang="en-US" sz="2400" b="1" dirty="0"/>
                  <a:t>P-Value  (Observed Significance Level):</a:t>
                </a:r>
              </a:p>
              <a:p>
                <a:pPr marL="0" indent="0">
                  <a:buNone/>
                </a:pPr>
                <a:r>
                  <a:rPr lang="en-US" altLang="en-US" sz="2400" dirty="0"/>
                  <a:t>It’s the measure of the inconsistency between the hypothesized value for a population parameter and the observed sample statistic.</a:t>
                </a:r>
              </a:p>
              <a:p>
                <a:pPr marL="0" indent="0">
                  <a:buNone/>
                </a:pPr>
                <a:r>
                  <a:rPr lang="en-US" altLang="en-US" sz="2400" dirty="0"/>
                  <a:t>Using the P-Value</a:t>
                </a:r>
              </a:p>
              <a:p>
                <a:r>
                  <a:rPr lang="en-US" altLang="en-US" sz="2400" dirty="0"/>
                  <a:t>Reject </a:t>
                </a:r>
                <a14:m>
                  <m:oMath xmlns:m="http://schemas.openxmlformats.org/officeDocument/2006/math">
                    <m:sSub>
                      <m:sSubPr>
                        <m:ctrlPr>
                          <a:rPr lang="en-US" altLang="en-US" sz="2400" i="1" smtClean="0">
                            <a:latin typeface="Cambria Math" panose="02040503050406030204" pitchFamily="18" charset="0"/>
                          </a:rPr>
                        </m:ctrlPr>
                      </m:sSubPr>
                      <m:e>
                        <m:r>
                          <a:rPr lang="en-US" altLang="en-US" sz="2400" b="0" i="1" smtClean="0">
                            <a:latin typeface="Cambria Math" panose="02040503050406030204" pitchFamily="18" charset="0"/>
                          </a:rPr>
                          <m:t>𝐻</m:t>
                        </m:r>
                      </m:e>
                      <m:sub>
                        <m:r>
                          <a:rPr lang="en-US" altLang="en-US" sz="2400" b="0" i="1" smtClean="0">
                            <a:latin typeface="Cambria Math" panose="02040503050406030204" pitchFamily="18" charset="0"/>
                          </a:rPr>
                          <m:t>0</m:t>
                        </m:r>
                      </m:sub>
                    </m:sSub>
                  </m:oMath>
                </a14:m>
                <a:r>
                  <a:rPr lang="en-US" sz="2400" dirty="0"/>
                  <a:t> if </a:t>
                </a:r>
                <a14:m>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rPr>
                      <m:t>𝑣𝑎𝑙𝑢𝑒</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oMath>
                </a14:m>
                <a:endParaRPr lang="en-US" sz="2400" b="0" dirty="0">
                  <a:ea typeface="Cambria Math" panose="02040503050406030204" pitchFamily="18" charset="0"/>
                </a:endParaRPr>
              </a:p>
              <a:p>
                <a:r>
                  <a:rPr lang="en-US" altLang="en-US" sz="2400" dirty="0"/>
                  <a:t>Fail to Reject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𝐻</m:t>
                        </m:r>
                      </m:e>
                      <m:sub>
                        <m:r>
                          <a:rPr lang="en-US" altLang="en-US" sz="2400" i="1">
                            <a:latin typeface="Cambria Math" panose="02040503050406030204" pitchFamily="18" charset="0"/>
                          </a:rPr>
                          <m:t>0</m:t>
                        </m:r>
                      </m:sub>
                    </m:sSub>
                  </m:oMath>
                </a14:m>
                <a:r>
                  <a:rPr lang="en-US" sz="2400" dirty="0"/>
                  <a:t> if </a:t>
                </a:r>
                <a14:m>
                  <m:oMath xmlns:m="http://schemas.openxmlformats.org/officeDocument/2006/math">
                    <m:r>
                      <a:rPr lang="en-US" sz="2400" i="1">
                        <a:latin typeface="Cambria Math" panose="02040503050406030204" pitchFamily="18" charset="0"/>
                      </a:rPr>
                      <m:t>𝑝</m:t>
                    </m:r>
                    <m:r>
                      <a:rPr lang="en-US" sz="2400" i="1">
                        <a:latin typeface="Cambria Math" panose="02040503050406030204" pitchFamily="18" charset="0"/>
                      </a:rPr>
                      <m:t>−</m:t>
                    </m:r>
                    <m:r>
                      <a:rPr lang="en-US" sz="2400" i="1">
                        <a:latin typeface="Cambria Math" panose="02040503050406030204" pitchFamily="18" charset="0"/>
                      </a:rPr>
                      <m:t>𝑣𝑎𝑙𝑢𝑒</m:t>
                    </m:r>
                    <m:r>
                      <a:rPr lang="en-US" sz="2400" i="1" smtClean="0">
                        <a:latin typeface="Cambria Math" panose="02040503050406030204" pitchFamily="18" charset="0"/>
                        <a:ea typeface="Cambria Math" panose="02040503050406030204" pitchFamily="18" charset="0"/>
                      </a:rPr>
                      <m:t>&gt;</m:t>
                    </m:r>
                    <m:r>
                      <a:rPr lang="en-US" sz="2400" i="1">
                        <a:latin typeface="Cambria Math" panose="02040503050406030204" pitchFamily="18" charset="0"/>
                        <a:ea typeface="Cambria Math" panose="02040503050406030204" pitchFamily="18" charset="0"/>
                      </a:rPr>
                      <m:t>𝛼</m:t>
                    </m:r>
                  </m:oMath>
                </a14:m>
                <a:endParaRPr lang="en-US" sz="2400" dirty="0"/>
              </a:p>
              <a:p>
                <a:pPr marL="0" indent="0">
                  <a:buNone/>
                </a:pPr>
                <a:r>
                  <a:rPr lang="en-US" sz="2400" b="1" dirty="0"/>
                  <a:t>For a One-Tailed Test: </a:t>
                </a:r>
              </a:p>
              <a:p>
                <a:r>
                  <a:rPr lang="en-US" sz="2400" dirty="0"/>
                  <a:t>Reject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𝐻</m:t>
                        </m:r>
                      </m:e>
                      <m:sub>
                        <m:r>
                          <a:rPr lang="en-US" altLang="en-US" sz="2400" i="1">
                            <a:latin typeface="Cambria Math" panose="02040503050406030204" pitchFamily="18" charset="0"/>
                          </a:rPr>
                          <m:t>0</m:t>
                        </m:r>
                      </m:sub>
                    </m:sSub>
                  </m:oMath>
                </a14:m>
                <a:r>
                  <a:rPr lang="en-US" sz="2400" dirty="0"/>
                  <a:t>  if the </a:t>
                </a:r>
                <a14:m>
                  <m:oMath xmlns:m="http://schemas.openxmlformats.org/officeDocument/2006/math">
                    <m:r>
                      <a:rPr lang="en-US" sz="2400" i="1">
                        <a:latin typeface="Cambria Math" panose="02040503050406030204" pitchFamily="18" charset="0"/>
                      </a:rPr>
                      <m:t>𝑝</m:t>
                    </m:r>
                    <m:r>
                      <a:rPr lang="en-US" sz="2400" i="1">
                        <a:latin typeface="Cambria Math" panose="02040503050406030204" pitchFamily="18" charset="0"/>
                      </a:rPr>
                      <m:t> </m:t>
                    </m:r>
                  </m:oMath>
                </a14:m>
                <a:r>
                  <a:rPr lang="en-US" sz="2400" dirty="0"/>
                  <a:t>-value is less than the significance level </a:t>
                </a:r>
                <a14:m>
                  <m:oMath xmlns:m="http://schemas.openxmlformats.org/officeDocument/2006/math">
                    <m:r>
                      <a:rPr lang="en-US" sz="2400" i="1">
                        <a:latin typeface="Cambria Math" panose="02040503050406030204" pitchFamily="18" charset="0"/>
                        <a:ea typeface="Cambria Math" panose="02040503050406030204" pitchFamily="18" charset="0"/>
                      </a:rPr>
                      <m:t>𝛼</m:t>
                    </m:r>
                  </m:oMath>
                </a14:m>
                <a:r>
                  <a:rPr lang="en-US" sz="2400" dirty="0"/>
                  <a:t>. </a:t>
                </a:r>
              </a:p>
              <a:p>
                <a:r>
                  <a:rPr lang="en-US" sz="2400" dirty="0"/>
                  <a:t>Accept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𝐻</m:t>
                        </m:r>
                      </m:e>
                      <m:sub>
                        <m:r>
                          <a:rPr lang="en-US" altLang="en-US" sz="2400" i="1">
                            <a:latin typeface="Cambria Math" panose="02040503050406030204" pitchFamily="18" charset="0"/>
                          </a:rPr>
                          <m:t>0</m:t>
                        </m:r>
                      </m:sub>
                    </m:sSub>
                  </m:oMath>
                </a14:m>
                <a:r>
                  <a:rPr lang="en-US" sz="2400" dirty="0"/>
                  <a:t> otherwise.</a:t>
                </a:r>
              </a:p>
              <a:p>
                <a:pPr marL="0" indent="0">
                  <a:buNone/>
                </a:pPr>
                <a:r>
                  <a:rPr lang="en-US" sz="2400" b="1" dirty="0"/>
                  <a:t>For a Two-Tailed Test: </a:t>
                </a:r>
              </a:p>
              <a:p>
                <a:r>
                  <a:rPr lang="en-US" sz="2400" dirty="0"/>
                  <a:t>Reject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𝐻</m:t>
                        </m:r>
                      </m:e>
                      <m:sub>
                        <m:r>
                          <a:rPr lang="en-US" altLang="en-US" sz="2400" i="1">
                            <a:latin typeface="Cambria Math" panose="02040503050406030204" pitchFamily="18" charset="0"/>
                          </a:rPr>
                          <m:t>0</m:t>
                        </m:r>
                      </m:sub>
                    </m:sSub>
                  </m:oMath>
                </a14:m>
                <a:r>
                  <a:rPr lang="en-US" sz="2400" dirty="0"/>
                  <a:t>  if the </a:t>
                </a:r>
                <a14:m>
                  <m:oMath xmlns:m="http://schemas.openxmlformats.org/officeDocument/2006/math">
                    <m:r>
                      <a:rPr lang="en-US" sz="2400" i="1">
                        <a:latin typeface="Cambria Math" panose="02040503050406030204" pitchFamily="18" charset="0"/>
                      </a:rPr>
                      <m:t>𝑝</m:t>
                    </m:r>
                    <m:r>
                      <a:rPr lang="en-US" sz="2400" i="1">
                        <a:latin typeface="Cambria Math" panose="02040503050406030204" pitchFamily="18" charset="0"/>
                      </a:rPr>
                      <m:t> </m:t>
                    </m:r>
                  </m:oMath>
                </a14:m>
                <a:r>
                  <a:rPr lang="en-US" sz="2400" dirty="0"/>
                  <a:t>-value is less than </a:t>
                </a:r>
                <a14:m>
                  <m:oMath xmlns:m="http://schemas.openxmlformats.org/officeDocument/2006/math">
                    <m:r>
                      <a:rPr lang="en-US" sz="2400" b="0" i="1" smtClean="0">
                        <a:latin typeface="Cambria Math" panose="02040503050406030204" pitchFamily="18" charset="0"/>
                      </a:rPr>
                      <m:t>½</m:t>
                    </m:r>
                  </m:oMath>
                </a14:m>
                <a:r>
                  <a:rPr lang="en-US" sz="2400" dirty="0"/>
                  <a:t> of the significance level </a:t>
                </a:r>
                <a14:m>
                  <m:oMath xmlns:m="http://schemas.openxmlformats.org/officeDocument/2006/math">
                    <m:r>
                      <a:rPr lang="en-US" sz="2400" i="1">
                        <a:latin typeface="Cambria Math" panose="02040503050406030204" pitchFamily="18" charset="0"/>
                        <a:ea typeface="Cambria Math" panose="02040503050406030204" pitchFamily="18" charset="0"/>
                      </a:rPr>
                      <m:t>𝛼</m:t>
                    </m:r>
                  </m:oMath>
                </a14:m>
                <a:r>
                  <a:rPr lang="en-US" sz="2400" dirty="0"/>
                  <a:t>. i.e.  </a:t>
                </a:r>
                <a14:m>
                  <m:oMath xmlns:m="http://schemas.openxmlformats.org/officeDocument/2006/math">
                    <m:r>
                      <a:rPr lang="en-US" sz="2400" b="0" i="1" smtClean="0">
                        <a:latin typeface="Cambria Math" panose="02040503050406030204" pitchFamily="18" charset="0"/>
                      </a:rPr>
                      <m:t>.025</m:t>
                    </m:r>
                  </m:oMath>
                </a14:m>
                <a:endParaRPr lang="en-US" sz="2400" dirty="0"/>
              </a:p>
              <a:p>
                <a:r>
                  <a:rPr lang="en-US" sz="2400" dirty="0"/>
                  <a:t>Accept </a:t>
                </a:r>
                <a14:m>
                  <m:oMath xmlns:m="http://schemas.openxmlformats.org/officeDocument/2006/math">
                    <m:sSub>
                      <m:sSubPr>
                        <m:ctrlPr>
                          <a:rPr lang="en-US" altLang="en-US" sz="2400" i="1">
                            <a:latin typeface="Cambria Math" panose="02040503050406030204" pitchFamily="18" charset="0"/>
                          </a:rPr>
                        </m:ctrlPr>
                      </m:sSubPr>
                      <m:e>
                        <m:r>
                          <a:rPr lang="en-US" altLang="en-US" sz="2400" i="1">
                            <a:latin typeface="Cambria Math" panose="02040503050406030204" pitchFamily="18" charset="0"/>
                          </a:rPr>
                          <m:t>𝐻</m:t>
                        </m:r>
                      </m:e>
                      <m:sub>
                        <m:r>
                          <a:rPr lang="en-US" altLang="en-US" sz="2400" i="1">
                            <a:latin typeface="Cambria Math" panose="02040503050406030204" pitchFamily="18" charset="0"/>
                          </a:rPr>
                          <m:t>0</m:t>
                        </m:r>
                      </m:sub>
                    </m:sSub>
                  </m:oMath>
                </a14:m>
                <a:r>
                  <a:rPr lang="en-US" sz="2400" dirty="0"/>
                  <a:t> otherwise.</a:t>
                </a:r>
              </a:p>
              <a:p>
                <a:endParaRPr lang="en-US" sz="2400" b="1" dirty="0"/>
              </a:p>
              <a:p>
                <a:endParaRPr lang="en-US" sz="2400" b="1" dirty="0"/>
              </a:p>
              <a:p>
                <a:endParaRPr lang="en-US" sz="2400" b="1" dirty="0"/>
              </a:p>
              <a:p>
                <a:pPr marL="0" indent="0">
                  <a:buNone/>
                </a:pPr>
                <a:endParaRPr lang="en-US" sz="2400" dirty="0"/>
              </a:p>
              <a:p>
                <a:pPr marL="0" indent="0">
                  <a:buNone/>
                </a:pPr>
                <a:endParaRPr lang="en-US" sz="2400" dirty="0"/>
              </a:p>
              <a:p>
                <a:pPr marL="0" indent="0">
                  <a:buNone/>
                </a:pPr>
                <a:endParaRPr lang="en-US" sz="2400" dirty="0"/>
              </a:p>
              <a:p>
                <a:endParaRPr lang="en-US" sz="2400" dirty="0"/>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2291"/>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dirty="0"/>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P-value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490510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lstStyle/>
              <a:p>
                <a:pPr marL="0" indent="0">
                  <a:buNone/>
                </a:pPr>
                <a:r>
                  <a:rPr lang="en-US" sz="2400" b="1" dirty="0"/>
                  <a:t>Example-1</a:t>
                </a:r>
                <a:r>
                  <a:rPr lang="en-US" sz="2400" dirty="0"/>
                  <a:t> A manufacturing process produces TV. tubes with an average life </a:t>
                </a:r>
                <a14:m>
                  <m:oMath xmlns:m="http://schemas.openxmlformats.org/officeDocument/2006/math">
                    <m:r>
                      <a:rPr lang="en-US" sz="240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=1200</m:t>
                    </m:r>
                    <m:r>
                      <a:rPr lang="en-US" sz="2400" b="0" i="0"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hr</m:t>
                    </m:r>
                  </m:oMath>
                </a14:m>
                <a:r>
                  <a:rPr lang="en-US" sz="2400" dirty="0"/>
                  <a:t> and </a:t>
                </a:r>
                <a14:m>
                  <m:oMath xmlns:m="http://schemas.openxmlformats.org/officeDocument/2006/math">
                    <m:r>
                      <m:rPr>
                        <m:sty m:val="p"/>
                      </m:rPr>
                      <a:rPr lang="el-GR" sz="2400" b="0" i="1" smtClean="0">
                        <a:latin typeface="Cambria Math" panose="02040503050406030204" pitchFamily="18" charset="0"/>
                        <a:ea typeface="Cambria Math" panose="02040503050406030204" pitchFamily="18" charset="0"/>
                      </a:rPr>
                      <m:t>σ</m:t>
                    </m:r>
                    <m:r>
                      <a:rPr lang="en-US" sz="2400" b="0" i="1" smtClean="0">
                        <a:latin typeface="Cambria Math" panose="02040503050406030204" pitchFamily="18" charset="0"/>
                      </a:rPr>
                      <m:t>=300 </m:t>
                    </m:r>
                    <m:r>
                      <a:rPr lang="en-US" sz="2400" b="0" i="1" smtClean="0">
                        <a:latin typeface="Cambria Math" panose="02040503050406030204" pitchFamily="18" charset="0"/>
                      </a:rPr>
                      <m:t>h𝑟𝑠</m:t>
                    </m:r>
                  </m:oMath>
                </a14:m>
                <a:r>
                  <a:rPr lang="en-US" sz="2400" dirty="0"/>
                  <a:t>. A new process is thought to give tubes a higher average life. And out of a sample of 100 tubes we find that they have an average life </a:t>
                </a:r>
                <a14:m>
                  <m:oMath xmlns:m="http://schemas.openxmlformats.org/officeDocument/2006/math">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smtClean="0">
                        <a:latin typeface="Cambria Math" panose="02040503050406030204" pitchFamily="18" charset="0"/>
                      </a:rPr>
                      <m:t>=1265</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hr</m:t>
                    </m:r>
                  </m:oMath>
                </a14:m>
                <a:r>
                  <a:rPr lang="en-US" sz="2400" dirty="0"/>
                  <a:t>. Is the new process really any better than the old? </a:t>
                </a:r>
              </a:p>
              <a:p>
                <a:pPr marL="0" indent="0">
                  <a:buNone/>
                </a:pPr>
                <a:r>
                  <a:rPr lang="en-US" sz="2400" b="1" dirty="0"/>
                  <a:t>Solution:</a:t>
                </a:r>
              </a:p>
              <a:p>
                <a:pPr marL="0" indent="0">
                  <a:buNone/>
                </a:pPr>
                <a14:m>
                  <m:oMathPara xmlns:m="http://schemas.openxmlformats.org/officeDocument/2006/math">
                    <m:oMathParaPr>
                      <m:jc m:val="left"/>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a:rPr>
                            <m:t>𝐻</m:t>
                          </m:r>
                        </m:e>
                        <m:sub>
                          <m:r>
                            <a:rPr lang="en-US" sz="2400" i="1">
                              <a:latin typeface="Cambria Math"/>
                            </a:rPr>
                            <m:t>0</m:t>
                          </m:r>
                        </m:sub>
                      </m:sSub>
                      <m:r>
                        <a:rPr lang="en-US" sz="2400" i="1">
                          <a:latin typeface="Cambria Math"/>
                        </a:rPr>
                        <m:t>:</m:t>
                      </m:r>
                      <m:r>
                        <a:rPr lang="en-US" sz="2400" i="1">
                          <a:latin typeface="Cambria Math"/>
                          <a:ea typeface="Cambria Math"/>
                        </a:rPr>
                        <m:t>𝜇</m:t>
                      </m:r>
                      <m:r>
                        <a:rPr lang="en-US" sz="2400" i="1">
                          <a:latin typeface="Cambria Math"/>
                          <a:ea typeface="Cambria Math"/>
                        </a:rPr>
                        <m:t>=1200</m:t>
                      </m:r>
                    </m:oMath>
                  </m:oMathPara>
                </a14:m>
                <a:endParaRPr lang="en-US" sz="2400" dirty="0">
                  <a:ea typeface="Cambria Math"/>
                </a:endParaRPr>
              </a:p>
              <a:p>
                <a:pPr marL="0" indent="0">
                  <a:buNone/>
                </a:pPr>
                <a14:m>
                  <m:oMath xmlns:m="http://schemas.openxmlformats.org/officeDocument/2006/math">
                    <m:sSub>
                      <m:sSubPr>
                        <m:ctrlPr>
                          <a:rPr lang="en-US" sz="2400" i="1">
                            <a:latin typeface="Cambria Math" panose="02040503050406030204" pitchFamily="18" charset="0"/>
                            <a:ea typeface="Cambria Math"/>
                          </a:rPr>
                        </m:ctrlPr>
                      </m:sSubPr>
                      <m:e>
                        <m:r>
                          <a:rPr lang="en-US" sz="2400" i="1">
                            <a:latin typeface="Cambria Math"/>
                            <a:ea typeface="Cambria Math"/>
                          </a:rPr>
                          <m:t>𝐻</m:t>
                        </m:r>
                      </m:e>
                      <m:sub>
                        <m:r>
                          <a:rPr lang="en-US" sz="2400" i="1">
                            <a:latin typeface="Cambria Math"/>
                            <a:ea typeface="Cambria Math"/>
                          </a:rPr>
                          <m:t>1</m:t>
                        </m:r>
                      </m:sub>
                    </m:sSub>
                    <m:r>
                      <a:rPr lang="en-US" sz="2400" i="1">
                        <a:latin typeface="Cambria Math"/>
                        <a:ea typeface="Cambria Math"/>
                      </a:rPr>
                      <m:t>: </m:t>
                    </m:r>
                    <m:r>
                      <a:rPr lang="en-US" sz="2400" i="1">
                        <a:latin typeface="Cambria Math"/>
                        <a:ea typeface="Cambria Math"/>
                      </a:rPr>
                      <m:t>𝜇</m:t>
                    </m:r>
                    <m:r>
                      <a:rPr lang="en-US" sz="2400" b="0" i="1" smtClean="0">
                        <a:latin typeface="Cambria Math" panose="02040503050406030204" pitchFamily="18" charset="0"/>
                        <a:ea typeface="Cambria Math"/>
                      </a:rPr>
                      <m:t>&gt;1200</m:t>
                    </m:r>
                  </m:oMath>
                </a14:m>
                <a:r>
                  <a:rPr lang="en-US" sz="2400" dirty="0">
                    <a:ea typeface="Cambria Math"/>
                  </a:rPr>
                  <a:t>(Single tailed test)</a:t>
                </a:r>
              </a:p>
              <a:p>
                <a:pPr marL="0" indent="0">
                  <a:buNone/>
                </a:pPr>
                <a14:m>
                  <m:oMathPara xmlns:m="http://schemas.openxmlformats.org/officeDocument/2006/math">
                    <m:oMathParaPr>
                      <m:jc m:val="left"/>
                    </m:oMathParaPr>
                    <m:oMath xmlns:m="http://schemas.openxmlformats.org/officeDocument/2006/math">
                      <m:r>
                        <a:rPr lang="en-US" sz="2400" i="1">
                          <a:latin typeface="Cambria Math"/>
                          <a:ea typeface="Cambria Math"/>
                        </a:rPr>
                        <m:t>𝛼</m:t>
                      </m:r>
                      <m:r>
                        <a:rPr lang="en-US" sz="2400" i="1">
                          <a:latin typeface="Cambria Math"/>
                          <a:ea typeface="Cambria Math"/>
                        </a:rPr>
                        <m:t>=0.05</m:t>
                      </m:r>
                    </m:oMath>
                  </m:oMathPara>
                </a14:m>
                <a:endParaRPr lang="en-US" sz="2400" dirty="0">
                  <a:ea typeface="Cambria Math"/>
                </a:endParaRPr>
              </a:p>
              <a:p>
                <a:pPr marL="0" indent="0">
                  <a:buNone/>
                </a:pPr>
                <a14:m>
                  <m:oMathPara xmlns:m="http://schemas.openxmlformats.org/officeDocument/2006/math">
                    <m:oMathParaPr>
                      <m:jc m:val="left"/>
                    </m:oMathParaPr>
                    <m:oMath xmlns:m="http://schemas.openxmlformats.org/officeDocument/2006/math">
                      <m:r>
                        <a:rPr lang="en-US" sz="2400" i="1">
                          <a:latin typeface="Cambria Math"/>
                        </a:rPr>
                        <m:t>𝑍</m:t>
                      </m:r>
                      <m:r>
                        <a:rPr lang="en-US" sz="2400" i="1">
                          <a:latin typeface="Cambria Math"/>
                        </a:rPr>
                        <m:t>=</m:t>
                      </m:r>
                      <m:f>
                        <m:fPr>
                          <m:ctrlPr>
                            <a:rPr lang="en-US" sz="2400" i="1">
                              <a:latin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a:rPr>
                                <m:t>𝑥</m:t>
                              </m:r>
                            </m:e>
                          </m:acc>
                          <m:r>
                            <a:rPr lang="en-US" sz="2400" i="1">
                              <a:latin typeface="Cambria Math"/>
                            </a:rPr>
                            <m:t>−</m:t>
                          </m:r>
                          <m:r>
                            <a:rPr lang="en-US" sz="2400" i="1">
                              <a:latin typeface="Cambria Math"/>
                              <a:ea typeface="Cambria Math"/>
                            </a:rPr>
                            <m:t>𝜇</m:t>
                          </m:r>
                        </m:num>
                        <m:den>
                          <m:f>
                            <m:fPr>
                              <m:type m:val="lin"/>
                              <m:ctrlPr>
                                <a:rPr lang="en-US" sz="2400" i="1">
                                  <a:latin typeface="Cambria Math" panose="02040503050406030204" pitchFamily="18" charset="0"/>
                                </a:rPr>
                              </m:ctrlPr>
                            </m:fPr>
                            <m:num>
                              <m:r>
                                <a:rPr lang="en-US" sz="2400" i="1">
                                  <a:latin typeface="Cambria Math"/>
                                  <a:ea typeface="Cambria Math"/>
                                </a:rPr>
                                <m:t>𝜎</m:t>
                              </m:r>
                            </m:num>
                            <m:den>
                              <m:rad>
                                <m:radPr>
                                  <m:degHide m:val="on"/>
                                  <m:ctrlPr>
                                    <a:rPr lang="en-US" sz="2400" i="1">
                                      <a:latin typeface="Cambria Math" panose="02040503050406030204" pitchFamily="18" charset="0"/>
                                    </a:rPr>
                                  </m:ctrlPr>
                                </m:radPr>
                                <m:deg/>
                                <m:e>
                                  <m:r>
                                    <a:rPr lang="en-US" sz="2400" i="1">
                                      <a:latin typeface="Cambria Math"/>
                                    </a:rPr>
                                    <m:t>𝑛</m:t>
                                  </m:r>
                                </m:e>
                              </m:rad>
                            </m:den>
                          </m:f>
                        </m:den>
                      </m:f>
                      <m:r>
                        <a:rPr lang="en-US" sz="2400" i="1">
                          <a:latin typeface="Cambria Math"/>
                        </a:rPr>
                        <m:t>=</m:t>
                      </m:r>
                      <m:r>
                        <a:rPr lang="en-US" sz="2400" b="0" i="1" smtClean="0">
                          <a:latin typeface="Cambria Math" panose="02040503050406030204" pitchFamily="18" charset="0"/>
                        </a:rPr>
                        <m:t>2.17</m:t>
                      </m:r>
                    </m:oMath>
                  </m:oMathPara>
                </a14:m>
                <a:endParaRPr lang="en-US" sz="2400" dirty="0"/>
              </a:p>
              <a:p>
                <a:pPr marL="0" indent="0">
                  <a:buNone/>
                </a:pPr>
                <a:endParaRPr lang="en-US" sz="2400" dirty="0"/>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1185" t="-1078" r="-1704"/>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P-value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20963441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lstStyle/>
              <a:p>
                <a:pPr marL="0" indent="0">
                  <a:buNone/>
                </a:pPr>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a:rPr>
                                <m:t>𝑥</m:t>
                              </m:r>
                            </m:e>
                          </m:acc>
                          <m:r>
                            <a:rPr lang="en-US" sz="2400" b="0" i="1" smtClean="0">
                              <a:latin typeface="Cambria Math" panose="02040503050406030204" pitchFamily="18" charset="0"/>
                              <a:ea typeface="Cambria Math" panose="02040503050406030204" pitchFamily="18" charset="0"/>
                            </a:rPr>
                            <m:t>≥1265</m:t>
                          </m:r>
                        </m:e>
                      </m:d>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b="0" i="1" smtClean="0">
                              <a:latin typeface="Cambria Math" panose="02040503050406030204" pitchFamily="18" charset="0"/>
                            </a:rPr>
                            <m:t>𝑧</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2.17</m:t>
                          </m:r>
                        </m:e>
                      </m:d>
                      <m:r>
                        <a:rPr lang="en-US" sz="2400" b="0" i="1" smtClean="0">
                          <a:latin typeface="Cambria Math" panose="02040503050406030204" pitchFamily="18" charset="0"/>
                          <a:ea typeface="Cambria Math" panose="02040503050406030204" pitchFamily="18" charset="0"/>
                        </a:rPr>
                        <m:t>=.015</m:t>
                      </m:r>
                    </m:oMath>
                  </m:oMathPara>
                </a14:m>
                <a:endParaRPr lang="en-US" sz="2400" b="0" dirty="0">
                  <a:ea typeface="Cambria Math" panose="02040503050406030204" pitchFamily="18" charset="0"/>
                </a:endParaRPr>
              </a:p>
              <a:p>
                <a:pPr marL="0" indent="0">
                  <a:buNone/>
                </a:pPr>
                <a:r>
                  <a:rPr lang="en-US" altLang="en-US" sz="2400" dirty="0"/>
                  <a:t>Here we reject </a:t>
                </a:r>
                <a14:m>
                  <m:oMath xmlns:m="http://schemas.openxmlformats.org/officeDocument/2006/math">
                    <m:sSub>
                      <m:sSubPr>
                        <m:ctrlPr>
                          <a:rPr lang="en-US" altLang="en-US" sz="2400" i="1" smtClean="0">
                            <a:latin typeface="Cambria Math" panose="02040503050406030204" pitchFamily="18" charset="0"/>
                          </a:rPr>
                        </m:ctrlPr>
                      </m:sSubPr>
                      <m:e>
                        <m:r>
                          <a:rPr lang="en-US" altLang="en-US" sz="2400" b="0" i="1" smtClean="0">
                            <a:latin typeface="Cambria Math" panose="02040503050406030204" pitchFamily="18" charset="0"/>
                          </a:rPr>
                          <m:t>𝐻</m:t>
                        </m:r>
                      </m:e>
                      <m:sub>
                        <m:r>
                          <a:rPr lang="en-US" altLang="en-US" sz="2400" b="0" i="1" smtClean="0">
                            <a:latin typeface="Cambria Math" panose="02040503050406030204" pitchFamily="18" charset="0"/>
                          </a:rPr>
                          <m:t>0</m:t>
                        </m:r>
                      </m:sub>
                    </m:sSub>
                  </m:oMath>
                </a14:m>
                <a:r>
                  <a:rPr lang="en-US" sz="2400" dirty="0"/>
                  <a:t> </a:t>
                </a:r>
              </a:p>
              <a:p>
                <a:pPr marL="0" indent="0">
                  <a:buNone/>
                </a:pPr>
                <a:r>
                  <a:rPr lang="en-US" sz="2400" dirty="0"/>
                  <a:t>Since  </a:t>
                </a:r>
                <a14:m>
                  <m:oMath xmlns:m="http://schemas.openxmlformats.org/officeDocument/2006/math">
                    <m:r>
                      <a:rPr lang="en-US" sz="2400" b="0" i="1" smtClean="0">
                        <a:latin typeface="Cambria Math" panose="02040503050406030204" pitchFamily="18" charset="0"/>
                      </a:rPr>
                      <m:t>𝑝</m:t>
                    </m:r>
                    <m:r>
                      <a:rPr lang="en-US" sz="2400" b="0" i="1" smtClean="0">
                        <a:latin typeface="Cambria Math" panose="02040503050406030204" pitchFamily="18" charset="0"/>
                      </a:rPr>
                      <m:t>−</m:t>
                    </m:r>
                    <m:r>
                      <a:rPr lang="en-US" sz="2400" b="0" i="1" smtClean="0">
                        <a:latin typeface="Cambria Math" panose="02040503050406030204" pitchFamily="18" charset="0"/>
                      </a:rPr>
                      <m:t>𝑣𝑎𝑙𝑢𝑒</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=0.05</m:t>
                    </m:r>
                  </m:oMath>
                </a14:m>
                <a:endParaRPr lang="en-US" sz="2400" b="0" dirty="0">
                  <a:ea typeface="Cambria Math" panose="02040503050406030204" pitchFamily="18" charset="0"/>
                </a:endParaRP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1185"/>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P-value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35858519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Confidence Interval</a:t>
                </a:r>
              </a:p>
              <a:p>
                <a:pPr marL="0" indent="0">
                  <a:buNone/>
                </a:pPr>
                <a:r>
                  <a:rPr lang="en-US" sz="2200" dirty="0"/>
                  <a:t>We would like to determine an interval in which the population parameter is supposed to lie.</a:t>
                </a:r>
              </a:p>
              <a:p>
                <a:pPr marL="0" indent="0">
                  <a:buNone/>
                </a:pPr>
                <a:r>
                  <a:rPr lang="en-US" sz="2200" dirty="0"/>
                  <a:t>95% two sided C.L for </a:t>
                </a:r>
                <a14:m>
                  <m:oMath xmlns:m="http://schemas.openxmlformats.org/officeDocument/2006/math">
                    <m:r>
                      <a:rPr lang="en-US" sz="2200" i="1">
                        <a:latin typeface="Cambria Math"/>
                        <a:ea typeface="Cambria Math"/>
                      </a:rPr>
                      <m:t>𝜇</m:t>
                    </m:r>
                    <m:r>
                      <a:rPr lang="en-US" sz="2200" i="1">
                        <a:latin typeface="Cambria Math"/>
                        <a:ea typeface="Cambria Math"/>
                      </a:rPr>
                      <m:t> </m:t>
                    </m:r>
                  </m:oMath>
                </a14:m>
                <a:r>
                  <a:rPr lang="en-US" sz="2200" dirty="0"/>
                  <a:t>is</a:t>
                </a:r>
                <a:endParaRPr lang="en-US" sz="22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−1.96</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r>
                            <a:rPr lang="en-US" sz="2200" i="1">
                              <a:latin typeface="Cambria Math"/>
                            </a:rPr>
                            <m:t>            </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+1.96</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e>
                      </m:d>
                    </m:oMath>
                  </m:oMathPara>
                </a14:m>
                <a:endParaRPr lang="en-US" sz="2200" dirty="0"/>
              </a:p>
              <a:p>
                <a:pPr marL="0" indent="0">
                  <a:buNone/>
                </a:pPr>
                <a:r>
                  <a:rPr lang="en-US" sz="2200" dirty="0"/>
                  <a:t>99% two sided C.L for </a:t>
                </a:r>
                <a14:m>
                  <m:oMath xmlns:m="http://schemas.openxmlformats.org/officeDocument/2006/math">
                    <m:r>
                      <a:rPr lang="en-US" sz="2200" i="1">
                        <a:latin typeface="Cambria Math"/>
                        <a:ea typeface="Cambria Math"/>
                      </a:rPr>
                      <m:t>𝜇</m:t>
                    </m:r>
                    <m:r>
                      <a:rPr lang="en-US" sz="2200" i="1">
                        <a:latin typeface="Cambria Math"/>
                        <a:ea typeface="Cambria Math"/>
                      </a:rPr>
                      <m:t> </m:t>
                    </m:r>
                  </m:oMath>
                </a14:m>
                <a:r>
                  <a:rPr lang="en-US" sz="2200" dirty="0"/>
                  <a:t>is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200" i="1">
                              <a:latin typeface="Cambria Math" panose="02040503050406030204" pitchFamily="18" charset="0"/>
                            </a:rPr>
                          </m:ctrlPr>
                        </m:dPr>
                        <m:e>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−2.58</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r>
                            <a:rPr lang="en-US" sz="2200" i="1">
                              <a:latin typeface="Cambria Math"/>
                            </a:rPr>
                            <m:t>            </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+2.58</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e>
                      </m:d>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0777177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b="1" dirty="0"/>
                  <a:t>Example: </a:t>
                </a:r>
                <a:r>
                  <a:rPr lang="en-US" dirty="0"/>
                  <a:t>A random sample of 200 measurements from a large population gave a mean value of 50 and S.D. of 9. Determine 95% confidence interval for mean of population.</a:t>
                </a:r>
              </a:p>
              <a:p>
                <a:pPr marL="0" indent="0">
                  <a:buNone/>
                </a:pPr>
                <a:r>
                  <a:rPr lang="en-US" b="1" dirty="0"/>
                  <a:t>Sol: </a:t>
                </a:r>
                <a:r>
                  <a:rPr lang="en-US" dirty="0"/>
                  <a:t>CI for </a:t>
                </a:r>
                <a14:m>
                  <m:oMath xmlns:m="http://schemas.openxmlformats.org/officeDocument/2006/math">
                    <m:r>
                      <a:rPr lang="en-US" i="1">
                        <a:latin typeface="Cambria Math"/>
                        <a:ea typeface="Cambria Math"/>
                      </a:rPr>
                      <m:t>𝜇</m:t>
                    </m:r>
                    <m:r>
                      <a:rPr lang="en-US" i="1">
                        <a:latin typeface="Cambria Math"/>
                        <a:ea typeface="Cambria Math"/>
                      </a:rPr>
                      <m:t>:</m:t>
                    </m:r>
                  </m:oMath>
                </a14:m>
                <a:endParaRPr lang="en-US" dirty="0"/>
              </a:p>
              <a:p>
                <a:pPr marL="0" indent="0">
                  <a:buNone/>
                </a:pPr>
                <a14:m>
                  <m:oMath xmlns:m="http://schemas.openxmlformats.org/officeDocument/2006/math">
                    <m:d>
                      <m:dPr>
                        <m:begChr m:val="["/>
                        <m:endChr m:val="]"/>
                        <m:ctrlPr>
                          <a:rPr lang="en-US" sz="2200" i="1">
                            <a:latin typeface="Cambria Math" panose="02040503050406030204" pitchFamily="18" charset="0"/>
                          </a:rPr>
                        </m:ctrlPr>
                      </m:dPr>
                      <m:e>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−1.96</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r>
                          <a:rPr lang="en-US" sz="2200" i="1">
                            <a:latin typeface="Cambria Math"/>
                          </a:rPr>
                          <m:t>            </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+1.96</m:t>
                        </m:r>
                        <m:f>
                          <m:fPr>
                            <m:ctrlPr>
                              <a:rPr lang="en-US" sz="2200" i="1">
                                <a:latin typeface="Cambria Math" panose="02040503050406030204" pitchFamily="18" charset="0"/>
                              </a:rPr>
                            </m:ctrlPr>
                          </m:fPr>
                          <m:num>
                            <m:r>
                              <a:rPr lang="en-US" sz="2200" i="1">
                                <a:latin typeface="Cambria Math"/>
                                <a:ea typeface="Cambria Math"/>
                              </a:rPr>
                              <m:t>𝜎</m:t>
                            </m:r>
                          </m:num>
                          <m:den>
                            <m:rad>
                              <m:radPr>
                                <m:degHide m:val="on"/>
                                <m:ctrlPr>
                                  <a:rPr lang="en-US" sz="2200" i="1">
                                    <a:latin typeface="Cambria Math" panose="02040503050406030204" pitchFamily="18" charset="0"/>
                                  </a:rPr>
                                </m:ctrlPr>
                              </m:radPr>
                              <m:deg/>
                              <m:e>
                                <m:r>
                                  <a:rPr lang="en-US" sz="2200" i="1">
                                    <a:latin typeface="Cambria Math"/>
                                  </a:rPr>
                                  <m:t>𝑛</m:t>
                                </m:r>
                              </m:e>
                            </m:rad>
                          </m:den>
                        </m:f>
                      </m:e>
                    </m:d>
                  </m:oMath>
                </a14:m>
                <a:r>
                  <a:rPr lang="en-US" sz="2200" b="1" dirty="0"/>
                  <a:t> </a:t>
                </a:r>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m:t>
                      </m:r>
                      <m:d>
                        <m:dPr>
                          <m:begChr m:val="["/>
                          <m:endChr m:val="]"/>
                          <m:ctrlPr>
                            <a:rPr lang="en-US" sz="2200" i="1">
                              <a:latin typeface="Cambria Math" panose="02040503050406030204" pitchFamily="18" charset="0"/>
                            </a:rPr>
                          </m:ctrlPr>
                        </m:dPr>
                        <m:e>
                          <m:r>
                            <a:rPr lang="en-US" sz="2200" i="1">
                              <a:latin typeface="Cambria Math"/>
                            </a:rPr>
                            <m:t>48.75               51.24</m:t>
                          </m:r>
                        </m:e>
                      </m:d>
                    </m:oMath>
                  </m:oMathPara>
                </a14:m>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437051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Test of hypothesis for small samples (</a:t>
                </a:r>
                <a14:m>
                  <m:oMath xmlns:m="http://schemas.openxmlformats.org/officeDocument/2006/math">
                    <m:r>
                      <a:rPr lang="en-US" sz="2200" b="1" i="1">
                        <a:latin typeface="Cambria Math"/>
                      </a:rPr>
                      <m:t>𝒏</m:t>
                    </m:r>
                    <m:r>
                      <a:rPr lang="en-US" sz="2200" b="1" i="1">
                        <a:latin typeface="Cambria Math"/>
                        <a:ea typeface="Cambria Math"/>
                      </a:rPr>
                      <m:t>≤</m:t>
                    </m:r>
                    <m:r>
                      <a:rPr lang="en-US" sz="2200" b="1" i="1">
                        <a:latin typeface="Cambria Math"/>
                        <a:ea typeface="Cambria Math"/>
                      </a:rPr>
                      <m:t>𝟑𝟎</m:t>
                    </m:r>
                    <m:r>
                      <a:rPr lang="en-US" sz="2200" b="1" i="1">
                        <a:latin typeface="Cambria Math"/>
                        <a:ea typeface="Cambria Math"/>
                      </a:rPr>
                      <m:t>)</m:t>
                    </m:r>
                  </m:oMath>
                </a14:m>
                <a:endParaRPr lang="en-US" sz="2200" b="1" dirty="0"/>
              </a:p>
              <a:p>
                <a:r>
                  <a:rPr lang="en-US" sz="2200" dirty="0"/>
                  <a:t>t-test</a:t>
                </a:r>
              </a:p>
              <a:p>
                <a:r>
                  <a:rPr lang="en-US" sz="2200" dirty="0"/>
                  <a:t>F-test</a:t>
                </a:r>
              </a:p>
              <a:p>
                <a:pPr marL="0" indent="0" algn="just">
                  <a:buNone/>
                </a:pPr>
                <a:r>
                  <a:rPr lang="en-US" sz="2200" b="1" dirty="0">
                    <a:latin typeface="Times New Roman" pitchFamily="18" charset="0"/>
                    <a:cs typeface="Times New Roman" pitchFamily="18" charset="0"/>
                  </a:rPr>
                  <a:t>Test of hypothesis for Small Samples</a:t>
                </a:r>
                <a:endParaRPr lang="en-US" sz="2200" dirty="0">
                  <a:latin typeface="Times New Roman" pitchFamily="18" charset="0"/>
                  <a:cs typeface="Times New Roman" pitchFamily="18" charset="0"/>
                </a:endParaRPr>
              </a:p>
              <a:p>
                <a:pPr marL="0" indent="0" algn="just">
                  <a:buNone/>
                </a:pPr>
                <a:r>
                  <a:rPr lang="en-US" sz="2200" dirty="0">
                    <a:latin typeface="Times New Roman" pitchFamily="18" charset="0"/>
                    <a:cs typeface="Times New Roman" pitchFamily="18" charset="0"/>
                  </a:rPr>
                  <a:t>When the size of the sample </a:t>
                </a:r>
                <a14:m>
                  <m:oMath xmlns:m="http://schemas.openxmlformats.org/officeDocument/2006/math">
                    <m:r>
                      <a:rPr lang="en-US" sz="2200" i="1">
                        <a:latin typeface="Cambria Math"/>
                      </a:rPr>
                      <m:t>𝑛</m:t>
                    </m:r>
                    <m:r>
                      <a:rPr lang="en-US" sz="2200" i="1">
                        <a:latin typeface="Cambria Math"/>
                      </a:rPr>
                      <m:t>≤30</m:t>
                    </m:r>
                  </m:oMath>
                </a14:m>
                <a:r>
                  <a:rPr lang="en-US" sz="2200" dirty="0">
                    <a:latin typeface="Times New Roman" pitchFamily="18" charset="0"/>
                    <a:cs typeface="Times New Roman" pitchFamily="18" charset="0"/>
                  </a:rPr>
                  <a:t>, then the sample is called small sample. For such sample it will not be possible for us to assume that the random sampling distribution of a statistic is approximately normal. In this sampling distribution is t-distribution.</a:t>
                </a:r>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92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Test of Hypothesis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405008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457200" indent="-457200">
                  <a:buFont typeface="Arial" pitchFamily="34" charset="0"/>
                  <a:buAutoNum type="arabicPeriod"/>
                </a:pPr>
                <a:r>
                  <a:rPr lang="en-US" sz="2200" dirty="0"/>
                  <a:t>Write a short note on Null hypothesis? 			</a:t>
                </a:r>
              </a:p>
              <a:p>
                <a:pPr marL="457200" indent="-457200">
                  <a:buFont typeface="Arial" pitchFamily="34" charset="0"/>
                  <a:buAutoNum type="arabicPeriod"/>
                </a:pPr>
                <a:r>
                  <a:rPr lang="en-US" sz="2200" dirty="0"/>
                  <a:t>Write a short note on Alternative hypothesis? 		</a:t>
                </a:r>
              </a:p>
              <a:p>
                <a:pPr marL="457200" indent="-457200">
                  <a:buAutoNum type="arabicPeriod"/>
                </a:pPr>
                <a:r>
                  <a:rPr lang="en-US" sz="2200" dirty="0"/>
                  <a:t>A sample of 800 students from a university was taken and their average weight was found to be 112 pounds with S.D. of 20 pounds. Could the mean weight in the population be 120 pounds.(Take </a:t>
                </a:r>
                <a14:m>
                  <m:oMath xmlns:m="http://schemas.openxmlformats.org/officeDocument/2006/math">
                    <m:r>
                      <a:rPr lang="en-US" sz="2200" i="1">
                        <a:latin typeface="Cambria Math"/>
                        <a:ea typeface="Cambria Math"/>
                      </a:rPr>
                      <m:t>𝛼</m:t>
                    </m:r>
                    <m:r>
                      <a:rPr lang="en-US" sz="2200" i="1">
                        <a:latin typeface="Cambria Math"/>
                        <a:ea typeface="Cambria Math"/>
                      </a:rPr>
                      <m:t>=0.05</m:t>
                    </m:r>
                    <m:r>
                      <a:rPr lang="en-US" sz="2200" b="0" i="0" smtClean="0">
                        <a:latin typeface="Cambria Math"/>
                        <a:ea typeface="Cambria Math"/>
                      </a:rPr>
                      <m:t>)</m:t>
                    </m:r>
                  </m:oMath>
                </a14:m>
                <a:endParaRPr lang="en-US" sz="2200" dirty="0"/>
              </a:p>
              <a:p>
                <a:pPr marL="0" indent="0">
                  <a:buNone/>
                </a:pPr>
                <a:endParaRPr lang="en-US" sz="2200" b="1" dirty="0"/>
              </a:p>
              <a:p>
                <a:pPr marL="0" indent="0">
                  <a:buNone/>
                </a:pPr>
                <a:endParaRPr lang="en-US" sz="2200" b="1"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7743678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ü"/>
            </a:pPr>
            <a:r>
              <a:rPr lang="en-US" sz="2200" dirty="0"/>
              <a:t>Test of hypothesis</a:t>
            </a:r>
          </a:p>
          <a:p>
            <a:pPr>
              <a:buFont typeface="Wingdings" pitchFamily="2" charset="2"/>
              <a:buChar char="ü"/>
            </a:pPr>
            <a:r>
              <a:rPr lang="en-US" sz="2200" dirty="0"/>
              <a:t>Procedure of Test of hypothesis</a:t>
            </a:r>
          </a:p>
          <a:p>
            <a:pPr>
              <a:buFont typeface="Wingdings" pitchFamily="2" charset="2"/>
              <a:buChar char="ü"/>
            </a:pPr>
            <a:r>
              <a:rPr lang="en-US" sz="2200" dirty="0"/>
              <a:t>Null Hypothesis</a:t>
            </a:r>
          </a:p>
          <a:p>
            <a:pPr>
              <a:buFont typeface="Wingdings" pitchFamily="2" charset="2"/>
              <a:buChar char="ü"/>
            </a:pPr>
            <a:r>
              <a:rPr lang="en-US" sz="2200" dirty="0"/>
              <a:t>Alternate Hypothesis</a:t>
            </a:r>
          </a:p>
          <a:p>
            <a:pPr>
              <a:buFont typeface="Wingdings" pitchFamily="2" charset="2"/>
              <a:buChar char="ü"/>
            </a:pPr>
            <a:r>
              <a:rPr lang="en-US" sz="2200" dirty="0"/>
              <a:t>Level of significance </a:t>
            </a:r>
          </a:p>
          <a:p>
            <a:pPr>
              <a:buFont typeface="Wingdings" pitchFamily="2" charset="2"/>
              <a:buChar char="ü"/>
            </a:pPr>
            <a:r>
              <a:rPr lang="en-US" sz="2200" dirty="0"/>
              <a:t>Test of hypothesis about difference between two population mean</a:t>
            </a:r>
          </a:p>
          <a:p>
            <a:pPr>
              <a:buFont typeface="Wingdings" pitchFamily="2" charset="2"/>
              <a:buChar char="ü"/>
            </a:pPr>
            <a:r>
              <a:rPr lang="en-US" sz="2200" dirty="0"/>
              <a:t>Test of hypothesis about Small samples</a:t>
            </a:r>
          </a:p>
          <a:p>
            <a:pPr>
              <a:buFont typeface="Wingdings" pitchFamily="2" charset="2"/>
              <a:buChar char="ü"/>
            </a:pPr>
            <a:endParaRPr lang="en-US" sz="2200" dirty="0"/>
          </a:p>
          <a:p>
            <a:pPr>
              <a:buFont typeface="Wingdings" pitchFamily="2" charset="2"/>
              <a:buChar char="ü"/>
            </a:pPr>
            <a:endParaRPr lang="en-US" sz="2200" dirty="0"/>
          </a:p>
          <a:p>
            <a:pPr>
              <a:buFont typeface="Wingdings" pitchFamily="2" charset="2"/>
              <a:buChar char="ü"/>
            </a:pPr>
            <a:endParaRPr lang="en-US" sz="2200" dirty="0"/>
          </a:p>
          <a:p>
            <a:pPr>
              <a:buFont typeface="Wingdings" pitchFamily="2" charset="2"/>
              <a:buChar char="ü"/>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Recap(CO5)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806864178"/>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t-Test</a:t>
            </a:r>
          </a:p>
          <a:p>
            <a:r>
              <a:rPr lang="en-US" sz="2200" dirty="0"/>
              <a:t>Explanation why a </a:t>
            </a:r>
            <a:r>
              <a:rPr lang="en-US" sz="2200" i="1" dirty="0"/>
              <a:t>t</a:t>
            </a:r>
            <a:r>
              <a:rPr lang="en-US" sz="2200" dirty="0"/>
              <a:t> distribution is associated with </a:t>
            </a:r>
            <a:r>
              <a:rPr lang="en-US" sz="2200" i="1" dirty="0"/>
              <a:t>n</a:t>
            </a:r>
            <a:r>
              <a:rPr lang="en-US" sz="2200" dirty="0"/>
              <a:t> − 1 degrees of freedom and describe the information that is conveyed by the </a:t>
            </a:r>
            <a:r>
              <a:rPr lang="en-US" sz="2200" i="1" dirty="0"/>
              <a:t>t</a:t>
            </a:r>
            <a:r>
              <a:rPr lang="en-US" sz="2200" dirty="0"/>
              <a:t> statistic.</a:t>
            </a:r>
          </a:p>
          <a:p>
            <a:r>
              <a:rPr lang="en-US" sz="2200" dirty="0"/>
              <a:t>Calculation  the degrees of freedom for a one-sample </a:t>
            </a:r>
            <a:r>
              <a:rPr lang="en-US" sz="2200" i="1" dirty="0"/>
              <a:t>t</a:t>
            </a:r>
            <a:r>
              <a:rPr lang="en-US" sz="2200" dirty="0"/>
              <a:t> test and a two-independent-sample </a:t>
            </a:r>
            <a:r>
              <a:rPr lang="en-US" sz="2200" i="1" dirty="0"/>
              <a:t>t</a:t>
            </a:r>
            <a:r>
              <a:rPr lang="en-US" sz="2200" dirty="0"/>
              <a:t> test, and locate critical values in the </a:t>
            </a:r>
            <a:r>
              <a:rPr lang="en-US" sz="2200" i="1" dirty="0"/>
              <a:t>t</a:t>
            </a:r>
            <a:r>
              <a:rPr lang="en-US" sz="2200" dirty="0"/>
              <a:t> table.</a:t>
            </a:r>
          </a:p>
          <a:p>
            <a:r>
              <a:rPr lang="en-US" sz="2200" dirty="0"/>
              <a:t>Identify the assumptions for the one-sample </a:t>
            </a:r>
            <a:r>
              <a:rPr lang="en-US" sz="2200" i="1" dirty="0"/>
              <a:t>t</a:t>
            </a:r>
            <a:r>
              <a:rPr lang="en-US" sz="2200" dirty="0"/>
              <a:t> test.</a:t>
            </a:r>
          </a:p>
          <a:p>
            <a:r>
              <a:rPr lang="en-US" sz="2200" dirty="0"/>
              <a:t>Identify the assumptions for the two-independent-sample </a:t>
            </a:r>
            <a:r>
              <a:rPr lang="en-US" sz="2200" i="1" dirty="0"/>
              <a:t>t </a:t>
            </a:r>
            <a:r>
              <a:rPr lang="en-US" sz="2200" dirty="0"/>
              <a:t>test.</a:t>
            </a: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Topic objective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60333202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200" b="1" dirty="0">
                    <a:latin typeface="Times New Roman" pitchFamily="18" charset="0"/>
                    <a:cs typeface="Times New Roman" pitchFamily="18" charset="0"/>
                  </a:rPr>
                  <a:t>t-distribution: </a:t>
                </a:r>
                <a:r>
                  <a:rPr lang="en-US" sz="2200" dirty="0">
                    <a:latin typeface="Times New Roman" pitchFamily="18" charset="0"/>
                    <a:cs typeface="Times New Roman" pitchFamily="18" charset="0"/>
                  </a:rPr>
                  <a:t>It</a:t>
                </a: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is used when sample size is </a:t>
                </a:r>
                <a14:m>
                  <m:oMath xmlns:m="http://schemas.openxmlformats.org/officeDocument/2006/math">
                    <m:r>
                      <a:rPr lang="en-US" sz="2200" i="1">
                        <a:latin typeface="Cambria Math"/>
                      </a:rPr>
                      <m:t>≤30</m:t>
                    </m:r>
                  </m:oMath>
                </a14:m>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and the population S.D. is unknown.</a:t>
                </a:r>
              </a:p>
              <a:p>
                <a:pPr marL="0" indent="0" algn="just">
                  <a:buNone/>
                </a:pPr>
                <a:r>
                  <a:rPr lang="en-US" sz="2200" b="1" dirty="0">
                    <a:latin typeface="Times New Roman" pitchFamily="18" charset="0"/>
                    <a:cs typeface="Times New Roman" pitchFamily="18" charset="0"/>
                  </a:rPr>
                  <a:t>Application of t-distribution: </a:t>
                </a:r>
              </a:p>
              <a:p>
                <a:pPr algn="just"/>
                <a:r>
                  <a:rPr lang="en-US" sz="2200" dirty="0">
                    <a:latin typeface="Times New Roman" pitchFamily="18" charset="0"/>
                    <a:cs typeface="Times New Roman" pitchFamily="18" charset="0"/>
                  </a:rPr>
                  <a:t>To test the significance (hypothesis) of the difference between the mean of small sample and mean of the population</a:t>
                </a:r>
              </a:p>
              <a:p>
                <a:pPr algn="just"/>
                <a:r>
                  <a:rPr lang="en-US" sz="2200" dirty="0">
                    <a:latin typeface="Times New Roman" pitchFamily="18" charset="0"/>
                    <a:cs typeface="Times New Roman" pitchFamily="18" charset="0"/>
                  </a:rPr>
                  <a:t> To test the significance of the difference between the mean of two small samples.</a:t>
                </a:r>
              </a:p>
              <a:p>
                <a:pPr algn="just"/>
                <a:endParaRPr lang="en-US" sz="2200" dirty="0">
                  <a:latin typeface="Times New Roman" pitchFamily="18" charset="0"/>
                  <a:cs typeface="Times New Roman" pitchFamily="18" charset="0"/>
                </a:endParaRP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92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94931096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348725"/>
                <a:ext cx="8229600" cy="4114512"/>
              </a:xfrm>
            </p:spPr>
            <p:txBody>
              <a:bodyPr>
                <a:noAutofit/>
              </a:bodyPr>
              <a:lstStyle/>
              <a:p>
                <a:pPr>
                  <a:buFont typeface="Wingdings" pitchFamily="2" charset="2"/>
                  <a:buChar char="v"/>
                </a:pPr>
                <a:r>
                  <a:rPr lang="en-US" sz="2200" b="1" dirty="0">
                    <a:latin typeface="Times New Roman" pitchFamily="18" charset="0"/>
                    <a:cs typeface="Times New Roman" pitchFamily="18" charset="0"/>
                  </a:rPr>
                  <a:t>To test the significance of the difference between the mean of small sample and mean of the population:</a:t>
                </a:r>
              </a:p>
              <a:p>
                <a:pPr marL="0" indent="0">
                  <a:buNone/>
                </a:pPr>
                <a:r>
                  <a:rPr lang="en-US" sz="2200" dirty="0">
                    <a:latin typeface="Times New Roman" pitchFamily="18" charset="0"/>
                    <a:cs typeface="Times New Roman" pitchFamily="18" charset="0"/>
                  </a:rPr>
                  <a:t>When population is distributed normally and </a:t>
                </a:r>
                <a14:m>
                  <m:oMath xmlns:m="http://schemas.openxmlformats.org/officeDocument/2006/math">
                    <m:r>
                      <a:rPr lang="en-US" sz="2200" i="1">
                        <a:latin typeface="Cambria Math"/>
                        <a:ea typeface="Cambria Math"/>
                        <a:cs typeface="Times New Roman" pitchFamily="18" charset="0"/>
                      </a:rPr>
                      <m:t>𝜎</m:t>
                    </m:r>
                  </m:oMath>
                </a14:m>
                <a:r>
                  <a:rPr lang="en-US" sz="2200" dirty="0">
                    <a:latin typeface="Times New Roman" pitchFamily="18" charset="0"/>
                    <a:cs typeface="Times New Roman" pitchFamily="18" charset="0"/>
                  </a:rPr>
                  <a:t> is unknown then statistic </a:t>
                </a:r>
              </a:p>
              <a:p>
                <a:pPr marL="0" indent="0">
                  <a:buNone/>
                </a:pPr>
                <a14:m>
                  <m:oMath xmlns:m="http://schemas.openxmlformats.org/officeDocument/2006/math">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rPr>
                          <m:t>𝜇</m:t>
                        </m:r>
                      </m:num>
                      <m:den>
                        <m:r>
                          <a:rPr lang="en-US" sz="2200" i="1">
                            <a:latin typeface="Cambria Math"/>
                          </a:rPr>
                          <m:t>𝑆</m:t>
                        </m:r>
                        <m:r>
                          <a:rPr lang="en-US" sz="2200" i="1">
                            <a:latin typeface="Cambria Math"/>
                          </a:rPr>
                          <m:t>/</m:t>
                        </m:r>
                        <m:rad>
                          <m:radPr>
                            <m:degHide m:val="on"/>
                            <m:ctrlPr>
                              <a:rPr lang="en-US" sz="2200" i="1">
                                <a:latin typeface="Cambria Math" panose="02040503050406030204" pitchFamily="18" charset="0"/>
                              </a:rPr>
                            </m:ctrlPr>
                          </m:radPr>
                          <m:deg/>
                          <m:e>
                            <m:r>
                              <a:rPr lang="en-US" sz="2200" i="1">
                                <a:latin typeface="Cambria Math"/>
                              </a:rPr>
                              <m:t>𝑛</m:t>
                            </m:r>
                          </m:e>
                        </m:rad>
                      </m:den>
                    </m:f>
                  </m:oMath>
                </a14:m>
                <a:r>
                  <a:rPr lang="en-US" sz="2200" dirty="0">
                    <a:latin typeface="Times New Roman" pitchFamily="18" charset="0"/>
                    <a:cs typeface="Times New Roman" pitchFamily="18" charset="0"/>
                  </a:rPr>
                  <a:t> follows t-distribution with </a:t>
                </a:r>
                <a14:m>
                  <m:oMath xmlns:m="http://schemas.openxmlformats.org/officeDocument/2006/math">
                    <m:r>
                      <a:rPr lang="en-US" sz="2200" i="1">
                        <a:latin typeface="Cambria Math"/>
                        <a:cs typeface="Times New Roman" pitchFamily="18" charset="0"/>
                      </a:rPr>
                      <m:t>𝑛</m:t>
                    </m:r>
                    <m:r>
                      <a:rPr lang="en-US" sz="2200" i="1">
                        <a:latin typeface="Cambria Math"/>
                        <a:cs typeface="Times New Roman" pitchFamily="18" charset="0"/>
                      </a:rPr>
                      <m:t>−1</m:t>
                    </m:r>
                  </m:oMath>
                </a14:m>
                <a:r>
                  <a:rPr lang="en-US" sz="2200" dirty="0">
                    <a:latin typeface="Times New Roman" pitchFamily="18" charset="0"/>
                    <a:cs typeface="Times New Roman" pitchFamily="18" charset="0"/>
                  </a:rPr>
                  <a:t> degree of freedom.</a:t>
                </a:r>
              </a:p>
              <a:p>
                <a:pPr marL="0" indent="0" algn="just">
                  <a:buNone/>
                </a:pPr>
                <a:r>
                  <a:rPr lang="en-US" sz="2200" dirty="0">
                    <a:latin typeface="Times New Roman" pitchFamily="18" charset="0"/>
                    <a:cs typeface="Times New Roman" pitchFamily="18" charset="0"/>
                  </a:rPr>
                  <a:t>where S</a:t>
                </a:r>
                <a14:m>
                  <m:oMath xmlns:m="http://schemas.openxmlformats.org/officeDocument/2006/math">
                    <m:r>
                      <a:rPr lang="en-US" sz="2200" i="1">
                        <a:latin typeface="Cambria Math"/>
                      </a:rPr>
                      <m:t>=</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𝑖</m:t>
                                        </m:r>
                                      </m:sub>
                                    </m:sSub>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e>
                                  <m:sup>
                                    <m:r>
                                      <a:rPr lang="en-US" sz="2200" i="1">
                                        <a:latin typeface="Cambria Math"/>
                                      </a:rPr>
                                      <m:t>2</m:t>
                                    </m:r>
                                  </m:sup>
                                </m:sSup>
                              </m:e>
                            </m:nary>
                          </m:num>
                          <m:den>
                            <m:r>
                              <a:rPr lang="en-US" sz="2200" i="1">
                                <a:latin typeface="Cambria Math"/>
                              </a:rPr>
                              <m:t>𝑛</m:t>
                            </m:r>
                            <m:r>
                              <a:rPr lang="en-US" sz="2200" i="1">
                                <a:latin typeface="Cambria Math"/>
                              </a:rPr>
                              <m:t>−1</m:t>
                            </m:r>
                          </m:den>
                        </m:f>
                      </m:e>
                    </m:rad>
                  </m:oMath>
                </a14:m>
                <a:r>
                  <a:rPr lang="en-US" sz="2200" dirty="0">
                    <a:latin typeface="Times New Roman" pitchFamily="18" charset="0"/>
                    <a:cs typeface="Times New Roman" pitchFamily="18" charset="0"/>
                  </a:rPr>
                  <a:t> = Calculated Standard deviation of sample</a:t>
                </a:r>
              </a:p>
              <a:p>
                <a:pPr marL="0" indent="0">
                  <a:buNone/>
                </a:pP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oMath>
                </a14:m>
                <a:r>
                  <a:rPr lang="en-US" sz="2200" dirty="0">
                    <a:latin typeface="Times New Roman" pitchFamily="18" charset="0"/>
                    <a:cs typeface="Times New Roman" pitchFamily="18" charset="0"/>
                  </a:rPr>
                  <a:t>mean of sample</a:t>
                </a:r>
              </a:p>
              <a:p>
                <a:pPr marL="0" indent="0">
                  <a:buNone/>
                </a:pPr>
                <a14:m>
                  <m:oMath xmlns:m="http://schemas.openxmlformats.org/officeDocument/2006/math">
                    <m:r>
                      <a:rPr lang="en-US" sz="2200" i="1">
                        <a:latin typeface="Cambria Math"/>
                      </a:rPr>
                      <m:t>𝜇</m:t>
                    </m:r>
                    <m:r>
                      <a:rPr lang="en-US" sz="2200" i="1">
                        <a:latin typeface="Cambria Math"/>
                      </a:rPr>
                      <m:t>→</m:t>
                    </m:r>
                  </m:oMath>
                </a14:m>
                <a:r>
                  <a:rPr lang="en-US" sz="2200" dirty="0">
                    <a:latin typeface="Times New Roman" pitchFamily="18" charset="0"/>
                    <a:cs typeface="Times New Roman" pitchFamily="18" charset="0"/>
                  </a:rPr>
                  <a:t>mean of Population</a:t>
                </a:r>
              </a:p>
              <a:p>
                <a:pPr marL="0" indent="0" algn="just">
                  <a:buNone/>
                </a:pPr>
                <a14:m>
                  <m:oMath xmlns:m="http://schemas.openxmlformats.org/officeDocument/2006/math">
                    <m:r>
                      <a:rPr lang="en-US" sz="2200" i="1">
                        <a:latin typeface="Cambria Math"/>
                      </a:rPr>
                      <m:t>𝑛</m:t>
                    </m:r>
                    <m:r>
                      <a:rPr lang="en-US" sz="2200" i="1">
                        <a:latin typeface="Cambria Math"/>
                      </a:rPr>
                      <m:t>→</m:t>
                    </m:r>
                  </m:oMath>
                </a14:m>
                <a:r>
                  <a:rPr lang="en-US" sz="2200" dirty="0">
                    <a:latin typeface="Times New Roman" pitchFamily="18" charset="0"/>
                    <a:cs typeface="Times New Roman" pitchFamily="18" charset="0"/>
                  </a:rPr>
                  <a:t>sample size</a:t>
                </a:r>
              </a:p>
              <a:p>
                <a:pPr mar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 </a:t>
                </a:r>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348725"/>
                <a:ext cx="8229600" cy="4114512"/>
              </a:xfrm>
              <a:blipFill rotWithShape="1">
                <a:blip r:embed="rId2"/>
                <a:stretch>
                  <a:fillRect l="-963" t="-889" b="-42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10"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2449777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000" b="1" dirty="0"/>
                  <a:t>Note-</a:t>
                </a:r>
                <a:r>
                  <a:rPr lang="en-US" sz="2000" dirty="0"/>
                  <a:t>If standard deviation </a:t>
                </a:r>
                <a14:m>
                  <m:oMath xmlns:m="http://schemas.openxmlformats.org/officeDocument/2006/math">
                    <m:r>
                      <a:rPr lang="en-US" sz="2000" i="1">
                        <a:latin typeface="Cambria Math"/>
                      </a:rPr>
                      <m:t>𝑠</m:t>
                    </m:r>
                    <m:r>
                      <a:rPr lang="en-US" sz="2000" i="1">
                        <a:latin typeface="Cambria Math"/>
                      </a:rPr>
                      <m:t> </m:t>
                    </m:r>
                  </m:oMath>
                </a14:m>
                <a:r>
                  <a:rPr lang="en-US" sz="2000" dirty="0"/>
                  <a:t>of sample is given then </a:t>
                </a:r>
              </a:p>
              <a:p>
                <a:pPr marL="0" indent="0" algn="just">
                  <a:buNone/>
                </a:pPr>
                <a14:m>
                  <m:oMathPara xmlns:m="http://schemas.openxmlformats.org/officeDocument/2006/math">
                    <m:oMathParaPr>
                      <m:jc m:val="left"/>
                    </m:oMathParaPr>
                    <m:oMath xmlns:m="http://schemas.openxmlformats.org/officeDocument/2006/math">
                      <m:r>
                        <a:rPr lang="en-US" sz="2000" i="1">
                          <a:latin typeface="Cambria Math"/>
                        </a:rPr>
                        <m:t>𝑡</m:t>
                      </m:r>
                      <m:r>
                        <a:rPr lang="en-US" sz="2000" i="1">
                          <a:latin typeface="Cambria Math"/>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r>
                                <a:rPr lang="en-US" sz="2000" i="1">
                                  <a:latin typeface="Cambria Math"/>
                                </a:rPr>
                                <m:t>𝑥</m:t>
                              </m:r>
                            </m:e>
                          </m:acc>
                          <m:r>
                            <a:rPr lang="en-US" sz="2000" i="1">
                              <a:latin typeface="Cambria Math"/>
                            </a:rPr>
                            <m:t>−</m:t>
                          </m:r>
                          <m:r>
                            <a:rPr lang="en-US" sz="2000" i="1">
                              <a:latin typeface="Cambria Math"/>
                            </a:rPr>
                            <m:t>𝜇</m:t>
                          </m:r>
                        </m:num>
                        <m:den>
                          <m:r>
                            <a:rPr lang="en-US" sz="2000" i="1">
                              <a:latin typeface="Cambria Math"/>
                            </a:rPr>
                            <m:t>𝑠</m:t>
                          </m:r>
                          <m:r>
                            <a:rPr lang="en-US" sz="2000" i="1">
                              <a:latin typeface="Cambria Math"/>
                            </a:rPr>
                            <m:t>/</m:t>
                          </m:r>
                          <m:rad>
                            <m:radPr>
                              <m:degHide m:val="on"/>
                              <m:ctrlPr>
                                <a:rPr lang="en-US" sz="2000" i="1">
                                  <a:latin typeface="Cambria Math" panose="02040503050406030204" pitchFamily="18" charset="0"/>
                                </a:rPr>
                              </m:ctrlPr>
                            </m:radPr>
                            <m:deg/>
                            <m:e>
                              <m:r>
                                <a:rPr lang="en-US" sz="2000" i="1">
                                  <a:latin typeface="Cambria Math"/>
                                </a:rPr>
                                <m:t>𝑛</m:t>
                              </m:r>
                              <m:r>
                                <a:rPr lang="en-US" sz="2000" i="1">
                                  <a:latin typeface="Cambria Math"/>
                                </a:rPr>
                                <m:t>−1</m:t>
                              </m:r>
                            </m:e>
                          </m:rad>
                        </m:den>
                      </m:f>
                    </m:oMath>
                  </m:oMathPara>
                </a14:m>
                <a:endParaRPr lang="en-US" sz="2000" i="1" dirty="0">
                  <a:latin typeface="Cambria Math"/>
                </a:endParaRPr>
              </a:p>
              <a:p>
                <a:pPr marL="0" indent="0" algn="just">
                  <a:buNone/>
                </a:pPr>
                <a14:m>
                  <m:oMathPara xmlns:m="http://schemas.openxmlformats.org/officeDocument/2006/math">
                    <m:oMathParaPr>
                      <m:jc m:val="left"/>
                    </m:oMathParaPr>
                    <m:oMath xmlns:m="http://schemas.openxmlformats.org/officeDocument/2006/math">
                      <m:r>
                        <m:rPr>
                          <m:nor/>
                        </m:rPr>
                        <a:rPr lang="en-US" sz="2000" dirty="0"/>
                        <m:t>follows</m:t>
                      </m:r>
                      <m:r>
                        <m:rPr>
                          <m:nor/>
                        </m:rPr>
                        <a:rPr lang="en-US" sz="2000" dirty="0"/>
                        <m:t> </m:t>
                      </m:r>
                      <m:r>
                        <m:rPr>
                          <m:nor/>
                        </m:rPr>
                        <a:rPr lang="en-US" sz="2000" dirty="0"/>
                        <m:t>t</m:t>
                      </m:r>
                      <m:r>
                        <m:rPr>
                          <m:nor/>
                        </m:rPr>
                        <a:rPr lang="en-US" sz="2000" dirty="0"/>
                        <m:t>−</m:t>
                      </m:r>
                      <m:r>
                        <m:rPr>
                          <m:nor/>
                        </m:rPr>
                        <a:rPr lang="en-US" sz="2000" dirty="0"/>
                        <m:t>distribution</m:t>
                      </m:r>
                      <m:r>
                        <m:rPr>
                          <m:nor/>
                        </m:rPr>
                        <a:rPr lang="en-US" sz="2000" dirty="0"/>
                        <m:t> </m:t>
                      </m:r>
                      <m:r>
                        <m:rPr>
                          <m:nor/>
                        </m:rPr>
                        <a:rPr lang="en-US" sz="2000" dirty="0"/>
                        <m:t>with</m:t>
                      </m:r>
                      <m:r>
                        <m:rPr>
                          <m:nor/>
                        </m:rPr>
                        <a:rPr lang="en-US" sz="2000" dirty="0"/>
                        <m:t> </m:t>
                      </m:r>
                      <m:r>
                        <a:rPr lang="en-US" sz="2000" i="1" dirty="0">
                          <a:latin typeface="Cambria Math"/>
                        </a:rPr>
                        <m:t>𝑛</m:t>
                      </m:r>
                      <m:r>
                        <a:rPr lang="en-US" sz="2000" i="1">
                          <a:latin typeface="Cambria Math"/>
                        </a:rPr>
                        <m:t>−1</m:t>
                      </m:r>
                      <m:r>
                        <m:rPr>
                          <m:nor/>
                        </m:rPr>
                        <a:rPr lang="en-US" sz="2000" dirty="0"/>
                        <m:t> </m:t>
                      </m:r>
                      <m:r>
                        <m:rPr>
                          <m:nor/>
                        </m:rPr>
                        <a:rPr lang="en-US" sz="2000" dirty="0"/>
                        <m:t>degree</m:t>
                      </m:r>
                      <m:r>
                        <m:rPr>
                          <m:nor/>
                        </m:rPr>
                        <a:rPr lang="en-US" sz="2000" dirty="0"/>
                        <m:t> </m:t>
                      </m:r>
                      <m:r>
                        <m:rPr>
                          <m:nor/>
                        </m:rPr>
                        <a:rPr lang="en-US" sz="2000" dirty="0"/>
                        <m:t>of</m:t>
                      </m:r>
                      <m:r>
                        <m:rPr>
                          <m:nor/>
                        </m:rPr>
                        <a:rPr lang="en-US" sz="2000" dirty="0"/>
                        <m:t> </m:t>
                      </m:r>
                      <m:r>
                        <m:rPr>
                          <m:nor/>
                        </m:rPr>
                        <a:rPr lang="en-US" sz="2000" dirty="0"/>
                        <m:t>freedom</m:t>
                      </m:r>
                      <m:r>
                        <m:rPr>
                          <m:nor/>
                        </m:rPr>
                        <a:rPr lang="en-US" sz="2000" dirty="0"/>
                        <m:t>.</m:t>
                      </m:r>
                    </m:oMath>
                  </m:oMathPara>
                </a14:m>
                <a:endParaRPr lang="en-US" sz="2000" dirty="0"/>
              </a:p>
              <a:p>
                <a:pPr marL="0" indent="0" algn="just">
                  <a:buNone/>
                </a:pPr>
                <a14:m>
                  <m:oMath xmlns:m="http://schemas.openxmlformats.org/officeDocument/2006/math">
                    <m:r>
                      <a:rPr lang="en-US" sz="2000" i="1">
                        <a:latin typeface="Cambria Math"/>
                      </a:rPr>
                      <m:t>∵</m:t>
                    </m:r>
                    <m:r>
                      <m:rPr>
                        <m:nor/>
                      </m:rPr>
                      <a:rPr lang="en-US" sz="2000" dirty="0"/>
                      <m:t>S</m:t>
                    </m:r>
                    <m:r>
                      <a:rPr lang="en-US" sz="2000" i="1">
                        <a:latin typeface="Cambria Math"/>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nary>
                              <m:naryPr>
                                <m:chr m:val="∑"/>
                                <m:limLoc m:val="undOvr"/>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𝑖</m:t>
                                        </m:r>
                                      </m:sub>
                                    </m:sSub>
                                    <m:r>
                                      <a:rPr lang="en-US" sz="2000" i="1">
                                        <a:latin typeface="Cambria Math"/>
                                      </a:rPr>
                                      <m:t>−</m:t>
                                    </m:r>
                                    <m:acc>
                                      <m:accPr>
                                        <m:chr m:val="̅"/>
                                        <m:ctrlPr>
                                          <a:rPr lang="en-US" sz="2000" i="1">
                                            <a:latin typeface="Cambria Math" panose="02040503050406030204" pitchFamily="18" charset="0"/>
                                          </a:rPr>
                                        </m:ctrlPr>
                                      </m:accPr>
                                      <m:e>
                                        <m:r>
                                          <a:rPr lang="en-US" sz="2000" i="1">
                                            <a:latin typeface="Cambria Math"/>
                                          </a:rPr>
                                          <m:t>𝑥</m:t>
                                        </m:r>
                                      </m:e>
                                    </m:acc>
                                    <m:r>
                                      <a:rPr lang="en-US" sz="2000" i="1">
                                        <a:latin typeface="Cambria Math"/>
                                      </a:rPr>
                                      <m:t>)</m:t>
                                    </m:r>
                                  </m:e>
                                  <m:sup>
                                    <m:r>
                                      <a:rPr lang="en-US" sz="2000" i="1">
                                        <a:latin typeface="Cambria Math"/>
                                      </a:rPr>
                                      <m:t>2</m:t>
                                    </m:r>
                                  </m:sup>
                                </m:sSup>
                              </m:e>
                            </m:nary>
                          </m:num>
                          <m:den>
                            <m:r>
                              <a:rPr lang="en-US" sz="2000" i="1">
                                <a:latin typeface="Cambria Math"/>
                              </a:rPr>
                              <m:t>𝑛</m:t>
                            </m:r>
                            <m:r>
                              <a:rPr lang="en-US" sz="2000" i="1">
                                <a:latin typeface="Cambria Math"/>
                              </a:rPr>
                              <m:t>−1</m:t>
                            </m:r>
                          </m:den>
                        </m:f>
                      </m:e>
                    </m:rad>
                  </m:oMath>
                </a14:m>
                <a:r>
                  <a:rPr lang="en-US" sz="2000" dirty="0"/>
                  <a:t>and </a:t>
                </a:r>
                <a14:m>
                  <m:oMath xmlns:m="http://schemas.openxmlformats.org/officeDocument/2006/math">
                    <m:r>
                      <a:rPr lang="en-US" sz="2000" i="1">
                        <a:latin typeface="Cambria Math"/>
                      </a:rPr>
                      <m:t>𝑠</m:t>
                    </m:r>
                    <m:r>
                      <a:rPr lang="en-US" sz="2000" i="1">
                        <a:latin typeface="Cambria Math"/>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nary>
                              <m:naryPr>
                                <m:chr m:val="∑"/>
                                <m:limLoc m:val="undOvr"/>
                                <m:subHide m:val="on"/>
                                <m:supHide m:val="on"/>
                                <m:ctrlPr>
                                  <a:rPr lang="en-US" sz="2000" i="1">
                                    <a:latin typeface="Cambria Math" panose="02040503050406030204" pitchFamily="18" charset="0"/>
                                  </a:rPr>
                                </m:ctrlPr>
                              </m:naryPr>
                              <m:sub/>
                              <m:sup/>
                              <m:e>
                                <m:sSup>
                                  <m:sSupPr>
                                    <m:ctrlPr>
                                      <a:rPr lang="en-US" sz="2000" i="1">
                                        <a:latin typeface="Cambria Math" panose="02040503050406030204" pitchFamily="18" charset="0"/>
                                      </a:rPr>
                                    </m:ctrlPr>
                                  </m:sSupPr>
                                  <m:e>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𝑖</m:t>
                                        </m:r>
                                      </m:sub>
                                    </m:sSub>
                                    <m:r>
                                      <a:rPr lang="en-US" sz="2000" i="1">
                                        <a:latin typeface="Cambria Math"/>
                                      </a:rPr>
                                      <m:t>−</m:t>
                                    </m:r>
                                    <m:acc>
                                      <m:accPr>
                                        <m:chr m:val="̅"/>
                                        <m:ctrlPr>
                                          <a:rPr lang="en-US" sz="2000" i="1">
                                            <a:latin typeface="Cambria Math" panose="02040503050406030204" pitchFamily="18" charset="0"/>
                                          </a:rPr>
                                        </m:ctrlPr>
                                      </m:accPr>
                                      <m:e>
                                        <m:r>
                                          <a:rPr lang="en-US" sz="2000" i="1">
                                            <a:latin typeface="Cambria Math"/>
                                          </a:rPr>
                                          <m:t>𝑥</m:t>
                                        </m:r>
                                      </m:e>
                                    </m:acc>
                                    <m:r>
                                      <a:rPr lang="en-US" sz="2000" i="1">
                                        <a:latin typeface="Cambria Math"/>
                                      </a:rPr>
                                      <m:t>)</m:t>
                                    </m:r>
                                  </m:e>
                                  <m:sup>
                                    <m:r>
                                      <a:rPr lang="en-US" sz="2000" i="1">
                                        <a:latin typeface="Cambria Math"/>
                                      </a:rPr>
                                      <m:t>2</m:t>
                                    </m:r>
                                  </m:sup>
                                </m:sSup>
                              </m:e>
                            </m:nary>
                          </m:num>
                          <m:den>
                            <m:r>
                              <a:rPr lang="en-US" sz="2000" i="1">
                                <a:latin typeface="Cambria Math"/>
                              </a:rPr>
                              <m:t>𝑛</m:t>
                            </m:r>
                          </m:den>
                        </m:f>
                      </m:e>
                    </m:rad>
                  </m:oMath>
                </a14:m>
                <a:endParaRPr lang="en-US" sz="2000" dirty="0"/>
              </a:p>
              <a:p>
                <a:pPr marL="0" indent="0" algn="just">
                  <a:buNone/>
                </a:pPr>
                <a:r>
                  <a:rPr lang="en-US" sz="2000" dirty="0"/>
                  <a:t>From here we get</a:t>
                </a:r>
              </a:p>
              <a:p>
                <a:pPr marL="0" indent="0">
                  <a:buNone/>
                </a:pPr>
                <a14:m>
                  <m:oMathPara xmlns:m="http://schemas.openxmlformats.org/officeDocument/2006/math">
                    <m:oMathParaPr>
                      <m:jc m:val="left"/>
                    </m:oMathParaPr>
                    <m:oMath xmlns:m="http://schemas.openxmlformats.org/officeDocument/2006/math">
                      <m:r>
                        <a:rPr lang="en-US" sz="2000" i="1">
                          <a:latin typeface="Cambria Math"/>
                        </a:rPr>
                        <m:t>𝑆</m:t>
                      </m:r>
                      <m:r>
                        <a:rPr lang="en-US" sz="2000" i="1">
                          <a:latin typeface="Cambria Math"/>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r>
                                <a:rPr lang="en-US" sz="2000" i="1">
                                  <a:latin typeface="Cambria Math"/>
                                </a:rPr>
                                <m:t>𝑛</m:t>
                              </m:r>
                            </m:num>
                            <m:den>
                              <m:r>
                                <a:rPr lang="en-US" sz="2000" i="1">
                                  <a:latin typeface="Cambria Math"/>
                                </a:rPr>
                                <m:t>𝑛</m:t>
                              </m:r>
                              <m:r>
                                <a:rPr lang="en-US" sz="2000" i="1">
                                  <a:latin typeface="Cambria Math"/>
                                </a:rPr>
                                <m:t>−1</m:t>
                              </m:r>
                            </m:den>
                          </m:f>
                        </m:e>
                      </m:rad>
                      <m:r>
                        <a:rPr lang="en-US" sz="2000" i="1">
                          <a:latin typeface="Cambria Math"/>
                        </a:rPr>
                        <m:t> </m:t>
                      </m:r>
                      <m:r>
                        <a:rPr lang="en-US" sz="2000" i="1">
                          <a:latin typeface="Cambria Math"/>
                        </a:rPr>
                        <m:t>𝑠</m:t>
                      </m:r>
                    </m:oMath>
                  </m:oMathPara>
                </a14:m>
                <a:endParaRPr lang="en-US" sz="2000" dirty="0"/>
              </a:p>
              <a:p>
                <a:pPr marL="0" indent="0">
                  <a:buNone/>
                </a:pPr>
                <a:endParaRPr lang="en-US" sz="2000" dirty="0"/>
              </a:p>
              <a:p>
                <a:pPr marL="0" indent="0">
                  <a:buNone/>
                </a:pPr>
                <a:r>
                  <a:rPr lang="en-US" sz="2000" b="1" dirty="0"/>
                  <a:t>Example-1: </a:t>
                </a:r>
                <a:r>
                  <a:rPr lang="en-US" sz="2000" dirty="0"/>
                  <a:t>The 9 items of a sample have the following values 45,47,50,52,48,47,49,53,51. Does the mean of these values differ significantly from the assumed mean 47.5.(Test at 5% level of significance)</a:t>
                </a:r>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296" b="-135"/>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689403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1"/>
            <a:ext cx="8229600" cy="365125"/>
          </a:xfrm>
        </p:spPr>
        <p:txBody>
          <a:bodyPr>
            <a:normAutofit fontScale="92500" lnSpcReduction="10000"/>
          </a:bodyPr>
          <a:lstStyle/>
          <a:p>
            <a:pPr marL="0" indent="0">
              <a:buNone/>
            </a:pPr>
            <a:r>
              <a:rPr lang="en-US" sz="2000" b="1" dirty="0">
                <a:latin typeface="+mn-lt"/>
              </a:rPr>
              <a:t>Sol: </a:t>
            </a:r>
            <a:r>
              <a:rPr lang="en-US" sz="2000" dirty="0">
                <a:latin typeface="+mn-lt"/>
              </a:rPr>
              <a:t>Here sample is small so we use t-test</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8C60A5E-30A1-4EF7-8713-E9F62349488A}"/>
                  </a:ext>
                </a:extLst>
              </p:cNvPr>
              <p:cNvGraphicFramePr>
                <a:graphicFrameLocks noGrp="1"/>
              </p:cNvGraphicFramePr>
              <p:nvPr>
                <p:extLst>
                  <p:ext uri="{D42A27DB-BD31-4B8C-83A1-F6EECF244321}">
                    <p14:modId xmlns:p14="http://schemas.microsoft.com/office/powerpoint/2010/main" val="342681953"/>
                  </p:ext>
                </p:extLst>
              </p:nvPr>
            </p:nvGraphicFramePr>
            <p:xfrm>
              <a:off x="1676400" y="1676400"/>
              <a:ext cx="5486400" cy="441947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117458188"/>
                        </a:ext>
                      </a:extLst>
                    </a:gridCol>
                    <a:gridCol w="2743200">
                      <a:extLst>
                        <a:ext uri="{9D8B030D-6E8A-4147-A177-3AD203B41FA5}">
                          <a16:colId xmlns:a16="http://schemas.microsoft.com/office/drawing/2014/main" val="738279730"/>
                        </a:ext>
                      </a:extLst>
                    </a:gridCol>
                  </a:tblGrid>
                  <a:tr h="209449">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d>
                                  </m:e>
                                  <m:sup>
                                    <m:r>
                                      <a:rPr lang="en-US" b="1" i="1" smtClean="0">
                                        <a:latin typeface="Cambria Math" panose="02040503050406030204" pitchFamily="18" charset="0"/>
                                      </a:rPr>
                                      <m:t>𝟐</m:t>
                                    </m:r>
                                  </m:sup>
                                </m:sSup>
                              </m:oMath>
                            </m:oMathPara>
                          </a14:m>
                          <a:endParaRPr lang="en-US" dirty="0"/>
                        </a:p>
                      </a:txBody>
                      <a:tcPr/>
                    </a:tc>
                    <a:extLst>
                      <a:ext uri="{0D108BD9-81ED-4DB2-BD59-A6C34878D82A}">
                        <a16:rowId xmlns:a16="http://schemas.microsoft.com/office/drawing/2014/main" val="3645780786"/>
                      </a:ext>
                    </a:extLst>
                  </a:tr>
                  <a:tr h="208841">
                    <a:tc>
                      <a:txBody>
                        <a:bodyPr/>
                        <a:lstStyle/>
                        <a:p>
                          <a:pPr algn="ctr"/>
                          <a:r>
                            <a:rPr lang="en-US" dirty="0"/>
                            <a:t>45</a:t>
                          </a:r>
                        </a:p>
                      </a:txBody>
                      <a:tcPr/>
                    </a:tc>
                    <a:tc>
                      <a:txBody>
                        <a:bodyPr/>
                        <a:lstStyle/>
                        <a:p>
                          <a:pPr algn="ctr"/>
                          <a:r>
                            <a:rPr lang="en-US" dirty="0"/>
                            <a:t>16.81</a:t>
                          </a:r>
                        </a:p>
                      </a:txBody>
                      <a:tcPr/>
                    </a:tc>
                    <a:extLst>
                      <a:ext uri="{0D108BD9-81ED-4DB2-BD59-A6C34878D82A}">
                        <a16:rowId xmlns:a16="http://schemas.microsoft.com/office/drawing/2014/main" val="2170770415"/>
                      </a:ext>
                    </a:extLst>
                  </a:tr>
                  <a:tr h="208841">
                    <a:tc>
                      <a:txBody>
                        <a:bodyPr/>
                        <a:lstStyle/>
                        <a:p>
                          <a:pPr algn="ctr"/>
                          <a:r>
                            <a:rPr lang="en-US" dirty="0"/>
                            <a:t>47</a:t>
                          </a:r>
                        </a:p>
                      </a:txBody>
                      <a:tcPr/>
                    </a:tc>
                    <a:tc>
                      <a:txBody>
                        <a:bodyPr/>
                        <a:lstStyle/>
                        <a:p>
                          <a:pPr algn="ctr"/>
                          <a:r>
                            <a:rPr lang="en-US" dirty="0"/>
                            <a:t>4.41</a:t>
                          </a:r>
                        </a:p>
                      </a:txBody>
                      <a:tcPr/>
                    </a:tc>
                    <a:extLst>
                      <a:ext uri="{0D108BD9-81ED-4DB2-BD59-A6C34878D82A}">
                        <a16:rowId xmlns:a16="http://schemas.microsoft.com/office/drawing/2014/main" val="2768963084"/>
                      </a:ext>
                    </a:extLst>
                  </a:tr>
                  <a:tr h="208841">
                    <a:tc>
                      <a:txBody>
                        <a:bodyPr/>
                        <a:lstStyle/>
                        <a:p>
                          <a:pPr algn="ctr"/>
                          <a:r>
                            <a:rPr lang="en-US" dirty="0"/>
                            <a:t>50</a:t>
                          </a:r>
                        </a:p>
                      </a:txBody>
                      <a:tcPr/>
                    </a:tc>
                    <a:tc>
                      <a:txBody>
                        <a:bodyPr/>
                        <a:lstStyle/>
                        <a:p>
                          <a:pPr algn="ctr"/>
                          <a:r>
                            <a:rPr lang="en-US" dirty="0"/>
                            <a:t>0.81</a:t>
                          </a:r>
                        </a:p>
                      </a:txBody>
                      <a:tcPr/>
                    </a:tc>
                    <a:extLst>
                      <a:ext uri="{0D108BD9-81ED-4DB2-BD59-A6C34878D82A}">
                        <a16:rowId xmlns:a16="http://schemas.microsoft.com/office/drawing/2014/main" val="1837120827"/>
                      </a:ext>
                    </a:extLst>
                  </a:tr>
                  <a:tr h="208841">
                    <a:tc>
                      <a:txBody>
                        <a:bodyPr/>
                        <a:lstStyle/>
                        <a:p>
                          <a:pPr algn="ctr"/>
                          <a:r>
                            <a:rPr lang="en-US" dirty="0"/>
                            <a:t>52</a:t>
                          </a:r>
                        </a:p>
                      </a:txBody>
                      <a:tcPr/>
                    </a:tc>
                    <a:tc>
                      <a:txBody>
                        <a:bodyPr/>
                        <a:lstStyle/>
                        <a:p>
                          <a:pPr algn="ctr"/>
                          <a:r>
                            <a:rPr lang="en-US" dirty="0"/>
                            <a:t>8.41</a:t>
                          </a:r>
                        </a:p>
                      </a:txBody>
                      <a:tcPr/>
                    </a:tc>
                    <a:extLst>
                      <a:ext uri="{0D108BD9-81ED-4DB2-BD59-A6C34878D82A}">
                        <a16:rowId xmlns:a16="http://schemas.microsoft.com/office/drawing/2014/main" val="1862908275"/>
                      </a:ext>
                    </a:extLst>
                  </a:tr>
                  <a:tr h="208841">
                    <a:tc>
                      <a:txBody>
                        <a:bodyPr/>
                        <a:lstStyle/>
                        <a:p>
                          <a:pPr algn="ctr"/>
                          <a:r>
                            <a:rPr lang="en-US" dirty="0"/>
                            <a:t>48</a:t>
                          </a:r>
                        </a:p>
                      </a:txBody>
                      <a:tcPr/>
                    </a:tc>
                    <a:tc>
                      <a:txBody>
                        <a:bodyPr/>
                        <a:lstStyle/>
                        <a:p>
                          <a:pPr algn="ctr"/>
                          <a:r>
                            <a:rPr lang="en-US" dirty="0"/>
                            <a:t>1.21</a:t>
                          </a:r>
                        </a:p>
                      </a:txBody>
                      <a:tcPr/>
                    </a:tc>
                    <a:extLst>
                      <a:ext uri="{0D108BD9-81ED-4DB2-BD59-A6C34878D82A}">
                        <a16:rowId xmlns:a16="http://schemas.microsoft.com/office/drawing/2014/main" val="4185270680"/>
                      </a:ext>
                    </a:extLst>
                  </a:tr>
                  <a:tr h="208841">
                    <a:tc>
                      <a:txBody>
                        <a:bodyPr/>
                        <a:lstStyle/>
                        <a:p>
                          <a:pPr algn="ctr"/>
                          <a:r>
                            <a:rPr lang="en-US" dirty="0"/>
                            <a:t>47</a:t>
                          </a:r>
                        </a:p>
                      </a:txBody>
                      <a:tcPr/>
                    </a:tc>
                    <a:tc>
                      <a:txBody>
                        <a:bodyPr/>
                        <a:lstStyle/>
                        <a:p>
                          <a:pPr algn="ctr"/>
                          <a:r>
                            <a:rPr lang="en-US" dirty="0"/>
                            <a:t>4.41</a:t>
                          </a:r>
                        </a:p>
                      </a:txBody>
                      <a:tcPr/>
                    </a:tc>
                    <a:extLst>
                      <a:ext uri="{0D108BD9-81ED-4DB2-BD59-A6C34878D82A}">
                        <a16:rowId xmlns:a16="http://schemas.microsoft.com/office/drawing/2014/main" val="1421735927"/>
                      </a:ext>
                    </a:extLst>
                  </a:tr>
                  <a:tr h="208841">
                    <a:tc>
                      <a:txBody>
                        <a:bodyPr/>
                        <a:lstStyle/>
                        <a:p>
                          <a:pPr algn="ctr"/>
                          <a:r>
                            <a:rPr lang="en-US" dirty="0"/>
                            <a:t>49</a:t>
                          </a:r>
                        </a:p>
                      </a:txBody>
                      <a:tcPr/>
                    </a:tc>
                    <a:tc>
                      <a:txBody>
                        <a:bodyPr/>
                        <a:lstStyle/>
                        <a:p>
                          <a:pPr algn="ctr"/>
                          <a:r>
                            <a:rPr lang="en-US" dirty="0"/>
                            <a:t>0.01</a:t>
                          </a:r>
                        </a:p>
                      </a:txBody>
                      <a:tcPr/>
                    </a:tc>
                    <a:extLst>
                      <a:ext uri="{0D108BD9-81ED-4DB2-BD59-A6C34878D82A}">
                        <a16:rowId xmlns:a16="http://schemas.microsoft.com/office/drawing/2014/main" val="1871388974"/>
                      </a:ext>
                    </a:extLst>
                  </a:tr>
                  <a:tr h="208841">
                    <a:tc>
                      <a:txBody>
                        <a:bodyPr/>
                        <a:lstStyle/>
                        <a:p>
                          <a:pPr algn="ctr"/>
                          <a:r>
                            <a:rPr lang="en-US" dirty="0"/>
                            <a:t>53</a:t>
                          </a:r>
                        </a:p>
                      </a:txBody>
                      <a:tcPr/>
                    </a:tc>
                    <a:tc>
                      <a:txBody>
                        <a:bodyPr/>
                        <a:lstStyle/>
                        <a:p>
                          <a:pPr algn="ctr"/>
                          <a:r>
                            <a:rPr lang="en-US" dirty="0"/>
                            <a:t>15.21</a:t>
                          </a:r>
                        </a:p>
                      </a:txBody>
                      <a:tcPr/>
                    </a:tc>
                    <a:extLst>
                      <a:ext uri="{0D108BD9-81ED-4DB2-BD59-A6C34878D82A}">
                        <a16:rowId xmlns:a16="http://schemas.microsoft.com/office/drawing/2014/main" val="761973366"/>
                      </a:ext>
                    </a:extLst>
                  </a:tr>
                  <a:tr h="208841">
                    <a:tc>
                      <a:txBody>
                        <a:bodyPr/>
                        <a:lstStyle/>
                        <a:p>
                          <a:pPr algn="ctr"/>
                          <a:r>
                            <a:rPr lang="en-US" dirty="0"/>
                            <a:t>51</a:t>
                          </a:r>
                        </a:p>
                      </a:txBody>
                      <a:tcPr/>
                    </a:tc>
                    <a:tc>
                      <a:txBody>
                        <a:bodyPr/>
                        <a:lstStyle/>
                        <a:p>
                          <a:pPr algn="ctr"/>
                          <a:r>
                            <a:rPr lang="en-US" dirty="0"/>
                            <a:t>3.61</a:t>
                          </a:r>
                        </a:p>
                      </a:txBody>
                      <a:tcPr/>
                    </a:tc>
                    <a:extLst>
                      <a:ext uri="{0D108BD9-81ED-4DB2-BD59-A6C34878D82A}">
                        <a16:rowId xmlns:a16="http://schemas.microsoft.com/office/drawing/2014/main" val="2103786841"/>
                      </a:ext>
                    </a:extLst>
                  </a:tr>
                  <a:tr h="425585">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𝑥</m:t>
                                    </m:r>
                                  </m:e>
                                </m:nary>
                                <m:r>
                                  <a:rPr lang="en-US" b="0" i="1" smtClean="0">
                                    <a:latin typeface="Cambria Math" panose="02040503050406030204" pitchFamily="18" charset="0"/>
                                  </a:rPr>
                                  <m:t>=442</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en-US" i="1" smtClean="0">
                                        <a:latin typeface="Cambria Math" panose="02040503050406030204" pitchFamily="18" charset="0"/>
                                      </a:rPr>
                                    </m:ctrlPr>
                                  </m:naryPr>
                                  <m:sub/>
                                  <m:sup/>
                                  <m:e>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m:t>
                                            </m:r>
                                            <m:acc>
                                              <m:accPr>
                                                <m:chr m:val="̅"/>
                                                <m:ctrlPr>
                                                  <a:rPr lang="en-US" b="1" i="1" smtClean="0">
                                                    <a:latin typeface="Cambria Math" panose="02040503050406030204" pitchFamily="18" charset="0"/>
                                                  </a:rPr>
                                                </m:ctrlPr>
                                              </m:accPr>
                                              <m:e>
                                                <m:r>
                                                  <a:rPr lang="en-US" b="1" i="1" smtClean="0">
                                                    <a:latin typeface="Cambria Math" panose="02040503050406030204" pitchFamily="18" charset="0"/>
                                                  </a:rPr>
                                                  <m:t>𝒙</m:t>
                                                </m:r>
                                              </m:e>
                                            </m:acc>
                                          </m:e>
                                        </m:d>
                                      </m:e>
                                      <m:sup>
                                        <m:r>
                                          <a:rPr lang="en-US" b="1" i="1" smtClean="0">
                                            <a:latin typeface="Cambria Math" panose="02040503050406030204" pitchFamily="18" charset="0"/>
                                          </a:rPr>
                                          <m:t>𝟐</m:t>
                                        </m:r>
                                      </m:sup>
                                    </m:sSup>
                                    <m:r>
                                      <m:rPr>
                                        <m:nor/>
                                      </m:rPr>
                                      <a:rPr lang="en-US" dirty="0"/>
                                      <m:t> </m:t>
                                    </m:r>
                                    <m:r>
                                      <a:rPr lang="en-US" b="0" i="1" dirty="0" smtClean="0">
                                        <a:latin typeface="Cambria Math" panose="02040503050406030204" pitchFamily="18" charset="0"/>
                                      </a:rPr>
                                      <m:t>=54.89</m:t>
                                    </m:r>
                                  </m:e>
                                </m:nary>
                              </m:oMath>
                            </m:oMathPara>
                          </a14:m>
                          <a:endParaRPr lang="en-US" dirty="0"/>
                        </a:p>
                      </a:txBody>
                      <a:tcPr/>
                    </a:tc>
                    <a:extLst>
                      <a:ext uri="{0D108BD9-81ED-4DB2-BD59-A6C34878D82A}">
                        <a16:rowId xmlns:a16="http://schemas.microsoft.com/office/drawing/2014/main" val="3443169256"/>
                      </a:ext>
                    </a:extLst>
                  </a:tr>
                </a:tbl>
              </a:graphicData>
            </a:graphic>
          </p:graphicFrame>
        </mc:Choice>
        <mc:Fallback xmlns="">
          <p:graphicFrame>
            <p:nvGraphicFramePr>
              <p:cNvPr id="4" name="Table 3">
                <a:extLst>
                  <a:ext uri="{FF2B5EF4-FFF2-40B4-BE49-F238E27FC236}">
                    <a16:creationId xmlns:a16="http://schemas.microsoft.com/office/drawing/2014/main" id="{98C60A5E-30A1-4EF7-8713-E9F62349488A}"/>
                  </a:ext>
                </a:extLst>
              </p:cNvPr>
              <p:cNvGraphicFramePr>
                <a:graphicFrameLocks noGrp="1"/>
              </p:cNvGraphicFramePr>
              <p:nvPr>
                <p:extLst>
                  <p:ext uri="{D42A27DB-BD31-4B8C-83A1-F6EECF244321}">
                    <p14:modId xmlns:p14="http://schemas.microsoft.com/office/powerpoint/2010/main" val="342681953"/>
                  </p:ext>
                </p:extLst>
              </p:nvPr>
            </p:nvGraphicFramePr>
            <p:xfrm>
              <a:off x="1676400" y="1676400"/>
              <a:ext cx="5486400" cy="4419474"/>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117458188"/>
                        </a:ext>
                      </a:extLst>
                    </a:gridCol>
                    <a:gridCol w="2743200">
                      <a:extLst>
                        <a:ext uri="{9D8B030D-6E8A-4147-A177-3AD203B41FA5}">
                          <a16:colId xmlns:a16="http://schemas.microsoft.com/office/drawing/2014/main" val="738279730"/>
                        </a:ext>
                      </a:extLst>
                    </a:gridCol>
                  </a:tblGrid>
                  <a:tr h="371920">
                    <a:tc>
                      <a:txBody>
                        <a:bodyPr/>
                        <a:lstStyle/>
                        <a:p>
                          <a:endParaRPr lang="en-US"/>
                        </a:p>
                      </a:txBody>
                      <a:tcPr>
                        <a:blipFill>
                          <a:blip r:embed="rId2"/>
                          <a:stretch>
                            <a:fillRect l="-444" t="-3279" r="-101111" b="-1093443"/>
                          </a:stretch>
                        </a:blipFill>
                      </a:tcPr>
                    </a:tc>
                    <a:tc>
                      <a:txBody>
                        <a:bodyPr/>
                        <a:lstStyle/>
                        <a:p>
                          <a:endParaRPr lang="en-US"/>
                        </a:p>
                      </a:txBody>
                      <a:tcPr>
                        <a:blipFill>
                          <a:blip r:embed="rId2"/>
                          <a:stretch>
                            <a:fillRect l="-100444" t="-3279" r="-1111" b="-1093443"/>
                          </a:stretch>
                        </a:blipFill>
                      </a:tcPr>
                    </a:tc>
                    <a:extLst>
                      <a:ext uri="{0D108BD9-81ED-4DB2-BD59-A6C34878D82A}">
                        <a16:rowId xmlns:a16="http://schemas.microsoft.com/office/drawing/2014/main" val="3645780786"/>
                      </a:ext>
                    </a:extLst>
                  </a:tr>
                  <a:tr h="365760">
                    <a:tc>
                      <a:txBody>
                        <a:bodyPr/>
                        <a:lstStyle/>
                        <a:p>
                          <a:pPr algn="ctr"/>
                          <a:r>
                            <a:rPr lang="en-US" dirty="0"/>
                            <a:t>45</a:t>
                          </a:r>
                        </a:p>
                      </a:txBody>
                      <a:tcPr/>
                    </a:tc>
                    <a:tc>
                      <a:txBody>
                        <a:bodyPr/>
                        <a:lstStyle/>
                        <a:p>
                          <a:pPr algn="ctr"/>
                          <a:r>
                            <a:rPr lang="en-US" dirty="0"/>
                            <a:t>16.81</a:t>
                          </a:r>
                        </a:p>
                      </a:txBody>
                      <a:tcPr/>
                    </a:tc>
                    <a:extLst>
                      <a:ext uri="{0D108BD9-81ED-4DB2-BD59-A6C34878D82A}">
                        <a16:rowId xmlns:a16="http://schemas.microsoft.com/office/drawing/2014/main" val="2170770415"/>
                      </a:ext>
                    </a:extLst>
                  </a:tr>
                  <a:tr h="365760">
                    <a:tc>
                      <a:txBody>
                        <a:bodyPr/>
                        <a:lstStyle/>
                        <a:p>
                          <a:pPr algn="ctr"/>
                          <a:r>
                            <a:rPr lang="en-US" dirty="0"/>
                            <a:t>47</a:t>
                          </a:r>
                        </a:p>
                      </a:txBody>
                      <a:tcPr/>
                    </a:tc>
                    <a:tc>
                      <a:txBody>
                        <a:bodyPr/>
                        <a:lstStyle/>
                        <a:p>
                          <a:pPr algn="ctr"/>
                          <a:r>
                            <a:rPr lang="en-US" dirty="0"/>
                            <a:t>4.41</a:t>
                          </a:r>
                        </a:p>
                      </a:txBody>
                      <a:tcPr/>
                    </a:tc>
                    <a:extLst>
                      <a:ext uri="{0D108BD9-81ED-4DB2-BD59-A6C34878D82A}">
                        <a16:rowId xmlns:a16="http://schemas.microsoft.com/office/drawing/2014/main" val="2768963084"/>
                      </a:ext>
                    </a:extLst>
                  </a:tr>
                  <a:tr h="365760">
                    <a:tc>
                      <a:txBody>
                        <a:bodyPr/>
                        <a:lstStyle/>
                        <a:p>
                          <a:pPr algn="ctr"/>
                          <a:r>
                            <a:rPr lang="en-US" dirty="0"/>
                            <a:t>50</a:t>
                          </a:r>
                        </a:p>
                      </a:txBody>
                      <a:tcPr/>
                    </a:tc>
                    <a:tc>
                      <a:txBody>
                        <a:bodyPr/>
                        <a:lstStyle/>
                        <a:p>
                          <a:pPr algn="ctr"/>
                          <a:r>
                            <a:rPr lang="en-US" dirty="0"/>
                            <a:t>0.81</a:t>
                          </a:r>
                        </a:p>
                      </a:txBody>
                      <a:tcPr/>
                    </a:tc>
                    <a:extLst>
                      <a:ext uri="{0D108BD9-81ED-4DB2-BD59-A6C34878D82A}">
                        <a16:rowId xmlns:a16="http://schemas.microsoft.com/office/drawing/2014/main" val="1837120827"/>
                      </a:ext>
                    </a:extLst>
                  </a:tr>
                  <a:tr h="365760">
                    <a:tc>
                      <a:txBody>
                        <a:bodyPr/>
                        <a:lstStyle/>
                        <a:p>
                          <a:pPr algn="ctr"/>
                          <a:r>
                            <a:rPr lang="en-US" dirty="0"/>
                            <a:t>52</a:t>
                          </a:r>
                        </a:p>
                      </a:txBody>
                      <a:tcPr/>
                    </a:tc>
                    <a:tc>
                      <a:txBody>
                        <a:bodyPr/>
                        <a:lstStyle/>
                        <a:p>
                          <a:pPr algn="ctr"/>
                          <a:r>
                            <a:rPr lang="en-US" dirty="0"/>
                            <a:t>8.41</a:t>
                          </a:r>
                        </a:p>
                      </a:txBody>
                      <a:tcPr/>
                    </a:tc>
                    <a:extLst>
                      <a:ext uri="{0D108BD9-81ED-4DB2-BD59-A6C34878D82A}">
                        <a16:rowId xmlns:a16="http://schemas.microsoft.com/office/drawing/2014/main" val="1862908275"/>
                      </a:ext>
                    </a:extLst>
                  </a:tr>
                  <a:tr h="365760">
                    <a:tc>
                      <a:txBody>
                        <a:bodyPr/>
                        <a:lstStyle/>
                        <a:p>
                          <a:pPr algn="ctr"/>
                          <a:r>
                            <a:rPr lang="en-US" dirty="0"/>
                            <a:t>48</a:t>
                          </a:r>
                        </a:p>
                      </a:txBody>
                      <a:tcPr/>
                    </a:tc>
                    <a:tc>
                      <a:txBody>
                        <a:bodyPr/>
                        <a:lstStyle/>
                        <a:p>
                          <a:pPr algn="ctr"/>
                          <a:r>
                            <a:rPr lang="en-US" dirty="0"/>
                            <a:t>1.21</a:t>
                          </a:r>
                        </a:p>
                      </a:txBody>
                      <a:tcPr/>
                    </a:tc>
                    <a:extLst>
                      <a:ext uri="{0D108BD9-81ED-4DB2-BD59-A6C34878D82A}">
                        <a16:rowId xmlns:a16="http://schemas.microsoft.com/office/drawing/2014/main" val="4185270680"/>
                      </a:ext>
                    </a:extLst>
                  </a:tr>
                  <a:tr h="365760">
                    <a:tc>
                      <a:txBody>
                        <a:bodyPr/>
                        <a:lstStyle/>
                        <a:p>
                          <a:pPr algn="ctr"/>
                          <a:r>
                            <a:rPr lang="en-US" dirty="0"/>
                            <a:t>47</a:t>
                          </a:r>
                        </a:p>
                      </a:txBody>
                      <a:tcPr/>
                    </a:tc>
                    <a:tc>
                      <a:txBody>
                        <a:bodyPr/>
                        <a:lstStyle/>
                        <a:p>
                          <a:pPr algn="ctr"/>
                          <a:r>
                            <a:rPr lang="en-US" dirty="0"/>
                            <a:t>4.41</a:t>
                          </a:r>
                        </a:p>
                      </a:txBody>
                      <a:tcPr/>
                    </a:tc>
                    <a:extLst>
                      <a:ext uri="{0D108BD9-81ED-4DB2-BD59-A6C34878D82A}">
                        <a16:rowId xmlns:a16="http://schemas.microsoft.com/office/drawing/2014/main" val="1421735927"/>
                      </a:ext>
                    </a:extLst>
                  </a:tr>
                  <a:tr h="365760">
                    <a:tc>
                      <a:txBody>
                        <a:bodyPr/>
                        <a:lstStyle/>
                        <a:p>
                          <a:pPr algn="ctr"/>
                          <a:r>
                            <a:rPr lang="en-US" dirty="0"/>
                            <a:t>49</a:t>
                          </a:r>
                        </a:p>
                      </a:txBody>
                      <a:tcPr/>
                    </a:tc>
                    <a:tc>
                      <a:txBody>
                        <a:bodyPr/>
                        <a:lstStyle/>
                        <a:p>
                          <a:pPr algn="ctr"/>
                          <a:r>
                            <a:rPr lang="en-US" dirty="0"/>
                            <a:t>0.01</a:t>
                          </a:r>
                        </a:p>
                      </a:txBody>
                      <a:tcPr/>
                    </a:tc>
                    <a:extLst>
                      <a:ext uri="{0D108BD9-81ED-4DB2-BD59-A6C34878D82A}">
                        <a16:rowId xmlns:a16="http://schemas.microsoft.com/office/drawing/2014/main" val="1871388974"/>
                      </a:ext>
                    </a:extLst>
                  </a:tr>
                  <a:tr h="365760">
                    <a:tc>
                      <a:txBody>
                        <a:bodyPr/>
                        <a:lstStyle/>
                        <a:p>
                          <a:pPr algn="ctr"/>
                          <a:r>
                            <a:rPr lang="en-US" dirty="0"/>
                            <a:t>53</a:t>
                          </a:r>
                        </a:p>
                      </a:txBody>
                      <a:tcPr/>
                    </a:tc>
                    <a:tc>
                      <a:txBody>
                        <a:bodyPr/>
                        <a:lstStyle/>
                        <a:p>
                          <a:pPr algn="ctr"/>
                          <a:r>
                            <a:rPr lang="en-US" dirty="0"/>
                            <a:t>15.21</a:t>
                          </a:r>
                        </a:p>
                      </a:txBody>
                      <a:tcPr/>
                    </a:tc>
                    <a:extLst>
                      <a:ext uri="{0D108BD9-81ED-4DB2-BD59-A6C34878D82A}">
                        <a16:rowId xmlns:a16="http://schemas.microsoft.com/office/drawing/2014/main" val="761973366"/>
                      </a:ext>
                    </a:extLst>
                  </a:tr>
                  <a:tr h="365760">
                    <a:tc>
                      <a:txBody>
                        <a:bodyPr/>
                        <a:lstStyle/>
                        <a:p>
                          <a:pPr algn="ctr"/>
                          <a:r>
                            <a:rPr lang="en-US" dirty="0"/>
                            <a:t>51</a:t>
                          </a:r>
                        </a:p>
                      </a:txBody>
                      <a:tcPr/>
                    </a:tc>
                    <a:tc>
                      <a:txBody>
                        <a:bodyPr/>
                        <a:lstStyle/>
                        <a:p>
                          <a:pPr algn="ctr"/>
                          <a:r>
                            <a:rPr lang="en-US" dirty="0"/>
                            <a:t>3.61</a:t>
                          </a:r>
                        </a:p>
                      </a:txBody>
                      <a:tcPr/>
                    </a:tc>
                    <a:extLst>
                      <a:ext uri="{0D108BD9-81ED-4DB2-BD59-A6C34878D82A}">
                        <a16:rowId xmlns:a16="http://schemas.microsoft.com/office/drawing/2014/main" val="2103786841"/>
                      </a:ext>
                    </a:extLst>
                  </a:tr>
                  <a:tr h="755714">
                    <a:tc>
                      <a:txBody>
                        <a:bodyPr/>
                        <a:lstStyle/>
                        <a:p>
                          <a:endParaRPr lang="en-US"/>
                        </a:p>
                      </a:txBody>
                      <a:tcPr>
                        <a:blipFill>
                          <a:blip r:embed="rId2"/>
                          <a:stretch>
                            <a:fillRect l="-444" t="-486290" r="-101111" b="-2419"/>
                          </a:stretch>
                        </a:blipFill>
                      </a:tcPr>
                    </a:tc>
                    <a:tc>
                      <a:txBody>
                        <a:bodyPr/>
                        <a:lstStyle/>
                        <a:p>
                          <a:endParaRPr lang="en-US"/>
                        </a:p>
                      </a:txBody>
                      <a:tcPr>
                        <a:blipFill>
                          <a:blip r:embed="rId2"/>
                          <a:stretch>
                            <a:fillRect l="-100444" t="-486290" r="-1111" b="-2419"/>
                          </a:stretch>
                        </a:blipFill>
                      </a:tcPr>
                    </a:tc>
                    <a:extLst>
                      <a:ext uri="{0D108BD9-81ED-4DB2-BD59-A6C34878D82A}">
                        <a16:rowId xmlns:a16="http://schemas.microsoft.com/office/drawing/2014/main" val="3443169256"/>
                      </a:ext>
                    </a:extLst>
                  </a:tr>
                </a:tbl>
              </a:graphicData>
            </a:graphic>
          </p:graphicFrame>
        </mc:Fallback>
      </mc:AlternateContent>
    </p:spTree>
    <p:extLst>
      <p:ext uri="{BB962C8B-B14F-4D97-AF65-F5344CB8AC3E}">
        <p14:creationId xmlns:p14="http://schemas.microsoft.com/office/powerpoint/2010/main" val="21948943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dirty="0"/>
                  <a:t>Now </a:t>
                </a:r>
                <a14:m>
                  <m:oMath xmlns:m="http://schemas.openxmlformats.org/officeDocument/2006/math">
                    <m:r>
                      <m:rPr>
                        <m:nor/>
                      </m:rPr>
                      <a:rPr lang="en-US" dirty="0"/>
                      <m:t>S</m:t>
                    </m:r>
                    <m:r>
                      <a:rPr lang="en-US" i="1">
                        <a:latin typeface="Cambria Math" panose="02040503050406030204" pitchFamily="18" charset="0"/>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r>
                                      <a:rPr lang="en-US" i="1">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e>
                                  <m:sup>
                                    <m:r>
                                      <a:rPr lang="en-US" i="1">
                                        <a:latin typeface="Cambria Math" panose="02040503050406030204" pitchFamily="18" charset="0"/>
                                      </a:rPr>
                                      <m:t>2</m:t>
                                    </m:r>
                                  </m:sup>
                                </m:sSup>
                              </m:e>
                            </m:nary>
                          </m:num>
                          <m:den>
                            <m:r>
                              <a:rPr lang="en-US" i="1">
                                <a:latin typeface="Cambria Math" panose="02040503050406030204" pitchFamily="18" charset="0"/>
                              </a:rPr>
                              <m:t>𝑛</m:t>
                            </m:r>
                            <m:r>
                              <a:rPr lang="en-US" i="1">
                                <a:latin typeface="Cambria Math" panose="02040503050406030204" pitchFamily="18" charset="0"/>
                              </a:rPr>
                              <m:t>−1</m:t>
                            </m:r>
                          </m:den>
                        </m:f>
                      </m:e>
                    </m:rad>
                    <m:r>
                      <a:rPr lang="en-US" i="1">
                        <a:latin typeface="Cambria Math" panose="02040503050406030204" pitchFamily="18" charset="0"/>
                      </a:rPr>
                      <m:t>=2.619,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m:t>
                    </m:r>
                    <m:f>
                      <m:fPr>
                        <m:ctrlPr>
                          <a:rPr lang="en-US" i="1">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r>
                              <a:rPr lang="en-US" b="1" i="1">
                                <a:latin typeface="Cambria Math" panose="02040503050406030204" pitchFamily="18" charset="0"/>
                              </a:rPr>
                              <m:t>𝒙</m:t>
                            </m:r>
                          </m:e>
                        </m:nary>
                      </m:num>
                      <m:den>
                        <m:r>
                          <a:rPr lang="en-US" i="1">
                            <a:latin typeface="Cambria Math" panose="02040503050406030204" pitchFamily="18" charset="0"/>
                          </a:rPr>
                          <m:t>𝑛</m:t>
                        </m:r>
                      </m:den>
                    </m:f>
                    <m:r>
                      <a:rPr lang="en-US" i="1">
                        <a:latin typeface="Cambria Math" panose="02040503050406030204" pitchFamily="18" charset="0"/>
                      </a:rPr>
                      <m:t>=49.1</m:t>
                    </m:r>
                  </m:oMath>
                </a14:m>
                <a:endParaRPr lang="en-US"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r>
                        <a:rPr lang="en-US" i="1">
                          <a:latin typeface="Cambria Math"/>
                        </a:rPr>
                        <m:t>: </m:t>
                      </m:r>
                      <m:r>
                        <a:rPr lang="en-US" i="1">
                          <a:latin typeface="Cambria Math"/>
                          <a:ea typeface="Cambria Math"/>
                        </a:rPr>
                        <m:t>𝜇</m:t>
                      </m:r>
                      <m:r>
                        <a:rPr lang="en-US" i="1">
                          <a:latin typeface="Cambria Math"/>
                          <a:ea typeface="Cambria Math"/>
                        </a:rPr>
                        <m:t>=47.5</m:t>
                      </m:r>
                    </m:oMath>
                  </m:oMathPara>
                </a14:m>
                <a:endParaRPr lang="en-US" dirty="0">
                  <a:ea typeface="Cambria Math"/>
                </a:endParaRP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1</m:t>
                        </m:r>
                      </m:sub>
                    </m:sSub>
                    <m:r>
                      <a:rPr lang="en-US" i="1">
                        <a:latin typeface="Cambria Math"/>
                      </a:rPr>
                      <m:t>: </m:t>
                    </m:r>
                    <m:r>
                      <a:rPr lang="en-US" i="1">
                        <a:latin typeface="Cambria Math"/>
                        <a:ea typeface="Cambria Math"/>
                      </a:rPr>
                      <m:t>𝜇</m:t>
                    </m:r>
                    <m:r>
                      <a:rPr lang="en-US" i="1">
                        <a:latin typeface="Cambria Math"/>
                        <a:ea typeface="Cambria Math"/>
                      </a:rPr>
                      <m:t>≠47.5 </m:t>
                    </m:r>
                  </m:oMath>
                </a14:m>
                <a:r>
                  <a:rPr lang="en-US" dirty="0">
                    <a:ea typeface="Cambria Math"/>
                  </a:rPr>
                  <a:t>(Two tailed test)</a:t>
                </a:r>
              </a:p>
              <a:p>
                <a:pPr marL="0" indent="0">
                  <a:buNone/>
                </a:pPr>
                <a14:m>
                  <m:oMathPara xmlns:m="http://schemas.openxmlformats.org/officeDocument/2006/math">
                    <m:oMathParaPr>
                      <m:jc m:val="left"/>
                    </m:oMathParaPr>
                    <m:oMath xmlns:m="http://schemas.openxmlformats.org/officeDocument/2006/math">
                      <m:r>
                        <a:rPr lang="en-US" i="1">
                          <a:latin typeface="Cambria Math"/>
                          <a:ea typeface="Cambria Math"/>
                        </a:rPr>
                        <m:t>𝛼</m:t>
                      </m:r>
                      <m:r>
                        <a:rPr lang="en-US" i="1">
                          <a:latin typeface="Cambria Math"/>
                          <a:ea typeface="Cambria Math"/>
                        </a:rPr>
                        <m:t>=0.05</m:t>
                      </m:r>
                    </m:oMath>
                  </m:oMathPara>
                </a14:m>
                <a:endParaRPr lang="en-US" dirty="0">
                  <a:ea typeface="Cambria Math"/>
                </a:endParaRPr>
              </a:p>
              <a:p>
                <a:pPr marL="0" indent="0">
                  <a:buNone/>
                </a:pPr>
                <a:r>
                  <a:rPr lang="en-US" dirty="0"/>
                  <a:t>t</a:t>
                </a:r>
                <a14:m>
                  <m:oMath xmlns:m="http://schemas.openxmlformats.org/officeDocument/2006/math">
                    <m:r>
                      <a:rPr lang="en-US" i="1">
                        <a:latin typeface="Cambria Math"/>
                      </a:rPr>
                      <m:t>=</m:t>
                    </m:r>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a:rPr>
                              <m:t>𝑥</m:t>
                            </m:r>
                          </m:e>
                        </m:acc>
                        <m:r>
                          <a:rPr lang="en-US" i="1">
                            <a:latin typeface="Cambria Math"/>
                          </a:rPr>
                          <m:t>−</m:t>
                        </m:r>
                        <m:r>
                          <a:rPr lang="en-US" i="1">
                            <a:latin typeface="Cambria Math"/>
                            <a:ea typeface="Cambria Math"/>
                          </a:rPr>
                          <m:t>𝜇</m:t>
                        </m:r>
                      </m:num>
                      <m:den>
                        <m:f>
                          <m:fPr>
                            <m:type m:val="lin"/>
                            <m:ctrlPr>
                              <a:rPr lang="en-US" i="1">
                                <a:latin typeface="Cambria Math" panose="02040503050406030204" pitchFamily="18" charset="0"/>
                              </a:rPr>
                            </m:ctrlPr>
                          </m:fPr>
                          <m:num>
                            <m:r>
                              <a:rPr lang="en-US" i="1">
                                <a:latin typeface="Cambria Math"/>
                              </a:rPr>
                              <m:t>𝑆</m:t>
                            </m:r>
                          </m:num>
                          <m:den>
                            <m:rad>
                              <m:radPr>
                                <m:degHide m:val="on"/>
                                <m:ctrlPr>
                                  <a:rPr lang="en-US" i="1">
                                    <a:latin typeface="Cambria Math" panose="02040503050406030204" pitchFamily="18" charset="0"/>
                                  </a:rPr>
                                </m:ctrlPr>
                              </m:radPr>
                              <m:deg/>
                              <m:e>
                                <m:r>
                                  <a:rPr lang="en-US" i="1">
                                    <a:latin typeface="Cambria Math"/>
                                  </a:rPr>
                                  <m:t>𝑛</m:t>
                                </m:r>
                              </m:e>
                            </m:rad>
                          </m:den>
                        </m:f>
                      </m:den>
                    </m:f>
                    <m:r>
                      <a:rPr lang="en-US">
                        <a:latin typeface="Cambria Math"/>
                      </a:rPr>
                      <m:t>=1.8327</m:t>
                    </m:r>
                  </m:oMath>
                </a14:m>
                <a:endParaRPr lang="en-US" dirty="0"/>
              </a:p>
              <a:p>
                <a:pPr marL="0" indent="0">
                  <a:buNone/>
                </a:pPr>
                <a:r>
                  <a:rPr lang="en-US" dirty="0"/>
                  <a:t>Degree of freedom=9-1=8</a:t>
                </a:r>
              </a:p>
              <a:p>
                <a:pPr marL="0" indent="0">
                  <a:buNone/>
                </a:pPr>
                <a:r>
                  <a:rPr lang="en-US" dirty="0"/>
                  <a:t>Table value: </a:t>
                </a:r>
                <a14:m>
                  <m:oMath xmlns:m="http://schemas.openxmlformats.org/officeDocument/2006/math">
                    <m:sSub>
                      <m:sSubPr>
                        <m:ctrlPr>
                          <a:rPr lang="en-US" i="1">
                            <a:latin typeface="Cambria Math" panose="02040503050406030204" pitchFamily="18" charset="0"/>
                          </a:rPr>
                        </m:ctrlPr>
                      </m:sSubPr>
                      <m:e>
                        <m:r>
                          <a:rPr lang="en-US" i="1">
                            <a:latin typeface="Cambria Math"/>
                          </a:rPr>
                          <m:t>𝑡</m:t>
                        </m:r>
                      </m:e>
                      <m:sub>
                        <m:d>
                          <m:dPr>
                            <m:ctrlPr>
                              <a:rPr lang="en-US" i="1">
                                <a:latin typeface="Cambria Math" panose="02040503050406030204" pitchFamily="18" charset="0"/>
                              </a:rPr>
                            </m:ctrlPr>
                          </m:dPr>
                          <m:e>
                            <m:r>
                              <a:rPr lang="en-US" i="1">
                                <a:latin typeface="Cambria Math"/>
                              </a:rPr>
                              <m:t>8</m:t>
                            </m:r>
                          </m:e>
                        </m:d>
                      </m:sub>
                    </m:sSub>
                    <m:r>
                      <a:rPr lang="en-US" i="1">
                        <a:latin typeface="Cambria Math"/>
                      </a:rPr>
                      <m:t>(0.05)=2.306</m:t>
                    </m:r>
                  </m:oMath>
                </a14:m>
                <a:endParaRPr lang="en-US" dirty="0"/>
              </a:p>
              <a:p>
                <a:pPr marL="0" indent="0">
                  <a:buNone/>
                </a:pPr>
                <a:r>
                  <a:rPr lang="en-US" dirty="0"/>
                  <a:t>Conclusion : </a:t>
                </a: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a:rPr>
                              <m:t>𝑡</m:t>
                            </m:r>
                          </m:e>
                        </m:d>
                      </m:e>
                      <m:sub>
                        <m:r>
                          <a:rPr lang="en-US" i="1">
                            <a:latin typeface="Cambria Math"/>
                          </a:rPr>
                          <m:t>𝑐𝑎𝑙</m:t>
                        </m:r>
                      </m:sub>
                    </m:sSub>
                    <m:r>
                      <a:rPr lang="en-US" i="1">
                        <a:latin typeface="Cambria Math"/>
                      </a:rPr>
                      <m:t>&lt;</m:t>
                    </m:r>
                    <m:r>
                      <a:rPr lang="en-US" i="1">
                        <a:latin typeface="Cambria Math"/>
                      </a:rPr>
                      <m:t>𝑡𝑎𝑏𝑙𝑒</m:t>
                    </m:r>
                    <m:r>
                      <a:rPr lang="en-US" i="1">
                        <a:latin typeface="Cambria Math"/>
                      </a:rPr>
                      <m:t> </m:t>
                    </m:r>
                    <m:r>
                      <a:rPr lang="en-US" i="1">
                        <a:latin typeface="Cambria Math"/>
                      </a:rPr>
                      <m:t>𝑣𝑎𝑙𝑢𝑒</m:t>
                    </m:r>
                  </m:oMath>
                </a14:m>
                <a:endParaRPr lang="en-US" dirty="0"/>
              </a:p>
              <a:p>
                <a:pPr marL="0" indent="0">
                  <a:buNone/>
                </a:pPr>
                <a:r>
                  <a:rPr lang="en-US" dirty="0"/>
                  <a:t>So </a:t>
                </a: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oMath>
                </a14:m>
                <a:r>
                  <a:rPr lang="en-US" dirty="0"/>
                  <a:t> is accepted.</a:t>
                </a:r>
              </a:p>
              <a:p>
                <a:pPr marL="0" indent="0">
                  <a:buNone/>
                </a:pPr>
                <a:r>
                  <a:rPr lang="en-US" dirty="0"/>
                  <a:t>There is no significant difference between their means.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b="-229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3872062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cs typeface="Times New Roman" pitchFamily="18" charset="0"/>
                  </a:rPr>
                  <a:t>Example-2:</a:t>
                </a:r>
                <a:r>
                  <a:rPr lang="en-US" sz="2200" dirty="0">
                    <a:cs typeface="Times New Roman" pitchFamily="18" charset="0"/>
                  </a:rPr>
                  <a:t> A sample of 20 items has mean 42 units and S.D. 5 units. Test the hypothesis that it is a random sample from a normal population with mean 45 units.</a:t>
                </a:r>
              </a:p>
              <a:p>
                <a:pPr marL="0" indent="0">
                  <a:buNone/>
                </a:pPr>
                <a:r>
                  <a:rPr lang="en-US" sz="2200" dirty="0">
                    <a:cs typeface="Times New Roman" pitchFamily="18" charset="0"/>
                  </a:rPr>
                  <a:t>(Test at 5% level of significance)</a:t>
                </a:r>
              </a:p>
              <a:p>
                <a:pPr marL="0" indent="0">
                  <a:buNone/>
                </a:pPr>
                <a:r>
                  <a:rPr lang="en-US" sz="2200" b="1" dirty="0">
                    <a:cs typeface="Times New Roman" pitchFamily="18" charset="0"/>
                  </a:rPr>
                  <a:t>Sol: </a:t>
                </a:r>
                <a:r>
                  <a:rPr lang="en-US" sz="2200" dirty="0">
                    <a:cs typeface="Times New Roman" pitchFamily="18" charset="0"/>
                  </a:rPr>
                  <a:t>here </a:t>
                </a:r>
                <a14:m>
                  <m:oMath xmlns:m="http://schemas.openxmlformats.org/officeDocument/2006/math">
                    <m:r>
                      <a:rPr lang="en-US" sz="2200" i="1">
                        <a:latin typeface="Cambria Math"/>
                      </a:rPr>
                      <m:t>𝑛</m:t>
                    </m:r>
                    <m:r>
                      <a:rPr lang="en-US" sz="2200" i="1">
                        <a:latin typeface="Cambria Math"/>
                      </a:rPr>
                      <m:t>=20, </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=42, </m:t>
                    </m:r>
                    <m:r>
                      <a:rPr lang="en-US" sz="2200" i="1">
                        <a:latin typeface="Cambria Math"/>
                      </a:rPr>
                      <m:t>𝑠</m:t>
                    </m:r>
                    <m:r>
                      <a:rPr lang="en-US" sz="2200" i="1">
                        <a:latin typeface="Cambria Math"/>
                      </a:rPr>
                      <m:t>=5</m:t>
                    </m:r>
                  </m:oMath>
                </a14:m>
                <a:endParaRPr lang="en-US" sz="2200" b="1" dirty="0">
                  <a:cs typeface="Times New Roman"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 </m:t>
                      </m:r>
                      <m:r>
                        <a:rPr lang="en-US" sz="2200" i="1">
                          <a:latin typeface="Cambria Math"/>
                          <a:ea typeface="Cambria Math"/>
                        </a:rPr>
                        <m:t>𝜇</m:t>
                      </m:r>
                      <m:r>
                        <a:rPr lang="en-US" sz="2200" i="1">
                          <a:latin typeface="Cambria Math"/>
                          <a:ea typeface="Cambria Math"/>
                        </a:rPr>
                        <m:t>=45</m:t>
                      </m:r>
                    </m:oMath>
                  </m:oMathPara>
                </a14:m>
                <a:endParaRPr lang="en-US" sz="2200" dirty="0">
                  <a:ea typeface="Cambria Math"/>
                  <a:cs typeface="Times New Roman" pitchFamily="18" charset="0"/>
                </a:endParaRP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 </m:t>
                    </m:r>
                    <m:r>
                      <a:rPr lang="en-US" sz="2200" i="1">
                        <a:latin typeface="Cambria Math"/>
                        <a:ea typeface="Cambria Math"/>
                      </a:rPr>
                      <m:t>𝜇</m:t>
                    </m:r>
                    <m:r>
                      <a:rPr lang="en-US" sz="2200" i="1">
                        <a:latin typeface="Cambria Math"/>
                        <a:ea typeface="Cambria Math"/>
                      </a:rPr>
                      <m:t>≠45 </m:t>
                    </m:r>
                  </m:oMath>
                </a14:m>
                <a:r>
                  <a:rPr lang="en-US" sz="2200" dirty="0">
                    <a:ea typeface="Cambria Math"/>
                    <a:cs typeface="Times New Roman" pitchFamily="18" charset="0"/>
                  </a:rPr>
                  <a:t>(Two tailed test)</a:t>
                </a: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𝛼</m:t>
                      </m:r>
                      <m:r>
                        <a:rPr lang="en-US" sz="2200" i="1">
                          <a:latin typeface="Cambria Math"/>
                          <a:ea typeface="Cambria Math"/>
                        </a:rPr>
                        <m:t>=0.05</m:t>
                      </m:r>
                    </m:oMath>
                  </m:oMathPara>
                </a14:m>
                <a:endParaRPr lang="en-US" sz="2200" dirty="0">
                  <a:ea typeface="Cambria Math"/>
                  <a:cs typeface="Times New Roman" pitchFamily="18" charset="0"/>
                </a:endParaRPr>
              </a:p>
              <a:p>
                <a:pPr marL="0" indent="0">
                  <a:buNone/>
                </a:pPr>
                <a14:m>
                  <m:oMathPara xmlns:m="http://schemas.openxmlformats.org/officeDocument/2006/math">
                    <m:oMathParaPr>
                      <m:jc m:val="left"/>
                    </m:oMathParaPr>
                    <m:oMath xmlns:m="http://schemas.openxmlformats.org/officeDocument/2006/math">
                      <m:r>
                        <m:rPr>
                          <m:sty m:val="p"/>
                        </m:rPr>
                        <a:rPr lang="en-US" sz="2200">
                          <a:latin typeface="Cambria Math"/>
                        </a:rPr>
                        <m:t>t</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rPr>
                                <m:t>𝑠</m:t>
                              </m:r>
                            </m:num>
                            <m:den>
                              <m:rad>
                                <m:radPr>
                                  <m:degHide m:val="on"/>
                                  <m:ctrlPr>
                                    <a:rPr lang="en-US" sz="2200" i="1">
                                      <a:latin typeface="Cambria Math" panose="02040503050406030204" pitchFamily="18" charset="0"/>
                                    </a:rPr>
                                  </m:ctrlPr>
                                </m:radPr>
                                <m:deg/>
                                <m:e>
                                  <m:r>
                                    <a:rPr lang="en-US" sz="2200" i="1">
                                      <a:latin typeface="Cambria Math"/>
                                    </a:rPr>
                                    <m:t>𝑛</m:t>
                                  </m:r>
                                  <m:r>
                                    <a:rPr lang="en-US" sz="2200" i="1">
                                      <a:latin typeface="Cambria Math"/>
                                    </a:rPr>
                                    <m:t>−1</m:t>
                                  </m:r>
                                </m:e>
                              </m:rad>
                            </m:den>
                          </m:f>
                        </m:den>
                      </m:f>
                      <m:r>
                        <a:rPr lang="en-US" sz="2200">
                          <a:latin typeface="Cambria Math"/>
                        </a:rPr>
                        <m:t>=−2.61</m:t>
                      </m:r>
                    </m:oMath>
                  </m:oMathPara>
                </a14:m>
                <a:endParaRPr lang="en-US" sz="2200" dirty="0">
                  <a:cs typeface="Times New Roman" pitchFamily="18" charset="0"/>
                </a:endParaRPr>
              </a:p>
              <a:p>
                <a:pPr marL="0" indent="0">
                  <a:buNone/>
                </a:pPr>
                <a:r>
                  <a:rPr lang="en-US" sz="2000" dirty="0">
                    <a:cs typeface="Times New Roman" pitchFamily="18" charset="0"/>
                  </a:rPr>
                  <a:t>Degree of freedom=20-1=19</a:t>
                </a:r>
              </a:p>
              <a:p>
                <a:pPr marL="0" indent="0">
                  <a:buNone/>
                </a:pPr>
                <a:r>
                  <a:rPr lang="en-US" sz="2000" dirty="0">
                    <a:cs typeface="Times New Roman" pitchFamily="18" charset="0"/>
                  </a:rPr>
                  <a:t>Table value: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𝑡</m:t>
                        </m:r>
                      </m:e>
                      <m:sub>
                        <m:d>
                          <m:dPr>
                            <m:ctrlPr>
                              <a:rPr lang="en-US" sz="2000" i="1">
                                <a:latin typeface="Cambria Math" panose="02040503050406030204" pitchFamily="18" charset="0"/>
                              </a:rPr>
                            </m:ctrlPr>
                          </m:dPr>
                          <m:e>
                            <m:r>
                              <a:rPr lang="en-US" sz="2000" i="1">
                                <a:latin typeface="Cambria Math"/>
                              </a:rPr>
                              <m:t>19</m:t>
                            </m:r>
                          </m:e>
                        </m:d>
                      </m:sub>
                    </m:sSub>
                    <m:r>
                      <a:rPr lang="en-US" sz="2000" i="1">
                        <a:latin typeface="Cambria Math"/>
                      </a:rPr>
                      <m:t>(0.05)=2.093</m:t>
                    </m:r>
                  </m:oMath>
                </a14:m>
                <a:endParaRPr lang="en-US" sz="2000" dirty="0">
                  <a:cs typeface="Times New Roman" pitchFamily="18" charset="0"/>
                </a:endParaRPr>
              </a:p>
              <a:p>
                <a:pPr marL="0" indent="0">
                  <a:buNone/>
                </a:pPr>
                <a:endParaRPr lang="en-US" sz="2200" dirty="0">
                  <a:cs typeface="Times New Roman" pitchFamily="18" charset="0"/>
                </a:endParaRPr>
              </a:p>
              <a:p>
                <a:pPr marL="0" indent="0">
                  <a:buNone/>
                </a:pPr>
                <a:endParaRPr lang="en-US" sz="2200" dirty="0"/>
              </a:p>
              <a:p>
                <a:pPr marL="0" indent="0">
                  <a:buNone/>
                </a:pPr>
                <a:endParaRPr lang="en-US" sz="2200" dirty="0"/>
              </a:p>
              <a:p>
                <a:pPr marL="0" indent="0">
                  <a:buNone/>
                </a:pPr>
                <a:endParaRPr lang="en-US" sz="2200" b="1" dirty="0"/>
              </a:p>
              <a:p>
                <a:pPr marL="0" indent="0">
                  <a:buNone/>
                </a:pPr>
                <a:r>
                  <a:rPr lang="en-US" sz="2200" b="1" dirty="0"/>
                  <a:t>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540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097219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1000"/>
                                        <p:tgtEl>
                                          <p:spTgt spid="3">
                                            <p:txEl>
                                              <p:pRg st="13" end="13"/>
                                            </p:txEl>
                                          </p:spTgt>
                                        </p:tgtEl>
                                      </p:cBhvr>
                                    </p:animEffect>
                                    <p:anim calcmode="lin" valueType="num">
                                      <p:cBhvr>
                                        <p:cTn id="71"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cs typeface="Times New Roman" pitchFamily="18" charset="0"/>
                  </a:rPr>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𝑡</m:t>
                            </m:r>
                          </m:e>
                        </m:d>
                      </m:e>
                      <m:sub>
                        <m:r>
                          <a:rPr lang="en-US" sz="2200" i="1">
                            <a:latin typeface="Cambria Math"/>
                          </a:rPr>
                          <m:t>𝑐𝑎𝑙</m:t>
                        </m:r>
                      </m:sub>
                    </m:sSub>
                    <m:r>
                      <a:rPr lang="en-US" sz="2200" i="1">
                        <a:latin typeface="Cambria Math"/>
                      </a:rPr>
                      <m:t>&gt;</m:t>
                    </m:r>
                    <m:r>
                      <a:rPr lang="en-US" sz="2200" i="1">
                        <a:latin typeface="Cambria Math"/>
                      </a:rPr>
                      <m:t>𝑡𝑎𝑏𝑙𝑒</m:t>
                    </m:r>
                    <m:r>
                      <a:rPr lang="en-US" sz="2200" i="1">
                        <a:latin typeface="Cambria Math"/>
                      </a:rPr>
                      <m:t> </m:t>
                    </m:r>
                    <m:r>
                      <a:rPr lang="en-US" sz="2200" i="1">
                        <a:latin typeface="Cambria Math"/>
                      </a:rPr>
                      <m:t>𝑣𝑎𝑙𝑢𝑒</m:t>
                    </m:r>
                  </m:oMath>
                </a14:m>
                <a:endParaRPr lang="en-US" sz="2200" dirty="0">
                  <a:cs typeface="Times New Roman" pitchFamily="18" charset="0"/>
                </a:endParaRPr>
              </a:p>
              <a:p>
                <a:pPr marL="0" indent="0">
                  <a:buNone/>
                </a:pPr>
                <a:r>
                  <a:rPr lang="en-US" sz="2200" dirty="0">
                    <a:cs typeface="Times New Roman" pitchFamily="18" charset="0"/>
                  </a:rPr>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cs typeface="Times New Roman" pitchFamily="18" charset="0"/>
                  </a:rPr>
                  <a:t> is rejected.</a:t>
                </a:r>
              </a:p>
              <a:p>
                <a:pPr marL="0" indent="0">
                  <a:buNone/>
                </a:pPr>
                <a:r>
                  <a:rPr lang="en-US" sz="2200" dirty="0">
                    <a:cs typeface="Times New Roman" pitchFamily="18" charset="0"/>
                  </a:rPr>
                  <a:t>i.e. there is significance difference between sample mean &amp; population mean.</a:t>
                </a:r>
                <a:r>
                  <a:rPr lang="en-US" sz="2200" b="1" dirty="0"/>
                  <a:t> </a:t>
                </a:r>
              </a:p>
              <a:p>
                <a:pPr marL="0" indent="0">
                  <a:buNone/>
                </a:pPr>
                <a:r>
                  <a:rPr lang="en-US" sz="2200" b="1" dirty="0"/>
                  <a:t>Example-3</a:t>
                </a:r>
                <a:r>
                  <a:rPr lang="en-US" sz="2200" dirty="0"/>
                  <a:t>: The height of 8 males participating in an athletic championship are found to be 175,168,165,170,167,160,173 and 168 cm. Can we conclude that the avg. height is greater than 165 cm.( Test at 5% level of significance) </a:t>
                </a:r>
              </a:p>
              <a:p>
                <a:pPr marL="0" indent="0">
                  <a:buNone/>
                </a:pPr>
                <a:r>
                  <a:rPr lang="en-US" sz="2200" b="1" dirty="0"/>
                  <a:t>Sol: </a:t>
                </a:r>
                <a:r>
                  <a:rPr lang="en-US" sz="2200" dirty="0"/>
                  <a:t>Here</a:t>
                </a:r>
                <a:r>
                  <a:rPr lang="en-US" sz="2200" dirty="0">
                    <a:cs typeface="Times New Roman" pitchFamily="18" charset="0"/>
                  </a:rPr>
                  <a:t> </a:t>
                </a:r>
                <a14:m>
                  <m:oMath xmlns:m="http://schemas.openxmlformats.org/officeDocument/2006/math">
                    <m:r>
                      <m:rPr>
                        <m:nor/>
                      </m:rPr>
                      <a:rPr lang="en-US" sz="2200" dirty="0">
                        <a:latin typeface="Times New Roman" pitchFamily="18" charset="0"/>
                        <a:cs typeface="Times New Roman" pitchFamily="18" charset="0"/>
                      </a:rPr>
                      <m:t>S</m:t>
                    </m:r>
                    <m:r>
                      <a:rPr lang="en-US" sz="2200" i="1">
                        <a:latin typeface="Cambria Math"/>
                      </a:rPr>
                      <m:t>=</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nary>
                              <m:naryPr>
                                <m:chr m:val="∑"/>
                                <m:limLoc m:val="undOvr"/>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𝑖</m:t>
                                        </m:r>
                                      </m:sub>
                                    </m:sSub>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e>
                                  <m:sup>
                                    <m:r>
                                      <a:rPr lang="en-US" sz="2200" i="1">
                                        <a:latin typeface="Cambria Math"/>
                                      </a:rPr>
                                      <m:t>2</m:t>
                                    </m:r>
                                  </m:sup>
                                </m:sSup>
                              </m:e>
                            </m:nary>
                          </m:num>
                          <m:den>
                            <m:r>
                              <a:rPr lang="en-US" sz="2200" i="1">
                                <a:latin typeface="Cambria Math"/>
                              </a:rPr>
                              <m:t>𝑛</m:t>
                            </m:r>
                            <m:r>
                              <a:rPr lang="en-US" sz="2200" i="1">
                                <a:latin typeface="Cambria Math"/>
                              </a:rPr>
                              <m:t>−1</m:t>
                            </m:r>
                          </m:den>
                        </m:f>
                      </m:e>
                    </m:rad>
                    <m:r>
                      <a:rPr lang="en-US" sz="2200" i="1">
                        <a:latin typeface="Cambria Math"/>
                      </a:rPr>
                      <m:t>=4.6521 </m:t>
                    </m:r>
                  </m:oMath>
                </a14:m>
                <a:endParaRPr lang="en-US" sz="2200" dirty="0"/>
              </a:p>
              <a:p>
                <a:pPr marL="0" indent="0">
                  <a:buNone/>
                </a:pP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r>
                              <a:rPr lang="en-US" sz="2200" i="1">
                                <a:latin typeface="Cambria Math"/>
                              </a:rPr>
                              <m:t>𝑥</m:t>
                            </m:r>
                          </m:e>
                        </m:nary>
                      </m:num>
                      <m:den>
                        <m:r>
                          <a:rPr lang="en-US" sz="2200" i="1">
                            <a:latin typeface="Cambria Math"/>
                          </a:rPr>
                          <m:t>𝑛</m:t>
                        </m:r>
                      </m:den>
                    </m:f>
                    <m:r>
                      <a:rPr lang="en-US" sz="2200" i="1">
                        <a:latin typeface="Cambria Math"/>
                      </a:rPr>
                      <m:t>=</m:t>
                    </m:r>
                  </m:oMath>
                </a14:m>
                <a:r>
                  <a:rPr lang="en-US" sz="2200" dirty="0"/>
                  <a:t>168.25</a:t>
                </a:r>
                <a:endParaRPr lang="en-US" sz="2200" i="1" dirty="0">
                  <a:latin typeface="Cambria Math"/>
                </a:endParaRPr>
              </a:p>
              <a:p>
                <a:pPr marL="0" indent="0">
                  <a:buNone/>
                </a:pPr>
                <a:endParaRPr lang="en-US" sz="2200" b="1" dirty="0"/>
              </a:p>
              <a:p>
                <a:pPr marL="0" indent="0">
                  <a:buNone/>
                </a:pPr>
                <a:endParaRPr lang="en-US" sz="2200" b="1" dirty="0"/>
              </a:p>
              <a:p>
                <a:pPr marL="0" indent="0">
                  <a:buNone/>
                </a:pPr>
                <a:endParaRPr lang="en-US" sz="2200" dirty="0">
                  <a:cs typeface="Times New Roman" pitchFamily="18" charset="0"/>
                </a:endParaRP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630" b="-4407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9422294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Para xmlns:m="http://schemas.openxmlformats.org/officeDocument/2006/math">
                    <m:oMathParaPr>
                      <m:jc m:val="left"/>
                    </m:oMathParaPr>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 </m:t>
                      </m:r>
                      <m:r>
                        <a:rPr lang="en-US" sz="2200" i="1">
                          <a:latin typeface="Cambria Math"/>
                          <a:ea typeface="Cambria Math"/>
                        </a:rPr>
                        <m:t>𝜇</m:t>
                      </m:r>
                      <m:r>
                        <a:rPr lang="en-US" sz="2200" i="1">
                          <a:latin typeface="Cambria Math"/>
                          <a:ea typeface="Cambria Math"/>
                        </a:rPr>
                        <m:t>=165</m:t>
                      </m:r>
                    </m:oMath>
                  </m:oMathPara>
                </a14:m>
                <a:endParaRPr lang="en-US" sz="2200" dirty="0">
                  <a:ea typeface="Cambria Math"/>
                </a:endParaRP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r>
                      <a:rPr lang="en-US" sz="2200" i="1">
                        <a:latin typeface="Cambria Math"/>
                      </a:rPr>
                      <m:t>: </m:t>
                    </m:r>
                    <m:r>
                      <a:rPr lang="en-US" sz="2200" i="1">
                        <a:latin typeface="Cambria Math"/>
                        <a:ea typeface="Cambria Math"/>
                      </a:rPr>
                      <m:t>𝜇</m:t>
                    </m:r>
                    <m:r>
                      <a:rPr lang="en-US" sz="2200" i="1">
                        <a:latin typeface="Cambria Math"/>
                        <a:ea typeface="Cambria Math"/>
                      </a:rPr>
                      <m:t>&gt;165 </m:t>
                    </m:r>
                  </m:oMath>
                </a14:m>
                <a:r>
                  <a:rPr lang="en-US" sz="2200" dirty="0">
                    <a:ea typeface="Cambria Math"/>
                  </a:rPr>
                  <a:t>(single tailed test)</a:t>
                </a: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𝛼</m:t>
                      </m:r>
                      <m:r>
                        <a:rPr lang="en-US" sz="2200" i="1">
                          <a:latin typeface="Cambria Math"/>
                          <a:ea typeface="Cambria Math"/>
                        </a:rPr>
                        <m:t>=0.05</m:t>
                      </m:r>
                    </m:oMath>
                  </m:oMathPara>
                </a14:m>
                <a:endParaRPr lang="en-US" sz="2200" dirty="0">
                  <a:ea typeface="Cambria Math"/>
                </a:endParaRPr>
              </a:p>
              <a:p>
                <a:pPr marL="0" indent="0">
                  <a:buNone/>
                </a:pPr>
                <a:r>
                  <a:rPr lang="en-US" sz="2200" dirty="0"/>
                  <a:t>t</a:t>
                </a:r>
                <a14:m>
                  <m:oMath xmlns:m="http://schemas.openxmlformats.org/officeDocument/2006/math">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r>
                          <a:rPr lang="en-US" sz="2200" i="1">
                            <a:latin typeface="Cambria Math"/>
                            <a:ea typeface="Cambria Math"/>
                          </a:rPr>
                          <m:t>𝜇</m:t>
                        </m:r>
                      </m:num>
                      <m:den>
                        <m:f>
                          <m:fPr>
                            <m:type m:val="lin"/>
                            <m:ctrlPr>
                              <a:rPr lang="en-US" sz="2200" i="1">
                                <a:latin typeface="Cambria Math" panose="02040503050406030204" pitchFamily="18" charset="0"/>
                              </a:rPr>
                            </m:ctrlPr>
                          </m:fPr>
                          <m:num>
                            <m:r>
                              <a:rPr lang="en-US" sz="2200" i="1">
                                <a:latin typeface="Cambria Math"/>
                              </a:rPr>
                              <m:t>𝑆</m:t>
                            </m:r>
                          </m:num>
                          <m:den>
                            <m:rad>
                              <m:radPr>
                                <m:degHide m:val="on"/>
                                <m:ctrlPr>
                                  <a:rPr lang="en-US" sz="2200" i="1">
                                    <a:latin typeface="Cambria Math" panose="02040503050406030204" pitchFamily="18" charset="0"/>
                                  </a:rPr>
                                </m:ctrlPr>
                              </m:radPr>
                              <m:deg/>
                              <m:e>
                                <m:r>
                                  <a:rPr lang="en-US" sz="2200" i="1">
                                    <a:latin typeface="Cambria Math"/>
                                  </a:rPr>
                                  <m:t>𝑛</m:t>
                                </m:r>
                              </m:e>
                            </m:rad>
                          </m:den>
                        </m:f>
                      </m:den>
                    </m:f>
                    <m:r>
                      <a:rPr lang="en-US" sz="2200">
                        <a:latin typeface="Cambria Math"/>
                      </a:rPr>
                      <m:t>=1.97</m:t>
                    </m:r>
                  </m:oMath>
                </a14:m>
                <a:endParaRPr lang="en-US" sz="2200" dirty="0"/>
              </a:p>
              <a:p>
                <a:pPr marL="0" indent="0">
                  <a:buNone/>
                </a:pPr>
                <a:r>
                  <a:rPr lang="en-US" sz="2200" dirty="0">
                    <a:cs typeface="Times New Roman" pitchFamily="18" charset="0"/>
                  </a:rPr>
                  <a:t>Degree of freedom=8-1=7</a:t>
                </a:r>
              </a:p>
              <a:p>
                <a:pPr marL="0" indent="0">
                  <a:buNone/>
                </a:pPr>
                <a:r>
                  <a:rPr lang="en-US" sz="2200" dirty="0">
                    <a:cs typeface="Times New Roman" pitchFamily="18" charset="0"/>
                  </a:rPr>
                  <a:t>Table value: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𝑡</m:t>
                        </m:r>
                      </m:e>
                      <m:sub>
                        <m:d>
                          <m:dPr>
                            <m:ctrlPr>
                              <a:rPr lang="en-US" sz="2200" i="1">
                                <a:latin typeface="Cambria Math" panose="02040503050406030204" pitchFamily="18" charset="0"/>
                              </a:rPr>
                            </m:ctrlPr>
                          </m:dPr>
                          <m:e>
                            <m:r>
                              <a:rPr lang="en-US" sz="2200" i="1">
                                <a:latin typeface="Cambria Math"/>
                              </a:rPr>
                              <m:t>7</m:t>
                            </m:r>
                          </m:e>
                        </m:d>
                      </m:sub>
                    </m:sSub>
                    <m:r>
                      <a:rPr lang="en-US" sz="2200" i="1">
                        <a:latin typeface="Cambria Math"/>
                      </a:rPr>
                      <m:t>(0.05)=1.895</m:t>
                    </m:r>
                  </m:oMath>
                </a14:m>
                <a:endParaRPr lang="en-US" sz="2200" dirty="0">
                  <a:cs typeface="Times New Roman" pitchFamily="18" charset="0"/>
                </a:endParaRPr>
              </a:p>
              <a:p>
                <a:pPr marL="0" indent="0">
                  <a:buNone/>
                </a:pPr>
                <a:r>
                  <a:rPr lang="en-US" sz="2200" dirty="0">
                    <a:cs typeface="Times New Roman" pitchFamily="18" charset="0"/>
                  </a:rPr>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𝑡</m:t>
                            </m:r>
                          </m:e>
                        </m:d>
                      </m:e>
                      <m:sub>
                        <m:r>
                          <a:rPr lang="en-US" sz="2200" i="1">
                            <a:latin typeface="Cambria Math"/>
                          </a:rPr>
                          <m:t>𝑐𝑎𝑙</m:t>
                        </m:r>
                      </m:sub>
                    </m:sSub>
                    <m:r>
                      <a:rPr lang="en-US" sz="2200" i="1">
                        <a:latin typeface="Cambria Math"/>
                      </a:rPr>
                      <m:t>&gt;</m:t>
                    </m:r>
                    <m:r>
                      <a:rPr lang="en-US" sz="2200" i="1">
                        <a:latin typeface="Cambria Math"/>
                      </a:rPr>
                      <m:t>𝑡𝑎𝑏𝑙𝑒</m:t>
                    </m:r>
                    <m:r>
                      <a:rPr lang="en-US" sz="2200" i="1">
                        <a:latin typeface="Cambria Math"/>
                      </a:rPr>
                      <m:t> </m:t>
                    </m:r>
                    <m:r>
                      <a:rPr lang="en-US" sz="2200" i="1">
                        <a:latin typeface="Cambria Math"/>
                      </a:rPr>
                      <m:t>𝑣𝑎𝑙𝑢𝑒</m:t>
                    </m:r>
                  </m:oMath>
                </a14:m>
                <a:endParaRPr lang="en-US" sz="2200" dirty="0">
                  <a:cs typeface="Times New Roman" pitchFamily="18" charset="0"/>
                </a:endParaRPr>
              </a:p>
              <a:p>
                <a:pPr marL="0" indent="0">
                  <a:buNone/>
                </a:pPr>
                <a:r>
                  <a:rPr lang="en-US" sz="2200" dirty="0">
                    <a:cs typeface="Times New Roman" pitchFamily="18" charset="0"/>
                  </a:rPr>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cs typeface="Times New Roman" pitchFamily="18" charset="0"/>
                  </a:rPr>
                  <a:t> is rejected.</a:t>
                </a:r>
              </a:p>
              <a:p>
                <a:pPr marL="0" indent="0">
                  <a:buNone/>
                </a:pPr>
                <a:r>
                  <a:rPr lang="en-US" sz="2200" dirty="0">
                    <a:cs typeface="Times New Roman" pitchFamily="18" charset="0"/>
                  </a:rPr>
                  <a:t>i.e. avg. height is greater than 165.</a:t>
                </a:r>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1374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7441198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457200" indent="-457200">
                  <a:buAutoNum type="arabicPeriod"/>
                </a:pPr>
                <a:r>
                  <a:rPr lang="en-US" sz="2200" dirty="0"/>
                  <a:t>A sample of 1000 students from a university was taken and their average weight was found to be 112 pounds with S.D. of 20 pounds. Could the mean weight in the population be 120 pounds.(Take </a:t>
                </a:r>
                <a14:m>
                  <m:oMath xmlns:m="http://schemas.openxmlformats.org/officeDocument/2006/math">
                    <m:r>
                      <a:rPr lang="en-US" sz="2200" i="1">
                        <a:latin typeface="Cambria Math"/>
                        <a:ea typeface="Cambria Math"/>
                      </a:rPr>
                      <m:t>𝛼</m:t>
                    </m:r>
                    <m:r>
                      <a:rPr lang="en-US" sz="2200" i="1">
                        <a:latin typeface="Cambria Math"/>
                        <a:ea typeface="Cambria Math"/>
                      </a:rPr>
                      <m:t>=0.05</m:t>
                    </m:r>
                    <m:r>
                      <a:rPr lang="en-US" sz="2200" b="0" i="0" smtClean="0">
                        <a:latin typeface="Cambria Math"/>
                        <a:ea typeface="Cambria Math"/>
                      </a:rPr>
                      <m:t>)</m:t>
                    </m:r>
                  </m:oMath>
                </a14:m>
                <a:endParaRPr lang="en-US" sz="2200" dirty="0"/>
              </a:p>
              <a:p>
                <a:pPr marL="457200" indent="-457200">
                  <a:buAutoNum type="arabicPeriod"/>
                </a:pPr>
                <a:r>
                  <a:rPr lang="en-US" sz="2200" dirty="0"/>
                  <a:t> Write a short note on Null hypothesis? 			</a:t>
                </a:r>
              </a:p>
              <a:p>
                <a:pPr marL="457200" indent="-457200">
                  <a:buFont typeface="Arial" pitchFamily="34" charset="0"/>
                  <a:buAutoNum type="arabicPeriod"/>
                </a:pPr>
                <a:r>
                  <a:rPr lang="en-US" sz="2200" dirty="0"/>
                  <a:t>Samples of size 10 and 14 were taken from two normal populations with S.D. 3.5 and 5.2. The sample means were found to be 20.3 and 18.6. Test whether the means of two populations are the same. If the tabulated value is 2.0739 at 5% level.</a:t>
                </a:r>
                <a:r>
                  <a:rPr lang="en-US" sz="2200" b="1" dirty="0"/>
                  <a:t> 	                </a:t>
                </a:r>
                <a:endParaRPr lang="en-US" sz="2200" dirty="0"/>
              </a:p>
              <a:p>
                <a:pPr marL="0" lvl="0" indent="0">
                  <a:buNone/>
                </a:pPr>
                <a:r>
                  <a:rPr lang="en-US" sz="2200" dirty="0"/>
                  <a:t>	</a:t>
                </a:r>
              </a:p>
              <a:p>
                <a:pPr marL="0" indent="0">
                  <a:buNone/>
                </a:pPr>
                <a:endParaRPr lang="en-US" sz="2200" b="1" dirty="0"/>
              </a:p>
              <a:p>
                <a:pPr marL="0" indent="0">
                  <a:buNone/>
                </a:pPr>
                <a:endParaRPr lang="en-US" sz="2200" b="1"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943" r="-1556"/>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42543792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latin typeface="Times New Roman" pitchFamily="18" charset="0"/>
                    <a:cs typeface="Times New Roman" pitchFamily="18" charset="0"/>
                  </a:rPr>
                  <a:t>To test the significance of the difference between the mean of two small samples.</a:t>
                </a:r>
              </a:p>
              <a:p>
                <a:pPr marL="0" indent="0">
                  <a:buNone/>
                </a:pPr>
                <a:r>
                  <a:rPr lang="en-US" sz="2200" dirty="0">
                    <a:latin typeface="Times New Roman" pitchFamily="18" charset="0"/>
                    <a:cs typeface="Times New Roman" pitchFamily="18" charset="0"/>
                  </a:rPr>
                  <a:t>Let two independent sample of size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oMath>
                </a14:m>
                <a:r>
                  <a:rPr lang="en-US" sz="2200" dirty="0">
                    <a:latin typeface="Times New Roman" pitchFamily="18" charset="0"/>
                    <a:cs typeface="Times New Roman" pitchFamily="18" charset="0"/>
                  </a:rPr>
                  <a:t> 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oMath>
                </a14:m>
                <a:r>
                  <a:rPr lang="en-US" sz="2200" dirty="0">
                    <a:latin typeface="Times New Roman" pitchFamily="18" charset="0"/>
                    <a:cs typeface="Times New Roman" pitchFamily="18" charset="0"/>
                  </a:rPr>
                  <a:t> be drawn from two normal population with mean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rPr>
                          <m:t>1</m:t>
                        </m:r>
                      </m:sub>
                    </m:sSub>
                  </m:oMath>
                </a14:m>
                <a:r>
                  <a:rPr lang="en-US" sz="2200" dirty="0">
                    <a:latin typeface="Times New Roman" pitchFamily="18" charset="0"/>
                    <a:cs typeface="Times New Roman" pitchFamily="18" charset="0"/>
                  </a:rPr>
                  <a:t>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𝜇</m:t>
                        </m:r>
                      </m:e>
                      <m:sub>
                        <m:r>
                          <a:rPr lang="en-US" sz="2200" i="1">
                            <a:latin typeface="Cambria Math"/>
                            <a:ea typeface="Cambria Math"/>
                          </a:rPr>
                          <m:t>2</m:t>
                        </m:r>
                      </m:sub>
                    </m:sSub>
                  </m:oMath>
                </a14:m>
                <a:r>
                  <a:rPr lang="en-US" sz="2200" dirty="0">
                    <a:latin typeface="Times New Roman" pitchFamily="18" charset="0"/>
                    <a:cs typeface="Times New Roman" pitchFamily="18" charset="0"/>
                  </a:rPr>
                  <a:t> and equal S.D.</a:t>
                </a:r>
                <a14:m>
                  <m:oMath xmlns:m="http://schemas.openxmlformats.org/officeDocument/2006/math">
                    <m:d>
                      <m:dPr>
                        <m:ctrlPr>
                          <a:rPr lang="en-US" sz="2200" i="1">
                            <a:latin typeface="Cambria Math" panose="02040503050406030204" pitchFamily="18" charset="0"/>
                            <a:cs typeface="Times New Roman" pitchFamily="18" charset="0"/>
                          </a:rPr>
                        </m:ctrlPr>
                      </m:dPr>
                      <m:e>
                        <m:sSub>
                          <m:sSubPr>
                            <m:ctrlPr>
                              <a:rPr lang="en-US" sz="2200" i="1">
                                <a:latin typeface="Cambria Math" panose="02040503050406030204" pitchFamily="18" charset="0"/>
                                <a:cs typeface="Times New Roman" pitchFamily="18" charset="0"/>
                              </a:rPr>
                            </m:ctrlPr>
                          </m:sSubPr>
                          <m:e>
                            <m:r>
                              <a:rPr lang="en-US" sz="2200" i="1">
                                <a:latin typeface="Cambria Math"/>
                                <a:ea typeface="Cambria Math"/>
                                <a:cs typeface="Times New Roman" pitchFamily="18" charset="0"/>
                              </a:rPr>
                              <m:t>𝜎</m:t>
                            </m:r>
                          </m:e>
                          <m:sub>
                            <m:r>
                              <a:rPr lang="en-US" sz="2200" i="1">
                                <a:latin typeface="Cambria Math"/>
                                <a:cs typeface="Times New Roman" pitchFamily="18" charset="0"/>
                              </a:rPr>
                              <m:t>1</m:t>
                            </m:r>
                          </m:sub>
                        </m:sSub>
                        <m:r>
                          <a:rPr lang="en-US" sz="2200" i="1">
                            <a:latin typeface="Cambria Math"/>
                            <a:cs typeface="Times New Roman" pitchFamily="18" charset="0"/>
                          </a:rPr>
                          <m:t>=</m:t>
                        </m:r>
                        <m:sSub>
                          <m:sSubPr>
                            <m:ctrlPr>
                              <a:rPr lang="en-US" sz="2200" i="1">
                                <a:latin typeface="Cambria Math" panose="02040503050406030204" pitchFamily="18" charset="0"/>
                                <a:cs typeface="Times New Roman" pitchFamily="18" charset="0"/>
                              </a:rPr>
                            </m:ctrlPr>
                          </m:sSubPr>
                          <m:e>
                            <m:r>
                              <a:rPr lang="en-US" sz="2200" i="1">
                                <a:latin typeface="Cambria Math"/>
                                <a:ea typeface="Cambria Math"/>
                                <a:cs typeface="Times New Roman" pitchFamily="18" charset="0"/>
                              </a:rPr>
                              <m:t>𝜎</m:t>
                            </m:r>
                          </m:e>
                          <m:sub>
                            <m:r>
                              <a:rPr lang="en-US" sz="2200" i="1">
                                <a:latin typeface="Cambria Math"/>
                                <a:ea typeface="Cambria Math"/>
                                <a:cs typeface="Times New Roman" pitchFamily="18" charset="0"/>
                              </a:rPr>
                              <m:t>2</m:t>
                            </m:r>
                          </m:sub>
                        </m:sSub>
                        <m:r>
                          <a:rPr lang="en-US" sz="2200" i="1">
                            <a:latin typeface="Cambria Math"/>
                            <a:cs typeface="Times New Roman" pitchFamily="18" charset="0"/>
                          </a:rPr>
                          <m:t>=</m:t>
                        </m:r>
                        <m:r>
                          <a:rPr lang="en-US" sz="2200" i="1">
                            <a:latin typeface="Cambria Math"/>
                            <a:ea typeface="Cambria Math"/>
                            <a:cs typeface="Times New Roman" pitchFamily="18" charset="0"/>
                          </a:rPr>
                          <m:t>𝜎</m:t>
                        </m:r>
                      </m:e>
                    </m:d>
                  </m:oMath>
                </a14:m>
                <a:r>
                  <a:rPr lang="en-US" sz="2200" dirty="0">
                    <a:latin typeface="Times New Roman" pitchFamily="18" charset="0"/>
                    <a:cs typeface="Times New Roman" pitchFamily="18" charset="0"/>
                  </a:rPr>
                  <a:t>but unknown. To test whether the two population mean are equal or whether the difference </a:t>
                </a:r>
                <a14:m>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oMath>
                </a14:m>
                <a:r>
                  <a:rPr lang="en-US" sz="2200" dirty="0">
                    <a:latin typeface="Times New Roman" pitchFamily="18" charset="0"/>
                    <a:cs typeface="Times New Roman" pitchFamily="18" charset="0"/>
                  </a:rPr>
                  <a:t> is significant we use t-test and the appropriate test statistic to be used is </a:t>
                </a:r>
              </a:p>
              <a:p>
                <a:pPr marL="0" indent="0">
                  <a:buNone/>
                </a:pPr>
                <a14:m>
                  <m:oMath xmlns:m="http://schemas.openxmlformats.org/officeDocument/2006/math">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
                          <a:rPr lang="en-US" sz="2200" i="1">
                            <a:latin typeface="Cambria Math"/>
                          </a:rPr>
                          <m:t>𝑆</m:t>
                        </m:r>
                        <m:r>
                          <a:rPr lang="en-US" sz="2200" i="1">
                            <a:latin typeface="Cambria Math"/>
                          </a:rPr>
                          <m:t> </m:t>
                        </m:r>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oMath>
                </a14:m>
                <a:r>
                  <a:rPr lang="en-US" sz="2200" dirty="0">
                    <a:latin typeface="Times New Roman" pitchFamily="18" charset="0"/>
                    <a:cs typeface="Times New Roman" pitchFamily="18" charset="0"/>
                  </a:rPr>
                  <a:t> with </a:t>
                </a:r>
                <a14:m>
                  <m:oMath xmlns:m="http://schemas.openxmlformats.org/officeDocument/2006/math">
                    <m:sSub>
                      <m:sSubPr>
                        <m:ctrlPr>
                          <a:rPr lang="en-US" sz="2200" i="1">
                            <a:latin typeface="Cambria Math" panose="02040503050406030204" pitchFamily="18" charset="0"/>
                            <a:cs typeface="Times New Roman" pitchFamily="18" charset="0"/>
                          </a:rPr>
                        </m:ctrlPr>
                      </m:sSubPr>
                      <m:e>
                        <m:r>
                          <a:rPr lang="en-US" sz="2200" i="1">
                            <a:latin typeface="Cambria Math"/>
                            <a:cs typeface="Times New Roman" pitchFamily="18" charset="0"/>
                          </a:rPr>
                          <m:t>𝑛</m:t>
                        </m:r>
                      </m:e>
                      <m:sub>
                        <m:r>
                          <a:rPr lang="en-US" sz="2200" i="1">
                            <a:latin typeface="Cambria Math"/>
                            <a:cs typeface="Times New Roman" pitchFamily="18" charset="0"/>
                          </a:rPr>
                          <m:t>1</m:t>
                        </m:r>
                      </m:sub>
                    </m:sSub>
                    <m:r>
                      <a:rPr lang="en-US" sz="2200" i="1">
                        <a:latin typeface="Cambria Math"/>
                        <a:cs typeface="Times New Roman" pitchFamily="18" charset="0"/>
                      </a:rPr>
                      <m:t>+</m:t>
                    </m:r>
                    <m:sSub>
                      <m:sSubPr>
                        <m:ctrlPr>
                          <a:rPr lang="en-US" sz="2200" i="1">
                            <a:latin typeface="Cambria Math" panose="02040503050406030204" pitchFamily="18" charset="0"/>
                            <a:cs typeface="Times New Roman" pitchFamily="18" charset="0"/>
                          </a:rPr>
                        </m:ctrlPr>
                      </m:sSubPr>
                      <m:e>
                        <m:r>
                          <a:rPr lang="en-US" sz="2200" i="1">
                            <a:latin typeface="Cambria Math"/>
                            <a:cs typeface="Times New Roman" pitchFamily="18" charset="0"/>
                          </a:rPr>
                          <m:t>𝑛</m:t>
                        </m:r>
                      </m:e>
                      <m:sub>
                        <m:r>
                          <a:rPr lang="en-US" sz="2200" i="1">
                            <a:latin typeface="Cambria Math"/>
                            <a:cs typeface="Times New Roman" pitchFamily="18" charset="0"/>
                          </a:rPr>
                          <m:t>2</m:t>
                        </m:r>
                      </m:sub>
                    </m:sSub>
                    <m:r>
                      <a:rPr lang="en-US" sz="2200" i="1">
                        <a:latin typeface="Cambria Math"/>
                        <a:cs typeface="Times New Roman" pitchFamily="18" charset="0"/>
                      </a:rPr>
                      <m:t>−2</m:t>
                    </m:r>
                  </m:oMath>
                </a14:m>
                <a:r>
                  <a:rPr lang="en-US" sz="2200" dirty="0">
                    <a:latin typeface="Times New Roman" pitchFamily="18" charset="0"/>
                    <a:cs typeface="Times New Roman" pitchFamily="18" charset="0"/>
                  </a:rPr>
                  <a:t> degree of freedom.</a:t>
                </a:r>
              </a:p>
              <a:p>
                <a:pPr marL="0" indent="0">
                  <a:buNone/>
                </a:pPr>
                <a:endParaRPr lang="en-US" sz="2200" dirty="0">
                  <a:latin typeface="Times New Roman" pitchFamily="18" charset="0"/>
                  <a:cs typeface="Times New Roman" pitchFamily="18" charset="0"/>
                </a:endParaRP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4034822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Note: </a:t>
                </a:r>
              </a:p>
              <a:p>
                <a:pPr>
                  <a:buFont typeface="Wingdings" panose="05000000000000000000" pitchFamily="2" charset="2"/>
                  <a:buChar char="§"/>
                </a:pPr>
                <a:r>
                  <a:rPr lang="en-US" sz="2200" dirty="0"/>
                  <a:t>If the samples S.D.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oMath>
                </a14:m>
                <a:r>
                  <a:rPr lang="en-US" sz="2200" b="1" dirty="0"/>
                  <a:t> </a:t>
                </a:r>
                <a:r>
                  <a:rPr lang="en-US" sz="2200" dirty="0"/>
                  <a:t>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oMath>
                </a14:m>
                <a:r>
                  <a:rPr lang="en-US" sz="2200" b="1" dirty="0"/>
                  <a:t> </a:t>
                </a:r>
                <a:r>
                  <a:rPr lang="en-US" sz="2200" dirty="0"/>
                  <a:t>are given then we have</a:t>
                </a:r>
              </a:p>
              <a:p>
                <a:pPr marL="0" indent="0">
                  <a:buNone/>
                </a:pPr>
                <a:r>
                  <a:rPr lang="en-US" sz="2200" dirty="0"/>
                  <a:t>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𝑆</m:t>
                        </m:r>
                      </m:e>
                      <m:sup>
                        <m:r>
                          <a:rPr lang="en-US" sz="2200" i="1">
                            <a:latin typeface="Cambria Math"/>
                          </a:rPr>
                          <m:t>2</m:t>
                        </m:r>
                      </m:sup>
                    </m:sSup>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−2</m:t>
                        </m:r>
                      </m:den>
                    </m:f>
                  </m:oMath>
                </a14:m>
                <a:r>
                  <a:rPr lang="en-US" sz="2200" b="1" dirty="0"/>
                  <a:t>, 	</a:t>
                </a:r>
                <a:r>
                  <a:rPr lang="en-US" sz="2200" dirty="0"/>
                  <a:t>So </a:t>
                </a:r>
                <a14:m>
                  <m:oMath xmlns:m="http://schemas.openxmlformats.org/officeDocument/2006/math">
                    <m:r>
                      <a:rPr lang="en-US" sz="2200" i="1">
                        <a:latin typeface="Cambria Math"/>
                      </a:rPr>
                      <m:t>𝑆</m:t>
                    </m:r>
                    <m:r>
                      <a:rPr lang="en-US" sz="2200" i="1">
                        <a:latin typeface="Cambria Math"/>
                      </a:rPr>
                      <m:t>=</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e>
                              <m:sub>
                                <m:r>
                                  <a:rPr lang="en-US" sz="2200" b="0" i="1" smtClean="0">
                                    <a:latin typeface="Cambria Math" panose="02040503050406030204" pitchFamily="18" charset="0"/>
                                  </a:rPr>
                                  <m:t> </m:t>
                                </m:r>
                              </m:sub>
                              <m:sup>
                                <m:r>
                                  <a:rPr lang="en-US" sz="2200" i="1">
                                    <a:latin typeface="Cambria Math"/>
                                  </a:rPr>
                                  <m:t>2</m:t>
                                </m:r>
                              </m:sup>
                            </m:sSubSup>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sSubSup>
                              <m:sSubSupPr>
                                <m:ctrlPr>
                                  <a:rPr lang="en-US" sz="2200" i="1">
                                    <a:latin typeface="Cambria Math" panose="02040503050406030204" pitchFamily="18" charset="0"/>
                                  </a:rPr>
                                </m:ctrlPr>
                              </m:sSubSupPr>
                              <m:e>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e>
                              <m:sub>
                                <m:r>
                                  <a:rPr lang="en-US" sz="2200" b="0" i="1" smtClean="0">
                                    <a:latin typeface="Cambria Math" panose="02040503050406030204" pitchFamily="18" charset="0"/>
                                  </a:rPr>
                                  <m:t> </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−2</m:t>
                            </m:r>
                          </m:den>
                        </m:f>
                      </m:e>
                    </m:rad>
                  </m:oMath>
                </a14:m>
                <a:endParaRPr lang="en-US" sz="2200" dirty="0"/>
              </a:p>
              <a:p>
                <a:pPr>
                  <a:buFont typeface="Wingdings" panose="05000000000000000000" pitchFamily="2" charset="2"/>
                  <a:buChar char="§"/>
                </a:pPr>
                <a:r>
                  <a:rPr lang="en-US" sz="2200" dirty="0"/>
                  <a:t>If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1</m:t>
                        </m:r>
                      </m:sub>
                    </m:sSub>
                  </m:oMath>
                </a14:m>
                <a:r>
                  <a:rPr lang="en-US" sz="2200" b="1" dirty="0"/>
                  <a:t> </a:t>
                </a:r>
                <a:r>
                  <a:rPr lang="en-US" sz="2200" dirty="0"/>
                  <a:t>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𝑠</m:t>
                        </m:r>
                      </m:e>
                      <m:sub>
                        <m:r>
                          <a:rPr lang="en-US" sz="2200" i="1">
                            <a:latin typeface="Cambria Math"/>
                          </a:rPr>
                          <m:t>2</m:t>
                        </m:r>
                      </m:sub>
                    </m:sSub>
                  </m:oMath>
                </a14:m>
                <a:r>
                  <a:rPr lang="en-US" sz="2200" b="1" dirty="0"/>
                  <a:t> </a:t>
                </a:r>
                <a:r>
                  <a:rPr lang="en-US" sz="2200" dirty="0"/>
                  <a:t>are not given, then </a:t>
                </a:r>
              </a:p>
              <a:p>
                <a:pPr marL="0" indent="0">
                  <a:buNone/>
                </a:pPr>
                <a:r>
                  <a:rPr lang="en-US" sz="2200" dirty="0"/>
                  <a:t>	</a:t>
                </a:r>
                <a14:m>
                  <m:oMath xmlns:m="http://schemas.openxmlformats.org/officeDocument/2006/math">
                    <m:r>
                      <a:rPr lang="en-US" sz="2200" i="1">
                        <a:latin typeface="Cambria Math"/>
                      </a:rPr>
                      <m:t>𝑆</m:t>
                    </m:r>
                    <m:r>
                      <a:rPr lang="en-US" sz="2200" i="1">
                        <a:latin typeface="Cambria Math"/>
                      </a:rPr>
                      <m:t>=</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e>
                                    </m:d>
                                  </m:e>
                                  <m:sup>
                                    <m:r>
                                      <a:rPr lang="en-US" sz="2200" i="1">
                                        <a:latin typeface="Cambria Math"/>
                                      </a:rPr>
                                      <m:t>2</m:t>
                                    </m:r>
                                  </m:sup>
                                </m:sSup>
                              </m:e>
                            </m:nary>
                            <m:r>
                              <a:rPr lang="en-US" sz="2200" i="1">
                                <a:latin typeface="Cambria Math"/>
                              </a:rPr>
                              <m:t>+</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e>
                                    </m:d>
                                  </m:e>
                                  <m:sup>
                                    <m:r>
                                      <a:rPr lang="en-US" sz="2200" i="1">
                                        <a:latin typeface="Cambria Math"/>
                                      </a:rPr>
                                      <m:t>2</m:t>
                                    </m:r>
                                  </m:sup>
                                </m:sSup>
                              </m:e>
                            </m:nary>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−2</m:t>
                            </m:r>
                          </m:den>
                        </m:f>
                      </m:e>
                    </m:rad>
                  </m:oMath>
                </a14:m>
                <a:r>
                  <a:rPr lang="en-US" sz="2200" dirty="0"/>
                  <a:t>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746121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rmAutofit/>
              </a:bodyPr>
              <a:lstStyle/>
              <a:p>
                <a:pPr marL="0" indent="0">
                  <a:buNone/>
                </a:pPr>
                <a:r>
                  <a:rPr lang="en-US" sz="2000" b="1" dirty="0"/>
                  <a:t>Example-1 </a:t>
                </a:r>
                <a:r>
                  <a:rPr lang="en-US" sz="2000" dirty="0"/>
                  <a:t>Samples of sizes 10 and 14 were taken from two normal populations with S.D. 3.5 and 5.2. The sample means were found to be 20.3 and 18.6. Test that whether the means of two populations are the same at 5% level.</a:t>
                </a:r>
              </a:p>
              <a:p>
                <a:pPr marL="0" indent="0">
                  <a:buNone/>
                </a:pPr>
                <a:r>
                  <a:rPr lang="en-US" sz="2000" b="1" dirty="0"/>
                  <a:t>Sol: </a:t>
                </a:r>
                <a:r>
                  <a:rPr lang="en-US" sz="2000" dirty="0"/>
                  <a:t>Here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1</m:t>
                        </m:r>
                      </m:sub>
                    </m:sSub>
                    <m:r>
                      <a:rPr lang="en-US" sz="2000" i="1">
                        <a:latin typeface="Cambria Math"/>
                      </a:rPr>
                      <m:t>=10,</m:t>
                    </m:r>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2</m:t>
                        </m:r>
                      </m:sub>
                    </m:sSub>
                    <m:r>
                      <a:rPr lang="en-US" sz="2000" i="1">
                        <a:latin typeface="Cambria Math"/>
                      </a:rPr>
                      <m:t>=14,</m:t>
                    </m:r>
                    <m:sSub>
                      <m:sSubPr>
                        <m:ctrlPr>
                          <a:rPr lang="en-US" sz="2000" i="1">
                            <a:latin typeface="Cambria Math" panose="02040503050406030204" pitchFamily="18" charset="0"/>
                          </a:rPr>
                        </m:ctrlPr>
                      </m:sSubPr>
                      <m:e>
                        <m:r>
                          <a:rPr lang="en-US" sz="2000" i="1">
                            <a:latin typeface="Cambria Math"/>
                          </a:rPr>
                          <m:t>𝑠</m:t>
                        </m:r>
                      </m:e>
                      <m:sub>
                        <m:r>
                          <a:rPr lang="en-US" sz="2000" i="1">
                            <a:latin typeface="Cambria Math"/>
                          </a:rPr>
                          <m:t>1</m:t>
                        </m:r>
                      </m:sub>
                    </m:sSub>
                    <m:r>
                      <a:rPr lang="en-US" sz="2000" i="1">
                        <a:latin typeface="Cambria Math"/>
                      </a:rPr>
                      <m:t>=3.5,</m:t>
                    </m:r>
                    <m:sSub>
                      <m:sSubPr>
                        <m:ctrlPr>
                          <a:rPr lang="en-US" sz="2000" i="1">
                            <a:latin typeface="Cambria Math" panose="02040503050406030204" pitchFamily="18" charset="0"/>
                          </a:rPr>
                        </m:ctrlPr>
                      </m:sSubPr>
                      <m:e>
                        <m:r>
                          <a:rPr lang="en-US" sz="2000" i="1">
                            <a:latin typeface="Cambria Math"/>
                          </a:rPr>
                          <m:t>𝑠</m:t>
                        </m:r>
                      </m:e>
                      <m:sub>
                        <m:r>
                          <a:rPr lang="en-US" sz="2000" i="1">
                            <a:latin typeface="Cambria Math"/>
                          </a:rPr>
                          <m:t>2</m:t>
                        </m:r>
                      </m:sub>
                    </m:sSub>
                    <m:r>
                      <a:rPr lang="en-US" sz="2000" i="1">
                        <a:latin typeface="Cambria Math"/>
                      </a:rPr>
                      <m:t>=5.2</m:t>
                    </m:r>
                    <m:r>
                      <a:rPr lang="en-US" sz="2000" b="0" i="0" smtClean="0">
                        <a:latin typeface="Cambria Math" panose="02040503050406030204" pitchFamily="18" charset="0"/>
                      </a:rPr>
                      <m:t>,  </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e>
                    </m:acc>
                    <m:r>
                      <a:rPr lang="en-US" sz="2000" i="1">
                        <a:latin typeface="Cambria Math"/>
                      </a:rPr>
                      <m:t>=20.3,</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e>
                    </m:acc>
                    <m:r>
                      <a:rPr lang="en-US" sz="2000" i="1">
                        <a:latin typeface="Cambria Math"/>
                      </a:rPr>
                      <m:t>=18.6</m:t>
                    </m:r>
                  </m:oMath>
                </a14:m>
                <a:endParaRPr lang="en-US" sz="2000" dirty="0"/>
              </a:p>
              <a:p>
                <a:pPr marL="0" indent="0" algn="just">
                  <a:buNone/>
                </a:pPr>
                <a:r>
                  <a:rPr lang="en-US" sz="2000" b="1"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𝐻</m:t>
                        </m:r>
                      </m:e>
                      <m:sub>
                        <m:r>
                          <a:rPr lang="en-US" sz="2000" i="1">
                            <a:latin typeface="Cambria Math"/>
                          </a:rPr>
                          <m:t>0</m:t>
                        </m:r>
                      </m:sub>
                    </m:sSub>
                    <m:r>
                      <a:rPr lang="en-US" sz="2000" i="1">
                        <a:latin typeface="Cambria Math"/>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a:rPr>
                          <m:t>μ</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m:rPr>
                            <m:sty m:val="p"/>
                          </m:rPr>
                          <a:rPr lang="en-US" sz="2000">
                            <a:latin typeface="Cambria Math"/>
                          </a:rPr>
                          <m:t>μ</m:t>
                        </m:r>
                      </m:e>
                      <m:sub>
                        <m:r>
                          <a:rPr lang="en-US" sz="2000" i="1">
                            <a:latin typeface="Cambria Math"/>
                          </a:rPr>
                          <m:t>2</m:t>
                        </m:r>
                      </m:sub>
                    </m:sSub>
                  </m:oMath>
                </a14:m>
                <a:endParaRPr lang="en-US" sz="2000" i="1" dirty="0"/>
              </a:p>
              <a:p>
                <a:pPr marL="0" indent="0" algn="just">
                  <a:buNone/>
                </a:pPr>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𝐻</m:t>
                        </m:r>
                      </m:e>
                      <m:sub>
                        <m:r>
                          <a:rPr lang="en-US" sz="2000" i="1">
                            <a:latin typeface="Cambria Math"/>
                          </a:rPr>
                          <m:t>1</m:t>
                        </m:r>
                      </m:sub>
                    </m:sSub>
                    <m:r>
                      <a:rPr lang="en-US" sz="2000" i="1">
                        <a:latin typeface="Cambria Math"/>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m:rPr>
                            <m:sty m:val="p"/>
                          </m:rPr>
                          <a:rPr lang="en-US" sz="2000">
                            <a:latin typeface="Cambria Math"/>
                          </a:rPr>
                          <m:t>μ</m:t>
                        </m:r>
                      </m:e>
                      <m:sub>
                        <m:r>
                          <a:rPr lang="en-US" sz="2000" i="1">
                            <a:latin typeface="Cambria Math"/>
                          </a:rPr>
                          <m:t>1</m:t>
                        </m:r>
                      </m:sub>
                    </m:sSub>
                    <m:r>
                      <a:rPr lang="en-US" sz="2000">
                        <a:latin typeface="Cambria Math"/>
                        <a:ea typeface="Cambria Math"/>
                      </a:rPr>
                      <m:t>≠</m:t>
                    </m:r>
                    <m:sSub>
                      <m:sSubPr>
                        <m:ctrlPr>
                          <a:rPr lang="en-US" sz="2000" i="1">
                            <a:latin typeface="Cambria Math" panose="02040503050406030204" pitchFamily="18" charset="0"/>
                          </a:rPr>
                        </m:ctrlPr>
                      </m:sSubPr>
                      <m:e>
                        <m:r>
                          <m:rPr>
                            <m:sty m:val="p"/>
                          </m:rPr>
                          <a:rPr lang="en-US" sz="2000">
                            <a:latin typeface="Cambria Math"/>
                          </a:rPr>
                          <m:t>μ</m:t>
                        </m:r>
                      </m:e>
                      <m:sub>
                        <m:r>
                          <a:rPr lang="en-US" sz="2000" i="1">
                            <a:latin typeface="Cambria Math"/>
                          </a:rPr>
                          <m:t>2</m:t>
                        </m:r>
                      </m:sub>
                    </m:sSub>
                  </m:oMath>
                </a14:m>
                <a:endParaRPr lang="en-US" sz="2000" dirty="0"/>
              </a:p>
              <a:p>
                <a:pPr marL="0" indent="0" algn="just">
                  <a:buNone/>
                </a:pPr>
                <a14:m>
                  <m:oMathPara xmlns:m="http://schemas.openxmlformats.org/officeDocument/2006/math">
                    <m:oMathParaPr>
                      <m:jc m:val="left"/>
                    </m:oMathParaPr>
                    <m:oMath xmlns:m="http://schemas.openxmlformats.org/officeDocument/2006/math">
                      <m:r>
                        <a:rPr lang="en-US" sz="2000" i="1">
                          <a:latin typeface="Cambria Math"/>
                          <a:ea typeface="Cambria Math"/>
                        </a:rPr>
                        <m:t>𝛼</m:t>
                      </m:r>
                      <m:r>
                        <a:rPr lang="en-US" sz="2000" i="1">
                          <a:latin typeface="Cambria Math"/>
                          <a:ea typeface="Cambria Math"/>
                        </a:rPr>
                        <m:t>=0.05</m:t>
                      </m:r>
                    </m:oMath>
                  </m:oMathPara>
                </a14:m>
                <a:endParaRPr lang="en-US" sz="2000" dirty="0"/>
              </a:p>
              <a:p>
                <a:pPr marL="0" indent="0" algn="just">
                  <a:buNone/>
                </a:pPr>
                <a:r>
                  <a:rPr lang="en-US" sz="2000" dirty="0"/>
                  <a:t> </a:t>
                </a:r>
                <a14:m>
                  <m:oMath xmlns:m="http://schemas.openxmlformats.org/officeDocument/2006/math">
                    <m:r>
                      <a:rPr lang="en-US" sz="2000" i="1">
                        <a:latin typeface="Cambria Math"/>
                      </a:rPr>
                      <m:t>𝑡</m:t>
                    </m:r>
                    <m:r>
                      <a:rPr lang="en-US" sz="2000" i="1">
                        <a:latin typeface="Cambria Math"/>
                      </a:rPr>
                      <m:t>=</m:t>
                    </m:r>
                    <m:f>
                      <m:fPr>
                        <m:ctrlPr>
                          <a:rPr lang="en-US" sz="2000" i="1">
                            <a:latin typeface="Cambria Math" panose="02040503050406030204" pitchFamily="18" charset="0"/>
                          </a:rPr>
                        </m:ctrlPr>
                      </m:fPr>
                      <m:num>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e>
                        </m:acc>
                        <m:r>
                          <a:rPr lang="en-US" sz="2000" i="1">
                            <a:latin typeface="Cambria Math"/>
                          </a:rPr>
                          <m:t>−</m:t>
                        </m:r>
                        <m:acc>
                          <m:accPr>
                            <m:chr m:val="̅"/>
                            <m:ctrlPr>
                              <a:rPr lang="en-US" sz="2000" i="1">
                                <a:latin typeface="Cambria Math" panose="02040503050406030204" pitchFamily="18" charset="0"/>
                              </a:rPr>
                            </m:ctrlPr>
                          </m:acc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e>
                        </m:acc>
                      </m:num>
                      <m:den>
                        <m:r>
                          <a:rPr lang="en-US" sz="2000" i="1">
                            <a:latin typeface="Cambria Math"/>
                          </a:rPr>
                          <m:t>𝑆</m:t>
                        </m:r>
                        <m:r>
                          <a:rPr lang="en-US" sz="2000" i="1">
                            <a:latin typeface="Cambria Math"/>
                          </a:rPr>
                          <m:t> </m:t>
                        </m:r>
                        <m:rad>
                          <m:radPr>
                            <m:degHide m:val="on"/>
                            <m:ctrlPr>
                              <a:rPr lang="en-US" sz="2000" i="1">
                                <a:latin typeface="Cambria Math" panose="02040503050406030204" pitchFamily="18" charset="0"/>
                                <a:ea typeface="Cambria Math"/>
                              </a:rPr>
                            </m:ctrlPr>
                          </m:radPr>
                          <m:deg/>
                          <m:e>
                            <m:f>
                              <m:fPr>
                                <m:ctrlPr>
                                  <a:rPr lang="en-US" sz="2000" i="1">
                                    <a:latin typeface="Cambria Math" panose="02040503050406030204" pitchFamily="18" charset="0"/>
                                    <a:ea typeface="Cambria Math"/>
                                  </a:rPr>
                                </m:ctrlPr>
                              </m:fPr>
                              <m:num>
                                <m:r>
                                  <a:rPr lang="en-US" sz="2000" i="1">
                                    <a:latin typeface="Cambria Math"/>
                                    <a:ea typeface="Cambria Math"/>
                                  </a:rPr>
                                  <m:t>1</m:t>
                                </m:r>
                              </m:num>
                              <m:den>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1</m:t>
                                    </m:r>
                                  </m:sub>
                                </m:sSub>
                              </m:den>
                            </m:f>
                            <m:r>
                              <a:rPr lang="en-US" sz="2000" i="1">
                                <a:latin typeface="Cambria Math"/>
                                <a:ea typeface="Cambria Math"/>
                              </a:rPr>
                              <m:t>+</m:t>
                            </m:r>
                            <m:f>
                              <m:fPr>
                                <m:ctrlPr>
                                  <a:rPr lang="en-US" sz="2000" i="1">
                                    <a:latin typeface="Cambria Math" panose="02040503050406030204" pitchFamily="18" charset="0"/>
                                    <a:ea typeface="Cambria Math"/>
                                  </a:rPr>
                                </m:ctrlPr>
                              </m:fPr>
                              <m:num>
                                <m:r>
                                  <a:rPr lang="en-US" sz="2000" i="1">
                                    <a:latin typeface="Cambria Math"/>
                                    <a:ea typeface="Cambria Math"/>
                                  </a:rPr>
                                  <m:t>1</m:t>
                                </m:r>
                              </m:num>
                              <m:den>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2</m:t>
                                    </m:r>
                                  </m:sub>
                                </m:sSub>
                              </m:den>
                            </m:f>
                          </m:e>
                        </m:rad>
                      </m:den>
                    </m:f>
                  </m:oMath>
                </a14:m>
                <a:r>
                  <a:rPr lang="en-US" sz="2000" dirty="0"/>
                  <a:t> where </a:t>
                </a:r>
                <a14:m>
                  <m:oMath xmlns:m="http://schemas.openxmlformats.org/officeDocument/2006/math">
                    <m:r>
                      <a:rPr lang="en-US" sz="2000" i="1">
                        <a:latin typeface="Cambria Math"/>
                      </a:rPr>
                      <m:t>𝑆</m:t>
                    </m:r>
                    <m:r>
                      <a:rPr lang="en-US" sz="2000" i="1">
                        <a:latin typeface="Cambria Math"/>
                      </a:rPr>
                      <m:t>=</m:t>
                    </m:r>
                    <m:rad>
                      <m:radPr>
                        <m:degHide m:val="on"/>
                        <m:ctrlPr>
                          <a:rPr lang="en-US" sz="2000" i="1">
                            <a:latin typeface="Cambria Math" panose="02040503050406030204" pitchFamily="18" charset="0"/>
                          </a:rPr>
                        </m:ctrlPr>
                      </m:radPr>
                      <m:deg/>
                      <m:e>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1</m:t>
                                </m:r>
                              </m:sub>
                            </m:sSub>
                            <m:sSubSup>
                              <m:sSubSupPr>
                                <m:ctrlPr>
                                  <a:rPr lang="en-US" sz="2000" i="1">
                                    <a:latin typeface="Cambria Math" panose="02040503050406030204" pitchFamily="18" charset="0"/>
                                  </a:rPr>
                                </m:ctrlPr>
                              </m:sSubSupPr>
                              <m:e>
                                <m:sSub>
                                  <m:sSubPr>
                                    <m:ctrlPr>
                                      <a:rPr lang="en-US" sz="2000" i="1">
                                        <a:latin typeface="Cambria Math" panose="02040503050406030204" pitchFamily="18" charset="0"/>
                                      </a:rPr>
                                    </m:ctrlPr>
                                  </m:sSubPr>
                                  <m:e>
                                    <m:r>
                                      <a:rPr lang="en-US" sz="2000" i="1">
                                        <a:latin typeface="Cambria Math"/>
                                      </a:rPr>
                                      <m:t>𝑠</m:t>
                                    </m:r>
                                  </m:e>
                                  <m:sub>
                                    <m:r>
                                      <a:rPr lang="en-US" sz="2000" i="1">
                                        <a:latin typeface="Cambria Math"/>
                                      </a:rPr>
                                      <m:t>1</m:t>
                                    </m:r>
                                  </m:sub>
                                </m:sSub>
                              </m:e>
                              <m:sub>
                                <m:r>
                                  <a:rPr lang="en-US" sz="2000" i="1">
                                    <a:latin typeface="Cambria Math" panose="02040503050406030204" pitchFamily="18" charset="0"/>
                                  </a:rPr>
                                  <m:t> </m:t>
                                </m:r>
                              </m:sub>
                              <m:sup>
                                <m:r>
                                  <a:rPr lang="en-US" sz="2000" i="1">
                                    <a:latin typeface="Cambria Math"/>
                                  </a:rPr>
                                  <m:t>2</m:t>
                                </m:r>
                              </m:sup>
                            </m:sSubSup>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2</m:t>
                                </m:r>
                              </m:sub>
                            </m:sSub>
                            <m:sSubSup>
                              <m:sSubSupPr>
                                <m:ctrlPr>
                                  <a:rPr lang="en-US" sz="2000" i="1">
                                    <a:latin typeface="Cambria Math" panose="02040503050406030204" pitchFamily="18" charset="0"/>
                                  </a:rPr>
                                </m:ctrlPr>
                              </m:sSubSupPr>
                              <m:e>
                                <m:sSub>
                                  <m:sSubPr>
                                    <m:ctrlPr>
                                      <a:rPr lang="en-US" sz="2000" i="1">
                                        <a:latin typeface="Cambria Math" panose="02040503050406030204" pitchFamily="18" charset="0"/>
                                      </a:rPr>
                                    </m:ctrlPr>
                                  </m:sSubPr>
                                  <m:e>
                                    <m:r>
                                      <a:rPr lang="en-US" sz="2000" i="1">
                                        <a:latin typeface="Cambria Math"/>
                                      </a:rPr>
                                      <m:t>𝑠</m:t>
                                    </m:r>
                                  </m:e>
                                  <m:sub>
                                    <m:r>
                                      <a:rPr lang="en-US" sz="2000" i="1">
                                        <a:latin typeface="Cambria Math"/>
                                      </a:rPr>
                                      <m:t>2</m:t>
                                    </m:r>
                                  </m:sub>
                                </m:sSub>
                              </m:e>
                              <m:sub>
                                <m:r>
                                  <a:rPr lang="en-US" sz="2000" i="1">
                                    <a:latin typeface="Cambria Math" panose="02040503050406030204" pitchFamily="18" charset="0"/>
                                  </a:rPr>
                                  <m:t> </m:t>
                                </m:r>
                              </m:sub>
                              <m:sup>
                                <m:r>
                                  <a:rPr lang="en-US" sz="2000" i="1">
                                    <a:latin typeface="Cambria Math"/>
                                  </a:rPr>
                                  <m:t>2</m:t>
                                </m:r>
                              </m:sup>
                            </m:sSubSup>
                          </m:num>
                          <m:den>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𝑛</m:t>
                                </m:r>
                              </m:e>
                              <m:sub>
                                <m:r>
                                  <a:rPr lang="en-US" sz="2000" i="1">
                                    <a:latin typeface="Cambria Math"/>
                                  </a:rPr>
                                  <m:t>2</m:t>
                                </m:r>
                              </m:sub>
                            </m:sSub>
                            <m:r>
                              <a:rPr lang="en-US" sz="2000" i="1">
                                <a:latin typeface="Cambria Math"/>
                              </a:rPr>
                              <m:t>−2</m:t>
                            </m:r>
                          </m:den>
                        </m:f>
                      </m:e>
                    </m:rad>
                    <m:r>
                      <a:rPr lang="en-US" sz="2000" i="1">
                        <a:latin typeface="Cambria Math"/>
                      </a:rPr>
                      <m:t>=4.772</m:t>
                    </m:r>
                  </m:oMath>
                </a14:m>
                <a:r>
                  <a:rPr lang="en-US" sz="2000" dirty="0"/>
                  <a:t> </a:t>
                </a:r>
              </a:p>
              <a:p>
                <a:pPr marL="0" indent="0" algn="just">
                  <a:buNone/>
                </a:pPr>
                <a:endParaRPr lang="en-US" sz="2000" i="1" dirty="0">
                  <a:latin typeface="Cambria Math"/>
                </a:endParaRPr>
              </a:p>
              <a:p>
                <a:pPr marL="0" indent="0" algn="just">
                  <a:buNone/>
                </a:pPr>
                <a14:m>
                  <m:oMathPara xmlns:m="http://schemas.openxmlformats.org/officeDocument/2006/math">
                    <m:oMathParaPr>
                      <m:jc m:val="left"/>
                    </m:oMathParaPr>
                    <m:oMath xmlns:m="http://schemas.openxmlformats.org/officeDocument/2006/math">
                      <m:r>
                        <a:rPr lang="en-US" sz="2000" i="1">
                          <a:latin typeface="Cambria Math"/>
                        </a:rPr>
                        <m:t>𝑡</m:t>
                      </m:r>
                      <m:r>
                        <a:rPr lang="en-US" sz="2000" i="1">
                          <a:latin typeface="Cambria Math"/>
                        </a:rPr>
                        <m:t>=0.8604</m:t>
                      </m:r>
                    </m:oMath>
                  </m:oMathPara>
                </a14:m>
                <a:endParaRPr lang="en-US" sz="2000" dirty="0"/>
              </a:p>
              <a:p>
                <a:pPr marL="0" indent="0" algn="just">
                  <a:buNone/>
                </a:pPr>
                <a:r>
                  <a:rPr lang="en-US" sz="2000" dirty="0"/>
                  <a:t>Degree of freedom =</a:t>
                </a:r>
                <a14:m>
                  <m:oMath xmlns:m="http://schemas.openxmlformats.org/officeDocument/2006/math">
                    <m:r>
                      <a:rPr lang="en-US" sz="2000" i="1">
                        <a:latin typeface="Cambria Math"/>
                      </a:rPr>
                      <m:t>10+14−2=22</m:t>
                    </m:r>
                  </m:oMath>
                </a14:m>
                <a:r>
                  <a:rPr lang="en-US" sz="2000" dirty="0"/>
                  <a:t>, Table value: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𝑡</m:t>
                        </m:r>
                      </m:e>
                      <m:sub>
                        <m:d>
                          <m:dPr>
                            <m:ctrlPr>
                              <a:rPr lang="en-US" sz="2000" i="1">
                                <a:latin typeface="Cambria Math" panose="02040503050406030204" pitchFamily="18" charset="0"/>
                              </a:rPr>
                            </m:ctrlPr>
                          </m:dPr>
                          <m:e>
                            <m:r>
                              <a:rPr lang="en-US" sz="2000" i="1">
                                <a:latin typeface="Cambria Math"/>
                              </a:rPr>
                              <m:t>22</m:t>
                            </m:r>
                          </m:e>
                        </m:d>
                      </m:sub>
                    </m:sSub>
                    <m:r>
                      <a:rPr lang="en-US" sz="2000" i="1">
                        <a:latin typeface="Cambria Math"/>
                      </a:rPr>
                      <m:t>(0.05)=2.07</m:t>
                    </m:r>
                  </m:oMath>
                </a14:m>
                <a:endParaRPr lang="en-US" sz="2000" dirty="0"/>
              </a:p>
              <a:p>
                <a:pPr marL="0" indent="0">
                  <a:buNone/>
                </a:pPr>
                <a:r>
                  <a:rPr lang="en-US" sz="2000" dirty="0"/>
                  <a:t>Conclusion : </a:t>
                </a:r>
                <a14:m>
                  <m:oMath xmlns:m="http://schemas.openxmlformats.org/officeDocument/2006/math">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a:rPr>
                              <m:t>𝑡</m:t>
                            </m:r>
                          </m:e>
                        </m:d>
                      </m:e>
                      <m:sub>
                        <m:r>
                          <a:rPr lang="en-US" sz="2000" i="1">
                            <a:latin typeface="Cambria Math"/>
                          </a:rPr>
                          <m:t>𝑐𝑎𝑙</m:t>
                        </m:r>
                      </m:sub>
                    </m:sSub>
                    <m:r>
                      <a:rPr lang="en-US" sz="2000" i="1">
                        <a:latin typeface="Cambria Math"/>
                      </a:rPr>
                      <m:t>&lt;</m:t>
                    </m:r>
                    <m:r>
                      <a:rPr lang="en-US" sz="2000" i="1">
                        <a:latin typeface="Cambria Math"/>
                      </a:rPr>
                      <m:t>𝑡𝑎𝑏𝑙𝑒</m:t>
                    </m:r>
                    <m:r>
                      <a:rPr lang="en-US" sz="2000" i="1">
                        <a:latin typeface="Cambria Math"/>
                      </a:rPr>
                      <m:t> </m:t>
                    </m:r>
                    <m:r>
                      <a:rPr lang="en-US" sz="2000" i="1">
                        <a:latin typeface="Cambria Math"/>
                      </a:rPr>
                      <m:t>𝑣𝑎𝑙𝑢𝑒</m:t>
                    </m:r>
                  </m:oMath>
                </a14:m>
                <a:r>
                  <a:rPr lang="en-US" sz="2000" dirty="0"/>
                  <a:t>, So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𝐻</m:t>
                        </m:r>
                      </m:e>
                      <m:sub>
                        <m:r>
                          <a:rPr lang="en-US" sz="2000" i="1">
                            <a:latin typeface="Cambria Math"/>
                          </a:rPr>
                          <m:t>0</m:t>
                        </m:r>
                      </m:sub>
                    </m:sSub>
                  </m:oMath>
                </a14:m>
                <a:r>
                  <a:rPr lang="en-US" sz="2000" dirty="0"/>
                  <a:t> is accepted.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815" t="-727" b="-72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719432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00600"/>
              </a:xfrm>
            </p:spPr>
            <p:txBody>
              <a:bodyPr>
                <a:normAutofit/>
              </a:bodyPr>
              <a:lstStyle/>
              <a:p>
                <a:pPr marL="0" indent="0">
                  <a:buNone/>
                </a:pPr>
                <a:r>
                  <a:rPr lang="en-US" b="1" dirty="0"/>
                  <a:t>Example-2: </a:t>
                </a:r>
                <a:r>
                  <a:rPr lang="en-US" dirty="0"/>
                  <a:t>The height of 6 randomly sailors 63,65,68,69,71 and 72. Those of 9 randomly chosen soldiers are 61,62,65,66,69,70,71,72 and 73. Test whether the sailors are on the avg. taller than soldiers. (Test at 5% level of significance)</a:t>
                </a:r>
              </a:p>
              <a:p>
                <a:pPr marL="0" indent="0">
                  <a:buNone/>
                </a:pPr>
                <a:r>
                  <a:rPr lang="en-US" b="1" dirty="0"/>
                  <a:t>Sol: </a:t>
                </a:r>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oMath>
                </a14:m>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oMath>
                </a14:m>
                <a:r>
                  <a:rPr lang="en-US" dirty="0"/>
                  <a:t> be two samples denoting the height of sailors &amp; soldiers.</a:t>
                </a:r>
              </a:p>
              <a:p>
                <a:pPr marL="0" indent="0">
                  <a:buNone/>
                </a:pPr>
                <a:r>
                  <a:rPr lang="en-US" dirty="0"/>
                  <a:t>Here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=6,</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=9</m:t>
                    </m:r>
                  </m:oMath>
                </a14:m>
                <a:endParaRPr lang="en-US" dirty="0"/>
              </a:p>
              <a:p>
                <a:pPr marL="0" indent="0">
                  <a:buNone/>
                </a:pPr>
                <a:r>
                  <a:rPr lang="en-US" dirty="0"/>
                  <a:t>Now </a:t>
                </a:r>
                <a14:m>
                  <m:oMath xmlns:m="http://schemas.openxmlformats.org/officeDocument/2006/math">
                    <m:r>
                      <a:rPr lang="en-US" i="1">
                        <a:latin typeface="Cambria Math"/>
                      </a:rPr>
                      <m:t>𝑆</m:t>
                    </m:r>
                    <m:r>
                      <a:rPr lang="en-US" i="1">
                        <a:latin typeface="Cambria Math"/>
                      </a:rPr>
                      <m:t>=</m:t>
                    </m:r>
                    <m:rad>
                      <m:radPr>
                        <m:degHide m:val="on"/>
                        <m:ctrlPr>
                          <a:rPr lang="en-US" i="1">
                            <a:latin typeface="Cambria Math" panose="02040503050406030204" pitchFamily="18" charset="0"/>
                          </a:rPr>
                        </m:ctrlPr>
                      </m:radPr>
                      <m:deg/>
                      <m:e>
                        <m:f>
                          <m:fPr>
                            <m:ctrlPr>
                              <a:rPr lang="en-US" i="1">
                                <a:latin typeface="Cambria Math" panose="02040503050406030204" pitchFamily="18" charset="0"/>
                              </a:rPr>
                            </m:ctrlPr>
                          </m:fPr>
                          <m:num>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e>
                                        </m:acc>
                                      </m:e>
                                    </m:d>
                                  </m:e>
                                  <m:sup>
                                    <m:r>
                                      <a:rPr lang="en-US" i="1">
                                        <a:latin typeface="Cambria Math"/>
                                      </a:rPr>
                                      <m:t>2</m:t>
                                    </m:r>
                                  </m:sup>
                                </m:sSup>
                              </m:e>
                            </m:nary>
                            <m:r>
                              <a:rPr lang="en-US" i="1">
                                <a:latin typeface="Cambria Math"/>
                              </a:rPr>
                              <m:t>+</m:t>
                            </m:r>
                            <m:nary>
                              <m:naryPr>
                                <m:chr m:val="∑"/>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e>
                                        </m:acc>
                                      </m:e>
                                    </m:d>
                                  </m:e>
                                  <m:sup>
                                    <m:r>
                                      <a:rPr lang="en-US" i="1">
                                        <a:latin typeface="Cambria Math"/>
                                      </a:rPr>
                                      <m:t>2</m:t>
                                    </m:r>
                                  </m:sup>
                                </m:sSup>
                              </m:e>
                            </m:nary>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−2</m:t>
                            </m:r>
                          </m:den>
                        </m:f>
                      </m:e>
                    </m:rad>
                    <m:r>
                      <a:rPr lang="en-US" i="1">
                        <a:latin typeface="Cambria Math"/>
                      </a:rPr>
                      <m:t>=4.038,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e>
                    </m:acc>
                    <m:r>
                      <a:rPr lang="en-US" i="1">
                        <a:latin typeface="Cambria Math"/>
                      </a:rPr>
                      <m:t>=68,</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e>
                    </m:acc>
                    <m:r>
                      <a:rPr lang="en-US" i="1">
                        <a:latin typeface="Cambria Math"/>
                      </a:rPr>
                      <m:t>=67.66</m:t>
                    </m:r>
                  </m:oMath>
                </a14:m>
                <a:endParaRPr lang="en-US" i="1" dirty="0">
                  <a:latin typeface="Cambria Math"/>
                </a:endParaRPr>
              </a:p>
              <a:p>
                <a:pPr marL="0" indent="0" algn="just">
                  <a:buNone/>
                </a:pP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0</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μ</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m:rPr>
                            <m:sty m:val="p"/>
                          </m:rPr>
                          <a:rPr lang="en-US">
                            <a:latin typeface="Cambria Math"/>
                          </a:rPr>
                          <m:t>μ</m:t>
                        </m:r>
                      </m:e>
                      <m:sub>
                        <m:r>
                          <a:rPr lang="en-US" i="1">
                            <a:latin typeface="Cambria Math"/>
                          </a:rPr>
                          <m:t>2</m:t>
                        </m:r>
                      </m:sub>
                    </m:sSub>
                  </m:oMath>
                </a14:m>
                <a:endParaRPr lang="en-US" i="1" dirty="0"/>
              </a:p>
              <a:p>
                <a:pPr marL="0" indent="0" algn="just">
                  <a:buNone/>
                </a:pPr>
                <a14:m>
                  <m:oMath xmlns:m="http://schemas.openxmlformats.org/officeDocument/2006/math">
                    <m:sSub>
                      <m:sSubPr>
                        <m:ctrlPr>
                          <a:rPr lang="en-US" i="1">
                            <a:latin typeface="Cambria Math" panose="02040503050406030204" pitchFamily="18" charset="0"/>
                          </a:rPr>
                        </m:ctrlPr>
                      </m:sSubPr>
                      <m:e>
                        <m:r>
                          <a:rPr lang="en-US" i="1">
                            <a:latin typeface="Cambria Math"/>
                          </a:rPr>
                          <m:t>𝐻</m:t>
                        </m:r>
                      </m:e>
                      <m:sub>
                        <m:r>
                          <a:rPr lang="en-US" i="1">
                            <a:latin typeface="Cambria Math"/>
                          </a:rPr>
                          <m:t>1</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a:rPr>
                          <m:t>μ</m:t>
                        </m:r>
                      </m:e>
                      <m:sub>
                        <m:r>
                          <a:rPr lang="en-US" i="1">
                            <a:latin typeface="Cambria Math"/>
                          </a:rPr>
                          <m:t>1</m:t>
                        </m:r>
                      </m:sub>
                    </m:sSub>
                    <m:r>
                      <a:rPr lang="en-US">
                        <a:latin typeface="Cambria Math"/>
                      </a:rPr>
                      <m:t>&gt;</m:t>
                    </m:r>
                    <m:sSub>
                      <m:sSubPr>
                        <m:ctrlPr>
                          <a:rPr lang="en-US" i="1">
                            <a:latin typeface="Cambria Math" panose="02040503050406030204" pitchFamily="18" charset="0"/>
                          </a:rPr>
                        </m:ctrlPr>
                      </m:sSubPr>
                      <m:e>
                        <m:r>
                          <m:rPr>
                            <m:sty m:val="p"/>
                          </m:rPr>
                          <a:rPr lang="en-US">
                            <a:latin typeface="Cambria Math"/>
                          </a:rPr>
                          <m:t>μ</m:t>
                        </m:r>
                      </m:e>
                      <m:sub>
                        <m:r>
                          <a:rPr lang="en-US" i="1">
                            <a:latin typeface="Cambria Math"/>
                          </a:rPr>
                          <m:t>2</m:t>
                        </m:r>
                      </m:sub>
                    </m:sSub>
                  </m:oMath>
                </a14:m>
                <a:r>
                  <a:rPr lang="en-US" dirty="0"/>
                  <a:t> (Single tailed test)</a:t>
                </a:r>
              </a:p>
              <a:p>
                <a:pPr marL="0" indent="0" algn="just">
                  <a:buNone/>
                </a:pPr>
                <a14:m>
                  <m:oMathPara xmlns:m="http://schemas.openxmlformats.org/officeDocument/2006/math">
                    <m:oMathParaPr>
                      <m:jc m:val="left"/>
                    </m:oMathParaPr>
                    <m:oMath xmlns:m="http://schemas.openxmlformats.org/officeDocument/2006/math">
                      <m:r>
                        <a:rPr lang="en-US" i="1">
                          <a:latin typeface="Cambria Math"/>
                          <a:ea typeface="Cambria Math"/>
                        </a:rPr>
                        <m:t>𝛼</m:t>
                      </m:r>
                      <m:r>
                        <a:rPr lang="en-US" i="1">
                          <a:latin typeface="Cambria Math"/>
                          <a:ea typeface="Cambria Math"/>
                        </a:rPr>
                        <m:t>=0.05</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00600"/>
              </a:xfrm>
              <a:blipFill>
                <a:blip r:embed="rId2"/>
                <a:stretch>
                  <a:fillRect l="-963" t="-88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007963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ACDABB63-2083-4892-82CD-60BEAFF13D28}"/>
                  </a:ext>
                </a:extLst>
              </p:cNvPr>
              <p:cNvGraphicFramePr>
                <a:graphicFrameLocks noGrp="1"/>
              </p:cNvGraphicFramePr>
              <p:nvPr>
                <p:extLst>
                  <p:ext uri="{D42A27DB-BD31-4B8C-83A1-F6EECF244321}">
                    <p14:modId xmlns:p14="http://schemas.microsoft.com/office/powerpoint/2010/main" val="1273679151"/>
                  </p:ext>
                </p:extLst>
              </p:nvPr>
            </p:nvGraphicFramePr>
            <p:xfrm>
              <a:off x="1066800" y="1273238"/>
              <a:ext cx="7086600" cy="4365562"/>
            </p:xfrm>
            <a:graphic>
              <a:graphicData uri="http://schemas.openxmlformats.org/drawingml/2006/table">
                <a:tbl>
                  <a:tblPr firstRow="1" bandRow="1">
                    <a:tableStyleId>{5C22544A-7EE6-4342-B048-85BDC9FD1C3A}</a:tableStyleId>
                  </a:tblPr>
                  <a:tblGrid>
                    <a:gridCol w="1771650">
                      <a:extLst>
                        <a:ext uri="{9D8B030D-6E8A-4147-A177-3AD203B41FA5}">
                          <a16:colId xmlns:a16="http://schemas.microsoft.com/office/drawing/2014/main" val="1310456443"/>
                        </a:ext>
                      </a:extLst>
                    </a:gridCol>
                    <a:gridCol w="1771650">
                      <a:extLst>
                        <a:ext uri="{9D8B030D-6E8A-4147-A177-3AD203B41FA5}">
                          <a16:colId xmlns:a16="http://schemas.microsoft.com/office/drawing/2014/main" val="682372494"/>
                        </a:ext>
                      </a:extLst>
                    </a:gridCol>
                    <a:gridCol w="1771650">
                      <a:extLst>
                        <a:ext uri="{9D8B030D-6E8A-4147-A177-3AD203B41FA5}">
                          <a16:colId xmlns:a16="http://schemas.microsoft.com/office/drawing/2014/main" val="2961268433"/>
                        </a:ext>
                      </a:extLst>
                    </a:gridCol>
                    <a:gridCol w="1771650">
                      <a:extLst>
                        <a:ext uri="{9D8B030D-6E8A-4147-A177-3AD203B41FA5}">
                          <a16:colId xmlns:a16="http://schemas.microsoft.com/office/drawing/2014/main" val="3142808010"/>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e>
                                    </m:acc>
                                    <m:r>
                                      <a:rPr lang="en-US" sz="2000" b="1" i="1" smtClean="0">
                                        <a:latin typeface="Cambria Math" panose="02040503050406030204" pitchFamily="18" charset="0"/>
                                      </a:rPr>
                                      <m:t>)</m:t>
                                    </m:r>
                                  </m:e>
                                  <m:sup>
                                    <m:r>
                                      <a:rPr lang="en-US" sz="2000" b="1" i="1" smtClean="0">
                                        <a:latin typeface="Cambria Math" panose="02040503050406030204" pitchFamily="18" charset="0"/>
                                      </a:rPr>
                                      <m:t>𝟐</m:t>
                                    </m:r>
                                  </m:sup>
                                </m:sSup>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e>
                                    </m:acc>
                                    <m:r>
                                      <a:rPr lang="en-US" sz="2000" b="1" i="1" smtClean="0">
                                        <a:latin typeface="Cambria Math" panose="02040503050406030204" pitchFamily="18" charset="0"/>
                                      </a:rPr>
                                      <m:t>)</m:t>
                                    </m:r>
                                  </m:e>
                                  <m:sup>
                                    <m:r>
                                      <a:rPr lang="en-US" sz="2000" b="1" i="1" smtClean="0">
                                        <a:latin typeface="Cambria Math" panose="02040503050406030204" pitchFamily="18" charset="0"/>
                                      </a:rPr>
                                      <m:t>𝟐</m:t>
                                    </m:r>
                                  </m:sup>
                                </m:sSup>
                              </m:oMath>
                            </m:oMathPara>
                          </a14:m>
                          <a:endParaRPr lang="en-US" sz="2000" dirty="0"/>
                        </a:p>
                      </a:txBody>
                      <a:tcPr/>
                    </a:tc>
                    <a:extLst>
                      <a:ext uri="{0D108BD9-81ED-4DB2-BD59-A6C34878D82A}">
                        <a16:rowId xmlns:a16="http://schemas.microsoft.com/office/drawing/2014/main" val="2203778896"/>
                      </a:ext>
                    </a:extLst>
                  </a:tr>
                  <a:tr h="370840">
                    <a:tc>
                      <a:txBody>
                        <a:bodyPr/>
                        <a:lstStyle/>
                        <a:p>
                          <a:pPr algn="ctr"/>
                          <a:r>
                            <a:rPr lang="en-US" sz="2000" dirty="0"/>
                            <a:t>63</a:t>
                          </a:r>
                        </a:p>
                      </a:txBody>
                      <a:tcPr/>
                    </a:tc>
                    <a:tc>
                      <a:txBody>
                        <a:bodyPr/>
                        <a:lstStyle/>
                        <a:p>
                          <a:pPr algn="ctr"/>
                          <a:r>
                            <a:rPr lang="en-US" sz="2000" dirty="0"/>
                            <a:t>61</a:t>
                          </a:r>
                        </a:p>
                      </a:txBody>
                      <a:tcPr/>
                    </a:tc>
                    <a:tc>
                      <a:txBody>
                        <a:bodyPr/>
                        <a:lstStyle/>
                        <a:p>
                          <a:pPr algn="ctr"/>
                          <a:r>
                            <a:rPr lang="en-US" sz="2000" dirty="0"/>
                            <a:t>25</a:t>
                          </a:r>
                        </a:p>
                      </a:txBody>
                      <a:tcPr/>
                    </a:tc>
                    <a:tc>
                      <a:txBody>
                        <a:bodyPr/>
                        <a:lstStyle/>
                        <a:p>
                          <a:pPr algn="ctr"/>
                          <a:r>
                            <a:rPr lang="en-US" sz="2000" dirty="0"/>
                            <a:t>44.3556</a:t>
                          </a:r>
                        </a:p>
                      </a:txBody>
                      <a:tcPr/>
                    </a:tc>
                    <a:extLst>
                      <a:ext uri="{0D108BD9-81ED-4DB2-BD59-A6C34878D82A}">
                        <a16:rowId xmlns:a16="http://schemas.microsoft.com/office/drawing/2014/main" val="2445034457"/>
                      </a:ext>
                    </a:extLst>
                  </a:tr>
                  <a:tr h="370840">
                    <a:tc>
                      <a:txBody>
                        <a:bodyPr/>
                        <a:lstStyle/>
                        <a:p>
                          <a:pPr algn="ctr"/>
                          <a:r>
                            <a:rPr lang="en-US" sz="2000" dirty="0"/>
                            <a:t>65</a:t>
                          </a:r>
                        </a:p>
                      </a:txBody>
                      <a:tcPr/>
                    </a:tc>
                    <a:tc>
                      <a:txBody>
                        <a:bodyPr/>
                        <a:lstStyle/>
                        <a:p>
                          <a:pPr algn="ctr"/>
                          <a:r>
                            <a:rPr lang="en-US" sz="2000" dirty="0"/>
                            <a:t>62</a:t>
                          </a:r>
                        </a:p>
                      </a:txBody>
                      <a:tcPr/>
                    </a:tc>
                    <a:tc>
                      <a:txBody>
                        <a:bodyPr/>
                        <a:lstStyle/>
                        <a:p>
                          <a:pPr algn="ctr"/>
                          <a:r>
                            <a:rPr lang="en-US" sz="2000" dirty="0"/>
                            <a:t>9</a:t>
                          </a:r>
                        </a:p>
                      </a:txBody>
                      <a:tcPr/>
                    </a:tc>
                    <a:tc>
                      <a:txBody>
                        <a:bodyPr/>
                        <a:lstStyle/>
                        <a:p>
                          <a:pPr algn="ctr"/>
                          <a:r>
                            <a:rPr lang="en-US" sz="2000" dirty="0"/>
                            <a:t>32.0356</a:t>
                          </a:r>
                        </a:p>
                      </a:txBody>
                      <a:tcPr/>
                    </a:tc>
                    <a:extLst>
                      <a:ext uri="{0D108BD9-81ED-4DB2-BD59-A6C34878D82A}">
                        <a16:rowId xmlns:a16="http://schemas.microsoft.com/office/drawing/2014/main" val="2153534736"/>
                      </a:ext>
                    </a:extLst>
                  </a:tr>
                  <a:tr h="370840">
                    <a:tc>
                      <a:txBody>
                        <a:bodyPr/>
                        <a:lstStyle/>
                        <a:p>
                          <a:pPr algn="ctr"/>
                          <a:r>
                            <a:rPr lang="en-US" sz="2000" dirty="0"/>
                            <a:t>68</a:t>
                          </a:r>
                        </a:p>
                      </a:txBody>
                      <a:tcPr/>
                    </a:tc>
                    <a:tc>
                      <a:txBody>
                        <a:bodyPr/>
                        <a:lstStyle/>
                        <a:p>
                          <a:pPr algn="ctr"/>
                          <a:r>
                            <a:rPr lang="en-US" sz="2000" dirty="0"/>
                            <a:t>65</a:t>
                          </a:r>
                        </a:p>
                      </a:txBody>
                      <a:tcPr/>
                    </a:tc>
                    <a:tc>
                      <a:txBody>
                        <a:bodyPr/>
                        <a:lstStyle/>
                        <a:p>
                          <a:pPr algn="ctr"/>
                          <a:r>
                            <a:rPr lang="en-US" sz="2000" dirty="0"/>
                            <a:t>0</a:t>
                          </a:r>
                        </a:p>
                      </a:txBody>
                      <a:tcPr/>
                    </a:tc>
                    <a:tc>
                      <a:txBody>
                        <a:bodyPr/>
                        <a:lstStyle/>
                        <a:p>
                          <a:pPr algn="ctr"/>
                          <a:r>
                            <a:rPr lang="en-US" sz="2000" dirty="0"/>
                            <a:t>7.0756</a:t>
                          </a:r>
                        </a:p>
                      </a:txBody>
                      <a:tcPr/>
                    </a:tc>
                    <a:extLst>
                      <a:ext uri="{0D108BD9-81ED-4DB2-BD59-A6C34878D82A}">
                        <a16:rowId xmlns:a16="http://schemas.microsoft.com/office/drawing/2014/main" val="305967492"/>
                      </a:ext>
                    </a:extLst>
                  </a:tr>
                  <a:tr h="370840">
                    <a:tc>
                      <a:txBody>
                        <a:bodyPr/>
                        <a:lstStyle/>
                        <a:p>
                          <a:pPr algn="ctr"/>
                          <a:r>
                            <a:rPr lang="en-US" sz="2000" dirty="0"/>
                            <a:t>69</a:t>
                          </a:r>
                        </a:p>
                      </a:txBody>
                      <a:tcPr/>
                    </a:tc>
                    <a:tc>
                      <a:txBody>
                        <a:bodyPr/>
                        <a:lstStyle/>
                        <a:p>
                          <a:pPr algn="ctr"/>
                          <a:r>
                            <a:rPr lang="en-US" sz="2000" dirty="0"/>
                            <a:t>66</a:t>
                          </a:r>
                        </a:p>
                      </a:txBody>
                      <a:tcPr/>
                    </a:tc>
                    <a:tc>
                      <a:txBody>
                        <a:bodyPr/>
                        <a:lstStyle/>
                        <a:p>
                          <a:pPr algn="ctr"/>
                          <a:r>
                            <a:rPr lang="en-US" sz="2000" dirty="0"/>
                            <a:t>1</a:t>
                          </a:r>
                        </a:p>
                      </a:txBody>
                      <a:tcPr/>
                    </a:tc>
                    <a:tc>
                      <a:txBody>
                        <a:bodyPr/>
                        <a:lstStyle/>
                        <a:p>
                          <a:pPr algn="ctr"/>
                          <a:r>
                            <a:rPr lang="en-US" sz="2000" dirty="0"/>
                            <a:t>2.7556</a:t>
                          </a:r>
                        </a:p>
                      </a:txBody>
                      <a:tcPr/>
                    </a:tc>
                    <a:extLst>
                      <a:ext uri="{0D108BD9-81ED-4DB2-BD59-A6C34878D82A}">
                        <a16:rowId xmlns:a16="http://schemas.microsoft.com/office/drawing/2014/main" val="232562333"/>
                      </a:ext>
                    </a:extLst>
                  </a:tr>
                  <a:tr h="370840">
                    <a:tc>
                      <a:txBody>
                        <a:bodyPr/>
                        <a:lstStyle/>
                        <a:p>
                          <a:pPr algn="ctr"/>
                          <a:r>
                            <a:rPr lang="en-US" sz="2000" dirty="0"/>
                            <a:t>71</a:t>
                          </a:r>
                        </a:p>
                      </a:txBody>
                      <a:tcPr/>
                    </a:tc>
                    <a:tc>
                      <a:txBody>
                        <a:bodyPr/>
                        <a:lstStyle/>
                        <a:p>
                          <a:pPr algn="ctr"/>
                          <a:r>
                            <a:rPr lang="en-US" sz="2000" dirty="0"/>
                            <a:t>69</a:t>
                          </a:r>
                        </a:p>
                      </a:txBody>
                      <a:tcPr/>
                    </a:tc>
                    <a:tc>
                      <a:txBody>
                        <a:bodyPr/>
                        <a:lstStyle/>
                        <a:p>
                          <a:pPr algn="ctr"/>
                          <a:r>
                            <a:rPr lang="en-US" sz="2000" dirty="0"/>
                            <a:t>9</a:t>
                          </a:r>
                        </a:p>
                      </a:txBody>
                      <a:tcPr/>
                    </a:tc>
                    <a:tc>
                      <a:txBody>
                        <a:bodyPr/>
                        <a:lstStyle/>
                        <a:p>
                          <a:pPr algn="ctr"/>
                          <a:r>
                            <a:rPr lang="en-US" sz="2000" dirty="0"/>
                            <a:t>1.7956</a:t>
                          </a:r>
                        </a:p>
                      </a:txBody>
                      <a:tcPr/>
                    </a:tc>
                    <a:extLst>
                      <a:ext uri="{0D108BD9-81ED-4DB2-BD59-A6C34878D82A}">
                        <a16:rowId xmlns:a16="http://schemas.microsoft.com/office/drawing/2014/main" val="1717096527"/>
                      </a:ext>
                    </a:extLst>
                  </a:tr>
                  <a:tr h="370840">
                    <a:tc>
                      <a:txBody>
                        <a:bodyPr/>
                        <a:lstStyle/>
                        <a:p>
                          <a:pPr algn="ctr"/>
                          <a:r>
                            <a:rPr lang="en-US" sz="2000" dirty="0"/>
                            <a:t>72</a:t>
                          </a:r>
                        </a:p>
                      </a:txBody>
                      <a:tcPr/>
                    </a:tc>
                    <a:tc>
                      <a:txBody>
                        <a:bodyPr/>
                        <a:lstStyle/>
                        <a:p>
                          <a:pPr algn="ctr"/>
                          <a:r>
                            <a:rPr lang="en-US" sz="2000" dirty="0"/>
                            <a:t>70</a:t>
                          </a:r>
                        </a:p>
                      </a:txBody>
                      <a:tcPr/>
                    </a:tc>
                    <a:tc>
                      <a:txBody>
                        <a:bodyPr/>
                        <a:lstStyle/>
                        <a:p>
                          <a:pPr algn="ctr"/>
                          <a:r>
                            <a:rPr lang="en-US" sz="2000" dirty="0"/>
                            <a:t>16</a:t>
                          </a:r>
                        </a:p>
                      </a:txBody>
                      <a:tcPr/>
                    </a:tc>
                    <a:tc>
                      <a:txBody>
                        <a:bodyPr/>
                        <a:lstStyle/>
                        <a:p>
                          <a:pPr algn="ctr"/>
                          <a:r>
                            <a:rPr lang="en-US" sz="2000" dirty="0"/>
                            <a:t>5.4756</a:t>
                          </a:r>
                        </a:p>
                      </a:txBody>
                      <a:tcPr/>
                    </a:tc>
                    <a:extLst>
                      <a:ext uri="{0D108BD9-81ED-4DB2-BD59-A6C34878D82A}">
                        <a16:rowId xmlns:a16="http://schemas.microsoft.com/office/drawing/2014/main" val="456029423"/>
                      </a:ext>
                    </a:extLst>
                  </a:tr>
                  <a:tr h="370840">
                    <a:tc>
                      <a:txBody>
                        <a:bodyPr/>
                        <a:lstStyle/>
                        <a:p>
                          <a:pPr algn="ctr"/>
                          <a:endParaRPr lang="en-US" sz="2000" dirty="0"/>
                        </a:p>
                      </a:txBody>
                      <a:tcPr/>
                    </a:tc>
                    <a:tc>
                      <a:txBody>
                        <a:bodyPr/>
                        <a:lstStyle/>
                        <a:p>
                          <a:pPr algn="ctr"/>
                          <a:r>
                            <a:rPr lang="en-US" sz="2000" dirty="0"/>
                            <a:t>71</a:t>
                          </a:r>
                        </a:p>
                      </a:txBody>
                      <a:tcPr/>
                    </a:tc>
                    <a:tc>
                      <a:txBody>
                        <a:bodyPr/>
                        <a:lstStyle/>
                        <a:p>
                          <a:pPr algn="ctr"/>
                          <a:endParaRPr lang="en-US" sz="2000" dirty="0"/>
                        </a:p>
                      </a:txBody>
                      <a:tcPr/>
                    </a:tc>
                    <a:tc>
                      <a:txBody>
                        <a:bodyPr/>
                        <a:lstStyle/>
                        <a:p>
                          <a:pPr algn="ctr"/>
                          <a:r>
                            <a:rPr lang="en-US" sz="2000" dirty="0"/>
                            <a:t>11.1556</a:t>
                          </a:r>
                        </a:p>
                      </a:txBody>
                      <a:tcPr/>
                    </a:tc>
                    <a:extLst>
                      <a:ext uri="{0D108BD9-81ED-4DB2-BD59-A6C34878D82A}">
                        <a16:rowId xmlns:a16="http://schemas.microsoft.com/office/drawing/2014/main" val="2095653627"/>
                      </a:ext>
                    </a:extLst>
                  </a:tr>
                  <a:tr h="370840">
                    <a:tc>
                      <a:txBody>
                        <a:bodyPr/>
                        <a:lstStyle/>
                        <a:p>
                          <a:pPr algn="ctr"/>
                          <a:endParaRPr lang="en-US" sz="2000" dirty="0"/>
                        </a:p>
                      </a:txBody>
                      <a:tcPr/>
                    </a:tc>
                    <a:tc>
                      <a:txBody>
                        <a:bodyPr/>
                        <a:lstStyle/>
                        <a:p>
                          <a:pPr algn="ctr"/>
                          <a:r>
                            <a:rPr lang="en-US" sz="2000" dirty="0"/>
                            <a:t>72</a:t>
                          </a:r>
                        </a:p>
                      </a:txBody>
                      <a:tcPr/>
                    </a:tc>
                    <a:tc>
                      <a:txBody>
                        <a:bodyPr/>
                        <a:lstStyle/>
                        <a:p>
                          <a:pPr algn="ctr"/>
                          <a:endParaRPr lang="en-US" sz="2000" dirty="0"/>
                        </a:p>
                      </a:txBody>
                      <a:tcPr/>
                    </a:tc>
                    <a:tc>
                      <a:txBody>
                        <a:bodyPr/>
                        <a:lstStyle/>
                        <a:p>
                          <a:pPr algn="ctr"/>
                          <a:r>
                            <a:rPr lang="en-US" sz="2000" dirty="0"/>
                            <a:t>18.8356</a:t>
                          </a:r>
                        </a:p>
                      </a:txBody>
                      <a:tcPr/>
                    </a:tc>
                    <a:extLst>
                      <a:ext uri="{0D108BD9-81ED-4DB2-BD59-A6C34878D82A}">
                        <a16:rowId xmlns:a16="http://schemas.microsoft.com/office/drawing/2014/main" val="556308888"/>
                      </a:ext>
                    </a:extLst>
                  </a:tr>
                  <a:tr h="370840">
                    <a:tc>
                      <a:txBody>
                        <a:bodyPr/>
                        <a:lstStyle/>
                        <a:p>
                          <a:pPr algn="ctr"/>
                          <a:endParaRPr lang="en-US" sz="2000" dirty="0"/>
                        </a:p>
                      </a:txBody>
                      <a:tcPr/>
                    </a:tc>
                    <a:tc>
                      <a:txBody>
                        <a:bodyPr/>
                        <a:lstStyle/>
                        <a:p>
                          <a:pPr algn="ctr"/>
                          <a:r>
                            <a:rPr lang="en-US" sz="2000" dirty="0"/>
                            <a:t>73</a:t>
                          </a:r>
                        </a:p>
                      </a:txBody>
                      <a:tcPr/>
                    </a:tc>
                    <a:tc>
                      <a:txBody>
                        <a:bodyPr/>
                        <a:lstStyle/>
                        <a:p>
                          <a:pPr algn="ctr"/>
                          <a:endParaRPr lang="en-US" sz="2000" dirty="0"/>
                        </a:p>
                      </a:txBody>
                      <a:tcPr/>
                    </a:tc>
                    <a:tc>
                      <a:txBody>
                        <a:bodyPr/>
                        <a:lstStyle/>
                        <a:p>
                          <a:pPr algn="ctr"/>
                          <a:r>
                            <a:rPr lang="en-US" sz="2000" dirty="0"/>
                            <a:t>28.5156</a:t>
                          </a:r>
                        </a:p>
                      </a:txBody>
                      <a:tcPr/>
                    </a:tc>
                    <a:extLst>
                      <a:ext uri="{0D108BD9-81ED-4DB2-BD59-A6C34878D82A}">
                        <a16:rowId xmlns:a16="http://schemas.microsoft.com/office/drawing/2014/main" val="2390773474"/>
                      </a:ext>
                    </a:extLst>
                  </a:tr>
                  <a:tr h="370840">
                    <a:tc>
                      <a:txBody>
                        <a:bodyPr/>
                        <a:lstStyle/>
                        <a:p>
                          <a:pPr algn="ctr"/>
                          <a:r>
                            <a:rPr lang="en-US" sz="2000" dirty="0"/>
                            <a:t>Total=408</a:t>
                          </a:r>
                        </a:p>
                      </a:txBody>
                      <a:tcPr/>
                    </a:tc>
                    <a:tc>
                      <a:txBody>
                        <a:bodyPr/>
                        <a:lstStyle/>
                        <a:p>
                          <a:pPr algn="ctr"/>
                          <a:r>
                            <a:rPr lang="en-US" sz="2000" dirty="0"/>
                            <a:t>609</a:t>
                          </a:r>
                        </a:p>
                      </a:txBody>
                      <a:tcPr/>
                    </a:tc>
                    <a:tc>
                      <a:txBody>
                        <a:bodyPr/>
                        <a:lstStyle/>
                        <a:p>
                          <a:pPr algn="ctr"/>
                          <a:r>
                            <a:rPr lang="en-US" sz="2000" dirty="0"/>
                            <a:t>60</a:t>
                          </a:r>
                        </a:p>
                      </a:txBody>
                      <a:tcPr/>
                    </a:tc>
                    <a:tc>
                      <a:txBody>
                        <a:bodyPr/>
                        <a:lstStyle/>
                        <a:p>
                          <a:pPr algn="ctr"/>
                          <a:r>
                            <a:rPr lang="en-US" sz="2000" dirty="0"/>
                            <a:t>152.0004</a:t>
                          </a:r>
                        </a:p>
                      </a:txBody>
                      <a:tcPr/>
                    </a:tc>
                    <a:extLst>
                      <a:ext uri="{0D108BD9-81ED-4DB2-BD59-A6C34878D82A}">
                        <a16:rowId xmlns:a16="http://schemas.microsoft.com/office/drawing/2014/main" val="1659567334"/>
                      </a:ext>
                    </a:extLst>
                  </a:tr>
                </a:tbl>
              </a:graphicData>
            </a:graphic>
          </p:graphicFrame>
        </mc:Choice>
        <mc:Fallback xmlns="">
          <p:graphicFrame>
            <p:nvGraphicFramePr>
              <p:cNvPr id="2" name="Table 1">
                <a:extLst>
                  <a:ext uri="{FF2B5EF4-FFF2-40B4-BE49-F238E27FC236}">
                    <a16:creationId xmlns:a16="http://schemas.microsoft.com/office/drawing/2014/main" id="{ACDABB63-2083-4892-82CD-60BEAFF13D28}"/>
                  </a:ext>
                </a:extLst>
              </p:cNvPr>
              <p:cNvGraphicFramePr>
                <a:graphicFrameLocks noGrp="1"/>
              </p:cNvGraphicFramePr>
              <p:nvPr>
                <p:extLst>
                  <p:ext uri="{D42A27DB-BD31-4B8C-83A1-F6EECF244321}">
                    <p14:modId xmlns:p14="http://schemas.microsoft.com/office/powerpoint/2010/main" val="1273679151"/>
                  </p:ext>
                </p:extLst>
              </p:nvPr>
            </p:nvGraphicFramePr>
            <p:xfrm>
              <a:off x="1066800" y="1273238"/>
              <a:ext cx="7086600" cy="4365562"/>
            </p:xfrm>
            <a:graphic>
              <a:graphicData uri="http://schemas.openxmlformats.org/drawingml/2006/table">
                <a:tbl>
                  <a:tblPr firstRow="1" bandRow="1">
                    <a:tableStyleId>{5C22544A-7EE6-4342-B048-85BDC9FD1C3A}</a:tableStyleId>
                  </a:tblPr>
                  <a:tblGrid>
                    <a:gridCol w="1771650">
                      <a:extLst>
                        <a:ext uri="{9D8B030D-6E8A-4147-A177-3AD203B41FA5}">
                          <a16:colId xmlns:a16="http://schemas.microsoft.com/office/drawing/2014/main" val="1310456443"/>
                        </a:ext>
                      </a:extLst>
                    </a:gridCol>
                    <a:gridCol w="1771650">
                      <a:extLst>
                        <a:ext uri="{9D8B030D-6E8A-4147-A177-3AD203B41FA5}">
                          <a16:colId xmlns:a16="http://schemas.microsoft.com/office/drawing/2014/main" val="682372494"/>
                        </a:ext>
                      </a:extLst>
                    </a:gridCol>
                    <a:gridCol w="1771650">
                      <a:extLst>
                        <a:ext uri="{9D8B030D-6E8A-4147-A177-3AD203B41FA5}">
                          <a16:colId xmlns:a16="http://schemas.microsoft.com/office/drawing/2014/main" val="2961268433"/>
                        </a:ext>
                      </a:extLst>
                    </a:gridCol>
                    <a:gridCol w="1771650">
                      <a:extLst>
                        <a:ext uri="{9D8B030D-6E8A-4147-A177-3AD203B41FA5}">
                          <a16:colId xmlns:a16="http://schemas.microsoft.com/office/drawing/2014/main" val="3142808010"/>
                        </a:ext>
                      </a:extLst>
                    </a:gridCol>
                  </a:tblGrid>
                  <a:tr h="403162">
                    <a:tc>
                      <a:txBody>
                        <a:bodyPr/>
                        <a:lstStyle/>
                        <a:p>
                          <a:endParaRPr lang="en-US"/>
                        </a:p>
                      </a:txBody>
                      <a:tcPr>
                        <a:blipFill>
                          <a:blip r:embed="rId2"/>
                          <a:stretch>
                            <a:fillRect l="-687" t="-1515" r="-301031" b="-1013636"/>
                          </a:stretch>
                        </a:blipFill>
                      </a:tcPr>
                    </a:tc>
                    <a:tc>
                      <a:txBody>
                        <a:bodyPr/>
                        <a:lstStyle/>
                        <a:p>
                          <a:endParaRPr lang="en-US"/>
                        </a:p>
                      </a:txBody>
                      <a:tcPr>
                        <a:blipFill>
                          <a:blip r:embed="rId2"/>
                          <a:stretch>
                            <a:fillRect l="-100687" t="-1515" r="-201031" b="-1013636"/>
                          </a:stretch>
                        </a:blipFill>
                      </a:tcPr>
                    </a:tc>
                    <a:tc>
                      <a:txBody>
                        <a:bodyPr/>
                        <a:lstStyle/>
                        <a:p>
                          <a:endParaRPr lang="en-US"/>
                        </a:p>
                      </a:txBody>
                      <a:tcPr>
                        <a:blipFill>
                          <a:blip r:embed="rId2"/>
                          <a:stretch>
                            <a:fillRect l="-201379" t="-1515" r="-101724" b="-1013636"/>
                          </a:stretch>
                        </a:blipFill>
                      </a:tcPr>
                    </a:tc>
                    <a:tc>
                      <a:txBody>
                        <a:bodyPr/>
                        <a:lstStyle/>
                        <a:p>
                          <a:endParaRPr lang="en-US"/>
                        </a:p>
                      </a:txBody>
                      <a:tcPr>
                        <a:blipFill>
                          <a:blip r:embed="rId2"/>
                          <a:stretch>
                            <a:fillRect l="-300344" t="-1515" r="-1375" b="-1013636"/>
                          </a:stretch>
                        </a:blipFill>
                      </a:tcPr>
                    </a:tc>
                    <a:extLst>
                      <a:ext uri="{0D108BD9-81ED-4DB2-BD59-A6C34878D82A}">
                        <a16:rowId xmlns:a16="http://schemas.microsoft.com/office/drawing/2014/main" val="2203778896"/>
                      </a:ext>
                    </a:extLst>
                  </a:tr>
                  <a:tr h="396240">
                    <a:tc>
                      <a:txBody>
                        <a:bodyPr/>
                        <a:lstStyle/>
                        <a:p>
                          <a:pPr algn="ctr"/>
                          <a:r>
                            <a:rPr lang="en-US" sz="2000" dirty="0"/>
                            <a:t>63</a:t>
                          </a:r>
                        </a:p>
                      </a:txBody>
                      <a:tcPr/>
                    </a:tc>
                    <a:tc>
                      <a:txBody>
                        <a:bodyPr/>
                        <a:lstStyle/>
                        <a:p>
                          <a:pPr algn="ctr"/>
                          <a:r>
                            <a:rPr lang="en-US" sz="2000" dirty="0"/>
                            <a:t>61</a:t>
                          </a:r>
                        </a:p>
                      </a:txBody>
                      <a:tcPr/>
                    </a:tc>
                    <a:tc>
                      <a:txBody>
                        <a:bodyPr/>
                        <a:lstStyle/>
                        <a:p>
                          <a:pPr algn="ctr"/>
                          <a:r>
                            <a:rPr lang="en-US" sz="2000" dirty="0"/>
                            <a:t>25</a:t>
                          </a:r>
                        </a:p>
                      </a:txBody>
                      <a:tcPr/>
                    </a:tc>
                    <a:tc>
                      <a:txBody>
                        <a:bodyPr/>
                        <a:lstStyle/>
                        <a:p>
                          <a:pPr algn="ctr"/>
                          <a:r>
                            <a:rPr lang="en-US" sz="2000" dirty="0"/>
                            <a:t>44.3556</a:t>
                          </a:r>
                        </a:p>
                      </a:txBody>
                      <a:tcPr/>
                    </a:tc>
                    <a:extLst>
                      <a:ext uri="{0D108BD9-81ED-4DB2-BD59-A6C34878D82A}">
                        <a16:rowId xmlns:a16="http://schemas.microsoft.com/office/drawing/2014/main" val="2445034457"/>
                      </a:ext>
                    </a:extLst>
                  </a:tr>
                  <a:tr h="396240">
                    <a:tc>
                      <a:txBody>
                        <a:bodyPr/>
                        <a:lstStyle/>
                        <a:p>
                          <a:pPr algn="ctr"/>
                          <a:r>
                            <a:rPr lang="en-US" sz="2000" dirty="0"/>
                            <a:t>65</a:t>
                          </a:r>
                        </a:p>
                      </a:txBody>
                      <a:tcPr/>
                    </a:tc>
                    <a:tc>
                      <a:txBody>
                        <a:bodyPr/>
                        <a:lstStyle/>
                        <a:p>
                          <a:pPr algn="ctr"/>
                          <a:r>
                            <a:rPr lang="en-US" sz="2000" dirty="0"/>
                            <a:t>62</a:t>
                          </a:r>
                        </a:p>
                      </a:txBody>
                      <a:tcPr/>
                    </a:tc>
                    <a:tc>
                      <a:txBody>
                        <a:bodyPr/>
                        <a:lstStyle/>
                        <a:p>
                          <a:pPr algn="ctr"/>
                          <a:r>
                            <a:rPr lang="en-US" sz="2000" dirty="0"/>
                            <a:t>9</a:t>
                          </a:r>
                        </a:p>
                      </a:txBody>
                      <a:tcPr/>
                    </a:tc>
                    <a:tc>
                      <a:txBody>
                        <a:bodyPr/>
                        <a:lstStyle/>
                        <a:p>
                          <a:pPr algn="ctr"/>
                          <a:r>
                            <a:rPr lang="en-US" sz="2000" dirty="0"/>
                            <a:t>32.0356</a:t>
                          </a:r>
                        </a:p>
                      </a:txBody>
                      <a:tcPr/>
                    </a:tc>
                    <a:extLst>
                      <a:ext uri="{0D108BD9-81ED-4DB2-BD59-A6C34878D82A}">
                        <a16:rowId xmlns:a16="http://schemas.microsoft.com/office/drawing/2014/main" val="2153534736"/>
                      </a:ext>
                    </a:extLst>
                  </a:tr>
                  <a:tr h="396240">
                    <a:tc>
                      <a:txBody>
                        <a:bodyPr/>
                        <a:lstStyle/>
                        <a:p>
                          <a:pPr algn="ctr"/>
                          <a:r>
                            <a:rPr lang="en-US" sz="2000" dirty="0"/>
                            <a:t>68</a:t>
                          </a:r>
                        </a:p>
                      </a:txBody>
                      <a:tcPr/>
                    </a:tc>
                    <a:tc>
                      <a:txBody>
                        <a:bodyPr/>
                        <a:lstStyle/>
                        <a:p>
                          <a:pPr algn="ctr"/>
                          <a:r>
                            <a:rPr lang="en-US" sz="2000" dirty="0"/>
                            <a:t>65</a:t>
                          </a:r>
                        </a:p>
                      </a:txBody>
                      <a:tcPr/>
                    </a:tc>
                    <a:tc>
                      <a:txBody>
                        <a:bodyPr/>
                        <a:lstStyle/>
                        <a:p>
                          <a:pPr algn="ctr"/>
                          <a:r>
                            <a:rPr lang="en-US" sz="2000" dirty="0"/>
                            <a:t>0</a:t>
                          </a:r>
                        </a:p>
                      </a:txBody>
                      <a:tcPr/>
                    </a:tc>
                    <a:tc>
                      <a:txBody>
                        <a:bodyPr/>
                        <a:lstStyle/>
                        <a:p>
                          <a:pPr algn="ctr"/>
                          <a:r>
                            <a:rPr lang="en-US" sz="2000" dirty="0"/>
                            <a:t>7.0756</a:t>
                          </a:r>
                        </a:p>
                      </a:txBody>
                      <a:tcPr/>
                    </a:tc>
                    <a:extLst>
                      <a:ext uri="{0D108BD9-81ED-4DB2-BD59-A6C34878D82A}">
                        <a16:rowId xmlns:a16="http://schemas.microsoft.com/office/drawing/2014/main" val="305967492"/>
                      </a:ext>
                    </a:extLst>
                  </a:tr>
                  <a:tr h="396240">
                    <a:tc>
                      <a:txBody>
                        <a:bodyPr/>
                        <a:lstStyle/>
                        <a:p>
                          <a:pPr algn="ctr"/>
                          <a:r>
                            <a:rPr lang="en-US" sz="2000" dirty="0"/>
                            <a:t>69</a:t>
                          </a:r>
                        </a:p>
                      </a:txBody>
                      <a:tcPr/>
                    </a:tc>
                    <a:tc>
                      <a:txBody>
                        <a:bodyPr/>
                        <a:lstStyle/>
                        <a:p>
                          <a:pPr algn="ctr"/>
                          <a:r>
                            <a:rPr lang="en-US" sz="2000" dirty="0"/>
                            <a:t>66</a:t>
                          </a:r>
                        </a:p>
                      </a:txBody>
                      <a:tcPr/>
                    </a:tc>
                    <a:tc>
                      <a:txBody>
                        <a:bodyPr/>
                        <a:lstStyle/>
                        <a:p>
                          <a:pPr algn="ctr"/>
                          <a:r>
                            <a:rPr lang="en-US" sz="2000" dirty="0"/>
                            <a:t>1</a:t>
                          </a:r>
                        </a:p>
                      </a:txBody>
                      <a:tcPr/>
                    </a:tc>
                    <a:tc>
                      <a:txBody>
                        <a:bodyPr/>
                        <a:lstStyle/>
                        <a:p>
                          <a:pPr algn="ctr"/>
                          <a:r>
                            <a:rPr lang="en-US" sz="2000" dirty="0"/>
                            <a:t>2.7556</a:t>
                          </a:r>
                        </a:p>
                      </a:txBody>
                      <a:tcPr/>
                    </a:tc>
                    <a:extLst>
                      <a:ext uri="{0D108BD9-81ED-4DB2-BD59-A6C34878D82A}">
                        <a16:rowId xmlns:a16="http://schemas.microsoft.com/office/drawing/2014/main" val="232562333"/>
                      </a:ext>
                    </a:extLst>
                  </a:tr>
                  <a:tr h="396240">
                    <a:tc>
                      <a:txBody>
                        <a:bodyPr/>
                        <a:lstStyle/>
                        <a:p>
                          <a:pPr algn="ctr"/>
                          <a:r>
                            <a:rPr lang="en-US" sz="2000" dirty="0"/>
                            <a:t>71</a:t>
                          </a:r>
                        </a:p>
                      </a:txBody>
                      <a:tcPr/>
                    </a:tc>
                    <a:tc>
                      <a:txBody>
                        <a:bodyPr/>
                        <a:lstStyle/>
                        <a:p>
                          <a:pPr algn="ctr"/>
                          <a:r>
                            <a:rPr lang="en-US" sz="2000" dirty="0"/>
                            <a:t>69</a:t>
                          </a:r>
                        </a:p>
                      </a:txBody>
                      <a:tcPr/>
                    </a:tc>
                    <a:tc>
                      <a:txBody>
                        <a:bodyPr/>
                        <a:lstStyle/>
                        <a:p>
                          <a:pPr algn="ctr"/>
                          <a:r>
                            <a:rPr lang="en-US" sz="2000" dirty="0"/>
                            <a:t>9</a:t>
                          </a:r>
                        </a:p>
                      </a:txBody>
                      <a:tcPr/>
                    </a:tc>
                    <a:tc>
                      <a:txBody>
                        <a:bodyPr/>
                        <a:lstStyle/>
                        <a:p>
                          <a:pPr algn="ctr"/>
                          <a:r>
                            <a:rPr lang="en-US" sz="2000" dirty="0"/>
                            <a:t>1.7956</a:t>
                          </a:r>
                        </a:p>
                      </a:txBody>
                      <a:tcPr/>
                    </a:tc>
                    <a:extLst>
                      <a:ext uri="{0D108BD9-81ED-4DB2-BD59-A6C34878D82A}">
                        <a16:rowId xmlns:a16="http://schemas.microsoft.com/office/drawing/2014/main" val="1717096527"/>
                      </a:ext>
                    </a:extLst>
                  </a:tr>
                  <a:tr h="396240">
                    <a:tc>
                      <a:txBody>
                        <a:bodyPr/>
                        <a:lstStyle/>
                        <a:p>
                          <a:pPr algn="ctr"/>
                          <a:r>
                            <a:rPr lang="en-US" sz="2000" dirty="0"/>
                            <a:t>72</a:t>
                          </a:r>
                        </a:p>
                      </a:txBody>
                      <a:tcPr/>
                    </a:tc>
                    <a:tc>
                      <a:txBody>
                        <a:bodyPr/>
                        <a:lstStyle/>
                        <a:p>
                          <a:pPr algn="ctr"/>
                          <a:r>
                            <a:rPr lang="en-US" sz="2000" dirty="0"/>
                            <a:t>70</a:t>
                          </a:r>
                        </a:p>
                      </a:txBody>
                      <a:tcPr/>
                    </a:tc>
                    <a:tc>
                      <a:txBody>
                        <a:bodyPr/>
                        <a:lstStyle/>
                        <a:p>
                          <a:pPr algn="ctr"/>
                          <a:r>
                            <a:rPr lang="en-US" sz="2000" dirty="0"/>
                            <a:t>16</a:t>
                          </a:r>
                        </a:p>
                      </a:txBody>
                      <a:tcPr/>
                    </a:tc>
                    <a:tc>
                      <a:txBody>
                        <a:bodyPr/>
                        <a:lstStyle/>
                        <a:p>
                          <a:pPr algn="ctr"/>
                          <a:r>
                            <a:rPr lang="en-US" sz="2000" dirty="0"/>
                            <a:t>5.4756</a:t>
                          </a:r>
                        </a:p>
                      </a:txBody>
                      <a:tcPr/>
                    </a:tc>
                    <a:extLst>
                      <a:ext uri="{0D108BD9-81ED-4DB2-BD59-A6C34878D82A}">
                        <a16:rowId xmlns:a16="http://schemas.microsoft.com/office/drawing/2014/main" val="456029423"/>
                      </a:ext>
                    </a:extLst>
                  </a:tr>
                  <a:tr h="396240">
                    <a:tc>
                      <a:txBody>
                        <a:bodyPr/>
                        <a:lstStyle/>
                        <a:p>
                          <a:pPr algn="ctr"/>
                          <a:endParaRPr lang="en-US" sz="2000" dirty="0"/>
                        </a:p>
                      </a:txBody>
                      <a:tcPr/>
                    </a:tc>
                    <a:tc>
                      <a:txBody>
                        <a:bodyPr/>
                        <a:lstStyle/>
                        <a:p>
                          <a:pPr algn="ctr"/>
                          <a:r>
                            <a:rPr lang="en-US" sz="2000" dirty="0"/>
                            <a:t>71</a:t>
                          </a:r>
                        </a:p>
                      </a:txBody>
                      <a:tcPr/>
                    </a:tc>
                    <a:tc>
                      <a:txBody>
                        <a:bodyPr/>
                        <a:lstStyle/>
                        <a:p>
                          <a:pPr algn="ctr"/>
                          <a:endParaRPr lang="en-US" sz="2000" dirty="0"/>
                        </a:p>
                      </a:txBody>
                      <a:tcPr/>
                    </a:tc>
                    <a:tc>
                      <a:txBody>
                        <a:bodyPr/>
                        <a:lstStyle/>
                        <a:p>
                          <a:pPr algn="ctr"/>
                          <a:r>
                            <a:rPr lang="en-US" sz="2000" dirty="0"/>
                            <a:t>11.1556</a:t>
                          </a:r>
                        </a:p>
                      </a:txBody>
                      <a:tcPr/>
                    </a:tc>
                    <a:extLst>
                      <a:ext uri="{0D108BD9-81ED-4DB2-BD59-A6C34878D82A}">
                        <a16:rowId xmlns:a16="http://schemas.microsoft.com/office/drawing/2014/main" val="2095653627"/>
                      </a:ext>
                    </a:extLst>
                  </a:tr>
                  <a:tr h="396240">
                    <a:tc>
                      <a:txBody>
                        <a:bodyPr/>
                        <a:lstStyle/>
                        <a:p>
                          <a:pPr algn="ctr"/>
                          <a:endParaRPr lang="en-US" sz="2000" dirty="0"/>
                        </a:p>
                      </a:txBody>
                      <a:tcPr/>
                    </a:tc>
                    <a:tc>
                      <a:txBody>
                        <a:bodyPr/>
                        <a:lstStyle/>
                        <a:p>
                          <a:pPr algn="ctr"/>
                          <a:r>
                            <a:rPr lang="en-US" sz="2000" dirty="0"/>
                            <a:t>72</a:t>
                          </a:r>
                        </a:p>
                      </a:txBody>
                      <a:tcPr/>
                    </a:tc>
                    <a:tc>
                      <a:txBody>
                        <a:bodyPr/>
                        <a:lstStyle/>
                        <a:p>
                          <a:pPr algn="ctr"/>
                          <a:endParaRPr lang="en-US" sz="2000" dirty="0"/>
                        </a:p>
                      </a:txBody>
                      <a:tcPr/>
                    </a:tc>
                    <a:tc>
                      <a:txBody>
                        <a:bodyPr/>
                        <a:lstStyle/>
                        <a:p>
                          <a:pPr algn="ctr"/>
                          <a:r>
                            <a:rPr lang="en-US" sz="2000" dirty="0"/>
                            <a:t>18.8356</a:t>
                          </a:r>
                        </a:p>
                      </a:txBody>
                      <a:tcPr/>
                    </a:tc>
                    <a:extLst>
                      <a:ext uri="{0D108BD9-81ED-4DB2-BD59-A6C34878D82A}">
                        <a16:rowId xmlns:a16="http://schemas.microsoft.com/office/drawing/2014/main" val="556308888"/>
                      </a:ext>
                    </a:extLst>
                  </a:tr>
                  <a:tr h="396240">
                    <a:tc>
                      <a:txBody>
                        <a:bodyPr/>
                        <a:lstStyle/>
                        <a:p>
                          <a:pPr algn="ctr"/>
                          <a:endParaRPr lang="en-US" sz="2000" dirty="0"/>
                        </a:p>
                      </a:txBody>
                      <a:tcPr/>
                    </a:tc>
                    <a:tc>
                      <a:txBody>
                        <a:bodyPr/>
                        <a:lstStyle/>
                        <a:p>
                          <a:pPr algn="ctr"/>
                          <a:r>
                            <a:rPr lang="en-US" sz="2000" dirty="0"/>
                            <a:t>73</a:t>
                          </a:r>
                        </a:p>
                      </a:txBody>
                      <a:tcPr/>
                    </a:tc>
                    <a:tc>
                      <a:txBody>
                        <a:bodyPr/>
                        <a:lstStyle/>
                        <a:p>
                          <a:pPr algn="ctr"/>
                          <a:endParaRPr lang="en-US" sz="2000" dirty="0"/>
                        </a:p>
                      </a:txBody>
                      <a:tcPr/>
                    </a:tc>
                    <a:tc>
                      <a:txBody>
                        <a:bodyPr/>
                        <a:lstStyle/>
                        <a:p>
                          <a:pPr algn="ctr"/>
                          <a:r>
                            <a:rPr lang="en-US" sz="2000" dirty="0"/>
                            <a:t>28.5156</a:t>
                          </a:r>
                        </a:p>
                      </a:txBody>
                      <a:tcPr/>
                    </a:tc>
                    <a:extLst>
                      <a:ext uri="{0D108BD9-81ED-4DB2-BD59-A6C34878D82A}">
                        <a16:rowId xmlns:a16="http://schemas.microsoft.com/office/drawing/2014/main" val="2390773474"/>
                      </a:ext>
                    </a:extLst>
                  </a:tr>
                  <a:tr h="396240">
                    <a:tc>
                      <a:txBody>
                        <a:bodyPr/>
                        <a:lstStyle/>
                        <a:p>
                          <a:pPr algn="ctr"/>
                          <a:r>
                            <a:rPr lang="en-US" sz="2000" dirty="0"/>
                            <a:t>Total=408</a:t>
                          </a:r>
                        </a:p>
                      </a:txBody>
                      <a:tcPr/>
                    </a:tc>
                    <a:tc>
                      <a:txBody>
                        <a:bodyPr/>
                        <a:lstStyle/>
                        <a:p>
                          <a:pPr algn="ctr"/>
                          <a:r>
                            <a:rPr lang="en-US" sz="2000" dirty="0"/>
                            <a:t>609</a:t>
                          </a:r>
                        </a:p>
                      </a:txBody>
                      <a:tcPr/>
                    </a:tc>
                    <a:tc>
                      <a:txBody>
                        <a:bodyPr/>
                        <a:lstStyle/>
                        <a:p>
                          <a:pPr algn="ctr"/>
                          <a:r>
                            <a:rPr lang="en-US" sz="2000" dirty="0"/>
                            <a:t>60</a:t>
                          </a:r>
                        </a:p>
                      </a:txBody>
                      <a:tcPr/>
                    </a:tc>
                    <a:tc>
                      <a:txBody>
                        <a:bodyPr/>
                        <a:lstStyle/>
                        <a:p>
                          <a:pPr algn="ctr"/>
                          <a:r>
                            <a:rPr lang="en-US" sz="2000" dirty="0"/>
                            <a:t>152.0004</a:t>
                          </a:r>
                        </a:p>
                      </a:txBody>
                      <a:tcPr/>
                    </a:tc>
                    <a:extLst>
                      <a:ext uri="{0D108BD9-81ED-4DB2-BD59-A6C34878D82A}">
                        <a16:rowId xmlns:a16="http://schemas.microsoft.com/office/drawing/2014/main" val="1659567334"/>
                      </a:ext>
                    </a:extLst>
                  </a:tr>
                </a:tbl>
              </a:graphicData>
            </a:graphic>
          </p:graphicFrame>
        </mc:Fallback>
      </mc:AlternateContent>
    </p:spTree>
    <p:extLst>
      <p:ext uri="{BB962C8B-B14F-4D97-AF65-F5344CB8AC3E}">
        <p14:creationId xmlns:p14="http://schemas.microsoft.com/office/powerpoint/2010/main" val="2801447966"/>
      </p:ext>
    </p:extLst>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lgn="just">
                  <a:buNone/>
                </a:pPr>
                <a14:m>
                  <m:oMath xmlns:m="http://schemas.openxmlformats.org/officeDocument/2006/math">
                    <m:r>
                      <a:rPr lang="en-US" sz="2200" i="1">
                        <a:latin typeface="Cambria Math"/>
                      </a:rPr>
                      <m:t>𝑡</m:t>
                    </m:r>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num>
                      <m:den>
                        <m:r>
                          <a:rPr lang="en-US" sz="2200" i="1">
                            <a:latin typeface="Cambria Math"/>
                          </a:rPr>
                          <m:t>𝑆</m:t>
                        </m:r>
                        <m:r>
                          <a:rPr lang="en-US" sz="2200" i="1">
                            <a:latin typeface="Cambria Math"/>
                          </a:rPr>
                          <m:t> </m:t>
                        </m:r>
                        <m:rad>
                          <m:radPr>
                            <m:degHide m:val="on"/>
                            <m:ctrlPr>
                              <a:rPr lang="en-US" sz="2200" i="1">
                                <a:latin typeface="Cambria Math" panose="02040503050406030204" pitchFamily="18" charset="0"/>
                                <a:ea typeface="Cambria Math"/>
                              </a:rPr>
                            </m:ctrlPr>
                          </m:radPr>
                          <m:deg/>
                          <m:e>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e>
                        </m:rad>
                      </m:den>
                    </m:f>
                  </m:oMath>
                </a14:m>
                <a:r>
                  <a:rPr lang="en-US" sz="2200" dirty="0">
                    <a:cs typeface="Times New Roman" pitchFamily="18" charset="0"/>
                  </a:rPr>
                  <a:t> where</a:t>
                </a:r>
                <a14:m>
                  <m:oMath xmlns:m="http://schemas.openxmlformats.org/officeDocument/2006/math">
                    <m:r>
                      <a:rPr lang="en-US" sz="2200">
                        <a:latin typeface="Cambria Math"/>
                      </a:rPr>
                      <m:t> </m:t>
                    </m:r>
                    <m:r>
                      <a:rPr lang="en-US" sz="2200" i="1">
                        <a:latin typeface="Cambria Math"/>
                      </a:rPr>
                      <m:t>𝑆</m:t>
                    </m:r>
                    <m:r>
                      <a:rPr lang="en-US" sz="2200" i="1">
                        <a:latin typeface="Cambria Math"/>
                      </a:rPr>
                      <m:t>=</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e>
                                    </m:d>
                                  </m:e>
                                  <m:sup>
                                    <m:r>
                                      <a:rPr lang="en-US" sz="2200" i="1">
                                        <a:latin typeface="Cambria Math"/>
                                      </a:rPr>
                                      <m:t>2</m:t>
                                    </m:r>
                                  </m:sup>
                                </m:sSup>
                              </m:e>
                            </m:nary>
                            <m:r>
                              <a:rPr lang="en-US" sz="2200" i="1">
                                <a:latin typeface="Cambria Math"/>
                              </a:rPr>
                              <m:t>+</m:t>
                            </m:r>
                            <m:nary>
                              <m:naryPr>
                                <m:chr m:val="∑"/>
                                <m:subHide m:val="on"/>
                                <m:supHide m:val="on"/>
                                <m:ctrlPr>
                                  <a:rPr lang="en-US" sz="2200" i="1">
                                    <a:latin typeface="Cambria Math" panose="02040503050406030204" pitchFamily="18" charset="0"/>
                                  </a:rPr>
                                </m:ctrlPr>
                              </m:naryPr>
                              <m:sub/>
                              <m:sup/>
                              <m:e>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e>
                                    </m:d>
                                  </m:e>
                                  <m:sup>
                                    <m:r>
                                      <a:rPr lang="en-US" sz="2200" i="1">
                                        <a:latin typeface="Cambria Math"/>
                                      </a:rPr>
                                      <m:t>2</m:t>
                                    </m:r>
                                  </m:sup>
                                </m:sSup>
                              </m:e>
                            </m:nary>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−2</m:t>
                            </m:r>
                          </m:den>
                        </m:f>
                      </m:e>
                    </m:rad>
                    <m:r>
                      <a:rPr lang="en-US" sz="2200" i="1">
                        <a:latin typeface="Cambria Math"/>
                      </a:rPr>
                      <m:t>=4.038</m:t>
                    </m:r>
                  </m:oMath>
                </a14:m>
                <a:endParaRPr lang="en-US" sz="2200" dirty="0">
                  <a:cs typeface="Times New Roman" pitchFamily="18" charset="0"/>
                </a:endParaRPr>
              </a:p>
              <a:p>
                <a:pPr marL="0" indent="0" algn="just">
                  <a:buNone/>
                </a:pPr>
                <a:endParaRPr lang="en-US" sz="2200" i="1" dirty="0">
                  <a:latin typeface="Cambria Math"/>
                  <a:cs typeface="Times New Roman" pitchFamily="18" charset="0"/>
                </a:endParaRPr>
              </a:p>
              <a:p>
                <a:pPr marL="0" indent="0" algn="just">
                  <a:buNone/>
                </a:pPr>
                <a14:m>
                  <m:oMathPara xmlns:m="http://schemas.openxmlformats.org/officeDocument/2006/math">
                    <m:oMathParaPr>
                      <m:jc m:val="left"/>
                    </m:oMathParaPr>
                    <m:oMath xmlns:m="http://schemas.openxmlformats.org/officeDocument/2006/math">
                      <m:r>
                        <a:rPr lang="en-US" sz="2200" i="1">
                          <a:latin typeface="Cambria Math"/>
                          <a:cs typeface="Times New Roman" pitchFamily="18" charset="0"/>
                        </a:rPr>
                        <m:t>𝑡</m:t>
                      </m:r>
                      <m:r>
                        <a:rPr lang="en-US" sz="2200" i="1">
                          <a:latin typeface="Cambria Math"/>
                          <a:cs typeface="Times New Roman" pitchFamily="18" charset="0"/>
                        </a:rPr>
                        <m:t>=0.1597</m:t>
                      </m:r>
                    </m:oMath>
                  </m:oMathPara>
                </a14:m>
                <a:endParaRPr lang="en-US" sz="2200" dirty="0">
                  <a:cs typeface="Times New Roman" pitchFamily="18" charset="0"/>
                </a:endParaRPr>
              </a:p>
              <a:p>
                <a:pPr marL="0" indent="0" algn="just">
                  <a:buNone/>
                </a:pPr>
                <a:r>
                  <a:rPr lang="en-US" sz="2200" dirty="0">
                    <a:cs typeface="Times New Roman" pitchFamily="18" charset="0"/>
                  </a:rPr>
                  <a:t>Degree of freedom =</a:t>
                </a:r>
                <a14:m>
                  <m:oMath xmlns:m="http://schemas.openxmlformats.org/officeDocument/2006/math">
                    <m:r>
                      <a:rPr lang="en-US" sz="2200" i="1" dirty="0">
                        <a:latin typeface="Cambria Math"/>
                        <a:cs typeface="Times New Roman" pitchFamily="18" charset="0"/>
                      </a:rPr>
                      <m:t>6</m:t>
                    </m:r>
                    <m:r>
                      <a:rPr lang="en-US" sz="2200" i="1">
                        <a:latin typeface="Cambria Math"/>
                        <a:cs typeface="Times New Roman" pitchFamily="18" charset="0"/>
                      </a:rPr>
                      <m:t>+9−2=13</m:t>
                    </m:r>
                  </m:oMath>
                </a14:m>
                <a:endParaRPr lang="en-US" sz="2200" dirty="0">
                  <a:cs typeface="Times New Roman" pitchFamily="18" charset="0"/>
                </a:endParaRPr>
              </a:p>
              <a:p>
                <a:pPr marL="0" indent="0">
                  <a:buNone/>
                </a:pPr>
                <a:r>
                  <a:rPr lang="en-US" sz="2200" dirty="0">
                    <a:cs typeface="Times New Roman" pitchFamily="18" charset="0"/>
                  </a:rPr>
                  <a:t>Table value: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𝑡</m:t>
                        </m:r>
                      </m:e>
                      <m:sub>
                        <m:d>
                          <m:dPr>
                            <m:ctrlPr>
                              <a:rPr lang="en-US" sz="2200" i="1">
                                <a:latin typeface="Cambria Math" panose="02040503050406030204" pitchFamily="18" charset="0"/>
                              </a:rPr>
                            </m:ctrlPr>
                          </m:dPr>
                          <m:e>
                            <m:r>
                              <a:rPr lang="en-US" sz="2200" i="1">
                                <a:latin typeface="Cambria Math"/>
                              </a:rPr>
                              <m:t>13</m:t>
                            </m:r>
                          </m:e>
                        </m:d>
                      </m:sub>
                    </m:sSub>
                    <m:r>
                      <a:rPr lang="en-US" sz="2200" i="1">
                        <a:latin typeface="Cambria Math"/>
                      </a:rPr>
                      <m:t>(0.05)=1.77</m:t>
                    </m:r>
                  </m:oMath>
                </a14:m>
                <a:endParaRPr lang="en-US" sz="2200" dirty="0">
                  <a:cs typeface="Times New Roman" pitchFamily="18" charset="0"/>
                </a:endParaRPr>
              </a:p>
              <a:p>
                <a:pPr marL="0" indent="0">
                  <a:buNone/>
                </a:pPr>
                <a:r>
                  <a:rPr lang="en-US" sz="2200" dirty="0">
                    <a:cs typeface="Times New Roman" pitchFamily="18" charset="0"/>
                  </a:rPr>
                  <a:t>Conclusion : </a:t>
                </a: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a:rPr lang="en-US" sz="2200" i="1">
                                <a:latin typeface="Cambria Math"/>
                              </a:rPr>
                              <m:t>𝑡</m:t>
                            </m:r>
                          </m:e>
                        </m:d>
                      </m:e>
                      <m:sub>
                        <m:r>
                          <a:rPr lang="en-US" sz="2200" i="1">
                            <a:latin typeface="Cambria Math"/>
                          </a:rPr>
                          <m:t>𝑐𝑎𝑙</m:t>
                        </m:r>
                      </m:sub>
                    </m:sSub>
                    <m:r>
                      <a:rPr lang="en-US" sz="2200" i="1">
                        <a:latin typeface="Cambria Math"/>
                      </a:rPr>
                      <m:t>&lt;</m:t>
                    </m:r>
                  </m:oMath>
                </a14:m>
                <a:r>
                  <a:rPr lang="en-US" sz="2200" dirty="0">
                    <a:cs typeface="Times New Roman" pitchFamily="18" charset="0"/>
                  </a:rPr>
                  <a:t> table value</a:t>
                </a:r>
              </a:p>
              <a:p>
                <a:pPr marL="0" indent="0">
                  <a:buNone/>
                </a:pPr>
                <a:r>
                  <a:rPr lang="en-US" sz="2200" dirty="0">
                    <a:cs typeface="Times New Roman" pitchFamily="18" charset="0"/>
                  </a:rPr>
                  <a:t>So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cs typeface="Times New Roman" pitchFamily="18" charset="0"/>
                  </a:rPr>
                  <a:t> is accepted.</a:t>
                </a:r>
              </a:p>
              <a:p>
                <a:pPr marL="0" indent="0">
                  <a:buNone/>
                </a:pPr>
                <a:r>
                  <a:rPr lang="en-US" sz="2200" dirty="0">
                    <a:cs typeface="Times New Roman" pitchFamily="18" charset="0"/>
                  </a:rPr>
                  <a:t>i.e. the sailor are not on avg. taller than soldiers</a:t>
                </a:r>
              </a:p>
              <a:p>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b="-929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6288258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85000" lnSpcReduction="10000"/>
              </a:bodyPr>
              <a:lstStyle/>
              <a:p>
                <a:pPr marL="0" indent="0">
                  <a:buNone/>
                </a:pPr>
                <a:r>
                  <a:rPr lang="en-US" sz="2400" b="1" dirty="0"/>
                  <a:t>Confidence limit for population mean</a:t>
                </a:r>
              </a:p>
              <a:p>
                <a:pPr marL="0" indent="0">
                  <a:buNone/>
                </a:pPr>
                <a:r>
                  <a:rPr lang="en-US" sz="2400" dirty="0"/>
                  <a:t>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𝑡</m:t>
                        </m:r>
                      </m:e>
                      <m:sub>
                        <m:r>
                          <a:rPr lang="en-US" sz="2400" i="1">
                            <a:latin typeface="Cambria Math"/>
                            <a:ea typeface="Cambria Math"/>
                          </a:rPr>
                          <m:t>𝛼</m:t>
                        </m:r>
                      </m:sub>
                    </m:sSub>
                  </m:oMath>
                </a14:m>
                <a:r>
                  <a:rPr lang="en-US" sz="2400" dirty="0"/>
                  <a:t> is the value of </a:t>
                </a:r>
                <a14:m>
                  <m:oMath xmlns:m="http://schemas.openxmlformats.org/officeDocument/2006/math">
                    <m:r>
                      <a:rPr lang="en-US" sz="2400" i="1">
                        <a:latin typeface="Cambria Math"/>
                      </a:rPr>
                      <m:t>𝑡</m:t>
                    </m:r>
                  </m:oMath>
                </a14:m>
                <a:r>
                  <a:rPr lang="en-US" sz="2400" dirty="0"/>
                  <a:t> at level of significance </a:t>
                </a:r>
                <a14:m>
                  <m:oMath xmlns:m="http://schemas.openxmlformats.org/officeDocument/2006/math">
                    <m:r>
                      <a:rPr lang="en-US" sz="2400" i="1">
                        <a:latin typeface="Cambria Math"/>
                        <a:ea typeface="Cambria Math"/>
                      </a:rPr>
                      <m:t>𝛼</m:t>
                    </m:r>
                  </m:oMath>
                </a14:m>
                <a:r>
                  <a:rPr lang="en-US" sz="2400" dirty="0"/>
                  <a:t> at </a:t>
                </a:r>
                <a14:m>
                  <m:oMath xmlns:m="http://schemas.openxmlformats.org/officeDocument/2006/math">
                    <m:r>
                      <a:rPr lang="en-US" sz="2400" i="1">
                        <a:latin typeface="Cambria Math"/>
                      </a:rPr>
                      <m:t>𝑛</m:t>
                    </m:r>
                    <m:r>
                      <a:rPr lang="en-US" sz="2400" i="1">
                        <a:latin typeface="Cambria Math"/>
                      </a:rPr>
                      <m:t>−1</m:t>
                    </m:r>
                  </m:oMath>
                </a14:m>
                <a:r>
                  <a:rPr lang="en-US" sz="2400" dirty="0"/>
                  <a:t> degree of freedom then</a:t>
                </a:r>
              </a:p>
              <a:p>
                <a:pPr marL="0" indent="0">
                  <a:buNone/>
                </a:pPr>
                <a:r>
                  <a:rPr lang="en-US" sz="2400" dirty="0"/>
                  <a:t>For two tailed test </a:t>
                </a:r>
              </a:p>
              <a:p>
                <a:pPr marL="0" indent="0">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𝐻</m:t>
                        </m:r>
                      </m:e>
                      <m:sub>
                        <m:r>
                          <a:rPr lang="en-US" sz="2400" i="1">
                            <a:latin typeface="Cambria Math"/>
                          </a:rPr>
                          <m:t>0</m:t>
                        </m:r>
                      </m:sub>
                    </m:sSub>
                    <m:r>
                      <a:rPr lang="en-US" sz="2400" i="1">
                        <a:latin typeface="Cambria Math"/>
                      </a:rPr>
                      <m:t> </m:t>
                    </m:r>
                  </m:oMath>
                </a14:m>
                <a:r>
                  <a:rPr lang="en-US" sz="2400" dirty="0"/>
                  <a:t>is accepted if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𝑡</m:t>
                        </m:r>
                      </m:e>
                      <m:sub>
                        <m:r>
                          <a:rPr lang="en-US" sz="2400" i="1">
                            <a:latin typeface="Cambria Math"/>
                          </a:rPr>
                          <m:t>𝑐𝑎𝑙</m:t>
                        </m:r>
                      </m:sub>
                    </m:sSub>
                    <m:r>
                      <a:rPr lang="en-US" sz="2400" i="1">
                        <a:latin typeface="Cambria Math"/>
                      </a:rPr>
                      <m:t>&lt; </m:t>
                    </m:r>
                  </m:oMath>
                </a14:m>
                <a:r>
                  <a:rPr lang="en-US" sz="2400" dirty="0"/>
                  <a:t>table value</a:t>
                </a:r>
              </a:p>
              <a:p>
                <a:pPr marL="0" indent="0">
                  <a:buNone/>
                </a:pPr>
                <a14:m>
                  <m:oMath xmlns:m="http://schemas.openxmlformats.org/officeDocument/2006/math">
                    <m:d>
                      <m:dPr>
                        <m:begChr m:val="|"/>
                        <m:endChr m:val="|"/>
                        <m:ctrlPr>
                          <a:rPr lang="en-US" sz="2400" i="1">
                            <a:latin typeface="Cambria Math" panose="02040503050406030204" pitchFamily="18" charset="0"/>
                          </a:rPr>
                        </m:ctrlPr>
                      </m:dPr>
                      <m:e>
                        <m:f>
                          <m:fPr>
                            <m:ctrlPr>
                              <a:rPr lang="en-US" sz="2400" i="1">
                                <a:latin typeface="Cambria Math" panose="02040503050406030204" pitchFamily="18" charset="0"/>
                              </a:rPr>
                            </m:ctrlPr>
                          </m:fPr>
                          <m:num>
                            <m:acc>
                              <m:accPr>
                                <m:chr m:val="̅"/>
                                <m:ctrlPr>
                                  <a:rPr lang="en-US" sz="2400" i="1">
                                    <a:latin typeface="Cambria Math" panose="02040503050406030204" pitchFamily="18" charset="0"/>
                                  </a:rPr>
                                </m:ctrlPr>
                              </m:accPr>
                              <m:e>
                                <m:r>
                                  <a:rPr lang="en-US" sz="2400" i="1">
                                    <a:latin typeface="Cambria Math"/>
                                  </a:rPr>
                                  <m:t>𝑥</m:t>
                                </m:r>
                              </m:e>
                            </m:acc>
                            <m:r>
                              <a:rPr lang="en-US" sz="2400" i="1">
                                <a:latin typeface="Cambria Math"/>
                              </a:rPr>
                              <m:t>−</m:t>
                            </m:r>
                            <m:r>
                              <a:rPr lang="en-US" sz="2400" i="1">
                                <a:latin typeface="Cambria Math"/>
                                <a:ea typeface="Cambria Math"/>
                              </a:rPr>
                              <m:t>𝜇</m:t>
                            </m:r>
                          </m:num>
                          <m:den>
                            <m:f>
                              <m:fPr>
                                <m:type m:val="lin"/>
                                <m:ctrlPr>
                                  <a:rPr lang="en-US" sz="2400" i="1">
                                    <a:latin typeface="Cambria Math" panose="02040503050406030204" pitchFamily="18" charset="0"/>
                                  </a:rPr>
                                </m:ctrlPr>
                              </m:fPr>
                              <m:num>
                                <m:r>
                                  <a:rPr lang="en-US" sz="2400" i="1">
                                    <a:latin typeface="Cambria Math"/>
                                  </a:rPr>
                                  <m:t>𝑆</m:t>
                                </m:r>
                              </m:num>
                              <m:den>
                                <m:rad>
                                  <m:radPr>
                                    <m:degHide m:val="on"/>
                                    <m:ctrlPr>
                                      <a:rPr lang="en-US" sz="2400" i="1">
                                        <a:latin typeface="Cambria Math" panose="02040503050406030204" pitchFamily="18" charset="0"/>
                                      </a:rPr>
                                    </m:ctrlPr>
                                  </m:radPr>
                                  <m:deg/>
                                  <m:e>
                                    <m:r>
                                      <a:rPr lang="en-US" sz="2400" i="1">
                                        <a:latin typeface="Cambria Math"/>
                                      </a:rPr>
                                      <m:t>𝑛</m:t>
                                    </m:r>
                                  </m:e>
                                </m:rad>
                              </m:den>
                            </m:f>
                          </m:den>
                        </m:f>
                      </m:e>
                    </m:d>
                    <m:r>
                      <a:rPr lang="en-US" sz="2400" i="1">
                        <a:latin typeface="Cambria Math"/>
                        <a:ea typeface="Cambria Math"/>
                      </a:rPr>
                      <m:t>&lt;</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𝑡</m:t>
                        </m:r>
                      </m:e>
                      <m:sub>
                        <m:r>
                          <a:rPr lang="en-US" sz="2400" i="1">
                            <a:latin typeface="Cambria Math"/>
                            <a:ea typeface="Cambria Math"/>
                          </a:rPr>
                          <m:t>𝛼</m:t>
                        </m:r>
                      </m:sub>
                    </m:sSub>
                  </m:oMath>
                </a14:m>
                <a:endParaRPr lang="en-US" sz="2400" dirty="0"/>
              </a:p>
              <a:p>
                <a:pPr marL="0" indent="0">
                  <a:buNone/>
                </a:pPr>
                <a:r>
                  <a:rPr lang="en-US" sz="2400" dirty="0">
                    <a:latin typeface="Cambria Math"/>
                    <a:ea typeface="Cambria Math"/>
                  </a:rPr>
                  <a:t>⇒</a:t>
                </a:r>
                <a14:m>
                  <m:oMath xmlns:m="http://schemas.openxmlformats.org/officeDocument/2006/math">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𝛼</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r>
                      <a:rPr lang="en-US" sz="2400" i="1">
                        <a:latin typeface="Cambria Math"/>
                        <a:ea typeface="Cambria Math"/>
                      </a:rPr>
                      <m:t>&lt;</m:t>
                    </m:r>
                    <m:r>
                      <a:rPr lang="en-US" sz="2400" i="1">
                        <a:latin typeface="Cambria Math"/>
                        <a:ea typeface="Cambria Math"/>
                      </a:rPr>
                      <m:t>𝜇</m:t>
                    </m:r>
                    <m:r>
                      <a:rPr lang="en-US" sz="2400" i="1">
                        <a:latin typeface="Cambria Math"/>
                        <a:ea typeface="Cambria Math"/>
                      </a:rPr>
                      <m:t>&lt;</m:t>
                    </m:r>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𝛼</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oMath>
                </a14:m>
                <a:endParaRPr lang="en-US" sz="2400" dirty="0"/>
              </a:p>
              <a:p>
                <a:pPr marL="0" indent="0">
                  <a:buNone/>
                </a:pPr>
                <a:r>
                  <a:rPr lang="en-US" sz="2400" dirty="0"/>
                  <a:t>95% confidence limits( 5% level of significance) are </a:t>
                </a:r>
                <a14:m>
                  <m:oMath xmlns:m="http://schemas.openxmlformats.org/officeDocument/2006/math">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0.05</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r>
                          <a:rPr lang="en-US" sz="2400" i="1">
                            <a:latin typeface="Cambria Math"/>
                            <a:ea typeface="Cambria Math"/>
                          </a:rPr>
                          <m:t>&lt;</m:t>
                        </m:r>
                        <m:r>
                          <a:rPr lang="en-US" sz="2400" i="1">
                            <a:latin typeface="Cambria Math"/>
                            <a:ea typeface="Cambria Math"/>
                          </a:rPr>
                          <m:t>𝜇</m:t>
                        </m:r>
                        <m:r>
                          <a:rPr lang="en-US" sz="2400" i="1">
                            <a:latin typeface="Cambria Math"/>
                            <a:ea typeface="Cambria Math"/>
                          </a:rPr>
                          <m:t>&lt;</m:t>
                        </m:r>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0.05</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e>
                    </m:d>
                  </m:oMath>
                </a14:m>
                <a:endParaRPr lang="en-US" sz="2400" dirty="0"/>
              </a:p>
              <a:p>
                <a:pPr marL="0" indent="0">
                  <a:buNone/>
                </a:pPr>
                <a:r>
                  <a:rPr lang="en-US" sz="2400" dirty="0"/>
                  <a:t>99% confidence limits( 1% level of significance) are </a:t>
                </a:r>
                <a14:m>
                  <m:oMath xmlns:m="http://schemas.openxmlformats.org/officeDocument/2006/math">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0.01</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r>
                          <a:rPr lang="en-US" sz="2400" i="1">
                            <a:latin typeface="Cambria Math"/>
                            <a:ea typeface="Cambria Math"/>
                          </a:rPr>
                          <m:t>&lt;</m:t>
                        </m:r>
                        <m:r>
                          <a:rPr lang="en-US" sz="2400" i="1">
                            <a:latin typeface="Cambria Math"/>
                            <a:ea typeface="Cambria Math"/>
                          </a:rPr>
                          <m:t>𝜇</m:t>
                        </m:r>
                        <m:r>
                          <a:rPr lang="en-US" sz="2400" i="1">
                            <a:latin typeface="Cambria Math"/>
                            <a:ea typeface="Cambria Math"/>
                          </a:rPr>
                          <m:t>&lt;</m:t>
                        </m:r>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0.01</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e>
                    </m:d>
                  </m:oMath>
                </a14:m>
                <a:endParaRPr lang="en-US" sz="2400" dirty="0"/>
              </a:p>
              <a:p>
                <a:pPr marL="0" indent="0">
                  <a:buNone/>
                </a:pPr>
                <a:endParaRPr lang="en-US" sz="2400" dirty="0"/>
              </a:p>
              <a:p>
                <a:pPr marL="0" indent="0">
                  <a:buNone/>
                </a:pPr>
                <a:endParaRPr lang="en-US" sz="2400" b="1"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1482" r="-74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3798594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lnSpcReduction="10000"/>
              </a:bodyPr>
              <a:lstStyle/>
              <a:p>
                <a:pPr marL="0" indent="0">
                  <a:buNone/>
                </a:pPr>
                <a:r>
                  <a:rPr lang="en-US" sz="2400" b="1" dirty="0"/>
                  <a:t>Example: </a:t>
                </a:r>
                <a:r>
                  <a:rPr lang="en-US" sz="2400" dirty="0"/>
                  <a:t>A random sample of size 16 has 53 as mean. The sum of square of deviation from mean is 150. Find the two sided  95% confidence interval for population mean.</a:t>
                </a:r>
              </a:p>
              <a:p>
                <a:pPr marL="0" indent="0">
                  <a:buNone/>
                </a:pPr>
                <a:r>
                  <a:rPr lang="en-US" sz="2400" b="1" dirty="0"/>
                  <a:t>Sol:</a:t>
                </a:r>
              </a:p>
              <a:p>
                <a:pPr marL="0" indent="0">
                  <a:buNone/>
                </a:pPr>
                <a14:m>
                  <m:oMath xmlns:m="http://schemas.openxmlformats.org/officeDocument/2006/math">
                    <m:r>
                      <a:rPr lang="en-US" sz="2400" i="1">
                        <a:latin typeface="Cambria Math"/>
                      </a:rPr>
                      <m:t>𝑛</m:t>
                    </m:r>
                    <m:r>
                      <a:rPr lang="en-US" sz="2400" i="1">
                        <a:latin typeface="Cambria Math"/>
                      </a:rPr>
                      <m:t>=</m:t>
                    </m:r>
                  </m:oMath>
                </a14:m>
                <a:r>
                  <a:rPr lang="en-US" sz="2400" dirty="0"/>
                  <a:t>16,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a:rPr>
                          <m:t>𝑥</m:t>
                        </m:r>
                      </m:e>
                    </m:acc>
                    <m:r>
                      <a:rPr lang="en-US" sz="2400" i="1">
                        <a:latin typeface="Cambria Math"/>
                      </a:rPr>
                      <m:t>=53</m:t>
                    </m:r>
                    <m:r>
                      <a:rPr lang="en-US" sz="2400">
                        <a:latin typeface="Cambria Math"/>
                      </a:rPr>
                      <m:t>,</m:t>
                    </m:r>
                  </m:oMath>
                </a14:m>
                <a:r>
                  <a:rPr lang="en-US" sz="2400" dirty="0"/>
                  <a:t> </a:t>
                </a:r>
                <a14:m>
                  <m:oMath xmlns:m="http://schemas.openxmlformats.org/officeDocument/2006/math">
                    <m:nary>
                      <m:naryPr>
                        <m:chr m:val="∑"/>
                        <m:limLoc m:val="undOvr"/>
                        <m:subHide m:val="on"/>
                        <m:supHide m:val="on"/>
                        <m:ctrlPr>
                          <a:rPr lang="en-US" sz="2400" i="1">
                            <a:latin typeface="Cambria Math" panose="02040503050406030204" pitchFamily="18" charset="0"/>
                          </a:rPr>
                        </m:ctrlPr>
                      </m:naryPr>
                      <m:sub/>
                      <m:sup/>
                      <m:e>
                        <m:sSup>
                          <m:sSupPr>
                            <m:ctrlPr>
                              <a:rPr lang="en-US" sz="2400" i="1">
                                <a:latin typeface="Cambria Math" panose="02040503050406030204" pitchFamily="18" charset="0"/>
                              </a:rPr>
                            </m:ctrlPr>
                          </m:sSupPr>
                          <m:e>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r>
                              <a:rPr lang="en-US" sz="2400" i="1">
                                <a:latin typeface="Cambria Math"/>
                              </a:rPr>
                              <m:t>−</m:t>
                            </m:r>
                            <m:acc>
                              <m:accPr>
                                <m:chr m:val="̅"/>
                                <m:ctrlPr>
                                  <a:rPr lang="en-US" sz="2400" i="1">
                                    <a:latin typeface="Cambria Math" panose="02040503050406030204" pitchFamily="18" charset="0"/>
                                  </a:rPr>
                                </m:ctrlPr>
                              </m:accPr>
                              <m:e>
                                <m:r>
                                  <a:rPr lang="en-US" sz="2400" i="1">
                                    <a:latin typeface="Cambria Math"/>
                                  </a:rPr>
                                  <m:t>𝑥</m:t>
                                </m:r>
                              </m:e>
                            </m:acc>
                            <m:r>
                              <a:rPr lang="en-US" sz="2400" i="1">
                                <a:latin typeface="Cambria Math"/>
                              </a:rPr>
                              <m:t>)</m:t>
                            </m:r>
                          </m:e>
                          <m:sup>
                            <m:r>
                              <a:rPr lang="en-US" sz="2400" i="1">
                                <a:latin typeface="Cambria Math"/>
                              </a:rPr>
                              <m:t>2</m:t>
                            </m:r>
                          </m:sup>
                        </m:sSup>
                      </m:e>
                    </m:nary>
                    <m:r>
                      <a:rPr lang="en-US" sz="2400" i="1">
                        <a:latin typeface="Cambria Math"/>
                      </a:rPr>
                      <m:t>=53</m:t>
                    </m:r>
                  </m:oMath>
                </a14:m>
                <a:endParaRPr lang="en-US" sz="2400" dirty="0"/>
              </a:p>
              <a:p>
                <a:pPr marL="0" indent="0">
                  <a:buNone/>
                </a:pPr>
                <a14:m>
                  <m:oMath xmlns:m="http://schemas.openxmlformats.org/officeDocument/2006/math">
                    <m:r>
                      <m:rPr>
                        <m:nor/>
                      </m:rPr>
                      <a:rPr lang="en-US" sz="2400" dirty="0">
                        <a:latin typeface="Times New Roman" pitchFamily="18" charset="0"/>
                        <a:cs typeface="Times New Roman" pitchFamily="18" charset="0"/>
                      </a:rPr>
                      <m:t>S</m:t>
                    </m:r>
                    <m:r>
                      <a:rPr lang="en-US" sz="2400" i="1">
                        <a:latin typeface="Cambria Math"/>
                      </a:rPr>
                      <m:t>=</m:t>
                    </m:r>
                    <m:rad>
                      <m:radPr>
                        <m:degHide m:val="on"/>
                        <m:ctrlPr>
                          <a:rPr lang="en-US" sz="2400" i="1">
                            <a:latin typeface="Cambria Math" panose="02040503050406030204" pitchFamily="18" charset="0"/>
                          </a:rPr>
                        </m:ctrlPr>
                      </m:radPr>
                      <m:deg/>
                      <m:e>
                        <m:f>
                          <m:fPr>
                            <m:ctrlPr>
                              <a:rPr lang="en-US" sz="2400" i="1">
                                <a:latin typeface="Cambria Math" panose="02040503050406030204" pitchFamily="18" charset="0"/>
                              </a:rPr>
                            </m:ctrlPr>
                          </m:fPr>
                          <m:num>
                            <m:nary>
                              <m:naryPr>
                                <m:chr m:val="∑"/>
                                <m:limLoc m:val="undOvr"/>
                                <m:subHide m:val="on"/>
                                <m:supHide m:val="on"/>
                                <m:ctrlPr>
                                  <a:rPr lang="en-US" sz="2400" i="1">
                                    <a:latin typeface="Cambria Math" panose="02040503050406030204" pitchFamily="18" charset="0"/>
                                  </a:rPr>
                                </m:ctrlPr>
                              </m:naryPr>
                              <m:sub/>
                              <m:sup/>
                              <m:e>
                                <m:sSup>
                                  <m:sSupPr>
                                    <m:ctrlPr>
                                      <a:rPr lang="en-US" sz="2400" i="1">
                                        <a:latin typeface="Cambria Math" panose="02040503050406030204" pitchFamily="18" charset="0"/>
                                      </a:rPr>
                                    </m:ctrlPr>
                                  </m:sSupPr>
                                  <m:e>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𝑥</m:t>
                                        </m:r>
                                      </m:e>
                                      <m:sub>
                                        <m:r>
                                          <a:rPr lang="en-US" sz="2400" i="1">
                                            <a:latin typeface="Cambria Math"/>
                                          </a:rPr>
                                          <m:t>𝑖</m:t>
                                        </m:r>
                                      </m:sub>
                                    </m:sSub>
                                    <m:r>
                                      <a:rPr lang="en-US" sz="2400" i="1">
                                        <a:latin typeface="Cambria Math"/>
                                      </a:rPr>
                                      <m:t>−</m:t>
                                    </m:r>
                                    <m:acc>
                                      <m:accPr>
                                        <m:chr m:val="̅"/>
                                        <m:ctrlPr>
                                          <a:rPr lang="en-US" sz="2400" i="1">
                                            <a:latin typeface="Cambria Math" panose="02040503050406030204" pitchFamily="18" charset="0"/>
                                          </a:rPr>
                                        </m:ctrlPr>
                                      </m:accPr>
                                      <m:e>
                                        <m:r>
                                          <a:rPr lang="en-US" sz="2400" i="1">
                                            <a:latin typeface="Cambria Math"/>
                                          </a:rPr>
                                          <m:t>𝑥</m:t>
                                        </m:r>
                                      </m:e>
                                    </m:acc>
                                    <m:r>
                                      <a:rPr lang="en-US" sz="2400" i="1">
                                        <a:latin typeface="Cambria Math"/>
                                      </a:rPr>
                                      <m:t>)</m:t>
                                    </m:r>
                                  </m:e>
                                  <m:sup>
                                    <m:r>
                                      <a:rPr lang="en-US" sz="2400" i="1">
                                        <a:latin typeface="Cambria Math"/>
                                      </a:rPr>
                                      <m:t>2</m:t>
                                    </m:r>
                                  </m:sup>
                                </m:sSup>
                              </m:e>
                            </m:nary>
                          </m:num>
                          <m:den>
                            <m:r>
                              <a:rPr lang="en-US" sz="2400" i="1">
                                <a:latin typeface="Cambria Math"/>
                              </a:rPr>
                              <m:t>𝑛</m:t>
                            </m:r>
                            <m:r>
                              <a:rPr lang="en-US" sz="2400" i="1">
                                <a:latin typeface="Cambria Math"/>
                              </a:rPr>
                              <m:t>−1</m:t>
                            </m:r>
                          </m:den>
                        </m:f>
                      </m:e>
                    </m:rad>
                    <m:r>
                      <a:rPr lang="en-US" sz="2400" i="1">
                        <a:latin typeface="Cambria Math"/>
                      </a:rPr>
                      <m:t>=3.162</m:t>
                    </m:r>
                  </m:oMath>
                </a14:m>
                <a:r>
                  <a:rPr lang="en-US" sz="2400" dirty="0"/>
                  <a:t> </a:t>
                </a:r>
              </a:p>
              <a:p>
                <a:pPr marL="0" indent="0">
                  <a:buNone/>
                </a:pPr>
                <a:r>
                  <a:rPr lang="en-US" sz="2400" dirty="0"/>
                  <a:t>Degree of freedom(</a:t>
                </a:r>
                <a:r>
                  <a:rPr lang="en-US" sz="2400" dirty="0" err="1"/>
                  <a:t>df</a:t>
                </a:r>
                <a:r>
                  <a:rPr lang="en-US" sz="2400" dirty="0"/>
                  <a:t>)=16-1=15</a:t>
                </a:r>
              </a:p>
              <a:p>
                <a:pPr marL="0" indent="0">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𝑡</m:t>
                        </m:r>
                      </m:e>
                      <m:sub>
                        <m:r>
                          <a:rPr lang="en-US" sz="2400" i="1">
                            <a:latin typeface="Cambria Math"/>
                          </a:rPr>
                          <m:t>15</m:t>
                        </m:r>
                      </m:sub>
                    </m:sSub>
                    <m:d>
                      <m:dPr>
                        <m:ctrlPr>
                          <a:rPr lang="en-US" sz="2400" i="1">
                            <a:latin typeface="Cambria Math" panose="02040503050406030204" pitchFamily="18" charset="0"/>
                          </a:rPr>
                        </m:ctrlPr>
                      </m:dPr>
                      <m:e>
                        <m:r>
                          <a:rPr lang="en-US" sz="2400" i="1">
                            <a:latin typeface="Cambria Math"/>
                          </a:rPr>
                          <m:t>0.05</m:t>
                        </m:r>
                      </m:e>
                    </m:d>
                    <m:r>
                      <a:rPr lang="en-US" sz="2400" i="1">
                        <a:latin typeface="Cambria Math"/>
                      </a:rPr>
                      <m:t>=2.131</m:t>
                    </m:r>
                  </m:oMath>
                </a14:m>
                <a:r>
                  <a:rPr lang="en-US" sz="2400" dirty="0"/>
                  <a:t> </a:t>
                </a:r>
              </a:p>
              <a:p>
                <a:pPr marL="0" indent="0">
                  <a:buNone/>
                </a:pPr>
                <a:r>
                  <a:rPr lang="en-US" sz="2400" dirty="0"/>
                  <a:t>95% confidence limits for </a:t>
                </a:r>
                <a14:m>
                  <m:oMath xmlns:m="http://schemas.openxmlformats.org/officeDocument/2006/math">
                    <m:r>
                      <a:rPr lang="en-US" sz="2400" i="1">
                        <a:latin typeface="Cambria Math"/>
                        <a:ea typeface="Cambria Math"/>
                      </a:rPr>
                      <m:t>𝜇</m:t>
                    </m:r>
                  </m:oMath>
                </a14:m>
                <a:r>
                  <a:rPr lang="en-US" sz="2400" dirty="0"/>
                  <a:t> are </a:t>
                </a:r>
                <a14:m>
                  <m:oMath xmlns:m="http://schemas.openxmlformats.org/officeDocument/2006/math">
                    <m:d>
                      <m:dPr>
                        <m:begChr m:val="["/>
                        <m:endChr m:val="]"/>
                        <m:ctrlPr>
                          <a:rPr lang="en-US" sz="2400" i="1">
                            <a:latin typeface="Cambria Math" panose="02040503050406030204" pitchFamily="18" charset="0"/>
                          </a:rPr>
                        </m:ctrlPr>
                      </m:dPr>
                      <m:e>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0.05</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r>
                          <a:rPr lang="en-US" sz="2400" i="1">
                            <a:latin typeface="Cambria Math"/>
                            <a:ea typeface="Cambria Math"/>
                          </a:rPr>
                          <m:t>&lt;</m:t>
                        </m:r>
                        <m:r>
                          <a:rPr lang="en-US" sz="2400" i="1">
                            <a:latin typeface="Cambria Math"/>
                            <a:ea typeface="Cambria Math"/>
                          </a:rPr>
                          <m:t>𝜇</m:t>
                        </m:r>
                        <m:r>
                          <a:rPr lang="en-US" sz="2400" i="1">
                            <a:latin typeface="Cambria Math"/>
                            <a:ea typeface="Cambria Math"/>
                          </a:rPr>
                          <m:t>&lt;</m:t>
                        </m:r>
                        <m:acc>
                          <m:accPr>
                            <m:chr m:val="̅"/>
                            <m:ctrlPr>
                              <a:rPr lang="en-US" sz="2400" i="1">
                                <a:latin typeface="Cambria Math" panose="02040503050406030204" pitchFamily="18" charset="0"/>
                                <a:ea typeface="Cambria Math"/>
                              </a:rPr>
                            </m:ctrlPr>
                          </m:accPr>
                          <m:e>
                            <m:r>
                              <a:rPr lang="en-US" sz="2400" i="1">
                                <a:latin typeface="Cambria Math"/>
                                <a:ea typeface="Cambria Math"/>
                              </a:rPr>
                              <m:t>𝑥</m:t>
                            </m:r>
                          </m:e>
                        </m:acc>
                        <m:r>
                          <a:rPr lang="en-US" sz="2400" i="1">
                            <a:latin typeface="Cambria Math"/>
                            <a:ea typeface="Cambria Math"/>
                          </a:rPr>
                          <m:t>+</m:t>
                        </m:r>
                        <m:sSub>
                          <m:sSubPr>
                            <m:ctrlPr>
                              <a:rPr lang="en-US" sz="2400" i="1">
                                <a:latin typeface="Cambria Math" panose="02040503050406030204" pitchFamily="18" charset="0"/>
                                <a:ea typeface="Cambria Math"/>
                              </a:rPr>
                            </m:ctrlPr>
                          </m:sSubPr>
                          <m:e>
                            <m:r>
                              <a:rPr lang="en-US" sz="2400" i="1">
                                <a:latin typeface="Cambria Math"/>
                                <a:ea typeface="Cambria Math"/>
                              </a:rPr>
                              <m:t>𝑡</m:t>
                            </m:r>
                          </m:e>
                          <m:sub>
                            <m:r>
                              <a:rPr lang="en-US" sz="2400" i="1">
                                <a:latin typeface="Cambria Math"/>
                                <a:ea typeface="Cambria Math"/>
                              </a:rPr>
                              <m:t>0.05</m:t>
                            </m:r>
                          </m:sub>
                        </m:sSub>
                        <m:f>
                          <m:fPr>
                            <m:ctrlPr>
                              <a:rPr lang="en-US" sz="2400" i="1">
                                <a:latin typeface="Cambria Math" panose="02040503050406030204" pitchFamily="18" charset="0"/>
                                <a:ea typeface="Cambria Math"/>
                              </a:rPr>
                            </m:ctrlPr>
                          </m:fPr>
                          <m:num>
                            <m:r>
                              <a:rPr lang="en-US" sz="2400" i="1">
                                <a:latin typeface="Cambria Math"/>
                                <a:ea typeface="Cambria Math"/>
                              </a:rPr>
                              <m:t>𝑆</m:t>
                            </m:r>
                          </m:num>
                          <m:den>
                            <m:rad>
                              <m:radPr>
                                <m:degHide m:val="on"/>
                                <m:ctrlPr>
                                  <a:rPr lang="en-US" sz="2400" i="1">
                                    <a:latin typeface="Cambria Math" panose="02040503050406030204" pitchFamily="18" charset="0"/>
                                    <a:ea typeface="Cambria Math"/>
                                  </a:rPr>
                                </m:ctrlPr>
                              </m:radPr>
                              <m:deg/>
                              <m:e>
                                <m:r>
                                  <a:rPr lang="en-US" sz="2400" i="1">
                                    <a:latin typeface="Cambria Math"/>
                                    <a:ea typeface="Cambria Math"/>
                                  </a:rPr>
                                  <m:t>𝑛</m:t>
                                </m:r>
                              </m:e>
                            </m:rad>
                          </m:den>
                        </m:f>
                      </m:e>
                    </m:d>
                  </m:oMath>
                </a14:m>
                <a:endParaRPr lang="en-US" sz="2400" dirty="0"/>
              </a:p>
              <a:p>
                <a:pPr marL="0" indent="0">
                  <a:buNone/>
                </a:pP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a:rPr>
                          <m:t>51.315   54.685</m:t>
                        </m:r>
                      </m:e>
                    </m:d>
                  </m:oMath>
                </a14:m>
                <a:r>
                  <a:rPr lang="en-US" sz="2400" dirty="0"/>
                  <a:t> </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1617"/>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t-Test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2025672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b="1" dirty="0"/>
                  <a:t>Q1: </a:t>
                </a:r>
                <a:r>
                  <a:rPr lang="en-US" dirty="0"/>
                  <a:t>Intelligent test were given to two groups of boys &amp; girls </a:t>
                </a:r>
              </a:p>
              <a:p>
                <a:pPr marL="0" indent="0">
                  <a:buNone/>
                </a:pPr>
                <a:r>
                  <a:rPr lang="en-US" dirty="0"/>
                  <a:t>              Mean    S.D.        Size</a:t>
                </a:r>
              </a:p>
              <a:p>
                <a:pPr marL="0" indent="0">
                  <a:buNone/>
                </a:pPr>
                <a:r>
                  <a:rPr lang="en-US" dirty="0"/>
                  <a:t>Girl        75            8           60</a:t>
                </a:r>
              </a:p>
              <a:p>
                <a:pPr marL="0" indent="0">
                  <a:buNone/>
                </a:pPr>
                <a:r>
                  <a:rPr lang="en-US" dirty="0"/>
                  <a:t>Boys      73            10         100</a:t>
                </a:r>
              </a:p>
              <a:p>
                <a:pPr marL="0" indent="0">
                  <a:buNone/>
                </a:pPr>
                <a:r>
                  <a:rPr lang="en-US" dirty="0"/>
                  <a:t>Examine if the difference between mean scores is significant? (Take </a:t>
                </a:r>
                <a14:m>
                  <m:oMath xmlns:m="http://schemas.openxmlformats.org/officeDocument/2006/math">
                    <m:r>
                      <a:rPr lang="en-US" i="1">
                        <a:latin typeface="Cambria Math"/>
                        <a:ea typeface="Cambria Math"/>
                      </a:rPr>
                      <m:t>𝛼</m:t>
                    </m:r>
                    <m:r>
                      <a:rPr lang="en-US" i="1">
                        <a:latin typeface="Cambria Math"/>
                        <a:ea typeface="Cambria Math"/>
                      </a:rPr>
                      <m:t>=0.05)</m:t>
                    </m:r>
                    <m:r>
                      <a:rPr lang="en-US" b="0" i="0" smtClean="0">
                        <a:latin typeface="Cambria Math"/>
                        <a:ea typeface="Cambria Math"/>
                      </a:rPr>
                      <m:t> </m:t>
                    </m:r>
                  </m:oMath>
                </a14:m>
                <a:r>
                  <a:rPr lang="en-US" b="1" dirty="0"/>
                  <a:t>					Ans: </a:t>
                </a:r>
                <a14:m>
                  <m:oMath xmlns:m="http://schemas.openxmlformats.org/officeDocument/2006/math">
                    <m:sSub>
                      <m:sSubPr>
                        <m:ctrlPr>
                          <a:rPr lang="en-US" i="1">
                            <a:latin typeface="Cambria Math" panose="02040503050406030204" pitchFamily="18" charset="0"/>
                          </a:rPr>
                        </m:ctrlPr>
                      </m:sSubPr>
                      <m:e>
                        <m:r>
                          <a:rPr lang="en-US" b="0" i="1">
                            <a:latin typeface="Cambria Math"/>
                          </a:rPr>
                          <m:t>𝐻</m:t>
                        </m:r>
                      </m:e>
                      <m:sub>
                        <m:r>
                          <a:rPr lang="en-US" b="0" i="1">
                            <a:latin typeface="Cambria Math"/>
                          </a:rPr>
                          <m:t>0</m:t>
                        </m:r>
                      </m:sub>
                    </m:sSub>
                  </m:oMath>
                </a14:m>
                <a:r>
                  <a:rPr lang="en-US" dirty="0"/>
                  <a:t> is accepted</a:t>
                </a:r>
              </a:p>
              <a:p>
                <a:pPr marL="0" indent="0">
                  <a:buNone/>
                </a:pPr>
                <a:r>
                  <a:rPr lang="en-US" b="1" dirty="0"/>
                  <a:t>Q2:</a:t>
                </a:r>
                <a:r>
                  <a:rPr lang="en-US" dirty="0"/>
                  <a:t>  A company wants to improve its sales. The previous sales data indicated that the average sale of 25 salesmen was $50 per transaction. After training, the recent data showed an average sale of $80 per transaction. If the standard deviation is $15. Has the training provided improved the sales?	</a:t>
                </a:r>
              </a:p>
              <a:p>
                <a:pPr marL="0" indent="0">
                  <a:buNone/>
                </a:pPr>
                <a:r>
                  <a:rPr lang="en-US" b="1" dirty="0"/>
                  <a:t>			Answer: </a:t>
                </a:r>
                <a:r>
                  <a:rPr lang="en-US" dirty="0"/>
                  <a:t>Yes, training improved the sales. </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b="-256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Daily Quiz(CO5)</a:t>
            </a:r>
          </a:p>
        </p:txBody>
      </p:sp>
    </p:spTree>
    <p:extLst>
      <p:ext uri="{BB962C8B-B14F-4D97-AF65-F5344CB8AC3E}">
        <p14:creationId xmlns:p14="http://schemas.microsoft.com/office/powerpoint/2010/main" val="25702500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1 Intelligent test were given to two groups of boys &amp; girls </a:t>
                </a:r>
              </a:p>
              <a:p>
                <a:pPr marL="0" indent="0">
                  <a:buNone/>
                </a:pPr>
                <a:r>
                  <a:rPr lang="en-US" sz="2200" dirty="0"/>
                  <a:t>              Mean    S.D.        Size</a:t>
                </a:r>
              </a:p>
              <a:p>
                <a:pPr marL="0" indent="0">
                  <a:buNone/>
                </a:pPr>
                <a:r>
                  <a:rPr lang="en-US" sz="2200" dirty="0"/>
                  <a:t>Girl        68            5           60</a:t>
                </a:r>
              </a:p>
              <a:p>
                <a:pPr marL="0" indent="0">
                  <a:buNone/>
                </a:pPr>
                <a:r>
                  <a:rPr lang="en-US" sz="2200" dirty="0"/>
                  <a:t>Boys      85            10         100</a:t>
                </a:r>
              </a:p>
              <a:p>
                <a:pPr marL="0" indent="0">
                  <a:buNone/>
                </a:pPr>
                <a:r>
                  <a:rPr lang="en-US" sz="2200" dirty="0"/>
                  <a:t>Examine if the difference between mean scores is significant? (Take </a:t>
                </a:r>
                <a14:m>
                  <m:oMath xmlns:m="http://schemas.openxmlformats.org/officeDocument/2006/math">
                    <m:r>
                      <a:rPr lang="en-US" sz="2200" i="1">
                        <a:latin typeface="Cambria Math"/>
                        <a:ea typeface="Cambria Math"/>
                      </a:rPr>
                      <m:t>𝛼</m:t>
                    </m:r>
                    <m:r>
                      <a:rPr lang="en-US" sz="2200" i="1">
                        <a:latin typeface="Cambria Math"/>
                        <a:ea typeface="Cambria Math"/>
                      </a:rPr>
                      <m:t>=0.05)</m:t>
                    </m:r>
                    <m:r>
                      <a:rPr lang="en-US" sz="2200" b="0" i="0" smtClean="0">
                        <a:latin typeface="Cambria Math"/>
                        <a:ea typeface="Cambria Math"/>
                      </a:rPr>
                      <m:t> </m:t>
                    </m:r>
                  </m:oMath>
                </a14:m>
                <a:endParaRPr lang="en-US" sz="2200" b="0" dirty="0">
                  <a:ea typeface="Cambria Math"/>
                </a:endParaRPr>
              </a:p>
              <a:p>
                <a:pPr marL="0" indent="0">
                  <a:buNone/>
                </a:pPr>
                <a:r>
                  <a:rPr lang="en-US" sz="2200" dirty="0">
                    <a:ea typeface="Cambria Math"/>
                  </a:rPr>
                  <a:t>2. Define Null hypothesis for</a:t>
                </a:r>
              </a:p>
              <a:p>
                <a:pPr marL="514350" indent="-514350">
                  <a:buFont typeface="+mj-lt"/>
                  <a:buAutoNum type="romanLcPeriod"/>
                </a:pPr>
                <a:r>
                  <a:rPr lang="en-US" sz="2200" dirty="0">
                    <a:ea typeface="Cambria Math"/>
                  </a:rPr>
                  <a:t>t</a:t>
                </a:r>
                <a:r>
                  <a:rPr lang="en-US" sz="2200" b="0" dirty="0">
                    <a:ea typeface="Cambria Math"/>
                  </a:rPr>
                  <a:t> test</a:t>
                </a:r>
              </a:p>
              <a:p>
                <a:pPr marL="514350" indent="-514350">
                  <a:buFont typeface="+mj-lt"/>
                  <a:buAutoNum type="romanLcPeriod"/>
                </a:pPr>
                <a:r>
                  <a:rPr lang="en-US" sz="2200" dirty="0">
                    <a:ea typeface="Cambria Math"/>
                  </a:rPr>
                  <a:t>Z-test</a:t>
                </a:r>
              </a:p>
              <a:p>
                <a:pPr marL="0" indent="0">
                  <a:buNone/>
                </a:pPr>
                <a:endParaRPr lang="en-US" sz="2200" b="0" dirty="0">
                  <a:ea typeface="Cambria Math"/>
                </a:endParaRPr>
              </a:p>
              <a:p>
                <a:pPr marL="0" indent="0">
                  <a:buNone/>
                </a:pPr>
                <a:r>
                  <a:rPr lang="en-US" sz="2200" b="1" dirty="0"/>
                  <a:t>						</a:t>
                </a: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 Assignment(CO5)</a:t>
            </a:r>
          </a:p>
        </p:txBody>
      </p:sp>
    </p:spTree>
    <p:extLst>
      <p:ext uri="{BB962C8B-B14F-4D97-AF65-F5344CB8AC3E}">
        <p14:creationId xmlns:p14="http://schemas.microsoft.com/office/powerpoint/2010/main" val="40232239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ü"/>
            </a:pPr>
            <a:r>
              <a:rPr lang="en-US" sz="2200" dirty="0"/>
              <a:t>Test of hypothesis</a:t>
            </a:r>
          </a:p>
          <a:p>
            <a:pPr>
              <a:buFont typeface="Wingdings" pitchFamily="2" charset="2"/>
              <a:buChar char="ü"/>
            </a:pPr>
            <a:r>
              <a:rPr lang="en-US" sz="2200" dirty="0"/>
              <a:t>Procedure of Test of hypothesis</a:t>
            </a:r>
          </a:p>
          <a:p>
            <a:pPr>
              <a:buFont typeface="Wingdings" pitchFamily="2" charset="2"/>
              <a:buChar char="ü"/>
            </a:pPr>
            <a:r>
              <a:rPr lang="en-US" sz="2200" dirty="0"/>
              <a:t>Null Hypothesis</a:t>
            </a:r>
          </a:p>
          <a:p>
            <a:pPr>
              <a:buFont typeface="Wingdings" pitchFamily="2" charset="2"/>
              <a:buChar char="ü"/>
            </a:pPr>
            <a:r>
              <a:rPr lang="en-US" sz="2200" dirty="0"/>
              <a:t>Alternate Hypothesis</a:t>
            </a:r>
          </a:p>
          <a:p>
            <a:pPr>
              <a:buFont typeface="Wingdings" pitchFamily="2" charset="2"/>
              <a:buChar char="ü"/>
            </a:pPr>
            <a:r>
              <a:rPr lang="en-US" sz="2200" dirty="0"/>
              <a:t>Level of significance </a:t>
            </a:r>
          </a:p>
          <a:p>
            <a:pPr>
              <a:buFont typeface="Wingdings" pitchFamily="2" charset="2"/>
              <a:buChar char="ü"/>
            </a:pPr>
            <a:r>
              <a:rPr lang="en-US" sz="2200" dirty="0"/>
              <a:t>Test of hypothesis about difference between two population mean</a:t>
            </a:r>
          </a:p>
          <a:p>
            <a:pPr>
              <a:buFont typeface="Wingdings" pitchFamily="2" charset="2"/>
              <a:buChar char="ü"/>
            </a:pPr>
            <a:r>
              <a:rPr lang="en-US" sz="2200" dirty="0"/>
              <a:t>t-Test</a:t>
            </a:r>
          </a:p>
          <a:p>
            <a:pPr>
              <a:buFont typeface="Wingdings" pitchFamily="2" charset="2"/>
              <a:buChar char="ü"/>
            </a:pPr>
            <a:endParaRPr lang="en-US" sz="2200" dirty="0"/>
          </a:p>
          <a:p>
            <a:pPr>
              <a:buFont typeface="Wingdings" pitchFamily="2" charset="2"/>
              <a:buChar char="ü"/>
            </a:pPr>
            <a:endParaRPr lang="en-US" sz="2200" dirty="0"/>
          </a:p>
          <a:p>
            <a:pPr>
              <a:buFont typeface="Wingdings" pitchFamily="2" charset="2"/>
              <a:buChar char="ü"/>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Recap(CO5)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252549723"/>
      </p:ext>
    </p:ext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Test of hypothesis for small samples (</a:t>
                </a:r>
                <a14:m>
                  <m:oMath xmlns:m="http://schemas.openxmlformats.org/officeDocument/2006/math">
                    <m:r>
                      <a:rPr lang="en-US" sz="2200" b="1" i="1">
                        <a:latin typeface="Cambria Math"/>
                      </a:rPr>
                      <m:t>𝒏</m:t>
                    </m:r>
                    <m:r>
                      <a:rPr lang="en-US" sz="2200" b="1" i="1">
                        <a:latin typeface="Cambria Math"/>
                        <a:ea typeface="Cambria Math"/>
                      </a:rPr>
                      <m:t>≤</m:t>
                    </m:r>
                    <m:r>
                      <a:rPr lang="en-US" sz="2200" b="1" i="1">
                        <a:latin typeface="Cambria Math"/>
                        <a:ea typeface="Cambria Math"/>
                      </a:rPr>
                      <m:t>𝟑𝟎</m:t>
                    </m:r>
                    <m:r>
                      <a:rPr lang="en-US" sz="2200" b="1" i="1">
                        <a:latin typeface="Cambria Math"/>
                        <a:ea typeface="Cambria Math"/>
                      </a:rPr>
                      <m:t>)</m:t>
                    </m:r>
                  </m:oMath>
                </a14:m>
                <a:endParaRPr lang="en-US" sz="2200" b="1" dirty="0"/>
              </a:p>
              <a:p>
                <a:r>
                  <a:rPr lang="en-US" sz="2200" dirty="0"/>
                  <a:t>t-test</a:t>
                </a:r>
              </a:p>
              <a:p>
                <a:r>
                  <a:rPr lang="en-US" sz="2200" dirty="0"/>
                  <a:t>F-test</a:t>
                </a:r>
              </a:p>
              <a:p>
                <a:pPr marL="0" indent="0" algn="just">
                  <a:buNone/>
                </a:pPr>
                <a:r>
                  <a:rPr lang="en-US" sz="2200" b="1" dirty="0">
                    <a:latin typeface="Times New Roman" pitchFamily="18" charset="0"/>
                    <a:cs typeface="Times New Roman" pitchFamily="18" charset="0"/>
                  </a:rPr>
                  <a:t>Test of hypothesis for Small Samples</a:t>
                </a:r>
                <a:endParaRPr lang="en-US" sz="2200" dirty="0">
                  <a:latin typeface="Times New Roman" pitchFamily="18" charset="0"/>
                  <a:cs typeface="Times New Roman" pitchFamily="18" charset="0"/>
                </a:endParaRPr>
              </a:p>
              <a:p>
                <a:pPr marL="0" indent="0" algn="just">
                  <a:buNone/>
                </a:pPr>
                <a:r>
                  <a:rPr lang="en-US" sz="2200" dirty="0">
                    <a:latin typeface="Times New Roman" pitchFamily="18" charset="0"/>
                    <a:cs typeface="Times New Roman" pitchFamily="18" charset="0"/>
                  </a:rPr>
                  <a:t>When the size of the sample </a:t>
                </a:r>
                <a14:m>
                  <m:oMath xmlns:m="http://schemas.openxmlformats.org/officeDocument/2006/math">
                    <m:r>
                      <a:rPr lang="en-US" sz="2200" i="1">
                        <a:latin typeface="Cambria Math"/>
                      </a:rPr>
                      <m:t>𝑛</m:t>
                    </m:r>
                    <m:r>
                      <a:rPr lang="en-US" sz="2200" i="1">
                        <a:latin typeface="Cambria Math"/>
                      </a:rPr>
                      <m:t>≤30</m:t>
                    </m:r>
                  </m:oMath>
                </a14:m>
                <a:r>
                  <a:rPr lang="en-US" sz="2200" dirty="0">
                    <a:latin typeface="Times New Roman" pitchFamily="18" charset="0"/>
                    <a:cs typeface="Times New Roman" pitchFamily="18" charset="0"/>
                  </a:rPr>
                  <a:t>, then the sample is called small sample. For such sample it will not be possible for us to assume that the random sampling distribution of a statistic is approximately normal. In this sampling distribution is F-distribution.</a:t>
                </a:r>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9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(CO5)</a:t>
            </a:r>
          </a:p>
        </p:txBody>
      </p:sp>
    </p:spTree>
    <p:extLst>
      <p:ext uri="{BB962C8B-B14F-4D97-AF65-F5344CB8AC3E}">
        <p14:creationId xmlns:p14="http://schemas.microsoft.com/office/powerpoint/2010/main" val="11178228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r>
                  <a:rPr lang="en-US" sz="2400" b="1" u="sng" dirty="0"/>
                  <a:t>F-Test</a:t>
                </a:r>
                <a:r>
                  <a:rPr lang="en-US" sz="2400" b="1" dirty="0"/>
                  <a:t>:</a:t>
                </a:r>
                <a:r>
                  <a:rPr lang="en-US" sz="2400" dirty="0"/>
                  <a:t> </a:t>
                </a:r>
                <a:r>
                  <a:rPr lang="en-US" sz="2200" dirty="0"/>
                  <a:t>In testing the Significance difference of two means of two Samples, we assumed that the two Samples came from the Same Population or population with equal Variance. The object of the F-test is to discover whether two independent estimates of population variance differ significantly or whether the two samples may be regarded as drown from the normal populations having the same variance. </a:t>
                </a:r>
              </a:p>
              <a:p>
                <a:r>
                  <a:rPr lang="en-US" sz="2200" dirty="0"/>
                  <a:t>Hence before applying the t-test for the Significance of difference of two means, we have to test for the equality of population variance by using F-test.</a:t>
                </a:r>
              </a:p>
              <a:p>
                <a:r>
                  <a:rPr lang="en-US" sz="2200" dirty="0"/>
                  <a:t>Let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 </m:t>
                    </m:r>
                    <m:r>
                      <a:rPr lang="en-US" sz="2200" i="1">
                        <a:latin typeface="Cambria Math"/>
                      </a:rPr>
                      <m:t>𝑎𝑛𝑑</m:t>
                    </m:r>
                    <m:r>
                      <a:rPr lang="en-US" sz="2200" i="1">
                        <a:latin typeface="Cambria Math"/>
                      </a:rPr>
                      <m:t> </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oMath>
                </a14:m>
                <a:r>
                  <a:rPr lang="en-US" sz="2200" dirty="0"/>
                  <a:t> be the Sizes of two Samples with Variances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𝑠</m:t>
                        </m:r>
                      </m:e>
                      <m:sub>
                        <m:r>
                          <a:rPr lang="en-US" sz="2200" i="1">
                            <a:latin typeface="Cambria Math"/>
                          </a:rPr>
                          <m:t>1</m:t>
                        </m:r>
                      </m:sub>
                      <m:sup>
                        <m:r>
                          <a:rPr lang="en-US" sz="2200" i="1">
                            <a:latin typeface="Cambria Math"/>
                          </a:rPr>
                          <m:t>2</m:t>
                        </m:r>
                      </m:sup>
                    </m:sSubSup>
                  </m:oMath>
                </a14:m>
                <a:r>
                  <a:rPr lang="en-US" sz="2200" dirty="0"/>
                  <a:t> and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𝑠</m:t>
                        </m:r>
                      </m:e>
                      <m:sub>
                        <m:r>
                          <a:rPr lang="en-US" sz="2200" i="1">
                            <a:latin typeface="Cambria Math"/>
                          </a:rPr>
                          <m:t>2</m:t>
                        </m:r>
                      </m:sub>
                      <m:sup>
                        <m:r>
                          <a:rPr lang="en-US" sz="2200" i="1">
                            <a:latin typeface="Cambria Math"/>
                          </a:rPr>
                          <m:t>2</m:t>
                        </m:r>
                      </m:sup>
                    </m:sSubSup>
                  </m:oMath>
                </a14:m>
                <a:r>
                  <a:rPr lang="en-US" sz="2200" dirty="0"/>
                  <a:t> respectively.</a:t>
                </a:r>
              </a:p>
              <a:p>
                <a:pPr marL="0" indent="0" algn="just">
                  <a:buNone/>
                </a:pPr>
                <a:endParaRPr lang="en-US" sz="2200" dirty="0">
                  <a:latin typeface="Times New Roman" pitchFamily="18" charset="0"/>
                  <a:cs typeface="Times New Roman" pitchFamily="18" charset="0"/>
                </a:endParaRP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r="-163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316928443"/>
      </p:ext>
    </p:ext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b="1" dirty="0"/>
                  <a:t>Case I :</a:t>
                </a:r>
                <a:r>
                  <a:rPr lang="en-US" dirty="0"/>
                  <a:t> </a:t>
                </a:r>
              </a:p>
              <a:p>
                <a:pPr marL="0" indent="0">
                  <a:buNone/>
                </a:pPr>
                <a:endParaRPr lang="en-US" dirty="0"/>
              </a:p>
              <a:p>
                <a:r>
                  <a:rPr lang="en-US" dirty="0"/>
                  <a:t>If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oMath>
                </a14:m>
                <a:r>
                  <a:rPr lang="en-US" dirty="0"/>
                  <a:t> &amp;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oMath>
                </a14:m>
                <a:r>
                  <a:rPr lang="en-US" dirty="0"/>
                  <a:t> are given and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𝑆</m:t>
                        </m:r>
                      </m:e>
                      <m:sub>
                        <m:r>
                          <a:rPr lang="en-US" i="1">
                            <a:latin typeface="Cambria Math"/>
                          </a:rPr>
                          <m:t>1</m:t>
                        </m:r>
                      </m:sub>
                      <m:sup>
                        <m:r>
                          <a:rPr lang="en-US" i="1">
                            <a:latin typeface="Cambria Math"/>
                          </a:rPr>
                          <m:t>2</m:t>
                        </m:r>
                      </m:sup>
                    </m:sSubSup>
                    <m:r>
                      <a:rPr lang="en-US" i="1">
                        <a:latin typeface="Cambria Math"/>
                      </a:rPr>
                      <m:t>&gt;</m:t>
                    </m:r>
                    <m:sSubSup>
                      <m:sSubSupPr>
                        <m:ctrlPr>
                          <a:rPr lang="en-US" i="1">
                            <a:latin typeface="Cambria Math" panose="02040503050406030204" pitchFamily="18" charset="0"/>
                          </a:rPr>
                        </m:ctrlPr>
                      </m:sSubSupPr>
                      <m:e>
                        <m:r>
                          <a:rPr lang="en-US" i="1">
                            <a:latin typeface="Cambria Math"/>
                          </a:rPr>
                          <m:t>𝑆</m:t>
                        </m:r>
                      </m:e>
                      <m:sub>
                        <m:r>
                          <a:rPr lang="en-US" i="1">
                            <a:latin typeface="Cambria Math"/>
                          </a:rPr>
                          <m:t>2</m:t>
                        </m:r>
                      </m:sub>
                      <m:sup>
                        <m:r>
                          <a:rPr lang="en-US" i="1">
                            <a:latin typeface="Cambria Math"/>
                          </a:rPr>
                          <m:t>2</m:t>
                        </m:r>
                      </m:sup>
                    </m:sSubSup>
                  </m:oMath>
                </a14:m>
                <a:r>
                  <a:rPr lang="en-US" dirty="0"/>
                  <a:t>. Then Test Statistic</a:t>
                </a:r>
                <a:endParaRPr lang="en-US" i="1" dirty="0">
                  <a:latin typeface="Cambria Math"/>
                </a:endParaRPr>
              </a:p>
              <a:p>
                <a:pPr marL="0" indent="0">
                  <a:buNone/>
                </a:pPr>
                <a:r>
                  <a:rPr lang="en-US" dirty="0"/>
                  <a:t>	</a:t>
                </a:r>
                <a14:m>
                  <m:oMath xmlns:m="http://schemas.openxmlformats.org/officeDocument/2006/math">
                    <m:r>
                      <a:rPr lang="en-US" i="1">
                        <a:latin typeface="Cambria Math"/>
                      </a:rPr>
                      <m:t>𝐹</m:t>
                    </m:r>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𝑆</m:t>
                            </m:r>
                          </m:e>
                          <m:sub>
                            <m:r>
                              <a:rPr lang="en-US" i="1">
                                <a:latin typeface="Cambria Math"/>
                              </a:rPr>
                              <m:t>1</m:t>
                            </m:r>
                          </m:sub>
                          <m:sup>
                            <m:r>
                              <a:rPr lang="en-US" i="1">
                                <a:latin typeface="Cambria Math"/>
                              </a:rPr>
                              <m:t>2</m:t>
                            </m:r>
                          </m:sup>
                        </m:sSubSup>
                      </m:num>
                      <m:den>
                        <m:sSubSup>
                          <m:sSubSupPr>
                            <m:ctrlPr>
                              <a:rPr lang="en-US" i="1">
                                <a:latin typeface="Cambria Math" panose="02040503050406030204" pitchFamily="18" charset="0"/>
                              </a:rPr>
                            </m:ctrlPr>
                          </m:sSubSupPr>
                          <m:e>
                            <m:r>
                              <a:rPr lang="en-US" i="1">
                                <a:latin typeface="Cambria Math"/>
                              </a:rPr>
                              <m:t>𝑆</m:t>
                            </m:r>
                          </m:e>
                          <m:sub>
                            <m:r>
                              <a:rPr lang="en-US" i="1">
                                <a:latin typeface="Cambria Math"/>
                              </a:rPr>
                              <m:t>2</m:t>
                            </m:r>
                          </m:sub>
                          <m:sup>
                            <m:r>
                              <a:rPr lang="en-US" i="1">
                                <a:latin typeface="Cambria Math"/>
                              </a:rPr>
                              <m:t>2</m:t>
                            </m:r>
                          </m:sup>
                        </m:sSubSup>
                      </m:den>
                    </m:f>
                    <m:r>
                      <a:rPr lang="en-US" i="1">
                        <a:latin typeface="Cambria Math"/>
                      </a:rPr>
                      <m:t>&gt;1 </m:t>
                    </m:r>
                  </m:oMath>
                </a14:m>
                <a:r>
                  <a:rPr lang="en-US" dirty="0"/>
                  <a:t>with </a:t>
                </a:r>
                <a:r>
                  <a:rPr lang="en-US" dirty="0" err="1"/>
                  <a:t>d.o.f</a:t>
                </a:r>
                <a:r>
                  <a:rPr lang="en-US" dirty="0"/>
                  <a:t>. is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oMath>
                </a14:m>
                <a:r>
                  <a:rPr lang="en-US" dirty="0"/>
                  <a:t>.</a:t>
                </a:r>
              </a:p>
              <a:p>
                <a:r>
                  <a:rPr lang="en-US" dirty="0"/>
                  <a:t>If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𝑆</m:t>
                        </m:r>
                      </m:e>
                      <m:sub>
                        <m:r>
                          <a:rPr lang="en-US" i="1">
                            <a:latin typeface="Cambria Math"/>
                          </a:rPr>
                          <m:t>2</m:t>
                        </m:r>
                      </m:sub>
                      <m:sup>
                        <m:r>
                          <a:rPr lang="en-US" i="1">
                            <a:latin typeface="Cambria Math"/>
                          </a:rPr>
                          <m:t>2</m:t>
                        </m:r>
                      </m:sup>
                    </m:sSubSup>
                    <m:r>
                      <a:rPr lang="en-US" i="1">
                        <a:latin typeface="Cambria Math"/>
                      </a:rPr>
                      <m:t>&gt;</m:t>
                    </m:r>
                    <m:sSubSup>
                      <m:sSubSupPr>
                        <m:ctrlPr>
                          <a:rPr lang="en-US" i="1">
                            <a:latin typeface="Cambria Math" panose="02040503050406030204" pitchFamily="18" charset="0"/>
                          </a:rPr>
                        </m:ctrlPr>
                      </m:sSubSupPr>
                      <m:e>
                        <m:r>
                          <a:rPr lang="en-US" i="1">
                            <a:latin typeface="Cambria Math"/>
                          </a:rPr>
                          <m:t>𝑆</m:t>
                        </m:r>
                      </m:e>
                      <m:sub>
                        <m:r>
                          <a:rPr lang="en-US" i="1">
                            <a:latin typeface="Cambria Math"/>
                          </a:rPr>
                          <m:t>1</m:t>
                        </m:r>
                      </m:sub>
                      <m:sup>
                        <m:r>
                          <a:rPr lang="en-US" i="1">
                            <a:latin typeface="Cambria Math"/>
                          </a:rPr>
                          <m:t>2</m:t>
                        </m:r>
                      </m:sup>
                    </m:sSubSup>
                  </m:oMath>
                </a14:m>
                <a:r>
                  <a:rPr lang="en-US" dirty="0"/>
                  <a:t>, then Test Statistic</a:t>
                </a:r>
              </a:p>
              <a:p>
                <a:pPr marL="0" indent="0">
                  <a:buNone/>
                </a:pPr>
                <a:r>
                  <a:rPr lang="en-US" dirty="0"/>
                  <a:t>	 </a:t>
                </a:r>
                <a14:m>
                  <m:oMath xmlns:m="http://schemas.openxmlformats.org/officeDocument/2006/math">
                    <m:r>
                      <a:rPr lang="en-US" i="1">
                        <a:latin typeface="Cambria Math"/>
                      </a:rPr>
                      <m:t>𝐹</m:t>
                    </m:r>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𝑆</m:t>
                            </m:r>
                          </m:e>
                          <m:sub>
                            <m:r>
                              <a:rPr lang="en-US" i="1">
                                <a:latin typeface="Cambria Math"/>
                              </a:rPr>
                              <m:t>2</m:t>
                            </m:r>
                          </m:sub>
                          <m:sup>
                            <m:r>
                              <a:rPr lang="en-US" i="1">
                                <a:latin typeface="Cambria Math"/>
                              </a:rPr>
                              <m:t>2</m:t>
                            </m:r>
                          </m:sup>
                        </m:sSubSup>
                      </m:num>
                      <m:den>
                        <m:sSubSup>
                          <m:sSubSupPr>
                            <m:ctrlPr>
                              <a:rPr lang="en-US" i="1">
                                <a:latin typeface="Cambria Math" panose="02040503050406030204" pitchFamily="18" charset="0"/>
                              </a:rPr>
                            </m:ctrlPr>
                          </m:sSubSupPr>
                          <m:e>
                            <m:r>
                              <a:rPr lang="en-US" i="1">
                                <a:latin typeface="Cambria Math"/>
                              </a:rPr>
                              <m:t>𝑆</m:t>
                            </m:r>
                          </m:e>
                          <m:sub>
                            <m:r>
                              <a:rPr lang="en-US" i="1">
                                <a:latin typeface="Cambria Math"/>
                              </a:rPr>
                              <m:t>1</m:t>
                            </m:r>
                          </m:sub>
                          <m:sup>
                            <m:r>
                              <a:rPr lang="en-US" i="1">
                                <a:latin typeface="Cambria Math"/>
                              </a:rPr>
                              <m:t>2</m:t>
                            </m:r>
                          </m:sup>
                        </m:sSubSup>
                      </m:den>
                    </m:f>
                    <m:r>
                      <a:rPr lang="en-US" i="1">
                        <a:latin typeface="Cambria Math"/>
                      </a:rPr>
                      <m:t>&gt;1</m:t>
                    </m:r>
                  </m:oMath>
                </a14:m>
                <a:r>
                  <a:rPr lang="en-US" dirty="0"/>
                  <a:t> with d.o.f. is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−1, </m:t>
                    </m:r>
                    <m:sSub>
                      <m:sSubPr>
                        <m:ctrlPr>
                          <a:rPr lang="en-US" i="1">
                            <a:latin typeface="Cambria Math" panose="02040503050406030204" pitchFamily="18" charset="0"/>
                          </a:rPr>
                        </m:ctrlPr>
                      </m:sSubPr>
                      <m:e>
                        <m:r>
                          <a:rPr lang="en-US" i="1">
                            <a:latin typeface="Cambria Math"/>
                          </a:rPr>
                          <m:t>𝜈</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oMath>
                </a14:m>
                <a:r>
                  <a:rPr lang="en-US" dirty="0"/>
                  <a:t> </a:t>
                </a:r>
              </a:p>
              <a:p>
                <a:pPr marL="0" indent="0" algn="just">
                  <a:buNone/>
                </a:pPr>
                <a:r>
                  <a:rPr lang="en-US" dirty="0"/>
                  <a:t>where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𝑆</m:t>
                        </m:r>
                      </m:e>
                      <m:sub>
                        <m:r>
                          <a:rPr lang="en-US" i="1">
                            <a:latin typeface="Cambria Math"/>
                          </a:rPr>
                          <m:t>1</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den>
                    </m:f>
                    <m:r>
                      <a:rPr lang="en-US" i="1">
                        <a:latin typeface="Cambria Math"/>
                      </a:rPr>
                      <m:t> </m:t>
                    </m:r>
                    <m:r>
                      <a:rPr lang="en-US" i="1">
                        <a:latin typeface="Cambria Math"/>
                      </a:rPr>
                      <m:t>𝑎𝑛𝑑</m:t>
                    </m:r>
                    <m:r>
                      <a:rPr lang="en-US" i="1">
                        <a:latin typeface="Cambria Math"/>
                      </a:rPr>
                      <m:t> </m:t>
                    </m:r>
                    <m:sSubSup>
                      <m:sSubSupPr>
                        <m:ctrlPr>
                          <a:rPr lang="en-US" i="1">
                            <a:latin typeface="Cambria Math" panose="02040503050406030204" pitchFamily="18" charset="0"/>
                          </a:rPr>
                        </m:ctrlPr>
                      </m:sSubSupPr>
                      <m:e>
                        <m:r>
                          <a:rPr lang="en-US" i="1">
                            <a:latin typeface="Cambria Math"/>
                          </a:rPr>
                          <m:t>𝑆</m:t>
                        </m:r>
                      </m:e>
                      <m:sub>
                        <m:r>
                          <a:rPr lang="en-US" i="1">
                            <a:latin typeface="Cambria Math"/>
                          </a:rPr>
                          <m:t>2</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den>
                    </m:f>
                  </m:oMath>
                </a14:m>
                <a:endParaRPr lang="en-US" dirty="0"/>
              </a:p>
              <a:p>
                <a:pPr marL="0" indent="0" algn="just">
                  <a:buNone/>
                </a:pPr>
                <a:endParaRPr lang="en-US" dirty="0"/>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238575520"/>
      </p:ext>
    </p:ext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724400"/>
              </a:xfrm>
            </p:spPr>
            <p:txBody>
              <a:bodyPr>
                <a:normAutofit/>
              </a:bodyPr>
              <a:lstStyle/>
              <a:p>
                <a:pPr marL="0" indent="0">
                  <a:buNone/>
                </a:pPr>
                <a:r>
                  <a:rPr lang="en-US" b="1" dirty="0"/>
                  <a:t>Case II:</a:t>
                </a:r>
              </a:p>
              <a:p>
                <a:r>
                  <a:rPr lang="en-US" dirty="0"/>
                  <a:t>If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oMath>
                </a14:m>
                <a:r>
                  <a:rPr lang="en-US" dirty="0"/>
                  <a:t> &amp;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oMath>
                </a14:m>
                <a:r>
                  <a:rPr lang="en-US" dirty="0"/>
                  <a:t> are not given and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r>
                      <a:rPr lang="en-US">
                        <a:latin typeface="Cambria Math"/>
                      </a:rPr>
                      <m:t>&gt;</m:t>
                    </m:r>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oMath>
                </a14:m>
                <a:r>
                  <a:rPr lang="en-US" dirty="0"/>
                  <a:t>. Then Test Statistic is</a:t>
                </a:r>
              </a:p>
              <a:p>
                <a:pPr marL="0" indent="0">
                  <a:buNone/>
                </a:pPr>
                <a:r>
                  <a:rPr lang="en-US" dirty="0"/>
                  <a:t>	</a:t>
                </a:r>
                <a14:m>
                  <m:oMath xmlns:m="http://schemas.openxmlformats.org/officeDocument/2006/math">
                    <m:r>
                      <a:rPr lang="en-US" i="1">
                        <a:latin typeface="Cambria Math"/>
                      </a:rPr>
                      <m:t>𝐹</m:t>
                    </m:r>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num>
                      <m:den>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den>
                    </m:f>
                    <m:r>
                      <a:rPr lang="en-US" b="0" i="1" smtClean="0">
                        <a:latin typeface="Cambria Math" panose="02040503050406030204" pitchFamily="18" charset="0"/>
                      </a:rPr>
                      <m:t>,</m:t>
                    </m:r>
                  </m:oMath>
                </a14:m>
                <a:r>
                  <a:rPr lang="en-US" dirty="0"/>
                  <a:t> with </a:t>
                </a:r>
                <a:r>
                  <a:rPr lang="en-US" dirty="0" err="1"/>
                  <a:t>d.o.f</a:t>
                </a:r>
                <a:r>
                  <a:rPr lang="en-US" dirty="0"/>
                  <a:t>. is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oMath>
                </a14:m>
                <a:r>
                  <a:rPr lang="en-US" dirty="0"/>
                  <a:t>.</a:t>
                </a:r>
              </a:p>
              <a:p>
                <a:r>
                  <a:rPr lang="en-US" dirty="0"/>
                  <a:t>If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oMath>
                </a14:m>
                <a:r>
                  <a:rPr lang="en-US" dirty="0"/>
                  <a:t> &amp;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oMath>
                </a14:m>
                <a:r>
                  <a:rPr lang="en-US" dirty="0"/>
                  <a:t> are not given and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panose="02040503050406030204" pitchFamily="18" charset="0"/>
                          </a:rPr>
                          <m:t>2</m:t>
                        </m:r>
                      </m:sub>
                      <m:sup>
                        <m:r>
                          <a:rPr lang="en-US" i="1">
                            <a:latin typeface="Cambria Math"/>
                          </a:rPr>
                          <m:t>2</m:t>
                        </m:r>
                      </m:sup>
                    </m:sSubSup>
                    <m:r>
                      <a:rPr lang="en-US">
                        <a:latin typeface="Cambria Math"/>
                      </a:rPr>
                      <m:t>&gt;</m:t>
                    </m:r>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panose="02040503050406030204" pitchFamily="18" charset="0"/>
                          </a:rPr>
                          <m:t>1</m:t>
                        </m:r>
                      </m:sub>
                      <m:sup>
                        <m:r>
                          <a:rPr lang="en-US" i="1">
                            <a:latin typeface="Cambria Math"/>
                          </a:rPr>
                          <m:t>2</m:t>
                        </m:r>
                      </m:sup>
                    </m:sSubSup>
                  </m:oMath>
                </a14:m>
                <a:r>
                  <a:rPr lang="en-US" dirty="0"/>
                  <a:t>. Then Test Statistic is</a:t>
                </a:r>
              </a:p>
              <a:p>
                <a:pPr marL="0" indent="0">
                  <a:buNone/>
                </a:pPr>
                <a:r>
                  <a:rPr lang="en-US" dirty="0"/>
                  <a:t>	 </a:t>
                </a:r>
                <a14:m>
                  <m:oMath xmlns:m="http://schemas.openxmlformats.org/officeDocument/2006/math">
                    <m:r>
                      <a:rPr lang="en-US" i="1">
                        <a:latin typeface="Cambria Math"/>
                      </a:rPr>
                      <m:t>𝐹</m:t>
                    </m:r>
                    <m:r>
                      <a:rPr lang="en-US" i="1">
                        <a:latin typeface="Cambria Math"/>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panose="02040503050406030204" pitchFamily="18" charset="0"/>
                              </a:rPr>
                              <m:t>2</m:t>
                            </m:r>
                          </m:sub>
                          <m:sup>
                            <m:r>
                              <a:rPr lang="en-US" i="1">
                                <a:latin typeface="Cambria Math"/>
                              </a:rPr>
                              <m:t>2</m:t>
                            </m:r>
                          </m:sup>
                        </m:sSubSup>
                      </m:num>
                      <m:den>
                        <m:sSubSup>
                          <m:sSubSupPr>
                            <m:ctrlPr>
                              <a:rPr lang="en-US" i="1">
                                <a:latin typeface="Cambria Math" panose="02040503050406030204" pitchFamily="18" charset="0"/>
                              </a:rPr>
                            </m:ctrlPr>
                          </m:sSubSupPr>
                          <m:e>
                            <m:r>
                              <a:rPr lang="en-US" i="1">
                                <a:latin typeface="Cambria Math"/>
                              </a:rPr>
                              <m:t>𝑠</m:t>
                            </m:r>
                          </m:e>
                          <m:sub>
                            <m:r>
                              <a:rPr lang="en-US" b="0" i="1" smtClean="0">
                                <a:latin typeface="Cambria Math" panose="02040503050406030204" pitchFamily="18" charset="0"/>
                              </a:rPr>
                              <m:t>1</m:t>
                            </m:r>
                          </m:sub>
                          <m:sup>
                            <m:r>
                              <a:rPr lang="en-US" i="1">
                                <a:latin typeface="Cambria Math"/>
                              </a:rPr>
                              <m:t>2</m:t>
                            </m:r>
                          </m:sup>
                        </m:sSubSup>
                      </m:den>
                    </m:f>
                    <m:r>
                      <a:rPr lang="en-US" i="1">
                        <a:latin typeface="Cambria Math" panose="02040503050406030204" pitchFamily="18" charset="0"/>
                      </a:rPr>
                      <m:t>,</m:t>
                    </m:r>
                  </m:oMath>
                </a14:m>
                <a:r>
                  <a:rPr lang="en-US" dirty="0"/>
                  <a:t> with </a:t>
                </a:r>
                <a:r>
                  <a:rPr lang="en-US" dirty="0" err="1"/>
                  <a:t>d.o.f</a:t>
                </a:r>
                <a:r>
                  <a:rPr lang="en-US" dirty="0"/>
                  <a:t>. is </a:t>
                </a:r>
                <a14:m>
                  <m:oMath xmlns:m="http://schemas.openxmlformats.org/officeDocument/2006/math">
                    <m:sSub>
                      <m:sSubPr>
                        <m:ctrlPr>
                          <a:rPr lang="en-US" i="1">
                            <a:latin typeface="Cambria Math" panose="02040503050406030204" pitchFamily="18" charset="0"/>
                          </a:rPr>
                        </m:ctrlPr>
                      </m:sSubPr>
                      <m:e>
                        <m:r>
                          <a:rPr lang="en-US" i="1">
                            <a:latin typeface="Cambria Math"/>
                          </a:rPr>
                          <m:t>𝜈</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−1, </m:t>
                    </m:r>
                    <m:sSub>
                      <m:sSubPr>
                        <m:ctrlPr>
                          <a:rPr lang="en-US" i="1">
                            <a:latin typeface="Cambria Math" panose="02040503050406030204" pitchFamily="18" charset="0"/>
                          </a:rPr>
                        </m:ctrlPr>
                      </m:sSubPr>
                      <m:e>
                        <m:r>
                          <a:rPr lang="en-US" i="1">
                            <a:latin typeface="Cambria Math"/>
                          </a:rPr>
                          <m:t>𝜈</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oMath>
                </a14:m>
                <a:r>
                  <a:rPr lang="en-US" dirty="0"/>
                  <a:t>.</a:t>
                </a:r>
              </a:p>
              <a:p>
                <a:pPr marL="0" indent="0">
                  <a:buNone/>
                </a:pP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oMath>
                </a14:m>
                <a:r>
                  <a:rPr lang="en-US" dirty="0"/>
                  <a:t> are two Samples,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a:latin typeface="Cambria Math"/>
                                      </a:rPr>
                                      <m:t>1)</m:t>
                                    </m:r>
                                  </m:sub>
                                </m:sSub>
                              </m:e>
                              <m:sup>
                                <m:r>
                                  <a:rPr lang="en-US" i="1">
                                    <a:latin typeface="Cambria Math"/>
                                  </a:rPr>
                                  <m:t>2</m:t>
                                </m:r>
                              </m:sup>
                            </m:sSup>
                          </m:e>
                        </m:nary>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den>
                    </m:f>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a:latin typeface="Cambria Math"/>
                                      </a:rPr>
                                      <m:t>2</m:t>
                                    </m:r>
                                  </m:sub>
                                </m:sSub>
                                <m:r>
                                  <a:rPr lang="en-US" i="1">
                                    <a:latin typeface="Cambria Math"/>
                                  </a:rPr>
                                  <m:t>)</m:t>
                                </m:r>
                              </m:e>
                              <m:sup>
                                <m:r>
                                  <a:rPr lang="en-US" i="1">
                                    <a:latin typeface="Cambria Math"/>
                                  </a:rPr>
                                  <m:t>2</m:t>
                                </m:r>
                              </m:sup>
                            </m:sSup>
                          </m:e>
                        </m:nary>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den>
                    </m:f>
                  </m:oMath>
                </a14:m>
                <a:r>
                  <a:rPr lang="en-US" dirty="0"/>
                  <a:t>.</a:t>
                </a:r>
              </a:p>
              <a:p>
                <a:pPr marL="0" indent="0">
                  <a:buNone/>
                </a:pPr>
                <a:endParaRPr lang="en-US" dirty="0"/>
              </a:p>
              <a:p>
                <a:pPr marL="0" indent="0">
                  <a:buNone/>
                </a:pPr>
                <a:r>
                  <a:rPr lang="en-US" b="1" dirty="0"/>
                  <a:t>Conclusion: </a:t>
                </a:r>
                <a:r>
                  <a:rPr lang="en-US" dirty="0"/>
                  <a:t>Same as t-test.</a:t>
                </a: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724400"/>
              </a:xfrm>
              <a:blipFill>
                <a:blip r:embed="rId2"/>
                <a:stretch>
                  <a:fillRect l="-963" t="-903" r="-74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202857415"/>
      </p:ext>
    </p:ext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rmAutofit/>
              </a:bodyPr>
              <a:lstStyle/>
              <a:p>
                <a:pPr marL="0" indent="0">
                  <a:buNone/>
                </a:pPr>
                <a:r>
                  <a:rPr lang="en-US" sz="2200" b="1" dirty="0"/>
                  <a:t>Q1.</a:t>
                </a:r>
                <a:r>
                  <a:rPr lang="en-US" sz="2200" dirty="0"/>
                  <a:t>The two random samples reveal the following data:</a:t>
                </a:r>
              </a:p>
              <a:p>
                <a:pPr marL="0" indent="0">
                  <a:buNone/>
                </a:pPr>
                <a:endParaRPr lang="en-US" sz="2400" dirty="0"/>
              </a:p>
              <a:p>
                <a:pPr marL="0" indent="0">
                  <a:buNone/>
                </a:pPr>
                <a:endParaRPr lang="en-US" sz="2400" dirty="0"/>
              </a:p>
              <a:p>
                <a:pPr marL="0" indent="0">
                  <a:buNone/>
                </a:pPr>
                <a:endParaRPr lang="en-US" sz="2400" dirty="0"/>
              </a:p>
              <a:p>
                <a:pPr marL="0" indent="0">
                  <a:buNone/>
                </a:pPr>
                <a:r>
                  <a:rPr lang="en-US" sz="2200" dirty="0"/>
                  <a:t>Test the equality of Population Variance.</a:t>
                </a:r>
              </a:p>
              <a:p>
                <a:pPr marL="0" indent="0">
                  <a:buNone/>
                </a:pPr>
                <a:r>
                  <a:rPr lang="en-US" sz="2200" b="1" dirty="0"/>
                  <a:t>Ans. </a:t>
                </a:r>
                <a:r>
                  <a:rPr lang="en-US" sz="2200" dirty="0"/>
                  <a:t>For Checking the equality of Population Variance, we apply F-test.</a:t>
                </a:r>
              </a:p>
              <a:p>
                <a:pPr marL="0" indent="0">
                  <a:buNone/>
                </a:pPr>
                <a:r>
                  <a:rPr lang="en-US" sz="2200" b="1" dirty="0"/>
                  <a:t>Null Hypothesis </a:t>
                </a:r>
                <a14:m>
                  <m:oMath xmlns:m="http://schemas.openxmlformats.org/officeDocument/2006/math">
                    <m:sSub>
                      <m:sSubPr>
                        <m:ctrlPr>
                          <a:rPr lang="en-US" sz="2200" b="1" i="1">
                            <a:latin typeface="Cambria Math" panose="02040503050406030204" pitchFamily="18" charset="0"/>
                          </a:rPr>
                        </m:ctrlPr>
                      </m:sSubPr>
                      <m:e>
                        <m:r>
                          <a:rPr lang="en-US" sz="2200" b="1" i="1">
                            <a:latin typeface="Cambria Math"/>
                          </a:rPr>
                          <m:t>𝑯</m:t>
                        </m:r>
                      </m:e>
                      <m:sub>
                        <m:r>
                          <a:rPr lang="en-US" sz="2200" b="1" i="1">
                            <a:latin typeface="Cambria Math"/>
                          </a:rPr>
                          <m:t>𝟎</m:t>
                        </m:r>
                      </m:sub>
                    </m:sSub>
                    <m:r>
                      <a:rPr lang="en-US" sz="2200" b="1" i="1">
                        <a:latin typeface="Cambria Math"/>
                      </a:rPr>
                      <m:t>:</m:t>
                    </m:r>
                    <m:sSubSup>
                      <m:sSubSupPr>
                        <m:ctrlPr>
                          <a:rPr lang="en-US" sz="2200" i="1">
                            <a:latin typeface="Cambria Math" panose="02040503050406030204" pitchFamily="18" charset="0"/>
                          </a:rPr>
                        </m:ctrlPr>
                      </m:sSubSupPr>
                      <m:e>
                        <m:r>
                          <a:rPr lang="en-US" sz="2200" i="1">
                            <a:latin typeface="Cambria Math"/>
                          </a:rPr>
                          <m:t>𝜎</m:t>
                        </m:r>
                      </m:e>
                      <m:sub>
                        <m:r>
                          <a:rPr lang="en-US" sz="2200" i="1">
                            <a:latin typeface="Cambria Math"/>
                          </a:rPr>
                          <m:t>1</m:t>
                        </m:r>
                      </m:sub>
                      <m:sup>
                        <m:r>
                          <a:rPr lang="en-US" sz="2200" i="1">
                            <a:latin typeface="Cambria Math"/>
                          </a:rPr>
                          <m:t>2</m:t>
                        </m:r>
                      </m:sup>
                    </m:sSubSup>
                    <m:r>
                      <a:rPr lang="en-US" sz="2200" i="1">
                        <a:latin typeface="Cambria Math"/>
                      </a:rPr>
                      <m:t>=</m:t>
                    </m:r>
                    <m:sSubSup>
                      <m:sSubSupPr>
                        <m:ctrlPr>
                          <a:rPr lang="en-US" sz="2200" i="1">
                            <a:latin typeface="Cambria Math" panose="02040503050406030204" pitchFamily="18" charset="0"/>
                          </a:rPr>
                        </m:ctrlPr>
                      </m:sSubSupPr>
                      <m:e>
                        <m:r>
                          <a:rPr lang="en-US" sz="2200" i="1">
                            <a:latin typeface="Cambria Math"/>
                          </a:rPr>
                          <m:t>𝜎</m:t>
                        </m:r>
                      </m:e>
                      <m:sub>
                        <m:r>
                          <a:rPr lang="en-US" sz="2200" i="1">
                            <a:latin typeface="Cambria Math"/>
                          </a:rPr>
                          <m:t>2</m:t>
                        </m:r>
                      </m:sub>
                      <m:sup>
                        <m:r>
                          <a:rPr lang="en-US" sz="2200" i="1">
                            <a:latin typeface="Cambria Math"/>
                          </a:rPr>
                          <m:t>2</m:t>
                        </m:r>
                      </m:sup>
                    </m:sSubSup>
                  </m:oMath>
                </a14:m>
                <a:r>
                  <a:rPr lang="en-US" sz="2200" dirty="0"/>
                  <a:t> i.e. there is no significant difference between the population Variances.</a:t>
                </a:r>
              </a:p>
              <a:p>
                <a:pPr marL="0" indent="0">
                  <a:buNone/>
                </a:pPr>
                <a:r>
                  <a:rPr lang="en-US" sz="2200" b="1" dirty="0"/>
                  <a:t>Alternative Hypothesis </a:t>
                </a:r>
                <a14:m>
                  <m:oMath xmlns:m="http://schemas.openxmlformats.org/officeDocument/2006/math">
                    <m:sSub>
                      <m:sSubPr>
                        <m:ctrlPr>
                          <a:rPr lang="en-US" sz="2200" b="1" i="1">
                            <a:latin typeface="Cambria Math" panose="02040503050406030204" pitchFamily="18" charset="0"/>
                          </a:rPr>
                        </m:ctrlPr>
                      </m:sSubPr>
                      <m:e>
                        <m:r>
                          <a:rPr lang="en-US" sz="2200" b="1" i="1">
                            <a:latin typeface="Cambria Math"/>
                          </a:rPr>
                          <m:t>𝑯</m:t>
                        </m:r>
                      </m:e>
                      <m:sub>
                        <m:r>
                          <a:rPr lang="en-US" sz="2200" b="1" i="1">
                            <a:latin typeface="Cambria Math"/>
                          </a:rPr>
                          <m:t>𝟏</m:t>
                        </m:r>
                      </m:sub>
                    </m:sSub>
                    <m:r>
                      <a:rPr lang="en-US" sz="2200" b="1" i="1">
                        <a:latin typeface="Cambria Math"/>
                      </a:rPr>
                      <m:t>:</m:t>
                    </m:r>
                    <m:sSubSup>
                      <m:sSubSupPr>
                        <m:ctrlPr>
                          <a:rPr lang="en-US" sz="2200" b="1" i="1">
                            <a:latin typeface="Cambria Math" panose="02040503050406030204" pitchFamily="18" charset="0"/>
                          </a:rPr>
                        </m:ctrlPr>
                      </m:sSubSupPr>
                      <m:e>
                        <m:r>
                          <m:rPr>
                            <m:sty m:val="p"/>
                          </m:rPr>
                          <a:rPr lang="en-US" sz="2200">
                            <a:latin typeface="Cambria Math"/>
                          </a:rPr>
                          <m:t>σ</m:t>
                        </m:r>
                      </m:e>
                      <m:sub>
                        <m:r>
                          <a:rPr lang="en-US" sz="2200" b="1" i="1">
                            <a:latin typeface="Cambria Math"/>
                          </a:rPr>
                          <m:t>𝟏</m:t>
                        </m:r>
                      </m:sub>
                      <m:sup>
                        <m:r>
                          <a:rPr lang="en-US" sz="2200" b="1" i="1">
                            <a:latin typeface="Cambria Math"/>
                          </a:rPr>
                          <m:t>𝟐</m:t>
                        </m:r>
                      </m:sup>
                    </m:sSubSup>
                    <m:r>
                      <a:rPr lang="en-US" sz="2200" b="1" i="1">
                        <a:latin typeface="Cambria Math"/>
                      </a:rPr>
                      <m:t>≠</m:t>
                    </m:r>
                    <m:sSubSup>
                      <m:sSubSupPr>
                        <m:ctrlPr>
                          <a:rPr lang="en-US" sz="2200" b="1" i="1">
                            <a:latin typeface="Cambria Math" panose="02040503050406030204" pitchFamily="18" charset="0"/>
                          </a:rPr>
                        </m:ctrlPr>
                      </m:sSubSupPr>
                      <m:e>
                        <m:r>
                          <m:rPr>
                            <m:sty m:val="p"/>
                          </m:rPr>
                          <a:rPr lang="en-US" sz="2200">
                            <a:latin typeface="Cambria Math"/>
                          </a:rPr>
                          <m:t>σ</m:t>
                        </m:r>
                      </m:e>
                      <m:sub>
                        <m:r>
                          <a:rPr lang="en-US" sz="2200" b="1" i="1">
                            <a:latin typeface="Cambria Math"/>
                          </a:rPr>
                          <m:t>𝟐</m:t>
                        </m:r>
                      </m:sub>
                      <m:sup>
                        <m:r>
                          <a:rPr lang="en-US" sz="2200" b="1" i="1">
                            <a:latin typeface="Cambria Math"/>
                          </a:rPr>
                          <m:t>𝟐</m:t>
                        </m:r>
                      </m:sup>
                    </m:sSubSup>
                  </m:oMath>
                </a14:m>
                <a:endParaRPr lang="en-US" sz="2200" dirty="0"/>
              </a:p>
              <a:p>
                <a:pPr marL="0" indent="0">
                  <a:buNone/>
                </a:pPr>
                <a:r>
                  <a:rPr lang="en-US" sz="2200" b="1" dirty="0"/>
                  <a:t>Test Statistic: </a:t>
                </a:r>
                <a:r>
                  <a:rPr lang="en-US" sz="2200" dirty="0"/>
                  <a:t>Since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𝑠</m:t>
                        </m:r>
                      </m:e>
                      <m:sub>
                        <m:r>
                          <a:rPr lang="en-US" sz="2200" i="1">
                            <a:latin typeface="Cambria Math"/>
                          </a:rPr>
                          <m:t>1</m:t>
                        </m:r>
                      </m:sub>
                      <m:sup>
                        <m:r>
                          <a:rPr lang="en-US" sz="2200" i="1">
                            <a:latin typeface="Cambria Math"/>
                          </a:rPr>
                          <m:t>2</m:t>
                        </m:r>
                      </m:sup>
                    </m:sSubSup>
                    <m:r>
                      <a:rPr lang="en-US" sz="2200" b="0" i="1" smtClean="0">
                        <a:latin typeface="Cambria Math"/>
                      </a:rPr>
                      <m:t> </m:t>
                    </m:r>
                    <m:r>
                      <a:rPr lang="en-US" sz="2200" i="1">
                        <a:latin typeface="Cambria Math"/>
                      </a:rPr>
                      <m:t>&amp;</m:t>
                    </m:r>
                    <m:sSubSup>
                      <m:sSubSupPr>
                        <m:ctrlPr>
                          <a:rPr lang="en-US" sz="2200" i="1">
                            <a:latin typeface="Cambria Math" panose="02040503050406030204" pitchFamily="18" charset="0"/>
                          </a:rPr>
                        </m:ctrlPr>
                      </m:sSubSupPr>
                      <m:e>
                        <m:r>
                          <a:rPr lang="en-US" sz="2200" b="0" i="1" smtClean="0">
                            <a:latin typeface="Cambria Math"/>
                          </a:rPr>
                          <m:t> </m:t>
                        </m:r>
                        <m:r>
                          <a:rPr lang="en-US" sz="2200" i="1">
                            <a:latin typeface="Cambria Math"/>
                          </a:rPr>
                          <m:t>𝑠</m:t>
                        </m:r>
                      </m:e>
                      <m:sub>
                        <m:r>
                          <a:rPr lang="en-US" sz="2200" i="1">
                            <a:latin typeface="Cambria Math"/>
                          </a:rPr>
                          <m:t>2</m:t>
                        </m:r>
                      </m:sub>
                      <m:sup>
                        <m:r>
                          <a:rPr lang="en-US" sz="2200" i="1">
                            <a:latin typeface="Cambria Math"/>
                          </a:rPr>
                          <m:t>2</m:t>
                        </m:r>
                      </m:sup>
                    </m:sSubSup>
                  </m:oMath>
                </a14:m>
                <a:r>
                  <a:rPr lang="en-US" sz="2200" dirty="0"/>
                  <a:t> are given then</a:t>
                </a:r>
              </a:p>
              <a:p>
                <a:pPr marL="0" indent="0">
                  <a:buNone/>
                </a:pPr>
                <a:endParaRPr lang="en-US" sz="2200" dirty="0"/>
              </a:p>
              <a:p>
                <a:pPr marL="0" indent="0">
                  <a:buNone/>
                </a:pP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963" t="-84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10" name="Table 9"/>
          <p:cNvGraphicFramePr>
            <a:graphicFrameLocks noGrp="1"/>
          </p:cNvGraphicFramePr>
          <p:nvPr>
            <p:extLst>
              <p:ext uri="{D42A27DB-BD31-4B8C-83A1-F6EECF244321}">
                <p14:modId xmlns:p14="http://schemas.microsoft.com/office/powerpoint/2010/main" val="200874144"/>
              </p:ext>
            </p:extLst>
          </p:nvPr>
        </p:nvGraphicFramePr>
        <p:xfrm>
          <a:off x="1257300" y="1600200"/>
          <a:ext cx="6629399" cy="1270000"/>
        </p:xfrm>
        <a:graphic>
          <a:graphicData uri="http://schemas.openxmlformats.org/drawingml/2006/table">
            <a:tbl>
              <a:tblPr firstRow="1" firstCol="1" bandRow="1">
                <a:tableStyleId>{5C22544A-7EE6-4342-B048-85BDC9FD1C3A}</a:tableStyleId>
              </a:tblPr>
              <a:tblGrid>
                <a:gridCol w="1744579">
                  <a:extLst>
                    <a:ext uri="{9D8B030D-6E8A-4147-A177-3AD203B41FA5}">
                      <a16:colId xmlns:a16="http://schemas.microsoft.com/office/drawing/2014/main" val="20000"/>
                    </a:ext>
                  </a:extLst>
                </a:gridCol>
                <a:gridCol w="1744579">
                  <a:extLst>
                    <a:ext uri="{9D8B030D-6E8A-4147-A177-3AD203B41FA5}">
                      <a16:colId xmlns:a16="http://schemas.microsoft.com/office/drawing/2014/main" val="20001"/>
                    </a:ext>
                  </a:extLst>
                </a:gridCol>
                <a:gridCol w="1646882">
                  <a:extLst>
                    <a:ext uri="{9D8B030D-6E8A-4147-A177-3AD203B41FA5}">
                      <a16:colId xmlns:a16="http://schemas.microsoft.com/office/drawing/2014/main" val="20002"/>
                    </a:ext>
                  </a:extLst>
                </a:gridCol>
                <a:gridCol w="1493359">
                  <a:extLst>
                    <a:ext uri="{9D8B030D-6E8A-4147-A177-3AD203B41FA5}">
                      <a16:colId xmlns:a16="http://schemas.microsoft.com/office/drawing/2014/main" val="20003"/>
                    </a:ext>
                  </a:extLst>
                </a:gridCol>
              </a:tblGrid>
              <a:tr h="381000">
                <a:tc>
                  <a:txBody>
                    <a:bodyPr/>
                    <a:lstStyle/>
                    <a:p>
                      <a:pPr marL="0" marR="0" algn="just">
                        <a:spcBef>
                          <a:spcPts val="0"/>
                        </a:spcBef>
                        <a:spcAft>
                          <a:spcPts val="0"/>
                        </a:spcAft>
                      </a:pPr>
                      <a:r>
                        <a:rPr lang="en-US" sz="2000" dirty="0">
                          <a:effectLst/>
                        </a:rPr>
                        <a:t>Sample no.</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Size</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Mean</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Variance</a:t>
                      </a:r>
                      <a:endParaRPr lang="en-US" sz="2000" dirty="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381000">
                <a:tc>
                  <a:txBody>
                    <a:bodyPr/>
                    <a:lstStyle/>
                    <a:p>
                      <a:pPr marL="0" marR="0" algn="just">
                        <a:spcBef>
                          <a:spcPts val="0"/>
                        </a:spcBef>
                        <a:spcAft>
                          <a:spcPts val="0"/>
                        </a:spcAft>
                      </a:pPr>
                      <a:r>
                        <a:rPr lang="en-US" sz="2000" dirty="0">
                          <a:effectLst/>
                        </a:rPr>
                        <a:t>I</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16</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440</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40</a:t>
                      </a:r>
                      <a:endParaRPr lang="en-US" sz="2000" dirty="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508000">
                <a:tc>
                  <a:txBody>
                    <a:bodyPr/>
                    <a:lstStyle/>
                    <a:p>
                      <a:pPr marL="0" marR="0" algn="just">
                        <a:spcBef>
                          <a:spcPts val="0"/>
                        </a:spcBef>
                        <a:spcAft>
                          <a:spcPts val="0"/>
                        </a:spcAft>
                      </a:pPr>
                      <a:r>
                        <a:rPr lang="en-US" sz="2000">
                          <a:effectLst/>
                        </a:rPr>
                        <a:t>II</a:t>
                      </a:r>
                      <a:endParaRPr lang="en-US" sz="200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25</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460</a:t>
                      </a:r>
                      <a:endParaRPr lang="en-US" sz="2000" dirty="0">
                        <a:effectLst/>
                        <a:latin typeface="Calibri"/>
                        <a:ea typeface="Calibri"/>
                        <a:cs typeface="Times New Roman"/>
                      </a:endParaRPr>
                    </a:p>
                  </a:txBody>
                  <a:tcPr marL="68580" marR="68580" marT="0" marB="0"/>
                </a:tc>
                <a:tc>
                  <a:txBody>
                    <a:bodyPr/>
                    <a:lstStyle/>
                    <a:p>
                      <a:pPr marL="0" marR="0" algn="just">
                        <a:spcBef>
                          <a:spcPts val="0"/>
                        </a:spcBef>
                        <a:spcAft>
                          <a:spcPts val="0"/>
                        </a:spcAft>
                      </a:pPr>
                      <a:r>
                        <a:rPr lang="en-US" sz="2000" dirty="0">
                          <a:effectLst/>
                        </a:rPr>
                        <a:t>42</a:t>
                      </a:r>
                      <a:endParaRPr lang="en-US" sz="2000" dirty="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352320454"/>
      </p:ext>
    </p:extLst>
  </p:cSld>
  <p:clrMapOvr>
    <a:masterClrMapping/>
  </p:clrMapOvr>
  <p:transition spd="slow">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rmAutofit/>
              </a:bodyPr>
              <a:lstStyle/>
              <a:p>
                <a:pPr marL="0" indent="0">
                  <a:buNone/>
                </a:pPr>
                <a:r>
                  <a:rPr lang="en-US" sz="2200" dirty="0"/>
                  <a:t>Hence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1</m:t>
                        </m:r>
                      </m:sub>
                      <m:sup>
                        <m:r>
                          <a:rPr lang="en-US" sz="2200" i="1">
                            <a:latin typeface="Cambria Math"/>
                          </a:rPr>
                          <m:t>2</m:t>
                        </m:r>
                      </m:sup>
                    </m:sSubSup>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sSubSup>
                          <m:sSubSupPr>
                            <m:ctrlPr>
                              <a:rPr lang="en-US" sz="2200" i="1">
                                <a:latin typeface="Cambria Math" panose="02040503050406030204" pitchFamily="18" charset="0"/>
                              </a:rPr>
                            </m:ctrlPr>
                          </m:sSubSupPr>
                          <m:e>
                            <m:r>
                              <a:rPr lang="en-US" sz="2200" i="1">
                                <a:latin typeface="Cambria Math"/>
                              </a:rPr>
                              <m:t>𝑠</m:t>
                            </m:r>
                          </m:e>
                          <m:sub>
                            <m:r>
                              <a:rPr lang="en-US" sz="2200" i="1">
                                <a:latin typeface="Cambria Math"/>
                              </a:rPr>
                              <m:t>1</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−1</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16</m:t>
                        </m:r>
                        <m:r>
                          <a:rPr lang="en-US" sz="2200" i="1">
                            <a:latin typeface="Cambria Math"/>
                          </a:rPr>
                          <m:t>𝑋</m:t>
                        </m:r>
                        <m:r>
                          <a:rPr lang="en-US" sz="2200" i="1">
                            <a:latin typeface="Cambria Math"/>
                          </a:rPr>
                          <m:t> 40</m:t>
                        </m:r>
                      </m:num>
                      <m:den>
                        <m:r>
                          <a:rPr lang="en-US" sz="2200" i="1">
                            <a:latin typeface="Cambria Math"/>
                          </a:rPr>
                          <m:t>15</m:t>
                        </m:r>
                      </m:den>
                    </m:f>
                    <m:r>
                      <a:rPr lang="en-US" sz="2200" i="1">
                        <a:latin typeface="Cambria Math"/>
                      </a:rPr>
                      <m:t>=42.7</m:t>
                    </m:r>
                  </m:oMath>
                </a14:m>
                <a:endParaRPr lang="en-US" sz="2200" dirty="0"/>
              </a:p>
              <a:p>
                <a:pPr marL="0" indent="0">
                  <a:buNone/>
                </a:pPr>
                <a:r>
                  <a:rPr lang="en-US" sz="2200" dirty="0"/>
                  <a:t>And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2</m:t>
                        </m:r>
                      </m:sub>
                      <m:sup>
                        <m:r>
                          <a:rPr lang="en-US" sz="2200" i="1">
                            <a:latin typeface="Cambria Math"/>
                          </a:rPr>
                          <m:t>2</m:t>
                        </m:r>
                      </m:sup>
                    </m:sSubSup>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sSubSup>
                          <m:sSubSupPr>
                            <m:ctrlPr>
                              <a:rPr lang="en-US" sz="2200" i="1">
                                <a:latin typeface="Cambria Math" panose="02040503050406030204" pitchFamily="18" charset="0"/>
                              </a:rPr>
                            </m:ctrlPr>
                          </m:sSubSupPr>
                          <m:e>
                            <m:r>
                              <a:rPr lang="en-US" sz="2200" i="1">
                                <a:latin typeface="Cambria Math"/>
                              </a:rPr>
                              <m:t>𝑠</m:t>
                            </m:r>
                          </m:e>
                          <m:sub>
                            <m:r>
                              <a:rPr lang="en-US" sz="2200" i="1">
                                <a:latin typeface="Cambria Math"/>
                              </a:rPr>
                              <m:t>2</m:t>
                            </m:r>
                          </m:sub>
                          <m:sup>
                            <m:r>
                              <a:rPr lang="en-US" sz="2200" i="1">
                                <a:latin typeface="Cambria Math"/>
                              </a:rPr>
                              <m:t>2</m:t>
                            </m:r>
                          </m:sup>
                        </m:sSub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−1</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25</m:t>
                        </m:r>
                        <m:r>
                          <a:rPr lang="en-US" sz="2200" i="1">
                            <a:latin typeface="Cambria Math"/>
                          </a:rPr>
                          <m:t>𝑋</m:t>
                        </m:r>
                        <m:r>
                          <a:rPr lang="en-US" sz="2200" i="1">
                            <a:latin typeface="Cambria Math"/>
                          </a:rPr>
                          <m:t> 42</m:t>
                        </m:r>
                      </m:num>
                      <m:den>
                        <m:r>
                          <a:rPr lang="en-US" sz="2200" i="1">
                            <a:latin typeface="Cambria Math"/>
                          </a:rPr>
                          <m:t>24</m:t>
                        </m:r>
                      </m:den>
                    </m:f>
                  </m:oMath>
                </a14:m>
                <a:r>
                  <a:rPr lang="en-US" sz="2200" dirty="0"/>
                  <a:t>=43.75</a:t>
                </a:r>
              </a:p>
              <a:p>
                <a:pPr marL="0" indent="0">
                  <a:buNone/>
                </a:pPr>
                <a:r>
                  <a:rPr lang="en-US" sz="2200" dirty="0"/>
                  <a:t>Since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2</m:t>
                        </m:r>
                      </m:sub>
                      <m:sup>
                        <m:r>
                          <a:rPr lang="en-US" sz="2200" i="1">
                            <a:latin typeface="Cambria Math"/>
                          </a:rPr>
                          <m:t>2</m:t>
                        </m:r>
                      </m:sup>
                    </m:sSubSup>
                    <m:r>
                      <a:rPr lang="en-US" sz="2200" i="1">
                        <a:latin typeface="Cambria Math"/>
                      </a:rPr>
                      <m:t>&gt;</m:t>
                    </m:r>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1</m:t>
                        </m:r>
                      </m:sub>
                      <m:sup>
                        <m:r>
                          <a:rPr lang="en-US" sz="2200" i="1">
                            <a:latin typeface="Cambria Math"/>
                          </a:rPr>
                          <m:t>2</m:t>
                        </m:r>
                      </m:sup>
                    </m:sSubSup>
                  </m:oMath>
                </a14:m>
                <a:r>
                  <a:rPr lang="en-US" sz="2200" dirty="0"/>
                  <a:t>,    Now </a:t>
                </a:r>
                <a14:m>
                  <m:oMath xmlns:m="http://schemas.openxmlformats.org/officeDocument/2006/math">
                    <m:r>
                      <a:rPr lang="en-US" sz="2200" i="1">
                        <a:latin typeface="Cambria Math"/>
                      </a:rPr>
                      <m:t>𝐹</m:t>
                    </m:r>
                    <m:r>
                      <a:rPr lang="en-US" sz="2200" i="1">
                        <a:latin typeface="Cambria Math"/>
                      </a:rPr>
                      <m:t>=</m:t>
                    </m:r>
                    <m:f>
                      <m:fPr>
                        <m:ctrlPr>
                          <a:rPr lang="en-US" sz="2200" i="1">
                            <a:latin typeface="Cambria Math" panose="02040503050406030204" pitchFamily="18" charset="0"/>
                          </a:rPr>
                        </m:ctrlPr>
                      </m:fPr>
                      <m:num>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2</m:t>
                            </m:r>
                          </m:sub>
                          <m:sup>
                            <m:r>
                              <a:rPr lang="en-US" sz="2200" i="1">
                                <a:latin typeface="Cambria Math"/>
                              </a:rPr>
                              <m:t>2</m:t>
                            </m:r>
                          </m:sup>
                        </m:sSubSup>
                      </m:num>
                      <m:den>
                        <m:sSubSup>
                          <m:sSubSupPr>
                            <m:ctrlPr>
                              <a:rPr lang="en-US" sz="2200" i="1">
                                <a:latin typeface="Cambria Math" panose="02040503050406030204" pitchFamily="18" charset="0"/>
                              </a:rPr>
                            </m:ctrlPr>
                          </m:sSubSupPr>
                          <m:e>
                            <m:r>
                              <a:rPr lang="en-US" sz="2200" i="1">
                                <a:latin typeface="Cambria Math"/>
                              </a:rPr>
                              <m:t>𝑆</m:t>
                            </m:r>
                          </m:e>
                          <m:sub>
                            <m:r>
                              <a:rPr lang="en-US" sz="2200" i="1">
                                <a:latin typeface="Cambria Math"/>
                              </a:rPr>
                              <m:t>1</m:t>
                            </m:r>
                          </m:sub>
                          <m:sup>
                            <m:r>
                              <a:rPr lang="en-US" sz="2200" i="1">
                                <a:latin typeface="Cambria Math"/>
                              </a:rPr>
                              <m:t>2</m:t>
                            </m:r>
                          </m:sup>
                        </m:sSubSup>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43.75</m:t>
                        </m:r>
                      </m:num>
                      <m:den>
                        <m:r>
                          <a:rPr lang="en-US" sz="2200" i="1">
                            <a:latin typeface="Cambria Math"/>
                          </a:rPr>
                          <m:t>42.7</m:t>
                        </m:r>
                      </m:den>
                    </m:f>
                    <m:r>
                      <a:rPr lang="en-US" sz="2200" i="1">
                        <a:latin typeface="Cambria Math"/>
                      </a:rPr>
                      <m:t>=1.02</m:t>
                    </m:r>
                  </m:oMath>
                </a14:m>
                <a:r>
                  <a:rPr lang="en-US" sz="2200" dirty="0"/>
                  <a:t> with degree of freedom is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𝜈</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r>
                      <a:rPr lang="en-US" sz="2200" i="1">
                        <a:latin typeface="Cambria Math"/>
                      </a:rPr>
                      <m:t>−1, </m:t>
                    </m:r>
                    <m:sSub>
                      <m:sSubPr>
                        <m:ctrlPr>
                          <a:rPr lang="en-US" sz="2200" i="1">
                            <a:latin typeface="Cambria Math" panose="02040503050406030204" pitchFamily="18" charset="0"/>
                          </a:rPr>
                        </m:ctrlPr>
                      </m:sSubPr>
                      <m:e>
                        <m:r>
                          <a:rPr lang="en-US" sz="2200" i="1">
                            <a:latin typeface="Cambria Math"/>
                          </a:rPr>
                          <m:t>𝜈</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r>
                      <a:rPr lang="en-US" sz="2200" i="1">
                        <a:latin typeface="Cambria Math"/>
                      </a:rPr>
                      <m:t>−1</m:t>
                    </m:r>
                  </m:oMath>
                </a14:m>
                <a:r>
                  <a:rPr lang="en-US" sz="2200" dirty="0"/>
                  <a:t> i.e. </a:t>
                </a: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𝜐</m:t>
                        </m:r>
                      </m:e>
                      <m:sub>
                        <m:r>
                          <a:rPr lang="en-US" sz="2200" i="1">
                            <a:latin typeface="Cambria Math"/>
                          </a:rPr>
                          <m:t>2</m:t>
                        </m:r>
                      </m:sub>
                    </m:sSub>
                    <m:r>
                      <a:rPr lang="en-US" sz="2200" i="1">
                        <a:latin typeface="Cambria Math"/>
                      </a:rPr>
                      <m:t>=25−1=24 </m:t>
                    </m:r>
                    <m:r>
                      <a:rPr lang="en-US" sz="2200" i="1">
                        <a:latin typeface="Cambria Math"/>
                      </a:rPr>
                      <m:t>𝑎𝑛𝑑</m:t>
                    </m:r>
                    <m:r>
                      <a:rPr lang="en-US" sz="2200" i="1">
                        <a:latin typeface="Cambria Math"/>
                      </a:rPr>
                      <m:t> </m:t>
                    </m:r>
                    <m:sSub>
                      <m:sSubPr>
                        <m:ctrlPr>
                          <a:rPr lang="en-US" sz="2200" i="1">
                            <a:latin typeface="Cambria Math" panose="02040503050406030204" pitchFamily="18" charset="0"/>
                          </a:rPr>
                        </m:ctrlPr>
                      </m:sSubPr>
                      <m:e>
                        <m:r>
                          <a:rPr lang="en-US" sz="2200" i="1">
                            <a:latin typeface="Cambria Math"/>
                          </a:rPr>
                          <m:t>𝜐</m:t>
                        </m:r>
                      </m:e>
                      <m:sub>
                        <m:r>
                          <a:rPr lang="en-US" sz="2200" i="1">
                            <a:latin typeface="Cambria Math"/>
                          </a:rPr>
                          <m:t>1</m:t>
                        </m:r>
                      </m:sub>
                    </m:sSub>
                    <m:r>
                      <a:rPr lang="en-US" sz="2200" i="1">
                        <a:latin typeface="Cambria Math"/>
                      </a:rPr>
                      <m:t>=16−1=15 </m:t>
                    </m:r>
                  </m:oMath>
                </a14:m>
                <a:r>
                  <a:rPr lang="en-US" sz="2200" dirty="0"/>
                  <a:t>.</a:t>
                </a:r>
              </a:p>
              <a:p>
                <a:pPr marL="0" indent="0">
                  <a:buNone/>
                </a:pPr>
                <a:r>
                  <a:rPr lang="en-US" sz="2200" b="1" dirty="0"/>
                  <a:t>Conclusion:</a:t>
                </a:r>
                <a:r>
                  <a:rPr lang="en-US" sz="2200" dirty="0"/>
                  <a:t> Here the calculate Value of </a:t>
                </a:r>
                <a14:m>
                  <m:oMath xmlns:m="http://schemas.openxmlformats.org/officeDocument/2006/math">
                    <m:r>
                      <a:rPr lang="en-US" sz="2200" i="1">
                        <a:latin typeface="Cambria Math"/>
                      </a:rPr>
                      <m:t>𝐹</m:t>
                    </m:r>
                    <m:r>
                      <a:rPr lang="en-US" sz="2200" i="1">
                        <a:latin typeface="Cambria Math"/>
                      </a:rPr>
                      <m:t>=1.02&lt;</m:t>
                    </m:r>
                    <m:sSub>
                      <m:sSubPr>
                        <m:ctrlPr>
                          <a:rPr lang="en-US" sz="2200" i="1">
                            <a:latin typeface="Cambria Math" panose="02040503050406030204" pitchFamily="18" charset="0"/>
                          </a:rPr>
                        </m:ctrlPr>
                      </m:sSubPr>
                      <m:e>
                        <m:r>
                          <a:rPr lang="en-US" sz="2200" i="1">
                            <a:latin typeface="Cambria Math"/>
                          </a:rPr>
                          <m:t>𝐹</m:t>
                        </m:r>
                      </m:e>
                      <m:sub>
                        <m:r>
                          <a:rPr lang="en-US" sz="2200" i="1">
                            <a:latin typeface="Cambria Math"/>
                          </a:rPr>
                          <m:t>(24,15)</m:t>
                        </m:r>
                      </m:sub>
                    </m:sSub>
                    <m:r>
                      <a:rPr lang="en-US" sz="2200" i="1">
                        <a:latin typeface="Cambria Math"/>
                      </a:rPr>
                      <m:t>=2.</m:t>
                    </m:r>
                    <m:r>
                      <a:rPr lang="en-US" sz="2200" b="0" i="1" smtClean="0">
                        <a:latin typeface="Cambria Math"/>
                      </a:rPr>
                      <m:t>29</m:t>
                    </m:r>
                  </m:oMath>
                </a14:m>
                <a:r>
                  <a:rPr lang="en-US" sz="2200" dirty="0"/>
                  <a:t> at 5% level of Significance. Hence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oMath>
                </a14:m>
                <a:r>
                  <a:rPr lang="en-US" sz="2200" dirty="0"/>
                  <a:t> is accepted. Therefore population variances are equal.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rotWithShape="1">
                <a:blip r:embed="rId2"/>
                <a:stretch>
                  <a:fillRect l="-963" r="-444"/>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88271819"/>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953000"/>
              </a:xfrm>
            </p:spPr>
            <p:txBody>
              <a:bodyPr>
                <a:normAutofit/>
              </a:bodyPr>
              <a:lstStyle/>
              <a:p>
                <a:pPr marL="0" indent="0">
                  <a:buNone/>
                </a:pPr>
                <a:r>
                  <a:rPr lang="en-US" b="1" dirty="0"/>
                  <a:t>Example-2: </a:t>
                </a:r>
                <a:r>
                  <a:rPr lang="en-US" dirty="0"/>
                  <a:t>The height of 6 randomly sailors 63,65,68,69,71 and 72. Those of 9 randomly chosen soldiers are 61,62,65,66,69,70,71,72 and 73. Test the equality of Population Variance. (Test at 5% LOS)</a:t>
                </a:r>
              </a:p>
              <a:p>
                <a:pPr marL="0" indent="0">
                  <a:buNone/>
                </a:pPr>
                <a:r>
                  <a:rPr lang="en-US" b="1" dirty="0"/>
                  <a:t>Sol: </a:t>
                </a:r>
                <a:r>
                  <a:rPr lang="en-US" dirty="0"/>
                  <a:t>Let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oMath>
                </a14:m>
                <a:r>
                  <a:rPr lang="en-US" dirty="0"/>
                  <a:t>and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oMath>
                </a14:m>
                <a:r>
                  <a:rPr lang="en-US" dirty="0"/>
                  <a:t> be two samples denoting the height of sailors &amp; soldiers.</a:t>
                </a:r>
              </a:p>
              <a:p>
                <a:pPr marL="0" indent="0">
                  <a:buNone/>
                </a:pPr>
                <a:r>
                  <a:rPr lang="en-US" dirty="0"/>
                  <a:t>Here </a:t>
                </a:r>
                <a14:m>
                  <m:oMath xmlns:m="http://schemas.openxmlformats.org/officeDocument/2006/math">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=6,</m:t>
                    </m:r>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=9</m:t>
                    </m:r>
                  </m:oMath>
                </a14:m>
                <a:endParaRPr lang="en-US" dirty="0"/>
              </a:p>
              <a:p>
                <a:pPr marL="0" indent="0">
                  <a:buNone/>
                </a:pPr>
                <a:r>
                  <a:rPr lang="en-US" dirty="0"/>
                  <a:t>Where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1</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a:latin typeface="Cambria Math"/>
                                      </a:rPr>
                                      <m:t>1)</m:t>
                                    </m:r>
                                  </m:sub>
                                </m:sSub>
                              </m:e>
                              <m:sup>
                                <m:r>
                                  <a:rPr lang="en-US" i="1">
                                    <a:latin typeface="Cambria Math"/>
                                  </a:rPr>
                                  <m:t>2</m:t>
                                </m:r>
                              </m:sup>
                            </m:sSup>
                          </m:e>
                        </m:nary>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1</m:t>
                            </m:r>
                          </m:sub>
                        </m:sSub>
                        <m:r>
                          <a:rPr lang="en-US" i="1">
                            <a:latin typeface="Cambria Math"/>
                          </a:rPr>
                          <m:t>−1</m:t>
                        </m:r>
                      </m:den>
                    </m:f>
                  </m:oMath>
                </a14:m>
                <a:r>
                  <a:rPr lang="en-US" dirty="0"/>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a:rPr>
                          <m:t>𝑠</m:t>
                        </m:r>
                      </m:e>
                      <m:sub>
                        <m:r>
                          <a:rPr lang="en-US" i="1">
                            <a:latin typeface="Cambria Math"/>
                          </a:rPr>
                          <m:t>2</m:t>
                        </m:r>
                      </m:sub>
                      <m:sup>
                        <m:r>
                          <a:rPr lang="en-US" i="1">
                            <a:latin typeface="Cambria Math"/>
                          </a:rPr>
                          <m:t>2</m:t>
                        </m:r>
                      </m:sup>
                    </m:sSubSup>
                    <m:r>
                      <a:rPr lang="en-US" i="1">
                        <a:latin typeface="Cambria Math"/>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a:rPr>
                                  <m:t>(</m:t>
                                </m:r>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r>
                                  <a:rPr lang="en-US" i="1">
                                    <a:latin typeface="Cambria Math"/>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rPr>
                                          <m:t>𝑥</m:t>
                                        </m:r>
                                      </m:e>
                                    </m:acc>
                                  </m:e>
                                  <m:sub>
                                    <m:r>
                                      <a:rPr lang="en-US" i="1">
                                        <a:latin typeface="Cambria Math"/>
                                      </a:rPr>
                                      <m:t>2</m:t>
                                    </m:r>
                                  </m:sub>
                                </m:sSub>
                                <m:r>
                                  <a:rPr lang="en-US" i="1">
                                    <a:latin typeface="Cambria Math"/>
                                  </a:rPr>
                                  <m:t>)</m:t>
                                </m:r>
                              </m:e>
                              <m:sup>
                                <m:r>
                                  <a:rPr lang="en-US" i="1">
                                    <a:latin typeface="Cambria Math"/>
                                  </a:rPr>
                                  <m:t>2</m:t>
                                </m:r>
                              </m:sup>
                            </m:sSup>
                          </m:e>
                        </m:nary>
                      </m:num>
                      <m:den>
                        <m:sSub>
                          <m:sSubPr>
                            <m:ctrlPr>
                              <a:rPr lang="en-US" i="1">
                                <a:latin typeface="Cambria Math" panose="02040503050406030204" pitchFamily="18" charset="0"/>
                              </a:rPr>
                            </m:ctrlPr>
                          </m:sSubPr>
                          <m:e>
                            <m:r>
                              <a:rPr lang="en-US" i="1">
                                <a:latin typeface="Cambria Math"/>
                              </a:rPr>
                              <m:t>𝑛</m:t>
                            </m:r>
                          </m:e>
                          <m:sub>
                            <m:r>
                              <a:rPr lang="en-US" i="1">
                                <a:latin typeface="Cambria Math"/>
                              </a:rPr>
                              <m:t>2</m:t>
                            </m:r>
                          </m:sub>
                        </m:sSub>
                        <m:r>
                          <a:rPr lang="en-US" i="1">
                            <a:latin typeface="Cambria Math"/>
                          </a:rPr>
                          <m:t>−1</m:t>
                        </m:r>
                      </m:den>
                    </m:f>
                  </m:oMath>
                </a14:m>
                <a:endParaRPr lang="en-US" dirty="0"/>
              </a:p>
              <a:p>
                <a:pPr marL="0" indent="0">
                  <a:buNone/>
                </a:pPr>
                <a14:m>
                  <m:oMathPara xmlns:m="http://schemas.openxmlformats.org/officeDocument/2006/math">
                    <m:oMathParaPr>
                      <m:jc m:val="left"/>
                    </m:oMathParaPr>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e>
                      </m:acc>
                      <m:r>
                        <a:rPr lang="en-US" i="1">
                          <a:latin typeface="Cambria Math"/>
                        </a:rPr>
                        <m:t>=68,</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e>
                      </m:acc>
                      <m:r>
                        <a:rPr lang="en-US" i="1">
                          <a:latin typeface="Cambria Math"/>
                        </a:rPr>
                        <m:t>=67.66</m:t>
                      </m:r>
                    </m:oMath>
                  </m:oMathPara>
                </a14:m>
                <a:endParaRPr lang="en-US" dirty="0"/>
              </a:p>
              <a:p>
                <a:pPr marL="0" indent="0">
                  <a:buNone/>
                </a:pPr>
                <a:r>
                  <a:rPr lang="en-US" b="1" dirty="0"/>
                  <a:t>Null Hypothesis </a:t>
                </a:r>
                <a14:m>
                  <m:oMath xmlns:m="http://schemas.openxmlformats.org/officeDocument/2006/math">
                    <m:sSub>
                      <m:sSubPr>
                        <m:ctrlPr>
                          <a:rPr lang="en-US" b="1" i="1">
                            <a:latin typeface="Cambria Math" panose="02040503050406030204" pitchFamily="18" charset="0"/>
                          </a:rPr>
                        </m:ctrlPr>
                      </m:sSubPr>
                      <m:e>
                        <m:r>
                          <a:rPr lang="en-US" b="1" i="1">
                            <a:latin typeface="Cambria Math"/>
                          </a:rPr>
                          <m:t>𝑯</m:t>
                        </m:r>
                      </m:e>
                      <m:sub>
                        <m:r>
                          <a:rPr lang="en-US" b="1" i="1">
                            <a:latin typeface="Cambria Math"/>
                          </a:rPr>
                          <m:t>𝟎</m:t>
                        </m:r>
                      </m:sub>
                    </m:sSub>
                    <m:r>
                      <a:rPr lang="en-US" b="1" i="1">
                        <a:latin typeface="Cambria Math"/>
                      </a:rPr>
                      <m:t>:</m:t>
                    </m:r>
                    <m:sSubSup>
                      <m:sSubSupPr>
                        <m:ctrlPr>
                          <a:rPr lang="en-US" i="1">
                            <a:latin typeface="Cambria Math" panose="02040503050406030204" pitchFamily="18" charset="0"/>
                          </a:rPr>
                        </m:ctrlPr>
                      </m:sSubSupPr>
                      <m:e>
                        <m:r>
                          <a:rPr lang="en-US" i="1">
                            <a:latin typeface="Cambria Math"/>
                          </a:rPr>
                          <m:t>𝜎</m:t>
                        </m:r>
                      </m:e>
                      <m:sub>
                        <m:r>
                          <a:rPr lang="en-US" i="1">
                            <a:latin typeface="Cambria Math"/>
                          </a:rPr>
                          <m:t>1</m:t>
                        </m:r>
                      </m:sub>
                      <m:sup>
                        <m:r>
                          <a:rPr lang="en-US" i="1">
                            <a:latin typeface="Cambria Math"/>
                          </a:rPr>
                          <m:t>2</m:t>
                        </m:r>
                      </m:sup>
                    </m:sSubSup>
                    <m:r>
                      <a:rPr lang="en-US" i="1">
                        <a:latin typeface="Cambria Math"/>
                      </a:rPr>
                      <m:t>=</m:t>
                    </m:r>
                    <m:sSubSup>
                      <m:sSubSupPr>
                        <m:ctrlPr>
                          <a:rPr lang="en-US" i="1">
                            <a:latin typeface="Cambria Math" panose="02040503050406030204" pitchFamily="18" charset="0"/>
                          </a:rPr>
                        </m:ctrlPr>
                      </m:sSubSupPr>
                      <m:e>
                        <m:r>
                          <a:rPr lang="en-US" i="1">
                            <a:latin typeface="Cambria Math"/>
                          </a:rPr>
                          <m:t>𝜎</m:t>
                        </m:r>
                      </m:e>
                      <m:sub>
                        <m:r>
                          <a:rPr lang="en-US" i="1">
                            <a:latin typeface="Cambria Math"/>
                          </a:rPr>
                          <m:t>2</m:t>
                        </m:r>
                      </m:sub>
                      <m:sup>
                        <m:r>
                          <a:rPr lang="en-US" i="1">
                            <a:latin typeface="Cambria Math"/>
                          </a:rPr>
                          <m:t>2</m:t>
                        </m:r>
                      </m:sup>
                    </m:sSubSup>
                  </m:oMath>
                </a14:m>
                <a:r>
                  <a:rPr lang="en-US" dirty="0"/>
                  <a:t> i.e. there is no significant difference between the population Variances.</a:t>
                </a:r>
              </a:p>
              <a:p>
                <a:pPr marL="0" indent="0">
                  <a:buNone/>
                </a:pPr>
                <a:r>
                  <a:rPr lang="en-US" b="1" dirty="0"/>
                  <a:t>Alternative Hypothesis </a:t>
                </a:r>
                <a14:m>
                  <m:oMath xmlns:m="http://schemas.openxmlformats.org/officeDocument/2006/math">
                    <m:sSub>
                      <m:sSubPr>
                        <m:ctrlPr>
                          <a:rPr lang="en-US" b="1" i="1">
                            <a:latin typeface="Cambria Math" panose="02040503050406030204" pitchFamily="18" charset="0"/>
                          </a:rPr>
                        </m:ctrlPr>
                      </m:sSubPr>
                      <m:e>
                        <m:r>
                          <a:rPr lang="en-US" b="1" i="1">
                            <a:latin typeface="Cambria Math"/>
                          </a:rPr>
                          <m:t>𝑯</m:t>
                        </m:r>
                      </m:e>
                      <m:sub>
                        <m:r>
                          <a:rPr lang="en-US" b="1" i="1">
                            <a:latin typeface="Cambria Math"/>
                          </a:rPr>
                          <m:t>𝟏</m:t>
                        </m:r>
                      </m:sub>
                    </m:sSub>
                    <m:r>
                      <a:rPr lang="en-US" b="1" i="1">
                        <a:latin typeface="Cambria Math"/>
                      </a:rPr>
                      <m:t>:</m:t>
                    </m:r>
                    <m:sSubSup>
                      <m:sSubSupPr>
                        <m:ctrlPr>
                          <a:rPr lang="en-US" b="1" i="1">
                            <a:latin typeface="Cambria Math" panose="02040503050406030204" pitchFamily="18" charset="0"/>
                          </a:rPr>
                        </m:ctrlPr>
                      </m:sSubSupPr>
                      <m:e>
                        <m:r>
                          <m:rPr>
                            <m:sty m:val="p"/>
                          </m:rPr>
                          <a:rPr lang="en-US">
                            <a:latin typeface="Cambria Math"/>
                          </a:rPr>
                          <m:t>σ</m:t>
                        </m:r>
                      </m:e>
                      <m:sub>
                        <m:r>
                          <a:rPr lang="en-US" b="1" i="1">
                            <a:latin typeface="Cambria Math"/>
                          </a:rPr>
                          <m:t>𝟏</m:t>
                        </m:r>
                      </m:sub>
                      <m:sup>
                        <m:r>
                          <a:rPr lang="en-US" b="1" i="1">
                            <a:latin typeface="Cambria Math"/>
                          </a:rPr>
                          <m:t>𝟐</m:t>
                        </m:r>
                      </m:sup>
                    </m:sSubSup>
                    <m:r>
                      <a:rPr lang="en-US" b="1" i="1">
                        <a:latin typeface="Cambria Math"/>
                      </a:rPr>
                      <m:t>≠</m:t>
                    </m:r>
                    <m:sSubSup>
                      <m:sSubSupPr>
                        <m:ctrlPr>
                          <a:rPr lang="en-US" b="1" i="1">
                            <a:latin typeface="Cambria Math" panose="02040503050406030204" pitchFamily="18" charset="0"/>
                          </a:rPr>
                        </m:ctrlPr>
                      </m:sSubSupPr>
                      <m:e>
                        <m:r>
                          <m:rPr>
                            <m:sty m:val="p"/>
                          </m:rPr>
                          <a:rPr lang="en-US">
                            <a:latin typeface="Cambria Math"/>
                          </a:rPr>
                          <m:t>σ</m:t>
                        </m:r>
                      </m:e>
                      <m:sub>
                        <m:r>
                          <a:rPr lang="en-US" b="1" i="1">
                            <a:latin typeface="Cambria Math"/>
                          </a:rPr>
                          <m:t>𝟐</m:t>
                        </m:r>
                      </m:sub>
                      <m:sup>
                        <m:r>
                          <a:rPr lang="en-US" b="1" i="1">
                            <a:latin typeface="Cambria Math"/>
                          </a:rPr>
                          <m:t>𝟐</m:t>
                        </m:r>
                      </m:sup>
                    </m:sSubSup>
                  </m:oMath>
                </a14:m>
                <a:endParaRPr lang="en-US" dirty="0"/>
              </a:p>
              <a:p>
                <a:pPr marL="0" indent="0" algn="just">
                  <a:buNone/>
                </a:pPr>
                <a14:m>
                  <m:oMathPara xmlns:m="http://schemas.openxmlformats.org/officeDocument/2006/math">
                    <m:oMathParaPr>
                      <m:jc m:val="left"/>
                    </m:oMathParaPr>
                    <m:oMath xmlns:m="http://schemas.openxmlformats.org/officeDocument/2006/math">
                      <m:r>
                        <a:rPr lang="en-US" b="1" i="1">
                          <a:latin typeface="Cambria Math"/>
                          <a:ea typeface="Cambria Math"/>
                        </a:rPr>
                        <m:t>𝑳𝒆𝒗𝒆𝒍</m:t>
                      </m:r>
                      <m:r>
                        <a:rPr lang="en-US" b="1" i="1">
                          <a:latin typeface="Cambria Math"/>
                          <a:ea typeface="Cambria Math"/>
                        </a:rPr>
                        <m:t> </m:t>
                      </m:r>
                      <m:r>
                        <a:rPr lang="en-US" b="1" i="1">
                          <a:latin typeface="Cambria Math"/>
                          <a:ea typeface="Cambria Math"/>
                        </a:rPr>
                        <m:t>𝒐𝒇</m:t>
                      </m:r>
                      <m:r>
                        <a:rPr lang="en-US" b="1" i="1">
                          <a:latin typeface="Cambria Math"/>
                          <a:ea typeface="Cambria Math"/>
                        </a:rPr>
                        <m:t> </m:t>
                      </m:r>
                      <m:r>
                        <a:rPr lang="en-US" b="1" i="1">
                          <a:latin typeface="Cambria Math"/>
                          <a:ea typeface="Cambria Math"/>
                        </a:rPr>
                        <m:t>𝒔𝒊𝒈𝒏𝒊𝒇𝒊𝒄𝒂𝒏𝒄𝒆</m:t>
                      </m:r>
                      <m:r>
                        <a:rPr lang="en-US" b="1" i="1">
                          <a:latin typeface="Cambria Math"/>
                          <a:ea typeface="Cambria Math"/>
                        </a:rPr>
                        <m:t> </m:t>
                      </m:r>
                      <m:r>
                        <a:rPr lang="en-US" i="1">
                          <a:latin typeface="Cambria Math"/>
                          <a:ea typeface="Cambria Math"/>
                        </a:rPr>
                        <m:t>𝛼</m:t>
                      </m:r>
                      <m:r>
                        <a:rPr lang="en-US" i="1">
                          <a:latin typeface="Cambria Math"/>
                          <a:ea typeface="Cambria Math"/>
                        </a:rPr>
                        <m:t>=0.05</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953000"/>
              </a:xfrm>
              <a:blipFill>
                <a:blip r:embed="rId2"/>
                <a:stretch>
                  <a:fillRect l="-963" t="-86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9212711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0348F557-A851-4551-971C-C81FEDF9A56F}"/>
                  </a:ext>
                </a:extLst>
              </p:cNvPr>
              <p:cNvGraphicFramePr>
                <a:graphicFrameLocks noGrp="1"/>
              </p:cNvGraphicFramePr>
              <p:nvPr>
                <p:extLst>
                  <p:ext uri="{D42A27DB-BD31-4B8C-83A1-F6EECF244321}">
                    <p14:modId xmlns:p14="http://schemas.microsoft.com/office/powerpoint/2010/main" val="3825977914"/>
                  </p:ext>
                </p:extLst>
              </p:nvPr>
            </p:nvGraphicFramePr>
            <p:xfrm>
              <a:off x="1066800" y="1273238"/>
              <a:ext cx="7086600" cy="4365562"/>
            </p:xfrm>
            <a:graphic>
              <a:graphicData uri="http://schemas.openxmlformats.org/drawingml/2006/table">
                <a:tbl>
                  <a:tblPr firstRow="1" bandRow="1">
                    <a:tableStyleId>{5C22544A-7EE6-4342-B048-85BDC9FD1C3A}</a:tableStyleId>
                  </a:tblPr>
                  <a:tblGrid>
                    <a:gridCol w="1771650">
                      <a:extLst>
                        <a:ext uri="{9D8B030D-6E8A-4147-A177-3AD203B41FA5}">
                          <a16:colId xmlns:a16="http://schemas.microsoft.com/office/drawing/2014/main" val="1310456443"/>
                        </a:ext>
                      </a:extLst>
                    </a:gridCol>
                    <a:gridCol w="1771650">
                      <a:extLst>
                        <a:ext uri="{9D8B030D-6E8A-4147-A177-3AD203B41FA5}">
                          <a16:colId xmlns:a16="http://schemas.microsoft.com/office/drawing/2014/main" val="682372494"/>
                        </a:ext>
                      </a:extLst>
                    </a:gridCol>
                    <a:gridCol w="1771650">
                      <a:extLst>
                        <a:ext uri="{9D8B030D-6E8A-4147-A177-3AD203B41FA5}">
                          <a16:colId xmlns:a16="http://schemas.microsoft.com/office/drawing/2014/main" val="2961268433"/>
                        </a:ext>
                      </a:extLst>
                    </a:gridCol>
                    <a:gridCol w="1771650">
                      <a:extLst>
                        <a:ext uri="{9D8B030D-6E8A-4147-A177-3AD203B41FA5}">
                          <a16:colId xmlns:a16="http://schemas.microsoft.com/office/drawing/2014/main" val="3142808010"/>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𝟏</m:t>
                                            </m:r>
                                          </m:sub>
                                        </m:sSub>
                                      </m:e>
                                    </m:acc>
                                    <m:r>
                                      <a:rPr lang="en-US" sz="2000" b="1" i="1" smtClean="0">
                                        <a:latin typeface="Cambria Math" panose="02040503050406030204" pitchFamily="18" charset="0"/>
                                      </a:rPr>
                                      <m:t>)</m:t>
                                    </m:r>
                                  </m:e>
                                  <m:sup>
                                    <m:r>
                                      <a:rPr lang="en-US" sz="2000" b="1" i="1" smtClean="0">
                                        <a:latin typeface="Cambria Math" panose="02040503050406030204" pitchFamily="18" charset="0"/>
                                      </a:rPr>
                                      <m:t>𝟐</m:t>
                                    </m:r>
                                  </m:sup>
                                </m:sSup>
                              </m:oMath>
                            </m:oMathPara>
                          </a14:m>
                          <a:endParaRPr lang="en-US" sz="20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r>
                                      <a:rPr lang="en-US" sz="2000" b="1" i="1" smtClean="0">
                                        <a:latin typeface="Cambria Math" panose="02040503050406030204" pitchFamily="18" charset="0"/>
                                      </a:rPr>
                                      <m:t>−</m:t>
                                    </m:r>
                                    <m:acc>
                                      <m:accPr>
                                        <m:chr m:val="̅"/>
                                        <m:ctrlPr>
                                          <a:rPr lang="en-US" sz="2000" b="1" i="1" smtClean="0">
                                            <a:latin typeface="Cambria Math" panose="02040503050406030204" pitchFamily="18" charset="0"/>
                                          </a:rPr>
                                        </m:ctrlPr>
                                      </m:accPr>
                                      <m:e>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𝒙</m:t>
                                            </m:r>
                                          </m:e>
                                          <m:sub>
                                            <m:r>
                                              <a:rPr lang="en-US" sz="2000" b="1" i="1" smtClean="0">
                                                <a:latin typeface="Cambria Math" panose="02040503050406030204" pitchFamily="18" charset="0"/>
                                              </a:rPr>
                                              <m:t>𝟐</m:t>
                                            </m:r>
                                          </m:sub>
                                        </m:sSub>
                                      </m:e>
                                    </m:acc>
                                    <m:r>
                                      <a:rPr lang="en-US" sz="2000" b="1" i="1" smtClean="0">
                                        <a:latin typeface="Cambria Math" panose="02040503050406030204" pitchFamily="18" charset="0"/>
                                      </a:rPr>
                                      <m:t>)</m:t>
                                    </m:r>
                                  </m:e>
                                  <m:sup>
                                    <m:r>
                                      <a:rPr lang="en-US" sz="2000" b="1" i="1" smtClean="0">
                                        <a:latin typeface="Cambria Math" panose="02040503050406030204" pitchFamily="18" charset="0"/>
                                      </a:rPr>
                                      <m:t>𝟐</m:t>
                                    </m:r>
                                  </m:sup>
                                </m:sSup>
                              </m:oMath>
                            </m:oMathPara>
                          </a14:m>
                          <a:endParaRPr lang="en-US" sz="2000" dirty="0"/>
                        </a:p>
                      </a:txBody>
                      <a:tcPr/>
                    </a:tc>
                    <a:extLst>
                      <a:ext uri="{0D108BD9-81ED-4DB2-BD59-A6C34878D82A}">
                        <a16:rowId xmlns:a16="http://schemas.microsoft.com/office/drawing/2014/main" val="2203778896"/>
                      </a:ext>
                    </a:extLst>
                  </a:tr>
                  <a:tr h="370840">
                    <a:tc>
                      <a:txBody>
                        <a:bodyPr/>
                        <a:lstStyle/>
                        <a:p>
                          <a:pPr algn="ctr"/>
                          <a:r>
                            <a:rPr lang="en-US" sz="2000" dirty="0"/>
                            <a:t>63</a:t>
                          </a:r>
                        </a:p>
                      </a:txBody>
                      <a:tcPr/>
                    </a:tc>
                    <a:tc>
                      <a:txBody>
                        <a:bodyPr/>
                        <a:lstStyle/>
                        <a:p>
                          <a:pPr algn="ctr"/>
                          <a:r>
                            <a:rPr lang="en-US" sz="2000" dirty="0"/>
                            <a:t>61</a:t>
                          </a:r>
                        </a:p>
                      </a:txBody>
                      <a:tcPr/>
                    </a:tc>
                    <a:tc>
                      <a:txBody>
                        <a:bodyPr/>
                        <a:lstStyle/>
                        <a:p>
                          <a:pPr algn="ctr"/>
                          <a:r>
                            <a:rPr lang="en-US" sz="2000" dirty="0"/>
                            <a:t>25</a:t>
                          </a:r>
                        </a:p>
                      </a:txBody>
                      <a:tcPr/>
                    </a:tc>
                    <a:tc>
                      <a:txBody>
                        <a:bodyPr/>
                        <a:lstStyle/>
                        <a:p>
                          <a:pPr algn="ctr"/>
                          <a:r>
                            <a:rPr lang="en-US" sz="2000" dirty="0"/>
                            <a:t>44.3556</a:t>
                          </a:r>
                        </a:p>
                      </a:txBody>
                      <a:tcPr/>
                    </a:tc>
                    <a:extLst>
                      <a:ext uri="{0D108BD9-81ED-4DB2-BD59-A6C34878D82A}">
                        <a16:rowId xmlns:a16="http://schemas.microsoft.com/office/drawing/2014/main" val="2445034457"/>
                      </a:ext>
                    </a:extLst>
                  </a:tr>
                  <a:tr h="370840">
                    <a:tc>
                      <a:txBody>
                        <a:bodyPr/>
                        <a:lstStyle/>
                        <a:p>
                          <a:pPr algn="ctr"/>
                          <a:r>
                            <a:rPr lang="en-US" sz="2000" dirty="0"/>
                            <a:t>65</a:t>
                          </a:r>
                        </a:p>
                      </a:txBody>
                      <a:tcPr/>
                    </a:tc>
                    <a:tc>
                      <a:txBody>
                        <a:bodyPr/>
                        <a:lstStyle/>
                        <a:p>
                          <a:pPr algn="ctr"/>
                          <a:r>
                            <a:rPr lang="en-US" sz="2000" dirty="0"/>
                            <a:t>62</a:t>
                          </a:r>
                        </a:p>
                      </a:txBody>
                      <a:tcPr/>
                    </a:tc>
                    <a:tc>
                      <a:txBody>
                        <a:bodyPr/>
                        <a:lstStyle/>
                        <a:p>
                          <a:pPr algn="ctr"/>
                          <a:r>
                            <a:rPr lang="en-US" sz="2000" dirty="0"/>
                            <a:t>9</a:t>
                          </a:r>
                        </a:p>
                      </a:txBody>
                      <a:tcPr/>
                    </a:tc>
                    <a:tc>
                      <a:txBody>
                        <a:bodyPr/>
                        <a:lstStyle/>
                        <a:p>
                          <a:pPr algn="ctr"/>
                          <a:r>
                            <a:rPr lang="en-US" sz="2000" dirty="0"/>
                            <a:t>32.0356</a:t>
                          </a:r>
                        </a:p>
                      </a:txBody>
                      <a:tcPr/>
                    </a:tc>
                    <a:extLst>
                      <a:ext uri="{0D108BD9-81ED-4DB2-BD59-A6C34878D82A}">
                        <a16:rowId xmlns:a16="http://schemas.microsoft.com/office/drawing/2014/main" val="2153534736"/>
                      </a:ext>
                    </a:extLst>
                  </a:tr>
                  <a:tr h="370840">
                    <a:tc>
                      <a:txBody>
                        <a:bodyPr/>
                        <a:lstStyle/>
                        <a:p>
                          <a:pPr algn="ctr"/>
                          <a:r>
                            <a:rPr lang="en-US" sz="2000" dirty="0"/>
                            <a:t>68</a:t>
                          </a:r>
                        </a:p>
                      </a:txBody>
                      <a:tcPr/>
                    </a:tc>
                    <a:tc>
                      <a:txBody>
                        <a:bodyPr/>
                        <a:lstStyle/>
                        <a:p>
                          <a:pPr algn="ctr"/>
                          <a:r>
                            <a:rPr lang="en-US" sz="2000" dirty="0"/>
                            <a:t>65</a:t>
                          </a:r>
                        </a:p>
                      </a:txBody>
                      <a:tcPr/>
                    </a:tc>
                    <a:tc>
                      <a:txBody>
                        <a:bodyPr/>
                        <a:lstStyle/>
                        <a:p>
                          <a:pPr algn="ctr"/>
                          <a:r>
                            <a:rPr lang="en-US" sz="2000" dirty="0"/>
                            <a:t>0</a:t>
                          </a:r>
                        </a:p>
                      </a:txBody>
                      <a:tcPr/>
                    </a:tc>
                    <a:tc>
                      <a:txBody>
                        <a:bodyPr/>
                        <a:lstStyle/>
                        <a:p>
                          <a:pPr algn="ctr"/>
                          <a:r>
                            <a:rPr lang="en-US" sz="2000" dirty="0"/>
                            <a:t>7.0756</a:t>
                          </a:r>
                        </a:p>
                      </a:txBody>
                      <a:tcPr/>
                    </a:tc>
                    <a:extLst>
                      <a:ext uri="{0D108BD9-81ED-4DB2-BD59-A6C34878D82A}">
                        <a16:rowId xmlns:a16="http://schemas.microsoft.com/office/drawing/2014/main" val="305967492"/>
                      </a:ext>
                    </a:extLst>
                  </a:tr>
                  <a:tr h="370840">
                    <a:tc>
                      <a:txBody>
                        <a:bodyPr/>
                        <a:lstStyle/>
                        <a:p>
                          <a:pPr algn="ctr"/>
                          <a:r>
                            <a:rPr lang="en-US" sz="2000" dirty="0"/>
                            <a:t>69</a:t>
                          </a:r>
                        </a:p>
                      </a:txBody>
                      <a:tcPr/>
                    </a:tc>
                    <a:tc>
                      <a:txBody>
                        <a:bodyPr/>
                        <a:lstStyle/>
                        <a:p>
                          <a:pPr algn="ctr"/>
                          <a:r>
                            <a:rPr lang="en-US" sz="2000" dirty="0"/>
                            <a:t>66</a:t>
                          </a:r>
                        </a:p>
                      </a:txBody>
                      <a:tcPr/>
                    </a:tc>
                    <a:tc>
                      <a:txBody>
                        <a:bodyPr/>
                        <a:lstStyle/>
                        <a:p>
                          <a:pPr algn="ctr"/>
                          <a:r>
                            <a:rPr lang="en-US" sz="2000" dirty="0"/>
                            <a:t>1</a:t>
                          </a:r>
                        </a:p>
                      </a:txBody>
                      <a:tcPr/>
                    </a:tc>
                    <a:tc>
                      <a:txBody>
                        <a:bodyPr/>
                        <a:lstStyle/>
                        <a:p>
                          <a:pPr algn="ctr"/>
                          <a:r>
                            <a:rPr lang="en-US" sz="2000" dirty="0"/>
                            <a:t>2.7556</a:t>
                          </a:r>
                        </a:p>
                      </a:txBody>
                      <a:tcPr/>
                    </a:tc>
                    <a:extLst>
                      <a:ext uri="{0D108BD9-81ED-4DB2-BD59-A6C34878D82A}">
                        <a16:rowId xmlns:a16="http://schemas.microsoft.com/office/drawing/2014/main" val="232562333"/>
                      </a:ext>
                    </a:extLst>
                  </a:tr>
                  <a:tr h="370840">
                    <a:tc>
                      <a:txBody>
                        <a:bodyPr/>
                        <a:lstStyle/>
                        <a:p>
                          <a:pPr algn="ctr"/>
                          <a:r>
                            <a:rPr lang="en-US" sz="2000" dirty="0"/>
                            <a:t>71</a:t>
                          </a:r>
                        </a:p>
                      </a:txBody>
                      <a:tcPr/>
                    </a:tc>
                    <a:tc>
                      <a:txBody>
                        <a:bodyPr/>
                        <a:lstStyle/>
                        <a:p>
                          <a:pPr algn="ctr"/>
                          <a:r>
                            <a:rPr lang="en-US" sz="2000" dirty="0"/>
                            <a:t>69</a:t>
                          </a:r>
                        </a:p>
                      </a:txBody>
                      <a:tcPr/>
                    </a:tc>
                    <a:tc>
                      <a:txBody>
                        <a:bodyPr/>
                        <a:lstStyle/>
                        <a:p>
                          <a:pPr algn="ctr"/>
                          <a:r>
                            <a:rPr lang="en-US" sz="2000" dirty="0"/>
                            <a:t>9</a:t>
                          </a:r>
                        </a:p>
                      </a:txBody>
                      <a:tcPr/>
                    </a:tc>
                    <a:tc>
                      <a:txBody>
                        <a:bodyPr/>
                        <a:lstStyle/>
                        <a:p>
                          <a:pPr algn="ctr"/>
                          <a:r>
                            <a:rPr lang="en-US" sz="2000" dirty="0"/>
                            <a:t>1.7956</a:t>
                          </a:r>
                        </a:p>
                      </a:txBody>
                      <a:tcPr/>
                    </a:tc>
                    <a:extLst>
                      <a:ext uri="{0D108BD9-81ED-4DB2-BD59-A6C34878D82A}">
                        <a16:rowId xmlns:a16="http://schemas.microsoft.com/office/drawing/2014/main" val="1717096527"/>
                      </a:ext>
                    </a:extLst>
                  </a:tr>
                  <a:tr h="370840">
                    <a:tc>
                      <a:txBody>
                        <a:bodyPr/>
                        <a:lstStyle/>
                        <a:p>
                          <a:pPr algn="ctr"/>
                          <a:r>
                            <a:rPr lang="en-US" sz="2000" dirty="0"/>
                            <a:t>72</a:t>
                          </a:r>
                        </a:p>
                      </a:txBody>
                      <a:tcPr/>
                    </a:tc>
                    <a:tc>
                      <a:txBody>
                        <a:bodyPr/>
                        <a:lstStyle/>
                        <a:p>
                          <a:pPr algn="ctr"/>
                          <a:r>
                            <a:rPr lang="en-US" sz="2000" dirty="0"/>
                            <a:t>70</a:t>
                          </a:r>
                        </a:p>
                      </a:txBody>
                      <a:tcPr/>
                    </a:tc>
                    <a:tc>
                      <a:txBody>
                        <a:bodyPr/>
                        <a:lstStyle/>
                        <a:p>
                          <a:pPr algn="ctr"/>
                          <a:r>
                            <a:rPr lang="en-US" sz="2000" dirty="0"/>
                            <a:t>16</a:t>
                          </a:r>
                        </a:p>
                      </a:txBody>
                      <a:tcPr/>
                    </a:tc>
                    <a:tc>
                      <a:txBody>
                        <a:bodyPr/>
                        <a:lstStyle/>
                        <a:p>
                          <a:pPr algn="ctr"/>
                          <a:r>
                            <a:rPr lang="en-US" sz="2000" dirty="0"/>
                            <a:t>5.4756</a:t>
                          </a:r>
                        </a:p>
                      </a:txBody>
                      <a:tcPr/>
                    </a:tc>
                    <a:extLst>
                      <a:ext uri="{0D108BD9-81ED-4DB2-BD59-A6C34878D82A}">
                        <a16:rowId xmlns:a16="http://schemas.microsoft.com/office/drawing/2014/main" val="456029423"/>
                      </a:ext>
                    </a:extLst>
                  </a:tr>
                  <a:tr h="370840">
                    <a:tc>
                      <a:txBody>
                        <a:bodyPr/>
                        <a:lstStyle/>
                        <a:p>
                          <a:pPr algn="ctr"/>
                          <a:endParaRPr lang="en-US" sz="2000" dirty="0"/>
                        </a:p>
                      </a:txBody>
                      <a:tcPr/>
                    </a:tc>
                    <a:tc>
                      <a:txBody>
                        <a:bodyPr/>
                        <a:lstStyle/>
                        <a:p>
                          <a:pPr algn="ctr"/>
                          <a:r>
                            <a:rPr lang="en-US" sz="2000" dirty="0"/>
                            <a:t>71</a:t>
                          </a:r>
                        </a:p>
                      </a:txBody>
                      <a:tcPr/>
                    </a:tc>
                    <a:tc>
                      <a:txBody>
                        <a:bodyPr/>
                        <a:lstStyle/>
                        <a:p>
                          <a:pPr algn="ctr"/>
                          <a:endParaRPr lang="en-US" sz="2000" dirty="0"/>
                        </a:p>
                      </a:txBody>
                      <a:tcPr/>
                    </a:tc>
                    <a:tc>
                      <a:txBody>
                        <a:bodyPr/>
                        <a:lstStyle/>
                        <a:p>
                          <a:pPr algn="ctr"/>
                          <a:r>
                            <a:rPr lang="en-US" sz="2000" dirty="0"/>
                            <a:t>11.1556</a:t>
                          </a:r>
                        </a:p>
                      </a:txBody>
                      <a:tcPr/>
                    </a:tc>
                    <a:extLst>
                      <a:ext uri="{0D108BD9-81ED-4DB2-BD59-A6C34878D82A}">
                        <a16:rowId xmlns:a16="http://schemas.microsoft.com/office/drawing/2014/main" val="2095653627"/>
                      </a:ext>
                    </a:extLst>
                  </a:tr>
                  <a:tr h="370840">
                    <a:tc>
                      <a:txBody>
                        <a:bodyPr/>
                        <a:lstStyle/>
                        <a:p>
                          <a:pPr algn="ctr"/>
                          <a:endParaRPr lang="en-US" sz="2000" dirty="0"/>
                        </a:p>
                      </a:txBody>
                      <a:tcPr/>
                    </a:tc>
                    <a:tc>
                      <a:txBody>
                        <a:bodyPr/>
                        <a:lstStyle/>
                        <a:p>
                          <a:pPr algn="ctr"/>
                          <a:r>
                            <a:rPr lang="en-US" sz="2000" dirty="0"/>
                            <a:t>72</a:t>
                          </a:r>
                        </a:p>
                      </a:txBody>
                      <a:tcPr/>
                    </a:tc>
                    <a:tc>
                      <a:txBody>
                        <a:bodyPr/>
                        <a:lstStyle/>
                        <a:p>
                          <a:pPr algn="ctr"/>
                          <a:endParaRPr lang="en-US" sz="2000" dirty="0"/>
                        </a:p>
                      </a:txBody>
                      <a:tcPr/>
                    </a:tc>
                    <a:tc>
                      <a:txBody>
                        <a:bodyPr/>
                        <a:lstStyle/>
                        <a:p>
                          <a:pPr algn="ctr"/>
                          <a:r>
                            <a:rPr lang="en-US" sz="2000" dirty="0"/>
                            <a:t>18.8356</a:t>
                          </a:r>
                        </a:p>
                      </a:txBody>
                      <a:tcPr/>
                    </a:tc>
                    <a:extLst>
                      <a:ext uri="{0D108BD9-81ED-4DB2-BD59-A6C34878D82A}">
                        <a16:rowId xmlns:a16="http://schemas.microsoft.com/office/drawing/2014/main" val="556308888"/>
                      </a:ext>
                    </a:extLst>
                  </a:tr>
                  <a:tr h="370840">
                    <a:tc>
                      <a:txBody>
                        <a:bodyPr/>
                        <a:lstStyle/>
                        <a:p>
                          <a:pPr algn="ctr"/>
                          <a:endParaRPr lang="en-US" sz="2000" dirty="0"/>
                        </a:p>
                      </a:txBody>
                      <a:tcPr/>
                    </a:tc>
                    <a:tc>
                      <a:txBody>
                        <a:bodyPr/>
                        <a:lstStyle/>
                        <a:p>
                          <a:pPr algn="ctr"/>
                          <a:r>
                            <a:rPr lang="en-US" sz="2000" dirty="0"/>
                            <a:t>73</a:t>
                          </a:r>
                        </a:p>
                      </a:txBody>
                      <a:tcPr/>
                    </a:tc>
                    <a:tc>
                      <a:txBody>
                        <a:bodyPr/>
                        <a:lstStyle/>
                        <a:p>
                          <a:pPr algn="ctr"/>
                          <a:endParaRPr lang="en-US" sz="2000" dirty="0"/>
                        </a:p>
                      </a:txBody>
                      <a:tcPr/>
                    </a:tc>
                    <a:tc>
                      <a:txBody>
                        <a:bodyPr/>
                        <a:lstStyle/>
                        <a:p>
                          <a:pPr algn="ctr"/>
                          <a:r>
                            <a:rPr lang="en-US" sz="2000" dirty="0"/>
                            <a:t>28.5156</a:t>
                          </a:r>
                        </a:p>
                      </a:txBody>
                      <a:tcPr/>
                    </a:tc>
                    <a:extLst>
                      <a:ext uri="{0D108BD9-81ED-4DB2-BD59-A6C34878D82A}">
                        <a16:rowId xmlns:a16="http://schemas.microsoft.com/office/drawing/2014/main" val="2390773474"/>
                      </a:ext>
                    </a:extLst>
                  </a:tr>
                  <a:tr h="370840">
                    <a:tc>
                      <a:txBody>
                        <a:bodyPr/>
                        <a:lstStyle/>
                        <a:p>
                          <a:pPr algn="ctr"/>
                          <a:r>
                            <a:rPr lang="en-US" sz="2000" dirty="0"/>
                            <a:t>Total=408</a:t>
                          </a:r>
                        </a:p>
                      </a:txBody>
                      <a:tcPr/>
                    </a:tc>
                    <a:tc>
                      <a:txBody>
                        <a:bodyPr/>
                        <a:lstStyle/>
                        <a:p>
                          <a:pPr algn="ctr"/>
                          <a:r>
                            <a:rPr lang="en-US" sz="2000" dirty="0"/>
                            <a:t>609</a:t>
                          </a:r>
                        </a:p>
                      </a:txBody>
                      <a:tcPr/>
                    </a:tc>
                    <a:tc>
                      <a:txBody>
                        <a:bodyPr/>
                        <a:lstStyle/>
                        <a:p>
                          <a:pPr algn="ctr"/>
                          <a:r>
                            <a:rPr lang="en-US" sz="2000" dirty="0"/>
                            <a:t>60</a:t>
                          </a:r>
                        </a:p>
                      </a:txBody>
                      <a:tcPr/>
                    </a:tc>
                    <a:tc>
                      <a:txBody>
                        <a:bodyPr/>
                        <a:lstStyle/>
                        <a:p>
                          <a:pPr algn="ctr"/>
                          <a:r>
                            <a:rPr lang="en-US" sz="2000" dirty="0"/>
                            <a:t>152.0004</a:t>
                          </a:r>
                        </a:p>
                      </a:txBody>
                      <a:tcPr/>
                    </a:tc>
                    <a:extLst>
                      <a:ext uri="{0D108BD9-81ED-4DB2-BD59-A6C34878D82A}">
                        <a16:rowId xmlns:a16="http://schemas.microsoft.com/office/drawing/2014/main" val="1659567334"/>
                      </a:ext>
                    </a:extLst>
                  </a:tr>
                </a:tbl>
              </a:graphicData>
            </a:graphic>
          </p:graphicFrame>
        </mc:Choice>
        <mc:Fallback xmlns="">
          <p:graphicFrame>
            <p:nvGraphicFramePr>
              <p:cNvPr id="10" name="Table 9">
                <a:extLst>
                  <a:ext uri="{FF2B5EF4-FFF2-40B4-BE49-F238E27FC236}">
                    <a16:creationId xmlns:a16="http://schemas.microsoft.com/office/drawing/2014/main" id="{0348F557-A851-4551-971C-C81FEDF9A56F}"/>
                  </a:ext>
                </a:extLst>
              </p:cNvPr>
              <p:cNvGraphicFramePr>
                <a:graphicFrameLocks noGrp="1"/>
              </p:cNvGraphicFramePr>
              <p:nvPr>
                <p:extLst>
                  <p:ext uri="{D42A27DB-BD31-4B8C-83A1-F6EECF244321}">
                    <p14:modId xmlns:p14="http://schemas.microsoft.com/office/powerpoint/2010/main" val="3825977914"/>
                  </p:ext>
                </p:extLst>
              </p:nvPr>
            </p:nvGraphicFramePr>
            <p:xfrm>
              <a:off x="1066800" y="1273238"/>
              <a:ext cx="7086600" cy="4365562"/>
            </p:xfrm>
            <a:graphic>
              <a:graphicData uri="http://schemas.openxmlformats.org/drawingml/2006/table">
                <a:tbl>
                  <a:tblPr firstRow="1" bandRow="1">
                    <a:tableStyleId>{5C22544A-7EE6-4342-B048-85BDC9FD1C3A}</a:tableStyleId>
                  </a:tblPr>
                  <a:tblGrid>
                    <a:gridCol w="1771650">
                      <a:extLst>
                        <a:ext uri="{9D8B030D-6E8A-4147-A177-3AD203B41FA5}">
                          <a16:colId xmlns:a16="http://schemas.microsoft.com/office/drawing/2014/main" val="1310456443"/>
                        </a:ext>
                      </a:extLst>
                    </a:gridCol>
                    <a:gridCol w="1771650">
                      <a:extLst>
                        <a:ext uri="{9D8B030D-6E8A-4147-A177-3AD203B41FA5}">
                          <a16:colId xmlns:a16="http://schemas.microsoft.com/office/drawing/2014/main" val="682372494"/>
                        </a:ext>
                      </a:extLst>
                    </a:gridCol>
                    <a:gridCol w="1771650">
                      <a:extLst>
                        <a:ext uri="{9D8B030D-6E8A-4147-A177-3AD203B41FA5}">
                          <a16:colId xmlns:a16="http://schemas.microsoft.com/office/drawing/2014/main" val="2961268433"/>
                        </a:ext>
                      </a:extLst>
                    </a:gridCol>
                    <a:gridCol w="1771650">
                      <a:extLst>
                        <a:ext uri="{9D8B030D-6E8A-4147-A177-3AD203B41FA5}">
                          <a16:colId xmlns:a16="http://schemas.microsoft.com/office/drawing/2014/main" val="3142808010"/>
                        </a:ext>
                      </a:extLst>
                    </a:gridCol>
                  </a:tblGrid>
                  <a:tr h="403162">
                    <a:tc>
                      <a:txBody>
                        <a:bodyPr/>
                        <a:lstStyle/>
                        <a:p>
                          <a:endParaRPr lang="en-US"/>
                        </a:p>
                      </a:txBody>
                      <a:tcPr>
                        <a:blipFill>
                          <a:blip r:embed="rId2"/>
                          <a:stretch>
                            <a:fillRect l="-687" t="-1515" r="-301031" b="-1013636"/>
                          </a:stretch>
                        </a:blipFill>
                      </a:tcPr>
                    </a:tc>
                    <a:tc>
                      <a:txBody>
                        <a:bodyPr/>
                        <a:lstStyle/>
                        <a:p>
                          <a:endParaRPr lang="en-US"/>
                        </a:p>
                      </a:txBody>
                      <a:tcPr>
                        <a:blipFill>
                          <a:blip r:embed="rId2"/>
                          <a:stretch>
                            <a:fillRect l="-100687" t="-1515" r="-201031" b="-1013636"/>
                          </a:stretch>
                        </a:blipFill>
                      </a:tcPr>
                    </a:tc>
                    <a:tc>
                      <a:txBody>
                        <a:bodyPr/>
                        <a:lstStyle/>
                        <a:p>
                          <a:endParaRPr lang="en-US"/>
                        </a:p>
                      </a:txBody>
                      <a:tcPr>
                        <a:blipFill>
                          <a:blip r:embed="rId2"/>
                          <a:stretch>
                            <a:fillRect l="-201379" t="-1515" r="-101724" b="-1013636"/>
                          </a:stretch>
                        </a:blipFill>
                      </a:tcPr>
                    </a:tc>
                    <a:tc>
                      <a:txBody>
                        <a:bodyPr/>
                        <a:lstStyle/>
                        <a:p>
                          <a:endParaRPr lang="en-US"/>
                        </a:p>
                      </a:txBody>
                      <a:tcPr>
                        <a:blipFill>
                          <a:blip r:embed="rId2"/>
                          <a:stretch>
                            <a:fillRect l="-300344" t="-1515" r="-1375" b="-1013636"/>
                          </a:stretch>
                        </a:blipFill>
                      </a:tcPr>
                    </a:tc>
                    <a:extLst>
                      <a:ext uri="{0D108BD9-81ED-4DB2-BD59-A6C34878D82A}">
                        <a16:rowId xmlns:a16="http://schemas.microsoft.com/office/drawing/2014/main" val="2203778896"/>
                      </a:ext>
                    </a:extLst>
                  </a:tr>
                  <a:tr h="396240">
                    <a:tc>
                      <a:txBody>
                        <a:bodyPr/>
                        <a:lstStyle/>
                        <a:p>
                          <a:pPr algn="ctr"/>
                          <a:r>
                            <a:rPr lang="en-US" sz="2000" dirty="0"/>
                            <a:t>63</a:t>
                          </a:r>
                        </a:p>
                      </a:txBody>
                      <a:tcPr/>
                    </a:tc>
                    <a:tc>
                      <a:txBody>
                        <a:bodyPr/>
                        <a:lstStyle/>
                        <a:p>
                          <a:pPr algn="ctr"/>
                          <a:r>
                            <a:rPr lang="en-US" sz="2000" dirty="0"/>
                            <a:t>61</a:t>
                          </a:r>
                        </a:p>
                      </a:txBody>
                      <a:tcPr/>
                    </a:tc>
                    <a:tc>
                      <a:txBody>
                        <a:bodyPr/>
                        <a:lstStyle/>
                        <a:p>
                          <a:pPr algn="ctr"/>
                          <a:r>
                            <a:rPr lang="en-US" sz="2000" dirty="0"/>
                            <a:t>25</a:t>
                          </a:r>
                        </a:p>
                      </a:txBody>
                      <a:tcPr/>
                    </a:tc>
                    <a:tc>
                      <a:txBody>
                        <a:bodyPr/>
                        <a:lstStyle/>
                        <a:p>
                          <a:pPr algn="ctr"/>
                          <a:r>
                            <a:rPr lang="en-US" sz="2000" dirty="0"/>
                            <a:t>44.3556</a:t>
                          </a:r>
                        </a:p>
                      </a:txBody>
                      <a:tcPr/>
                    </a:tc>
                    <a:extLst>
                      <a:ext uri="{0D108BD9-81ED-4DB2-BD59-A6C34878D82A}">
                        <a16:rowId xmlns:a16="http://schemas.microsoft.com/office/drawing/2014/main" val="2445034457"/>
                      </a:ext>
                    </a:extLst>
                  </a:tr>
                  <a:tr h="396240">
                    <a:tc>
                      <a:txBody>
                        <a:bodyPr/>
                        <a:lstStyle/>
                        <a:p>
                          <a:pPr algn="ctr"/>
                          <a:r>
                            <a:rPr lang="en-US" sz="2000" dirty="0"/>
                            <a:t>65</a:t>
                          </a:r>
                        </a:p>
                      </a:txBody>
                      <a:tcPr/>
                    </a:tc>
                    <a:tc>
                      <a:txBody>
                        <a:bodyPr/>
                        <a:lstStyle/>
                        <a:p>
                          <a:pPr algn="ctr"/>
                          <a:r>
                            <a:rPr lang="en-US" sz="2000" dirty="0"/>
                            <a:t>62</a:t>
                          </a:r>
                        </a:p>
                      </a:txBody>
                      <a:tcPr/>
                    </a:tc>
                    <a:tc>
                      <a:txBody>
                        <a:bodyPr/>
                        <a:lstStyle/>
                        <a:p>
                          <a:pPr algn="ctr"/>
                          <a:r>
                            <a:rPr lang="en-US" sz="2000" dirty="0"/>
                            <a:t>9</a:t>
                          </a:r>
                        </a:p>
                      </a:txBody>
                      <a:tcPr/>
                    </a:tc>
                    <a:tc>
                      <a:txBody>
                        <a:bodyPr/>
                        <a:lstStyle/>
                        <a:p>
                          <a:pPr algn="ctr"/>
                          <a:r>
                            <a:rPr lang="en-US" sz="2000" dirty="0"/>
                            <a:t>32.0356</a:t>
                          </a:r>
                        </a:p>
                      </a:txBody>
                      <a:tcPr/>
                    </a:tc>
                    <a:extLst>
                      <a:ext uri="{0D108BD9-81ED-4DB2-BD59-A6C34878D82A}">
                        <a16:rowId xmlns:a16="http://schemas.microsoft.com/office/drawing/2014/main" val="2153534736"/>
                      </a:ext>
                    </a:extLst>
                  </a:tr>
                  <a:tr h="396240">
                    <a:tc>
                      <a:txBody>
                        <a:bodyPr/>
                        <a:lstStyle/>
                        <a:p>
                          <a:pPr algn="ctr"/>
                          <a:r>
                            <a:rPr lang="en-US" sz="2000" dirty="0"/>
                            <a:t>68</a:t>
                          </a:r>
                        </a:p>
                      </a:txBody>
                      <a:tcPr/>
                    </a:tc>
                    <a:tc>
                      <a:txBody>
                        <a:bodyPr/>
                        <a:lstStyle/>
                        <a:p>
                          <a:pPr algn="ctr"/>
                          <a:r>
                            <a:rPr lang="en-US" sz="2000" dirty="0"/>
                            <a:t>65</a:t>
                          </a:r>
                        </a:p>
                      </a:txBody>
                      <a:tcPr/>
                    </a:tc>
                    <a:tc>
                      <a:txBody>
                        <a:bodyPr/>
                        <a:lstStyle/>
                        <a:p>
                          <a:pPr algn="ctr"/>
                          <a:r>
                            <a:rPr lang="en-US" sz="2000" dirty="0"/>
                            <a:t>0</a:t>
                          </a:r>
                        </a:p>
                      </a:txBody>
                      <a:tcPr/>
                    </a:tc>
                    <a:tc>
                      <a:txBody>
                        <a:bodyPr/>
                        <a:lstStyle/>
                        <a:p>
                          <a:pPr algn="ctr"/>
                          <a:r>
                            <a:rPr lang="en-US" sz="2000" dirty="0"/>
                            <a:t>7.0756</a:t>
                          </a:r>
                        </a:p>
                      </a:txBody>
                      <a:tcPr/>
                    </a:tc>
                    <a:extLst>
                      <a:ext uri="{0D108BD9-81ED-4DB2-BD59-A6C34878D82A}">
                        <a16:rowId xmlns:a16="http://schemas.microsoft.com/office/drawing/2014/main" val="305967492"/>
                      </a:ext>
                    </a:extLst>
                  </a:tr>
                  <a:tr h="396240">
                    <a:tc>
                      <a:txBody>
                        <a:bodyPr/>
                        <a:lstStyle/>
                        <a:p>
                          <a:pPr algn="ctr"/>
                          <a:r>
                            <a:rPr lang="en-US" sz="2000" dirty="0"/>
                            <a:t>69</a:t>
                          </a:r>
                        </a:p>
                      </a:txBody>
                      <a:tcPr/>
                    </a:tc>
                    <a:tc>
                      <a:txBody>
                        <a:bodyPr/>
                        <a:lstStyle/>
                        <a:p>
                          <a:pPr algn="ctr"/>
                          <a:r>
                            <a:rPr lang="en-US" sz="2000" dirty="0"/>
                            <a:t>66</a:t>
                          </a:r>
                        </a:p>
                      </a:txBody>
                      <a:tcPr/>
                    </a:tc>
                    <a:tc>
                      <a:txBody>
                        <a:bodyPr/>
                        <a:lstStyle/>
                        <a:p>
                          <a:pPr algn="ctr"/>
                          <a:r>
                            <a:rPr lang="en-US" sz="2000" dirty="0"/>
                            <a:t>1</a:t>
                          </a:r>
                        </a:p>
                      </a:txBody>
                      <a:tcPr/>
                    </a:tc>
                    <a:tc>
                      <a:txBody>
                        <a:bodyPr/>
                        <a:lstStyle/>
                        <a:p>
                          <a:pPr algn="ctr"/>
                          <a:r>
                            <a:rPr lang="en-US" sz="2000" dirty="0"/>
                            <a:t>2.7556</a:t>
                          </a:r>
                        </a:p>
                      </a:txBody>
                      <a:tcPr/>
                    </a:tc>
                    <a:extLst>
                      <a:ext uri="{0D108BD9-81ED-4DB2-BD59-A6C34878D82A}">
                        <a16:rowId xmlns:a16="http://schemas.microsoft.com/office/drawing/2014/main" val="232562333"/>
                      </a:ext>
                    </a:extLst>
                  </a:tr>
                  <a:tr h="396240">
                    <a:tc>
                      <a:txBody>
                        <a:bodyPr/>
                        <a:lstStyle/>
                        <a:p>
                          <a:pPr algn="ctr"/>
                          <a:r>
                            <a:rPr lang="en-US" sz="2000" dirty="0"/>
                            <a:t>71</a:t>
                          </a:r>
                        </a:p>
                      </a:txBody>
                      <a:tcPr/>
                    </a:tc>
                    <a:tc>
                      <a:txBody>
                        <a:bodyPr/>
                        <a:lstStyle/>
                        <a:p>
                          <a:pPr algn="ctr"/>
                          <a:r>
                            <a:rPr lang="en-US" sz="2000" dirty="0"/>
                            <a:t>69</a:t>
                          </a:r>
                        </a:p>
                      </a:txBody>
                      <a:tcPr/>
                    </a:tc>
                    <a:tc>
                      <a:txBody>
                        <a:bodyPr/>
                        <a:lstStyle/>
                        <a:p>
                          <a:pPr algn="ctr"/>
                          <a:r>
                            <a:rPr lang="en-US" sz="2000" dirty="0"/>
                            <a:t>9</a:t>
                          </a:r>
                        </a:p>
                      </a:txBody>
                      <a:tcPr/>
                    </a:tc>
                    <a:tc>
                      <a:txBody>
                        <a:bodyPr/>
                        <a:lstStyle/>
                        <a:p>
                          <a:pPr algn="ctr"/>
                          <a:r>
                            <a:rPr lang="en-US" sz="2000" dirty="0"/>
                            <a:t>1.7956</a:t>
                          </a:r>
                        </a:p>
                      </a:txBody>
                      <a:tcPr/>
                    </a:tc>
                    <a:extLst>
                      <a:ext uri="{0D108BD9-81ED-4DB2-BD59-A6C34878D82A}">
                        <a16:rowId xmlns:a16="http://schemas.microsoft.com/office/drawing/2014/main" val="1717096527"/>
                      </a:ext>
                    </a:extLst>
                  </a:tr>
                  <a:tr h="396240">
                    <a:tc>
                      <a:txBody>
                        <a:bodyPr/>
                        <a:lstStyle/>
                        <a:p>
                          <a:pPr algn="ctr"/>
                          <a:r>
                            <a:rPr lang="en-US" sz="2000" dirty="0"/>
                            <a:t>72</a:t>
                          </a:r>
                        </a:p>
                      </a:txBody>
                      <a:tcPr/>
                    </a:tc>
                    <a:tc>
                      <a:txBody>
                        <a:bodyPr/>
                        <a:lstStyle/>
                        <a:p>
                          <a:pPr algn="ctr"/>
                          <a:r>
                            <a:rPr lang="en-US" sz="2000" dirty="0"/>
                            <a:t>70</a:t>
                          </a:r>
                        </a:p>
                      </a:txBody>
                      <a:tcPr/>
                    </a:tc>
                    <a:tc>
                      <a:txBody>
                        <a:bodyPr/>
                        <a:lstStyle/>
                        <a:p>
                          <a:pPr algn="ctr"/>
                          <a:r>
                            <a:rPr lang="en-US" sz="2000" dirty="0"/>
                            <a:t>16</a:t>
                          </a:r>
                        </a:p>
                      </a:txBody>
                      <a:tcPr/>
                    </a:tc>
                    <a:tc>
                      <a:txBody>
                        <a:bodyPr/>
                        <a:lstStyle/>
                        <a:p>
                          <a:pPr algn="ctr"/>
                          <a:r>
                            <a:rPr lang="en-US" sz="2000" dirty="0"/>
                            <a:t>5.4756</a:t>
                          </a:r>
                        </a:p>
                      </a:txBody>
                      <a:tcPr/>
                    </a:tc>
                    <a:extLst>
                      <a:ext uri="{0D108BD9-81ED-4DB2-BD59-A6C34878D82A}">
                        <a16:rowId xmlns:a16="http://schemas.microsoft.com/office/drawing/2014/main" val="456029423"/>
                      </a:ext>
                    </a:extLst>
                  </a:tr>
                  <a:tr h="396240">
                    <a:tc>
                      <a:txBody>
                        <a:bodyPr/>
                        <a:lstStyle/>
                        <a:p>
                          <a:pPr algn="ctr"/>
                          <a:endParaRPr lang="en-US" sz="2000" dirty="0"/>
                        </a:p>
                      </a:txBody>
                      <a:tcPr/>
                    </a:tc>
                    <a:tc>
                      <a:txBody>
                        <a:bodyPr/>
                        <a:lstStyle/>
                        <a:p>
                          <a:pPr algn="ctr"/>
                          <a:r>
                            <a:rPr lang="en-US" sz="2000" dirty="0"/>
                            <a:t>71</a:t>
                          </a:r>
                        </a:p>
                      </a:txBody>
                      <a:tcPr/>
                    </a:tc>
                    <a:tc>
                      <a:txBody>
                        <a:bodyPr/>
                        <a:lstStyle/>
                        <a:p>
                          <a:pPr algn="ctr"/>
                          <a:endParaRPr lang="en-US" sz="2000" dirty="0"/>
                        </a:p>
                      </a:txBody>
                      <a:tcPr/>
                    </a:tc>
                    <a:tc>
                      <a:txBody>
                        <a:bodyPr/>
                        <a:lstStyle/>
                        <a:p>
                          <a:pPr algn="ctr"/>
                          <a:r>
                            <a:rPr lang="en-US" sz="2000" dirty="0"/>
                            <a:t>11.1556</a:t>
                          </a:r>
                        </a:p>
                      </a:txBody>
                      <a:tcPr/>
                    </a:tc>
                    <a:extLst>
                      <a:ext uri="{0D108BD9-81ED-4DB2-BD59-A6C34878D82A}">
                        <a16:rowId xmlns:a16="http://schemas.microsoft.com/office/drawing/2014/main" val="2095653627"/>
                      </a:ext>
                    </a:extLst>
                  </a:tr>
                  <a:tr h="396240">
                    <a:tc>
                      <a:txBody>
                        <a:bodyPr/>
                        <a:lstStyle/>
                        <a:p>
                          <a:pPr algn="ctr"/>
                          <a:endParaRPr lang="en-US" sz="2000" dirty="0"/>
                        </a:p>
                      </a:txBody>
                      <a:tcPr/>
                    </a:tc>
                    <a:tc>
                      <a:txBody>
                        <a:bodyPr/>
                        <a:lstStyle/>
                        <a:p>
                          <a:pPr algn="ctr"/>
                          <a:r>
                            <a:rPr lang="en-US" sz="2000" dirty="0"/>
                            <a:t>72</a:t>
                          </a:r>
                        </a:p>
                      </a:txBody>
                      <a:tcPr/>
                    </a:tc>
                    <a:tc>
                      <a:txBody>
                        <a:bodyPr/>
                        <a:lstStyle/>
                        <a:p>
                          <a:pPr algn="ctr"/>
                          <a:endParaRPr lang="en-US" sz="2000" dirty="0"/>
                        </a:p>
                      </a:txBody>
                      <a:tcPr/>
                    </a:tc>
                    <a:tc>
                      <a:txBody>
                        <a:bodyPr/>
                        <a:lstStyle/>
                        <a:p>
                          <a:pPr algn="ctr"/>
                          <a:r>
                            <a:rPr lang="en-US" sz="2000" dirty="0"/>
                            <a:t>18.8356</a:t>
                          </a:r>
                        </a:p>
                      </a:txBody>
                      <a:tcPr/>
                    </a:tc>
                    <a:extLst>
                      <a:ext uri="{0D108BD9-81ED-4DB2-BD59-A6C34878D82A}">
                        <a16:rowId xmlns:a16="http://schemas.microsoft.com/office/drawing/2014/main" val="556308888"/>
                      </a:ext>
                    </a:extLst>
                  </a:tr>
                  <a:tr h="396240">
                    <a:tc>
                      <a:txBody>
                        <a:bodyPr/>
                        <a:lstStyle/>
                        <a:p>
                          <a:pPr algn="ctr"/>
                          <a:endParaRPr lang="en-US" sz="2000" dirty="0"/>
                        </a:p>
                      </a:txBody>
                      <a:tcPr/>
                    </a:tc>
                    <a:tc>
                      <a:txBody>
                        <a:bodyPr/>
                        <a:lstStyle/>
                        <a:p>
                          <a:pPr algn="ctr"/>
                          <a:r>
                            <a:rPr lang="en-US" sz="2000" dirty="0"/>
                            <a:t>73</a:t>
                          </a:r>
                        </a:p>
                      </a:txBody>
                      <a:tcPr/>
                    </a:tc>
                    <a:tc>
                      <a:txBody>
                        <a:bodyPr/>
                        <a:lstStyle/>
                        <a:p>
                          <a:pPr algn="ctr"/>
                          <a:endParaRPr lang="en-US" sz="2000" dirty="0"/>
                        </a:p>
                      </a:txBody>
                      <a:tcPr/>
                    </a:tc>
                    <a:tc>
                      <a:txBody>
                        <a:bodyPr/>
                        <a:lstStyle/>
                        <a:p>
                          <a:pPr algn="ctr"/>
                          <a:r>
                            <a:rPr lang="en-US" sz="2000" dirty="0"/>
                            <a:t>28.5156</a:t>
                          </a:r>
                        </a:p>
                      </a:txBody>
                      <a:tcPr/>
                    </a:tc>
                    <a:extLst>
                      <a:ext uri="{0D108BD9-81ED-4DB2-BD59-A6C34878D82A}">
                        <a16:rowId xmlns:a16="http://schemas.microsoft.com/office/drawing/2014/main" val="2390773474"/>
                      </a:ext>
                    </a:extLst>
                  </a:tr>
                  <a:tr h="396240">
                    <a:tc>
                      <a:txBody>
                        <a:bodyPr/>
                        <a:lstStyle/>
                        <a:p>
                          <a:pPr algn="ctr"/>
                          <a:r>
                            <a:rPr lang="en-US" sz="2000" dirty="0"/>
                            <a:t>Total=408</a:t>
                          </a:r>
                        </a:p>
                      </a:txBody>
                      <a:tcPr/>
                    </a:tc>
                    <a:tc>
                      <a:txBody>
                        <a:bodyPr/>
                        <a:lstStyle/>
                        <a:p>
                          <a:pPr algn="ctr"/>
                          <a:r>
                            <a:rPr lang="en-US" sz="2000" dirty="0"/>
                            <a:t>609</a:t>
                          </a:r>
                        </a:p>
                      </a:txBody>
                      <a:tcPr/>
                    </a:tc>
                    <a:tc>
                      <a:txBody>
                        <a:bodyPr/>
                        <a:lstStyle/>
                        <a:p>
                          <a:pPr algn="ctr"/>
                          <a:r>
                            <a:rPr lang="en-US" sz="2000" dirty="0"/>
                            <a:t>60</a:t>
                          </a:r>
                        </a:p>
                      </a:txBody>
                      <a:tcPr/>
                    </a:tc>
                    <a:tc>
                      <a:txBody>
                        <a:bodyPr/>
                        <a:lstStyle/>
                        <a:p>
                          <a:pPr algn="ctr"/>
                          <a:r>
                            <a:rPr lang="en-US" sz="2000" dirty="0"/>
                            <a:t>152.0004</a:t>
                          </a:r>
                        </a:p>
                      </a:txBody>
                      <a:tcPr/>
                    </a:tc>
                    <a:extLst>
                      <a:ext uri="{0D108BD9-81ED-4DB2-BD59-A6C34878D82A}">
                        <a16:rowId xmlns:a16="http://schemas.microsoft.com/office/drawing/2014/main" val="1659567334"/>
                      </a:ext>
                    </a:extLst>
                  </a:tr>
                </a:tbl>
              </a:graphicData>
            </a:graphic>
          </p:graphicFrame>
        </mc:Fallback>
      </mc:AlternateContent>
    </p:spTree>
    <p:extLst>
      <p:ext uri="{BB962C8B-B14F-4D97-AF65-F5344CB8AC3E}">
        <p14:creationId xmlns:p14="http://schemas.microsoft.com/office/powerpoint/2010/main" val="2478638799"/>
      </p:ext>
    </p:extLst>
  </p:cSld>
  <p:clrMapOvr>
    <a:masterClrMapping/>
  </p:clrMapOvr>
  <p:transition spd="slow">
    <p:push dir="u"/>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66800" y="1166018"/>
                <a:ext cx="7391400" cy="4701382"/>
              </a:xfrm>
            </p:spPr>
            <p:txBody>
              <a:bodyPr>
                <a:noAutofit/>
              </a:bodyPr>
              <a:lstStyle/>
              <a:p>
                <a:pPr marL="0" indent="0" algn="just">
                  <a:buNone/>
                </a:pPr>
                <a14:m>
                  <m:oMath xmlns:m="http://schemas.openxmlformats.org/officeDocument/2006/math">
                    <m:sSubSup>
                      <m:sSubSupPr>
                        <m:ctrlPr>
                          <a:rPr lang="en-US" i="1" smtClean="0">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1</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i="1">
                                        <a:latin typeface="Cambria Math" panose="02040503050406030204" pitchFamily="18" charset="0"/>
                                      </a:rPr>
                                      <m:t>1)</m:t>
                                    </m:r>
                                  </m:sub>
                                </m:sSub>
                              </m:e>
                              <m:sup>
                                <m:r>
                                  <a:rPr lang="en-US" i="1">
                                    <a:latin typeface="Cambria Math" panose="02040503050406030204" pitchFamily="18" charset="0"/>
                                  </a:rPr>
                                  <m:t>2</m:t>
                                </m:r>
                              </m:sup>
                            </m:sSup>
                          </m:e>
                        </m:nary>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−1</m:t>
                        </m:r>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60</m:t>
                        </m:r>
                      </m:num>
                      <m:den>
                        <m:r>
                          <a:rPr lang="en-US" b="0" i="1" smtClean="0">
                            <a:latin typeface="Cambria Math" panose="02040503050406030204" pitchFamily="18" charset="0"/>
                          </a:rPr>
                          <m:t>5</m:t>
                        </m:r>
                      </m:den>
                    </m:f>
                    <m:r>
                      <a:rPr lang="en-US" b="0" i="1" smtClean="0">
                        <a:latin typeface="Cambria Math" panose="02040503050406030204" pitchFamily="18" charset="0"/>
                      </a:rPr>
                      <m:t>=12</m:t>
                    </m:r>
                  </m:oMath>
                </a14:m>
                <a:r>
                  <a:rPr lang="en-US" dirty="0">
                    <a:latin typeface="+mn-lt"/>
                  </a:rPr>
                  <a:t> and</a:t>
                </a:r>
              </a:p>
              <a:p>
                <a:pPr marL="0" indent="0" algn="just">
                  <a:buNone/>
                </a:pPr>
                <a:r>
                  <a:rPr lang="en-US" dirty="0">
                    <a:latin typeface="+mn-lt"/>
                  </a:rPr>
                  <a:t>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m:t>
                    </m:r>
                    <m:f>
                      <m:fPr>
                        <m:ctrlPr>
                          <a:rPr lang="en-US" i="1">
                            <a:latin typeface="Cambria Math" panose="02040503050406030204" pitchFamily="18" charset="0"/>
                          </a:rPr>
                        </m:ctrlPr>
                      </m:fPr>
                      <m:num>
                        <m:nary>
                          <m:naryPr>
                            <m:chr m:val="∑"/>
                            <m:limLoc m:val="undOvr"/>
                            <m:subHide m:val="on"/>
                            <m:supHide m:val="on"/>
                            <m:ctrlPr>
                              <a:rPr lang="en-US" i="1">
                                <a:latin typeface="Cambria Math" panose="02040503050406030204" pitchFamily="18" charset="0"/>
                              </a:rPr>
                            </m:ctrlPr>
                          </m:naryPr>
                          <m:sub/>
                          <m:sup/>
                          <m:e>
                            <m:sSup>
                              <m:sSupPr>
                                <m:ctrlPr>
                                  <a:rPr lang="en-US" i="1">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2</m:t>
                                    </m:r>
                                  </m:sub>
                                </m:sSub>
                                <m:r>
                                  <a:rPr lang="en-US" i="1">
                                    <a:latin typeface="Cambria Math" panose="02040503050406030204" pitchFamily="18"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𝑥</m:t>
                                        </m:r>
                                      </m:e>
                                    </m:acc>
                                  </m:e>
                                  <m:sub>
                                    <m:r>
                                      <a:rPr lang="en-US" i="1">
                                        <a:latin typeface="Cambria Math" panose="02040503050406030204" pitchFamily="18" charset="0"/>
                                      </a:rPr>
                                      <m:t>2</m:t>
                                    </m:r>
                                  </m:sub>
                                </m:sSub>
                                <m:r>
                                  <a:rPr lang="en-US" i="1">
                                    <a:latin typeface="Cambria Math" panose="02040503050406030204" pitchFamily="18" charset="0"/>
                                  </a:rPr>
                                  <m:t>)</m:t>
                                </m:r>
                              </m:e>
                              <m:sup>
                                <m:r>
                                  <a:rPr lang="en-US" i="1">
                                    <a:latin typeface="Cambria Math" panose="02040503050406030204" pitchFamily="18" charset="0"/>
                                  </a:rPr>
                                  <m:t>2</m:t>
                                </m:r>
                              </m:sup>
                            </m:sSup>
                          </m:e>
                        </m:nary>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2</m:t>
                            </m:r>
                          </m:sub>
                        </m:sSub>
                        <m:r>
                          <a:rPr lang="en-US" i="1">
                            <a:latin typeface="Cambria Math" panose="02040503050406030204" pitchFamily="18" charset="0"/>
                          </a:rPr>
                          <m:t>−1</m:t>
                        </m:r>
                      </m:den>
                    </m:f>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152.0004</m:t>
                        </m:r>
                      </m:num>
                      <m:den>
                        <m:r>
                          <a:rPr lang="en-US" b="0" i="1" smtClean="0">
                            <a:latin typeface="Cambria Math" panose="02040503050406030204" pitchFamily="18" charset="0"/>
                          </a:rPr>
                          <m:t>8</m:t>
                        </m:r>
                      </m:den>
                    </m:f>
                    <m:r>
                      <a:rPr lang="en-US" b="0" i="1" smtClean="0">
                        <a:latin typeface="Cambria Math" panose="02040503050406030204" pitchFamily="18" charset="0"/>
                      </a:rPr>
                      <m:t>=19.00005</m:t>
                    </m:r>
                  </m:oMath>
                </a14:m>
                <a:endParaRPr lang="en-US" dirty="0">
                  <a:latin typeface="+mn-lt"/>
                </a:endParaRPr>
              </a:p>
              <a:p>
                <a:pPr marL="0" indent="0">
                  <a:buNone/>
                </a:pPr>
                <a:r>
                  <a:rPr lang="en-US" dirty="0">
                    <a:latin typeface="+mn-lt"/>
                  </a:rPr>
                  <a:t>Test Statistic </a:t>
                </a:r>
                <a14:m>
                  <m:oMath xmlns:m="http://schemas.openxmlformats.org/officeDocument/2006/math">
                    <m:r>
                      <m:rPr>
                        <m:sty m:val="p"/>
                      </m:rPr>
                      <a:rPr lang="en-US" b="0" i="0" smtClean="0">
                        <a:latin typeface="Cambria Math" panose="02040503050406030204" pitchFamily="18" charset="0"/>
                      </a:rPr>
                      <m:t>F</m:t>
                    </m:r>
                    <m:r>
                      <a:rPr lang="en-US" b="0" i="0" smtClean="0">
                        <a:latin typeface="Cambria Math" panose="02040503050406030204" pitchFamily="18" charset="0"/>
                      </a:rPr>
                      <m:t> </m:t>
                    </m:r>
                    <m:r>
                      <m:rPr>
                        <m:sty m:val="p"/>
                      </m:rPr>
                      <a:rPr lang="en-US" b="0" i="0" smtClean="0">
                        <a:latin typeface="Cambria Math" panose="02040503050406030204" pitchFamily="18" charset="0"/>
                      </a:rPr>
                      <m:t>test</m:t>
                    </m:r>
                    <m:r>
                      <a:rPr lang="en-US" i="1">
                        <a:latin typeface="Cambria Math" panose="02040503050406030204" pitchFamily="18" charset="0"/>
                      </a:rPr>
                      <m:t>=</m:t>
                    </m:r>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2</m:t>
                            </m:r>
                          </m:sub>
                          <m:sup>
                            <m:r>
                              <a:rPr lang="en-US" i="1">
                                <a:latin typeface="Cambria Math" panose="02040503050406030204" pitchFamily="18" charset="0"/>
                              </a:rPr>
                              <m:t>2</m:t>
                            </m:r>
                          </m:sup>
                        </m:sSubSup>
                      </m:num>
                      <m:den>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1</m:t>
                            </m:r>
                          </m:sub>
                          <m:sup>
                            <m:r>
                              <a:rPr lang="en-US" i="1">
                                <a:latin typeface="Cambria Math" panose="02040503050406030204" pitchFamily="18" charset="0"/>
                              </a:rPr>
                              <m:t>2</m:t>
                            </m:r>
                          </m:sup>
                        </m:sSubSup>
                      </m:den>
                    </m:f>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19.00005</m:t>
                        </m:r>
                      </m:num>
                      <m:den>
                        <m:r>
                          <a:rPr lang="en-US" b="0" i="1" smtClean="0">
                            <a:latin typeface="Cambria Math" panose="02040503050406030204" pitchFamily="18" charset="0"/>
                          </a:rPr>
                          <m:t>12</m:t>
                        </m:r>
                      </m:den>
                    </m:f>
                    <m:r>
                      <a:rPr lang="en-US" b="0" i="1" smtClean="0">
                        <a:latin typeface="Cambria Math" panose="02040503050406030204" pitchFamily="18" charset="0"/>
                      </a:rPr>
                      <m:t>=1.583375</m:t>
                    </m:r>
                  </m:oMath>
                </a14:m>
                <a:endParaRPr lang="en-US" b="0" i="1" dirty="0">
                  <a:latin typeface="+mn-lt"/>
                </a:endParaRPr>
              </a:p>
              <a:p>
                <a:pPr marL="0" indent="0">
                  <a:buNone/>
                </a:pPr>
                <a14:m>
                  <m:oMath xmlns:m="http://schemas.openxmlformats.org/officeDocument/2006/math">
                    <m:r>
                      <a:rPr lang="en-US" i="1">
                        <a:latin typeface="Cambria Math" panose="02040503050406030204" pitchFamily="18" charset="0"/>
                      </a:rPr>
                      <m:t>𝑖𝑓</m:t>
                    </m:r>
                    <m:r>
                      <a:rPr lang="en-US" i="1">
                        <a:latin typeface="Cambria Math" panose="02040503050406030204" pitchFamily="18" charset="0"/>
                      </a:rPr>
                      <m:t> </m:t>
                    </m:r>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2</m:t>
                        </m:r>
                      </m:sub>
                      <m:sup>
                        <m:r>
                          <a:rPr lang="en-US" i="1">
                            <a:latin typeface="Cambria Math" panose="02040503050406030204" pitchFamily="18" charset="0"/>
                          </a:rPr>
                          <m:t>2</m:t>
                        </m:r>
                      </m:sup>
                    </m:sSubSup>
                    <m:r>
                      <a:rPr lang="en-US" i="1">
                        <a:latin typeface="Cambria Math" panose="02040503050406030204" pitchFamily="18" charset="0"/>
                      </a:rPr>
                      <m:t>&gt;</m:t>
                    </m:r>
                    <m:sSubSup>
                      <m:sSubSupPr>
                        <m:ctrlPr>
                          <a:rPr lang="en-US" i="1">
                            <a:latin typeface="Cambria Math" panose="02040503050406030204" pitchFamily="18" charset="0"/>
                          </a:rPr>
                        </m:ctrlPr>
                      </m:sSubSupPr>
                      <m:e>
                        <m:r>
                          <a:rPr lang="en-US" i="1">
                            <a:latin typeface="Cambria Math" panose="02040503050406030204" pitchFamily="18" charset="0"/>
                          </a:rPr>
                          <m:t>𝑠</m:t>
                        </m:r>
                      </m:e>
                      <m:sub>
                        <m:r>
                          <a:rPr lang="en-US" i="1">
                            <a:latin typeface="Cambria Math" panose="02040503050406030204" pitchFamily="18" charset="0"/>
                          </a:rPr>
                          <m:t>1</m:t>
                        </m:r>
                      </m:sub>
                      <m:sup>
                        <m:r>
                          <a:rPr lang="en-US" i="1">
                            <a:latin typeface="Cambria Math" panose="02040503050406030204" pitchFamily="18" charset="0"/>
                          </a:rPr>
                          <m:t>2</m:t>
                        </m:r>
                      </m:sup>
                    </m:sSubSup>
                  </m:oMath>
                </a14:m>
                <a:r>
                  <a:rPr lang="en-US" dirty="0">
                    <a:latin typeface="+mn-lt"/>
                  </a:rPr>
                  <a:t> with degree of freedom is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𝜈</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2</m:t>
                        </m:r>
                      </m:sub>
                    </m:sSub>
                    <m:r>
                      <a:rPr lang="en-US" i="1">
                        <a:latin typeface="Cambria Math" panose="02040503050406030204" pitchFamily="18" charset="0"/>
                      </a:rPr>
                      <m:t>−1</m:t>
                    </m:r>
                    <m:r>
                      <a:rPr lang="en-US" b="0" i="1" smtClean="0">
                        <a:latin typeface="Cambria Math" panose="02040503050406030204" pitchFamily="18" charset="0"/>
                      </a:rPr>
                      <m:t>=9−1=8</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𝜈</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1</m:t>
                        </m:r>
                      </m:sub>
                    </m:sSub>
                    <m:r>
                      <a:rPr lang="en-US" i="1">
                        <a:latin typeface="Cambria Math" panose="02040503050406030204" pitchFamily="18" charset="0"/>
                      </a:rPr>
                      <m:t>−1</m:t>
                    </m:r>
                    <m:r>
                      <a:rPr lang="en-US" b="0" i="1" smtClean="0">
                        <a:latin typeface="Cambria Math" panose="02040503050406030204" pitchFamily="18" charset="0"/>
                      </a:rPr>
                      <m:t>=6−1=5</m:t>
                    </m:r>
                  </m:oMath>
                </a14:m>
                <a:r>
                  <a:rPr lang="en-US" dirty="0">
                    <a:latin typeface="+mn-lt"/>
                  </a:rPr>
                  <a:t>. </a:t>
                </a:r>
              </a:p>
              <a:p>
                <a:pPr marL="0" indent="0">
                  <a:buNone/>
                </a:pPr>
                <a:r>
                  <a:rPr lang="en-US" dirty="0">
                    <a:latin typeface="+mn-lt"/>
                  </a:rPr>
                  <a:t>Table value: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𝐹</m:t>
                        </m:r>
                      </m:e>
                      <m:sub>
                        <m:d>
                          <m:dPr>
                            <m:ctrlPr>
                              <a:rPr lang="en-US" i="1">
                                <a:latin typeface="Cambria Math" panose="02040503050406030204" pitchFamily="18" charset="0"/>
                              </a:rPr>
                            </m:ctrlPr>
                          </m:dPr>
                          <m:e>
                            <m:r>
                              <a:rPr lang="en-US" b="0" i="1" smtClean="0">
                                <a:latin typeface="Cambria Math" panose="02040503050406030204" pitchFamily="18" charset="0"/>
                              </a:rPr>
                              <m:t>8,5</m:t>
                            </m:r>
                          </m:e>
                        </m:d>
                      </m:sub>
                    </m:sSub>
                    <m:r>
                      <a:rPr lang="en-US" i="1">
                        <a:latin typeface="Cambria Math" panose="02040503050406030204" pitchFamily="18" charset="0"/>
                      </a:rPr>
                      <m:t>(0.05)=</m:t>
                    </m:r>
                    <m:r>
                      <a:rPr lang="en-US" b="0" i="1" smtClean="0">
                        <a:latin typeface="Cambria Math" panose="02040503050406030204" pitchFamily="18" charset="0"/>
                      </a:rPr>
                      <m:t>4.82</m:t>
                    </m:r>
                  </m:oMath>
                </a14:m>
                <a:endParaRPr lang="en-US" dirty="0">
                  <a:latin typeface="+mn-lt"/>
                </a:endParaRPr>
              </a:p>
              <a:p>
                <a:pPr marL="0" indent="0">
                  <a:buNone/>
                </a:pPr>
                <a:r>
                  <a:rPr lang="en-US" dirty="0">
                    <a:latin typeface="+mn-lt"/>
                  </a:rPr>
                  <a:t>Conclusion : </a:t>
                </a: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𝐹</m:t>
                            </m:r>
                          </m:e>
                        </m:d>
                      </m:e>
                      <m:sub>
                        <m:r>
                          <a:rPr lang="en-US" i="1">
                            <a:latin typeface="Cambria Math" panose="02040503050406030204" pitchFamily="18" charset="0"/>
                          </a:rPr>
                          <m:t>𝑐𝑎𝑙</m:t>
                        </m:r>
                      </m:sub>
                    </m:sSub>
                    <m:r>
                      <a:rPr lang="en-US" i="1">
                        <a:latin typeface="Cambria Math" panose="02040503050406030204" pitchFamily="18" charset="0"/>
                      </a:rPr>
                      <m:t>&lt;</m:t>
                    </m:r>
                  </m:oMath>
                </a14:m>
                <a:r>
                  <a:rPr lang="en-US" dirty="0">
                    <a:latin typeface="+mn-lt"/>
                  </a:rPr>
                  <a:t> table value</a:t>
                </a:r>
              </a:p>
              <a:p>
                <a:pPr marL="0" indent="0">
                  <a:buNone/>
                </a:pPr>
                <a:r>
                  <a:rPr lang="en-US" dirty="0">
                    <a:latin typeface="+mn-lt"/>
                  </a:rPr>
                  <a:t>So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latin typeface="+mn-lt"/>
                  </a:rPr>
                  <a:t> is accepted.</a:t>
                </a:r>
              </a:p>
              <a:p>
                <a:pPr marL="0" indent="0">
                  <a:buNone/>
                </a:pPr>
                <a:r>
                  <a:rPr lang="en-US" dirty="0">
                    <a:latin typeface="+mn-lt"/>
                  </a:rPr>
                  <a:t>i.e. Therefore population variances are equal.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66800" y="1166018"/>
                <a:ext cx="7391400" cy="4701382"/>
              </a:xfrm>
              <a:blipFill>
                <a:blip r:embed="rId2"/>
                <a:stretch>
                  <a:fillRect l="-1072" b="-51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9" name="Title 1"/>
          <p:cNvSpPr txBox="1">
            <a:spLocks/>
          </p:cNvSpPr>
          <p:nvPr/>
        </p:nvSpPr>
        <p:spPr>
          <a:xfrm>
            <a:off x="1905000" y="0"/>
            <a:ext cx="7239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F-Test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541157318"/>
      </p:ext>
    </p:extLst>
  </p:cSld>
  <p:clrMapOvr>
    <a:masterClrMapping/>
  </p:clrMapOvr>
  <p:transition spd="slow">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000" b="1" dirty="0">
                    <a:latin typeface="+mn-lt"/>
                  </a:rPr>
                  <a:t>Q1: </a:t>
                </a:r>
                <a:r>
                  <a:rPr lang="en-US" sz="2000" dirty="0">
                    <a:latin typeface="+mn-lt"/>
                  </a:rPr>
                  <a:t>The random samples were drawn from two normal populations and the following results were obtained</a:t>
                </a:r>
              </a:p>
              <a:p>
                <a:pPr marL="0" indent="0">
                  <a:buNone/>
                </a:pPr>
                <a:r>
                  <a:rPr lang="en-IN" sz="2000" dirty="0">
                    <a:latin typeface="+mn-lt"/>
                  </a:rPr>
                  <a:t>Sample 1: 16,17,18,19,20,21,22,24,26,27</a:t>
                </a:r>
              </a:p>
              <a:p>
                <a:pPr marL="0" indent="0">
                  <a:buNone/>
                </a:pPr>
                <a:r>
                  <a:rPr lang="en-IN" sz="2000" dirty="0">
                    <a:latin typeface="+mn-lt"/>
                  </a:rPr>
                  <a:t>Sample 2: 19,22,23,25,26,28,29,30,31,32,35,36</a:t>
                </a:r>
                <a:r>
                  <a:rPr lang="en-US" sz="2000" dirty="0">
                    <a:latin typeface="+mn-lt"/>
                  </a:rPr>
                  <a:t>	</a:t>
                </a:r>
              </a:p>
              <a:p>
                <a:pPr marL="0" indent="0">
                  <a:buNone/>
                </a:pPr>
                <a:r>
                  <a:rPr lang="en-US" sz="2000" dirty="0">
                    <a:latin typeface="+mn-lt"/>
                  </a:rPr>
                  <a:t>Obtain estimates of the variances of populations and test whether the two populations have the same variances. </a:t>
                </a:r>
              </a:p>
              <a:p>
                <a:pPr marL="0" indent="0">
                  <a:buNone/>
                </a:pPr>
                <a:r>
                  <a:rPr lang="en-US" sz="2000" dirty="0">
                    <a:latin typeface="+mn-lt"/>
                  </a:rPr>
                  <a:t>(Take  </a:t>
                </a:r>
                <a14:m>
                  <m:oMath xmlns:m="http://schemas.openxmlformats.org/officeDocument/2006/math">
                    <m:r>
                      <m:rPr>
                        <m:sty m:val="p"/>
                      </m:rPr>
                      <a:rPr lang="el-GR" sz="2000" i="1" smtClean="0">
                        <a:latin typeface="Cambria Math" panose="02040503050406030204" pitchFamily="18" charset="0"/>
                        <a:ea typeface="Cambria Math" panose="02040503050406030204" pitchFamily="18" charset="0"/>
                      </a:rPr>
                      <m:t>α</m:t>
                    </m:r>
                    <m:r>
                      <a:rPr lang="en-US" sz="2000" i="1">
                        <a:latin typeface="Cambria Math" panose="02040503050406030204" pitchFamily="18" charset="0"/>
                      </a:rPr>
                      <m:t>=0.05</m:t>
                    </m:r>
                  </m:oMath>
                </a14:m>
                <a:r>
                  <a:rPr lang="en-US" sz="2000" dirty="0">
                    <a:latin typeface="+mn-lt"/>
                  </a:rPr>
                  <a:t> )</a:t>
                </a:r>
              </a:p>
              <a:p>
                <a:pPr marL="0" indent="0">
                  <a:buNone/>
                </a:pPr>
                <a:r>
                  <a:rPr lang="en-US" sz="2000" b="1" dirty="0">
                    <a:latin typeface="+mn-lt"/>
                  </a:rPr>
                  <a:t>Ans: </a:t>
                </a:r>
              </a:p>
              <a:p>
                <a:pPr marL="0" indent="0">
                  <a:buNone/>
                </a:pPr>
                <a:r>
                  <a:rPr lang="en-US" sz="2000" b="1" dirty="0">
                    <a:latin typeface="+mn-lt"/>
                  </a:rPr>
                  <a:t>Q2: </a:t>
                </a:r>
                <a:r>
                  <a:rPr lang="en-US" sz="2000" dirty="0">
                    <a:latin typeface="+mn-lt"/>
                  </a:rPr>
                  <a:t>A toy manufacturer wants to get batteries for toys. A team collected 41 samples from supplier A and the variance was 110 hours. The team also collected 21 samples from supplier B with a variance of 65 hours. At a 0.05 alpha level determine if there is a difference in the variances.</a:t>
                </a:r>
              </a:p>
              <a:p>
                <a:pPr marL="0" indent="0">
                  <a:buNone/>
                </a:pPr>
                <a:r>
                  <a:rPr lang="en-US" sz="2000" b="1" dirty="0">
                    <a:latin typeface="+mn-lt"/>
                  </a:rPr>
                  <a:t>Ans: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oMath>
                </a14:m>
                <a:r>
                  <a:rPr lang="en-US" sz="2000" dirty="0">
                    <a:latin typeface="+mn-lt"/>
                  </a:rPr>
                  <a:t> is rejected.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b="-134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Daily Quiz(CO5)</a:t>
            </a:r>
          </a:p>
        </p:txBody>
      </p:sp>
      <p:sp>
        <p:nvSpPr>
          <p:cNvPr id="10" name="Content Placeholder 2">
            <a:extLst>
              <a:ext uri="{FF2B5EF4-FFF2-40B4-BE49-F238E27FC236}">
                <a16:creationId xmlns:a16="http://schemas.microsoft.com/office/drawing/2014/main" id="{7C105E3D-59F0-4D16-BCCC-756A3ACB5B46}"/>
              </a:ext>
            </a:extLst>
          </p:cNvPr>
          <p:cNvSpPr txBox="1">
            <a:spLocks/>
          </p:cNvSpPr>
          <p:nvPr/>
        </p:nvSpPr>
        <p:spPr>
          <a:xfrm>
            <a:off x="685800" y="1295400"/>
            <a:ext cx="8229600" cy="4525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2200" dirty="0"/>
          </a:p>
        </p:txBody>
      </p:sp>
    </p:spTree>
    <p:extLst>
      <p:ext uri="{BB962C8B-B14F-4D97-AF65-F5344CB8AC3E}">
        <p14:creationId xmlns:p14="http://schemas.microsoft.com/office/powerpoint/2010/main" val="8879445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nodePh="1">
                                  <p:stCondLst>
                                    <p:cond delay="0"/>
                                  </p:stCondLst>
                                  <p:endCondLst>
                                    <p:cond evt="begin" delay="0">
                                      <p:tn val="61"/>
                                    </p:cond>
                                  </p:endCondLst>
                                  <p:childTnLst>
                                    <p:set>
                                      <p:cBhvr>
                                        <p:cTn id="62" dur="1" fill="hold">
                                          <p:stCondLst>
                                            <p:cond delay="0"/>
                                          </p:stCondLst>
                                        </p:cTn>
                                        <p:tgtEl>
                                          <p:spTgt spid="10">
                                            <p:txEl>
                                              <p:pRg st="0" end="0"/>
                                            </p:txEl>
                                          </p:spTgt>
                                        </p:tgtEl>
                                        <p:attrNameLst>
                                          <p:attrName>style.visibility</p:attrName>
                                        </p:attrNameLst>
                                      </p:cBhvr>
                                      <p:to>
                                        <p:strVal val="visible"/>
                                      </p:to>
                                    </p:set>
                                    <p:animEffect transition="in" filter="fade">
                                      <p:cBhvr>
                                        <p:cTn id="63" dur="1000"/>
                                        <p:tgtEl>
                                          <p:spTgt spid="10">
                                            <p:txEl>
                                              <p:pRg st="0" end="0"/>
                                            </p:txEl>
                                          </p:spTgt>
                                        </p:tgtEl>
                                      </p:cBhvr>
                                    </p:animEffect>
                                    <p:anim calcmode="lin" valueType="num">
                                      <p:cBhvr>
                                        <p:cTn id="64"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Chi Square Test(</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r>
                  <a:rPr lang="en-US" sz="2200" b="1" dirty="0"/>
                  <a:t>)</a:t>
                </a:r>
                <a:endParaRPr lang="en-US" sz="2200" dirty="0"/>
              </a:p>
              <a:p>
                <a:r>
                  <a:rPr lang="en-US" sz="2200" dirty="0"/>
                  <a:t>Distinguish between nonparametric and parametric tests.</a:t>
                </a:r>
              </a:p>
              <a:p>
                <a:r>
                  <a:rPr lang="en-US" sz="2200" dirty="0"/>
                  <a:t>Explanation how the test statistic is computed for a chi-square test.</a:t>
                </a:r>
              </a:p>
              <a:p>
                <a:r>
                  <a:rPr lang="en-US" sz="2200" dirty="0"/>
                  <a:t>Compute the chi-square goodness-of-fit test and interpret the results.</a:t>
                </a:r>
              </a:p>
              <a:p>
                <a:r>
                  <a:rPr lang="en-US" sz="2200" dirty="0"/>
                  <a:t>Identify the assumption and the restriction of expected frequency size for the chi-square test.</a:t>
                </a:r>
              </a:p>
              <a:p>
                <a:r>
                  <a:rPr lang="en-US" sz="2200" dirty="0"/>
                  <a:t>Compute the chi-square test for independence and interpret the results.</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539" r="-37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t>Topic Objective </a:t>
            </a:r>
            <a:r>
              <a:rPr lang="en-US" sz="2400" b="1" noProof="0" dirty="0"/>
              <a:t>(CO5</a:t>
            </a:r>
            <a:r>
              <a:rPr lang="en-US" sz="2400" b="1" dirty="0"/>
              <a:t>)</a:t>
            </a:r>
          </a:p>
        </p:txBody>
      </p:sp>
    </p:spTree>
    <p:extLst>
      <p:ext uri="{BB962C8B-B14F-4D97-AF65-F5344CB8AC3E}">
        <p14:creationId xmlns:p14="http://schemas.microsoft.com/office/powerpoint/2010/main" val="40392728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Chi Square Test(</a:t>
                </a:r>
                <a14:m>
                  <m:oMath xmlns:m="http://schemas.openxmlformats.org/officeDocument/2006/math">
                    <m:sSup>
                      <m:sSupPr>
                        <m:ctrlPr>
                          <a:rPr lang="en-US" sz="2200" i="1">
                            <a:latin typeface="Cambria Math" panose="02040503050406030204" pitchFamily="18" charset="0"/>
                          </a:rPr>
                        </m:ctrlPr>
                      </m:sSupPr>
                      <m:e>
                        <m:r>
                          <a:rPr lang="en-US" sz="2200" i="1">
                            <a:latin typeface="Cambria Math"/>
                            <a:ea typeface="Cambria Math"/>
                          </a:rPr>
                          <m:t>𝜒</m:t>
                        </m:r>
                      </m:e>
                      <m:sup>
                        <m:r>
                          <a:rPr lang="en-US" sz="2200" i="1">
                            <a:latin typeface="Cambria Math"/>
                          </a:rPr>
                          <m:t>2</m:t>
                        </m:r>
                      </m:sup>
                    </m:sSup>
                  </m:oMath>
                </a14:m>
                <a:r>
                  <a:rPr lang="en-US" sz="2200" dirty="0"/>
                  <a:t>)</a:t>
                </a:r>
              </a:p>
              <a:p>
                <a:pPr marL="514350" indent="-514350">
                  <a:buFont typeface="+mj-lt"/>
                  <a:buAutoNum type="arabicPeriod"/>
                </a:pPr>
                <a:r>
                  <a:rPr lang="en-US" sz="2200" dirty="0"/>
                  <a:t>Chi-square test of goodness of Fit.</a:t>
                </a:r>
              </a:p>
              <a:p>
                <a:pPr marL="514350" indent="-514350">
                  <a:buFont typeface="+mj-lt"/>
                  <a:buAutoNum type="arabicPeriod"/>
                </a:pPr>
                <a:r>
                  <a:rPr lang="en-US" sz="2200" dirty="0"/>
                  <a:t>Chi-square test of independence of Attributes.</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mc:AlternateContent xmlns:mc="http://schemas.openxmlformats.org/markup-compatibility/2006" xmlns:a14="http://schemas.microsoft.com/office/drawing/2010/main">
        <mc:Choice Requires="a14">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7" name="Title 1"/>
              <p:cNvSpPr txBox="1">
                <a:spLocks noRot="1" noChangeAspect="1" noMove="1" noResize="1" noEditPoints="1" noAdjustHandles="1" noChangeArrowheads="1" noChangeShapeType="1" noTextEdit="1"/>
              </p:cNvSpPr>
              <p:nvPr/>
            </p:nvSpPr>
            <p:spPr>
              <a:xfrm>
                <a:off x="1752600" y="0"/>
                <a:ext cx="73914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051888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Chi Square Test(</a:t>
                </a:r>
                <a14:m>
                  <m:oMath xmlns:m="http://schemas.openxmlformats.org/officeDocument/2006/math">
                    <m:sSup>
                      <m:sSupPr>
                        <m:ctrlPr>
                          <a:rPr lang="en-US" sz="2200" i="1">
                            <a:latin typeface="Cambria Math" panose="02040503050406030204" pitchFamily="18" charset="0"/>
                          </a:rPr>
                        </m:ctrlPr>
                      </m:sSupPr>
                      <m:e>
                        <m:r>
                          <a:rPr lang="en-US" sz="2200" i="1">
                            <a:latin typeface="Cambria Math"/>
                            <a:ea typeface="Cambria Math"/>
                          </a:rPr>
                          <m:t>𝜒</m:t>
                        </m:r>
                      </m:e>
                      <m:sup>
                        <m:r>
                          <a:rPr lang="en-US" sz="2200" i="1">
                            <a:latin typeface="Cambria Math"/>
                          </a:rPr>
                          <m:t>2</m:t>
                        </m:r>
                      </m:sup>
                    </m:sSup>
                  </m:oMath>
                </a14:m>
                <a:r>
                  <a:rPr lang="en-US" sz="2200" dirty="0"/>
                  <a:t>)</a:t>
                </a:r>
              </a:p>
              <a:p>
                <a:pPr marL="457200" indent="-457200"/>
                <a:r>
                  <a:rPr lang="en-US" sz="2200" dirty="0"/>
                  <a:t>Chi Square test is the test of significance.</a:t>
                </a:r>
              </a:p>
              <a:p>
                <a:pPr marL="457200" indent="-457200"/>
                <a:r>
                  <a:rPr lang="en-US" sz="2200" dirty="0"/>
                  <a:t>Chi square test is a useful measures of comparing experimentally obtained result with those expected theoretically and based on hypothesis. </a:t>
                </a:r>
              </a:p>
              <a:p>
                <a:pPr marL="457200" indent="-457200"/>
                <a14:m>
                  <m:oMath xmlns:m="http://schemas.openxmlformats.org/officeDocument/2006/math">
                    <m:sSup>
                      <m:sSupPr>
                        <m:ctrlPr>
                          <a:rPr lang="en-US" sz="2200" i="1">
                            <a:latin typeface="Cambria Math" panose="02040503050406030204" pitchFamily="18" charset="0"/>
                          </a:rPr>
                        </m:ctrlPr>
                      </m:sSupPr>
                      <m:e>
                        <m:r>
                          <a:rPr lang="en-US" sz="2200" i="1">
                            <a:latin typeface="Cambria Math"/>
                            <a:ea typeface="Cambria Math"/>
                          </a:rPr>
                          <m:t>𝜒</m:t>
                        </m:r>
                      </m:e>
                      <m:sup>
                        <m:r>
                          <a:rPr lang="en-US" sz="2200" i="1">
                            <a:latin typeface="Cambria Math"/>
                          </a:rPr>
                          <m:t>2</m:t>
                        </m:r>
                      </m:sup>
                    </m:sSup>
                    <m:r>
                      <a:rPr lang="en-US" sz="2200" i="1">
                        <a:latin typeface="Cambria Math"/>
                        <a:ea typeface="Cambria Math"/>
                      </a:rPr>
                      <m:t>=</m:t>
                    </m:r>
                    <m:nary>
                      <m:naryPr>
                        <m:chr m:val="∑"/>
                        <m:subHide m:val="on"/>
                        <m:supHide m:val="on"/>
                        <m:ctrlPr>
                          <a:rPr lang="en-US" sz="2200" i="1">
                            <a:latin typeface="Cambria Math" panose="02040503050406030204" pitchFamily="18" charset="0"/>
                            <a:ea typeface="Cambria Math"/>
                          </a:rPr>
                        </m:ctrlPr>
                      </m:naryPr>
                      <m:sub/>
                      <m:sup/>
                      <m:e>
                        <m:f>
                          <m:fPr>
                            <m:ctrlPr>
                              <a:rPr lang="en-US" sz="2200" i="1">
                                <a:latin typeface="Cambria Math" panose="02040503050406030204" pitchFamily="18" charset="0"/>
                                <a:ea typeface="Cambria Math"/>
                              </a:rPr>
                            </m:ctrlPr>
                          </m:fPr>
                          <m:num>
                            <m:sSup>
                              <m:sSupPr>
                                <m:ctrlPr>
                                  <a:rPr lang="en-US" sz="2200" i="1">
                                    <a:latin typeface="Cambria Math" panose="02040503050406030204" pitchFamily="18" charset="0"/>
                                    <a:ea typeface="Cambria Math"/>
                                  </a:rPr>
                                </m:ctrlPr>
                              </m:sSupPr>
                              <m:e>
                                <m:d>
                                  <m:dPr>
                                    <m:ctrlPr>
                                      <a:rPr lang="en-US" sz="2200" i="1">
                                        <a:latin typeface="Cambria Math" panose="02040503050406030204" pitchFamily="18" charset="0"/>
                                        <a:ea typeface="Cambria Math"/>
                                      </a:rPr>
                                    </m:ctrlPr>
                                  </m:dPr>
                                  <m:e>
                                    <m:r>
                                      <a:rPr lang="en-US" sz="2200" i="1">
                                        <a:latin typeface="Cambria Math"/>
                                        <a:ea typeface="Cambria Math"/>
                                      </a:rPr>
                                      <m:t>𝑂𝑏𝑠𝑒𝑟𝑣𝑒𝑑</m:t>
                                    </m:r>
                                    <m:r>
                                      <a:rPr lang="en-US" sz="2200" i="1">
                                        <a:latin typeface="Cambria Math"/>
                                        <a:ea typeface="Cambria Math"/>
                                      </a:rPr>
                                      <m:t>−</m:t>
                                    </m:r>
                                    <m:r>
                                      <a:rPr lang="en-US" sz="2200" i="1">
                                        <a:latin typeface="Cambria Math"/>
                                        <a:ea typeface="Cambria Math"/>
                                      </a:rPr>
                                      <m:t>𝐸𝑥𝑝𝑒𝑐𝑡𝑒𝑑</m:t>
                                    </m:r>
                                  </m:e>
                                </m:d>
                              </m:e>
                              <m:sup>
                                <m:r>
                                  <a:rPr lang="en-US" sz="2200" i="1">
                                    <a:latin typeface="Cambria Math"/>
                                    <a:ea typeface="Cambria Math"/>
                                  </a:rPr>
                                  <m:t>2</m:t>
                                </m:r>
                              </m:sup>
                            </m:sSup>
                          </m:num>
                          <m:den>
                            <m:r>
                              <a:rPr lang="en-US" sz="2200" i="1">
                                <a:latin typeface="Cambria Math"/>
                                <a:ea typeface="Cambria Math"/>
                              </a:rPr>
                              <m:t>𝐸𝑥𝑝𝑒𝑐𝑡𝑒𝑑</m:t>
                            </m:r>
                          </m:den>
                        </m:f>
                      </m:e>
                    </m:nary>
                  </m:oMath>
                </a14:m>
                <a:endParaRPr lang="en-US" sz="2200" dirty="0"/>
              </a:p>
              <a:p>
                <a:r>
                  <a:rPr lang="en-US" sz="2200" dirty="0"/>
                  <a:t>It is a mathematical expression, representing the ratio of experimentally obtained result(O)  and theoretically expected result(E) based on certain hypothesis. It uses data in form of frequencies.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65580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r>
                  <a:rPr lang="en-US" sz="2200" dirty="0"/>
                  <a:t>Chi square test is calculated by dividing the square of overall deviation in the observed and expected frequencies by expected frequency.</a:t>
                </a:r>
                <a:r>
                  <a:rPr lang="en-US" sz="2200" b="1" dirty="0"/>
                  <a:t>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r>
                      <a:rPr lang="en-US" sz="2200" b="1" i="1">
                        <a:latin typeface="Cambria Math"/>
                        <a:ea typeface="Cambria Math"/>
                      </a:rPr>
                      <m:t>=</m:t>
                    </m:r>
                    <m:nary>
                      <m:naryPr>
                        <m:chr m:val="∑"/>
                        <m:subHide m:val="on"/>
                        <m:supHide m:val="on"/>
                        <m:ctrlPr>
                          <a:rPr lang="en-US" sz="2200" b="1" i="1">
                            <a:latin typeface="Cambria Math" panose="02040503050406030204" pitchFamily="18" charset="0"/>
                            <a:ea typeface="Cambria Math"/>
                          </a:rPr>
                        </m:ctrlPr>
                      </m:naryPr>
                      <m:sub/>
                      <m:sup/>
                      <m:e>
                        <m:f>
                          <m:fPr>
                            <m:ctrlPr>
                              <a:rPr lang="en-US" sz="2200" b="1" i="1">
                                <a:latin typeface="Cambria Math" panose="02040503050406030204" pitchFamily="18" charset="0"/>
                                <a:ea typeface="Cambria Math"/>
                              </a:rPr>
                            </m:ctrlPr>
                          </m:fPr>
                          <m:num>
                            <m:sSup>
                              <m:sSupPr>
                                <m:ctrlPr>
                                  <a:rPr lang="en-US" sz="2200" b="1" i="1">
                                    <a:latin typeface="Cambria Math" panose="02040503050406030204" pitchFamily="18" charset="0"/>
                                    <a:ea typeface="Cambria Math"/>
                                  </a:rPr>
                                </m:ctrlPr>
                              </m:sSupPr>
                              <m:e>
                                <m:d>
                                  <m:dPr>
                                    <m:ctrlPr>
                                      <a:rPr lang="en-US" sz="2200" b="1" i="1">
                                        <a:latin typeface="Cambria Math" panose="02040503050406030204" pitchFamily="18" charset="0"/>
                                        <a:ea typeface="Cambria Math"/>
                                      </a:rPr>
                                    </m:ctrlPr>
                                  </m:dPr>
                                  <m:e>
                                    <m:r>
                                      <a:rPr lang="en-US" sz="2200" b="1" i="1">
                                        <a:latin typeface="Cambria Math"/>
                                        <a:ea typeface="Cambria Math"/>
                                      </a:rPr>
                                      <m:t>𝑶</m:t>
                                    </m:r>
                                    <m:r>
                                      <a:rPr lang="en-US" sz="2200" b="1" i="1">
                                        <a:latin typeface="Cambria Math"/>
                                        <a:ea typeface="Cambria Math"/>
                                      </a:rPr>
                                      <m:t>−</m:t>
                                    </m:r>
                                    <m:r>
                                      <a:rPr lang="en-US" sz="2200" b="1" i="1">
                                        <a:latin typeface="Cambria Math"/>
                                        <a:ea typeface="Cambria Math"/>
                                      </a:rPr>
                                      <m:t>𝑬</m:t>
                                    </m:r>
                                  </m:e>
                                </m:d>
                              </m:e>
                              <m:sup>
                                <m:r>
                                  <a:rPr lang="en-US" sz="2200" b="1" i="1">
                                    <a:latin typeface="Cambria Math"/>
                                    <a:ea typeface="Cambria Math"/>
                                  </a:rPr>
                                  <m:t>𝟐</m:t>
                                </m:r>
                              </m:sup>
                            </m:sSup>
                          </m:num>
                          <m:den>
                            <m:r>
                              <a:rPr lang="en-US" sz="2200" b="1" i="1">
                                <a:latin typeface="Cambria Math"/>
                                <a:ea typeface="Cambria Math"/>
                              </a:rPr>
                              <m:t>𝑬</m:t>
                            </m:r>
                          </m:den>
                        </m:f>
                      </m:e>
                    </m:nary>
                    <m:r>
                      <a:rPr lang="en-US" sz="2200" b="0" i="0" smtClean="0">
                        <a:latin typeface="Cambria Math"/>
                        <a:ea typeface="Cambria Math"/>
                      </a:rPr>
                      <m:t> </m:t>
                    </m:r>
                  </m:oMath>
                </a14:m>
                <a:endParaRPr lang="en-US" sz="2200" b="0" dirty="0">
                  <a:ea typeface="Cambria Math"/>
                </a:endParaRPr>
              </a:p>
              <a:p>
                <a:pPr marL="0" indent="0">
                  <a:buNone/>
                </a:pPr>
                <a:r>
                  <a:rPr lang="en-US" sz="2200" dirty="0"/>
                  <a:t>O=the frequencies observed, E=the frequencies expected</a:t>
                </a:r>
                <a14:m>
                  <m:oMath xmlns:m="http://schemas.openxmlformats.org/officeDocument/2006/math">
                    <m:r>
                      <a:rPr lang="en-US" sz="2200" b="0" i="0" smtClean="0">
                        <a:latin typeface="Cambria Math"/>
                        <a:ea typeface="Cambria Math"/>
                      </a:rPr>
                      <m:t>,</m:t>
                    </m:r>
                    <m:r>
                      <m:rPr>
                        <m:sty m:val="p"/>
                      </m:rPr>
                      <a:rPr lang="el-GR" sz="2200" i="1">
                        <a:latin typeface="Cambria Math"/>
                        <a:ea typeface="Cambria Math"/>
                      </a:rPr>
                      <m:t>Σ</m:t>
                    </m:r>
                  </m:oMath>
                </a14:m>
                <a:r>
                  <a:rPr lang="en-US" sz="2200" dirty="0"/>
                  <a:t>= sum of</a:t>
                </a:r>
              </a:p>
              <a:p>
                <a:r>
                  <a:rPr lang="en-US" sz="2200" dirty="0"/>
                  <a:t>If there is no difference between actual and observed frequencies, the value of Chi- Square is zero.</a:t>
                </a:r>
              </a:p>
              <a:p>
                <a:r>
                  <a:rPr lang="en-US" sz="2200" dirty="0"/>
                  <a:t>If there is difference between actual and observed frequencies, the value of Chi- Square would be more than zero.</a:t>
                </a:r>
              </a:p>
              <a:p>
                <a:r>
                  <a:rPr lang="en-US" sz="2200" dirty="0"/>
                  <a:t>But the difference in the observed frequencies, may also be due to the sampling fluctuations and it should be ignored in drawing interference.</a:t>
                </a:r>
              </a:p>
              <a:p>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444" b="-3194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206164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Autofit/>
          </a:bodyPr>
          <a:lstStyle/>
          <a:p>
            <a:pPr marL="0" indent="0">
              <a:buNone/>
            </a:pPr>
            <a:r>
              <a:rPr lang="en-US" sz="2200" b="1" dirty="0"/>
              <a:t>Degree of Freedom</a:t>
            </a:r>
          </a:p>
          <a:p>
            <a:r>
              <a:rPr lang="en-US" sz="2200" dirty="0"/>
              <a:t>In test, while comparing the calculated value with the table value, we have to calculate the degree of freedom. The degree of freedom is calculated from the no of classes. Therefore, the no. of degree of freedom in a test is equal to the no. of classes minus one.</a:t>
            </a:r>
          </a:p>
          <a:p>
            <a:r>
              <a:rPr lang="en-US" sz="2200" dirty="0"/>
              <a:t>If there are two classes, three classes and four classes, the degree of freedom would be 2-1,3-1 and 4-1, respectively. In a contingency table, the degree of freedom is calculated in different manner:</a:t>
            </a:r>
          </a:p>
          <a:p>
            <a:pPr marL="0" indent="0" algn="ctr">
              <a:buNone/>
            </a:pPr>
            <a:r>
              <a:rPr lang="en-US" sz="2200" dirty="0" err="1"/>
              <a:t>d.f.</a:t>
            </a:r>
            <a:r>
              <a:rPr lang="en-US" sz="2200" dirty="0"/>
              <a:t>=(r-1)(c-1)</a:t>
            </a:r>
          </a:p>
          <a:p>
            <a:pPr marL="0" indent="0">
              <a:buNone/>
            </a:pPr>
            <a:r>
              <a:rPr lang="en-US" sz="2200" dirty="0"/>
              <a:t>Where r= no. of row in the table, C= no. of column in the table</a:t>
            </a:r>
          </a:p>
          <a:p>
            <a:r>
              <a:rPr lang="en-US" sz="2200" dirty="0"/>
              <a:t>Thus in 2×2 contingency table, the degree of freedom is (2-1)(2-1)=1. Similarly, in a 3×3 contingency table, the degree of freedom </a:t>
            </a:r>
            <a:r>
              <a:rPr lang="en-US" dirty="0"/>
              <a:t>is (3-1)(3-1)=4. </a:t>
            </a: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172410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Likewise in 3×4 contingency table degree of freedom is (3-1)(4-1)=6, and so on. </a:t>
            </a:r>
          </a:p>
          <a:p>
            <a:pPr marL="0" indent="0">
              <a:buNone/>
            </a:pPr>
            <a:r>
              <a:rPr lang="en-US" sz="2200" b="1" dirty="0"/>
              <a:t>Example:</a:t>
            </a:r>
            <a:r>
              <a:rPr lang="en-US" sz="2200" dirty="0"/>
              <a:t>2 Rows × 2 columns</a:t>
            </a:r>
          </a:p>
          <a:p>
            <a:pPr marL="0" indent="0">
              <a:buNone/>
            </a:pPr>
            <a:endParaRPr lang="en-US" sz="2200" dirty="0"/>
          </a:p>
          <a:p>
            <a:endParaRPr lang="en-US" sz="2200" dirty="0"/>
          </a:p>
          <a:p>
            <a:endParaRPr lang="en-US" sz="2200" dirty="0"/>
          </a:p>
          <a:p>
            <a:endParaRPr lang="en-US" sz="2200" dirty="0"/>
          </a:p>
          <a:p>
            <a:endParaRPr lang="en-US" sz="2200" dirty="0"/>
          </a:p>
          <a:p>
            <a:endParaRPr lang="en-US" sz="2200" dirty="0"/>
          </a:p>
          <a:p>
            <a:pPr marL="0" indent="0">
              <a:buNone/>
            </a:pPr>
            <a:r>
              <a:rPr lang="en-US" sz="2200" dirty="0"/>
              <a:t>Degree of freedom = (r-1)(c-1)=(2-1)(2-1)=1</a:t>
            </a:r>
          </a:p>
          <a:p>
            <a:endParaRPr lang="en-US" sz="2200" dirty="0"/>
          </a:p>
          <a:p>
            <a:endParaRPr lang="en-US" sz="2200" dirty="0"/>
          </a:p>
          <a:p>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752600" y="0"/>
                <a:ext cx="7391400" cy="685799"/>
              </a:xfrm>
              <a:prstGeom prst="rect">
                <a:avLst/>
              </a:prstGeom>
              <a:blipFill>
                <a:blip r:embed="rId2"/>
                <a:stretch>
                  <a:fillRect/>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9EB583D1-4581-4B32-9B21-2D9AF3C25017}"/>
              </a:ext>
            </a:extLst>
          </p:cNvPr>
          <p:cNvGraphicFramePr>
            <a:graphicFrameLocks noGrp="1"/>
          </p:cNvGraphicFramePr>
          <p:nvPr>
            <p:extLst>
              <p:ext uri="{D42A27DB-BD31-4B8C-83A1-F6EECF244321}">
                <p14:modId xmlns:p14="http://schemas.microsoft.com/office/powerpoint/2010/main" val="4137117646"/>
              </p:ext>
            </p:extLst>
          </p:nvPr>
        </p:nvGraphicFramePr>
        <p:xfrm>
          <a:off x="1524000" y="2514600"/>
          <a:ext cx="6400800" cy="17526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3900068659"/>
                    </a:ext>
                  </a:extLst>
                </a:gridCol>
                <a:gridCol w="1600200">
                  <a:extLst>
                    <a:ext uri="{9D8B030D-6E8A-4147-A177-3AD203B41FA5}">
                      <a16:colId xmlns:a16="http://schemas.microsoft.com/office/drawing/2014/main" val="3338006475"/>
                    </a:ext>
                  </a:extLst>
                </a:gridCol>
                <a:gridCol w="1600200">
                  <a:extLst>
                    <a:ext uri="{9D8B030D-6E8A-4147-A177-3AD203B41FA5}">
                      <a16:colId xmlns:a16="http://schemas.microsoft.com/office/drawing/2014/main" val="1695214706"/>
                    </a:ext>
                  </a:extLst>
                </a:gridCol>
                <a:gridCol w="1600200">
                  <a:extLst>
                    <a:ext uri="{9D8B030D-6E8A-4147-A177-3AD203B41FA5}">
                      <a16:colId xmlns:a16="http://schemas.microsoft.com/office/drawing/2014/main" val="762883586"/>
                    </a:ext>
                  </a:extLst>
                </a:gridCol>
              </a:tblGrid>
              <a:tr h="370840">
                <a:tc>
                  <a:txBody>
                    <a:bodyPr/>
                    <a:lstStyle/>
                    <a:p>
                      <a:endParaRPr lang="en-US" dirty="0"/>
                    </a:p>
                  </a:txBody>
                  <a:tcPr/>
                </a:tc>
                <a:tc>
                  <a:txBody>
                    <a:bodyPr/>
                    <a:lstStyle/>
                    <a:p>
                      <a:r>
                        <a:rPr lang="en-US" dirty="0"/>
                        <a:t>COLUMN 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COLUMN 2</a:t>
                      </a:r>
                    </a:p>
                  </a:txBody>
                  <a:tcPr/>
                </a:tc>
                <a:tc>
                  <a:txBody>
                    <a:bodyPr/>
                    <a:lstStyle/>
                    <a:p>
                      <a:r>
                        <a:rPr lang="en-US" dirty="0"/>
                        <a:t>ROW TOTAL</a:t>
                      </a:r>
                    </a:p>
                  </a:txBody>
                  <a:tcPr/>
                </a:tc>
                <a:extLst>
                  <a:ext uri="{0D108BD9-81ED-4DB2-BD59-A6C34878D82A}">
                    <a16:rowId xmlns:a16="http://schemas.microsoft.com/office/drawing/2014/main" val="3968626256"/>
                  </a:ext>
                </a:extLst>
              </a:tr>
              <a:tr h="370840">
                <a:tc>
                  <a:txBody>
                    <a:bodyPr/>
                    <a:lstStyle/>
                    <a:p>
                      <a:r>
                        <a:rPr lang="en-US" dirty="0"/>
                        <a:t>ROW 1</a:t>
                      </a:r>
                    </a:p>
                  </a:txBody>
                  <a:tcPr/>
                </a:tc>
                <a:tc>
                  <a:txBody>
                    <a:bodyPr/>
                    <a:lstStyle/>
                    <a:p>
                      <a:r>
                        <a:rPr lang="en-US" dirty="0"/>
                        <a:t>+</a:t>
                      </a:r>
                    </a:p>
                  </a:txBody>
                  <a:tcPr/>
                </a:tc>
                <a:tc>
                  <a:txBody>
                    <a:bodyPr/>
                    <a:lstStyle/>
                    <a:p>
                      <a:r>
                        <a:rPr lang="en-US" dirty="0"/>
                        <a:t>+</a:t>
                      </a:r>
                    </a:p>
                  </a:txBody>
                  <a:tcPr/>
                </a:tc>
                <a:tc>
                  <a:txBody>
                    <a:bodyPr/>
                    <a:lstStyle/>
                    <a:p>
                      <a:r>
                        <a:rPr lang="en-US" dirty="0"/>
                        <a:t>RT 1</a:t>
                      </a:r>
                    </a:p>
                  </a:txBody>
                  <a:tcPr/>
                </a:tc>
                <a:extLst>
                  <a:ext uri="{0D108BD9-81ED-4DB2-BD59-A6C34878D82A}">
                    <a16:rowId xmlns:a16="http://schemas.microsoft.com/office/drawing/2014/main" val="3721081645"/>
                  </a:ext>
                </a:extLst>
              </a:tr>
              <a:tr h="370840">
                <a:tc>
                  <a:txBody>
                    <a:bodyPr/>
                    <a:lstStyle/>
                    <a:p>
                      <a:r>
                        <a:rPr lang="en-US" dirty="0"/>
                        <a:t>ROW 2</a:t>
                      </a:r>
                    </a:p>
                  </a:txBody>
                  <a:tcPr/>
                </a:tc>
                <a:tc>
                  <a:txBody>
                    <a:bodyPr/>
                    <a:lstStyle/>
                    <a:p>
                      <a:r>
                        <a:rPr lang="en-US" dirty="0"/>
                        <a:t>+</a:t>
                      </a:r>
                    </a:p>
                  </a:txBody>
                  <a:tcPr/>
                </a:tc>
                <a:tc>
                  <a:txBody>
                    <a:bodyPr/>
                    <a:lstStyle/>
                    <a:p>
                      <a:r>
                        <a:rPr lang="en-US" dirty="0"/>
                        <a:t>+</a:t>
                      </a:r>
                    </a:p>
                  </a:txBody>
                  <a:tcPr/>
                </a:tc>
                <a:tc>
                  <a:txBody>
                    <a:bodyPr/>
                    <a:lstStyle/>
                    <a:p>
                      <a:r>
                        <a:rPr lang="en-US" dirty="0"/>
                        <a:t>RT 2</a:t>
                      </a:r>
                    </a:p>
                  </a:txBody>
                  <a:tcPr/>
                </a:tc>
                <a:extLst>
                  <a:ext uri="{0D108BD9-81ED-4DB2-BD59-A6C34878D82A}">
                    <a16:rowId xmlns:a16="http://schemas.microsoft.com/office/drawing/2014/main" val="3489155915"/>
                  </a:ext>
                </a:extLst>
              </a:tr>
              <a:tr h="370840">
                <a:tc>
                  <a:txBody>
                    <a:bodyPr/>
                    <a:lstStyle/>
                    <a:p>
                      <a:r>
                        <a:rPr lang="en-US" dirty="0"/>
                        <a:t>COLUMN TOTAL</a:t>
                      </a:r>
                    </a:p>
                  </a:txBody>
                  <a:tcPr/>
                </a:tc>
                <a:tc>
                  <a:txBody>
                    <a:bodyPr/>
                    <a:lstStyle/>
                    <a:p>
                      <a:r>
                        <a:rPr lang="en-US" dirty="0"/>
                        <a:t>CT 1</a:t>
                      </a:r>
                    </a:p>
                  </a:txBody>
                  <a:tcPr/>
                </a:tc>
                <a:tc>
                  <a:txBody>
                    <a:bodyPr/>
                    <a:lstStyle/>
                    <a:p>
                      <a:r>
                        <a:rPr lang="en-US" dirty="0"/>
                        <a:t>CT 2</a:t>
                      </a:r>
                    </a:p>
                  </a:txBody>
                  <a:tcPr/>
                </a:tc>
                <a:tc>
                  <a:txBody>
                    <a:bodyPr/>
                    <a:lstStyle/>
                    <a:p>
                      <a:endParaRPr lang="en-US" dirty="0"/>
                    </a:p>
                  </a:txBody>
                  <a:tcPr/>
                </a:tc>
                <a:extLst>
                  <a:ext uri="{0D108BD9-81ED-4DB2-BD59-A6C34878D82A}">
                    <a16:rowId xmlns:a16="http://schemas.microsoft.com/office/drawing/2014/main" val="3002632110"/>
                  </a:ext>
                </a:extLst>
              </a:tr>
            </a:tbl>
          </a:graphicData>
        </a:graphic>
      </p:graphicFrame>
    </p:spTree>
    <p:extLst>
      <p:ext uri="{BB962C8B-B14F-4D97-AF65-F5344CB8AC3E}">
        <p14:creationId xmlns:p14="http://schemas.microsoft.com/office/powerpoint/2010/main" val="4734305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1000"/>
                                        <p:tgtEl>
                                          <p:spTgt spid="3">
                                            <p:txEl>
                                              <p:pRg st="8" end="8"/>
                                            </p:txEl>
                                          </p:spTgt>
                                        </p:tgtEl>
                                      </p:cBhvr>
                                    </p:animEffect>
                                    <p:anim calcmode="lin" valueType="num">
                                      <p:cBhvr>
                                        <p:cTn id="2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447800"/>
            <a:ext cx="7848600" cy="3733800"/>
          </a:xfrm>
        </p:spPr>
        <p:txBody>
          <a:bodyPr>
            <a:normAutofit/>
          </a:bodyPr>
          <a:lstStyle/>
          <a:p>
            <a:pPr marL="0" indent="0">
              <a:buNone/>
            </a:pPr>
            <a:r>
              <a:rPr lang="en-US" sz="2200" dirty="0"/>
              <a:t>Application of chi square test</a:t>
            </a:r>
          </a:p>
          <a:p>
            <a:pPr>
              <a:buFont typeface="Wingdings" pitchFamily="2" charset="2"/>
              <a:buChar char="§"/>
            </a:pPr>
            <a:r>
              <a:rPr lang="en-US" sz="2200" dirty="0"/>
              <a:t>The chi square are applicable in varied problems in agriculture, biology engineering and medical sciences.</a:t>
            </a:r>
          </a:p>
          <a:p>
            <a:pPr>
              <a:buFont typeface="Wingdings" pitchFamily="2" charset="2"/>
              <a:buChar char="§"/>
            </a:pPr>
            <a:r>
              <a:rPr lang="en-US" sz="2200" dirty="0"/>
              <a:t>To test the goodness of fit.</a:t>
            </a:r>
          </a:p>
          <a:p>
            <a:pPr>
              <a:buFont typeface="Wingdings" pitchFamily="2" charset="2"/>
              <a:buChar char="§"/>
            </a:pPr>
            <a:r>
              <a:rPr lang="en-US" sz="2200" dirty="0"/>
              <a:t>To test the independence of attributes.</a:t>
            </a:r>
          </a:p>
          <a:p>
            <a:pPr>
              <a:buFont typeface="Wingdings" pitchFamily="2" charset="2"/>
              <a:buChar char="§"/>
            </a:pPr>
            <a:r>
              <a:rPr lang="en-US" sz="2200" dirty="0"/>
              <a:t>To test the detection  of linkage.</a:t>
            </a:r>
          </a:p>
          <a:p>
            <a:pPr>
              <a:buFont typeface="Wingdings" pitchFamily="2" charset="2"/>
              <a:buChar char="§"/>
            </a:pPr>
            <a:r>
              <a:rPr lang="en-US" sz="2200" dirty="0"/>
              <a:t>To test the homogeneity of independent estimates of the population variance.</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828800" y="0"/>
                <a:ext cx="7315200" cy="685799"/>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314646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Example: </a:t>
            </a:r>
            <a:r>
              <a:rPr lang="en-US" sz="2200" dirty="0"/>
              <a:t>The demand for a particular spare part in a factory was found to vary from day-to-day. In a sample study the following information was obtained:</a:t>
            </a:r>
          </a:p>
          <a:p>
            <a:endParaRPr lang="en-US" sz="2200" dirty="0"/>
          </a:p>
          <a:p>
            <a:endParaRPr lang="en-US" sz="2200" dirty="0"/>
          </a:p>
          <a:p>
            <a:endParaRPr lang="en-US" sz="2200" dirty="0"/>
          </a:p>
          <a:p>
            <a:pPr marL="0" indent="0">
              <a:buNone/>
            </a:pPr>
            <a:endParaRPr lang="en-US" sz="2200" dirty="0"/>
          </a:p>
          <a:p>
            <a:pPr marL="0" indent="0">
              <a:buNone/>
            </a:pPr>
            <a:r>
              <a:rPr lang="en-US" sz="2200" dirty="0"/>
              <a:t> Under the null hypothesis, the expected frequencies of the spare part demanded on each of the six days would be:(1124+1125+1110+1120+1126+1115)/6=6270/6=1120</a:t>
            </a:r>
          </a:p>
          <a:p>
            <a:endParaRPr lang="en-US" sz="2200" dirty="0"/>
          </a:p>
          <a:p>
            <a:endParaRPr lang="en-US" sz="2200" dirty="0"/>
          </a:p>
          <a:p>
            <a:endParaRPr lang="en-US" sz="2200" dirty="0"/>
          </a:p>
          <a:p>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2"/>
                <a:stretch>
                  <a:fillRect/>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490F11F1-E648-4861-B485-0AF6650314B7}"/>
              </a:ext>
            </a:extLst>
          </p:cNvPr>
          <p:cNvGraphicFramePr>
            <a:graphicFrameLocks noGrp="1"/>
          </p:cNvGraphicFramePr>
          <p:nvPr>
            <p:extLst>
              <p:ext uri="{D42A27DB-BD31-4B8C-83A1-F6EECF244321}">
                <p14:modId xmlns:p14="http://schemas.microsoft.com/office/powerpoint/2010/main" val="3172891036"/>
              </p:ext>
            </p:extLst>
          </p:nvPr>
        </p:nvGraphicFramePr>
        <p:xfrm>
          <a:off x="685802" y="2296160"/>
          <a:ext cx="7924798" cy="1285240"/>
        </p:xfrm>
        <a:graphic>
          <a:graphicData uri="http://schemas.openxmlformats.org/drawingml/2006/table">
            <a:tbl>
              <a:tblPr firstRow="1" bandRow="1">
                <a:tableStyleId>{5C22544A-7EE6-4342-B048-85BDC9FD1C3A}</a:tableStyleId>
              </a:tblPr>
              <a:tblGrid>
                <a:gridCol w="1132114">
                  <a:extLst>
                    <a:ext uri="{9D8B030D-6E8A-4147-A177-3AD203B41FA5}">
                      <a16:colId xmlns:a16="http://schemas.microsoft.com/office/drawing/2014/main" val="1212188459"/>
                    </a:ext>
                  </a:extLst>
                </a:gridCol>
                <a:gridCol w="1001486">
                  <a:extLst>
                    <a:ext uri="{9D8B030D-6E8A-4147-A177-3AD203B41FA5}">
                      <a16:colId xmlns:a16="http://schemas.microsoft.com/office/drawing/2014/main" val="2309642736"/>
                    </a:ext>
                  </a:extLst>
                </a:gridCol>
                <a:gridCol w="1066800">
                  <a:extLst>
                    <a:ext uri="{9D8B030D-6E8A-4147-A177-3AD203B41FA5}">
                      <a16:colId xmlns:a16="http://schemas.microsoft.com/office/drawing/2014/main" val="1256995902"/>
                    </a:ext>
                  </a:extLst>
                </a:gridCol>
                <a:gridCol w="1328056">
                  <a:extLst>
                    <a:ext uri="{9D8B030D-6E8A-4147-A177-3AD203B41FA5}">
                      <a16:colId xmlns:a16="http://schemas.microsoft.com/office/drawing/2014/main" val="3129923239"/>
                    </a:ext>
                  </a:extLst>
                </a:gridCol>
                <a:gridCol w="1262744">
                  <a:extLst>
                    <a:ext uri="{9D8B030D-6E8A-4147-A177-3AD203B41FA5}">
                      <a16:colId xmlns:a16="http://schemas.microsoft.com/office/drawing/2014/main" val="841423967"/>
                    </a:ext>
                  </a:extLst>
                </a:gridCol>
                <a:gridCol w="1001484">
                  <a:extLst>
                    <a:ext uri="{9D8B030D-6E8A-4147-A177-3AD203B41FA5}">
                      <a16:colId xmlns:a16="http://schemas.microsoft.com/office/drawing/2014/main" val="3531426037"/>
                    </a:ext>
                  </a:extLst>
                </a:gridCol>
                <a:gridCol w="1132114">
                  <a:extLst>
                    <a:ext uri="{9D8B030D-6E8A-4147-A177-3AD203B41FA5}">
                      <a16:colId xmlns:a16="http://schemas.microsoft.com/office/drawing/2014/main" val="2820087694"/>
                    </a:ext>
                  </a:extLst>
                </a:gridCol>
              </a:tblGrid>
              <a:tr h="370840">
                <a:tc>
                  <a:txBody>
                    <a:bodyPr/>
                    <a:lstStyle/>
                    <a:p>
                      <a:r>
                        <a:rPr lang="en-US" dirty="0"/>
                        <a:t>Days</a:t>
                      </a:r>
                    </a:p>
                  </a:txBody>
                  <a:tcPr/>
                </a:tc>
                <a:tc>
                  <a:txBody>
                    <a:bodyPr/>
                    <a:lstStyle/>
                    <a:p>
                      <a:r>
                        <a:rPr lang="en-US" dirty="0"/>
                        <a:t>Monday</a:t>
                      </a:r>
                    </a:p>
                  </a:txBody>
                  <a:tcPr/>
                </a:tc>
                <a:tc>
                  <a:txBody>
                    <a:bodyPr/>
                    <a:lstStyle/>
                    <a:p>
                      <a:r>
                        <a:rPr lang="en-US" dirty="0"/>
                        <a:t>Tuesday</a:t>
                      </a:r>
                    </a:p>
                  </a:txBody>
                  <a:tcPr/>
                </a:tc>
                <a:tc>
                  <a:txBody>
                    <a:bodyPr/>
                    <a:lstStyle/>
                    <a:p>
                      <a:r>
                        <a:rPr lang="en-US" dirty="0"/>
                        <a:t>Wednesday</a:t>
                      </a:r>
                    </a:p>
                  </a:txBody>
                  <a:tcPr/>
                </a:tc>
                <a:tc>
                  <a:txBody>
                    <a:bodyPr/>
                    <a:lstStyle/>
                    <a:p>
                      <a:r>
                        <a:rPr lang="en-US" dirty="0"/>
                        <a:t>Thursday</a:t>
                      </a:r>
                    </a:p>
                  </a:txBody>
                  <a:tcPr/>
                </a:tc>
                <a:tc>
                  <a:txBody>
                    <a:bodyPr/>
                    <a:lstStyle/>
                    <a:p>
                      <a:r>
                        <a:rPr lang="en-US" dirty="0"/>
                        <a:t>Friday</a:t>
                      </a:r>
                    </a:p>
                  </a:txBody>
                  <a:tcPr/>
                </a:tc>
                <a:tc>
                  <a:txBody>
                    <a:bodyPr/>
                    <a:lstStyle/>
                    <a:p>
                      <a:r>
                        <a:rPr lang="en-US" dirty="0"/>
                        <a:t>Saturday</a:t>
                      </a:r>
                    </a:p>
                  </a:txBody>
                  <a:tcPr/>
                </a:tc>
                <a:extLst>
                  <a:ext uri="{0D108BD9-81ED-4DB2-BD59-A6C34878D82A}">
                    <a16:rowId xmlns:a16="http://schemas.microsoft.com/office/drawing/2014/main" val="1265478003"/>
                  </a:ext>
                </a:extLst>
              </a:tr>
              <a:tr h="370840">
                <a:tc>
                  <a:txBody>
                    <a:bodyPr/>
                    <a:lstStyle/>
                    <a:p>
                      <a:r>
                        <a:rPr lang="en-US" dirty="0"/>
                        <a:t>No. of parts demanded</a:t>
                      </a:r>
                    </a:p>
                  </a:txBody>
                  <a:tcPr/>
                </a:tc>
                <a:tc>
                  <a:txBody>
                    <a:bodyPr/>
                    <a:lstStyle/>
                    <a:p>
                      <a:r>
                        <a:rPr lang="en-US" dirty="0"/>
                        <a:t>1124</a:t>
                      </a:r>
                    </a:p>
                  </a:txBody>
                  <a:tcPr/>
                </a:tc>
                <a:tc>
                  <a:txBody>
                    <a:bodyPr/>
                    <a:lstStyle/>
                    <a:p>
                      <a:r>
                        <a:rPr lang="en-US" dirty="0"/>
                        <a:t>1125</a:t>
                      </a:r>
                    </a:p>
                  </a:txBody>
                  <a:tcPr/>
                </a:tc>
                <a:tc>
                  <a:txBody>
                    <a:bodyPr/>
                    <a:lstStyle/>
                    <a:p>
                      <a:r>
                        <a:rPr lang="en-US" dirty="0"/>
                        <a:t>1110</a:t>
                      </a:r>
                    </a:p>
                  </a:txBody>
                  <a:tcPr/>
                </a:tc>
                <a:tc>
                  <a:txBody>
                    <a:bodyPr/>
                    <a:lstStyle/>
                    <a:p>
                      <a:r>
                        <a:rPr lang="en-US" dirty="0"/>
                        <a:t>1120</a:t>
                      </a:r>
                    </a:p>
                  </a:txBody>
                  <a:tcPr/>
                </a:tc>
                <a:tc>
                  <a:txBody>
                    <a:bodyPr/>
                    <a:lstStyle/>
                    <a:p>
                      <a:r>
                        <a:rPr lang="en-US" dirty="0"/>
                        <a:t>1126</a:t>
                      </a:r>
                    </a:p>
                  </a:txBody>
                  <a:tcPr/>
                </a:tc>
                <a:tc>
                  <a:txBody>
                    <a:bodyPr/>
                    <a:lstStyle/>
                    <a:p>
                      <a:r>
                        <a:rPr lang="en-US" dirty="0"/>
                        <a:t>1115</a:t>
                      </a:r>
                    </a:p>
                  </a:txBody>
                  <a:tcPr/>
                </a:tc>
                <a:extLst>
                  <a:ext uri="{0D108BD9-81ED-4DB2-BD59-A6C34878D82A}">
                    <a16:rowId xmlns:a16="http://schemas.microsoft.com/office/drawing/2014/main" val="1400777682"/>
                  </a:ext>
                </a:extLst>
              </a:tr>
            </a:tbl>
          </a:graphicData>
        </a:graphic>
      </p:graphicFrame>
    </p:spTree>
    <p:extLst>
      <p:ext uri="{BB962C8B-B14F-4D97-AF65-F5344CB8AC3E}">
        <p14:creationId xmlns:p14="http://schemas.microsoft.com/office/powerpoint/2010/main" val="1335185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E2D086C-E369-49BD-9A17-5C1AC5B55053}"/>
                  </a:ext>
                </a:extLst>
              </p:cNvPr>
              <p:cNvGraphicFramePr>
                <a:graphicFrameLocks noGrp="1"/>
              </p:cNvGraphicFramePr>
              <p:nvPr>
                <p:extLst>
                  <p:ext uri="{D42A27DB-BD31-4B8C-83A1-F6EECF244321}">
                    <p14:modId xmlns:p14="http://schemas.microsoft.com/office/powerpoint/2010/main" val="2048781723"/>
                  </p:ext>
                </p:extLst>
              </p:nvPr>
            </p:nvGraphicFramePr>
            <p:xfrm>
              <a:off x="685800" y="1397000"/>
              <a:ext cx="7315200" cy="40894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1831002780"/>
                        </a:ext>
                      </a:extLst>
                    </a:gridCol>
                    <a:gridCol w="1600200">
                      <a:extLst>
                        <a:ext uri="{9D8B030D-6E8A-4147-A177-3AD203B41FA5}">
                          <a16:colId xmlns:a16="http://schemas.microsoft.com/office/drawing/2014/main" val="1077789518"/>
                        </a:ext>
                      </a:extLst>
                    </a:gridCol>
                    <a:gridCol w="1600200">
                      <a:extLst>
                        <a:ext uri="{9D8B030D-6E8A-4147-A177-3AD203B41FA5}">
                          <a16:colId xmlns:a16="http://schemas.microsoft.com/office/drawing/2014/main" val="4102421035"/>
                        </a:ext>
                      </a:extLst>
                    </a:gridCol>
                    <a:gridCol w="1295400">
                      <a:extLst>
                        <a:ext uri="{9D8B030D-6E8A-4147-A177-3AD203B41FA5}">
                          <a16:colId xmlns:a16="http://schemas.microsoft.com/office/drawing/2014/main" val="2482039110"/>
                        </a:ext>
                      </a:extLst>
                    </a:gridCol>
                    <a:gridCol w="1371600">
                      <a:extLst>
                        <a:ext uri="{9D8B030D-6E8A-4147-A177-3AD203B41FA5}">
                          <a16:colId xmlns:a16="http://schemas.microsoft.com/office/drawing/2014/main" val="1602708813"/>
                        </a:ext>
                      </a:extLst>
                    </a:gridCol>
                  </a:tblGrid>
                  <a:tr h="808892">
                    <a:tc>
                      <a:txBody>
                        <a:bodyPr/>
                        <a:lstStyle/>
                        <a:p>
                          <a:r>
                            <a:rPr lang="en-US" sz="2000" dirty="0"/>
                            <a:t>Days</a:t>
                          </a:r>
                        </a:p>
                      </a:txBody>
                      <a:tcPr/>
                    </a:tc>
                    <a:tc>
                      <a:txBody>
                        <a:bodyPr/>
                        <a:lstStyle/>
                        <a:p>
                          <a:r>
                            <a:rPr lang="en-US" sz="2000" dirty="0"/>
                            <a:t>Observed (</a:t>
                          </a:r>
                          <a14:m>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𝑶</m:t>
                                  </m:r>
                                </m:e>
                                <m:sub>
                                  <m:r>
                                    <a:rPr lang="en-US" sz="2000" b="1" i="1" smtClean="0">
                                      <a:latin typeface="Cambria Math" panose="02040503050406030204" pitchFamily="18" charset="0"/>
                                    </a:rPr>
                                    <m:t>𝒊</m:t>
                                  </m:r>
                                </m:sub>
                              </m:sSub>
                            </m:oMath>
                          </a14:m>
                          <a:r>
                            <a:rPr lang="en-US" sz="2000" dirty="0"/>
                            <a:t>)</a:t>
                          </a:r>
                        </a:p>
                      </a:txBody>
                      <a:tcPr/>
                    </a:tc>
                    <a:tc>
                      <a:txBody>
                        <a:bodyPr/>
                        <a:lstStyle/>
                        <a:p>
                          <a:r>
                            <a:rPr lang="en-US" sz="2000" dirty="0"/>
                            <a:t>Expected (</a:t>
                          </a:r>
                          <a14:m>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𝑬</m:t>
                                  </m:r>
                                </m:e>
                                <m:sub>
                                  <m:r>
                                    <a:rPr lang="en-US" sz="2000" b="1" i="1" smtClean="0">
                                      <a:latin typeface="Cambria Math" panose="02040503050406030204" pitchFamily="18" charset="0"/>
                                    </a:rPr>
                                    <m:t>𝒊</m:t>
                                  </m:r>
                                </m:sub>
                              </m:sSub>
                            </m:oMath>
                          </a14:m>
                          <a:r>
                            <a:rPr lang="en-US" sz="2000" dirty="0"/>
                            <a:t>)</a:t>
                          </a:r>
                        </a:p>
                      </a:txBody>
                      <a:tcPr/>
                    </a:tc>
                    <a:tc>
                      <a:txBody>
                        <a:bodyPr/>
                        <a:lstStyle/>
                        <a:p>
                          <a:r>
                            <a:rPr lang="en-US" sz="2000" dirty="0"/>
                            <a:t>(</a:t>
                          </a:r>
                          <a14:m>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𝑶</m:t>
                                  </m:r>
                                </m:e>
                                <m:sub>
                                  <m:r>
                                    <a:rPr lang="en-US" sz="2000" b="1" i="1" smtClean="0">
                                      <a:latin typeface="Cambria Math" panose="02040503050406030204" pitchFamily="18" charset="0"/>
                                    </a:rPr>
                                    <m:t>𝒊</m:t>
                                  </m:r>
                                </m:sub>
                              </m:sSub>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𝑬</m:t>
                                  </m:r>
                                </m:e>
                                <m:sub>
                                  <m:r>
                                    <a:rPr lang="en-US" sz="2000" b="1" i="1" smtClean="0">
                                      <a:latin typeface="Cambria Math" panose="02040503050406030204" pitchFamily="18" charset="0"/>
                                    </a:rPr>
                                    <m:t>𝒊</m:t>
                                  </m:r>
                                </m:sub>
                              </m:sSub>
                            </m:oMath>
                          </a14:m>
                          <a:r>
                            <a:rPr lang="en-US" sz="2000" dirty="0"/>
                            <a:t>)</a:t>
                          </a: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m:rPr>
                                        <m:nor/>
                                      </m:rPr>
                                      <a:rPr lang="en-US" sz="2000" dirty="0" smtClean="0"/>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𝑶</m:t>
                                        </m:r>
                                      </m:e>
                                      <m:sub>
                                        <m:r>
                                          <a:rPr lang="en-US" sz="2000" b="1" i="1" smtClean="0">
                                            <a:latin typeface="Cambria Math" panose="02040503050406030204" pitchFamily="18" charset="0"/>
                                          </a:rPr>
                                          <m:t>𝒊</m:t>
                                        </m:r>
                                      </m:sub>
                                    </m:sSub>
                                    <m:r>
                                      <a:rPr lang="en-US" sz="2000" b="1"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𝑬</m:t>
                                        </m:r>
                                      </m:e>
                                      <m:sub>
                                        <m:r>
                                          <a:rPr lang="en-US" sz="2000" b="1" i="1" smtClean="0">
                                            <a:latin typeface="Cambria Math" panose="02040503050406030204" pitchFamily="18" charset="0"/>
                                          </a:rPr>
                                          <m:t>𝒊</m:t>
                                        </m:r>
                                      </m:sub>
                                    </m:sSub>
                                    <m:r>
                                      <m:rPr>
                                        <m:nor/>
                                      </m:rPr>
                                      <a:rPr lang="en-US" sz="2000" dirty="0"/>
                                      <m:t>)</m:t>
                                    </m:r>
                                  </m:e>
                                  <m:sup>
                                    <m:r>
                                      <a:rPr lang="en-US" sz="2000" b="1" i="1" smtClean="0">
                                        <a:latin typeface="Cambria Math" panose="02040503050406030204" pitchFamily="18" charset="0"/>
                                      </a:rPr>
                                      <m:t>𝟐</m:t>
                                    </m:r>
                                  </m:sup>
                                </m:sSup>
                              </m:oMath>
                            </m:oMathPara>
                          </a14:m>
                          <a:endParaRPr lang="en-US" sz="2000" dirty="0"/>
                        </a:p>
                      </a:txBody>
                      <a:tcPr/>
                    </a:tc>
                    <a:extLst>
                      <a:ext uri="{0D108BD9-81ED-4DB2-BD59-A6C34878D82A}">
                        <a16:rowId xmlns:a16="http://schemas.microsoft.com/office/drawing/2014/main" val="462613571"/>
                      </a:ext>
                    </a:extLst>
                  </a:tr>
                  <a:tr h="468644">
                    <a:tc>
                      <a:txBody>
                        <a:bodyPr/>
                        <a:lstStyle/>
                        <a:p>
                          <a:r>
                            <a:rPr lang="en-US" sz="2000" dirty="0"/>
                            <a:t>Monday</a:t>
                          </a:r>
                        </a:p>
                      </a:txBody>
                      <a:tcPr/>
                    </a:tc>
                    <a:tc>
                      <a:txBody>
                        <a:bodyPr/>
                        <a:lstStyle/>
                        <a:p>
                          <a:r>
                            <a:rPr lang="en-US" sz="2000" dirty="0"/>
                            <a:t>1124</a:t>
                          </a:r>
                        </a:p>
                      </a:txBody>
                      <a:tcPr/>
                    </a:tc>
                    <a:tc>
                      <a:txBody>
                        <a:bodyPr/>
                        <a:lstStyle/>
                        <a:p>
                          <a:r>
                            <a:rPr lang="en-US" sz="2000" dirty="0"/>
                            <a:t>1120</a:t>
                          </a:r>
                        </a:p>
                      </a:txBody>
                      <a:tcPr/>
                    </a:tc>
                    <a:tc>
                      <a:txBody>
                        <a:bodyPr/>
                        <a:lstStyle/>
                        <a:p>
                          <a:r>
                            <a:rPr lang="en-US" sz="2000" dirty="0"/>
                            <a:t>4</a:t>
                          </a:r>
                        </a:p>
                      </a:txBody>
                      <a:tcPr/>
                    </a:tc>
                    <a:tc>
                      <a:txBody>
                        <a:bodyPr/>
                        <a:lstStyle/>
                        <a:p>
                          <a:r>
                            <a:rPr lang="en-US" sz="2000" dirty="0"/>
                            <a:t>16</a:t>
                          </a:r>
                        </a:p>
                      </a:txBody>
                      <a:tcPr/>
                    </a:tc>
                    <a:extLst>
                      <a:ext uri="{0D108BD9-81ED-4DB2-BD59-A6C34878D82A}">
                        <a16:rowId xmlns:a16="http://schemas.microsoft.com/office/drawing/2014/main" val="4179507641"/>
                      </a:ext>
                    </a:extLst>
                  </a:tr>
                  <a:tr h="468644">
                    <a:tc>
                      <a:txBody>
                        <a:bodyPr/>
                        <a:lstStyle/>
                        <a:p>
                          <a:r>
                            <a:rPr lang="en-US" sz="2000" dirty="0"/>
                            <a:t>Tuesday</a:t>
                          </a:r>
                        </a:p>
                      </a:txBody>
                      <a:tcPr/>
                    </a:tc>
                    <a:tc>
                      <a:txBody>
                        <a:bodyPr/>
                        <a:lstStyle/>
                        <a:p>
                          <a:r>
                            <a:rPr lang="en-US" sz="2000" dirty="0"/>
                            <a:t>1125</a:t>
                          </a:r>
                        </a:p>
                      </a:txBody>
                      <a:tcPr/>
                    </a:tc>
                    <a:tc>
                      <a:txBody>
                        <a:bodyPr/>
                        <a:lstStyle/>
                        <a:p>
                          <a:r>
                            <a:rPr lang="en-US" sz="2000" dirty="0"/>
                            <a:t>1120</a:t>
                          </a:r>
                        </a:p>
                      </a:txBody>
                      <a:tcPr/>
                    </a:tc>
                    <a:tc>
                      <a:txBody>
                        <a:bodyPr/>
                        <a:lstStyle/>
                        <a:p>
                          <a:r>
                            <a:rPr lang="en-US" sz="2000" dirty="0"/>
                            <a:t>5</a:t>
                          </a:r>
                        </a:p>
                      </a:txBody>
                      <a:tcPr/>
                    </a:tc>
                    <a:tc>
                      <a:txBody>
                        <a:bodyPr/>
                        <a:lstStyle/>
                        <a:p>
                          <a:r>
                            <a:rPr lang="en-US" sz="2000" dirty="0"/>
                            <a:t>25</a:t>
                          </a:r>
                        </a:p>
                      </a:txBody>
                      <a:tcPr/>
                    </a:tc>
                    <a:extLst>
                      <a:ext uri="{0D108BD9-81ED-4DB2-BD59-A6C34878D82A}">
                        <a16:rowId xmlns:a16="http://schemas.microsoft.com/office/drawing/2014/main" val="3685305539"/>
                      </a:ext>
                    </a:extLst>
                  </a:tr>
                  <a:tr h="468644">
                    <a:tc>
                      <a:txBody>
                        <a:bodyPr/>
                        <a:lstStyle/>
                        <a:p>
                          <a:r>
                            <a:rPr lang="en-US" sz="2000" dirty="0"/>
                            <a:t>Wednesday</a:t>
                          </a:r>
                        </a:p>
                      </a:txBody>
                      <a:tcPr/>
                    </a:tc>
                    <a:tc>
                      <a:txBody>
                        <a:bodyPr/>
                        <a:lstStyle/>
                        <a:p>
                          <a:r>
                            <a:rPr lang="en-US" sz="2000" dirty="0"/>
                            <a:t>1110</a:t>
                          </a:r>
                        </a:p>
                      </a:txBody>
                      <a:tcPr/>
                    </a:tc>
                    <a:tc>
                      <a:txBody>
                        <a:bodyPr/>
                        <a:lstStyle/>
                        <a:p>
                          <a:r>
                            <a:rPr lang="en-US" sz="2000" dirty="0"/>
                            <a:t>1120</a:t>
                          </a:r>
                        </a:p>
                      </a:txBody>
                      <a:tcPr/>
                    </a:tc>
                    <a:tc>
                      <a:txBody>
                        <a:bodyPr/>
                        <a:lstStyle/>
                        <a:p>
                          <a:r>
                            <a:rPr lang="en-US" sz="2000" dirty="0"/>
                            <a:t>-10</a:t>
                          </a:r>
                        </a:p>
                      </a:txBody>
                      <a:tcPr/>
                    </a:tc>
                    <a:tc>
                      <a:txBody>
                        <a:bodyPr/>
                        <a:lstStyle/>
                        <a:p>
                          <a:r>
                            <a:rPr lang="en-US" sz="2000" dirty="0"/>
                            <a:t>100</a:t>
                          </a:r>
                        </a:p>
                      </a:txBody>
                      <a:tcPr/>
                    </a:tc>
                    <a:extLst>
                      <a:ext uri="{0D108BD9-81ED-4DB2-BD59-A6C34878D82A}">
                        <a16:rowId xmlns:a16="http://schemas.microsoft.com/office/drawing/2014/main" val="2377268685"/>
                      </a:ext>
                    </a:extLst>
                  </a:tr>
                  <a:tr h="468644">
                    <a:tc>
                      <a:txBody>
                        <a:bodyPr/>
                        <a:lstStyle/>
                        <a:p>
                          <a:r>
                            <a:rPr lang="en-US" sz="2000" dirty="0"/>
                            <a:t>Thursday</a:t>
                          </a:r>
                        </a:p>
                      </a:txBody>
                      <a:tcPr/>
                    </a:tc>
                    <a:tc>
                      <a:txBody>
                        <a:bodyPr/>
                        <a:lstStyle/>
                        <a:p>
                          <a:r>
                            <a:rPr lang="en-US" sz="2000" dirty="0"/>
                            <a:t>1120</a:t>
                          </a:r>
                        </a:p>
                      </a:txBody>
                      <a:tcPr/>
                    </a:tc>
                    <a:tc>
                      <a:txBody>
                        <a:bodyPr/>
                        <a:lstStyle/>
                        <a:p>
                          <a:r>
                            <a:rPr lang="en-US" sz="2000" dirty="0"/>
                            <a:t>1120</a:t>
                          </a:r>
                        </a:p>
                      </a:txBody>
                      <a:tcPr/>
                    </a:tc>
                    <a:tc>
                      <a:txBody>
                        <a:bodyPr/>
                        <a:lstStyle/>
                        <a:p>
                          <a:r>
                            <a:rPr lang="en-US" sz="2000" dirty="0"/>
                            <a:t>0</a:t>
                          </a:r>
                        </a:p>
                      </a:txBody>
                      <a:tcPr/>
                    </a:tc>
                    <a:tc>
                      <a:txBody>
                        <a:bodyPr/>
                        <a:lstStyle/>
                        <a:p>
                          <a:r>
                            <a:rPr lang="en-US" sz="2000" dirty="0"/>
                            <a:t>0</a:t>
                          </a:r>
                        </a:p>
                      </a:txBody>
                      <a:tcPr/>
                    </a:tc>
                    <a:extLst>
                      <a:ext uri="{0D108BD9-81ED-4DB2-BD59-A6C34878D82A}">
                        <a16:rowId xmlns:a16="http://schemas.microsoft.com/office/drawing/2014/main" val="2348107907"/>
                      </a:ext>
                    </a:extLst>
                  </a:tr>
                  <a:tr h="468644">
                    <a:tc>
                      <a:txBody>
                        <a:bodyPr/>
                        <a:lstStyle/>
                        <a:p>
                          <a:r>
                            <a:rPr lang="en-US" sz="2000" dirty="0"/>
                            <a:t>Friday</a:t>
                          </a:r>
                        </a:p>
                      </a:txBody>
                      <a:tcPr/>
                    </a:tc>
                    <a:tc>
                      <a:txBody>
                        <a:bodyPr/>
                        <a:lstStyle/>
                        <a:p>
                          <a:r>
                            <a:rPr lang="en-US" sz="2000" dirty="0"/>
                            <a:t>1126</a:t>
                          </a:r>
                        </a:p>
                      </a:txBody>
                      <a:tcPr/>
                    </a:tc>
                    <a:tc>
                      <a:txBody>
                        <a:bodyPr/>
                        <a:lstStyle/>
                        <a:p>
                          <a:r>
                            <a:rPr lang="en-US" sz="2000" dirty="0"/>
                            <a:t>1120</a:t>
                          </a:r>
                        </a:p>
                      </a:txBody>
                      <a:tcPr/>
                    </a:tc>
                    <a:tc>
                      <a:txBody>
                        <a:bodyPr/>
                        <a:lstStyle/>
                        <a:p>
                          <a:r>
                            <a:rPr lang="en-US" sz="2000" dirty="0"/>
                            <a:t>6</a:t>
                          </a:r>
                        </a:p>
                      </a:txBody>
                      <a:tcPr/>
                    </a:tc>
                    <a:tc>
                      <a:txBody>
                        <a:bodyPr/>
                        <a:lstStyle/>
                        <a:p>
                          <a:r>
                            <a:rPr lang="en-US" sz="2000" dirty="0"/>
                            <a:t>36</a:t>
                          </a:r>
                        </a:p>
                      </a:txBody>
                      <a:tcPr/>
                    </a:tc>
                    <a:extLst>
                      <a:ext uri="{0D108BD9-81ED-4DB2-BD59-A6C34878D82A}">
                        <a16:rowId xmlns:a16="http://schemas.microsoft.com/office/drawing/2014/main" val="4168196938"/>
                      </a:ext>
                    </a:extLst>
                  </a:tr>
                  <a:tr h="468644">
                    <a:tc>
                      <a:txBody>
                        <a:bodyPr/>
                        <a:lstStyle/>
                        <a:p>
                          <a:r>
                            <a:rPr lang="en-US" sz="2000" dirty="0"/>
                            <a:t>Saturday</a:t>
                          </a:r>
                        </a:p>
                      </a:txBody>
                      <a:tcPr/>
                    </a:tc>
                    <a:tc>
                      <a:txBody>
                        <a:bodyPr/>
                        <a:lstStyle/>
                        <a:p>
                          <a:r>
                            <a:rPr lang="en-US" sz="2000" dirty="0"/>
                            <a:t>1115</a:t>
                          </a:r>
                        </a:p>
                      </a:txBody>
                      <a:tcPr/>
                    </a:tc>
                    <a:tc>
                      <a:txBody>
                        <a:bodyPr/>
                        <a:lstStyle/>
                        <a:p>
                          <a:r>
                            <a:rPr lang="en-US" sz="2000" dirty="0"/>
                            <a:t>1120</a:t>
                          </a:r>
                        </a:p>
                      </a:txBody>
                      <a:tcPr/>
                    </a:tc>
                    <a:tc>
                      <a:txBody>
                        <a:bodyPr/>
                        <a:lstStyle/>
                        <a:p>
                          <a:r>
                            <a:rPr lang="en-US" sz="2000" dirty="0"/>
                            <a:t>-5</a:t>
                          </a:r>
                        </a:p>
                      </a:txBody>
                      <a:tcPr/>
                    </a:tc>
                    <a:tc>
                      <a:txBody>
                        <a:bodyPr/>
                        <a:lstStyle/>
                        <a:p>
                          <a:r>
                            <a:rPr lang="en-US" sz="2000" dirty="0"/>
                            <a:t>25</a:t>
                          </a:r>
                        </a:p>
                      </a:txBody>
                      <a:tcPr/>
                    </a:tc>
                    <a:extLst>
                      <a:ext uri="{0D108BD9-81ED-4DB2-BD59-A6C34878D82A}">
                        <a16:rowId xmlns:a16="http://schemas.microsoft.com/office/drawing/2014/main" val="2260232414"/>
                      </a:ext>
                    </a:extLst>
                  </a:tr>
                  <a:tr h="468644">
                    <a:tc>
                      <a:txBody>
                        <a:bodyPr/>
                        <a:lstStyle/>
                        <a:p>
                          <a:r>
                            <a:rPr lang="en-US" sz="2000" dirty="0"/>
                            <a:t>Total</a:t>
                          </a:r>
                        </a:p>
                      </a:txBody>
                      <a:tcPr/>
                    </a:tc>
                    <a:tc>
                      <a:txBody>
                        <a:bodyPr/>
                        <a:lstStyle/>
                        <a:p>
                          <a:r>
                            <a:rPr lang="en-US" sz="2000" dirty="0"/>
                            <a:t>6720</a:t>
                          </a:r>
                        </a:p>
                      </a:txBody>
                      <a:tcPr/>
                    </a:tc>
                    <a:tc>
                      <a:txBody>
                        <a:bodyPr/>
                        <a:lstStyle/>
                        <a:p>
                          <a:r>
                            <a:rPr lang="en-US" sz="2000" dirty="0"/>
                            <a:t>6720</a:t>
                          </a:r>
                        </a:p>
                      </a:txBody>
                      <a:tcPr/>
                    </a:tc>
                    <a:tc>
                      <a:txBody>
                        <a:bodyPr/>
                        <a:lstStyle/>
                        <a:p>
                          <a:endParaRPr lang="en-US" sz="2000" dirty="0"/>
                        </a:p>
                      </a:txBody>
                      <a:tcPr/>
                    </a:tc>
                    <a:tc>
                      <a:txBody>
                        <a:bodyPr/>
                        <a:lstStyle/>
                        <a:p>
                          <a:endParaRPr lang="en-US" sz="2000" dirty="0"/>
                        </a:p>
                      </a:txBody>
                      <a:tcPr/>
                    </a:tc>
                    <a:extLst>
                      <a:ext uri="{0D108BD9-81ED-4DB2-BD59-A6C34878D82A}">
                        <a16:rowId xmlns:a16="http://schemas.microsoft.com/office/drawing/2014/main" val="3362062515"/>
                      </a:ext>
                    </a:extLst>
                  </a:tr>
                </a:tbl>
              </a:graphicData>
            </a:graphic>
          </p:graphicFrame>
        </mc:Choice>
        <mc:Fallback xmlns="">
          <p:graphicFrame>
            <p:nvGraphicFramePr>
              <p:cNvPr id="2" name="Table 1">
                <a:extLst>
                  <a:ext uri="{FF2B5EF4-FFF2-40B4-BE49-F238E27FC236}">
                    <a16:creationId xmlns:a16="http://schemas.microsoft.com/office/drawing/2014/main" id="{7E2D086C-E369-49BD-9A17-5C1AC5B55053}"/>
                  </a:ext>
                </a:extLst>
              </p:cNvPr>
              <p:cNvGraphicFramePr>
                <a:graphicFrameLocks noGrp="1"/>
              </p:cNvGraphicFramePr>
              <p:nvPr>
                <p:extLst>
                  <p:ext uri="{D42A27DB-BD31-4B8C-83A1-F6EECF244321}">
                    <p14:modId xmlns:p14="http://schemas.microsoft.com/office/powerpoint/2010/main" val="2048781723"/>
                  </p:ext>
                </p:extLst>
              </p:nvPr>
            </p:nvGraphicFramePr>
            <p:xfrm>
              <a:off x="685800" y="1397000"/>
              <a:ext cx="7315200" cy="408940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1831002780"/>
                        </a:ext>
                      </a:extLst>
                    </a:gridCol>
                    <a:gridCol w="1600200">
                      <a:extLst>
                        <a:ext uri="{9D8B030D-6E8A-4147-A177-3AD203B41FA5}">
                          <a16:colId xmlns:a16="http://schemas.microsoft.com/office/drawing/2014/main" val="1077789518"/>
                        </a:ext>
                      </a:extLst>
                    </a:gridCol>
                    <a:gridCol w="1600200">
                      <a:extLst>
                        <a:ext uri="{9D8B030D-6E8A-4147-A177-3AD203B41FA5}">
                          <a16:colId xmlns:a16="http://schemas.microsoft.com/office/drawing/2014/main" val="4102421035"/>
                        </a:ext>
                      </a:extLst>
                    </a:gridCol>
                    <a:gridCol w="1295400">
                      <a:extLst>
                        <a:ext uri="{9D8B030D-6E8A-4147-A177-3AD203B41FA5}">
                          <a16:colId xmlns:a16="http://schemas.microsoft.com/office/drawing/2014/main" val="2482039110"/>
                        </a:ext>
                      </a:extLst>
                    </a:gridCol>
                    <a:gridCol w="1371600">
                      <a:extLst>
                        <a:ext uri="{9D8B030D-6E8A-4147-A177-3AD203B41FA5}">
                          <a16:colId xmlns:a16="http://schemas.microsoft.com/office/drawing/2014/main" val="1602708813"/>
                        </a:ext>
                      </a:extLst>
                    </a:gridCol>
                  </a:tblGrid>
                  <a:tr h="808892">
                    <a:tc>
                      <a:txBody>
                        <a:bodyPr/>
                        <a:lstStyle/>
                        <a:p>
                          <a:r>
                            <a:rPr lang="en-US" sz="2000" dirty="0"/>
                            <a:t>Days</a:t>
                          </a:r>
                        </a:p>
                      </a:txBody>
                      <a:tcPr/>
                    </a:tc>
                    <a:tc>
                      <a:txBody>
                        <a:bodyPr/>
                        <a:lstStyle/>
                        <a:p>
                          <a:endParaRPr lang="en-US"/>
                        </a:p>
                      </a:txBody>
                      <a:tcPr>
                        <a:blipFill>
                          <a:blip r:embed="rId3"/>
                          <a:stretch>
                            <a:fillRect l="-91221" t="-3759" r="-269084" b="-409023"/>
                          </a:stretch>
                        </a:blipFill>
                      </a:tcPr>
                    </a:tc>
                    <a:tc>
                      <a:txBody>
                        <a:bodyPr/>
                        <a:lstStyle/>
                        <a:p>
                          <a:endParaRPr lang="en-US"/>
                        </a:p>
                      </a:txBody>
                      <a:tcPr>
                        <a:blipFill>
                          <a:blip r:embed="rId3"/>
                          <a:stretch>
                            <a:fillRect l="-190494" t="-3759" r="-168061" b="-409023"/>
                          </a:stretch>
                        </a:blipFill>
                      </a:tcPr>
                    </a:tc>
                    <a:tc>
                      <a:txBody>
                        <a:bodyPr/>
                        <a:lstStyle/>
                        <a:p>
                          <a:endParaRPr lang="en-US"/>
                        </a:p>
                      </a:txBody>
                      <a:tcPr>
                        <a:blipFill>
                          <a:blip r:embed="rId3"/>
                          <a:stretch>
                            <a:fillRect l="-358685" t="-3759" r="-107512" b="-409023"/>
                          </a:stretch>
                        </a:blipFill>
                      </a:tcPr>
                    </a:tc>
                    <a:tc>
                      <a:txBody>
                        <a:bodyPr/>
                        <a:lstStyle/>
                        <a:p>
                          <a:endParaRPr lang="en-US"/>
                        </a:p>
                      </a:txBody>
                      <a:tcPr>
                        <a:blipFill>
                          <a:blip r:embed="rId3"/>
                          <a:stretch>
                            <a:fillRect l="-434222" t="-3759" r="-1778" b="-409023"/>
                          </a:stretch>
                        </a:blipFill>
                      </a:tcPr>
                    </a:tc>
                    <a:extLst>
                      <a:ext uri="{0D108BD9-81ED-4DB2-BD59-A6C34878D82A}">
                        <a16:rowId xmlns:a16="http://schemas.microsoft.com/office/drawing/2014/main" val="462613571"/>
                      </a:ext>
                    </a:extLst>
                  </a:tr>
                  <a:tr h="468644">
                    <a:tc>
                      <a:txBody>
                        <a:bodyPr/>
                        <a:lstStyle/>
                        <a:p>
                          <a:r>
                            <a:rPr lang="en-US" sz="2000" dirty="0"/>
                            <a:t>Monday</a:t>
                          </a:r>
                        </a:p>
                      </a:txBody>
                      <a:tcPr/>
                    </a:tc>
                    <a:tc>
                      <a:txBody>
                        <a:bodyPr/>
                        <a:lstStyle/>
                        <a:p>
                          <a:r>
                            <a:rPr lang="en-US" sz="2000" dirty="0"/>
                            <a:t>1124</a:t>
                          </a:r>
                        </a:p>
                      </a:txBody>
                      <a:tcPr/>
                    </a:tc>
                    <a:tc>
                      <a:txBody>
                        <a:bodyPr/>
                        <a:lstStyle/>
                        <a:p>
                          <a:r>
                            <a:rPr lang="en-US" sz="2000" dirty="0"/>
                            <a:t>1120</a:t>
                          </a:r>
                        </a:p>
                      </a:txBody>
                      <a:tcPr/>
                    </a:tc>
                    <a:tc>
                      <a:txBody>
                        <a:bodyPr/>
                        <a:lstStyle/>
                        <a:p>
                          <a:r>
                            <a:rPr lang="en-US" sz="2000" dirty="0"/>
                            <a:t>4</a:t>
                          </a:r>
                        </a:p>
                      </a:txBody>
                      <a:tcPr/>
                    </a:tc>
                    <a:tc>
                      <a:txBody>
                        <a:bodyPr/>
                        <a:lstStyle/>
                        <a:p>
                          <a:r>
                            <a:rPr lang="en-US" sz="2000" dirty="0"/>
                            <a:t>16</a:t>
                          </a:r>
                        </a:p>
                      </a:txBody>
                      <a:tcPr/>
                    </a:tc>
                    <a:extLst>
                      <a:ext uri="{0D108BD9-81ED-4DB2-BD59-A6C34878D82A}">
                        <a16:rowId xmlns:a16="http://schemas.microsoft.com/office/drawing/2014/main" val="4179507641"/>
                      </a:ext>
                    </a:extLst>
                  </a:tr>
                  <a:tr h="468644">
                    <a:tc>
                      <a:txBody>
                        <a:bodyPr/>
                        <a:lstStyle/>
                        <a:p>
                          <a:r>
                            <a:rPr lang="en-US" sz="2000" dirty="0"/>
                            <a:t>Tuesday</a:t>
                          </a:r>
                        </a:p>
                      </a:txBody>
                      <a:tcPr/>
                    </a:tc>
                    <a:tc>
                      <a:txBody>
                        <a:bodyPr/>
                        <a:lstStyle/>
                        <a:p>
                          <a:r>
                            <a:rPr lang="en-US" sz="2000" dirty="0"/>
                            <a:t>1125</a:t>
                          </a:r>
                        </a:p>
                      </a:txBody>
                      <a:tcPr/>
                    </a:tc>
                    <a:tc>
                      <a:txBody>
                        <a:bodyPr/>
                        <a:lstStyle/>
                        <a:p>
                          <a:r>
                            <a:rPr lang="en-US" sz="2000" dirty="0"/>
                            <a:t>1120</a:t>
                          </a:r>
                        </a:p>
                      </a:txBody>
                      <a:tcPr/>
                    </a:tc>
                    <a:tc>
                      <a:txBody>
                        <a:bodyPr/>
                        <a:lstStyle/>
                        <a:p>
                          <a:r>
                            <a:rPr lang="en-US" sz="2000" dirty="0"/>
                            <a:t>5</a:t>
                          </a:r>
                        </a:p>
                      </a:txBody>
                      <a:tcPr/>
                    </a:tc>
                    <a:tc>
                      <a:txBody>
                        <a:bodyPr/>
                        <a:lstStyle/>
                        <a:p>
                          <a:r>
                            <a:rPr lang="en-US" sz="2000" dirty="0"/>
                            <a:t>25</a:t>
                          </a:r>
                        </a:p>
                      </a:txBody>
                      <a:tcPr/>
                    </a:tc>
                    <a:extLst>
                      <a:ext uri="{0D108BD9-81ED-4DB2-BD59-A6C34878D82A}">
                        <a16:rowId xmlns:a16="http://schemas.microsoft.com/office/drawing/2014/main" val="3685305539"/>
                      </a:ext>
                    </a:extLst>
                  </a:tr>
                  <a:tr h="468644">
                    <a:tc>
                      <a:txBody>
                        <a:bodyPr/>
                        <a:lstStyle/>
                        <a:p>
                          <a:r>
                            <a:rPr lang="en-US" sz="2000" dirty="0"/>
                            <a:t>Wednesday</a:t>
                          </a:r>
                        </a:p>
                      </a:txBody>
                      <a:tcPr/>
                    </a:tc>
                    <a:tc>
                      <a:txBody>
                        <a:bodyPr/>
                        <a:lstStyle/>
                        <a:p>
                          <a:r>
                            <a:rPr lang="en-US" sz="2000" dirty="0"/>
                            <a:t>1110</a:t>
                          </a:r>
                        </a:p>
                      </a:txBody>
                      <a:tcPr/>
                    </a:tc>
                    <a:tc>
                      <a:txBody>
                        <a:bodyPr/>
                        <a:lstStyle/>
                        <a:p>
                          <a:r>
                            <a:rPr lang="en-US" sz="2000" dirty="0"/>
                            <a:t>1120</a:t>
                          </a:r>
                        </a:p>
                      </a:txBody>
                      <a:tcPr/>
                    </a:tc>
                    <a:tc>
                      <a:txBody>
                        <a:bodyPr/>
                        <a:lstStyle/>
                        <a:p>
                          <a:r>
                            <a:rPr lang="en-US" sz="2000" dirty="0"/>
                            <a:t>-10</a:t>
                          </a:r>
                        </a:p>
                      </a:txBody>
                      <a:tcPr/>
                    </a:tc>
                    <a:tc>
                      <a:txBody>
                        <a:bodyPr/>
                        <a:lstStyle/>
                        <a:p>
                          <a:r>
                            <a:rPr lang="en-US" sz="2000" dirty="0"/>
                            <a:t>100</a:t>
                          </a:r>
                        </a:p>
                      </a:txBody>
                      <a:tcPr/>
                    </a:tc>
                    <a:extLst>
                      <a:ext uri="{0D108BD9-81ED-4DB2-BD59-A6C34878D82A}">
                        <a16:rowId xmlns:a16="http://schemas.microsoft.com/office/drawing/2014/main" val="2377268685"/>
                      </a:ext>
                    </a:extLst>
                  </a:tr>
                  <a:tr h="468644">
                    <a:tc>
                      <a:txBody>
                        <a:bodyPr/>
                        <a:lstStyle/>
                        <a:p>
                          <a:r>
                            <a:rPr lang="en-US" sz="2000" dirty="0"/>
                            <a:t>Thursday</a:t>
                          </a:r>
                        </a:p>
                      </a:txBody>
                      <a:tcPr/>
                    </a:tc>
                    <a:tc>
                      <a:txBody>
                        <a:bodyPr/>
                        <a:lstStyle/>
                        <a:p>
                          <a:r>
                            <a:rPr lang="en-US" sz="2000" dirty="0"/>
                            <a:t>1120</a:t>
                          </a:r>
                        </a:p>
                      </a:txBody>
                      <a:tcPr/>
                    </a:tc>
                    <a:tc>
                      <a:txBody>
                        <a:bodyPr/>
                        <a:lstStyle/>
                        <a:p>
                          <a:r>
                            <a:rPr lang="en-US" sz="2000" dirty="0"/>
                            <a:t>1120</a:t>
                          </a:r>
                        </a:p>
                      </a:txBody>
                      <a:tcPr/>
                    </a:tc>
                    <a:tc>
                      <a:txBody>
                        <a:bodyPr/>
                        <a:lstStyle/>
                        <a:p>
                          <a:r>
                            <a:rPr lang="en-US" sz="2000" dirty="0"/>
                            <a:t>0</a:t>
                          </a:r>
                        </a:p>
                      </a:txBody>
                      <a:tcPr/>
                    </a:tc>
                    <a:tc>
                      <a:txBody>
                        <a:bodyPr/>
                        <a:lstStyle/>
                        <a:p>
                          <a:r>
                            <a:rPr lang="en-US" sz="2000" dirty="0"/>
                            <a:t>0</a:t>
                          </a:r>
                        </a:p>
                      </a:txBody>
                      <a:tcPr/>
                    </a:tc>
                    <a:extLst>
                      <a:ext uri="{0D108BD9-81ED-4DB2-BD59-A6C34878D82A}">
                        <a16:rowId xmlns:a16="http://schemas.microsoft.com/office/drawing/2014/main" val="2348107907"/>
                      </a:ext>
                    </a:extLst>
                  </a:tr>
                  <a:tr h="468644">
                    <a:tc>
                      <a:txBody>
                        <a:bodyPr/>
                        <a:lstStyle/>
                        <a:p>
                          <a:r>
                            <a:rPr lang="en-US" sz="2000" dirty="0"/>
                            <a:t>Friday</a:t>
                          </a:r>
                        </a:p>
                      </a:txBody>
                      <a:tcPr/>
                    </a:tc>
                    <a:tc>
                      <a:txBody>
                        <a:bodyPr/>
                        <a:lstStyle/>
                        <a:p>
                          <a:r>
                            <a:rPr lang="en-US" sz="2000" dirty="0"/>
                            <a:t>1126</a:t>
                          </a:r>
                        </a:p>
                      </a:txBody>
                      <a:tcPr/>
                    </a:tc>
                    <a:tc>
                      <a:txBody>
                        <a:bodyPr/>
                        <a:lstStyle/>
                        <a:p>
                          <a:r>
                            <a:rPr lang="en-US" sz="2000" dirty="0"/>
                            <a:t>1120</a:t>
                          </a:r>
                        </a:p>
                      </a:txBody>
                      <a:tcPr/>
                    </a:tc>
                    <a:tc>
                      <a:txBody>
                        <a:bodyPr/>
                        <a:lstStyle/>
                        <a:p>
                          <a:r>
                            <a:rPr lang="en-US" sz="2000" dirty="0"/>
                            <a:t>6</a:t>
                          </a:r>
                        </a:p>
                      </a:txBody>
                      <a:tcPr/>
                    </a:tc>
                    <a:tc>
                      <a:txBody>
                        <a:bodyPr/>
                        <a:lstStyle/>
                        <a:p>
                          <a:r>
                            <a:rPr lang="en-US" sz="2000" dirty="0"/>
                            <a:t>36</a:t>
                          </a:r>
                        </a:p>
                      </a:txBody>
                      <a:tcPr/>
                    </a:tc>
                    <a:extLst>
                      <a:ext uri="{0D108BD9-81ED-4DB2-BD59-A6C34878D82A}">
                        <a16:rowId xmlns:a16="http://schemas.microsoft.com/office/drawing/2014/main" val="4168196938"/>
                      </a:ext>
                    </a:extLst>
                  </a:tr>
                  <a:tr h="468644">
                    <a:tc>
                      <a:txBody>
                        <a:bodyPr/>
                        <a:lstStyle/>
                        <a:p>
                          <a:r>
                            <a:rPr lang="en-US" sz="2000" dirty="0"/>
                            <a:t>Saturday</a:t>
                          </a:r>
                        </a:p>
                      </a:txBody>
                      <a:tcPr/>
                    </a:tc>
                    <a:tc>
                      <a:txBody>
                        <a:bodyPr/>
                        <a:lstStyle/>
                        <a:p>
                          <a:r>
                            <a:rPr lang="en-US" sz="2000" dirty="0"/>
                            <a:t>1115</a:t>
                          </a:r>
                        </a:p>
                      </a:txBody>
                      <a:tcPr/>
                    </a:tc>
                    <a:tc>
                      <a:txBody>
                        <a:bodyPr/>
                        <a:lstStyle/>
                        <a:p>
                          <a:r>
                            <a:rPr lang="en-US" sz="2000" dirty="0"/>
                            <a:t>1120</a:t>
                          </a:r>
                        </a:p>
                      </a:txBody>
                      <a:tcPr/>
                    </a:tc>
                    <a:tc>
                      <a:txBody>
                        <a:bodyPr/>
                        <a:lstStyle/>
                        <a:p>
                          <a:r>
                            <a:rPr lang="en-US" sz="2000" dirty="0"/>
                            <a:t>-5</a:t>
                          </a:r>
                        </a:p>
                      </a:txBody>
                      <a:tcPr/>
                    </a:tc>
                    <a:tc>
                      <a:txBody>
                        <a:bodyPr/>
                        <a:lstStyle/>
                        <a:p>
                          <a:r>
                            <a:rPr lang="en-US" sz="2000" dirty="0"/>
                            <a:t>25</a:t>
                          </a:r>
                        </a:p>
                      </a:txBody>
                      <a:tcPr/>
                    </a:tc>
                    <a:extLst>
                      <a:ext uri="{0D108BD9-81ED-4DB2-BD59-A6C34878D82A}">
                        <a16:rowId xmlns:a16="http://schemas.microsoft.com/office/drawing/2014/main" val="2260232414"/>
                      </a:ext>
                    </a:extLst>
                  </a:tr>
                  <a:tr h="468644">
                    <a:tc>
                      <a:txBody>
                        <a:bodyPr/>
                        <a:lstStyle/>
                        <a:p>
                          <a:r>
                            <a:rPr lang="en-US" sz="2000" dirty="0"/>
                            <a:t>Total</a:t>
                          </a:r>
                        </a:p>
                      </a:txBody>
                      <a:tcPr/>
                    </a:tc>
                    <a:tc>
                      <a:txBody>
                        <a:bodyPr/>
                        <a:lstStyle/>
                        <a:p>
                          <a:r>
                            <a:rPr lang="en-US" sz="2000" dirty="0"/>
                            <a:t>6720</a:t>
                          </a:r>
                        </a:p>
                      </a:txBody>
                      <a:tcPr/>
                    </a:tc>
                    <a:tc>
                      <a:txBody>
                        <a:bodyPr/>
                        <a:lstStyle/>
                        <a:p>
                          <a:r>
                            <a:rPr lang="en-US" sz="2000" dirty="0"/>
                            <a:t>6720</a:t>
                          </a:r>
                        </a:p>
                      </a:txBody>
                      <a:tcPr/>
                    </a:tc>
                    <a:tc>
                      <a:txBody>
                        <a:bodyPr/>
                        <a:lstStyle/>
                        <a:p>
                          <a:endParaRPr lang="en-US" sz="2000" dirty="0"/>
                        </a:p>
                      </a:txBody>
                      <a:tcPr/>
                    </a:tc>
                    <a:tc>
                      <a:txBody>
                        <a:bodyPr/>
                        <a:lstStyle/>
                        <a:p>
                          <a:endParaRPr lang="en-US" sz="2000" dirty="0"/>
                        </a:p>
                      </a:txBody>
                      <a:tcPr/>
                    </a:tc>
                    <a:extLst>
                      <a:ext uri="{0D108BD9-81ED-4DB2-BD59-A6C34878D82A}">
                        <a16:rowId xmlns:a16="http://schemas.microsoft.com/office/drawing/2014/main" val="3362062515"/>
                      </a:ext>
                    </a:extLst>
                  </a:tr>
                </a:tbl>
              </a:graphicData>
            </a:graphic>
          </p:graphicFrame>
        </mc:Fallback>
      </mc:AlternateContent>
    </p:spTree>
    <p:extLst>
      <p:ext uri="{BB962C8B-B14F-4D97-AF65-F5344CB8AC3E}">
        <p14:creationId xmlns:p14="http://schemas.microsoft.com/office/powerpoint/2010/main" val="4104556900"/>
      </p:ext>
    </p:extLst>
  </p:cSld>
  <p:clrMapOvr>
    <a:masterClrMapping/>
  </p:clrMapOvr>
  <p:transition spd="slow">
    <p:push dir="u"/>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endParaRPr lang="en-US" sz="2200" b="1" i="1" dirty="0">
                  <a:latin typeface="Cambria Math"/>
                </a:endParaRPr>
              </a:p>
              <a:p>
                <a:pPr marL="0" indent="0" algn="ctr">
                  <a:buNone/>
                </a:pP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r>
                      <a:rPr lang="en-US" sz="2200" b="1" i="1">
                        <a:latin typeface="Cambria Math"/>
                        <a:ea typeface="Cambria Math"/>
                      </a:rPr>
                      <m:t>=</m:t>
                    </m:r>
                    <m:nary>
                      <m:naryPr>
                        <m:chr m:val="∑"/>
                        <m:ctrlPr>
                          <a:rPr lang="en-US" sz="2200" b="1" i="1">
                            <a:latin typeface="Cambria Math" panose="02040503050406030204" pitchFamily="18" charset="0"/>
                            <a:ea typeface="Cambria Math"/>
                          </a:rPr>
                        </m:ctrlPr>
                      </m:naryPr>
                      <m:sub>
                        <m:r>
                          <m:rPr>
                            <m:brk m:alnAt="23"/>
                          </m:rPr>
                          <a:rPr lang="en-US" sz="2200" b="1" i="1">
                            <a:latin typeface="Cambria Math"/>
                            <a:ea typeface="Cambria Math"/>
                          </a:rPr>
                          <m:t>𝒊</m:t>
                        </m:r>
                        <m:r>
                          <a:rPr lang="en-US" sz="2200" b="1" i="1">
                            <a:latin typeface="Cambria Math"/>
                            <a:ea typeface="Cambria Math"/>
                          </a:rPr>
                          <m:t>=</m:t>
                        </m:r>
                        <m:r>
                          <a:rPr lang="en-US" sz="2200" b="1" i="1">
                            <a:latin typeface="Cambria Math"/>
                            <a:ea typeface="Cambria Math"/>
                          </a:rPr>
                          <m:t>𝟏</m:t>
                        </m:r>
                      </m:sub>
                      <m:sup>
                        <m:r>
                          <a:rPr lang="en-US" sz="2200" b="1" i="1">
                            <a:latin typeface="Cambria Math"/>
                            <a:ea typeface="Cambria Math"/>
                          </a:rPr>
                          <m:t>𝒏</m:t>
                        </m:r>
                      </m:sup>
                      <m:e>
                        <m:f>
                          <m:fPr>
                            <m:ctrlPr>
                              <a:rPr lang="en-US" sz="2200" b="1" i="1">
                                <a:latin typeface="Cambria Math" panose="02040503050406030204" pitchFamily="18" charset="0"/>
                                <a:ea typeface="Cambria Math"/>
                              </a:rPr>
                            </m:ctrlPr>
                          </m:fPr>
                          <m:num>
                            <m:sSup>
                              <m:sSupPr>
                                <m:ctrlPr>
                                  <a:rPr lang="en-US" sz="2200" b="1" i="1">
                                    <a:latin typeface="Cambria Math" panose="02040503050406030204" pitchFamily="18" charset="0"/>
                                    <a:ea typeface="Cambria Math"/>
                                  </a:rPr>
                                </m:ctrlPr>
                              </m:sSupPr>
                              <m:e>
                                <m:d>
                                  <m:dPr>
                                    <m:ctrlPr>
                                      <a:rPr lang="en-US" sz="2200" b="1" i="1">
                                        <a:latin typeface="Cambria Math" panose="02040503050406030204" pitchFamily="18" charset="0"/>
                                        <a:ea typeface="Cambria Math"/>
                                      </a:rPr>
                                    </m:ctrlPr>
                                  </m:dPr>
                                  <m:e>
                                    <m:r>
                                      <a:rPr lang="en-US" sz="2200" b="1" i="1">
                                        <a:latin typeface="Cambria Math"/>
                                        <a:ea typeface="Cambria Math"/>
                                      </a:rPr>
                                      <m:t>𝑶𝒃𝒔𝒆𝒓𝒗𝒆𝒅</m:t>
                                    </m:r>
                                    <m:r>
                                      <a:rPr lang="en-US" sz="2200" b="1" i="1">
                                        <a:latin typeface="Cambria Math"/>
                                        <a:ea typeface="Cambria Math"/>
                                      </a:rPr>
                                      <m:t>−</m:t>
                                    </m:r>
                                    <m:r>
                                      <a:rPr lang="en-US" sz="2200" b="1" i="1">
                                        <a:latin typeface="Cambria Math"/>
                                        <a:ea typeface="Cambria Math"/>
                                      </a:rPr>
                                      <m:t>𝑬𝒙𝒑𝒆𝒄𝒕𝒆𝒅</m:t>
                                    </m:r>
                                  </m:e>
                                </m:d>
                              </m:e>
                              <m:sup>
                                <m:r>
                                  <a:rPr lang="en-US" sz="2200" b="1" i="1">
                                    <a:latin typeface="Cambria Math"/>
                                    <a:ea typeface="Cambria Math"/>
                                  </a:rPr>
                                  <m:t>𝟐</m:t>
                                </m:r>
                              </m:sup>
                            </m:sSup>
                          </m:num>
                          <m:den>
                            <m:r>
                              <a:rPr lang="en-US" sz="2200" b="1" i="1">
                                <a:latin typeface="Cambria Math"/>
                                <a:ea typeface="Cambria Math"/>
                              </a:rPr>
                              <m:t>𝑬𝒙𝒑𝒆𝒄𝒕𝒆𝒅</m:t>
                            </m:r>
                          </m:den>
                        </m:f>
                      </m:e>
                    </m:nary>
                  </m:oMath>
                </a14:m>
                <a:r>
                  <a:rPr lang="en-US" sz="2200" dirty="0"/>
                  <a:t>=0.179</a:t>
                </a:r>
              </a:p>
              <a:p>
                <a:pPr marL="0" indent="0" algn="ctr">
                  <a:buNone/>
                </a:pPr>
                <a:endParaRPr lang="en-US" sz="2200" dirty="0"/>
              </a:p>
              <a:p>
                <a:pPr marL="0" indent="0">
                  <a:buNone/>
                </a:pPr>
                <a:r>
                  <a:rPr lang="en-US" sz="2200" dirty="0"/>
                  <a:t>The number of degrees of freedom = 6 –1 = 5 (since we are given 6 frequencies subjected to only one linear constraint: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𝑂</m:t>
                        </m:r>
                      </m:e>
                      <m:sub>
                        <m:r>
                          <a:rPr lang="en-US" sz="2200" i="1">
                            <a:latin typeface="Cambria Math"/>
                          </a:rPr>
                          <m:t>𝑖</m:t>
                        </m:r>
                      </m:sub>
                    </m:sSub>
                  </m:oMath>
                </a14:m>
                <a:r>
                  <a:rPr lang="en-US" sz="2200" dirty="0"/>
                  <a:t>=∑</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𝐸</m:t>
                        </m:r>
                      </m:e>
                      <m:sub>
                        <m:r>
                          <a:rPr lang="en-US" sz="2200" i="1">
                            <a:latin typeface="Cambria Math"/>
                          </a:rPr>
                          <m:t>𝑖</m:t>
                        </m:r>
                      </m:sub>
                    </m:sSub>
                  </m:oMath>
                </a14:m>
                <a:r>
                  <a:rPr lang="en-US" sz="2200" dirty="0"/>
                  <a:t>=6720). The tabulated  </a:t>
                </a:r>
                <a14:m>
                  <m:oMath xmlns:m="http://schemas.openxmlformats.org/officeDocument/2006/math">
                    <m:sSubSup>
                      <m:sSubSupPr>
                        <m:ctrlPr>
                          <a:rPr lang="en-US" sz="2200" i="1">
                            <a:latin typeface="Cambria Math" panose="02040503050406030204" pitchFamily="18" charset="0"/>
                          </a:rPr>
                        </m:ctrlPr>
                      </m:sSubSupPr>
                      <m:e>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e>
                      <m:sub>
                        <m:r>
                          <a:rPr lang="en-US" sz="2200" i="1">
                            <a:latin typeface="Cambria Math"/>
                          </a:rPr>
                          <m:t>0.05</m:t>
                        </m:r>
                      </m:sub>
                      <m:sup>
                        <m:r>
                          <a:rPr lang="en-US" sz="2200" b="0" i="1" smtClean="0">
                            <a:latin typeface="Cambria Math" panose="02040503050406030204" pitchFamily="18" charset="0"/>
                          </a:rPr>
                          <m:t> </m:t>
                        </m:r>
                      </m:sup>
                    </m:sSubSup>
                  </m:oMath>
                </a14:m>
                <a:r>
                  <a:rPr lang="en-US" sz="2200" dirty="0"/>
                  <a:t>for 5 </a:t>
                </a:r>
                <a:r>
                  <a:rPr lang="en-US" sz="2200" dirty="0" err="1"/>
                  <a:t>d.f.</a:t>
                </a:r>
                <a:r>
                  <a:rPr lang="en-US" sz="2200" dirty="0"/>
                  <a:t>= 11.07</a:t>
                </a:r>
              </a:p>
              <a:p>
                <a:pPr marL="0" indent="0">
                  <a:buNone/>
                </a:pPr>
                <a:r>
                  <a:rPr lang="en-US" sz="2200" b="1" dirty="0"/>
                  <a:t>Conclusion:</a:t>
                </a:r>
                <a:r>
                  <a:rPr lang="en-US" sz="2200" dirty="0"/>
                  <a:t> Since calculated value of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r>
                  <a:rPr lang="en-US" sz="2200" dirty="0"/>
                  <a:t>is less than the tabulated value, it is not significant and the null hypothesis may accepted at 5% level of significance. Hence we conclude that the numbers of parts demanded are same over the 6-day period.</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752600" y="0"/>
                <a:ext cx="73914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4249730"/>
      </p:ext>
    </p:extLst>
  </p:cSld>
  <p:clrMapOvr>
    <a:masterClrMapping/>
  </p:clrMapOvr>
  <p:transition spd="slow">
    <p:push dir="u"/>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Chi square test of Independent of Attributes:</a:t>
                </a:r>
              </a:p>
              <a:p>
                <a:r>
                  <a:rPr lang="en-US" sz="2200" dirty="0"/>
                  <a:t>Let us consider two attributes A and B divides into r classes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1,</m:t>
                        </m:r>
                      </m:sub>
                    </m:sSub>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3</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𝑟</m:t>
                        </m:r>
                      </m:sub>
                    </m:sSub>
                  </m:oMath>
                </a14:m>
                <a:r>
                  <a:rPr lang="en-US" sz="2200" dirty="0"/>
                  <a:t>and B divided into s classes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𝐵</m:t>
                        </m:r>
                      </m:e>
                      <m:sub>
                        <m:r>
                          <a:rPr lang="en-US" sz="2200" i="1">
                            <a:latin typeface="Cambria Math"/>
                          </a:rPr>
                          <m:t>1,</m:t>
                        </m:r>
                      </m:sub>
                    </m:sSub>
                    <m:sSub>
                      <m:sSubPr>
                        <m:ctrlPr>
                          <a:rPr lang="en-US" sz="2200" i="1">
                            <a:latin typeface="Cambria Math" panose="02040503050406030204" pitchFamily="18" charset="0"/>
                          </a:rPr>
                        </m:ctrlPr>
                      </m:sSubPr>
                      <m:e>
                        <m:r>
                          <a:rPr lang="en-US" sz="2200" i="1">
                            <a:latin typeface="Cambria Math"/>
                          </a:rPr>
                          <m:t>𝐵</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𝐵</m:t>
                        </m:r>
                      </m:e>
                      <m:sub>
                        <m:r>
                          <a:rPr lang="en-US" sz="2200" i="1">
                            <a:latin typeface="Cambria Math"/>
                          </a:rPr>
                          <m:t>3</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𝐵</m:t>
                        </m:r>
                      </m:e>
                      <m:sub>
                        <m:r>
                          <a:rPr lang="en-US" sz="2200" i="1">
                            <a:latin typeface="Cambria Math"/>
                          </a:rPr>
                          <m:t>𝑠</m:t>
                        </m:r>
                      </m:sub>
                    </m:sSub>
                    <m:r>
                      <a:rPr lang="en-US" sz="2200" i="1">
                        <a:latin typeface="Cambria Math"/>
                      </a:rPr>
                      <m:t>.</m:t>
                    </m:r>
                  </m:oMath>
                </a14:m>
                <a:endParaRPr lang="en-US" sz="2200" dirty="0"/>
              </a:p>
              <a:p>
                <a:r>
                  <a:rPr lang="en-US" sz="2200" dirty="0"/>
                  <a:t>Such a classification in which attributes are divided into more than two classes is known as manifold classification.</a:t>
                </a:r>
              </a:p>
              <a:p>
                <a:endParaRPr lang="en-US" sz="2200" dirty="0"/>
              </a:p>
              <a:p>
                <a:pPr marL="0" indent="0">
                  <a:buNone/>
                </a:pPr>
                <a14:m>
                  <m:oMathPara xmlns:m="http://schemas.openxmlformats.org/officeDocument/2006/math">
                    <m:oMathParaPr>
                      <m:jc m:val="centerGroup"/>
                    </m:oMathParaPr>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r>
                        <a:rPr lang="en-US" sz="2200" b="1" i="1">
                          <a:latin typeface="Cambria Math"/>
                          <a:ea typeface="Cambria Math"/>
                        </a:rPr>
                        <m:t>=</m:t>
                      </m:r>
                      <m:nary>
                        <m:naryPr>
                          <m:chr m:val="∑"/>
                          <m:ctrlPr>
                            <a:rPr lang="en-US" sz="2200" b="1" i="1">
                              <a:latin typeface="Cambria Math" panose="02040503050406030204" pitchFamily="18" charset="0"/>
                              <a:ea typeface="Cambria Math"/>
                            </a:rPr>
                          </m:ctrlPr>
                        </m:naryPr>
                        <m:sub>
                          <m:r>
                            <m:rPr>
                              <m:brk m:alnAt="23"/>
                            </m:rPr>
                            <a:rPr lang="en-US" sz="2200" b="1" i="1">
                              <a:latin typeface="Cambria Math"/>
                              <a:ea typeface="Cambria Math"/>
                            </a:rPr>
                            <m:t>𝒊</m:t>
                          </m:r>
                          <m:r>
                            <a:rPr lang="en-US" sz="2200" b="1" i="1">
                              <a:latin typeface="Cambria Math"/>
                              <a:ea typeface="Cambria Math"/>
                            </a:rPr>
                            <m:t>=</m:t>
                          </m:r>
                          <m:r>
                            <a:rPr lang="en-US" sz="2200" b="1" i="1">
                              <a:latin typeface="Cambria Math"/>
                              <a:ea typeface="Cambria Math"/>
                            </a:rPr>
                            <m:t>𝟏</m:t>
                          </m:r>
                        </m:sub>
                        <m:sup>
                          <m:r>
                            <a:rPr lang="en-US" sz="2200" b="1" i="1">
                              <a:latin typeface="Cambria Math"/>
                              <a:ea typeface="Cambria Math"/>
                            </a:rPr>
                            <m:t>𝒓</m:t>
                          </m:r>
                        </m:sup>
                        <m:e>
                          <m:nary>
                            <m:naryPr>
                              <m:chr m:val="∑"/>
                              <m:ctrlPr>
                                <a:rPr lang="en-US" sz="2200" b="1" i="1">
                                  <a:latin typeface="Cambria Math" panose="02040503050406030204" pitchFamily="18" charset="0"/>
                                  <a:ea typeface="Cambria Math"/>
                                </a:rPr>
                              </m:ctrlPr>
                            </m:naryPr>
                            <m:sub>
                              <m:r>
                                <m:rPr>
                                  <m:brk m:alnAt="23"/>
                                </m:rPr>
                                <a:rPr lang="en-US" sz="2200" b="1" i="1">
                                  <a:latin typeface="Cambria Math"/>
                                  <a:ea typeface="Cambria Math"/>
                                </a:rPr>
                                <m:t>𝒋</m:t>
                              </m:r>
                              <m:r>
                                <a:rPr lang="en-US" sz="2200" b="1" i="1">
                                  <a:latin typeface="Cambria Math"/>
                                  <a:ea typeface="Cambria Math"/>
                                </a:rPr>
                                <m:t>=</m:t>
                              </m:r>
                              <m:r>
                                <a:rPr lang="en-US" sz="2200" b="1" i="1">
                                  <a:latin typeface="Cambria Math"/>
                                  <a:ea typeface="Cambria Math"/>
                                </a:rPr>
                                <m:t>𝟏</m:t>
                              </m:r>
                            </m:sub>
                            <m:sup>
                              <m:r>
                                <a:rPr lang="en-US" sz="2200" b="1" i="1">
                                  <a:latin typeface="Cambria Math"/>
                                  <a:ea typeface="Cambria Math"/>
                                </a:rPr>
                                <m:t>𝒔</m:t>
                              </m:r>
                            </m:sup>
                            <m:e>
                              <m:f>
                                <m:fPr>
                                  <m:ctrlPr>
                                    <a:rPr lang="en-US" sz="2200" b="1" i="1">
                                      <a:latin typeface="Cambria Math" panose="02040503050406030204" pitchFamily="18" charset="0"/>
                                      <a:ea typeface="Cambria Math"/>
                                    </a:rPr>
                                  </m:ctrlPr>
                                </m:fPr>
                                <m:num>
                                  <m:r>
                                    <a:rPr lang="en-US" sz="2200" b="1" i="1">
                                      <a:latin typeface="Cambria Math"/>
                                      <a:ea typeface="Cambria Math"/>
                                    </a:rPr>
                                    <m:t>[</m:t>
                                  </m:r>
                                  <m:sSup>
                                    <m:sSupPr>
                                      <m:ctrlPr>
                                        <a:rPr lang="en-US" sz="2200" b="1" i="1">
                                          <a:latin typeface="Cambria Math" panose="02040503050406030204" pitchFamily="18" charset="0"/>
                                          <a:ea typeface="Cambria Math"/>
                                        </a:rPr>
                                      </m:ctrlPr>
                                    </m:sSupPr>
                                    <m:e>
                                      <m:d>
                                        <m:dPr>
                                          <m:ctrlPr>
                                            <a:rPr lang="en-US" sz="2200" b="1" i="1">
                                              <a:latin typeface="Cambria Math" panose="02040503050406030204" pitchFamily="18" charset="0"/>
                                              <a:ea typeface="Cambria Math"/>
                                            </a:rPr>
                                          </m:ctrlPr>
                                        </m:dPr>
                                        <m:e>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e>
                                      </m:d>
                                      <m:r>
                                        <a:rPr lang="en-US" sz="2200" b="1" i="1">
                                          <a:latin typeface="Cambria Math"/>
                                          <a:ea typeface="Cambria Math"/>
                                        </a:rPr>
                                        <m:t>−</m:t>
                                      </m:r>
                                      <m:sSubSup>
                                        <m:sSubSupPr>
                                          <m:ctrlPr>
                                            <a:rPr lang="en-US" sz="2200" b="1" i="1">
                                              <a:latin typeface="Cambria Math" panose="02040503050406030204" pitchFamily="18" charset="0"/>
                                              <a:ea typeface="Cambria Math"/>
                                            </a:rPr>
                                          </m:ctrlPr>
                                        </m:sSubSupPr>
                                        <m:e>
                                          <m:d>
                                            <m:dPr>
                                              <m:ctrlPr>
                                                <a:rPr lang="en-US" sz="2200" b="1" i="1">
                                                  <a:latin typeface="Cambria Math" panose="02040503050406030204" pitchFamily="18" charset="0"/>
                                                  <a:ea typeface="Cambria Math"/>
                                                </a:rPr>
                                              </m:ctrlPr>
                                            </m:dPr>
                                            <m:e>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e>
                                          </m:d>
                                        </m:e>
                                        <m:sub>
                                          <m:r>
                                            <a:rPr lang="en-US" sz="2200" b="1" i="1">
                                              <a:latin typeface="Cambria Math"/>
                                              <a:ea typeface="Cambria Math"/>
                                            </a:rPr>
                                            <m:t>𝒐</m:t>
                                          </m:r>
                                        </m:sub>
                                        <m:sup>
                                          <m:r>
                                            <a:rPr lang="en-US" sz="2200" b="1" i="1" smtClean="0">
                                              <a:latin typeface="Cambria Math" panose="02040503050406030204" pitchFamily="18" charset="0"/>
                                              <a:ea typeface="Cambria Math"/>
                                            </a:rPr>
                                            <m:t> </m:t>
                                          </m:r>
                                        </m:sup>
                                      </m:sSubSup>
                                      <m:r>
                                        <a:rPr lang="en-US" sz="2200" b="1" i="1">
                                          <a:latin typeface="Cambria Math"/>
                                          <a:ea typeface="Cambria Math"/>
                                        </a:rPr>
                                        <m:t>]</m:t>
                                      </m:r>
                                    </m:e>
                                    <m:sup>
                                      <m:r>
                                        <a:rPr lang="en-US" sz="2200" b="1" i="1">
                                          <a:latin typeface="Cambria Math"/>
                                          <a:ea typeface="Cambria Math"/>
                                        </a:rPr>
                                        <m:t>𝟐</m:t>
                                      </m:r>
                                    </m:sup>
                                  </m:sSup>
                                </m:num>
                                <m:den>
                                  <m:sSubSup>
                                    <m:sSubSupPr>
                                      <m:ctrlPr>
                                        <a:rPr lang="en-US" sz="2200" b="1" i="1">
                                          <a:latin typeface="Cambria Math" panose="02040503050406030204" pitchFamily="18" charset="0"/>
                                          <a:ea typeface="Cambria Math"/>
                                        </a:rPr>
                                      </m:ctrlPr>
                                    </m:sSubSupPr>
                                    <m:e>
                                      <m:d>
                                        <m:dPr>
                                          <m:ctrlPr>
                                            <a:rPr lang="en-US" sz="2200" b="1" i="1">
                                              <a:latin typeface="Cambria Math" panose="02040503050406030204" pitchFamily="18" charset="0"/>
                                              <a:ea typeface="Cambria Math"/>
                                            </a:rPr>
                                          </m:ctrlPr>
                                        </m:dPr>
                                        <m:e>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e>
                                      </m:d>
                                    </m:e>
                                    <m:sub>
                                      <m:r>
                                        <a:rPr lang="en-US" sz="2200" b="1" i="1">
                                          <a:latin typeface="Cambria Math"/>
                                          <a:ea typeface="Cambria Math"/>
                                        </a:rPr>
                                        <m:t>𝒐</m:t>
                                      </m:r>
                                    </m:sub>
                                    <m:sup>
                                      <m:r>
                                        <a:rPr lang="en-US" sz="2200" b="1" i="1" smtClean="0">
                                          <a:latin typeface="Cambria Math" panose="02040503050406030204" pitchFamily="18" charset="0"/>
                                          <a:ea typeface="Cambria Math"/>
                                        </a:rPr>
                                        <m:t> </m:t>
                                      </m:r>
                                    </m:sup>
                                  </m:sSubSup>
                                </m:den>
                              </m:f>
                            </m:e>
                          </m:nary>
                          <m:r>
                            <m:rPr>
                              <m:nor/>
                            </m:rPr>
                            <a:rPr lang="en-US" sz="2200" dirty="0"/>
                            <m:t>=</m:t>
                          </m:r>
                        </m:e>
                      </m:nary>
                      <m:nary>
                        <m:naryPr>
                          <m:chr m:val="∑"/>
                          <m:ctrlPr>
                            <a:rPr lang="en-US" sz="2200" b="1" i="1">
                              <a:latin typeface="Cambria Math" panose="02040503050406030204" pitchFamily="18" charset="0"/>
                              <a:ea typeface="Cambria Math"/>
                            </a:rPr>
                          </m:ctrlPr>
                        </m:naryPr>
                        <m:sub>
                          <m:r>
                            <m:rPr>
                              <m:brk m:alnAt="23"/>
                            </m:rPr>
                            <a:rPr lang="en-US" sz="2200" b="1" i="1">
                              <a:latin typeface="Cambria Math"/>
                              <a:ea typeface="Cambria Math"/>
                            </a:rPr>
                            <m:t>𝒊</m:t>
                          </m:r>
                          <m:r>
                            <a:rPr lang="en-US" sz="2200" b="1" i="1">
                              <a:latin typeface="Cambria Math"/>
                              <a:ea typeface="Cambria Math"/>
                            </a:rPr>
                            <m:t>=</m:t>
                          </m:r>
                          <m:r>
                            <a:rPr lang="en-US" sz="2200" b="1" i="1">
                              <a:latin typeface="Cambria Math"/>
                              <a:ea typeface="Cambria Math"/>
                            </a:rPr>
                            <m:t>𝟏</m:t>
                          </m:r>
                        </m:sub>
                        <m:sup>
                          <m:r>
                            <a:rPr lang="en-US" sz="2200" b="1" i="1">
                              <a:latin typeface="Cambria Math"/>
                              <a:ea typeface="Cambria Math"/>
                            </a:rPr>
                            <m:t>𝒓</m:t>
                          </m:r>
                        </m:sup>
                        <m:e>
                          <m:nary>
                            <m:naryPr>
                              <m:chr m:val="∑"/>
                              <m:ctrlPr>
                                <a:rPr lang="en-US" sz="2200" b="1" i="1">
                                  <a:latin typeface="Cambria Math" panose="02040503050406030204" pitchFamily="18" charset="0"/>
                                  <a:ea typeface="Cambria Math"/>
                                </a:rPr>
                              </m:ctrlPr>
                            </m:naryPr>
                            <m:sub>
                              <m:r>
                                <m:rPr>
                                  <m:brk m:alnAt="23"/>
                                </m:rPr>
                                <a:rPr lang="en-US" sz="2200" b="1" i="1">
                                  <a:latin typeface="Cambria Math"/>
                                  <a:ea typeface="Cambria Math"/>
                                </a:rPr>
                                <m:t>𝒋</m:t>
                              </m:r>
                              <m:r>
                                <a:rPr lang="en-US" sz="2200" b="1" i="1">
                                  <a:latin typeface="Cambria Math"/>
                                  <a:ea typeface="Cambria Math"/>
                                </a:rPr>
                                <m:t>=</m:t>
                              </m:r>
                              <m:r>
                                <a:rPr lang="en-US" sz="2200" b="1" i="1">
                                  <a:latin typeface="Cambria Math"/>
                                  <a:ea typeface="Cambria Math"/>
                                </a:rPr>
                                <m:t>𝟏</m:t>
                              </m:r>
                            </m:sub>
                            <m:sup>
                              <m:r>
                                <a:rPr lang="en-US" sz="2200" b="1" i="1">
                                  <a:latin typeface="Cambria Math"/>
                                  <a:ea typeface="Cambria Math"/>
                                </a:rPr>
                                <m:t>𝒔</m:t>
                              </m:r>
                            </m:sup>
                            <m:e>
                              <m:f>
                                <m:fPr>
                                  <m:ctrlPr>
                                    <a:rPr lang="en-US" sz="2200" b="1" i="1">
                                      <a:latin typeface="Cambria Math" panose="02040503050406030204" pitchFamily="18" charset="0"/>
                                      <a:ea typeface="Cambria Math"/>
                                    </a:rPr>
                                  </m:ctrlPr>
                                </m:fPr>
                                <m:num>
                                  <m:r>
                                    <a:rPr lang="en-US" sz="2200" b="1" i="1">
                                      <a:latin typeface="Cambria Math"/>
                                      <a:ea typeface="Cambria Math"/>
                                    </a:rPr>
                                    <m:t>[</m:t>
                                  </m:r>
                                  <m:sSup>
                                    <m:sSupPr>
                                      <m:ctrlPr>
                                        <a:rPr lang="en-US" sz="2200" b="1" i="1">
                                          <a:latin typeface="Cambria Math" panose="02040503050406030204" pitchFamily="18" charset="0"/>
                                          <a:ea typeface="Cambria Math"/>
                                        </a:rPr>
                                      </m:ctrlPr>
                                    </m:sSupPr>
                                    <m:e>
                                      <m:sSub>
                                        <m:sSubPr>
                                          <m:ctrlPr>
                                            <a:rPr lang="en-US" sz="2200" b="1" i="1">
                                              <a:latin typeface="Cambria Math" panose="02040503050406030204" pitchFamily="18" charset="0"/>
                                              <a:ea typeface="Cambria Math"/>
                                            </a:rPr>
                                          </m:ctrlPr>
                                        </m:sSubPr>
                                        <m:e>
                                          <m:r>
                                            <a:rPr lang="en-US" sz="2200" b="1" i="1">
                                              <a:latin typeface="Cambria Math"/>
                                              <a:ea typeface="Cambria Math"/>
                                            </a:rPr>
                                            <m:t>𝑶</m:t>
                                          </m:r>
                                        </m:e>
                                        <m:sub>
                                          <m:r>
                                            <a:rPr lang="en-US" sz="2200" b="1" i="1">
                                              <a:latin typeface="Cambria Math"/>
                                              <a:ea typeface="Cambria Math"/>
                                            </a:rPr>
                                            <m:t>𝒊𝒋</m:t>
                                          </m:r>
                                        </m:sub>
                                      </m:sSub>
                                      <m:r>
                                        <a:rPr lang="en-US" sz="2200" b="1" i="1">
                                          <a:latin typeface="Cambria Math"/>
                                          <a:ea typeface="Cambria Math"/>
                                        </a:rPr>
                                        <m:t>−</m:t>
                                      </m:r>
                                      <m:sSub>
                                        <m:sSubPr>
                                          <m:ctrlPr>
                                            <a:rPr lang="en-US" sz="2200" b="1" i="1">
                                              <a:latin typeface="Cambria Math" panose="02040503050406030204" pitchFamily="18" charset="0"/>
                                              <a:ea typeface="Cambria Math"/>
                                            </a:rPr>
                                          </m:ctrlPr>
                                        </m:sSubPr>
                                        <m:e>
                                          <m:r>
                                            <a:rPr lang="en-US" sz="2200" b="1" i="1">
                                              <a:latin typeface="Cambria Math"/>
                                              <a:ea typeface="Cambria Math"/>
                                            </a:rPr>
                                            <m:t>𝑬</m:t>
                                          </m:r>
                                        </m:e>
                                        <m:sub>
                                          <m:r>
                                            <a:rPr lang="en-US" sz="2200" b="1" i="1">
                                              <a:latin typeface="Cambria Math"/>
                                              <a:ea typeface="Cambria Math"/>
                                            </a:rPr>
                                            <m:t>𝒊𝒋</m:t>
                                          </m:r>
                                        </m:sub>
                                      </m:sSub>
                                      <m:r>
                                        <a:rPr lang="en-US" sz="2200" b="1" i="1">
                                          <a:latin typeface="Cambria Math"/>
                                          <a:ea typeface="Cambria Math"/>
                                        </a:rPr>
                                        <m:t>]</m:t>
                                      </m:r>
                                    </m:e>
                                    <m:sup>
                                      <m:r>
                                        <a:rPr lang="en-US" sz="2200" b="1" i="1">
                                          <a:latin typeface="Cambria Math"/>
                                          <a:ea typeface="Cambria Math"/>
                                        </a:rPr>
                                        <m:t>𝟐</m:t>
                                      </m:r>
                                    </m:sup>
                                  </m:sSup>
                                </m:num>
                                <m:den>
                                  <m:sSub>
                                    <m:sSubPr>
                                      <m:ctrlPr>
                                        <a:rPr lang="en-US" sz="2200" b="1" i="1">
                                          <a:latin typeface="Cambria Math" panose="02040503050406030204" pitchFamily="18" charset="0"/>
                                          <a:ea typeface="Cambria Math"/>
                                        </a:rPr>
                                      </m:ctrlPr>
                                    </m:sSubPr>
                                    <m:e>
                                      <m:r>
                                        <a:rPr lang="en-US" sz="2200" b="1" i="1">
                                          <a:latin typeface="Cambria Math"/>
                                          <a:ea typeface="Cambria Math"/>
                                        </a:rPr>
                                        <m:t>𝑬</m:t>
                                      </m:r>
                                    </m:e>
                                    <m:sub>
                                      <m:r>
                                        <a:rPr lang="en-US" sz="2200" b="1" i="1">
                                          <a:latin typeface="Cambria Math"/>
                                          <a:ea typeface="Cambria Math"/>
                                        </a:rPr>
                                        <m:t>𝒊𝒋</m:t>
                                      </m:r>
                                    </m:sub>
                                  </m:sSub>
                                </m:den>
                              </m:f>
                            </m:e>
                          </m:nary>
                        </m:e>
                      </m:nary>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00200" y="0"/>
                <a:ext cx="75438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045454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Where </a:t>
                </a:r>
                <a14:m>
                  <m:oMath xmlns:m="http://schemas.openxmlformats.org/officeDocument/2006/math">
                    <m:sSub>
                      <m:sSubPr>
                        <m:ctrlPr>
                          <a:rPr lang="en-US" sz="2200" b="1" i="1">
                            <a:latin typeface="Cambria Math" panose="02040503050406030204" pitchFamily="18" charset="0"/>
                            <a:ea typeface="Cambria Math"/>
                          </a:rPr>
                        </m:ctrlPr>
                      </m:sSubPr>
                      <m:e>
                        <m:r>
                          <a:rPr lang="en-US" sz="2200" b="1" i="1">
                            <a:latin typeface="Cambria Math"/>
                            <a:ea typeface="Cambria Math"/>
                          </a:rPr>
                          <m:t>𝑶</m:t>
                        </m:r>
                      </m:e>
                      <m:sub>
                        <m:r>
                          <a:rPr lang="en-US" sz="2200" b="1" i="1">
                            <a:latin typeface="Cambria Math"/>
                            <a:ea typeface="Cambria Math"/>
                          </a:rPr>
                          <m:t>𝒊𝒋</m:t>
                        </m:r>
                      </m:sub>
                    </m:sSub>
                  </m:oMath>
                </a14:m>
                <a:r>
                  <a:rPr lang="en-US" sz="2200" dirty="0"/>
                  <a:t>=</a:t>
                </a:r>
                <a14:m>
                  <m:oMath xmlns:m="http://schemas.openxmlformats.org/officeDocument/2006/math">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oMath>
                </a14:m>
                <a:r>
                  <a:rPr lang="en-US" sz="2200" dirty="0"/>
                  <a:t>: observed frequency for contingency table category in column i and row j.</a:t>
                </a:r>
              </a:p>
              <a:p>
                <a:pPr marL="0" indent="0">
                  <a:buNone/>
                </a:pPr>
                <a14:m>
                  <m:oMath xmlns:m="http://schemas.openxmlformats.org/officeDocument/2006/math">
                    <m:sSub>
                      <m:sSubPr>
                        <m:ctrlPr>
                          <a:rPr lang="en-US" sz="2200" b="1" i="1">
                            <a:latin typeface="Cambria Math" panose="02040503050406030204" pitchFamily="18" charset="0"/>
                            <a:ea typeface="Cambria Math"/>
                          </a:rPr>
                        </m:ctrlPr>
                      </m:sSubPr>
                      <m:e>
                        <m:r>
                          <a:rPr lang="en-US" sz="2200" b="1" i="1">
                            <a:latin typeface="Cambria Math"/>
                            <a:ea typeface="Cambria Math"/>
                          </a:rPr>
                          <m:t>𝑬</m:t>
                        </m:r>
                      </m:e>
                      <m:sub>
                        <m:r>
                          <a:rPr lang="en-US" sz="2200" b="1" i="1">
                            <a:latin typeface="Cambria Math"/>
                            <a:ea typeface="Cambria Math"/>
                          </a:rPr>
                          <m:t>𝒊𝒋</m:t>
                        </m:r>
                      </m:sub>
                    </m:sSub>
                  </m:oMath>
                </a14:m>
                <a:r>
                  <a:rPr lang="en-US" sz="2200" dirty="0"/>
                  <a:t>=</a:t>
                </a:r>
                <a14:m>
                  <m:oMath xmlns:m="http://schemas.openxmlformats.org/officeDocument/2006/math">
                    <m:sSubSup>
                      <m:sSubSupPr>
                        <m:ctrlPr>
                          <a:rPr lang="en-US" sz="2200" b="1" i="1">
                            <a:latin typeface="Cambria Math" panose="02040503050406030204" pitchFamily="18" charset="0"/>
                            <a:ea typeface="Cambria Math"/>
                          </a:rPr>
                        </m:ctrlPr>
                      </m:sSubSupPr>
                      <m:e>
                        <m:d>
                          <m:dPr>
                            <m:ctrlPr>
                              <a:rPr lang="en-US" sz="2200" b="1" i="1">
                                <a:latin typeface="Cambria Math" panose="02040503050406030204" pitchFamily="18" charset="0"/>
                                <a:ea typeface="Cambria Math"/>
                              </a:rPr>
                            </m:ctrlPr>
                          </m:dPr>
                          <m:e>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e>
                        </m:d>
                      </m:e>
                      <m:sub>
                        <m:r>
                          <a:rPr lang="en-US" sz="2200" b="1" i="1">
                            <a:latin typeface="Cambria Math"/>
                            <a:ea typeface="Cambria Math"/>
                          </a:rPr>
                          <m:t>𝒐</m:t>
                        </m:r>
                      </m:sub>
                      <m:sup>
                        <m:r>
                          <a:rPr lang="en-US" sz="2200" b="1" i="1" smtClean="0">
                            <a:latin typeface="Cambria Math" panose="02040503050406030204" pitchFamily="18" charset="0"/>
                            <a:ea typeface="Cambria Math"/>
                          </a:rPr>
                          <m:t> </m:t>
                        </m:r>
                      </m:sup>
                    </m:sSubSup>
                  </m:oMath>
                </a14:m>
                <a:r>
                  <a:rPr lang="en-US" sz="2200" dirty="0"/>
                  <a:t>: expected frequency for contingency table category in column i and row j.</a:t>
                </a:r>
              </a:p>
              <a:p>
                <a:pPr marL="0" indent="0">
                  <a:buNone/>
                </a:pPr>
                <a14:m>
                  <m:oMath xmlns:m="http://schemas.openxmlformats.org/officeDocument/2006/math">
                    <m:sSubSup>
                      <m:sSubSupPr>
                        <m:ctrlPr>
                          <a:rPr lang="en-US" sz="2200" b="1" i="1">
                            <a:latin typeface="Cambria Math" panose="02040503050406030204" pitchFamily="18" charset="0"/>
                            <a:ea typeface="Cambria Math"/>
                          </a:rPr>
                        </m:ctrlPr>
                      </m:sSubSupPr>
                      <m:e>
                        <m:d>
                          <m:dPr>
                            <m:ctrlPr>
                              <a:rPr lang="en-US" sz="2200" b="1" i="1">
                                <a:latin typeface="Cambria Math" panose="02040503050406030204" pitchFamily="18" charset="0"/>
                                <a:ea typeface="Cambria Math"/>
                              </a:rPr>
                            </m:ctrlPr>
                          </m:dPr>
                          <m:e>
                            <m:sSub>
                              <m:sSubPr>
                                <m:ctrlPr>
                                  <a:rPr lang="en-US" sz="2200" b="1" i="1">
                                    <a:latin typeface="Cambria Math" panose="02040503050406030204" pitchFamily="18" charset="0"/>
                                    <a:ea typeface="Cambria Math"/>
                                  </a:rPr>
                                </m:ctrlPr>
                              </m:sSubPr>
                              <m:e>
                                <m:r>
                                  <a:rPr lang="en-US" sz="2200" b="1" i="1">
                                    <a:latin typeface="Cambria Math"/>
                                    <a:ea typeface="Cambria Math"/>
                                  </a:rPr>
                                  <m:t>𝑨</m:t>
                                </m:r>
                              </m:e>
                              <m:sub>
                                <m:r>
                                  <a:rPr lang="en-US" sz="2200" b="1" i="1">
                                    <a:latin typeface="Cambria Math"/>
                                    <a:ea typeface="Cambria Math"/>
                                  </a:rPr>
                                  <m:t>𝒊</m:t>
                                </m:r>
                              </m:sub>
                            </m:sSub>
                            <m:sSub>
                              <m:sSubPr>
                                <m:ctrlPr>
                                  <a:rPr lang="en-US" sz="2200" b="1" i="1">
                                    <a:latin typeface="Cambria Math" panose="02040503050406030204" pitchFamily="18" charset="0"/>
                                    <a:ea typeface="Cambria Math"/>
                                  </a:rPr>
                                </m:ctrlPr>
                              </m:sSubPr>
                              <m:e>
                                <m:r>
                                  <a:rPr lang="en-US" sz="2200" b="1" i="1">
                                    <a:latin typeface="Cambria Math"/>
                                    <a:ea typeface="Cambria Math"/>
                                  </a:rPr>
                                  <m:t>𝑩</m:t>
                                </m:r>
                              </m:e>
                              <m:sub>
                                <m:r>
                                  <a:rPr lang="en-US" sz="2200" b="1" i="1">
                                    <a:latin typeface="Cambria Math"/>
                                    <a:ea typeface="Cambria Math"/>
                                  </a:rPr>
                                  <m:t>𝒋</m:t>
                                </m:r>
                              </m:sub>
                            </m:sSub>
                          </m:e>
                        </m:d>
                      </m:e>
                      <m:sub>
                        <m:r>
                          <a:rPr lang="en-US" sz="2200" b="1" i="1">
                            <a:latin typeface="Cambria Math"/>
                            <a:ea typeface="Cambria Math"/>
                          </a:rPr>
                          <m:t>𝒐</m:t>
                        </m:r>
                      </m:sub>
                      <m:sup>
                        <m:r>
                          <a:rPr lang="en-US" sz="2200" b="1" i="1" smtClean="0">
                            <a:latin typeface="Cambria Math" panose="02040503050406030204" pitchFamily="18" charset="0"/>
                            <a:ea typeface="Cambria Math"/>
                          </a:rPr>
                          <m:t> </m:t>
                        </m:r>
                      </m:sup>
                    </m:sSubSup>
                  </m:oMath>
                </a14:m>
                <a:r>
                  <a:rPr lang="en-US" sz="2200" dirty="0"/>
                  <a:t>=</a:t>
                </a:r>
                <a14:m>
                  <m:oMath xmlns:m="http://schemas.openxmlformats.org/officeDocument/2006/math">
                    <m:f>
                      <m:fPr>
                        <m:ctrlPr>
                          <a:rPr lang="en-US" sz="2200" i="1" dirty="0">
                            <a:latin typeface="Cambria Math" panose="02040503050406030204" pitchFamily="18" charset="0"/>
                          </a:rPr>
                        </m:ctrlPr>
                      </m:fPr>
                      <m:num>
                        <m:sSub>
                          <m:sSubPr>
                            <m:ctrlPr>
                              <a:rPr lang="en-US" sz="2200" i="1" dirty="0">
                                <a:latin typeface="Cambria Math" panose="02040503050406030204" pitchFamily="18" charset="0"/>
                              </a:rPr>
                            </m:ctrlPr>
                          </m:sSubPr>
                          <m:e>
                            <m:r>
                              <a:rPr lang="en-US" sz="2200" i="1" dirty="0">
                                <a:latin typeface="Cambria Math"/>
                              </a:rPr>
                              <m:t>(</m:t>
                            </m:r>
                            <m:r>
                              <a:rPr lang="en-US" sz="2200" i="1" dirty="0">
                                <a:latin typeface="Cambria Math"/>
                              </a:rPr>
                              <m:t>𝐴</m:t>
                            </m:r>
                            <m:r>
                              <a:rPr lang="en-US" sz="2200" i="1" dirty="0">
                                <a:latin typeface="Cambria Math"/>
                              </a:rPr>
                              <m:t>)</m:t>
                            </m:r>
                          </m:e>
                          <m:sub>
                            <m:r>
                              <a:rPr lang="en-US" sz="2200" i="1" dirty="0">
                                <a:latin typeface="Cambria Math"/>
                              </a:rPr>
                              <m:t>𝑖</m:t>
                            </m:r>
                          </m:sub>
                        </m:sSub>
                        <m:sSub>
                          <m:sSubPr>
                            <m:ctrlPr>
                              <a:rPr lang="en-US" sz="2200" i="1" dirty="0">
                                <a:latin typeface="Cambria Math" panose="02040503050406030204" pitchFamily="18" charset="0"/>
                              </a:rPr>
                            </m:ctrlPr>
                          </m:sSubPr>
                          <m:e>
                            <m:r>
                              <a:rPr lang="en-US" sz="2200" i="1" dirty="0">
                                <a:latin typeface="Cambria Math"/>
                              </a:rPr>
                              <m:t>(</m:t>
                            </m:r>
                            <m:r>
                              <a:rPr lang="en-US" sz="2200" i="1" dirty="0">
                                <a:latin typeface="Cambria Math"/>
                              </a:rPr>
                              <m:t>𝐵</m:t>
                            </m:r>
                            <m:r>
                              <a:rPr lang="en-US" sz="2200" i="1" dirty="0">
                                <a:latin typeface="Cambria Math"/>
                              </a:rPr>
                              <m:t>)</m:t>
                            </m:r>
                          </m:e>
                          <m:sub>
                            <m:r>
                              <a:rPr lang="en-US" sz="2200" i="1" dirty="0">
                                <a:latin typeface="Cambria Math"/>
                              </a:rPr>
                              <m:t>𝑗</m:t>
                            </m:r>
                          </m:sub>
                        </m:sSub>
                      </m:num>
                      <m:den>
                        <m:r>
                          <a:rPr lang="en-US" sz="2200" i="1" dirty="0">
                            <a:latin typeface="Cambria Math"/>
                          </a:rPr>
                          <m:t>𝑁</m:t>
                        </m:r>
                      </m:den>
                    </m:f>
                  </m:oMath>
                </a14:m>
                <a:r>
                  <a:rPr lang="en-US" sz="2200" dirty="0"/>
                  <a:t>, (i=1,2,3…</a:t>
                </a:r>
                <a:r>
                  <a:rPr lang="en-US" sz="2200" dirty="0" err="1"/>
                  <a:t>r,j</a:t>
                </a:r>
                <a:r>
                  <a:rPr lang="en-US" sz="2200" dirty="0"/>
                  <a:t>=1,2,3…s)</a:t>
                </a:r>
              </a:p>
              <a:p>
                <a:pPr marL="0" indent="0">
                  <a:buNone/>
                </a:pPr>
                <a:r>
                  <a:rPr lang="en-US" sz="2200" dirty="0"/>
                  <a:t>Which is distributed as a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r>
                  <a:rPr lang="en-US" sz="2200" dirty="0"/>
                  <a:t>with (r-1)(s-1) </a:t>
                </a:r>
                <a:r>
                  <a:rPr lang="en-US" sz="2200" dirty="0" err="1"/>
                  <a:t>d.f.</a:t>
                </a:r>
                <a:endParaRPr lang="en-US" sz="2200" dirty="0"/>
              </a:p>
              <a:p>
                <a:pPr marL="0" indent="0">
                  <a:buNone/>
                </a:pPr>
                <a:r>
                  <a:rPr lang="en-US" sz="2200" b="1" dirty="0"/>
                  <a:t>Example :</a:t>
                </a:r>
                <a:r>
                  <a:rPr lang="en-US" sz="2200" dirty="0"/>
                  <a:t>Two sample polls of  votes for two candidates A and B for public office are taken, one from among the resident area of ruler areas. The results are given in the following table. Examine  whether the nature of area related to the voting preference in elections.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140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00200" y="0"/>
                <a:ext cx="75438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427255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b="1" dirty="0"/>
                  <a:t>Solution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m:t>
                    </m:r>
                  </m:oMath>
                </a14:m>
                <a:r>
                  <a:rPr lang="en-US" sz="2200" dirty="0"/>
                  <a:t> the nature of the area is independent of the voting preference in the election</a:t>
                </a:r>
              </a:p>
              <a:p>
                <a:pPr marL="0" indent="0">
                  <a:buNone/>
                </a:pPr>
                <a:r>
                  <a:rPr lang="en-US" sz="2200" dirty="0"/>
                  <a:t>Expected frequencies</a:t>
                </a:r>
              </a:p>
              <a:p>
                <a:pPr marL="0" indent="0">
                  <a:buNone/>
                </a:pPr>
                <a:r>
                  <a:rPr lang="en-US" sz="2200" dirty="0"/>
                  <a:t>E(620)=</a:t>
                </a:r>
                <a14:m>
                  <m:oMath xmlns:m="http://schemas.openxmlformats.org/officeDocument/2006/math">
                    <m:f>
                      <m:fPr>
                        <m:ctrlPr>
                          <a:rPr lang="en-US" sz="2200" i="1">
                            <a:latin typeface="Cambria Math" panose="02040503050406030204" pitchFamily="18" charset="0"/>
                          </a:rPr>
                        </m:ctrlPr>
                      </m:fPr>
                      <m:num>
                        <m:r>
                          <a:rPr lang="en-US" sz="2200" i="1">
                            <a:latin typeface="Cambria Math"/>
                          </a:rPr>
                          <m:t>1170</m:t>
                        </m:r>
                        <m:r>
                          <a:rPr lang="en-US" sz="2200" i="1">
                            <a:latin typeface="Cambria Math"/>
                            <a:ea typeface="Cambria Math"/>
                          </a:rPr>
                          <m:t>×1000</m:t>
                        </m:r>
                      </m:num>
                      <m:den>
                        <m:r>
                          <a:rPr lang="en-US" sz="2200" i="1">
                            <a:latin typeface="Cambria Math"/>
                          </a:rPr>
                          <m:t>2000</m:t>
                        </m:r>
                      </m:den>
                    </m:f>
                    <m:r>
                      <a:rPr lang="en-US" sz="2200" i="1">
                        <a:latin typeface="Cambria Math"/>
                      </a:rPr>
                      <m:t>=585</m:t>
                    </m:r>
                  </m:oMath>
                </a14:m>
                <a:endParaRPr lang="en-US" sz="2200" dirty="0"/>
              </a:p>
              <a:p>
                <a:pPr marL="0" indent="0">
                  <a:buNone/>
                </a:pPr>
                <a:r>
                  <a:rPr lang="en-US" sz="2200" dirty="0"/>
                  <a:t>E(380)=</a:t>
                </a:r>
                <a14:m>
                  <m:oMath xmlns:m="http://schemas.openxmlformats.org/officeDocument/2006/math">
                    <m:f>
                      <m:fPr>
                        <m:ctrlPr>
                          <a:rPr lang="en-US" sz="2200" i="1">
                            <a:latin typeface="Cambria Math" panose="02040503050406030204" pitchFamily="18" charset="0"/>
                          </a:rPr>
                        </m:ctrlPr>
                      </m:fPr>
                      <m:num>
                        <m:r>
                          <a:rPr lang="en-US" sz="2200" i="1">
                            <a:latin typeface="Cambria Math"/>
                          </a:rPr>
                          <m:t>830</m:t>
                        </m:r>
                        <m:r>
                          <a:rPr lang="en-US" sz="2200" i="1">
                            <a:latin typeface="Cambria Math"/>
                            <a:ea typeface="Cambria Math"/>
                          </a:rPr>
                          <m:t>×1000</m:t>
                        </m:r>
                      </m:num>
                      <m:den>
                        <m:r>
                          <a:rPr lang="en-US" sz="2200" i="1">
                            <a:latin typeface="Cambria Math"/>
                          </a:rPr>
                          <m:t>2000</m:t>
                        </m:r>
                      </m:den>
                    </m:f>
                    <m:r>
                      <a:rPr lang="en-US" sz="2200" i="1">
                        <a:latin typeface="Cambria Math"/>
                      </a:rPr>
                      <m:t>=415</m:t>
                    </m:r>
                  </m:oMath>
                </a14:m>
                <a:endParaRPr lang="en-US" sz="2200" dirty="0"/>
              </a:p>
              <a:p>
                <a:pPr marL="0" indent="0">
                  <a:buNone/>
                </a:pPr>
                <a:r>
                  <a:rPr lang="en-US" sz="2200" dirty="0"/>
                  <a:t>E(550)=</a:t>
                </a:r>
                <a14:m>
                  <m:oMath xmlns:m="http://schemas.openxmlformats.org/officeDocument/2006/math">
                    <m:f>
                      <m:fPr>
                        <m:ctrlPr>
                          <a:rPr lang="en-US" sz="2200" i="1">
                            <a:latin typeface="Cambria Math" panose="02040503050406030204" pitchFamily="18" charset="0"/>
                          </a:rPr>
                        </m:ctrlPr>
                      </m:fPr>
                      <m:num>
                        <m:r>
                          <a:rPr lang="en-US" sz="2200" i="1">
                            <a:latin typeface="Cambria Math"/>
                          </a:rPr>
                          <m:t>1170</m:t>
                        </m:r>
                        <m:r>
                          <a:rPr lang="en-US" sz="2200" i="1">
                            <a:latin typeface="Cambria Math"/>
                            <a:ea typeface="Cambria Math"/>
                          </a:rPr>
                          <m:t>×1000</m:t>
                        </m:r>
                      </m:num>
                      <m:den>
                        <m:r>
                          <a:rPr lang="en-US" sz="2200" i="1">
                            <a:latin typeface="Cambria Math"/>
                          </a:rPr>
                          <m:t>2000</m:t>
                        </m:r>
                      </m:den>
                    </m:f>
                    <m:r>
                      <a:rPr lang="en-US" sz="2200" i="1">
                        <a:latin typeface="Cambria Math"/>
                      </a:rPr>
                      <m:t>=585</m:t>
                    </m:r>
                  </m:oMath>
                </a14:m>
                <a:endParaRPr lang="en-US" sz="2200" dirty="0"/>
              </a:p>
              <a:p>
                <a:pPr marL="0" indent="0">
                  <a:buNone/>
                </a:pPr>
                <a:endParaRPr lang="en-US" sz="2200" dirty="0"/>
              </a:p>
              <a:p>
                <a:pPr marL="0" indent="0">
                  <a:buNone/>
                </a:pPr>
                <a:endParaRPr lang="en-US" sz="2200" dirty="0"/>
              </a:p>
              <a:p>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4622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3"/>
                <a:stretch>
                  <a:fillRect/>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6F97453F-7226-409B-BC3E-F5AE77EDB2B9}"/>
              </a:ext>
            </a:extLst>
          </p:cNvPr>
          <p:cNvGraphicFramePr>
            <a:graphicFrameLocks noGrp="1"/>
          </p:cNvGraphicFramePr>
          <p:nvPr>
            <p:extLst>
              <p:ext uri="{D42A27DB-BD31-4B8C-83A1-F6EECF244321}">
                <p14:modId xmlns:p14="http://schemas.microsoft.com/office/powerpoint/2010/main" val="3548400027"/>
              </p:ext>
            </p:extLst>
          </p:nvPr>
        </p:nvGraphicFramePr>
        <p:xfrm>
          <a:off x="1524000" y="1143000"/>
          <a:ext cx="6096000" cy="14833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967719557"/>
                    </a:ext>
                  </a:extLst>
                </a:gridCol>
                <a:gridCol w="1524000">
                  <a:extLst>
                    <a:ext uri="{9D8B030D-6E8A-4147-A177-3AD203B41FA5}">
                      <a16:colId xmlns:a16="http://schemas.microsoft.com/office/drawing/2014/main" val="3199248543"/>
                    </a:ext>
                  </a:extLst>
                </a:gridCol>
                <a:gridCol w="1524000">
                  <a:extLst>
                    <a:ext uri="{9D8B030D-6E8A-4147-A177-3AD203B41FA5}">
                      <a16:colId xmlns:a16="http://schemas.microsoft.com/office/drawing/2014/main" val="1595390184"/>
                    </a:ext>
                  </a:extLst>
                </a:gridCol>
                <a:gridCol w="1524000">
                  <a:extLst>
                    <a:ext uri="{9D8B030D-6E8A-4147-A177-3AD203B41FA5}">
                      <a16:colId xmlns:a16="http://schemas.microsoft.com/office/drawing/2014/main" val="3899148587"/>
                    </a:ext>
                  </a:extLst>
                </a:gridCol>
              </a:tblGrid>
              <a:tr h="370840">
                <a:tc>
                  <a:txBody>
                    <a:bodyPr/>
                    <a:lstStyle/>
                    <a:p>
                      <a:r>
                        <a:rPr lang="en-US" dirty="0"/>
                        <a:t>Area</a:t>
                      </a:r>
                    </a:p>
                  </a:txBody>
                  <a:tcPr/>
                </a:tc>
                <a:tc>
                  <a:txBody>
                    <a:bodyPr/>
                    <a:lstStyle/>
                    <a:p>
                      <a:r>
                        <a:rPr lang="en-US" dirty="0"/>
                        <a:t>Voter for A</a:t>
                      </a:r>
                    </a:p>
                  </a:txBody>
                  <a:tcPr/>
                </a:tc>
                <a:tc>
                  <a:txBody>
                    <a:bodyPr/>
                    <a:lstStyle/>
                    <a:p>
                      <a:r>
                        <a:rPr lang="en-US" dirty="0"/>
                        <a:t>Voter for B</a:t>
                      </a:r>
                    </a:p>
                  </a:txBody>
                  <a:tcPr/>
                </a:tc>
                <a:tc>
                  <a:txBody>
                    <a:bodyPr/>
                    <a:lstStyle/>
                    <a:p>
                      <a:r>
                        <a:rPr lang="en-US" dirty="0"/>
                        <a:t>Total</a:t>
                      </a:r>
                    </a:p>
                  </a:txBody>
                  <a:tcPr/>
                </a:tc>
                <a:extLst>
                  <a:ext uri="{0D108BD9-81ED-4DB2-BD59-A6C34878D82A}">
                    <a16:rowId xmlns:a16="http://schemas.microsoft.com/office/drawing/2014/main" val="3617910680"/>
                  </a:ext>
                </a:extLst>
              </a:tr>
              <a:tr h="370840">
                <a:tc>
                  <a:txBody>
                    <a:bodyPr/>
                    <a:lstStyle/>
                    <a:p>
                      <a:r>
                        <a:rPr lang="en-US" dirty="0"/>
                        <a:t>Ruler</a:t>
                      </a:r>
                    </a:p>
                  </a:txBody>
                  <a:tcPr/>
                </a:tc>
                <a:tc>
                  <a:txBody>
                    <a:bodyPr/>
                    <a:lstStyle/>
                    <a:p>
                      <a:r>
                        <a:rPr lang="en-US" dirty="0"/>
                        <a:t>620</a:t>
                      </a:r>
                    </a:p>
                  </a:txBody>
                  <a:tcPr/>
                </a:tc>
                <a:tc>
                  <a:txBody>
                    <a:bodyPr/>
                    <a:lstStyle/>
                    <a:p>
                      <a:r>
                        <a:rPr lang="en-US" dirty="0"/>
                        <a:t>380</a:t>
                      </a:r>
                    </a:p>
                  </a:txBody>
                  <a:tcPr/>
                </a:tc>
                <a:tc>
                  <a:txBody>
                    <a:bodyPr/>
                    <a:lstStyle/>
                    <a:p>
                      <a:r>
                        <a:rPr lang="en-US" dirty="0"/>
                        <a:t>1000</a:t>
                      </a:r>
                    </a:p>
                  </a:txBody>
                  <a:tcPr/>
                </a:tc>
                <a:extLst>
                  <a:ext uri="{0D108BD9-81ED-4DB2-BD59-A6C34878D82A}">
                    <a16:rowId xmlns:a16="http://schemas.microsoft.com/office/drawing/2014/main" val="1039027349"/>
                  </a:ext>
                </a:extLst>
              </a:tr>
              <a:tr h="370840">
                <a:tc>
                  <a:txBody>
                    <a:bodyPr/>
                    <a:lstStyle/>
                    <a:p>
                      <a:r>
                        <a:rPr lang="en-US" dirty="0"/>
                        <a:t>Urban</a:t>
                      </a:r>
                    </a:p>
                  </a:txBody>
                  <a:tcPr/>
                </a:tc>
                <a:tc>
                  <a:txBody>
                    <a:bodyPr/>
                    <a:lstStyle/>
                    <a:p>
                      <a:r>
                        <a:rPr lang="en-US" dirty="0"/>
                        <a:t>550</a:t>
                      </a:r>
                    </a:p>
                  </a:txBody>
                  <a:tcPr/>
                </a:tc>
                <a:tc>
                  <a:txBody>
                    <a:bodyPr/>
                    <a:lstStyle/>
                    <a:p>
                      <a:r>
                        <a:rPr lang="en-US" dirty="0"/>
                        <a:t>450</a:t>
                      </a:r>
                    </a:p>
                  </a:txBody>
                  <a:tcPr/>
                </a:tc>
                <a:tc>
                  <a:txBody>
                    <a:bodyPr/>
                    <a:lstStyle/>
                    <a:p>
                      <a:r>
                        <a:rPr lang="en-US" dirty="0"/>
                        <a:t>1000</a:t>
                      </a:r>
                    </a:p>
                  </a:txBody>
                  <a:tcPr/>
                </a:tc>
                <a:extLst>
                  <a:ext uri="{0D108BD9-81ED-4DB2-BD59-A6C34878D82A}">
                    <a16:rowId xmlns:a16="http://schemas.microsoft.com/office/drawing/2014/main" val="828797714"/>
                  </a:ext>
                </a:extLst>
              </a:tr>
              <a:tr h="370840">
                <a:tc>
                  <a:txBody>
                    <a:bodyPr/>
                    <a:lstStyle/>
                    <a:p>
                      <a:r>
                        <a:rPr lang="en-US" dirty="0"/>
                        <a:t>Total</a:t>
                      </a:r>
                    </a:p>
                  </a:txBody>
                  <a:tcPr/>
                </a:tc>
                <a:tc>
                  <a:txBody>
                    <a:bodyPr/>
                    <a:lstStyle/>
                    <a:p>
                      <a:r>
                        <a:rPr lang="en-US" dirty="0"/>
                        <a:t>1170</a:t>
                      </a:r>
                    </a:p>
                  </a:txBody>
                  <a:tcPr/>
                </a:tc>
                <a:tc>
                  <a:txBody>
                    <a:bodyPr/>
                    <a:lstStyle/>
                    <a:p>
                      <a:r>
                        <a:rPr lang="en-US" dirty="0"/>
                        <a:t>830</a:t>
                      </a:r>
                    </a:p>
                  </a:txBody>
                  <a:tcPr/>
                </a:tc>
                <a:tc>
                  <a:txBody>
                    <a:bodyPr/>
                    <a:lstStyle/>
                    <a:p>
                      <a:r>
                        <a:rPr lang="en-US" dirty="0"/>
                        <a:t>2000</a:t>
                      </a:r>
                    </a:p>
                  </a:txBody>
                  <a:tcPr/>
                </a:tc>
                <a:extLst>
                  <a:ext uri="{0D108BD9-81ED-4DB2-BD59-A6C34878D82A}">
                    <a16:rowId xmlns:a16="http://schemas.microsoft.com/office/drawing/2014/main" val="2721818801"/>
                  </a:ext>
                </a:extLst>
              </a:tr>
            </a:tbl>
          </a:graphicData>
        </a:graphic>
      </p:graphicFrame>
    </p:spTree>
    <p:extLst>
      <p:ext uri="{BB962C8B-B14F-4D97-AF65-F5344CB8AC3E}">
        <p14:creationId xmlns:p14="http://schemas.microsoft.com/office/powerpoint/2010/main" val="14970629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E(450)=</a:t>
                </a:r>
                <a14:m>
                  <m:oMath xmlns:m="http://schemas.openxmlformats.org/officeDocument/2006/math">
                    <m:f>
                      <m:fPr>
                        <m:ctrlPr>
                          <a:rPr lang="en-US" sz="2200" i="1">
                            <a:latin typeface="Cambria Math" panose="02040503050406030204" pitchFamily="18" charset="0"/>
                          </a:rPr>
                        </m:ctrlPr>
                      </m:fPr>
                      <m:num>
                        <m:r>
                          <a:rPr lang="en-US" sz="2200" i="1">
                            <a:latin typeface="Cambria Math"/>
                          </a:rPr>
                          <m:t>830</m:t>
                        </m:r>
                        <m:r>
                          <a:rPr lang="en-US" sz="2200" i="1">
                            <a:latin typeface="Cambria Math"/>
                            <a:ea typeface="Cambria Math"/>
                          </a:rPr>
                          <m:t>×1000</m:t>
                        </m:r>
                      </m:num>
                      <m:den>
                        <m:r>
                          <a:rPr lang="en-US" sz="2200" i="1">
                            <a:latin typeface="Cambria Math"/>
                          </a:rPr>
                          <m:t>2000</m:t>
                        </m:r>
                      </m:den>
                    </m:f>
                    <m:r>
                      <a:rPr lang="en-US" sz="2200" i="1">
                        <a:latin typeface="Cambria Math"/>
                      </a:rPr>
                      <m:t>=415</m:t>
                    </m:r>
                  </m:oMath>
                </a14:m>
                <a:endParaRPr lang="en-US" sz="2200" dirty="0"/>
              </a:p>
              <a:p>
                <a:pPr marL="0" indent="0">
                  <a:buNone/>
                </a:pPr>
                <a:r>
                  <a:rPr lang="en-US" sz="2200" dirty="0"/>
                  <a:t>Calculate the statistic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endParaRPr lang="en-US" sz="2200" b="1" dirty="0"/>
              </a:p>
              <a:p>
                <a:pPr marL="0" indent="0">
                  <a:buNone/>
                </a:pPr>
                <a:r>
                  <a:rPr lang="en-US" sz="2200" dirty="0"/>
                  <a:t>=</a:t>
                </a:r>
                <a14:m>
                  <m:oMath xmlns:m="http://schemas.openxmlformats.org/officeDocument/2006/math">
                    <m:f>
                      <m:fPr>
                        <m:ctrlPr>
                          <a:rPr lang="en-US" sz="2200" i="1" dirty="0">
                            <a:latin typeface="Cambria Math" panose="02040503050406030204" pitchFamily="18" charset="0"/>
                            <a:ea typeface="Cambria Math"/>
                          </a:rPr>
                        </m:ctrlPr>
                      </m:fPr>
                      <m:num>
                        <m:sSup>
                          <m:sSupPr>
                            <m:ctrlPr>
                              <a:rPr lang="en-US" sz="2200" i="1" dirty="0">
                                <a:latin typeface="Cambria Math" panose="02040503050406030204" pitchFamily="18" charset="0"/>
                              </a:rPr>
                            </m:ctrlPr>
                          </m:sSupPr>
                          <m:e>
                            <m:r>
                              <a:rPr lang="en-US" sz="2200" i="1" dirty="0">
                                <a:latin typeface="Cambria Math"/>
                              </a:rPr>
                              <m:t>(620−585)</m:t>
                            </m:r>
                          </m:e>
                          <m:sup>
                            <m:r>
                              <a:rPr lang="en-US" sz="2200" i="1" dirty="0">
                                <a:latin typeface="Cambria Math"/>
                              </a:rPr>
                              <m:t>2</m:t>
                            </m:r>
                          </m:sup>
                        </m:sSup>
                      </m:num>
                      <m:den>
                        <m:r>
                          <a:rPr lang="en-US" sz="2200" i="1" dirty="0">
                            <a:latin typeface="Cambria Math"/>
                            <a:ea typeface="Cambria Math"/>
                          </a:rPr>
                          <m:t>585</m:t>
                        </m:r>
                      </m:den>
                    </m:f>
                  </m:oMath>
                </a14:m>
                <a:r>
                  <a:rPr lang="en-US" sz="2200" dirty="0"/>
                  <a:t>+</a:t>
                </a:r>
                <a14:m>
                  <m:oMath xmlns:m="http://schemas.openxmlformats.org/officeDocument/2006/math">
                    <m:f>
                      <m:fPr>
                        <m:ctrlPr>
                          <a:rPr lang="en-US" sz="2200" i="1" dirty="0">
                            <a:latin typeface="Cambria Math" panose="02040503050406030204" pitchFamily="18" charset="0"/>
                            <a:ea typeface="Cambria Math"/>
                          </a:rPr>
                        </m:ctrlPr>
                      </m:fPr>
                      <m:num>
                        <m:sSup>
                          <m:sSupPr>
                            <m:ctrlPr>
                              <a:rPr lang="en-US" sz="2200" i="1" dirty="0">
                                <a:latin typeface="Cambria Math" panose="02040503050406030204" pitchFamily="18" charset="0"/>
                              </a:rPr>
                            </m:ctrlPr>
                          </m:sSupPr>
                          <m:e>
                            <m:r>
                              <a:rPr lang="en-US" sz="2200" i="1" dirty="0">
                                <a:latin typeface="Cambria Math"/>
                              </a:rPr>
                              <m:t>(380−415)</m:t>
                            </m:r>
                          </m:e>
                          <m:sup>
                            <m:r>
                              <a:rPr lang="en-US" sz="2200" i="1" dirty="0">
                                <a:latin typeface="Cambria Math"/>
                              </a:rPr>
                              <m:t>2</m:t>
                            </m:r>
                          </m:sup>
                        </m:sSup>
                      </m:num>
                      <m:den>
                        <m:r>
                          <a:rPr lang="en-US" sz="2200" i="1" dirty="0">
                            <a:latin typeface="Cambria Math"/>
                          </a:rPr>
                          <m:t>41</m:t>
                        </m:r>
                        <m:r>
                          <a:rPr lang="en-US" sz="2200" i="1" dirty="0">
                            <a:latin typeface="Cambria Math"/>
                            <a:ea typeface="Cambria Math"/>
                          </a:rPr>
                          <m:t>5</m:t>
                        </m:r>
                      </m:den>
                    </m:f>
                  </m:oMath>
                </a14:m>
                <a:r>
                  <a:rPr lang="en-US" sz="2200" dirty="0"/>
                  <a:t>+</a:t>
                </a:r>
                <a14:m>
                  <m:oMath xmlns:m="http://schemas.openxmlformats.org/officeDocument/2006/math">
                    <m:f>
                      <m:fPr>
                        <m:ctrlPr>
                          <a:rPr lang="en-US" sz="2200" i="1" dirty="0">
                            <a:latin typeface="Cambria Math" panose="02040503050406030204" pitchFamily="18" charset="0"/>
                            <a:ea typeface="Cambria Math"/>
                          </a:rPr>
                        </m:ctrlPr>
                      </m:fPr>
                      <m:num>
                        <m:sSup>
                          <m:sSupPr>
                            <m:ctrlPr>
                              <a:rPr lang="en-US" sz="2200" i="1" dirty="0">
                                <a:latin typeface="Cambria Math" panose="02040503050406030204" pitchFamily="18" charset="0"/>
                              </a:rPr>
                            </m:ctrlPr>
                          </m:sSupPr>
                          <m:e>
                            <m:r>
                              <a:rPr lang="en-US" sz="2200" i="1" dirty="0">
                                <a:latin typeface="Cambria Math"/>
                              </a:rPr>
                              <m:t>(550−585)</m:t>
                            </m:r>
                          </m:e>
                          <m:sup>
                            <m:r>
                              <a:rPr lang="en-US" sz="2200" i="1" dirty="0">
                                <a:latin typeface="Cambria Math"/>
                              </a:rPr>
                              <m:t>2</m:t>
                            </m:r>
                          </m:sup>
                        </m:sSup>
                      </m:num>
                      <m:den>
                        <m:r>
                          <a:rPr lang="en-US" sz="2200" i="1" dirty="0">
                            <a:latin typeface="Cambria Math"/>
                            <a:ea typeface="Cambria Math"/>
                          </a:rPr>
                          <m:t>585</m:t>
                        </m:r>
                      </m:den>
                    </m:f>
                  </m:oMath>
                </a14:m>
                <a:r>
                  <a:rPr lang="en-US" sz="2200" dirty="0"/>
                  <a:t>+</a:t>
                </a:r>
                <a14:m>
                  <m:oMath xmlns:m="http://schemas.openxmlformats.org/officeDocument/2006/math">
                    <m:f>
                      <m:fPr>
                        <m:ctrlPr>
                          <a:rPr lang="en-US" sz="2200" i="1" dirty="0">
                            <a:latin typeface="Cambria Math" panose="02040503050406030204" pitchFamily="18" charset="0"/>
                            <a:ea typeface="Cambria Math"/>
                          </a:rPr>
                        </m:ctrlPr>
                      </m:fPr>
                      <m:num>
                        <m:sSup>
                          <m:sSupPr>
                            <m:ctrlPr>
                              <a:rPr lang="en-US" sz="2200" i="1" dirty="0">
                                <a:latin typeface="Cambria Math" panose="02040503050406030204" pitchFamily="18" charset="0"/>
                              </a:rPr>
                            </m:ctrlPr>
                          </m:sSupPr>
                          <m:e>
                            <m:r>
                              <a:rPr lang="en-US" sz="2200" i="1" dirty="0">
                                <a:latin typeface="Cambria Math"/>
                              </a:rPr>
                              <m:t>(450−415)</m:t>
                            </m:r>
                          </m:e>
                          <m:sup>
                            <m:r>
                              <a:rPr lang="en-US" sz="2200" i="1" dirty="0">
                                <a:latin typeface="Cambria Math"/>
                              </a:rPr>
                              <m:t>2</m:t>
                            </m:r>
                          </m:sup>
                        </m:sSup>
                      </m:num>
                      <m:den>
                        <m:r>
                          <a:rPr lang="en-US" sz="2200" i="1" dirty="0">
                            <a:latin typeface="Cambria Math"/>
                          </a:rPr>
                          <m:t>41</m:t>
                        </m:r>
                        <m:r>
                          <a:rPr lang="en-US" sz="2200" i="1" dirty="0">
                            <a:latin typeface="Cambria Math"/>
                            <a:ea typeface="Cambria Math"/>
                          </a:rPr>
                          <m:t>5</m:t>
                        </m:r>
                      </m:den>
                    </m:f>
                  </m:oMath>
                </a14:m>
                <a:endParaRPr lang="en-US" sz="2200" dirty="0"/>
              </a:p>
              <a:p>
                <a:pPr marL="0" indent="0">
                  <a:buNone/>
                </a:pPr>
                <a:r>
                  <a:rPr lang="en-US" sz="2200" dirty="0"/>
                  <a:t>=10.0891</a:t>
                </a:r>
              </a:p>
              <a:p>
                <a:pPr marL="0" indent="0">
                  <a:buNone/>
                </a:pPr>
                <a:r>
                  <a:rPr lang="en-US" sz="2200" dirty="0"/>
                  <a:t>The tabulated  </a:t>
                </a:r>
                <a14:m>
                  <m:oMath xmlns:m="http://schemas.openxmlformats.org/officeDocument/2006/math">
                    <m:sSubSup>
                      <m:sSubSupPr>
                        <m:ctrlPr>
                          <a:rPr lang="en-US" sz="2200" i="1">
                            <a:latin typeface="Cambria Math" panose="02040503050406030204" pitchFamily="18" charset="0"/>
                          </a:rPr>
                        </m:ctrlPr>
                      </m:sSubSupPr>
                      <m:e>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e>
                      <m:sub>
                        <m:r>
                          <a:rPr lang="en-US" sz="2200" i="1">
                            <a:latin typeface="Cambria Math"/>
                          </a:rPr>
                          <m:t>0.05</m:t>
                        </m:r>
                      </m:sub>
                      <m:sup>
                        <m:r>
                          <a:rPr lang="en-US" sz="2200" b="0" i="1" smtClean="0">
                            <a:latin typeface="Cambria Math" panose="02040503050406030204" pitchFamily="18" charset="0"/>
                          </a:rPr>
                          <m:t> </m:t>
                        </m:r>
                      </m:sup>
                    </m:sSubSup>
                  </m:oMath>
                </a14:m>
                <a:r>
                  <a:rPr lang="en-US" sz="2200" dirty="0"/>
                  <a:t>for (2-1)(2-1) </a:t>
                </a:r>
                <a:r>
                  <a:rPr lang="en-US" sz="2200" dirty="0" err="1"/>
                  <a:t>d.f.</a:t>
                </a:r>
                <a:r>
                  <a:rPr lang="en-US" sz="2200" dirty="0"/>
                  <a:t>= 3.841</a:t>
                </a:r>
              </a:p>
              <a:p>
                <a:pPr marL="0" indent="0">
                  <a:buNone/>
                </a:pPr>
                <a:r>
                  <a:rPr lang="en-US" sz="2200" b="1" dirty="0"/>
                  <a:t>Conclusion:</a:t>
                </a:r>
                <a:r>
                  <a:rPr lang="en-US" sz="2200" dirty="0"/>
                  <a:t> since calculate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r>
                  <a:rPr lang="en-US" sz="2200" dirty="0"/>
                  <a:t>is much greater than the tabulated value, it is highly significant and null hypothesis  is rejected  at 5% of level of significance. Thus we conclude that  nature of  area is rejected to voting preference in the election.  </a:t>
                </a:r>
              </a:p>
              <a:p>
                <a:endParaRPr lang="en-US" sz="2200" dirty="0"/>
              </a:p>
              <a:p>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r="-1704"/>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420130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Example :</a:t>
            </a:r>
            <a:r>
              <a:rPr lang="en-US" sz="2200" dirty="0"/>
              <a:t> What are the expected frequencies of the contingency tables given below:</a:t>
            </a:r>
          </a:p>
          <a:p>
            <a:pPr marL="0" indent="0">
              <a:buNone/>
            </a:pPr>
            <a:r>
              <a:rPr lang="en-US" sz="2200" dirty="0"/>
              <a:t>Observed frequency:</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Expected frequency:</a:t>
            </a:r>
          </a:p>
          <a:p>
            <a:pPr marL="0" indent="0">
              <a:buNone/>
            </a:pPr>
            <a:endParaRPr lang="en-US" sz="2200" dirty="0"/>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9" name="Down Arrow 8"/>
          <p:cNvSpPr/>
          <p:nvPr/>
        </p:nvSpPr>
        <p:spPr>
          <a:xfrm>
            <a:off x="3782568" y="3489960"/>
            <a:ext cx="484632" cy="9296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11" name="Title 1"/>
              <p:cNvSpPr txBox="1">
                <a:spLocks noRot="1" noChangeAspect="1" noMove="1" noResize="1" noEditPoints="1" noAdjustHandles="1" noChangeArrowheads="1" noChangeShapeType="1" noTextEdit="1"/>
              </p:cNvSpPr>
              <p:nvPr/>
            </p:nvSpPr>
            <p:spPr>
              <a:xfrm>
                <a:off x="1600200" y="0"/>
                <a:ext cx="7543800" cy="685799"/>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37465A25-AFCA-4FD1-9975-C193CD51E90C}"/>
                  </a:ext>
                </a:extLst>
              </p:cNvPr>
              <p:cNvGraphicFramePr>
                <a:graphicFrameLocks noGrp="1"/>
              </p:cNvGraphicFramePr>
              <p:nvPr>
                <p:extLst>
                  <p:ext uri="{D42A27DB-BD31-4B8C-83A1-F6EECF244321}">
                    <p14:modId xmlns:p14="http://schemas.microsoft.com/office/powerpoint/2010/main" val="1143775078"/>
                  </p:ext>
                </p:extLst>
              </p:nvPr>
            </p:nvGraphicFramePr>
            <p:xfrm>
              <a:off x="990600" y="2392680"/>
              <a:ext cx="6096000" cy="10972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52697100"/>
                        </a:ext>
                      </a:extLst>
                    </a:gridCol>
                    <a:gridCol w="2032000">
                      <a:extLst>
                        <a:ext uri="{9D8B030D-6E8A-4147-A177-3AD203B41FA5}">
                          <a16:colId xmlns:a16="http://schemas.microsoft.com/office/drawing/2014/main" val="70278557"/>
                        </a:ext>
                      </a:extLst>
                    </a:gridCol>
                    <a:gridCol w="2032000">
                      <a:extLst>
                        <a:ext uri="{9D8B030D-6E8A-4147-A177-3AD203B41FA5}">
                          <a16:colId xmlns:a16="http://schemas.microsoft.com/office/drawing/2014/main" val="3251992706"/>
                        </a:ext>
                      </a:extLst>
                    </a:gridCol>
                  </a:tblGrid>
                  <a:tr h="3454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𝑝</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𝑞</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𝑞</m:t>
                                </m:r>
                              </m:oMath>
                            </m:oMathPara>
                          </a14:m>
                          <a:endParaRPr lang="en-US" dirty="0"/>
                        </a:p>
                      </a:txBody>
                      <a:tcPr/>
                    </a:tc>
                    <a:extLst>
                      <a:ext uri="{0D108BD9-81ED-4DB2-BD59-A6C34878D82A}">
                        <a16:rowId xmlns:a16="http://schemas.microsoft.com/office/drawing/2014/main" val="2050582804"/>
                      </a:ext>
                    </a:extLst>
                  </a:tr>
                  <a:tr h="3454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𝑟</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𝑠</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𝑟</m:t>
                                </m:r>
                                <m:r>
                                  <a:rPr lang="en-US" i="1" dirty="0" smtClean="0">
                                    <a:latin typeface="Cambria Math" panose="02040503050406030204" pitchFamily="18" charset="0"/>
                                  </a:rPr>
                                  <m:t>+</m:t>
                                </m:r>
                                <m:r>
                                  <a:rPr lang="en-US" i="1" dirty="0" smtClean="0">
                                    <a:latin typeface="Cambria Math" panose="02040503050406030204" pitchFamily="18" charset="0"/>
                                  </a:rPr>
                                  <m:t>𝑠</m:t>
                                </m:r>
                              </m:oMath>
                            </m:oMathPara>
                          </a14:m>
                          <a:endParaRPr lang="en-US" dirty="0"/>
                        </a:p>
                      </a:txBody>
                      <a:tcPr/>
                    </a:tc>
                    <a:extLst>
                      <a:ext uri="{0D108BD9-81ED-4DB2-BD59-A6C34878D82A}">
                        <a16:rowId xmlns:a16="http://schemas.microsoft.com/office/drawing/2014/main" val="3758443403"/>
                      </a:ext>
                    </a:extLst>
                  </a:tr>
                  <a:tr h="345440">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𝑟</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𝑞</m:t>
                                </m:r>
                                <m:r>
                                  <a:rPr lang="en-US" i="1" dirty="0" smtClean="0">
                                    <a:latin typeface="Cambria Math" panose="02040503050406030204" pitchFamily="18" charset="0"/>
                                  </a:rPr>
                                  <m:t>+</m:t>
                                </m:r>
                                <m:r>
                                  <a:rPr lang="en-US" i="1" dirty="0" smtClean="0">
                                    <a:latin typeface="Cambria Math" panose="02040503050406030204" pitchFamily="18" charset="0"/>
                                  </a:rPr>
                                  <m:t>𝑠</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𝑝</m:t>
                                </m:r>
                                <m:r>
                                  <a:rPr lang="en-US" i="1" dirty="0" smtClean="0">
                                    <a:latin typeface="Cambria Math" panose="02040503050406030204" pitchFamily="18" charset="0"/>
                                  </a:rPr>
                                  <m:t>+</m:t>
                                </m:r>
                                <m:r>
                                  <a:rPr lang="en-US" i="1" dirty="0" smtClean="0">
                                    <a:latin typeface="Cambria Math" panose="02040503050406030204" pitchFamily="18" charset="0"/>
                                  </a:rPr>
                                  <m:t>𝑞</m:t>
                                </m:r>
                                <m:r>
                                  <a:rPr lang="en-US" i="1" dirty="0" smtClean="0">
                                    <a:latin typeface="Cambria Math" panose="02040503050406030204" pitchFamily="18" charset="0"/>
                                  </a:rPr>
                                  <m:t>+</m:t>
                                </m:r>
                                <m:r>
                                  <a:rPr lang="en-US" i="1" dirty="0" smtClean="0">
                                    <a:latin typeface="Cambria Math" panose="02040503050406030204" pitchFamily="18" charset="0"/>
                                  </a:rPr>
                                  <m:t>𝑟</m:t>
                                </m:r>
                                <m:r>
                                  <a:rPr lang="en-US" i="1" dirty="0" smtClean="0">
                                    <a:latin typeface="Cambria Math" panose="02040503050406030204" pitchFamily="18" charset="0"/>
                                  </a:rPr>
                                  <m:t>+</m:t>
                                </m:r>
                                <m:r>
                                  <a:rPr lang="en-US" i="1" dirty="0" smtClean="0">
                                    <a:latin typeface="Cambria Math" panose="02040503050406030204" pitchFamily="18" charset="0"/>
                                  </a:rPr>
                                  <m:t>𝑠</m:t>
                                </m:r>
                              </m:oMath>
                            </m:oMathPara>
                          </a14:m>
                          <a:endParaRPr lang="en-US" dirty="0"/>
                        </a:p>
                      </a:txBody>
                      <a:tcPr/>
                    </a:tc>
                    <a:extLst>
                      <a:ext uri="{0D108BD9-81ED-4DB2-BD59-A6C34878D82A}">
                        <a16:rowId xmlns:a16="http://schemas.microsoft.com/office/drawing/2014/main" val="2963763854"/>
                      </a:ext>
                    </a:extLst>
                  </a:tr>
                </a:tbl>
              </a:graphicData>
            </a:graphic>
          </p:graphicFrame>
        </mc:Choice>
        <mc:Fallback xmlns="">
          <p:graphicFrame>
            <p:nvGraphicFramePr>
              <p:cNvPr id="2" name="Table 1">
                <a:extLst>
                  <a:ext uri="{FF2B5EF4-FFF2-40B4-BE49-F238E27FC236}">
                    <a16:creationId xmlns:a16="http://schemas.microsoft.com/office/drawing/2014/main" id="{37465A25-AFCA-4FD1-9975-C193CD51E90C}"/>
                  </a:ext>
                </a:extLst>
              </p:cNvPr>
              <p:cNvGraphicFramePr>
                <a:graphicFrameLocks noGrp="1"/>
              </p:cNvGraphicFramePr>
              <p:nvPr>
                <p:extLst>
                  <p:ext uri="{D42A27DB-BD31-4B8C-83A1-F6EECF244321}">
                    <p14:modId xmlns:p14="http://schemas.microsoft.com/office/powerpoint/2010/main" val="1143775078"/>
                  </p:ext>
                </p:extLst>
              </p:nvPr>
            </p:nvGraphicFramePr>
            <p:xfrm>
              <a:off x="990600" y="2392680"/>
              <a:ext cx="6096000" cy="10972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52697100"/>
                        </a:ext>
                      </a:extLst>
                    </a:gridCol>
                    <a:gridCol w="2032000">
                      <a:extLst>
                        <a:ext uri="{9D8B030D-6E8A-4147-A177-3AD203B41FA5}">
                          <a16:colId xmlns:a16="http://schemas.microsoft.com/office/drawing/2014/main" val="70278557"/>
                        </a:ext>
                      </a:extLst>
                    </a:gridCol>
                    <a:gridCol w="2032000">
                      <a:extLst>
                        <a:ext uri="{9D8B030D-6E8A-4147-A177-3AD203B41FA5}">
                          <a16:colId xmlns:a16="http://schemas.microsoft.com/office/drawing/2014/main" val="3251992706"/>
                        </a:ext>
                      </a:extLst>
                    </a:gridCol>
                  </a:tblGrid>
                  <a:tr h="365760">
                    <a:tc>
                      <a:txBody>
                        <a:bodyPr/>
                        <a:lstStyle/>
                        <a:p>
                          <a:endParaRPr lang="en-US"/>
                        </a:p>
                      </a:txBody>
                      <a:tcPr>
                        <a:blipFill>
                          <a:blip r:embed="rId3"/>
                          <a:stretch>
                            <a:fillRect l="-299" t="-1667" r="-200898" b="-210000"/>
                          </a:stretch>
                        </a:blipFill>
                      </a:tcPr>
                    </a:tc>
                    <a:tc>
                      <a:txBody>
                        <a:bodyPr/>
                        <a:lstStyle/>
                        <a:p>
                          <a:endParaRPr lang="en-US"/>
                        </a:p>
                      </a:txBody>
                      <a:tcPr>
                        <a:blipFill>
                          <a:blip r:embed="rId3"/>
                          <a:stretch>
                            <a:fillRect l="-100601" t="-1667" r="-101502" b="-210000"/>
                          </a:stretch>
                        </a:blipFill>
                      </a:tcPr>
                    </a:tc>
                    <a:tc>
                      <a:txBody>
                        <a:bodyPr/>
                        <a:lstStyle/>
                        <a:p>
                          <a:endParaRPr lang="en-US"/>
                        </a:p>
                      </a:txBody>
                      <a:tcPr>
                        <a:blipFill>
                          <a:blip r:embed="rId3"/>
                          <a:stretch>
                            <a:fillRect l="-200000" t="-1667" r="-1198" b="-210000"/>
                          </a:stretch>
                        </a:blipFill>
                      </a:tcPr>
                    </a:tc>
                    <a:extLst>
                      <a:ext uri="{0D108BD9-81ED-4DB2-BD59-A6C34878D82A}">
                        <a16:rowId xmlns:a16="http://schemas.microsoft.com/office/drawing/2014/main" val="2050582804"/>
                      </a:ext>
                    </a:extLst>
                  </a:tr>
                  <a:tr h="365760">
                    <a:tc>
                      <a:txBody>
                        <a:bodyPr/>
                        <a:lstStyle/>
                        <a:p>
                          <a:endParaRPr lang="en-US"/>
                        </a:p>
                      </a:txBody>
                      <a:tcPr>
                        <a:blipFill>
                          <a:blip r:embed="rId3"/>
                          <a:stretch>
                            <a:fillRect l="-299" t="-100000" r="-200898" b="-106557"/>
                          </a:stretch>
                        </a:blipFill>
                      </a:tcPr>
                    </a:tc>
                    <a:tc>
                      <a:txBody>
                        <a:bodyPr/>
                        <a:lstStyle/>
                        <a:p>
                          <a:endParaRPr lang="en-US"/>
                        </a:p>
                      </a:txBody>
                      <a:tcPr>
                        <a:blipFill>
                          <a:blip r:embed="rId3"/>
                          <a:stretch>
                            <a:fillRect l="-100601" t="-100000" r="-101502" b="-106557"/>
                          </a:stretch>
                        </a:blipFill>
                      </a:tcPr>
                    </a:tc>
                    <a:tc>
                      <a:txBody>
                        <a:bodyPr/>
                        <a:lstStyle/>
                        <a:p>
                          <a:endParaRPr lang="en-US"/>
                        </a:p>
                      </a:txBody>
                      <a:tcPr>
                        <a:blipFill>
                          <a:blip r:embed="rId3"/>
                          <a:stretch>
                            <a:fillRect l="-200000" t="-100000" r="-1198" b="-106557"/>
                          </a:stretch>
                        </a:blipFill>
                      </a:tcPr>
                    </a:tc>
                    <a:extLst>
                      <a:ext uri="{0D108BD9-81ED-4DB2-BD59-A6C34878D82A}">
                        <a16:rowId xmlns:a16="http://schemas.microsoft.com/office/drawing/2014/main" val="3758443403"/>
                      </a:ext>
                    </a:extLst>
                  </a:tr>
                  <a:tr h="365760">
                    <a:tc>
                      <a:txBody>
                        <a:bodyPr/>
                        <a:lstStyle/>
                        <a:p>
                          <a:endParaRPr lang="en-US"/>
                        </a:p>
                      </a:txBody>
                      <a:tcPr>
                        <a:blipFill>
                          <a:blip r:embed="rId3"/>
                          <a:stretch>
                            <a:fillRect l="-299" t="-203333" r="-200898" b="-8333"/>
                          </a:stretch>
                        </a:blipFill>
                      </a:tcPr>
                    </a:tc>
                    <a:tc>
                      <a:txBody>
                        <a:bodyPr/>
                        <a:lstStyle/>
                        <a:p>
                          <a:endParaRPr lang="en-US"/>
                        </a:p>
                      </a:txBody>
                      <a:tcPr>
                        <a:blipFill>
                          <a:blip r:embed="rId3"/>
                          <a:stretch>
                            <a:fillRect l="-100601" t="-203333" r="-101502" b="-8333"/>
                          </a:stretch>
                        </a:blipFill>
                      </a:tcPr>
                    </a:tc>
                    <a:tc>
                      <a:txBody>
                        <a:bodyPr/>
                        <a:lstStyle/>
                        <a:p>
                          <a:endParaRPr lang="en-US"/>
                        </a:p>
                      </a:txBody>
                      <a:tcPr>
                        <a:blipFill>
                          <a:blip r:embed="rId3"/>
                          <a:stretch>
                            <a:fillRect l="-200000" t="-203333" r="-1198" b="-8333"/>
                          </a:stretch>
                        </a:blipFill>
                      </a:tcPr>
                    </a:tc>
                    <a:extLst>
                      <a:ext uri="{0D108BD9-81ED-4DB2-BD59-A6C34878D82A}">
                        <a16:rowId xmlns:a16="http://schemas.microsoft.com/office/drawing/2014/main" val="296376385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59686F7-2B54-4B65-BF19-1DA6FF350AF6}"/>
                  </a:ext>
                </a:extLst>
              </p:cNvPr>
              <p:cNvGraphicFramePr>
                <a:graphicFrameLocks noGrp="1"/>
              </p:cNvGraphicFramePr>
              <p:nvPr>
                <p:extLst>
                  <p:ext uri="{D42A27DB-BD31-4B8C-83A1-F6EECF244321}">
                    <p14:modId xmlns:p14="http://schemas.microsoft.com/office/powerpoint/2010/main" val="89551850"/>
                  </p:ext>
                </p:extLst>
              </p:nvPr>
            </p:nvGraphicFramePr>
            <p:xfrm>
              <a:off x="990600" y="4419600"/>
              <a:ext cx="6096000" cy="132524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62398902"/>
                        </a:ext>
                      </a:extLst>
                    </a:gridCol>
                    <a:gridCol w="3048000">
                      <a:extLst>
                        <a:ext uri="{9D8B030D-6E8A-4147-A177-3AD203B41FA5}">
                          <a16:colId xmlns:a16="http://schemas.microsoft.com/office/drawing/2014/main" val="1284725727"/>
                        </a:ext>
                      </a:extLst>
                    </a:gridCol>
                  </a:tblGrid>
                  <a:tr h="370840">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num>
                                  <m:den>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num>
                                  <m:den>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den>
                                </m:f>
                              </m:oMath>
                            </m:oMathPara>
                          </a14:m>
                          <a:endParaRPr lang="en-US" dirty="0"/>
                        </a:p>
                      </a:txBody>
                      <a:tcPr/>
                    </a:tc>
                    <a:extLst>
                      <a:ext uri="{0D108BD9-81ED-4DB2-BD59-A6C34878D82A}">
                        <a16:rowId xmlns:a16="http://schemas.microsoft.com/office/drawing/2014/main" val="10464592"/>
                      </a:ext>
                    </a:extLst>
                  </a:tr>
                  <a:tr h="370840">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num>
                                  <m:den>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num>
                                  <m:den>
                                    <m:r>
                                      <a:rPr lang="en-US" b="1" i="1" smtClean="0">
                                        <a:latin typeface="Cambria Math" panose="02040503050406030204" pitchFamily="18" charset="0"/>
                                      </a:rPr>
                                      <m:t>(</m:t>
                                    </m:r>
                                    <m:r>
                                      <a:rPr lang="en-US" b="1" i="1" smtClean="0">
                                        <a:latin typeface="Cambria Math" panose="02040503050406030204" pitchFamily="18" charset="0"/>
                                      </a:rPr>
                                      <m:t>𝒑</m:t>
                                    </m:r>
                                    <m:r>
                                      <a:rPr lang="en-US" b="1" i="1" smtClean="0">
                                        <a:latin typeface="Cambria Math" panose="02040503050406030204" pitchFamily="18" charset="0"/>
                                      </a:rPr>
                                      <m:t>+</m:t>
                                    </m:r>
                                    <m:r>
                                      <a:rPr lang="en-US" b="1" i="1" smtClean="0">
                                        <a:latin typeface="Cambria Math" panose="02040503050406030204" pitchFamily="18" charset="0"/>
                                      </a:rPr>
                                      <m:t>𝒒</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rPr>
                                      <m:t>+</m:t>
                                    </m:r>
                                    <m:r>
                                      <a:rPr lang="en-US" b="1" i="1" smtClean="0">
                                        <a:latin typeface="Cambria Math" panose="02040503050406030204" pitchFamily="18" charset="0"/>
                                      </a:rPr>
                                      <m:t>𝒔</m:t>
                                    </m:r>
                                    <m:r>
                                      <a:rPr lang="en-US" b="1" i="1" smtClean="0">
                                        <a:latin typeface="Cambria Math" panose="02040503050406030204" pitchFamily="18" charset="0"/>
                                      </a:rPr>
                                      <m:t>)</m:t>
                                    </m:r>
                                  </m:den>
                                </m:f>
                              </m:oMath>
                            </m:oMathPara>
                          </a14:m>
                          <a:endParaRPr lang="en-US" dirty="0"/>
                        </a:p>
                      </a:txBody>
                      <a:tcPr/>
                    </a:tc>
                    <a:extLst>
                      <a:ext uri="{0D108BD9-81ED-4DB2-BD59-A6C34878D82A}">
                        <a16:rowId xmlns:a16="http://schemas.microsoft.com/office/drawing/2014/main" val="1317635733"/>
                      </a:ext>
                    </a:extLst>
                  </a:tr>
                </a:tbl>
              </a:graphicData>
            </a:graphic>
          </p:graphicFrame>
        </mc:Choice>
        <mc:Fallback xmlns="">
          <p:graphicFrame>
            <p:nvGraphicFramePr>
              <p:cNvPr id="4" name="Table 3">
                <a:extLst>
                  <a:ext uri="{FF2B5EF4-FFF2-40B4-BE49-F238E27FC236}">
                    <a16:creationId xmlns:a16="http://schemas.microsoft.com/office/drawing/2014/main" id="{459686F7-2B54-4B65-BF19-1DA6FF350AF6}"/>
                  </a:ext>
                </a:extLst>
              </p:cNvPr>
              <p:cNvGraphicFramePr>
                <a:graphicFrameLocks noGrp="1"/>
              </p:cNvGraphicFramePr>
              <p:nvPr>
                <p:extLst>
                  <p:ext uri="{D42A27DB-BD31-4B8C-83A1-F6EECF244321}">
                    <p14:modId xmlns:p14="http://schemas.microsoft.com/office/powerpoint/2010/main" val="89551850"/>
                  </p:ext>
                </p:extLst>
              </p:nvPr>
            </p:nvGraphicFramePr>
            <p:xfrm>
              <a:off x="990600" y="4419600"/>
              <a:ext cx="6096000" cy="132524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062398902"/>
                        </a:ext>
                      </a:extLst>
                    </a:gridCol>
                    <a:gridCol w="3048000">
                      <a:extLst>
                        <a:ext uri="{9D8B030D-6E8A-4147-A177-3AD203B41FA5}">
                          <a16:colId xmlns:a16="http://schemas.microsoft.com/office/drawing/2014/main" val="1284725727"/>
                        </a:ext>
                      </a:extLst>
                    </a:gridCol>
                  </a:tblGrid>
                  <a:tr h="662623">
                    <a:tc>
                      <a:txBody>
                        <a:bodyPr/>
                        <a:lstStyle/>
                        <a:p>
                          <a:endParaRPr lang="en-US"/>
                        </a:p>
                      </a:txBody>
                      <a:tcPr>
                        <a:blipFill>
                          <a:blip r:embed="rId4"/>
                          <a:stretch>
                            <a:fillRect l="-200" t="-1835" r="-100599" b="-101835"/>
                          </a:stretch>
                        </a:blipFill>
                      </a:tcPr>
                    </a:tc>
                    <a:tc>
                      <a:txBody>
                        <a:bodyPr/>
                        <a:lstStyle/>
                        <a:p>
                          <a:endParaRPr lang="en-US"/>
                        </a:p>
                      </a:txBody>
                      <a:tcPr>
                        <a:blipFill>
                          <a:blip r:embed="rId4"/>
                          <a:stretch>
                            <a:fillRect l="-100400" t="-1835" r="-800" b="-101835"/>
                          </a:stretch>
                        </a:blipFill>
                      </a:tcPr>
                    </a:tc>
                    <a:extLst>
                      <a:ext uri="{0D108BD9-81ED-4DB2-BD59-A6C34878D82A}">
                        <a16:rowId xmlns:a16="http://schemas.microsoft.com/office/drawing/2014/main" val="10464592"/>
                      </a:ext>
                    </a:extLst>
                  </a:tr>
                  <a:tr h="662623">
                    <a:tc>
                      <a:txBody>
                        <a:bodyPr/>
                        <a:lstStyle/>
                        <a:p>
                          <a:endParaRPr lang="en-US"/>
                        </a:p>
                      </a:txBody>
                      <a:tcPr>
                        <a:blipFill>
                          <a:blip r:embed="rId4"/>
                          <a:stretch>
                            <a:fillRect l="-200" t="-101835" r="-100599" b="-1835"/>
                          </a:stretch>
                        </a:blipFill>
                      </a:tcPr>
                    </a:tc>
                    <a:tc>
                      <a:txBody>
                        <a:bodyPr/>
                        <a:lstStyle/>
                        <a:p>
                          <a:endParaRPr lang="en-US"/>
                        </a:p>
                      </a:txBody>
                      <a:tcPr>
                        <a:blipFill>
                          <a:blip r:embed="rId4"/>
                          <a:stretch>
                            <a:fillRect l="-100400" t="-101835" r="-800" b="-1835"/>
                          </a:stretch>
                        </a:blipFill>
                      </a:tcPr>
                    </a:tc>
                    <a:extLst>
                      <a:ext uri="{0D108BD9-81ED-4DB2-BD59-A6C34878D82A}">
                        <a16:rowId xmlns:a16="http://schemas.microsoft.com/office/drawing/2014/main" val="1317635733"/>
                      </a:ext>
                    </a:extLst>
                  </a:tr>
                </a:tbl>
              </a:graphicData>
            </a:graphic>
          </p:graphicFrame>
        </mc:Fallback>
      </mc:AlternateContent>
    </p:spTree>
    <p:extLst>
      <p:ext uri="{BB962C8B-B14F-4D97-AF65-F5344CB8AC3E}">
        <p14:creationId xmlns:p14="http://schemas.microsoft.com/office/powerpoint/2010/main" val="10151800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1000"/>
                                        <p:tgtEl>
                                          <p:spTgt spid="3">
                                            <p:txEl>
                                              <p:pRg st="6" end="6"/>
                                            </p:txEl>
                                          </p:spTgt>
                                        </p:tgtEl>
                                      </p:cBhvr>
                                    </p:animEffect>
                                    <p:anim calcmode="lin" valueType="num">
                                      <p:cBhvr>
                                        <p:cTn id="2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Example :</a:t>
                </a:r>
                <a:r>
                  <a:rPr lang="en-US" sz="2200" dirty="0"/>
                  <a:t>To test the effectiveness of inoculation against cholera, the following table was obtained:</a:t>
                </a:r>
              </a:p>
              <a:p>
                <a:endParaRPr lang="en-US" sz="2200" dirty="0"/>
              </a:p>
              <a:p>
                <a:endParaRPr lang="en-US" sz="2200" dirty="0"/>
              </a:p>
              <a:p>
                <a:endParaRPr lang="en-US" sz="2200" dirty="0"/>
              </a:p>
              <a:p>
                <a:endParaRPr lang="en-US" sz="2200" dirty="0"/>
              </a:p>
              <a:p>
                <a:endParaRPr lang="en-US" sz="2200" dirty="0"/>
              </a:p>
              <a:p>
                <a:pPr marL="0" indent="0">
                  <a:buNone/>
                </a:pPr>
                <a:r>
                  <a:rPr lang="en-US" sz="2200" dirty="0"/>
                  <a:t>( figures represent the number of persons.)</a:t>
                </a:r>
              </a:p>
              <a:p>
                <a:pPr marL="0" indent="0">
                  <a:buNone/>
                </a:pPr>
                <a:r>
                  <a:rPr lang="en-US" sz="2200" dirty="0"/>
                  <a:t>Use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ea typeface="Cambria Math"/>
                          </a:rPr>
                          <m:t>𝜒</m:t>
                        </m:r>
                      </m:e>
                      <m:sup>
                        <m:r>
                          <a:rPr lang="en-US" sz="2200" i="1">
                            <a:latin typeface="Cambria Math"/>
                          </a:rPr>
                          <m:t>2</m:t>
                        </m:r>
                      </m:sup>
                    </m:sSup>
                  </m:oMath>
                </a14:m>
                <a:r>
                  <a:rPr lang="en-US" sz="2200" dirty="0"/>
                  <a:t> test to defend or refute the statement that the inoculation prevents attack from cholera.</a:t>
                </a:r>
              </a:p>
              <a:p>
                <a:pPr marL="0" indent="0">
                  <a:buNone/>
                </a:pPr>
                <a:r>
                  <a:rPr lang="en-US" sz="2200" dirty="0"/>
                  <a:t>Solution :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m:t>
                        </m:r>
                      </m:sub>
                    </m:sSub>
                    <m:r>
                      <a:rPr lang="en-US" sz="2200" i="1">
                        <a:latin typeface="Cambria Math"/>
                      </a:rPr>
                      <m:t>:</m:t>
                    </m:r>
                  </m:oMath>
                </a14:m>
                <a:r>
                  <a:rPr lang="en-US" sz="2200" dirty="0"/>
                  <a:t>the inoculation  does not prevents attack from cholera.</a:t>
                </a:r>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2466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9" name="Title 1"/>
              <p:cNvSpPr txBox="1">
                <a:spLocks noRot="1" noChangeAspect="1" noMove="1" noResize="1" noEditPoints="1" noAdjustHandles="1" noChangeArrowheads="1" noChangeShapeType="1" noTextEdit="1"/>
              </p:cNvSpPr>
              <p:nvPr/>
            </p:nvSpPr>
            <p:spPr>
              <a:xfrm>
                <a:off x="1752600" y="0"/>
                <a:ext cx="7391400" cy="685799"/>
              </a:xfrm>
              <a:prstGeom prst="rect">
                <a:avLst/>
              </a:prstGeom>
              <a:blipFill>
                <a:blip r:embed="rId3"/>
                <a:stretch>
                  <a:fillRect/>
                </a:stretch>
              </a:blipFill>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7FB87352-C051-4BC5-9FAB-2B6CDB7F9D97}"/>
              </a:ext>
            </a:extLst>
          </p:cNvPr>
          <p:cNvGraphicFramePr>
            <a:graphicFrameLocks noGrp="1"/>
          </p:cNvGraphicFramePr>
          <p:nvPr>
            <p:extLst>
              <p:ext uri="{D42A27DB-BD31-4B8C-83A1-F6EECF244321}">
                <p14:modId xmlns:p14="http://schemas.microsoft.com/office/powerpoint/2010/main" val="1867802641"/>
              </p:ext>
            </p:extLst>
          </p:nvPr>
        </p:nvGraphicFramePr>
        <p:xfrm>
          <a:off x="1524000" y="1905000"/>
          <a:ext cx="6096000" cy="17526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150317929"/>
                    </a:ext>
                  </a:extLst>
                </a:gridCol>
                <a:gridCol w="1524000">
                  <a:extLst>
                    <a:ext uri="{9D8B030D-6E8A-4147-A177-3AD203B41FA5}">
                      <a16:colId xmlns:a16="http://schemas.microsoft.com/office/drawing/2014/main" val="1213588510"/>
                    </a:ext>
                  </a:extLst>
                </a:gridCol>
                <a:gridCol w="1524000">
                  <a:extLst>
                    <a:ext uri="{9D8B030D-6E8A-4147-A177-3AD203B41FA5}">
                      <a16:colId xmlns:a16="http://schemas.microsoft.com/office/drawing/2014/main" val="2343593257"/>
                    </a:ext>
                  </a:extLst>
                </a:gridCol>
                <a:gridCol w="1524000">
                  <a:extLst>
                    <a:ext uri="{9D8B030D-6E8A-4147-A177-3AD203B41FA5}">
                      <a16:colId xmlns:a16="http://schemas.microsoft.com/office/drawing/2014/main" val="1825524140"/>
                    </a:ext>
                  </a:extLst>
                </a:gridCol>
              </a:tblGrid>
              <a:tr h="370840">
                <a:tc>
                  <a:txBody>
                    <a:bodyPr/>
                    <a:lstStyle/>
                    <a:p>
                      <a:endParaRPr lang="en-US" dirty="0"/>
                    </a:p>
                  </a:txBody>
                  <a:tcPr/>
                </a:tc>
                <a:tc>
                  <a:txBody>
                    <a:bodyPr/>
                    <a:lstStyle/>
                    <a:p>
                      <a:r>
                        <a:rPr lang="en-US" dirty="0"/>
                        <a:t>Attacked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Attacked</a:t>
                      </a:r>
                    </a:p>
                  </a:txBody>
                  <a:tcPr/>
                </a:tc>
                <a:tc>
                  <a:txBody>
                    <a:bodyPr/>
                    <a:lstStyle/>
                    <a:p>
                      <a:r>
                        <a:rPr lang="en-US" dirty="0"/>
                        <a:t>Total</a:t>
                      </a:r>
                    </a:p>
                  </a:txBody>
                  <a:tcPr/>
                </a:tc>
                <a:extLst>
                  <a:ext uri="{0D108BD9-81ED-4DB2-BD59-A6C34878D82A}">
                    <a16:rowId xmlns:a16="http://schemas.microsoft.com/office/drawing/2014/main" val="1053395699"/>
                  </a:ext>
                </a:extLst>
              </a:tr>
              <a:tr h="370840">
                <a:tc>
                  <a:txBody>
                    <a:bodyPr/>
                    <a:lstStyle/>
                    <a:p>
                      <a:r>
                        <a:rPr lang="en-US" dirty="0"/>
                        <a:t>Inoculated</a:t>
                      </a:r>
                    </a:p>
                  </a:txBody>
                  <a:tcPr/>
                </a:tc>
                <a:tc>
                  <a:txBody>
                    <a:bodyPr/>
                    <a:lstStyle/>
                    <a:p>
                      <a:r>
                        <a:rPr lang="en-US" dirty="0"/>
                        <a:t>30</a:t>
                      </a:r>
                    </a:p>
                  </a:txBody>
                  <a:tcPr/>
                </a:tc>
                <a:tc>
                  <a:txBody>
                    <a:bodyPr/>
                    <a:lstStyle/>
                    <a:p>
                      <a:r>
                        <a:rPr lang="en-US" dirty="0"/>
                        <a:t>160</a:t>
                      </a:r>
                    </a:p>
                  </a:txBody>
                  <a:tcPr/>
                </a:tc>
                <a:tc>
                  <a:txBody>
                    <a:bodyPr/>
                    <a:lstStyle/>
                    <a:p>
                      <a:r>
                        <a:rPr lang="en-US" dirty="0"/>
                        <a:t>190</a:t>
                      </a:r>
                    </a:p>
                  </a:txBody>
                  <a:tcPr/>
                </a:tc>
                <a:extLst>
                  <a:ext uri="{0D108BD9-81ED-4DB2-BD59-A6C34878D82A}">
                    <a16:rowId xmlns:a16="http://schemas.microsoft.com/office/drawing/2014/main" val="8026199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Inoculated</a:t>
                      </a:r>
                    </a:p>
                  </a:txBody>
                  <a:tcPr/>
                </a:tc>
                <a:tc>
                  <a:txBody>
                    <a:bodyPr/>
                    <a:lstStyle/>
                    <a:p>
                      <a:r>
                        <a:rPr lang="en-US" dirty="0"/>
                        <a:t>140</a:t>
                      </a:r>
                    </a:p>
                  </a:txBody>
                  <a:tcPr/>
                </a:tc>
                <a:tc>
                  <a:txBody>
                    <a:bodyPr/>
                    <a:lstStyle/>
                    <a:p>
                      <a:r>
                        <a:rPr lang="en-US" dirty="0"/>
                        <a:t>460</a:t>
                      </a:r>
                    </a:p>
                  </a:txBody>
                  <a:tcPr/>
                </a:tc>
                <a:tc>
                  <a:txBody>
                    <a:bodyPr/>
                    <a:lstStyle/>
                    <a:p>
                      <a:r>
                        <a:rPr lang="en-US" dirty="0"/>
                        <a:t>600</a:t>
                      </a:r>
                    </a:p>
                  </a:txBody>
                  <a:tcPr/>
                </a:tc>
                <a:extLst>
                  <a:ext uri="{0D108BD9-81ED-4DB2-BD59-A6C34878D82A}">
                    <a16:rowId xmlns:a16="http://schemas.microsoft.com/office/drawing/2014/main" val="2356458006"/>
                  </a:ext>
                </a:extLst>
              </a:tr>
              <a:tr h="370840">
                <a:tc>
                  <a:txBody>
                    <a:bodyPr/>
                    <a:lstStyle/>
                    <a:p>
                      <a:r>
                        <a:rPr lang="en-US" dirty="0"/>
                        <a:t>Total</a:t>
                      </a:r>
                    </a:p>
                  </a:txBody>
                  <a:tcPr/>
                </a:tc>
                <a:tc>
                  <a:txBody>
                    <a:bodyPr/>
                    <a:lstStyle/>
                    <a:p>
                      <a:r>
                        <a:rPr lang="en-US" dirty="0"/>
                        <a:t>170</a:t>
                      </a:r>
                    </a:p>
                  </a:txBody>
                  <a:tcPr/>
                </a:tc>
                <a:tc>
                  <a:txBody>
                    <a:bodyPr/>
                    <a:lstStyle/>
                    <a:p>
                      <a:r>
                        <a:rPr lang="en-US" dirty="0"/>
                        <a:t>620</a:t>
                      </a:r>
                    </a:p>
                  </a:txBody>
                  <a:tcPr/>
                </a:tc>
                <a:tc>
                  <a:txBody>
                    <a:bodyPr/>
                    <a:lstStyle/>
                    <a:p>
                      <a:r>
                        <a:rPr lang="en-US" dirty="0"/>
                        <a:t>790</a:t>
                      </a:r>
                    </a:p>
                  </a:txBody>
                  <a:tcPr/>
                </a:tc>
                <a:extLst>
                  <a:ext uri="{0D108BD9-81ED-4DB2-BD59-A6C34878D82A}">
                    <a16:rowId xmlns:a16="http://schemas.microsoft.com/office/drawing/2014/main" val="2264049541"/>
                  </a:ext>
                </a:extLst>
              </a:tr>
            </a:tbl>
          </a:graphicData>
        </a:graphic>
      </p:graphicFrame>
    </p:spTree>
    <p:extLst>
      <p:ext uri="{BB962C8B-B14F-4D97-AF65-F5344CB8AC3E}">
        <p14:creationId xmlns:p14="http://schemas.microsoft.com/office/powerpoint/2010/main" val="23013243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1000"/>
                                        <p:tgtEl>
                                          <p:spTgt spid="3">
                                            <p:txEl>
                                              <p:pRg st="8" end="8"/>
                                            </p:txEl>
                                          </p:spTgt>
                                        </p:tgtEl>
                                      </p:cBhvr>
                                    </p:animEffect>
                                    <p:anim calcmode="lin" valueType="num">
                                      <p:cBhvr>
                                        <p:cTn id="29"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Expected frequencies</a:t>
                </a:r>
              </a:p>
              <a:p>
                <a:pPr marL="0" indent="0">
                  <a:buNone/>
                </a:pPr>
                <a:endParaRPr lang="en-US" sz="2200" dirty="0"/>
              </a:p>
              <a:p>
                <a:pPr marL="0" indent="0">
                  <a:buNone/>
                </a:pPr>
                <a:endParaRPr lang="en-US" sz="2200" dirty="0"/>
              </a:p>
              <a:p>
                <a:endParaRPr lang="en-US" sz="2200" dirty="0"/>
              </a:p>
              <a:p>
                <a:endParaRPr lang="en-US" sz="2200" dirty="0"/>
              </a:p>
              <a:p>
                <a:pPr marL="0" indent="0">
                  <a:buNone/>
                </a:pPr>
                <a:endParaRPr lang="en-US" sz="2200" dirty="0"/>
              </a:p>
              <a:p>
                <a:pPr marL="0" indent="0">
                  <a:buNone/>
                </a:pPr>
                <a:r>
                  <a:rPr lang="en-US" sz="2200" dirty="0"/>
                  <a:t>Calculate the statistic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mc:AlternateContent xmlns:mc="http://schemas.openxmlformats.org/markup-compatibility/2006" xmlns:a14="http://schemas.microsoft.com/office/drawing/2010/main">
        <mc:Choice Requires="a14">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solidFill>
                      <a:prstClr val="black"/>
                    </a:solidFill>
                  </a:rPr>
                  <a:t>Chi Square Test(</a:t>
                </a:r>
                <a14:m>
                  <m:oMath xmlns:m="http://schemas.openxmlformats.org/officeDocument/2006/math">
                    <m:sSup>
                      <m:sSupPr>
                        <m:ctrlPr>
                          <a:rPr lang="en-US" sz="2400" b="1" i="1">
                            <a:solidFill>
                              <a:prstClr val="black"/>
                            </a:solidFill>
                            <a:latin typeface="Cambria Math" panose="02040503050406030204" pitchFamily="18" charset="0"/>
                          </a:rPr>
                        </m:ctrlPr>
                      </m:sSupPr>
                      <m:e>
                        <m:r>
                          <a:rPr lang="en-US" sz="2400" b="1" i="1">
                            <a:solidFill>
                              <a:prstClr val="black"/>
                            </a:solidFill>
                            <a:latin typeface="Cambria Math" panose="02040503050406030204" pitchFamily="18" charset="0"/>
                            <a:ea typeface="Cambria Math"/>
                          </a:rPr>
                          <m:t>𝝌</m:t>
                        </m:r>
                      </m:e>
                      <m:sup>
                        <m:r>
                          <a:rPr lang="en-US" sz="2400" b="1" i="1">
                            <a:solidFill>
                              <a:prstClr val="black"/>
                            </a:solidFill>
                            <a:latin typeface="Cambria Math" panose="02040503050406030204" pitchFamily="18" charset="0"/>
                          </a:rPr>
                          <m:t>𝟐</m:t>
                        </m:r>
                      </m:sup>
                    </m:sSup>
                  </m:oMath>
                </a14:m>
                <a:r>
                  <a:rPr lang="en-US" sz="2400" b="1" dirty="0">
                    <a:solidFill>
                      <a:prstClr val="black"/>
                    </a:solidFill>
                  </a:rPr>
                  <a:t>)(CO5)</a:t>
                </a:r>
              </a:p>
            </p:txBody>
          </p:sp>
        </mc:Choice>
        <mc:Fallback xmlns="">
          <p:sp>
            <p:nvSpPr>
              <p:cNvPr id="10" name="Title 1"/>
              <p:cNvSpPr txBox="1">
                <a:spLocks noRot="1" noChangeAspect="1" noMove="1" noResize="1" noEditPoints="1" noAdjustHandles="1" noChangeArrowheads="1" noChangeShapeType="1" noTextEdit="1"/>
              </p:cNvSpPr>
              <p:nvPr/>
            </p:nvSpPr>
            <p:spPr>
              <a:xfrm>
                <a:off x="1752600" y="0"/>
                <a:ext cx="7391400" cy="68579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7D0D0A7-71C2-4A66-9BEB-DD4C91B87CA9}"/>
                  </a:ext>
                </a:extLst>
              </p:cNvPr>
              <p:cNvGraphicFramePr>
                <a:graphicFrameLocks noGrp="1"/>
              </p:cNvGraphicFramePr>
              <p:nvPr>
                <p:extLst>
                  <p:ext uri="{D42A27DB-BD31-4B8C-83A1-F6EECF244321}">
                    <p14:modId xmlns:p14="http://schemas.microsoft.com/office/powerpoint/2010/main" val="3629727831"/>
                  </p:ext>
                </p:extLst>
              </p:nvPr>
            </p:nvGraphicFramePr>
            <p:xfrm>
              <a:off x="1524000" y="1618297"/>
              <a:ext cx="6096000" cy="1546797"/>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214765368"/>
                        </a:ext>
                      </a:extLst>
                    </a:gridCol>
                    <a:gridCol w="1219200">
                      <a:extLst>
                        <a:ext uri="{9D8B030D-6E8A-4147-A177-3AD203B41FA5}">
                          <a16:colId xmlns:a16="http://schemas.microsoft.com/office/drawing/2014/main" val="3653417356"/>
                        </a:ext>
                      </a:extLst>
                    </a:gridCol>
                    <a:gridCol w="1219200">
                      <a:extLst>
                        <a:ext uri="{9D8B030D-6E8A-4147-A177-3AD203B41FA5}">
                          <a16:colId xmlns:a16="http://schemas.microsoft.com/office/drawing/2014/main" val="997079800"/>
                        </a:ext>
                      </a:extLst>
                    </a:gridCol>
                    <a:gridCol w="1219200">
                      <a:extLst>
                        <a:ext uri="{9D8B030D-6E8A-4147-A177-3AD203B41FA5}">
                          <a16:colId xmlns:a16="http://schemas.microsoft.com/office/drawing/2014/main" val="2722491978"/>
                        </a:ext>
                      </a:extLst>
                    </a:gridCol>
                    <a:gridCol w="1219200">
                      <a:extLst>
                        <a:ext uri="{9D8B030D-6E8A-4147-A177-3AD203B41FA5}">
                          <a16:colId xmlns:a16="http://schemas.microsoft.com/office/drawing/2014/main" val="1521324290"/>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𝑶</m:t>
                                    </m:r>
                                  </m:e>
                                  <m:sub>
                                    <m:r>
                                      <a:rPr lang="en-US" sz="2000" b="1" i="1" smtClean="0">
                                        <a:latin typeface="Cambria Math" panose="02040503050406030204" pitchFamily="18" charset="0"/>
                                      </a:rPr>
                                      <m:t>𝒊</m:t>
                                    </m:r>
                                  </m:sub>
                                </m:sSub>
                              </m:oMath>
                            </m:oMathPara>
                          </a14:m>
                          <a:endParaRPr lang="en-US" sz="2000" dirty="0"/>
                        </a:p>
                      </a:txBody>
                      <a:tcPr/>
                    </a:tc>
                    <a:tc>
                      <a:txBody>
                        <a:bodyPr/>
                        <a:lstStyle/>
                        <a:p>
                          <a:r>
                            <a:rPr lang="en-US" sz="2000" dirty="0"/>
                            <a:t>30</a:t>
                          </a:r>
                        </a:p>
                      </a:txBody>
                      <a:tcPr/>
                    </a:tc>
                    <a:tc>
                      <a:txBody>
                        <a:bodyPr/>
                        <a:lstStyle/>
                        <a:p>
                          <a:r>
                            <a:rPr lang="en-US" sz="2000" dirty="0"/>
                            <a:t>160</a:t>
                          </a:r>
                        </a:p>
                      </a:txBody>
                      <a:tcPr/>
                    </a:tc>
                    <a:tc>
                      <a:txBody>
                        <a:bodyPr/>
                        <a:lstStyle/>
                        <a:p>
                          <a:r>
                            <a:rPr lang="en-US" sz="2000" dirty="0"/>
                            <a:t>140</a:t>
                          </a:r>
                        </a:p>
                      </a:txBody>
                      <a:tcPr/>
                    </a:tc>
                    <a:tc>
                      <a:txBody>
                        <a:bodyPr/>
                        <a:lstStyle/>
                        <a:p>
                          <a:r>
                            <a:rPr lang="en-US" sz="2000" dirty="0"/>
                            <a:t>690</a:t>
                          </a:r>
                        </a:p>
                      </a:txBody>
                      <a:tcPr/>
                    </a:tc>
                    <a:extLst>
                      <a:ext uri="{0D108BD9-81ED-4DB2-BD59-A6C34878D82A}">
                        <a16:rowId xmlns:a16="http://schemas.microsoft.com/office/drawing/2014/main" val="1448828114"/>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𝐸</m:t>
                                    </m:r>
                                  </m:e>
                                  <m:sub>
                                    <m:r>
                                      <a:rPr lang="en-US" sz="2000" b="0" i="1" smtClean="0">
                                        <a:latin typeface="Cambria Math" panose="02040503050406030204" pitchFamily="18" charset="0"/>
                                      </a:rPr>
                                      <m:t>𝑖</m:t>
                                    </m:r>
                                  </m:sub>
                                </m:sSub>
                              </m:oMath>
                            </m:oMathPara>
                          </a14:m>
                          <a:endParaRPr lang="en-US" sz="2000" dirty="0"/>
                        </a:p>
                      </a:txBody>
                      <a:tcPr/>
                    </a:tc>
                    <a:tc>
                      <a:txBody>
                        <a:bodyPr/>
                        <a:lstStyle/>
                        <a:p>
                          <a:r>
                            <a:rPr lang="en-US" sz="2000" dirty="0"/>
                            <a:t>40.886</a:t>
                          </a:r>
                        </a:p>
                      </a:txBody>
                      <a:tcPr/>
                    </a:tc>
                    <a:tc>
                      <a:txBody>
                        <a:bodyPr/>
                        <a:lstStyle/>
                        <a:p>
                          <a:r>
                            <a:rPr lang="en-US" sz="2000" dirty="0"/>
                            <a:t>149.11</a:t>
                          </a:r>
                        </a:p>
                      </a:txBody>
                      <a:tcPr/>
                    </a:tc>
                    <a:tc>
                      <a:txBody>
                        <a:bodyPr/>
                        <a:lstStyle/>
                        <a:p>
                          <a:r>
                            <a:rPr lang="en-US" sz="2000" dirty="0"/>
                            <a:t>129.11</a:t>
                          </a:r>
                        </a:p>
                      </a:txBody>
                      <a:tcPr/>
                    </a:tc>
                    <a:tc>
                      <a:txBody>
                        <a:bodyPr/>
                        <a:lstStyle/>
                        <a:p>
                          <a:r>
                            <a:rPr lang="en-US" sz="2000" dirty="0"/>
                            <a:t>470.89</a:t>
                          </a:r>
                        </a:p>
                      </a:txBody>
                      <a:tcPr/>
                    </a:tc>
                    <a:extLst>
                      <a:ext uri="{0D108BD9-81ED-4DB2-BD59-A6C34878D82A}">
                        <a16:rowId xmlns:a16="http://schemas.microsoft.com/office/drawing/2014/main" val="434327824"/>
                      </a:ext>
                    </a:extLst>
                  </a:tr>
                  <a:tr h="370840">
                    <a:tc>
                      <a:txBody>
                        <a:bodyPr/>
                        <a:lstStyle/>
                        <a:p>
                          <a:pPr/>
                          <a14:m>
                            <m:oMathPara xmlns:m="http://schemas.openxmlformats.org/officeDocument/2006/math">
                              <m:oMathParaPr>
                                <m:jc m:val="centerGroup"/>
                              </m:oMathParaPr>
                              <m:oMath xmlns:m="http://schemas.openxmlformats.org/officeDocument/2006/math">
                                <m:f>
                                  <m:fPr>
                                    <m:ctrlPr>
                                      <a:rPr lang="en-US" sz="2000" i="1" smtClean="0">
                                        <a:latin typeface="Cambria Math" panose="02040503050406030204" pitchFamily="18" charset="0"/>
                                      </a:rPr>
                                    </m:ctrlPr>
                                  </m:fPr>
                                  <m:num>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𝑶</m:t>
                                            </m:r>
                                          </m:e>
                                          <m:sub>
                                            <m:r>
                                              <a:rPr lang="en-US" sz="2000" b="1" i="1" smtClean="0">
                                                <a:latin typeface="Cambria Math" panose="02040503050406030204" pitchFamily="18" charset="0"/>
                                              </a:rPr>
                                              <m:t>𝒊</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𝑬</m:t>
                                            </m:r>
                                          </m:e>
                                          <m:sub>
                                            <m:r>
                                              <a:rPr lang="en-US" sz="2000" b="1" i="1" smtClean="0">
                                                <a:latin typeface="Cambria Math" panose="02040503050406030204" pitchFamily="18" charset="0"/>
                                              </a:rPr>
                                              <m:t>𝒊</m:t>
                                            </m:r>
                                          </m:sub>
                                        </m:sSub>
                                        <m:r>
                                          <a:rPr lang="en-US" sz="2000" b="0" i="1" smtClean="0">
                                            <a:latin typeface="Cambria Math" panose="02040503050406030204" pitchFamily="18" charset="0"/>
                                          </a:rPr>
                                          <m:t>)</m:t>
                                        </m:r>
                                      </m:e>
                                      <m:sup>
                                        <m:r>
                                          <a:rPr lang="en-US" sz="2000" b="0" i="1" smtClean="0">
                                            <a:latin typeface="Cambria Math" panose="02040503050406030204" pitchFamily="18" charset="0"/>
                                          </a:rPr>
                                          <m:t>2</m:t>
                                        </m:r>
                                      </m:sup>
                                    </m:sSup>
                                  </m:num>
                                  <m:den>
                                    <m:sSub>
                                      <m:sSubPr>
                                        <m:ctrlPr>
                                          <a:rPr lang="en-US" sz="2000" i="1" smtClean="0">
                                            <a:latin typeface="Cambria Math" panose="02040503050406030204" pitchFamily="18" charset="0"/>
                                          </a:rPr>
                                        </m:ctrlPr>
                                      </m:sSubPr>
                                      <m:e>
                                        <m:r>
                                          <a:rPr lang="en-US" sz="2000" b="1" i="1" smtClean="0">
                                            <a:latin typeface="Cambria Math" panose="02040503050406030204" pitchFamily="18" charset="0"/>
                                          </a:rPr>
                                          <m:t>𝑬</m:t>
                                        </m:r>
                                      </m:e>
                                      <m:sub>
                                        <m:r>
                                          <a:rPr lang="en-US" sz="2000" b="1" i="1" smtClean="0">
                                            <a:latin typeface="Cambria Math" panose="02040503050406030204" pitchFamily="18" charset="0"/>
                                          </a:rPr>
                                          <m:t>𝒊</m:t>
                                        </m:r>
                                      </m:sub>
                                    </m:sSub>
                                  </m:den>
                                </m:f>
                              </m:oMath>
                            </m:oMathPara>
                          </a14:m>
                          <a:endParaRPr lang="en-US" sz="2000" dirty="0"/>
                        </a:p>
                      </a:txBody>
                      <a:tcPr/>
                    </a:tc>
                    <a:tc>
                      <a:txBody>
                        <a:bodyPr/>
                        <a:lstStyle/>
                        <a:p>
                          <a:r>
                            <a:rPr lang="en-US" sz="2000" dirty="0"/>
                            <a:t>2.898</a:t>
                          </a:r>
                        </a:p>
                      </a:txBody>
                      <a:tcPr/>
                    </a:tc>
                    <a:tc>
                      <a:txBody>
                        <a:bodyPr/>
                        <a:lstStyle/>
                        <a:p>
                          <a:r>
                            <a:rPr lang="en-US" sz="2000" dirty="0"/>
                            <a:t>0.795</a:t>
                          </a:r>
                        </a:p>
                      </a:txBody>
                      <a:tcPr/>
                    </a:tc>
                    <a:tc>
                      <a:txBody>
                        <a:bodyPr/>
                        <a:lstStyle/>
                        <a:p>
                          <a:r>
                            <a:rPr lang="en-US" sz="2000" dirty="0"/>
                            <a:t>0.918</a:t>
                          </a:r>
                        </a:p>
                      </a:txBody>
                      <a:tcPr/>
                    </a:tc>
                    <a:tc>
                      <a:txBody>
                        <a:bodyPr/>
                        <a:lstStyle/>
                        <a:p>
                          <a:r>
                            <a:rPr lang="en-US" sz="2000" dirty="0"/>
                            <a:t>0.252</a:t>
                          </a:r>
                        </a:p>
                      </a:txBody>
                      <a:tcPr/>
                    </a:tc>
                    <a:extLst>
                      <a:ext uri="{0D108BD9-81ED-4DB2-BD59-A6C34878D82A}">
                        <a16:rowId xmlns:a16="http://schemas.microsoft.com/office/drawing/2014/main" val="2013627100"/>
                      </a:ext>
                    </a:extLst>
                  </a:tr>
                </a:tbl>
              </a:graphicData>
            </a:graphic>
          </p:graphicFrame>
        </mc:Choice>
        <mc:Fallback xmlns="">
          <p:graphicFrame>
            <p:nvGraphicFramePr>
              <p:cNvPr id="2" name="Table 1">
                <a:extLst>
                  <a:ext uri="{FF2B5EF4-FFF2-40B4-BE49-F238E27FC236}">
                    <a16:creationId xmlns:a16="http://schemas.microsoft.com/office/drawing/2014/main" id="{F7D0D0A7-71C2-4A66-9BEB-DD4C91B87CA9}"/>
                  </a:ext>
                </a:extLst>
              </p:cNvPr>
              <p:cNvGraphicFramePr>
                <a:graphicFrameLocks noGrp="1"/>
              </p:cNvGraphicFramePr>
              <p:nvPr>
                <p:extLst>
                  <p:ext uri="{D42A27DB-BD31-4B8C-83A1-F6EECF244321}">
                    <p14:modId xmlns:p14="http://schemas.microsoft.com/office/powerpoint/2010/main" val="3629727831"/>
                  </p:ext>
                </p:extLst>
              </p:nvPr>
            </p:nvGraphicFramePr>
            <p:xfrm>
              <a:off x="1524000" y="1618297"/>
              <a:ext cx="6096000" cy="1546797"/>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214765368"/>
                        </a:ext>
                      </a:extLst>
                    </a:gridCol>
                    <a:gridCol w="1219200">
                      <a:extLst>
                        <a:ext uri="{9D8B030D-6E8A-4147-A177-3AD203B41FA5}">
                          <a16:colId xmlns:a16="http://schemas.microsoft.com/office/drawing/2014/main" val="3653417356"/>
                        </a:ext>
                      </a:extLst>
                    </a:gridCol>
                    <a:gridCol w="1219200">
                      <a:extLst>
                        <a:ext uri="{9D8B030D-6E8A-4147-A177-3AD203B41FA5}">
                          <a16:colId xmlns:a16="http://schemas.microsoft.com/office/drawing/2014/main" val="997079800"/>
                        </a:ext>
                      </a:extLst>
                    </a:gridCol>
                    <a:gridCol w="1219200">
                      <a:extLst>
                        <a:ext uri="{9D8B030D-6E8A-4147-A177-3AD203B41FA5}">
                          <a16:colId xmlns:a16="http://schemas.microsoft.com/office/drawing/2014/main" val="2722491978"/>
                        </a:ext>
                      </a:extLst>
                    </a:gridCol>
                    <a:gridCol w="1219200">
                      <a:extLst>
                        <a:ext uri="{9D8B030D-6E8A-4147-A177-3AD203B41FA5}">
                          <a16:colId xmlns:a16="http://schemas.microsoft.com/office/drawing/2014/main" val="1521324290"/>
                        </a:ext>
                      </a:extLst>
                    </a:gridCol>
                  </a:tblGrid>
                  <a:tr h="396240">
                    <a:tc>
                      <a:txBody>
                        <a:bodyPr/>
                        <a:lstStyle/>
                        <a:p>
                          <a:endParaRPr lang="en-US"/>
                        </a:p>
                      </a:txBody>
                      <a:tcPr>
                        <a:blipFill>
                          <a:blip r:embed="rId4"/>
                          <a:stretch>
                            <a:fillRect l="-1000" t="-7692" r="-402500" b="-295385"/>
                          </a:stretch>
                        </a:blipFill>
                      </a:tcPr>
                    </a:tc>
                    <a:tc>
                      <a:txBody>
                        <a:bodyPr/>
                        <a:lstStyle/>
                        <a:p>
                          <a:r>
                            <a:rPr lang="en-US" sz="2000" dirty="0"/>
                            <a:t>30</a:t>
                          </a:r>
                        </a:p>
                      </a:txBody>
                      <a:tcPr/>
                    </a:tc>
                    <a:tc>
                      <a:txBody>
                        <a:bodyPr/>
                        <a:lstStyle/>
                        <a:p>
                          <a:r>
                            <a:rPr lang="en-US" sz="2000" dirty="0"/>
                            <a:t>160</a:t>
                          </a:r>
                        </a:p>
                      </a:txBody>
                      <a:tcPr/>
                    </a:tc>
                    <a:tc>
                      <a:txBody>
                        <a:bodyPr/>
                        <a:lstStyle/>
                        <a:p>
                          <a:r>
                            <a:rPr lang="en-US" sz="2000" dirty="0"/>
                            <a:t>140</a:t>
                          </a:r>
                        </a:p>
                      </a:txBody>
                      <a:tcPr/>
                    </a:tc>
                    <a:tc>
                      <a:txBody>
                        <a:bodyPr/>
                        <a:lstStyle/>
                        <a:p>
                          <a:r>
                            <a:rPr lang="en-US" sz="2000" dirty="0"/>
                            <a:t>690</a:t>
                          </a:r>
                        </a:p>
                      </a:txBody>
                      <a:tcPr/>
                    </a:tc>
                    <a:extLst>
                      <a:ext uri="{0D108BD9-81ED-4DB2-BD59-A6C34878D82A}">
                        <a16:rowId xmlns:a16="http://schemas.microsoft.com/office/drawing/2014/main" val="1448828114"/>
                      </a:ext>
                    </a:extLst>
                  </a:tr>
                  <a:tr h="396240">
                    <a:tc>
                      <a:txBody>
                        <a:bodyPr/>
                        <a:lstStyle/>
                        <a:p>
                          <a:endParaRPr lang="en-US"/>
                        </a:p>
                      </a:txBody>
                      <a:tcPr>
                        <a:blipFill>
                          <a:blip r:embed="rId4"/>
                          <a:stretch>
                            <a:fillRect l="-1000" t="-106061" r="-402500" b="-190909"/>
                          </a:stretch>
                        </a:blipFill>
                      </a:tcPr>
                    </a:tc>
                    <a:tc>
                      <a:txBody>
                        <a:bodyPr/>
                        <a:lstStyle/>
                        <a:p>
                          <a:r>
                            <a:rPr lang="en-US" sz="2000" dirty="0"/>
                            <a:t>40.886</a:t>
                          </a:r>
                        </a:p>
                      </a:txBody>
                      <a:tcPr/>
                    </a:tc>
                    <a:tc>
                      <a:txBody>
                        <a:bodyPr/>
                        <a:lstStyle/>
                        <a:p>
                          <a:r>
                            <a:rPr lang="en-US" sz="2000" dirty="0"/>
                            <a:t>149.11</a:t>
                          </a:r>
                        </a:p>
                      </a:txBody>
                      <a:tcPr/>
                    </a:tc>
                    <a:tc>
                      <a:txBody>
                        <a:bodyPr/>
                        <a:lstStyle/>
                        <a:p>
                          <a:r>
                            <a:rPr lang="en-US" sz="2000" dirty="0"/>
                            <a:t>129.11</a:t>
                          </a:r>
                        </a:p>
                      </a:txBody>
                      <a:tcPr/>
                    </a:tc>
                    <a:tc>
                      <a:txBody>
                        <a:bodyPr/>
                        <a:lstStyle/>
                        <a:p>
                          <a:r>
                            <a:rPr lang="en-US" sz="2000" dirty="0"/>
                            <a:t>470.89</a:t>
                          </a:r>
                        </a:p>
                      </a:txBody>
                      <a:tcPr/>
                    </a:tc>
                    <a:extLst>
                      <a:ext uri="{0D108BD9-81ED-4DB2-BD59-A6C34878D82A}">
                        <a16:rowId xmlns:a16="http://schemas.microsoft.com/office/drawing/2014/main" val="434327824"/>
                      </a:ext>
                    </a:extLst>
                  </a:tr>
                  <a:tr h="754317">
                    <a:tc>
                      <a:txBody>
                        <a:bodyPr/>
                        <a:lstStyle/>
                        <a:p>
                          <a:endParaRPr lang="en-US"/>
                        </a:p>
                      </a:txBody>
                      <a:tcPr>
                        <a:blipFill>
                          <a:blip r:embed="rId4"/>
                          <a:stretch>
                            <a:fillRect l="-1000" t="-109677" r="-402500" b="-1613"/>
                          </a:stretch>
                        </a:blipFill>
                      </a:tcPr>
                    </a:tc>
                    <a:tc>
                      <a:txBody>
                        <a:bodyPr/>
                        <a:lstStyle/>
                        <a:p>
                          <a:r>
                            <a:rPr lang="en-US" sz="2000" dirty="0"/>
                            <a:t>2.898</a:t>
                          </a:r>
                        </a:p>
                      </a:txBody>
                      <a:tcPr/>
                    </a:tc>
                    <a:tc>
                      <a:txBody>
                        <a:bodyPr/>
                        <a:lstStyle/>
                        <a:p>
                          <a:r>
                            <a:rPr lang="en-US" sz="2000" dirty="0"/>
                            <a:t>0.795</a:t>
                          </a:r>
                        </a:p>
                      </a:txBody>
                      <a:tcPr/>
                    </a:tc>
                    <a:tc>
                      <a:txBody>
                        <a:bodyPr/>
                        <a:lstStyle/>
                        <a:p>
                          <a:r>
                            <a:rPr lang="en-US" sz="2000" dirty="0"/>
                            <a:t>0.918</a:t>
                          </a:r>
                        </a:p>
                      </a:txBody>
                      <a:tcPr/>
                    </a:tc>
                    <a:tc>
                      <a:txBody>
                        <a:bodyPr/>
                        <a:lstStyle/>
                        <a:p>
                          <a:r>
                            <a:rPr lang="en-US" sz="2000" dirty="0"/>
                            <a:t>0.252</a:t>
                          </a:r>
                        </a:p>
                      </a:txBody>
                      <a:tcPr/>
                    </a:tc>
                    <a:extLst>
                      <a:ext uri="{0D108BD9-81ED-4DB2-BD59-A6C34878D82A}">
                        <a16:rowId xmlns:a16="http://schemas.microsoft.com/office/drawing/2014/main" val="201362710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13CB3F-5F45-403C-B5A0-B916DDC17192}"/>
                  </a:ext>
                </a:extLst>
              </p:cNvPr>
              <p:cNvGraphicFramePr>
                <a:graphicFrameLocks noGrp="1"/>
              </p:cNvGraphicFramePr>
              <p:nvPr>
                <p:extLst>
                  <p:ext uri="{D42A27DB-BD31-4B8C-83A1-F6EECF244321}">
                    <p14:modId xmlns:p14="http://schemas.microsoft.com/office/powerpoint/2010/main" val="2790834941"/>
                  </p:ext>
                </p:extLst>
              </p:nvPr>
            </p:nvGraphicFramePr>
            <p:xfrm>
              <a:off x="1219200" y="4039107"/>
              <a:ext cx="6629401" cy="1828293"/>
            </p:xfrm>
            <a:graphic>
              <a:graphicData uri="http://schemas.openxmlformats.org/drawingml/2006/table">
                <a:tbl>
                  <a:tblPr firstRow="1" bandRow="1">
                    <a:tableStyleId>{5C22544A-7EE6-4342-B048-85BDC9FD1C3A}</a:tableStyleId>
                  </a:tblPr>
                  <a:tblGrid>
                    <a:gridCol w="1740218">
                      <a:extLst>
                        <a:ext uri="{9D8B030D-6E8A-4147-A177-3AD203B41FA5}">
                          <a16:colId xmlns:a16="http://schemas.microsoft.com/office/drawing/2014/main" val="9173189"/>
                        </a:ext>
                      </a:extLst>
                    </a:gridCol>
                    <a:gridCol w="2679383">
                      <a:extLst>
                        <a:ext uri="{9D8B030D-6E8A-4147-A177-3AD203B41FA5}">
                          <a16:colId xmlns:a16="http://schemas.microsoft.com/office/drawing/2014/main" val="2206326635"/>
                        </a:ext>
                      </a:extLst>
                    </a:gridCol>
                    <a:gridCol w="2209800">
                      <a:extLst>
                        <a:ext uri="{9D8B030D-6E8A-4147-A177-3AD203B41FA5}">
                          <a16:colId xmlns:a16="http://schemas.microsoft.com/office/drawing/2014/main" val="1395854030"/>
                        </a:ext>
                      </a:extLst>
                    </a:gridCol>
                  </a:tblGrid>
                  <a:tr h="427911">
                    <a:tc>
                      <a:txBody>
                        <a:bodyPr/>
                        <a:lstStyle/>
                        <a:p>
                          <a:endParaRPr lang="en-US" dirty="0"/>
                        </a:p>
                      </a:txBody>
                      <a:tcPr/>
                    </a:tc>
                    <a:tc>
                      <a:txBody>
                        <a:bodyPr/>
                        <a:lstStyle/>
                        <a:p>
                          <a:r>
                            <a:rPr lang="en-US" dirty="0"/>
                            <a:t>Attacked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Attacked</a:t>
                          </a:r>
                        </a:p>
                      </a:txBody>
                      <a:tcPr/>
                    </a:tc>
                    <a:extLst>
                      <a:ext uri="{0D108BD9-81ED-4DB2-BD59-A6C34878D82A}">
                        <a16:rowId xmlns:a16="http://schemas.microsoft.com/office/drawing/2014/main" val="2567505008"/>
                      </a:ext>
                    </a:extLst>
                  </a:tr>
                  <a:tr h="700191">
                    <a:tc>
                      <a:txBody>
                        <a:bodyPr/>
                        <a:lstStyle/>
                        <a:p>
                          <a:r>
                            <a:rPr lang="en-US" dirty="0"/>
                            <a:t>Inoculated</a:t>
                          </a:r>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190</m:t>
                                    </m:r>
                                    <m:r>
                                      <a:rPr lang="en-US" b="0" i="1" smtClean="0">
                                        <a:latin typeface="Cambria Math" panose="02040503050406030204" pitchFamily="18" charset="0"/>
                                        <a:ea typeface="Cambria Math" panose="02040503050406030204" pitchFamily="18" charset="0"/>
                                      </a:rPr>
                                      <m:t>×170</m:t>
                                    </m:r>
                                  </m:num>
                                  <m:den>
                                    <m:r>
                                      <a:rPr lang="en-US" b="0" i="1" smtClean="0">
                                        <a:latin typeface="Cambria Math" panose="02040503050406030204" pitchFamily="18" charset="0"/>
                                      </a:rPr>
                                      <m:t>790</m:t>
                                    </m:r>
                                  </m:den>
                                </m:f>
                                <m:r>
                                  <a:rPr lang="en-US" b="0" i="1" smtClean="0">
                                    <a:latin typeface="Cambria Math" panose="02040503050406030204" pitchFamily="18" charset="0"/>
                                  </a:rPr>
                                  <m:t>=40.886</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190</m:t>
                                    </m:r>
                                    <m:r>
                                      <a:rPr lang="en-US" b="0" i="1" smtClean="0">
                                        <a:latin typeface="Cambria Math" panose="02040503050406030204" pitchFamily="18" charset="0"/>
                                        <a:ea typeface="Cambria Math" panose="02040503050406030204" pitchFamily="18" charset="0"/>
                                      </a:rPr>
                                      <m:t>×620</m:t>
                                    </m:r>
                                  </m:num>
                                  <m:den>
                                    <m:r>
                                      <a:rPr lang="en-US" b="0" i="1" smtClean="0">
                                        <a:latin typeface="Cambria Math" panose="02040503050406030204" pitchFamily="18" charset="0"/>
                                      </a:rPr>
                                      <m:t>790</m:t>
                                    </m:r>
                                  </m:den>
                                </m:f>
                                <m:r>
                                  <a:rPr lang="en-US" b="0" i="1" smtClean="0">
                                    <a:latin typeface="Cambria Math" panose="02040503050406030204" pitchFamily="18" charset="0"/>
                                  </a:rPr>
                                  <m:t>=149.11</m:t>
                                </m:r>
                              </m:oMath>
                            </m:oMathPara>
                          </a14:m>
                          <a:endParaRPr lang="en-US" dirty="0"/>
                        </a:p>
                      </a:txBody>
                      <a:tcPr/>
                    </a:tc>
                    <a:extLst>
                      <a:ext uri="{0D108BD9-81ED-4DB2-BD59-A6C34878D82A}">
                        <a16:rowId xmlns:a16="http://schemas.microsoft.com/office/drawing/2014/main" val="3215240719"/>
                      </a:ext>
                    </a:extLst>
                  </a:tr>
                  <a:tr h="700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Inoculated</a:t>
                          </a:r>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600</m:t>
                                    </m:r>
                                    <m:r>
                                      <a:rPr lang="en-US" b="0" i="1" smtClean="0">
                                        <a:latin typeface="Cambria Math" panose="02040503050406030204" pitchFamily="18" charset="0"/>
                                        <a:ea typeface="Cambria Math" panose="02040503050406030204" pitchFamily="18" charset="0"/>
                                      </a:rPr>
                                      <m:t>×170</m:t>
                                    </m:r>
                                  </m:num>
                                  <m:den>
                                    <m:r>
                                      <a:rPr lang="en-US" b="0" i="1" smtClean="0">
                                        <a:latin typeface="Cambria Math" panose="02040503050406030204" pitchFamily="18" charset="0"/>
                                      </a:rPr>
                                      <m:t>790</m:t>
                                    </m:r>
                                  </m:den>
                                </m:f>
                                <m:r>
                                  <a:rPr lang="en-US" b="0" i="1" smtClean="0">
                                    <a:latin typeface="Cambria Math" panose="02040503050406030204" pitchFamily="18" charset="0"/>
                                  </a:rPr>
                                  <m:t>=129.11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600</m:t>
                                    </m:r>
                                    <m:r>
                                      <a:rPr lang="en-US" b="0" i="1" smtClean="0">
                                        <a:latin typeface="Cambria Math" panose="02040503050406030204" pitchFamily="18" charset="0"/>
                                        <a:ea typeface="Cambria Math" panose="02040503050406030204" pitchFamily="18" charset="0"/>
                                      </a:rPr>
                                      <m:t>×620</m:t>
                                    </m:r>
                                  </m:num>
                                  <m:den>
                                    <m:r>
                                      <a:rPr lang="en-US" b="0" i="1" smtClean="0">
                                        <a:latin typeface="Cambria Math" panose="02040503050406030204" pitchFamily="18" charset="0"/>
                                      </a:rPr>
                                      <m:t>790</m:t>
                                    </m:r>
                                  </m:den>
                                </m:f>
                                <m:r>
                                  <a:rPr lang="en-US" b="0" i="1" smtClean="0">
                                    <a:latin typeface="Cambria Math" panose="02040503050406030204" pitchFamily="18" charset="0"/>
                                  </a:rPr>
                                  <m:t>=470.89</m:t>
                                </m:r>
                              </m:oMath>
                            </m:oMathPara>
                          </a14:m>
                          <a:endParaRPr lang="en-US" dirty="0"/>
                        </a:p>
                      </a:txBody>
                      <a:tcPr/>
                    </a:tc>
                    <a:extLst>
                      <a:ext uri="{0D108BD9-81ED-4DB2-BD59-A6C34878D82A}">
                        <a16:rowId xmlns:a16="http://schemas.microsoft.com/office/drawing/2014/main" val="691693476"/>
                      </a:ext>
                    </a:extLst>
                  </a:tr>
                </a:tbl>
              </a:graphicData>
            </a:graphic>
          </p:graphicFrame>
        </mc:Choice>
        <mc:Fallback xmlns="">
          <p:graphicFrame>
            <p:nvGraphicFramePr>
              <p:cNvPr id="4" name="Table 3">
                <a:extLst>
                  <a:ext uri="{FF2B5EF4-FFF2-40B4-BE49-F238E27FC236}">
                    <a16:creationId xmlns:a16="http://schemas.microsoft.com/office/drawing/2014/main" id="{6213CB3F-5F45-403C-B5A0-B916DDC17192}"/>
                  </a:ext>
                </a:extLst>
              </p:cNvPr>
              <p:cNvGraphicFramePr>
                <a:graphicFrameLocks noGrp="1"/>
              </p:cNvGraphicFramePr>
              <p:nvPr>
                <p:extLst>
                  <p:ext uri="{D42A27DB-BD31-4B8C-83A1-F6EECF244321}">
                    <p14:modId xmlns:p14="http://schemas.microsoft.com/office/powerpoint/2010/main" val="2790834941"/>
                  </p:ext>
                </p:extLst>
              </p:nvPr>
            </p:nvGraphicFramePr>
            <p:xfrm>
              <a:off x="1219200" y="4039107"/>
              <a:ext cx="6629401" cy="1828293"/>
            </p:xfrm>
            <a:graphic>
              <a:graphicData uri="http://schemas.openxmlformats.org/drawingml/2006/table">
                <a:tbl>
                  <a:tblPr firstRow="1" bandRow="1">
                    <a:tableStyleId>{5C22544A-7EE6-4342-B048-85BDC9FD1C3A}</a:tableStyleId>
                  </a:tblPr>
                  <a:tblGrid>
                    <a:gridCol w="1740218">
                      <a:extLst>
                        <a:ext uri="{9D8B030D-6E8A-4147-A177-3AD203B41FA5}">
                          <a16:colId xmlns:a16="http://schemas.microsoft.com/office/drawing/2014/main" val="9173189"/>
                        </a:ext>
                      </a:extLst>
                    </a:gridCol>
                    <a:gridCol w="2679383">
                      <a:extLst>
                        <a:ext uri="{9D8B030D-6E8A-4147-A177-3AD203B41FA5}">
                          <a16:colId xmlns:a16="http://schemas.microsoft.com/office/drawing/2014/main" val="2206326635"/>
                        </a:ext>
                      </a:extLst>
                    </a:gridCol>
                    <a:gridCol w="2209800">
                      <a:extLst>
                        <a:ext uri="{9D8B030D-6E8A-4147-A177-3AD203B41FA5}">
                          <a16:colId xmlns:a16="http://schemas.microsoft.com/office/drawing/2014/main" val="1395854030"/>
                        </a:ext>
                      </a:extLst>
                    </a:gridCol>
                  </a:tblGrid>
                  <a:tr h="427911">
                    <a:tc>
                      <a:txBody>
                        <a:bodyPr/>
                        <a:lstStyle/>
                        <a:p>
                          <a:endParaRPr lang="en-US" dirty="0"/>
                        </a:p>
                      </a:txBody>
                      <a:tcPr/>
                    </a:tc>
                    <a:tc>
                      <a:txBody>
                        <a:bodyPr/>
                        <a:lstStyle/>
                        <a:p>
                          <a:r>
                            <a:rPr lang="en-US" dirty="0"/>
                            <a:t>Attacked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Attacked</a:t>
                          </a:r>
                        </a:p>
                      </a:txBody>
                      <a:tcPr/>
                    </a:tc>
                    <a:extLst>
                      <a:ext uri="{0D108BD9-81ED-4DB2-BD59-A6C34878D82A}">
                        <a16:rowId xmlns:a16="http://schemas.microsoft.com/office/drawing/2014/main" val="2567505008"/>
                      </a:ext>
                    </a:extLst>
                  </a:tr>
                  <a:tr h="700191">
                    <a:tc>
                      <a:txBody>
                        <a:bodyPr/>
                        <a:lstStyle/>
                        <a:p>
                          <a:r>
                            <a:rPr lang="en-US" dirty="0"/>
                            <a:t>Inoculated</a:t>
                          </a:r>
                        </a:p>
                      </a:txBody>
                      <a:tcPr/>
                    </a:tc>
                    <a:tc>
                      <a:txBody>
                        <a:bodyPr/>
                        <a:lstStyle/>
                        <a:p>
                          <a:endParaRPr lang="en-US"/>
                        </a:p>
                      </a:txBody>
                      <a:tcPr>
                        <a:blipFill>
                          <a:blip r:embed="rId5"/>
                          <a:stretch>
                            <a:fillRect l="-65604" t="-64655" r="-83599" b="-100862"/>
                          </a:stretch>
                        </a:blipFill>
                      </a:tcPr>
                    </a:tc>
                    <a:tc>
                      <a:txBody>
                        <a:bodyPr/>
                        <a:lstStyle/>
                        <a:p>
                          <a:endParaRPr lang="en-US"/>
                        </a:p>
                      </a:txBody>
                      <a:tcPr>
                        <a:blipFill>
                          <a:blip r:embed="rId5"/>
                          <a:stretch>
                            <a:fillRect l="-200275" t="-64655" r="-1102" b="-100862"/>
                          </a:stretch>
                        </a:blipFill>
                      </a:tcPr>
                    </a:tc>
                    <a:extLst>
                      <a:ext uri="{0D108BD9-81ED-4DB2-BD59-A6C34878D82A}">
                        <a16:rowId xmlns:a16="http://schemas.microsoft.com/office/drawing/2014/main" val="3215240719"/>
                      </a:ext>
                    </a:extLst>
                  </a:tr>
                  <a:tr h="7001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 Inoculated</a:t>
                          </a:r>
                        </a:p>
                      </a:txBody>
                      <a:tcPr/>
                    </a:tc>
                    <a:tc>
                      <a:txBody>
                        <a:bodyPr/>
                        <a:lstStyle/>
                        <a:p>
                          <a:endParaRPr lang="en-US"/>
                        </a:p>
                      </a:txBody>
                      <a:tcPr>
                        <a:blipFill>
                          <a:blip r:embed="rId5"/>
                          <a:stretch>
                            <a:fillRect l="-65604" t="-166087" r="-83599" b="-1739"/>
                          </a:stretch>
                        </a:blipFill>
                      </a:tcPr>
                    </a:tc>
                    <a:tc>
                      <a:txBody>
                        <a:bodyPr/>
                        <a:lstStyle/>
                        <a:p>
                          <a:endParaRPr lang="en-US"/>
                        </a:p>
                      </a:txBody>
                      <a:tcPr>
                        <a:blipFill>
                          <a:blip r:embed="rId5"/>
                          <a:stretch>
                            <a:fillRect l="-200275" t="-166087" r="-1102" b="-1739"/>
                          </a:stretch>
                        </a:blipFill>
                      </a:tcPr>
                    </a:tc>
                    <a:extLst>
                      <a:ext uri="{0D108BD9-81ED-4DB2-BD59-A6C34878D82A}">
                        <a16:rowId xmlns:a16="http://schemas.microsoft.com/office/drawing/2014/main" val="691693476"/>
                      </a:ext>
                    </a:extLst>
                  </a:tr>
                </a:tbl>
              </a:graphicData>
            </a:graphic>
          </p:graphicFrame>
        </mc:Fallback>
      </mc:AlternateContent>
    </p:spTree>
    <p:extLst>
      <p:ext uri="{BB962C8B-B14F-4D97-AF65-F5344CB8AC3E}">
        <p14:creationId xmlns:p14="http://schemas.microsoft.com/office/powerpoint/2010/main" val="21819458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14:m>
                  <m:oMath xmlns:m="http://schemas.openxmlformats.org/officeDocument/2006/math">
                    <m:sSubSup>
                      <m:sSubSupPr>
                        <m:ctrlPr>
                          <a:rPr lang="en-US" sz="2200" i="1" smtClean="0">
                            <a:latin typeface="Cambria Math" panose="02040503050406030204" pitchFamily="18" charset="0"/>
                          </a:rPr>
                        </m:ctrlPr>
                      </m:sSubSupPr>
                      <m:e>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e>
                      <m:sub>
                        <m:r>
                          <a:rPr lang="en-US" sz="2200" i="1">
                            <a:latin typeface="Cambria Math"/>
                          </a:rPr>
                          <m:t>𝑐𝑎𝑙</m:t>
                        </m:r>
                      </m:sub>
                      <m:sup>
                        <m:r>
                          <a:rPr lang="en-US" sz="2200" b="0" i="1" smtClean="0">
                            <a:latin typeface="Cambria Math" panose="02040503050406030204" pitchFamily="18" charset="0"/>
                          </a:rPr>
                          <m:t> </m:t>
                        </m:r>
                      </m:sup>
                    </m:sSubSup>
                  </m:oMath>
                </a14:m>
                <a:r>
                  <a:rPr lang="en-US" sz="2200" dirty="0"/>
                  <a:t>= </a:t>
                </a:r>
                <a14:m>
                  <m:oMath xmlns:m="http://schemas.openxmlformats.org/officeDocument/2006/math">
                    <m:nary>
                      <m:naryPr>
                        <m:chr m:val="∑"/>
                        <m:subHide m:val="on"/>
                        <m:supHide m:val="on"/>
                        <m:ctrlPr>
                          <a:rPr lang="en-US" sz="2200" b="1" i="1">
                            <a:latin typeface="Cambria Math" panose="02040503050406030204" pitchFamily="18" charset="0"/>
                            <a:ea typeface="Cambria Math"/>
                          </a:rPr>
                        </m:ctrlPr>
                      </m:naryPr>
                      <m:sub/>
                      <m:sup/>
                      <m:e>
                        <m:f>
                          <m:fPr>
                            <m:ctrlPr>
                              <a:rPr lang="en-US" sz="2200" b="1" i="1">
                                <a:latin typeface="Cambria Math" panose="02040503050406030204" pitchFamily="18" charset="0"/>
                                <a:ea typeface="Cambria Math"/>
                              </a:rPr>
                            </m:ctrlPr>
                          </m:fPr>
                          <m:num>
                            <m:sSup>
                              <m:sSupPr>
                                <m:ctrlPr>
                                  <a:rPr lang="en-US" sz="2200" b="1" i="1">
                                    <a:latin typeface="Cambria Math" panose="02040503050406030204" pitchFamily="18" charset="0"/>
                                    <a:ea typeface="Cambria Math"/>
                                  </a:rPr>
                                </m:ctrlPr>
                              </m:sSupPr>
                              <m:e>
                                <m:d>
                                  <m:dPr>
                                    <m:ctrlPr>
                                      <a:rPr lang="en-US" sz="2200" b="1" i="1">
                                        <a:latin typeface="Cambria Math" panose="02040503050406030204" pitchFamily="18" charset="0"/>
                                        <a:ea typeface="Cambria Math"/>
                                      </a:rPr>
                                    </m:ctrlPr>
                                  </m:dPr>
                                  <m:e>
                                    <m:r>
                                      <a:rPr lang="en-US" sz="2200" b="1" i="1">
                                        <a:latin typeface="Cambria Math"/>
                                        <a:ea typeface="Cambria Math"/>
                                      </a:rPr>
                                      <m:t>𝑶𝒊</m:t>
                                    </m:r>
                                    <m:r>
                                      <a:rPr lang="en-US" sz="2200" b="1" i="1">
                                        <a:latin typeface="Cambria Math"/>
                                        <a:ea typeface="Cambria Math"/>
                                      </a:rPr>
                                      <m:t>−</m:t>
                                    </m:r>
                                    <m:r>
                                      <a:rPr lang="en-US" sz="2200" b="1" i="1">
                                        <a:latin typeface="Cambria Math"/>
                                        <a:ea typeface="Cambria Math"/>
                                      </a:rPr>
                                      <m:t>𝑬𝒊</m:t>
                                    </m:r>
                                  </m:e>
                                </m:d>
                              </m:e>
                              <m:sup>
                                <m:r>
                                  <a:rPr lang="en-US" sz="2200" b="1" i="1">
                                    <a:latin typeface="Cambria Math"/>
                                    <a:ea typeface="Cambria Math"/>
                                  </a:rPr>
                                  <m:t>𝟐</m:t>
                                </m:r>
                              </m:sup>
                            </m:sSup>
                          </m:num>
                          <m:den>
                            <m:r>
                              <a:rPr lang="en-US" sz="2200" b="1" i="1">
                                <a:latin typeface="Cambria Math"/>
                                <a:ea typeface="Cambria Math"/>
                              </a:rPr>
                              <m:t>𝑬𝒊</m:t>
                            </m:r>
                          </m:den>
                        </m:f>
                      </m:e>
                    </m:nary>
                  </m:oMath>
                </a14:m>
                <a:r>
                  <a:rPr lang="en-US" sz="2200" dirty="0"/>
                  <a:t> =4.8863</a:t>
                </a:r>
              </a:p>
              <a:p>
                <a:pPr marL="0" indent="0">
                  <a:buNone/>
                </a:pPr>
                <a:r>
                  <a:rPr lang="en-US" sz="2200" dirty="0"/>
                  <a:t>The tabulated  </a:t>
                </a:r>
                <a14:m>
                  <m:oMath xmlns:m="http://schemas.openxmlformats.org/officeDocument/2006/math">
                    <m:sSubSup>
                      <m:sSubSupPr>
                        <m:ctrlPr>
                          <a:rPr lang="en-US" sz="2200" i="1">
                            <a:latin typeface="Cambria Math" panose="02040503050406030204" pitchFamily="18" charset="0"/>
                          </a:rPr>
                        </m:ctrlPr>
                      </m:sSubSupPr>
                      <m:e>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e>
                      <m:sub>
                        <m:r>
                          <a:rPr lang="en-US" sz="2200" i="1">
                            <a:latin typeface="Cambria Math"/>
                          </a:rPr>
                          <m:t>0.05</m:t>
                        </m:r>
                      </m:sub>
                      <m:sup>
                        <m:r>
                          <a:rPr lang="en-US" sz="2200" b="0" i="1" smtClean="0">
                            <a:latin typeface="Cambria Math" panose="02040503050406030204" pitchFamily="18" charset="0"/>
                          </a:rPr>
                          <m:t> </m:t>
                        </m:r>
                      </m:sup>
                    </m:sSubSup>
                  </m:oMath>
                </a14:m>
                <a:r>
                  <a:rPr lang="en-US" sz="2200" dirty="0"/>
                  <a:t>for (2-1)(2-1) </a:t>
                </a:r>
                <a:r>
                  <a:rPr lang="en-US" sz="2200" dirty="0" err="1"/>
                  <a:t>d.f.</a:t>
                </a:r>
                <a:r>
                  <a:rPr lang="en-US" sz="2200" dirty="0"/>
                  <a:t>= 3.841</a:t>
                </a:r>
              </a:p>
              <a:p>
                <a:pPr marL="0" indent="0">
                  <a:buNone/>
                </a:pPr>
                <a:r>
                  <a:rPr lang="en-US" sz="2200" b="1" dirty="0"/>
                  <a:t>Conclusion:</a:t>
                </a:r>
                <a:r>
                  <a:rPr lang="en-US" sz="2200" dirty="0"/>
                  <a:t> since calculate </a:t>
                </a:r>
                <a14:m>
                  <m:oMath xmlns:m="http://schemas.openxmlformats.org/officeDocument/2006/math">
                    <m:sSup>
                      <m:sSupPr>
                        <m:ctrlPr>
                          <a:rPr lang="en-US" sz="2200" b="1" i="1">
                            <a:latin typeface="Cambria Math" panose="02040503050406030204" pitchFamily="18" charset="0"/>
                          </a:rPr>
                        </m:ctrlPr>
                      </m:sSupPr>
                      <m:e>
                        <m:r>
                          <a:rPr lang="en-US" sz="2200" b="1" i="1">
                            <a:latin typeface="Cambria Math"/>
                            <a:ea typeface="Cambria Math"/>
                          </a:rPr>
                          <m:t>𝝌</m:t>
                        </m:r>
                      </m:e>
                      <m:sup>
                        <m:r>
                          <a:rPr lang="en-US" sz="2200" b="1" i="1">
                            <a:latin typeface="Cambria Math"/>
                          </a:rPr>
                          <m:t>𝟐</m:t>
                        </m:r>
                      </m:sup>
                    </m:sSup>
                  </m:oMath>
                </a14:m>
                <a:r>
                  <a:rPr lang="en-US" sz="2200" dirty="0"/>
                  <a:t>is much greater than the tabulated value, it is highly significant and null hypothesis  is rejected  at 5% of level of significance. Hence we defend the statement that inoculation  prevents attack from cholera.</a:t>
                </a:r>
              </a:p>
              <a:p>
                <a:endParaRPr lang="en-US" sz="2200" dirty="0"/>
              </a:p>
              <a:p>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mc:AlternateContent xmlns:mc="http://schemas.openxmlformats.org/markup-compatibility/2006" xmlns:a14="http://schemas.microsoft.com/office/drawing/2010/main">
        <mc:Choice Requires="a14">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mj-lt"/>
                  </a:rPr>
                  <a:t>Chi Square Test(</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ea typeface="Cambria Math"/>
                          </a:rPr>
                          <m:t>𝝌</m:t>
                        </m:r>
                      </m:e>
                      <m:sup>
                        <m:r>
                          <a:rPr lang="en-US" sz="2400" b="1" i="1">
                            <a:latin typeface="Cambria Math" panose="02040503050406030204" pitchFamily="18" charset="0"/>
                          </a:rPr>
                          <m:t>𝟐</m:t>
                        </m:r>
                      </m:sup>
                    </m:sSup>
                  </m:oMath>
                </a14:m>
                <a:r>
                  <a:rPr lang="en-US" sz="2400" b="1" dirty="0">
                    <a:latin typeface="+mj-lt"/>
                  </a:rPr>
                  <a:t>)</a:t>
                </a:r>
                <a:r>
                  <a:rPr lang="en-US" sz="2400" b="1" noProof="0" dirty="0">
                    <a:latin typeface="+mj-lt"/>
                  </a:rPr>
                  <a:t>(CO5)</a:t>
                </a:r>
                <a:endParaRPr kumimoji="0" lang="en-US" sz="2400" b="1" i="0" u="none" strike="noStrike" kern="1200" cap="none" spc="0" normalizeH="0" baseline="0" noProof="0" dirty="0">
                  <a:ln>
                    <a:noFill/>
                  </a:ln>
                  <a:solidFill>
                    <a:schemeClr val="dk1"/>
                  </a:solidFill>
                  <a:effectLst/>
                  <a:uLnTx/>
                  <a:uFillTx/>
                  <a:latin typeface="+mj-lt"/>
                </a:endParaRPr>
              </a:p>
            </p:txBody>
          </p:sp>
        </mc:Choice>
        <mc:Fallback xmlns="">
          <p:sp>
            <p:nvSpPr>
              <p:cNvPr id="9" name="Title 1"/>
              <p:cNvSpPr txBox="1">
                <a:spLocks noRot="1" noChangeAspect="1" noMove="1" noResize="1" noEditPoints="1" noAdjustHandles="1" noChangeArrowheads="1" noChangeShapeType="1" noTextEdit="1"/>
              </p:cNvSpPr>
              <p:nvPr/>
            </p:nvSpPr>
            <p:spPr>
              <a:xfrm>
                <a:off x="1676400" y="0"/>
                <a:ext cx="7467600" cy="68579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2550677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305800" cy="4953000"/>
              </a:xfrm>
            </p:spPr>
            <p:txBody>
              <a:bodyPr>
                <a:normAutofit lnSpcReduction="10000"/>
              </a:bodyPr>
              <a:lstStyle/>
              <a:p>
                <a:pPr marL="0" lvl="0" indent="0" algn="just">
                  <a:buNone/>
                </a:pPr>
                <a:r>
                  <a:rPr lang="en-US" b="1" spc="-5" dirty="0">
                    <a:ea typeface="Cambria" panose="02040503050406030204" pitchFamily="18" charset="0"/>
                    <a:cs typeface="Arial"/>
                  </a:rPr>
                  <a:t>Q1: </a:t>
                </a:r>
                <a:r>
                  <a:rPr lang="en-US" dirty="0"/>
                  <a:t>A sample analysis of examination results of 500 students it was found that 220 students have failed, 170 have secured a third class, 90 have secured a second class and the rest, a first class. Do these figures support the general belief that above categories are in the ratio 4:3:2:1 respectively?(Test at 5 % level of significance)</a:t>
                </a:r>
                <a:r>
                  <a:rPr lang="en-US" b="1" dirty="0"/>
                  <a:t> </a:t>
                </a:r>
              </a:p>
              <a:p>
                <a:pPr marL="0" lvl="0" indent="0" algn="just">
                  <a:buNone/>
                </a:pPr>
                <a:r>
                  <a:rPr lang="en-US" b="1" dirty="0"/>
                  <a:t>Ans: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0</m:t>
                        </m:r>
                      </m:sub>
                    </m:sSub>
                  </m:oMath>
                </a14:m>
                <a:r>
                  <a:rPr lang="en-US" dirty="0"/>
                  <a:t> rejected. </a:t>
                </a:r>
              </a:p>
              <a:p>
                <a:pPr marL="0" lvl="0" indent="0" algn="just">
                  <a:buNone/>
                </a:pPr>
                <a:r>
                  <a:rPr lang="en-US" b="1" dirty="0"/>
                  <a:t>Q2:  </a:t>
                </a:r>
                <a:r>
                  <a:rPr lang="en-US" dirty="0"/>
                  <a:t>A sample of 400 students of under graduate and 400 students of post graduate classes was taken to know their opinion about autonomous colleges. 290 of the under graduate and 310 of the post graduate students favored the autonomous status. Present these facts in the form of a table and test at 5% level that the opinion regarding autonomous status of colleges is independent of the level of classes of students. </a:t>
                </a:r>
              </a:p>
              <a:p>
                <a:pPr marL="0" lvl="0" indent="0" algn="just">
                  <a:buNone/>
                </a:pPr>
                <a:r>
                  <a:rPr lang="en-US" b="1" dirty="0"/>
                  <a:t>Ans: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0</m:t>
                        </m:r>
                      </m:sub>
                    </m:sSub>
                  </m:oMath>
                </a14:m>
                <a:r>
                  <a:rPr lang="en-US" dirty="0"/>
                  <a:t> rejected.</a:t>
                </a:r>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305800" cy="4953000"/>
              </a:xfrm>
              <a:blipFill>
                <a:blip r:embed="rId2"/>
                <a:stretch>
                  <a:fillRect l="-954" t="-1478" r="-88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US" sz="3000" b="1" dirty="0"/>
          </a:p>
          <a:p>
            <a:pPr algn="ctr">
              <a:spcBef>
                <a:spcPct val="0"/>
              </a:spcBef>
              <a:defRPr/>
            </a:pPr>
            <a:r>
              <a:rPr lang="en-US" sz="2400" b="1" dirty="0"/>
              <a:t>Daily Quiz(CO5)</a:t>
            </a:r>
            <a:endParaRPr kumimoji="0" lang="en-US" sz="2400" b="1" i="0" u="none" strike="noStrike" kern="1200" cap="none" spc="0" normalizeH="0" baseline="0" noProof="0" dirty="0">
              <a:ln>
                <a:noFill/>
              </a:ln>
              <a:solidFill>
                <a:schemeClr val="dk1"/>
              </a:solidFill>
              <a:effectLst/>
              <a:uLnTx/>
              <a:uFillTx/>
            </a:endParaRPr>
          </a:p>
          <a:p>
            <a:pPr algn="ctr">
              <a:spcBef>
                <a:spcPct val="0"/>
              </a:spcBef>
              <a:defRPr/>
            </a:pPr>
            <a:endParaRPr kumimoji="0" lang="en-US" sz="30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42148598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ü"/>
                </a:pPr>
                <a:r>
                  <a:rPr lang="en-US" sz="2200" dirty="0"/>
                  <a:t>Test of hypothesis</a:t>
                </a:r>
              </a:p>
              <a:p>
                <a:pPr>
                  <a:buFont typeface="Wingdings" pitchFamily="2" charset="2"/>
                  <a:buChar char="ü"/>
                </a:pPr>
                <a:r>
                  <a:rPr lang="en-US" sz="2200" dirty="0"/>
                  <a:t>Test of hypothesis about difference between two population mean</a:t>
                </a:r>
              </a:p>
              <a:p>
                <a:pPr>
                  <a:buFont typeface="Wingdings" pitchFamily="2" charset="2"/>
                  <a:buChar char="ü"/>
                </a:pPr>
                <a:r>
                  <a:rPr lang="en-US" sz="2200" dirty="0">
                    <a:latin typeface="Times New Roman" pitchFamily="18" charset="0"/>
                    <a:cs typeface="Times New Roman" pitchFamily="18" charset="0"/>
                  </a:rPr>
                  <a:t>To test the significance of the difference between the mean of two small samples.</a:t>
                </a:r>
              </a:p>
              <a:p>
                <a:pPr>
                  <a:buFont typeface="Wingdings" pitchFamily="2" charset="2"/>
                  <a:buChar char="ü"/>
                </a:pP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2</m:t>
                        </m:r>
                      </m:sup>
                    </m:sSup>
                  </m:oMath>
                </a14:m>
                <a:r>
                  <a:rPr lang="en-US" sz="2200" dirty="0"/>
                  <a:t> test</a:t>
                </a:r>
                <a:endParaRPr lang="en-US" sz="2200" dirty="0">
                  <a:latin typeface="Times New Roman" pitchFamily="18" charset="0"/>
                  <a:cs typeface="Times New Roman" pitchFamily="18" charset="0"/>
                </a:endParaRPr>
              </a:p>
              <a:p>
                <a:pPr>
                  <a:buFont typeface="Wingdings" pitchFamily="2" charset="2"/>
                  <a:buChar char="ü"/>
                </a:pPr>
                <a:endParaRPr lang="en-US" sz="2200" dirty="0"/>
              </a:p>
              <a:p>
                <a:pPr marL="0" indent="0">
                  <a:buNone/>
                </a:pPr>
                <a:endParaRPr lang="en-US" sz="2200" dirty="0"/>
              </a:p>
              <a:p>
                <a:pPr>
                  <a:buFont typeface="Wingdings" pitchFamily="2" charset="2"/>
                  <a:buChar char="ü"/>
                </a:pPr>
                <a:endParaRPr lang="en-US" sz="2200" dirty="0"/>
              </a:p>
              <a:p>
                <a:pPr>
                  <a:buFont typeface="Wingdings" pitchFamily="2" charset="2"/>
                  <a:buChar char="ü"/>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Recap(CO5)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691168768"/>
      </p:ext>
    </p:extLst>
  </p:cSld>
  <p:clrMapOvr>
    <a:masterClrMapping/>
  </p:clrMapOvr>
  <p:transition spd="slow">
    <p:push dir="u"/>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400" b="1" dirty="0">
                <a:latin typeface="+mn-lt"/>
              </a:rPr>
              <a:t>Analysis of variance(</a:t>
            </a:r>
            <a:r>
              <a:rPr lang="en-US" sz="2400" b="1" spc="-55" dirty="0">
                <a:latin typeface="+mn-lt"/>
                <a:ea typeface="Cambria" panose="02040503050406030204" pitchFamily="18" charset="0"/>
              </a:rPr>
              <a:t>ANOVA)</a:t>
            </a:r>
            <a:endParaRPr lang="en-US" sz="2400" b="1" dirty="0">
              <a:latin typeface="+mn-lt"/>
            </a:endParaRPr>
          </a:p>
          <a:p>
            <a:r>
              <a:rPr lang="en-US" sz="2200" dirty="0">
                <a:latin typeface="+mn-lt"/>
              </a:rPr>
              <a:t>Appropriately interpret results of </a:t>
            </a:r>
            <a:r>
              <a:rPr lang="en-US" sz="2200" b="1" dirty="0">
                <a:latin typeface="+mn-lt"/>
              </a:rPr>
              <a:t>analysis of variance</a:t>
            </a:r>
            <a:r>
              <a:rPr lang="en-US" sz="2200" dirty="0">
                <a:latin typeface="+mn-lt"/>
              </a:rPr>
              <a:t> tests.</a:t>
            </a:r>
          </a:p>
          <a:p>
            <a:r>
              <a:rPr lang="en-US" sz="2200" dirty="0">
                <a:latin typeface="+mn-lt"/>
              </a:rPr>
              <a:t>Distinguish between one and two factor </a:t>
            </a:r>
            <a:r>
              <a:rPr lang="en-US" sz="2200" b="1" dirty="0">
                <a:latin typeface="+mn-lt"/>
              </a:rPr>
              <a:t>analysis of variance</a:t>
            </a:r>
            <a:r>
              <a:rPr lang="en-US" sz="2200" dirty="0">
                <a:latin typeface="+mn-lt"/>
              </a:rPr>
              <a:t> tests.</a:t>
            </a:r>
          </a:p>
          <a:p>
            <a:r>
              <a:rPr lang="en-US" sz="2200" dirty="0">
                <a:latin typeface="+mn-lt"/>
              </a:rPr>
              <a:t>Identify the appropriate hypothesis testing procedure based on type of outcome variable and number of samples.</a:t>
            </a:r>
          </a:p>
          <a:p>
            <a:endParaRPr lang="en-US" sz="2200" dirty="0">
              <a:latin typeface="+mn-lt"/>
            </a:endParaRP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latin typeface="+mj-lt"/>
                <a:ea typeface="Cambria" panose="02040503050406030204" pitchFamily="18" charset="0"/>
              </a:rPr>
              <a:t>Topic objective </a:t>
            </a:r>
            <a:r>
              <a:rPr lang="en-US" sz="2400" b="1" spc="-55" dirty="0">
                <a:latin typeface="+mj-lt"/>
                <a:ea typeface="Cambria" panose="02040503050406030204" pitchFamily="18" charset="0"/>
              </a:rPr>
              <a:t>(</a:t>
            </a:r>
            <a:r>
              <a:rPr kumimoji="0" lang="en-US" sz="2400" b="1" i="0" u="none" strike="noStrike" kern="1200" cap="none" spc="0" normalizeH="0" baseline="0" noProof="0" dirty="0">
                <a:ln>
                  <a:noFill/>
                </a:ln>
                <a:solidFill>
                  <a:schemeClr val="dk1"/>
                </a:solidFill>
                <a:effectLst/>
                <a:uLnTx/>
                <a:uFillTx/>
                <a:latin typeface="+mj-lt"/>
              </a:rPr>
              <a:t>CO5)</a:t>
            </a:r>
          </a:p>
        </p:txBody>
      </p:sp>
    </p:spTree>
    <p:extLst>
      <p:ext uri="{BB962C8B-B14F-4D97-AF65-F5344CB8AC3E}">
        <p14:creationId xmlns:p14="http://schemas.microsoft.com/office/powerpoint/2010/main" val="20810861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spc="-5" dirty="0">
                    <a:latin typeface="Cambria" panose="02040503050406030204" pitchFamily="18" charset="0"/>
                    <a:ea typeface="Cambria" panose="02040503050406030204" pitchFamily="18" charset="0"/>
                  </a:rPr>
                  <a:t> </a:t>
                </a:r>
                <a:r>
                  <a:rPr lang="en-US" sz="2200" b="1" spc="-5" dirty="0">
                    <a:ea typeface="Cambria" panose="02040503050406030204" pitchFamily="18" charset="0"/>
                    <a:cs typeface="Arial"/>
                  </a:rPr>
                  <a:t>ANOVA:</a:t>
                </a:r>
              </a:p>
              <a:p>
                <a:pPr algn="just"/>
                <a:r>
                  <a:rPr lang="en-US" sz="2200" spc="-5" dirty="0">
                    <a:ea typeface="Cambria" panose="02040503050406030204" pitchFamily="18" charset="0"/>
                    <a:cs typeface="Arial"/>
                  </a:rPr>
                  <a:t>ANOVA </a:t>
                </a:r>
                <a:r>
                  <a:rPr lang="en-US" sz="2200" dirty="0">
                    <a:ea typeface="Cambria" panose="02040503050406030204" pitchFamily="18" charset="0"/>
                    <a:cs typeface="Arial"/>
                  </a:rPr>
                  <a:t>is </a:t>
                </a:r>
                <a:r>
                  <a:rPr lang="en-US" sz="2200" spc="-5" dirty="0">
                    <a:ea typeface="Cambria" panose="02040503050406030204" pitchFamily="18" charset="0"/>
                    <a:cs typeface="Arial"/>
                  </a:rPr>
                  <a:t>used to determine there is any significant difference between the mean of three or more independent samples.</a:t>
                </a:r>
              </a:p>
              <a:p>
                <a:pPr algn="just"/>
                <a:r>
                  <a:rPr lang="en-US" sz="2200" spc="-5" dirty="0">
                    <a:ea typeface="Cambria" panose="02040503050406030204" pitchFamily="18" charset="0"/>
                    <a:cs typeface="Arial"/>
                  </a:rPr>
                  <a:t>ANOVA is carried out on the basis of ratio between two variances, this ratio forms the test statistic known as </a:t>
                </a:r>
                <a14:m>
                  <m:oMath xmlns:m="http://schemas.openxmlformats.org/officeDocument/2006/math">
                    <m:r>
                      <a:rPr lang="en-US" sz="2200" i="1" spc="-5">
                        <a:latin typeface="Cambria Math"/>
                        <a:ea typeface="Cambria" panose="02040503050406030204" pitchFamily="18" charset="0"/>
                        <a:cs typeface="Arial"/>
                      </a:rPr>
                      <m:t>𝐹</m:t>
                    </m:r>
                  </m:oMath>
                </a14:m>
                <a:r>
                  <a:rPr lang="en-US" sz="2200" spc="-5" dirty="0">
                    <a:ea typeface="Cambria" panose="02040503050406030204" pitchFamily="18" charset="0"/>
                    <a:cs typeface="Arial"/>
                  </a:rPr>
                  <a:t>-statistics given by-</a:t>
                </a:r>
                <a:endParaRPr lang="en-US" sz="2200" i="1" spc="-5" dirty="0">
                  <a:ea typeface="Cambria" panose="02040503050406030204" pitchFamily="18" charset="0"/>
                  <a:cs typeface="Arial"/>
                </a:endParaRPr>
              </a:p>
              <a:p>
                <a:pPr marL="0" indent="0" algn="just">
                  <a:buNone/>
                </a:pPr>
                <a14:m>
                  <m:oMathPara xmlns:m="http://schemas.openxmlformats.org/officeDocument/2006/math">
                    <m:oMathParaPr>
                      <m:jc m:val="left"/>
                    </m:oMathParaPr>
                    <m:oMath xmlns:m="http://schemas.openxmlformats.org/officeDocument/2006/math">
                      <m:r>
                        <a:rPr lang="en-US" sz="2200" i="1" spc="-5">
                          <a:latin typeface="Cambria Math"/>
                          <a:ea typeface="Cambria" panose="02040503050406030204" pitchFamily="18" charset="0"/>
                          <a:cs typeface="Arial"/>
                        </a:rPr>
                        <m:t>𝐹</m:t>
                      </m:r>
                      <m:r>
                        <a:rPr lang="en-US" sz="2200" i="1" spc="-5">
                          <a:latin typeface="Cambria Math"/>
                          <a:ea typeface="Cambria" panose="02040503050406030204" pitchFamily="18" charset="0"/>
                          <a:cs typeface="Arial"/>
                        </a:rPr>
                        <m:t>=</m:t>
                      </m:r>
                      <m:f>
                        <m:fPr>
                          <m:ctrlPr>
                            <a:rPr lang="en-US" sz="2200" i="1" spc="-5">
                              <a:latin typeface="Cambria Math" panose="02040503050406030204" pitchFamily="18" charset="0"/>
                              <a:cs typeface="Arial"/>
                            </a:rPr>
                          </m:ctrlPr>
                        </m:fPr>
                        <m:num>
                          <m:r>
                            <m:rPr>
                              <m:sty m:val="p"/>
                            </m:rPr>
                            <a:rPr lang="en-US" sz="2200" spc="-5">
                              <a:latin typeface="Cambria Math"/>
                              <a:cs typeface="Arial"/>
                            </a:rPr>
                            <m:t>variance</m:t>
                          </m:r>
                          <m:r>
                            <a:rPr lang="en-US" sz="2200" spc="-5">
                              <a:latin typeface="Cambria Math"/>
                              <a:cs typeface="Arial"/>
                            </a:rPr>
                            <m:t> </m:t>
                          </m:r>
                          <m:r>
                            <m:rPr>
                              <m:sty m:val="p"/>
                            </m:rPr>
                            <a:rPr lang="en-US" sz="2200" spc="-5">
                              <a:latin typeface="Cambria Math"/>
                              <a:cs typeface="Arial"/>
                            </a:rPr>
                            <m:t>between</m:t>
                          </m:r>
                          <m:r>
                            <a:rPr lang="en-US" sz="2200" spc="-5">
                              <a:latin typeface="Cambria Math"/>
                              <a:cs typeface="Arial"/>
                            </a:rPr>
                            <m:t> </m:t>
                          </m:r>
                          <m:r>
                            <m:rPr>
                              <m:sty m:val="p"/>
                            </m:rPr>
                            <a:rPr lang="en-US" sz="2200" spc="-5">
                              <a:latin typeface="Cambria Math"/>
                              <a:cs typeface="Arial"/>
                            </a:rPr>
                            <m:t>the</m:t>
                          </m:r>
                          <m:r>
                            <a:rPr lang="en-US" sz="2200" spc="-5">
                              <a:latin typeface="Cambria Math"/>
                              <a:cs typeface="Arial"/>
                            </a:rPr>
                            <m:t> </m:t>
                          </m:r>
                          <m:r>
                            <m:rPr>
                              <m:sty m:val="p"/>
                            </m:rPr>
                            <a:rPr lang="en-US" sz="2200" spc="-5">
                              <a:latin typeface="Cambria Math"/>
                              <a:cs typeface="Arial"/>
                            </a:rPr>
                            <m:t>samples</m:t>
                          </m:r>
                        </m:num>
                        <m:den>
                          <m:r>
                            <m:rPr>
                              <m:sty m:val="p"/>
                            </m:rPr>
                            <a:rPr lang="en-US" sz="2200" spc="-5">
                              <a:latin typeface="Cambria Math"/>
                              <a:cs typeface="Arial"/>
                            </a:rPr>
                            <m:t>variance</m:t>
                          </m:r>
                          <m:r>
                            <a:rPr lang="en-US" sz="2200" spc="-5">
                              <a:latin typeface="Cambria Math"/>
                              <a:cs typeface="Arial"/>
                            </a:rPr>
                            <m:t> </m:t>
                          </m:r>
                          <m:r>
                            <m:rPr>
                              <m:sty m:val="p"/>
                            </m:rPr>
                            <a:rPr lang="en-US" sz="2200" spc="-5">
                              <a:latin typeface="Cambria Math"/>
                              <a:cs typeface="Arial"/>
                            </a:rPr>
                            <m:t>with</m:t>
                          </m:r>
                          <m:r>
                            <a:rPr lang="en-US" sz="2200" spc="-5">
                              <a:latin typeface="Cambria Math"/>
                              <a:cs typeface="Arial"/>
                            </a:rPr>
                            <m:t> </m:t>
                          </m:r>
                          <m:r>
                            <m:rPr>
                              <m:sty m:val="p"/>
                            </m:rPr>
                            <a:rPr lang="en-US" sz="2200" spc="-5">
                              <a:latin typeface="Cambria Math"/>
                              <a:cs typeface="Arial"/>
                            </a:rPr>
                            <m:t>in</m:t>
                          </m:r>
                          <m:r>
                            <a:rPr lang="en-US" sz="2200" spc="-5">
                              <a:latin typeface="Cambria Math"/>
                              <a:cs typeface="Arial"/>
                            </a:rPr>
                            <m:t> </m:t>
                          </m:r>
                          <m:r>
                            <m:rPr>
                              <m:sty m:val="p"/>
                            </m:rPr>
                            <a:rPr lang="en-US" sz="2200" spc="-5">
                              <a:latin typeface="Cambria Math"/>
                              <a:cs typeface="Arial"/>
                            </a:rPr>
                            <m:t>the</m:t>
                          </m:r>
                          <m:r>
                            <a:rPr lang="en-US" sz="2200" spc="-5">
                              <a:latin typeface="Cambria Math"/>
                              <a:cs typeface="Arial"/>
                            </a:rPr>
                            <m:t> </m:t>
                          </m:r>
                          <m:r>
                            <m:rPr>
                              <m:sty m:val="p"/>
                            </m:rPr>
                            <a:rPr lang="en-US" sz="2200" spc="-5">
                              <a:latin typeface="Cambria Math"/>
                              <a:cs typeface="Arial"/>
                            </a:rPr>
                            <m:t>sample</m:t>
                          </m:r>
                        </m:den>
                      </m:f>
                    </m:oMath>
                  </m:oMathPara>
                </a14:m>
                <a:endParaRPr lang="en-US" sz="22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89" t="-943" r="-889"/>
                </a:stretch>
              </a:blipFill>
            </p:spPr>
            <p:txBody>
              <a:bodyPr/>
              <a:lstStyle/>
              <a:p>
                <a:r>
                  <a:rPr lang="hi-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25662691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ANOVA is to split up the total variation as follows:</a:t>
            </a:r>
          </a:p>
          <a:p>
            <a:pPr marL="514350" indent="-514350">
              <a:buFont typeface="+mj-lt"/>
              <a:buAutoNum type="arabicPeriod"/>
            </a:pPr>
            <a:r>
              <a:rPr lang="en-US" sz="2200" dirty="0"/>
              <a:t>Variance between samples.</a:t>
            </a:r>
          </a:p>
          <a:p>
            <a:pPr marL="514350" indent="-514350">
              <a:buFont typeface="+mj-lt"/>
              <a:buAutoNum type="arabicPeriod"/>
            </a:pPr>
            <a:r>
              <a:rPr lang="en-US" sz="2200" dirty="0"/>
              <a:t>Variance within samples.</a:t>
            </a:r>
          </a:p>
          <a:p>
            <a:pPr marL="0" indent="0">
              <a:buNone/>
            </a:pPr>
            <a:r>
              <a:rPr lang="en-US" sz="2200" dirty="0"/>
              <a:t> </a:t>
            </a:r>
          </a:p>
          <a:p>
            <a:pPr marL="0" indent="0">
              <a:buNone/>
            </a:pPr>
            <a:r>
              <a:rPr lang="en-US" sz="2200" b="1" dirty="0"/>
              <a:t>ANOVA classification</a:t>
            </a:r>
          </a:p>
          <a:p>
            <a:pPr marL="514350" indent="-514350">
              <a:buFont typeface="+mj-lt"/>
              <a:buAutoNum type="arabicPeriod"/>
            </a:pPr>
            <a:r>
              <a:rPr lang="en-US" sz="2200" dirty="0"/>
              <a:t>One way ANOVA: This is used to see the effect of an independent variable on a given dependent variable.</a:t>
            </a:r>
          </a:p>
          <a:p>
            <a:pPr marL="514350" indent="-514350">
              <a:buFont typeface="+mj-lt"/>
              <a:buAutoNum type="arabicPeriod"/>
            </a:pPr>
            <a:r>
              <a:rPr lang="en-US" sz="2200" dirty="0"/>
              <a:t>Two way ANOVA: This is used to see the effect of  two independent variable on a given dependent variable.</a:t>
            </a:r>
          </a:p>
          <a:p>
            <a:pPr marL="514350" indent="-514350">
              <a:buFont typeface="+mj-lt"/>
              <a:buAutoNum type="arabicPeriod"/>
            </a:pPr>
            <a:endParaRPr lang="en-US" sz="2200" dirty="0"/>
          </a:p>
          <a:p>
            <a:pPr marL="0" indent="0">
              <a:buNone/>
            </a:pPr>
            <a:r>
              <a:rPr lang="en-US" sz="2200" dirty="0"/>
              <a:t> </a:t>
            </a: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835388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dirty="0"/>
                  <a:t>ANOVA TABLE:</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Computation of test statistic</a:t>
                </a:r>
              </a:p>
              <a:p>
                <a:pPr marL="0" indent="0">
                  <a:buNone/>
                </a:pPr>
                <a:r>
                  <a:rPr lang="en-US" sz="2000" dirty="0"/>
                  <a:t>F =</a:t>
                </a:r>
                <a14:m>
                  <m:oMath xmlns:m="http://schemas.openxmlformats.org/officeDocument/2006/math">
                    <m:f>
                      <m:fPr>
                        <m:ctrlPr>
                          <a:rPr lang="en-US" sz="2000" i="1">
                            <a:latin typeface="Cambria Math" panose="02040503050406030204" pitchFamily="18" charset="0"/>
                          </a:rPr>
                        </m:ctrlPr>
                      </m:fPr>
                      <m:num>
                        <m:r>
                          <m:rPr>
                            <m:sty m:val="p"/>
                          </m:rPr>
                          <a:rPr lang="en-US" sz="2000" i="0">
                            <a:latin typeface="Cambria Math"/>
                          </a:rPr>
                          <m:t>variance</m:t>
                        </m:r>
                        <m:r>
                          <a:rPr lang="en-US" sz="2000" i="0">
                            <a:latin typeface="Cambria Math"/>
                          </a:rPr>
                          <m:t> </m:t>
                        </m:r>
                        <m:r>
                          <m:rPr>
                            <m:sty m:val="p"/>
                          </m:rPr>
                          <a:rPr lang="en-US" sz="2000" i="0">
                            <a:latin typeface="Cambria Math"/>
                          </a:rPr>
                          <m:t>between</m:t>
                        </m:r>
                        <m:r>
                          <a:rPr lang="en-US" sz="2000" i="0">
                            <a:latin typeface="Cambria Math"/>
                          </a:rPr>
                          <m:t> </m:t>
                        </m:r>
                        <m:r>
                          <m:rPr>
                            <m:sty m:val="p"/>
                          </m:rPr>
                          <a:rPr lang="en-US" sz="2000" i="0">
                            <a:latin typeface="Cambria Math"/>
                          </a:rPr>
                          <m:t>the</m:t>
                        </m:r>
                        <m:r>
                          <a:rPr lang="en-US" sz="2000" i="0">
                            <a:latin typeface="Cambria Math"/>
                          </a:rPr>
                          <m:t> </m:t>
                        </m:r>
                        <m:r>
                          <m:rPr>
                            <m:sty m:val="p"/>
                          </m:rPr>
                          <a:rPr lang="en-US" sz="2000" i="0">
                            <a:latin typeface="Cambria Math"/>
                          </a:rPr>
                          <m:t>samples</m:t>
                        </m:r>
                      </m:num>
                      <m:den>
                        <m:r>
                          <m:rPr>
                            <m:nor/>
                          </m:rPr>
                          <a:rPr lang="en-US" sz="2000" dirty="0">
                            <a:latin typeface="Cambria Math"/>
                          </a:rPr>
                          <m:t>variance</m:t>
                        </m:r>
                        <m:r>
                          <m:rPr>
                            <m:nor/>
                          </m:rPr>
                          <a:rPr lang="en-US" sz="2000" dirty="0">
                            <a:latin typeface="Cambria Math"/>
                          </a:rPr>
                          <m:t>  </m:t>
                        </m:r>
                        <m:r>
                          <m:rPr>
                            <m:nor/>
                          </m:rPr>
                          <a:rPr lang="en-US" sz="2000" dirty="0">
                            <a:latin typeface="Cambria Math"/>
                          </a:rPr>
                          <m:t>within</m:t>
                        </m:r>
                        <m:r>
                          <m:rPr>
                            <m:nor/>
                          </m:rPr>
                          <a:rPr lang="en-US" sz="2000" dirty="0">
                            <a:latin typeface="Cambria Math"/>
                          </a:rPr>
                          <m:t> </m:t>
                        </m:r>
                        <m:r>
                          <m:rPr>
                            <m:nor/>
                          </m:rPr>
                          <a:rPr lang="en-US" sz="2000" dirty="0">
                            <a:latin typeface="Cambria Math"/>
                          </a:rPr>
                          <m:t>the</m:t>
                        </m:r>
                        <m:r>
                          <m:rPr>
                            <m:nor/>
                          </m:rPr>
                          <a:rPr lang="en-US" sz="2000" dirty="0">
                            <a:latin typeface="Cambria Math"/>
                          </a:rPr>
                          <m:t> </m:t>
                        </m:r>
                        <m:r>
                          <m:rPr>
                            <m:nor/>
                          </m:rPr>
                          <a:rPr lang="en-US" sz="2000" dirty="0">
                            <a:latin typeface="Cambria Math"/>
                          </a:rPr>
                          <m:t>samples</m:t>
                        </m:r>
                        <m:r>
                          <m:rPr>
                            <m:nor/>
                          </m:rPr>
                          <a:rPr lang="en-US" sz="2000" dirty="0"/>
                          <m:t> </m:t>
                        </m:r>
                      </m:den>
                    </m:f>
                    <m:r>
                      <a:rPr lang="en-US" sz="2000" i="1" dirty="0">
                        <a:latin typeface="Cambria Math"/>
                      </a:rPr>
                      <m:t>=</m:t>
                    </m:r>
                    <m:f>
                      <m:fPr>
                        <m:ctrlPr>
                          <a:rPr lang="en-US" sz="2000" i="1">
                            <a:latin typeface="Cambria Math" panose="02040503050406030204" pitchFamily="18" charset="0"/>
                          </a:rPr>
                        </m:ctrlPr>
                      </m:fPr>
                      <m:num>
                        <m:r>
                          <m:rPr>
                            <m:nor/>
                          </m:rPr>
                          <a:rPr lang="en-US" sz="2000">
                            <a:latin typeface="Cambria Math"/>
                          </a:rPr>
                          <m:t>M</m:t>
                        </m:r>
                        <m:r>
                          <m:rPr>
                            <m:nor/>
                          </m:rPr>
                          <a:rPr lang="en-US" sz="2000" dirty="0"/>
                          <m:t>SC</m:t>
                        </m:r>
                      </m:num>
                      <m:den>
                        <m:r>
                          <m:rPr>
                            <m:nor/>
                          </m:rPr>
                          <a:rPr lang="en-US" sz="2000" dirty="0">
                            <a:latin typeface="Cambria Math"/>
                          </a:rPr>
                          <m:t>MSE</m:t>
                        </m:r>
                        <m:r>
                          <m:rPr>
                            <m:nor/>
                          </m:rPr>
                          <a:rPr lang="en-US" sz="2000" dirty="0"/>
                          <m:t> </m:t>
                        </m:r>
                      </m:den>
                    </m:f>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521F963E-1435-42B5-8E07-B6CFF56BB64A}"/>
                  </a:ext>
                </a:extLst>
              </p:cNvPr>
              <p:cNvGraphicFramePr>
                <a:graphicFrameLocks noGrp="1"/>
              </p:cNvGraphicFramePr>
              <p:nvPr>
                <p:extLst>
                  <p:ext uri="{D42A27DB-BD31-4B8C-83A1-F6EECF244321}">
                    <p14:modId xmlns:p14="http://schemas.microsoft.com/office/powerpoint/2010/main" val="1717162675"/>
                  </p:ext>
                </p:extLst>
              </p:nvPr>
            </p:nvGraphicFramePr>
            <p:xfrm>
              <a:off x="838200" y="1524000"/>
              <a:ext cx="7467600" cy="28397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494074064"/>
                        </a:ext>
                      </a:extLst>
                    </a:gridCol>
                    <a:gridCol w="1306830">
                      <a:extLst>
                        <a:ext uri="{9D8B030D-6E8A-4147-A177-3AD203B41FA5}">
                          <a16:colId xmlns:a16="http://schemas.microsoft.com/office/drawing/2014/main" val="2737903429"/>
                        </a:ext>
                      </a:extLst>
                    </a:gridCol>
                    <a:gridCol w="1493520">
                      <a:extLst>
                        <a:ext uri="{9D8B030D-6E8A-4147-A177-3AD203B41FA5}">
                          <a16:colId xmlns:a16="http://schemas.microsoft.com/office/drawing/2014/main" val="3441708766"/>
                        </a:ext>
                      </a:extLst>
                    </a:gridCol>
                    <a:gridCol w="1680210">
                      <a:extLst>
                        <a:ext uri="{9D8B030D-6E8A-4147-A177-3AD203B41FA5}">
                          <a16:colId xmlns:a16="http://schemas.microsoft.com/office/drawing/2014/main" val="320772787"/>
                        </a:ext>
                      </a:extLst>
                    </a:gridCol>
                    <a:gridCol w="1493520">
                      <a:extLst>
                        <a:ext uri="{9D8B030D-6E8A-4147-A177-3AD203B41FA5}">
                          <a16:colId xmlns:a16="http://schemas.microsoft.com/office/drawing/2014/main" val="4272899118"/>
                        </a:ext>
                      </a:extLst>
                    </a:gridCol>
                  </a:tblGrid>
                  <a:tr h="370840">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370840">
                    <a:tc>
                      <a:txBody>
                        <a:bodyPr/>
                        <a:lstStyle/>
                        <a:p>
                          <a:r>
                            <a:rPr lang="en-US" dirty="0"/>
                            <a:t>Between Samples (Column)</a:t>
                          </a:r>
                        </a:p>
                      </a:txBody>
                      <a:tcPr/>
                    </a:tc>
                    <a:tc>
                      <a:txBody>
                        <a:bodyPr/>
                        <a:lstStyle/>
                        <a:p>
                          <a:r>
                            <a:rPr lang="en-US" dirty="0"/>
                            <a:t>SSC</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𝑀𝑆𝐶</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𝑆𝑆𝐶</m:t>
                                    </m:r>
                                  </m:num>
                                  <m:den>
                                    <m:r>
                                      <a:rPr lang="en-US" b="0" i="1" smtClean="0">
                                        <a:latin typeface="Cambria Math" panose="02040503050406030204" pitchFamily="18" charset="0"/>
                                      </a:rPr>
                                      <m:t>𝑐</m:t>
                                    </m:r>
                                    <m:r>
                                      <a:rPr lang="en-US" b="0" i="1" smtClean="0">
                                        <a:latin typeface="Cambria Math" panose="02040503050406030204" pitchFamily="18" charset="0"/>
                                      </a:rPr>
                                      <m:t>−1</m:t>
                                    </m:r>
                                  </m:den>
                                </m:f>
                              </m:oMath>
                            </m:oMathPara>
                          </a14:m>
                          <a:endParaRPr lang="en-US" dirty="0"/>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F</a:t>
                          </a:r>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𝑀𝑆𝐶</m:t>
                                  </m:r>
                                </m:num>
                                <m:den>
                                  <m:r>
                                    <a:rPr lang="en-US" b="0" i="1" smtClean="0">
                                      <a:latin typeface="Cambria Math" panose="02040503050406030204" pitchFamily="18" charset="0"/>
                                    </a:rPr>
                                    <m:t>𝑀𝑆𝐸</m:t>
                                  </m:r>
                                </m:den>
                              </m:f>
                            </m:oMath>
                          </a14:m>
                          <a:endParaRPr lang="en-US" dirty="0"/>
                        </a:p>
                        <a:p>
                          <a:pPr algn="ctr"/>
                          <a:endParaRPr lang="en-US" dirty="0">
                            <a:noFill/>
                          </a:endParaRPr>
                        </a:p>
                      </a:txBody>
                      <a:tcPr anchor="ctr"/>
                    </a:tc>
                    <a:extLst>
                      <a:ext uri="{0D108BD9-81ED-4DB2-BD59-A6C34878D82A}">
                        <a16:rowId xmlns:a16="http://schemas.microsoft.com/office/drawing/2014/main" val="2106153883"/>
                      </a:ext>
                    </a:extLst>
                  </a:tr>
                  <a:tr h="370840">
                    <a:tc>
                      <a:txBody>
                        <a:bodyPr/>
                        <a:lstStyle/>
                        <a:p>
                          <a:r>
                            <a:rPr lang="en-US" dirty="0"/>
                            <a:t>With in Samples (Error)</a:t>
                          </a:r>
                        </a:p>
                      </a:txBody>
                      <a:tcPr/>
                    </a:tc>
                    <a:tc>
                      <a:txBody>
                        <a:bodyPr/>
                        <a:lstStyle/>
                        <a:p>
                          <a:r>
                            <a:rPr lang="en-US" dirty="0"/>
                            <a:t>SSE</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𝑆𝑆𝐸</m:t>
                                    </m:r>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den>
                                </m:f>
                              </m:oMath>
                            </m:oMathPara>
                          </a14:m>
                          <a:endParaRPr lang="en-US" dirty="0"/>
                        </a:p>
                      </a:txBody>
                      <a:tcPr/>
                    </a:tc>
                    <a:tc vMerge="1">
                      <a:txBody>
                        <a:bodyPr/>
                        <a:lstStyle/>
                        <a:p>
                          <a:endParaRPr lang="en-US" dirty="0"/>
                        </a:p>
                      </a:txBody>
                      <a:tcPr/>
                    </a:tc>
                    <a:extLst>
                      <a:ext uri="{0D108BD9-81ED-4DB2-BD59-A6C34878D82A}">
                        <a16:rowId xmlns:a16="http://schemas.microsoft.com/office/drawing/2014/main" val="2034288241"/>
                      </a:ext>
                    </a:extLst>
                  </a:tr>
                  <a:tr h="370840">
                    <a:tc>
                      <a:txBody>
                        <a:bodyPr/>
                        <a:lstStyle/>
                        <a:p>
                          <a:r>
                            <a:rPr lang="en-US" dirty="0"/>
                            <a:t>Total</a:t>
                          </a:r>
                        </a:p>
                      </a:txBody>
                      <a:tcPr/>
                    </a:tc>
                    <a:tc>
                      <a:txBody>
                        <a:bodyPr/>
                        <a:lstStyle/>
                        <a:p>
                          <a:r>
                            <a:rPr lang="en-US" dirty="0"/>
                            <a:t>SST</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m:t>
                                </m:r>
                              </m:oMath>
                            </m:oMathPara>
                          </a14:m>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Choice>
        <mc:Fallback xmlns="">
          <p:graphicFrame>
            <p:nvGraphicFramePr>
              <p:cNvPr id="2" name="Table 1">
                <a:extLst>
                  <a:ext uri="{FF2B5EF4-FFF2-40B4-BE49-F238E27FC236}">
                    <a16:creationId xmlns:a16="http://schemas.microsoft.com/office/drawing/2014/main" id="{521F963E-1435-42B5-8E07-B6CFF56BB64A}"/>
                  </a:ext>
                </a:extLst>
              </p:cNvPr>
              <p:cNvGraphicFramePr>
                <a:graphicFrameLocks noGrp="1"/>
              </p:cNvGraphicFramePr>
              <p:nvPr>
                <p:extLst>
                  <p:ext uri="{D42A27DB-BD31-4B8C-83A1-F6EECF244321}">
                    <p14:modId xmlns:p14="http://schemas.microsoft.com/office/powerpoint/2010/main" val="1717162675"/>
                  </p:ext>
                </p:extLst>
              </p:nvPr>
            </p:nvGraphicFramePr>
            <p:xfrm>
              <a:off x="838200" y="1524000"/>
              <a:ext cx="7467600" cy="2839720"/>
            </p:xfrm>
            <a:graphic>
              <a:graphicData uri="http://schemas.openxmlformats.org/drawingml/2006/table">
                <a:tbl>
                  <a:tblPr firstRow="1" bandRow="1">
                    <a:tableStyleId>{5C22544A-7EE6-4342-B048-85BDC9FD1C3A}</a:tableStyleId>
                  </a:tblPr>
                  <a:tblGrid>
                    <a:gridCol w="1493520">
                      <a:extLst>
                        <a:ext uri="{9D8B030D-6E8A-4147-A177-3AD203B41FA5}">
                          <a16:colId xmlns:a16="http://schemas.microsoft.com/office/drawing/2014/main" val="494074064"/>
                        </a:ext>
                      </a:extLst>
                    </a:gridCol>
                    <a:gridCol w="1306830">
                      <a:extLst>
                        <a:ext uri="{9D8B030D-6E8A-4147-A177-3AD203B41FA5}">
                          <a16:colId xmlns:a16="http://schemas.microsoft.com/office/drawing/2014/main" val="2737903429"/>
                        </a:ext>
                      </a:extLst>
                    </a:gridCol>
                    <a:gridCol w="1493520">
                      <a:extLst>
                        <a:ext uri="{9D8B030D-6E8A-4147-A177-3AD203B41FA5}">
                          <a16:colId xmlns:a16="http://schemas.microsoft.com/office/drawing/2014/main" val="3441708766"/>
                        </a:ext>
                      </a:extLst>
                    </a:gridCol>
                    <a:gridCol w="1680210">
                      <a:extLst>
                        <a:ext uri="{9D8B030D-6E8A-4147-A177-3AD203B41FA5}">
                          <a16:colId xmlns:a16="http://schemas.microsoft.com/office/drawing/2014/main" val="320772787"/>
                        </a:ext>
                      </a:extLst>
                    </a:gridCol>
                    <a:gridCol w="1493520">
                      <a:extLst>
                        <a:ext uri="{9D8B030D-6E8A-4147-A177-3AD203B41FA5}">
                          <a16:colId xmlns:a16="http://schemas.microsoft.com/office/drawing/2014/main" val="4272899118"/>
                        </a:ext>
                      </a:extLst>
                    </a:gridCol>
                  </a:tblGrid>
                  <a:tr h="640080">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914400">
                    <a:tc>
                      <a:txBody>
                        <a:bodyPr/>
                        <a:lstStyle/>
                        <a:p>
                          <a:r>
                            <a:rPr lang="en-US" dirty="0"/>
                            <a:t>Between Samples (Column)</a:t>
                          </a:r>
                        </a:p>
                      </a:txBody>
                      <a:tcPr/>
                    </a:tc>
                    <a:tc>
                      <a:txBody>
                        <a:bodyPr/>
                        <a:lstStyle/>
                        <a:p>
                          <a:r>
                            <a:rPr lang="en-US" dirty="0"/>
                            <a:t>SSC</a:t>
                          </a:r>
                        </a:p>
                      </a:txBody>
                      <a:tcPr/>
                    </a:tc>
                    <a:tc>
                      <a:txBody>
                        <a:bodyPr/>
                        <a:lstStyle/>
                        <a:p>
                          <a:endParaRPr lang="en-US"/>
                        </a:p>
                      </a:txBody>
                      <a:tcPr>
                        <a:blipFill>
                          <a:blip r:embed="rId3"/>
                          <a:stretch>
                            <a:fillRect l="-188163" t="-73333" r="-214286" b="-150667"/>
                          </a:stretch>
                        </a:blipFill>
                      </a:tcPr>
                    </a:tc>
                    <a:tc>
                      <a:txBody>
                        <a:bodyPr/>
                        <a:lstStyle/>
                        <a:p>
                          <a:endParaRPr lang="en-US"/>
                        </a:p>
                      </a:txBody>
                      <a:tcPr>
                        <a:blipFill>
                          <a:blip r:embed="rId3"/>
                          <a:stretch>
                            <a:fillRect l="-255797" t="-73333" r="-90217" b="-150667"/>
                          </a:stretch>
                        </a:blipFill>
                      </a:tcPr>
                    </a:tc>
                    <a:tc rowSpan="2">
                      <a:txBody>
                        <a:bodyPr/>
                        <a:lstStyle/>
                        <a:p>
                          <a:endParaRPr lang="en-US"/>
                        </a:p>
                      </a:txBody>
                      <a:tcPr anchor="ctr">
                        <a:blipFill>
                          <a:blip r:embed="rId3"/>
                          <a:stretch>
                            <a:fillRect l="-400816" t="-36667" r="-1633" b="-25333"/>
                          </a:stretch>
                        </a:blipFill>
                      </a:tcPr>
                    </a:tc>
                    <a:extLst>
                      <a:ext uri="{0D108BD9-81ED-4DB2-BD59-A6C34878D82A}">
                        <a16:rowId xmlns:a16="http://schemas.microsoft.com/office/drawing/2014/main" val="2106153883"/>
                      </a:ext>
                    </a:extLst>
                  </a:tr>
                  <a:tr h="914400">
                    <a:tc>
                      <a:txBody>
                        <a:bodyPr/>
                        <a:lstStyle/>
                        <a:p>
                          <a:r>
                            <a:rPr lang="en-US" dirty="0"/>
                            <a:t>With in Samples (Error)</a:t>
                          </a:r>
                        </a:p>
                      </a:txBody>
                      <a:tcPr/>
                    </a:tc>
                    <a:tc>
                      <a:txBody>
                        <a:bodyPr/>
                        <a:lstStyle/>
                        <a:p>
                          <a:r>
                            <a:rPr lang="en-US" dirty="0"/>
                            <a:t>SSE</a:t>
                          </a:r>
                        </a:p>
                      </a:txBody>
                      <a:tcPr/>
                    </a:tc>
                    <a:tc>
                      <a:txBody>
                        <a:bodyPr/>
                        <a:lstStyle/>
                        <a:p>
                          <a:endParaRPr lang="en-US"/>
                        </a:p>
                      </a:txBody>
                      <a:tcPr>
                        <a:blipFill>
                          <a:blip r:embed="rId3"/>
                          <a:stretch>
                            <a:fillRect l="-188163" t="-173333" r="-214286" b="-50667"/>
                          </a:stretch>
                        </a:blipFill>
                      </a:tcPr>
                    </a:tc>
                    <a:tc>
                      <a:txBody>
                        <a:bodyPr/>
                        <a:lstStyle/>
                        <a:p>
                          <a:endParaRPr lang="en-US"/>
                        </a:p>
                      </a:txBody>
                      <a:tcPr>
                        <a:blipFill>
                          <a:blip r:embed="rId3"/>
                          <a:stretch>
                            <a:fillRect l="-255797" t="-173333" r="-90217" b="-50667"/>
                          </a:stretch>
                        </a:blipFill>
                      </a:tcPr>
                    </a:tc>
                    <a:tc vMerge="1">
                      <a:txBody>
                        <a:bodyPr/>
                        <a:lstStyle/>
                        <a:p>
                          <a:endParaRPr lang="en-US" dirty="0"/>
                        </a:p>
                      </a:txBody>
                      <a:tcPr/>
                    </a:tc>
                    <a:extLst>
                      <a:ext uri="{0D108BD9-81ED-4DB2-BD59-A6C34878D82A}">
                        <a16:rowId xmlns:a16="http://schemas.microsoft.com/office/drawing/2014/main" val="2034288241"/>
                      </a:ext>
                    </a:extLst>
                  </a:tr>
                  <a:tr h="370840">
                    <a:tc>
                      <a:txBody>
                        <a:bodyPr/>
                        <a:lstStyle/>
                        <a:p>
                          <a:r>
                            <a:rPr lang="en-US" dirty="0"/>
                            <a:t>Total</a:t>
                          </a:r>
                        </a:p>
                      </a:txBody>
                      <a:tcPr/>
                    </a:tc>
                    <a:tc>
                      <a:txBody>
                        <a:bodyPr/>
                        <a:lstStyle/>
                        <a:p>
                          <a:r>
                            <a:rPr lang="en-US" dirty="0"/>
                            <a:t>SST</a:t>
                          </a:r>
                        </a:p>
                      </a:txBody>
                      <a:tcPr/>
                    </a:tc>
                    <a:tc>
                      <a:txBody>
                        <a:bodyPr/>
                        <a:lstStyle/>
                        <a:p>
                          <a:endParaRPr lang="en-US"/>
                        </a:p>
                      </a:txBody>
                      <a:tcPr>
                        <a:blipFill>
                          <a:blip r:embed="rId3"/>
                          <a:stretch>
                            <a:fillRect l="-188163" t="-672131" r="-214286" b="-24590"/>
                          </a:stretch>
                        </a:blipFill>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Fallback>
      </mc:AlternateContent>
    </p:spTree>
    <p:extLst>
      <p:ext uri="{BB962C8B-B14F-4D97-AF65-F5344CB8AC3E}">
        <p14:creationId xmlns:p14="http://schemas.microsoft.com/office/powerpoint/2010/main" val="22539788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1000"/>
                                        <p:tgtEl>
                                          <p:spTgt spid="3">
                                            <p:txEl>
                                              <p:pRg st="9" end="9"/>
                                            </p:txEl>
                                          </p:spTgt>
                                        </p:tgtEl>
                                      </p:cBhvr>
                                    </p:animEffect>
                                    <p:anim calcmode="lin" valueType="num">
                                      <p:cBhvr>
                                        <p:cTn id="1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animEffect transition="in" filter="fade">
                                      <p:cBhvr>
                                        <p:cTn id="21" dur="1000"/>
                                        <p:tgtEl>
                                          <p:spTgt spid="3">
                                            <p:txEl>
                                              <p:pRg st="10" end="10"/>
                                            </p:txEl>
                                          </p:spTgt>
                                        </p:tgtEl>
                                      </p:cBhvr>
                                    </p:animEffect>
                                    <p:anim calcmode="lin" valueType="num">
                                      <p:cBhvr>
                                        <p:cTn id="2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Q.1 It Is desired to compare three Hospitals with regards to number of deaths per month. A sample of death records of each hospital and the number of deaths was given below. From these data suggest a difference in the no. of the deaths per month among three hospitals.</a:t>
            </a:r>
            <a:br>
              <a:rPr lang="en-US" sz="2200" dirty="0"/>
            </a:b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graphicFrame>
        <p:nvGraphicFramePr>
          <p:cNvPr id="2" name="Table 1">
            <a:extLst>
              <a:ext uri="{FF2B5EF4-FFF2-40B4-BE49-F238E27FC236}">
                <a16:creationId xmlns:a16="http://schemas.microsoft.com/office/drawing/2014/main" id="{A101CB10-CA9A-49B0-A4A3-9D164C46235E}"/>
              </a:ext>
            </a:extLst>
          </p:cNvPr>
          <p:cNvGraphicFramePr>
            <a:graphicFrameLocks noGrp="1"/>
          </p:cNvGraphicFramePr>
          <p:nvPr>
            <p:extLst>
              <p:ext uri="{D42A27DB-BD31-4B8C-83A1-F6EECF244321}">
                <p14:modId xmlns:p14="http://schemas.microsoft.com/office/powerpoint/2010/main" val="2807613864"/>
              </p:ext>
            </p:extLst>
          </p:nvPr>
        </p:nvGraphicFramePr>
        <p:xfrm>
          <a:off x="1524000" y="2804160"/>
          <a:ext cx="6096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572574383"/>
                    </a:ext>
                  </a:extLst>
                </a:gridCol>
                <a:gridCol w="2032000">
                  <a:extLst>
                    <a:ext uri="{9D8B030D-6E8A-4147-A177-3AD203B41FA5}">
                      <a16:colId xmlns:a16="http://schemas.microsoft.com/office/drawing/2014/main" val="2925647714"/>
                    </a:ext>
                  </a:extLst>
                </a:gridCol>
                <a:gridCol w="2032000">
                  <a:extLst>
                    <a:ext uri="{9D8B030D-6E8A-4147-A177-3AD203B41FA5}">
                      <a16:colId xmlns:a16="http://schemas.microsoft.com/office/drawing/2014/main" val="2797443373"/>
                    </a:ext>
                  </a:extLst>
                </a:gridCol>
              </a:tblGrid>
              <a:tr h="370840">
                <a:tc>
                  <a:txBody>
                    <a:bodyPr/>
                    <a:lstStyle/>
                    <a:p>
                      <a:pPr algn="ctr"/>
                      <a:r>
                        <a:rPr lang="en-US" dirty="0"/>
                        <a:t>A</a:t>
                      </a:r>
                    </a:p>
                  </a:txBody>
                  <a:tcPr/>
                </a:tc>
                <a:tc>
                  <a:txBody>
                    <a:bodyPr/>
                    <a:lstStyle/>
                    <a:p>
                      <a:pPr algn="ctr"/>
                      <a:r>
                        <a:rPr lang="en-US" dirty="0"/>
                        <a:t>B</a:t>
                      </a:r>
                    </a:p>
                  </a:txBody>
                  <a:tcPr/>
                </a:tc>
                <a:tc>
                  <a:txBody>
                    <a:bodyPr/>
                    <a:lstStyle/>
                    <a:p>
                      <a:pPr algn="ctr"/>
                      <a:r>
                        <a:rPr lang="en-US" dirty="0"/>
                        <a:t>C7</a:t>
                      </a:r>
                    </a:p>
                  </a:txBody>
                  <a:tcPr/>
                </a:tc>
                <a:extLst>
                  <a:ext uri="{0D108BD9-81ED-4DB2-BD59-A6C34878D82A}">
                    <a16:rowId xmlns:a16="http://schemas.microsoft.com/office/drawing/2014/main" val="2088096564"/>
                  </a:ext>
                </a:extLst>
              </a:tr>
              <a:tr h="370840">
                <a:tc>
                  <a:txBody>
                    <a:bodyPr/>
                    <a:lstStyle/>
                    <a:p>
                      <a:pPr algn="ctr"/>
                      <a:r>
                        <a:rPr lang="en-US" dirty="0"/>
                        <a:t>3</a:t>
                      </a:r>
                    </a:p>
                  </a:txBody>
                  <a:tcPr/>
                </a:tc>
                <a:tc>
                  <a:txBody>
                    <a:bodyPr/>
                    <a:lstStyle/>
                    <a:p>
                      <a:pPr algn="ctr"/>
                      <a:r>
                        <a:rPr lang="en-US" dirty="0"/>
                        <a:t>6</a:t>
                      </a:r>
                    </a:p>
                  </a:txBody>
                  <a:tcPr/>
                </a:tc>
                <a:tc>
                  <a:txBody>
                    <a:bodyPr/>
                    <a:lstStyle/>
                    <a:p>
                      <a:pPr algn="ctr"/>
                      <a:r>
                        <a:rPr lang="en-US" dirty="0"/>
                        <a:t>7</a:t>
                      </a:r>
                    </a:p>
                  </a:txBody>
                  <a:tcPr/>
                </a:tc>
                <a:extLst>
                  <a:ext uri="{0D108BD9-81ED-4DB2-BD59-A6C34878D82A}">
                    <a16:rowId xmlns:a16="http://schemas.microsoft.com/office/drawing/2014/main" val="3945803681"/>
                  </a:ext>
                </a:extLst>
              </a:tr>
              <a:tr h="370840">
                <a:tc>
                  <a:txBody>
                    <a:bodyPr/>
                    <a:lstStyle/>
                    <a:p>
                      <a:pPr algn="ctr"/>
                      <a:r>
                        <a:rPr lang="en-US" dirty="0"/>
                        <a:t>4</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900581264"/>
                  </a:ext>
                </a:extLst>
              </a:tr>
              <a:tr h="370840">
                <a:tc>
                  <a:txBody>
                    <a:bodyPr/>
                    <a:lstStyle/>
                    <a:p>
                      <a:pPr algn="ctr"/>
                      <a:r>
                        <a:rPr lang="en-US" dirty="0"/>
                        <a:t>3</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2946995504"/>
                  </a:ext>
                </a:extLst>
              </a:tr>
              <a:tr h="370840">
                <a:tc>
                  <a:txBody>
                    <a:bodyPr/>
                    <a:lstStyle/>
                    <a:p>
                      <a:pPr algn="ctr"/>
                      <a:r>
                        <a:rPr lang="en-US" dirty="0"/>
                        <a:t>5</a:t>
                      </a:r>
                    </a:p>
                  </a:txBody>
                  <a:tcPr/>
                </a:tc>
                <a:tc>
                  <a:txBody>
                    <a:bodyPr/>
                    <a:lstStyle/>
                    <a:p>
                      <a:pPr algn="ctr"/>
                      <a:r>
                        <a:rPr lang="en-US" dirty="0"/>
                        <a:t>4</a:t>
                      </a:r>
                    </a:p>
                  </a:txBody>
                  <a:tcPr/>
                </a:tc>
                <a:tc>
                  <a:txBody>
                    <a:bodyPr/>
                    <a:lstStyle/>
                    <a:p>
                      <a:pPr algn="ctr"/>
                      <a:r>
                        <a:rPr lang="en-US" dirty="0"/>
                        <a:t>6</a:t>
                      </a:r>
                    </a:p>
                  </a:txBody>
                  <a:tcPr/>
                </a:tc>
                <a:extLst>
                  <a:ext uri="{0D108BD9-81ED-4DB2-BD59-A6C34878D82A}">
                    <a16:rowId xmlns:a16="http://schemas.microsoft.com/office/drawing/2014/main" val="3674531339"/>
                  </a:ext>
                </a:extLst>
              </a:tr>
              <a:tr h="370840">
                <a:tc>
                  <a:txBody>
                    <a:bodyPr/>
                    <a:lstStyle/>
                    <a:p>
                      <a:pPr algn="ctr"/>
                      <a:r>
                        <a:rPr lang="en-US" dirty="0"/>
                        <a:t>0</a:t>
                      </a:r>
                    </a:p>
                  </a:txBody>
                  <a:tcPr/>
                </a:tc>
                <a:tc>
                  <a:txBody>
                    <a:bodyPr/>
                    <a:lstStyle/>
                    <a:p>
                      <a:pPr algn="ctr"/>
                      <a:r>
                        <a:rPr lang="en-US" dirty="0"/>
                        <a:t>4</a:t>
                      </a:r>
                    </a:p>
                  </a:txBody>
                  <a:tcPr/>
                </a:tc>
                <a:tc>
                  <a:txBody>
                    <a:bodyPr/>
                    <a:lstStyle/>
                    <a:p>
                      <a:pPr algn="ctr"/>
                      <a:r>
                        <a:rPr lang="en-US" dirty="0"/>
                        <a:t>5</a:t>
                      </a:r>
                    </a:p>
                  </a:txBody>
                  <a:tcPr/>
                </a:tc>
                <a:extLst>
                  <a:ext uri="{0D108BD9-81ED-4DB2-BD59-A6C34878D82A}">
                    <a16:rowId xmlns:a16="http://schemas.microsoft.com/office/drawing/2014/main" val="673671371"/>
                  </a:ext>
                </a:extLst>
              </a:tr>
            </a:tbl>
          </a:graphicData>
        </a:graphic>
      </p:graphicFrame>
    </p:spTree>
    <p:extLst>
      <p:ext uri="{BB962C8B-B14F-4D97-AF65-F5344CB8AC3E}">
        <p14:creationId xmlns:p14="http://schemas.microsoft.com/office/powerpoint/2010/main" val="21270489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Sol: </a:t>
                </a:r>
                <a:r>
                  <a:rPr lang="en-US" sz="2200" dirty="0"/>
                  <a:t>Null hypothesis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0 </m:t>
                        </m:r>
                      </m:sub>
                    </m:sSub>
                  </m:oMath>
                </a14:m>
                <a:r>
                  <a:rPr lang="en-US" sz="2200" dirty="0"/>
                  <a:t>:There is no difference in  the no. of deaths per months among three hospitals.</a:t>
                </a:r>
              </a:p>
              <a:p>
                <a:pPr marL="0" indent="0">
                  <a:buNone/>
                </a:pPr>
                <a:r>
                  <a:rPr lang="en-US" sz="2200" dirty="0"/>
                  <a:t>Alternate hypothesis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oMath>
                </a14:m>
                <a:r>
                  <a:rPr lang="en-US" sz="2200" dirty="0"/>
                  <a:t>:There is a significant difference in the no. of death per month among three hospitals.</a:t>
                </a:r>
              </a:p>
              <a:p>
                <a:pPr marL="0" indent="0">
                  <a:buNone/>
                </a:pPr>
                <a:r>
                  <a:rPr lang="en-US" sz="2200" dirty="0"/>
                  <a:t>Level of Significance : We use 5% level of Significance.</a:t>
                </a:r>
              </a:p>
              <a:p>
                <a:pPr marL="0" indent="0">
                  <a:buNone/>
                </a:pPr>
                <a:r>
                  <a:rPr lang="en-US" sz="2200" dirty="0"/>
                  <a:t>Test  Statistic : To find the Variance ratio F, we set up an ANOVA tables as follows:</a:t>
                </a:r>
              </a:p>
              <a:p>
                <a:pPr marL="0" indent="0">
                  <a:buNone/>
                </a:pPr>
                <a:r>
                  <a:rPr lang="en-US" sz="2200" dirty="0"/>
                  <a:t>Sample totals:</a:t>
                </a:r>
              </a:p>
              <a:p>
                <a:pPr marL="0" indent="0">
                  <a:buNone/>
                </a:pP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𝑦</m:t>
                        </m:r>
                      </m:e>
                      <m:sub>
                        <m:r>
                          <a:rPr lang="en-US" sz="2200" i="1">
                            <a:latin typeface="Cambria Math"/>
                          </a:rPr>
                          <m:t>𝑎</m:t>
                        </m:r>
                      </m:sub>
                    </m:sSub>
                    <m:r>
                      <a:rPr lang="en-US" sz="2200">
                        <a:latin typeface="Cambria Math"/>
                      </a:rPr>
                      <m:t>=3+4+3+5+0=15</m:t>
                    </m:r>
                  </m:oMath>
                </a14:m>
                <a:endParaRPr lang="en-US" sz="2200" dirty="0"/>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𝑦</m:t>
                        </m:r>
                      </m:e>
                      <m:sub>
                        <m:r>
                          <a:rPr lang="en-US" sz="2200" i="1">
                            <a:latin typeface="Cambria Math"/>
                            <a:ea typeface="Cambria Math"/>
                          </a:rPr>
                          <m:t>𝑏</m:t>
                        </m:r>
                      </m:sub>
                    </m:sSub>
                    <m:r>
                      <a:rPr lang="en-US" sz="2200">
                        <a:latin typeface="Cambria Math"/>
                        <a:ea typeface="Cambria Math"/>
                      </a:rPr>
                      <m:t>=6+3+3+4+4=20</m:t>
                    </m:r>
                  </m:oMath>
                </a14:m>
                <a:endParaRPr lang="en-US" sz="2200" dirty="0">
                  <a:ea typeface="Cambria Math"/>
                </a:endParaRP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𝑦</m:t>
                        </m:r>
                      </m:e>
                      <m:sub>
                        <m:r>
                          <a:rPr lang="en-US" sz="2200" i="1">
                            <a:latin typeface="Cambria Math"/>
                            <a:ea typeface="Cambria Math"/>
                          </a:rPr>
                          <m:t>𝑐</m:t>
                        </m:r>
                      </m:sub>
                    </m:sSub>
                    <m:r>
                      <a:rPr lang="en-US" sz="2200">
                        <a:latin typeface="Cambria Math"/>
                        <a:ea typeface="Cambria Math"/>
                      </a:rPr>
                      <m:t>=7+3+4+6+5=25</m:t>
                    </m:r>
                  </m:oMath>
                </a14:m>
                <a:endParaRPr lang="en-US" sz="2200" dirty="0">
                  <a:ea typeface="Cambria Math"/>
                </a:endParaRP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148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42659766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457200" indent="-457200">
                  <a:buFont typeface="+mj-lt"/>
                  <a:buAutoNum type="arabicPeriod"/>
                </a:pPr>
                <a:r>
                  <a:rPr lang="en-US" sz="2200" dirty="0"/>
                  <a:t>Grand total(T)=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𝑦</m:t>
                        </m:r>
                      </m:e>
                      <m:sub>
                        <m:r>
                          <a:rPr lang="en-US" sz="2200" i="1">
                            <a:latin typeface="Cambria Math"/>
                            <a:ea typeface="Cambria Math"/>
                          </a:rPr>
                          <m:t>𝑎</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𝑦</m:t>
                        </m:r>
                      </m:e>
                      <m:sub>
                        <m:r>
                          <a:rPr lang="en-US" sz="2200" i="1">
                            <a:latin typeface="Cambria Math"/>
                            <a:ea typeface="Cambria Math"/>
                          </a:rPr>
                          <m:t>𝑏</m:t>
                        </m:r>
                      </m:sub>
                    </m:sSub>
                    <m:r>
                      <a:rPr lang="en-US" sz="2200">
                        <a:latin typeface="Cambria Math"/>
                        <a:ea typeface="Cambria Math"/>
                      </a:rPr>
                      <m:t>+</m:t>
                    </m:r>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𝑦</m:t>
                        </m:r>
                      </m:e>
                      <m:sub>
                        <m:r>
                          <a:rPr lang="en-US" sz="2200" i="1">
                            <a:latin typeface="Cambria Math"/>
                            <a:ea typeface="Cambria Math"/>
                          </a:rPr>
                          <m:t>𝑐</m:t>
                        </m:r>
                      </m:sub>
                    </m:sSub>
                  </m:oMath>
                </a14:m>
                <a:r>
                  <a:rPr lang="en-US" sz="2200" dirty="0"/>
                  <a:t>=60</a:t>
                </a:r>
              </a:p>
              <a:p>
                <a:pPr marL="457200" indent="-457200">
                  <a:buFont typeface="+mj-lt"/>
                  <a:buAutoNum type="arabicPeriod"/>
                </a:pPr>
                <a:r>
                  <a:rPr lang="en-US" sz="2200" dirty="0"/>
                  <a:t>Correction factor(C.F)=</a:t>
                </a:r>
                <a14:m>
                  <m:oMath xmlns:m="http://schemas.openxmlformats.org/officeDocument/2006/math">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i="1">
                                    <a:latin typeface="Cambria Math"/>
                                  </a:rPr>
                                  <m:t>𝑇</m:t>
                                </m:r>
                              </m:e>
                            </m:d>
                          </m:e>
                          <m:sup>
                            <m:r>
                              <a:rPr lang="en-US" sz="2200" i="1">
                                <a:latin typeface="Cambria Math"/>
                              </a:rPr>
                              <m:t>2</m:t>
                            </m:r>
                          </m:sup>
                        </m:sSup>
                      </m:num>
                      <m:den>
                        <m:r>
                          <a:rPr lang="en-US" sz="2200" i="1">
                            <a:latin typeface="Cambria Math"/>
                          </a:rPr>
                          <m:t>𝑛</m:t>
                        </m:r>
                      </m:den>
                    </m:f>
                  </m:oMath>
                </a14:m>
                <a:r>
                  <a:rPr lang="en-US" sz="2200" dirty="0"/>
                  <a:t>=</a:t>
                </a:r>
                <a14:m>
                  <m:oMath xmlns:m="http://schemas.openxmlformats.org/officeDocument/2006/math">
                    <m:f>
                      <m:fPr>
                        <m:ctrlPr>
                          <a:rPr lang="en-US" sz="2200" i="1" dirty="0">
                            <a:latin typeface="Cambria Math" panose="02040503050406030204" pitchFamily="18" charset="0"/>
                          </a:rPr>
                        </m:ctrlPr>
                      </m:fPr>
                      <m:num>
                        <m:sSup>
                          <m:sSupPr>
                            <m:ctrlPr>
                              <a:rPr lang="en-US" sz="2200" i="1" dirty="0">
                                <a:latin typeface="Cambria Math" panose="02040503050406030204" pitchFamily="18" charset="0"/>
                              </a:rPr>
                            </m:ctrlPr>
                          </m:sSupPr>
                          <m:e>
                            <m:r>
                              <a:rPr lang="en-US" sz="2200" i="1" dirty="0">
                                <a:latin typeface="Cambria Math"/>
                              </a:rPr>
                              <m:t>60</m:t>
                            </m:r>
                          </m:e>
                          <m:sup>
                            <m:r>
                              <a:rPr lang="en-US" sz="2200" i="1" dirty="0">
                                <a:latin typeface="Cambria Math"/>
                              </a:rPr>
                              <m:t>2</m:t>
                            </m:r>
                          </m:sup>
                        </m:sSup>
                      </m:num>
                      <m:den>
                        <m:r>
                          <a:rPr lang="en-US" sz="2200" i="1" dirty="0">
                            <a:latin typeface="Cambria Math"/>
                          </a:rPr>
                          <m:t>15</m:t>
                        </m:r>
                      </m:den>
                    </m:f>
                    <m:r>
                      <a:rPr lang="en-US" sz="2200" dirty="0">
                        <a:latin typeface="Cambria Math"/>
                      </a:rPr>
                      <m:t>=</m:t>
                    </m:r>
                  </m:oMath>
                </a14:m>
                <a:r>
                  <a:rPr lang="en-US" sz="2200" dirty="0"/>
                  <a:t>240</a:t>
                </a:r>
              </a:p>
              <a:p>
                <a:endParaRPr lang="en-US" sz="2200" dirty="0"/>
              </a:p>
              <a:p>
                <a:pPr marL="0" indent="0">
                  <a:buNone/>
                </a:pPr>
                <a:r>
                  <a:rPr lang="en-US" sz="2200" dirty="0"/>
                  <a:t>Sum of Squares of Samples:</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m:t>
                            </m:r>
                          </m:sup>
                        </m:sSup>
                      </m:e>
                      <m:sub>
                        <m:r>
                          <a:rPr lang="en-US" sz="2200" i="1">
                            <a:latin typeface="Cambria Math"/>
                            <a:ea typeface="Cambria Math"/>
                          </a:rPr>
                          <m:t>𝐴</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3</m:t>
                        </m:r>
                      </m:e>
                      <m:sup>
                        <m:r>
                          <a:rPr lang="en-US" sz="2200" i="1" dirty="0">
                            <a:latin typeface="Cambria Math"/>
                          </a:rPr>
                          <m:t>2</m:t>
                        </m:r>
                      </m:sup>
                    </m:sSup>
                    <m:r>
                      <a:rPr lang="en-US" sz="2200" dirty="0">
                        <a:latin typeface="Cambria Math"/>
                      </a:rPr>
                      <m:t> </m:t>
                    </m:r>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4</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3</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5</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0</m:t>
                        </m:r>
                      </m:e>
                      <m:sup>
                        <m:r>
                          <a:rPr lang="en-US" sz="2200" i="1" dirty="0">
                            <a:latin typeface="Cambria Math"/>
                          </a:rPr>
                          <m:t>2</m:t>
                        </m:r>
                      </m:sup>
                    </m:sSup>
                  </m:oMath>
                </a14:m>
                <a:r>
                  <a:rPr lang="en-US" sz="2200" dirty="0"/>
                  <a:t>=59</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m:t>
                            </m:r>
                          </m:sup>
                        </m:sSup>
                      </m:e>
                      <m:sub>
                        <m:r>
                          <a:rPr lang="en-US" sz="2200" i="1">
                            <a:latin typeface="Cambria Math"/>
                            <a:ea typeface="Cambria Math"/>
                          </a:rPr>
                          <m:t>𝐵</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6</m:t>
                        </m:r>
                      </m:e>
                      <m:sup>
                        <m:r>
                          <a:rPr lang="en-US" sz="2200" i="1" dirty="0">
                            <a:latin typeface="Cambria Math"/>
                          </a:rPr>
                          <m:t>2</m:t>
                        </m:r>
                      </m:sup>
                    </m:sSup>
                    <m:r>
                      <a:rPr lang="en-US" sz="2200" dirty="0">
                        <a:latin typeface="Cambria Math"/>
                      </a:rPr>
                      <m:t> </m:t>
                    </m:r>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3</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3</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4</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4</m:t>
                        </m:r>
                      </m:e>
                      <m:sup>
                        <m:r>
                          <a:rPr lang="en-US" sz="2200" i="1" dirty="0">
                            <a:latin typeface="Cambria Math"/>
                          </a:rPr>
                          <m:t>2</m:t>
                        </m:r>
                      </m:sup>
                    </m:sSup>
                  </m:oMath>
                </a14:m>
                <a:r>
                  <a:rPr lang="en-US" sz="2200" dirty="0"/>
                  <a:t>=86</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m:t>
                            </m:r>
                          </m:sup>
                        </m:sSup>
                      </m:e>
                      <m:sub>
                        <m:r>
                          <a:rPr lang="en-US" sz="2200" i="1">
                            <a:latin typeface="Cambria Math"/>
                            <a:ea typeface="Cambria Math"/>
                          </a:rPr>
                          <m:t>𝐶</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7</m:t>
                        </m:r>
                      </m:e>
                      <m:sup>
                        <m:r>
                          <a:rPr lang="en-US" sz="2200" i="1" dirty="0">
                            <a:latin typeface="Cambria Math"/>
                          </a:rPr>
                          <m:t>2</m:t>
                        </m:r>
                      </m:sup>
                    </m:sSup>
                    <m:r>
                      <a:rPr lang="en-US" sz="2200" dirty="0">
                        <a:latin typeface="Cambria Math"/>
                      </a:rPr>
                      <m:t> </m:t>
                    </m:r>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3</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4</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6</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5</m:t>
                        </m:r>
                      </m:e>
                      <m:sup>
                        <m:r>
                          <a:rPr lang="en-US" sz="2200" i="1" dirty="0">
                            <a:latin typeface="Cambria Math"/>
                          </a:rPr>
                          <m:t>2</m:t>
                        </m:r>
                      </m:sup>
                    </m:sSup>
                  </m:oMath>
                </a14:m>
                <a:r>
                  <a:rPr lang="en-US" sz="2200" dirty="0"/>
                  <a:t>=135</a:t>
                </a:r>
                <a14:m>
                  <m:oMath xmlns:m="http://schemas.openxmlformats.org/officeDocument/2006/math">
                    <m:r>
                      <a:rPr lang="en-US" sz="2200" i="1" dirty="0">
                        <a:latin typeface="Cambria Math"/>
                      </a:rPr>
                      <m:t> </m:t>
                    </m:r>
                  </m:oMath>
                </a14:m>
                <a:endParaRPr lang="en-US" sz="2200" dirty="0"/>
              </a:p>
              <a:p>
                <a:endParaRPr lang="en-US" sz="2200" dirty="0"/>
              </a:p>
              <a:p>
                <a:pPr marL="0" indent="0">
                  <a:buNone/>
                </a:pPr>
                <a:r>
                  <a:rPr lang="en-US" sz="2200" dirty="0"/>
                  <a:t>Total Sum of Squares=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m:t>
                            </m:r>
                          </m:sup>
                        </m:sSup>
                      </m:e>
                      <m:sub>
                        <m:r>
                          <a:rPr lang="en-US" sz="2200" i="1">
                            <a:latin typeface="Cambria Math"/>
                            <a:ea typeface="Cambria Math"/>
                          </a:rPr>
                          <m:t>𝐴</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m:t>
                            </m:r>
                          </m:sup>
                        </m:sSup>
                      </m:e>
                      <m:sub>
                        <m:r>
                          <a:rPr lang="en-US" sz="2200" i="1">
                            <a:latin typeface="Cambria Math"/>
                            <a:ea typeface="Cambria Math"/>
                          </a:rPr>
                          <m:t>𝐵</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𝑦</m:t>
                            </m:r>
                          </m:e>
                          <m:sup>
                            <m:r>
                              <a:rPr lang="en-US" sz="2200" i="1">
                                <a:latin typeface="Cambria Math"/>
                                <a:ea typeface="Cambria Math"/>
                              </a:rPr>
                              <m:t>2 </m:t>
                            </m:r>
                          </m:sup>
                        </m:sSup>
                      </m:e>
                      <m:sub>
                        <m:r>
                          <a:rPr lang="en-US" sz="2200" i="1">
                            <a:latin typeface="Cambria Math"/>
                            <a:ea typeface="Cambria Math"/>
                          </a:rPr>
                          <m:t>𝐶</m:t>
                        </m:r>
                      </m:sub>
                    </m:sSub>
                  </m:oMath>
                </a14:m>
                <a:r>
                  <a:rPr lang="en-US" sz="2200" dirty="0"/>
                  <a:t> - C.F</a:t>
                </a:r>
              </a:p>
              <a:p>
                <a:pPr marL="0" indent="0">
                  <a:buNone/>
                </a:pPr>
                <a:r>
                  <a:rPr lang="en-US" sz="2200" dirty="0"/>
                  <a:t>                             =59+86+135-240=40</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b="-8140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10"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1019217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1000"/>
                                        <p:tgtEl>
                                          <p:spTgt spid="3">
                                            <p:txEl>
                                              <p:pRg st="9" end="9"/>
                                            </p:txEl>
                                          </p:spTgt>
                                        </p:tgtEl>
                                      </p:cBhvr>
                                    </p:animEffect>
                                    <p:anim calcmode="lin" valueType="num">
                                      <p:cBhvr>
                                        <p:cTn id="5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Sum of Squares between Samples</a:t>
                </a:r>
                <a:r>
                  <a:rPr lang="en-US" sz="2200" baseline="-25000" dirty="0"/>
                  <a:t> </a:t>
                </a:r>
              </a:p>
              <a:p>
                <a:pPr marL="0" indent="0">
                  <a:buNone/>
                </a:pPr>
                <a:r>
                  <a:rPr lang="en-US" sz="2200" dirty="0"/>
                  <a:t>=</a:t>
                </a:r>
                <a14:m>
                  <m:oMath xmlns:m="http://schemas.openxmlformats.org/officeDocument/2006/math">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b="0" i="1" smtClean="0">
                                    <a:latin typeface="Cambria Math"/>
                                    <a:ea typeface="Cambria Math"/>
                                  </a:rPr>
                                  <m:t>𝑦</m:t>
                                </m:r>
                              </m:e>
                              <m:sub>
                                <m:r>
                                  <a:rPr lang="en-US" sz="2200" i="1">
                                    <a:latin typeface="Cambria Math"/>
                                    <a:ea typeface="Cambria Math"/>
                                  </a:rPr>
                                  <m:t>𝐴</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b="0" i="1" smtClean="0">
                                    <a:latin typeface="Cambria Math"/>
                                    <a:ea typeface="Cambria Math"/>
                                  </a:rPr>
                                  <m:t>𝑦</m:t>
                                </m:r>
                              </m:e>
                              <m:sub>
                                <m:r>
                                  <a:rPr lang="en-US" sz="2200" i="1">
                                    <a:latin typeface="Cambria Math"/>
                                    <a:ea typeface="Cambria Math"/>
                                  </a:rPr>
                                  <m:t>𝐵</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b="0" i="1" smtClean="0">
                                    <a:latin typeface="Cambria Math"/>
                                    <a:ea typeface="Cambria Math"/>
                                  </a:rPr>
                                  <m:t>𝑦</m:t>
                                </m:r>
                              </m:e>
                              <m:sub>
                                <m:r>
                                  <a:rPr lang="en-US" sz="2200" i="1">
                                    <a:latin typeface="Cambria Math"/>
                                    <a:ea typeface="Cambria Math"/>
                                  </a:rPr>
                                  <m:t>𝐶</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3</m:t>
                            </m:r>
                          </m:sub>
                        </m:sSub>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𝑇</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𝑛</m:t>
                        </m:r>
                      </m:den>
                    </m:f>
                  </m:oMath>
                </a14:m>
                <a:endParaRPr lang="en-US" sz="2200" dirty="0"/>
              </a:p>
              <a:p>
                <a:pPr marL="0" indent="0">
                  <a:buNone/>
                </a:pPr>
                <a:endParaRPr lang="en-US" sz="2200" dirty="0"/>
              </a:p>
              <a:p>
                <a:pPr marL="0" indent="0">
                  <a:buNone/>
                </a:pPr>
                <a:r>
                  <a:rPr lang="en-US" sz="2200" dirty="0"/>
                  <a:t>=</a:t>
                </a:r>
                <a14:m>
                  <m:oMath xmlns:m="http://schemas.openxmlformats.org/officeDocument/2006/math">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15</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20</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25</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−240</m:t>
                    </m:r>
                  </m:oMath>
                </a14:m>
                <a:endParaRPr lang="en-US" sz="2200" dirty="0"/>
              </a:p>
              <a:p>
                <a:pPr marL="0" indent="0">
                  <a:buNone/>
                </a:pPr>
                <a:r>
                  <a:rPr lang="en-US" sz="2200" dirty="0"/>
                  <a:t>= 10</a:t>
                </a:r>
              </a:p>
              <a:p>
                <a:pPr marL="0" indent="0">
                  <a:buNone/>
                </a:pPr>
                <a:r>
                  <a:rPr lang="en-US" sz="2200" dirty="0"/>
                  <a:t>Sum of squares with in the samples</a:t>
                </a:r>
              </a:p>
              <a:p>
                <a:pPr marL="0" indent="0">
                  <a:buNone/>
                </a:pPr>
                <a:r>
                  <a:rPr lang="en-US" sz="2200" dirty="0"/>
                  <a:t>= Total sum of squares – sum of squares between the samples</a:t>
                </a:r>
              </a:p>
              <a:p>
                <a:pPr marL="0" indent="0">
                  <a:buNone/>
                </a:pPr>
                <a:r>
                  <a:rPr lang="en-US" sz="2200" dirty="0"/>
                  <a:t>= 40-10</a:t>
                </a:r>
              </a:p>
              <a:p>
                <a:pPr marL="0" indent="0">
                  <a:buNone/>
                </a:pPr>
                <a:r>
                  <a:rPr lang="en-US" sz="2200" dirty="0"/>
                  <a:t>=30</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11995"/>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42833104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Degree of freedom for total sum of squares =n-1=15-1=14</a:t>
            </a:r>
          </a:p>
          <a:p>
            <a:pPr marL="0" indent="0">
              <a:buNone/>
            </a:pPr>
            <a:r>
              <a:rPr lang="en-US" sz="2200" dirty="0"/>
              <a:t>Degree of freedom for Hospitals=c-1 = 3-1=2</a:t>
            </a:r>
          </a:p>
          <a:p>
            <a:pPr marL="0" indent="0">
              <a:buNone/>
            </a:pPr>
            <a:r>
              <a:rPr lang="en-US" sz="2200" dirty="0"/>
              <a:t>Degree of freedom for Error =n-c =15-3=12</a:t>
            </a:r>
          </a:p>
          <a:p>
            <a:pPr marL="0" indent="0" algn="ctr">
              <a:buNone/>
            </a:pPr>
            <a:r>
              <a:rPr lang="en-US" sz="2200" dirty="0"/>
              <a:t>ANOVA TABLE</a:t>
            </a:r>
          </a:p>
          <a:p>
            <a:pPr marL="0" indent="0" algn="ctr">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914106-B705-485C-9A27-CF595C915BCB}"/>
                  </a:ext>
                </a:extLst>
              </p:cNvPr>
              <p:cNvGraphicFramePr>
                <a:graphicFrameLocks noGrp="1"/>
              </p:cNvGraphicFramePr>
              <p:nvPr>
                <p:extLst>
                  <p:ext uri="{D42A27DB-BD31-4B8C-83A1-F6EECF244321}">
                    <p14:modId xmlns:p14="http://schemas.microsoft.com/office/powerpoint/2010/main" val="4145311002"/>
                  </p:ext>
                </p:extLst>
              </p:nvPr>
            </p:nvGraphicFramePr>
            <p:xfrm>
              <a:off x="838200" y="2875280"/>
              <a:ext cx="7467600" cy="28397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494074064"/>
                        </a:ext>
                      </a:extLst>
                    </a:gridCol>
                    <a:gridCol w="1219200">
                      <a:extLst>
                        <a:ext uri="{9D8B030D-6E8A-4147-A177-3AD203B41FA5}">
                          <a16:colId xmlns:a16="http://schemas.microsoft.com/office/drawing/2014/main" val="2737903429"/>
                        </a:ext>
                      </a:extLst>
                    </a:gridCol>
                    <a:gridCol w="1143000">
                      <a:extLst>
                        <a:ext uri="{9D8B030D-6E8A-4147-A177-3AD203B41FA5}">
                          <a16:colId xmlns:a16="http://schemas.microsoft.com/office/drawing/2014/main" val="3441708766"/>
                        </a:ext>
                      </a:extLst>
                    </a:gridCol>
                    <a:gridCol w="2468880">
                      <a:extLst>
                        <a:ext uri="{9D8B030D-6E8A-4147-A177-3AD203B41FA5}">
                          <a16:colId xmlns:a16="http://schemas.microsoft.com/office/drawing/2014/main" val="320772787"/>
                        </a:ext>
                      </a:extLst>
                    </a:gridCol>
                    <a:gridCol w="1493520">
                      <a:extLst>
                        <a:ext uri="{9D8B030D-6E8A-4147-A177-3AD203B41FA5}">
                          <a16:colId xmlns:a16="http://schemas.microsoft.com/office/drawing/2014/main" val="4272899118"/>
                        </a:ext>
                      </a:extLst>
                    </a:gridCol>
                  </a:tblGrid>
                  <a:tr h="370840">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370840">
                    <a:tc>
                      <a:txBody>
                        <a:bodyPr/>
                        <a:lstStyle/>
                        <a:p>
                          <a:r>
                            <a:rPr lang="en-US" dirty="0"/>
                            <a:t>Between Samples (Column)</a:t>
                          </a:r>
                        </a:p>
                      </a:txBody>
                      <a:tcPr/>
                    </a:tc>
                    <a:tc>
                      <a:txBody>
                        <a:bodyPr/>
                        <a:lstStyle/>
                        <a:p>
                          <a:r>
                            <a:rPr lang="en-US" dirty="0"/>
                            <a:t>10 (SSC)</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𝑀𝑆𝐶</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𝑆𝑆𝐶</m:t>
                                    </m:r>
                                  </m:num>
                                  <m:den>
                                    <m:r>
                                      <a:rPr lang="en-US" b="0" i="1" smtClean="0">
                                        <a:latin typeface="Cambria Math" panose="02040503050406030204" pitchFamily="18" charset="0"/>
                                      </a:rPr>
                                      <m:t>𝑐</m:t>
                                    </m:r>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2</m:t>
                                    </m:r>
                                  </m:den>
                                </m:f>
                                <m:r>
                                  <a:rPr lang="en-US" b="0" i="1" smtClean="0">
                                    <a:latin typeface="Cambria Math" panose="02040503050406030204" pitchFamily="18" charset="0"/>
                                  </a:rPr>
                                  <m:t>=5</m:t>
                                </m:r>
                              </m:oMath>
                            </m:oMathPara>
                          </a14:m>
                          <a:endParaRPr lang="en-US" dirty="0"/>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𝑀𝑆𝐶</m:t>
                                    </m:r>
                                  </m:num>
                                  <m:den>
                                    <m:r>
                                      <a:rPr lang="en-US" b="0" i="1" smtClean="0">
                                        <a:latin typeface="Cambria Math" panose="02040503050406030204" pitchFamily="18" charset="0"/>
                                      </a:rPr>
                                      <m:t>𝑀𝑆𝐸</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2.5</m:t>
                                    </m:r>
                                  </m:den>
                                </m:f>
                                <m:r>
                                  <a:rPr lang="en-US" b="0" i="1" smtClean="0">
                                    <a:latin typeface="Cambria Math" panose="02040503050406030204" pitchFamily="18" charset="0"/>
                                  </a:rPr>
                                  <m:t>=2</m:t>
                                </m:r>
                              </m:oMath>
                            </m:oMathPara>
                          </a14:m>
                          <a:endParaRPr lang="en-US" dirty="0"/>
                        </a:p>
                        <a:p>
                          <a:pPr algn="ctr"/>
                          <a:endParaRPr lang="en-US" dirty="0">
                            <a:noFill/>
                          </a:endParaRPr>
                        </a:p>
                      </a:txBody>
                      <a:tcPr anchor="ctr"/>
                    </a:tc>
                    <a:extLst>
                      <a:ext uri="{0D108BD9-81ED-4DB2-BD59-A6C34878D82A}">
                        <a16:rowId xmlns:a16="http://schemas.microsoft.com/office/drawing/2014/main" val="2106153883"/>
                      </a:ext>
                    </a:extLst>
                  </a:tr>
                  <a:tr h="370840">
                    <a:tc>
                      <a:txBody>
                        <a:bodyPr/>
                        <a:lstStyle/>
                        <a:p>
                          <a:r>
                            <a:rPr lang="en-US" dirty="0"/>
                            <a:t>With in Samples (Error)</a:t>
                          </a:r>
                        </a:p>
                      </a:txBody>
                      <a:tcPr/>
                    </a:tc>
                    <a:tc>
                      <a:txBody>
                        <a:bodyPr/>
                        <a:lstStyle/>
                        <a:p>
                          <a:r>
                            <a:rPr lang="en-US" dirty="0"/>
                            <a:t>30 (SSE)</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𝑆𝑆𝐸</m:t>
                                    </m:r>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30</m:t>
                                    </m:r>
                                  </m:num>
                                  <m:den>
                                    <m:r>
                                      <a:rPr lang="en-US" b="0" i="1" smtClean="0">
                                        <a:latin typeface="Cambria Math" panose="02040503050406030204" pitchFamily="18" charset="0"/>
                                      </a:rPr>
                                      <m:t>12</m:t>
                                    </m:r>
                                  </m:den>
                                </m:f>
                                <m:r>
                                  <a:rPr lang="en-US" b="0" i="1" smtClean="0">
                                    <a:latin typeface="Cambria Math" panose="02040503050406030204" pitchFamily="18" charset="0"/>
                                  </a:rPr>
                                  <m:t>=2.5</m:t>
                                </m:r>
                              </m:oMath>
                            </m:oMathPara>
                          </a14:m>
                          <a:endParaRPr lang="en-US" dirty="0"/>
                        </a:p>
                      </a:txBody>
                      <a:tcPr/>
                    </a:tc>
                    <a:tc vMerge="1">
                      <a:txBody>
                        <a:bodyPr/>
                        <a:lstStyle/>
                        <a:p>
                          <a:endParaRPr lang="en-US" dirty="0"/>
                        </a:p>
                      </a:txBody>
                      <a:tcPr/>
                    </a:tc>
                    <a:extLst>
                      <a:ext uri="{0D108BD9-81ED-4DB2-BD59-A6C34878D82A}">
                        <a16:rowId xmlns:a16="http://schemas.microsoft.com/office/drawing/2014/main" val="2034288241"/>
                      </a:ext>
                    </a:extLst>
                  </a:tr>
                  <a:tr h="370840">
                    <a:tc>
                      <a:txBody>
                        <a:bodyPr/>
                        <a:lstStyle/>
                        <a:p>
                          <a:r>
                            <a:rPr lang="en-US" dirty="0"/>
                            <a:t>Total</a:t>
                          </a:r>
                        </a:p>
                      </a:txBody>
                      <a:tcPr/>
                    </a:tc>
                    <a:tc>
                      <a:txBody>
                        <a:bodyPr/>
                        <a:lstStyle/>
                        <a:p>
                          <a:r>
                            <a:rPr lang="en-US" dirty="0"/>
                            <a:t>40 (SST)</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14</m:t>
                                </m:r>
                              </m:oMath>
                            </m:oMathPara>
                          </a14:m>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Choice>
        <mc:Fallback xmlns="">
          <p:graphicFrame>
            <p:nvGraphicFramePr>
              <p:cNvPr id="7" name="Table 6">
                <a:extLst>
                  <a:ext uri="{FF2B5EF4-FFF2-40B4-BE49-F238E27FC236}">
                    <a16:creationId xmlns:a16="http://schemas.microsoft.com/office/drawing/2014/main" id="{95914106-B705-485C-9A27-CF595C915BCB}"/>
                  </a:ext>
                </a:extLst>
              </p:cNvPr>
              <p:cNvGraphicFramePr>
                <a:graphicFrameLocks noGrp="1"/>
              </p:cNvGraphicFramePr>
              <p:nvPr>
                <p:extLst>
                  <p:ext uri="{D42A27DB-BD31-4B8C-83A1-F6EECF244321}">
                    <p14:modId xmlns:p14="http://schemas.microsoft.com/office/powerpoint/2010/main" val="4145311002"/>
                  </p:ext>
                </p:extLst>
              </p:nvPr>
            </p:nvGraphicFramePr>
            <p:xfrm>
              <a:off x="838200" y="2875280"/>
              <a:ext cx="7467600" cy="28397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494074064"/>
                        </a:ext>
                      </a:extLst>
                    </a:gridCol>
                    <a:gridCol w="1219200">
                      <a:extLst>
                        <a:ext uri="{9D8B030D-6E8A-4147-A177-3AD203B41FA5}">
                          <a16:colId xmlns:a16="http://schemas.microsoft.com/office/drawing/2014/main" val="2737903429"/>
                        </a:ext>
                      </a:extLst>
                    </a:gridCol>
                    <a:gridCol w="1143000">
                      <a:extLst>
                        <a:ext uri="{9D8B030D-6E8A-4147-A177-3AD203B41FA5}">
                          <a16:colId xmlns:a16="http://schemas.microsoft.com/office/drawing/2014/main" val="3441708766"/>
                        </a:ext>
                      </a:extLst>
                    </a:gridCol>
                    <a:gridCol w="2468880">
                      <a:extLst>
                        <a:ext uri="{9D8B030D-6E8A-4147-A177-3AD203B41FA5}">
                          <a16:colId xmlns:a16="http://schemas.microsoft.com/office/drawing/2014/main" val="320772787"/>
                        </a:ext>
                      </a:extLst>
                    </a:gridCol>
                    <a:gridCol w="1493520">
                      <a:extLst>
                        <a:ext uri="{9D8B030D-6E8A-4147-A177-3AD203B41FA5}">
                          <a16:colId xmlns:a16="http://schemas.microsoft.com/office/drawing/2014/main" val="4272899118"/>
                        </a:ext>
                      </a:extLst>
                    </a:gridCol>
                  </a:tblGrid>
                  <a:tr h="640080">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914400">
                    <a:tc>
                      <a:txBody>
                        <a:bodyPr/>
                        <a:lstStyle/>
                        <a:p>
                          <a:r>
                            <a:rPr lang="en-US" dirty="0"/>
                            <a:t>Between Samples (Column)</a:t>
                          </a:r>
                        </a:p>
                      </a:txBody>
                      <a:tcPr/>
                    </a:tc>
                    <a:tc>
                      <a:txBody>
                        <a:bodyPr/>
                        <a:lstStyle/>
                        <a:p>
                          <a:r>
                            <a:rPr lang="en-US" dirty="0"/>
                            <a:t>10 (SSC)</a:t>
                          </a:r>
                        </a:p>
                      </a:txBody>
                      <a:tcPr/>
                    </a:tc>
                    <a:tc>
                      <a:txBody>
                        <a:bodyPr/>
                        <a:lstStyle/>
                        <a:p>
                          <a:endParaRPr lang="en-US"/>
                        </a:p>
                      </a:txBody>
                      <a:tcPr>
                        <a:blipFill>
                          <a:blip r:embed="rId2"/>
                          <a:stretch>
                            <a:fillRect l="-208021" t="-72848" r="-350267" b="-149669"/>
                          </a:stretch>
                        </a:blipFill>
                      </a:tcPr>
                    </a:tc>
                    <a:tc>
                      <a:txBody>
                        <a:bodyPr/>
                        <a:lstStyle/>
                        <a:p>
                          <a:endParaRPr lang="en-US"/>
                        </a:p>
                      </a:txBody>
                      <a:tcPr>
                        <a:blipFill>
                          <a:blip r:embed="rId2"/>
                          <a:stretch>
                            <a:fillRect l="-141872" t="-72848" r="-61330" b="-149669"/>
                          </a:stretch>
                        </a:blipFill>
                      </a:tcPr>
                    </a:tc>
                    <a:tc rowSpan="2">
                      <a:txBody>
                        <a:bodyPr/>
                        <a:lstStyle/>
                        <a:p>
                          <a:endParaRPr lang="en-US"/>
                        </a:p>
                      </a:txBody>
                      <a:tcPr anchor="ctr">
                        <a:blipFill>
                          <a:blip r:embed="rId2"/>
                          <a:stretch>
                            <a:fillRect l="-400816" t="-36545" r="-1633" b="-25249"/>
                          </a:stretch>
                        </a:blipFill>
                      </a:tcPr>
                    </a:tc>
                    <a:extLst>
                      <a:ext uri="{0D108BD9-81ED-4DB2-BD59-A6C34878D82A}">
                        <a16:rowId xmlns:a16="http://schemas.microsoft.com/office/drawing/2014/main" val="2106153883"/>
                      </a:ext>
                    </a:extLst>
                  </a:tr>
                  <a:tr h="914400">
                    <a:tc>
                      <a:txBody>
                        <a:bodyPr/>
                        <a:lstStyle/>
                        <a:p>
                          <a:r>
                            <a:rPr lang="en-US" dirty="0"/>
                            <a:t>With in Samples (Error)</a:t>
                          </a:r>
                        </a:p>
                      </a:txBody>
                      <a:tcPr/>
                    </a:tc>
                    <a:tc>
                      <a:txBody>
                        <a:bodyPr/>
                        <a:lstStyle/>
                        <a:p>
                          <a:r>
                            <a:rPr lang="en-US" dirty="0"/>
                            <a:t>30 (SSE)</a:t>
                          </a:r>
                        </a:p>
                      </a:txBody>
                      <a:tcPr/>
                    </a:tc>
                    <a:tc>
                      <a:txBody>
                        <a:bodyPr/>
                        <a:lstStyle/>
                        <a:p>
                          <a:endParaRPr lang="en-US"/>
                        </a:p>
                      </a:txBody>
                      <a:tcPr>
                        <a:blipFill>
                          <a:blip r:embed="rId2"/>
                          <a:stretch>
                            <a:fillRect l="-208021" t="-174000" r="-350267" b="-50667"/>
                          </a:stretch>
                        </a:blipFill>
                      </a:tcPr>
                    </a:tc>
                    <a:tc>
                      <a:txBody>
                        <a:bodyPr/>
                        <a:lstStyle/>
                        <a:p>
                          <a:endParaRPr lang="en-US"/>
                        </a:p>
                      </a:txBody>
                      <a:tcPr>
                        <a:blipFill>
                          <a:blip r:embed="rId2"/>
                          <a:stretch>
                            <a:fillRect l="-141872" t="-174000" r="-61330" b="-50667"/>
                          </a:stretch>
                        </a:blipFill>
                      </a:tcPr>
                    </a:tc>
                    <a:tc vMerge="1">
                      <a:txBody>
                        <a:bodyPr/>
                        <a:lstStyle/>
                        <a:p>
                          <a:endParaRPr lang="en-US" dirty="0"/>
                        </a:p>
                      </a:txBody>
                      <a:tcPr/>
                    </a:tc>
                    <a:extLst>
                      <a:ext uri="{0D108BD9-81ED-4DB2-BD59-A6C34878D82A}">
                        <a16:rowId xmlns:a16="http://schemas.microsoft.com/office/drawing/2014/main" val="2034288241"/>
                      </a:ext>
                    </a:extLst>
                  </a:tr>
                  <a:tr h="370840">
                    <a:tc>
                      <a:txBody>
                        <a:bodyPr/>
                        <a:lstStyle/>
                        <a:p>
                          <a:r>
                            <a:rPr lang="en-US" dirty="0"/>
                            <a:t>Total</a:t>
                          </a:r>
                        </a:p>
                      </a:txBody>
                      <a:tcPr/>
                    </a:tc>
                    <a:tc>
                      <a:txBody>
                        <a:bodyPr/>
                        <a:lstStyle/>
                        <a:p>
                          <a:r>
                            <a:rPr lang="en-US" dirty="0"/>
                            <a:t>40 (SST)</a:t>
                          </a:r>
                        </a:p>
                      </a:txBody>
                      <a:tcPr/>
                    </a:tc>
                    <a:tc>
                      <a:txBody>
                        <a:bodyPr/>
                        <a:lstStyle/>
                        <a:p>
                          <a:endParaRPr lang="en-US"/>
                        </a:p>
                      </a:txBody>
                      <a:tcPr>
                        <a:blipFill>
                          <a:blip r:embed="rId2"/>
                          <a:stretch>
                            <a:fillRect l="-208021" t="-673770" r="-350267" b="-24590"/>
                          </a:stretch>
                        </a:blipFill>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Fallback>
      </mc:AlternateContent>
    </p:spTree>
    <p:extLst>
      <p:ext uri="{BB962C8B-B14F-4D97-AF65-F5344CB8AC3E}">
        <p14:creationId xmlns:p14="http://schemas.microsoft.com/office/powerpoint/2010/main" val="25114889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The tabular value of F at 5 % level of significance with degree of freedom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𝜈</m:t>
                        </m:r>
                      </m:e>
                      <m:sub>
                        <m:r>
                          <a:rPr lang="en-US" sz="2200" i="1">
                            <a:latin typeface="Cambria Math"/>
                          </a:rPr>
                          <m:t>1</m:t>
                        </m:r>
                      </m:sub>
                    </m:sSub>
                  </m:oMath>
                </a14:m>
                <a:r>
                  <a:rPr lang="en-US" sz="2200" dirty="0"/>
                  <a:t>=2 &amp;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𝜈</m:t>
                        </m:r>
                      </m:e>
                      <m:sub>
                        <m:r>
                          <a:rPr lang="en-US" sz="2200" i="1">
                            <a:latin typeface="Cambria Math"/>
                            <a:ea typeface="Cambria Math"/>
                          </a:rPr>
                          <m:t>2</m:t>
                        </m:r>
                      </m:sub>
                    </m:sSub>
                    <m:r>
                      <a:rPr lang="en-US" sz="2200" i="1">
                        <a:latin typeface="Cambria Math"/>
                      </a:rPr>
                      <m:t>=12 </m:t>
                    </m:r>
                    <m:r>
                      <a:rPr lang="en-US" sz="2200" i="1">
                        <a:latin typeface="Cambria Math"/>
                      </a:rPr>
                      <m:t>𝑖𝑠</m:t>
                    </m:r>
                    <m:r>
                      <a:rPr lang="en-US" sz="2200" i="1">
                        <a:latin typeface="Cambria Math"/>
                      </a:rPr>
                      <m:t> 3.89</m:t>
                    </m:r>
                  </m:oMath>
                </a14:m>
                <a:r>
                  <a:rPr lang="en-US" sz="2200" dirty="0"/>
                  <a:t>:</a:t>
                </a:r>
              </a:p>
              <a:p>
                <a:pPr marL="0" indent="0">
                  <a:buNone/>
                </a:pPr>
                <a:r>
                  <a:rPr lang="en-US" sz="2200" b="1" dirty="0"/>
                  <a:t>Conclusion:</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𝐹</m:t>
                        </m:r>
                      </m:e>
                      <m:sub>
                        <m:r>
                          <a:rPr lang="en-US" sz="2200" i="1">
                            <a:latin typeface="Cambria Math"/>
                            <a:ea typeface="Cambria Math"/>
                          </a:rPr>
                          <m:t>𝑐𝑎𝑙</m:t>
                        </m:r>
                      </m:sub>
                    </m:sSub>
                    <m:r>
                      <a:rPr lang="en-US" sz="2200" i="1">
                        <a:latin typeface="Cambria Math"/>
                      </a:rPr>
                      <m:t>&lt;</m:t>
                    </m:r>
                    <m:sSub>
                      <m:sSubPr>
                        <m:ctrlPr>
                          <a:rPr lang="en-US" sz="2200" i="1">
                            <a:latin typeface="Cambria Math" panose="02040503050406030204" pitchFamily="18" charset="0"/>
                          </a:rPr>
                        </m:ctrlPr>
                      </m:sSubPr>
                      <m:e>
                        <m:r>
                          <a:rPr lang="en-US" sz="2200" i="1">
                            <a:latin typeface="Cambria Math"/>
                          </a:rPr>
                          <m:t>𝐹</m:t>
                        </m:r>
                      </m:e>
                      <m:sub>
                        <m:r>
                          <a:rPr lang="en-US" sz="2200" i="1">
                            <a:latin typeface="Cambria Math"/>
                          </a:rPr>
                          <m:t>𝑡</m:t>
                        </m:r>
                        <m:r>
                          <a:rPr lang="en-US" sz="2200" i="1">
                            <a:latin typeface="Cambria Math"/>
                            <a:ea typeface="Cambria Math"/>
                          </a:rPr>
                          <m:t>𝑎𝑏</m:t>
                        </m:r>
                      </m:sub>
                    </m:sSub>
                    <m:r>
                      <a:rPr lang="en-US" sz="2200" i="1">
                        <a:latin typeface="Cambria Math"/>
                        <a:ea typeface="Cambria Math"/>
                      </a:rPr>
                      <m:t>, </m:t>
                    </m:r>
                  </m:oMath>
                </a14:m>
                <a:r>
                  <a:rPr lang="en-US" sz="2200" dirty="0"/>
                  <a:t>i. 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0 </m:t>
                        </m:r>
                      </m:sub>
                    </m:sSub>
                  </m:oMath>
                </a14:m>
                <a:r>
                  <a:rPr lang="en-US" sz="2200" dirty="0"/>
                  <a:t> is accepted, so the difference is insignificant and we conclude that the data do not suggest a difference in the no of deaths per month among the three hospitals.</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1185"/>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spTree>
    <p:extLst>
      <p:ext uri="{BB962C8B-B14F-4D97-AF65-F5344CB8AC3E}">
        <p14:creationId xmlns:p14="http://schemas.microsoft.com/office/powerpoint/2010/main" val="29154615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Q.2 A manufacturing company purchased three new machines of different makes and wishes to determine whether one of them is faster than the others in producing a certain out put . Five hourly production  figures are observed at random from each machine and the results are given below:</a:t>
            </a:r>
          </a:p>
          <a:p>
            <a:pPr marL="0" indent="0">
              <a:buNone/>
            </a:pPr>
            <a:br>
              <a:rPr lang="en-US" sz="2200" dirty="0"/>
            </a:b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10"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p:txBody>
      </p:sp>
      <p:graphicFrame>
        <p:nvGraphicFramePr>
          <p:cNvPr id="2" name="Table 1">
            <a:extLst>
              <a:ext uri="{FF2B5EF4-FFF2-40B4-BE49-F238E27FC236}">
                <a16:creationId xmlns:a16="http://schemas.microsoft.com/office/drawing/2014/main" id="{F367989E-CFFF-4D3B-A17C-45AFC67859BC}"/>
              </a:ext>
            </a:extLst>
          </p:cNvPr>
          <p:cNvGraphicFramePr>
            <a:graphicFrameLocks noGrp="1"/>
          </p:cNvGraphicFramePr>
          <p:nvPr>
            <p:extLst>
              <p:ext uri="{D42A27DB-BD31-4B8C-83A1-F6EECF244321}">
                <p14:modId xmlns:p14="http://schemas.microsoft.com/office/powerpoint/2010/main" val="3215926597"/>
              </p:ext>
            </p:extLst>
          </p:nvPr>
        </p:nvGraphicFramePr>
        <p:xfrm>
          <a:off x="1219200" y="3185160"/>
          <a:ext cx="6705600" cy="237744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1231037294"/>
                    </a:ext>
                  </a:extLst>
                </a:gridCol>
                <a:gridCol w="1676400">
                  <a:extLst>
                    <a:ext uri="{9D8B030D-6E8A-4147-A177-3AD203B41FA5}">
                      <a16:colId xmlns:a16="http://schemas.microsoft.com/office/drawing/2014/main" val="3611522155"/>
                    </a:ext>
                  </a:extLst>
                </a:gridCol>
                <a:gridCol w="1676400">
                  <a:extLst>
                    <a:ext uri="{9D8B030D-6E8A-4147-A177-3AD203B41FA5}">
                      <a16:colId xmlns:a16="http://schemas.microsoft.com/office/drawing/2014/main" val="42479089"/>
                    </a:ext>
                  </a:extLst>
                </a:gridCol>
                <a:gridCol w="1676400">
                  <a:extLst>
                    <a:ext uri="{9D8B030D-6E8A-4147-A177-3AD203B41FA5}">
                      <a16:colId xmlns:a16="http://schemas.microsoft.com/office/drawing/2014/main" val="1162088671"/>
                    </a:ext>
                  </a:extLst>
                </a:gridCol>
              </a:tblGrid>
              <a:tr h="370840">
                <a:tc>
                  <a:txBody>
                    <a:bodyPr/>
                    <a:lstStyle/>
                    <a:p>
                      <a:r>
                        <a:rPr lang="en-US" sz="2000" dirty="0"/>
                        <a:t>Observations</a:t>
                      </a:r>
                    </a:p>
                  </a:txBody>
                  <a:tcPr/>
                </a:tc>
                <a:tc>
                  <a:txBody>
                    <a:bodyPr/>
                    <a:lstStyle/>
                    <a:p>
                      <a:r>
                        <a:rPr lang="en-US" sz="2000" dirty="0"/>
                        <a:t>A1</a:t>
                      </a:r>
                    </a:p>
                  </a:txBody>
                  <a:tcPr/>
                </a:tc>
                <a:tc>
                  <a:txBody>
                    <a:bodyPr/>
                    <a:lstStyle/>
                    <a:p>
                      <a:r>
                        <a:rPr lang="en-US" sz="2000" dirty="0"/>
                        <a:t>A2</a:t>
                      </a:r>
                    </a:p>
                  </a:txBody>
                  <a:tcPr/>
                </a:tc>
                <a:tc>
                  <a:txBody>
                    <a:bodyPr/>
                    <a:lstStyle/>
                    <a:p>
                      <a:r>
                        <a:rPr lang="en-US" sz="2000" dirty="0"/>
                        <a:t>A3</a:t>
                      </a:r>
                    </a:p>
                  </a:txBody>
                  <a:tcPr/>
                </a:tc>
                <a:extLst>
                  <a:ext uri="{0D108BD9-81ED-4DB2-BD59-A6C34878D82A}">
                    <a16:rowId xmlns:a16="http://schemas.microsoft.com/office/drawing/2014/main" val="2271419744"/>
                  </a:ext>
                </a:extLst>
              </a:tr>
              <a:tr h="370840">
                <a:tc>
                  <a:txBody>
                    <a:bodyPr/>
                    <a:lstStyle/>
                    <a:p>
                      <a:r>
                        <a:rPr lang="en-US" sz="2000" dirty="0"/>
                        <a:t>1</a:t>
                      </a:r>
                    </a:p>
                  </a:txBody>
                  <a:tcPr/>
                </a:tc>
                <a:tc>
                  <a:txBody>
                    <a:bodyPr/>
                    <a:lstStyle/>
                    <a:p>
                      <a:r>
                        <a:rPr lang="en-US" sz="2000" dirty="0"/>
                        <a:t>25</a:t>
                      </a:r>
                    </a:p>
                  </a:txBody>
                  <a:tcPr/>
                </a:tc>
                <a:tc>
                  <a:txBody>
                    <a:bodyPr/>
                    <a:lstStyle/>
                    <a:p>
                      <a:r>
                        <a:rPr lang="en-US" sz="2000" dirty="0"/>
                        <a:t>31</a:t>
                      </a:r>
                    </a:p>
                  </a:txBody>
                  <a:tcPr/>
                </a:tc>
                <a:tc>
                  <a:txBody>
                    <a:bodyPr/>
                    <a:lstStyle/>
                    <a:p>
                      <a:r>
                        <a:rPr lang="en-US" sz="2000" dirty="0"/>
                        <a:t>24</a:t>
                      </a:r>
                    </a:p>
                  </a:txBody>
                  <a:tcPr/>
                </a:tc>
                <a:extLst>
                  <a:ext uri="{0D108BD9-81ED-4DB2-BD59-A6C34878D82A}">
                    <a16:rowId xmlns:a16="http://schemas.microsoft.com/office/drawing/2014/main" val="1444578889"/>
                  </a:ext>
                </a:extLst>
              </a:tr>
              <a:tr h="370840">
                <a:tc>
                  <a:txBody>
                    <a:bodyPr/>
                    <a:lstStyle/>
                    <a:p>
                      <a:r>
                        <a:rPr lang="en-US" sz="2000" dirty="0"/>
                        <a:t>2</a:t>
                      </a:r>
                    </a:p>
                  </a:txBody>
                  <a:tcPr/>
                </a:tc>
                <a:tc>
                  <a:txBody>
                    <a:bodyPr/>
                    <a:lstStyle/>
                    <a:p>
                      <a:r>
                        <a:rPr lang="en-US" sz="2000" dirty="0"/>
                        <a:t>30</a:t>
                      </a:r>
                    </a:p>
                  </a:txBody>
                  <a:tcPr/>
                </a:tc>
                <a:tc>
                  <a:txBody>
                    <a:bodyPr/>
                    <a:lstStyle/>
                    <a:p>
                      <a:r>
                        <a:rPr lang="en-US" sz="2000" dirty="0"/>
                        <a:t>39</a:t>
                      </a:r>
                    </a:p>
                  </a:txBody>
                  <a:tcPr/>
                </a:tc>
                <a:tc>
                  <a:txBody>
                    <a:bodyPr/>
                    <a:lstStyle/>
                    <a:p>
                      <a:r>
                        <a:rPr lang="en-US" sz="2000" dirty="0"/>
                        <a:t>30</a:t>
                      </a:r>
                    </a:p>
                  </a:txBody>
                  <a:tcPr/>
                </a:tc>
                <a:extLst>
                  <a:ext uri="{0D108BD9-81ED-4DB2-BD59-A6C34878D82A}">
                    <a16:rowId xmlns:a16="http://schemas.microsoft.com/office/drawing/2014/main" val="3814125244"/>
                  </a:ext>
                </a:extLst>
              </a:tr>
              <a:tr h="370840">
                <a:tc>
                  <a:txBody>
                    <a:bodyPr/>
                    <a:lstStyle/>
                    <a:p>
                      <a:r>
                        <a:rPr lang="en-US" sz="2000" dirty="0"/>
                        <a:t>3</a:t>
                      </a:r>
                    </a:p>
                  </a:txBody>
                  <a:tcPr/>
                </a:tc>
                <a:tc>
                  <a:txBody>
                    <a:bodyPr/>
                    <a:lstStyle/>
                    <a:p>
                      <a:r>
                        <a:rPr lang="en-US" sz="2000" dirty="0"/>
                        <a:t>36</a:t>
                      </a:r>
                    </a:p>
                  </a:txBody>
                  <a:tcPr/>
                </a:tc>
                <a:tc>
                  <a:txBody>
                    <a:bodyPr/>
                    <a:lstStyle/>
                    <a:p>
                      <a:r>
                        <a:rPr lang="en-US" sz="2000" dirty="0"/>
                        <a:t>38</a:t>
                      </a:r>
                    </a:p>
                  </a:txBody>
                  <a:tcPr/>
                </a:tc>
                <a:tc>
                  <a:txBody>
                    <a:bodyPr/>
                    <a:lstStyle/>
                    <a:p>
                      <a:r>
                        <a:rPr lang="en-US" sz="2000" dirty="0"/>
                        <a:t>28</a:t>
                      </a:r>
                    </a:p>
                  </a:txBody>
                  <a:tcPr/>
                </a:tc>
                <a:extLst>
                  <a:ext uri="{0D108BD9-81ED-4DB2-BD59-A6C34878D82A}">
                    <a16:rowId xmlns:a16="http://schemas.microsoft.com/office/drawing/2014/main" val="1318167605"/>
                  </a:ext>
                </a:extLst>
              </a:tr>
              <a:tr h="370840">
                <a:tc>
                  <a:txBody>
                    <a:bodyPr/>
                    <a:lstStyle/>
                    <a:p>
                      <a:r>
                        <a:rPr lang="en-US" sz="2000" dirty="0"/>
                        <a:t>4</a:t>
                      </a:r>
                    </a:p>
                  </a:txBody>
                  <a:tcPr/>
                </a:tc>
                <a:tc>
                  <a:txBody>
                    <a:bodyPr/>
                    <a:lstStyle/>
                    <a:p>
                      <a:r>
                        <a:rPr lang="en-US" sz="2000" dirty="0"/>
                        <a:t>38</a:t>
                      </a:r>
                    </a:p>
                  </a:txBody>
                  <a:tcPr/>
                </a:tc>
                <a:tc>
                  <a:txBody>
                    <a:bodyPr/>
                    <a:lstStyle/>
                    <a:p>
                      <a:r>
                        <a:rPr lang="en-US" sz="2000" dirty="0"/>
                        <a:t>42</a:t>
                      </a:r>
                    </a:p>
                  </a:txBody>
                  <a:tcPr/>
                </a:tc>
                <a:tc>
                  <a:txBody>
                    <a:bodyPr/>
                    <a:lstStyle/>
                    <a:p>
                      <a:r>
                        <a:rPr lang="en-US" sz="2000" dirty="0"/>
                        <a:t>25</a:t>
                      </a:r>
                    </a:p>
                  </a:txBody>
                  <a:tcPr/>
                </a:tc>
                <a:extLst>
                  <a:ext uri="{0D108BD9-81ED-4DB2-BD59-A6C34878D82A}">
                    <a16:rowId xmlns:a16="http://schemas.microsoft.com/office/drawing/2014/main" val="2674989489"/>
                  </a:ext>
                </a:extLst>
              </a:tr>
              <a:tr h="370840">
                <a:tc>
                  <a:txBody>
                    <a:bodyPr/>
                    <a:lstStyle/>
                    <a:p>
                      <a:r>
                        <a:rPr lang="en-US" sz="2000" dirty="0"/>
                        <a:t>5</a:t>
                      </a:r>
                    </a:p>
                  </a:txBody>
                  <a:tcPr/>
                </a:tc>
                <a:tc>
                  <a:txBody>
                    <a:bodyPr/>
                    <a:lstStyle/>
                    <a:p>
                      <a:r>
                        <a:rPr lang="en-US" sz="2000" dirty="0"/>
                        <a:t>31</a:t>
                      </a:r>
                    </a:p>
                  </a:txBody>
                  <a:tcPr/>
                </a:tc>
                <a:tc>
                  <a:txBody>
                    <a:bodyPr/>
                    <a:lstStyle/>
                    <a:p>
                      <a:r>
                        <a:rPr lang="en-US" sz="2000" dirty="0"/>
                        <a:t>35</a:t>
                      </a:r>
                    </a:p>
                  </a:txBody>
                  <a:tcPr/>
                </a:tc>
                <a:tc>
                  <a:txBody>
                    <a:bodyPr/>
                    <a:lstStyle/>
                    <a:p>
                      <a:r>
                        <a:rPr lang="en-US" sz="2000" dirty="0"/>
                        <a:t>28</a:t>
                      </a:r>
                    </a:p>
                  </a:txBody>
                  <a:tcPr/>
                </a:tc>
                <a:extLst>
                  <a:ext uri="{0D108BD9-81ED-4DB2-BD59-A6C34878D82A}">
                    <a16:rowId xmlns:a16="http://schemas.microsoft.com/office/drawing/2014/main" val="1750331320"/>
                  </a:ext>
                </a:extLst>
              </a:tr>
            </a:tbl>
          </a:graphicData>
        </a:graphic>
      </p:graphicFrame>
    </p:spTree>
    <p:extLst>
      <p:ext uri="{BB962C8B-B14F-4D97-AF65-F5344CB8AC3E}">
        <p14:creationId xmlns:p14="http://schemas.microsoft.com/office/powerpoint/2010/main" val="2312259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Use ANOVA and determine whether the machines are significantly </a:t>
                </a:r>
              </a:p>
              <a:p>
                <a:pPr marL="0" indent="0">
                  <a:buNone/>
                </a:pPr>
                <a:r>
                  <a:rPr lang="en-US" sz="2200" dirty="0"/>
                  <a:t>Different in their mean speed.(Given at 5% level,F2,12=3.89)</a:t>
                </a:r>
              </a:p>
              <a:p>
                <a:pPr marL="0" indent="0">
                  <a:buNone/>
                </a:pPr>
                <a:r>
                  <a:rPr lang="en-US" sz="2200" dirty="0"/>
                  <a:t>Sol. Null hypothesis H0: Machines are not significantly different in their mean speed i.e.,</a:t>
                </a:r>
                <a14:m>
                  <m:oMath xmlns:m="http://schemas.openxmlformats.org/officeDocument/2006/math">
                    <m:r>
                      <a:rPr lang="en-US" sz="2200" i="1">
                        <a:latin typeface="Cambria Math"/>
                        <a:ea typeface="Cambria Math"/>
                      </a:rPr>
                      <m:t>𝜇</m:t>
                    </m:r>
                    <m:r>
                      <a:rPr lang="en-US" sz="2200" i="1">
                        <a:latin typeface="Cambria Math"/>
                        <a:ea typeface="Cambria Math"/>
                      </a:rPr>
                      <m:t>1=</m:t>
                    </m:r>
                    <m:r>
                      <a:rPr lang="en-US" sz="2200" i="1">
                        <a:latin typeface="Cambria Math"/>
                        <a:ea typeface="Cambria Math"/>
                      </a:rPr>
                      <m:t>𝜇</m:t>
                    </m:r>
                    <m:r>
                      <a:rPr lang="en-US" sz="2200" i="1">
                        <a:latin typeface="Cambria Math"/>
                        <a:ea typeface="Cambria Math"/>
                      </a:rPr>
                      <m:t>2=</m:t>
                    </m:r>
                    <m:r>
                      <a:rPr lang="en-US" sz="2200" i="1">
                        <a:latin typeface="Cambria Math"/>
                        <a:ea typeface="Cambria Math"/>
                      </a:rPr>
                      <m:t>𝜇</m:t>
                    </m:r>
                    <m:r>
                      <a:rPr lang="en-US" sz="2200" i="1">
                        <a:latin typeface="Cambria Math"/>
                        <a:ea typeface="Cambria Math"/>
                      </a:rPr>
                      <m:t>3</m:t>
                    </m:r>
                  </m:oMath>
                </a14:m>
                <a:r>
                  <a:rPr lang="en-US" sz="2200" dirty="0"/>
                  <a:t>.</a:t>
                </a:r>
              </a:p>
              <a:p>
                <a:pPr marL="0" indent="0">
                  <a:buNone/>
                </a:pPr>
                <a:r>
                  <a:rPr lang="en-US" sz="2200" dirty="0"/>
                  <a:t>Alternate hypothesis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𝐻</m:t>
                        </m:r>
                      </m:e>
                      <m:sub>
                        <m:r>
                          <a:rPr lang="en-US" sz="2200" i="1">
                            <a:latin typeface="Cambria Math"/>
                          </a:rPr>
                          <m:t>1</m:t>
                        </m:r>
                      </m:sub>
                    </m:sSub>
                  </m:oMath>
                </a14:m>
                <a:r>
                  <a:rPr lang="en-US" sz="2200" dirty="0"/>
                  <a:t>:Machines are significantly different in their mean speed.</a:t>
                </a:r>
              </a:p>
              <a:p>
                <a:pPr marL="0" indent="0">
                  <a:buNone/>
                </a:pPr>
                <a:r>
                  <a:rPr lang="en-US" sz="2200" dirty="0"/>
                  <a:t>Level of Significance: We use 5% level of Significance.</a:t>
                </a:r>
              </a:p>
              <a:p>
                <a:pPr marL="0" indent="0">
                  <a:buNone/>
                </a:pPr>
                <a:r>
                  <a:rPr lang="en-US" sz="2200" dirty="0"/>
                  <a:t>Test  Statistic: T o find the Variance ratio F,  we set up an ANOVA tables as follows: let us shift the origin at 30 i.e., reduce each observations by 30.we have</a:t>
                </a:r>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556" b="-1280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a:p>
            <a:pPr algn="ctr">
              <a:spcBef>
                <a:spcPct val="0"/>
              </a:spcBef>
              <a:defRPr/>
            </a:pPr>
            <a:endParaRPr lang="en-US" sz="3000" b="1" dirty="0"/>
          </a:p>
        </p:txBody>
      </p:sp>
    </p:spTree>
    <p:extLst>
      <p:ext uri="{BB962C8B-B14F-4D97-AF65-F5344CB8AC3E}">
        <p14:creationId xmlns:p14="http://schemas.microsoft.com/office/powerpoint/2010/main" val="34702044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Sample totals:</a:t>
                </a:r>
              </a:p>
              <a:p>
                <a:pPr marL="0" indent="0">
                  <a:buNone/>
                </a:pP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1</m:t>
                        </m:r>
                      </m:sub>
                    </m:sSub>
                    <m:r>
                      <a:rPr lang="en-US" sz="2200">
                        <a:latin typeface="Cambria Math"/>
                      </a:rPr>
                      <m:t>=−5+0+6+8+1=1</m:t>
                    </m:r>
                  </m:oMath>
                </a14:m>
                <a:r>
                  <a:rPr lang="en-US" sz="2200" dirty="0"/>
                  <a:t>0</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𝐴</m:t>
                        </m:r>
                      </m:e>
                      <m:sub>
                        <m:r>
                          <a:rPr lang="en-US" sz="2200" i="1">
                            <a:latin typeface="Cambria Math"/>
                            <a:ea typeface="Cambria Math"/>
                          </a:rPr>
                          <m:t>2</m:t>
                        </m:r>
                      </m:sub>
                    </m:sSub>
                    <m:r>
                      <a:rPr lang="en-US" sz="2200">
                        <a:latin typeface="Cambria Math"/>
                        <a:ea typeface="Cambria Math"/>
                      </a:rPr>
                      <m:t>=1+9+8+12+5=</m:t>
                    </m:r>
                  </m:oMath>
                </a14:m>
                <a:r>
                  <a:rPr lang="en-US" sz="2200" dirty="0">
                    <a:ea typeface="Cambria Math"/>
                  </a:rPr>
                  <a:t>35</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𝐴</m:t>
                        </m:r>
                      </m:e>
                      <m:sub>
                        <m:r>
                          <a:rPr lang="en-US" sz="2200" i="1">
                            <a:latin typeface="Cambria Math"/>
                            <a:ea typeface="Cambria Math"/>
                          </a:rPr>
                          <m:t>3</m:t>
                        </m:r>
                      </m:sub>
                    </m:sSub>
                    <m:r>
                      <a:rPr lang="en-US" sz="2200">
                        <a:latin typeface="Cambria Math"/>
                        <a:ea typeface="Cambria Math"/>
                      </a:rPr>
                      <m:t>=−6+0</m:t>
                    </m:r>
                    <m:r>
                      <a:rPr lang="en-US" sz="2200" i="1">
                        <a:latin typeface="Cambria Math"/>
                        <a:ea typeface="Cambria Math"/>
                      </a:rPr>
                      <m:t>−2</m:t>
                    </m:r>
                    <m:r>
                      <a:rPr lang="en-US" sz="2200">
                        <a:latin typeface="Cambria Math"/>
                        <a:ea typeface="Cambria Math"/>
                      </a:rPr>
                      <m:t>−5−2=−15</m:t>
                    </m:r>
                  </m:oMath>
                </a14:m>
                <a:endParaRPr lang="en-US" sz="2200" dirty="0">
                  <a:ea typeface="Cambria Math"/>
                </a:endParaRPr>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5" normalizeH="0" baseline="0" noProof="0" dirty="0">
                <a:ln>
                  <a:noFill/>
                </a:ln>
                <a:solidFill>
                  <a:prstClr val="black"/>
                </a:solidFill>
                <a:effectLst/>
                <a:uLnTx/>
                <a:uFillTx/>
                <a:latin typeface="Times New Roman"/>
                <a:ea typeface="Cambria" panose="02040503050406030204" pitchFamily="18" charset="0"/>
                <a:cs typeface="+mn-cs"/>
              </a:rPr>
              <a:t>Analysis of</a:t>
            </a:r>
            <a:r>
              <a:rPr kumimoji="0" lang="en-US" sz="2400" b="1" i="0" u="none" strike="noStrike" kern="1200" cap="none" spc="-80" normalizeH="0" baseline="0" noProof="0" dirty="0">
                <a:ln>
                  <a:noFill/>
                </a:ln>
                <a:solidFill>
                  <a:prstClr val="black"/>
                </a:solidFill>
                <a:effectLst/>
                <a:uLnTx/>
                <a:uFillTx/>
                <a:latin typeface="Times New Roman"/>
                <a:ea typeface="Cambria" panose="02040503050406030204" pitchFamily="18" charset="0"/>
                <a:cs typeface="+mn-cs"/>
              </a:rPr>
              <a:t> </a:t>
            </a:r>
            <a:r>
              <a:rPr kumimoji="0" lang="en-US" sz="2400" b="1" i="0" u="none" strike="noStrike" kern="1200" cap="none" spc="-45" normalizeH="0" baseline="0" noProof="0" dirty="0">
                <a:ln>
                  <a:noFill/>
                </a:ln>
                <a:solidFill>
                  <a:prstClr val="black"/>
                </a:solidFill>
                <a:effectLst/>
                <a:uLnTx/>
                <a:uFillTx/>
                <a:latin typeface="Times New Roman"/>
                <a:ea typeface="Cambria" panose="02040503050406030204" pitchFamily="18" charset="0"/>
                <a:cs typeface="+mn-cs"/>
              </a:rPr>
              <a:t>Variance  </a:t>
            </a:r>
            <a:r>
              <a:rPr kumimoji="0" lang="en-US" sz="2400" b="1" i="0" u="none" strike="noStrike" kern="1200" cap="none" spc="-55" normalizeH="0" baseline="0" noProof="0" dirty="0">
                <a:ln>
                  <a:noFill/>
                </a:ln>
                <a:solidFill>
                  <a:prstClr val="black"/>
                </a:solidFill>
                <a:effectLst/>
                <a:uLnTx/>
                <a:uFillTx/>
                <a:latin typeface="Times New Roman"/>
                <a:ea typeface="Cambria" panose="02040503050406030204" pitchFamily="18" charset="0"/>
                <a:cs typeface="+mn-cs"/>
              </a:rPr>
              <a:t>(ANOVA)(</a:t>
            </a:r>
            <a:r>
              <a:rPr kumimoji="0" lang="en-US" sz="2400" b="1" i="0" u="none" strike="noStrike" kern="1200" cap="none" spc="0" normalizeH="0" baseline="0" noProof="0" dirty="0">
                <a:ln>
                  <a:noFill/>
                </a:ln>
                <a:solidFill>
                  <a:prstClr val="black"/>
                </a:solidFill>
                <a:effectLst/>
                <a:uLnTx/>
                <a:uFillTx/>
                <a:latin typeface="Times New Roman"/>
                <a:ea typeface="+mn-ea"/>
                <a:cs typeface="+mn-cs"/>
              </a:rPr>
              <a:t>CO5)</a:t>
            </a:r>
          </a:p>
          <a:p>
            <a:pPr algn="ctr">
              <a:spcBef>
                <a:spcPct val="0"/>
              </a:spcBef>
              <a:defRPr/>
            </a:pPr>
            <a:endParaRPr lang="en-US" sz="3000" b="1" dirty="0"/>
          </a:p>
        </p:txBody>
      </p:sp>
      <p:graphicFrame>
        <p:nvGraphicFramePr>
          <p:cNvPr id="7" name="Table 6">
            <a:extLst>
              <a:ext uri="{FF2B5EF4-FFF2-40B4-BE49-F238E27FC236}">
                <a16:creationId xmlns:a16="http://schemas.microsoft.com/office/drawing/2014/main" id="{0876089E-1945-444D-B869-CB620D139CC6}"/>
              </a:ext>
            </a:extLst>
          </p:cNvPr>
          <p:cNvGraphicFramePr>
            <a:graphicFrameLocks noGrp="1"/>
          </p:cNvGraphicFramePr>
          <p:nvPr>
            <p:extLst>
              <p:ext uri="{D42A27DB-BD31-4B8C-83A1-F6EECF244321}">
                <p14:modId xmlns:p14="http://schemas.microsoft.com/office/powerpoint/2010/main" val="3627010607"/>
              </p:ext>
            </p:extLst>
          </p:nvPr>
        </p:nvGraphicFramePr>
        <p:xfrm>
          <a:off x="1219200" y="3200400"/>
          <a:ext cx="6705600" cy="237744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1231037294"/>
                    </a:ext>
                  </a:extLst>
                </a:gridCol>
                <a:gridCol w="1676400">
                  <a:extLst>
                    <a:ext uri="{9D8B030D-6E8A-4147-A177-3AD203B41FA5}">
                      <a16:colId xmlns:a16="http://schemas.microsoft.com/office/drawing/2014/main" val="3611522155"/>
                    </a:ext>
                  </a:extLst>
                </a:gridCol>
                <a:gridCol w="1676400">
                  <a:extLst>
                    <a:ext uri="{9D8B030D-6E8A-4147-A177-3AD203B41FA5}">
                      <a16:colId xmlns:a16="http://schemas.microsoft.com/office/drawing/2014/main" val="42479089"/>
                    </a:ext>
                  </a:extLst>
                </a:gridCol>
                <a:gridCol w="1676400">
                  <a:extLst>
                    <a:ext uri="{9D8B030D-6E8A-4147-A177-3AD203B41FA5}">
                      <a16:colId xmlns:a16="http://schemas.microsoft.com/office/drawing/2014/main" val="1162088671"/>
                    </a:ext>
                  </a:extLst>
                </a:gridCol>
              </a:tblGrid>
              <a:tr h="370840">
                <a:tc>
                  <a:txBody>
                    <a:bodyPr/>
                    <a:lstStyle/>
                    <a:p>
                      <a:r>
                        <a:rPr lang="en-US" sz="2000" dirty="0"/>
                        <a:t>Observations</a:t>
                      </a:r>
                    </a:p>
                  </a:txBody>
                  <a:tcPr/>
                </a:tc>
                <a:tc>
                  <a:txBody>
                    <a:bodyPr/>
                    <a:lstStyle/>
                    <a:p>
                      <a:r>
                        <a:rPr lang="en-US" sz="2000" dirty="0"/>
                        <a:t>A1</a:t>
                      </a:r>
                    </a:p>
                  </a:txBody>
                  <a:tcPr/>
                </a:tc>
                <a:tc>
                  <a:txBody>
                    <a:bodyPr/>
                    <a:lstStyle/>
                    <a:p>
                      <a:r>
                        <a:rPr lang="en-US" sz="2000" dirty="0"/>
                        <a:t>A2</a:t>
                      </a:r>
                    </a:p>
                  </a:txBody>
                  <a:tcPr/>
                </a:tc>
                <a:tc>
                  <a:txBody>
                    <a:bodyPr/>
                    <a:lstStyle/>
                    <a:p>
                      <a:r>
                        <a:rPr lang="en-US" sz="2000" dirty="0"/>
                        <a:t>A3</a:t>
                      </a:r>
                    </a:p>
                  </a:txBody>
                  <a:tcPr/>
                </a:tc>
                <a:extLst>
                  <a:ext uri="{0D108BD9-81ED-4DB2-BD59-A6C34878D82A}">
                    <a16:rowId xmlns:a16="http://schemas.microsoft.com/office/drawing/2014/main" val="2271419744"/>
                  </a:ext>
                </a:extLst>
              </a:tr>
              <a:tr h="370840">
                <a:tc>
                  <a:txBody>
                    <a:bodyPr/>
                    <a:lstStyle/>
                    <a:p>
                      <a:r>
                        <a:rPr lang="en-US" sz="2000" dirty="0"/>
                        <a:t>1</a:t>
                      </a:r>
                    </a:p>
                  </a:txBody>
                  <a:tcPr/>
                </a:tc>
                <a:tc>
                  <a:txBody>
                    <a:bodyPr/>
                    <a:lstStyle/>
                    <a:p>
                      <a:r>
                        <a:rPr lang="en-US" sz="2000" dirty="0"/>
                        <a:t>-5</a:t>
                      </a:r>
                    </a:p>
                  </a:txBody>
                  <a:tcPr/>
                </a:tc>
                <a:tc>
                  <a:txBody>
                    <a:bodyPr/>
                    <a:lstStyle/>
                    <a:p>
                      <a:r>
                        <a:rPr lang="en-US" sz="2000" dirty="0"/>
                        <a:t>1</a:t>
                      </a:r>
                    </a:p>
                  </a:txBody>
                  <a:tcPr/>
                </a:tc>
                <a:tc>
                  <a:txBody>
                    <a:bodyPr/>
                    <a:lstStyle/>
                    <a:p>
                      <a:r>
                        <a:rPr lang="en-US" sz="2000" dirty="0"/>
                        <a:t>-6</a:t>
                      </a:r>
                    </a:p>
                  </a:txBody>
                  <a:tcPr/>
                </a:tc>
                <a:extLst>
                  <a:ext uri="{0D108BD9-81ED-4DB2-BD59-A6C34878D82A}">
                    <a16:rowId xmlns:a16="http://schemas.microsoft.com/office/drawing/2014/main" val="1444578889"/>
                  </a:ext>
                </a:extLst>
              </a:tr>
              <a:tr h="370840">
                <a:tc>
                  <a:txBody>
                    <a:bodyPr/>
                    <a:lstStyle/>
                    <a:p>
                      <a:r>
                        <a:rPr lang="en-US" sz="2000" dirty="0"/>
                        <a:t>2</a:t>
                      </a:r>
                    </a:p>
                  </a:txBody>
                  <a:tcPr/>
                </a:tc>
                <a:tc>
                  <a:txBody>
                    <a:bodyPr/>
                    <a:lstStyle/>
                    <a:p>
                      <a:r>
                        <a:rPr lang="en-US" sz="2000" dirty="0"/>
                        <a:t>0</a:t>
                      </a:r>
                    </a:p>
                  </a:txBody>
                  <a:tcPr/>
                </a:tc>
                <a:tc>
                  <a:txBody>
                    <a:bodyPr/>
                    <a:lstStyle/>
                    <a:p>
                      <a:r>
                        <a:rPr lang="en-US" sz="2000" dirty="0"/>
                        <a:t>9</a:t>
                      </a:r>
                    </a:p>
                  </a:txBody>
                  <a:tcPr/>
                </a:tc>
                <a:tc>
                  <a:txBody>
                    <a:bodyPr/>
                    <a:lstStyle/>
                    <a:p>
                      <a:r>
                        <a:rPr lang="en-US" sz="2000" dirty="0"/>
                        <a:t>0</a:t>
                      </a:r>
                    </a:p>
                  </a:txBody>
                  <a:tcPr/>
                </a:tc>
                <a:extLst>
                  <a:ext uri="{0D108BD9-81ED-4DB2-BD59-A6C34878D82A}">
                    <a16:rowId xmlns:a16="http://schemas.microsoft.com/office/drawing/2014/main" val="3814125244"/>
                  </a:ext>
                </a:extLst>
              </a:tr>
              <a:tr h="370840">
                <a:tc>
                  <a:txBody>
                    <a:bodyPr/>
                    <a:lstStyle/>
                    <a:p>
                      <a:r>
                        <a:rPr lang="en-US" sz="2000" dirty="0"/>
                        <a:t>3</a:t>
                      </a:r>
                    </a:p>
                  </a:txBody>
                  <a:tcPr/>
                </a:tc>
                <a:tc>
                  <a:txBody>
                    <a:bodyPr/>
                    <a:lstStyle/>
                    <a:p>
                      <a:r>
                        <a:rPr lang="en-US" sz="2000" dirty="0"/>
                        <a:t>6</a:t>
                      </a:r>
                    </a:p>
                  </a:txBody>
                  <a:tcPr/>
                </a:tc>
                <a:tc>
                  <a:txBody>
                    <a:bodyPr/>
                    <a:lstStyle/>
                    <a:p>
                      <a:r>
                        <a:rPr lang="en-US" sz="2000" dirty="0"/>
                        <a:t>8</a:t>
                      </a:r>
                    </a:p>
                  </a:txBody>
                  <a:tcPr/>
                </a:tc>
                <a:tc>
                  <a:txBody>
                    <a:bodyPr/>
                    <a:lstStyle/>
                    <a:p>
                      <a:r>
                        <a:rPr lang="en-US" sz="2000" dirty="0"/>
                        <a:t>-2</a:t>
                      </a:r>
                    </a:p>
                  </a:txBody>
                  <a:tcPr/>
                </a:tc>
                <a:extLst>
                  <a:ext uri="{0D108BD9-81ED-4DB2-BD59-A6C34878D82A}">
                    <a16:rowId xmlns:a16="http://schemas.microsoft.com/office/drawing/2014/main" val="1318167605"/>
                  </a:ext>
                </a:extLst>
              </a:tr>
              <a:tr h="370840">
                <a:tc>
                  <a:txBody>
                    <a:bodyPr/>
                    <a:lstStyle/>
                    <a:p>
                      <a:r>
                        <a:rPr lang="en-US" sz="2000" dirty="0"/>
                        <a:t>4</a:t>
                      </a:r>
                    </a:p>
                  </a:txBody>
                  <a:tcPr/>
                </a:tc>
                <a:tc>
                  <a:txBody>
                    <a:bodyPr/>
                    <a:lstStyle/>
                    <a:p>
                      <a:r>
                        <a:rPr lang="en-US" sz="2000" dirty="0"/>
                        <a:t>8</a:t>
                      </a:r>
                    </a:p>
                  </a:txBody>
                  <a:tcPr/>
                </a:tc>
                <a:tc>
                  <a:txBody>
                    <a:bodyPr/>
                    <a:lstStyle/>
                    <a:p>
                      <a:r>
                        <a:rPr lang="en-US" sz="2000" dirty="0"/>
                        <a:t>12</a:t>
                      </a:r>
                    </a:p>
                  </a:txBody>
                  <a:tcPr/>
                </a:tc>
                <a:tc>
                  <a:txBody>
                    <a:bodyPr/>
                    <a:lstStyle/>
                    <a:p>
                      <a:r>
                        <a:rPr lang="en-US" sz="2000" dirty="0"/>
                        <a:t>-5</a:t>
                      </a:r>
                    </a:p>
                  </a:txBody>
                  <a:tcPr/>
                </a:tc>
                <a:extLst>
                  <a:ext uri="{0D108BD9-81ED-4DB2-BD59-A6C34878D82A}">
                    <a16:rowId xmlns:a16="http://schemas.microsoft.com/office/drawing/2014/main" val="2674989489"/>
                  </a:ext>
                </a:extLst>
              </a:tr>
              <a:tr h="370840">
                <a:tc>
                  <a:txBody>
                    <a:bodyPr/>
                    <a:lstStyle/>
                    <a:p>
                      <a:r>
                        <a:rPr lang="en-US" sz="2000" dirty="0"/>
                        <a:t>5</a:t>
                      </a:r>
                    </a:p>
                  </a:txBody>
                  <a:tcPr/>
                </a:tc>
                <a:tc>
                  <a:txBody>
                    <a:bodyPr/>
                    <a:lstStyle/>
                    <a:p>
                      <a:r>
                        <a:rPr lang="en-US" sz="2000" dirty="0"/>
                        <a:t>1</a:t>
                      </a:r>
                    </a:p>
                  </a:txBody>
                  <a:tcPr/>
                </a:tc>
                <a:tc>
                  <a:txBody>
                    <a:bodyPr/>
                    <a:lstStyle/>
                    <a:p>
                      <a:r>
                        <a:rPr lang="en-US" sz="2000" dirty="0"/>
                        <a:t>5</a:t>
                      </a:r>
                    </a:p>
                  </a:txBody>
                  <a:tcPr/>
                </a:tc>
                <a:tc>
                  <a:txBody>
                    <a:bodyPr/>
                    <a:lstStyle/>
                    <a:p>
                      <a:r>
                        <a:rPr lang="en-US" sz="2000" dirty="0"/>
                        <a:t>-2</a:t>
                      </a:r>
                    </a:p>
                  </a:txBody>
                  <a:tcPr/>
                </a:tc>
                <a:extLst>
                  <a:ext uri="{0D108BD9-81ED-4DB2-BD59-A6C34878D82A}">
                    <a16:rowId xmlns:a16="http://schemas.microsoft.com/office/drawing/2014/main" val="1750331320"/>
                  </a:ext>
                </a:extLst>
              </a:tr>
            </a:tbl>
          </a:graphicData>
        </a:graphic>
      </p:graphicFrame>
    </p:spTree>
    <p:extLst>
      <p:ext uri="{BB962C8B-B14F-4D97-AF65-F5344CB8AC3E}">
        <p14:creationId xmlns:p14="http://schemas.microsoft.com/office/powerpoint/2010/main" val="157506041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1.	Grand total(T)=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𝐴</m:t>
                        </m:r>
                      </m:e>
                      <m:sub>
                        <m:r>
                          <a:rPr lang="en-US" sz="2200" i="1">
                            <a:latin typeface="Cambria Math"/>
                            <a:ea typeface="Cambria Math"/>
                          </a:rPr>
                          <m:t>1</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𝐴</m:t>
                        </m:r>
                      </m:e>
                      <m:sub>
                        <m:r>
                          <a:rPr lang="en-US" sz="2200" i="1">
                            <a:latin typeface="Cambria Math"/>
                            <a:ea typeface="Cambria Math"/>
                          </a:rPr>
                          <m:t>2</m:t>
                        </m:r>
                      </m:sub>
                    </m:sSub>
                    <m:r>
                      <a:rPr lang="en-US" sz="2200">
                        <a:latin typeface="Cambria Math"/>
                        <a:ea typeface="Cambria Math"/>
                      </a:rPr>
                      <m:t>+</m:t>
                    </m:r>
                    <m:r>
                      <a:rPr lang="en-US" sz="2200" i="1">
                        <a:latin typeface="Cambria Math"/>
                        <a:ea typeface="Cambria Math"/>
                      </a:rPr>
                      <m:t>∑</m:t>
                    </m:r>
                    <m:sSub>
                      <m:sSubPr>
                        <m:ctrlPr>
                          <a:rPr lang="en-US" sz="2200" i="1">
                            <a:latin typeface="Cambria Math" panose="02040503050406030204" pitchFamily="18" charset="0"/>
                            <a:ea typeface="Cambria Math"/>
                          </a:rPr>
                        </m:ctrlPr>
                      </m:sSubPr>
                      <m:e>
                        <m:r>
                          <a:rPr lang="en-US" sz="2200" i="1">
                            <a:latin typeface="Cambria Math"/>
                            <a:ea typeface="Cambria Math"/>
                          </a:rPr>
                          <m:t>𝐴</m:t>
                        </m:r>
                      </m:e>
                      <m:sub>
                        <m:r>
                          <a:rPr lang="en-US" sz="2200" i="1">
                            <a:latin typeface="Cambria Math"/>
                            <a:ea typeface="Cambria Math"/>
                          </a:rPr>
                          <m:t>3</m:t>
                        </m:r>
                      </m:sub>
                    </m:sSub>
                  </m:oMath>
                </a14:m>
                <a:r>
                  <a:rPr lang="en-US" sz="2200" dirty="0"/>
                  <a:t>=30</a:t>
                </a:r>
              </a:p>
              <a:p>
                <a:pPr marL="0" indent="0">
                  <a:buNone/>
                </a:pPr>
                <a:r>
                  <a:rPr lang="en-US" sz="2200" dirty="0"/>
                  <a:t>2.	Correction factor(C.F)=</a:t>
                </a:r>
                <a14:m>
                  <m:oMath xmlns:m="http://schemas.openxmlformats.org/officeDocument/2006/math">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d>
                              <m:dPr>
                                <m:ctrlPr>
                                  <a:rPr lang="en-US" sz="2200" i="1">
                                    <a:latin typeface="Cambria Math" panose="02040503050406030204" pitchFamily="18" charset="0"/>
                                  </a:rPr>
                                </m:ctrlPr>
                              </m:dPr>
                              <m:e>
                                <m:r>
                                  <a:rPr lang="en-US" sz="2200" i="1">
                                    <a:latin typeface="Cambria Math"/>
                                  </a:rPr>
                                  <m:t>𝑇</m:t>
                                </m:r>
                              </m:e>
                            </m:d>
                          </m:e>
                          <m:sup>
                            <m:r>
                              <a:rPr lang="en-US" sz="2200" i="1">
                                <a:latin typeface="Cambria Math"/>
                              </a:rPr>
                              <m:t>2</m:t>
                            </m:r>
                          </m:sup>
                        </m:sSup>
                      </m:num>
                      <m:den>
                        <m:r>
                          <a:rPr lang="en-US" sz="2200" i="1">
                            <a:latin typeface="Cambria Math"/>
                          </a:rPr>
                          <m:t>𝑛</m:t>
                        </m:r>
                      </m:den>
                    </m:f>
                  </m:oMath>
                </a14:m>
                <a:r>
                  <a:rPr lang="en-US" sz="2200" dirty="0"/>
                  <a:t>=</a:t>
                </a:r>
                <a14:m>
                  <m:oMath xmlns:m="http://schemas.openxmlformats.org/officeDocument/2006/math">
                    <m:f>
                      <m:fPr>
                        <m:ctrlPr>
                          <a:rPr lang="en-US" sz="2200" i="1" dirty="0">
                            <a:latin typeface="Cambria Math" panose="02040503050406030204" pitchFamily="18" charset="0"/>
                          </a:rPr>
                        </m:ctrlPr>
                      </m:fPr>
                      <m:num>
                        <m:sSup>
                          <m:sSupPr>
                            <m:ctrlPr>
                              <a:rPr lang="en-US" sz="2200" i="1" dirty="0">
                                <a:latin typeface="Cambria Math" panose="02040503050406030204" pitchFamily="18" charset="0"/>
                              </a:rPr>
                            </m:ctrlPr>
                          </m:sSupPr>
                          <m:e>
                            <m:r>
                              <a:rPr lang="en-US" sz="2200" i="1" dirty="0">
                                <a:latin typeface="Cambria Math"/>
                              </a:rPr>
                              <m:t>(30)</m:t>
                            </m:r>
                          </m:e>
                          <m:sup>
                            <m:r>
                              <a:rPr lang="en-US" sz="2200" i="1" dirty="0">
                                <a:latin typeface="Cambria Math"/>
                              </a:rPr>
                              <m:t>2</m:t>
                            </m:r>
                          </m:sup>
                        </m:sSup>
                      </m:num>
                      <m:den>
                        <m:r>
                          <a:rPr lang="en-US" sz="2200" i="1" dirty="0">
                            <a:latin typeface="Cambria Math"/>
                          </a:rPr>
                          <m:t>15</m:t>
                        </m:r>
                      </m:den>
                    </m:f>
                    <m:r>
                      <a:rPr lang="en-US" sz="2200" dirty="0">
                        <a:latin typeface="Cambria Math"/>
                      </a:rPr>
                      <m:t>=6</m:t>
                    </m:r>
                  </m:oMath>
                </a14:m>
                <a:r>
                  <a:rPr lang="en-US" sz="2200" dirty="0"/>
                  <a:t>0</a:t>
                </a:r>
              </a:p>
              <a:p>
                <a:endParaRPr lang="en-US" sz="2200" dirty="0"/>
              </a:p>
              <a:p>
                <a:pPr marL="0" indent="0">
                  <a:buNone/>
                </a:pPr>
                <a:r>
                  <a:rPr lang="en-US" sz="2200" dirty="0"/>
                  <a:t>Sum of Squares of Samples:</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m:t>
                            </m:r>
                          </m:sup>
                        </m:sSup>
                      </m:e>
                      <m:sub>
                        <m:r>
                          <a:rPr lang="en-US" sz="2200" i="1">
                            <a:latin typeface="Cambria Math"/>
                            <a:ea typeface="Cambria Math"/>
                          </a:rPr>
                          <m:t>1</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(−5)</m:t>
                        </m:r>
                      </m:e>
                      <m:sup>
                        <m:r>
                          <a:rPr lang="en-US" sz="2200" i="1" dirty="0">
                            <a:latin typeface="Cambria Math"/>
                          </a:rPr>
                          <m:t>2</m:t>
                        </m:r>
                      </m:sup>
                    </m:sSup>
                    <m:r>
                      <a:rPr lang="en-US" sz="2200" dirty="0">
                        <a:latin typeface="Cambria Math"/>
                      </a:rPr>
                      <m:t> </m:t>
                    </m:r>
                  </m:oMath>
                </a14:m>
                <a:r>
                  <a:rPr lang="en-US" sz="2200" dirty="0"/>
                  <a:t>+0+</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6</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8</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1</m:t>
                        </m:r>
                      </m:e>
                      <m:sup>
                        <m:r>
                          <a:rPr lang="en-US" sz="2200" i="1" dirty="0">
                            <a:latin typeface="Cambria Math"/>
                          </a:rPr>
                          <m:t>2</m:t>
                        </m:r>
                      </m:sup>
                    </m:sSup>
                  </m:oMath>
                </a14:m>
                <a:r>
                  <a:rPr lang="en-US" sz="2200" dirty="0"/>
                  <a:t>=126</a:t>
                </a:r>
              </a:p>
              <a:p>
                <a:pPr marL="0" indent="0">
                  <a:buNone/>
                </a:pPr>
                <a:r>
                  <a:rPr lang="en-US" sz="2200" dirty="0"/>
                  <a:t>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m:t>
                            </m:r>
                          </m:sup>
                        </m:sSup>
                      </m:e>
                      <m:sub>
                        <m:r>
                          <a:rPr lang="en-US" sz="2200" i="1">
                            <a:latin typeface="Cambria Math"/>
                            <a:ea typeface="Cambria Math"/>
                          </a:rPr>
                          <m:t>2</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1</m:t>
                        </m:r>
                      </m:e>
                      <m:sup>
                        <m:r>
                          <a:rPr lang="en-US" sz="2200" i="1" dirty="0">
                            <a:latin typeface="Cambria Math"/>
                          </a:rPr>
                          <m:t>2</m:t>
                        </m:r>
                      </m:sup>
                    </m:sSup>
                    <m:r>
                      <a:rPr lang="en-US" sz="2200" dirty="0">
                        <a:latin typeface="Cambria Math"/>
                      </a:rPr>
                      <m:t> </m:t>
                    </m:r>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9</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8</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12</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5</m:t>
                        </m:r>
                      </m:e>
                      <m:sup>
                        <m:r>
                          <a:rPr lang="en-US" sz="2200" i="1" dirty="0">
                            <a:latin typeface="Cambria Math"/>
                          </a:rPr>
                          <m:t>2</m:t>
                        </m:r>
                      </m:sup>
                    </m:sSup>
                  </m:oMath>
                </a14:m>
                <a:r>
                  <a:rPr lang="en-US" sz="2200" dirty="0"/>
                  <a:t>=315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m:t>
                            </m:r>
                          </m:sup>
                        </m:sSup>
                      </m:e>
                      <m:sub>
                        <m:r>
                          <a:rPr lang="en-US" sz="2200" i="1">
                            <a:latin typeface="Cambria Math"/>
                            <a:ea typeface="Cambria Math"/>
                          </a:rPr>
                          <m:t>3</m:t>
                        </m:r>
                      </m:sub>
                    </m:sSub>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(−6)</m:t>
                        </m:r>
                      </m:e>
                      <m:sup>
                        <m:r>
                          <a:rPr lang="en-US" sz="2200" i="1" dirty="0">
                            <a:latin typeface="Cambria Math"/>
                          </a:rPr>
                          <m:t>2</m:t>
                        </m:r>
                      </m:sup>
                    </m:sSup>
                    <m:r>
                      <a:rPr lang="en-US" sz="2200" dirty="0">
                        <a:latin typeface="Cambria Math"/>
                      </a:rPr>
                      <m:t> </m:t>
                    </m:r>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i="1" dirty="0">
                            <a:latin typeface="Cambria Math"/>
                          </a:rPr>
                          <m:t>0</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dirty="0">
                            <a:latin typeface="Cambria Math"/>
                          </a:rPr>
                          <m:t>(−2)</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dirty="0">
                            <a:latin typeface="Cambria Math"/>
                          </a:rPr>
                          <m:t>(−5)</m:t>
                        </m:r>
                      </m:e>
                      <m:sup>
                        <m:r>
                          <a:rPr lang="en-US" sz="2200" i="1" dirty="0">
                            <a:latin typeface="Cambria Math"/>
                          </a:rPr>
                          <m:t>2</m:t>
                        </m:r>
                      </m:sup>
                    </m:sSup>
                  </m:oMath>
                </a14:m>
                <a:r>
                  <a:rPr lang="en-US" sz="2200" dirty="0"/>
                  <a:t>+</a:t>
                </a:r>
                <a14:m>
                  <m:oMath xmlns:m="http://schemas.openxmlformats.org/officeDocument/2006/math">
                    <m:sSup>
                      <m:sSupPr>
                        <m:ctrlPr>
                          <a:rPr lang="en-US" sz="2200" i="1" dirty="0">
                            <a:latin typeface="Cambria Math" panose="02040503050406030204" pitchFamily="18" charset="0"/>
                          </a:rPr>
                        </m:ctrlPr>
                      </m:sSupPr>
                      <m:e>
                        <m:r>
                          <a:rPr lang="en-US" sz="2200" dirty="0">
                            <a:latin typeface="Cambria Math"/>
                          </a:rPr>
                          <m:t>(−2)</m:t>
                        </m:r>
                      </m:e>
                      <m:sup>
                        <m:r>
                          <a:rPr lang="en-US" sz="2200" i="1" dirty="0">
                            <a:latin typeface="Cambria Math"/>
                          </a:rPr>
                          <m:t>2</m:t>
                        </m:r>
                      </m:sup>
                    </m:sSup>
                  </m:oMath>
                </a14:m>
                <a:r>
                  <a:rPr lang="en-US" sz="2200" dirty="0"/>
                  <a:t>=69</a:t>
                </a:r>
                <a14:m>
                  <m:oMath xmlns:m="http://schemas.openxmlformats.org/officeDocument/2006/math">
                    <m:r>
                      <a:rPr lang="en-US" sz="2200" i="1" dirty="0">
                        <a:latin typeface="Cambria Math"/>
                      </a:rPr>
                      <m:t> </m:t>
                    </m:r>
                  </m:oMath>
                </a14:m>
                <a:endParaRPr lang="en-US" sz="2200" dirty="0"/>
              </a:p>
              <a:p>
                <a:endParaRPr lang="en-US" sz="2200" dirty="0"/>
              </a:p>
              <a:p>
                <a:pPr marL="0" indent="0">
                  <a:buNone/>
                </a:pPr>
                <a:r>
                  <a:rPr lang="en-US" sz="2200" dirty="0"/>
                  <a:t>3.	Total Sum of Squares= </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m:t>
                            </m:r>
                          </m:sup>
                        </m:sSup>
                      </m:e>
                      <m:sub>
                        <m:r>
                          <a:rPr lang="en-US" sz="2200" i="1">
                            <a:latin typeface="Cambria Math"/>
                            <a:ea typeface="Cambria Math"/>
                          </a:rPr>
                          <m:t>1</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m:t>
                            </m:r>
                          </m:sup>
                        </m:sSup>
                      </m:e>
                      <m:sub>
                        <m:r>
                          <a:rPr lang="en-US" sz="2200" i="1">
                            <a:latin typeface="Cambria Math"/>
                            <a:ea typeface="Cambria Math"/>
                          </a:rPr>
                          <m:t>2</m:t>
                        </m:r>
                      </m:sub>
                    </m:sSub>
                  </m:oMath>
                </a14:m>
                <a:r>
                  <a:rPr lang="en-US" sz="2200" dirty="0"/>
                  <a:t>+</a:t>
                </a:r>
                <a14:m>
                  <m:oMath xmlns:m="http://schemas.openxmlformats.org/officeDocument/2006/math">
                    <m:r>
                      <a:rPr lang="en-US" sz="2200" i="1">
                        <a:latin typeface="Cambria Math"/>
                        <a:ea typeface="Cambria Math"/>
                      </a:rPr>
                      <m:t>∑</m:t>
                    </m:r>
                    <m:sSub>
                      <m:sSubPr>
                        <m:ctrlPr>
                          <a:rPr lang="en-US" sz="2200" i="1">
                            <a:latin typeface="Cambria Math" panose="02040503050406030204" pitchFamily="18" charset="0"/>
                            <a:ea typeface="Cambria Math"/>
                          </a:rPr>
                        </m:ctrlPr>
                      </m:sSubPr>
                      <m:e>
                        <m:sSup>
                          <m:sSupPr>
                            <m:ctrlPr>
                              <a:rPr lang="en-US" sz="2200" i="1">
                                <a:latin typeface="Cambria Math" panose="02040503050406030204" pitchFamily="18" charset="0"/>
                                <a:ea typeface="Cambria Math"/>
                              </a:rPr>
                            </m:ctrlPr>
                          </m:sSupPr>
                          <m:e>
                            <m:r>
                              <a:rPr lang="en-US" sz="2200" i="1">
                                <a:latin typeface="Cambria Math"/>
                                <a:ea typeface="Cambria Math"/>
                              </a:rPr>
                              <m:t>𝐴</m:t>
                            </m:r>
                          </m:e>
                          <m:sup>
                            <m:r>
                              <a:rPr lang="en-US" sz="2200" i="1">
                                <a:latin typeface="Cambria Math"/>
                                <a:ea typeface="Cambria Math"/>
                              </a:rPr>
                              <m:t>2 </m:t>
                            </m:r>
                          </m:sup>
                        </m:sSup>
                      </m:e>
                      <m:sub>
                        <m:r>
                          <a:rPr lang="en-US" sz="2200" i="1">
                            <a:latin typeface="Cambria Math"/>
                            <a:ea typeface="Cambria Math"/>
                          </a:rPr>
                          <m:t>3</m:t>
                        </m:r>
                      </m:sub>
                    </m:sSub>
                  </m:oMath>
                </a14:m>
                <a:r>
                  <a:rPr lang="en-US" sz="2200" dirty="0"/>
                  <a:t> - C.F</a:t>
                </a:r>
              </a:p>
              <a:p>
                <a:pPr marL="0" indent="0">
                  <a:buNone/>
                </a:pPr>
                <a:r>
                  <a:rPr lang="en-US" sz="2200" dirty="0"/>
                  <a:t>                             =126+315+69-60=450</a:t>
                </a:r>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7560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10"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latin typeface="+mj-lt"/>
                <a:ea typeface="Cambria" panose="02040503050406030204" pitchFamily="18" charset="0"/>
              </a:rPr>
              <a:t>Analysis of</a:t>
            </a:r>
            <a:r>
              <a:rPr lang="en-US" sz="2400" b="1" spc="-80" dirty="0">
                <a:latin typeface="+mj-lt"/>
                <a:ea typeface="Cambria" panose="02040503050406030204" pitchFamily="18" charset="0"/>
              </a:rPr>
              <a:t> </a:t>
            </a:r>
            <a:r>
              <a:rPr lang="en-US" sz="2400" b="1" spc="-45" dirty="0">
                <a:latin typeface="+mj-lt"/>
                <a:ea typeface="Cambria" panose="02040503050406030204" pitchFamily="18" charset="0"/>
              </a:rPr>
              <a:t>Variance  </a:t>
            </a:r>
            <a:r>
              <a:rPr lang="en-US" sz="2400" b="1" spc="-55" dirty="0">
                <a:latin typeface="+mj-lt"/>
                <a:ea typeface="Cambria" panose="02040503050406030204" pitchFamily="18" charset="0"/>
              </a:rPr>
              <a:t>(ANOVA)(</a:t>
            </a:r>
            <a:r>
              <a:rPr lang="en-US" sz="2400" b="1" dirty="0">
                <a:latin typeface="+mj-lt"/>
              </a:rPr>
              <a:t>CO5)</a:t>
            </a:r>
          </a:p>
        </p:txBody>
      </p:sp>
    </p:spTree>
    <p:extLst>
      <p:ext uri="{BB962C8B-B14F-4D97-AF65-F5344CB8AC3E}">
        <p14:creationId xmlns:p14="http://schemas.microsoft.com/office/powerpoint/2010/main" val="21838739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Sum of Squares between Samples</a:t>
                </a:r>
                <a:r>
                  <a:rPr lang="en-US" sz="2200" baseline="-25000" dirty="0"/>
                  <a:t> </a:t>
                </a:r>
              </a:p>
              <a:p>
                <a:pPr marL="0" indent="0">
                  <a:buNone/>
                </a:pPr>
                <a:r>
                  <a:rPr lang="en-US" sz="2200" dirty="0"/>
                  <a:t>=</a:t>
                </a:r>
                <a14:m>
                  <m:oMath xmlns:m="http://schemas.openxmlformats.org/officeDocument/2006/math">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1</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1</m:t>
                            </m:r>
                          </m:sub>
                        </m:sSub>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2</m:t>
                            </m:r>
                          </m:sub>
                        </m:sSub>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3</m:t>
                                </m:r>
                              </m:sub>
                            </m:sSub>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sSub>
                          <m:sSubPr>
                            <m:ctrlPr>
                              <a:rPr lang="en-US" sz="2200" i="1">
                                <a:latin typeface="Cambria Math" panose="02040503050406030204" pitchFamily="18" charset="0"/>
                              </a:rPr>
                            </m:ctrlPr>
                          </m:sSubPr>
                          <m:e>
                            <m:r>
                              <a:rPr lang="en-US" sz="2200" i="1">
                                <a:latin typeface="Cambria Math"/>
                              </a:rPr>
                              <m:t>𝑛</m:t>
                            </m:r>
                          </m:e>
                          <m:sub>
                            <m:r>
                              <a:rPr lang="en-US" sz="2200" i="1">
                                <a:latin typeface="Cambria Math"/>
                              </a:rPr>
                              <m:t>3</m:t>
                            </m:r>
                          </m:sub>
                        </m:sSub>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𝑇</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𝑛</m:t>
                        </m:r>
                      </m:den>
                    </m:f>
                  </m:oMath>
                </a14:m>
                <a:endParaRPr lang="en-US" sz="2200" dirty="0"/>
              </a:p>
              <a:p>
                <a:pPr marL="0" indent="0">
                  <a:buNone/>
                </a:pPr>
                <a:r>
                  <a:rPr lang="en-US" sz="2200" dirty="0"/>
                  <a:t>=</a:t>
                </a:r>
                <a14:m>
                  <m:oMath xmlns:m="http://schemas.openxmlformats.org/officeDocument/2006/math">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10</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35</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m:t>
                    </m:r>
                    <m:f>
                      <m:fPr>
                        <m:ctrlPr>
                          <a:rPr lang="en-US" sz="2200" i="1">
                            <a:latin typeface="Cambria Math" panose="02040503050406030204" pitchFamily="18" charset="0"/>
                          </a:rPr>
                        </m:ctrlPr>
                      </m:fPr>
                      <m:num>
                        <m:r>
                          <a:rPr lang="en-US" sz="2200" i="1">
                            <a:latin typeface="Cambria Math"/>
                          </a:rPr>
                          <m:t> </m:t>
                        </m:r>
                        <m:d>
                          <m:dPr>
                            <m:ctrlPr>
                              <a:rPr lang="en-US" sz="2200" i="1">
                                <a:latin typeface="Cambria Math" panose="02040503050406030204" pitchFamily="18" charset="0"/>
                              </a:rPr>
                            </m:ctrlPr>
                          </m:dPr>
                          <m:e>
                            <m:r>
                              <a:rPr lang="en-US" sz="2200" i="1">
                                <a:latin typeface="Cambria Math"/>
                              </a:rPr>
                              <m:t>−15</m:t>
                            </m:r>
                          </m:e>
                        </m:d>
                        <m:sSup>
                          <m:sSupPr>
                            <m:ctrlPr>
                              <a:rPr lang="en-US" sz="2200" i="1">
                                <a:latin typeface="Cambria Math" panose="02040503050406030204" pitchFamily="18" charset="0"/>
                              </a:rPr>
                            </m:ctrlPr>
                          </m:sSupPr>
                          <m:e>
                            <m:r>
                              <a:rPr lang="en-US" sz="2200" i="1">
                                <a:latin typeface="Cambria Math"/>
                              </a:rPr>
                              <m:t> </m:t>
                            </m:r>
                          </m:e>
                          <m:sup>
                            <m:r>
                              <a:rPr lang="en-US" sz="2200" i="1">
                                <a:latin typeface="Cambria Math"/>
                              </a:rPr>
                              <m:t>2</m:t>
                            </m:r>
                          </m:sup>
                        </m:sSup>
                      </m:num>
                      <m:den>
                        <m:r>
                          <a:rPr lang="en-US" sz="2200" i="1">
                            <a:latin typeface="Cambria Math"/>
                          </a:rPr>
                          <m:t>5</m:t>
                        </m:r>
                      </m:den>
                    </m:f>
                    <m:r>
                      <a:rPr lang="en-US" sz="2200">
                        <a:latin typeface="Cambria Math"/>
                      </a:rPr>
                      <m:t>−60</m:t>
                    </m:r>
                  </m:oMath>
                </a14:m>
                <a:endParaRPr lang="en-US" sz="2200" dirty="0"/>
              </a:p>
              <a:p>
                <a:pPr marL="0" indent="0">
                  <a:buNone/>
                </a:pPr>
                <a:r>
                  <a:rPr lang="en-US" sz="2200" dirty="0"/>
                  <a:t>= 250</a:t>
                </a:r>
              </a:p>
              <a:p>
                <a:pPr marL="0" indent="0">
                  <a:buNone/>
                </a:pPr>
                <a:r>
                  <a:rPr lang="en-US" sz="2200" dirty="0"/>
                  <a:t>Sum of squares with in the samples</a:t>
                </a:r>
              </a:p>
              <a:p>
                <a:pPr marL="0" indent="0">
                  <a:buNone/>
                </a:pPr>
                <a:r>
                  <a:rPr lang="en-US" sz="2200" dirty="0"/>
                  <a:t>= Total sum of squares – sum of squares between the samples</a:t>
                </a:r>
              </a:p>
              <a:p>
                <a:pPr marL="0" indent="0">
                  <a:buNone/>
                </a:pPr>
                <a:r>
                  <a:rPr lang="en-US" sz="2200" dirty="0"/>
                  <a:t>= 450-250</a:t>
                </a:r>
              </a:p>
              <a:p>
                <a:pPr marL="0" indent="0">
                  <a:buNone/>
                </a:pPr>
                <a:r>
                  <a:rPr lang="en-US" sz="2200" dirty="0"/>
                  <a:t>=200</a:t>
                </a:r>
              </a:p>
              <a:p>
                <a:pPr marL="0" indent="0">
                  <a:buNone/>
                </a:pPr>
                <a:r>
                  <a:rPr lang="en-US" sz="2200" dirty="0"/>
                  <a:t>Degree of freedom for total sum of squares =n-1=15-1=14</a:t>
                </a:r>
              </a:p>
              <a:p>
                <a:pPr marL="0" indent="0">
                  <a:buNone/>
                </a:pPr>
                <a:r>
                  <a:rPr lang="en-US" sz="2200" dirty="0"/>
                  <a:t>Degree of freedom for Machines=c-1 = 3-1=2</a:t>
                </a:r>
              </a:p>
              <a:p>
                <a:pPr marL="0" indent="0" algn="ctr">
                  <a:buNone/>
                </a:pPr>
                <a:endParaRPr lang="en-US" sz="2200" dirty="0"/>
              </a:p>
              <a:p>
                <a:pPr marL="0" indent="0" algn="ctr">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7425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dirty="0"/>
          </a:p>
        </p:txBody>
      </p:sp>
      <p:sp>
        <p:nvSpPr>
          <p:cNvPr id="2" name="Title 1">
            <a:extLst>
              <a:ext uri="{FF2B5EF4-FFF2-40B4-BE49-F238E27FC236}">
                <a16:creationId xmlns:a16="http://schemas.microsoft.com/office/drawing/2014/main" id="{D87AF4FE-DE34-A713-34C5-41AAEAD77488}"/>
              </a:ext>
            </a:extLst>
          </p:cNvPr>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latin typeface="+mj-lt"/>
                <a:ea typeface="Cambria" panose="02040503050406030204" pitchFamily="18" charset="0"/>
              </a:rPr>
              <a:t>Analysis of</a:t>
            </a:r>
            <a:r>
              <a:rPr lang="en-US" sz="2400" b="1" spc="-80" dirty="0">
                <a:latin typeface="+mj-lt"/>
                <a:ea typeface="Cambria" panose="02040503050406030204" pitchFamily="18" charset="0"/>
              </a:rPr>
              <a:t> </a:t>
            </a:r>
            <a:r>
              <a:rPr lang="en-US" sz="2400" b="1" spc="-45" dirty="0">
                <a:latin typeface="+mj-lt"/>
                <a:ea typeface="Cambria" panose="02040503050406030204" pitchFamily="18" charset="0"/>
              </a:rPr>
              <a:t>Variance  </a:t>
            </a:r>
            <a:r>
              <a:rPr lang="en-US" sz="2400" b="1" spc="-55" dirty="0">
                <a:latin typeface="+mj-lt"/>
                <a:ea typeface="Cambria" panose="02040503050406030204" pitchFamily="18" charset="0"/>
              </a:rPr>
              <a:t>(ANOVA)(</a:t>
            </a:r>
            <a:r>
              <a:rPr lang="en-US" sz="2400" b="1" dirty="0">
                <a:latin typeface="+mj-lt"/>
              </a:rPr>
              <a:t>CO5)</a:t>
            </a:r>
          </a:p>
        </p:txBody>
      </p:sp>
    </p:spTree>
    <p:extLst>
      <p:ext uri="{BB962C8B-B14F-4D97-AF65-F5344CB8AC3E}">
        <p14:creationId xmlns:p14="http://schemas.microsoft.com/office/powerpoint/2010/main" val="113937369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Degree of freedom for Error =n-c =15-3=12</a:t>
            </a:r>
          </a:p>
          <a:p>
            <a:pPr marL="0" indent="0" algn="ctr">
              <a:buNone/>
            </a:pPr>
            <a:r>
              <a:rPr lang="en-US" sz="2400" dirty="0"/>
              <a:t>ANOVA TABLE</a:t>
            </a:r>
          </a:p>
          <a:p>
            <a:pPr marL="0" indent="0" algn="ctr">
              <a:buNone/>
            </a:pPr>
            <a:endParaRPr lang="en-US" sz="2200" dirty="0"/>
          </a:p>
          <a:p>
            <a:pPr marL="0" indent="0" algn="ctr">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2" name="Title 1">
            <a:extLst>
              <a:ext uri="{FF2B5EF4-FFF2-40B4-BE49-F238E27FC236}">
                <a16:creationId xmlns:a16="http://schemas.microsoft.com/office/drawing/2014/main" id="{055B1C83-37A8-CF18-6432-F6ACD890163B}"/>
              </a:ext>
            </a:extLst>
          </p:cNvPr>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latin typeface="+mj-lt"/>
                <a:ea typeface="Cambria" panose="02040503050406030204" pitchFamily="18" charset="0"/>
              </a:rPr>
              <a:t>Analysis of</a:t>
            </a:r>
            <a:r>
              <a:rPr lang="en-US" sz="2400" b="1" spc="-80" dirty="0">
                <a:latin typeface="+mj-lt"/>
                <a:ea typeface="Cambria" panose="02040503050406030204" pitchFamily="18" charset="0"/>
              </a:rPr>
              <a:t> </a:t>
            </a:r>
            <a:r>
              <a:rPr lang="en-US" sz="2400" b="1" spc="-45" dirty="0">
                <a:latin typeface="+mj-lt"/>
                <a:ea typeface="Cambria" panose="02040503050406030204" pitchFamily="18" charset="0"/>
              </a:rPr>
              <a:t>Variance  </a:t>
            </a:r>
            <a:r>
              <a:rPr lang="en-US" sz="2400" b="1" spc="-55" dirty="0">
                <a:latin typeface="+mj-lt"/>
                <a:ea typeface="Cambria" panose="02040503050406030204" pitchFamily="18" charset="0"/>
              </a:rPr>
              <a:t>(ANOVA)(</a:t>
            </a:r>
            <a:r>
              <a:rPr lang="en-US" sz="2400" b="1" dirty="0">
                <a:latin typeface="+mj-lt"/>
              </a:rPr>
              <a:t>CO5)</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B4E9E147-38C9-47F3-95A5-AE1735CE9A4F}"/>
                  </a:ext>
                </a:extLst>
              </p:cNvPr>
              <p:cNvGraphicFramePr>
                <a:graphicFrameLocks noGrp="1"/>
              </p:cNvGraphicFramePr>
              <p:nvPr>
                <p:extLst>
                  <p:ext uri="{D42A27DB-BD31-4B8C-83A1-F6EECF244321}">
                    <p14:modId xmlns:p14="http://schemas.microsoft.com/office/powerpoint/2010/main" val="2664841317"/>
                  </p:ext>
                </p:extLst>
              </p:nvPr>
            </p:nvGraphicFramePr>
            <p:xfrm>
              <a:off x="838200" y="2133600"/>
              <a:ext cx="7543800" cy="3581401"/>
            </p:xfrm>
            <a:graphic>
              <a:graphicData uri="http://schemas.openxmlformats.org/drawingml/2006/table">
                <a:tbl>
                  <a:tblPr firstRow="1" bandRow="1">
                    <a:tableStyleId>{5C22544A-7EE6-4342-B048-85BDC9FD1C3A}</a:tableStyleId>
                  </a:tblPr>
                  <a:tblGrid>
                    <a:gridCol w="1154663">
                      <a:extLst>
                        <a:ext uri="{9D8B030D-6E8A-4147-A177-3AD203B41FA5}">
                          <a16:colId xmlns:a16="http://schemas.microsoft.com/office/drawing/2014/main" val="494074064"/>
                        </a:ext>
                      </a:extLst>
                    </a:gridCol>
                    <a:gridCol w="1231641">
                      <a:extLst>
                        <a:ext uri="{9D8B030D-6E8A-4147-A177-3AD203B41FA5}">
                          <a16:colId xmlns:a16="http://schemas.microsoft.com/office/drawing/2014/main" val="2737903429"/>
                        </a:ext>
                      </a:extLst>
                    </a:gridCol>
                    <a:gridCol w="1154663">
                      <a:extLst>
                        <a:ext uri="{9D8B030D-6E8A-4147-A177-3AD203B41FA5}">
                          <a16:colId xmlns:a16="http://schemas.microsoft.com/office/drawing/2014/main" val="3441708766"/>
                        </a:ext>
                      </a:extLst>
                    </a:gridCol>
                    <a:gridCol w="2494073">
                      <a:extLst>
                        <a:ext uri="{9D8B030D-6E8A-4147-A177-3AD203B41FA5}">
                          <a16:colId xmlns:a16="http://schemas.microsoft.com/office/drawing/2014/main" val="320772787"/>
                        </a:ext>
                      </a:extLst>
                    </a:gridCol>
                    <a:gridCol w="1508760">
                      <a:extLst>
                        <a:ext uri="{9D8B030D-6E8A-4147-A177-3AD203B41FA5}">
                          <a16:colId xmlns:a16="http://schemas.microsoft.com/office/drawing/2014/main" val="4272899118"/>
                        </a:ext>
                      </a:extLst>
                    </a:gridCol>
                  </a:tblGrid>
                  <a:tr h="807257">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1153224">
                    <a:tc>
                      <a:txBody>
                        <a:bodyPr/>
                        <a:lstStyle/>
                        <a:p>
                          <a:r>
                            <a:rPr lang="en-US" dirty="0"/>
                            <a:t>Between Samples (Column)</a:t>
                          </a:r>
                        </a:p>
                      </a:txBody>
                      <a:tcPr/>
                    </a:tc>
                    <a:tc>
                      <a:txBody>
                        <a:bodyPr/>
                        <a:lstStyle/>
                        <a:p>
                          <a:r>
                            <a:rPr lang="en-US" dirty="0"/>
                            <a:t>250 (SSC)</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𝑀𝑆𝐶</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𝑆𝑆𝐶</m:t>
                                    </m:r>
                                  </m:num>
                                  <m:den>
                                    <m:r>
                                      <a:rPr lang="en-US" b="0" i="1" smtClean="0">
                                        <a:latin typeface="Cambria Math" panose="02040503050406030204" pitchFamily="18" charset="0"/>
                                      </a:rPr>
                                      <m:t>𝑐</m:t>
                                    </m:r>
                                    <m:r>
                                      <a:rPr lang="en-US" b="0" i="1" smtClean="0">
                                        <a:latin typeface="Cambria Math" panose="02040503050406030204" pitchFamily="18" charset="0"/>
                                      </a:rPr>
                                      <m:t>−1</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250</m:t>
                                    </m:r>
                                  </m:num>
                                  <m:den>
                                    <m:r>
                                      <a:rPr lang="en-US" b="0" i="1" smtClean="0">
                                        <a:latin typeface="Cambria Math" panose="02040503050406030204" pitchFamily="18" charset="0"/>
                                      </a:rPr>
                                      <m:t>2</m:t>
                                    </m:r>
                                  </m:den>
                                </m:f>
                                <m:r>
                                  <a:rPr lang="en-US" b="0" i="1" smtClean="0">
                                    <a:latin typeface="Cambria Math" panose="02040503050406030204" pitchFamily="18" charset="0"/>
                                  </a:rPr>
                                  <m:t>=125</m:t>
                                </m:r>
                              </m:oMath>
                            </m:oMathPara>
                          </a14:m>
                          <a:endParaRPr lang="en-US" dirty="0"/>
                        </a:p>
                      </a:txBody>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𝐹</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𝑀𝑆𝐶</m:t>
                                    </m:r>
                                  </m:num>
                                  <m:den>
                                    <m:r>
                                      <a:rPr lang="en-US" b="0" i="1" smtClean="0">
                                        <a:latin typeface="Cambria Math" panose="02040503050406030204" pitchFamily="18" charset="0"/>
                                      </a:rPr>
                                      <m:t>𝑀𝑆𝐸</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125</m:t>
                                    </m:r>
                                  </m:num>
                                  <m:den>
                                    <m:r>
                                      <a:rPr lang="en-US" b="0" i="1" smtClean="0">
                                        <a:latin typeface="Cambria Math" panose="02040503050406030204" pitchFamily="18" charset="0"/>
                                      </a:rPr>
                                      <m:t>16.67</m:t>
                                    </m:r>
                                  </m:den>
                                </m:f>
                                <m:r>
                                  <a:rPr lang="en-US" b="0" i="1" smtClean="0">
                                    <a:latin typeface="Cambria Math" panose="02040503050406030204" pitchFamily="18" charset="0"/>
                                  </a:rPr>
                                  <m:t>=7.498</m:t>
                                </m:r>
                              </m:oMath>
                            </m:oMathPara>
                          </a14:m>
                          <a:endParaRPr lang="en-US" dirty="0"/>
                        </a:p>
                        <a:p>
                          <a:pPr algn="ctr"/>
                          <a:endParaRPr lang="en-US" dirty="0">
                            <a:noFill/>
                          </a:endParaRPr>
                        </a:p>
                      </a:txBody>
                      <a:tcPr anchor="ctr"/>
                    </a:tc>
                    <a:extLst>
                      <a:ext uri="{0D108BD9-81ED-4DB2-BD59-A6C34878D82A}">
                        <a16:rowId xmlns:a16="http://schemas.microsoft.com/office/drawing/2014/main" val="2106153883"/>
                      </a:ext>
                    </a:extLst>
                  </a:tr>
                  <a:tr h="1153224">
                    <a:tc>
                      <a:txBody>
                        <a:bodyPr/>
                        <a:lstStyle/>
                        <a:p>
                          <a:r>
                            <a:rPr lang="en-US" dirty="0"/>
                            <a:t>With in Samples (Error)</a:t>
                          </a:r>
                        </a:p>
                      </a:txBody>
                      <a:tcPr/>
                    </a:tc>
                    <a:tc>
                      <a:txBody>
                        <a:bodyPr/>
                        <a:lstStyle/>
                        <a:p>
                          <a:r>
                            <a:rPr lang="en-US" dirty="0"/>
                            <a:t>200 (SSE)</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𝑀𝑆𝐸</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𝑆𝑆𝐸</m:t>
                                    </m:r>
                                  </m:num>
                                  <m:den>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𝑐</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200</m:t>
                                    </m:r>
                                  </m:num>
                                  <m:den>
                                    <m:r>
                                      <a:rPr lang="en-US" b="0" i="1" smtClean="0">
                                        <a:latin typeface="Cambria Math" panose="02040503050406030204" pitchFamily="18" charset="0"/>
                                      </a:rPr>
                                      <m:t>12</m:t>
                                    </m:r>
                                  </m:den>
                                </m:f>
                                <m:r>
                                  <a:rPr lang="en-US" b="0" i="1" smtClean="0">
                                    <a:latin typeface="Cambria Math" panose="02040503050406030204" pitchFamily="18" charset="0"/>
                                  </a:rPr>
                                  <m:t>=16.67</m:t>
                                </m:r>
                              </m:oMath>
                            </m:oMathPara>
                          </a14:m>
                          <a:endParaRPr lang="en-US" dirty="0"/>
                        </a:p>
                      </a:txBody>
                      <a:tcPr/>
                    </a:tc>
                    <a:tc vMerge="1">
                      <a:txBody>
                        <a:bodyPr/>
                        <a:lstStyle/>
                        <a:p>
                          <a:endParaRPr lang="en-US" dirty="0"/>
                        </a:p>
                      </a:txBody>
                      <a:tcPr/>
                    </a:tc>
                    <a:extLst>
                      <a:ext uri="{0D108BD9-81ED-4DB2-BD59-A6C34878D82A}">
                        <a16:rowId xmlns:a16="http://schemas.microsoft.com/office/drawing/2014/main" val="2034288241"/>
                      </a:ext>
                    </a:extLst>
                  </a:tr>
                  <a:tr h="467696">
                    <a:tc>
                      <a:txBody>
                        <a:bodyPr/>
                        <a:lstStyle/>
                        <a:p>
                          <a:r>
                            <a:rPr lang="en-US" dirty="0"/>
                            <a:t>Total</a:t>
                          </a:r>
                        </a:p>
                      </a:txBody>
                      <a:tcPr/>
                    </a:tc>
                    <a:tc>
                      <a:txBody>
                        <a:bodyPr/>
                        <a:lstStyle/>
                        <a:p>
                          <a:r>
                            <a:rPr lang="en-US" dirty="0"/>
                            <a:t>450 (SST)</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14</m:t>
                                </m:r>
                              </m:oMath>
                            </m:oMathPara>
                          </a14:m>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Choice>
        <mc:Fallback xmlns="">
          <p:graphicFrame>
            <p:nvGraphicFramePr>
              <p:cNvPr id="7" name="Table 6">
                <a:extLst>
                  <a:ext uri="{FF2B5EF4-FFF2-40B4-BE49-F238E27FC236}">
                    <a16:creationId xmlns:a16="http://schemas.microsoft.com/office/drawing/2014/main" id="{B4E9E147-38C9-47F3-95A5-AE1735CE9A4F}"/>
                  </a:ext>
                </a:extLst>
              </p:cNvPr>
              <p:cNvGraphicFramePr>
                <a:graphicFrameLocks noGrp="1"/>
              </p:cNvGraphicFramePr>
              <p:nvPr>
                <p:extLst>
                  <p:ext uri="{D42A27DB-BD31-4B8C-83A1-F6EECF244321}">
                    <p14:modId xmlns:p14="http://schemas.microsoft.com/office/powerpoint/2010/main" val="2664841317"/>
                  </p:ext>
                </p:extLst>
              </p:nvPr>
            </p:nvGraphicFramePr>
            <p:xfrm>
              <a:off x="838200" y="2133600"/>
              <a:ext cx="7543800" cy="3581401"/>
            </p:xfrm>
            <a:graphic>
              <a:graphicData uri="http://schemas.openxmlformats.org/drawingml/2006/table">
                <a:tbl>
                  <a:tblPr firstRow="1" bandRow="1">
                    <a:tableStyleId>{5C22544A-7EE6-4342-B048-85BDC9FD1C3A}</a:tableStyleId>
                  </a:tblPr>
                  <a:tblGrid>
                    <a:gridCol w="1154663">
                      <a:extLst>
                        <a:ext uri="{9D8B030D-6E8A-4147-A177-3AD203B41FA5}">
                          <a16:colId xmlns:a16="http://schemas.microsoft.com/office/drawing/2014/main" val="494074064"/>
                        </a:ext>
                      </a:extLst>
                    </a:gridCol>
                    <a:gridCol w="1231641">
                      <a:extLst>
                        <a:ext uri="{9D8B030D-6E8A-4147-A177-3AD203B41FA5}">
                          <a16:colId xmlns:a16="http://schemas.microsoft.com/office/drawing/2014/main" val="2737903429"/>
                        </a:ext>
                      </a:extLst>
                    </a:gridCol>
                    <a:gridCol w="1154663">
                      <a:extLst>
                        <a:ext uri="{9D8B030D-6E8A-4147-A177-3AD203B41FA5}">
                          <a16:colId xmlns:a16="http://schemas.microsoft.com/office/drawing/2014/main" val="3441708766"/>
                        </a:ext>
                      </a:extLst>
                    </a:gridCol>
                    <a:gridCol w="2494073">
                      <a:extLst>
                        <a:ext uri="{9D8B030D-6E8A-4147-A177-3AD203B41FA5}">
                          <a16:colId xmlns:a16="http://schemas.microsoft.com/office/drawing/2014/main" val="320772787"/>
                        </a:ext>
                      </a:extLst>
                    </a:gridCol>
                    <a:gridCol w="1508760">
                      <a:extLst>
                        <a:ext uri="{9D8B030D-6E8A-4147-A177-3AD203B41FA5}">
                          <a16:colId xmlns:a16="http://schemas.microsoft.com/office/drawing/2014/main" val="4272899118"/>
                        </a:ext>
                      </a:extLst>
                    </a:gridCol>
                  </a:tblGrid>
                  <a:tr h="807257">
                    <a:tc>
                      <a:txBody>
                        <a:bodyPr/>
                        <a:lstStyle/>
                        <a:p>
                          <a:r>
                            <a:rPr lang="en-US" dirty="0"/>
                            <a:t>Source of Variation</a:t>
                          </a:r>
                        </a:p>
                      </a:txBody>
                      <a:tcPr/>
                    </a:tc>
                    <a:tc>
                      <a:txBody>
                        <a:bodyPr/>
                        <a:lstStyle/>
                        <a:p>
                          <a:r>
                            <a:rPr lang="en-US" dirty="0"/>
                            <a:t>Sum of Squared</a:t>
                          </a:r>
                        </a:p>
                      </a:txBody>
                      <a:tcPr/>
                    </a:tc>
                    <a:tc>
                      <a:txBody>
                        <a:bodyPr/>
                        <a:lstStyle/>
                        <a:p>
                          <a:r>
                            <a:rPr lang="en-US" dirty="0"/>
                            <a:t>Degree of Freedom</a:t>
                          </a:r>
                        </a:p>
                      </a:txBody>
                      <a:tcPr/>
                    </a:tc>
                    <a:tc>
                      <a:txBody>
                        <a:bodyPr/>
                        <a:lstStyle/>
                        <a:p>
                          <a:r>
                            <a:rPr lang="en-US" dirty="0"/>
                            <a:t>Mean Sum of Squares</a:t>
                          </a:r>
                        </a:p>
                      </a:txBody>
                      <a:tcPr/>
                    </a:tc>
                    <a:tc>
                      <a:txBody>
                        <a:bodyPr/>
                        <a:lstStyle/>
                        <a:p>
                          <a:r>
                            <a:rPr lang="en-US" dirty="0"/>
                            <a:t>Variance Ratio OR F</a:t>
                          </a:r>
                        </a:p>
                      </a:txBody>
                      <a:tcPr/>
                    </a:tc>
                    <a:extLst>
                      <a:ext uri="{0D108BD9-81ED-4DB2-BD59-A6C34878D82A}">
                        <a16:rowId xmlns:a16="http://schemas.microsoft.com/office/drawing/2014/main" val="577726410"/>
                      </a:ext>
                    </a:extLst>
                  </a:tr>
                  <a:tr h="1153224">
                    <a:tc>
                      <a:txBody>
                        <a:bodyPr/>
                        <a:lstStyle/>
                        <a:p>
                          <a:r>
                            <a:rPr lang="en-US" dirty="0"/>
                            <a:t>Between Samples (Column)</a:t>
                          </a:r>
                        </a:p>
                      </a:txBody>
                      <a:tcPr/>
                    </a:tc>
                    <a:tc>
                      <a:txBody>
                        <a:bodyPr/>
                        <a:lstStyle/>
                        <a:p>
                          <a:r>
                            <a:rPr lang="en-US" dirty="0"/>
                            <a:t>250 (SSC)</a:t>
                          </a:r>
                        </a:p>
                      </a:txBody>
                      <a:tcPr/>
                    </a:tc>
                    <a:tc>
                      <a:txBody>
                        <a:bodyPr/>
                        <a:lstStyle/>
                        <a:p>
                          <a:endParaRPr lang="en-US"/>
                        </a:p>
                      </a:txBody>
                      <a:tcPr>
                        <a:blipFill>
                          <a:blip r:embed="rId2"/>
                          <a:stretch>
                            <a:fillRect l="-207937" t="-73016" r="-350265" b="-141799"/>
                          </a:stretch>
                        </a:blipFill>
                      </a:tcPr>
                    </a:tc>
                    <a:tc>
                      <a:txBody>
                        <a:bodyPr/>
                        <a:lstStyle/>
                        <a:p>
                          <a:endParaRPr lang="en-US"/>
                        </a:p>
                      </a:txBody>
                      <a:tcPr>
                        <a:blipFill>
                          <a:blip r:embed="rId2"/>
                          <a:stretch>
                            <a:fillRect l="-142298" t="-73016" r="-61858" b="-141799"/>
                          </a:stretch>
                        </a:blipFill>
                      </a:tcPr>
                    </a:tc>
                    <a:tc rowSpan="2">
                      <a:txBody>
                        <a:bodyPr/>
                        <a:lstStyle/>
                        <a:p>
                          <a:endParaRPr lang="en-US"/>
                        </a:p>
                      </a:txBody>
                      <a:tcPr anchor="ctr">
                        <a:blipFill>
                          <a:blip r:embed="rId2"/>
                          <a:stretch>
                            <a:fillRect l="-399597" t="-36508" r="-2016" b="-20899"/>
                          </a:stretch>
                        </a:blipFill>
                      </a:tcPr>
                    </a:tc>
                    <a:extLst>
                      <a:ext uri="{0D108BD9-81ED-4DB2-BD59-A6C34878D82A}">
                        <a16:rowId xmlns:a16="http://schemas.microsoft.com/office/drawing/2014/main" val="2106153883"/>
                      </a:ext>
                    </a:extLst>
                  </a:tr>
                  <a:tr h="1153224">
                    <a:tc>
                      <a:txBody>
                        <a:bodyPr/>
                        <a:lstStyle/>
                        <a:p>
                          <a:r>
                            <a:rPr lang="en-US" dirty="0"/>
                            <a:t>With in Samples (Error)</a:t>
                          </a:r>
                        </a:p>
                      </a:txBody>
                      <a:tcPr/>
                    </a:tc>
                    <a:tc>
                      <a:txBody>
                        <a:bodyPr/>
                        <a:lstStyle/>
                        <a:p>
                          <a:r>
                            <a:rPr lang="en-US" dirty="0"/>
                            <a:t>200 (SSE)</a:t>
                          </a:r>
                        </a:p>
                      </a:txBody>
                      <a:tcPr/>
                    </a:tc>
                    <a:tc>
                      <a:txBody>
                        <a:bodyPr/>
                        <a:lstStyle/>
                        <a:p>
                          <a:endParaRPr lang="en-US"/>
                        </a:p>
                      </a:txBody>
                      <a:tcPr>
                        <a:blipFill>
                          <a:blip r:embed="rId2"/>
                          <a:stretch>
                            <a:fillRect l="-207937" t="-173016" r="-350265" b="-41799"/>
                          </a:stretch>
                        </a:blipFill>
                      </a:tcPr>
                    </a:tc>
                    <a:tc>
                      <a:txBody>
                        <a:bodyPr/>
                        <a:lstStyle/>
                        <a:p>
                          <a:endParaRPr lang="en-US"/>
                        </a:p>
                      </a:txBody>
                      <a:tcPr>
                        <a:blipFill>
                          <a:blip r:embed="rId2"/>
                          <a:stretch>
                            <a:fillRect l="-142298" t="-173016" r="-61858" b="-41799"/>
                          </a:stretch>
                        </a:blipFill>
                      </a:tcPr>
                    </a:tc>
                    <a:tc vMerge="1">
                      <a:txBody>
                        <a:bodyPr/>
                        <a:lstStyle/>
                        <a:p>
                          <a:endParaRPr lang="en-US" dirty="0"/>
                        </a:p>
                      </a:txBody>
                      <a:tcPr/>
                    </a:tc>
                    <a:extLst>
                      <a:ext uri="{0D108BD9-81ED-4DB2-BD59-A6C34878D82A}">
                        <a16:rowId xmlns:a16="http://schemas.microsoft.com/office/drawing/2014/main" val="2034288241"/>
                      </a:ext>
                    </a:extLst>
                  </a:tr>
                  <a:tr h="467696">
                    <a:tc>
                      <a:txBody>
                        <a:bodyPr/>
                        <a:lstStyle/>
                        <a:p>
                          <a:r>
                            <a:rPr lang="en-US" dirty="0"/>
                            <a:t>Total</a:t>
                          </a:r>
                        </a:p>
                      </a:txBody>
                      <a:tcPr/>
                    </a:tc>
                    <a:tc>
                      <a:txBody>
                        <a:bodyPr/>
                        <a:lstStyle/>
                        <a:p>
                          <a:r>
                            <a:rPr lang="en-US" dirty="0"/>
                            <a:t>450 (SST)</a:t>
                          </a:r>
                        </a:p>
                      </a:txBody>
                      <a:tcPr/>
                    </a:tc>
                    <a:tc>
                      <a:txBody>
                        <a:bodyPr/>
                        <a:lstStyle/>
                        <a:p>
                          <a:endParaRPr lang="en-US"/>
                        </a:p>
                      </a:txBody>
                      <a:tcPr>
                        <a:blipFill>
                          <a:blip r:embed="rId2"/>
                          <a:stretch>
                            <a:fillRect l="-207937" t="-670130" r="-350265" b="-2597"/>
                          </a:stretch>
                        </a:blipFill>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885858465"/>
                      </a:ext>
                    </a:extLst>
                  </a:tr>
                </a:tbl>
              </a:graphicData>
            </a:graphic>
          </p:graphicFrame>
        </mc:Fallback>
      </mc:AlternateContent>
    </p:spTree>
    <p:extLst>
      <p:ext uri="{BB962C8B-B14F-4D97-AF65-F5344CB8AC3E}">
        <p14:creationId xmlns:p14="http://schemas.microsoft.com/office/powerpoint/2010/main" val="232558415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The tabular value of F at 5 % level of significance with degree of freedom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𝜈</m:t>
                        </m:r>
                      </m:e>
                      <m:sub>
                        <m:r>
                          <a:rPr lang="en-US" sz="2200" i="1">
                            <a:latin typeface="Cambria Math"/>
                          </a:rPr>
                          <m:t>1</m:t>
                        </m:r>
                      </m:sub>
                    </m:sSub>
                  </m:oMath>
                </a14:m>
                <a:r>
                  <a:rPr lang="en-US" sz="2200" dirty="0"/>
                  <a:t>=2 &amp;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ea typeface="Cambria Math"/>
                          </a:rPr>
                          <m:t>𝜈</m:t>
                        </m:r>
                      </m:e>
                      <m:sub>
                        <m:r>
                          <a:rPr lang="en-US" sz="2200" i="1">
                            <a:latin typeface="Cambria Math"/>
                            <a:ea typeface="Cambria Math"/>
                          </a:rPr>
                          <m:t>2</m:t>
                        </m:r>
                      </m:sub>
                    </m:sSub>
                    <m:r>
                      <a:rPr lang="en-US" sz="2200" i="1">
                        <a:latin typeface="Cambria Math"/>
                      </a:rPr>
                      <m:t>=12 </m:t>
                    </m:r>
                    <m:r>
                      <a:rPr lang="en-US" sz="2200" i="1">
                        <a:latin typeface="Cambria Math"/>
                      </a:rPr>
                      <m:t>𝑖𝑠</m:t>
                    </m:r>
                    <m:r>
                      <a:rPr lang="en-US" sz="2200" i="1">
                        <a:latin typeface="Cambria Math"/>
                      </a:rPr>
                      <m:t> 3.89</m:t>
                    </m:r>
                  </m:oMath>
                </a14:m>
                <a:r>
                  <a:rPr lang="en-US" sz="2200" dirty="0"/>
                  <a:t>(given)</a:t>
                </a:r>
              </a:p>
              <a:p>
                <a:pPr marL="0" indent="0">
                  <a:buNone/>
                </a:pPr>
                <a:r>
                  <a:rPr lang="en-US" sz="2200" b="1" dirty="0"/>
                  <a:t>Conclusion: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𝐹</m:t>
                        </m:r>
                      </m:e>
                      <m:sub>
                        <m:r>
                          <a:rPr lang="en-US" sz="2200" i="1">
                            <a:latin typeface="Cambria Math"/>
                            <a:ea typeface="Cambria Math"/>
                          </a:rPr>
                          <m:t>𝑐𝑎𝑙</m:t>
                        </m:r>
                      </m:sub>
                    </m:sSub>
                    <m:r>
                      <a:rPr lang="en-US" sz="2200" i="1">
                        <a:latin typeface="Cambria Math"/>
                      </a:rPr>
                      <m:t>&gt;</m:t>
                    </m:r>
                    <m:sSub>
                      <m:sSubPr>
                        <m:ctrlPr>
                          <a:rPr lang="en-US" sz="2200" i="1">
                            <a:latin typeface="Cambria Math" panose="02040503050406030204" pitchFamily="18" charset="0"/>
                          </a:rPr>
                        </m:ctrlPr>
                      </m:sSubPr>
                      <m:e>
                        <m:r>
                          <a:rPr lang="en-US" sz="2200" i="1">
                            <a:latin typeface="Cambria Math"/>
                          </a:rPr>
                          <m:t>𝐹</m:t>
                        </m:r>
                      </m:e>
                      <m:sub>
                        <m:r>
                          <a:rPr lang="en-US" sz="2200" i="1">
                            <a:latin typeface="Cambria Math"/>
                          </a:rPr>
                          <m:t>𝑡</m:t>
                        </m:r>
                        <m:r>
                          <a:rPr lang="en-US" sz="2200" i="1">
                            <a:latin typeface="Cambria Math"/>
                            <a:ea typeface="Cambria Math"/>
                          </a:rPr>
                          <m:t>𝑎𝑏</m:t>
                        </m:r>
                      </m:sub>
                    </m:sSub>
                    <m:r>
                      <a:rPr lang="en-US" sz="2200" i="1">
                        <a:latin typeface="Cambria Math"/>
                        <a:ea typeface="Cambria Math"/>
                      </a:rPr>
                      <m:t>, </m:t>
                    </m:r>
                  </m:oMath>
                </a14:m>
                <a:r>
                  <a:rPr lang="en-US" sz="2200" dirty="0"/>
                  <a:t> so the null hypothesis is rejected and the difference is significant and we conclude that there is significant difference in the mean  speed of the machines.</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spc="-5" dirty="0">
                <a:latin typeface="+mj-lt"/>
                <a:ea typeface="Cambria" panose="02040503050406030204" pitchFamily="18" charset="0"/>
              </a:rPr>
              <a:t>Analysis of</a:t>
            </a:r>
            <a:r>
              <a:rPr lang="en-US" sz="2400" b="1" spc="-80" dirty="0">
                <a:latin typeface="+mj-lt"/>
                <a:ea typeface="Cambria" panose="02040503050406030204" pitchFamily="18" charset="0"/>
              </a:rPr>
              <a:t> </a:t>
            </a:r>
            <a:r>
              <a:rPr lang="en-US" sz="2400" b="1" spc="-45" dirty="0">
                <a:latin typeface="+mj-lt"/>
                <a:ea typeface="Cambria" panose="02040503050406030204" pitchFamily="18" charset="0"/>
              </a:rPr>
              <a:t>Variance  </a:t>
            </a:r>
            <a:r>
              <a:rPr lang="en-US" sz="2400" b="1" spc="-55" dirty="0">
                <a:latin typeface="+mj-lt"/>
                <a:ea typeface="Cambria" panose="02040503050406030204" pitchFamily="18" charset="0"/>
              </a:rPr>
              <a:t>(ANOVA)(</a:t>
            </a:r>
            <a:r>
              <a:rPr lang="en-US" sz="2400" b="1" dirty="0">
                <a:latin typeface="+mj-lt"/>
              </a:rPr>
              <a:t>CO5)</a:t>
            </a:r>
          </a:p>
        </p:txBody>
      </p:sp>
    </p:spTree>
    <p:extLst>
      <p:ext uri="{BB962C8B-B14F-4D97-AF65-F5344CB8AC3E}">
        <p14:creationId xmlns:p14="http://schemas.microsoft.com/office/powerpoint/2010/main" val="343202234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ü"/>
                </a:pPr>
                <a:r>
                  <a:rPr lang="en-US" sz="2200" dirty="0"/>
                  <a:t>Test of hypothesis</a:t>
                </a:r>
              </a:p>
              <a:p>
                <a:pPr>
                  <a:buFont typeface="Wingdings" pitchFamily="2" charset="2"/>
                  <a:buChar char="ü"/>
                </a:pPr>
                <a:r>
                  <a:rPr lang="en-US" sz="2200" dirty="0"/>
                  <a:t>Test of hypothesis about difference between two population mean</a:t>
                </a:r>
              </a:p>
              <a:p>
                <a:pPr>
                  <a:buFont typeface="Wingdings" pitchFamily="2" charset="2"/>
                  <a:buChar char="ü"/>
                </a:pPr>
                <a:r>
                  <a:rPr lang="en-US" sz="2200" dirty="0">
                    <a:latin typeface="Times New Roman" pitchFamily="18" charset="0"/>
                    <a:cs typeface="Times New Roman" pitchFamily="18" charset="0"/>
                  </a:rPr>
                  <a:t>To test the significance of the difference between the mean of two small samples.</a:t>
                </a:r>
              </a:p>
              <a:p>
                <a:pPr>
                  <a:buFont typeface="Wingdings" pitchFamily="2" charset="2"/>
                  <a:buChar char="ü"/>
                </a:pP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2</m:t>
                        </m:r>
                      </m:sup>
                    </m:sSup>
                  </m:oMath>
                </a14:m>
                <a:r>
                  <a:rPr lang="en-US" sz="2200" dirty="0"/>
                  <a:t> test</a:t>
                </a:r>
              </a:p>
              <a:p>
                <a:pPr>
                  <a:buFont typeface="Wingdings" pitchFamily="2" charset="2"/>
                  <a:buChar char="ü"/>
                </a:pPr>
                <a:r>
                  <a:rPr lang="en-US" sz="2200" dirty="0" err="1">
                    <a:latin typeface="Times New Roman" pitchFamily="18" charset="0"/>
                    <a:cs typeface="Times New Roman" pitchFamily="18" charset="0"/>
                  </a:rPr>
                  <a:t>Anova</a:t>
                </a:r>
                <a:endParaRPr lang="en-US" sz="2200" dirty="0">
                  <a:latin typeface="Times New Roman" pitchFamily="18" charset="0"/>
                  <a:cs typeface="Times New Roman" pitchFamily="18" charset="0"/>
                </a:endParaRPr>
              </a:p>
              <a:p>
                <a:pPr>
                  <a:buFont typeface="Wingdings" pitchFamily="2" charset="2"/>
                  <a:buChar char="ü"/>
                </a:pPr>
                <a:endParaRPr lang="en-US" sz="2200" dirty="0"/>
              </a:p>
              <a:p>
                <a:pPr>
                  <a:buFont typeface="Wingdings" pitchFamily="2" charset="2"/>
                  <a:buChar char="ü"/>
                </a:pPr>
                <a:endParaRPr lang="en-US" sz="2200" dirty="0"/>
              </a:p>
              <a:p>
                <a:pPr>
                  <a:buFont typeface="Wingdings" pitchFamily="2" charset="2"/>
                  <a:buChar char="ü"/>
                </a:pPr>
                <a:endParaRPr lang="en-US" sz="2200" dirty="0"/>
              </a:p>
              <a:p>
                <a:pPr>
                  <a:buFont typeface="Wingdings" pitchFamily="2" charset="2"/>
                  <a:buChar char="ü"/>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815"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Recap(CO5)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180505297"/>
      </p:ext>
    </p:extLst>
  </p:cSld>
  <p:clrMapOvr>
    <a:masterClrMapping/>
  </p:clrMapOvr>
  <p:transition spd="slow">
    <p:push dir="u"/>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Control Charts</a:t>
            </a:r>
            <a:endParaRPr lang="en-US" sz="2200" dirty="0"/>
          </a:p>
          <a:p>
            <a:r>
              <a:rPr lang="en-US" sz="2200" dirty="0"/>
              <a:t>That process variable can be plotted on a </a:t>
            </a:r>
            <a:r>
              <a:rPr lang="en-US" sz="2200" b="1" dirty="0"/>
              <a:t>control chart</a:t>
            </a:r>
            <a:r>
              <a:rPr lang="en-US" sz="2200" dirty="0"/>
              <a:t> over time. The </a:t>
            </a:r>
            <a:r>
              <a:rPr lang="en-US" sz="2200" b="1" dirty="0"/>
              <a:t>objective</a:t>
            </a:r>
            <a:r>
              <a:rPr lang="en-US" sz="2200" dirty="0"/>
              <a:t> of the </a:t>
            </a:r>
            <a:r>
              <a:rPr lang="en-US" sz="2200" b="1" dirty="0"/>
              <a:t>control chart</a:t>
            </a:r>
            <a:r>
              <a:rPr lang="en-US" sz="2200" dirty="0"/>
              <a:t> is to find any "special" causes of variation as well as to reflect the process improvements that have been made.</a:t>
            </a:r>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Topic objective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4466263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Statistical Quality Control (SQC)</a:t>
            </a:r>
          </a:p>
          <a:p>
            <a:pPr marL="0" indent="0" algn="just">
              <a:buNone/>
            </a:pPr>
            <a:r>
              <a:rPr lang="en-US" sz="2200" dirty="0"/>
              <a:t>SQC refers to the use of statistical methods to monitoring &amp; maintaining the quality of product &amp; services.</a:t>
            </a:r>
          </a:p>
          <a:p>
            <a:pPr marL="0" indent="0" algn="just">
              <a:buNone/>
            </a:pPr>
            <a:r>
              <a:rPr lang="en-US" sz="2200" b="1" dirty="0"/>
              <a:t>Method of SQC:</a:t>
            </a:r>
          </a:p>
          <a:p>
            <a:pPr marL="0" indent="0" algn="just">
              <a:buNone/>
            </a:pPr>
            <a:r>
              <a:rPr lang="en-US" sz="2200" dirty="0"/>
              <a:t>SQC are applied to two distinct phase of plant operation, they are</a:t>
            </a:r>
          </a:p>
          <a:p>
            <a:pPr marL="514350" indent="-514350" algn="just">
              <a:buAutoNum type="arabicPeriod"/>
            </a:pPr>
            <a:r>
              <a:rPr lang="en-US" sz="2200" dirty="0"/>
              <a:t>Process control</a:t>
            </a:r>
          </a:p>
          <a:p>
            <a:pPr marL="514350" indent="-514350" algn="just">
              <a:buAutoNum type="arabicPeriod"/>
            </a:pPr>
            <a:r>
              <a:rPr lang="en-US" sz="2200" dirty="0"/>
              <a:t>Product control</a:t>
            </a:r>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Quality Control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0540878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514350" indent="-514350" algn="just">
              <a:buAutoNum type="arabicPeriod"/>
            </a:pPr>
            <a:r>
              <a:rPr lang="en-US" sz="2200" b="1" u="sng" dirty="0"/>
              <a:t>Process control: </a:t>
            </a:r>
          </a:p>
          <a:p>
            <a:pPr algn="just"/>
            <a:r>
              <a:rPr lang="en-US" sz="2200" dirty="0"/>
              <a:t>Under the process control, the quality of the product is controlled while the product are in process of production. It is based on prob. Theoretically, It is common that when several identical parts are manufactured some are little large &amp; some are little small but most will be of same size when the frequency or count of the items by size is plotted with size on the horizontal  scale and count on the vertical scale a normal curve is obtained. The process control is secured with the technique of </a:t>
            </a:r>
            <a:r>
              <a:rPr lang="en-US" sz="2200" b="1" dirty="0"/>
              <a:t>control charts</a:t>
            </a:r>
            <a:r>
              <a:rPr lang="en-US" sz="2200" dirty="0"/>
              <a:t>.</a:t>
            </a:r>
          </a:p>
          <a:p>
            <a:pPr marL="0" indent="0">
              <a:buNone/>
            </a:pPr>
            <a:r>
              <a:rPr lang="en-US" sz="2200" dirty="0"/>
              <a:t>  </a:t>
            </a:r>
            <a:endParaRPr lang="en-US" sz="2200" b="1" u="sng"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Quality Control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9443506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      2. </a:t>
            </a:r>
            <a:r>
              <a:rPr lang="en-US" sz="2200" b="1" u="sng" dirty="0"/>
              <a:t>Product control: </a:t>
            </a:r>
          </a:p>
          <a:p>
            <a:r>
              <a:rPr lang="en-US" sz="2200" dirty="0"/>
              <a:t>Under the product control, the quality of the product is controlled while the product is ready for sale and dispatch to the customers. </a:t>
            </a:r>
          </a:p>
          <a:p>
            <a:r>
              <a:rPr lang="en-US" sz="2200" dirty="0"/>
              <a:t>The product control is secured with the technique of acceptance sampling. Acceptance sampling is based on premises that a sample represent the whole lot from which the sample is drawn. </a:t>
            </a:r>
          </a:p>
          <a:p>
            <a:r>
              <a:rPr lang="en-US" sz="2200" dirty="0"/>
              <a:t>In this method samples are taken out &amp; are carefully inspected to detect defects. On the basis of defect found, the lot is accepted or rejected. If defect are few, lot is accepted. It is rejected when defect are more. Thus acceptance sampling is used to take decision regarding acceptance or rejection a lot without examine the entire lot.  </a:t>
            </a:r>
            <a:endParaRPr lang="en-US" sz="2200" b="1" u="sng"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Quality Control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422709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Control charts: </a:t>
            </a:r>
            <a:r>
              <a:rPr lang="en-US" sz="2200" dirty="0"/>
              <a:t>Control chart is a graphical chart for detecting unnatural pattern of variation in the production process and determining the permissible limits of variation. There are 3 horizontal line in control chart</a:t>
            </a:r>
            <a:r>
              <a:rPr lang="en-US" sz="2200" b="1" dirty="0"/>
              <a:t>-</a:t>
            </a:r>
          </a:p>
          <a:p>
            <a:pPr marL="514350" indent="-514350">
              <a:buAutoNum type="arabicPeriod"/>
            </a:pPr>
            <a:r>
              <a:rPr lang="en-US" sz="2200" b="1" dirty="0"/>
              <a:t>Control line(CL): </a:t>
            </a:r>
            <a:r>
              <a:rPr lang="en-US" sz="2200" dirty="0"/>
              <a:t>it passes through the middle of the chart and parallel is to the base. It represent the prescribed quality of product.</a:t>
            </a:r>
          </a:p>
          <a:p>
            <a:pPr marL="514350" indent="-514350">
              <a:buAutoNum type="arabicPeriod"/>
            </a:pPr>
            <a:r>
              <a:rPr lang="en-US" sz="2200" b="1" dirty="0"/>
              <a:t>Upper Control limit(UCL): </a:t>
            </a:r>
            <a:r>
              <a:rPr lang="en-US" sz="2200" dirty="0"/>
              <a:t>It is shown in the chart by a dotted line that passes through the chart above and parallel to the central line and represent upper limit of tolerance.</a:t>
            </a:r>
          </a:p>
          <a:p>
            <a:pPr marL="514350" indent="-514350">
              <a:buFont typeface="Arial" pitchFamily="34" charset="0"/>
              <a:buAutoNum type="arabicPeriod"/>
            </a:pPr>
            <a:r>
              <a:rPr lang="en-US" sz="2200" dirty="0"/>
              <a:t> </a:t>
            </a:r>
            <a:r>
              <a:rPr lang="en-US" sz="2200" b="1" dirty="0"/>
              <a:t>Lower Control limit(LCL): </a:t>
            </a:r>
            <a:r>
              <a:rPr lang="en-US" sz="2200" dirty="0"/>
              <a:t>It is shown in the chart by a dotted line that passes through the chart below and parallel to the central line and represent lower limit of tolerance.</a:t>
            </a:r>
          </a:p>
          <a:p>
            <a:pPr marL="0" indent="0">
              <a:buNone/>
            </a:pPr>
            <a:endParaRPr lang="en-US" sz="2200" b="1"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274485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pic>
        <p:nvPicPr>
          <p:cNvPr id="46081" name="Picture 1"/>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2531" t="18826" r="17902" b="19951"/>
          <a:stretch/>
        </p:blipFill>
        <p:spPr bwMode="auto">
          <a:xfrm>
            <a:off x="533400" y="1219201"/>
            <a:ext cx="7620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675581607"/>
      </p:ext>
    </p:extLst>
  </p:cSld>
  <p:clrMapOvr>
    <a:masterClrMapping/>
  </p:clrMapOvr>
  <p:transition spd="slow">
    <p:push dir="u"/>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Control chart  for variables- </a:t>
                </a:r>
                <a:r>
                  <a:rPr lang="en-US" sz="2200" dirty="0"/>
                  <a:t>are used to monitor characteristic that can be measured for </a:t>
                </a:r>
                <a:r>
                  <a:rPr lang="en-US" sz="2200" dirty="0" err="1"/>
                  <a:t>e.g</a:t>
                </a:r>
                <a:r>
                  <a:rPr lang="en-US" sz="2200" dirty="0"/>
                  <a:t>- length, weight, diameter, time etc. such charts are of two types-</a:t>
                </a:r>
              </a:p>
              <a:p>
                <a:pPr marL="0" indent="0">
                  <a:buNone/>
                </a:pPr>
                <a:r>
                  <a:rPr lang="en-US" sz="2200" dirty="0"/>
                  <a:t>1. Mean chart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oMath>
                </a14:m>
                <a:r>
                  <a:rPr lang="en-US" sz="2200" dirty="0"/>
                  <a:t> chart)</a:t>
                </a:r>
              </a:p>
              <a:p>
                <a:pPr marL="0" indent="0">
                  <a:buNone/>
                </a:pPr>
                <a:r>
                  <a:rPr lang="en-US" sz="2200" dirty="0"/>
                  <a:t>2. Range chart (R chart)</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9768792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514350" indent="-514350">
                  <a:buAutoNum type="arabicPeriod"/>
                </a:pPr>
                <a:r>
                  <a:rPr lang="en-US" sz="2200" b="1" dirty="0"/>
                  <a:t>Mean chart (</a:t>
                </a:r>
                <a14:m>
                  <m:oMath xmlns:m="http://schemas.openxmlformats.org/officeDocument/2006/math">
                    <m:acc>
                      <m:accPr>
                        <m:chr m:val="̅"/>
                        <m:ctrlPr>
                          <a:rPr lang="en-US" sz="2200" b="1" i="1">
                            <a:latin typeface="Cambria Math" panose="02040503050406030204" pitchFamily="18" charset="0"/>
                          </a:rPr>
                        </m:ctrlPr>
                      </m:accPr>
                      <m:e>
                        <m:r>
                          <a:rPr lang="en-US" sz="2200" b="1" i="1">
                            <a:latin typeface="Cambria Math"/>
                          </a:rPr>
                          <m:t>𝒙</m:t>
                        </m:r>
                      </m:e>
                    </m:acc>
                  </m:oMath>
                </a14:m>
                <a:r>
                  <a:rPr lang="en-US" sz="2200" b="1" dirty="0"/>
                  <a:t> chart): </a:t>
                </a:r>
                <a:r>
                  <a:rPr lang="en-US" sz="2200" dirty="0"/>
                  <a:t>It is used to monitor the change in mean  of a process.</a:t>
                </a:r>
              </a:p>
              <a:p>
                <a:pPr marL="0" indent="0">
                  <a:buNone/>
                </a:pPr>
                <a:r>
                  <a:rPr lang="en-US" sz="2200" b="1" dirty="0"/>
                  <a:t>Construction of </a:t>
                </a:r>
                <a14:m>
                  <m:oMath xmlns:m="http://schemas.openxmlformats.org/officeDocument/2006/math">
                    <m:acc>
                      <m:accPr>
                        <m:chr m:val="̅"/>
                        <m:ctrlPr>
                          <a:rPr lang="en-US" sz="2200" b="1" i="1">
                            <a:latin typeface="Cambria Math" panose="02040503050406030204" pitchFamily="18" charset="0"/>
                          </a:rPr>
                        </m:ctrlPr>
                      </m:accPr>
                      <m:e>
                        <m:r>
                          <a:rPr lang="en-US" sz="2200" b="1" i="1">
                            <a:latin typeface="Cambria Math"/>
                          </a:rPr>
                          <m:t>𝒙</m:t>
                        </m:r>
                      </m:e>
                    </m:acc>
                  </m:oMath>
                </a14:m>
                <a:r>
                  <a:rPr lang="en-US" sz="2200" b="1" dirty="0"/>
                  <a:t> chart</a:t>
                </a:r>
                <a:r>
                  <a:rPr lang="en-US" sz="2200" dirty="0"/>
                  <a:t>:</a:t>
                </a:r>
              </a:p>
              <a:p>
                <a:r>
                  <a:rPr lang="en-US" sz="2200" dirty="0"/>
                  <a:t>Compute the mean of each sample.</a:t>
                </a:r>
              </a:p>
              <a:p>
                <a:pPr marL="0" indent="0">
                  <a:buNone/>
                </a:pPr>
                <a:r>
                  <a:rPr lang="en-US" sz="2200" dirty="0"/>
                  <a:t>    i.e. </a:t>
                </a:r>
                <a14:m>
                  <m:oMath xmlns:m="http://schemas.openxmlformats.org/officeDocument/2006/math">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r>
                      <a:rPr lang="en-US" sz="2200">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𝑘</m:t>
                            </m:r>
                          </m:sub>
                        </m:sSub>
                      </m:e>
                    </m:acc>
                  </m:oMath>
                </a14:m>
                <a:r>
                  <a:rPr lang="en-US" sz="2200" dirty="0"/>
                  <a:t> (here </a:t>
                </a:r>
                <a14:m>
                  <m:oMath xmlns:m="http://schemas.openxmlformats.org/officeDocument/2006/math">
                    <m:r>
                      <a:rPr lang="en-US" sz="2200" i="1">
                        <a:latin typeface="Cambria Math"/>
                      </a:rPr>
                      <m:t>𝑘</m:t>
                    </m:r>
                  </m:oMath>
                </a14:m>
                <a:r>
                  <a:rPr lang="en-US" sz="2200" dirty="0"/>
                  <a:t> is no. of sample)</a:t>
                </a:r>
              </a:p>
              <a:p>
                <a:r>
                  <a:rPr lang="en-US" sz="2200" dirty="0"/>
                  <a:t>Compute the mean of sample mean.</a:t>
                </a:r>
              </a:p>
              <a:p>
                <a:pPr marL="0" indent="0">
                  <a:buNone/>
                </a:pPr>
                <a:r>
                  <a:rPr lang="en-US" sz="2200" dirty="0"/>
                  <a:t>    i.e.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r>
                          <a:rPr lang="en-US" sz="2200" i="1">
                            <a:latin typeface="Cambria Math"/>
                          </a:rPr>
                          <m:t>+</m:t>
                        </m:r>
                        <m:r>
                          <a:rPr lang="en-US" sz="2200" i="1">
                            <a:latin typeface="Cambria Math"/>
                            <a:ea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𝑘</m:t>
                                </m:r>
                              </m:sub>
                            </m:sSub>
                          </m:e>
                        </m:acc>
                      </m:num>
                      <m:den>
                        <m:r>
                          <a:rPr lang="en-US" sz="2200" i="1">
                            <a:latin typeface="Cambria Math"/>
                          </a:rPr>
                          <m:t>𝑘</m:t>
                        </m:r>
                      </m:den>
                    </m:f>
                  </m:oMath>
                </a14:m>
                <a:r>
                  <a:rPr lang="en-US" sz="2200" dirty="0"/>
                  <a:t> </a:t>
                </a:r>
              </a:p>
              <a:p>
                <a:r>
                  <a:rPr lang="en-US" sz="2200" dirty="0"/>
                  <a:t>Compute the range:</a:t>
                </a:r>
              </a:p>
              <a:p>
                <a:pPr marL="0" indent="0">
                  <a:buNone/>
                </a:pPr>
                <a:r>
                  <a:rPr lang="en-US" sz="2200" dirty="0"/>
                  <a:t>    </a:t>
                </a:r>
                <a14:m>
                  <m:oMath xmlns:m="http://schemas.openxmlformats.org/officeDocument/2006/math">
                    <m:r>
                      <a:rPr lang="en-US" sz="2200" i="1">
                        <a:latin typeface="Cambria Math"/>
                      </a:rPr>
                      <m:t>𝑅</m:t>
                    </m:r>
                    <m:r>
                      <a:rPr lang="en-US" sz="2200" i="1">
                        <a:latin typeface="Cambria Math"/>
                      </a:rPr>
                      <m:t>=(</m:t>
                    </m:r>
                  </m:oMath>
                </a14:m>
                <a:r>
                  <a:rPr lang="en-US" sz="2200" dirty="0"/>
                  <a:t>largest value</a:t>
                </a:r>
                <a14:m>
                  <m:oMath xmlns:m="http://schemas.openxmlformats.org/officeDocument/2006/math">
                    <m:r>
                      <a:rPr lang="en-US" sz="2200" i="1">
                        <a:latin typeface="Cambria Math"/>
                      </a:rPr>
                      <m:t>−</m:t>
                    </m:r>
                  </m:oMath>
                </a14:m>
                <a:r>
                  <a:rPr lang="en-US" sz="2200" dirty="0"/>
                  <a:t>smallest value) of </a:t>
                </a:r>
              </a:p>
              <a:p>
                <a:pPr marL="0" indent="0">
                  <a:buNone/>
                </a:pPr>
                <a:r>
                  <a:rPr lang="en-US" sz="2200" dirty="0"/>
                  <a:t>    each sample i.e.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𝑘</m:t>
                        </m:r>
                      </m:sub>
                    </m:sSub>
                    <m:r>
                      <a:rPr lang="en-US" sz="2200" i="1">
                        <a:latin typeface="Cambria Math"/>
                      </a:rPr>
                      <m:t>.</m:t>
                    </m:r>
                  </m:oMath>
                </a14:m>
                <a:endParaRPr lang="en-US" sz="2200" dirty="0"/>
              </a:p>
              <a:p>
                <a:pPr marL="0" indent="0">
                  <a:buNone/>
                </a:pPr>
                <a:endParaRPr lang="en-US" sz="2200" dirty="0"/>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1078" r="-1185" b="-2115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5418756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r>
                  <a:rPr lang="en-US" sz="2200" dirty="0"/>
                  <a:t>Compute  the  mean of sample range</a:t>
                </a:r>
              </a:p>
              <a:p>
                <a:pPr marL="0" indent="0">
                  <a:buNone/>
                </a:pPr>
                <a:r>
                  <a:rPr lang="en-US" sz="2200" dirty="0"/>
                  <a:t>    i.e.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m:t>
                        </m:r>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𝑘</m:t>
                            </m:r>
                          </m:sub>
                        </m:sSub>
                      </m:num>
                      <m:den>
                        <m:r>
                          <a:rPr lang="en-US" sz="2200" i="1">
                            <a:latin typeface="Cambria Math"/>
                          </a:rPr>
                          <m:t>𝑘</m:t>
                        </m:r>
                      </m:den>
                    </m:f>
                  </m:oMath>
                </a14:m>
                <a:r>
                  <a:rPr lang="en-US" sz="2200" dirty="0"/>
                  <a:t> </a:t>
                </a:r>
              </a:p>
              <a:p>
                <a:r>
                  <a:rPr lang="en-US" sz="2200" dirty="0"/>
                  <a:t> 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oMath>
                </a14:m>
                <a:endParaRPr lang="en-US" sz="2200" dirty="0"/>
              </a:p>
              <a:p>
                <a:pPr marL="0" indent="0">
                  <a:buNone/>
                </a:pPr>
                <a:r>
                  <a:rPr lang="en-US" sz="2200" dirty="0"/>
                  <a:t>     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acc>
                      <m:accPr>
                        <m:chr m:val="̅"/>
                        <m:ctrlPr>
                          <a:rPr lang="en-US" sz="2200" i="1">
                            <a:latin typeface="Cambria Math" panose="02040503050406030204" pitchFamily="18" charset="0"/>
                          </a:rPr>
                        </m:ctrlPr>
                      </m:accPr>
                      <m:e>
                        <m:r>
                          <a:rPr lang="en-US" sz="2200" i="1">
                            <a:latin typeface="Cambria Math"/>
                          </a:rPr>
                          <m:t>𝑅</m:t>
                        </m:r>
                      </m:e>
                    </m:acc>
                  </m:oMath>
                </a14:m>
                <a:endParaRPr lang="en-US" sz="2200" dirty="0"/>
              </a:p>
              <a:p>
                <a:pPr marL="0" indent="0">
                  <a:buNone/>
                </a:pPr>
                <a:r>
                  <a:rPr lang="en-US" sz="2200" dirty="0"/>
                  <a:t>     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acc>
                      <m:accPr>
                        <m:chr m:val="̅"/>
                        <m:ctrlPr>
                          <a:rPr lang="en-US" sz="2200" i="1">
                            <a:latin typeface="Cambria Math" panose="02040503050406030204" pitchFamily="18" charset="0"/>
                          </a:rPr>
                        </m:ctrlPr>
                      </m:accPr>
                      <m:e>
                        <m:r>
                          <a:rPr lang="en-US" sz="2200" i="1">
                            <a:latin typeface="Cambria Math"/>
                          </a:rPr>
                          <m:t>𝑅</m:t>
                        </m:r>
                      </m:e>
                    </m:acc>
                  </m:oMath>
                </a14:m>
                <a:endParaRPr lang="en-US" sz="2200" dirty="0"/>
              </a:p>
              <a:p>
                <a:pPr marL="0" indent="0">
                  <a:buNone/>
                </a:pPr>
                <a:r>
                  <a:rPr lang="en-US" sz="2200" dirty="0"/>
                  <a:t>where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oMath>
                </a14:m>
                <a:r>
                  <a:rPr lang="en-US" sz="2200" dirty="0"/>
                  <a:t> are given in the table and depends upon the sample size.</a:t>
                </a:r>
              </a:p>
              <a:p>
                <a:r>
                  <a:rPr lang="en-US" sz="2200" dirty="0"/>
                  <a:t>If the sample mean of each sample lie with in the UCL and LCL then process is in control. If it lie outside then process is out of control.</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IN">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dirty="0"/>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2495891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2. Range chart( R-chart)- </a:t>
                </a:r>
                <a:r>
                  <a:rPr lang="en-US" sz="2200" dirty="0"/>
                  <a:t>It is used to monitor the dispersion or variability of the process.</a:t>
                </a:r>
              </a:p>
              <a:p>
                <a:pPr marL="0" indent="0">
                  <a:buNone/>
                </a:pPr>
                <a:r>
                  <a:rPr lang="en-US" sz="2200" b="1" dirty="0"/>
                  <a:t>Construction of R-chart-</a:t>
                </a:r>
              </a:p>
              <a:p>
                <a:r>
                  <a:rPr lang="en-US" sz="2200" dirty="0"/>
                  <a:t>Compute the range:</a:t>
                </a:r>
              </a:p>
              <a:p>
                <a:pPr marL="0" indent="0">
                  <a:buNone/>
                </a:pPr>
                <a:r>
                  <a:rPr lang="en-US" sz="2200" dirty="0"/>
                  <a:t>    </a:t>
                </a:r>
                <a14:m>
                  <m:oMath xmlns:m="http://schemas.openxmlformats.org/officeDocument/2006/math">
                    <m:r>
                      <a:rPr lang="en-US" sz="2200" i="1">
                        <a:latin typeface="Cambria Math"/>
                      </a:rPr>
                      <m:t>𝑅</m:t>
                    </m:r>
                    <m:r>
                      <a:rPr lang="en-US" sz="2200" i="1">
                        <a:latin typeface="Cambria Math"/>
                      </a:rPr>
                      <m:t>=(</m:t>
                    </m:r>
                  </m:oMath>
                </a14:m>
                <a:r>
                  <a:rPr lang="en-US" sz="2200" dirty="0"/>
                  <a:t>largest value</a:t>
                </a:r>
                <a14:m>
                  <m:oMath xmlns:m="http://schemas.openxmlformats.org/officeDocument/2006/math">
                    <m:r>
                      <a:rPr lang="en-US" sz="2200" i="1">
                        <a:latin typeface="Cambria Math"/>
                      </a:rPr>
                      <m:t>−</m:t>
                    </m:r>
                  </m:oMath>
                </a14:m>
                <a:r>
                  <a:rPr lang="en-US" sz="2200" dirty="0"/>
                  <a:t>smallest value) of </a:t>
                </a:r>
              </a:p>
              <a:p>
                <a:pPr marL="0" indent="0">
                  <a:buNone/>
                </a:pPr>
                <a:r>
                  <a:rPr lang="en-US" sz="2200" dirty="0"/>
                  <a:t>    each sample i.e.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𝑘</m:t>
                        </m:r>
                      </m:sub>
                    </m:sSub>
                    <m:r>
                      <a:rPr lang="en-US" sz="2200" i="1">
                        <a:latin typeface="Cambria Math"/>
                      </a:rPr>
                      <m:t>.</m:t>
                    </m:r>
                  </m:oMath>
                </a14:m>
                <a:endParaRPr lang="en-US" sz="2200" dirty="0"/>
              </a:p>
              <a:p>
                <a:r>
                  <a:rPr lang="en-US" sz="2200" dirty="0"/>
                  <a:t>Compute  the  mean of sample range</a:t>
                </a:r>
              </a:p>
              <a:p>
                <a:pPr marL="0" indent="0">
                  <a:buNone/>
                </a:pPr>
                <a:r>
                  <a:rPr lang="en-US" sz="2200" dirty="0"/>
                  <a:t>    i.e.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m:t>
                        </m:r>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𝑘</m:t>
                            </m:r>
                          </m:sub>
                        </m:sSub>
                      </m:num>
                      <m:den>
                        <m:r>
                          <a:rPr lang="en-US" sz="2200" i="1">
                            <a:latin typeface="Cambria Math"/>
                          </a:rPr>
                          <m:t>𝑘</m:t>
                        </m:r>
                      </m:den>
                    </m:f>
                  </m:oMath>
                </a14:m>
                <a:r>
                  <a:rPr lang="en-US" sz="2200" dirty="0"/>
                  <a:t> </a:t>
                </a:r>
              </a:p>
              <a:p>
                <a:r>
                  <a:rPr lang="en-US" sz="2200" dirty="0"/>
                  <a:t> 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𝑅</m:t>
                        </m:r>
                      </m:e>
                    </m:acc>
                  </m:oMath>
                </a14:m>
                <a:endParaRPr lang="en-US" sz="2200" dirty="0"/>
              </a:p>
              <a:p>
                <a:pPr marL="0" indent="0">
                  <a:buNone/>
                </a:pPr>
                <a:r>
                  <a:rPr lang="en-US" sz="2200" dirty="0"/>
                  <a:t>     UCL</a:t>
                </a:r>
                <a14:m>
                  <m:oMath xmlns:m="http://schemas.openxmlformats.org/officeDocument/2006/math">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4</m:t>
                        </m:r>
                      </m:sub>
                    </m:sSub>
                    <m:acc>
                      <m:accPr>
                        <m:chr m:val="̅"/>
                        <m:ctrlPr>
                          <a:rPr lang="en-US" sz="2200" i="1">
                            <a:latin typeface="Cambria Math" panose="02040503050406030204" pitchFamily="18" charset="0"/>
                          </a:rPr>
                        </m:ctrlPr>
                      </m:accPr>
                      <m:e>
                        <m:r>
                          <a:rPr lang="en-US" sz="2200" i="1">
                            <a:latin typeface="Cambria Math"/>
                          </a:rPr>
                          <m:t>𝑅</m:t>
                        </m:r>
                      </m:e>
                    </m:acc>
                  </m:oMath>
                </a14:m>
                <a:endParaRPr lang="en-US" sz="2200" dirty="0"/>
              </a:p>
              <a:p>
                <a:pPr marL="0" indent="0">
                  <a:buNone/>
                </a:pPr>
                <a:r>
                  <a:rPr lang="en-US" sz="2200" dirty="0"/>
                  <a:t>     LCL</a:t>
                </a:r>
                <a14:m>
                  <m:oMath xmlns:m="http://schemas.openxmlformats.org/officeDocument/2006/math">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3</m:t>
                        </m:r>
                      </m:sub>
                    </m:sSub>
                    <m:acc>
                      <m:accPr>
                        <m:chr m:val="̅"/>
                        <m:ctrlPr>
                          <a:rPr lang="en-US" sz="2200" i="1">
                            <a:latin typeface="Cambria Math" panose="02040503050406030204" pitchFamily="18" charset="0"/>
                          </a:rPr>
                        </m:ctrlPr>
                      </m:accPr>
                      <m:e>
                        <m:r>
                          <a:rPr lang="en-US" sz="2200" i="1">
                            <a:latin typeface="Cambria Math"/>
                          </a:rPr>
                          <m:t>𝑅</m:t>
                        </m:r>
                      </m:e>
                    </m:acc>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b="-336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6941027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where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4</m:t>
                        </m:r>
                      </m:sub>
                    </m:sSub>
                    <m:r>
                      <a:rPr lang="en-US" sz="2200" i="1">
                        <a:latin typeface="Cambria Math"/>
                      </a:rPr>
                      <m:t>,</m:t>
                    </m:r>
                  </m:oMath>
                </a14:m>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3</m:t>
                        </m:r>
                      </m:sub>
                    </m:sSub>
                  </m:oMath>
                </a14:m>
                <a:r>
                  <a:rPr lang="en-US" sz="2200" dirty="0"/>
                  <a:t> are constant whose value depends upon the sample size and coming from table. </a:t>
                </a:r>
              </a:p>
              <a:p>
                <a:r>
                  <a:rPr lang="en-US" sz="2200" dirty="0"/>
                  <a:t>If the range of each sample lie with in UCL and LCL then process is in control. If it lie outside then process is out of control.</a:t>
                </a:r>
              </a:p>
              <a:p>
                <a:pPr marL="0" indent="0">
                  <a:buNone/>
                </a:pPr>
                <a:r>
                  <a:rPr lang="en-US" sz="2200" b="1" dirty="0"/>
                  <a:t>Example-1:</a:t>
                </a:r>
                <a:r>
                  <a:rPr lang="en-US" sz="2200" dirty="0"/>
                  <a:t> Construct mean chart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oMath>
                </a14:m>
                <a:r>
                  <a:rPr lang="en-US" sz="2200" dirty="0"/>
                  <a:t> chart) and range chart( R-chart) for the following data of 5 samples with each set of 5 items-(conversion factor for </a:t>
                </a:r>
                <a14:m>
                  <m:oMath xmlns:m="http://schemas.openxmlformats.org/officeDocument/2006/math">
                    <m:r>
                      <a:rPr lang="en-US" sz="2200" i="1">
                        <a:latin typeface="Cambria Math"/>
                      </a:rPr>
                      <m:t>𝑛</m:t>
                    </m:r>
                    <m:r>
                      <a:rPr lang="en-US" sz="2200" i="1">
                        <a:latin typeface="Cambria Math"/>
                      </a:rPr>
                      <m:t>=5,</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r>
                      <a:rPr lang="en-US" sz="2200" i="1">
                        <a:latin typeface="Cambria Math"/>
                      </a:rPr>
                      <m:t>=0.577,</m:t>
                    </m:r>
                  </m:oMath>
                </a14:m>
                <a:endParaRPr lang="en-US" sz="2200" i="1" dirty="0">
                  <a:latin typeface="Cambria Math"/>
                </a:endParaRP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3</m:t>
                        </m:r>
                      </m:sub>
                    </m:sSub>
                    <m:r>
                      <a:rPr lang="en-US" sz="2200" i="1">
                        <a:latin typeface="Cambria Math"/>
                      </a:rPr>
                      <m:t>=0, </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4</m:t>
                        </m:r>
                      </m:sub>
                    </m:sSub>
                    <m:r>
                      <a:rPr lang="en-US" sz="2200" i="1">
                        <a:latin typeface="Cambria Math"/>
                      </a:rPr>
                      <m:t>=2.115</m:t>
                    </m:r>
                  </m:oMath>
                </a14:m>
                <a:r>
                  <a:rPr lang="en-US" sz="2200" dirty="0"/>
                  <a:t>) </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51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3243870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2" name="Table 1">
            <a:extLst>
              <a:ext uri="{FF2B5EF4-FFF2-40B4-BE49-F238E27FC236}">
                <a16:creationId xmlns:a16="http://schemas.microsoft.com/office/drawing/2014/main" id="{C08D3610-94C0-4546-8503-E8D2F6829ED3}"/>
              </a:ext>
            </a:extLst>
          </p:cNvPr>
          <p:cNvGraphicFramePr>
            <a:graphicFrameLocks noGrp="1"/>
          </p:cNvGraphicFramePr>
          <p:nvPr>
            <p:extLst>
              <p:ext uri="{D42A27DB-BD31-4B8C-83A1-F6EECF244321}">
                <p14:modId xmlns:p14="http://schemas.microsoft.com/office/powerpoint/2010/main" val="59294735"/>
              </p:ext>
            </p:extLst>
          </p:nvPr>
        </p:nvGraphicFramePr>
        <p:xfrm>
          <a:off x="914400" y="1397000"/>
          <a:ext cx="7239000" cy="39370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01101802"/>
                    </a:ext>
                  </a:extLst>
                </a:gridCol>
                <a:gridCol w="1143000">
                  <a:extLst>
                    <a:ext uri="{9D8B030D-6E8A-4147-A177-3AD203B41FA5}">
                      <a16:colId xmlns:a16="http://schemas.microsoft.com/office/drawing/2014/main" val="3511361915"/>
                    </a:ext>
                  </a:extLst>
                </a:gridCol>
                <a:gridCol w="1219200">
                  <a:extLst>
                    <a:ext uri="{9D8B030D-6E8A-4147-A177-3AD203B41FA5}">
                      <a16:colId xmlns:a16="http://schemas.microsoft.com/office/drawing/2014/main" val="3065677804"/>
                    </a:ext>
                  </a:extLst>
                </a:gridCol>
                <a:gridCol w="1219200">
                  <a:extLst>
                    <a:ext uri="{9D8B030D-6E8A-4147-A177-3AD203B41FA5}">
                      <a16:colId xmlns:a16="http://schemas.microsoft.com/office/drawing/2014/main" val="1963469687"/>
                    </a:ext>
                  </a:extLst>
                </a:gridCol>
                <a:gridCol w="1079500">
                  <a:extLst>
                    <a:ext uri="{9D8B030D-6E8A-4147-A177-3AD203B41FA5}">
                      <a16:colId xmlns:a16="http://schemas.microsoft.com/office/drawing/2014/main" val="3669512540"/>
                    </a:ext>
                  </a:extLst>
                </a:gridCol>
                <a:gridCol w="1206500">
                  <a:extLst>
                    <a:ext uri="{9D8B030D-6E8A-4147-A177-3AD203B41FA5}">
                      <a16:colId xmlns:a16="http://schemas.microsoft.com/office/drawing/2014/main" val="3263010540"/>
                    </a:ext>
                  </a:extLst>
                </a:gridCol>
              </a:tblGrid>
              <a:tr h="1010310">
                <a:tc>
                  <a:txBody>
                    <a:bodyPr/>
                    <a:lstStyle/>
                    <a:p>
                      <a:pPr algn="ctr"/>
                      <a:r>
                        <a:rPr lang="en-US" dirty="0"/>
                        <a:t>Sample No.</a:t>
                      </a:r>
                    </a:p>
                  </a:txBody>
                  <a:tcPr anchor="ctr"/>
                </a:tc>
                <a:tc gridSpan="5">
                  <a:txBody>
                    <a:bodyPr/>
                    <a:lstStyle/>
                    <a:p>
                      <a:pPr algn="ctr"/>
                      <a:r>
                        <a:rPr lang="en-US" dirty="0"/>
                        <a:t>Weights</a:t>
                      </a:r>
                    </a:p>
                  </a:txBody>
                  <a:tcPr anchor="ct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780011782"/>
                  </a:ext>
                </a:extLst>
              </a:tr>
              <a:tr h="585338">
                <a:tc>
                  <a:txBody>
                    <a:bodyPr/>
                    <a:lstStyle/>
                    <a:p>
                      <a:pPr algn="ctr"/>
                      <a:r>
                        <a:rPr lang="en-US" dirty="0"/>
                        <a:t>1</a:t>
                      </a:r>
                    </a:p>
                  </a:txBody>
                  <a:tcPr anchor="ctr"/>
                </a:tc>
                <a:tc>
                  <a:txBody>
                    <a:bodyPr/>
                    <a:lstStyle/>
                    <a:p>
                      <a:pPr algn="ctr"/>
                      <a:r>
                        <a:rPr lang="en-US" dirty="0"/>
                        <a:t>20</a:t>
                      </a:r>
                    </a:p>
                  </a:txBody>
                  <a:tcPr anchor="ctr"/>
                </a:tc>
                <a:tc>
                  <a:txBody>
                    <a:bodyPr/>
                    <a:lstStyle/>
                    <a:p>
                      <a:pPr algn="ctr"/>
                      <a:r>
                        <a:rPr lang="en-US" dirty="0"/>
                        <a:t>15</a:t>
                      </a:r>
                    </a:p>
                  </a:txBody>
                  <a:tcPr anchor="ctr"/>
                </a:tc>
                <a:tc>
                  <a:txBody>
                    <a:bodyPr/>
                    <a:lstStyle/>
                    <a:p>
                      <a:pPr algn="ctr"/>
                      <a:r>
                        <a:rPr lang="en-US" dirty="0"/>
                        <a:t>10</a:t>
                      </a:r>
                    </a:p>
                  </a:txBody>
                  <a:tcPr anchor="ctr"/>
                </a:tc>
                <a:tc>
                  <a:txBody>
                    <a:bodyPr/>
                    <a:lstStyle/>
                    <a:p>
                      <a:pPr algn="ctr"/>
                      <a:r>
                        <a:rPr lang="en-US" dirty="0"/>
                        <a:t>11</a:t>
                      </a:r>
                    </a:p>
                  </a:txBody>
                  <a:tcPr anchor="ctr"/>
                </a:tc>
                <a:tc>
                  <a:txBody>
                    <a:bodyPr/>
                    <a:lstStyle/>
                    <a:p>
                      <a:pPr algn="ctr"/>
                      <a:r>
                        <a:rPr lang="en-US" dirty="0"/>
                        <a:t>14</a:t>
                      </a:r>
                    </a:p>
                  </a:txBody>
                  <a:tcPr anchor="ctr"/>
                </a:tc>
                <a:extLst>
                  <a:ext uri="{0D108BD9-81ED-4DB2-BD59-A6C34878D82A}">
                    <a16:rowId xmlns:a16="http://schemas.microsoft.com/office/drawing/2014/main" val="1965533607"/>
                  </a:ext>
                </a:extLst>
              </a:tr>
              <a:tr h="585338">
                <a:tc>
                  <a:txBody>
                    <a:bodyPr/>
                    <a:lstStyle/>
                    <a:p>
                      <a:pPr algn="ctr"/>
                      <a:r>
                        <a:rPr lang="en-US" dirty="0"/>
                        <a:t>2</a:t>
                      </a:r>
                    </a:p>
                  </a:txBody>
                  <a:tcPr anchor="ctr"/>
                </a:tc>
                <a:tc>
                  <a:txBody>
                    <a:bodyPr/>
                    <a:lstStyle/>
                    <a:p>
                      <a:pPr algn="ctr"/>
                      <a:r>
                        <a:rPr lang="en-US" dirty="0"/>
                        <a:t>12</a:t>
                      </a:r>
                    </a:p>
                  </a:txBody>
                  <a:tcPr anchor="ctr"/>
                </a:tc>
                <a:tc>
                  <a:txBody>
                    <a:bodyPr/>
                    <a:lstStyle/>
                    <a:p>
                      <a:pPr algn="ctr"/>
                      <a:r>
                        <a:rPr lang="en-US" dirty="0"/>
                        <a:t>18</a:t>
                      </a:r>
                    </a:p>
                  </a:txBody>
                  <a:tcPr anchor="ctr"/>
                </a:tc>
                <a:tc>
                  <a:txBody>
                    <a:bodyPr/>
                    <a:lstStyle/>
                    <a:p>
                      <a:pPr algn="ctr"/>
                      <a:r>
                        <a:rPr lang="en-US" dirty="0"/>
                        <a:t>10</a:t>
                      </a:r>
                    </a:p>
                  </a:txBody>
                  <a:tcPr anchor="ctr"/>
                </a:tc>
                <a:tc>
                  <a:txBody>
                    <a:bodyPr/>
                    <a:lstStyle/>
                    <a:p>
                      <a:pPr algn="ctr"/>
                      <a:r>
                        <a:rPr lang="en-US" dirty="0"/>
                        <a:t>8</a:t>
                      </a:r>
                    </a:p>
                  </a:txBody>
                  <a:tcPr anchor="ctr"/>
                </a:tc>
                <a:tc>
                  <a:txBody>
                    <a:bodyPr/>
                    <a:lstStyle/>
                    <a:p>
                      <a:pPr algn="ctr"/>
                      <a:r>
                        <a:rPr lang="en-US" dirty="0"/>
                        <a:t>22</a:t>
                      </a:r>
                    </a:p>
                  </a:txBody>
                  <a:tcPr anchor="ctr"/>
                </a:tc>
                <a:extLst>
                  <a:ext uri="{0D108BD9-81ED-4DB2-BD59-A6C34878D82A}">
                    <a16:rowId xmlns:a16="http://schemas.microsoft.com/office/drawing/2014/main" val="2637597727"/>
                  </a:ext>
                </a:extLst>
              </a:tr>
              <a:tr h="585338">
                <a:tc>
                  <a:txBody>
                    <a:bodyPr/>
                    <a:lstStyle/>
                    <a:p>
                      <a:pPr algn="ctr"/>
                      <a:r>
                        <a:rPr lang="en-US" dirty="0"/>
                        <a:t>3</a:t>
                      </a:r>
                    </a:p>
                  </a:txBody>
                  <a:tcPr anchor="ctr"/>
                </a:tc>
                <a:tc>
                  <a:txBody>
                    <a:bodyPr/>
                    <a:lstStyle/>
                    <a:p>
                      <a:pPr algn="ctr"/>
                      <a:r>
                        <a:rPr lang="en-US" dirty="0"/>
                        <a:t>21</a:t>
                      </a:r>
                    </a:p>
                  </a:txBody>
                  <a:tcPr anchor="ctr"/>
                </a:tc>
                <a:tc>
                  <a:txBody>
                    <a:bodyPr/>
                    <a:lstStyle/>
                    <a:p>
                      <a:pPr algn="ctr"/>
                      <a:r>
                        <a:rPr lang="en-US" dirty="0"/>
                        <a:t>19</a:t>
                      </a:r>
                    </a:p>
                  </a:txBody>
                  <a:tcPr anchor="ctr"/>
                </a:tc>
                <a:tc>
                  <a:txBody>
                    <a:bodyPr/>
                    <a:lstStyle/>
                    <a:p>
                      <a:pPr algn="ctr"/>
                      <a:r>
                        <a:rPr lang="en-US" dirty="0"/>
                        <a:t>17</a:t>
                      </a:r>
                    </a:p>
                  </a:txBody>
                  <a:tcPr anchor="ctr"/>
                </a:tc>
                <a:tc>
                  <a:txBody>
                    <a:bodyPr/>
                    <a:lstStyle/>
                    <a:p>
                      <a:pPr algn="ctr"/>
                      <a:r>
                        <a:rPr lang="en-US" dirty="0"/>
                        <a:t>10</a:t>
                      </a:r>
                    </a:p>
                  </a:txBody>
                  <a:tcPr anchor="ctr"/>
                </a:tc>
                <a:tc>
                  <a:txBody>
                    <a:bodyPr/>
                    <a:lstStyle/>
                    <a:p>
                      <a:pPr algn="ctr"/>
                      <a:r>
                        <a:rPr lang="en-US" dirty="0"/>
                        <a:t>13</a:t>
                      </a:r>
                    </a:p>
                  </a:txBody>
                  <a:tcPr anchor="ctr"/>
                </a:tc>
                <a:extLst>
                  <a:ext uri="{0D108BD9-81ED-4DB2-BD59-A6C34878D82A}">
                    <a16:rowId xmlns:a16="http://schemas.microsoft.com/office/drawing/2014/main" val="1521017008"/>
                  </a:ext>
                </a:extLst>
              </a:tr>
              <a:tr h="585338">
                <a:tc>
                  <a:txBody>
                    <a:bodyPr/>
                    <a:lstStyle/>
                    <a:p>
                      <a:pPr algn="ctr"/>
                      <a:r>
                        <a:rPr lang="en-US" dirty="0"/>
                        <a:t>4</a:t>
                      </a:r>
                    </a:p>
                  </a:txBody>
                  <a:tcPr anchor="ctr"/>
                </a:tc>
                <a:tc>
                  <a:txBody>
                    <a:bodyPr/>
                    <a:lstStyle/>
                    <a:p>
                      <a:pPr algn="ctr"/>
                      <a:r>
                        <a:rPr lang="en-US" dirty="0"/>
                        <a:t>15</a:t>
                      </a:r>
                    </a:p>
                  </a:txBody>
                  <a:tcPr anchor="ctr"/>
                </a:tc>
                <a:tc>
                  <a:txBody>
                    <a:bodyPr/>
                    <a:lstStyle/>
                    <a:p>
                      <a:pPr algn="ctr"/>
                      <a:r>
                        <a:rPr lang="en-US" dirty="0"/>
                        <a:t>12</a:t>
                      </a:r>
                    </a:p>
                  </a:txBody>
                  <a:tcPr anchor="ctr"/>
                </a:tc>
                <a:tc>
                  <a:txBody>
                    <a:bodyPr/>
                    <a:lstStyle/>
                    <a:p>
                      <a:pPr algn="ctr"/>
                      <a:r>
                        <a:rPr lang="en-US" dirty="0"/>
                        <a:t>19</a:t>
                      </a:r>
                    </a:p>
                  </a:txBody>
                  <a:tcPr anchor="ctr"/>
                </a:tc>
                <a:tc>
                  <a:txBody>
                    <a:bodyPr/>
                    <a:lstStyle/>
                    <a:p>
                      <a:pPr algn="ctr"/>
                      <a:r>
                        <a:rPr lang="en-US" dirty="0"/>
                        <a:t>14</a:t>
                      </a:r>
                    </a:p>
                  </a:txBody>
                  <a:tcPr anchor="ctr"/>
                </a:tc>
                <a:tc>
                  <a:txBody>
                    <a:bodyPr/>
                    <a:lstStyle/>
                    <a:p>
                      <a:pPr algn="ctr"/>
                      <a:r>
                        <a:rPr lang="en-US" dirty="0"/>
                        <a:t>20</a:t>
                      </a:r>
                    </a:p>
                  </a:txBody>
                  <a:tcPr anchor="ctr"/>
                </a:tc>
                <a:extLst>
                  <a:ext uri="{0D108BD9-81ED-4DB2-BD59-A6C34878D82A}">
                    <a16:rowId xmlns:a16="http://schemas.microsoft.com/office/drawing/2014/main" val="3032683383"/>
                  </a:ext>
                </a:extLst>
              </a:tr>
              <a:tr h="585338">
                <a:tc>
                  <a:txBody>
                    <a:bodyPr/>
                    <a:lstStyle/>
                    <a:p>
                      <a:pPr algn="ctr"/>
                      <a:r>
                        <a:rPr lang="en-US" dirty="0"/>
                        <a:t>5</a:t>
                      </a:r>
                    </a:p>
                  </a:txBody>
                  <a:tcPr anchor="ctr"/>
                </a:tc>
                <a:tc>
                  <a:txBody>
                    <a:bodyPr/>
                    <a:lstStyle/>
                    <a:p>
                      <a:pPr algn="ctr"/>
                      <a:r>
                        <a:rPr lang="en-US" dirty="0"/>
                        <a:t>20</a:t>
                      </a:r>
                    </a:p>
                  </a:txBody>
                  <a:tcPr anchor="ctr"/>
                </a:tc>
                <a:tc>
                  <a:txBody>
                    <a:bodyPr/>
                    <a:lstStyle/>
                    <a:p>
                      <a:pPr algn="ctr"/>
                      <a:r>
                        <a:rPr lang="en-US" dirty="0"/>
                        <a:t>19</a:t>
                      </a:r>
                    </a:p>
                  </a:txBody>
                  <a:tcPr anchor="ctr"/>
                </a:tc>
                <a:tc>
                  <a:txBody>
                    <a:bodyPr/>
                    <a:lstStyle/>
                    <a:p>
                      <a:pPr algn="ctr"/>
                      <a:r>
                        <a:rPr lang="en-US" dirty="0"/>
                        <a:t>26</a:t>
                      </a:r>
                    </a:p>
                  </a:txBody>
                  <a:tcPr anchor="ctr"/>
                </a:tc>
                <a:tc>
                  <a:txBody>
                    <a:bodyPr/>
                    <a:lstStyle/>
                    <a:p>
                      <a:pPr algn="ctr"/>
                      <a:r>
                        <a:rPr lang="en-US" dirty="0"/>
                        <a:t>12</a:t>
                      </a:r>
                    </a:p>
                  </a:txBody>
                  <a:tcPr anchor="ctr"/>
                </a:tc>
                <a:tc>
                  <a:txBody>
                    <a:bodyPr/>
                    <a:lstStyle/>
                    <a:p>
                      <a:pPr algn="ctr"/>
                      <a:r>
                        <a:rPr lang="en-US" dirty="0"/>
                        <a:t>23</a:t>
                      </a:r>
                    </a:p>
                  </a:txBody>
                  <a:tcPr anchor="ctr"/>
                </a:tc>
                <a:extLst>
                  <a:ext uri="{0D108BD9-81ED-4DB2-BD59-A6C34878D82A}">
                    <a16:rowId xmlns:a16="http://schemas.microsoft.com/office/drawing/2014/main" val="938639261"/>
                  </a:ext>
                </a:extLst>
              </a:tr>
            </a:tbl>
          </a:graphicData>
        </a:graphic>
      </p:graphicFrame>
    </p:spTree>
    <p:extLst>
      <p:ext uri="{BB962C8B-B14F-4D97-AF65-F5344CB8AC3E}">
        <p14:creationId xmlns:p14="http://schemas.microsoft.com/office/powerpoint/2010/main" val="1987374882"/>
      </p:ext>
    </p:extLst>
  </p:cSld>
  <p:clrMapOvr>
    <a:masterClrMapping/>
  </p:clrMapOvr>
  <p:transition spd="slow">
    <p:push dir="u"/>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dirty="0"/>
                  <a:t>Sol:</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14:m>
                  <m:oMath xmlns:m="http://schemas.openxmlformats.org/officeDocument/2006/math">
                    <m:acc>
                      <m:accPr>
                        <m:chr m:val="̅"/>
                        <m:ctrlPr>
                          <a:rPr lang="en-US" b="1" i="1">
                            <a:latin typeface="Cambria Math" panose="02040503050406030204" pitchFamily="18" charset="0"/>
                          </a:rPr>
                        </m:ctrlPr>
                      </m:accPr>
                      <m:e>
                        <m:r>
                          <a:rPr lang="en-US" b="1" i="1">
                            <a:latin typeface="Cambria Math"/>
                          </a:rPr>
                          <m:t>𝒙</m:t>
                        </m:r>
                      </m:e>
                    </m:acc>
                  </m:oMath>
                </a14:m>
                <a:r>
                  <a:rPr lang="en-US" b="1" dirty="0"/>
                  <a:t> chart:</a:t>
                </a:r>
              </a:p>
              <a:p>
                <a:pPr marL="0" indent="0">
                  <a:buNone/>
                </a:pP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e>
                    </m:acc>
                    <m:r>
                      <a:rPr lang="en-US" b="1">
                        <a:latin typeface="Cambria Math"/>
                      </a:rPr>
                      <m:t>=</m:t>
                    </m:r>
                    <m:f>
                      <m:fPr>
                        <m:ctrlPr>
                          <a:rPr lang="en-US" i="1">
                            <a:latin typeface="Cambria Math" panose="02040503050406030204" pitchFamily="18" charset="0"/>
                          </a:rPr>
                        </m:ctrlPr>
                      </m:fPr>
                      <m:num>
                        <m:r>
                          <a:rPr lang="en-US" i="1">
                            <a:latin typeface="Cambria Math"/>
                          </a:rPr>
                          <m:t>70</m:t>
                        </m:r>
                      </m:num>
                      <m:den>
                        <m:r>
                          <a:rPr lang="en-US" i="1">
                            <a:latin typeface="Cambria Math"/>
                          </a:rPr>
                          <m:t>5</m:t>
                        </m:r>
                      </m:den>
                    </m:f>
                    <m:r>
                      <a:rPr lang="en-US" b="1" i="1">
                        <a:latin typeface="Cambria Math"/>
                      </a:rPr>
                      <m:t>=</m:t>
                    </m:r>
                    <m:r>
                      <a:rPr lang="en-US">
                        <a:latin typeface="Cambria Math"/>
                      </a:rPr>
                      <m:t>14</m:t>
                    </m:r>
                  </m:oMath>
                </a14:m>
                <a:r>
                  <a:rPr lang="en-US" dirty="0"/>
                  <a:t> similarly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2</m:t>
                            </m:r>
                          </m:sub>
                        </m:sSub>
                      </m:e>
                    </m:acc>
                    <m:r>
                      <a:rPr lang="en-US" i="1">
                        <a:latin typeface="Cambria Math"/>
                      </a:rPr>
                      <m:t>=14,</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3</m:t>
                            </m:r>
                          </m:sub>
                        </m:sSub>
                      </m:e>
                    </m:acc>
                    <m:r>
                      <a:rPr lang="en-US" i="1">
                        <a:latin typeface="Cambria Math"/>
                      </a:rPr>
                      <m:t>=16,</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4</m:t>
                            </m:r>
                          </m:sub>
                        </m:sSub>
                      </m:e>
                    </m:acc>
                    <m:r>
                      <a:rPr lang="en-US" i="1">
                        <a:latin typeface="Cambria Math"/>
                      </a:rPr>
                      <m:t>=16,</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a:rPr>
                              <m:t>𝑥</m:t>
                            </m:r>
                          </m:e>
                          <m:sub>
                            <m:r>
                              <a:rPr lang="en-US" i="1">
                                <a:latin typeface="Cambria Math"/>
                              </a:rPr>
                              <m:t>5</m:t>
                            </m:r>
                          </m:sub>
                        </m:sSub>
                      </m:e>
                    </m:acc>
                    <m:r>
                      <a:rPr lang="en-US" i="1">
                        <a:latin typeface="Cambria Math"/>
                      </a:rPr>
                      <m:t>=20</m:t>
                    </m:r>
                  </m:oMath>
                </a14:m>
                <a:r>
                  <a:rPr lang="en-US" i="1" dirty="0">
                    <a:latin typeface="Cambria Math"/>
                  </a:rPr>
                  <a:t> </a:t>
                </a: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9" name="Title 1"/>
          <p:cNvSpPr txBox="1">
            <a:spLocks/>
          </p:cNvSpPr>
          <p:nvPr/>
        </p:nvSpPr>
        <p:spPr>
          <a:xfrm>
            <a:off x="1905000" y="0"/>
            <a:ext cx="7239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A3F793B-2BDA-4396-B321-E5864B722229}"/>
                  </a:ext>
                </a:extLst>
              </p:cNvPr>
              <p:cNvGraphicFramePr>
                <a:graphicFrameLocks noGrp="1"/>
              </p:cNvGraphicFramePr>
              <p:nvPr>
                <p:extLst>
                  <p:ext uri="{D42A27DB-BD31-4B8C-83A1-F6EECF244321}">
                    <p14:modId xmlns:p14="http://schemas.microsoft.com/office/powerpoint/2010/main" val="3310394266"/>
                  </p:ext>
                </p:extLst>
              </p:nvPr>
            </p:nvGraphicFramePr>
            <p:xfrm>
              <a:off x="1219200" y="1397000"/>
              <a:ext cx="6781801" cy="2865120"/>
            </p:xfrm>
            <a:graphic>
              <a:graphicData uri="http://schemas.openxmlformats.org/drawingml/2006/table">
                <a:tbl>
                  <a:tblPr firstRow="1" bandRow="1">
                    <a:tableStyleId>{5C22544A-7EE6-4342-B048-85BDC9FD1C3A}</a:tableStyleId>
                  </a:tblPr>
                  <a:tblGrid>
                    <a:gridCol w="1017270">
                      <a:extLst>
                        <a:ext uri="{9D8B030D-6E8A-4147-A177-3AD203B41FA5}">
                          <a16:colId xmlns:a16="http://schemas.microsoft.com/office/drawing/2014/main" val="3158949942"/>
                        </a:ext>
                      </a:extLst>
                    </a:gridCol>
                    <a:gridCol w="678180">
                      <a:extLst>
                        <a:ext uri="{9D8B030D-6E8A-4147-A177-3AD203B41FA5}">
                          <a16:colId xmlns:a16="http://schemas.microsoft.com/office/drawing/2014/main" val="2916186722"/>
                        </a:ext>
                      </a:extLst>
                    </a:gridCol>
                    <a:gridCol w="678180">
                      <a:extLst>
                        <a:ext uri="{9D8B030D-6E8A-4147-A177-3AD203B41FA5}">
                          <a16:colId xmlns:a16="http://schemas.microsoft.com/office/drawing/2014/main" val="202222710"/>
                        </a:ext>
                      </a:extLst>
                    </a:gridCol>
                    <a:gridCol w="762953">
                      <a:extLst>
                        <a:ext uri="{9D8B030D-6E8A-4147-A177-3AD203B41FA5}">
                          <a16:colId xmlns:a16="http://schemas.microsoft.com/office/drawing/2014/main" val="314492358"/>
                        </a:ext>
                      </a:extLst>
                    </a:gridCol>
                    <a:gridCol w="762953">
                      <a:extLst>
                        <a:ext uri="{9D8B030D-6E8A-4147-A177-3AD203B41FA5}">
                          <a16:colId xmlns:a16="http://schemas.microsoft.com/office/drawing/2014/main" val="2758139423"/>
                        </a:ext>
                      </a:extLst>
                    </a:gridCol>
                    <a:gridCol w="678180">
                      <a:extLst>
                        <a:ext uri="{9D8B030D-6E8A-4147-A177-3AD203B41FA5}">
                          <a16:colId xmlns:a16="http://schemas.microsoft.com/office/drawing/2014/main" val="869355815"/>
                        </a:ext>
                      </a:extLst>
                    </a:gridCol>
                    <a:gridCol w="1017270">
                      <a:extLst>
                        <a:ext uri="{9D8B030D-6E8A-4147-A177-3AD203B41FA5}">
                          <a16:colId xmlns:a16="http://schemas.microsoft.com/office/drawing/2014/main" val="1710399177"/>
                        </a:ext>
                      </a:extLst>
                    </a:gridCol>
                    <a:gridCol w="1186815">
                      <a:extLst>
                        <a:ext uri="{9D8B030D-6E8A-4147-A177-3AD203B41FA5}">
                          <a16:colId xmlns:a16="http://schemas.microsoft.com/office/drawing/2014/main" val="1649591032"/>
                        </a:ext>
                      </a:extLst>
                    </a:gridCol>
                  </a:tblGrid>
                  <a:tr h="370840">
                    <a:tc>
                      <a:txBody>
                        <a:bodyPr/>
                        <a:lstStyle/>
                        <a:p>
                          <a:pPr algn="ctr"/>
                          <a:r>
                            <a:rPr lang="en-US" dirty="0"/>
                            <a:t>Sample No.</a:t>
                          </a:r>
                        </a:p>
                      </a:txBody>
                      <a:tcPr/>
                    </a:tc>
                    <a:tc gridSpan="5">
                      <a:txBody>
                        <a:bodyPr/>
                        <a:lstStyle/>
                        <a:p>
                          <a:pPr algn="ctr"/>
                          <a:r>
                            <a:rPr lang="en-US" dirty="0"/>
                            <a:t>Weights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dirty="0"/>
                            <a:t>Sample mean</a:t>
                          </a:r>
                        </a:p>
                      </a:txBody>
                      <a:tcPr/>
                    </a:tc>
                    <a:tc>
                      <a:txBody>
                        <a:bodyPr/>
                        <a:lstStyle/>
                        <a:p>
                          <a:pPr algn="ctr"/>
                          <a:r>
                            <a:rPr lang="en-US" dirty="0"/>
                            <a:t>Range </a:t>
                          </a:r>
                          <a14:m>
                            <m:oMath xmlns:m="http://schemas.openxmlformats.org/officeDocument/2006/math">
                              <m:r>
                                <a:rPr lang="en-US" b="1" i="1" smtClean="0">
                                  <a:latin typeface="Cambria Math" panose="02040503050406030204" pitchFamily="18" charset="0"/>
                                </a:rPr>
                                <m:t>𝑹</m:t>
                              </m:r>
                              <m:r>
                                <a:rPr lang="en-US" b="1" i="1" smtClean="0">
                                  <a:latin typeface="Cambria Math" panose="02040503050406030204" pitchFamily="18" charset="0"/>
                                </a:rPr>
                                <m:t>=</m:t>
                              </m:r>
                              <m:r>
                                <a:rPr lang="en-US" b="1" i="1" smtClean="0">
                                  <a:latin typeface="Cambria Math" panose="02040503050406030204" pitchFamily="18" charset="0"/>
                                </a:rPr>
                                <m:t>𝑳</m:t>
                              </m:r>
                              <m:r>
                                <a:rPr lang="en-US" b="1" i="1" smtClean="0">
                                  <a:latin typeface="Cambria Math" panose="02040503050406030204" pitchFamily="18" charset="0"/>
                                </a:rPr>
                                <m:t>−</m:t>
                              </m:r>
                              <m:r>
                                <a:rPr lang="en-US" b="1" i="1" smtClean="0">
                                  <a:latin typeface="Cambria Math" panose="02040503050406030204" pitchFamily="18" charset="0"/>
                                </a:rPr>
                                <m:t>𝑺</m:t>
                              </m:r>
                            </m:oMath>
                          </a14:m>
                          <a:endParaRPr lang="en-US" dirty="0"/>
                        </a:p>
                      </a:txBody>
                      <a:tcPr/>
                    </a:tc>
                    <a:extLst>
                      <a:ext uri="{0D108BD9-81ED-4DB2-BD59-A6C34878D82A}">
                        <a16:rowId xmlns:a16="http://schemas.microsoft.com/office/drawing/2014/main" val="4251132706"/>
                      </a:ext>
                    </a:extLst>
                  </a:tr>
                  <a:tr h="370840">
                    <a:tc>
                      <a:txBody>
                        <a:bodyPr/>
                        <a:lstStyle/>
                        <a:p>
                          <a:pPr algn="ctr"/>
                          <a:r>
                            <a:rPr lang="en-US" dirty="0"/>
                            <a:t>1</a:t>
                          </a:r>
                        </a:p>
                      </a:txBody>
                      <a:tcPr/>
                    </a:tc>
                    <a:tc>
                      <a:txBody>
                        <a:bodyPr/>
                        <a:lstStyle/>
                        <a:p>
                          <a:pPr algn="ctr"/>
                          <a:r>
                            <a:rPr lang="en-US" dirty="0"/>
                            <a:t>20</a:t>
                          </a:r>
                        </a:p>
                      </a:txBody>
                      <a:tcPr/>
                    </a:tc>
                    <a:tc>
                      <a:txBody>
                        <a:bodyPr/>
                        <a:lstStyle/>
                        <a:p>
                          <a:pPr algn="ctr"/>
                          <a:r>
                            <a:rPr lang="en-US" dirty="0"/>
                            <a:t>15</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14</a:t>
                          </a:r>
                        </a:p>
                      </a:txBody>
                      <a:tcPr/>
                    </a:tc>
                    <a:tc>
                      <a:txBody>
                        <a:bodyPr/>
                        <a:lstStyle/>
                        <a:p>
                          <a:pPr algn="ctr"/>
                          <a:r>
                            <a:rPr lang="en-US" dirty="0"/>
                            <a:t>14</a:t>
                          </a:r>
                        </a:p>
                      </a:txBody>
                      <a:tcPr/>
                    </a:tc>
                    <a:tc>
                      <a:txBody>
                        <a:bodyPr/>
                        <a:lstStyle/>
                        <a:p>
                          <a:pPr algn="ctr"/>
                          <a:r>
                            <a:rPr lang="en-US" dirty="0"/>
                            <a:t>10</a:t>
                          </a:r>
                        </a:p>
                      </a:txBody>
                      <a:tcPr/>
                    </a:tc>
                    <a:extLst>
                      <a:ext uri="{0D108BD9-81ED-4DB2-BD59-A6C34878D82A}">
                        <a16:rowId xmlns:a16="http://schemas.microsoft.com/office/drawing/2014/main" val="1911367886"/>
                      </a:ext>
                    </a:extLst>
                  </a:tr>
                  <a:tr h="370840">
                    <a:tc>
                      <a:txBody>
                        <a:bodyPr/>
                        <a:lstStyle/>
                        <a:p>
                          <a:pPr algn="ctr"/>
                          <a:r>
                            <a:rPr lang="en-US" dirty="0"/>
                            <a:t>2</a:t>
                          </a:r>
                        </a:p>
                      </a:txBody>
                      <a:tcPr/>
                    </a:tc>
                    <a:tc>
                      <a:txBody>
                        <a:bodyPr/>
                        <a:lstStyle/>
                        <a:p>
                          <a:pPr algn="ctr"/>
                          <a:r>
                            <a:rPr lang="en-US" dirty="0"/>
                            <a:t>12</a:t>
                          </a:r>
                        </a:p>
                      </a:txBody>
                      <a:tcPr/>
                    </a:tc>
                    <a:tc>
                      <a:txBody>
                        <a:bodyPr/>
                        <a:lstStyle/>
                        <a:p>
                          <a:pPr algn="ctr"/>
                          <a:r>
                            <a:rPr lang="en-US" dirty="0"/>
                            <a:t>18</a:t>
                          </a:r>
                        </a:p>
                      </a:txBody>
                      <a:tcPr/>
                    </a:tc>
                    <a:tc>
                      <a:txBody>
                        <a:bodyPr/>
                        <a:lstStyle/>
                        <a:p>
                          <a:pPr algn="ctr"/>
                          <a:r>
                            <a:rPr lang="en-US" dirty="0"/>
                            <a:t>10</a:t>
                          </a:r>
                        </a:p>
                      </a:txBody>
                      <a:tcPr/>
                    </a:tc>
                    <a:tc>
                      <a:txBody>
                        <a:bodyPr/>
                        <a:lstStyle/>
                        <a:p>
                          <a:pPr algn="ctr"/>
                          <a:r>
                            <a:rPr lang="en-US" dirty="0"/>
                            <a:t>8</a:t>
                          </a:r>
                        </a:p>
                      </a:txBody>
                      <a:tcPr/>
                    </a:tc>
                    <a:tc>
                      <a:txBody>
                        <a:bodyPr/>
                        <a:lstStyle/>
                        <a:p>
                          <a:pPr algn="ctr"/>
                          <a:r>
                            <a:rPr lang="en-US" dirty="0"/>
                            <a:t>22</a:t>
                          </a:r>
                        </a:p>
                      </a:txBody>
                      <a:tcPr/>
                    </a:tc>
                    <a:tc>
                      <a:txBody>
                        <a:bodyPr/>
                        <a:lstStyle/>
                        <a:p>
                          <a:pPr algn="ctr"/>
                          <a:r>
                            <a:rPr lang="en-US" dirty="0"/>
                            <a:t>14</a:t>
                          </a:r>
                        </a:p>
                      </a:txBody>
                      <a:tcPr/>
                    </a:tc>
                    <a:tc>
                      <a:txBody>
                        <a:bodyPr/>
                        <a:lstStyle/>
                        <a:p>
                          <a:pPr algn="ctr"/>
                          <a:r>
                            <a:rPr lang="en-US" dirty="0"/>
                            <a:t>14</a:t>
                          </a:r>
                        </a:p>
                      </a:txBody>
                      <a:tcPr/>
                    </a:tc>
                    <a:extLst>
                      <a:ext uri="{0D108BD9-81ED-4DB2-BD59-A6C34878D82A}">
                        <a16:rowId xmlns:a16="http://schemas.microsoft.com/office/drawing/2014/main" val="845202353"/>
                      </a:ext>
                    </a:extLst>
                  </a:tr>
                  <a:tr h="370840">
                    <a:tc>
                      <a:txBody>
                        <a:bodyPr/>
                        <a:lstStyle/>
                        <a:p>
                          <a:pPr algn="ctr"/>
                          <a:r>
                            <a:rPr lang="en-US" dirty="0"/>
                            <a:t>3</a:t>
                          </a:r>
                        </a:p>
                      </a:txBody>
                      <a:tcPr/>
                    </a:tc>
                    <a:tc>
                      <a:txBody>
                        <a:bodyPr/>
                        <a:lstStyle/>
                        <a:p>
                          <a:pPr algn="ctr"/>
                          <a:r>
                            <a:rPr lang="en-US" dirty="0"/>
                            <a:t>21</a:t>
                          </a:r>
                        </a:p>
                      </a:txBody>
                      <a:tcPr/>
                    </a:tc>
                    <a:tc>
                      <a:txBody>
                        <a:bodyPr/>
                        <a:lstStyle/>
                        <a:p>
                          <a:pPr algn="ctr"/>
                          <a:r>
                            <a:rPr lang="en-US" dirty="0"/>
                            <a:t>19</a:t>
                          </a:r>
                        </a:p>
                      </a:txBody>
                      <a:tcPr/>
                    </a:tc>
                    <a:tc>
                      <a:txBody>
                        <a:bodyPr/>
                        <a:lstStyle/>
                        <a:p>
                          <a:pPr algn="ctr"/>
                          <a:r>
                            <a:rPr lang="en-US" dirty="0"/>
                            <a:t>17</a:t>
                          </a:r>
                        </a:p>
                      </a:txBody>
                      <a:tcPr/>
                    </a:tc>
                    <a:tc>
                      <a:txBody>
                        <a:bodyPr/>
                        <a:lstStyle/>
                        <a:p>
                          <a:pPr algn="ctr"/>
                          <a:r>
                            <a:rPr lang="en-US" dirty="0"/>
                            <a:t>10</a:t>
                          </a:r>
                        </a:p>
                      </a:txBody>
                      <a:tcPr/>
                    </a:tc>
                    <a:tc>
                      <a:txBody>
                        <a:bodyPr/>
                        <a:lstStyle/>
                        <a:p>
                          <a:pPr algn="ctr"/>
                          <a:r>
                            <a:rPr lang="en-US" dirty="0"/>
                            <a:t>13</a:t>
                          </a:r>
                        </a:p>
                      </a:txBody>
                      <a:tcPr/>
                    </a:tc>
                    <a:tc>
                      <a:txBody>
                        <a:bodyPr/>
                        <a:lstStyle/>
                        <a:p>
                          <a:pPr algn="ctr"/>
                          <a:r>
                            <a:rPr lang="en-US" dirty="0"/>
                            <a:t>16</a:t>
                          </a:r>
                        </a:p>
                      </a:txBody>
                      <a:tcPr/>
                    </a:tc>
                    <a:tc>
                      <a:txBody>
                        <a:bodyPr/>
                        <a:lstStyle/>
                        <a:p>
                          <a:pPr algn="ctr"/>
                          <a:r>
                            <a:rPr lang="en-US" dirty="0"/>
                            <a:t>11</a:t>
                          </a:r>
                        </a:p>
                      </a:txBody>
                      <a:tcPr/>
                    </a:tc>
                    <a:extLst>
                      <a:ext uri="{0D108BD9-81ED-4DB2-BD59-A6C34878D82A}">
                        <a16:rowId xmlns:a16="http://schemas.microsoft.com/office/drawing/2014/main" val="4139063314"/>
                      </a:ext>
                    </a:extLst>
                  </a:tr>
                  <a:tr h="370840">
                    <a:tc>
                      <a:txBody>
                        <a:bodyPr/>
                        <a:lstStyle/>
                        <a:p>
                          <a:pPr algn="ctr"/>
                          <a:r>
                            <a:rPr lang="en-US" dirty="0"/>
                            <a:t>4</a:t>
                          </a:r>
                        </a:p>
                      </a:txBody>
                      <a:tcPr/>
                    </a:tc>
                    <a:tc>
                      <a:txBody>
                        <a:bodyPr/>
                        <a:lstStyle/>
                        <a:p>
                          <a:pPr algn="ctr"/>
                          <a:r>
                            <a:rPr lang="en-US" dirty="0"/>
                            <a:t>15</a:t>
                          </a:r>
                        </a:p>
                      </a:txBody>
                      <a:tcPr/>
                    </a:tc>
                    <a:tc>
                      <a:txBody>
                        <a:bodyPr/>
                        <a:lstStyle/>
                        <a:p>
                          <a:pPr algn="ctr"/>
                          <a:r>
                            <a:rPr lang="en-US" dirty="0"/>
                            <a:t>12</a:t>
                          </a:r>
                        </a:p>
                      </a:txBody>
                      <a:tcPr/>
                    </a:tc>
                    <a:tc>
                      <a:txBody>
                        <a:bodyPr/>
                        <a:lstStyle/>
                        <a:p>
                          <a:pPr algn="ctr"/>
                          <a:r>
                            <a:rPr lang="en-US" dirty="0"/>
                            <a:t>19</a:t>
                          </a:r>
                        </a:p>
                      </a:txBody>
                      <a:tcPr/>
                    </a:tc>
                    <a:tc>
                      <a:txBody>
                        <a:bodyPr/>
                        <a:lstStyle/>
                        <a:p>
                          <a:pPr algn="ctr"/>
                          <a:r>
                            <a:rPr lang="en-US" dirty="0"/>
                            <a:t>14</a:t>
                          </a:r>
                        </a:p>
                      </a:txBody>
                      <a:tcPr/>
                    </a:tc>
                    <a:tc>
                      <a:txBody>
                        <a:bodyPr/>
                        <a:lstStyle/>
                        <a:p>
                          <a:pPr algn="ctr"/>
                          <a:r>
                            <a:rPr lang="en-US" dirty="0"/>
                            <a:t>20</a:t>
                          </a:r>
                        </a:p>
                      </a:txBody>
                      <a:tcPr/>
                    </a:tc>
                    <a:tc>
                      <a:txBody>
                        <a:bodyPr/>
                        <a:lstStyle/>
                        <a:p>
                          <a:pPr algn="ctr"/>
                          <a:r>
                            <a:rPr lang="en-US" dirty="0"/>
                            <a:t>16</a:t>
                          </a:r>
                        </a:p>
                      </a:txBody>
                      <a:tcPr/>
                    </a:tc>
                    <a:tc>
                      <a:txBody>
                        <a:bodyPr/>
                        <a:lstStyle/>
                        <a:p>
                          <a:pPr algn="ctr"/>
                          <a:r>
                            <a:rPr lang="en-US" dirty="0"/>
                            <a:t>8</a:t>
                          </a:r>
                        </a:p>
                      </a:txBody>
                      <a:tcPr/>
                    </a:tc>
                    <a:extLst>
                      <a:ext uri="{0D108BD9-81ED-4DB2-BD59-A6C34878D82A}">
                        <a16:rowId xmlns:a16="http://schemas.microsoft.com/office/drawing/2014/main" val="750918135"/>
                      </a:ext>
                    </a:extLst>
                  </a:tr>
                  <a:tr h="370840">
                    <a:tc>
                      <a:txBody>
                        <a:bodyPr/>
                        <a:lstStyle/>
                        <a:p>
                          <a:pPr algn="ctr"/>
                          <a:r>
                            <a:rPr lang="en-US" dirty="0"/>
                            <a:t>5</a:t>
                          </a:r>
                        </a:p>
                      </a:txBody>
                      <a:tcPr/>
                    </a:tc>
                    <a:tc>
                      <a:txBody>
                        <a:bodyPr/>
                        <a:lstStyle/>
                        <a:p>
                          <a:pPr algn="ctr"/>
                          <a:r>
                            <a:rPr lang="en-US" dirty="0"/>
                            <a:t>20</a:t>
                          </a:r>
                        </a:p>
                      </a:txBody>
                      <a:tcPr/>
                    </a:tc>
                    <a:tc>
                      <a:txBody>
                        <a:bodyPr/>
                        <a:lstStyle/>
                        <a:p>
                          <a:pPr algn="ctr"/>
                          <a:r>
                            <a:rPr lang="en-US" dirty="0"/>
                            <a:t>19</a:t>
                          </a:r>
                        </a:p>
                      </a:txBody>
                      <a:tcPr/>
                    </a:tc>
                    <a:tc>
                      <a:txBody>
                        <a:bodyPr/>
                        <a:lstStyle/>
                        <a:p>
                          <a:pPr algn="ctr"/>
                          <a:r>
                            <a:rPr lang="en-US" dirty="0"/>
                            <a:t>26</a:t>
                          </a:r>
                        </a:p>
                      </a:txBody>
                      <a:tcPr/>
                    </a:tc>
                    <a:tc>
                      <a:txBody>
                        <a:bodyPr/>
                        <a:lstStyle/>
                        <a:p>
                          <a:pPr algn="ctr"/>
                          <a:r>
                            <a:rPr lang="en-US" dirty="0"/>
                            <a:t>12</a:t>
                          </a:r>
                        </a:p>
                      </a:txBody>
                      <a:tcPr/>
                    </a:tc>
                    <a:tc>
                      <a:txBody>
                        <a:bodyPr/>
                        <a:lstStyle/>
                        <a:p>
                          <a:pPr algn="ctr"/>
                          <a:r>
                            <a:rPr lang="en-US" dirty="0"/>
                            <a:t>23</a:t>
                          </a:r>
                        </a:p>
                      </a:txBody>
                      <a:tcPr/>
                    </a:tc>
                    <a:tc>
                      <a:txBody>
                        <a:bodyPr/>
                        <a:lstStyle/>
                        <a:p>
                          <a:pPr algn="ctr"/>
                          <a:r>
                            <a:rPr lang="en-US" dirty="0"/>
                            <a:t>20</a:t>
                          </a:r>
                        </a:p>
                      </a:txBody>
                      <a:tcPr/>
                    </a:tc>
                    <a:tc>
                      <a:txBody>
                        <a:bodyPr/>
                        <a:lstStyle/>
                        <a:p>
                          <a:pPr algn="ctr"/>
                          <a:r>
                            <a:rPr lang="en-US" dirty="0"/>
                            <a:t>14</a:t>
                          </a:r>
                        </a:p>
                      </a:txBody>
                      <a:tcPr/>
                    </a:tc>
                    <a:extLst>
                      <a:ext uri="{0D108BD9-81ED-4DB2-BD59-A6C34878D82A}">
                        <a16:rowId xmlns:a16="http://schemas.microsoft.com/office/drawing/2014/main" val="1976697807"/>
                      </a:ext>
                    </a:extLst>
                  </a:tr>
                  <a:tr h="370840">
                    <a:tc>
                      <a:txBody>
                        <a:bodyPr/>
                        <a:lstStyle/>
                        <a:p>
                          <a:pPr algn="ctr"/>
                          <a:r>
                            <a:rPr lang="en-US" dirty="0"/>
                            <a:t>Total</a:t>
                          </a:r>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r>
                            <a:rPr lang="en-US" dirty="0"/>
                            <a:t>80</a:t>
                          </a:r>
                        </a:p>
                      </a:txBody>
                      <a:tcPr/>
                    </a:tc>
                    <a:tc>
                      <a:txBody>
                        <a:bodyPr/>
                        <a:lstStyle/>
                        <a:p>
                          <a:pPr algn="ctr"/>
                          <a:r>
                            <a:rPr lang="en-US" dirty="0"/>
                            <a:t>57</a:t>
                          </a:r>
                        </a:p>
                      </a:txBody>
                      <a:tcPr/>
                    </a:tc>
                    <a:extLst>
                      <a:ext uri="{0D108BD9-81ED-4DB2-BD59-A6C34878D82A}">
                        <a16:rowId xmlns:a16="http://schemas.microsoft.com/office/drawing/2014/main" val="2085265663"/>
                      </a:ext>
                    </a:extLst>
                  </a:tr>
                </a:tbl>
              </a:graphicData>
            </a:graphic>
          </p:graphicFrame>
        </mc:Choice>
        <mc:Fallback xmlns="">
          <p:graphicFrame>
            <p:nvGraphicFramePr>
              <p:cNvPr id="2" name="Table 1">
                <a:extLst>
                  <a:ext uri="{FF2B5EF4-FFF2-40B4-BE49-F238E27FC236}">
                    <a16:creationId xmlns:a16="http://schemas.microsoft.com/office/drawing/2014/main" id="{FA3F793B-2BDA-4396-B321-E5864B722229}"/>
                  </a:ext>
                </a:extLst>
              </p:cNvPr>
              <p:cNvGraphicFramePr>
                <a:graphicFrameLocks noGrp="1"/>
              </p:cNvGraphicFramePr>
              <p:nvPr>
                <p:extLst>
                  <p:ext uri="{D42A27DB-BD31-4B8C-83A1-F6EECF244321}">
                    <p14:modId xmlns:p14="http://schemas.microsoft.com/office/powerpoint/2010/main" val="3310394266"/>
                  </p:ext>
                </p:extLst>
              </p:nvPr>
            </p:nvGraphicFramePr>
            <p:xfrm>
              <a:off x="1219200" y="1397000"/>
              <a:ext cx="6781801" cy="2865120"/>
            </p:xfrm>
            <a:graphic>
              <a:graphicData uri="http://schemas.openxmlformats.org/drawingml/2006/table">
                <a:tbl>
                  <a:tblPr firstRow="1" bandRow="1">
                    <a:tableStyleId>{5C22544A-7EE6-4342-B048-85BDC9FD1C3A}</a:tableStyleId>
                  </a:tblPr>
                  <a:tblGrid>
                    <a:gridCol w="1017270">
                      <a:extLst>
                        <a:ext uri="{9D8B030D-6E8A-4147-A177-3AD203B41FA5}">
                          <a16:colId xmlns:a16="http://schemas.microsoft.com/office/drawing/2014/main" val="3158949942"/>
                        </a:ext>
                      </a:extLst>
                    </a:gridCol>
                    <a:gridCol w="678180">
                      <a:extLst>
                        <a:ext uri="{9D8B030D-6E8A-4147-A177-3AD203B41FA5}">
                          <a16:colId xmlns:a16="http://schemas.microsoft.com/office/drawing/2014/main" val="2916186722"/>
                        </a:ext>
                      </a:extLst>
                    </a:gridCol>
                    <a:gridCol w="678180">
                      <a:extLst>
                        <a:ext uri="{9D8B030D-6E8A-4147-A177-3AD203B41FA5}">
                          <a16:colId xmlns:a16="http://schemas.microsoft.com/office/drawing/2014/main" val="202222710"/>
                        </a:ext>
                      </a:extLst>
                    </a:gridCol>
                    <a:gridCol w="762953">
                      <a:extLst>
                        <a:ext uri="{9D8B030D-6E8A-4147-A177-3AD203B41FA5}">
                          <a16:colId xmlns:a16="http://schemas.microsoft.com/office/drawing/2014/main" val="314492358"/>
                        </a:ext>
                      </a:extLst>
                    </a:gridCol>
                    <a:gridCol w="762953">
                      <a:extLst>
                        <a:ext uri="{9D8B030D-6E8A-4147-A177-3AD203B41FA5}">
                          <a16:colId xmlns:a16="http://schemas.microsoft.com/office/drawing/2014/main" val="2758139423"/>
                        </a:ext>
                      </a:extLst>
                    </a:gridCol>
                    <a:gridCol w="678180">
                      <a:extLst>
                        <a:ext uri="{9D8B030D-6E8A-4147-A177-3AD203B41FA5}">
                          <a16:colId xmlns:a16="http://schemas.microsoft.com/office/drawing/2014/main" val="869355815"/>
                        </a:ext>
                      </a:extLst>
                    </a:gridCol>
                    <a:gridCol w="1017270">
                      <a:extLst>
                        <a:ext uri="{9D8B030D-6E8A-4147-A177-3AD203B41FA5}">
                          <a16:colId xmlns:a16="http://schemas.microsoft.com/office/drawing/2014/main" val="1710399177"/>
                        </a:ext>
                      </a:extLst>
                    </a:gridCol>
                    <a:gridCol w="1186815">
                      <a:extLst>
                        <a:ext uri="{9D8B030D-6E8A-4147-A177-3AD203B41FA5}">
                          <a16:colId xmlns:a16="http://schemas.microsoft.com/office/drawing/2014/main" val="1649591032"/>
                        </a:ext>
                      </a:extLst>
                    </a:gridCol>
                  </a:tblGrid>
                  <a:tr h="640080">
                    <a:tc>
                      <a:txBody>
                        <a:bodyPr/>
                        <a:lstStyle/>
                        <a:p>
                          <a:pPr algn="ctr"/>
                          <a:r>
                            <a:rPr lang="en-US" dirty="0"/>
                            <a:t>Sample No.</a:t>
                          </a:r>
                        </a:p>
                      </a:txBody>
                      <a:tcPr/>
                    </a:tc>
                    <a:tc gridSpan="5">
                      <a:txBody>
                        <a:bodyPr/>
                        <a:lstStyle/>
                        <a:p>
                          <a:pPr algn="ctr"/>
                          <a:r>
                            <a:rPr lang="en-US" dirty="0"/>
                            <a:t>Weights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a:txBody>
                        <a:bodyPr/>
                        <a:lstStyle/>
                        <a:p>
                          <a:pPr algn="ctr"/>
                          <a:r>
                            <a:rPr lang="en-US" dirty="0"/>
                            <a:t>Sample mean</a:t>
                          </a:r>
                        </a:p>
                      </a:txBody>
                      <a:tcPr/>
                    </a:tc>
                    <a:tc>
                      <a:txBody>
                        <a:bodyPr/>
                        <a:lstStyle/>
                        <a:p>
                          <a:endParaRPr lang="en-US"/>
                        </a:p>
                      </a:txBody>
                      <a:tcPr>
                        <a:blipFill>
                          <a:blip r:embed="rId3"/>
                          <a:stretch>
                            <a:fillRect l="-471795" t="-4762" r="-2051" b="-361905"/>
                          </a:stretch>
                        </a:blipFill>
                      </a:tcPr>
                    </a:tc>
                    <a:extLst>
                      <a:ext uri="{0D108BD9-81ED-4DB2-BD59-A6C34878D82A}">
                        <a16:rowId xmlns:a16="http://schemas.microsoft.com/office/drawing/2014/main" val="4251132706"/>
                      </a:ext>
                    </a:extLst>
                  </a:tr>
                  <a:tr h="370840">
                    <a:tc>
                      <a:txBody>
                        <a:bodyPr/>
                        <a:lstStyle/>
                        <a:p>
                          <a:pPr algn="ctr"/>
                          <a:r>
                            <a:rPr lang="en-US" dirty="0"/>
                            <a:t>1</a:t>
                          </a:r>
                        </a:p>
                      </a:txBody>
                      <a:tcPr/>
                    </a:tc>
                    <a:tc>
                      <a:txBody>
                        <a:bodyPr/>
                        <a:lstStyle/>
                        <a:p>
                          <a:pPr algn="ctr"/>
                          <a:r>
                            <a:rPr lang="en-US" dirty="0"/>
                            <a:t>20</a:t>
                          </a:r>
                        </a:p>
                      </a:txBody>
                      <a:tcPr/>
                    </a:tc>
                    <a:tc>
                      <a:txBody>
                        <a:bodyPr/>
                        <a:lstStyle/>
                        <a:p>
                          <a:pPr algn="ctr"/>
                          <a:r>
                            <a:rPr lang="en-US" dirty="0"/>
                            <a:t>15</a:t>
                          </a:r>
                        </a:p>
                      </a:txBody>
                      <a:tcPr/>
                    </a:tc>
                    <a:tc>
                      <a:txBody>
                        <a:bodyPr/>
                        <a:lstStyle/>
                        <a:p>
                          <a:pPr algn="ctr"/>
                          <a:r>
                            <a:rPr lang="en-US" dirty="0"/>
                            <a:t>10</a:t>
                          </a:r>
                        </a:p>
                      </a:txBody>
                      <a:tcPr/>
                    </a:tc>
                    <a:tc>
                      <a:txBody>
                        <a:bodyPr/>
                        <a:lstStyle/>
                        <a:p>
                          <a:pPr algn="ctr"/>
                          <a:r>
                            <a:rPr lang="en-US" dirty="0"/>
                            <a:t>11</a:t>
                          </a:r>
                        </a:p>
                      </a:txBody>
                      <a:tcPr/>
                    </a:tc>
                    <a:tc>
                      <a:txBody>
                        <a:bodyPr/>
                        <a:lstStyle/>
                        <a:p>
                          <a:pPr algn="ctr"/>
                          <a:r>
                            <a:rPr lang="en-US" dirty="0"/>
                            <a:t>14</a:t>
                          </a:r>
                        </a:p>
                      </a:txBody>
                      <a:tcPr/>
                    </a:tc>
                    <a:tc>
                      <a:txBody>
                        <a:bodyPr/>
                        <a:lstStyle/>
                        <a:p>
                          <a:pPr algn="ctr"/>
                          <a:r>
                            <a:rPr lang="en-US" dirty="0"/>
                            <a:t>14</a:t>
                          </a:r>
                        </a:p>
                      </a:txBody>
                      <a:tcPr/>
                    </a:tc>
                    <a:tc>
                      <a:txBody>
                        <a:bodyPr/>
                        <a:lstStyle/>
                        <a:p>
                          <a:pPr algn="ctr"/>
                          <a:r>
                            <a:rPr lang="en-US" dirty="0"/>
                            <a:t>10</a:t>
                          </a:r>
                        </a:p>
                      </a:txBody>
                      <a:tcPr/>
                    </a:tc>
                    <a:extLst>
                      <a:ext uri="{0D108BD9-81ED-4DB2-BD59-A6C34878D82A}">
                        <a16:rowId xmlns:a16="http://schemas.microsoft.com/office/drawing/2014/main" val="1911367886"/>
                      </a:ext>
                    </a:extLst>
                  </a:tr>
                  <a:tr h="370840">
                    <a:tc>
                      <a:txBody>
                        <a:bodyPr/>
                        <a:lstStyle/>
                        <a:p>
                          <a:pPr algn="ctr"/>
                          <a:r>
                            <a:rPr lang="en-US" dirty="0"/>
                            <a:t>2</a:t>
                          </a:r>
                        </a:p>
                      </a:txBody>
                      <a:tcPr/>
                    </a:tc>
                    <a:tc>
                      <a:txBody>
                        <a:bodyPr/>
                        <a:lstStyle/>
                        <a:p>
                          <a:pPr algn="ctr"/>
                          <a:r>
                            <a:rPr lang="en-US" dirty="0"/>
                            <a:t>12</a:t>
                          </a:r>
                        </a:p>
                      </a:txBody>
                      <a:tcPr/>
                    </a:tc>
                    <a:tc>
                      <a:txBody>
                        <a:bodyPr/>
                        <a:lstStyle/>
                        <a:p>
                          <a:pPr algn="ctr"/>
                          <a:r>
                            <a:rPr lang="en-US" dirty="0"/>
                            <a:t>18</a:t>
                          </a:r>
                        </a:p>
                      </a:txBody>
                      <a:tcPr/>
                    </a:tc>
                    <a:tc>
                      <a:txBody>
                        <a:bodyPr/>
                        <a:lstStyle/>
                        <a:p>
                          <a:pPr algn="ctr"/>
                          <a:r>
                            <a:rPr lang="en-US" dirty="0"/>
                            <a:t>10</a:t>
                          </a:r>
                        </a:p>
                      </a:txBody>
                      <a:tcPr/>
                    </a:tc>
                    <a:tc>
                      <a:txBody>
                        <a:bodyPr/>
                        <a:lstStyle/>
                        <a:p>
                          <a:pPr algn="ctr"/>
                          <a:r>
                            <a:rPr lang="en-US" dirty="0"/>
                            <a:t>8</a:t>
                          </a:r>
                        </a:p>
                      </a:txBody>
                      <a:tcPr/>
                    </a:tc>
                    <a:tc>
                      <a:txBody>
                        <a:bodyPr/>
                        <a:lstStyle/>
                        <a:p>
                          <a:pPr algn="ctr"/>
                          <a:r>
                            <a:rPr lang="en-US" dirty="0"/>
                            <a:t>22</a:t>
                          </a:r>
                        </a:p>
                      </a:txBody>
                      <a:tcPr/>
                    </a:tc>
                    <a:tc>
                      <a:txBody>
                        <a:bodyPr/>
                        <a:lstStyle/>
                        <a:p>
                          <a:pPr algn="ctr"/>
                          <a:r>
                            <a:rPr lang="en-US" dirty="0"/>
                            <a:t>14</a:t>
                          </a:r>
                        </a:p>
                      </a:txBody>
                      <a:tcPr/>
                    </a:tc>
                    <a:tc>
                      <a:txBody>
                        <a:bodyPr/>
                        <a:lstStyle/>
                        <a:p>
                          <a:pPr algn="ctr"/>
                          <a:r>
                            <a:rPr lang="en-US" dirty="0"/>
                            <a:t>14</a:t>
                          </a:r>
                        </a:p>
                      </a:txBody>
                      <a:tcPr/>
                    </a:tc>
                    <a:extLst>
                      <a:ext uri="{0D108BD9-81ED-4DB2-BD59-A6C34878D82A}">
                        <a16:rowId xmlns:a16="http://schemas.microsoft.com/office/drawing/2014/main" val="845202353"/>
                      </a:ext>
                    </a:extLst>
                  </a:tr>
                  <a:tr h="370840">
                    <a:tc>
                      <a:txBody>
                        <a:bodyPr/>
                        <a:lstStyle/>
                        <a:p>
                          <a:pPr algn="ctr"/>
                          <a:r>
                            <a:rPr lang="en-US" dirty="0"/>
                            <a:t>3</a:t>
                          </a:r>
                        </a:p>
                      </a:txBody>
                      <a:tcPr/>
                    </a:tc>
                    <a:tc>
                      <a:txBody>
                        <a:bodyPr/>
                        <a:lstStyle/>
                        <a:p>
                          <a:pPr algn="ctr"/>
                          <a:r>
                            <a:rPr lang="en-US" dirty="0"/>
                            <a:t>21</a:t>
                          </a:r>
                        </a:p>
                      </a:txBody>
                      <a:tcPr/>
                    </a:tc>
                    <a:tc>
                      <a:txBody>
                        <a:bodyPr/>
                        <a:lstStyle/>
                        <a:p>
                          <a:pPr algn="ctr"/>
                          <a:r>
                            <a:rPr lang="en-US" dirty="0"/>
                            <a:t>19</a:t>
                          </a:r>
                        </a:p>
                      </a:txBody>
                      <a:tcPr/>
                    </a:tc>
                    <a:tc>
                      <a:txBody>
                        <a:bodyPr/>
                        <a:lstStyle/>
                        <a:p>
                          <a:pPr algn="ctr"/>
                          <a:r>
                            <a:rPr lang="en-US" dirty="0"/>
                            <a:t>17</a:t>
                          </a:r>
                        </a:p>
                      </a:txBody>
                      <a:tcPr/>
                    </a:tc>
                    <a:tc>
                      <a:txBody>
                        <a:bodyPr/>
                        <a:lstStyle/>
                        <a:p>
                          <a:pPr algn="ctr"/>
                          <a:r>
                            <a:rPr lang="en-US" dirty="0"/>
                            <a:t>10</a:t>
                          </a:r>
                        </a:p>
                      </a:txBody>
                      <a:tcPr/>
                    </a:tc>
                    <a:tc>
                      <a:txBody>
                        <a:bodyPr/>
                        <a:lstStyle/>
                        <a:p>
                          <a:pPr algn="ctr"/>
                          <a:r>
                            <a:rPr lang="en-US" dirty="0"/>
                            <a:t>13</a:t>
                          </a:r>
                        </a:p>
                      </a:txBody>
                      <a:tcPr/>
                    </a:tc>
                    <a:tc>
                      <a:txBody>
                        <a:bodyPr/>
                        <a:lstStyle/>
                        <a:p>
                          <a:pPr algn="ctr"/>
                          <a:r>
                            <a:rPr lang="en-US" dirty="0"/>
                            <a:t>16</a:t>
                          </a:r>
                        </a:p>
                      </a:txBody>
                      <a:tcPr/>
                    </a:tc>
                    <a:tc>
                      <a:txBody>
                        <a:bodyPr/>
                        <a:lstStyle/>
                        <a:p>
                          <a:pPr algn="ctr"/>
                          <a:r>
                            <a:rPr lang="en-US" dirty="0"/>
                            <a:t>11</a:t>
                          </a:r>
                        </a:p>
                      </a:txBody>
                      <a:tcPr/>
                    </a:tc>
                    <a:extLst>
                      <a:ext uri="{0D108BD9-81ED-4DB2-BD59-A6C34878D82A}">
                        <a16:rowId xmlns:a16="http://schemas.microsoft.com/office/drawing/2014/main" val="4139063314"/>
                      </a:ext>
                    </a:extLst>
                  </a:tr>
                  <a:tr h="370840">
                    <a:tc>
                      <a:txBody>
                        <a:bodyPr/>
                        <a:lstStyle/>
                        <a:p>
                          <a:pPr algn="ctr"/>
                          <a:r>
                            <a:rPr lang="en-US" dirty="0"/>
                            <a:t>4</a:t>
                          </a:r>
                        </a:p>
                      </a:txBody>
                      <a:tcPr/>
                    </a:tc>
                    <a:tc>
                      <a:txBody>
                        <a:bodyPr/>
                        <a:lstStyle/>
                        <a:p>
                          <a:pPr algn="ctr"/>
                          <a:r>
                            <a:rPr lang="en-US" dirty="0"/>
                            <a:t>15</a:t>
                          </a:r>
                        </a:p>
                      </a:txBody>
                      <a:tcPr/>
                    </a:tc>
                    <a:tc>
                      <a:txBody>
                        <a:bodyPr/>
                        <a:lstStyle/>
                        <a:p>
                          <a:pPr algn="ctr"/>
                          <a:r>
                            <a:rPr lang="en-US" dirty="0"/>
                            <a:t>12</a:t>
                          </a:r>
                        </a:p>
                      </a:txBody>
                      <a:tcPr/>
                    </a:tc>
                    <a:tc>
                      <a:txBody>
                        <a:bodyPr/>
                        <a:lstStyle/>
                        <a:p>
                          <a:pPr algn="ctr"/>
                          <a:r>
                            <a:rPr lang="en-US" dirty="0"/>
                            <a:t>19</a:t>
                          </a:r>
                        </a:p>
                      </a:txBody>
                      <a:tcPr/>
                    </a:tc>
                    <a:tc>
                      <a:txBody>
                        <a:bodyPr/>
                        <a:lstStyle/>
                        <a:p>
                          <a:pPr algn="ctr"/>
                          <a:r>
                            <a:rPr lang="en-US" dirty="0"/>
                            <a:t>14</a:t>
                          </a:r>
                        </a:p>
                      </a:txBody>
                      <a:tcPr/>
                    </a:tc>
                    <a:tc>
                      <a:txBody>
                        <a:bodyPr/>
                        <a:lstStyle/>
                        <a:p>
                          <a:pPr algn="ctr"/>
                          <a:r>
                            <a:rPr lang="en-US" dirty="0"/>
                            <a:t>20</a:t>
                          </a:r>
                        </a:p>
                      </a:txBody>
                      <a:tcPr/>
                    </a:tc>
                    <a:tc>
                      <a:txBody>
                        <a:bodyPr/>
                        <a:lstStyle/>
                        <a:p>
                          <a:pPr algn="ctr"/>
                          <a:r>
                            <a:rPr lang="en-US" dirty="0"/>
                            <a:t>16</a:t>
                          </a:r>
                        </a:p>
                      </a:txBody>
                      <a:tcPr/>
                    </a:tc>
                    <a:tc>
                      <a:txBody>
                        <a:bodyPr/>
                        <a:lstStyle/>
                        <a:p>
                          <a:pPr algn="ctr"/>
                          <a:r>
                            <a:rPr lang="en-US" dirty="0"/>
                            <a:t>8</a:t>
                          </a:r>
                        </a:p>
                      </a:txBody>
                      <a:tcPr/>
                    </a:tc>
                    <a:extLst>
                      <a:ext uri="{0D108BD9-81ED-4DB2-BD59-A6C34878D82A}">
                        <a16:rowId xmlns:a16="http://schemas.microsoft.com/office/drawing/2014/main" val="750918135"/>
                      </a:ext>
                    </a:extLst>
                  </a:tr>
                  <a:tr h="370840">
                    <a:tc>
                      <a:txBody>
                        <a:bodyPr/>
                        <a:lstStyle/>
                        <a:p>
                          <a:pPr algn="ctr"/>
                          <a:r>
                            <a:rPr lang="en-US" dirty="0"/>
                            <a:t>5</a:t>
                          </a:r>
                        </a:p>
                      </a:txBody>
                      <a:tcPr/>
                    </a:tc>
                    <a:tc>
                      <a:txBody>
                        <a:bodyPr/>
                        <a:lstStyle/>
                        <a:p>
                          <a:pPr algn="ctr"/>
                          <a:r>
                            <a:rPr lang="en-US" dirty="0"/>
                            <a:t>20</a:t>
                          </a:r>
                        </a:p>
                      </a:txBody>
                      <a:tcPr/>
                    </a:tc>
                    <a:tc>
                      <a:txBody>
                        <a:bodyPr/>
                        <a:lstStyle/>
                        <a:p>
                          <a:pPr algn="ctr"/>
                          <a:r>
                            <a:rPr lang="en-US" dirty="0"/>
                            <a:t>19</a:t>
                          </a:r>
                        </a:p>
                      </a:txBody>
                      <a:tcPr/>
                    </a:tc>
                    <a:tc>
                      <a:txBody>
                        <a:bodyPr/>
                        <a:lstStyle/>
                        <a:p>
                          <a:pPr algn="ctr"/>
                          <a:r>
                            <a:rPr lang="en-US" dirty="0"/>
                            <a:t>26</a:t>
                          </a:r>
                        </a:p>
                      </a:txBody>
                      <a:tcPr/>
                    </a:tc>
                    <a:tc>
                      <a:txBody>
                        <a:bodyPr/>
                        <a:lstStyle/>
                        <a:p>
                          <a:pPr algn="ctr"/>
                          <a:r>
                            <a:rPr lang="en-US" dirty="0"/>
                            <a:t>12</a:t>
                          </a:r>
                        </a:p>
                      </a:txBody>
                      <a:tcPr/>
                    </a:tc>
                    <a:tc>
                      <a:txBody>
                        <a:bodyPr/>
                        <a:lstStyle/>
                        <a:p>
                          <a:pPr algn="ctr"/>
                          <a:r>
                            <a:rPr lang="en-US" dirty="0"/>
                            <a:t>23</a:t>
                          </a:r>
                        </a:p>
                      </a:txBody>
                      <a:tcPr/>
                    </a:tc>
                    <a:tc>
                      <a:txBody>
                        <a:bodyPr/>
                        <a:lstStyle/>
                        <a:p>
                          <a:pPr algn="ctr"/>
                          <a:r>
                            <a:rPr lang="en-US" dirty="0"/>
                            <a:t>20</a:t>
                          </a:r>
                        </a:p>
                      </a:txBody>
                      <a:tcPr/>
                    </a:tc>
                    <a:tc>
                      <a:txBody>
                        <a:bodyPr/>
                        <a:lstStyle/>
                        <a:p>
                          <a:pPr algn="ctr"/>
                          <a:r>
                            <a:rPr lang="en-US" dirty="0"/>
                            <a:t>14</a:t>
                          </a:r>
                        </a:p>
                      </a:txBody>
                      <a:tcPr/>
                    </a:tc>
                    <a:extLst>
                      <a:ext uri="{0D108BD9-81ED-4DB2-BD59-A6C34878D82A}">
                        <a16:rowId xmlns:a16="http://schemas.microsoft.com/office/drawing/2014/main" val="1976697807"/>
                      </a:ext>
                    </a:extLst>
                  </a:tr>
                  <a:tr h="370840">
                    <a:tc>
                      <a:txBody>
                        <a:bodyPr/>
                        <a:lstStyle/>
                        <a:p>
                          <a:pPr algn="ctr"/>
                          <a:r>
                            <a:rPr lang="en-US" dirty="0"/>
                            <a:t>Total</a:t>
                          </a:r>
                        </a:p>
                      </a:txBody>
                      <a:tcPr/>
                    </a:tc>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r>
                            <a:rPr lang="en-US" dirty="0"/>
                            <a:t>80</a:t>
                          </a:r>
                        </a:p>
                      </a:txBody>
                      <a:tcPr/>
                    </a:tc>
                    <a:tc>
                      <a:txBody>
                        <a:bodyPr/>
                        <a:lstStyle/>
                        <a:p>
                          <a:pPr algn="ctr"/>
                          <a:r>
                            <a:rPr lang="en-US" dirty="0"/>
                            <a:t>57</a:t>
                          </a:r>
                        </a:p>
                      </a:txBody>
                      <a:tcPr/>
                    </a:tc>
                    <a:extLst>
                      <a:ext uri="{0D108BD9-81ED-4DB2-BD59-A6C34878D82A}">
                        <a16:rowId xmlns:a16="http://schemas.microsoft.com/office/drawing/2014/main" val="2085265663"/>
                      </a:ext>
                    </a:extLst>
                  </a:tr>
                </a:tbl>
              </a:graphicData>
            </a:graphic>
          </p:graphicFrame>
        </mc:Fallback>
      </mc:AlternateContent>
    </p:spTree>
    <p:extLst>
      <p:ext uri="{BB962C8B-B14F-4D97-AF65-F5344CB8AC3E}">
        <p14:creationId xmlns:p14="http://schemas.microsoft.com/office/powerpoint/2010/main" val="394040028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8" end="8"/>
                                            </p:txEl>
                                          </p:spTgt>
                                        </p:tgtEl>
                                        <p:attrNameLst>
                                          <p:attrName>style.visibility</p:attrName>
                                        </p:attrNameLst>
                                      </p:cBhvr>
                                      <p:to>
                                        <p:strVal val="visible"/>
                                      </p:to>
                                    </p:set>
                                    <p:animEffect transition="in" filter="fade">
                                      <p:cBhvr>
                                        <p:cTn id="14" dur="1000"/>
                                        <p:tgtEl>
                                          <p:spTgt spid="3">
                                            <p:txEl>
                                              <p:pRg st="8" end="8"/>
                                            </p:txEl>
                                          </p:spTgt>
                                        </p:tgtEl>
                                      </p:cBhvr>
                                    </p:animEffect>
                                    <p:anim calcmode="lin" valueType="num">
                                      <p:cBhvr>
                                        <p:cTn id="1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1000"/>
                                        <p:tgtEl>
                                          <p:spTgt spid="3">
                                            <p:txEl>
                                              <p:pRg st="9" end="9"/>
                                            </p:txEl>
                                          </p:spTgt>
                                        </p:tgtEl>
                                      </p:cBhvr>
                                    </p:animEffect>
                                    <p:anim calcmode="lin" valueType="num">
                                      <p:cBhvr>
                                        <p:cTn id="2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r>
                      <a:rPr lang="en-US" sz="2200" i="1">
                        <a:latin typeface="Cambria Math"/>
                      </a:rPr>
                      <m:t>𝑙𝑎𝑟𝑔𝑒𝑠𝑡</m:t>
                    </m:r>
                    <m:r>
                      <a:rPr lang="en-US" sz="2200" i="1">
                        <a:latin typeface="Cambria Math"/>
                      </a:rPr>
                      <m:t>−</m:t>
                    </m:r>
                    <m:r>
                      <a:rPr lang="en-US" sz="2200" i="1">
                        <a:latin typeface="Cambria Math"/>
                      </a:rPr>
                      <m:t>𝑠𝑚𝑎𝑙𝑙𝑒𝑠𝑡</m:t>
                    </m:r>
                    <m:r>
                      <a:rPr lang="en-US" sz="2200" i="1">
                        <a:latin typeface="Cambria Math"/>
                      </a:rPr>
                      <m:t>=20−10=10</m:t>
                    </m:r>
                  </m:oMath>
                </a14:m>
                <a:r>
                  <a:rPr lang="en-US" sz="2200" dirty="0"/>
                  <a:t> </a:t>
                </a: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=22−8=14</m:t>
                    </m:r>
                  </m:oMath>
                </a14:m>
                <a:r>
                  <a:rPr lang="en-US" sz="2200" dirty="0"/>
                  <a:t> </a:t>
                </a: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3</m:t>
                        </m:r>
                      </m:sub>
                    </m:sSub>
                    <m:r>
                      <a:rPr lang="en-US" sz="2200" i="1">
                        <a:latin typeface="Cambria Math"/>
                      </a:rPr>
                      <m:t>=11</m:t>
                    </m:r>
                  </m:oMath>
                </a14:m>
                <a:r>
                  <a:rPr lang="en-US" sz="2200" dirty="0"/>
                  <a:t> </a:t>
                </a: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4</m:t>
                        </m:r>
                      </m:sub>
                    </m:sSub>
                    <m:r>
                      <a:rPr lang="en-US" sz="2200" i="1">
                        <a:latin typeface="Cambria Math"/>
                      </a:rPr>
                      <m:t>=8</m:t>
                    </m:r>
                  </m:oMath>
                </a14:m>
                <a:r>
                  <a:rPr lang="en-US" sz="2200" dirty="0"/>
                  <a:t> </a:t>
                </a:r>
              </a:p>
              <a:p>
                <a:pPr marL="0" indent="0">
                  <a:buNone/>
                </a:pP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5</m:t>
                        </m:r>
                      </m:sub>
                    </m:sSub>
                    <m:r>
                      <a:rPr lang="en-US" sz="2200" i="1">
                        <a:latin typeface="Cambria Math"/>
                      </a:rPr>
                      <m:t>=14</m:t>
                    </m:r>
                  </m:oMath>
                </a14:m>
                <a:r>
                  <a:rPr lang="en-US" sz="2200" dirty="0"/>
                  <a:t> </a:t>
                </a:r>
              </a:p>
              <a:p>
                <a:pPr marL="0" indent="0">
                  <a:buNone/>
                </a:pP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1</m:t>
                                </m:r>
                              </m:sub>
                            </m:sSub>
                          </m:e>
                        </m:acc>
                        <m:r>
                          <a:rPr lang="en-US" sz="2200" i="1">
                            <a:latin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2</m:t>
                                </m:r>
                              </m:sub>
                            </m:sSub>
                          </m:e>
                        </m:acc>
                        <m:r>
                          <a:rPr lang="en-US" sz="2200" i="1">
                            <a:latin typeface="Cambria Math"/>
                          </a:rPr>
                          <m:t>+</m:t>
                        </m:r>
                        <m:r>
                          <a:rPr lang="en-US" sz="2200" i="1">
                            <a:latin typeface="Cambria Math"/>
                            <a:ea typeface="Cambria Math"/>
                          </a:rPr>
                          <m:t>⋯⋯+</m:t>
                        </m:r>
                        <m:acc>
                          <m:accPr>
                            <m:chr m:val="̅"/>
                            <m:ctrlPr>
                              <a:rPr lang="en-US" sz="2200" i="1">
                                <a:latin typeface="Cambria Math" panose="02040503050406030204" pitchFamily="18" charset="0"/>
                              </a:rPr>
                            </m:ctrlPr>
                          </m:accPr>
                          <m:e>
                            <m:sSub>
                              <m:sSubPr>
                                <m:ctrlPr>
                                  <a:rPr lang="en-US" sz="2200" i="1">
                                    <a:latin typeface="Cambria Math" panose="02040503050406030204" pitchFamily="18" charset="0"/>
                                  </a:rPr>
                                </m:ctrlPr>
                              </m:sSubPr>
                              <m:e>
                                <m:r>
                                  <a:rPr lang="en-US" sz="2200" i="1">
                                    <a:latin typeface="Cambria Math"/>
                                  </a:rPr>
                                  <m:t>𝑥</m:t>
                                </m:r>
                              </m:e>
                              <m:sub>
                                <m:r>
                                  <a:rPr lang="en-US" sz="2200" i="1">
                                    <a:latin typeface="Cambria Math"/>
                                  </a:rPr>
                                  <m:t>5</m:t>
                                </m:r>
                              </m:sub>
                            </m:sSub>
                          </m:e>
                        </m:acc>
                      </m:num>
                      <m:den>
                        <m:r>
                          <a:rPr lang="en-US" sz="2200" i="1">
                            <a:latin typeface="Cambria Math"/>
                          </a:rPr>
                          <m:t>5</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80</m:t>
                        </m:r>
                      </m:num>
                      <m:den>
                        <m:r>
                          <a:rPr lang="en-US" sz="2200" i="1">
                            <a:latin typeface="Cambria Math"/>
                          </a:rPr>
                          <m:t>5</m:t>
                        </m:r>
                      </m:den>
                    </m:f>
                    <m:r>
                      <a:rPr lang="en-US" sz="2200" i="1">
                        <a:latin typeface="Cambria Math"/>
                      </a:rPr>
                      <m:t>=16</m:t>
                    </m:r>
                  </m:oMath>
                </a14:m>
                <a:r>
                  <a:rPr lang="en-US" sz="2200" dirty="0"/>
                  <a:t> </a:t>
                </a:r>
              </a:p>
              <a:p>
                <a:pPr marL="0" indent="0">
                  <a:buNone/>
                </a:pP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m:t>
                    </m:r>
                    <m:f>
                      <m:fPr>
                        <m:ctrlPr>
                          <a:rPr lang="en-US" sz="2200" i="1">
                            <a:latin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1</m:t>
                            </m:r>
                          </m:sub>
                        </m:sSub>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2</m:t>
                            </m:r>
                          </m:sub>
                        </m:sSub>
                        <m:r>
                          <a:rPr lang="en-US" sz="2200" i="1">
                            <a:latin typeface="Cambria Math"/>
                          </a:rPr>
                          <m:t>+</m:t>
                        </m:r>
                        <m:r>
                          <a:rPr lang="en-US" sz="2200" i="1">
                            <a:latin typeface="Cambria Math"/>
                            <a:ea typeface="Cambria Math"/>
                          </a:rPr>
                          <m:t>⋯⋯+</m:t>
                        </m:r>
                        <m:sSub>
                          <m:sSubPr>
                            <m:ctrlPr>
                              <a:rPr lang="en-US" sz="2200" i="1">
                                <a:latin typeface="Cambria Math" panose="02040503050406030204" pitchFamily="18" charset="0"/>
                              </a:rPr>
                            </m:ctrlPr>
                          </m:sSubPr>
                          <m:e>
                            <m:r>
                              <a:rPr lang="en-US" sz="2200" i="1">
                                <a:latin typeface="Cambria Math"/>
                              </a:rPr>
                              <m:t>𝑅</m:t>
                            </m:r>
                          </m:e>
                          <m:sub>
                            <m:r>
                              <a:rPr lang="en-US" sz="2200" i="1">
                                <a:latin typeface="Cambria Math"/>
                              </a:rPr>
                              <m:t>5</m:t>
                            </m:r>
                          </m:sub>
                        </m:sSub>
                      </m:num>
                      <m:den>
                        <m:r>
                          <a:rPr lang="en-US" sz="2200" i="1">
                            <a:latin typeface="Cambria Math"/>
                          </a:rPr>
                          <m:t>5</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57</m:t>
                        </m:r>
                      </m:num>
                      <m:den>
                        <m:r>
                          <a:rPr lang="en-US" sz="2200" i="1">
                            <a:latin typeface="Cambria Math"/>
                          </a:rPr>
                          <m:t>5</m:t>
                        </m:r>
                      </m:den>
                    </m:f>
                    <m:r>
                      <a:rPr lang="en-US" sz="2200" i="1">
                        <a:latin typeface="Cambria Math"/>
                      </a:rPr>
                      <m:t>=11.4</m:t>
                    </m:r>
                  </m:oMath>
                </a14:m>
                <a:r>
                  <a:rPr lang="en-US" sz="2200" dirty="0"/>
                  <a:t> </a:t>
                </a:r>
              </a:p>
              <a:p>
                <a:r>
                  <a:rPr lang="en-US" sz="2200" dirty="0"/>
                  <a:t>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=16</m:t>
                    </m:r>
                  </m:oMath>
                </a14:m>
                <a:endParaRPr lang="en-US" sz="2200" dirty="0"/>
              </a:p>
              <a:p>
                <a:pPr marL="0" indent="0">
                  <a:buNone/>
                </a:pPr>
                <a:r>
                  <a:rPr lang="en-US" sz="2200" dirty="0"/>
                  <a:t>     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=22.577</m:t>
                    </m:r>
                  </m:oMath>
                </a14:m>
                <a:r>
                  <a:rPr lang="en-US" sz="2200" dirty="0"/>
                  <a:t> here </a:t>
                </a:r>
                <a14:m>
                  <m:oMath xmlns:m="http://schemas.openxmlformats.org/officeDocument/2006/math">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r>
                      <a:rPr lang="en-US" sz="2200" i="1">
                        <a:latin typeface="Cambria Math"/>
                      </a:rPr>
                      <m:t>=0.577</m:t>
                    </m:r>
                  </m:oMath>
                </a14:m>
                <a:r>
                  <a:rPr lang="en-US" sz="2200" dirty="0"/>
                  <a:t> (Given) 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𝑥</m:t>
                        </m:r>
                      </m:e>
                    </m:acc>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𝐴</m:t>
                        </m:r>
                      </m:e>
                      <m:sub>
                        <m:r>
                          <a:rPr lang="en-US" sz="2200" i="1">
                            <a:latin typeface="Cambria Math"/>
                          </a:rPr>
                          <m:t>2</m:t>
                        </m:r>
                      </m:sub>
                    </m:sSub>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=9.423</m:t>
                    </m:r>
                  </m:oMath>
                </a14:m>
                <a:endParaRPr lang="en-US" sz="2200" dirty="0"/>
              </a:p>
              <a:p>
                <a:pPr marL="0" indent="0">
                  <a:buNone/>
                </a:pPr>
                <a:r>
                  <a:rPr lang="en-US" sz="2200" dirty="0"/>
                  <a:t> </a:t>
                </a:r>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3382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51287066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pic>
        <p:nvPicPr>
          <p:cNvPr id="6553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327" t="21581" r="16526" b="17196"/>
          <a:stretch/>
        </p:blipFill>
        <p:spPr bwMode="auto">
          <a:xfrm>
            <a:off x="533400" y="1066801"/>
            <a:ext cx="74676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828800" y="0"/>
            <a:ext cx="7315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157375915"/>
      </p:ext>
    </p:extLst>
  </p:cSld>
  <p:clrMapOvr>
    <a:masterClrMapping/>
  </p:clrMapOvr>
  <p:transition spd="slow">
    <p:push dir="u"/>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R-chart:</a:t>
                </a:r>
              </a:p>
              <a:p>
                <a:r>
                  <a:rPr lang="en-US" sz="2200" dirty="0"/>
                  <a:t>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=11.4</m:t>
                    </m:r>
                  </m:oMath>
                </a14:m>
                <a:endParaRPr lang="en-US" sz="2200" dirty="0"/>
              </a:p>
              <a:p>
                <a:pPr marL="0" indent="0">
                  <a:buNone/>
                </a:pPr>
                <a:r>
                  <a:rPr lang="en-US" sz="2200" dirty="0"/>
                  <a:t>     UCL</a:t>
                </a:r>
                <a14:m>
                  <m:oMath xmlns:m="http://schemas.openxmlformats.org/officeDocument/2006/math">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4</m:t>
                        </m:r>
                      </m:sub>
                    </m:sSub>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=24.09</m:t>
                    </m:r>
                  </m:oMath>
                </a14:m>
                <a:r>
                  <a:rPr lang="en-US" sz="2200" dirty="0"/>
                  <a:t>     </a:t>
                </a:r>
                <a14:m>
                  <m:oMath xmlns:m="http://schemas.openxmlformats.org/officeDocument/2006/math">
                    <m:d>
                      <m:dPr>
                        <m:ctrlPr>
                          <a:rPr lang="en-US" sz="2200" i="1">
                            <a:latin typeface="Cambria Math" panose="02040503050406030204" pitchFamily="18" charset="0"/>
                          </a:rPr>
                        </m:ctrlPr>
                      </m:dPr>
                      <m:e>
                        <m:r>
                          <a:rPr lang="en-US" sz="2200" i="1" dirty="0">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4</m:t>
                            </m:r>
                          </m:sub>
                        </m:sSub>
                        <m:r>
                          <a:rPr lang="en-US" sz="2200" i="1">
                            <a:latin typeface="Cambria Math"/>
                          </a:rPr>
                          <m:t>=2.115</m:t>
                        </m:r>
                      </m:e>
                    </m:d>
                  </m:oMath>
                </a14:m>
                <a:endParaRPr lang="en-US" sz="2200" dirty="0"/>
              </a:p>
              <a:p>
                <a:pPr marL="0" indent="0">
                  <a:buNone/>
                </a:pPr>
                <a:r>
                  <a:rPr lang="en-US" sz="2200" dirty="0"/>
                  <a:t>     LCL</a:t>
                </a:r>
                <a14:m>
                  <m:oMath xmlns:m="http://schemas.openxmlformats.org/officeDocument/2006/math">
                    <m:r>
                      <a:rPr lang="en-US" sz="2200" i="1">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3</m:t>
                        </m:r>
                      </m:sub>
                    </m:sSub>
                    <m:acc>
                      <m:accPr>
                        <m:chr m:val="̅"/>
                        <m:ctrlPr>
                          <a:rPr lang="en-US" sz="2200" i="1">
                            <a:latin typeface="Cambria Math" panose="02040503050406030204" pitchFamily="18" charset="0"/>
                          </a:rPr>
                        </m:ctrlPr>
                      </m:accPr>
                      <m:e>
                        <m:r>
                          <a:rPr lang="en-US" sz="2200" i="1">
                            <a:latin typeface="Cambria Math"/>
                          </a:rPr>
                          <m:t>𝑅</m:t>
                        </m:r>
                      </m:e>
                    </m:acc>
                    <m:r>
                      <a:rPr lang="en-US" sz="2200" i="1">
                        <a:latin typeface="Cambria Math"/>
                      </a:rPr>
                      <m:t>=0</m:t>
                    </m:r>
                  </m:oMath>
                </a14:m>
                <a:r>
                  <a:rPr lang="en-US" sz="2200" b="1" dirty="0"/>
                  <a:t>               </a:t>
                </a:r>
                <a14:m>
                  <m:oMath xmlns:m="http://schemas.openxmlformats.org/officeDocument/2006/math">
                    <m:d>
                      <m:dPr>
                        <m:ctrlPr>
                          <a:rPr lang="en-US" sz="2200" i="1">
                            <a:latin typeface="Cambria Math" panose="02040503050406030204" pitchFamily="18" charset="0"/>
                          </a:rPr>
                        </m:ctrlPr>
                      </m:dPr>
                      <m:e>
                        <m:r>
                          <a:rPr lang="en-US" sz="2200" i="1" dirty="0">
                            <a:latin typeface="Cambria Math"/>
                          </a:rPr>
                          <m:t>∵</m:t>
                        </m:r>
                        <m:sSub>
                          <m:sSubPr>
                            <m:ctrlPr>
                              <a:rPr lang="en-US" sz="2200" i="1">
                                <a:latin typeface="Cambria Math" panose="02040503050406030204" pitchFamily="18" charset="0"/>
                              </a:rPr>
                            </m:ctrlPr>
                          </m:sSubPr>
                          <m:e>
                            <m:r>
                              <a:rPr lang="en-US" sz="2200" i="1">
                                <a:latin typeface="Cambria Math"/>
                              </a:rPr>
                              <m:t>𝐷</m:t>
                            </m:r>
                          </m:e>
                          <m:sub>
                            <m:r>
                              <a:rPr lang="en-US" sz="2200" i="1">
                                <a:latin typeface="Cambria Math"/>
                              </a:rPr>
                              <m:t>3</m:t>
                            </m:r>
                          </m:sub>
                        </m:sSub>
                        <m:r>
                          <a:rPr lang="en-US" sz="2200" i="1">
                            <a:latin typeface="Cambria Math"/>
                          </a:rPr>
                          <m:t>=0</m:t>
                        </m:r>
                      </m:e>
                    </m:d>
                  </m:oMath>
                </a14:m>
                <a:endParaRPr lang="en-US" sz="2200" dirty="0"/>
              </a:p>
              <a:p>
                <a:pPr marL="0" indent="0">
                  <a:buNone/>
                </a:pPr>
                <a:endParaRPr lang="en-US" sz="2200" b="1" dirty="0"/>
              </a:p>
              <a:p>
                <a:pPr marL="0" indent="0">
                  <a:buNone/>
                </a:pPr>
                <a:endParaRPr lang="en-US" sz="2200" b="1"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125</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3728132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126</a:t>
            </a:fld>
            <a:endParaRPr lang="en-US"/>
          </a:p>
        </p:txBody>
      </p:sp>
      <p:pic>
        <p:nvPicPr>
          <p:cNvPr id="6656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154" t="22805" r="17214" b="19645"/>
          <a:stretch/>
        </p:blipFill>
        <p:spPr bwMode="auto">
          <a:xfrm>
            <a:off x="1143000" y="1143000"/>
            <a:ext cx="6934200" cy="464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386875558"/>
      </p:ext>
    </p:extLst>
  </p:cSld>
  <p:clrMapOvr>
    <a:masterClrMapping/>
  </p:clrMapOvr>
  <p:transition spd="slow">
    <p:push dir="u"/>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200" b="1" dirty="0"/>
              <a:t>Q1. </a:t>
            </a:r>
            <a:r>
              <a:rPr lang="en-US" sz="2200" dirty="0"/>
              <a:t>An inspection of 10 samples of size 100 each from 10 lots reveal the following number of defectives:   16,18,11,18,21,10,20,18,17,21. Do these indicate that the quality characteristics inspected is under statistical control.</a:t>
            </a:r>
          </a:p>
          <a:p>
            <a:pPr marL="0" indent="0" algn="r">
              <a:buNone/>
            </a:pPr>
            <a:r>
              <a:rPr lang="en-US" sz="2200" b="1" dirty="0"/>
              <a:t>Ans. Process is in under statistical control</a:t>
            </a:r>
            <a:endParaRPr lang="en-US" sz="2200" dirty="0"/>
          </a:p>
          <a:p>
            <a:pPr marL="0" indent="0">
              <a:buNone/>
            </a:pPr>
            <a:r>
              <a:rPr lang="en-US" sz="2200" b="1" dirty="0"/>
              <a:t>Q2. </a:t>
            </a:r>
            <a:r>
              <a:rPr lang="en-US" dirty="0"/>
              <a:t>A machine drills hole in a pipe with a mean diameter of 0.532 cm and a standard deviation of 0.002 cm. Calculate the control limits for mean of samples 5.</a:t>
            </a:r>
          </a:p>
          <a:p>
            <a:pPr marL="0" indent="0" algn="r">
              <a:buNone/>
            </a:pPr>
            <a:r>
              <a:rPr lang="en-US" sz="2200" b="1" dirty="0"/>
              <a:t>Ans. CL=0.532, UCL=0.5346, LCL=0.5293</a:t>
            </a:r>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Quiz(CO5)</a:t>
            </a:r>
            <a:endParaRPr kumimoji="0" lang="en-US" sz="24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8429869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Control chart for attributes: are</a:t>
                </a:r>
                <a:r>
                  <a:rPr lang="en-US" sz="2200" dirty="0"/>
                  <a:t> used to monitor characteristic that have discrete values &amp; can be counted. </a:t>
                </a:r>
                <a:r>
                  <a:rPr lang="en-US" sz="2200" dirty="0" err="1"/>
                  <a:t>e.g</a:t>
                </a:r>
                <a:r>
                  <a:rPr lang="en-US" sz="2200" dirty="0"/>
                  <a:t>- percentage of defective etc. such charts are of three types-</a:t>
                </a:r>
              </a:p>
              <a:p>
                <a:pPr marL="514350" indent="-514350">
                  <a:buAutoNum type="arabicPeriod"/>
                </a:pPr>
                <a14:m>
                  <m:oMath xmlns:m="http://schemas.openxmlformats.org/officeDocument/2006/math">
                    <m:r>
                      <a:rPr lang="en-US" sz="2200" i="1">
                        <a:latin typeface="Cambria Math"/>
                      </a:rPr>
                      <m:t>𝑝</m:t>
                    </m:r>
                  </m:oMath>
                </a14:m>
                <a:r>
                  <a:rPr lang="en-US" sz="2200" dirty="0"/>
                  <a:t>-chart( fraction/proportion defective chart)</a:t>
                </a:r>
              </a:p>
              <a:p>
                <a:pPr marL="514350" indent="-514350">
                  <a:buAutoNum type="arabicPeriod"/>
                </a:pPr>
                <a14:m>
                  <m:oMath xmlns:m="http://schemas.openxmlformats.org/officeDocument/2006/math">
                    <m:r>
                      <a:rPr lang="en-US" sz="2200" i="1">
                        <a:latin typeface="Cambria Math"/>
                      </a:rPr>
                      <m:t>𝑛𝑝</m:t>
                    </m:r>
                  </m:oMath>
                </a14:m>
                <a:r>
                  <a:rPr lang="en-US" sz="2200" dirty="0"/>
                  <a:t>-chart(no. of defective chart)/d-chart</a:t>
                </a:r>
              </a:p>
              <a:p>
                <a:pPr marL="514350" indent="-514350">
                  <a:buAutoNum type="arabicPeriod"/>
                </a:pPr>
                <a:r>
                  <a:rPr lang="en-US" sz="2200" dirty="0"/>
                  <a:t>C-chart( no. of defect per Module chart)</a:t>
                </a:r>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103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128</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1778496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14:m>
                  <m:oMath xmlns:m="http://schemas.openxmlformats.org/officeDocument/2006/math">
                    <m:r>
                      <a:rPr lang="en-US" sz="2200" b="1" i="1">
                        <a:latin typeface="Cambria Math"/>
                      </a:rPr>
                      <m:t>𝒑</m:t>
                    </m:r>
                  </m:oMath>
                </a14:m>
                <a:r>
                  <a:rPr lang="en-US" sz="2200" b="1" dirty="0"/>
                  <a:t>-chart: </a:t>
                </a:r>
                <a:r>
                  <a:rPr lang="en-US" sz="2200" dirty="0"/>
                  <a:t>is designed to control the percentage or proportion/fraction of defective per samples.</a:t>
                </a:r>
              </a:p>
              <a:p>
                <a:pPr marL="0" indent="0">
                  <a:buNone/>
                </a:pPr>
                <a:r>
                  <a:rPr lang="en-US" sz="2200" b="1" dirty="0"/>
                  <a:t>Construction of </a:t>
                </a:r>
                <a14:m>
                  <m:oMath xmlns:m="http://schemas.openxmlformats.org/officeDocument/2006/math">
                    <m:r>
                      <a:rPr lang="en-US" sz="2200" b="1" i="1">
                        <a:latin typeface="Cambria Math"/>
                      </a:rPr>
                      <m:t>𝒑</m:t>
                    </m:r>
                  </m:oMath>
                </a14:m>
                <a:r>
                  <a:rPr lang="en-US" sz="2200" b="1" dirty="0"/>
                  <a:t>-chart</a:t>
                </a:r>
                <a:r>
                  <a:rPr lang="en-US" sz="2200" dirty="0"/>
                  <a:t>:</a:t>
                </a:r>
              </a:p>
              <a:p>
                <a:r>
                  <a:rPr lang="en-US" sz="2200" dirty="0"/>
                  <a:t>Calculate fraction defective </a:t>
                </a:r>
                <a14:m>
                  <m:oMath xmlns:m="http://schemas.openxmlformats.org/officeDocument/2006/math">
                    <m:r>
                      <a:rPr lang="en-US" sz="2200" i="1">
                        <a:latin typeface="Cambria Math"/>
                      </a:rPr>
                      <m:t>𝑝</m:t>
                    </m:r>
                  </m:oMath>
                </a14:m>
                <a:r>
                  <a:rPr lang="en-US" sz="2200" dirty="0"/>
                  <a:t> for each sample</a:t>
                </a:r>
              </a:p>
              <a:p>
                <a:pPr marL="0" indent="0">
                  <a:buNone/>
                </a:pPr>
                <a:r>
                  <a:rPr lang="en-US" sz="2200" dirty="0"/>
                  <a:t>i.e. Fraction defective </a:t>
                </a:r>
                <a14:m>
                  <m:oMath xmlns:m="http://schemas.openxmlformats.org/officeDocument/2006/math">
                    <m:r>
                      <a:rPr lang="en-US" sz="2200" i="1">
                        <a:latin typeface="Cambria Math"/>
                      </a:rPr>
                      <m:t>𝑝</m:t>
                    </m:r>
                    <m:r>
                      <a:rPr lang="en-US" sz="2200" i="1">
                        <a:latin typeface="Cambria Math"/>
                      </a:rPr>
                      <m:t>=</m:t>
                    </m:r>
                    <m:f>
                      <m:fPr>
                        <m:ctrlPr>
                          <a:rPr lang="en-US" sz="2200" i="1">
                            <a:latin typeface="Cambria Math" panose="02040503050406030204" pitchFamily="18" charset="0"/>
                          </a:rPr>
                        </m:ctrlPr>
                      </m:fPr>
                      <m:num>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𝑑𝑒𝑓𝑒𝑐𝑡𝑖𝑣𝑒</m:t>
                        </m:r>
                        <m:r>
                          <a:rPr lang="en-US" sz="2200" i="1">
                            <a:latin typeface="Cambria Math"/>
                          </a:rPr>
                          <m:t> </m:t>
                        </m:r>
                        <m:r>
                          <a:rPr lang="en-US" sz="2200" i="1">
                            <a:latin typeface="Cambria Math"/>
                          </a:rPr>
                          <m:t>𝑖𝑡𝑒𝑚</m:t>
                        </m:r>
                      </m:num>
                      <m:den>
                        <m:r>
                          <a:rPr lang="en-US" sz="2200" i="1">
                            <a:latin typeface="Cambria Math"/>
                          </a:rPr>
                          <m:t>𝑠𝑖𝑧𝑒</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𝑡h𝑒</m:t>
                        </m:r>
                        <m:r>
                          <a:rPr lang="en-US" sz="2200" i="1">
                            <a:latin typeface="Cambria Math"/>
                          </a:rPr>
                          <m:t> </m:t>
                        </m:r>
                        <m:r>
                          <a:rPr lang="en-US" sz="2200" i="1">
                            <a:latin typeface="Cambria Math"/>
                          </a:rPr>
                          <m:t>𝑠𝑎𝑚𝑝𝑙𝑒</m:t>
                        </m:r>
                      </m:den>
                    </m:f>
                  </m:oMath>
                </a14:m>
                <a:endParaRPr lang="en-US" sz="2200" dirty="0"/>
              </a:p>
              <a:p>
                <a:pPr marL="0" indent="0">
                  <a:buNone/>
                </a:pPr>
                <a:endParaRPr lang="en-US" sz="2200" dirty="0"/>
              </a:p>
              <a:p>
                <a:r>
                  <a:rPr lang="en-US" sz="2200" dirty="0"/>
                  <a:t>Calculate avg. fraction defective </a:t>
                </a:r>
                <a14:m>
                  <m:oMath xmlns:m="http://schemas.openxmlformats.org/officeDocument/2006/math">
                    <m:d>
                      <m:dPr>
                        <m:ctrlPr>
                          <a:rPr lang="en-US" sz="2200" i="1">
                            <a:latin typeface="Cambria Math" panose="02040503050406030204" pitchFamily="18" charset="0"/>
                          </a:rPr>
                        </m:ctrlPr>
                      </m:dPr>
                      <m:e>
                        <m:acc>
                          <m:accPr>
                            <m:chr m:val="̅"/>
                            <m:ctrlPr>
                              <a:rPr lang="en-US" sz="2200" i="1">
                                <a:latin typeface="Cambria Math" panose="02040503050406030204" pitchFamily="18" charset="0"/>
                              </a:rPr>
                            </m:ctrlPr>
                          </m:accPr>
                          <m:e>
                            <m:r>
                              <a:rPr lang="en-US" sz="2200" i="1">
                                <a:latin typeface="Cambria Math"/>
                              </a:rPr>
                              <m:t>𝑝</m:t>
                            </m:r>
                          </m:e>
                        </m:acc>
                      </m:e>
                    </m:d>
                  </m:oMath>
                </a14:m>
                <a:endParaRPr lang="en-US" sz="2200" dirty="0"/>
              </a:p>
              <a:p>
                <a:pPr marL="0" indent="0">
                  <a:buNone/>
                </a:pPr>
                <a:r>
                  <a:rPr lang="en-US" sz="2200" dirty="0"/>
                  <a:t>i.e.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m:t>
                    </m:r>
                    <m:f>
                      <m:fPr>
                        <m:ctrlPr>
                          <a:rPr lang="en-US" sz="2200" i="1">
                            <a:latin typeface="Cambria Math" panose="02040503050406030204" pitchFamily="18" charset="0"/>
                          </a:rPr>
                        </m:ctrlPr>
                      </m:fPr>
                      <m:num>
                        <m:r>
                          <a:rPr lang="en-US" sz="2200" i="1">
                            <a:latin typeface="Cambria Math"/>
                          </a:rPr>
                          <m:t>𝑇𝑜𝑡𝑎𝑙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𝑑𝑒𝑓𝑒𝑐𝑡𝑖𝑣𝑒</m:t>
                        </m:r>
                      </m:num>
                      <m:den>
                        <m:r>
                          <a:rPr lang="en-US" sz="2200" i="1">
                            <a:latin typeface="Cambria Math"/>
                          </a:rPr>
                          <m:t>𝑇𝑜𝑡𝑎𝑙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𝑢𝑛𝑖𝑡</m:t>
                        </m:r>
                        <m:r>
                          <a:rPr lang="en-US" sz="2200" i="1">
                            <a:latin typeface="Cambria Math"/>
                          </a:rPr>
                          <m:t> </m:t>
                        </m:r>
                        <m:r>
                          <a:rPr lang="en-US" sz="2200" i="1">
                            <a:latin typeface="Cambria Math"/>
                          </a:rPr>
                          <m:t>𝑖𝑛𝑠𝑝𝑒𝑐𝑡𝑒𝑑</m:t>
                        </m:r>
                      </m:den>
                    </m:f>
                  </m:oMath>
                </a14:m>
                <a:r>
                  <a:rPr lang="en-US" sz="2200" dirty="0"/>
                  <a:t>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129</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3477928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r>
                  <a:rPr lang="en-US" sz="2200" dirty="0"/>
                  <a:t>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oMath>
                </a14:m>
                <a:endParaRPr lang="en-US" sz="2200" dirty="0"/>
              </a:p>
              <a:p>
                <a:pPr marL="0" indent="0">
                  <a:buNone/>
                </a:pPr>
                <a:r>
                  <a:rPr lang="en-US" sz="2200" dirty="0"/>
                  <a:t>    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+3</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𝑝</m:t>
                                </m:r>
                              </m:e>
                            </m:acc>
                            <m:d>
                              <m:dPr>
                                <m:ctrlPr>
                                  <a:rPr lang="en-US" sz="2200" i="1">
                                    <a:latin typeface="Cambria Math" panose="02040503050406030204" pitchFamily="18" charset="0"/>
                                  </a:rPr>
                                </m:ctrlPr>
                              </m:dPr>
                              <m:e>
                                <m:r>
                                  <a:rPr lang="en-US" sz="2200" i="1">
                                    <a:latin typeface="Cambria Math"/>
                                  </a:rPr>
                                  <m:t>1−</m:t>
                                </m:r>
                                <m:acc>
                                  <m:accPr>
                                    <m:chr m:val="̅"/>
                                    <m:ctrlPr>
                                      <a:rPr lang="en-US" sz="2200" i="1">
                                        <a:latin typeface="Cambria Math" panose="02040503050406030204" pitchFamily="18" charset="0"/>
                                      </a:rPr>
                                    </m:ctrlPr>
                                  </m:accPr>
                                  <m:e>
                                    <m:r>
                                      <a:rPr lang="en-US" sz="2200" i="1">
                                        <a:latin typeface="Cambria Math"/>
                                      </a:rPr>
                                      <m:t>𝑝</m:t>
                                    </m:r>
                                  </m:e>
                                </m:acc>
                              </m:e>
                            </m:d>
                          </m:num>
                          <m:den>
                            <m:r>
                              <a:rPr lang="en-US" sz="2200" i="1">
                                <a:latin typeface="Cambria Math"/>
                              </a:rPr>
                              <m:t>𝑛</m:t>
                            </m:r>
                          </m:den>
                        </m:f>
                      </m:e>
                    </m:rad>
                  </m:oMath>
                </a14:m>
                <a:endParaRPr lang="en-US" sz="2200" dirty="0"/>
              </a:p>
              <a:p>
                <a:pPr marL="0" indent="0">
                  <a:buNone/>
                </a:pPr>
                <a:r>
                  <a:rPr lang="en-US" sz="2200" dirty="0"/>
                  <a:t>     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−3</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𝑝</m:t>
                                </m:r>
                              </m:e>
                            </m:acc>
                            <m:d>
                              <m:dPr>
                                <m:ctrlPr>
                                  <a:rPr lang="en-US" sz="2200" i="1">
                                    <a:latin typeface="Cambria Math" panose="02040503050406030204" pitchFamily="18" charset="0"/>
                                  </a:rPr>
                                </m:ctrlPr>
                              </m:dPr>
                              <m:e>
                                <m:r>
                                  <a:rPr lang="en-US" sz="2200" i="1">
                                    <a:latin typeface="Cambria Math"/>
                                  </a:rPr>
                                  <m:t>1−</m:t>
                                </m:r>
                                <m:acc>
                                  <m:accPr>
                                    <m:chr m:val="̅"/>
                                    <m:ctrlPr>
                                      <a:rPr lang="en-US" sz="2200" i="1">
                                        <a:latin typeface="Cambria Math" panose="02040503050406030204" pitchFamily="18" charset="0"/>
                                      </a:rPr>
                                    </m:ctrlPr>
                                  </m:accPr>
                                  <m:e>
                                    <m:r>
                                      <a:rPr lang="en-US" sz="2200" i="1">
                                        <a:latin typeface="Cambria Math"/>
                                      </a:rPr>
                                      <m:t>𝑝</m:t>
                                    </m:r>
                                  </m:e>
                                </m:acc>
                              </m:e>
                            </m:d>
                          </m:num>
                          <m:den>
                            <m:r>
                              <a:rPr lang="en-US" sz="2200" i="1">
                                <a:latin typeface="Cambria Math"/>
                              </a:rPr>
                              <m:t>𝑛</m:t>
                            </m:r>
                          </m:den>
                        </m:f>
                      </m:e>
                    </m:rad>
                  </m:oMath>
                </a14:m>
                <a:endParaRPr lang="en-US" sz="2200" dirty="0"/>
              </a:p>
              <a:p>
                <a:pPr marL="0" indent="0">
                  <a:buNone/>
                </a:pPr>
                <a:r>
                  <a:rPr lang="en-US" sz="2200" dirty="0"/>
                  <a:t>where</a:t>
                </a:r>
                <a14:m>
                  <m:oMath xmlns:m="http://schemas.openxmlformats.org/officeDocument/2006/math">
                    <m:r>
                      <a:rPr lang="en-US" sz="2200" i="1">
                        <a:latin typeface="Cambria Math"/>
                      </a:rPr>
                      <m:t> </m:t>
                    </m:r>
                    <m:r>
                      <a:rPr lang="en-US" sz="2200" i="1">
                        <a:latin typeface="Cambria Math"/>
                      </a:rPr>
                      <m:t>𝑛</m:t>
                    </m:r>
                    <m:r>
                      <a:rPr lang="en-US" sz="2200" i="1">
                        <a:latin typeface="Cambria Math"/>
                      </a:rPr>
                      <m:t>=</m:t>
                    </m:r>
                    <m:f>
                      <m:fPr>
                        <m:ctrlPr>
                          <a:rPr lang="en-US" sz="2200" i="1">
                            <a:latin typeface="Cambria Math" panose="02040503050406030204" pitchFamily="18" charset="0"/>
                          </a:rPr>
                        </m:ctrlPr>
                      </m:fPr>
                      <m:num>
                        <m:r>
                          <a:rPr lang="en-US" sz="2200" i="1">
                            <a:latin typeface="Cambria Math"/>
                          </a:rPr>
                          <m:t>𝑡𝑜𝑡𝑎𝑙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𝑢𝑛𝑖𝑡</m:t>
                        </m:r>
                        <m:r>
                          <a:rPr lang="en-US" sz="2200" i="1">
                            <a:latin typeface="Cambria Math"/>
                          </a:rPr>
                          <m:t> </m:t>
                        </m:r>
                        <m:r>
                          <a:rPr lang="en-US" sz="2200" i="1">
                            <a:latin typeface="Cambria Math"/>
                          </a:rPr>
                          <m:t>𝑖𝑛𝑠𝑝𝑒𝑐𝑡𝑒𝑑</m:t>
                        </m:r>
                      </m:num>
                      <m:den>
                        <m:r>
                          <a:rPr lang="en-US" sz="2200" i="1">
                            <a:latin typeface="Cambria Math"/>
                          </a:rPr>
                          <m:t>𝑛𝑜</m:t>
                        </m:r>
                        <m:r>
                          <a:rPr lang="en-US" sz="2200" i="1">
                            <a:latin typeface="Cambria Math"/>
                          </a:rPr>
                          <m:t>.</m:t>
                        </m:r>
                        <m:r>
                          <a:rPr lang="en-US" sz="2200" i="1">
                            <a:latin typeface="Cambria Math"/>
                          </a:rPr>
                          <m:t>𝑜𝑓</m:t>
                        </m:r>
                        <m:r>
                          <a:rPr lang="en-US" sz="2200" i="1">
                            <a:latin typeface="Cambria Math"/>
                          </a:rPr>
                          <m:t> </m:t>
                        </m:r>
                        <m:r>
                          <a:rPr lang="en-US" sz="2200" i="1">
                            <a:latin typeface="Cambria Math"/>
                          </a:rPr>
                          <m:t>𝑠𝑎𝑚𝑝𝑙𝑒</m:t>
                        </m:r>
                      </m:den>
                    </m:f>
                  </m:oMath>
                </a14:m>
                <a:endParaRPr lang="en-US" sz="2200" dirty="0"/>
              </a:p>
              <a:p>
                <a:r>
                  <a:rPr lang="en-US" sz="2200" dirty="0"/>
                  <a:t>If the fraction defective of each sample lie with in the UCL and LCL then process is in control. If it lie outside then process is out of control.</a:t>
                </a:r>
              </a:p>
              <a:p>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363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130</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3846870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indent="0" algn="just">
              <a:buNone/>
            </a:pPr>
            <a:r>
              <a:rPr lang="en-US" sz="2200" b="1" dirty="0"/>
              <a:t>Example-1 </a:t>
            </a:r>
            <a:r>
              <a:rPr lang="en-US" sz="2200" dirty="0"/>
              <a:t>The following data refers to visual defects found during the inspection of the first 10 samples of size 100 each from a lot of two wheelers manufactured by automobile company:</a:t>
            </a:r>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endParaRPr lang="en-US" sz="2200" dirty="0"/>
          </a:p>
          <a:p>
            <a:pPr marL="0" indent="0" algn="just">
              <a:buNone/>
            </a:pPr>
            <a:r>
              <a:rPr lang="en-US" sz="2200" dirty="0"/>
              <a:t>Construct a control chart for fraction defective. What conclusions you draw from the control chart? </a:t>
            </a:r>
          </a:p>
          <a:p>
            <a:pPr marL="0" indent="0">
              <a:buNone/>
            </a:pPr>
            <a:endParaRPr lang="en-US" sz="2200" dirty="0"/>
          </a:p>
          <a:p>
            <a:pPr marL="0" indent="0">
              <a:buNone/>
            </a:pPr>
            <a:endParaRPr lang="en-US" sz="2200" dirty="0"/>
          </a:p>
          <a:p>
            <a:pPr marL="0" indent="0" algn="just">
              <a:buNone/>
            </a:pPr>
            <a:r>
              <a:rPr lang="en-US" sz="2200" dirty="0"/>
              <a:t> </a:t>
            </a:r>
            <a:endParaRPr lang="en-US" sz="2200" b="1" dirty="0"/>
          </a:p>
          <a:p>
            <a:pPr marL="0" indent="0">
              <a:buNone/>
            </a:pP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131</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2" name="Table 1">
            <a:extLst>
              <a:ext uri="{FF2B5EF4-FFF2-40B4-BE49-F238E27FC236}">
                <a16:creationId xmlns:a16="http://schemas.microsoft.com/office/drawing/2014/main" id="{B99F2C49-A782-4901-8250-7B72D92D1242}"/>
              </a:ext>
            </a:extLst>
          </p:cNvPr>
          <p:cNvGraphicFramePr>
            <a:graphicFrameLocks noGrp="1"/>
          </p:cNvGraphicFramePr>
          <p:nvPr>
            <p:extLst>
              <p:ext uri="{D42A27DB-BD31-4B8C-83A1-F6EECF244321}">
                <p14:modId xmlns:p14="http://schemas.microsoft.com/office/powerpoint/2010/main" val="2198958014"/>
              </p:ext>
            </p:extLst>
          </p:nvPr>
        </p:nvGraphicFramePr>
        <p:xfrm>
          <a:off x="685800" y="2418080"/>
          <a:ext cx="7543800" cy="1127124"/>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3011077217"/>
                    </a:ext>
                  </a:extLst>
                </a:gridCol>
                <a:gridCol w="533400">
                  <a:extLst>
                    <a:ext uri="{9D8B030D-6E8A-4147-A177-3AD203B41FA5}">
                      <a16:colId xmlns:a16="http://schemas.microsoft.com/office/drawing/2014/main" val="4056660272"/>
                    </a:ext>
                  </a:extLst>
                </a:gridCol>
                <a:gridCol w="457200">
                  <a:extLst>
                    <a:ext uri="{9D8B030D-6E8A-4147-A177-3AD203B41FA5}">
                      <a16:colId xmlns:a16="http://schemas.microsoft.com/office/drawing/2014/main" val="2947770730"/>
                    </a:ext>
                  </a:extLst>
                </a:gridCol>
                <a:gridCol w="457200">
                  <a:extLst>
                    <a:ext uri="{9D8B030D-6E8A-4147-A177-3AD203B41FA5}">
                      <a16:colId xmlns:a16="http://schemas.microsoft.com/office/drawing/2014/main" val="1019331956"/>
                    </a:ext>
                  </a:extLst>
                </a:gridCol>
                <a:gridCol w="457200">
                  <a:extLst>
                    <a:ext uri="{9D8B030D-6E8A-4147-A177-3AD203B41FA5}">
                      <a16:colId xmlns:a16="http://schemas.microsoft.com/office/drawing/2014/main" val="1422448675"/>
                    </a:ext>
                  </a:extLst>
                </a:gridCol>
                <a:gridCol w="533400">
                  <a:extLst>
                    <a:ext uri="{9D8B030D-6E8A-4147-A177-3AD203B41FA5}">
                      <a16:colId xmlns:a16="http://schemas.microsoft.com/office/drawing/2014/main" val="1385985576"/>
                    </a:ext>
                  </a:extLst>
                </a:gridCol>
                <a:gridCol w="533400">
                  <a:extLst>
                    <a:ext uri="{9D8B030D-6E8A-4147-A177-3AD203B41FA5}">
                      <a16:colId xmlns:a16="http://schemas.microsoft.com/office/drawing/2014/main" val="551587735"/>
                    </a:ext>
                  </a:extLst>
                </a:gridCol>
                <a:gridCol w="533400">
                  <a:extLst>
                    <a:ext uri="{9D8B030D-6E8A-4147-A177-3AD203B41FA5}">
                      <a16:colId xmlns:a16="http://schemas.microsoft.com/office/drawing/2014/main" val="850931062"/>
                    </a:ext>
                  </a:extLst>
                </a:gridCol>
                <a:gridCol w="533400">
                  <a:extLst>
                    <a:ext uri="{9D8B030D-6E8A-4147-A177-3AD203B41FA5}">
                      <a16:colId xmlns:a16="http://schemas.microsoft.com/office/drawing/2014/main" val="3473375450"/>
                    </a:ext>
                  </a:extLst>
                </a:gridCol>
                <a:gridCol w="533400">
                  <a:extLst>
                    <a:ext uri="{9D8B030D-6E8A-4147-A177-3AD203B41FA5}">
                      <a16:colId xmlns:a16="http://schemas.microsoft.com/office/drawing/2014/main" val="3161820905"/>
                    </a:ext>
                  </a:extLst>
                </a:gridCol>
                <a:gridCol w="685800">
                  <a:extLst>
                    <a:ext uri="{9D8B030D-6E8A-4147-A177-3AD203B41FA5}">
                      <a16:colId xmlns:a16="http://schemas.microsoft.com/office/drawing/2014/main" val="3649821183"/>
                    </a:ext>
                  </a:extLst>
                </a:gridCol>
              </a:tblGrid>
              <a:tr h="713656">
                <a:tc>
                  <a:txBody>
                    <a:bodyPr/>
                    <a:lstStyle/>
                    <a:p>
                      <a:r>
                        <a:rPr lang="en-US" sz="2000" dirty="0"/>
                        <a:t>No. of samples</a:t>
                      </a:r>
                    </a:p>
                    <a:p>
                      <a:r>
                        <a:rPr lang="en-US" sz="2000" dirty="0"/>
                        <a:t>(each of 100 items)</a:t>
                      </a:r>
                    </a:p>
                  </a:txBody>
                  <a:tcPr/>
                </a:tc>
                <a:tc>
                  <a:txBody>
                    <a:bodyPr/>
                    <a:lstStyle/>
                    <a:p>
                      <a:r>
                        <a:rPr lang="en-US" sz="2000" dirty="0"/>
                        <a:t>1</a:t>
                      </a:r>
                    </a:p>
                  </a:txBody>
                  <a:tcPr/>
                </a:tc>
                <a:tc>
                  <a:txBody>
                    <a:bodyPr/>
                    <a:lstStyle/>
                    <a:p>
                      <a:r>
                        <a:rPr lang="en-US" sz="2000" dirty="0"/>
                        <a:t>2</a:t>
                      </a:r>
                    </a:p>
                  </a:txBody>
                  <a:tcPr/>
                </a:tc>
                <a:tc>
                  <a:txBody>
                    <a:bodyPr/>
                    <a:lstStyle/>
                    <a:p>
                      <a:r>
                        <a:rPr lang="en-US" sz="2000" dirty="0"/>
                        <a:t>3</a:t>
                      </a:r>
                    </a:p>
                  </a:txBody>
                  <a:tcPr/>
                </a:tc>
                <a:tc>
                  <a:txBody>
                    <a:bodyPr/>
                    <a:lstStyle/>
                    <a:p>
                      <a:r>
                        <a:rPr lang="en-US" sz="2000" dirty="0"/>
                        <a:t>4</a:t>
                      </a:r>
                    </a:p>
                  </a:txBody>
                  <a:tcPr/>
                </a:tc>
                <a:tc>
                  <a:txBody>
                    <a:bodyPr/>
                    <a:lstStyle/>
                    <a:p>
                      <a:r>
                        <a:rPr lang="en-US" sz="2000" dirty="0"/>
                        <a:t>5</a:t>
                      </a:r>
                    </a:p>
                  </a:txBody>
                  <a:tcPr/>
                </a:tc>
                <a:tc>
                  <a:txBody>
                    <a:bodyPr/>
                    <a:lstStyle/>
                    <a:p>
                      <a:r>
                        <a:rPr lang="en-US" sz="2000" dirty="0"/>
                        <a:t>6</a:t>
                      </a:r>
                    </a:p>
                  </a:txBody>
                  <a:tcPr/>
                </a:tc>
                <a:tc>
                  <a:txBody>
                    <a:bodyPr/>
                    <a:lstStyle/>
                    <a:p>
                      <a:r>
                        <a:rPr lang="en-US" sz="2000" dirty="0"/>
                        <a:t>7</a:t>
                      </a:r>
                    </a:p>
                  </a:txBody>
                  <a:tcPr/>
                </a:tc>
                <a:tc>
                  <a:txBody>
                    <a:bodyPr/>
                    <a:lstStyle/>
                    <a:p>
                      <a:r>
                        <a:rPr lang="en-US" sz="2000" dirty="0"/>
                        <a:t>8</a:t>
                      </a:r>
                    </a:p>
                  </a:txBody>
                  <a:tcPr/>
                </a:tc>
                <a:tc>
                  <a:txBody>
                    <a:bodyPr/>
                    <a:lstStyle/>
                    <a:p>
                      <a:r>
                        <a:rPr lang="en-US" sz="2000" dirty="0"/>
                        <a:t>9</a:t>
                      </a:r>
                    </a:p>
                  </a:txBody>
                  <a:tcPr/>
                </a:tc>
                <a:tc>
                  <a:txBody>
                    <a:bodyPr/>
                    <a:lstStyle/>
                    <a:p>
                      <a:r>
                        <a:rPr lang="en-US" sz="2000" dirty="0"/>
                        <a:t>10</a:t>
                      </a:r>
                    </a:p>
                  </a:txBody>
                  <a:tcPr/>
                </a:tc>
                <a:extLst>
                  <a:ext uri="{0D108BD9-81ED-4DB2-BD59-A6C34878D82A}">
                    <a16:rowId xmlns:a16="http://schemas.microsoft.com/office/drawing/2014/main" val="1632114084"/>
                  </a:ext>
                </a:extLst>
              </a:tr>
              <a:tr h="413468">
                <a:tc>
                  <a:txBody>
                    <a:bodyPr/>
                    <a:lstStyle/>
                    <a:p>
                      <a:r>
                        <a:rPr lang="en-US" sz="2000" dirty="0"/>
                        <a:t>No. of defectives</a:t>
                      </a:r>
                    </a:p>
                  </a:txBody>
                  <a:tcPr/>
                </a:tc>
                <a:tc>
                  <a:txBody>
                    <a:bodyPr/>
                    <a:lstStyle/>
                    <a:p>
                      <a:r>
                        <a:rPr lang="en-US" sz="2000" dirty="0"/>
                        <a:t>5</a:t>
                      </a:r>
                    </a:p>
                  </a:txBody>
                  <a:tcPr/>
                </a:tc>
                <a:tc>
                  <a:txBody>
                    <a:bodyPr/>
                    <a:lstStyle/>
                    <a:p>
                      <a:r>
                        <a:rPr lang="en-US" sz="2000" dirty="0"/>
                        <a:t>3</a:t>
                      </a:r>
                    </a:p>
                  </a:txBody>
                  <a:tcPr/>
                </a:tc>
                <a:tc>
                  <a:txBody>
                    <a:bodyPr/>
                    <a:lstStyle/>
                    <a:p>
                      <a:r>
                        <a:rPr lang="en-US" sz="2000" dirty="0"/>
                        <a:t>3</a:t>
                      </a:r>
                    </a:p>
                  </a:txBody>
                  <a:tcPr/>
                </a:tc>
                <a:tc>
                  <a:txBody>
                    <a:bodyPr/>
                    <a:lstStyle/>
                    <a:p>
                      <a:r>
                        <a:rPr lang="en-US" sz="2000" dirty="0"/>
                        <a:t>6</a:t>
                      </a:r>
                    </a:p>
                  </a:txBody>
                  <a:tcPr/>
                </a:tc>
                <a:tc>
                  <a:txBody>
                    <a:bodyPr/>
                    <a:lstStyle/>
                    <a:p>
                      <a:r>
                        <a:rPr lang="en-US" sz="2000" dirty="0"/>
                        <a:t>5</a:t>
                      </a:r>
                    </a:p>
                  </a:txBody>
                  <a:tcPr/>
                </a:tc>
                <a:tc>
                  <a:txBody>
                    <a:bodyPr/>
                    <a:lstStyle/>
                    <a:p>
                      <a:r>
                        <a:rPr lang="en-US" sz="2000" dirty="0"/>
                        <a:t>6</a:t>
                      </a:r>
                    </a:p>
                  </a:txBody>
                  <a:tcPr/>
                </a:tc>
                <a:tc>
                  <a:txBody>
                    <a:bodyPr/>
                    <a:lstStyle/>
                    <a:p>
                      <a:r>
                        <a:rPr lang="en-US" sz="2000" dirty="0"/>
                        <a:t>8</a:t>
                      </a:r>
                    </a:p>
                  </a:txBody>
                  <a:tcPr/>
                </a:tc>
                <a:tc>
                  <a:txBody>
                    <a:bodyPr/>
                    <a:lstStyle/>
                    <a:p>
                      <a:r>
                        <a:rPr lang="en-US" sz="2000" dirty="0"/>
                        <a:t>10</a:t>
                      </a:r>
                    </a:p>
                  </a:txBody>
                  <a:tcPr/>
                </a:tc>
                <a:tc>
                  <a:txBody>
                    <a:bodyPr/>
                    <a:lstStyle/>
                    <a:p>
                      <a:r>
                        <a:rPr lang="en-US" sz="2000" dirty="0"/>
                        <a:t>10</a:t>
                      </a:r>
                    </a:p>
                  </a:txBody>
                  <a:tcPr/>
                </a:tc>
                <a:tc>
                  <a:txBody>
                    <a:bodyPr/>
                    <a:lstStyle/>
                    <a:p>
                      <a:r>
                        <a:rPr lang="en-US" sz="2000" dirty="0"/>
                        <a:t>4</a:t>
                      </a:r>
                    </a:p>
                  </a:txBody>
                  <a:tcPr/>
                </a:tc>
                <a:extLst>
                  <a:ext uri="{0D108BD9-81ED-4DB2-BD59-A6C34878D82A}">
                    <a16:rowId xmlns:a16="http://schemas.microsoft.com/office/drawing/2014/main" val="2488823448"/>
                  </a:ext>
                </a:extLst>
              </a:tr>
            </a:tbl>
          </a:graphicData>
        </a:graphic>
      </p:graphicFrame>
    </p:spTree>
    <p:extLst>
      <p:ext uri="{BB962C8B-B14F-4D97-AF65-F5344CB8AC3E}">
        <p14:creationId xmlns:p14="http://schemas.microsoft.com/office/powerpoint/2010/main" val="8011890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1000"/>
                                        <p:tgtEl>
                                          <p:spTgt spid="3">
                                            <p:txEl>
                                              <p:pRg st="8" end="8"/>
                                            </p:txEl>
                                          </p:spTgt>
                                        </p:tgtEl>
                                      </p:cBhvr>
                                    </p:animEffect>
                                    <p:anim calcmode="lin" valueType="num">
                                      <p:cBhvr>
                                        <p:cTn id="2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400" b="1" dirty="0"/>
                  <a:t>Sol: </a:t>
                </a:r>
                <a:r>
                  <a:rPr lang="en-US" sz="2000" dirty="0"/>
                  <a:t>Here no of sample </a:t>
                </a:r>
                <a14:m>
                  <m:oMath xmlns:m="http://schemas.openxmlformats.org/officeDocument/2006/math">
                    <m:r>
                      <a:rPr lang="en-US" sz="2000" i="1">
                        <a:latin typeface="Cambria Math"/>
                      </a:rPr>
                      <m:t>𝑘</m:t>
                    </m:r>
                    <m:r>
                      <a:rPr lang="en-US" sz="2000" i="1">
                        <a:latin typeface="Cambria Math"/>
                      </a:rPr>
                      <m:t>=10</m:t>
                    </m:r>
                  </m:oMath>
                </a14:m>
                <a:endParaRPr lang="en-US" sz="20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185" t="-107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132</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graphicFrame>
        <p:nvGraphicFramePr>
          <p:cNvPr id="2" name="Table 1">
            <a:extLst>
              <a:ext uri="{FF2B5EF4-FFF2-40B4-BE49-F238E27FC236}">
                <a16:creationId xmlns:a16="http://schemas.microsoft.com/office/drawing/2014/main" id="{C32340AF-8CA6-41C8-9D98-CD55DB49BEE4}"/>
              </a:ext>
            </a:extLst>
          </p:cNvPr>
          <p:cNvGraphicFramePr>
            <a:graphicFrameLocks noGrp="1"/>
          </p:cNvGraphicFramePr>
          <p:nvPr>
            <p:extLst>
              <p:ext uri="{D42A27DB-BD31-4B8C-83A1-F6EECF244321}">
                <p14:modId xmlns:p14="http://schemas.microsoft.com/office/powerpoint/2010/main" val="3981686376"/>
              </p:ext>
            </p:extLst>
          </p:nvPr>
        </p:nvGraphicFramePr>
        <p:xfrm>
          <a:off x="838200" y="1600200"/>
          <a:ext cx="7543800" cy="46634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3243185239"/>
                    </a:ext>
                  </a:extLst>
                </a:gridCol>
                <a:gridCol w="1676400">
                  <a:extLst>
                    <a:ext uri="{9D8B030D-6E8A-4147-A177-3AD203B41FA5}">
                      <a16:colId xmlns:a16="http://schemas.microsoft.com/office/drawing/2014/main" val="609554195"/>
                    </a:ext>
                  </a:extLst>
                </a:gridCol>
                <a:gridCol w="2209800">
                  <a:extLst>
                    <a:ext uri="{9D8B030D-6E8A-4147-A177-3AD203B41FA5}">
                      <a16:colId xmlns:a16="http://schemas.microsoft.com/office/drawing/2014/main" val="2323132914"/>
                    </a:ext>
                  </a:extLst>
                </a:gridCol>
                <a:gridCol w="2133600">
                  <a:extLst>
                    <a:ext uri="{9D8B030D-6E8A-4147-A177-3AD203B41FA5}">
                      <a16:colId xmlns:a16="http://schemas.microsoft.com/office/drawing/2014/main" val="3985158133"/>
                    </a:ext>
                  </a:extLst>
                </a:gridCol>
              </a:tblGrid>
              <a:tr h="585649">
                <a:tc>
                  <a:txBody>
                    <a:bodyPr/>
                    <a:lstStyle/>
                    <a:p>
                      <a:r>
                        <a:rPr lang="en-US" dirty="0"/>
                        <a:t>No. of samples</a:t>
                      </a:r>
                    </a:p>
                  </a:txBody>
                  <a:tcPr/>
                </a:tc>
                <a:tc>
                  <a:txBody>
                    <a:bodyPr/>
                    <a:lstStyle/>
                    <a:p>
                      <a:r>
                        <a:rPr lang="en-US" dirty="0"/>
                        <a:t>No. of units in sample</a:t>
                      </a:r>
                    </a:p>
                  </a:txBody>
                  <a:tcPr/>
                </a:tc>
                <a:tc>
                  <a:txBody>
                    <a:bodyPr/>
                    <a:lstStyle/>
                    <a:p>
                      <a:r>
                        <a:rPr lang="en-US" dirty="0"/>
                        <a:t>No. of defective (d)</a:t>
                      </a:r>
                    </a:p>
                  </a:txBody>
                  <a:tcPr/>
                </a:tc>
                <a:tc>
                  <a:txBody>
                    <a:bodyPr/>
                    <a:lstStyle/>
                    <a:p>
                      <a:r>
                        <a:rPr lang="en-US" dirty="0"/>
                        <a:t>Fraction defective (p)</a:t>
                      </a:r>
                    </a:p>
                  </a:txBody>
                  <a:tcPr/>
                </a:tc>
                <a:extLst>
                  <a:ext uri="{0D108BD9-81ED-4DB2-BD59-A6C34878D82A}">
                    <a16:rowId xmlns:a16="http://schemas.microsoft.com/office/drawing/2014/main" val="1443570269"/>
                  </a:ext>
                </a:extLst>
              </a:tr>
              <a:tr h="339305">
                <a:tc>
                  <a:txBody>
                    <a:bodyPr/>
                    <a:lstStyle/>
                    <a:p>
                      <a:r>
                        <a:rPr lang="en-US" dirty="0"/>
                        <a:t>1</a:t>
                      </a:r>
                    </a:p>
                  </a:txBody>
                  <a:tcPr/>
                </a:tc>
                <a:tc>
                  <a:txBody>
                    <a:bodyPr/>
                    <a:lstStyle/>
                    <a:p>
                      <a:r>
                        <a:rPr lang="en-US" dirty="0"/>
                        <a:t>100</a:t>
                      </a:r>
                    </a:p>
                  </a:txBody>
                  <a:tcPr/>
                </a:tc>
                <a:tc>
                  <a:txBody>
                    <a:bodyPr/>
                    <a:lstStyle/>
                    <a:p>
                      <a:r>
                        <a:rPr lang="en-US" dirty="0"/>
                        <a:t>5</a:t>
                      </a:r>
                    </a:p>
                  </a:txBody>
                  <a:tcPr/>
                </a:tc>
                <a:tc>
                  <a:txBody>
                    <a:bodyPr/>
                    <a:lstStyle/>
                    <a:p>
                      <a:r>
                        <a:rPr lang="en-US" dirty="0"/>
                        <a:t>0.05</a:t>
                      </a:r>
                    </a:p>
                  </a:txBody>
                  <a:tcPr/>
                </a:tc>
                <a:extLst>
                  <a:ext uri="{0D108BD9-81ED-4DB2-BD59-A6C34878D82A}">
                    <a16:rowId xmlns:a16="http://schemas.microsoft.com/office/drawing/2014/main" val="1881404460"/>
                  </a:ext>
                </a:extLst>
              </a:tr>
              <a:tr h="339305">
                <a:tc>
                  <a:txBody>
                    <a:bodyPr/>
                    <a:lstStyle/>
                    <a:p>
                      <a:r>
                        <a:rPr lang="en-US" dirty="0"/>
                        <a:t>2</a:t>
                      </a:r>
                    </a:p>
                  </a:txBody>
                  <a:tcPr/>
                </a:tc>
                <a:tc>
                  <a:txBody>
                    <a:bodyPr/>
                    <a:lstStyle/>
                    <a:p>
                      <a:r>
                        <a:rPr lang="en-US" dirty="0"/>
                        <a:t>100</a:t>
                      </a:r>
                    </a:p>
                  </a:txBody>
                  <a:tcPr/>
                </a:tc>
                <a:tc>
                  <a:txBody>
                    <a:bodyPr/>
                    <a:lstStyle/>
                    <a:p>
                      <a:r>
                        <a:rPr lang="en-US" dirty="0"/>
                        <a:t>3</a:t>
                      </a:r>
                    </a:p>
                  </a:txBody>
                  <a:tcPr/>
                </a:tc>
                <a:tc>
                  <a:txBody>
                    <a:bodyPr/>
                    <a:lstStyle/>
                    <a:p>
                      <a:r>
                        <a:rPr lang="en-US" dirty="0"/>
                        <a:t>0.05</a:t>
                      </a:r>
                    </a:p>
                  </a:txBody>
                  <a:tcPr/>
                </a:tc>
                <a:extLst>
                  <a:ext uri="{0D108BD9-81ED-4DB2-BD59-A6C34878D82A}">
                    <a16:rowId xmlns:a16="http://schemas.microsoft.com/office/drawing/2014/main" val="1311069696"/>
                  </a:ext>
                </a:extLst>
              </a:tr>
              <a:tr h="339305">
                <a:tc>
                  <a:txBody>
                    <a:bodyPr/>
                    <a:lstStyle/>
                    <a:p>
                      <a:r>
                        <a:rPr lang="en-US" dirty="0"/>
                        <a:t>3</a:t>
                      </a:r>
                    </a:p>
                  </a:txBody>
                  <a:tcPr/>
                </a:tc>
                <a:tc>
                  <a:txBody>
                    <a:bodyPr/>
                    <a:lstStyle/>
                    <a:p>
                      <a:r>
                        <a:rPr lang="en-US" dirty="0"/>
                        <a:t>100</a:t>
                      </a:r>
                    </a:p>
                  </a:txBody>
                  <a:tcPr/>
                </a:tc>
                <a:tc>
                  <a:txBody>
                    <a:bodyPr/>
                    <a:lstStyle/>
                    <a:p>
                      <a:r>
                        <a:rPr lang="en-US" dirty="0"/>
                        <a:t>3</a:t>
                      </a:r>
                    </a:p>
                  </a:txBody>
                  <a:tcPr/>
                </a:tc>
                <a:tc>
                  <a:txBody>
                    <a:bodyPr/>
                    <a:lstStyle/>
                    <a:p>
                      <a:r>
                        <a:rPr lang="en-US" dirty="0"/>
                        <a:t>0.03</a:t>
                      </a:r>
                    </a:p>
                  </a:txBody>
                  <a:tcPr/>
                </a:tc>
                <a:extLst>
                  <a:ext uri="{0D108BD9-81ED-4DB2-BD59-A6C34878D82A}">
                    <a16:rowId xmlns:a16="http://schemas.microsoft.com/office/drawing/2014/main" val="4155212835"/>
                  </a:ext>
                </a:extLst>
              </a:tr>
              <a:tr h="339305">
                <a:tc>
                  <a:txBody>
                    <a:bodyPr/>
                    <a:lstStyle/>
                    <a:p>
                      <a:r>
                        <a:rPr lang="en-US" dirty="0"/>
                        <a:t>4</a:t>
                      </a:r>
                    </a:p>
                  </a:txBody>
                  <a:tcPr/>
                </a:tc>
                <a:tc>
                  <a:txBody>
                    <a:bodyPr/>
                    <a:lstStyle/>
                    <a:p>
                      <a:r>
                        <a:rPr lang="en-US" dirty="0"/>
                        <a:t>100</a:t>
                      </a:r>
                    </a:p>
                  </a:txBody>
                  <a:tcPr/>
                </a:tc>
                <a:tc>
                  <a:txBody>
                    <a:bodyPr/>
                    <a:lstStyle/>
                    <a:p>
                      <a:r>
                        <a:rPr lang="en-US" dirty="0"/>
                        <a:t>6</a:t>
                      </a:r>
                    </a:p>
                  </a:txBody>
                  <a:tcPr/>
                </a:tc>
                <a:tc>
                  <a:txBody>
                    <a:bodyPr/>
                    <a:lstStyle/>
                    <a:p>
                      <a:r>
                        <a:rPr lang="en-US" dirty="0"/>
                        <a:t>0.06</a:t>
                      </a:r>
                    </a:p>
                  </a:txBody>
                  <a:tcPr/>
                </a:tc>
                <a:extLst>
                  <a:ext uri="{0D108BD9-81ED-4DB2-BD59-A6C34878D82A}">
                    <a16:rowId xmlns:a16="http://schemas.microsoft.com/office/drawing/2014/main" val="3409143110"/>
                  </a:ext>
                </a:extLst>
              </a:tr>
              <a:tr h="339305">
                <a:tc>
                  <a:txBody>
                    <a:bodyPr/>
                    <a:lstStyle/>
                    <a:p>
                      <a:r>
                        <a:rPr lang="en-US" dirty="0"/>
                        <a:t>5</a:t>
                      </a:r>
                    </a:p>
                  </a:txBody>
                  <a:tcPr/>
                </a:tc>
                <a:tc>
                  <a:txBody>
                    <a:bodyPr/>
                    <a:lstStyle/>
                    <a:p>
                      <a:r>
                        <a:rPr lang="en-US" dirty="0"/>
                        <a:t>100</a:t>
                      </a:r>
                    </a:p>
                  </a:txBody>
                  <a:tcPr/>
                </a:tc>
                <a:tc>
                  <a:txBody>
                    <a:bodyPr/>
                    <a:lstStyle/>
                    <a:p>
                      <a:r>
                        <a:rPr lang="en-US" dirty="0"/>
                        <a:t>5</a:t>
                      </a:r>
                    </a:p>
                  </a:txBody>
                  <a:tcPr/>
                </a:tc>
                <a:tc>
                  <a:txBody>
                    <a:bodyPr/>
                    <a:lstStyle/>
                    <a:p>
                      <a:r>
                        <a:rPr lang="en-US" dirty="0"/>
                        <a:t>0.05</a:t>
                      </a:r>
                    </a:p>
                  </a:txBody>
                  <a:tcPr/>
                </a:tc>
                <a:extLst>
                  <a:ext uri="{0D108BD9-81ED-4DB2-BD59-A6C34878D82A}">
                    <a16:rowId xmlns:a16="http://schemas.microsoft.com/office/drawing/2014/main" val="3572493874"/>
                  </a:ext>
                </a:extLst>
              </a:tr>
              <a:tr h="339305">
                <a:tc>
                  <a:txBody>
                    <a:bodyPr/>
                    <a:lstStyle/>
                    <a:p>
                      <a:r>
                        <a:rPr lang="en-US" dirty="0"/>
                        <a:t>6</a:t>
                      </a:r>
                    </a:p>
                  </a:txBody>
                  <a:tcPr/>
                </a:tc>
                <a:tc>
                  <a:txBody>
                    <a:bodyPr/>
                    <a:lstStyle/>
                    <a:p>
                      <a:r>
                        <a:rPr lang="en-US" dirty="0"/>
                        <a:t>100</a:t>
                      </a:r>
                    </a:p>
                  </a:txBody>
                  <a:tcPr/>
                </a:tc>
                <a:tc>
                  <a:txBody>
                    <a:bodyPr/>
                    <a:lstStyle/>
                    <a:p>
                      <a:r>
                        <a:rPr lang="en-US" dirty="0"/>
                        <a:t>6</a:t>
                      </a:r>
                    </a:p>
                  </a:txBody>
                  <a:tcPr/>
                </a:tc>
                <a:tc>
                  <a:txBody>
                    <a:bodyPr/>
                    <a:lstStyle/>
                    <a:p>
                      <a:r>
                        <a:rPr lang="en-US" dirty="0"/>
                        <a:t>0.06</a:t>
                      </a:r>
                    </a:p>
                  </a:txBody>
                  <a:tcPr/>
                </a:tc>
                <a:extLst>
                  <a:ext uri="{0D108BD9-81ED-4DB2-BD59-A6C34878D82A}">
                    <a16:rowId xmlns:a16="http://schemas.microsoft.com/office/drawing/2014/main" val="2594360112"/>
                  </a:ext>
                </a:extLst>
              </a:tr>
              <a:tr h="339305">
                <a:tc>
                  <a:txBody>
                    <a:bodyPr/>
                    <a:lstStyle/>
                    <a:p>
                      <a:r>
                        <a:rPr lang="en-US" dirty="0"/>
                        <a:t>7</a:t>
                      </a:r>
                    </a:p>
                  </a:txBody>
                  <a:tcPr/>
                </a:tc>
                <a:tc>
                  <a:txBody>
                    <a:bodyPr/>
                    <a:lstStyle/>
                    <a:p>
                      <a:r>
                        <a:rPr lang="en-US" dirty="0"/>
                        <a:t>100</a:t>
                      </a:r>
                    </a:p>
                  </a:txBody>
                  <a:tcPr/>
                </a:tc>
                <a:tc>
                  <a:txBody>
                    <a:bodyPr/>
                    <a:lstStyle/>
                    <a:p>
                      <a:r>
                        <a:rPr lang="en-US" dirty="0"/>
                        <a:t>8</a:t>
                      </a:r>
                    </a:p>
                  </a:txBody>
                  <a:tcPr/>
                </a:tc>
                <a:tc>
                  <a:txBody>
                    <a:bodyPr/>
                    <a:lstStyle/>
                    <a:p>
                      <a:r>
                        <a:rPr lang="en-US" dirty="0"/>
                        <a:t>0.08</a:t>
                      </a:r>
                    </a:p>
                  </a:txBody>
                  <a:tcPr/>
                </a:tc>
                <a:extLst>
                  <a:ext uri="{0D108BD9-81ED-4DB2-BD59-A6C34878D82A}">
                    <a16:rowId xmlns:a16="http://schemas.microsoft.com/office/drawing/2014/main" val="1387894579"/>
                  </a:ext>
                </a:extLst>
              </a:tr>
              <a:tr h="339305">
                <a:tc>
                  <a:txBody>
                    <a:bodyPr/>
                    <a:lstStyle/>
                    <a:p>
                      <a:r>
                        <a:rPr lang="en-US" dirty="0"/>
                        <a:t>8</a:t>
                      </a:r>
                    </a:p>
                  </a:txBody>
                  <a:tcPr/>
                </a:tc>
                <a:tc>
                  <a:txBody>
                    <a:bodyPr/>
                    <a:lstStyle/>
                    <a:p>
                      <a:r>
                        <a:rPr lang="en-US" dirty="0"/>
                        <a:t>100</a:t>
                      </a:r>
                    </a:p>
                  </a:txBody>
                  <a:tcPr/>
                </a:tc>
                <a:tc>
                  <a:txBody>
                    <a:bodyPr/>
                    <a:lstStyle/>
                    <a:p>
                      <a:r>
                        <a:rPr lang="en-US" dirty="0"/>
                        <a:t>10</a:t>
                      </a:r>
                    </a:p>
                  </a:txBody>
                  <a:tcPr/>
                </a:tc>
                <a:tc>
                  <a:txBody>
                    <a:bodyPr/>
                    <a:lstStyle/>
                    <a:p>
                      <a:r>
                        <a:rPr lang="en-US" dirty="0"/>
                        <a:t>0.1</a:t>
                      </a:r>
                    </a:p>
                  </a:txBody>
                  <a:tcPr/>
                </a:tc>
                <a:extLst>
                  <a:ext uri="{0D108BD9-81ED-4DB2-BD59-A6C34878D82A}">
                    <a16:rowId xmlns:a16="http://schemas.microsoft.com/office/drawing/2014/main" val="645146475"/>
                  </a:ext>
                </a:extLst>
              </a:tr>
              <a:tr h="339305">
                <a:tc>
                  <a:txBody>
                    <a:bodyPr/>
                    <a:lstStyle/>
                    <a:p>
                      <a:r>
                        <a:rPr lang="en-US" dirty="0"/>
                        <a:t>9</a:t>
                      </a:r>
                    </a:p>
                  </a:txBody>
                  <a:tcPr/>
                </a:tc>
                <a:tc>
                  <a:txBody>
                    <a:bodyPr/>
                    <a:lstStyle/>
                    <a:p>
                      <a:r>
                        <a:rPr lang="en-US" dirty="0"/>
                        <a:t>100</a:t>
                      </a:r>
                    </a:p>
                  </a:txBody>
                  <a:tcPr/>
                </a:tc>
                <a:tc>
                  <a:txBody>
                    <a:bodyPr/>
                    <a:lstStyle/>
                    <a:p>
                      <a:r>
                        <a:rPr lang="en-US" dirty="0"/>
                        <a:t>10</a:t>
                      </a:r>
                    </a:p>
                  </a:txBody>
                  <a:tcPr/>
                </a:tc>
                <a:tc>
                  <a:txBody>
                    <a:bodyPr/>
                    <a:lstStyle/>
                    <a:p>
                      <a:r>
                        <a:rPr lang="en-US" dirty="0"/>
                        <a:t>0.1</a:t>
                      </a:r>
                    </a:p>
                  </a:txBody>
                  <a:tcPr/>
                </a:tc>
                <a:extLst>
                  <a:ext uri="{0D108BD9-81ED-4DB2-BD59-A6C34878D82A}">
                    <a16:rowId xmlns:a16="http://schemas.microsoft.com/office/drawing/2014/main" val="1570976940"/>
                  </a:ext>
                </a:extLst>
              </a:tr>
              <a:tr h="339305">
                <a:tc>
                  <a:txBody>
                    <a:bodyPr/>
                    <a:lstStyle/>
                    <a:p>
                      <a:r>
                        <a:rPr lang="en-US" dirty="0"/>
                        <a:t>10</a:t>
                      </a:r>
                    </a:p>
                  </a:txBody>
                  <a:tcPr/>
                </a:tc>
                <a:tc>
                  <a:txBody>
                    <a:bodyPr/>
                    <a:lstStyle/>
                    <a:p>
                      <a:r>
                        <a:rPr lang="en-US" dirty="0"/>
                        <a:t>100</a:t>
                      </a:r>
                    </a:p>
                  </a:txBody>
                  <a:tcPr/>
                </a:tc>
                <a:tc>
                  <a:txBody>
                    <a:bodyPr/>
                    <a:lstStyle/>
                    <a:p>
                      <a:r>
                        <a:rPr lang="en-US" dirty="0"/>
                        <a:t>4</a:t>
                      </a:r>
                    </a:p>
                  </a:txBody>
                  <a:tcPr/>
                </a:tc>
                <a:tc>
                  <a:txBody>
                    <a:bodyPr/>
                    <a:lstStyle/>
                    <a:p>
                      <a:r>
                        <a:rPr lang="en-US" dirty="0"/>
                        <a:t>0.04</a:t>
                      </a:r>
                    </a:p>
                  </a:txBody>
                  <a:tcPr/>
                </a:tc>
                <a:extLst>
                  <a:ext uri="{0D108BD9-81ED-4DB2-BD59-A6C34878D82A}">
                    <a16:rowId xmlns:a16="http://schemas.microsoft.com/office/drawing/2014/main" val="4107089213"/>
                  </a:ext>
                </a:extLst>
              </a:tr>
              <a:tr h="339305">
                <a:tc>
                  <a:txBody>
                    <a:bodyPr/>
                    <a:lstStyle/>
                    <a:p>
                      <a:r>
                        <a:rPr lang="en-US" dirty="0"/>
                        <a:t>Total</a:t>
                      </a:r>
                    </a:p>
                  </a:txBody>
                  <a:tcPr/>
                </a:tc>
                <a:tc>
                  <a:txBody>
                    <a:bodyPr/>
                    <a:lstStyle/>
                    <a:p>
                      <a:r>
                        <a:rPr lang="en-US" dirty="0"/>
                        <a:t>1000</a:t>
                      </a:r>
                    </a:p>
                  </a:txBody>
                  <a:tcPr/>
                </a:tc>
                <a:tc>
                  <a:txBody>
                    <a:bodyPr/>
                    <a:lstStyle/>
                    <a:p>
                      <a:r>
                        <a:rPr lang="en-US" dirty="0"/>
                        <a:t>60</a:t>
                      </a:r>
                    </a:p>
                  </a:txBody>
                  <a:tcPr/>
                </a:tc>
                <a:tc>
                  <a:txBody>
                    <a:bodyPr/>
                    <a:lstStyle/>
                    <a:p>
                      <a:r>
                        <a:rPr lang="en-US" dirty="0"/>
                        <a:t>0.60</a:t>
                      </a:r>
                    </a:p>
                  </a:txBody>
                  <a:tcPr/>
                </a:tc>
                <a:extLst>
                  <a:ext uri="{0D108BD9-81ED-4DB2-BD59-A6C34878D82A}">
                    <a16:rowId xmlns:a16="http://schemas.microsoft.com/office/drawing/2014/main" val="659175695"/>
                  </a:ext>
                </a:extLst>
              </a:tr>
            </a:tbl>
          </a:graphicData>
        </a:graphic>
      </p:graphicFrame>
    </p:spTree>
    <p:extLst>
      <p:ext uri="{BB962C8B-B14F-4D97-AF65-F5344CB8AC3E}">
        <p14:creationId xmlns:p14="http://schemas.microsoft.com/office/powerpoint/2010/main" val="187486235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Avg. fraction defective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m:t>
                    </m:r>
                    <m:f>
                      <m:fPr>
                        <m:ctrlPr>
                          <a:rPr lang="en-US" sz="2200" i="1">
                            <a:latin typeface="Cambria Math" panose="02040503050406030204" pitchFamily="18" charset="0"/>
                          </a:rPr>
                        </m:ctrlPr>
                      </m:fPr>
                      <m:num>
                        <m:r>
                          <a:rPr lang="en-US" sz="2200" i="1">
                            <a:latin typeface="Cambria Math"/>
                          </a:rPr>
                          <m:t>𝑇𝑜𝑡𝑎𝑙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𝑑𝑒𝑓𝑒𝑐𝑡𝑖𝑣𝑒</m:t>
                        </m:r>
                      </m:num>
                      <m:den>
                        <m:r>
                          <a:rPr lang="en-US" sz="2200" i="1">
                            <a:latin typeface="Cambria Math"/>
                          </a:rPr>
                          <m:t>𝑇𝑜𝑡𝑎𝑙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𝑢𝑛𝑖𝑡</m:t>
                        </m:r>
                        <m:r>
                          <a:rPr lang="en-US" sz="2200" i="1">
                            <a:latin typeface="Cambria Math"/>
                          </a:rPr>
                          <m:t> </m:t>
                        </m:r>
                        <m:r>
                          <a:rPr lang="en-US" sz="2200" i="1">
                            <a:latin typeface="Cambria Math"/>
                          </a:rPr>
                          <m:t>𝑖𝑛𝑠𝑝𝑒𝑐𝑡𝑒𝑑</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60</m:t>
                        </m:r>
                      </m:num>
                      <m:den>
                        <m:r>
                          <a:rPr lang="en-US" sz="2200" i="1">
                            <a:latin typeface="Cambria Math"/>
                          </a:rPr>
                          <m:t>10</m:t>
                        </m:r>
                        <m:r>
                          <a:rPr lang="en-US" sz="2200" i="1">
                            <a:latin typeface="Cambria Math"/>
                            <a:ea typeface="Cambria Math"/>
                          </a:rPr>
                          <m:t>×</m:t>
                        </m:r>
                        <m:r>
                          <a:rPr lang="en-US" sz="2200" i="1">
                            <a:latin typeface="Cambria Math"/>
                          </a:rPr>
                          <m:t>100</m:t>
                        </m:r>
                      </m:den>
                    </m:f>
                    <m:r>
                      <a:rPr lang="en-US" sz="2200" i="1">
                        <a:latin typeface="Cambria Math"/>
                      </a:rPr>
                      <m:t>=0.06</m:t>
                    </m:r>
                  </m:oMath>
                </a14:m>
                <a:endParaRPr lang="en-US" sz="2200" i="1" dirty="0">
                  <a:latin typeface="Cambria Math"/>
                </a:endParaRPr>
              </a:p>
              <a:p>
                <a:pPr marL="0" indent="0">
                  <a:buNone/>
                </a:pPr>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rPr>
                        <m:t>𝑛</m:t>
                      </m:r>
                      <m:r>
                        <a:rPr lang="en-US" sz="2200" i="1">
                          <a:latin typeface="Cambria Math"/>
                        </a:rPr>
                        <m:t>=</m:t>
                      </m:r>
                      <m:f>
                        <m:fPr>
                          <m:ctrlPr>
                            <a:rPr lang="en-US" sz="2200" i="1">
                              <a:latin typeface="Cambria Math" panose="02040503050406030204" pitchFamily="18" charset="0"/>
                            </a:rPr>
                          </m:ctrlPr>
                        </m:fPr>
                        <m:num>
                          <m:r>
                            <a:rPr lang="en-US" sz="2200" i="1">
                              <a:latin typeface="Cambria Math"/>
                            </a:rPr>
                            <m:t>𝑡𝑜𝑡𝑎𝑙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𝑢𝑛𝑖𝑡</m:t>
                          </m:r>
                          <m:r>
                            <a:rPr lang="en-US" sz="2200" i="1">
                              <a:latin typeface="Cambria Math"/>
                            </a:rPr>
                            <m:t> </m:t>
                          </m:r>
                          <m:r>
                            <a:rPr lang="en-US" sz="2200" i="1">
                              <a:latin typeface="Cambria Math"/>
                            </a:rPr>
                            <m:t>𝑖𝑛𝑠𝑝𝑒𝑐𝑡𝑒𝑑</m:t>
                          </m:r>
                        </m:num>
                        <m:den>
                          <m:r>
                            <a:rPr lang="en-US" sz="2200" i="1">
                              <a:latin typeface="Cambria Math"/>
                            </a:rPr>
                            <m:t>𝑛𝑜</m:t>
                          </m:r>
                          <m:r>
                            <a:rPr lang="en-US" sz="2200" i="1">
                              <a:latin typeface="Cambria Math"/>
                            </a:rPr>
                            <m:t>.</m:t>
                          </m:r>
                          <m:r>
                            <a:rPr lang="en-US" sz="2200" i="1">
                              <a:latin typeface="Cambria Math"/>
                            </a:rPr>
                            <m:t>𝑜𝑓</m:t>
                          </m:r>
                          <m:r>
                            <a:rPr lang="en-US" sz="2200" i="1">
                              <a:latin typeface="Cambria Math"/>
                            </a:rPr>
                            <m:t> </m:t>
                          </m:r>
                          <m:r>
                            <a:rPr lang="en-US" sz="2200" i="1">
                              <a:latin typeface="Cambria Math"/>
                            </a:rPr>
                            <m:t>𝑠𝑎𝑚𝑝𝑙𝑒</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10</m:t>
                          </m:r>
                          <m:r>
                            <a:rPr lang="en-US" sz="2200" i="1">
                              <a:latin typeface="Cambria Math"/>
                              <a:ea typeface="Cambria Math"/>
                            </a:rPr>
                            <m:t>×100</m:t>
                          </m:r>
                        </m:num>
                        <m:den>
                          <m:r>
                            <a:rPr lang="en-US" sz="2200" i="1">
                              <a:latin typeface="Cambria Math"/>
                            </a:rPr>
                            <m:t>10</m:t>
                          </m:r>
                        </m:den>
                      </m:f>
                      <m:r>
                        <a:rPr lang="en-US" sz="2200" i="1">
                          <a:latin typeface="Cambria Math"/>
                        </a:rPr>
                        <m:t>=100</m:t>
                      </m:r>
                    </m:oMath>
                  </m:oMathPara>
                </a14:m>
                <a:endParaRPr lang="en-US" sz="2200" dirty="0"/>
              </a:p>
              <a:p>
                <a:pPr marL="0" indent="0">
                  <a:buNone/>
                </a:pPr>
                <a:endParaRPr lang="en-US" sz="2200" dirty="0"/>
              </a:p>
              <a:p>
                <a:pPr marL="0" indent="0">
                  <a:buNone/>
                </a:pPr>
                <a:r>
                  <a:rPr lang="en-US" sz="2200" dirty="0"/>
                  <a:t>Now 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=0.06</m:t>
                    </m:r>
                  </m:oMath>
                </a14:m>
                <a:endParaRPr lang="en-US" sz="2200" dirty="0"/>
              </a:p>
              <a:p>
                <a:pPr marL="0" indent="0">
                  <a:buNone/>
                </a:pPr>
                <a:r>
                  <a:rPr lang="en-US" sz="2200" dirty="0"/>
                  <a:t>    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+3</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𝑝</m:t>
                                </m:r>
                              </m:e>
                            </m:acc>
                            <m:d>
                              <m:dPr>
                                <m:ctrlPr>
                                  <a:rPr lang="en-US" sz="2200" i="1">
                                    <a:latin typeface="Cambria Math" panose="02040503050406030204" pitchFamily="18" charset="0"/>
                                  </a:rPr>
                                </m:ctrlPr>
                              </m:dPr>
                              <m:e>
                                <m:r>
                                  <a:rPr lang="en-US" sz="2200" i="1">
                                    <a:latin typeface="Cambria Math"/>
                                  </a:rPr>
                                  <m:t>1−</m:t>
                                </m:r>
                                <m:acc>
                                  <m:accPr>
                                    <m:chr m:val="̅"/>
                                    <m:ctrlPr>
                                      <a:rPr lang="en-US" sz="2200" i="1">
                                        <a:latin typeface="Cambria Math" panose="02040503050406030204" pitchFamily="18" charset="0"/>
                                      </a:rPr>
                                    </m:ctrlPr>
                                  </m:accPr>
                                  <m:e>
                                    <m:r>
                                      <a:rPr lang="en-US" sz="2200" i="1">
                                        <a:latin typeface="Cambria Math"/>
                                      </a:rPr>
                                      <m:t>𝑝</m:t>
                                    </m:r>
                                  </m:e>
                                </m:acc>
                              </m:e>
                            </m:d>
                          </m:num>
                          <m:den>
                            <m:r>
                              <a:rPr lang="en-US" sz="2200" i="1">
                                <a:latin typeface="Cambria Math"/>
                              </a:rPr>
                              <m:t>𝑛</m:t>
                            </m:r>
                          </m:den>
                        </m:f>
                      </m:e>
                    </m:rad>
                    <m:r>
                      <a:rPr lang="en-US" sz="2200" i="1">
                        <a:latin typeface="Cambria Math"/>
                      </a:rPr>
                      <m:t>=0.1311</m:t>
                    </m:r>
                  </m:oMath>
                </a14:m>
                <a:endParaRPr lang="en-US" sz="2200" dirty="0"/>
              </a:p>
              <a:p>
                <a:pPr marL="0" indent="0">
                  <a:buNone/>
                </a:pPr>
                <a:r>
                  <a:rPr lang="en-US" sz="2200" dirty="0"/>
                  <a:t>     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𝑝</m:t>
                        </m:r>
                      </m:e>
                    </m:acc>
                    <m:r>
                      <a:rPr lang="en-US" sz="2200" i="1">
                        <a:latin typeface="Cambria Math"/>
                      </a:rPr>
                      <m:t>−3</m:t>
                    </m:r>
                    <m:rad>
                      <m:radPr>
                        <m:degHide m:val="on"/>
                        <m:ctrlPr>
                          <a:rPr lang="en-US" sz="2200" i="1">
                            <a:latin typeface="Cambria Math" panose="02040503050406030204" pitchFamily="18" charset="0"/>
                          </a:rPr>
                        </m:ctrlPr>
                      </m:radPr>
                      <m:deg/>
                      <m:e>
                        <m:f>
                          <m:fPr>
                            <m:ctrlPr>
                              <a:rPr lang="en-US" sz="2200" i="1">
                                <a:latin typeface="Cambria Math" panose="02040503050406030204" pitchFamily="18" charset="0"/>
                              </a:rPr>
                            </m:ctrlPr>
                          </m:fPr>
                          <m:num>
                            <m:acc>
                              <m:accPr>
                                <m:chr m:val="̅"/>
                                <m:ctrlPr>
                                  <a:rPr lang="en-US" sz="2200" i="1">
                                    <a:latin typeface="Cambria Math" panose="02040503050406030204" pitchFamily="18" charset="0"/>
                                  </a:rPr>
                                </m:ctrlPr>
                              </m:accPr>
                              <m:e>
                                <m:r>
                                  <a:rPr lang="en-US" sz="2200" i="1">
                                    <a:latin typeface="Cambria Math"/>
                                  </a:rPr>
                                  <m:t>𝑝</m:t>
                                </m:r>
                              </m:e>
                            </m:acc>
                            <m:d>
                              <m:dPr>
                                <m:ctrlPr>
                                  <a:rPr lang="en-US" sz="2200" i="1">
                                    <a:latin typeface="Cambria Math" panose="02040503050406030204" pitchFamily="18" charset="0"/>
                                  </a:rPr>
                                </m:ctrlPr>
                              </m:dPr>
                              <m:e>
                                <m:r>
                                  <a:rPr lang="en-US" sz="2200" i="1">
                                    <a:latin typeface="Cambria Math"/>
                                  </a:rPr>
                                  <m:t>1−</m:t>
                                </m:r>
                                <m:acc>
                                  <m:accPr>
                                    <m:chr m:val="̅"/>
                                    <m:ctrlPr>
                                      <a:rPr lang="en-US" sz="2200" i="1">
                                        <a:latin typeface="Cambria Math" panose="02040503050406030204" pitchFamily="18" charset="0"/>
                                      </a:rPr>
                                    </m:ctrlPr>
                                  </m:accPr>
                                  <m:e>
                                    <m:r>
                                      <a:rPr lang="en-US" sz="2200" i="1">
                                        <a:latin typeface="Cambria Math"/>
                                      </a:rPr>
                                      <m:t>𝑝</m:t>
                                    </m:r>
                                  </m:e>
                                </m:acc>
                              </m:e>
                            </m:d>
                          </m:num>
                          <m:den>
                            <m:r>
                              <a:rPr lang="en-US" sz="2200" i="1">
                                <a:latin typeface="Cambria Math"/>
                              </a:rPr>
                              <m:t>𝑛</m:t>
                            </m:r>
                          </m:den>
                        </m:f>
                      </m:e>
                    </m:rad>
                    <m:r>
                      <a:rPr lang="en-US" sz="2200" i="1">
                        <a:latin typeface="Cambria Math"/>
                      </a:rPr>
                      <m:t>=−0.0112</m:t>
                    </m:r>
                  </m:oMath>
                </a14:m>
                <a:r>
                  <a:rPr lang="en-US" sz="2200" dirty="0"/>
                  <a:t> </a:t>
                </a:r>
              </a:p>
              <a:p>
                <a:pPr marL="0" indent="0">
                  <a:buNone/>
                </a:pPr>
                <a:r>
                  <a:rPr lang="en-US" sz="2200" dirty="0"/>
                  <a:t>Here LCL is negative so we take LCL=0.</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b="-2115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133</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7164467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134</a:t>
            </a:fld>
            <a:endParaRPr lang="en-US"/>
          </a:p>
        </p:txBody>
      </p:sp>
      <p:pic>
        <p:nvPicPr>
          <p:cNvPr id="6963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326" t="19132" r="16353" b="17809"/>
          <a:stretch/>
        </p:blipFill>
        <p:spPr bwMode="auto">
          <a:xfrm>
            <a:off x="990600" y="1295400"/>
            <a:ext cx="7391400" cy="4952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223102153"/>
      </p:ext>
    </p:extLst>
  </p:cSld>
  <p:clrMapOvr>
    <a:masterClrMapping/>
  </p:clrMapOvr>
  <p:transition spd="slow">
    <p:push dir="u"/>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76800"/>
              </a:xfrm>
            </p:spPr>
            <p:txBody>
              <a:bodyPr>
                <a:noAutofit/>
              </a:bodyPr>
              <a:lstStyle/>
              <a:p>
                <a:pPr marL="0" indent="0">
                  <a:buNone/>
                </a:pPr>
                <a14:m>
                  <m:oMath xmlns:m="http://schemas.openxmlformats.org/officeDocument/2006/math">
                    <m:r>
                      <a:rPr lang="en-US" b="1" i="1">
                        <a:latin typeface="Cambria Math"/>
                      </a:rPr>
                      <m:t>𝒏𝒑</m:t>
                    </m:r>
                  </m:oMath>
                </a14:m>
                <a:r>
                  <a:rPr lang="en-US" b="1" dirty="0"/>
                  <a:t>-chart: </a:t>
                </a:r>
                <a:r>
                  <a:rPr lang="en-US" dirty="0"/>
                  <a:t>when the sample size remain constant, </a:t>
                </a:r>
                <a14:m>
                  <m:oMath xmlns:m="http://schemas.openxmlformats.org/officeDocument/2006/math">
                    <m:r>
                      <a:rPr lang="en-US" i="1">
                        <a:latin typeface="Cambria Math"/>
                      </a:rPr>
                      <m:t>𝑛𝑝</m:t>
                    </m:r>
                  </m:oMath>
                </a14:m>
                <a:r>
                  <a:rPr lang="en-US" b="1" dirty="0"/>
                  <a:t>- </a:t>
                </a:r>
                <a:r>
                  <a:rPr lang="en-US" dirty="0"/>
                  <a:t>chart is used to control the actual no. of defective per sample. The construction of </a:t>
                </a:r>
                <a14:m>
                  <m:oMath xmlns:m="http://schemas.openxmlformats.org/officeDocument/2006/math">
                    <m:r>
                      <a:rPr lang="en-US" i="1">
                        <a:latin typeface="Cambria Math"/>
                      </a:rPr>
                      <m:t>𝑛𝑝</m:t>
                    </m:r>
                  </m:oMath>
                </a14:m>
                <a:r>
                  <a:rPr lang="en-US" dirty="0"/>
                  <a:t>-chart is similar to </a:t>
                </a:r>
                <a14:m>
                  <m:oMath xmlns:m="http://schemas.openxmlformats.org/officeDocument/2006/math">
                    <m:r>
                      <a:rPr lang="en-US" i="1">
                        <a:latin typeface="Cambria Math"/>
                      </a:rPr>
                      <m:t>𝑝</m:t>
                    </m:r>
                  </m:oMath>
                </a14:m>
                <a:r>
                  <a:rPr lang="en-US" dirty="0"/>
                  <a:t>- chart because in this chart we can directly plot the no. of defective rather than fraction of defective.</a:t>
                </a:r>
              </a:p>
              <a:p>
                <a:pPr marL="0" indent="0">
                  <a:buNone/>
                </a:pPr>
                <a:r>
                  <a:rPr lang="en-US" b="1" dirty="0"/>
                  <a:t>Construction of </a:t>
                </a:r>
                <a14:m>
                  <m:oMath xmlns:m="http://schemas.openxmlformats.org/officeDocument/2006/math">
                    <m:r>
                      <a:rPr lang="en-US" b="1">
                        <a:latin typeface="Cambria Math"/>
                      </a:rPr>
                      <m:t>𝐧</m:t>
                    </m:r>
                    <m:r>
                      <a:rPr lang="en-US" b="1" i="1">
                        <a:latin typeface="Cambria Math"/>
                      </a:rPr>
                      <m:t>𝒑</m:t>
                    </m:r>
                  </m:oMath>
                </a14:m>
                <a:r>
                  <a:rPr lang="en-US" b="1" dirty="0"/>
                  <a:t>-chart</a:t>
                </a:r>
                <a:r>
                  <a:rPr lang="en-US" dirty="0"/>
                  <a:t>:</a:t>
                </a:r>
              </a:p>
              <a:p>
                <a:r>
                  <a:rPr lang="en-US" dirty="0"/>
                  <a:t>Calculate avg. fraction defective </a:t>
                </a:r>
                <a14:m>
                  <m:oMath xmlns:m="http://schemas.openxmlformats.org/officeDocument/2006/math">
                    <m:d>
                      <m:dPr>
                        <m:ctrlPr>
                          <a:rPr lang="en-US" i="1">
                            <a:latin typeface="Cambria Math" panose="02040503050406030204" pitchFamily="18" charset="0"/>
                          </a:rPr>
                        </m:ctrlPr>
                      </m:dPr>
                      <m:e>
                        <m:acc>
                          <m:accPr>
                            <m:chr m:val="̅"/>
                            <m:ctrlPr>
                              <a:rPr lang="en-US" i="1">
                                <a:latin typeface="Cambria Math" panose="02040503050406030204" pitchFamily="18" charset="0"/>
                              </a:rPr>
                            </m:ctrlPr>
                          </m:accPr>
                          <m:e>
                            <m:r>
                              <a:rPr lang="en-US" i="1">
                                <a:latin typeface="Cambria Math"/>
                              </a:rPr>
                              <m:t>𝑝</m:t>
                            </m:r>
                          </m:e>
                        </m:acc>
                      </m:e>
                    </m:d>
                  </m:oMath>
                </a14:m>
                <a:endParaRPr lang="en-US" dirty="0"/>
              </a:p>
              <a:p>
                <a:pPr marL="0" indent="0">
                  <a:buNone/>
                </a:pPr>
                <a:r>
                  <a:rPr lang="en-US" dirty="0"/>
                  <a:t>i.e.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r>
                      <a:rPr lang="en-US" i="1">
                        <a:latin typeface="Cambria Math"/>
                      </a:rPr>
                      <m:t>=</m:t>
                    </m:r>
                    <m:f>
                      <m:fPr>
                        <m:ctrlPr>
                          <a:rPr lang="en-US" i="1">
                            <a:latin typeface="Cambria Math" panose="02040503050406030204" pitchFamily="18" charset="0"/>
                          </a:rPr>
                        </m:ctrlPr>
                      </m:fPr>
                      <m:num>
                        <m:r>
                          <a:rPr lang="en-US" i="1">
                            <a:latin typeface="Cambria Math"/>
                          </a:rPr>
                          <m:t>𝑇𝑜𝑡𝑎𝑙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𝑑𝑒𝑓𝑒𝑐𝑡𝑖𝑣𝑒</m:t>
                        </m:r>
                      </m:num>
                      <m:den>
                        <m:r>
                          <a:rPr lang="en-US" i="1">
                            <a:latin typeface="Cambria Math"/>
                          </a:rPr>
                          <m:t>𝑇𝑜𝑡𝑎𝑙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𝑢𝑛𝑖𝑡</m:t>
                        </m:r>
                        <m:r>
                          <a:rPr lang="en-US" i="1">
                            <a:latin typeface="Cambria Math"/>
                          </a:rPr>
                          <m:t> </m:t>
                        </m:r>
                        <m:r>
                          <a:rPr lang="en-US" i="1">
                            <a:latin typeface="Cambria Math"/>
                          </a:rPr>
                          <m:t>𝑖𝑛𝑠𝑝𝑒𝑐𝑡𝑒𝑑</m:t>
                        </m:r>
                      </m:den>
                    </m:f>
                  </m:oMath>
                </a14:m>
                <a:r>
                  <a:rPr lang="en-US" dirty="0"/>
                  <a:t> </a:t>
                </a:r>
              </a:p>
              <a:p>
                <a:pPr marL="0" indent="0">
                  <a:buNone/>
                </a:pPr>
                <a:r>
                  <a:rPr lang="en-US" dirty="0"/>
                  <a:t>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oMath>
                </a14:m>
                <a:r>
                  <a:rPr lang="en-US" dirty="0"/>
                  <a:t>,  UCL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r>
                      <a:rPr lang="en-US" i="1">
                        <a:latin typeface="Cambria Math"/>
                      </a:rPr>
                      <m:t>+3</m:t>
                    </m:r>
                    <m:rad>
                      <m:radPr>
                        <m:degHide m:val="on"/>
                        <m:ctrlPr>
                          <a:rPr lang="en-US" i="1">
                            <a:latin typeface="Cambria Math" panose="02040503050406030204" pitchFamily="18" charset="0"/>
                          </a:rPr>
                        </m:ctrlPr>
                      </m:radPr>
                      <m:deg/>
                      <m:e>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d>
                          <m:dPr>
                            <m:ctrlPr>
                              <a:rPr lang="en-US" i="1">
                                <a:latin typeface="Cambria Math" panose="02040503050406030204" pitchFamily="18" charset="0"/>
                              </a:rPr>
                            </m:ctrlPr>
                          </m:dPr>
                          <m:e>
                            <m:r>
                              <a:rPr lang="en-US" i="1">
                                <a:latin typeface="Cambria Math"/>
                              </a:rPr>
                              <m:t>1−</m:t>
                            </m:r>
                            <m:acc>
                              <m:accPr>
                                <m:chr m:val="̅"/>
                                <m:ctrlPr>
                                  <a:rPr lang="en-US" i="1">
                                    <a:latin typeface="Cambria Math" panose="02040503050406030204" pitchFamily="18" charset="0"/>
                                  </a:rPr>
                                </m:ctrlPr>
                              </m:accPr>
                              <m:e>
                                <m:r>
                                  <a:rPr lang="en-US" i="1">
                                    <a:latin typeface="Cambria Math"/>
                                  </a:rPr>
                                  <m:t>𝑝</m:t>
                                </m:r>
                              </m:e>
                            </m:acc>
                          </m:e>
                        </m:d>
                      </m:e>
                    </m:rad>
                  </m:oMath>
                </a14:m>
                <a:r>
                  <a:rPr lang="en-US" dirty="0"/>
                  <a:t>,  LCL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r>
                      <a:rPr lang="en-US" i="1">
                        <a:latin typeface="Cambria Math"/>
                      </a:rPr>
                      <m:t>−3</m:t>
                    </m:r>
                  </m:oMath>
                </a14:m>
                <a:r>
                  <a:rPr lang="en-US" dirty="0"/>
                  <a:t> </a:t>
                </a:r>
                <a14:m>
                  <m:oMath xmlns:m="http://schemas.openxmlformats.org/officeDocument/2006/math">
                    <m:rad>
                      <m:radPr>
                        <m:degHide m:val="on"/>
                        <m:ctrlPr>
                          <a:rPr lang="en-US" i="1">
                            <a:latin typeface="Cambria Math" panose="02040503050406030204" pitchFamily="18" charset="0"/>
                          </a:rPr>
                        </m:ctrlPr>
                      </m:radPr>
                      <m:deg/>
                      <m:e>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d>
                          <m:dPr>
                            <m:ctrlPr>
                              <a:rPr lang="en-US" i="1">
                                <a:latin typeface="Cambria Math" panose="02040503050406030204" pitchFamily="18" charset="0"/>
                              </a:rPr>
                            </m:ctrlPr>
                          </m:dPr>
                          <m:e>
                            <m:r>
                              <a:rPr lang="en-US" i="1">
                                <a:latin typeface="Cambria Math"/>
                              </a:rPr>
                              <m:t>1−</m:t>
                            </m:r>
                            <m:acc>
                              <m:accPr>
                                <m:chr m:val="̅"/>
                                <m:ctrlPr>
                                  <a:rPr lang="en-US" i="1">
                                    <a:latin typeface="Cambria Math" panose="02040503050406030204" pitchFamily="18" charset="0"/>
                                  </a:rPr>
                                </m:ctrlPr>
                              </m:accPr>
                              <m:e>
                                <m:r>
                                  <a:rPr lang="en-US" i="1">
                                    <a:latin typeface="Cambria Math"/>
                                  </a:rPr>
                                  <m:t>𝑝</m:t>
                                </m:r>
                              </m:e>
                            </m:acc>
                          </m:e>
                        </m:d>
                      </m:e>
                    </m:rad>
                  </m:oMath>
                </a14:m>
                <a:endParaRPr lang="en-US" dirty="0"/>
              </a:p>
              <a:p>
                <a:pPr marL="0" indent="0">
                  <a:buNone/>
                </a:pPr>
                <a:r>
                  <a:rPr lang="en-US" dirty="0"/>
                  <a:t>where </a:t>
                </a:r>
                <a14:m>
                  <m:oMath xmlns:m="http://schemas.openxmlformats.org/officeDocument/2006/math">
                    <m:r>
                      <a:rPr lang="en-US" i="1">
                        <a:latin typeface="Cambria Math"/>
                      </a:rPr>
                      <m:t>𝑛</m:t>
                    </m:r>
                    <m:r>
                      <a:rPr lang="en-US" i="1">
                        <a:latin typeface="Cambria Math"/>
                      </a:rPr>
                      <m:t>=</m:t>
                    </m:r>
                    <m:f>
                      <m:fPr>
                        <m:ctrlPr>
                          <a:rPr lang="en-US" i="1">
                            <a:latin typeface="Cambria Math" panose="02040503050406030204" pitchFamily="18" charset="0"/>
                          </a:rPr>
                        </m:ctrlPr>
                      </m:fPr>
                      <m:num>
                        <m:r>
                          <a:rPr lang="en-US" i="1">
                            <a:latin typeface="Cambria Math"/>
                          </a:rPr>
                          <m:t>𝑡𝑜𝑡𝑎𝑙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𝑢𝑛𝑖𝑡</m:t>
                        </m:r>
                        <m:r>
                          <a:rPr lang="en-US" i="1">
                            <a:latin typeface="Cambria Math"/>
                          </a:rPr>
                          <m:t> </m:t>
                        </m:r>
                        <m:r>
                          <a:rPr lang="en-US" i="1">
                            <a:latin typeface="Cambria Math"/>
                          </a:rPr>
                          <m:t>𝑖𝑛𝑠𝑝𝑒𝑐𝑡𝑒𝑑</m:t>
                        </m:r>
                      </m:num>
                      <m:den>
                        <m:r>
                          <a:rPr lang="en-US" i="1">
                            <a:latin typeface="Cambria Math"/>
                          </a:rPr>
                          <m:t>𝑛𝑜</m:t>
                        </m:r>
                        <m:r>
                          <a:rPr lang="en-US" i="1">
                            <a:latin typeface="Cambria Math"/>
                          </a:rPr>
                          <m:t>.</m:t>
                        </m:r>
                        <m:r>
                          <a:rPr lang="en-US" i="1">
                            <a:latin typeface="Cambria Math"/>
                          </a:rPr>
                          <m:t>𝑜𝑓</m:t>
                        </m:r>
                        <m:r>
                          <a:rPr lang="en-US" i="1">
                            <a:latin typeface="Cambria Math"/>
                          </a:rPr>
                          <m:t> </m:t>
                        </m:r>
                        <m:r>
                          <a:rPr lang="en-US" i="1">
                            <a:latin typeface="Cambria Math"/>
                          </a:rPr>
                          <m:t>𝑠𝑎𝑚𝑝𝑙𝑒</m:t>
                        </m:r>
                      </m:den>
                    </m:f>
                  </m:oMath>
                </a14:m>
                <a:endParaRPr lang="en-US" dirty="0"/>
              </a:p>
              <a:p>
                <a:pPr marL="0" indent="0">
                  <a:buNone/>
                </a:pPr>
                <a:r>
                  <a:rPr lang="en-US" dirty="0"/>
                  <a:t> If the no. of defectives of each sample lie with in the UCL and LCL then process is in control. If it lie outside then process is out of control.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76800"/>
              </a:xfrm>
              <a:blipFill>
                <a:blip r:embed="rId2"/>
                <a:stretch>
                  <a:fillRect l="-963" t="-875" r="-370"/>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135</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4402553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Autofit/>
              </a:bodyPr>
              <a:lstStyle/>
              <a:p>
                <a:pPr marL="0" indent="0">
                  <a:buNone/>
                </a:pPr>
                <a:r>
                  <a:rPr lang="en-US" b="1" dirty="0"/>
                  <a:t>Example-1: </a:t>
                </a:r>
                <a:r>
                  <a:rPr lang="en-US" dirty="0"/>
                  <a:t>An inspection of 10 samples of size 400 each from 10 lots reveal the following number of defectives: 17,15,14,26,9,4,19,12,9,15</a:t>
                </a:r>
              </a:p>
              <a:p>
                <a:pPr marL="0" indent="0">
                  <a:buNone/>
                </a:pPr>
                <a:r>
                  <a:rPr lang="en-US" dirty="0"/>
                  <a:t>Calculate the control limits for the number of defective units. Plot on the graph and state whether the process is under control or not.</a:t>
                </a:r>
              </a:p>
              <a:p>
                <a:pPr marL="0" indent="0">
                  <a:buNone/>
                </a:pPr>
                <a:r>
                  <a:rPr lang="en-US" b="1" dirty="0"/>
                  <a:t>Sol: </a:t>
                </a:r>
                <a:r>
                  <a:rPr lang="en-US" dirty="0"/>
                  <a:t>Here no. of samples</a:t>
                </a:r>
                <a14:m>
                  <m:oMath xmlns:m="http://schemas.openxmlformats.org/officeDocument/2006/math">
                    <m:r>
                      <a:rPr lang="en-US" i="1">
                        <a:latin typeface="Cambria Math"/>
                      </a:rPr>
                      <m:t>=10</m:t>
                    </m:r>
                  </m:oMath>
                </a14:m>
                <a:endParaRPr lang="en-US" dirty="0"/>
              </a:p>
              <a:p>
                <a:pPr marL="0" indent="0">
                  <a:buNone/>
                </a:pPr>
                <a:r>
                  <a:rPr lang="en-US" dirty="0"/>
                  <a:t>Size of sample: </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𝑛</m:t>
                      </m:r>
                      <m:r>
                        <a:rPr lang="en-US" i="1">
                          <a:latin typeface="Cambria Math"/>
                        </a:rPr>
                        <m:t>=</m:t>
                      </m:r>
                      <m:f>
                        <m:fPr>
                          <m:ctrlPr>
                            <a:rPr lang="en-US" i="1">
                              <a:latin typeface="Cambria Math" panose="02040503050406030204" pitchFamily="18" charset="0"/>
                            </a:rPr>
                          </m:ctrlPr>
                        </m:fPr>
                        <m:num>
                          <m:r>
                            <a:rPr lang="en-US" i="1">
                              <a:latin typeface="Cambria Math"/>
                            </a:rPr>
                            <m:t>𝑡𝑜𝑡𝑎𝑙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𝑢𝑛𝑖𝑡</m:t>
                          </m:r>
                          <m:r>
                            <a:rPr lang="en-US" i="1">
                              <a:latin typeface="Cambria Math"/>
                            </a:rPr>
                            <m:t> </m:t>
                          </m:r>
                          <m:r>
                            <a:rPr lang="en-US" i="1">
                              <a:latin typeface="Cambria Math"/>
                            </a:rPr>
                            <m:t>𝑖𝑛𝑠𝑝𝑒𝑐𝑡𝑒𝑑</m:t>
                          </m:r>
                        </m:num>
                        <m:den>
                          <m:r>
                            <a:rPr lang="en-US" i="1">
                              <a:latin typeface="Cambria Math"/>
                            </a:rPr>
                            <m:t>𝑛𝑜</m:t>
                          </m:r>
                          <m:r>
                            <a:rPr lang="en-US" i="1">
                              <a:latin typeface="Cambria Math"/>
                            </a:rPr>
                            <m:t>.</m:t>
                          </m:r>
                          <m:r>
                            <a:rPr lang="en-US" i="1">
                              <a:latin typeface="Cambria Math"/>
                            </a:rPr>
                            <m:t>𝑜𝑓</m:t>
                          </m:r>
                          <m:r>
                            <a:rPr lang="en-US" i="1">
                              <a:latin typeface="Cambria Math"/>
                            </a:rPr>
                            <m:t> </m:t>
                          </m:r>
                          <m:r>
                            <a:rPr lang="en-US" i="1">
                              <a:latin typeface="Cambria Math"/>
                            </a:rPr>
                            <m:t>𝑠𝑎𝑚𝑝𝑙𝑒</m:t>
                          </m:r>
                        </m:den>
                      </m:f>
                      <m:r>
                        <a:rPr lang="en-US" i="1">
                          <a:latin typeface="Cambria Math"/>
                        </a:rPr>
                        <m:t>=</m:t>
                      </m:r>
                      <m:f>
                        <m:fPr>
                          <m:ctrlPr>
                            <a:rPr lang="en-US" i="1">
                              <a:latin typeface="Cambria Math" panose="02040503050406030204" pitchFamily="18" charset="0"/>
                            </a:rPr>
                          </m:ctrlPr>
                        </m:fPr>
                        <m:num>
                          <m:r>
                            <a:rPr lang="en-US" i="1">
                              <a:latin typeface="Cambria Math"/>
                            </a:rPr>
                            <m:t>10</m:t>
                          </m:r>
                          <m:r>
                            <a:rPr lang="en-US" i="1">
                              <a:latin typeface="Cambria Math"/>
                              <a:ea typeface="Cambria Math"/>
                            </a:rPr>
                            <m:t>×400</m:t>
                          </m:r>
                        </m:num>
                        <m:den>
                          <m:r>
                            <a:rPr lang="en-US" i="1">
                              <a:latin typeface="Cambria Math"/>
                            </a:rPr>
                            <m:t>10</m:t>
                          </m:r>
                        </m:den>
                      </m:f>
                      <m:r>
                        <a:rPr lang="en-US" i="1">
                          <a:latin typeface="Cambria Math"/>
                        </a:rPr>
                        <m:t>=400</m:t>
                      </m:r>
                    </m:oMath>
                  </m:oMathPara>
                </a14:m>
                <a:endParaRPr lang="en-US" dirty="0"/>
              </a:p>
              <a:p>
                <a:pPr marL="0" indent="0">
                  <a:buNone/>
                </a:pPr>
                <a:r>
                  <a:rPr lang="en-US" dirty="0"/>
                  <a:t>Avg. fraction defective </a:t>
                </a:r>
                <a14:m>
                  <m:oMath xmlns:m="http://schemas.openxmlformats.org/officeDocument/2006/math">
                    <m:acc>
                      <m:accPr>
                        <m:chr m:val="̅"/>
                        <m:ctrlPr>
                          <a:rPr lang="en-US" i="1">
                            <a:latin typeface="Cambria Math" panose="02040503050406030204" pitchFamily="18" charset="0"/>
                          </a:rPr>
                        </m:ctrlPr>
                      </m:accPr>
                      <m:e>
                        <m:r>
                          <a:rPr lang="en-US" i="1">
                            <a:latin typeface="Cambria Math"/>
                          </a:rPr>
                          <m:t>𝑝</m:t>
                        </m:r>
                      </m:e>
                    </m:acc>
                    <m:r>
                      <a:rPr lang="en-US" i="1">
                        <a:latin typeface="Cambria Math"/>
                      </a:rPr>
                      <m:t>=</m:t>
                    </m:r>
                    <m:f>
                      <m:fPr>
                        <m:ctrlPr>
                          <a:rPr lang="en-US" i="1">
                            <a:latin typeface="Cambria Math" panose="02040503050406030204" pitchFamily="18" charset="0"/>
                          </a:rPr>
                        </m:ctrlPr>
                      </m:fPr>
                      <m:num>
                        <m:r>
                          <a:rPr lang="en-US" i="1">
                            <a:latin typeface="Cambria Math"/>
                          </a:rPr>
                          <m:t>𝑇𝑜𝑡𝑎𝑙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𝑑𝑒𝑓𝑒𝑐𝑡𝑖𝑣𝑒</m:t>
                        </m:r>
                      </m:num>
                      <m:den>
                        <m:r>
                          <a:rPr lang="en-US" i="1">
                            <a:latin typeface="Cambria Math"/>
                          </a:rPr>
                          <m:t>𝑇𝑜𝑡𝑎𝑙</m:t>
                        </m:r>
                        <m:r>
                          <a:rPr lang="en-US" i="1">
                            <a:latin typeface="Cambria Math"/>
                          </a:rPr>
                          <m:t> </m:t>
                        </m:r>
                        <m:r>
                          <a:rPr lang="en-US" i="1">
                            <a:latin typeface="Cambria Math"/>
                          </a:rPr>
                          <m:t>𝑛𝑜</m:t>
                        </m:r>
                        <m:r>
                          <a:rPr lang="en-US" i="1">
                            <a:latin typeface="Cambria Math"/>
                          </a:rPr>
                          <m:t>. </m:t>
                        </m:r>
                        <m:r>
                          <a:rPr lang="en-US" i="1">
                            <a:latin typeface="Cambria Math"/>
                          </a:rPr>
                          <m:t>𝑜𝑓</m:t>
                        </m:r>
                        <m:r>
                          <a:rPr lang="en-US" i="1">
                            <a:latin typeface="Cambria Math"/>
                          </a:rPr>
                          <m:t> </m:t>
                        </m:r>
                        <m:r>
                          <a:rPr lang="en-US" i="1">
                            <a:latin typeface="Cambria Math"/>
                          </a:rPr>
                          <m:t>𝑢𝑛𝑖𝑡</m:t>
                        </m:r>
                        <m:r>
                          <a:rPr lang="en-US" i="1">
                            <a:latin typeface="Cambria Math"/>
                          </a:rPr>
                          <m:t> </m:t>
                        </m:r>
                        <m:r>
                          <a:rPr lang="en-US" i="1">
                            <a:latin typeface="Cambria Math"/>
                          </a:rPr>
                          <m:t>𝑖𝑛𝑠𝑝𝑒𝑐𝑡𝑒𝑑</m:t>
                        </m:r>
                      </m:den>
                    </m:f>
                    <m:r>
                      <a:rPr lang="en-US" i="1">
                        <a:latin typeface="Cambria Math"/>
                      </a:rPr>
                      <m:t>=</m:t>
                    </m:r>
                    <m:f>
                      <m:fPr>
                        <m:ctrlPr>
                          <a:rPr lang="en-US" i="1">
                            <a:latin typeface="Cambria Math" panose="02040503050406030204" pitchFamily="18" charset="0"/>
                          </a:rPr>
                        </m:ctrlPr>
                      </m:fPr>
                      <m:num>
                        <m:r>
                          <a:rPr lang="en-US" i="1">
                            <a:latin typeface="Cambria Math"/>
                          </a:rPr>
                          <m:t>140</m:t>
                        </m:r>
                      </m:num>
                      <m:den>
                        <m:r>
                          <a:rPr lang="en-US" i="1">
                            <a:latin typeface="Cambria Math"/>
                          </a:rPr>
                          <m:t>400</m:t>
                        </m:r>
                        <m:r>
                          <a:rPr lang="en-US" i="1">
                            <a:latin typeface="Cambria Math"/>
                            <a:ea typeface="Cambria Math"/>
                          </a:rPr>
                          <m:t>×10</m:t>
                        </m:r>
                      </m:den>
                    </m:f>
                    <m:r>
                      <a:rPr lang="en-US" i="1">
                        <a:latin typeface="Cambria Math"/>
                      </a:rPr>
                      <m:t>=0.035</m:t>
                    </m:r>
                  </m:oMath>
                </a14:m>
                <a:endParaRPr lang="en-US" dirty="0"/>
              </a:p>
              <a:p>
                <a:pPr marL="0" indent="0">
                  <a:buNone/>
                </a:pPr>
                <a:r>
                  <a:rPr lang="en-US" dirty="0"/>
                  <a:t>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r>
                      <a:rPr lang="en-US" i="1">
                        <a:latin typeface="Cambria Math"/>
                      </a:rPr>
                      <m:t>=</m:t>
                    </m:r>
                  </m:oMath>
                </a14:m>
                <a:r>
                  <a:rPr lang="en-US" dirty="0"/>
                  <a:t>14</a:t>
                </a:r>
              </a:p>
              <a:p>
                <a:pPr marL="0" indent="0">
                  <a:buNone/>
                </a:pPr>
                <a:r>
                  <a:rPr lang="en-US" dirty="0"/>
                  <a:t>UCL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r>
                      <a:rPr lang="en-US" i="1">
                        <a:latin typeface="Cambria Math"/>
                      </a:rPr>
                      <m:t>+3</m:t>
                    </m:r>
                    <m:rad>
                      <m:radPr>
                        <m:degHide m:val="on"/>
                        <m:ctrlPr>
                          <a:rPr lang="en-US" i="1">
                            <a:latin typeface="Cambria Math" panose="02040503050406030204" pitchFamily="18" charset="0"/>
                          </a:rPr>
                        </m:ctrlPr>
                      </m:radPr>
                      <m:deg/>
                      <m:e>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d>
                          <m:dPr>
                            <m:ctrlPr>
                              <a:rPr lang="en-US" i="1">
                                <a:latin typeface="Cambria Math" panose="02040503050406030204" pitchFamily="18" charset="0"/>
                              </a:rPr>
                            </m:ctrlPr>
                          </m:dPr>
                          <m:e>
                            <m:r>
                              <a:rPr lang="en-US" i="1">
                                <a:latin typeface="Cambria Math"/>
                              </a:rPr>
                              <m:t>1−</m:t>
                            </m:r>
                            <m:acc>
                              <m:accPr>
                                <m:chr m:val="̅"/>
                                <m:ctrlPr>
                                  <a:rPr lang="en-US" i="1">
                                    <a:latin typeface="Cambria Math" panose="02040503050406030204" pitchFamily="18" charset="0"/>
                                  </a:rPr>
                                </m:ctrlPr>
                              </m:accPr>
                              <m:e>
                                <m:r>
                                  <a:rPr lang="en-US" i="1">
                                    <a:latin typeface="Cambria Math"/>
                                  </a:rPr>
                                  <m:t>𝑝</m:t>
                                </m:r>
                              </m:e>
                            </m:acc>
                          </m:e>
                        </m:d>
                      </m:e>
                    </m:rad>
                    <m:r>
                      <a:rPr lang="en-US" i="1">
                        <a:latin typeface="Cambria Math"/>
                      </a:rPr>
                      <m:t>=25.025</m:t>
                    </m:r>
                  </m:oMath>
                </a14:m>
                <a:endParaRPr lang="en-US" dirty="0"/>
              </a:p>
              <a:p>
                <a:pPr marL="0" indent="0">
                  <a:buNone/>
                </a:pPr>
                <a:r>
                  <a:rPr lang="en-US" dirty="0"/>
                  <a:t>LCL</a:t>
                </a:r>
                <a14:m>
                  <m:oMath xmlns:m="http://schemas.openxmlformats.org/officeDocument/2006/math">
                    <m:r>
                      <a:rPr lang="en-US" i="1">
                        <a:latin typeface="Cambria Math"/>
                      </a:rPr>
                      <m:t>=</m:t>
                    </m:r>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r>
                      <a:rPr lang="en-US" i="1">
                        <a:latin typeface="Cambria Math"/>
                      </a:rPr>
                      <m:t>−3</m:t>
                    </m:r>
                  </m:oMath>
                </a14:m>
                <a:r>
                  <a:rPr lang="en-US" dirty="0"/>
                  <a:t> </a:t>
                </a:r>
                <a14:m>
                  <m:oMath xmlns:m="http://schemas.openxmlformats.org/officeDocument/2006/math">
                    <m:rad>
                      <m:radPr>
                        <m:degHide m:val="on"/>
                        <m:ctrlPr>
                          <a:rPr lang="en-US" i="1">
                            <a:latin typeface="Cambria Math" panose="02040503050406030204" pitchFamily="18" charset="0"/>
                          </a:rPr>
                        </m:ctrlPr>
                      </m:radPr>
                      <m:deg/>
                      <m:e>
                        <m:r>
                          <a:rPr lang="en-US" i="1">
                            <a:latin typeface="Cambria Math"/>
                          </a:rPr>
                          <m:t>𝑛</m:t>
                        </m:r>
                        <m:acc>
                          <m:accPr>
                            <m:chr m:val="̅"/>
                            <m:ctrlPr>
                              <a:rPr lang="en-US" i="1">
                                <a:latin typeface="Cambria Math" panose="02040503050406030204" pitchFamily="18" charset="0"/>
                              </a:rPr>
                            </m:ctrlPr>
                          </m:accPr>
                          <m:e>
                            <m:r>
                              <a:rPr lang="en-US" i="1">
                                <a:latin typeface="Cambria Math"/>
                              </a:rPr>
                              <m:t>𝑝</m:t>
                            </m:r>
                          </m:e>
                        </m:acc>
                        <m:d>
                          <m:dPr>
                            <m:ctrlPr>
                              <a:rPr lang="en-US" i="1">
                                <a:latin typeface="Cambria Math" panose="02040503050406030204" pitchFamily="18" charset="0"/>
                              </a:rPr>
                            </m:ctrlPr>
                          </m:dPr>
                          <m:e>
                            <m:r>
                              <a:rPr lang="en-US" i="1">
                                <a:latin typeface="Cambria Math"/>
                              </a:rPr>
                              <m:t>1−</m:t>
                            </m:r>
                            <m:acc>
                              <m:accPr>
                                <m:chr m:val="̅"/>
                                <m:ctrlPr>
                                  <a:rPr lang="en-US" i="1">
                                    <a:latin typeface="Cambria Math" panose="02040503050406030204" pitchFamily="18" charset="0"/>
                                  </a:rPr>
                                </m:ctrlPr>
                              </m:accPr>
                              <m:e>
                                <m:r>
                                  <a:rPr lang="en-US" i="1">
                                    <a:latin typeface="Cambria Math"/>
                                  </a:rPr>
                                  <m:t>𝑝</m:t>
                                </m:r>
                              </m:e>
                            </m:acc>
                          </m:e>
                        </m:d>
                      </m:e>
                    </m:rad>
                    <m:r>
                      <a:rPr lang="en-US" i="1">
                        <a:latin typeface="Cambria Math"/>
                      </a:rPr>
                      <m:t>=2.97</m:t>
                    </m:r>
                  </m:oMath>
                </a14:m>
                <a:r>
                  <a:rPr lang="en-US" dirty="0"/>
                  <a:t>5</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963" t="-848" r="-519" b="-1697"/>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136</a:t>
            </a:fld>
            <a:endParaRPr lang="en-US"/>
          </a:p>
        </p:txBody>
      </p:sp>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5792578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a:p>
        </p:txBody>
      </p:sp>
      <p:pic>
        <p:nvPicPr>
          <p:cNvPr id="7065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1327" t="19132" r="18419" b="19952"/>
          <a:stretch/>
        </p:blipFill>
        <p:spPr bwMode="auto">
          <a:xfrm>
            <a:off x="990600" y="1143001"/>
            <a:ext cx="70104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922769913"/>
      </p:ext>
    </p:extLst>
  </p:cSld>
  <p:clrMapOvr>
    <a:masterClrMapping/>
  </p:clrMapOvr>
  <p:transition spd="slow">
    <p:push dir="u"/>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C-chart: </a:t>
                </a:r>
                <a:r>
                  <a:rPr lang="en-US" sz="2200" dirty="0"/>
                  <a:t>is used when the no. of defect per Module are counted. Here C represent the no. of defects per Module (per item)</a:t>
                </a:r>
              </a:p>
              <a:p>
                <a:pPr marL="0" indent="0">
                  <a:buNone/>
                </a:pPr>
                <a:r>
                  <a:rPr lang="en-US" sz="2200" dirty="0"/>
                  <a:t> </a:t>
                </a:r>
                <a:r>
                  <a:rPr lang="en-US" sz="2200" b="1" dirty="0"/>
                  <a:t>Construction of C-chart</a:t>
                </a:r>
                <a:r>
                  <a:rPr lang="en-US" sz="2200" dirty="0"/>
                  <a:t>:</a:t>
                </a:r>
              </a:p>
              <a:p>
                <a:r>
                  <a:rPr lang="en-US" sz="2200" dirty="0"/>
                  <a:t>Calculate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m:t>
                    </m:r>
                    <m:f>
                      <m:fPr>
                        <m:ctrlPr>
                          <a:rPr lang="en-US" sz="2200" i="1">
                            <a:latin typeface="Cambria Math" panose="02040503050406030204" pitchFamily="18" charset="0"/>
                          </a:rPr>
                        </m:ctrlPr>
                      </m:fPr>
                      <m:num>
                        <m:r>
                          <a:rPr lang="en-US" sz="2200" i="1">
                            <a:latin typeface="Cambria Math"/>
                          </a:rPr>
                          <m:t>𝑁𝑜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𝑑𝑒𝑓𝑒𝑐𝑡</m:t>
                        </m:r>
                        <m:r>
                          <a:rPr lang="en-US" sz="2200" i="1">
                            <a:latin typeface="Cambria Math"/>
                          </a:rPr>
                          <m:t> </m:t>
                        </m:r>
                        <m:r>
                          <a:rPr lang="en-US" sz="2200" i="1">
                            <a:latin typeface="Cambria Math"/>
                          </a:rPr>
                          <m:t>𝑖𝑛</m:t>
                        </m:r>
                        <m:r>
                          <a:rPr lang="en-US" sz="2200" i="1">
                            <a:latin typeface="Cambria Math"/>
                          </a:rPr>
                          <m:t> </m:t>
                        </m:r>
                        <m:r>
                          <a:rPr lang="en-US" sz="2200" i="1">
                            <a:latin typeface="Cambria Math"/>
                          </a:rPr>
                          <m:t>𝑎𝑙𝑙</m:t>
                        </m:r>
                        <m:r>
                          <a:rPr lang="en-US" sz="2200" i="1">
                            <a:latin typeface="Cambria Math"/>
                          </a:rPr>
                          <m:t> </m:t>
                        </m:r>
                        <m:r>
                          <a:rPr lang="en-US" sz="2200" i="1">
                            <a:latin typeface="Cambria Math"/>
                          </a:rPr>
                          <m:t>𝑠𝑎𝑚𝑝𝑙𝑒𝑠</m:t>
                        </m:r>
                      </m:num>
                      <m:den>
                        <m:r>
                          <a:rPr lang="en-US" sz="2200" i="1">
                            <a:latin typeface="Cambria Math"/>
                          </a:rPr>
                          <m:t>𝑡𝑜𝑡𝑎𝑙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𝑠𝑎𝑚𝑝𝑙𝑒𝑠</m:t>
                        </m:r>
                      </m:den>
                    </m:f>
                  </m:oMath>
                </a14:m>
                <a:endParaRPr lang="en-US" sz="2200" dirty="0"/>
              </a:p>
              <a:p>
                <a:r>
                  <a:rPr lang="en-US" sz="2200" dirty="0"/>
                  <a:t>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oMath>
                </a14:m>
                <a:endParaRPr lang="en-US" sz="2200" dirty="0"/>
              </a:p>
              <a:p>
                <a:pPr marL="0" indent="0">
                  <a:buNone/>
                </a:pPr>
                <a:r>
                  <a:rPr lang="en-US" sz="2200" dirty="0"/>
                  <a:t>    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+3</m:t>
                    </m:r>
                    <m:rad>
                      <m:radPr>
                        <m:degHide m:val="on"/>
                        <m:ctrlPr>
                          <a:rPr lang="en-US" sz="2200" i="1">
                            <a:latin typeface="Cambria Math" panose="02040503050406030204" pitchFamily="18" charset="0"/>
                          </a:rPr>
                        </m:ctrlPr>
                      </m:radPr>
                      <m:deg/>
                      <m:e>
                        <m:acc>
                          <m:accPr>
                            <m:chr m:val="̅"/>
                            <m:ctrlPr>
                              <a:rPr lang="en-US" sz="2200" i="1">
                                <a:latin typeface="Cambria Math" panose="02040503050406030204" pitchFamily="18" charset="0"/>
                              </a:rPr>
                            </m:ctrlPr>
                          </m:accPr>
                          <m:e>
                            <m:r>
                              <a:rPr lang="en-US" sz="2200" i="1">
                                <a:latin typeface="Cambria Math"/>
                              </a:rPr>
                              <m:t>𝐶</m:t>
                            </m:r>
                          </m:e>
                        </m:acc>
                      </m:e>
                    </m:rad>
                  </m:oMath>
                </a14:m>
                <a:endParaRPr lang="en-US" sz="2200" dirty="0"/>
              </a:p>
              <a:p>
                <a:pPr marL="0" indent="0">
                  <a:buNone/>
                </a:pPr>
                <a:r>
                  <a:rPr lang="en-US" sz="2200" dirty="0"/>
                  <a:t>    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−3</m:t>
                    </m:r>
                  </m:oMath>
                </a14:m>
                <a:r>
                  <a:rPr lang="en-US" sz="2200" dirty="0"/>
                  <a:t> </a:t>
                </a:r>
                <a14:m>
                  <m:oMath xmlns:m="http://schemas.openxmlformats.org/officeDocument/2006/math">
                    <m:rad>
                      <m:radPr>
                        <m:degHide m:val="on"/>
                        <m:ctrlPr>
                          <a:rPr lang="en-US" sz="2200" i="1">
                            <a:latin typeface="Cambria Math" panose="02040503050406030204" pitchFamily="18" charset="0"/>
                          </a:rPr>
                        </m:ctrlPr>
                      </m:radPr>
                      <m:deg/>
                      <m:e>
                        <m:acc>
                          <m:accPr>
                            <m:chr m:val="̅"/>
                            <m:ctrlPr>
                              <a:rPr lang="en-US" sz="2200" i="1">
                                <a:latin typeface="Cambria Math" panose="02040503050406030204" pitchFamily="18" charset="0"/>
                              </a:rPr>
                            </m:ctrlPr>
                          </m:accPr>
                          <m:e>
                            <m:r>
                              <a:rPr lang="en-US" sz="2200" i="1">
                                <a:latin typeface="Cambria Math"/>
                              </a:rPr>
                              <m:t>𝐶</m:t>
                            </m:r>
                          </m:e>
                        </m:acc>
                      </m:e>
                    </m:rad>
                  </m:oMath>
                </a14:m>
                <a:endParaRPr lang="en-US" sz="2200" dirty="0"/>
              </a:p>
              <a:p>
                <a:pPr marL="0" indent="0">
                  <a:buNone/>
                </a:pPr>
                <a:endParaRPr lang="en-US" sz="2200" dirty="0"/>
              </a:p>
              <a:p>
                <a:r>
                  <a:rPr lang="en-US" sz="2200" dirty="0"/>
                  <a:t>If the no. of defects with in the UCL and LCL then process is in control. If it lie outside then process is out of control.</a:t>
                </a:r>
              </a:p>
              <a:p>
                <a:endParaRPr lang="en-US" sz="2200" dirty="0"/>
              </a:p>
              <a:p>
                <a:endParaRPr lang="en-US" sz="2200" dirty="0"/>
              </a:p>
              <a:p>
                <a:endParaRPr lang="en-US" sz="2200" dirty="0"/>
              </a:p>
              <a:p>
                <a:pPr marL="0" indent="0">
                  <a:buNone/>
                </a:pPr>
                <a:endParaRPr lang="en-US" sz="2200" dirty="0"/>
              </a:p>
              <a:p>
                <a:pPr marL="0" indent="0">
                  <a:buNone/>
                </a:pPr>
                <a:r>
                  <a:rPr lang="en-US" sz="2200" dirty="0"/>
                  <a:t> </a:t>
                </a:r>
                <a:endParaRPr lang="en-US" sz="2200" b="1"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a:p>
        </p:txBody>
      </p:sp>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0833589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1000"/>
                                        <p:tgtEl>
                                          <p:spTgt spid="3">
                                            <p:txEl>
                                              <p:pRg st="12" end="12"/>
                                            </p:txEl>
                                          </p:spTgt>
                                        </p:tgtEl>
                                      </p:cBhvr>
                                    </p:animEffect>
                                    <p:anim calcmode="lin" valueType="num">
                                      <p:cBhvr>
                                        <p:cTn id="57"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Example-1</a:t>
                </a:r>
                <a:r>
                  <a:rPr lang="en-US" sz="2200" dirty="0"/>
                  <a:t> Ten pieces of cloth out of different rolls of equal length contained the following defects: 1,3,5,0,6,0,9,4,4,3</a:t>
                </a:r>
              </a:p>
              <a:p>
                <a:pPr marL="0" indent="0">
                  <a:buNone/>
                </a:pPr>
                <a:r>
                  <a:rPr lang="en-US" sz="2200" dirty="0"/>
                  <a:t>Draw a control chart for the no. of defects and state whether the process is in state of statistical control.</a:t>
                </a:r>
              </a:p>
              <a:p>
                <a:pPr marL="0" indent="0">
                  <a:buNone/>
                </a:pPr>
                <a:r>
                  <a:rPr lang="en-US" sz="2200" b="1" dirty="0"/>
                  <a:t>Sol:</a:t>
                </a:r>
                <a:r>
                  <a:rPr lang="en-US" sz="2200" dirty="0"/>
                  <a:t>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m:t>
                    </m:r>
                    <m:f>
                      <m:fPr>
                        <m:ctrlPr>
                          <a:rPr lang="en-US" sz="2200" i="1">
                            <a:latin typeface="Cambria Math" panose="02040503050406030204" pitchFamily="18" charset="0"/>
                          </a:rPr>
                        </m:ctrlPr>
                      </m:fPr>
                      <m:num>
                        <m:r>
                          <a:rPr lang="en-US" sz="2200" i="1">
                            <a:latin typeface="Cambria Math"/>
                          </a:rPr>
                          <m:t>𝑁𝑜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𝑑𝑒𝑓𝑒𝑐𝑡</m:t>
                        </m:r>
                        <m:r>
                          <a:rPr lang="en-US" sz="2200" i="1">
                            <a:latin typeface="Cambria Math"/>
                          </a:rPr>
                          <m:t> </m:t>
                        </m:r>
                        <m:r>
                          <a:rPr lang="en-US" sz="2200" i="1">
                            <a:latin typeface="Cambria Math"/>
                          </a:rPr>
                          <m:t>𝑖𝑛</m:t>
                        </m:r>
                        <m:r>
                          <a:rPr lang="en-US" sz="2200" i="1">
                            <a:latin typeface="Cambria Math"/>
                          </a:rPr>
                          <m:t> </m:t>
                        </m:r>
                        <m:r>
                          <a:rPr lang="en-US" sz="2200" i="1">
                            <a:latin typeface="Cambria Math"/>
                          </a:rPr>
                          <m:t>𝑎𝑙𝑙</m:t>
                        </m:r>
                        <m:r>
                          <a:rPr lang="en-US" sz="2200" i="1">
                            <a:latin typeface="Cambria Math"/>
                          </a:rPr>
                          <m:t> </m:t>
                        </m:r>
                        <m:r>
                          <a:rPr lang="en-US" sz="2200" i="1">
                            <a:latin typeface="Cambria Math"/>
                          </a:rPr>
                          <m:t>𝑠𝑎𝑚𝑝𝑙𝑒𝑠</m:t>
                        </m:r>
                      </m:num>
                      <m:den>
                        <m:r>
                          <a:rPr lang="en-US" sz="2200" i="1">
                            <a:latin typeface="Cambria Math"/>
                          </a:rPr>
                          <m:t>𝑡𝑜𝑡𝑎𝑙</m:t>
                        </m:r>
                        <m:r>
                          <a:rPr lang="en-US" sz="2200" i="1">
                            <a:latin typeface="Cambria Math"/>
                          </a:rPr>
                          <m:t> </m:t>
                        </m:r>
                        <m:r>
                          <a:rPr lang="en-US" sz="2200" i="1">
                            <a:latin typeface="Cambria Math"/>
                          </a:rPr>
                          <m:t>𝑛𝑜</m:t>
                        </m:r>
                        <m:r>
                          <a:rPr lang="en-US" sz="2200" i="1">
                            <a:latin typeface="Cambria Math"/>
                          </a:rPr>
                          <m:t>. </m:t>
                        </m:r>
                        <m:r>
                          <a:rPr lang="en-US" sz="2200" i="1">
                            <a:latin typeface="Cambria Math"/>
                          </a:rPr>
                          <m:t>𝑜𝑓</m:t>
                        </m:r>
                        <m:r>
                          <a:rPr lang="en-US" sz="2200" i="1">
                            <a:latin typeface="Cambria Math"/>
                          </a:rPr>
                          <m:t> </m:t>
                        </m:r>
                        <m:r>
                          <a:rPr lang="en-US" sz="2200" i="1">
                            <a:latin typeface="Cambria Math"/>
                          </a:rPr>
                          <m:t>𝑠𝑎𝑚𝑝𝑙𝑒𝑠</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35</m:t>
                        </m:r>
                      </m:num>
                      <m:den>
                        <m:r>
                          <a:rPr lang="en-US" sz="2200" i="1">
                            <a:latin typeface="Cambria Math"/>
                          </a:rPr>
                          <m:t>10</m:t>
                        </m:r>
                      </m:den>
                    </m:f>
                    <m:r>
                      <a:rPr lang="en-US" sz="2200" i="1">
                        <a:latin typeface="Cambria Math"/>
                      </a:rPr>
                      <m:t>=3.5</m:t>
                    </m:r>
                  </m:oMath>
                </a14:m>
                <a:endParaRPr lang="en-US" sz="2200" dirty="0"/>
              </a:p>
              <a:p>
                <a:pPr marL="0" indent="0">
                  <a:buNone/>
                </a:pPr>
                <a:r>
                  <a:rPr lang="en-US" sz="2200" dirty="0"/>
                  <a:t>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=3.5</m:t>
                    </m:r>
                  </m:oMath>
                </a14:m>
                <a:endParaRPr lang="en-US" sz="2200" dirty="0"/>
              </a:p>
              <a:p>
                <a:pPr marL="0" indent="0">
                  <a:buNone/>
                </a:pPr>
                <a:r>
                  <a:rPr lang="en-US" sz="2200" dirty="0"/>
                  <a:t>UCL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+3</m:t>
                    </m:r>
                    <m:rad>
                      <m:radPr>
                        <m:degHide m:val="on"/>
                        <m:ctrlPr>
                          <a:rPr lang="en-US" sz="2200" i="1">
                            <a:latin typeface="Cambria Math" panose="02040503050406030204" pitchFamily="18" charset="0"/>
                          </a:rPr>
                        </m:ctrlPr>
                      </m:radPr>
                      <m:deg/>
                      <m:e>
                        <m:acc>
                          <m:accPr>
                            <m:chr m:val="̅"/>
                            <m:ctrlPr>
                              <a:rPr lang="en-US" sz="2200" i="1">
                                <a:latin typeface="Cambria Math" panose="02040503050406030204" pitchFamily="18" charset="0"/>
                              </a:rPr>
                            </m:ctrlPr>
                          </m:accPr>
                          <m:e>
                            <m:r>
                              <a:rPr lang="en-US" sz="2200" i="1">
                                <a:latin typeface="Cambria Math"/>
                              </a:rPr>
                              <m:t>𝐶</m:t>
                            </m:r>
                          </m:e>
                        </m:acc>
                      </m:e>
                    </m:rad>
                    <m:r>
                      <a:rPr lang="en-US" sz="2200" i="1">
                        <a:latin typeface="Cambria Math"/>
                      </a:rPr>
                      <m:t>=9.112</m:t>
                    </m:r>
                  </m:oMath>
                </a14:m>
                <a:endParaRPr lang="en-US" sz="2200" dirty="0"/>
              </a:p>
              <a:p>
                <a:pPr marL="0" indent="0">
                  <a:buNone/>
                </a:pPr>
                <a:r>
                  <a:rPr lang="en-US" sz="2200" dirty="0"/>
                  <a:t>LCL</a:t>
                </a:r>
                <a14:m>
                  <m:oMath xmlns:m="http://schemas.openxmlformats.org/officeDocument/2006/math">
                    <m:r>
                      <a:rPr lang="en-US" sz="2200" i="1">
                        <a:latin typeface="Cambria Math"/>
                      </a:rPr>
                      <m:t>=</m:t>
                    </m:r>
                    <m:acc>
                      <m:accPr>
                        <m:chr m:val="̅"/>
                        <m:ctrlPr>
                          <a:rPr lang="en-US" sz="2200" i="1">
                            <a:latin typeface="Cambria Math" panose="02040503050406030204" pitchFamily="18" charset="0"/>
                          </a:rPr>
                        </m:ctrlPr>
                      </m:accPr>
                      <m:e>
                        <m:r>
                          <a:rPr lang="en-US" sz="2200" i="1">
                            <a:latin typeface="Cambria Math"/>
                          </a:rPr>
                          <m:t>𝐶</m:t>
                        </m:r>
                      </m:e>
                    </m:acc>
                    <m:r>
                      <a:rPr lang="en-US" sz="2200" i="1">
                        <a:latin typeface="Cambria Math"/>
                      </a:rPr>
                      <m:t>−3</m:t>
                    </m:r>
                  </m:oMath>
                </a14:m>
                <a:r>
                  <a:rPr lang="en-US" sz="2200" dirty="0"/>
                  <a:t> </a:t>
                </a:r>
                <a14:m>
                  <m:oMath xmlns:m="http://schemas.openxmlformats.org/officeDocument/2006/math">
                    <m:rad>
                      <m:radPr>
                        <m:degHide m:val="on"/>
                        <m:ctrlPr>
                          <a:rPr lang="en-US" sz="2200" i="1">
                            <a:latin typeface="Cambria Math" panose="02040503050406030204" pitchFamily="18" charset="0"/>
                          </a:rPr>
                        </m:ctrlPr>
                      </m:radPr>
                      <m:deg/>
                      <m:e>
                        <m:acc>
                          <m:accPr>
                            <m:chr m:val="̅"/>
                            <m:ctrlPr>
                              <a:rPr lang="en-US" sz="2200" i="1">
                                <a:latin typeface="Cambria Math" panose="02040503050406030204" pitchFamily="18" charset="0"/>
                              </a:rPr>
                            </m:ctrlPr>
                          </m:accPr>
                          <m:e>
                            <m:r>
                              <a:rPr lang="en-US" sz="2200" i="1">
                                <a:latin typeface="Cambria Math"/>
                              </a:rPr>
                              <m:t>𝐶</m:t>
                            </m:r>
                          </m:e>
                        </m:acc>
                      </m:e>
                    </m:rad>
                    <m:r>
                      <a:rPr lang="en-US" sz="2200" i="1">
                        <a:latin typeface="Cambria Math"/>
                      </a:rPr>
                      <m:t>=−2.112</m:t>
                    </m:r>
                  </m:oMath>
                </a14:m>
                <a:endParaRPr lang="en-US" sz="2200" b="1" dirty="0"/>
              </a:p>
              <a:p>
                <a:pPr marL="0" indent="0">
                  <a:buNone/>
                </a:pPr>
                <a:r>
                  <a:rPr lang="en-US" sz="2200" dirty="0"/>
                  <a:t>here LCL is negative so LCL=0</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7951"/>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a:p>
        </p:txBody>
      </p:sp>
      <p:sp>
        <p:nvSpPr>
          <p:cNvPr id="9"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37777912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140</a:t>
            </a:fld>
            <a:endParaRPr lang="en-US"/>
          </a:p>
        </p:txBody>
      </p:sp>
      <p:pic>
        <p:nvPicPr>
          <p:cNvPr id="7168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113" t="17602" r="19107" b="17809"/>
          <a:stretch/>
        </p:blipFill>
        <p:spPr bwMode="auto">
          <a:xfrm>
            <a:off x="723900" y="1143000"/>
            <a:ext cx="7658100" cy="46897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1485900" y="0"/>
            <a:ext cx="76581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b="1" dirty="0"/>
              <a:t> </a:t>
            </a:r>
            <a:r>
              <a:rPr lang="en-US" sz="2400" b="1" dirty="0"/>
              <a:t>Control Charts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40622613"/>
      </p:ext>
    </p:extLst>
  </p:cSld>
  <p:clrMapOvr>
    <a:masterClrMapping/>
  </p:clrMapOvr>
  <p:transition spd="slow">
    <p:push dir="u"/>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724400"/>
          </a:xfrm>
        </p:spPr>
        <p:txBody>
          <a:bodyPr>
            <a:noAutofit/>
          </a:bodyPr>
          <a:lstStyle/>
          <a:p>
            <a:pPr marL="0" indent="0" algn="just">
              <a:buNone/>
            </a:pPr>
            <a:r>
              <a:rPr lang="en-US" b="1" dirty="0"/>
              <a:t>Q1 </a:t>
            </a:r>
            <a:r>
              <a:rPr lang="en-US" dirty="0"/>
              <a:t>The no. of defective needles of sewing machines has been given in the following table on the basis of daily inspection:</a:t>
            </a:r>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en-US" dirty="0"/>
              <a:t>Prepare p-chart and state whether the production process is in control.</a:t>
            </a:r>
          </a:p>
          <a:p>
            <a:pPr marL="0" indent="0" algn="just">
              <a:buNone/>
            </a:pPr>
            <a:r>
              <a:rPr lang="en-US" b="1" dirty="0" err="1"/>
              <a:t>Ans</a:t>
            </a:r>
            <a:r>
              <a:rPr lang="en-US" b="1" dirty="0"/>
              <a:t>: Process is not in control.</a:t>
            </a:r>
          </a:p>
          <a:p>
            <a:pPr marL="0" indent="0">
              <a:buNone/>
            </a:pPr>
            <a:endParaRPr lang="en-US" dirty="0"/>
          </a:p>
          <a:p>
            <a:pPr marL="0" indent="0">
              <a:buNone/>
            </a:pPr>
            <a:r>
              <a:rPr lang="en-US" b="1" dirty="0"/>
              <a:t>Q2: </a:t>
            </a:r>
            <a:r>
              <a:rPr lang="en-US" dirty="0"/>
              <a:t>A process monitors the number of defects per day in the production Module and counts for 5 days are: [4, 6, 3, 5, 7]. Construct a C-chart.</a:t>
            </a:r>
          </a:p>
          <a:p>
            <a:pPr marL="0" indent="0">
              <a:buNone/>
            </a:pPr>
            <a:r>
              <a:rPr lang="en-US" b="1" dirty="0"/>
              <a:t>Ans: </a:t>
            </a:r>
            <a:r>
              <a:rPr lang="en-US" dirty="0"/>
              <a:t>The UCL is 11.71 and LCL is 0.</a:t>
            </a:r>
            <a:endParaRPr lang="en-US" b="1"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141</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Quiz(CO5)</a:t>
            </a:r>
            <a:endParaRPr kumimoji="0" lang="en-US" sz="2400" b="1" i="0" u="none" strike="noStrike" kern="1200" cap="none" spc="0" normalizeH="0" baseline="0" noProof="0" dirty="0">
              <a:ln>
                <a:noFill/>
              </a:ln>
              <a:solidFill>
                <a:schemeClr val="dk1"/>
              </a:solidFill>
              <a:effectLst/>
              <a:uLnTx/>
              <a:uFillTx/>
            </a:endParaRPr>
          </a:p>
        </p:txBody>
      </p:sp>
      <p:graphicFrame>
        <p:nvGraphicFramePr>
          <p:cNvPr id="2" name="Table 1">
            <a:extLst>
              <a:ext uri="{FF2B5EF4-FFF2-40B4-BE49-F238E27FC236}">
                <a16:creationId xmlns:a16="http://schemas.microsoft.com/office/drawing/2014/main" id="{58DFFDF8-B2F1-4131-8D5A-2077ACBB97F9}"/>
              </a:ext>
            </a:extLst>
          </p:cNvPr>
          <p:cNvGraphicFramePr>
            <a:graphicFrameLocks noGrp="1"/>
          </p:cNvGraphicFramePr>
          <p:nvPr>
            <p:extLst>
              <p:ext uri="{D42A27DB-BD31-4B8C-83A1-F6EECF244321}">
                <p14:modId xmlns:p14="http://schemas.microsoft.com/office/powerpoint/2010/main" val="2975570493"/>
              </p:ext>
            </p:extLst>
          </p:nvPr>
        </p:nvGraphicFramePr>
        <p:xfrm>
          <a:off x="606428" y="1935480"/>
          <a:ext cx="7939402" cy="1112520"/>
        </p:xfrm>
        <a:graphic>
          <a:graphicData uri="http://schemas.openxmlformats.org/drawingml/2006/table">
            <a:tbl>
              <a:tblPr firstRow="1" bandRow="1">
                <a:tableStyleId>{5C22544A-7EE6-4342-B048-85BDC9FD1C3A}</a:tableStyleId>
              </a:tblPr>
              <a:tblGrid>
                <a:gridCol w="2431474">
                  <a:extLst>
                    <a:ext uri="{9D8B030D-6E8A-4147-A177-3AD203B41FA5}">
                      <a16:colId xmlns:a16="http://schemas.microsoft.com/office/drawing/2014/main" val="1193957396"/>
                    </a:ext>
                  </a:extLst>
                </a:gridCol>
                <a:gridCol w="609600">
                  <a:extLst>
                    <a:ext uri="{9D8B030D-6E8A-4147-A177-3AD203B41FA5}">
                      <a16:colId xmlns:a16="http://schemas.microsoft.com/office/drawing/2014/main" val="1219052021"/>
                    </a:ext>
                  </a:extLst>
                </a:gridCol>
                <a:gridCol w="468630">
                  <a:extLst>
                    <a:ext uri="{9D8B030D-6E8A-4147-A177-3AD203B41FA5}">
                      <a16:colId xmlns:a16="http://schemas.microsoft.com/office/drawing/2014/main" val="64863141"/>
                    </a:ext>
                  </a:extLst>
                </a:gridCol>
                <a:gridCol w="533400">
                  <a:extLst>
                    <a:ext uri="{9D8B030D-6E8A-4147-A177-3AD203B41FA5}">
                      <a16:colId xmlns:a16="http://schemas.microsoft.com/office/drawing/2014/main" val="1814119750"/>
                    </a:ext>
                  </a:extLst>
                </a:gridCol>
                <a:gridCol w="533400">
                  <a:extLst>
                    <a:ext uri="{9D8B030D-6E8A-4147-A177-3AD203B41FA5}">
                      <a16:colId xmlns:a16="http://schemas.microsoft.com/office/drawing/2014/main" val="1580565489"/>
                    </a:ext>
                  </a:extLst>
                </a:gridCol>
                <a:gridCol w="609600">
                  <a:extLst>
                    <a:ext uri="{9D8B030D-6E8A-4147-A177-3AD203B41FA5}">
                      <a16:colId xmlns:a16="http://schemas.microsoft.com/office/drawing/2014/main" val="1105318009"/>
                    </a:ext>
                  </a:extLst>
                </a:gridCol>
                <a:gridCol w="533400">
                  <a:extLst>
                    <a:ext uri="{9D8B030D-6E8A-4147-A177-3AD203B41FA5}">
                      <a16:colId xmlns:a16="http://schemas.microsoft.com/office/drawing/2014/main" val="2743239856"/>
                    </a:ext>
                  </a:extLst>
                </a:gridCol>
                <a:gridCol w="533400">
                  <a:extLst>
                    <a:ext uri="{9D8B030D-6E8A-4147-A177-3AD203B41FA5}">
                      <a16:colId xmlns:a16="http://schemas.microsoft.com/office/drawing/2014/main" val="2542472111"/>
                    </a:ext>
                  </a:extLst>
                </a:gridCol>
                <a:gridCol w="533400">
                  <a:extLst>
                    <a:ext uri="{9D8B030D-6E8A-4147-A177-3AD203B41FA5}">
                      <a16:colId xmlns:a16="http://schemas.microsoft.com/office/drawing/2014/main" val="1886223990"/>
                    </a:ext>
                  </a:extLst>
                </a:gridCol>
                <a:gridCol w="609600">
                  <a:extLst>
                    <a:ext uri="{9D8B030D-6E8A-4147-A177-3AD203B41FA5}">
                      <a16:colId xmlns:a16="http://schemas.microsoft.com/office/drawing/2014/main" val="4217743140"/>
                    </a:ext>
                  </a:extLst>
                </a:gridCol>
                <a:gridCol w="543498">
                  <a:extLst>
                    <a:ext uri="{9D8B030D-6E8A-4147-A177-3AD203B41FA5}">
                      <a16:colId xmlns:a16="http://schemas.microsoft.com/office/drawing/2014/main" val="4076409914"/>
                    </a:ext>
                  </a:extLst>
                </a:gridCol>
              </a:tblGrid>
              <a:tr h="370840">
                <a:tc>
                  <a:txBody>
                    <a:bodyPr/>
                    <a:lstStyle/>
                    <a:p>
                      <a:r>
                        <a:rPr lang="en-US" sz="1800" dirty="0"/>
                        <a:t>Day</a:t>
                      </a:r>
                    </a:p>
                  </a:txBody>
                  <a:tcPr/>
                </a:tc>
                <a:tc>
                  <a:txBody>
                    <a:bodyPr/>
                    <a:lstStyle/>
                    <a:p>
                      <a:r>
                        <a:rPr lang="en-US" sz="1800" dirty="0"/>
                        <a:t>1</a:t>
                      </a:r>
                    </a:p>
                  </a:txBody>
                  <a:tcPr/>
                </a:tc>
                <a:tc>
                  <a:txBody>
                    <a:bodyPr/>
                    <a:lstStyle/>
                    <a:p>
                      <a:r>
                        <a:rPr lang="en-US" sz="1800" dirty="0"/>
                        <a:t>2</a:t>
                      </a:r>
                    </a:p>
                  </a:txBody>
                  <a:tcPr/>
                </a:tc>
                <a:tc>
                  <a:txBody>
                    <a:bodyPr/>
                    <a:lstStyle/>
                    <a:p>
                      <a:r>
                        <a:rPr lang="en-US" sz="1800" dirty="0"/>
                        <a:t>3</a:t>
                      </a:r>
                    </a:p>
                  </a:txBody>
                  <a:tcPr/>
                </a:tc>
                <a:tc>
                  <a:txBody>
                    <a:bodyPr/>
                    <a:lstStyle/>
                    <a:p>
                      <a:r>
                        <a:rPr lang="en-US" sz="1800" dirty="0"/>
                        <a:t>4</a:t>
                      </a:r>
                    </a:p>
                  </a:txBody>
                  <a:tcPr/>
                </a:tc>
                <a:tc>
                  <a:txBody>
                    <a:bodyPr/>
                    <a:lstStyle/>
                    <a:p>
                      <a:r>
                        <a:rPr lang="en-US" sz="1800" dirty="0"/>
                        <a:t>5</a:t>
                      </a:r>
                    </a:p>
                  </a:txBody>
                  <a:tcPr/>
                </a:tc>
                <a:tc>
                  <a:txBody>
                    <a:bodyPr/>
                    <a:lstStyle/>
                    <a:p>
                      <a:r>
                        <a:rPr lang="en-US" sz="1800" dirty="0"/>
                        <a:t>6</a:t>
                      </a:r>
                    </a:p>
                  </a:txBody>
                  <a:tcPr/>
                </a:tc>
                <a:tc>
                  <a:txBody>
                    <a:bodyPr/>
                    <a:lstStyle/>
                    <a:p>
                      <a:r>
                        <a:rPr lang="en-US" sz="1800" dirty="0"/>
                        <a:t>7</a:t>
                      </a:r>
                    </a:p>
                  </a:txBody>
                  <a:tcPr/>
                </a:tc>
                <a:tc>
                  <a:txBody>
                    <a:bodyPr/>
                    <a:lstStyle/>
                    <a:p>
                      <a:r>
                        <a:rPr lang="en-US" sz="1800" dirty="0"/>
                        <a:t>8</a:t>
                      </a:r>
                    </a:p>
                  </a:txBody>
                  <a:tcPr/>
                </a:tc>
                <a:tc>
                  <a:txBody>
                    <a:bodyPr/>
                    <a:lstStyle/>
                    <a:p>
                      <a:r>
                        <a:rPr lang="en-US" sz="1800" dirty="0"/>
                        <a:t>9</a:t>
                      </a:r>
                    </a:p>
                  </a:txBody>
                  <a:tcPr/>
                </a:tc>
                <a:tc>
                  <a:txBody>
                    <a:bodyPr/>
                    <a:lstStyle/>
                    <a:p>
                      <a:r>
                        <a:rPr lang="en-US" sz="1800" dirty="0"/>
                        <a:t>10</a:t>
                      </a:r>
                    </a:p>
                  </a:txBody>
                  <a:tcPr/>
                </a:tc>
                <a:extLst>
                  <a:ext uri="{0D108BD9-81ED-4DB2-BD59-A6C34878D82A}">
                    <a16:rowId xmlns:a16="http://schemas.microsoft.com/office/drawing/2014/main" val="3433652438"/>
                  </a:ext>
                </a:extLst>
              </a:tr>
              <a:tr h="370840">
                <a:tc>
                  <a:txBody>
                    <a:bodyPr/>
                    <a:lstStyle/>
                    <a:p>
                      <a:r>
                        <a:rPr lang="en-US" sz="1800" dirty="0"/>
                        <a:t>Needle inspected</a:t>
                      </a:r>
                    </a:p>
                  </a:txBody>
                  <a:tcPr/>
                </a:tc>
                <a:tc>
                  <a:txBody>
                    <a:bodyPr/>
                    <a:lstStyle/>
                    <a:p>
                      <a:r>
                        <a:rPr lang="en-US" sz="1800" dirty="0"/>
                        <a:t>90</a:t>
                      </a:r>
                    </a:p>
                  </a:txBody>
                  <a:tcPr/>
                </a:tc>
                <a:tc>
                  <a:txBody>
                    <a:bodyPr/>
                    <a:lstStyle/>
                    <a:p>
                      <a:r>
                        <a:rPr lang="en-US" sz="1800" dirty="0"/>
                        <a:t>60</a:t>
                      </a:r>
                    </a:p>
                  </a:txBody>
                  <a:tcPr/>
                </a:tc>
                <a:tc>
                  <a:txBody>
                    <a:bodyPr/>
                    <a:lstStyle/>
                    <a:p>
                      <a:r>
                        <a:rPr lang="en-US" sz="1800" dirty="0"/>
                        <a:t>70</a:t>
                      </a:r>
                    </a:p>
                  </a:txBody>
                  <a:tcPr/>
                </a:tc>
                <a:tc>
                  <a:txBody>
                    <a:bodyPr/>
                    <a:lstStyle/>
                    <a:p>
                      <a:r>
                        <a:rPr lang="en-US" sz="1800" dirty="0"/>
                        <a:t>100</a:t>
                      </a:r>
                    </a:p>
                  </a:txBody>
                  <a:tcPr/>
                </a:tc>
                <a:tc>
                  <a:txBody>
                    <a:bodyPr/>
                    <a:lstStyle/>
                    <a:p>
                      <a:r>
                        <a:rPr lang="en-US" sz="1800" dirty="0"/>
                        <a:t>120</a:t>
                      </a:r>
                    </a:p>
                  </a:txBody>
                  <a:tcPr/>
                </a:tc>
                <a:tc>
                  <a:txBody>
                    <a:bodyPr/>
                    <a:lstStyle/>
                    <a:p>
                      <a:r>
                        <a:rPr lang="en-US" sz="1800" dirty="0"/>
                        <a:t>50</a:t>
                      </a:r>
                    </a:p>
                  </a:txBody>
                  <a:tcPr/>
                </a:tc>
                <a:tc>
                  <a:txBody>
                    <a:bodyPr/>
                    <a:lstStyle/>
                    <a:p>
                      <a:r>
                        <a:rPr lang="en-US" sz="1800" dirty="0"/>
                        <a:t>100</a:t>
                      </a:r>
                    </a:p>
                  </a:txBody>
                  <a:tcPr/>
                </a:tc>
                <a:tc>
                  <a:txBody>
                    <a:bodyPr/>
                    <a:lstStyle/>
                    <a:p>
                      <a:r>
                        <a:rPr lang="en-US" sz="1800" dirty="0"/>
                        <a:t>110</a:t>
                      </a:r>
                    </a:p>
                  </a:txBody>
                  <a:tcPr/>
                </a:tc>
                <a:tc>
                  <a:txBody>
                    <a:bodyPr/>
                    <a:lstStyle/>
                    <a:p>
                      <a:r>
                        <a:rPr lang="en-US" sz="1800" dirty="0"/>
                        <a:t>100</a:t>
                      </a:r>
                    </a:p>
                  </a:txBody>
                  <a:tcPr/>
                </a:tc>
                <a:tc>
                  <a:txBody>
                    <a:bodyPr/>
                    <a:lstStyle/>
                    <a:p>
                      <a:r>
                        <a:rPr lang="en-US" sz="1800" dirty="0"/>
                        <a:t>100</a:t>
                      </a:r>
                    </a:p>
                  </a:txBody>
                  <a:tcPr/>
                </a:tc>
                <a:extLst>
                  <a:ext uri="{0D108BD9-81ED-4DB2-BD59-A6C34878D82A}">
                    <a16:rowId xmlns:a16="http://schemas.microsoft.com/office/drawing/2014/main" val="1375703455"/>
                  </a:ext>
                </a:extLst>
              </a:tr>
              <a:tr h="370840">
                <a:tc>
                  <a:txBody>
                    <a:bodyPr/>
                    <a:lstStyle/>
                    <a:p>
                      <a:r>
                        <a:rPr lang="en-US" sz="1800" dirty="0"/>
                        <a:t>No. of defective needle</a:t>
                      </a:r>
                    </a:p>
                  </a:txBody>
                  <a:tcPr/>
                </a:tc>
                <a:tc>
                  <a:txBody>
                    <a:bodyPr/>
                    <a:lstStyle/>
                    <a:p>
                      <a:r>
                        <a:rPr lang="en-US" sz="1800" dirty="0"/>
                        <a:t>5</a:t>
                      </a:r>
                    </a:p>
                  </a:txBody>
                  <a:tcPr/>
                </a:tc>
                <a:tc>
                  <a:txBody>
                    <a:bodyPr/>
                    <a:lstStyle/>
                    <a:p>
                      <a:r>
                        <a:rPr lang="en-US" sz="1800" dirty="0"/>
                        <a:t>12</a:t>
                      </a:r>
                    </a:p>
                  </a:txBody>
                  <a:tcPr/>
                </a:tc>
                <a:tc>
                  <a:txBody>
                    <a:bodyPr/>
                    <a:lstStyle/>
                    <a:p>
                      <a:r>
                        <a:rPr lang="en-US" sz="1800" dirty="0"/>
                        <a:t>7</a:t>
                      </a:r>
                    </a:p>
                  </a:txBody>
                  <a:tcPr/>
                </a:tc>
                <a:tc>
                  <a:txBody>
                    <a:bodyPr/>
                    <a:lstStyle/>
                    <a:p>
                      <a:r>
                        <a:rPr lang="en-US" sz="1800" dirty="0"/>
                        <a:t>3</a:t>
                      </a:r>
                    </a:p>
                  </a:txBody>
                  <a:tcPr/>
                </a:tc>
                <a:tc>
                  <a:txBody>
                    <a:bodyPr/>
                    <a:lstStyle/>
                    <a:p>
                      <a:r>
                        <a:rPr lang="en-US" sz="1800" dirty="0"/>
                        <a:t>6</a:t>
                      </a:r>
                    </a:p>
                  </a:txBody>
                  <a:tcPr/>
                </a:tc>
                <a:tc>
                  <a:txBody>
                    <a:bodyPr/>
                    <a:lstStyle/>
                    <a:p>
                      <a:r>
                        <a:rPr lang="en-US" sz="1800" dirty="0"/>
                        <a:t>5</a:t>
                      </a:r>
                    </a:p>
                  </a:txBody>
                  <a:tcPr/>
                </a:tc>
                <a:tc>
                  <a:txBody>
                    <a:bodyPr/>
                    <a:lstStyle/>
                    <a:p>
                      <a:r>
                        <a:rPr lang="en-US" sz="1800" dirty="0"/>
                        <a:t>10</a:t>
                      </a:r>
                    </a:p>
                  </a:txBody>
                  <a:tcPr/>
                </a:tc>
                <a:tc>
                  <a:txBody>
                    <a:bodyPr/>
                    <a:lstStyle/>
                    <a:p>
                      <a:r>
                        <a:rPr lang="en-US" sz="1800" dirty="0"/>
                        <a:t>6</a:t>
                      </a:r>
                    </a:p>
                  </a:txBody>
                  <a:tcPr/>
                </a:tc>
                <a:tc>
                  <a:txBody>
                    <a:bodyPr/>
                    <a:lstStyle/>
                    <a:p>
                      <a:r>
                        <a:rPr lang="en-US" sz="1800" dirty="0"/>
                        <a:t>8</a:t>
                      </a:r>
                    </a:p>
                  </a:txBody>
                  <a:tcPr/>
                </a:tc>
                <a:tc>
                  <a:txBody>
                    <a:bodyPr/>
                    <a:lstStyle/>
                    <a:p>
                      <a:r>
                        <a:rPr lang="en-US" sz="1800" dirty="0"/>
                        <a:t>25</a:t>
                      </a:r>
                    </a:p>
                  </a:txBody>
                  <a:tcPr/>
                </a:tc>
                <a:extLst>
                  <a:ext uri="{0D108BD9-81ED-4DB2-BD59-A6C34878D82A}">
                    <a16:rowId xmlns:a16="http://schemas.microsoft.com/office/drawing/2014/main" val="1166256265"/>
                  </a:ext>
                </a:extLst>
              </a:tr>
            </a:tbl>
          </a:graphicData>
        </a:graphic>
      </p:graphicFrame>
    </p:spTree>
    <p:extLst>
      <p:ext uri="{BB962C8B-B14F-4D97-AF65-F5344CB8AC3E}">
        <p14:creationId xmlns:p14="http://schemas.microsoft.com/office/powerpoint/2010/main" val="18751950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029200"/>
          </a:xfrm>
        </p:spPr>
        <p:txBody>
          <a:bodyPr>
            <a:noAutofit/>
          </a:bodyPr>
          <a:lstStyle/>
          <a:p>
            <a:r>
              <a:rPr lang="en-US" sz="2000" b="1" dirty="0"/>
              <a:t>Self Made Video Link:</a:t>
            </a:r>
          </a:p>
          <a:p>
            <a:pPr>
              <a:spcBef>
                <a:spcPts val="0"/>
              </a:spcBef>
              <a:spcAft>
                <a:spcPts val="1000"/>
              </a:spcAft>
            </a:pPr>
            <a:r>
              <a:rPr lang="en-US" sz="2000" dirty="0">
                <a:effectLst/>
                <a:latin typeface="Calibri" panose="020F0502020204030204" pitchFamily="34" charset="0"/>
                <a:ea typeface="Calibri" panose="020F0502020204030204" pitchFamily="34" charset="0"/>
                <a:cs typeface="Mangal" panose="02040503050203030202" pitchFamily="18" charset="0"/>
              </a:rPr>
              <a:t>Test of hypothesis</a:t>
            </a:r>
            <a:endParaRPr lang="en-US" sz="2000" dirty="0">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2"/>
              </a:rPr>
              <a:t>https://youtu.be/h-NtACvrPfQ</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dirty="0">
                <a:effectLst/>
                <a:latin typeface="Calibri" panose="020F0502020204030204" pitchFamily="34" charset="0"/>
                <a:ea typeface="Calibri" panose="020F0502020204030204" pitchFamily="34" charset="0"/>
                <a:cs typeface="Mangal" panose="02040503050203030202" pitchFamily="18" charset="0"/>
              </a:rPr>
              <a:t>Test of hypothesis for large samples-Z-test</a:t>
            </a:r>
            <a:endParaRPr lang="en-US" sz="2000" dirty="0">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3"/>
              </a:rPr>
              <a:t>https://youtu.be/a8MYgSRknmI</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dirty="0">
                <a:effectLst/>
                <a:latin typeface="Calibri" panose="020F0502020204030204" pitchFamily="34" charset="0"/>
                <a:ea typeface="Calibri" panose="020F0502020204030204" pitchFamily="34" charset="0"/>
                <a:cs typeface="Mangal" panose="02040503050203030202" pitchFamily="18" charset="0"/>
              </a:rPr>
              <a:t>Test of hypothesis for large samples-t test</a:t>
            </a:r>
            <a:endParaRPr lang="en-US" sz="2000" dirty="0">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4"/>
              </a:rPr>
              <a:t>https://youtu.be/msJXJgrY1t4</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dirty="0">
                <a:effectLst/>
                <a:latin typeface="Calibri" panose="020F0502020204030204" pitchFamily="34" charset="0"/>
                <a:ea typeface="Calibri" panose="020F0502020204030204" pitchFamily="34" charset="0"/>
                <a:cs typeface="Mangal" panose="02040503050203030202" pitchFamily="18" charset="0"/>
              </a:rPr>
              <a:t>F-test</a:t>
            </a:r>
          </a:p>
          <a:p>
            <a:pPr>
              <a:spcBef>
                <a:spcPts val="0"/>
              </a:spcBef>
              <a:spcAft>
                <a:spcPts val="1000"/>
              </a:spcAft>
            </a:pP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5"/>
              </a:rPr>
              <a:t>https://youtu.be/argjx9DJdxY</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dirty="0">
                <a:effectLst/>
                <a:latin typeface="Calibri" panose="020F0502020204030204" pitchFamily="34" charset="0"/>
                <a:ea typeface="Calibri" panose="020F0502020204030204" pitchFamily="34" charset="0"/>
                <a:cs typeface="Mangal" panose="02040503050203030202" pitchFamily="18" charset="0"/>
              </a:rPr>
              <a:t>Chi square Test</a:t>
            </a:r>
            <a:endParaRPr lang="en-US" sz="2000" dirty="0">
              <a:latin typeface="Calibri" panose="020F0502020204030204" pitchFamily="34" charset="0"/>
              <a:ea typeface="Calibri" panose="020F0502020204030204" pitchFamily="34" charset="0"/>
              <a:cs typeface="Mangal" panose="02040503050203030202" pitchFamily="18" charset="0"/>
            </a:endParaRPr>
          </a:p>
          <a:p>
            <a:pPr>
              <a:spcBef>
                <a:spcPts val="0"/>
              </a:spcBef>
              <a:spcAft>
                <a:spcPts val="1000"/>
              </a:spcAft>
            </a:pP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6"/>
              </a:rPr>
              <a:t>https://youtu.be/ayaa7_e1cIA</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endParaRPr lang="en-US" sz="20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142</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1" i="0" u="none" strike="noStrike" kern="1200" cap="none" spc="0" normalizeH="0" noProof="0" dirty="0">
                <a:ln>
                  <a:noFill/>
                </a:ln>
                <a:solidFill>
                  <a:schemeClr val="dk1"/>
                </a:solidFill>
                <a:effectLst/>
                <a:uLnTx/>
                <a:uFillTx/>
                <a:latin typeface="+mn-lt"/>
                <a:ea typeface="+mn-ea"/>
                <a:cs typeface="+mn-cs"/>
              </a:rPr>
              <a:t> Links, </a:t>
            </a:r>
            <a:r>
              <a:rPr kumimoji="0" lang="en-US" sz="2400" b="1" i="0" u="none" strike="noStrike" kern="1200" cap="none" spc="0" normalizeH="0" noProof="0" dirty="0" err="1">
                <a:ln>
                  <a:noFill/>
                </a:ln>
                <a:solidFill>
                  <a:schemeClr val="dk1"/>
                </a:solidFill>
                <a:effectLst/>
                <a:uLnTx/>
                <a:uFillTx/>
                <a:latin typeface="+mn-lt"/>
                <a:ea typeface="+mn-ea"/>
                <a:cs typeface="+mn-cs"/>
              </a:rPr>
              <a:t>Youtube</a:t>
            </a:r>
            <a:r>
              <a:rPr kumimoji="0" lang="en-US" sz="2400" b="1" i="0" u="none" strike="noStrike" kern="1200" cap="none" spc="0" normalizeH="0" noProof="0" dirty="0">
                <a:ln>
                  <a:noFill/>
                </a:ln>
                <a:solidFill>
                  <a:schemeClr val="dk1"/>
                </a:solidFill>
                <a:effectLst/>
                <a:uLnTx/>
                <a:uFillTx/>
                <a:latin typeface="+mn-lt"/>
                <a:ea typeface="+mn-ea"/>
                <a:cs typeface="+mn-cs"/>
              </a:rPr>
              <a:t> &amp; NPTEL Video Links and Online Courses Details(CO5)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1259915154"/>
      </p:ext>
    </p:extLst>
  </p:cSld>
  <p:clrMapOvr>
    <a:masterClrMapping/>
  </p:clrMapOvr>
  <p:transition spd="slow">
    <p:push dir="u"/>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447800"/>
            <a:ext cx="8534400" cy="4572000"/>
          </a:xfrm>
        </p:spPr>
        <p:txBody>
          <a:bodyPr>
            <a:noAutofit/>
          </a:bodyPr>
          <a:lstStyle/>
          <a:p>
            <a:pPr marL="0" indent="0">
              <a:buNone/>
            </a:pPr>
            <a:r>
              <a:rPr lang="en-US" sz="2200" dirty="0"/>
              <a:t>Self Made Video Link:</a:t>
            </a:r>
          </a:p>
          <a:p>
            <a:pPr marL="0" marR="0" indent="0">
              <a:lnSpc>
                <a:spcPct val="115000"/>
              </a:lnSpc>
              <a:spcBef>
                <a:spcPts val="0"/>
              </a:spcBef>
              <a:spcAft>
                <a:spcPts val="1000"/>
              </a:spcAft>
              <a:buNone/>
            </a:pPr>
            <a:r>
              <a:rPr lang="en-US" sz="1800" dirty="0">
                <a:effectLst/>
                <a:latin typeface="Calibri" panose="020F0502020204030204" pitchFamily="34" charset="0"/>
                <a:ea typeface="Calibri" panose="020F0502020204030204" pitchFamily="34" charset="0"/>
                <a:cs typeface="Mangal" panose="02040503050203030202" pitchFamily="18" charset="0"/>
              </a:rPr>
              <a:t>	</a:t>
            </a:r>
          </a:p>
          <a:p>
            <a:pPr marL="0" marR="0" indent="0">
              <a:lnSpc>
                <a:spcPct val="115000"/>
              </a:lnSpc>
              <a:spcBef>
                <a:spcPts val="0"/>
              </a:spcBef>
              <a:spcAft>
                <a:spcPts val="1000"/>
              </a:spcAft>
              <a:buNone/>
            </a:pPr>
            <a:r>
              <a:rPr lang="en-US" sz="1800" dirty="0">
                <a:latin typeface="Calibri" panose="020F0502020204030204" pitchFamily="34" charset="0"/>
                <a:ea typeface="Calibri" panose="020F0502020204030204" pitchFamily="34" charset="0"/>
                <a:cs typeface="Mangal" panose="02040503050203030202" pitchFamily="18" charset="0"/>
              </a:rPr>
              <a:t>	</a:t>
            </a:r>
            <a:r>
              <a:rPr lang="en-US" sz="2000" dirty="0">
                <a:effectLst/>
                <a:latin typeface="Calibri" panose="020F0502020204030204" pitchFamily="34" charset="0"/>
                <a:ea typeface="Calibri" panose="020F0502020204030204" pitchFamily="34" charset="0"/>
                <a:cs typeface="Mangal" panose="02040503050203030202" pitchFamily="18" charset="0"/>
              </a:rPr>
              <a:t>Statistical quality control &amp; control chart for Variable		</a:t>
            </a: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2"/>
              </a:rPr>
              <a:t>https://youtu.be/89bs12h_Cg0</a:t>
            </a:r>
            <a:endParaRPr lang="en-IN" sz="2000" dirty="0">
              <a:effectLst/>
              <a:latin typeface="Calibri" panose="020F0502020204030204" pitchFamily="34" charset="0"/>
              <a:ea typeface="Calibri" panose="020F0502020204030204" pitchFamily="34" charset="0"/>
              <a:cs typeface="Mangal" panose="02040503050203030202" pitchFamily="18" charset="0"/>
            </a:endParaRPr>
          </a:p>
          <a:p>
            <a:pPr marL="0" indent="0">
              <a:buNone/>
            </a:pPr>
            <a:r>
              <a:rPr lang="en-US" sz="2000" dirty="0">
                <a:effectLst/>
                <a:latin typeface="Calibri" panose="020F0502020204030204" pitchFamily="34" charset="0"/>
                <a:ea typeface="Calibri" panose="020F0502020204030204" pitchFamily="34" charset="0"/>
                <a:cs typeface="Mangal" panose="02040503050203030202" pitchFamily="18" charset="0"/>
              </a:rPr>
              <a:t>	Control chart for attributes						</a:t>
            </a:r>
            <a:r>
              <a:rPr lang="en-US" sz="2000" u="sng" dirty="0">
                <a:solidFill>
                  <a:srgbClr val="0000FF"/>
                </a:solidFill>
                <a:effectLst/>
                <a:latin typeface="Calibri" panose="020F0502020204030204" pitchFamily="34" charset="0"/>
                <a:ea typeface="Calibri" panose="020F0502020204030204" pitchFamily="34" charset="0"/>
                <a:cs typeface="Mangal" panose="02040503050203030202" pitchFamily="18" charset="0"/>
                <a:hlinkClick r:id="rId3"/>
              </a:rPr>
              <a:t>https://youtu.be/q6BwAotTI04</a:t>
            </a:r>
            <a:endParaRPr lang="en-US" sz="24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143</a:t>
            </a:fld>
            <a:endParaRPr lang="en-US"/>
          </a:p>
        </p:txBody>
      </p:sp>
      <p:sp>
        <p:nvSpPr>
          <p:cNvPr id="7" name="Title 1"/>
          <p:cNvSpPr txBox="1">
            <a:spLocks/>
          </p:cNvSpPr>
          <p:nvPr/>
        </p:nvSpPr>
        <p:spPr>
          <a:xfrm>
            <a:off x="1752600" y="0"/>
            <a:ext cx="7391400" cy="10668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1" i="0" u="none" strike="noStrike" kern="1200" cap="none" spc="0" normalizeH="0" noProof="0" dirty="0">
                <a:ln>
                  <a:noFill/>
                </a:ln>
                <a:solidFill>
                  <a:schemeClr val="dk1"/>
                </a:solidFill>
                <a:effectLst/>
                <a:uLnTx/>
                <a:uFillTx/>
                <a:latin typeface="+mn-lt"/>
                <a:ea typeface="+mn-ea"/>
                <a:cs typeface="+mn-cs"/>
              </a:rPr>
              <a:t> Links, </a:t>
            </a:r>
            <a:r>
              <a:rPr kumimoji="0" lang="en-US" sz="2400" b="1" i="0" u="none" strike="noStrike" kern="1200" cap="none" spc="0" normalizeH="0" noProof="0" dirty="0" err="1">
                <a:ln>
                  <a:noFill/>
                </a:ln>
                <a:solidFill>
                  <a:schemeClr val="dk1"/>
                </a:solidFill>
                <a:effectLst/>
                <a:uLnTx/>
                <a:uFillTx/>
                <a:latin typeface="+mn-lt"/>
                <a:ea typeface="+mn-ea"/>
                <a:cs typeface="+mn-cs"/>
              </a:rPr>
              <a:t>Youtube</a:t>
            </a:r>
            <a:r>
              <a:rPr kumimoji="0" lang="en-US" sz="2400" b="1" i="0" u="none" strike="noStrike" kern="1200" cap="none" spc="0" normalizeH="0" noProof="0" dirty="0">
                <a:ln>
                  <a:noFill/>
                </a:ln>
                <a:solidFill>
                  <a:schemeClr val="dk1"/>
                </a:solidFill>
                <a:effectLst/>
                <a:uLnTx/>
                <a:uFillTx/>
                <a:latin typeface="+mn-lt"/>
                <a:ea typeface="+mn-ea"/>
                <a:cs typeface="+mn-cs"/>
              </a:rPr>
              <a:t> &amp; NPTEL Video Links and Online Courses Details(CO5)  </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877348867"/>
      </p:ext>
    </p:extLst>
  </p:cSld>
  <p:clrMapOvr>
    <a:masterClrMapping/>
  </p:clrMapOvr>
  <p:transition spd="slow">
    <p:push dir="u"/>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600200"/>
            <a:ext cx="8534400" cy="4876800"/>
          </a:xfrm>
        </p:spPr>
        <p:txBody>
          <a:bodyPr>
            <a:noAutofit/>
          </a:bodyPr>
          <a:lstStyle/>
          <a:p>
            <a:pPr marL="0" indent="0" algn="just">
              <a:buNone/>
            </a:pPr>
            <a:r>
              <a:rPr lang="en-US" sz="2200" dirty="0"/>
              <a:t>Suggested video link</a:t>
            </a:r>
          </a:p>
          <a:p>
            <a:r>
              <a:rPr lang="en-US" sz="2200" dirty="0"/>
              <a:t>Testing of hypothesis</a:t>
            </a:r>
          </a:p>
          <a:p>
            <a:r>
              <a:rPr lang="en-US" sz="2200" dirty="0">
                <a:hlinkClick r:id="rId2"/>
              </a:rPr>
              <a:t>https://nptel.ac.in/content/storage2/courses/103106120/LectureNotes/Lec3_1.pdf</a:t>
            </a:r>
            <a:endParaRPr lang="en-US" sz="2200" dirty="0"/>
          </a:p>
        </p:txBody>
      </p:sp>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144</a:t>
            </a:fld>
            <a:endParaRPr lang="en-US"/>
          </a:p>
        </p:txBody>
      </p:sp>
      <p:sp>
        <p:nvSpPr>
          <p:cNvPr id="7" name="Title 1"/>
          <p:cNvSpPr txBox="1">
            <a:spLocks/>
          </p:cNvSpPr>
          <p:nvPr/>
        </p:nvSpPr>
        <p:spPr>
          <a:xfrm>
            <a:off x="1752600" y="0"/>
            <a:ext cx="7391400" cy="12192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1" i="0" u="none" strike="noStrike" kern="1200" cap="none" spc="0" normalizeH="0" noProof="0" dirty="0">
                <a:ln>
                  <a:noFill/>
                </a:ln>
                <a:solidFill>
                  <a:schemeClr val="dk1"/>
                </a:solidFill>
                <a:effectLst/>
                <a:uLnTx/>
                <a:uFillTx/>
                <a:latin typeface="+mn-lt"/>
                <a:ea typeface="+mn-ea"/>
                <a:cs typeface="+mn-cs"/>
              </a:rPr>
              <a:t> Links, </a:t>
            </a:r>
            <a:r>
              <a:rPr kumimoji="0" lang="en-US" sz="2400" b="1" i="0" u="none" strike="noStrike" kern="1200" cap="none" spc="0" normalizeH="0" noProof="0" dirty="0" err="1">
                <a:ln>
                  <a:noFill/>
                </a:ln>
                <a:solidFill>
                  <a:schemeClr val="dk1"/>
                </a:solidFill>
                <a:effectLst/>
                <a:uLnTx/>
                <a:uFillTx/>
                <a:latin typeface="+mn-lt"/>
                <a:ea typeface="+mn-ea"/>
                <a:cs typeface="+mn-cs"/>
              </a:rPr>
              <a:t>Youtube</a:t>
            </a:r>
            <a:r>
              <a:rPr kumimoji="0" lang="en-US" sz="2400" b="1" i="0" u="none" strike="noStrike" kern="1200" cap="none" spc="0" normalizeH="0" noProof="0" dirty="0">
                <a:ln>
                  <a:noFill/>
                </a:ln>
                <a:solidFill>
                  <a:schemeClr val="dk1"/>
                </a:solidFill>
                <a:effectLst/>
                <a:uLnTx/>
                <a:uFillTx/>
                <a:latin typeface="+mn-lt"/>
                <a:ea typeface="+mn-ea"/>
                <a:cs typeface="+mn-cs"/>
              </a:rPr>
              <a:t> &amp; NPTEL Video Links and Online Courses Details(CO5)  </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2144907047"/>
      </p:ext>
    </p:extLst>
  </p:cSld>
  <p:clrMapOvr>
    <a:masterClrMapping/>
  </p:clrMapOvr>
  <p:transition spd="slow">
    <p:push dir="u"/>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rmAutofit/>
              </a:bodyPr>
              <a:lstStyle/>
              <a:p>
                <a:pPr marL="0" lvl="0" indent="0">
                  <a:buNone/>
                </a:pPr>
                <a:r>
                  <a:rPr lang="en-US" sz="2200" dirty="0"/>
                  <a:t>1.The following table gives the yields of four varieties of wheat grown in two plots:</a:t>
                </a:r>
              </a:p>
              <a:p>
                <a:pPr marL="0" lvl="0" indent="0">
                  <a:buNone/>
                </a:pPr>
                <a:endParaRPr lang="en-US" sz="2200" dirty="0"/>
              </a:p>
              <a:p>
                <a:pPr marL="0" lvl="0" indent="0">
                  <a:buNone/>
                </a:pPr>
                <a:endParaRPr lang="en-US" sz="2200" dirty="0"/>
              </a:p>
              <a:p>
                <a:pPr marL="0" lvl="0" indent="0">
                  <a:buNone/>
                </a:pPr>
                <a:endParaRPr lang="en-US" sz="2200" dirty="0"/>
              </a:p>
              <a:p>
                <a:pPr marL="0" lvl="0" indent="0">
                  <a:buNone/>
                </a:pPr>
                <a:endParaRPr lang="en-US" dirty="0"/>
              </a:p>
              <a:p>
                <a:pPr marL="0" lvl="0" indent="0">
                  <a:buNone/>
                </a:pPr>
                <a:endParaRPr lang="en-US" sz="2200" dirty="0"/>
              </a:p>
              <a:p>
                <a:pPr marL="0" indent="0">
                  <a:buNone/>
                </a:pPr>
                <a:r>
                  <a:rPr lang="en-US" sz="2200" dirty="0"/>
                  <a:t>Is there any significant  difference in the production of these varieties?(F value for (8,3)</a:t>
                </a:r>
                <a:r>
                  <a:rPr lang="en-US" sz="2200" dirty="0" err="1"/>
                  <a:t>d.f</a:t>
                </a:r>
                <a:r>
                  <a:rPr lang="en-US" sz="2200" dirty="0"/>
                  <a:t> = 4.07 and for (2,6)</a:t>
                </a:r>
                <a:r>
                  <a:rPr lang="en-US" sz="2200" dirty="0" err="1"/>
                  <a:t>d.f</a:t>
                </a:r>
                <a:r>
                  <a:rPr lang="en-US" sz="2200" dirty="0"/>
                  <a:t> = 5.14) 	   </a:t>
                </a:r>
              </a:p>
              <a:p>
                <a:pPr marL="0" indent="0" algn="r">
                  <a:buNone/>
                </a:pPr>
                <a:r>
                  <a:rPr lang="en-US" sz="2200" dirty="0"/>
                  <a:t>Ans. </a:t>
                </a:r>
                <a14:m>
                  <m:oMath xmlns:m="http://schemas.openxmlformats.org/officeDocument/2006/math">
                    <m:sSub>
                      <m:sSubPr>
                        <m:ctrlPr>
                          <a:rPr lang="en-US" sz="2200" i="1">
                            <a:latin typeface="Cambria Math" panose="02040503050406030204" pitchFamily="18" charset="0"/>
                          </a:rPr>
                        </m:ctrlPr>
                      </m:sSubPr>
                      <m:e>
                        <m:r>
                          <a:rPr lang="en-US" sz="2200" b="0" i="1">
                            <a:latin typeface="Cambria Math"/>
                          </a:rPr>
                          <m:t>𝐹</m:t>
                        </m:r>
                      </m:e>
                      <m:sub>
                        <m:r>
                          <a:rPr lang="en-US" sz="2200" b="0" i="1">
                            <a:latin typeface="Cambria Math"/>
                          </a:rPr>
                          <m:t>𝑐𝑎𝑙</m:t>
                        </m:r>
                      </m:sub>
                    </m:sSub>
                    <m:r>
                      <a:rPr lang="en-US" sz="2200" b="0" i="1">
                        <a:latin typeface="Cambria Math"/>
                      </a:rPr>
                      <m:t>=0.385</m:t>
                    </m:r>
                  </m:oMath>
                </a14:m>
                <a:r>
                  <a:rPr lang="en-US" sz="2200" dirty="0"/>
                  <a:t>; Significant</a:t>
                </a:r>
              </a:p>
              <a:p>
                <a:pPr marL="0" lvl="0" indent="0">
                  <a:buNone/>
                </a:pPr>
                <a:r>
                  <a:rPr lang="en-US" sz="2200" dirty="0"/>
                  <a:t>2. The following figures relate to </a:t>
                </a:r>
                <a:r>
                  <a:rPr lang="en-US" sz="2200" dirty="0" err="1"/>
                  <a:t>producting</a:t>
                </a:r>
                <a:r>
                  <a:rPr lang="en-US" sz="2200" dirty="0"/>
                  <a:t> in kg. of three varieties A,B and C of wheat shown in 12 plots :</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963" t="-848" r="-889"/>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145</a:t>
            </a:fld>
            <a:endParaRPr lang="en-US"/>
          </a:p>
        </p:txBody>
      </p:sp>
      <p:graphicFrame>
        <p:nvGraphicFramePr>
          <p:cNvPr id="15" name="Table 14"/>
          <p:cNvGraphicFramePr>
            <a:graphicFrameLocks noGrp="1"/>
          </p:cNvGraphicFramePr>
          <p:nvPr>
            <p:extLst>
              <p:ext uri="{D42A27DB-BD31-4B8C-83A1-F6EECF244321}">
                <p14:modId xmlns:p14="http://schemas.microsoft.com/office/powerpoint/2010/main" val="142807459"/>
              </p:ext>
            </p:extLst>
          </p:nvPr>
        </p:nvGraphicFramePr>
        <p:xfrm>
          <a:off x="1295401" y="1939925"/>
          <a:ext cx="6476999" cy="1641475"/>
        </p:xfrm>
        <a:graphic>
          <a:graphicData uri="http://schemas.openxmlformats.org/drawingml/2006/table">
            <a:tbl>
              <a:tblPr firstRow="1" firstCol="1" bandRow="1">
                <a:tableStyleId>{5C22544A-7EE6-4342-B048-85BDC9FD1C3A}</a:tableStyleId>
              </a:tblPr>
              <a:tblGrid>
                <a:gridCol w="1408010">
                  <a:extLst>
                    <a:ext uri="{9D8B030D-6E8A-4147-A177-3AD203B41FA5}">
                      <a16:colId xmlns:a16="http://schemas.microsoft.com/office/drawing/2014/main" val="20000"/>
                    </a:ext>
                  </a:extLst>
                </a:gridCol>
                <a:gridCol w="1408010">
                  <a:extLst>
                    <a:ext uri="{9D8B030D-6E8A-4147-A177-3AD203B41FA5}">
                      <a16:colId xmlns:a16="http://schemas.microsoft.com/office/drawing/2014/main" val="20001"/>
                    </a:ext>
                  </a:extLst>
                </a:gridCol>
                <a:gridCol w="1408010">
                  <a:extLst>
                    <a:ext uri="{9D8B030D-6E8A-4147-A177-3AD203B41FA5}">
                      <a16:colId xmlns:a16="http://schemas.microsoft.com/office/drawing/2014/main" val="20002"/>
                    </a:ext>
                  </a:extLst>
                </a:gridCol>
                <a:gridCol w="1408010">
                  <a:extLst>
                    <a:ext uri="{9D8B030D-6E8A-4147-A177-3AD203B41FA5}">
                      <a16:colId xmlns:a16="http://schemas.microsoft.com/office/drawing/2014/main" val="20003"/>
                    </a:ext>
                  </a:extLst>
                </a:gridCol>
                <a:gridCol w="844959">
                  <a:extLst>
                    <a:ext uri="{9D8B030D-6E8A-4147-A177-3AD203B41FA5}">
                      <a16:colId xmlns:a16="http://schemas.microsoft.com/office/drawing/2014/main" val="20004"/>
                    </a:ext>
                  </a:extLst>
                </a:gridCol>
              </a:tblGrid>
              <a:tr h="0">
                <a:tc rowSpan="2">
                  <a:txBody>
                    <a:bodyPr/>
                    <a:lstStyle/>
                    <a:p>
                      <a:pPr marL="0" marR="0" algn="just">
                        <a:lnSpc>
                          <a:spcPct val="115000"/>
                        </a:lnSpc>
                        <a:spcBef>
                          <a:spcPts val="0"/>
                        </a:spcBef>
                        <a:spcAft>
                          <a:spcPts val="0"/>
                        </a:spcAft>
                        <a:tabLst>
                          <a:tab pos="5943600" algn="r"/>
                        </a:tabLst>
                      </a:pPr>
                      <a:r>
                        <a:rPr lang="en-US" sz="2000" dirty="0">
                          <a:effectLst/>
                        </a:rPr>
                        <a:t>Plots</a:t>
                      </a:r>
                      <a:endParaRPr lang="en-US" sz="2000" dirty="0">
                        <a:effectLst/>
                        <a:latin typeface="Calibri"/>
                        <a:ea typeface="Times New Roman"/>
                        <a:cs typeface="Times New Roman"/>
                      </a:endParaRPr>
                    </a:p>
                  </a:txBody>
                  <a:tcPr marL="68580" marR="68580" marT="0" marB="0"/>
                </a:tc>
                <a:tc gridSpan="4">
                  <a:txBody>
                    <a:bodyPr/>
                    <a:lstStyle/>
                    <a:p>
                      <a:pPr marL="0" marR="0" algn="ctr">
                        <a:lnSpc>
                          <a:spcPct val="115000"/>
                        </a:lnSpc>
                        <a:spcBef>
                          <a:spcPts val="0"/>
                        </a:spcBef>
                        <a:spcAft>
                          <a:spcPts val="0"/>
                        </a:spcAft>
                        <a:tabLst>
                          <a:tab pos="5943600" algn="r"/>
                        </a:tabLst>
                      </a:pPr>
                      <a:r>
                        <a:rPr lang="en-US" sz="2000" dirty="0">
                          <a:effectLst/>
                        </a:rPr>
                        <a:t>Varieties</a:t>
                      </a:r>
                      <a:endParaRPr lang="en-US" sz="2000" dirty="0">
                        <a:effectLst/>
                        <a:latin typeface="Calibri"/>
                        <a:ea typeface="Times New Roman"/>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a:txBody>
                    <a:bodyPr/>
                    <a:lstStyle/>
                    <a:p>
                      <a:pPr marL="0" marR="0" algn="just">
                        <a:lnSpc>
                          <a:spcPct val="115000"/>
                        </a:lnSpc>
                        <a:spcBef>
                          <a:spcPts val="0"/>
                        </a:spcBef>
                        <a:spcAft>
                          <a:spcPts val="0"/>
                        </a:spcAft>
                        <a:tabLst>
                          <a:tab pos="5943600" algn="r"/>
                        </a:tabLst>
                      </a:pPr>
                      <a:r>
                        <a:rPr lang="en-US" sz="2000">
                          <a:effectLst/>
                        </a:rPr>
                        <a:t>A</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B</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C</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D</a:t>
                      </a:r>
                      <a:endParaRPr lang="en-US" sz="2000">
                        <a:effectLst/>
                        <a:latin typeface="Calibri"/>
                        <a:ea typeface="Times New Roman"/>
                        <a:cs typeface="Times New Roman"/>
                      </a:endParaRPr>
                    </a:p>
                  </a:txBody>
                  <a:tcPr marL="68580" marR="68580" marT="0" marB="0"/>
                </a:tc>
                <a:extLst>
                  <a:ext uri="{0D108BD9-81ED-4DB2-BD59-A6C34878D82A}">
                    <a16:rowId xmlns:a16="http://schemas.microsoft.com/office/drawing/2014/main" val="10001"/>
                  </a:ext>
                </a:extLst>
              </a:tr>
              <a:tr h="0">
                <a:tc>
                  <a:txBody>
                    <a:bodyPr/>
                    <a:lstStyle/>
                    <a:p>
                      <a:pPr marL="0" marR="0" algn="just">
                        <a:lnSpc>
                          <a:spcPct val="115000"/>
                        </a:lnSpc>
                        <a:spcBef>
                          <a:spcPts val="0"/>
                        </a:spcBef>
                        <a:spcAft>
                          <a:spcPts val="0"/>
                        </a:spcAft>
                        <a:tabLst>
                          <a:tab pos="5943600" algn="r"/>
                        </a:tabLst>
                      </a:pPr>
                      <a:r>
                        <a:rPr lang="en-US" sz="2000">
                          <a:effectLst/>
                        </a:rPr>
                        <a:t>1</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200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230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250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300</a:t>
                      </a:r>
                      <a:endParaRPr lang="en-US" sz="2000">
                        <a:effectLst/>
                        <a:latin typeface="Calibri"/>
                        <a:ea typeface="Times New Roman"/>
                        <a:cs typeface="Times New Roman"/>
                      </a:endParaRPr>
                    </a:p>
                  </a:txBody>
                  <a:tcPr marL="68580" marR="68580" marT="0" marB="0"/>
                </a:tc>
                <a:extLst>
                  <a:ext uri="{0D108BD9-81ED-4DB2-BD59-A6C34878D82A}">
                    <a16:rowId xmlns:a16="http://schemas.microsoft.com/office/drawing/2014/main" val="10002"/>
                  </a:ext>
                </a:extLst>
              </a:tr>
              <a:tr h="0">
                <a:tc>
                  <a:txBody>
                    <a:bodyPr/>
                    <a:lstStyle/>
                    <a:p>
                      <a:pPr marL="0" marR="0" algn="just">
                        <a:lnSpc>
                          <a:spcPct val="115000"/>
                        </a:lnSpc>
                        <a:spcBef>
                          <a:spcPts val="0"/>
                        </a:spcBef>
                        <a:spcAft>
                          <a:spcPts val="0"/>
                        </a:spcAft>
                        <a:tabLst>
                          <a:tab pos="5943600" algn="r"/>
                        </a:tabLst>
                      </a:pPr>
                      <a:r>
                        <a:rPr lang="en-US" sz="2000" dirty="0">
                          <a:effectLst/>
                        </a:rPr>
                        <a:t>2</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190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270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300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270</a:t>
                      </a:r>
                      <a:endParaRPr lang="en-US" sz="2000">
                        <a:effectLst/>
                        <a:latin typeface="Calibri"/>
                        <a:ea typeface="Times New Roman"/>
                        <a:cs typeface="Times New Roman"/>
                      </a:endParaRPr>
                    </a:p>
                  </a:txBody>
                  <a:tcPr marL="68580" marR="68580" marT="0" marB="0"/>
                </a:tc>
                <a:extLst>
                  <a:ext uri="{0D108BD9-81ED-4DB2-BD59-A6C34878D82A}">
                    <a16:rowId xmlns:a16="http://schemas.microsoft.com/office/drawing/2014/main" val="10003"/>
                  </a:ext>
                </a:extLst>
              </a:tr>
              <a:tr h="0">
                <a:tc>
                  <a:txBody>
                    <a:bodyPr/>
                    <a:lstStyle/>
                    <a:p>
                      <a:pPr marL="0" marR="0" algn="just">
                        <a:lnSpc>
                          <a:spcPct val="115000"/>
                        </a:lnSpc>
                        <a:spcBef>
                          <a:spcPts val="0"/>
                        </a:spcBef>
                        <a:spcAft>
                          <a:spcPts val="0"/>
                        </a:spcAft>
                        <a:tabLst>
                          <a:tab pos="5943600" algn="r"/>
                        </a:tabLst>
                      </a:pPr>
                      <a:r>
                        <a:rPr lang="en-US" sz="2000" dirty="0">
                          <a:effectLst/>
                        </a:rPr>
                        <a:t>3</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240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150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a:effectLst/>
                        </a:rPr>
                        <a:t>145</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tabLst>
                          <a:tab pos="5943600" algn="r"/>
                        </a:tabLst>
                      </a:pPr>
                      <a:r>
                        <a:rPr lang="en-US" sz="2000" dirty="0">
                          <a:effectLst/>
                        </a:rPr>
                        <a:t>180</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4"/>
                  </a:ext>
                </a:extLst>
              </a:tr>
            </a:tbl>
          </a:graphicData>
        </a:graphic>
      </p:graphicFrame>
      <p:sp>
        <p:nvSpPr>
          <p:cNvPr id="9"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a:t>
            </a:r>
            <a:r>
              <a:rPr lang="en-US" sz="2400" b="1" dirty="0"/>
              <a:t>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transition spd="slow">
    <p:push dir="u"/>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A :-		14	16	18</a:t>
                </a:r>
              </a:p>
              <a:p>
                <a:pPr marL="0" indent="0">
                  <a:buNone/>
                </a:pPr>
                <a:r>
                  <a:rPr lang="en-US" sz="2200" dirty="0"/>
                  <a:t>B :- 	14	13	15	22</a:t>
                </a:r>
              </a:p>
              <a:p>
                <a:pPr marL="0" indent="0">
                  <a:buNone/>
                </a:pPr>
                <a:r>
                  <a:rPr lang="en-US" sz="2200" dirty="0"/>
                  <a:t>C :- 	18	16	19	19	20</a:t>
                </a:r>
              </a:p>
              <a:p>
                <a:pPr marL="0" indent="0">
                  <a:buNone/>
                </a:pPr>
                <a:r>
                  <a:rPr lang="en-US" sz="2200" dirty="0"/>
                  <a:t>Is there any significant  difference in the production of these varieties?(F value for (2,9)</a:t>
                </a:r>
                <a:r>
                  <a:rPr lang="en-US" sz="2200" dirty="0" err="1"/>
                  <a:t>d.f</a:t>
                </a:r>
                <a:r>
                  <a:rPr lang="en-US" sz="2200" dirty="0"/>
                  <a:t> = 4.261 ) 					        		</a:t>
                </a:r>
                <a:r>
                  <a:rPr lang="en-US" sz="2200" b="1" dirty="0"/>
                  <a:t>Ans. </a:t>
                </a:r>
                <a14:m>
                  <m:oMath xmlns:m="http://schemas.openxmlformats.org/officeDocument/2006/math">
                    <m:sSub>
                      <m:sSubPr>
                        <m:ctrlPr>
                          <a:rPr lang="en-US" sz="2200" b="1" i="1">
                            <a:latin typeface="Cambria Math" panose="02040503050406030204" pitchFamily="18" charset="0"/>
                          </a:rPr>
                        </m:ctrlPr>
                      </m:sSubPr>
                      <m:e>
                        <m:r>
                          <a:rPr lang="en-US" sz="2200" b="1" i="1">
                            <a:latin typeface="Cambria Math"/>
                          </a:rPr>
                          <m:t>𝑭</m:t>
                        </m:r>
                      </m:e>
                      <m:sub>
                        <m:r>
                          <a:rPr lang="en-US" sz="2200" b="1" i="1">
                            <a:latin typeface="Cambria Math"/>
                          </a:rPr>
                          <m:t>𝒄𝒂𝒍</m:t>
                        </m:r>
                      </m:sub>
                    </m:sSub>
                    <m:r>
                      <a:rPr lang="en-US" sz="2200" b="1" i="1">
                        <a:latin typeface="Cambria Math"/>
                      </a:rPr>
                      <m:t>=</m:t>
                    </m:r>
                    <m:r>
                      <a:rPr lang="en-US" sz="2200" b="1" i="1">
                        <a:latin typeface="Cambria Math"/>
                      </a:rPr>
                      <m:t>𝟏</m:t>
                    </m:r>
                    <m:r>
                      <a:rPr lang="en-US" sz="2200" b="1" i="1">
                        <a:latin typeface="Cambria Math"/>
                      </a:rPr>
                      <m:t>.</m:t>
                    </m:r>
                    <m:r>
                      <a:rPr lang="en-US" sz="2200" b="1" i="1">
                        <a:latin typeface="Cambria Math"/>
                      </a:rPr>
                      <m:t>𝟏𝟐𝟓</m:t>
                    </m:r>
                    <m:r>
                      <a:rPr lang="en-US" sz="2200" b="1" i="1">
                        <a:latin typeface="Cambria Math"/>
                      </a:rPr>
                      <m:t> </m:t>
                    </m:r>
                  </m:oMath>
                </a14:m>
                <a:r>
                  <a:rPr lang="en-US" sz="2200" b="1" dirty="0"/>
                  <a:t>; Significant</a:t>
                </a:r>
                <a:r>
                  <a:rPr lang="en-US" sz="2200" dirty="0"/>
                  <a:t>  </a:t>
                </a:r>
              </a:p>
              <a:p>
                <a:pPr marL="0" lvl="0" indent="0">
                  <a:buNone/>
                </a:pPr>
                <a:r>
                  <a:rPr lang="en-US" sz="2200" dirty="0"/>
                  <a:t>3. The number of defects per Module in a Sample of 330 units of a manufactured product was found as follows</a:t>
                </a:r>
              </a:p>
              <a:p>
                <a:pPr marL="0" lvl="0" indent="0">
                  <a:buNone/>
                </a:pPr>
                <a:endParaRPr lang="en-US" sz="2200" dirty="0"/>
              </a:p>
              <a:p>
                <a:pPr marL="0" lvl="0" indent="0">
                  <a:buNone/>
                </a:pPr>
                <a:endParaRPr lang="en-US" sz="2200" dirty="0"/>
              </a:p>
              <a:p>
                <a:pPr marL="0" lvl="0" indent="0">
                  <a:buNone/>
                </a:pPr>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146</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536533730"/>
              </p:ext>
            </p:extLst>
          </p:nvPr>
        </p:nvGraphicFramePr>
        <p:xfrm>
          <a:off x="1143000" y="4495800"/>
          <a:ext cx="5318125" cy="656590"/>
        </p:xfrm>
        <a:graphic>
          <a:graphicData uri="http://schemas.openxmlformats.org/drawingml/2006/table">
            <a:tbl>
              <a:tblPr firstRow="1" firstCol="1" bandRow="1">
                <a:tableStyleId>{5C22544A-7EE6-4342-B048-85BDC9FD1C3A}</a:tableStyleId>
              </a:tblPr>
              <a:tblGrid>
                <a:gridCol w="1876425">
                  <a:extLst>
                    <a:ext uri="{9D8B030D-6E8A-4147-A177-3AD203B41FA5}">
                      <a16:colId xmlns:a16="http://schemas.microsoft.com/office/drawing/2014/main" val="20000"/>
                    </a:ext>
                  </a:extLst>
                </a:gridCol>
                <a:gridCol w="782320">
                  <a:extLst>
                    <a:ext uri="{9D8B030D-6E8A-4147-A177-3AD203B41FA5}">
                      <a16:colId xmlns:a16="http://schemas.microsoft.com/office/drawing/2014/main" val="20001"/>
                    </a:ext>
                  </a:extLst>
                </a:gridCol>
                <a:gridCol w="704215">
                  <a:extLst>
                    <a:ext uri="{9D8B030D-6E8A-4147-A177-3AD203B41FA5}">
                      <a16:colId xmlns:a16="http://schemas.microsoft.com/office/drawing/2014/main" val="20002"/>
                    </a:ext>
                  </a:extLst>
                </a:gridCol>
                <a:gridCol w="704215">
                  <a:extLst>
                    <a:ext uri="{9D8B030D-6E8A-4147-A177-3AD203B41FA5}">
                      <a16:colId xmlns:a16="http://schemas.microsoft.com/office/drawing/2014/main" val="20003"/>
                    </a:ext>
                  </a:extLst>
                </a:gridCol>
                <a:gridCol w="625475">
                  <a:extLst>
                    <a:ext uri="{9D8B030D-6E8A-4147-A177-3AD203B41FA5}">
                      <a16:colId xmlns:a16="http://schemas.microsoft.com/office/drawing/2014/main" val="20004"/>
                    </a:ext>
                  </a:extLst>
                </a:gridCol>
                <a:gridCol w="625475">
                  <a:extLst>
                    <a:ext uri="{9D8B030D-6E8A-4147-A177-3AD203B41FA5}">
                      <a16:colId xmlns:a16="http://schemas.microsoft.com/office/drawing/2014/main" val="20005"/>
                    </a:ext>
                  </a:extLst>
                </a:gridCol>
              </a:tblGrid>
              <a:tr h="200025">
                <a:tc>
                  <a:txBody>
                    <a:bodyPr/>
                    <a:lstStyle/>
                    <a:p>
                      <a:pPr marL="0" marR="0" algn="just">
                        <a:lnSpc>
                          <a:spcPct val="115000"/>
                        </a:lnSpc>
                        <a:spcBef>
                          <a:spcPts val="0"/>
                        </a:spcBef>
                        <a:spcAft>
                          <a:spcPts val="0"/>
                        </a:spcAft>
                      </a:pPr>
                      <a:r>
                        <a:rPr lang="en-US" sz="2000" dirty="0">
                          <a:effectLst/>
                        </a:rPr>
                        <a:t>No. of defects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0</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3</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a:effectLst/>
                        </a:rPr>
                        <a:t>4</a:t>
                      </a:r>
                      <a:endParaRPr lang="en-US" sz="2000">
                        <a:effectLst/>
                        <a:latin typeface="Calibri"/>
                        <a:ea typeface="Times New Roman"/>
                        <a:cs typeface="Times New Roman"/>
                      </a:endParaRPr>
                    </a:p>
                  </a:txBody>
                  <a:tcPr marL="68580" marR="68580" marT="0" marB="0"/>
                </a:tc>
                <a:extLst>
                  <a:ext uri="{0D108BD9-81ED-4DB2-BD59-A6C34878D82A}">
                    <a16:rowId xmlns:a16="http://schemas.microsoft.com/office/drawing/2014/main" val="10000"/>
                  </a:ext>
                </a:extLst>
              </a:tr>
              <a:tr h="311150">
                <a:tc>
                  <a:txBody>
                    <a:bodyPr/>
                    <a:lstStyle/>
                    <a:p>
                      <a:pPr marL="0" marR="0" algn="just">
                        <a:lnSpc>
                          <a:spcPct val="115000"/>
                        </a:lnSpc>
                        <a:spcBef>
                          <a:spcPts val="0"/>
                        </a:spcBef>
                        <a:spcAft>
                          <a:spcPts val="0"/>
                        </a:spcAft>
                      </a:pPr>
                      <a:r>
                        <a:rPr lang="en-US" sz="2000" dirty="0">
                          <a:effectLst/>
                        </a:rPr>
                        <a:t>No. of units</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214</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92</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20</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3</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1"/>
                  </a:ext>
                </a:extLst>
              </a:tr>
            </a:tbl>
          </a:graphicData>
        </a:graphic>
      </p:graphicFrame>
      <p:sp>
        <p:nvSpPr>
          <p:cNvPr id="9"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 </a:t>
            </a:r>
            <a:r>
              <a:rPr lang="en-US" sz="2400" b="1" dirty="0"/>
              <a:t>(</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3192039936"/>
      </p:ext>
    </p:extLst>
  </p:cSld>
  <p:clrMapOvr>
    <a:masterClrMapping/>
  </p:clrMapOvr>
  <p:transition spd="slow">
    <p:push dir="u"/>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(Given as 5% level of significance, the value of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 2</m:t>
                        </m:r>
                      </m:sup>
                    </m:sSup>
                  </m:oMath>
                </a14:m>
                <a:r>
                  <a:rPr lang="en-US" sz="2200" dirty="0"/>
                  <a:t> for 1 </a:t>
                </a:r>
                <a:r>
                  <a:rPr lang="en-US" sz="2200" dirty="0" err="1"/>
                  <a:t>d.f</a:t>
                </a:r>
                <a:r>
                  <a:rPr lang="en-US" sz="2200" dirty="0"/>
                  <a:t> = 3.84).</a:t>
                </a:r>
                <a:r>
                  <a:rPr lang="en-US" sz="2200" b="1" dirty="0"/>
                  <a:t>                                            Ans. </a:t>
                </a:r>
                <a14:m>
                  <m:oMath xmlns:m="http://schemas.openxmlformats.org/officeDocument/2006/math">
                    <m:sSub>
                      <m:sSubPr>
                        <m:ctrlPr>
                          <a:rPr lang="en-US" sz="2200" b="1" i="1">
                            <a:latin typeface="Cambria Math" panose="02040503050406030204" pitchFamily="18" charset="0"/>
                          </a:rPr>
                        </m:ctrlPr>
                      </m:sSubPr>
                      <m:e>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 2</m:t>
                            </m:r>
                          </m:sup>
                        </m:sSup>
                      </m:e>
                      <m:sub>
                        <m:r>
                          <a:rPr lang="en-US" sz="2200" b="1" i="1">
                            <a:latin typeface="Cambria Math"/>
                          </a:rPr>
                          <m:t>𝒄𝒂𝒍</m:t>
                        </m:r>
                      </m:sub>
                    </m:sSub>
                    <m:r>
                      <a:rPr lang="en-US" sz="2200" b="1" i="1">
                        <a:latin typeface="Cambria Math"/>
                      </a:rPr>
                      <m:t>=</m:t>
                    </m:r>
                    <m:r>
                      <a:rPr lang="en-US" sz="2200" b="1" i="1">
                        <a:latin typeface="Cambria Math"/>
                      </a:rPr>
                      <m:t>𝟎</m:t>
                    </m:r>
                    <m:r>
                      <a:rPr lang="en-US" sz="2200" b="1" i="1">
                        <a:latin typeface="Cambria Math"/>
                      </a:rPr>
                      <m:t>.</m:t>
                    </m:r>
                    <m:r>
                      <a:rPr lang="en-US" sz="2200" b="1" i="1">
                        <a:latin typeface="Cambria Math"/>
                      </a:rPr>
                      <m:t>𝟎𝟐𝟗𝟓</m:t>
                    </m:r>
                  </m:oMath>
                </a14:m>
                <a:r>
                  <a:rPr lang="en-US" sz="2200" b="1" dirty="0"/>
                  <a:t>; Significant</a:t>
                </a:r>
                <a:r>
                  <a:rPr lang="en-US" sz="2200" dirty="0"/>
                  <a:t> </a:t>
                </a:r>
              </a:p>
              <a:p>
                <a:pPr marL="0" lvl="0" indent="0">
                  <a:buNone/>
                </a:pPr>
                <a:r>
                  <a:rPr lang="en-US" sz="2200" dirty="0"/>
                  <a:t>4. A milk producer’s union wishes to test whether the preference pattern of consumers for its product is dependent on income levels. A random sample of 500 individuals gives the following data:</a:t>
                </a:r>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2859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147</a:t>
            </a:fld>
            <a:endParaRPr lang="en-US"/>
          </a:p>
        </p:txBody>
      </p:sp>
      <p:graphicFrame>
        <p:nvGraphicFramePr>
          <p:cNvPr id="2" name="Table 1"/>
          <p:cNvGraphicFramePr>
            <a:graphicFrameLocks noGrp="1"/>
          </p:cNvGraphicFramePr>
          <p:nvPr>
            <p:extLst>
              <p:ext uri="{D42A27DB-BD31-4B8C-83A1-F6EECF244321}">
                <p14:modId xmlns:p14="http://schemas.microsoft.com/office/powerpoint/2010/main" val="1501321197"/>
              </p:ext>
            </p:extLst>
          </p:nvPr>
        </p:nvGraphicFramePr>
        <p:xfrm>
          <a:off x="1680104" y="3232245"/>
          <a:ext cx="5783791" cy="2670810"/>
        </p:xfrm>
        <a:graphic>
          <a:graphicData uri="http://schemas.openxmlformats.org/drawingml/2006/table">
            <a:tbl>
              <a:tblPr firstRow="1" firstCol="1" bandRow="1">
                <a:tableStyleId>{5C22544A-7EE6-4342-B048-85BDC9FD1C3A}</a:tableStyleId>
              </a:tblPr>
              <a:tblGrid>
                <a:gridCol w="1100455">
                  <a:extLst>
                    <a:ext uri="{9D8B030D-6E8A-4147-A177-3AD203B41FA5}">
                      <a16:colId xmlns:a16="http://schemas.microsoft.com/office/drawing/2014/main" val="20000"/>
                    </a:ext>
                  </a:extLst>
                </a:gridCol>
                <a:gridCol w="135678">
                  <a:extLst>
                    <a:ext uri="{9D8B030D-6E8A-4147-A177-3AD203B41FA5}">
                      <a16:colId xmlns:a16="http://schemas.microsoft.com/office/drawing/2014/main" val="20001"/>
                    </a:ext>
                  </a:extLst>
                </a:gridCol>
                <a:gridCol w="1100455">
                  <a:extLst>
                    <a:ext uri="{9D8B030D-6E8A-4147-A177-3AD203B41FA5}">
                      <a16:colId xmlns:a16="http://schemas.microsoft.com/office/drawing/2014/main" val="20002"/>
                    </a:ext>
                  </a:extLst>
                </a:gridCol>
                <a:gridCol w="1100455">
                  <a:extLst>
                    <a:ext uri="{9D8B030D-6E8A-4147-A177-3AD203B41FA5}">
                      <a16:colId xmlns:a16="http://schemas.microsoft.com/office/drawing/2014/main" val="20003"/>
                    </a:ext>
                  </a:extLst>
                </a:gridCol>
                <a:gridCol w="135678">
                  <a:extLst>
                    <a:ext uri="{9D8B030D-6E8A-4147-A177-3AD203B41FA5}">
                      <a16:colId xmlns:a16="http://schemas.microsoft.com/office/drawing/2014/main" val="20004"/>
                    </a:ext>
                  </a:extLst>
                </a:gridCol>
                <a:gridCol w="1105535">
                  <a:extLst>
                    <a:ext uri="{9D8B030D-6E8A-4147-A177-3AD203B41FA5}">
                      <a16:colId xmlns:a16="http://schemas.microsoft.com/office/drawing/2014/main" val="20005"/>
                    </a:ext>
                  </a:extLst>
                </a:gridCol>
                <a:gridCol w="1105535">
                  <a:extLst>
                    <a:ext uri="{9D8B030D-6E8A-4147-A177-3AD203B41FA5}">
                      <a16:colId xmlns:a16="http://schemas.microsoft.com/office/drawing/2014/main" val="20006"/>
                    </a:ext>
                  </a:extLst>
                </a:gridCol>
              </a:tblGrid>
              <a:tr h="151130">
                <a:tc rowSpan="2" gridSpan="2">
                  <a:txBody>
                    <a:bodyPr/>
                    <a:lstStyle/>
                    <a:p>
                      <a:pPr marL="0" marR="0" algn="just">
                        <a:lnSpc>
                          <a:spcPct val="115000"/>
                        </a:lnSpc>
                        <a:spcBef>
                          <a:spcPts val="0"/>
                        </a:spcBef>
                        <a:spcAft>
                          <a:spcPts val="0"/>
                        </a:spcAft>
                      </a:pPr>
                      <a:r>
                        <a:rPr lang="en-US" sz="2000" dirty="0">
                          <a:effectLst/>
                        </a:rPr>
                        <a:t>Income</a:t>
                      </a:r>
                      <a:endParaRPr lang="en-US" sz="2000" dirty="0">
                        <a:effectLst/>
                        <a:latin typeface="Calibri"/>
                        <a:ea typeface="Times New Roman"/>
                        <a:cs typeface="Times New Roman"/>
                      </a:endParaRPr>
                    </a:p>
                  </a:txBody>
                  <a:tcPr marL="68580" marR="68580" marT="0" marB="0"/>
                </a:tc>
                <a:tc rowSpan="2" hMerge="1">
                  <a:txBody>
                    <a:bodyPr/>
                    <a:lstStyle/>
                    <a:p>
                      <a:endParaRPr lang="en-US"/>
                    </a:p>
                  </a:txBody>
                  <a:tcPr/>
                </a:tc>
                <a:tc gridSpan="5">
                  <a:txBody>
                    <a:bodyPr/>
                    <a:lstStyle/>
                    <a:p>
                      <a:pPr marL="0" marR="0" algn="just">
                        <a:lnSpc>
                          <a:spcPct val="115000"/>
                        </a:lnSpc>
                        <a:spcBef>
                          <a:spcPts val="0"/>
                        </a:spcBef>
                        <a:spcAft>
                          <a:spcPts val="0"/>
                        </a:spcAft>
                      </a:pPr>
                      <a:r>
                        <a:rPr lang="en-US" sz="2000" dirty="0">
                          <a:effectLst/>
                        </a:rPr>
                        <a:t>                                       Product Preferred</a:t>
                      </a:r>
                      <a:endParaRPr lang="en-US" sz="2000" dirty="0">
                        <a:effectLst/>
                        <a:latin typeface="Calibri"/>
                        <a:ea typeface="Times New Roman"/>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90805">
                <a:tc gridSpan="2" vMerge="1">
                  <a:txBody>
                    <a:bodyPr/>
                    <a:lstStyle/>
                    <a:p>
                      <a:endParaRPr lang="en-US"/>
                    </a:p>
                  </a:txBody>
                  <a:tcPr/>
                </a:tc>
                <a:tc hMerge="1" vMerge="1">
                  <a:txBody>
                    <a:bodyPr/>
                    <a:lstStyle/>
                    <a:p>
                      <a:endParaRPr lang="en-US"/>
                    </a:p>
                  </a:txBody>
                  <a:tcPr/>
                </a:tc>
                <a:tc>
                  <a:txBody>
                    <a:bodyPr/>
                    <a:lstStyle/>
                    <a:p>
                      <a:pPr marL="0" marR="0" algn="just">
                        <a:lnSpc>
                          <a:spcPct val="115000"/>
                        </a:lnSpc>
                        <a:spcBef>
                          <a:spcPts val="0"/>
                        </a:spcBef>
                        <a:spcAft>
                          <a:spcPts val="0"/>
                        </a:spcAft>
                      </a:pPr>
                      <a:r>
                        <a:rPr lang="en-US" sz="2000" dirty="0">
                          <a:effectLst/>
                        </a:rPr>
                        <a:t>Product A</a:t>
                      </a:r>
                      <a:endParaRPr lang="en-US" sz="2000" dirty="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dirty="0">
                          <a:effectLst/>
                        </a:rPr>
                        <a:t>Product B</a:t>
                      </a:r>
                      <a:endParaRPr lang="en-US" sz="2000" dirty="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dirty="0">
                          <a:effectLst/>
                        </a:rPr>
                        <a:t>Product C</a:t>
                      </a:r>
                      <a:endParaRPr lang="en-US" sz="2000" dirty="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Total</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1"/>
                  </a:ext>
                </a:extLst>
              </a:tr>
              <a:tr h="160655">
                <a:tc gridSpan="2">
                  <a:txBody>
                    <a:bodyPr/>
                    <a:lstStyle/>
                    <a:p>
                      <a:pPr marL="0" marR="0" algn="just">
                        <a:lnSpc>
                          <a:spcPct val="115000"/>
                        </a:lnSpc>
                        <a:spcBef>
                          <a:spcPts val="0"/>
                        </a:spcBef>
                        <a:spcAft>
                          <a:spcPts val="0"/>
                        </a:spcAft>
                      </a:pPr>
                      <a:r>
                        <a:rPr lang="en-US" sz="2000">
                          <a:effectLst/>
                        </a:rPr>
                        <a:t>Low</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170</a:t>
                      </a:r>
                      <a:endParaRPr lang="en-US" sz="200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a:effectLst/>
                        </a:rPr>
                        <a:t>30</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80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280</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2"/>
                  </a:ext>
                </a:extLst>
              </a:tr>
              <a:tr h="151130">
                <a:tc gridSpan="2">
                  <a:txBody>
                    <a:bodyPr/>
                    <a:lstStyle/>
                    <a:p>
                      <a:pPr marL="0" marR="0" algn="just">
                        <a:lnSpc>
                          <a:spcPct val="115000"/>
                        </a:lnSpc>
                        <a:spcBef>
                          <a:spcPts val="0"/>
                        </a:spcBef>
                        <a:spcAft>
                          <a:spcPts val="0"/>
                        </a:spcAft>
                      </a:pPr>
                      <a:r>
                        <a:rPr lang="en-US" sz="2000">
                          <a:effectLst/>
                        </a:rPr>
                        <a:t>Medium</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50</a:t>
                      </a:r>
                      <a:endParaRPr lang="en-US" sz="200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a:effectLst/>
                        </a:rPr>
                        <a:t>25</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60</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135</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3"/>
                  </a:ext>
                </a:extLst>
              </a:tr>
              <a:tr h="160655">
                <a:tc gridSpan="2">
                  <a:txBody>
                    <a:bodyPr/>
                    <a:lstStyle/>
                    <a:p>
                      <a:pPr marL="0" marR="0" algn="just">
                        <a:lnSpc>
                          <a:spcPct val="115000"/>
                        </a:lnSpc>
                        <a:spcBef>
                          <a:spcPts val="0"/>
                        </a:spcBef>
                        <a:spcAft>
                          <a:spcPts val="0"/>
                        </a:spcAft>
                      </a:pPr>
                      <a:r>
                        <a:rPr lang="en-US" sz="2000">
                          <a:effectLst/>
                        </a:rPr>
                        <a:t>High</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20</a:t>
                      </a:r>
                      <a:endParaRPr lang="en-US" sz="200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a:effectLst/>
                        </a:rPr>
                        <a:t>10</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55</a:t>
                      </a:r>
                      <a:endParaRPr lang="en-US" sz="2000">
                        <a:effectLst/>
                        <a:latin typeface="Calibri"/>
                        <a:ea typeface="Times New Roman"/>
                        <a:cs typeface="Times New Roman"/>
                      </a:endParaRPr>
                    </a:p>
                  </a:txBody>
                  <a:tcPr marL="68580" marR="68580" marT="0" marB="0"/>
                </a:tc>
                <a:tc>
                  <a:txBody>
                    <a:bodyPr/>
                    <a:lstStyle/>
                    <a:p>
                      <a:pPr marL="0" marR="0" algn="just">
                        <a:lnSpc>
                          <a:spcPct val="115000"/>
                        </a:lnSpc>
                        <a:spcBef>
                          <a:spcPts val="0"/>
                        </a:spcBef>
                        <a:spcAft>
                          <a:spcPts val="0"/>
                        </a:spcAft>
                      </a:pPr>
                      <a:r>
                        <a:rPr lang="en-US" sz="2000" dirty="0">
                          <a:effectLst/>
                        </a:rPr>
                        <a:t>85</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4"/>
                  </a:ext>
                </a:extLst>
              </a:tr>
              <a:tr h="203200">
                <a:tc>
                  <a:txBody>
                    <a:bodyPr/>
                    <a:lstStyle/>
                    <a:p>
                      <a:pPr marL="0" marR="0" algn="just">
                        <a:lnSpc>
                          <a:spcPct val="115000"/>
                        </a:lnSpc>
                        <a:spcBef>
                          <a:spcPts val="0"/>
                        </a:spcBef>
                        <a:spcAft>
                          <a:spcPts val="0"/>
                        </a:spcAft>
                      </a:pPr>
                      <a:r>
                        <a:rPr lang="en-US" sz="2000">
                          <a:effectLst/>
                        </a:rPr>
                        <a:t>Total </a:t>
                      </a:r>
                      <a:endParaRPr lang="en-US" sz="200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a:effectLst/>
                        </a:rPr>
                        <a:t>240</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a:effectLst/>
                        </a:rPr>
                        <a:t>65</a:t>
                      </a:r>
                      <a:endParaRPr lang="en-US" sz="2000">
                        <a:effectLst/>
                        <a:latin typeface="Calibri"/>
                        <a:ea typeface="Times New Roman"/>
                        <a:cs typeface="Times New Roman"/>
                      </a:endParaRPr>
                    </a:p>
                  </a:txBody>
                  <a:tcPr marL="68580" marR="68580" marT="0" marB="0"/>
                </a:tc>
                <a:tc gridSpan="2">
                  <a:txBody>
                    <a:bodyPr/>
                    <a:lstStyle/>
                    <a:p>
                      <a:pPr marL="0" marR="0" algn="just">
                        <a:lnSpc>
                          <a:spcPct val="115000"/>
                        </a:lnSpc>
                        <a:spcBef>
                          <a:spcPts val="0"/>
                        </a:spcBef>
                        <a:spcAft>
                          <a:spcPts val="0"/>
                        </a:spcAft>
                      </a:pPr>
                      <a:r>
                        <a:rPr lang="en-US" sz="2000">
                          <a:effectLst/>
                        </a:rPr>
                        <a:t>195</a:t>
                      </a:r>
                      <a:endParaRPr lang="en-US" sz="2000">
                        <a:effectLst/>
                        <a:latin typeface="Calibri"/>
                        <a:ea typeface="Times New Roman"/>
                        <a:cs typeface="Times New Roman"/>
                      </a:endParaRPr>
                    </a:p>
                  </a:txBody>
                  <a:tcPr marL="68580" marR="68580" marT="0" marB="0"/>
                </a:tc>
                <a:tc hMerge="1">
                  <a:txBody>
                    <a:bodyPr/>
                    <a:lstStyle/>
                    <a:p>
                      <a:endParaRPr lang="en-US"/>
                    </a:p>
                  </a:txBody>
                  <a:tcPr/>
                </a:tc>
                <a:tc>
                  <a:txBody>
                    <a:bodyPr/>
                    <a:lstStyle/>
                    <a:p>
                      <a:pPr marL="0" marR="0" algn="just">
                        <a:lnSpc>
                          <a:spcPct val="115000"/>
                        </a:lnSpc>
                        <a:spcBef>
                          <a:spcPts val="0"/>
                        </a:spcBef>
                        <a:spcAft>
                          <a:spcPts val="0"/>
                        </a:spcAft>
                      </a:pPr>
                      <a:r>
                        <a:rPr lang="en-US" sz="2000" dirty="0">
                          <a:effectLst/>
                        </a:rPr>
                        <a:t>500</a:t>
                      </a:r>
                      <a:endParaRPr lang="en-US" sz="2000" dirty="0">
                        <a:effectLst/>
                        <a:latin typeface="Calibri"/>
                        <a:ea typeface="Times New Roman"/>
                        <a:cs typeface="Times New Roman"/>
                      </a:endParaRPr>
                    </a:p>
                  </a:txBody>
                  <a:tcPr marL="68580" marR="68580" marT="0" marB="0"/>
                </a:tc>
                <a:extLst>
                  <a:ext uri="{0D108BD9-81ED-4DB2-BD59-A6C34878D82A}">
                    <a16:rowId xmlns:a16="http://schemas.microsoft.com/office/drawing/2014/main" val="10005"/>
                  </a:ext>
                </a:extLst>
              </a:tr>
            </a:tbl>
          </a:graphicData>
        </a:graphic>
      </p:graphicFrame>
      <p:sp>
        <p:nvSpPr>
          <p:cNvPr id="9" name="Title 1"/>
          <p:cNvSpPr txBox="1">
            <a:spLocks/>
          </p:cNvSpPr>
          <p:nvPr/>
        </p:nvSpPr>
        <p:spPr>
          <a:xfrm>
            <a:off x="1680104" y="0"/>
            <a:ext cx="746389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 </a:t>
            </a:r>
            <a:r>
              <a:rPr lang="en-US" sz="2400" b="1" dirty="0"/>
              <a:t>(</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3403304200"/>
      </p:ext>
    </p:extLst>
  </p:cSld>
  <p:clrMapOvr>
    <a:masterClrMapping/>
  </p:clrMapOvr>
  <p:transition spd="slow">
    <p:push dir="u"/>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a:t>Can you conclude that the preference patterns are independent of income levels?(Given as 5% level of significance, the value of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 2</m:t>
                        </m:r>
                      </m:sup>
                    </m:sSup>
                  </m:oMath>
                </a14:m>
                <a:r>
                  <a:rPr lang="en-US" sz="2200" dirty="0"/>
                  <a:t> for 4 </a:t>
                </a:r>
                <a:r>
                  <a:rPr lang="en-US" sz="2200" dirty="0" err="1"/>
                  <a:t>d.f</a:t>
                </a:r>
                <a:r>
                  <a:rPr lang="en-US" sz="2200" dirty="0"/>
                  <a:t> = 9.49).</a:t>
                </a:r>
                <a:r>
                  <a:rPr lang="en-US" sz="2200" b="1" dirty="0"/>
                  <a:t> </a:t>
                </a:r>
                <a:r>
                  <a:rPr lang="en-US" sz="2200" dirty="0"/>
                  <a:t>	</a:t>
                </a:r>
                <a:r>
                  <a:rPr lang="en-US" sz="2200" b="1" dirty="0"/>
                  <a:t>                       Ans. </a:t>
                </a:r>
                <a14:m>
                  <m:oMath xmlns:m="http://schemas.openxmlformats.org/officeDocument/2006/math">
                    <m:sSub>
                      <m:sSubPr>
                        <m:ctrlPr>
                          <a:rPr lang="en-US" sz="2200" b="1" i="1">
                            <a:latin typeface="Cambria Math" panose="02040503050406030204" pitchFamily="18" charset="0"/>
                          </a:rPr>
                        </m:ctrlPr>
                      </m:sSubPr>
                      <m:e>
                        <m:sSup>
                          <m:sSupPr>
                            <m:ctrlPr>
                              <a:rPr lang="en-US" sz="2200" i="1">
                                <a:latin typeface="Cambria Math" panose="02040503050406030204" pitchFamily="18" charset="0"/>
                              </a:rPr>
                            </m:ctrlPr>
                          </m:sSupPr>
                          <m:e>
                            <m:r>
                              <a:rPr lang="en-US" sz="2200" i="1">
                                <a:latin typeface="Cambria Math"/>
                              </a:rPr>
                              <m:t>𝜒</m:t>
                            </m:r>
                          </m:e>
                          <m:sup>
                            <m:r>
                              <a:rPr lang="en-US" sz="2200" i="1">
                                <a:latin typeface="Cambria Math"/>
                              </a:rPr>
                              <m:t> 2</m:t>
                            </m:r>
                          </m:sup>
                        </m:sSup>
                      </m:e>
                      <m:sub>
                        <m:r>
                          <a:rPr lang="en-US" sz="2200" b="1" i="1">
                            <a:latin typeface="Cambria Math"/>
                          </a:rPr>
                          <m:t>𝒄𝒂𝒍</m:t>
                        </m:r>
                      </m:sub>
                    </m:sSub>
                    <m:r>
                      <a:rPr lang="en-US" sz="2200" b="1" i="1">
                        <a:latin typeface="Cambria Math"/>
                      </a:rPr>
                      <m:t>=</m:t>
                    </m:r>
                    <m:r>
                      <a:rPr lang="en-US" sz="2200" b="1" i="1">
                        <a:latin typeface="Cambria Math"/>
                      </a:rPr>
                      <m:t>𝟓𝟏</m:t>
                    </m:r>
                    <m:r>
                      <a:rPr lang="en-US" sz="2200" b="1" i="1">
                        <a:latin typeface="Cambria Math"/>
                      </a:rPr>
                      <m:t>.</m:t>
                    </m:r>
                    <m:r>
                      <a:rPr lang="en-US" sz="2200" b="1" i="1">
                        <a:latin typeface="Cambria Math"/>
                      </a:rPr>
                      <m:t>𝟎𝟑𝟔</m:t>
                    </m:r>
                  </m:oMath>
                </a14:m>
                <a:r>
                  <a:rPr lang="en-US" sz="2200" b="1" dirty="0"/>
                  <a:t>; Not Significant</a:t>
                </a:r>
                <a:endParaRPr lang="en-US" sz="2200" dirty="0"/>
              </a:p>
              <a:p>
                <a:pPr marL="0" lvl="0" indent="0">
                  <a:buNone/>
                </a:pPr>
                <a:r>
                  <a:rPr lang="en-US" sz="2200" dirty="0"/>
                  <a:t>5. Ten pieces of cloth out of different rolls of equal length contained the following number of defects: 1, 3, 5, 0, 6, 0, 9, 4, 4, 3. Draw a control chart for the number of defects and state whether the process is in a state of statistical control.</a:t>
                </a:r>
                <a:r>
                  <a:rPr lang="en-US" sz="2200" b="1" dirty="0"/>
                  <a:t> 	</a:t>
                </a:r>
                <a:endParaRPr lang="en-US" sz="2200" dirty="0"/>
              </a:p>
              <a:p>
                <a:pPr marL="0" indent="0">
                  <a:buNone/>
                </a:pPr>
                <a:r>
                  <a:rPr lang="en-US" sz="2200" b="1" dirty="0"/>
                  <a:t>                                                   Ans. Process is in under statistical control</a:t>
                </a: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r="-133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56350"/>
            <a:ext cx="50292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148</a:t>
            </a:fld>
            <a:endParaRPr lang="en-US"/>
          </a:p>
        </p:txBody>
      </p:sp>
      <p:sp>
        <p:nvSpPr>
          <p:cNvPr id="7" name="Title 1"/>
          <p:cNvSpPr txBox="1">
            <a:spLocks/>
          </p:cNvSpPr>
          <p:nvPr/>
        </p:nvSpPr>
        <p:spPr>
          <a:xfrm>
            <a:off x="1752600" y="10886"/>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 </a:t>
            </a:r>
            <a:r>
              <a:rPr lang="en-US" sz="2400" b="1" dirty="0"/>
              <a:t>(</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754369889"/>
      </p:ext>
    </p:extLst>
  </p:cSld>
  <p:clrMapOvr>
    <a:masterClrMapping/>
  </p:clrMapOvr>
  <p:transition spd="slow">
    <p:push dir="u"/>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1. A sample of 20 items has mean 42 units and S.D. 5 units. It is a random sample from a normal population with mean 45 units. Then in test of hypothesis we get the following results? For this data </a:t>
                </a:r>
                <a14:m>
                  <m:oMath xmlns:m="http://schemas.openxmlformats.org/officeDocument/2006/math">
                    <m:sSub>
                      <m:sSubPr>
                        <m:ctrlPr>
                          <a:rPr lang="en-US" sz="2200" i="1">
                            <a:latin typeface="Cambria Math" panose="02040503050406030204" pitchFamily="18" charset="0"/>
                          </a:rPr>
                        </m:ctrlPr>
                      </m:sSubPr>
                      <m:e>
                        <m:r>
                          <m:rPr>
                            <m:sty m:val="p"/>
                          </m:rPr>
                          <a:rPr lang="en-US" sz="2200" b="0" i="0">
                            <a:latin typeface="Cambria Math"/>
                          </a:rPr>
                          <m:t>t</m:t>
                        </m:r>
                      </m:e>
                      <m:sub>
                        <m:r>
                          <m:rPr>
                            <m:sty m:val="p"/>
                          </m:rPr>
                          <a:rPr lang="en-US" sz="2200" b="0" i="0">
                            <a:latin typeface="Cambria Math"/>
                          </a:rPr>
                          <m:t>tab</m:t>
                        </m:r>
                      </m:sub>
                    </m:sSub>
                    <m:r>
                      <a:rPr lang="en-US" sz="2200" b="0" i="0">
                        <a:latin typeface="Cambria Math"/>
                      </a:rPr>
                      <m:t>=2.09</m:t>
                    </m:r>
                  </m:oMath>
                </a14:m>
                <a:r>
                  <a:rPr lang="en-US" sz="2200" dirty="0"/>
                  <a:t> at 5% level of significance.                                </a:t>
                </a:r>
              </a:p>
              <a:p>
                <a:pPr marL="457200" lvl="0" indent="-457200">
                  <a:buFont typeface="+mj-lt"/>
                  <a:buAutoNum type="alphaLcParenR"/>
                </a:pPr>
                <a:r>
                  <a:rPr lang="en-US" sz="2200" dirty="0"/>
                  <a:t>D.f. </a:t>
                </a:r>
                <a14:m>
                  <m:oMath xmlns:m="http://schemas.openxmlformats.org/officeDocument/2006/math">
                    <m:r>
                      <m:rPr>
                        <m:sty m:val="p"/>
                      </m:rPr>
                      <a:rPr lang="en-US" sz="2200" b="0" i="0">
                        <a:latin typeface="Cambria Math"/>
                      </a:rPr>
                      <m:t>γ</m:t>
                    </m:r>
                    <m:r>
                      <a:rPr lang="en-US" sz="2200" b="0" i="0">
                        <a:latin typeface="Cambria Math"/>
                      </a:rPr>
                      <m:t>=19</m:t>
                    </m:r>
                  </m:oMath>
                </a14:m>
                <a:endParaRPr lang="en-US" sz="2200" dirty="0"/>
              </a:p>
              <a:p>
                <a:pPr marL="457200" lvl="0" indent="-457200">
                  <a:buFont typeface="+mj-lt"/>
                  <a:buAutoNum type="alphaLcParenR"/>
                </a:pPr>
                <a14:m>
                  <m:oMath xmlns:m="http://schemas.openxmlformats.org/officeDocument/2006/math">
                    <m:sSub>
                      <m:sSubPr>
                        <m:ctrlPr>
                          <a:rPr lang="en-US" sz="2200" i="1">
                            <a:latin typeface="Cambria Math" panose="02040503050406030204" pitchFamily="18" charset="0"/>
                          </a:rPr>
                        </m:ctrlPr>
                      </m:sSubPr>
                      <m:e>
                        <m:d>
                          <m:dPr>
                            <m:begChr m:val="|"/>
                            <m:endChr m:val="|"/>
                            <m:ctrlPr>
                              <a:rPr lang="en-US" sz="2200" i="1">
                                <a:latin typeface="Cambria Math" panose="02040503050406030204" pitchFamily="18" charset="0"/>
                              </a:rPr>
                            </m:ctrlPr>
                          </m:dPr>
                          <m:e>
                            <m:r>
                              <m:rPr>
                                <m:sty m:val="p"/>
                              </m:rPr>
                              <a:rPr lang="en-US" sz="2200" b="0" i="0">
                                <a:latin typeface="Cambria Math"/>
                              </a:rPr>
                              <m:t>t</m:t>
                            </m:r>
                          </m:e>
                        </m:d>
                      </m:e>
                      <m:sub>
                        <m:r>
                          <m:rPr>
                            <m:sty m:val="p"/>
                          </m:rPr>
                          <a:rPr lang="en-US" sz="2200" b="0" i="0">
                            <a:latin typeface="Cambria Math"/>
                          </a:rPr>
                          <m:t>cal</m:t>
                        </m:r>
                      </m:sub>
                    </m:sSub>
                    <m:r>
                      <a:rPr lang="en-US" sz="2200" b="0" i="0">
                        <a:latin typeface="Cambria Math"/>
                      </a:rPr>
                      <m:t>=2.615</m:t>
                    </m:r>
                  </m:oMath>
                </a14:m>
                <a:endParaRPr lang="en-US" sz="2200" dirty="0"/>
              </a:p>
              <a:p>
                <a:pPr marL="457200" lvl="0" indent="-457200">
                  <a:buFont typeface="+mj-lt"/>
                  <a:buAutoNum type="alphaLcParenR"/>
                </a:pPr>
                <a14:m>
                  <m:oMath xmlns:m="http://schemas.openxmlformats.org/officeDocument/2006/math">
                    <m:sSub>
                      <m:sSubPr>
                        <m:ctrlPr>
                          <a:rPr lang="en-US" sz="2200" i="1">
                            <a:latin typeface="Cambria Math" panose="02040503050406030204" pitchFamily="18" charset="0"/>
                          </a:rPr>
                        </m:ctrlPr>
                      </m:sSubPr>
                      <m:e>
                        <m:r>
                          <m:rPr>
                            <m:sty m:val="p"/>
                          </m:rPr>
                          <a:rPr lang="en-US" sz="2200" b="0" i="0">
                            <a:latin typeface="Cambria Math"/>
                          </a:rPr>
                          <m:t>H</m:t>
                        </m:r>
                      </m:e>
                      <m:sub>
                        <m:r>
                          <a:rPr lang="en-US" sz="2200" b="0" i="0">
                            <a:latin typeface="Cambria Math"/>
                          </a:rPr>
                          <m:t>1</m:t>
                        </m:r>
                      </m:sub>
                    </m:sSub>
                  </m:oMath>
                </a14:m>
                <a:r>
                  <a:rPr lang="en-US" sz="2200" dirty="0"/>
                  <a:t> accepted</a:t>
                </a:r>
              </a:p>
              <a:p>
                <a:pPr marL="457200" lvl="0" indent="-457200">
                  <a:buFont typeface="+mj-lt"/>
                  <a:buAutoNum type="alphaLcParenR"/>
                </a:pPr>
                <a:r>
                  <a:rPr lang="en-US" sz="2200" dirty="0"/>
                  <a:t>There is significant difference between the sample mean and population mean.</a:t>
                </a:r>
              </a:p>
              <a:p>
                <a:pPr marL="0" lvl="0" indent="0">
                  <a:buNone/>
                </a:pPr>
                <a:r>
                  <a:rPr lang="en-US" sz="2200" dirty="0"/>
                  <a:t>2. A random sample of 900 members has mean 3.4cms. If it is reasonably regarded as a sample from a large population of mean 3.2cms and S.D. 2.3 </a:t>
                </a:r>
                <a:r>
                  <a:rPr lang="en-US" sz="2200" dirty="0" err="1"/>
                  <a:t>cms</a:t>
                </a:r>
                <a:r>
                  <a:rPr lang="en-US" sz="2200" dirty="0"/>
                  <a:t>. If the tabulated value for this </a:t>
                </a:r>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r="-741" b="-9838"/>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149</a:t>
            </a:fld>
            <a:endParaRPr lang="en-US"/>
          </a:p>
        </p:txBody>
      </p:sp>
      <p:sp>
        <p:nvSpPr>
          <p:cNvPr id="9"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r>
              <a:rPr lang="en-US" sz="2400" b="1" dirty="0"/>
              <a:t>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transition spd="slow">
    <p:push dir="u"/>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200" dirty="0"/>
                  <a:t>data is 1.96 at 5% level of significance. Then the following results are true.</a:t>
                </a:r>
              </a:p>
              <a:p>
                <a:pPr marL="457200" lvl="0" indent="-457200">
                  <a:buFont typeface="+mj-lt"/>
                  <a:buAutoNum type="alphaLcParenR"/>
                </a:pPr>
                <a:r>
                  <a:rPr lang="en-US" sz="2200" dirty="0"/>
                  <a:t>Use t-test for single mean.</a:t>
                </a:r>
                <a:r>
                  <a:rPr lang="en-US" sz="2200" b="1" dirty="0"/>
                  <a:t> </a:t>
                </a:r>
              </a:p>
              <a:p>
                <a:pPr marL="457200" lvl="0" indent="-457200">
                  <a:buFont typeface="+mj-lt"/>
                  <a:buAutoNum type="alphaLcParenR"/>
                </a:pPr>
                <a:r>
                  <a:rPr lang="en-US" sz="2200" dirty="0"/>
                  <a:t>Use z-test for single mean.</a:t>
                </a:r>
              </a:p>
              <a:p>
                <a:pPr marL="457200" lvl="0" indent="-457200">
                  <a:buFont typeface="+mj-lt"/>
                  <a:buAutoNum type="alphaLcParenR"/>
                </a:pPr>
                <a:r>
                  <a:rPr lang="en-US" sz="2200" dirty="0"/>
                  <a:t>Use z-test for double mean.</a:t>
                </a:r>
              </a:p>
              <a:p>
                <a:pPr marL="457200" lvl="0" indent="-457200">
                  <a:buFont typeface="+mj-lt"/>
                  <a:buAutoNum type="alphaLcParenR"/>
                </a:pPr>
                <a14:m>
                  <m:oMath xmlns:m="http://schemas.openxmlformats.org/officeDocument/2006/math">
                    <m:sSub>
                      <m:sSubPr>
                        <m:ctrlPr>
                          <a:rPr lang="en-US" sz="2200" i="1">
                            <a:latin typeface="Cambria Math" panose="02040503050406030204" pitchFamily="18" charset="0"/>
                          </a:rPr>
                        </m:ctrlPr>
                      </m:sSubPr>
                      <m:e>
                        <m:r>
                          <m:rPr>
                            <m:sty m:val="p"/>
                          </m:rPr>
                          <a:rPr lang="en-US" sz="2200" i="0">
                            <a:latin typeface="Cambria Math"/>
                          </a:rPr>
                          <m:t>H</m:t>
                        </m:r>
                      </m:e>
                      <m:sub>
                        <m:r>
                          <a:rPr lang="en-US" sz="2200" i="0">
                            <a:latin typeface="Cambria Math"/>
                          </a:rPr>
                          <m:t>0</m:t>
                        </m:r>
                      </m:sub>
                    </m:sSub>
                  </m:oMath>
                </a14:m>
                <a:r>
                  <a:rPr lang="en-US" sz="2200" dirty="0"/>
                  <a:t> is accepted.</a:t>
                </a:r>
              </a:p>
              <a:p>
                <a:pPr marL="0" lvl="0" indent="0">
                  <a:buNone/>
                </a:pPr>
                <a:r>
                  <a:rPr lang="en-US" sz="2200" dirty="0"/>
                  <a:t>3.While testing the significance of difference of two sample means in case of small sample, how is degree of freedom calculated?</a:t>
                </a:r>
                <a:r>
                  <a:rPr lang="en-US" sz="2200" b="1" dirty="0"/>
                  <a:t>                                                      </a:t>
                </a:r>
                <a:endParaRPr lang="en-US" sz="2200" dirty="0"/>
              </a:p>
              <a:p>
                <a:pPr marL="0" indent="0">
                  <a:buNone/>
                </a:pPr>
                <a:r>
                  <a:rPr lang="en-US" sz="2200" dirty="0"/>
                  <a:t>a) </a:t>
                </a:r>
                <a14:m>
                  <m:oMath xmlns:m="http://schemas.openxmlformats.org/officeDocument/2006/math">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1</m:t>
                        </m:r>
                      </m:sub>
                    </m:sSub>
                    <m:r>
                      <a:rPr lang="en-US" sz="2200" i="0">
                        <a:latin typeface="Cambria Math"/>
                      </a:rPr>
                      <m:t>−1</m:t>
                    </m:r>
                  </m:oMath>
                </a14:m>
                <a:br>
                  <a:rPr lang="en-US" sz="2200" dirty="0"/>
                </a:br>
                <a:r>
                  <a:rPr lang="en-US" sz="2200" dirty="0"/>
                  <a:t>b) </a:t>
                </a:r>
                <a14:m>
                  <m:oMath xmlns:m="http://schemas.openxmlformats.org/officeDocument/2006/math">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1</m:t>
                        </m:r>
                      </m:sub>
                    </m:sSub>
                    <m:r>
                      <a:rPr lang="en-US" sz="2200" i="0">
                        <a:latin typeface="Cambria Math"/>
                      </a:rPr>
                      <m:t>+</m:t>
                    </m:r>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2</m:t>
                        </m:r>
                      </m:sub>
                    </m:sSub>
                    <m:r>
                      <a:rPr lang="en-US" sz="2200" i="0">
                        <a:latin typeface="Cambria Math"/>
                      </a:rPr>
                      <m:t>−2</m:t>
                    </m:r>
                  </m:oMath>
                </a14:m>
                <a:br>
                  <a:rPr lang="en-US" sz="2200" dirty="0"/>
                </a:br>
                <a:r>
                  <a:rPr lang="en-US" sz="2200" dirty="0"/>
                  <a:t>c) </a:t>
                </a:r>
                <a14:m>
                  <m:oMath xmlns:m="http://schemas.openxmlformats.org/officeDocument/2006/math">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1</m:t>
                            </m:r>
                          </m:sub>
                        </m:sSub>
                        <m:r>
                          <a:rPr lang="en-US" sz="2200" i="0">
                            <a:latin typeface="Cambria Math"/>
                          </a:rPr>
                          <m:t>−1</m:t>
                        </m:r>
                      </m:e>
                    </m:d>
                    <m:r>
                      <a:rPr lang="en-US" sz="2200" i="0">
                        <a:latin typeface="Cambria Math"/>
                      </a:rPr>
                      <m:t>+</m:t>
                    </m:r>
                    <m:d>
                      <m:dPr>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2</m:t>
                            </m:r>
                          </m:sub>
                        </m:sSub>
                        <m:r>
                          <a:rPr lang="en-US" sz="2200" i="0">
                            <a:latin typeface="Cambria Math"/>
                          </a:rPr>
                          <m:t>−1</m:t>
                        </m:r>
                      </m:e>
                    </m:d>
                  </m:oMath>
                </a14:m>
                <a:br>
                  <a:rPr lang="en-US" sz="2200" dirty="0"/>
                </a:br>
                <a:r>
                  <a:rPr lang="en-US" sz="2200" dirty="0"/>
                  <a:t>d) </a:t>
                </a:r>
                <a14:m>
                  <m:oMath xmlns:m="http://schemas.openxmlformats.org/officeDocument/2006/math">
                    <m:sSub>
                      <m:sSubPr>
                        <m:ctrlPr>
                          <a:rPr lang="en-US" sz="2200" i="1">
                            <a:latin typeface="Cambria Math" panose="02040503050406030204" pitchFamily="18" charset="0"/>
                          </a:rPr>
                        </m:ctrlPr>
                      </m:sSubPr>
                      <m:e>
                        <m:r>
                          <m:rPr>
                            <m:sty m:val="p"/>
                          </m:rPr>
                          <a:rPr lang="en-US" sz="2200" i="0">
                            <a:latin typeface="Cambria Math"/>
                          </a:rPr>
                          <m:t>n</m:t>
                        </m:r>
                      </m:e>
                      <m:sub>
                        <m:r>
                          <a:rPr lang="en-US" sz="2200" i="0">
                            <a:latin typeface="Cambria Math"/>
                          </a:rPr>
                          <m:t>2</m:t>
                        </m:r>
                      </m:sub>
                    </m:sSub>
                    <m:r>
                      <a:rPr lang="en-US" sz="2200" i="0">
                        <a:latin typeface="Cambria Math"/>
                      </a:rPr>
                      <m:t>−1</m:t>
                    </m:r>
                  </m:oMath>
                </a14:m>
                <a:endParaRPr lang="en-US" sz="2200" dirty="0"/>
              </a:p>
              <a:p>
                <a:pPr marL="0" lv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1037" t="-809" r="-27259" b="-20216"/>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150</a:t>
            </a:fld>
            <a:endParaRPr lang="en-US"/>
          </a:p>
        </p:txBody>
      </p:sp>
      <p:sp>
        <p:nvSpPr>
          <p:cNvPr id="9"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s</a:t>
            </a:r>
            <a:r>
              <a:rPr lang="en-US" sz="2400" b="1" dirty="0"/>
              <a:t>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Tree>
    <p:extLst>
      <p:ext uri="{BB962C8B-B14F-4D97-AF65-F5344CB8AC3E}">
        <p14:creationId xmlns:p14="http://schemas.microsoft.com/office/powerpoint/2010/main" val="1574591528"/>
      </p:ext>
    </p:extLst>
  </p:cSld>
  <p:clrMapOvr>
    <a:masterClrMapping/>
  </p:clrMapOvr>
  <p:transition spd="slow">
    <p:push dir="u"/>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4. What type of chart will be used to plot the number of defectives in the output of any process? 			   </a:t>
                </a:r>
                <a:br>
                  <a:rPr lang="en-US" sz="2200" dirty="0"/>
                </a:br>
                <a:r>
                  <a:rPr lang="en-US" sz="2200" dirty="0"/>
                  <a:t>a) </a:t>
                </a:r>
                <a14:m>
                  <m:oMath xmlns:m="http://schemas.openxmlformats.org/officeDocument/2006/math">
                    <m:acc>
                      <m:accPr>
                        <m:chr m:val="̅"/>
                        <m:ctrlPr>
                          <a:rPr lang="en-US" sz="2200" i="1">
                            <a:latin typeface="Cambria Math" panose="02040503050406030204" pitchFamily="18" charset="0"/>
                          </a:rPr>
                        </m:ctrlPr>
                      </m:accPr>
                      <m:e>
                        <m:r>
                          <a:rPr lang="en-US" sz="2200" i="1">
                            <a:latin typeface="Cambria Math"/>
                          </a:rPr>
                          <m:t>𝑋</m:t>
                        </m:r>
                      </m:e>
                    </m:acc>
                  </m:oMath>
                </a14:m>
                <a:r>
                  <a:rPr lang="en-US" sz="2200" dirty="0"/>
                  <a:t> chart</a:t>
                </a:r>
                <a:br>
                  <a:rPr lang="en-US" sz="2200" dirty="0"/>
                </a:br>
                <a:r>
                  <a:rPr lang="en-US" sz="2200" dirty="0"/>
                  <a:t>b) R chart</a:t>
                </a:r>
                <a:br>
                  <a:rPr lang="en-US" sz="2200" dirty="0"/>
                </a:br>
                <a:r>
                  <a:rPr lang="en-US" sz="2200" dirty="0"/>
                  <a:t>c) c chart</a:t>
                </a:r>
                <a:br>
                  <a:rPr lang="en-US" sz="2200" dirty="0"/>
                </a:br>
                <a:r>
                  <a:rPr lang="en-US" sz="2200" dirty="0"/>
                  <a:t>d) p chart</a:t>
                </a:r>
              </a:p>
              <a:p>
                <a:pPr marL="0" indent="0">
                  <a:buNone/>
                </a:pPr>
                <a:r>
                  <a:rPr lang="en-US" sz="2200" dirty="0"/>
                  <a:t>5. Consider a hypothesis H</a:t>
                </a:r>
                <a:r>
                  <a:rPr lang="en-US" sz="2200" baseline="-25000" dirty="0"/>
                  <a:t>0</a:t>
                </a:r>
                <a:r>
                  <a:rPr lang="en-US" sz="2200" dirty="0"/>
                  <a:t> where µ = 5 against H</a:t>
                </a:r>
                <a:r>
                  <a:rPr lang="en-US" sz="2200" baseline="-25000" dirty="0"/>
                  <a:t>1</a:t>
                </a:r>
                <a:r>
                  <a:rPr lang="en-US" sz="2200" dirty="0"/>
                  <a:t> where µ &gt; 5. The test is?</a:t>
                </a:r>
                <a:r>
                  <a:rPr lang="en-US" sz="2200" b="1" dirty="0"/>
                  <a:t>         </a:t>
                </a:r>
                <a:br>
                  <a:rPr lang="en-US" sz="2200" dirty="0"/>
                </a:br>
                <a:r>
                  <a:rPr lang="en-US" sz="2200" dirty="0"/>
                  <a:t>a) Right tailed</a:t>
                </a:r>
                <a:br>
                  <a:rPr lang="en-US" sz="2200" dirty="0"/>
                </a:br>
                <a:r>
                  <a:rPr lang="en-US" sz="2200" dirty="0"/>
                  <a:t>b) Left tailed</a:t>
                </a:r>
                <a:br>
                  <a:rPr lang="en-US" sz="2200" dirty="0"/>
                </a:br>
                <a:r>
                  <a:rPr lang="en-US" sz="2200" dirty="0"/>
                  <a:t>c) Center tailed</a:t>
                </a:r>
                <a:br>
                  <a:rPr lang="en-US" sz="2200" dirty="0"/>
                </a:br>
                <a:r>
                  <a:rPr lang="en-US" sz="2200" dirty="0"/>
                  <a:t>d) Cross tailed</a:t>
                </a:r>
              </a:p>
              <a:p>
                <a:pPr marL="0" lv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1">
                <a:blip r:embed="rId2"/>
                <a:stretch>
                  <a:fillRect l="-963" t="-809" b="-12803"/>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151</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rPr>
              <a:t>MCQs </a:t>
            </a:r>
            <a:r>
              <a:rPr lang="en-US" sz="2400" b="1" dirty="0"/>
              <a:t>(</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2115393009"/>
      </p:ext>
    </p:extLst>
  </p:cSld>
  <p:clrMapOvr>
    <a:masterClrMapping/>
  </p:clrMapOvr>
  <p:transition spd="slow">
    <p:push dir="u"/>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457200" lvl="0" indent="-457200">
              <a:buAutoNum type="arabicPeriod"/>
            </a:pPr>
            <a:r>
              <a:rPr lang="en-US" sz="2200" dirty="0"/>
              <a:t>Pick out the correct option from Glossary-</a:t>
            </a:r>
          </a:p>
          <a:p>
            <a:pPr marL="514350" lvl="0" indent="-514350">
              <a:buFont typeface="+mj-lt"/>
              <a:buAutoNum type="romanUcPeriod"/>
            </a:pPr>
            <a:r>
              <a:rPr lang="en-US" sz="2200" dirty="0"/>
              <a:t>z-test</a:t>
            </a:r>
          </a:p>
          <a:p>
            <a:pPr marL="514350" lvl="0" indent="-514350">
              <a:buFont typeface="+mj-lt"/>
              <a:buAutoNum type="romanUcPeriod"/>
            </a:pPr>
            <a:r>
              <a:rPr lang="en-US" sz="2200" dirty="0"/>
              <a:t>F-test</a:t>
            </a:r>
          </a:p>
          <a:p>
            <a:pPr marL="514350" lvl="0" indent="-514350">
              <a:buFont typeface="+mj-lt"/>
              <a:buAutoNum type="romanUcPeriod"/>
            </a:pPr>
            <a:r>
              <a:rPr lang="en-US" sz="2200" dirty="0"/>
              <a:t>t-test</a:t>
            </a:r>
          </a:p>
          <a:p>
            <a:pPr marL="514350" lvl="0" indent="-514350">
              <a:buFont typeface="+mj-lt"/>
              <a:buAutoNum type="romanUcPeriod"/>
            </a:pPr>
            <a:r>
              <a:rPr lang="en-US" sz="2200" dirty="0"/>
              <a:t>Chi Square test</a:t>
            </a:r>
          </a:p>
          <a:p>
            <a:pPr marL="0" lvl="0" indent="0">
              <a:buNone/>
            </a:pPr>
            <a:endParaRPr lang="en-US" sz="2200" dirty="0"/>
          </a:p>
          <a:p>
            <a:pPr marL="457200" lvl="0" indent="-457200">
              <a:buFont typeface="+mj-lt"/>
              <a:buAutoNum type="alphaUcPeriod"/>
            </a:pPr>
            <a:r>
              <a:rPr lang="en-US" sz="2200" dirty="0"/>
              <a:t>Is used to test the significance for small sample</a:t>
            </a:r>
          </a:p>
          <a:p>
            <a:pPr marL="457200" indent="-457200">
              <a:buFont typeface="+mj-lt"/>
              <a:buAutoNum type="alphaUcPeriod"/>
            </a:pPr>
            <a:r>
              <a:rPr lang="en-US" sz="2200" dirty="0"/>
              <a:t>Is used to test the significance for large sample</a:t>
            </a:r>
          </a:p>
          <a:p>
            <a:pPr marL="457200" lvl="0" indent="-457200">
              <a:buFont typeface="+mj-lt"/>
              <a:buAutoNum type="alphaUcPeriod"/>
            </a:pPr>
            <a:r>
              <a:rPr lang="en-US" sz="2200" dirty="0"/>
              <a:t>Is also known as variance ratio test</a:t>
            </a:r>
          </a:p>
          <a:p>
            <a:pPr marL="457200" lvl="0" indent="-457200">
              <a:buFont typeface="+mj-lt"/>
              <a:buAutoNum type="alphaUcPeriod"/>
            </a:pPr>
            <a:r>
              <a:rPr lang="en-US" sz="2200" dirty="0"/>
              <a:t>Is used to test the independence of attributes</a:t>
            </a:r>
          </a:p>
          <a:p>
            <a:pPr marL="0" lv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152</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Glossary Questions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13439508"/>
      </p:ext>
    </p:extLst>
  </p:cSld>
  <p:clrMapOvr>
    <a:masterClrMapping/>
  </p:clrMapOvr>
  <p:transition spd="slow">
    <p:push dir="u"/>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457200" lvl="0" indent="-457200">
              <a:buAutoNum type="arabicPeriod"/>
            </a:pPr>
            <a:r>
              <a:rPr lang="en-US" sz="2200" dirty="0"/>
              <a:t>Pick out the correct option from Glossary-</a:t>
            </a:r>
          </a:p>
          <a:p>
            <a:pPr marL="514350" lvl="0" indent="-514350">
              <a:buFont typeface="+mj-lt"/>
              <a:buAutoNum type="romanUcPeriod"/>
            </a:pPr>
            <a:r>
              <a:rPr lang="en-US" sz="2200" dirty="0"/>
              <a:t>np-chart</a:t>
            </a:r>
          </a:p>
          <a:p>
            <a:pPr marL="514350" lvl="0" indent="-514350">
              <a:buFont typeface="+mj-lt"/>
              <a:buAutoNum type="romanUcPeriod"/>
            </a:pPr>
            <a:r>
              <a:rPr lang="en-US" sz="2200" dirty="0"/>
              <a:t>p-chart</a:t>
            </a:r>
          </a:p>
          <a:p>
            <a:pPr marL="514350" lvl="0" indent="-514350">
              <a:buFont typeface="+mj-lt"/>
              <a:buAutoNum type="romanUcPeriod"/>
            </a:pPr>
            <a:r>
              <a:rPr lang="en-US" sz="2200" dirty="0"/>
              <a:t>c-chart</a:t>
            </a:r>
          </a:p>
          <a:p>
            <a:pPr marL="514350" lvl="0" indent="-514350">
              <a:buFont typeface="+mj-lt"/>
              <a:buAutoNum type="romanUcPeriod"/>
            </a:pPr>
            <a:r>
              <a:rPr lang="en-US" sz="2200" dirty="0"/>
              <a:t>Control chart for variables</a:t>
            </a:r>
          </a:p>
          <a:p>
            <a:pPr marL="0" lvl="0" indent="0">
              <a:buNone/>
            </a:pPr>
            <a:endParaRPr lang="en-US" sz="2200" dirty="0"/>
          </a:p>
          <a:p>
            <a:pPr marL="457200" lvl="0" indent="-457200">
              <a:buFont typeface="+mj-lt"/>
              <a:buAutoNum type="alphaUcPeriod"/>
            </a:pPr>
            <a:r>
              <a:rPr lang="en-US" sz="2200" dirty="0"/>
              <a:t>Fraction defective chart</a:t>
            </a:r>
          </a:p>
          <a:p>
            <a:pPr marL="457200" indent="-457200">
              <a:buFont typeface="+mj-lt"/>
              <a:buAutoNum type="alphaUcPeriod"/>
            </a:pPr>
            <a:r>
              <a:rPr lang="en-US" sz="2200" dirty="0"/>
              <a:t>No. of defective chart</a:t>
            </a:r>
          </a:p>
          <a:p>
            <a:pPr marL="457200" lvl="0" indent="-457200">
              <a:buFont typeface="+mj-lt"/>
              <a:buAutoNum type="alphaUcPeriod"/>
            </a:pPr>
            <a:r>
              <a:rPr lang="en-US" sz="2200" dirty="0"/>
              <a:t>No. of defect chart</a:t>
            </a:r>
          </a:p>
          <a:p>
            <a:pPr marL="457200" lvl="0" indent="-457200">
              <a:buFont typeface="+mj-lt"/>
              <a:buAutoNum type="alphaUcPeriod"/>
            </a:pPr>
            <a:r>
              <a:rPr lang="en-US" sz="2200" dirty="0"/>
              <a:t>Mean chart</a:t>
            </a:r>
          </a:p>
          <a:p>
            <a:pPr marL="457200" lvl="0" indent="-457200">
              <a:buFont typeface="+mj-lt"/>
              <a:buAutoNum type="alphaUcPeriod"/>
            </a:pPr>
            <a:endParaRPr lang="en-US" sz="2200" dirty="0"/>
          </a:p>
          <a:p>
            <a:pPr marL="0" lvl="0" indent="0">
              <a:buNone/>
            </a:pPr>
            <a:endParaRPr lang="en-US" sz="2200" dirty="0"/>
          </a:p>
          <a:p>
            <a:pPr marL="0" indent="0">
              <a:buNone/>
            </a:pPr>
            <a:endParaRPr lang="en-US" sz="2200" dirty="0"/>
          </a:p>
        </p:txBody>
      </p:sp>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153</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Glossary Questions (</a:t>
            </a:r>
            <a:r>
              <a:rPr kumimoji="0" lang="en-US" sz="2400" b="1" i="0" u="none" strike="noStrike" kern="1200" cap="none" spc="0" normalizeH="0" baseline="0" noProof="0" dirty="0">
                <a:ln>
                  <a:noFill/>
                </a:ln>
                <a:solidFill>
                  <a:schemeClr val="dk1"/>
                </a:solidFill>
                <a:effectLst/>
                <a:uLnTx/>
                <a:uFillTx/>
              </a:rPr>
              <a:t>CO5)</a:t>
            </a:r>
          </a:p>
        </p:txBody>
      </p:sp>
    </p:spTree>
    <p:extLst>
      <p:ext uri="{BB962C8B-B14F-4D97-AF65-F5344CB8AC3E}">
        <p14:creationId xmlns:p14="http://schemas.microsoft.com/office/powerpoint/2010/main" val="1066964068"/>
      </p:ext>
    </p:extLst>
  </p:cSld>
  <p:clrMapOvr>
    <a:masterClrMapping/>
  </p:clrMapOvr>
  <p:transition spd="slow">
    <p:push dir="u"/>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14600" y="6324600"/>
            <a:ext cx="4876800" cy="365125"/>
          </a:xfrm>
        </p:spPr>
        <p:txBody>
          <a:bodyPr/>
          <a:lstStyle/>
          <a:p>
            <a:r>
              <a:rPr lang="en-US"/>
              <a:t>Dr. Lokesh chaudhary       Statistics and Probability   Module-5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154</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mn-lt"/>
                <a:ea typeface="+mn-ea"/>
                <a:cs typeface="+mn-cs"/>
              </a:rPr>
              <a:t>Old</a:t>
            </a:r>
            <a:r>
              <a:rPr kumimoji="0" lang="en-US" sz="2400" b="1" i="0" u="none" strike="noStrike" kern="1200" cap="none" spc="0" normalizeH="0" noProof="0" dirty="0">
                <a:ln>
                  <a:noFill/>
                </a:ln>
                <a:solidFill>
                  <a:schemeClr val="dk1"/>
                </a:solidFill>
                <a:effectLst/>
                <a:uLnTx/>
                <a:uFillTx/>
                <a:latin typeface="+mn-lt"/>
                <a:ea typeface="+mn-ea"/>
                <a:cs typeface="+mn-cs"/>
              </a:rPr>
              <a:t> Question Papers</a:t>
            </a:r>
            <a:r>
              <a:rPr lang="en-US" sz="2400" b="1" dirty="0"/>
              <a:t> (</a:t>
            </a:r>
            <a:r>
              <a:rPr kumimoji="0" lang="en-US" sz="2400" b="1" i="0" u="none" strike="noStrike" kern="1200" cap="none" spc="0" normalizeH="0" baseline="0" noProof="0" dirty="0">
                <a:ln>
                  <a:noFill/>
                </a:ln>
                <a:solidFill>
                  <a:schemeClr val="dk1"/>
                </a:solidFill>
                <a:effectLst/>
                <a:uLnTx/>
                <a:uFillTx/>
              </a:rPr>
              <a:t>CO5)</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2" name="Content Placeholder 1">
            <a:extLst>
              <a:ext uri="{FF2B5EF4-FFF2-40B4-BE49-F238E27FC236}">
                <a16:creationId xmlns:a16="http://schemas.microsoft.com/office/drawing/2014/main" id="{DB46EDC8-9A19-4821-9AA0-545F66EE0A52}"/>
              </a:ext>
            </a:extLst>
          </p:cNvPr>
          <p:cNvSpPr>
            <a:spLocks noGrp="1"/>
          </p:cNvSpPr>
          <p:nvPr>
            <p:ph idx="1"/>
          </p:nvPr>
        </p:nvSpPr>
        <p:spPr>
          <a:xfrm>
            <a:off x="457200" y="1169482"/>
            <a:ext cx="8229600" cy="4519036"/>
          </a:xfrm>
        </p:spPr>
        <p:txBody>
          <a:bodyPr>
            <a:normAutofit/>
          </a:bodyPr>
          <a:lstStyle/>
          <a:p>
            <a:pPr marL="0" indent="0">
              <a:buNone/>
            </a:pPr>
            <a:r>
              <a:rPr lang="en-US" sz="2000" dirty="0">
                <a:hlinkClick r:id="rId2"/>
              </a:rPr>
              <a:t>First Sessional Set-1 (CSE,IT,CS,ECE,IOT).docx</a:t>
            </a:r>
            <a:endParaRPr lang="en-US" sz="2000" dirty="0"/>
          </a:p>
          <a:p>
            <a:pPr marL="0" indent="0">
              <a:buNone/>
            </a:pPr>
            <a:r>
              <a:rPr lang="en-US" sz="2000" dirty="0">
                <a:hlinkClick r:id="rId3"/>
              </a:rPr>
              <a:t>Second Sessional Set-2 (CSE,IT,CS,ECE,IOT).docx</a:t>
            </a:r>
            <a:endParaRPr lang="en-US" sz="2000" dirty="0"/>
          </a:p>
          <a:p>
            <a:pPr marL="0" indent="0">
              <a:buNone/>
            </a:pPr>
            <a:r>
              <a:rPr lang="en-IN" sz="2000" dirty="0">
                <a:hlinkClick r:id="rId4"/>
              </a:rPr>
              <a:t>Maths IV PUT.docx</a:t>
            </a:r>
            <a:endParaRPr lang="en-IN" sz="2000" dirty="0"/>
          </a:p>
          <a:p>
            <a:pPr marL="0" indent="0">
              <a:buNone/>
            </a:pPr>
            <a:r>
              <a:rPr lang="en-IN" sz="2000" dirty="0">
                <a:hlinkClick r:id="rId5"/>
              </a:rPr>
              <a:t>Maths IV final paper_2022.pdf</a:t>
            </a:r>
            <a:endParaRPr lang="en-IN" sz="2000" dirty="0"/>
          </a:p>
        </p:txBody>
      </p:sp>
    </p:spTree>
    <p:extLst>
      <p:ext uri="{BB962C8B-B14F-4D97-AF65-F5344CB8AC3E}">
        <p14:creationId xmlns:p14="http://schemas.microsoft.com/office/powerpoint/2010/main" val="2163336516"/>
      </p:ext>
    </p:extLst>
  </p:cSld>
  <p:clrMapOvr>
    <a:masterClrMapping/>
  </p:clrMapOvr>
  <p:transition spd="slow">
    <p:push dir="u"/>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155</a:t>
            </a:fld>
            <a:endParaRPr lang="en-US"/>
          </a:p>
        </p:txBody>
      </p:sp>
      <p:sp>
        <p:nvSpPr>
          <p:cNvPr id="8" name="Title 1"/>
          <p:cNvSpPr txBox="1">
            <a:spLocks noGrp="1"/>
          </p:cNvSpPr>
          <p:nvPr>
            <p:ph type="title"/>
          </p:nvPr>
        </p:nvSpPr>
        <p:spPr>
          <a:xfrm>
            <a:off x="1541172" y="0"/>
            <a:ext cx="7602828"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Module-5</a:t>
            </a:r>
            <a:endParaRPr lang="en-US" dirty="0"/>
          </a:p>
        </p:txBody>
      </p:sp>
      <p:pic>
        <p:nvPicPr>
          <p:cNvPr id="5" name="Picture 4">
            <a:extLst>
              <a:ext uri="{FF2B5EF4-FFF2-40B4-BE49-F238E27FC236}">
                <a16:creationId xmlns:a16="http://schemas.microsoft.com/office/drawing/2014/main" id="{646F58D2-FE5A-4B9D-95BE-B3F46D1A6E8F}"/>
              </a:ext>
            </a:extLst>
          </p:cNvPr>
          <p:cNvPicPr>
            <a:picLocks noChangeAspect="1"/>
          </p:cNvPicPr>
          <p:nvPr/>
        </p:nvPicPr>
        <p:blipFill>
          <a:blip r:embed="rId2"/>
          <a:stretch>
            <a:fillRect/>
          </a:stretch>
        </p:blipFill>
        <p:spPr>
          <a:xfrm>
            <a:off x="990600" y="1066800"/>
            <a:ext cx="7391400" cy="3439005"/>
          </a:xfrm>
          <a:prstGeom prst="rect">
            <a:avLst/>
          </a:prstGeom>
        </p:spPr>
      </p:pic>
      <p:pic>
        <p:nvPicPr>
          <p:cNvPr id="9" name="Picture 8">
            <a:extLst>
              <a:ext uri="{FF2B5EF4-FFF2-40B4-BE49-F238E27FC236}">
                <a16:creationId xmlns:a16="http://schemas.microsoft.com/office/drawing/2014/main" id="{63B7C3C7-EEE8-484B-8808-0C230C658C04}"/>
              </a:ext>
            </a:extLst>
          </p:cNvPr>
          <p:cNvPicPr>
            <a:picLocks noChangeAspect="1"/>
          </p:cNvPicPr>
          <p:nvPr/>
        </p:nvPicPr>
        <p:blipFill>
          <a:blip r:embed="rId3"/>
          <a:stretch>
            <a:fillRect/>
          </a:stretch>
        </p:blipFill>
        <p:spPr>
          <a:xfrm>
            <a:off x="1066800" y="4571787"/>
            <a:ext cx="7086600" cy="1600413"/>
          </a:xfrm>
          <a:prstGeom prst="rect">
            <a:avLst/>
          </a:prstGeom>
        </p:spPr>
      </p:pic>
    </p:spTree>
    <p:extLst>
      <p:ext uri="{BB962C8B-B14F-4D97-AF65-F5344CB8AC3E}">
        <p14:creationId xmlns:p14="http://schemas.microsoft.com/office/powerpoint/2010/main" val="41608666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156</a:t>
            </a:fld>
            <a:endParaRPr lang="en-US"/>
          </a:p>
        </p:txBody>
      </p:sp>
      <p:sp>
        <p:nvSpPr>
          <p:cNvPr id="8" name="Title 1"/>
          <p:cNvSpPr txBox="1">
            <a:spLocks noGrp="1"/>
          </p:cNvSpPr>
          <p:nvPr>
            <p:ph type="title"/>
          </p:nvPr>
        </p:nvSpPr>
        <p:spPr>
          <a:xfrm>
            <a:off x="1660124" y="2146"/>
            <a:ext cx="7483875" cy="72969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a:t>Dr. Lokesh chaudhary       Statistics and Probability   Module-5</a:t>
            </a:r>
            <a:endParaRPr lang="en-US" dirty="0"/>
          </a:p>
        </p:txBody>
      </p:sp>
      <p:pic>
        <p:nvPicPr>
          <p:cNvPr id="5" name="Picture 4">
            <a:extLst>
              <a:ext uri="{FF2B5EF4-FFF2-40B4-BE49-F238E27FC236}">
                <a16:creationId xmlns:a16="http://schemas.microsoft.com/office/drawing/2014/main" id="{48C27AB1-F9E3-45D0-9B82-3FEBFB8F6E3C}"/>
              </a:ext>
            </a:extLst>
          </p:cNvPr>
          <p:cNvPicPr>
            <a:picLocks noChangeAspect="1"/>
          </p:cNvPicPr>
          <p:nvPr/>
        </p:nvPicPr>
        <p:blipFill>
          <a:blip r:embed="rId2"/>
          <a:stretch>
            <a:fillRect/>
          </a:stretch>
        </p:blipFill>
        <p:spPr>
          <a:xfrm>
            <a:off x="685800" y="990600"/>
            <a:ext cx="7772399" cy="2724530"/>
          </a:xfrm>
          <a:prstGeom prst="rect">
            <a:avLst/>
          </a:prstGeom>
        </p:spPr>
      </p:pic>
      <p:pic>
        <p:nvPicPr>
          <p:cNvPr id="7" name="Picture 6">
            <a:extLst>
              <a:ext uri="{FF2B5EF4-FFF2-40B4-BE49-F238E27FC236}">
                <a16:creationId xmlns:a16="http://schemas.microsoft.com/office/drawing/2014/main" id="{C6082FAB-7B07-4090-AB4F-2DD8E04EA8EE}"/>
              </a:ext>
            </a:extLst>
          </p:cNvPr>
          <p:cNvPicPr>
            <a:picLocks noChangeAspect="1"/>
          </p:cNvPicPr>
          <p:nvPr/>
        </p:nvPicPr>
        <p:blipFill>
          <a:blip r:embed="rId3"/>
          <a:stretch>
            <a:fillRect/>
          </a:stretch>
        </p:blipFill>
        <p:spPr>
          <a:xfrm>
            <a:off x="914401" y="3943167"/>
            <a:ext cx="7543798" cy="1771833"/>
          </a:xfrm>
          <a:prstGeom prst="rect">
            <a:avLst/>
          </a:prstGeom>
        </p:spPr>
      </p:pic>
    </p:spTree>
    <p:extLst>
      <p:ext uri="{BB962C8B-B14F-4D97-AF65-F5344CB8AC3E}">
        <p14:creationId xmlns:p14="http://schemas.microsoft.com/office/powerpoint/2010/main" val="18136336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157</a:t>
            </a:fld>
            <a:endParaRPr lang="en-US"/>
          </a:p>
        </p:txBody>
      </p:sp>
      <p:sp>
        <p:nvSpPr>
          <p:cNvPr id="8" name="Title 1"/>
          <p:cNvSpPr txBox="1">
            <a:spLocks noGrp="1"/>
          </p:cNvSpPr>
          <p:nvPr>
            <p:ph type="title"/>
          </p:nvPr>
        </p:nvSpPr>
        <p:spPr>
          <a:xfrm>
            <a:off x="1676400" y="19318"/>
            <a:ext cx="74676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Picture 6">
            <a:extLst>
              <a:ext uri="{FF2B5EF4-FFF2-40B4-BE49-F238E27FC236}">
                <a16:creationId xmlns:a16="http://schemas.microsoft.com/office/drawing/2014/main" id="{AB35E215-ED8A-4CC4-80E8-8EC554551789}"/>
              </a:ext>
            </a:extLst>
          </p:cNvPr>
          <p:cNvPicPr>
            <a:picLocks noChangeAspect="1"/>
          </p:cNvPicPr>
          <p:nvPr/>
        </p:nvPicPr>
        <p:blipFill>
          <a:blip r:embed="rId2"/>
          <a:stretch>
            <a:fillRect/>
          </a:stretch>
        </p:blipFill>
        <p:spPr>
          <a:xfrm>
            <a:off x="914400" y="990601"/>
            <a:ext cx="7467600" cy="3657600"/>
          </a:xfrm>
          <a:prstGeom prst="rect">
            <a:avLst/>
          </a:prstGeom>
        </p:spPr>
      </p:pic>
      <p:pic>
        <p:nvPicPr>
          <p:cNvPr id="9" name="Picture 8">
            <a:extLst>
              <a:ext uri="{FF2B5EF4-FFF2-40B4-BE49-F238E27FC236}">
                <a16:creationId xmlns:a16="http://schemas.microsoft.com/office/drawing/2014/main" id="{0572AA7D-5000-48F6-9C93-35CAD33ED94D}"/>
              </a:ext>
            </a:extLst>
          </p:cNvPr>
          <p:cNvPicPr>
            <a:picLocks noChangeAspect="1"/>
          </p:cNvPicPr>
          <p:nvPr/>
        </p:nvPicPr>
        <p:blipFill>
          <a:blip r:embed="rId3"/>
          <a:stretch>
            <a:fillRect/>
          </a:stretch>
        </p:blipFill>
        <p:spPr>
          <a:xfrm>
            <a:off x="914400" y="5019504"/>
            <a:ext cx="7467600" cy="1228896"/>
          </a:xfrm>
          <a:prstGeom prst="rect">
            <a:avLst/>
          </a:prstGeom>
        </p:spPr>
      </p:pic>
    </p:spTree>
    <p:extLst>
      <p:ext uri="{BB962C8B-B14F-4D97-AF65-F5344CB8AC3E}">
        <p14:creationId xmlns:p14="http://schemas.microsoft.com/office/powerpoint/2010/main" val="280929801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158</a:t>
            </a:fld>
            <a:endParaRPr lang="en-US"/>
          </a:p>
        </p:txBody>
      </p:sp>
      <p:sp>
        <p:nvSpPr>
          <p:cNvPr id="8" name="Title 1"/>
          <p:cNvSpPr txBox="1">
            <a:spLocks noGrp="1"/>
          </p:cNvSpPr>
          <p:nvPr>
            <p:ph type="title"/>
          </p:nvPr>
        </p:nvSpPr>
        <p:spPr>
          <a:xfrm>
            <a:off x="1598026" y="22538"/>
            <a:ext cx="7545974"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Picture 6">
            <a:extLst>
              <a:ext uri="{FF2B5EF4-FFF2-40B4-BE49-F238E27FC236}">
                <a16:creationId xmlns:a16="http://schemas.microsoft.com/office/drawing/2014/main" id="{5E47A160-07D5-4957-8FAD-5D6674051540}"/>
              </a:ext>
            </a:extLst>
          </p:cNvPr>
          <p:cNvPicPr>
            <a:picLocks noChangeAspect="1"/>
          </p:cNvPicPr>
          <p:nvPr/>
        </p:nvPicPr>
        <p:blipFill>
          <a:blip r:embed="rId2"/>
          <a:stretch>
            <a:fillRect/>
          </a:stretch>
        </p:blipFill>
        <p:spPr>
          <a:xfrm>
            <a:off x="1542627" y="1404655"/>
            <a:ext cx="6058746" cy="4048690"/>
          </a:xfrm>
          <a:prstGeom prst="rect">
            <a:avLst/>
          </a:prstGeom>
        </p:spPr>
      </p:pic>
    </p:spTree>
    <p:extLst>
      <p:ext uri="{BB962C8B-B14F-4D97-AF65-F5344CB8AC3E}">
        <p14:creationId xmlns:p14="http://schemas.microsoft.com/office/powerpoint/2010/main" val="93389149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159</a:t>
            </a:fld>
            <a:endParaRPr lang="en-US"/>
          </a:p>
        </p:txBody>
      </p:sp>
      <p:sp>
        <p:nvSpPr>
          <p:cNvPr id="8" name="Title 1"/>
          <p:cNvSpPr txBox="1">
            <a:spLocks noGrp="1"/>
          </p:cNvSpPr>
          <p:nvPr>
            <p:ph type="title"/>
          </p:nvPr>
        </p:nvSpPr>
        <p:spPr>
          <a:xfrm>
            <a:off x="1828800" y="-19318"/>
            <a:ext cx="7315200" cy="7035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Picture 6">
            <a:extLst>
              <a:ext uri="{FF2B5EF4-FFF2-40B4-BE49-F238E27FC236}">
                <a16:creationId xmlns:a16="http://schemas.microsoft.com/office/drawing/2014/main" id="{81588560-69CA-4A34-96DC-55776ED079B2}"/>
              </a:ext>
            </a:extLst>
          </p:cNvPr>
          <p:cNvPicPr>
            <a:picLocks noChangeAspect="1"/>
          </p:cNvPicPr>
          <p:nvPr/>
        </p:nvPicPr>
        <p:blipFill>
          <a:blip r:embed="rId2"/>
          <a:stretch>
            <a:fillRect/>
          </a:stretch>
        </p:blipFill>
        <p:spPr>
          <a:xfrm>
            <a:off x="762000" y="1295400"/>
            <a:ext cx="7852365" cy="4329345"/>
          </a:xfrm>
          <a:prstGeom prst="rect">
            <a:avLst/>
          </a:prstGeom>
        </p:spPr>
      </p:pic>
    </p:spTree>
    <p:extLst>
      <p:ext uri="{BB962C8B-B14F-4D97-AF65-F5344CB8AC3E}">
        <p14:creationId xmlns:p14="http://schemas.microsoft.com/office/powerpoint/2010/main" val="193838717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160</a:t>
            </a:fld>
            <a:endParaRPr lang="en-US"/>
          </a:p>
        </p:txBody>
      </p:sp>
      <p:sp>
        <p:nvSpPr>
          <p:cNvPr id="8" name="Title 1"/>
          <p:cNvSpPr txBox="1">
            <a:spLocks noGrp="1"/>
          </p:cNvSpPr>
          <p:nvPr>
            <p:ph type="title"/>
          </p:nvPr>
        </p:nvSpPr>
        <p:spPr>
          <a:xfrm>
            <a:off x="1752600" y="0"/>
            <a:ext cx="7391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Content Placeholder 6">
            <a:extLst>
              <a:ext uri="{FF2B5EF4-FFF2-40B4-BE49-F238E27FC236}">
                <a16:creationId xmlns:a16="http://schemas.microsoft.com/office/drawing/2014/main" id="{71EF8110-EA64-49B4-A6AB-920EC6589C3C}"/>
              </a:ext>
            </a:extLst>
          </p:cNvPr>
          <p:cNvPicPr>
            <a:picLocks noGrp="1" noChangeAspect="1"/>
          </p:cNvPicPr>
          <p:nvPr>
            <p:ph idx="1"/>
          </p:nvPr>
        </p:nvPicPr>
        <p:blipFill>
          <a:blip r:embed="rId2"/>
          <a:stretch>
            <a:fillRect/>
          </a:stretch>
        </p:blipFill>
        <p:spPr>
          <a:xfrm>
            <a:off x="1066800" y="1143000"/>
            <a:ext cx="7391400" cy="4724400"/>
          </a:xfrm>
          <a:prstGeom prst="rect">
            <a:avLst/>
          </a:prstGeom>
        </p:spPr>
      </p:pic>
    </p:spTree>
    <p:extLst>
      <p:ext uri="{BB962C8B-B14F-4D97-AF65-F5344CB8AC3E}">
        <p14:creationId xmlns:p14="http://schemas.microsoft.com/office/powerpoint/2010/main" val="46148788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161</a:t>
            </a:fld>
            <a:endParaRPr lang="en-US"/>
          </a:p>
        </p:txBody>
      </p:sp>
      <p:sp>
        <p:nvSpPr>
          <p:cNvPr id="8" name="Title 1"/>
          <p:cNvSpPr txBox="1">
            <a:spLocks noGrp="1"/>
          </p:cNvSpPr>
          <p:nvPr>
            <p:ph type="title"/>
          </p:nvPr>
        </p:nvSpPr>
        <p:spPr>
          <a:xfrm>
            <a:off x="1752600" y="0"/>
            <a:ext cx="7391400" cy="6453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sp>
        <p:nvSpPr>
          <p:cNvPr id="5" name="Content Placeholder 4">
            <a:extLst>
              <a:ext uri="{FF2B5EF4-FFF2-40B4-BE49-F238E27FC236}">
                <a16:creationId xmlns:a16="http://schemas.microsoft.com/office/drawing/2014/main" id="{765AD767-036F-4E5A-B917-5F3EAAD990A2}"/>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AEDC727-2A68-45FF-B890-0AC0D195970B}"/>
              </a:ext>
            </a:extLst>
          </p:cNvPr>
          <p:cNvPicPr>
            <a:picLocks noChangeAspect="1"/>
          </p:cNvPicPr>
          <p:nvPr/>
        </p:nvPicPr>
        <p:blipFill>
          <a:blip r:embed="rId2"/>
          <a:stretch>
            <a:fillRect/>
          </a:stretch>
        </p:blipFill>
        <p:spPr>
          <a:xfrm>
            <a:off x="457199" y="1143000"/>
            <a:ext cx="8229600" cy="4724400"/>
          </a:xfrm>
          <a:prstGeom prst="rect">
            <a:avLst/>
          </a:prstGeom>
        </p:spPr>
      </p:pic>
    </p:spTree>
    <p:extLst>
      <p:ext uri="{BB962C8B-B14F-4D97-AF65-F5344CB8AC3E}">
        <p14:creationId xmlns:p14="http://schemas.microsoft.com/office/powerpoint/2010/main" val="241002903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162</a:t>
            </a:fld>
            <a:endParaRPr lang="en-US"/>
          </a:p>
        </p:txBody>
      </p:sp>
      <p:sp>
        <p:nvSpPr>
          <p:cNvPr id="8" name="Title 1"/>
          <p:cNvSpPr txBox="1">
            <a:spLocks noGrp="1"/>
          </p:cNvSpPr>
          <p:nvPr>
            <p:ph type="title"/>
          </p:nvPr>
        </p:nvSpPr>
        <p:spPr>
          <a:xfrm>
            <a:off x="1905000" y="19318"/>
            <a:ext cx="7239000" cy="66648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sp>
        <p:nvSpPr>
          <p:cNvPr id="5" name="Content Placeholder 4">
            <a:extLst>
              <a:ext uri="{FF2B5EF4-FFF2-40B4-BE49-F238E27FC236}">
                <a16:creationId xmlns:a16="http://schemas.microsoft.com/office/drawing/2014/main" id="{0917DDCA-7CF9-4099-AEEC-F65AA6AD9E0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6A2A8AD-4128-4D79-9298-D7BA2FB110CB}"/>
              </a:ext>
            </a:extLst>
          </p:cNvPr>
          <p:cNvPicPr>
            <a:picLocks noChangeAspect="1"/>
          </p:cNvPicPr>
          <p:nvPr/>
        </p:nvPicPr>
        <p:blipFill>
          <a:blip r:embed="rId2"/>
          <a:stretch>
            <a:fillRect/>
          </a:stretch>
        </p:blipFill>
        <p:spPr>
          <a:xfrm>
            <a:off x="782276" y="1219199"/>
            <a:ext cx="7523524" cy="4800601"/>
          </a:xfrm>
          <a:prstGeom prst="rect">
            <a:avLst/>
          </a:prstGeom>
        </p:spPr>
      </p:pic>
    </p:spTree>
    <p:extLst>
      <p:ext uri="{BB962C8B-B14F-4D97-AF65-F5344CB8AC3E}">
        <p14:creationId xmlns:p14="http://schemas.microsoft.com/office/powerpoint/2010/main" val="1759286242"/>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163</a:t>
            </a:fld>
            <a:endParaRPr lang="en-US"/>
          </a:p>
        </p:txBody>
      </p:sp>
      <p:sp>
        <p:nvSpPr>
          <p:cNvPr id="8" name="Title 1"/>
          <p:cNvSpPr txBox="1">
            <a:spLocks noGrp="1"/>
          </p:cNvSpPr>
          <p:nvPr>
            <p:ph type="title"/>
          </p:nvPr>
        </p:nvSpPr>
        <p:spPr>
          <a:xfrm>
            <a:off x="1600200" y="33270"/>
            <a:ext cx="7543800" cy="77511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US"/>
              <a:t>Dr. Lokesh chaudhary       Statistics and Probability   Module-5</a:t>
            </a:r>
            <a:endParaRPr lang="en-US" dirty="0"/>
          </a:p>
        </p:txBody>
      </p:sp>
      <p:pic>
        <p:nvPicPr>
          <p:cNvPr id="4" name="Picture 3">
            <a:extLst>
              <a:ext uri="{FF2B5EF4-FFF2-40B4-BE49-F238E27FC236}">
                <a16:creationId xmlns:a16="http://schemas.microsoft.com/office/drawing/2014/main" id="{0CB8F498-20C3-45C8-B977-F3CD49EF044B}"/>
              </a:ext>
            </a:extLst>
          </p:cNvPr>
          <p:cNvPicPr>
            <a:picLocks noChangeAspect="1"/>
          </p:cNvPicPr>
          <p:nvPr/>
        </p:nvPicPr>
        <p:blipFill>
          <a:blip r:embed="rId2"/>
          <a:stretch>
            <a:fillRect/>
          </a:stretch>
        </p:blipFill>
        <p:spPr>
          <a:xfrm>
            <a:off x="838200" y="1676400"/>
            <a:ext cx="7391400" cy="4038600"/>
          </a:xfrm>
          <a:prstGeom prst="rect">
            <a:avLst/>
          </a:prstGeom>
        </p:spPr>
      </p:pic>
    </p:spTree>
    <p:extLst>
      <p:ext uri="{BB962C8B-B14F-4D97-AF65-F5344CB8AC3E}">
        <p14:creationId xmlns:p14="http://schemas.microsoft.com/office/powerpoint/2010/main" val="13097540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164</a:t>
            </a:fld>
            <a:endParaRPr lang="en-US"/>
          </a:p>
        </p:txBody>
      </p:sp>
      <p:sp>
        <p:nvSpPr>
          <p:cNvPr id="8" name="Title 1"/>
          <p:cNvSpPr txBox="1">
            <a:spLocks noGrp="1"/>
          </p:cNvSpPr>
          <p:nvPr>
            <p:ph type="title"/>
          </p:nvPr>
        </p:nvSpPr>
        <p:spPr>
          <a:xfrm>
            <a:off x="1905000" y="0"/>
            <a:ext cx="72390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Picture 6">
            <a:extLst>
              <a:ext uri="{FF2B5EF4-FFF2-40B4-BE49-F238E27FC236}">
                <a16:creationId xmlns:a16="http://schemas.microsoft.com/office/drawing/2014/main" id="{FDCE1061-A8CE-4196-B58E-A5D41EDDE513}"/>
              </a:ext>
            </a:extLst>
          </p:cNvPr>
          <p:cNvPicPr>
            <a:picLocks noChangeAspect="1"/>
          </p:cNvPicPr>
          <p:nvPr/>
        </p:nvPicPr>
        <p:blipFill>
          <a:blip r:embed="rId2"/>
          <a:stretch>
            <a:fillRect/>
          </a:stretch>
        </p:blipFill>
        <p:spPr>
          <a:xfrm>
            <a:off x="1075468" y="1143000"/>
            <a:ext cx="7239000" cy="4495800"/>
          </a:xfrm>
          <a:prstGeom prst="rect">
            <a:avLst/>
          </a:prstGeom>
        </p:spPr>
      </p:pic>
    </p:spTree>
    <p:extLst>
      <p:ext uri="{BB962C8B-B14F-4D97-AF65-F5344CB8AC3E}">
        <p14:creationId xmlns:p14="http://schemas.microsoft.com/office/powerpoint/2010/main" val="157157999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165</a:t>
            </a:fld>
            <a:endParaRPr lang="en-US"/>
          </a:p>
        </p:txBody>
      </p:sp>
      <p:sp>
        <p:nvSpPr>
          <p:cNvPr id="8" name="Title 1"/>
          <p:cNvSpPr txBox="1">
            <a:spLocks noGrp="1"/>
          </p:cNvSpPr>
          <p:nvPr>
            <p:ph type="title"/>
          </p:nvPr>
        </p:nvSpPr>
        <p:spPr>
          <a:xfrm>
            <a:off x="1691828" y="6439"/>
            <a:ext cx="7452172" cy="75556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pic>
        <p:nvPicPr>
          <p:cNvPr id="7" name="Picture 6">
            <a:extLst>
              <a:ext uri="{FF2B5EF4-FFF2-40B4-BE49-F238E27FC236}">
                <a16:creationId xmlns:a16="http://schemas.microsoft.com/office/drawing/2014/main" id="{E750AE95-E9F7-4917-B995-BD6C038A75EE}"/>
              </a:ext>
            </a:extLst>
          </p:cNvPr>
          <p:cNvPicPr>
            <a:picLocks noChangeAspect="1"/>
          </p:cNvPicPr>
          <p:nvPr/>
        </p:nvPicPr>
        <p:blipFill>
          <a:blip r:embed="rId2"/>
          <a:stretch>
            <a:fillRect/>
          </a:stretch>
        </p:blipFill>
        <p:spPr>
          <a:xfrm>
            <a:off x="777428" y="1314154"/>
            <a:ext cx="7452172" cy="4553245"/>
          </a:xfrm>
          <a:prstGeom prst="rect">
            <a:avLst/>
          </a:prstGeom>
        </p:spPr>
      </p:pic>
    </p:spTree>
    <p:extLst>
      <p:ext uri="{BB962C8B-B14F-4D97-AF65-F5344CB8AC3E}">
        <p14:creationId xmlns:p14="http://schemas.microsoft.com/office/powerpoint/2010/main" val="54885856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References</a:t>
            </a:r>
            <a:endPar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304800" y="1219200"/>
            <a:ext cx="8610600" cy="4290405"/>
          </a:xfrm>
          <a:prstGeom prst="rect">
            <a:avLst/>
          </a:prstGeom>
          <a:noFill/>
        </p:spPr>
        <p:txBody>
          <a:bodyPr wrap="square" lIns="91440" tIns="45720" rIns="91440" bIns="45720">
            <a:spAutoFit/>
          </a:bodyPr>
          <a:lstStyle/>
          <a:p>
            <a:pPr marL="0" lvl="0" indent="0" algn="ctr">
              <a:buNone/>
            </a:pPr>
            <a:r>
              <a:rPr lang="en-US" b="1" u="sng" dirty="0"/>
              <a:t>Text Books</a:t>
            </a:r>
          </a:p>
          <a:p>
            <a:pPr lvl="0"/>
            <a:r>
              <a:rPr lang="en-US" dirty="0"/>
              <a:t>N. P. Bali: A Textbook of Engineering Mathematics-IV, University Science Press.</a:t>
            </a:r>
          </a:p>
          <a:p>
            <a:pPr marL="0" lvl="0" indent="0">
              <a:buNone/>
            </a:pPr>
            <a:endParaRPr lang="en-US" dirty="0"/>
          </a:p>
          <a:p>
            <a:pPr lvl="0"/>
            <a:r>
              <a:rPr lang="en-US" dirty="0"/>
              <a:t>H. K. </a:t>
            </a:r>
            <a:r>
              <a:rPr lang="en-US" dirty="0" err="1"/>
              <a:t>Dass</a:t>
            </a:r>
            <a:r>
              <a:rPr lang="en-US" dirty="0"/>
              <a:t>: Introduction to Engineering Mathematics, S. Chand.</a:t>
            </a:r>
          </a:p>
          <a:p>
            <a:pPr lvl="0"/>
            <a:endParaRPr lang="en-US" dirty="0"/>
          </a:p>
          <a:p>
            <a:pPr lvl="0"/>
            <a:r>
              <a:rPr lang="en-US" dirty="0"/>
              <a:t>S. Ross: A First Course in Probability, 6th Ed., Pearson Education India, 2002.</a:t>
            </a:r>
          </a:p>
          <a:p>
            <a:pPr lvl="0"/>
            <a:endParaRPr lang="en-US" dirty="0"/>
          </a:p>
          <a:p>
            <a:pPr lvl="0"/>
            <a:r>
              <a:rPr lang="en-US" dirty="0"/>
              <a:t>W. Feller, An Introduction to Probability Theory and its Applications, Vol. 1, 3rd Ed., Wiley, 1968.</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166</a:t>
            </a:fld>
            <a:endParaRPr lang="en-US"/>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spTree>
    <p:extLst>
      <p:ext uri="{BB962C8B-B14F-4D97-AF65-F5344CB8AC3E}">
        <p14:creationId xmlns:p14="http://schemas.microsoft.com/office/powerpoint/2010/main" val="195014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References</a:t>
            </a:r>
            <a:endPar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381000" y="1143000"/>
            <a:ext cx="8610600" cy="4628960"/>
          </a:xfrm>
          <a:prstGeom prst="rect">
            <a:avLst/>
          </a:prstGeom>
          <a:noFill/>
        </p:spPr>
        <p:txBody>
          <a:bodyPr wrap="square" lIns="91440" tIns="45720" rIns="91440" bIns="45720">
            <a:spAutoFit/>
          </a:bodyPr>
          <a:lstStyle/>
          <a:p>
            <a:pPr algn="ctr">
              <a:buNone/>
            </a:pPr>
            <a:r>
              <a:rPr lang="en-US" b="1" u="sng" dirty="0"/>
              <a:t>Reference Books</a:t>
            </a:r>
            <a:endParaRPr lang="en-US" u="sng" dirty="0"/>
          </a:p>
          <a:p>
            <a:r>
              <a:rPr lang="en-US" dirty="0"/>
              <a:t>P. G. </a:t>
            </a:r>
            <a:r>
              <a:rPr lang="en-US" dirty="0" err="1"/>
              <a:t>Hoel</a:t>
            </a:r>
            <a:r>
              <a:rPr lang="en-US" dirty="0"/>
              <a:t>, S. C. Port and C. J. Stone, Introduction to Probability Theory, Universal Book Stall, 2003(Reprint).</a:t>
            </a:r>
          </a:p>
          <a:p>
            <a:pPr lvl="0"/>
            <a:endParaRPr lang="en-US" dirty="0"/>
          </a:p>
          <a:p>
            <a:pPr lvl="0"/>
            <a:r>
              <a:rPr lang="en-US" dirty="0"/>
              <a:t>R.K. Jain and S.R.K. </a:t>
            </a:r>
            <a:r>
              <a:rPr lang="en-US" dirty="0" err="1"/>
              <a:t>Iyenger</a:t>
            </a:r>
            <a:r>
              <a:rPr lang="en-US" dirty="0"/>
              <a:t>: Advance Engineering Mathematics; </a:t>
            </a:r>
            <a:r>
              <a:rPr lang="en-US" dirty="0" err="1"/>
              <a:t>Narosa</a:t>
            </a:r>
            <a:r>
              <a:rPr lang="en-US" dirty="0"/>
              <a:t> Publishing House, New Delhi.</a:t>
            </a:r>
          </a:p>
          <a:p>
            <a:pPr lvl="0"/>
            <a:endParaRPr lang="en-US" dirty="0"/>
          </a:p>
          <a:p>
            <a:pPr lvl="0"/>
            <a:r>
              <a:rPr lang="en-US" dirty="0"/>
              <a:t>J.N. </a:t>
            </a:r>
            <a:r>
              <a:rPr lang="en-US" dirty="0" err="1"/>
              <a:t>Kapur</a:t>
            </a:r>
            <a:r>
              <a:rPr lang="en-US" dirty="0"/>
              <a:t>: Mathematical Statistics; S. Chand &amp; Sons Company Limited, New Delhi.</a:t>
            </a:r>
          </a:p>
          <a:p>
            <a:pPr lvl="0"/>
            <a:endParaRPr lang="en-US" dirty="0"/>
          </a:p>
          <a:p>
            <a:pPr lvl="0"/>
            <a:r>
              <a:rPr lang="en-US" dirty="0" err="1"/>
              <a:t>D.N.Elhance,V</a:t>
            </a:r>
            <a:r>
              <a:rPr lang="en-US" dirty="0"/>
              <a:t>. </a:t>
            </a:r>
            <a:r>
              <a:rPr lang="en-US" dirty="0" err="1"/>
              <a:t>Elhance</a:t>
            </a:r>
            <a:r>
              <a:rPr lang="en-US" dirty="0"/>
              <a:t> &amp; B.M. Aggarwal: Fundamentals of Statistics; Kitab Mahal Distributers, New Delhi.</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167</a:t>
            </a:fld>
            <a:endParaRPr lang="en-US"/>
          </a:p>
        </p:txBody>
      </p:sp>
      <p:sp>
        <p:nvSpPr>
          <p:cNvPr id="3" name="Footer Placeholder 2"/>
          <p:cNvSpPr>
            <a:spLocks noGrp="1"/>
          </p:cNvSpPr>
          <p:nvPr>
            <p:ph type="ftr" sz="quarter" idx="11"/>
          </p:nvPr>
        </p:nvSpPr>
        <p:spPr/>
        <p:txBody>
          <a:bodyPr/>
          <a:lstStyle/>
          <a:p>
            <a:r>
              <a:rPr lang="en-US"/>
              <a:t>Dr. Lokesh chaudhary       Statistics and Probability   Module-5</a:t>
            </a:r>
            <a:endParaRPr lang="en-US" dirty="0"/>
          </a:p>
        </p:txBody>
      </p:sp>
    </p:spTree>
    <p:extLst>
      <p:ext uri="{BB962C8B-B14F-4D97-AF65-F5344CB8AC3E}">
        <p14:creationId xmlns:p14="http://schemas.microsoft.com/office/powerpoint/2010/main" val="91466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168</a:t>
            </a:fld>
            <a:endParaRPr lang="en-US"/>
          </a:p>
        </p:txBody>
      </p:sp>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
          <p:cNvSpPr>
            <a:spLocks noGrp="1"/>
          </p:cNvSpPr>
          <p:nvPr>
            <p:ph type="ftr" sz="quarter" idx="11"/>
          </p:nvPr>
        </p:nvSpPr>
        <p:spPr/>
        <p:txBody>
          <a:bodyPr/>
          <a:lstStyle/>
          <a:p>
            <a:r>
              <a:rPr lang="en-US"/>
              <a:t>Dr. Lokesh chaudhary       Statistics and Probability   Module-5</a:t>
            </a:r>
            <a:endParaRPr lang="en-US" dirty="0"/>
          </a:p>
        </p:txBody>
      </p:sp>
    </p:spTree>
    <p:extLst>
      <p:ext uri="{BB962C8B-B14F-4D97-AF65-F5344CB8AC3E}">
        <p14:creationId xmlns:p14="http://schemas.microsoft.com/office/powerpoint/2010/main" val="214355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9">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Office Theme">
  <a:themeElements>
    <a:clrScheme name="Custom 1">
      <a:dk1>
        <a:srgbClr val="000000"/>
      </a:dk1>
      <a:lt1>
        <a:sysClr val="window" lastClr="FFFFFF"/>
      </a:lt1>
      <a:dk2>
        <a:srgbClr val="000000"/>
      </a:dk2>
      <a:lt2>
        <a:srgbClr val="EEECE1"/>
      </a:lt2>
      <a:accent1>
        <a:srgbClr val="FF0000"/>
      </a:accent1>
      <a:accent2>
        <a:srgbClr val="FF0000"/>
      </a:accent2>
      <a:accent3>
        <a:srgbClr val="FF0000"/>
      </a:accent3>
      <a:accent4>
        <a:srgbClr val="FF0000"/>
      </a:accent4>
      <a:accent5>
        <a:srgbClr val="FF0000"/>
      </a:accent5>
      <a:accent6>
        <a:srgbClr val="FF0000"/>
      </a:accent6>
      <a:hlink>
        <a:srgbClr val="0000FF"/>
      </a:hlink>
      <a:folHlink>
        <a:srgbClr val="0070C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3607</TotalTime>
  <Words>13291</Words>
  <Application>Microsoft Office PowerPoint</Application>
  <PresentationFormat>On-screen Show (4:3)</PresentationFormat>
  <Paragraphs>2201</Paragraphs>
  <Slides>168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168</vt:i4>
      </vt:variant>
    </vt:vector>
  </HeadingPairs>
  <TitlesOfParts>
    <vt:vector size="175" baseType="lpstr">
      <vt:lpstr>Arial</vt:lpstr>
      <vt:lpstr>Calibri</vt:lpstr>
      <vt:lpstr>Cambria</vt:lpstr>
      <vt:lpstr>Cambria Math</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Dr Lokesh Chaudhary</cp:lastModifiedBy>
  <cp:revision>220</cp:revision>
  <dcterms:created xsi:type="dcterms:W3CDTF">2006-08-16T00:00:00Z</dcterms:created>
  <dcterms:modified xsi:type="dcterms:W3CDTF">2025-07-28T04:21:33Z</dcterms:modified>
</cp:coreProperties>
</file>