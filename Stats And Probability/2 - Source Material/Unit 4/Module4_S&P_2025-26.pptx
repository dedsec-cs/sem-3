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handoutMasterIdLst>
    <p:handoutMasterId r:id="rId103"/>
  </p:handoutMasterIdLst>
  <p:sldIdLst>
    <p:sldId id="725" r:id="rId2"/>
    <p:sldId id="593" r:id="rId3"/>
    <p:sldId id="613" r:id="rId4"/>
    <p:sldId id="772" r:id="rId5"/>
    <p:sldId id="773" r:id="rId6"/>
    <p:sldId id="774" r:id="rId7"/>
    <p:sldId id="820" r:id="rId8"/>
    <p:sldId id="378" r:id="rId9"/>
    <p:sldId id="257" r:id="rId10"/>
    <p:sldId id="401" r:id="rId11"/>
    <p:sldId id="402" r:id="rId12"/>
    <p:sldId id="403" r:id="rId13"/>
    <p:sldId id="404" r:id="rId14"/>
    <p:sldId id="405" r:id="rId15"/>
    <p:sldId id="406" r:id="rId16"/>
    <p:sldId id="267" r:id="rId17"/>
    <p:sldId id="690" r:id="rId18"/>
    <p:sldId id="409" r:id="rId19"/>
    <p:sldId id="691" r:id="rId20"/>
    <p:sldId id="410" r:id="rId21"/>
    <p:sldId id="411" r:id="rId22"/>
    <p:sldId id="412" r:id="rId23"/>
    <p:sldId id="413" r:id="rId24"/>
    <p:sldId id="414" r:id="rId25"/>
    <p:sldId id="415" r:id="rId26"/>
    <p:sldId id="416" r:id="rId27"/>
    <p:sldId id="417" r:id="rId28"/>
    <p:sldId id="418" r:id="rId29"/>
    <p:sldId id="419" r:id="rId30"/>
    <p:sldId id="270" r:id="rId31"/>
    <p:sldId id="709" r:id="rId32"/>
    <p:sldId id="382" r:id="rId33"/>
    <p:sldId id="322" r:id="rId34"/>
    <p:sldId id="323" r:id="rId35"/>
    <p:sldId id="324" r:id="rId36"/>
    <p:sldId id="325" r:id="rId37"/>
    <p:sldId id="337" r:id="rId38"/>
    <p:sldId id="338" r:id="rId39"/>
    <p:sldId id="339" r:id="rId40"/>
    <p:sldId id="340" r:id="rId41"/>
    <p:sldId id="341" r:id="rId42"/>
    <p:sldId id="342" r:id="rId43"/>
    <p:sldId id="343" r:id="rId44"/>
    <p:sldId id="387" r:id="rId45"/>
    <p:sldId id="693" r:id="rId46"/>
    <p:sldId id="344" r:id="rId47"/>
    <p:sldId id="345" r:id="rId48"/>
    <p:sldId id="346" r:id="rId49"/>
    <p:sldId id="347" r:id="rId50"/>
    <p:sldId id="348" r:id="rId51"/>
    <p:sldId id="349" r:id="rId52"/>
    <p:sldId id="350" r:id="rId53"/>
    <p:sldId id="351" r:id="rId54"/>
    <p:sldId id="352" r:id="rId55"/>
    <p:sldId id="710" r:id="rId56"/>
    <p:sldId id="381" r:id="rId57"/>
    <p:sldId id="354" r:id="rId58"/>
    <p:sldId id="355" r:id="rId59"/>
    <p:sldId id="356" r:id="rId60"/>
    <p:sldId id="353" r:id="rId61"/>
    <p:sldId id="275" r:id="rId62"/>
    <p:sldId id="358" r:id="rId63"/>
    <p:sldId id="359" r:id="rId64"/>
    <p:sldId id="360" r:id="rId65"/>
    <p:sldId id="367" r:id="rId66"/>
    <p:sldId id="694" r:id="rId67"/>
    <p:sldId id="695" r:id="rId68"/>
    <p:sldId id="388" r:id="rId69"/>
    <p:sldId id="389" r:id="rId70"/>
    <p:sldId id="390" r:id="rId71"/>
    <p:sldId id="696" r:id="rId72"/>
    <p:sldId id="697" r:id="rId73"/>
    <p:sldId id="698" r:id="rId74"/>
    <p:sldId id="407" r:id="rId75"/>
    <p:sldId id="699" r:id="rId76"/>
    <p:sldId id="700" r:id="rId77"/>
    <p:sldId id="420" r:id="rId78"/>
    <p:sldId id="385" r:id="rId79"/>
    <p:sldId id="701" r:id="rId80"/>
    <p:sldId id="702" r:id="rId81"/>
    <p:sldId id="703" r:id="rId82"/>
    <p:sldId id="704" r:id="rId83"/>
    <p:sldId id="705" r:id="rId84"/>
    <p:sldId id="422" r:id="rId85"/>
    <p:sldId id="421" r:id="rId86"/>
    <p:sldId id="914" r:id="rId87"/>
    <p:sldId id="915" r:id="rId88"/>
    <p:sldId id="916" r:id="rId89"/>
    <p:sldId id="917" r:id="rId90"/>
    <p:sldId id="918" r:id="rId91"/>
    <p:sldId id="919" r:id="rId92"/>
    <p:sldId id="920" r:id="rId93"/>
    <p:sldId id="921" r:id="rId94"/>
    <p:sldId id="922" r:id="rId95"/>
    <p:sldId id="923" r:id="rId96"/>
    <p:sldId id="924" r:id="rId97"/>
    <p:sldId id="379" r:id="rId98"/>
    <p:sldId id="707" r:id="rId99"/>
    <p:sldId id="925" r:id="rId100"/>
    <p:sldId id="283"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vikant Pathlan" initials="RP" lastIdx="1" clrIdx="0">
    <p:extLst>
      <p:ext uri="{19B8F6BF-5375-455C-9EA6-DF929625EA0E}">
        <p15:presenceInfo xmlns:p15="http://schemas.microsoft.com/office/powerpoint/2012/main" userId="f529b31ffa70779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71" autoAdjust="0"/>
  </p:normalViewPr>
  <p:slideViewPr>
    <p:cSldViewPr>
      <p:cViewPr varScale="1">
        <p:scale>
          <a:sx n="105" d="100"/>
          <a:sy n="105" d="100"/>
        </p:scale>
        <p:origin x="1800" y="114"/>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10/13/2025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25661760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10/13/2025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74322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358097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351741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1023761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2991748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Dr. Lokesh chaudhary    Statistics and Probability     Module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Dr. Lokesh chaudhary    Statistics and Probability     Module 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Dr. Lokesh chaudhary    Statistics and Probability     Module 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Dr. Lokesh chaudhary    Statistics and Probability     Module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Dr. Lokesh chaudhary    Statistics and Probability     Module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Lokesh chaudhary    Statistics and Probability     Module 4</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6E249BA6-6E78-EC97-4959-745EE58944C4}"/>
              </a:ext>
            </a:extLst>
          </p:cNvPr>
          <p:cNvPicPr>
            <a:picLocks noChangeAspect="1"/>
          </p:cNvPicPr>
          <p:nvPr userDrawn="1"/>
        </p:nvPicPr>
        <p:blipFill rotWithShape="1">
          <a:blip r:embed="rId13" cstate="print">
            <a:extLst>
              <a:ext uri="{28A0092B-C50C-407E-A947-70E740481C1C}">
                <a14:useLocalDpi xmlns:a14="http://schemas.microsoft.com/office/drawing/2010/main" val="0"/>
              </a:ext>
            </a:extLst>
          </a:blip>
          <a:srcRect t="24274" b="21556"/>
          <a:stretch/>
        </p:blipFill>
        <p:spPr>
          <a:xfrm>
            <a:off x="0" y="0"/>
            <a:ext cx="11430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58.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80.png"/></Relationships>
</file>

<file path=ppt/slides/_rels/slide5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71.xml.rels><?xml version="1.0" encoding="UTF-8" standalone="yes"?>
<Relationships xmlns="http://schemas.openxmlformats.org/package/2006/relationships"><Relationship Id="rId3"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7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oleObject" Target="../embeddings/oleObject2.bin"/></Relationships>
</file>

<file path=ppt/slides/_rels/slide7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oleObject" Target="../embeddings/oleObject2.bin"/></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hyperlink" Target="https://youtu.be/YSwmpAmLV2s" TargetMode="External"/><Relationship Id="rId13" Type="http://schemas.openxmlformats.org/officeDocument/2006/relationships/hyperlink" Target="https://youtu.be/ohquDY3fZqk" TargetMode="External"/><Relationship Id="rId3" Type="http://schemas.openxmlformats.org/officeDocument/2006/relationships/hyperlink" Target="https://youtu.be/izT2QpldbnU" TargetMode="External"/><Relationship Id="rId7" Type="http://schemas.openxmlformats.org/officeDocument/2006/relationships/hyperlink" Target="https://youtu.be/_Qlxt0HmuOo" TargetMode="External"/><Relationship Id="rId12" Type="http://schemas.openxmlformats.org/officeDocument/2006/relationships/hyperlink" Target="https://youtu.be/zmyh7nCjmsg" TargetMode="External"/><Relationship Id="rId2" Type="http://schemas.openxmlformats.org/officeDocument/2006/relationships/hyperlink" Target="https://youtu.be/6pZXCcoeYiU" TargetMode="External"/><Relationship Id="rId1" Type="http://schemas.openxmlformats.org/officeDocument/2006/relationships/slideLayout" Target="../slideLayouts/slideLayout2.xml"/><Relationship Id="rId6" Type="http://schemas.openxmlformats.org/officeDocument/2006/relationships/hyperlink" Target="https://youtu.be/n9qpktdFfLU" TargetMode="External"/><Relationship Id="rId11" Type="http://schemas.openxmlformats.org/officeDocument/2006/relationships/hyperlink" Target="https://youtu.be/geB0A7CPGaQ" TargetMode="External"/><Relationship Id="rId5" Type="http://schemas.openxmlformats.org/officeDocument/2006/relationships/hyperlink" Target="https://youtu.be/L3wQw0wva3g" TargetMode="External"/><Relationship Id="rId15" Type="http://schemas.openxmlformats.org/officeDocument/2006/relationships/hyperlink" Target="https://youtu.be/q48uKU_KWas" TargetMode="External"/><Relationship Id="rId10" Type="http://schemas.openxmlformats.org/officeDocument/2006/relationships/hyperlink" Target="https://youtu.be/cQp_bJdxjWw" TargetMode="External"/><Relationship Id="rId4" Type="http://schemas.openxmlformats.org/officeDocument/2006/relationships/hyperlink" Target="https://youtu.be/UaLNsZQK8fo" TargetMode="External"/><Relationship Id="rId9" Type="http://schemas.openxmlformats.org/officeDocument/2006/relationships/hyperlink" Target="https://youtu.be/KLnGOL_AUgA" TargetMode="External"/><Relationship Id="rId14" Type="http://schemas.openxmlformats.org/officeDocument/2006/relationships/hyperlink" Target="https://youtu.be/izGZLnB-mEo" TargetMode="External"/></Relationships>
</file>

<file path=ppt/slides/_rels/slide7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oleObject" Target="../embeddings/oleObject2.bin"/></Relationships>
</file>

<file path=ppt/slides/_rels/slide8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oleObject" Target="../embeddings/oleObject2.bin"/></Relationships>
</file>

<file path=ppt/slides/_rels/slide84.xml.rels><?xml version="1.0" encoding="UTF-8" standalone="yes"?>
<Relationships xmlns="http://schemas.openxmlformats.org/package/2006/relationships"><Relationship Id="rId3"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7620000" cy="742948"/>
          </a:xfrm>
        </p:spPr>
        <p:style>
          <a:lnRef idx="1">
            <a:schemeClr val="accent5"/>
          </a:lnRef>
          <a:fillRef idx="2">
            <a:schemeClr val="accent5"/>
          </a:fillRef>
          <a:effectRef idx="1">
            <a:schemeClr val="accent5"/>
          </a:effectRef>
          <a:fontRef idx="minor">
            <a:schemeClr val="dk1"/>
          </a:fontRef>
        </p:style>
        <p:txBody>
          <a:bodyPr>
            <a:noAutofit/>
          </a:bodyPr>
          <a:lstStyle/>
          <a:p>
            <a:r>
              <a:rPr lang="en-US" b="1" dirty="0" err="1"/>
              <a:t>Noida</a:t>
            </a:r>
            <a:r>
              <a:rPr lang="en-US" b="1" dirty="0"/>
              <a:t> Institute of Engineering and Technology, Greater </a:t>
            </a:r>
            <a:r>
              <a:rPr lang="en-US" b="1" dirty="0" err="1"/>
              <a:t>Noida</a:t>
            </a:r>
            <a:endParaRPr lang="en-US" b="1" dirty="0"/>
          </a:p>
        </p:txBody>
      </p:sp>
      <p:sp>
        <p:nvSpPr>
          <p:cNvPr id="6" name="Subtitle 2"/>
          <p:cNvSpPr txBox="1">
            <a:spLocks/>
          </p:cNvSpPr>
          <p:nvPr/>
        </p:nvSpPr>
        <p:spPr>
          <a:xfrm>
            <a:off x="5249414" y="3200400"/>
            <a:ext cx="3437386" cy="1050154"/>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chor="t">
            <a:normAutofit/>
          </a:bodyPr>
          <a:lstStyle/>
          <a:p>
            <a:pPr lvl="0" algn="ctr">
              <a:spcBef>
                <a:spcPct val="20000"/>
              </a:spcBef>
              <a:defRPr/>
            </a:pPr>
            <a:r>
              <a:rPr lang="en-US" sz="2200" dirty="0">
                <a:solidFill>
                  <a:schemeClr val="tx1"/>
                </a:solidFill>
              </a:rPr>
              <a:t>Dr. Lokesh </a:t>
            </a:r>
            <a:r>
              <a:rPr lang="en-US" sz="2200" dirty="0" err="1">
                <a:solidFill>
                  <a:schemeClr val="tx1"/>
                </a:solidFill>
              </a:rPr>
              <a:t>chaudhary</a:t>
            </a:r>
            <a:endParaRPr lang="en-US" sz="2200" dirty="0">
              <a:solidFill>
                <a:schemeClr val="tx1"/>
              </a:solidFill>
            </a:endParaRPr>
          </a:p>
          <a:p>
            <a:pPr lvl="0">
              <a:spcBef>
                <a:spcPct val="20000"/>
              </a:spcBef>
              <a:defRPr/>
            </a:pPr>
            <a:r>
              <a:rPr lang="en-US" sz="2200" dirty="0">
                <a:solidFill>
                  <a:schemeClr val="tx1"/>
                </a:solidFill>
              </a:rPr>
              <a:t>Department of Mathematics</a:t>
            </a:r>
          </a:p>
        </p:txBody>
      </p:sp>
      <p:pic>
        <p:nvPicPr>
          <p:cNvPr id="11" name="Picture 4" descr="C:\Users\Manks\Downloads\speak.png"/>
          <p:cNvPicPr>
            <a:picLocks noChangeAspect="1" noChangeArrowheads="1"/>
          </p:cNvPicPr>
          <p:nvPr/>
        </p:nvPicPr>
        <p:blipFill>
          <a:blip r:embed="rId3" cstate="print"/>
          <a:srcRect/>
          <a:stretch>
            <a:fillRect/>
          </a:stretch>
        </p:blipFill>
        <p:spPr bwMode="auto">
          <a:xfrm>
            <a:off x="6400800" y="2133600"/>
            <a:ext cx="1143000" cy="1143000"/>
          </a:xfrm>
          <a:prstGeom prst="rect">
            <a:avLst/>
          </a:prstGeom>
          <a:noFill/>
        </p:spPr>
      </p:pic>
      <p:sp>
        <p:nvSpPr>
          <p:cNvPr id="12" name="Subtitle 2"/>
          <p:cNvSpPr txBox="1">
            <a:spLocks/>
          </p:cNvSpPr>
          <p:nvPr/>
        </p:nvSpPr>
        <p:spPr>
          <a:xfrm>
            <a:off x="914400" y="2438400"/>
            <a:ext cx="1543050" cy="400050"/>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lgn="ctr">
              <a:spcBef>
                <a:spcPct val="20000"/>
              </a:spcBef>
              <a:defRPr/>
            </a:pPr>
            <a:r>
              <a:rPr lang="en-US" sz="2200" dirty="0">
                <a:solidFill>
                  <a:schemeClr val="tx1"/>
                </a:solidFill>
              </a:rPr>
              <a:t>Module 4</a:t>
            </a:r>
          </a:p>
        </p:txBody>
      </p:sp>
      <p:sp>
        <p:nvSpPr>
          <p:cNvPr id="14" name="Subtitle 2"/>
          <p:cNvSpPr txBox="1">
            <a:spLocks/>
          </p:cNvSpPr>
          <p:nvPr/>
        </p:nvSpPr>
        <p:spPr>
          <a:xfrm>
            <a:off x="906012" y="3200400"/>
            <a:ext cx="3437388" cy="1225507"/>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Name: Statistics and Probability</a:t>
            </a:r>
          </a:p>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Code: BAS0303N</a:t>
            </a:r>
          </a:p>
        </p:txBody>
      </p:sp>
      <p:sp>
        <p:nvSpPr>
          <p:cNvPr id="16" name="Footer Placeholder 12"/>
          <p:cNvSpPr txBox="1">
            <a:spLocks/>
          </p:cNvSpPr>
          <p:nvPr/>
        </p:nvSpPr>
        <p:spPr>
          <a:xfrm>
            <a:off x="2914650" y="5612607"/>
            <a:ext cx="3771900" cy="273844"/>
          </a:xfrm>
          <a:prstGeom prst="rect">
            <a:avLst/>
          </a:prstGeom>
        </p:spPr>
        <p:txBody>
          <a:bodyPr vert="horz" lIns="68580" tIns="34290" rIns="68580" bIns="34290" rtlCol="0" anchor="ctr"/>
          <a:lstStyle/>
          <a:p>
            <a:pPr algn="ctr">
              <a:defRPr/>
            </a:pPr>
            <a:endParaRPr lang="en-US" sz="900" dirty="0">
              <a:solidFill>
                <a:schemeClr val="tx1">
                  <a:tint val="75000"/>
                </a:schemeClr>
              </a:solidFill>
            </a:endParaRPr>
          </a:p>
        </p:txBody>
      </p:sp>
      <p:sp>
        <p:nvSpPr>
          <p:cNvPr id="4" name="Footer Placeholder 3"/>
          <p:cNvSpPr>
            <a:spLocks noGrp="1"/>
          </p:cNvSpPr>
          <p:nvPr>
            <p:ph type="ftr" sz="quarter" idx="11"/>
          </p:nvPr>
        </p:nvSpPr>
        <p:spPr>
          <a:xfrm>
            <a:off x="3028950" y="5794773"/>
            <a:ext cx="3200400" cy="411956"/>
          </a:xfrm>
        </p:spPr>
        <p:txBody>
          <a:bodyPr/>
          <a:lstStyle/>
          <a:p>
            <a:r>
              <a:rPr lang="en-US" b="1"/>
              <a:t>Dr. Lokesh chaudhary    Statistics and Probability     Module 4</a:t>
            </a:r>
            <a:endParaRPr lang="en-US" b="1" dirty="0"/>
          </a:p>
        </p:txBody>
      </p:sp>
      <p:sp>
        <p:nvSpPr>
          <p:cNvPr id="18" name="Subtitle 2"/>
          <p:cNvSpPr txBox="1">
            <a:spLocks/>
          </p:cNvSpPr>
          <p:nvPr/>
        </p:nvSpPr>
        <p:spPr>
          <a:xfrm>
            <a:off x="959698" y="4809423"/>
            <a:ext cx="2393102" cy="524577"/>
          </a:xfrm>
          <a:prstGeom prst="rect">
            <a:avLst/>
          </a:prstGeom>
        </p:spPr>
        <p:style>
          <a:lnRef idx="2">
            <a:schemeClr val="accent5"/>
          </a:lnRef>
          <a:fillRef idx="1">
            <a:schemeClr val="lt1"/>
          </a:fillRef>
          <a:effectRef idx="0">
            <a:schemeClr val="accent5"/>
          </a:effectRef>
          <a:fontRef idx="minor">
            <a:schemeClr val="dk1"/>
          </a:fontRef>
        </p:style>
        <p:txBody>
          <a:bodyPr vert="horz" lIns="51435" tIns="25718" rIns="51435" bIns="25718" rtlCol="0">
            <a:normAutofit/>
          </a:bodyPr>
          <a:lstStyle/>
          <a:p>
            <a:pPr algn="ctr">
              <a:spcBef>
                <a:spcPct val="20000"/>
              </a:spcBef>
              <a:defRPr/>
            </a:pPr>
            <a:r>
              <a:rPr lang="en-US" sz="2200" dirty="0">
                <a:solidFill>
                  <a:schemeClr val="tx1"/>
                </a:solidFill>
                <a:latin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B Tech 3</a:t>
            </a:r>
            <a:r>
              <a:rPr lang="en-US" sz="2200" baseline="30000" dirty="0">
                <a:solidFill>
                  <a:schemeClr val="tx1"/>
                </a:solidFill>
                <a:latin typeface="Times New Roman" panose="02020603050405020304" pitchFamily="18" charset="0"/>
                <a:cs typeface="Times New Roman" panose="02020603050405020304" pitchFamily="18" charset="0"/>
              </a:rPr>
              <a:t>rd</a:t>
            </a:r>
            <a:r>
              <a:rPr lang="en-US" sz="2200" dirty="0">
                <a:solidFill>
                  <a:schemeClr val="tx1"/>
                </a:solidFill>
                <a:latin typeface="Times New Roman" panose="02020603050405020304" pitchFamily="18" charset="0"/>
                <a:cs typeface="Times New Roman" panose="02020603050405020304" pitchFamily="18" charset="0"/>
              </a:rPr>
              <a:t> Sem</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
        <p:nvSpPr>
          <p:cNvPr id="15" name="Subtitle 2"/>
          <p:cNvSpPr>
            <a:spLocks noGrp="1"/>
          </p:cNvSpPr>
          <p:nvPr>
            <p:ph type="subTitle" idx="1"/>
          </p:nvPr>
        </p:nvSpPr>
        <p:spPr>
          <a:xfrm>
            <a:off x="2060864" y="1371600"/>
            <a:ext cx="5562600" cy="542947"/>
          </a:xfrm>
        </p:spPr>
        <p:style>
          <a:lnRef idx="2">
            <a:schemeClr val="accent5"/>
          </a:lnRef>
          <a:fillRef idx="1">
            <a:schemeClr val="lt1"/>
          </a:fillRef>
          <a:effectRef idx="0">
            <a:schemeClr val="accent5"/>
          </a:effectRef>
          <a:fontRef idx="minor">
            <a:schemeClr val="dk1"/>
          </a:fontRef>
        </p:style>
        <p:txBody>
          <a:bodyPr>
            <a:normAutofit fontScale="92500"/>
          </a:bodyPr>
          <a:lstStyle/>
          <a:p>
            <a:r>
              <a:rPr lang="en-US" sz="2400" b="1" dirty="0">
                <a:solidFill>
                  <a:schemeClr val="tx1"/>
                </a:solidFill>
              </a:rPr>
              <a:t>Expectations and Probability Distribution</a:t>
            </a:r>
          </a:p>
        </p:txBody>
      </p:sp>
    </p:spTree>
    <p:extLst>
      <p:ext uri="{BB962C8B-B14F-4D97-AF65-F5344CB8AC3E}">
        <p14:creationId xmlns:p14="http://schemas.microsoft.com/office/powerpoint/2010/main" val="1678096890"/>
      </p:ext>
    </p:extLst>
  </p:cSld>
  <p:clrMapOvr>
    <a:masterClrMapping/>
  </p:clrMapOvr>
  <p:transition spd="med" advTm="2000">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 4</a:t>
            </a:r>
            <a:endParaRPr lang="en-US" dirty="0"/>
          </a:p>
        </p:txBody>
      </p:sp>
      <p:sp>
        <p:nvSpPr>
          <p:cNvPr id="2" name="Content Placeholder 1"/>
          <p:cNvSpPr>
            <a:spLocks noGrp="1"/>
          </p:cNvSpPr>
          <p:nvPr>
            <p:ph idx="1"/>
          </p:nvPr>
        </p:nvSpPr>
        <p:spPr>
          <a:xfrm>
            <a:off x="457200" y="1143000"/>
            <a:ext cx="8229600" cy="5137150"/>
          </a:xfrm>
        </p:spPr>
        <p:txBody>
          <a:bodyPr>
            <a:noAutofit/>
          </a:bodyPr>
          <a:lstStyle/>
          <a:p>
            <a:pPr marL="0" indent="0" algn="just">
              <a:buNone/>
            </a:pPr>
            <a:r>
              <a:rPr lang="en-US" sz="2000" b="1" dirty="0">
                <a:ea typeface="Times New Roman" pitchFamily="18" charset="0"/>
              </a:rPr>
              <a:t>Module 1: (</a:t>
            </a:r>
            <a:r>
              <a:rPr lang="en-US" sz="2000" b="1" dirty="0">
                <a:ea typeface="Calibri" panose="020F0502020204030204" pitchFamily="34" charset="0"/>
              </a:rPr>
              <a:t>Statistical Techniques-I)</a:t>
            </a:r>
            <a:endParaRPr lang="en-US" sz="2000" b="1" dirty="0">
              <a:ea typeface="Times New Roman" panose="02020603050405020304" pitchFamily="18" charset="0"/>
            </a:endParaRPr>
          </a:p>
          <a:p>
            <a:pPr marL="0" indent="0" algn="just">
              <a:buNone/>
            </a:pPr>
            <a:r>
              <a:rPr lang="en-US" sz="2000" dirty="0"/>
              <a:t>Introduction: Measures of central tendency: Mean, Median, Mode, Standard deviation, Quartile deviation, Moment, Skewness, Kurtosis.</a:t>
            </a:r>
            <a:endParaRPr lang="en-US" sz="2000" dirty="0">
              <a:ea typeface="Calibri" panose="020F0502020204030204" pitchFamily="34" charset="0"/>
            </a:endParaRPr>
          </a:p>
          <a:p>
            <a:pPr marL="0" indent="0" algn="just">
              <a:buNone/>
            </a:pPr>
            <a:r>
              <a:rPr lang="en-US" sz="2000" b="1" dirty="0">
                <a:ea typeface="Times New Roman" panose="02020603050405020304" pitchFamily="18" charset="0"/>
              </a:rPr>
              <a:t>Module 2: (</a:t>
            </a:r>
            <a:r>
              <a:rPr lang="en-US" sz="2000" b="1" dirty="0">
                <a:ea typeface="Calibri" panose="020F0502020204030204" pitchFamily="34" charset="0"/>
              </a:rPr>
              <a:t>Statistical Techniques-II)</a:t>
            </a:r>
          </a:p>
          <a:p>
            <a:pPr marL="0" indent="0" algn="just">
              <a:buNone/>
            </a:pPr>
            <a:r>
              <a:rPr lang="en-US" sz="2000" dirty="0"/>
              <a:t>Curve Fitting, Method of least squares, fitting of straight lines, Fitting of second-degree parabola, Exponential curves, Correlation and Rank correlation, Linear regression, nonlinear regression and multiple linear regression.</a:t>
            </a:r>
          </a:p>
          <a:p>
            <a:pPr marL="0" indent="0">
              <a:buNone/>
            </a:pPr>
            <a:r>
              <a:rPr lang="en-US" sz="2000" b="1" dirty="0">
                <a:ea typeface="Times New Roman" panose="02020603050405020304" pitchFamily="18" charset="0"/>
              </a:rPr>
              <a:t>Module 3: (</a:t>
            </a:r>
            <a:r>
              <a:rPr lang="en-US" sz="2000" b="1" dirty="0">
                <a:ea typeface="Calibri" panose="020F0502020204030204" pitchFamily="34" charset="0"/>
              </a:rPr>
              <a:t>Probability and Random Variable) </a:t>
            </a:r>
          </a:p>
          <a:p>
            <a:pPr marL="0" indent="0">
              <a:buNone/>
            </a:pPr>
            <a:r>
              <a:rPr lang="en-US" sz="2000" dirty="0"/>
              <a:t>Random Variable: Definition of a Random Variable, Discrete Random Variable, Continuous Random Variable, Probability mass function, Probability Density Function, Distribution functions. </a:t>
            </a:r>
          </a:p>
          <a:p>
            <a:pPr marL="0" indent="0">
              <a:buNone/>
            </a:pPr>
            <a:r>
              <a:rPr lang="en-US" sz="2000" dirty="0"/>
              <a:t>Multiple Random Variables:  Joint density and distribution Function, Properties of Joint Distribution function, Marginal density Functions, Conditional Distribution and Density, Statistical Independence, Central Limit Theorem (Proof not expected).</a:t>
            </a:r>
          </a:p>
        </p:txBody>
      </p:sp>
    </p:spTree>
    <p:extLst>
      <p:ext uri="{BB962C8B-B14F-4D97-AF65-F5344CB8AC3E}">
        <p14:creationId xmlns:p14="http://schemas.microsoft.com/office/powerpoint/2010/main" val="78481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 4</a:t>
            </a:r>
            <a:endParaRPr lang="en-US" dirty="0"/>
          </a:p>
        </p:txBody>
      </p:sp>
      <p:sp>
        <p:nvSpPr>
          <p:cNvPr id="2" name="Content Placeholder 1"/>
          <p:cNvSpPr>
            <a:spLocks noGrp="1"/>
          </p:cNvSpPr>
          <p:nvPr>
            <p:ph idx="1"/>
          </p:nvPr>
        </p:nvSpPr>
        <p:spPr/>
        <p:txBody>
          <a:bodyPr>
            <a:normAutofit/>
          </a:bodyPr>
          <a:lstStyle/>
          <a:p>
            <a:pPr marL="0" indent="0" algn="just">
              <a:buNone/>
            </a:pPr>
            <a:r>
              <a:rPr lang="en-IN" sz="2000" b="1" dirty="0">
                <a:solidFill>
                  <a:srgbClr val="000000"/>
                </a:solidFill>
                <a:ea typeface="Times New Roman" panose="02020603050405020304" pitchFamily="18" charset="0"/>
              </a:rPr>
              <a:t>Module 4: (</a:t>
            </a:r>
            <a:r>
              <a:rPr lang="en-US" sz="2000" b="1" dirty="0">
                <a:ea typeface="Calibri" panose="020F0502020204030204" pitchFamily="34" charset="0"/>
              </a:rPr>
              <a:t>Expectations and Probability Distribution)</a:t>
            </a:r>
            <a:endParaRPr lang="en-IN" sz="2000" b="1" dirty="0">
              <a:solidFill>
                <a:srgbClr val="000000"/>
              </a:solidFill>
              <a:ea typeface="Times New Roman" panose="02020603050405020304" pitchFamily="18" charset="0"/>
            </a:endParaRPr>
          </a:p>
          <a:p>
            <a:pPr marL="0" indent="0" algn="just">
              <a:buNone/>
            </a:pPr>
            <a:r>
              <a:rPr lang="en-US" sz="2000" dirty="0"/>
              <a:t>Expectations of single Random Variable, Mean, Variance, Moment Generating Function, Binomial, Poisson, Normal, Exponential distribution.</a:t>
            </a:r>
          </a:p>
          <a:p>
            <a:pPr marL="0" indent="0" algn="just">
              <a:buNone/>
            </a:pPr>
            <a:r>
              <a:rPr lang="en-US" sz="2000" b="1" dirty="0">
                <a:ea typeface="Calibri" panose="020F0502020204030204" pitchFamily="34" charset="0"/>
              </a:rPr>
              <a:t>Module 5: (</a:t>
            </a:r>
            <a:r>
              <a:rPr lang="en-US" sz="2000" b="1" dirty="0"/>
              <a:t>Hypothesis Tests and Control Charts</a:t>
            </a:r>
            <a:r>
              <a:rPr lang="en-US" sz="2000" b="1" dirty="0">
                <a:ea typeface="Calibri" panose="020F0502020204030204" pitchFamily="34" charset="0"/>
              </a:rPr>
              <a:t>)</a:t>
            </a:r>
          </a:p>
          <a:p>
            <a:pPr marL="0" indent="0">
              <a:buNone/>
            </a:pPr>
            <a:r>
              <a:rPr lang="en-US" sz="2000" dirty="0"/>
              <a:t>Testing a Hypothesis, Null hypothesis, Alternative hypothesis, Level of significance, Confidence limits, Test of significance of difference of means, Z-test, t-test and Chi-square test, F-test, One way ANOVA.</a:t>
            </a:r>
          </a:p>
          <a:p>
            <a:pPr marL="0" indent="0">
              <a:buNone/>
            </a:pPr>
            <a:r>
              <a:rPr lang="en-US" sz="2000" dirty="0"/>
              <a:t>Statistical Quality Control (SQC), Control Charts, Control Charts for variables (Mean and Range Charts), Control Charts for Variables (p, np and C charts).</a:t>
            </a:r>
            <a:endParaRPr lang="en-US" sz="2000" dirty="0">
              <a:ea typeface="Calibri" panose="020F0502020204030204" pitchFamily="34" charset="0"/>
            </a:endParaRPr>
          </a:p>
          <a:p>
            <a:pPr marL="0" indent="0" algn="just">
              <a:buNone/>
            </a:pPr>
            <a:endParaRPr lang="en-IN" sz="2000" b="1" dirty="0">
              <a:solidFill>
                <a:srgbClr val="000000"/>
              </a:solidFill>
              <a:ea typeface="Times New Roman" panose="02020603050405020304" pitchFamily="18" charset="0"/>
            </a:endParaRPr>
          </a:p>
        </p:txBody>
      </p:sp>
    </p:spTree>
    <p:extLst>
      <p:ext uri="{BB962C8B-B14F-4D97-AF65-F5344CB8AC3E}">
        <p14:creationId xmlns:p14="http://schemas.microsoft.com/office/powerpoint/2010/main" val="89641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v"/>
            </a:pPr>
            <a:r>
              <a:rPr lang="en-US" sz="2200" dirty="0">
                <a:latin typeface="Times New Roman" panose="02020603050405020304" pitchFamily="18" charset="0"/>
                <a:cs typeface="Times New Roman" panose="02020603050405020304" pitchFamily="18" charset="0"/>
              </a:rPr>
              <a:t>Data Analysis</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Artificial intelligence</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Network and Traffic modeling</a:t>
            </a:r>
            <a:endParaRPr lang="en-US" sz="2200" dirty="0">
              <a:latin typeface="Times New Roman" panose="02020603050405020304" pitchFamily="18" charset="0"/>
              <a:cs typeface="Times New Roman" panose="02020603050405020304" pitchFamily="18" charset="0"/>
            </a:endParaRPr>
          </a:p>
          <a:p>
            <a:pPr>
              <a:buFont typeface="Wingdings" pitchFamily="2" charset="2"/>
              <a:buChar char="v"/>
            </a:pPr>
            <a:endParaRPr lang="en-US" sz="2200" dirty="0">
              <a:effectLst/>
            </a:endParaRP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 Wise Application </a:t>
            </a:r>
          </a:p>
        </p:txBody>
      </p:sp>
    </p:spTree>
    <p:extLst>
      <p:ext uri="{BB962C8B-B14F-4D97-AF65-F5344CB8AC3E}">
        <p14:creationId xmlns:p14="http://schemas.microsoft.com/office/powerpoint/2010/main" val="2109429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70000" lnSpcReduction="20000"/>
          </a:bodyPr>
          <a:lstStyle/>
          <a:p>
            <a:pPr algn="just"/>
            <a:r>
              <a:rPr lang="en-US" dirty="0"/>
              <a:t>The objective of this course is to familiarize the students with concepts of Probability and statistical techniques. It aims to equip the students with adequate Knowledge of statistics that will enable them in formulating Problems and solving problems analytically.</a:t>
            </a:r>
            <a:endParaRPr lang="en-US" dirty="0">
              <a:ea typeface="Calibri" panose="020F0502020204030204" pitchFamily="34" charset="0"/>
            </a:endParaRPr>
          </a:p>
          <a:p>
            <a:pPr marL="0" indent="0" algn="just">
              <a:buNone/>
            </a:pPr>
            <a:r>
              <a:rPr lang="en-US" dirty="0"/>
              <a:t>     The students will learn: </a:t>
            </a:r>
          </a:p>
          <a:p>
            <a:r>
              <a:rPr lang="en-US" dirty="0">
                <a:ea typeface="Calibri" panose="020F0502020204030204" pitchFamily="34" charset="0"/>
              </a:rPr>
              <a:t>Understand the concept of correlation, moments, skewness and kurtosis and curve fitting.</a:t>
            </a:r>
          </a:p>
          <a:p>
            <a:r>
              <a:rPr lang="en-US" dirty="0">
                <a:ea typeface="Calibri" panose="020F0502020204030204" pitchFamily="34" charset="0"/>
              </a:rPr>
              <a:t>Apply the concept of hypothesis testing and statistical quality control to create control charts.</a:t>
            </a:r>
          </a:p>
          <a:p>
            <a:r>
              <a:rPr lang="en-US" dirty="0">
                <a:ea typeface="Calibri" panose="020F0502020204030204" pitchFamily="34" charset="0"/>
              </a:rPr>
              <a:t>Remember the concept of probability to evaluate probability distributions. </a:t>
            </a:r>
          </a:p>
          <a:p>
            <a:r>
              <a:rPr lang="en-US" dirty="0">
                <a:ea typeface="Calibri" panose="020F0502020204030204" pitchFamily="34" charset="0"/>
              </a:rPr>
              <a:t>Understand the concept of Mathematical Expectations and Probability Distribution.</a:t>
            </a: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Objectives</a:t>
            </a:r>
          </a:p>
        </p:txBody>
      </p:sp>
    </p:spTree>
    <p:extLst>
      <p:ext uri="{BB962C8B-B14F-4D97-AF65-F5344CB8AC3E}">
        <p14:creationId xmlns:p14="http://schemas.microsoft.com/office/powerpoint/2010/main" val="273942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CO1: Apply the concept of moments, skewness and kurtosis in relevant field.</a:t>
            </a:r>
          </a:p>
          <a:p>
            <a:pPr marL="0" indent="0">
              <a:buNone/>
            </a:pPr>
            <a:r>
              <a:rPr lang="en-US" sz="2200" dirty="0"/>
              <a:t>CO2: Apply the concept of correlation, regression and curve fitting with real world problems.</a:t>
            </a:r>
          </a:p>
          <a:p>
            <a:pPr marL="0" indent="0">
              <a:buNone/>
            </a:pPr>
            <a:r>
              <a:rPr lang="en-US" sz="2200" dirty="0"/>
              <a:t>CO3: Apply the concept of probability and random variable.</a:t>
            </a:r>
          </a:p>
          <a:p>
            <a:pPr marL="0" indent="0">
              <a:buNone/>
            </a:pPr>
            <a:r>
              <a:rPr lang="en-US" sz="2200" b="1" dirty="0"/>
              <a:t>CO4: Apply the concept of Mathematical Expectations and Probability Distribution in real life problems.</a:t>
            </a:r>
          </a:p>
          <a:p>
            <a:pPr marL="0" indent="0">
              <a:buNone/>
            </a:pPr>
            <a:r>
              <a:rPr lang="en-US" sz="2200" dirty="0"/>
              <a:t>CO5: Apply the concept of hypothesis testing and statistical quality control to create control charts.</a:t>
            </a:r>
          </a:p>
          <a:p>
            <a:pPr marL="0" indent="0">
              <a:buNone/>
            </a:pPr>
            <a:endParaRPr lang="en-US" sz="2200" dirty="0"/>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Outcomes</a:t>
            </a:r>
          </a:p>
        </p:txBody>
      </p:sp>
    </p:spTree>
    <p:extLst>
      <p:ext uri="{BB962C8B-B14F-4D97-AF65-F5344CB8AC3E}">
        <p14:creationId xmlns:p14="http://schemas.microsoft.com/office/powerpoint/2010/main" val="1966067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
            </a:pPr>
            <a:r>
              <a:rPr lang="en-US" sz="2200" dirty="0"/>
              <a:t>Knowledge of </a:t>
            </a:r>
            <a:r>
              <a:rPr lang="en-US" sz="2200" dirty="0" err="1"/>
              <a:t>Maths</a:t>
            </a:r>
            <a:r>
              <a:rPr lang="en-US" sz="2200" dirty="0"/>
              <a:t> 1 B.Tech.</a:t>
            </a:r>
          </a:p>
          <a:p>
            <a:pPr>
              <a:buFont typeface="Wingdings" pitchFamily="2" charset="2"/>
              <a:buChar char="§"/>
            </a:pPr>
            <a:r>
              <a:rPr lang="en-US" sz="2200" dirty="0"/>
              <a:t>Knowledge of  </a:t>
            </a:r>
            <a:r>
              <a:rPr lang="en-US" sz="2200" dirty="0" err="1"/>
              <a:t>Maths</a:t>
            </a:r>
            <a:r>
              <a:rPr lang="en-US" sz="2200" dirty="0"/>
              <a:t> 2 B.Tech.</a:t>
            </a:r>
          </a:p>
          <a:p>
            <a:pPr>
              <a:buFont typeface="Wingdings" pitchFamily="2" charset="2"/>
              <a:buChar char="§"/>
            </a:pPr>
            <a:r>
              <a:rPr lang="en-US" sz="2200" dirty="0"/>
              <a:t>Knowledge of  Permutation and Combination.</a:t>
            </a:r>
          </a:p>
          <a:p>
            <a:pPr marL="0" indent="0">
              <a:buNone/>
            </a:pPr>
            <a:endParaRPr lang="en-US" sz="2200" dirty="0"/>
          </a:p>
          <a:p>
            <a:pPr>
              <a:buFont typeface="Wingdings" pitchFamily="2" charset="2"/>
              <a:buChar char="§"/>
            </a:pPr>
            <a:endParaRPr lang="en-US" sz="2200" dirty="0"/>
          </a:p>
          <a:p>
            <a:pPr marL="0" indent="0">
              <a:buNone/>
            </a:pPr>
            <a:endParaRPr lang="en-US" sz="2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524000" y="-32657"/>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Prerequisite</a:t>
            </a:r>
          </a:p>
        </p:txBody>
      </p:sp>
      <p:sp>
        <p:nvSpPr>
          <p:cNvPr id="2" name="Footer Placeholder 1"/>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5675745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305800" cy="5181600"/>
          </a:xfrm>
        </p:spPr>
        <p:txBody>
          <a:bodyPr>
            <a:noAutofit/>
          </a:bodyPr>
          <a:lstStyle/>
          <a:p>
            <a:pPr marL="457200" indent="-457200" algn="just">
              <a:buAutoNum type="arabicPeriod"/>
            </a:pPr>
            <a:r>
              <a:rPr lang="en-US" sz="2200" dirty="0"/>
              <a:t>A basic knowledge in </a:t>
            </a:r>
            <a:r>
              <a:rPr lang="en-US" sz="2200" b="1" dirty="0"/>
              <a:t>probability theory</a:t>
            </a:r>
            <a:r>
              <a:rPr lang="en-US" sz="2200" dirty="0"/>
              <a:t>.</a:t>
            </a:r>
          </a:p>
          <a:p>
            <a:pPr marL="457200" indent="-457200" algn="just">
              <a:buAutoNum type="arabicPeriod"/>
            </a:pPr>
            <a:r>
              <a:rPr lang="en-US" sz="2200" dirty="0"/>
              <a:t>The student is able to reflect developed mathematical methods in </a:t>
            </a:r>
            <a:r>
              <a:rPr lang="en-US" sz="2200" b="1" dirty="0"/>
              <a:t>probability</a:t>
            </a:r>
            <a:r>
              <a:rPr lang="en-US" sz="2200" dirty="0"/>
              <a:t> and </a:t>
            </a:r>
            <a:r>
              <a:rPr lang="en-US" sz="2200" b="1" dirty="0"/>
              <a:t>statistics</a:t>
            </a:r>
            <a:r>
              <a:rPr lang="en-US" sz="2200" dirty="0"/>
              <a:t>.</a:t>
            </a:r>
          </a:p>
          <a:p>
            <a:pPr marL="457200" indent="-457200" algn="just">
              <a:buAutoNum type="arabicPeriod"/>
            </a:pPr>
            <a:r>
              <a:rPr lang="en-US" sz="2200" dirty="0"/>
              <a:t>Understand the concept of Probability and its usage in various business applications.</a:t>
            </a:r>
          </a:p>
          <a:p>
            <a:pPr marL="457200" indent="-457200" algn="just">
              <a:buFont typeface="Arial" pitchFamily="34" charset="0"/>
              <a:buAutoNum type="arabicPeriod"/>
            </a:pPr>
            <a:r>
              <a:rPr lang="en-US" sz="2200" dirty="0"/>
              <a:t>The </a:t>
            </a:r>
            <a:r>
              <a:rPr lang="en-US" sz="2200" b="1" dirty="0"/>
              <a:t>binomial distribution</a:t>
            </a:r>
            <a:r>
              <a:rPr lang="en-US" sz="2200" dirty="0"/>
              <a:t> model allows us to compute the </a:t>
            </a:r>
            <a:r>
              <a:rPr lang="en-US" sz="2200" b="1" dirty="0"/>
              <a:t>probability</a:t>
            </a:r>
            <a:r>
              <a:rPr lang="en-US" sz="2200" dirty="0"/>
              <a:t> of observing a specified number of "successes" when the process is repeated a specific number of times</a:t>
            </a:r>
          </a:p>
          <a:p>
            <a:pPr marL="457200" indent="-457200" algn="just">
              <a:buFont typeface="Arial" pitchFamily="34" charset="0"/>
              <a:buAutoNum type="arabicPeriod"/>
            </a:pPr>
            <a:r>
              <a:rPr lang="en-US" sz="2200" b="1" dirty="0"/>
              <a:t>Poisson Distribution </a:t>
            </a:r>
            <a:r>
              <a:rPr lang="en-US" sz="2200" dirty="0"/>
              <a:t>is a tool that helps to predict the probability of certain events from happening when you know how often the event has occurred. </a:t>
            </a:r>
          </a:p>
          <a:p>
            <a:pPr marL="457200" indent="-457200" algn="just">
              <a:buFont typeface="Arial" pitchFamily="34" charset="0"/>
              <a:buAutoNum type="arabicPeriod"/>
            </a:pPr>
            <a:r>
              <a:rPr lang="en-US" sz="2200" dirty="0"/>
              <a:t>To learn the characteristics of a typical </a:t>
            </a:r>
            <a:r>
              <a:rPr lang="en-US" sz="2200" b="1" dirty="0"/>
              <a:t>normal curve</a:t>
            </a:r>
            <a:r>
              <a:rPr lang="en-US" sz="2200" dirty="0"/>
              <a:t>. </a:t>
            </a:r>
          </a:p>
          <a:p>
            <a:pPr algn="just">
              <a:buNone/>
            </a:pPr>
            <a:r>
              <a:rPr lang="en-US" sz="2200" dirty="0"/>
              <a:t>7. To explore the key properties, such as the moment-generating function, mean and variance, of a </a:t>
            </a:r>
            <a:r>
              <a:rPr lang="en-US" sz="2200" b="1" dirty="0"/>
              <a:t>normal</a:t>
            </a:r>
            <a:r>
              <a:rPr lang="en-US" sz="2200" dirty="0"/>
              <a:t> random variable.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8381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Module</a:t>
            </a:r>
            <a:r>
              <a:rPr kumimoji="0" lang="en-US" sz="2400" b="1" i="0" u="none" strike="noStrike" kern="1200" cap="none" spc="0" normalizeH="0" noProof="0" dirty="0">
                <a:ln>
                  <a:noFill/>
                </a:ln>
                <a:solidFill>
                  <a:schemeClr val="dk1"/>
                </a:solidFill>
                <a:effectLst/>
                <a:uLnTx/>
                <a:uFillTx/>
              </a:rPr>
              <a:t> Objective</a:t>
            </a:r>
            <a:r>
              <a:rPr lang="en-US" sz="2400" b="1" dirty="0">
                <a:solidFill>
                  <a:schemeClr val="tx1"/>
                </a:solidFill>
              </a:rPr>
              <a:t>(CO4) </a:t>
            </a:r>
            <a:endParaRPr kumimoji="0" lang="en-US" sz="2400" b="1" i="0" u="none" strike="noStrike" kern="1200" cap="none" spc="0" normalizeH="0" baseline="0" noProof="0" dirty="0">
              <a:ln>
                <a:noFill/>
              </a:ln>
              <a:solidFill>
                <a:schemeClr val="dk1"/>
              </a:solidFill>
              <a:effectLst/>
              <a:uLnTx/>
              <a:uFillTx/>
            </a:endParaRPr>
          </a:p>
        </p:txBody>
      </p:sp>
      <p:sp>
        <p:nvSpPr>
          <p:cNvPr id="5" name="Footer Placeholder 4">
            <a:extLst>
              <a:ext uri="{FF2B5EF4-FFF2-40B4-BE49-F238E27FC236}">
                <a16:creationId xmlns:a16="http://schemas.microsoft.com/office/drawing/2014/main" id="{87054504-2733-43BD-A488-7ABE7B473DBF}"/>
              </a:ext>
            </a:extLst>
          </p:cNvPr>
          <p:cNvSpPr>
            <a:spLocks noGrp="1"/>
          </p:cNvSpPr>
          <p:nvPr>
            <p:ph type="ftr" sz="quarter" idx="11"/>
          </p:nvPr>
        </p:nvSpPr>
        <p:spPr/>
        <p:txBody>
          <a:bodyPr/>
          <a:lstStyle/>
          <a:p>
            <a:r>
              <a:rPr lang="en-US"/>
              <a:t>Dr. Lokesh chaudhary    Statistics and Probability     Module 4</a:t>
            </a:r>
            <a:endParaRPr lang="en-US" dirty="0"/>
          </a:p>
        </p:txBody>
      </p:sp>
    </p:spTree>
  </p:cSld>
  <p:clrMapOvr>
    <a:masterClrMapping/>
  </p:clrMapOvr>
  <p:transition spd="med" advTm="2000">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4724400" cy="4724400"/>
          </a:xfrm>
        </p:spPr>
        <p:txBody>
          <a:bodyPr>
            <a:noAutofit/>
          </a:bodyPr>
          <a:lstStyle/>
          <a:p>
            <a:endParaRPr lang="en-US" sz="2200" dirty="0"/>
          </a:p>
          <a:p>
            <a:endParaRPr lang="en-US" sz="2200" dirty="0"/>
          </a:p>
          <a:p>
            <a:endParaRPr lang="en-US" sz="22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Module Content</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 4</a:t>
            </a:r>
            <a:endParaRPr lang="en-US" dirty="0"/>
          </a:p>
        </p:txBody>
      </p:sp>
      <p:sp>
        <p:nvSpPr>
          <p:cNvPr id="11" name="TextBox 10">
            <a:extLst>
              <a:ext uri="{FF2B5EF4-FFF2-40B4-BE49-F238E27FC236}">
                <a16:creationId xmlns:a16="http://schemas.microsoft.com/office/drawing/2014/main" id="{F58943FA-4C8A-4A0E-9BE4-589FF0524F89}"/>
              </a:ext>
            </a:extLst>
          </p:cNvPr>
          <p:cNvSpPr txBox="1"/>
          <p:nvPr/>
        </p:nvSpPr>
        <p:spPr>
          <a:xfrm>
            <a:off x="1219200" y="1737479"/>
            <a:ext cx="7162800" cy="3139321"/>
          </a:xfrm>
          <a:prstGeom prst="rect">
            <a:avLst/>
          </a:prstGeom>
          <a:noFill/>
        </p:spPr>
        <p:txBody>
          <a:bodyPr wrap="square">
            <a:spAutoFit/>
          </a:bodyPr>
          <a:lstStyle/>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Expectations: Introduction</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Expected Value of a Random Variable</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Mean, </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Variance, </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Moment Generating Function, </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Binomial, </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Poisson,  </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Normal, </a:t>
            </a:r>
          </a:p>
          <a:p>
            <a:pPr marL="342900" indent="-342900" algn="just">
              <a:buFont typeface="Arial" panose="020B0604020202020204" pitchFamily="34" charset="0"/>
              <a:buChar char="•"/>
            </a:pPr>
            <a:r>
              <a:rPr lang="en-US" sz="2200" dirty="0">
                <a:effectLst/>
                <a:ea typeface="Calibri" panose="020F0502020204030204" pitchFamily="34" charset="0"/>
                <a:cs typeface="Calibri" panose="020F0502020204030204" pitchFamily="34" charset="0"/>
              </a:rPr>
              <a:t>Exponential distribution.</a:t>
            </a:r>
            <a:endParaRPr lang="en-US" sz="2200" dirty="0">
              <a:effectLst/>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95413051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Mathematical expectation</a:t>
            </a:r>
          </a:p>
          <a:p>
            <a:r>
              <a:rPr lang="en-US" sz="2200" dirty="0"/>
              <a:t>To get a general understanding of the mathematical expectation of a discrete random variable.</a:t>
            </a:r>
          </a:p>
          <a:p>
            <a:r>
              <a:rPr lang="en-US" sz="2200" dirty="0"/>
              <a:t>To learn and be able to apply a shortcut formula for the variance of a discrete random variable. </a:t>
            </a:r>
          </a:p>
          <a:p>
            <a:r>
              <a:rPr lang="en-US" sz="2200" dirty="0"/>
              <a:t>To be able to calculate the mean and variance of a linear function of a discrete random variable.</a:t>
            </a:r>
          </a:p>
        </p:txBody>
      </p:sp>
      <p:sp>
        <p:nvSpPr>
          <p:cNvPr id="5" name="Footer Placeholder 4"/>
          <p:cNvSpPr>
            <a:spLocks noGrp="1"/>
          </p:cNvSpPr>
          <p:nvPr>
            <p:ph type="ftr" sz="quarter" idx="11"/>
          </p:nvPr>
        </p:nvSpPr>
        <p:spPr>
          <a:xfrm>
            <a:off x="2819400" y="6248400"/>
            <a:ext cx="4724400" cy="365125"/>
          </a:xfrm>
        </p:spPr>
        <p:txBody>
          <a:bodyPr/>
          <a:lstStyle/>
          <a:p>
            <a:pPr lvl="0">
              <a:defRPr/>
            </a:pPr>
            <a:r>
              <a:rPr lang="en-US"/>
              <a:t>Dr. Lokesh chaudhary    Statistics and Probability     Module 4</a:t>
            </a:r>
            <a:endParaRPr lang="en-US" dirty="0"/>
          </a:p>
        </p:txBody>
      </p:sp>
      <p:sp>
        <p:nvSpPr>
          <p:cNvPr id="10"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Topic objective </a:t>
            </a:r>
            <a:r>
              <a:rPr kumimoji="0" lang="en-US" sz="2400" b="1" i="0" u="none" strike="noStrike" kern="1200" cap="none" spc="0" normalizeH="0" baseline="0" noProof="0" dirty="0">
                <a:ln>
                  <a:noFill/>
                </a:ln>
                <a:solidFill>
                  <a:schemeClr val="dk1"/>
                </a:solidFill>
                <a:effectLst/>
                <a:uLnTx/>
                <a:uFillTx/>
              </a:rPr>
              <a:t>(CO4)</a:t>
            </a:r>
          </a:p>
        </p:txBody>
      </p:sp>
      <p:sp>
        <p:nvSpPr>
          <p:cNvPr id="2" name="Slide Number Placeholder 1">
            <a:extLst>
              <a:ext uri="{FF2B5EF4-FFF2-40B4-BE49-F238E27FC236}">
                <a16:creationId xmlns:a16="http://schemas.microsoft.com/office/drawing/2014/main" id="{030314B9-5E0C-4E1F-9D2F-D1FD1592C2AD}"/>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41857382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Mathematical expectation or expected value of a random variable:</a:t>
                </a:r>
              </a:p>
              <a:p>
                <a:pPr algn="just"/>
                <a:r>
                  <a:rPr lang="en-US" sz="2200" b="1" dirty="0"/>
                  <a:t>When variable is  discrete random variable: </a:t>
                </a:r>
                <a:r>
                  <a:rPr lang="en-US" sz="2000" dirty="0">
                    <a:latin typeface="+mj-lt"/>
                  </a:rPr>
                  <a:t>The expected value of a discrete random variable is a weighted average of all possible values of the random variable, where the weights are the probabilities associated with the corresponding values. It is denoted by E(x)</a:t>
                </a:r>
              </a:p>
              <a:p>
                <a:pPr marL="0" indent="0" algn="just">
                  <a:buNone/>
                </a:pPr>
                <a:r>
                  <a:rPr lang="en-US" sz="2000" dirty="0">
                    <a:latin typeface="+mj-lt"/>
                  </a:rPr>
                  <a:t>If  x denotes a discrete random variable which assumes values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oMath>
                </a14:m>
                <a:r>
                  <a:rPr lang="en-US" sz="2000" dirty="0">
                    <a:latin typeface="+mj-lt"/>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𝑛</m:t>
                        </m:r>
                      </m:sub>
                    </m:sSub>
                  </m:oMath>
                </a14:m>
                <a:r>
                  <a:rPr lang="en-US" sz="2000" dirty="0">
                    <a:latin typeface="+mj-lt"/>
                  </a:rPr>
                  <a:t> with corresponding probabilities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2</m:t>
                        </m:r>
                      </m:sub>
                    </m:sSub>
                  </m:oMath>
                </a14:m>
                <a:r>
                  <a:rPr lang="en-US" sz="2000" dirty="0">
                    <a:latin typeface="+mj-lt"/>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𝑛</m:t>
                        </m:r>
                      </m:sub>
                    </m:sSub>
                  </m:oMath>
                </a14:m>
                <a:r>
                  <a:rPr lang="en-US" sz="2000" dirty="0">
                    <a:latin typeface="+mj-lt"/>
                  </a:rPr>
                  <a:t>respectively, then </a:t>
                </a:r>
              </a:p>
              <a:p>
                <a:pPr marL="0" indent="0" algn="just">
                  <a:buNone/>
                </a:pPr>
                <a14:m>
                  <m:oMathPara xmlns:m="http://schemas.openxmlformats.org/officeDocument/2006/math">
                    <m:oMathParaPr>
                      <m:jc m:val="centerGroup"/>
                    </m:oMathParaPr>
                    <m:oMath xmlns:m="http://schemas.openxmlformats.org/officeDocument/2006/math">
                      <m:r>
                        <m:rPr>
                          <m:nor/>
                        </m:rPr>
                        <a:rPr lang="en-US" sz="2000" dirty="0">
                          <a:latin typeface="+mj-lt"/>
                        </a:rPr>
                        <m:t>E</m:t>
                      </m:r>
                      <m:r>
                        <m:rPr>
                          <m:nor/>
                        </m:rPr>
                        <a:rPr lang="en-US" sz="2000" dirty="0">
                          <a:latin typeface="+mj-lt"/>
                        </a:rPr>
                        <m:t>(</m:t>
                      </m:r>
                      <m:r>
                        <m:rPr>
                          <m:nor/>
                        </m:rPr>
                        <a:rPr lang="en-US" sz="2000" b="0" i="0" dirty="0" smtClean="0">
                          <a:latin typeface="+mj-lt"/>
                        </a:rPr>
                        <m:t>x</m:t>
                      </m:r>
                      <m:r>
                        <m:rPr>
                          <m:nor/>
                        </m:rPr>
                        <a:rPr lang="en-US" sz="2000" b="0" i="0" dirty="0" smtClean="0">
                          <a:latin typeface="+mj-lt"/>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𝑝</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𝑛</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𝑖</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𝑖</m:t>
                              </m:r>
                            </m:sub>
                          </m:sSub>
                        </m:e>
                      </m:nary>
                      <m:r>
                        <a:rPr lang="en-US" sz="2000" b="0" i="1" smtClean="0">
                          <a:latin typeface="Cambria Math" panose="02040503050406030204" pitchFamily="18" charset="0"/>
                        </a:rPr>
                        <m:t>=</m:t>
                      </m:r>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𝑝𝑥</m:t>
                          </m:r>
                        </m:e>
                      </m:nary>
                    </m:oMath>
                  </m:oMathPara>
                </a14:m>
                <a:endParaRPr lang="en-US" sz="2000" dirty="0">
                  <a:latin typeface="+mj-lt"/>
                </a:endParaRPr>
              </a:p>
              <a:p>
                <a:pPr marL="0" indent="0" algn="just">
                  <a:buNone/>
                </a:pPr>
                <a:r>
                  <a:rPr lang="en-US" sz="2000" dirty="0">
                    <a:latin typeface="+mj-lt"/>
                  </a:rPr>
                  <a:t>Where </a:t>
                </a:r>
                <a14:m>
                  <m:oMath xmlns:m="http://schemas.openxmlformats.org/officeDocument/2006/math">
                    <m:nary>
                      <m:naryPr>
                        <m:chr m:val="∑"/>
                        <m:subHide m:val="on"/>
                        <m:supHide m:val="on"/>
                        <m:ctrlPr>
                          <a:rPr lang="en-US" sz="2000" i="1">
                            <a:latin typeface="Cambria Math" panose="02040503050406030204" pitchFamily="18" charset="0"/>
                          </a:rPr>
                        </m:ctrlPr>
                      </m:naryPr>
                      <m:sub/>
                      <m:sup/>
                      <m:e>
                        <m:r>
                          <a:rPr lang="en-US" sz="2000" i="1">
                            <a:latin typeface="Cambria Math" panose="02040503050406030204" pitchFamily="18" charset="0"/>
                          </a:rPr>
                          <m:t>𝑝</m:t>
                        </m:r>
                      </m:e>
                    </m:nary>
                    <m:r>
                      <a:rPr lang="en-US" sz="2000" i="1">
                        <a:latin typeface="Cambria Math" panose="02040503050406030204" pitchFamily="18" charset="0"/>
                      </a:rPr>
                      <m:t>=1</m:t>
                    </m:r>
                  </m:oMath>
                </a14:m>
                <a:endParaRPr lang="en-US" sz="2000"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741"/>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 </a:t>
            </a:r>
          </a:p>
          <a:p>
            <a:pPr lvl="0" algn="ctr">
              <a:spcBef>
                <a:spcPct val="0"/>
              </a:spcBef>
              <a:defRPr/>
            </a:pPr>
            <a:r>
              <a:rPr lang="en-US" sz="2400" b="1" dirty="0"/>
              <a:t>Mathematical expectation(CO4)</a:t>
            </a:r>
          </a:p>
          <a:p>
            <a:pPr algn="ctr">
              <a:spcBef>
                <a:spcPct val="0"/>
              </a:spcBef>
              <a:defRPr/>
            </a:pPr>
            <a:endParaRPr lang="en-US" sz="3000" dirty="0"/>
          </a:p>
        </p:txBody>
      </p:sp>
      <p:sp>
        <p:nvSpPr>
          <p:cNvPr id="2" name="Slide Number Placeholder 1">
            <a:extLst>
              <a:ext uri="{FF2B5EF4-FFF2-40B4-BE49-F238E27FC236}">
                <a16:creationId xmlns:a16="http://schemas.microsoft.com/office/drawing/2014/main" id="{93A07767-311A-4CCC-8FF0-17ED4ABE711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953163059"/>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000" dirty="0"/>
                  <a:t>rth Moment about origin in terms of expectation is written as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a:rPr>
                          <m:t>𝜇</m:t>
                        </m:r>
                      </m:e>
                      <m:sub>
                        <m:r>
                          <a:rPr lang="en-US" sz="2000" i="1">
                            <a:latin typeface="Cambria Math" panose="02040503050406030204" pitchFamily="18" charset="0"/>
                          </a:rPr>
                          <m:t>𝑟</m:t>
                        </m:r>
                      </m:sub>
                    </m:sSub>
                    <m:r>
                      <a:rPr lang="en-US" sz="2000" i="1">
                        <a:latin typeface="Cambria Math" panose="02040503050406030204" pitchFamily="18" charset="0"/>
                      </a:rPr>
                      <m:t>=</m:t>
                    </m:r>
                    <m:r>
                      <a:rPr lang="en-US" sz="2000" i="1">
                        <a:latin typeface="Cambria Math" panose="02040503050406030204" pitchFamily="18" charset="0"/>
                      </a:rPr>
                      <m:t>𝐸</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d>
                      </m:e>
                      <m:sup>
                        <m:r>
                          <a:rPr lang="en-US" sz="2000" i="1">
                            <a:latin typeface="Cambria Math" panose="02040503050406030204" pitchFamily="18" charset="0"/>
                          </a:rPr>
                          <m:t>𝑟</m:t>
                        </m:r>
                      </m:sup>
                    </m:sSup>
                  </m:oMath>
                </a14:m>
                <a:endParaRPr lang="en-US" sz="2000" dirty="0"/>
              </a:p>
              <a:p>
                <a:pPr marL="0" indent="0">
                  <a:buNone/>
                </a:pPr>
                <a14:m>
                  <m:oMath xmlns:m="http://schemas.openxmlformats.org/officeDocument/2006/math">
                    <m:r>
                      <a:rPr lang="en-US" sz="2000" b="1" i="1" smtClean="0">
                        <a:latin typeface="Cambria Math" panose="02040503050406030204" pitchFamily="18" charset="0"/>
                      </a:rPr>
                      <m:t>𝑴𝒆𝒂𝒏</m:t>
                    </m:r>
                    <m:r>
                      <a:rPr lang="en-US" sz="2000" b="0" i="1" smtClean="0">
                        <a:latin typeface="Cambria Math" panose="02040503050406030204" pitchFamily="18" charset="0"/>
                      </a:rPr>
                      <m:t>=</m:t>
                    </m:r>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𝑝𝑥</m:t>
                            </m:r>
                          </m:e>
                        </m:nary>
                      </m:num>
                      <m:den>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𝑝</m:t>
                            </m:r>
                          </m:e>
                        </m:nary>
                      </m:den>
                    </m:f>
                    <m:r>
                      <a:rPr lang="en-US" sz="2000" b="0" i="1" smtClean="0">
                        <a:latin typeface="Cambria Math" panose="02040503050406030204" pitchFamily="18" charset="0"/>
                      </a:rPr>
                      <m:t>=</m:t>
                    </m:r>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𝑝𝑥</m:t>
                        </m:r>
                      </m:e>
                    </m:nary>
                  </m:oMath>
                </a14:m>
                <a:r>
                  <a:rPr lang="en-US" sz="2000" dirty="0"/>
                  <a:t>  because </a:t>
                </a:r>
                <a14:m>
                  <m:oMath xmlns:m="http://schemas.openxmlformats.org/officeDocument/2006/math">
                    <m:nary>
                      <m:naryPr>
                        <m:chr m:val="∑"/>
                        <m:subHide m:val="on"/>
                        <m:supHide m:val="on"/>
                        <m:ctrlPr>
                          <a:rPr lang="en-US" sz="2000" i="1" smtClean="0">
                            <a:latin typeface="Cambria Math" panose="02040503050406030204" pitchFamily="18" charset="0"/>
                          </a:rPr>
                        </m:ctrlPr>
                      </m:naryPr>
                      <m:sub/>
                      <m:sup/>
                      <m:e>
                        <m:r>
                          <a:rPr lang="en-US" sz="2000" b="0" i="1" smtClean="0">
                            <a:latin typeface="Cambria Math" panose="02040503050406030204" pitchFamily="18" charset="0"/>
                          </a:rPr>
                          <m:t>𝑝</m:t>
                        </m:r>
                        <m:r>
                          <a:rPr lang="en-US" sz="2000" b="0" i="1" smtClean="0">
                            <a:latin typeface="Cambria Math" panose="02040503050406030204" pitchFamily="18" charset="0"/>
                          </a:rPr>
                          <m:t>=1</m:t>
                        </m:r>
                      </m:e>
                    </m:nary>
                  </m:oMath>
                </a14:m>
                <a:endParaRPr lang="en-US" sz="2000" dirty="0"/>
              </a:p>
              <a:p>
                <a:pPr marL="0" indent="0">
                  <a:buNone/>
                </a:pPr>
                <a:r>
                  <a:rPr lang="en-US" sz="2000" dirty="0"/>
                  <a:t>So E(x) represents the mean </a:t>
                </a:r>
              </a:p>
              <a:p>
                <a:pPr marL="0" indent="0">
                  <a:buNone/>
                </a:pPr>
                <a:r>
                  <a:rPr lang="en-US" sz="2000" b="1" dirty="0"/>
                  <a:t>Variance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a:rPr>
                          <m:t>𝝁</m:t>
                        </m:r>
                      </m:e>
                      <m:sub>
                        <m:r>
                          <a:rPr lang="en-US" sz="2000" b="1" i="1" smtClean="0">
                            <a:latin typeface="Cambria Math" panose="02040503050406030204" pitchFamily="18" charset="0"/>
                          </a:rPr>
                          <m:t>𝟐</m:t>
                        </m:r>
                      </m:sub>
                    </m:sSub>
                    <m:r>
                      <a:rPr lang="en-US" sz="2000" b="0" i="1" smtClean="0">
                        <a:latin typeface="Cambria Math" panose="02040503050406030204" pitchFamily="18" charset="0"/>
                      </a:rPr>
                      <m:t>=</m:t>
                    </m:r>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𝐸</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e>
                            </m:d>
                          </m:e>
                          <m:sup>
                            <m:r>
                              <a:rPr lang="en-US" sz="2000" b="0" i="1" smtClean="0">
                                <a:latin typeface="Cambria Math" panose="02040503050406030204" pitchFamily="18" charset="0"/>
                              </a:rPr>
                              <m:t>2</m:t>
                            </m:r>
                          </m:sup>
                        </m:sSup>
                      </m:e>
                    </m:d>
                    <m:r>
                      <a:rPr lang="en-US" sz="2000" b="0" i="1" smtClean="0">
                        <a:latin typeface="Cambria Math" panose="02040503050406030204" pitchFamily="18" charset="0"/>
                      </a:rPr>
                      <m:t>=</m:t>
                    </m:r>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𝐸</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e>
                        </m:d>
                      </m:e>
                      <m:sup>
                        <m:r>
                          <a:rPr lang="en-US" sz="2000" b="0" i="1" smtClean="0">
                            <a:latin typeface="Cambria Math" panose="02040503050406030204" pitchFamily="18" charset="0"/>
                          </a:rPr>
                          <m:t>2</m:t>
                        </m:r>
                      </m:sup>
                    </m:sSup>
                  </m:oMath>
                </a14:m>
                <a:endParaRPr lang="en-US" sz="2000" dirty="0"/>
              </a:p>
              <a:p>
                <a:r>
                  <a:rPr lang="en-US" sz="2000" b="1" dirty="0"/>
                  <a:t>When variable is continuous: </a:t>
                </a:r>
                <a:r>
                  <a:rPr lang="en-US" sz="2000" dirty="0"/>
                  <a:t>If x is a continuous random variable then expectation E(x) is written as </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nary>
                        <m:naryPr>
                          <m:limLoc m:val="undOvr"/>
                          <m:ctrlPr>
                            <a:rPr lang="en-US" sz="2000" b="0" i="1" smtClean="0">
                              <a:latin typeface="Cambria Math" panose="02040503050406030204" pitchFamily="18" charset="0"/>
                            </a:rPr>
                          </m:ctrlPr>
                        </m:naryPr>
                        <m:sub>
                          <m:r>
                            <m:rPr>
                              <m:brk m:alnAt="24"/>
                            </m:rPr>
                            <a:rPr lang="en-US" sz="2000" b="0" i="1" smtClean="0">
                              <a:latin typeface="Cambria Math" panose="02040503050406030204" pitchFamily="18" charset="0"/>
                            </a:rPr>
                            <m:t>−</m:t>
                          </m:r>
                          <m:r>
                            <a:rPr lang="en-US" sz="2000" b="0" i="1" smtClean="0">
                              <a:latin typeface="Cambria Math" panose="02040503050406030204" pitchFamily="18" charset="0"/>
                              <a:ea typeface="Cambria Math"/>
                            </a:rPr>
                            <m:t>∞</m:t>
                          </m:r>
                        </m:sub>
                        <m:sup>
                          <m:r>
                            <a:rPr lang="en-US" sz="2000" b="0" i="1" smtClean="0">
                              <a:latin typeface="Cambria Math" panose="02040503050406030204" pitchFamily="18" charset="0"/>
                              <a:ea typeface="Cambria Math"/>
                            </a:rPr>
                            <m:t>∞</m:t>
                          </m:r>
                        </m:sup>
                        <m:e>
                          <m:r>
                            <a:rPr lang="en-US" sz="2000" b="0" i="1" smtClean="0">
                              <a:latin typeface="Cambria Math" panose="02040503050406030204" pitchFamily="18" charset="0"/>
                            </a:rPr>
                            <m:t>𝑥𝑓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𝑑𝑥</m:t>
                          </m:r>
                          <m:r>
                            <a:rPr lang="en-US" sz="2000" b="0" i="1" smtClean="0">
                              <a:latin typeface="Cambria Math" panose="02040503050406030204" pitchFamily="18" charset="0"/>
                            </a:rPr>
                            <m:t>=</m:t>
                          </m:r>
                          <m:nary>
                            <m:naryPr>
                              <m:limLoc m:val="undOvr"/>
                              <m:ctrlPr>
                                <a:rPr lang="en-US" sz="2000" b="0" i="1" smtClean="0">
                                  <a:latin typeface="Cambria Math" panose="02040503050406030204" pitchFamily="18" charset="0"/>
                                </a:rPr>
                              </m:ctrlPr>
                            </m:naryPr>
                            <m:sub>
                              <m:r>
                                <m:rPr>
                                  <m:brk m:alnAt="24"/>
                                </m:rPr>
                                <a:rPr lang="en-US" sz="2000" b="0" i="1" smtClean="0">
                                  <a:latin typeface="Cambria Math" panose="02040503050406030204" pitchFamily="18" charset="0"/>
                                </a:rPr>
                                <m:t>−</m:t>
                              </m:r>
                              <m:r>
                                <a:rPr lang="en-US" sz="2000" b="0" i="1" smtClean="0">
                                  <a:latin typeface="Cambria Math" panose="02040503050406030204" pitchFamily="18" charset="0"/>
                                  <a:ea typeface="Cambria Math"/>
                                </a:rPr>
                                <m:t>∞</m:t>
                              </m:r>
                            </m:sub>
                            <m:sup>
                              <m:r>
                                <a:rPr lang="en-US" sz="2000" b="0" i="1" smtClean="0">
                                  <a:latin typeface="Cambria Math" panose="02040503050406030204" pitchFamily="18" charset="0"/>
                                  <a:ea typeface="Cambria Math"/>
                                </a:rPr>
                                <m:t>∞</m:t>
                              </m:r>
                            </m:sup>
                            <m:e>
                              <m:r>
                                <a:rPr lang="en-US" sz="2000" b="0" i="1" smtClean="0">
                                  <a:latin typeface="Cambria Math" panose="02040503050406030204" pitchFamily="18" charset="0"/>
                                </a:rPr>
                                <m:t>𝑥𝑑𝐹</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e>
                          </m:nary>
                        </m:e>
                      </m:nary>
                    </m:oMath>
                  </m:oMathPara>
                </a14:m>
                <a:endParaRPr lang="en-US" sz="2000" b="0" dirty="0"/>
              </a:p>
              <a:p>
                <a:pPr marL="0" indent="0">
                  <a:buNone/>
                </a:pPr>
                <a:r>
                  <a:rPr lang="en-US" sz="2000" dirty="0"/>
                  <a:t>Where f(x) is probability density function.</a:t>
                </a:r>
              </a:p>
              <a:p>
                <a:pPr marL="0" indent="0">
                  <a:buNone/>
                </a:pPr>
                <a:endParaRPr lang="en-US" sz="2000" dirty="0"/>
              </a:p>
              <a:p>
                <a:pPr marL="0" indent="0">
                  <a:buNone/>
                </a:pPr>
                <a:endParaRPr lang="en-US" sz="20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 </a:t>
            </a:r>
          </a:p>
          <a:p>
            <a:pPr lvl="0" algn="ctr">
              <a:spcBef>
                <a:spcPct val="0"/>
              </a:spcBef>
              <a:defRPr/>
            </a:pPr>
            <a:r>
              <a:rPr lang="en-US" sz="2400" b="1" dirty="0"/>
              <a:t>Mathematical expectation(CO4)</a:t>
            </a:r>
          </a:p>
          <a:p>
            <a:pPr algn="ctr">
              <a:spcBef>
                <a:spcPct val="0"/>
              </a:spcBef>
              <a:defRPr/>
            </a:pPr>
            <a:endParaRPr lang="en-US" sz="3000" dirty="0"/>
          </a:p>
        </p:txBody>
      </p:sp>
      <p:sp>
        <p:nvSpPr>
          <p:cNvPr id="2" name="Slide Number Placeholder 1">
            <a:extLst>
              <a:ext uri="{FF2B5EF4-FFF2-40B4-BE49-F238E27FC236}">
                <a16:creationId xmlns:a16="http://schemas.microsoft.com/office/drawing/2014/main" id="{9333CB47-4D29-457C-9174-84DEE3CE13BF}"/>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366370968"/>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lgn="just">
                  <a:buNone/>
                </a:pPr>
                <a:r>
                  <a:rPr lang="en-US" sz="2000" b="1" dirty="0"/>
                  <a:t>Laws of Expectations :</a:t>
                </a:r>
              </a:p>
              <a:p>
                <a:pPr algn="just">
                  <a:buFont typeface="Wingdings" pitchFamily="2" charset="2"/>
                  <a:buChar char="v"/>
                </a:pPr>
                <a:r>
                  <a:rPr lang="en-US" sz="2000" b="1" dirty="0"/>
                  <a:t>Theorem 1. If C is a constant then E(C)=C.</a:t>
                </a:r>
              </a:p>
              <a:p>
                <a:pPr marL="0" indent="0" algn="just">
                  <a:buNone/>
                </a:pPr>
                <a:r>
                  <a:rPr lang="en-US" sz="2000" b="1" dirty="0"/>
                  <a:t>Proof:</a:t>
                </a:r>
                <a:r>
                  <a:rPr lang="en-US" sz="2000" dirty="0"/>
                  <a:t> Function is constant so assigns value is C  to each value within its domain , we have </a:t>
                </a:r>
              </a:p>
              <a:p>
                <a:pPr marL="0" indent="0" algn="just">
                  <a:buNone/>
                </a:pPr>
                <a14:m>
                  <m:oMathPara xmlns:m="http://schemas.openxmlformats.org/officeDocument/2006/math">
                    <m:oMathParaPr>
                      <m:jc m:val="left"/>
                    </m:oMathParaPr>
                    <m:oMath xmlns:m="http://schemas.openxmlformats.org/officeDocument/2006/math">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𝐶</m:t>
                          </m:r>
                          <m:r>
                            <a:rPr lang="en-US" sz="2000" b="0" i="1" smtClean="0">
                              <a:latin typeface="Cambria Math"/>
                            </a:rPr>
                            <m:t>=</m:t>
                          </m:r>
                          <m:r>
                            <a:rPr lang="en-US" sz="2000" b="0" i="1" smtClean="0">
                              <a:latin typeface="Cambria Math"/>
                            </a:rPr>
                            <m:t>𝐶</m:t>
                          </m:r>
                        </m:e>
                      </m:d>
                      <m:r>
                        <a:rPr lang="en-US" sz="2000" b="0" i="1" smtClean="0">
                          <a:latin typeface="Cambria Math"/>
                        </a:rPr>
                        <m:t>=1</m:t>
                      </m:r>
                    </m:oMath>
                  </m:oMathPara>
                </a14:m>
                <a:endParaRPr lang="en-US" sz="2000" b="0" dirty="0"/>
              </a:p>
              <a:p>
                <a:pPr marL="0" indent="0" algn="just">
                  <a:buNone/>
                </a:pPr>
                <a14:m>
                  <m:oMathPara xmlns:m="http://schemas.openxmlformats.org/officeDocument/2006/math">
                    <m:oMathParaPr>
                      <m:jc m:val="left"/>
                    </m:oMathParaPr>
                    <m:oMath xmlns:m="http://schemas.openxmlformats.org/officeDocument/2006/math">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𝐶</m:t>
                          </m:r>
                          <m:r>
                            <a:rPr lang="en-US" sz="2000" b="0" i="1" smtClean="0">
                              <a:latin typeface="Cambria Math"/>
                            </a:rPr>
                            <m:t>=</m:t>
                          </m:r>
                          <m:r>
                            <a:rPr lang="en-US" sz="2000" b="0" i="1" smtClean="0">
                              <a:latin typeface="Cambria Math"/>
                            </a:rPr>
                            <m:t>𝐷</m:t>
                          </m:r>
                        </m:e>
                      </m:d>
                      <m:r>
                        <a:rPr lang="en-US" sz="2000" b="0" i="1" smtClean="0">
                          <a:latin typeface="Cambria Math"/>
                        </a:rPr>
                        <m:t>=0, </m:t>
                      </m:r>
                      <m:r>
                        <a:rPr lang="en-US" sz="2000" b="0" i="1" smtClean="0">
                          <a:latin typeface="Cambria Math"/>
                        </a:rPr>
                        <m:t>𝐷</m:t>
                      </m:r>
                      <m:r>
                        <a:rPr lang="en-US" sz="2000" b="0" i="1" smtClean="0">
                          <a:latin typeface="Cambria Math"/>
                          <a:ea typeface="Cambria Math"/>
                        </a:rPr>
                        <m:t>≠</m:t>
                      </m:r>
                      <m:r>
                        <a:rPr lang="en-US" sz="2000" b="0" i="1" smtClean="0">
                          <a:latin typeface="Cambria Math"/>
                          <a:ea typeface="Cambria Math"/>
                        </a:rPr>
                        <m:t>𝐶</m:t>
                      </m:r>
                    </m:oMath>
                  </m:oMathPara>
                </a14:m>
                <a:endParaRPr lang="en-US" sz="2000" dirty="0"/>
              </a:p>
              <a:p>
                <a:pPr marL="0" indent="0" algn="just">
                  <a:buNone/>
                </a:pPr>
                <a:r>
                  <a:rPr lang="en-US" sz="2000" dirty="0"/>
                  <a:t>Therefore </a:t>
                </a:r>
                <a14:m>
                  <m:oMath xmlns:m="http://schemas.openxmlformats.org/officeDocument/2006/math">
                    <m:r>
                      <a:rPr lang="en-US" sz="2000" b="0" i="1" smtClean="0">
                        <a:latin typeface="Cambria Math"/>
                      </a:rPr>
                      <m:t>𝐸</m:t>
                    </m:r>
                    <m:d>
                      <m:dPr>
                        <m:ctrlPr>
                          <a:rPr lang="en-US" sz="2000" b="0" i="1" smtClean="0">
                            <a:latin typeface="Cambria Math" panose="02040503050406030204" pitchFamily="18" charset="0"/>
                          </a:rPr>
                        </m:ctrlPr>
                      </m:dPr>
                      <m:e>
                        <m:r>
                          <a:rPr lang="en-US" sz="2000" b="0" i="1" smtClean="0">
                            <a:latin typeface="Cambria Math"/>
                          </a:rPr>
                          <m:t>𝐶</m:t>
                        </m:r>
                      </m:e>
                    </m:d>
                    <m:r>
                      <a:rPr lang="en-US" sz="2000" b="0" i="1" smtClean="0">
                        <a:latin typeface="Cambria Math"/>
                      </a:rPr>
                      <m:t>=</m:t>
                    </m:r>
                    <m:r>
                      <a:rPr lang="en-US" sz="2000" b="0" i="1" smtClean="0">
                        <a:latin typeface="Cambria Math"/>
                      </a:rPr>
                      <m:t>𝐶</m:t>
                    </m:r>
                    <m:r>
                      <a:rPr lang="en-US" sz="2000" b="0" i="1" smtClean="0">
                        <a:latin typeface="Cambria Math"/>
                      </a:rPr>
                      <m:t>.1+</m:t>
                    </m:r>
                    <m:r>
                      <a:rPr lang="en-US" sz="2000" b="0" i="1" smtClean="0">
                        <a:latin typeface="Cambria Math"/>
                      </a:rPr>
                      <m:t>𝐷</m:t>
                    </m:r>
                    <m:r>
                      <a:rPr lang="en-US" sz="2000" b="0" i="1" smtClean="0">
                        <a:latin typeface="Cambria Math"/>
                      </a:rPr>
                      <m:t>.0=</m:t>
                    </m:r>
                    <m:r>
                      <a:rPr lang="en-US" sz="2000" b="0" i="1" smtClean="0">
                        <a:latin typeface="Cambria Math"/>
                      </a:rPr>
                      <m:t>𝐶</m:t>
                    </m:r>
                    <m:r>
                      <a:rPr lang="en-US" sz="2000" b="0" i="1" smtClean="0">
                        <a:latin typeface="Cambria Math"/>
                      </a:rPr>
                      <m:t>.</m:t>
                    </m:r>
                  </m:oMath>
                </a14:m>
                <a:endParaRPr lang="en-US" sz="2000" b="0" dirty="0"/>
              </a:p>
              <a:p>
                <a:pPr marL="0" indent="0" algn="just">
                  <a:buNone/>
                </a:pPr>
                <a:r>
                  <a:rPr lang="en-US" sz="2000" dirty="0"/>
                  <a:t>Hence proved </a:t>
                </a:r>
              </a:p>
              <a:p>
                <a:pPr algn="just">
                  <a:buFont typeface="Wingdings" pitchFamily="2" charset="2"/>
                  <a:buChar char="v"/>
                </a:pPr>
                <a:r>
                  <a:rPr lang="en-US" sz="2000" b="1" dirty="0"/>
                  <a:t>Theorem 2. If a is a constant, then </a:t>
                </a:r>
                <a14:m>
                  <m:oMath xmlns:m="http://schemas.openxmlformats.org/officeDocument/2006/math">
                    <m:r>
                      <a:rPr lang="en-US" sz="2000" b="1" i="1" smtClean="0">
                        <a:latin typeface="Cambria Math"/>
                      </a:rPr>
                      <m:t>𝑬</m:t>
                    </m:r>
                    <m:d>
                      <m:dPr>
                        <m:ctrlPr>
                          <a:rPr lang="en-US" sz="2000" b="1" i="1" smtClean="0">
                            <a:latin typeface="Cambria Math" panose="02040503050406030204" pitchFamily="18" charset="0"/>
                          </a:rPr>
                        </m:ctrlPr>
                      </m:dPr>
                      <m:e>
                        <m:r>
                          <a:rPr lang="en-US" sz="2000" b="1" i="1" smtClean="0">
                            <a:latin typeface="Cambria Math"/>
                          </a:rPr>
                          <m:t>𝒂𝑿</m:t>
                        </m:r>
                      </m:e>
                    </m:d>
                    <m:r>
                      <a:rPr lang="en-US" sz="2000" b="1" i="1" smtClean="0">
                        <a:latin typeface="Cambria Math"/>
                      </a:rPr>
                      <m:t>=</m:t>
                    </m:r>
                    <m:r>
                      <a:rPr lang="en-US" sz="2000" b="1" i="1" smtClean="0">
                        <a:latin typeface="Cambria Math"/>
                      </a:rPr>
                      <m:t>𝒂𝑬</m:t>
                    </m:r>
                    <m:d>
                      <m:dPr>
                        <m:ctrlPr>
                          <a:rPr lang="en-US" sz="2000" b="1" i="1" smtClean="0">
                            <a:latin typeface="Cambria Math" panose="02040503050406030204" pitchFamily="18" charset="0"/>
                          </a:rPr>
                        </m:ctrlPr>
                      </m:dPr>
                      <m:e>
                        <m:r>
                          <a:rPr lang="en-US" sz="2000" b="1" i="1" smtClean="0">
                            <a:latin typeface="Cambria Math"/>
                          </a:rPr>
                          <m:t>𝑿</m:t>
                        </m:r>
                      </m:e>
                    </m:d>
                    <m:r>
                      <a:rPr lang="en-US" sz="2000" b="1" i="1" smtClean="0">
                        <a:latin typeface="Cambria Math"/>
                      </a:rPr>
                      <m:t>.</m:t>
                    </m:r>
                  </m:oMath>
                </a14:m>
                <a:endParaRPr lang="en-US" sz="2000" b="1" dirty="0"/>
              </a:p>
              <a:p>
                <a:pPr marL="0" indent="0" algn="just">
                  <a:buNone/>
                </a:pPr>
                <a:r>
                  <a:rPr lang="en-US" sz="2000" b="1" dirty="0"/>
                  <a:t>Proof: </a:t>
                </a:r>
                <a:r>
                  <a:rPr lang="en-US" sz="2000" dirty="0"/>
                  <a:t> Let X takes values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2</m:t>
                        </m:r>
                      </m:sub>
                    </m:sSub>
                  </m:oMath>
                </a14:m>
                <a:r>
                  <a:rPr lang="en-US" sz="2000" dirty="0"/>
                  <a:t>.. with corresponding probabilities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𝑝</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𝑝</m:t>
                        </m:r>
                      </m:e>
                      <m:sub>
                        <m:r>
                          <a:rPr lang="en-US" sz="2000" i="1">
                            <a:latin typeface="Cambria Math"/>
                          </a:rPr>
                          <m:t>2</m:t>
                        </m:r>
                      </m:sub>
                    </m:sSub>
                  </m:oMath>
                </a14:m>
                <a:r>
                  <a:rPr lang="en-US" sz="2000" dirty="0"/>
                  <a:t>….. respectively, then </a:t>
                </a:r>
              </a:p>
              <a:p>
                <a:pPr marL="0" indent="0" algn="just">
                  <a:buNone/>
                </a:pPr>
                <a14:m>
                  <m:oMathPara xmlns:m="http://schemas.openxmlformats.org/officeDocument/2006/math">
                    <m:oMathParaPr>
                      <m:jc m:val="left"/>
                    </m:oMathParaPr>
                    <m:oMath xmlns:m="http://schemas.openxmlformats.org/officeDocument/2006/math">
                      <m:r>
                        <a:rPr lang="en-US" sz="2000" b="0" i="1" smtClean="0">
                          <a:latin typeface="Cambria Math"/>
                        </a:rPr>
                        <m:t>𝐸</m:t>
                      </m:r>
                      <m:d>
                        <m:dPr>
                          <m:ctrlPr>
                            <a:rPr lang="en-US" sz="2000" b="0" i="1" smtClean="0">
                              <a:latin typeface="Cambria Math" panose="02040503050406030204" pitchFamily="18" charset="0"/>
                            </a:rPr>
                          </m:ctrlPr>
                        </m:dPr>
                        <m:e>
                          <m:r>
                            <a:rPr lang="en-US" sz="2000" b="0" i="1" smtClean="0">
                              <a:latin typeface="Cambria Math"/>
                            </a:rPr>
                            <m:t>𝑎𝑋</m:t>
                          </m:r>
                        </m:e>
                      </m:d>
                      <m:r>
                        <a:rPr lang="en-US" sz="2000" b="0" i="1" smtClean="0">
                          <a:latin typeface="Cambria Math"/>
                        </a:rPr>
                        <m:t>=</m:t>
                      </m:r>
                      <m:sSub>
                        <m:sSubPr>
                          <m:ctrlPr>
                            <a:rPr lang="en-US" sz="2000" i="1">
                              <a:latin typeface="Cambria Math" panose="02040503050406030204" pitchFamily="18" charset="0"/>
                            </a:rPr>
                          </m:ctrlPr>
                        </m:sSubPr>
                        <m:e>
                          <m:r>
                            <a:rPr lang="en-US" sz="2000" b="0" i="1" smtClean="0">
                              <a:latin typeface="Cambria Math"/>
                            </a:rPr>
                            <m:t>𝑎</m:t>
                          </m:r>
                          <m:r>
                            <a:rPr lang="en-US" sz="2000" b="0" i="1" smtClean="0">
                              <a:latin typeface="Cambria Math"/>
                            </a:rPr>
                            <m:t> </m:t>
                          </m:r>
                          <m:r>
                            <a:rPr lang="en-US" sz="2000" i="1">
                              <a:latin typeface="Cambria Math"/>
                            </a:rPr>
                            <m:t>𝑥</m:t>
                          </m:r>
                        </m:e>
                        <m:sub>
                          <m:r>
                            <a:rPr lang="en-US" sz="2000" i="1">
                              <a:latin typeface="Cambria Math"/>
                            </a:rPr>
                            <m:t>1</m:t>
                          </m:r>
                        </m:sub>
                      </m:sSub>
                      <m:sSub>
                        <m:sSubPr>
                          <m:ctrlPr>
                            <a:rPr lang="en-US" sz="2000" i="1">
                              <a:latin typeface="Cambria Math" panose="02040503050406030204" pitchFamily="18" charset="0"/>
                            </a:rPr>
                          </m:ctrlPr>
                        </m:sSubPr>
                        <m:e>
                          <m:r>
                            <a:rPr lang="en-US" sz="2000" i="1">
                              <a:latin typeface="Cambria Math"/>
                            </a:rPr>
                            <m:t>𝑝</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b="0" i="1" smtClean="0">
                              <a:latin typeface="Cambria Math"/>
                            </a:rPr>
                            <m:t>𝑎</m:t>
                          </m:r>
                          <m:sSub>
                            <m:sSubPr>
                              <m:ctrlPr>
                                <a:rPr lang="en-US" sz="2000" i="1">
                                  <a:latin typeface="Cambria Math" panose="02040503050406030204" pitchFamily="18" charset="0"/>
                                </a:rPr>
                              </m:ctrlPr>
                            </m:sSubPr>
                            <m:e>
                              <m:r>
                                <a:rPr lang="en-US" sz="2000" b="0" i="1" smtClean="0">
                                  <a:latin typeface="Cambria Math"/>
                                </a:rPr>
                                <m:t> </m:t>
                              </m:r>
                              <m:r>
                                <a:rPr lang="en-US" sz="2000" i="1">
                                  <a:latin typeface="Cambria Math"/>
                                </a:rPr>
                                <m:t>𝑥</m:t>
                              </m:r>
                            </m:e>
                            <m:sub>
                              <m:r>
                                <a:rPr lang="en-US" sz="2000" i="1">
                                  <a:latin typeface="Cambria Math"/>
                                </a:rPr>
                                <m:t>2</m:t>
                              </m:r>
                            </m:sub>
                          </m:sSub>
                          <m:r>
                            <a:rPr lang="en-US" sz="2000" i="1">
                              <a:latin typeface="Cambria Math"/>
                            </a:rPr>
                            <m:t>𝑝</m:t>
                          </m:r>
                        </m:e>
                        <m:sub>
                          <m:r>
                            <a:rPr lang="en-US" sz="2000" i="1">
                              <a:latin typeface="Cambria Math"/>
                            </a:rPr>
                            <m:t>2</m:t>
                          </m:r>
                        </m:sub>
                      </m:sSub>
                      <m:r>
                        <a:rPr lang="en-US" sz="2000" i="1">
                          <a:latin typeface="Cambria Math"/>
                        </a:rPr>
                        <m:t>+…</m:t>
                      </m:r>
                      <m:r>
                        <a:rPr lang="en-US" sz="2000" b="0" i="1" smtClean="0">
                          <a:latin typeface="Cambria Math"/>
                        </a:rPr>
                        <m:t>=</m:t>
                      </m:r>
                      <m:r>
                        <a:rPr lang="en-US" sz="2000" b="0" i="1" smtClean="0">
                          <a:latin typeface="Cambria Math"/>
                        </a:rPr>
                        <m:t>𝑎</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1</m:t>
                              </m:r>
                            </m:sub>
                          </m:sSub>
                          <m:sSub>
                            <m:sSubPr>
                              <m:ctrlPr>
                                <a:rPr lang="en-US" sz="2000" i="1">
                                  <a:latin typeface="Cambria Math" panose="02040503050406030204" pitchFamily="18" charset="0"/>
                                </a:rPr>
                              </m:ctrlPr>
                            </m:sSubPr>
                            <m:e>
                              <m:r>
                                <a:rPr lang="en-US" sz="2000" i="1">
                                  <a:latin typeface="Cambria Math"/>
                                </a:rPr>
                                <m:t>𝑝</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2</m:t>
                                  </m:r>
                                </m:sub>
                              </m:sSub>
                              <m:r>
                                <a:rPr lang="en-US" sz="2000" i="1">
                                  <a:latin typeface="Cambria Math"/>
                                </a:rPr>
                                <m:t>𝑝</m:t>
                              </m:r>
                            </m:e>
                            <m:sub>
                              <m:r>
                                <a:rPr lang="en-US" sz="2000" i="1">
                                  <a:latin typeface="Cambria Math"/>
                                </a:rPr>
                                <m:t>2</m:t>
                              </m:r>
                            </m:sub>
                          </m:sSub>
                          <m:r>
                            <a:rPr lang="en-US" sz="2000" i="1">
                              <a:latin typeface="Cambria Math"/>
                            </a:rPr>
                            <m:t>+…</m:t>
                          </m:r>
                        </m:e>
                      </m:d>
                      <m:r>
                        <a:rPr lang="en-US" sz="2000" b="0" i="1" smtClean="0">
                          <a:latin typeface="Cambria Math"/>
                        </a:rPr>
                        <m:t>=</m:t>
                      </m:r>
                      <m:r>
                        <a:rPr lang="en-US" sz="2000" b="0" i="1" smtClean="0">
                          <a:latin typeface="Cambria Math"/>
                        </a:rPr>
                        <m:t>𝑎𝐸</m:t>
                      </m:r>
                      <m:d>
                        <m:dPr>
                          <m:ctrlPr>
                            <a:rPr lang="en-US" sz="2000" b="0" i="1" smtClean="0">
                              <a:latin typeface="Cambria Math" panose="02040503050406030204" pitchFamily="18" charset="0"/>
                            </a:rPr>
                          </m:ctrlPr>
                        </m:dPr>
                        <m:e>
                          <m:r>
                            <a:rPr lang="en-US" sz="2000" b="0" i="1" smtClean="0">
                              <a:latin typeface="Cambria Math"/>
                            </a:rPr>
                            <m:t>𝑋</m:t>
                          </m:r>
                        </m:e>
                      </m:d>
                    </m:oMath>
                  </m:oMathPara>
                </a14:m>
                <a:endParaRPr lang="en-US" sz="2000" b="0" dirty="0"/>
              </a:p>
              <a:p>
                <a:pPr marL="0" indent="0">
                  <a:buNone/>
                </a:pPr>
                <a:endParaRPr lang="en-US" sz="2000" dirty="0"/>
              </a:p>
              <a:p>
                <a:pPr marL="0" indent="0">
                  <a:buNone/>
                </a:pPr>
                <a:r>
                  <a:rPr lang="en-US" sz="2000" dirty="0"/>
                  <a:t> </a:t>
                </a:r>
                <a:endParaRPr lang="en-US" sz="2000" b="1" dirty="0"/>
              </a:p>
              <a:p>
                <a:pPr marL="0" indent="0">
                  <a:buNone/>
                </a:pPr>
                <a:endParaRPr lang="en-US" sz="200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Mathematical expectation(CO4)</a:t>
            </a:r>
          </a:p>
        </p:txBody>
      </p:sp>
      <p:sp>
        <p:nvSpPr>
          <p:cNvPr id="2" name="Slide Number Placeholder 1">
            <a:extLst>
              <a:ext uri="{FF2B5EF4-FFF2-40B4-BE49-F238E27FC236}">
                <a16:creationId xmlns:a16="http://schemas.microsoft.com/office/drawing/2014/main" id="{E9335189-4448-49DE-BE3B-A19DBFB4D844}"/>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98221572"/>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1" end="11"/>
                                            </p:txEl>
                                          </p:spTgt>
                                        </p:tgtEl>
                                        <p:attrNameLst>
                                          <p:attrName>style.visibility</p:attrName>
                                        </p:attrNameLst>
                                      </p:cBhvr>
                                      <p:to>
                                        <p:strVal val="visible"/>
                                      </p:to>
                                    </p:set>
                                    <p:animEffect transition="in" filter="fade">
                                      <p:cBhvr>
                                        <p:cTn id="77" dur="1000"/>
                                        <p:tgtEl>
                                          <p:spTgt spid="3">
                                            <p:txEl>
                                              <p:pRg st="11" end="11"/>
                                            </p:txEl>
                                          </p:spTgt>
                                        </p:tgtEl>
                                      </p:cBhvr>
                                    </p:animEffect>
                                    <p:anim calcmode="lin" valueType="num">
                                      <p:cBhvr>
                                        <p:cTn id="7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algn="just">
                  <a:buFont typeface="Wingdings" pitchFamily="2" charset="2"/>
                  <a:buChar char="v"/>
                </a:pPr>
                <a:r>
                  <a:rPr lang="en-US" sz="2000" b="1" dirty="0"/>
                  <a:t>Theorem 3. Expectation of the sum of two random variables</a:t>
                </a:r>
              </a:p>
              <a:p>
                <a:pPr marL="0" indent="0" algn="just">
                  <a:buNone/>
                </a:pPr>
                <a:r>
                  <a:rPr lang="en-US" sz="2000" dirty="0"/>
                  <a:t> If X and Y are two discrete random variables with finite expectations E(X) and E(Y) respectively , then the expectation of their sum exists and is the sum of their expectations i.e.</a:t>
                </a:r>
              </a:p>
              <a:p>
                <a:pPr marL="0" indent="0" algn="just">
                  <a:buNone/>
                </a:pPr>
                <a14:m>
                  <m:oMathPara xmlns:m="http://schemas.openxmlformats.org/officeDocument/2006/math">
                    <m:oMathParaPr>
                      <m:jc m:val="centerGroup"/>
                    </m:oMathParaPr>
                    <m:oMath xmlns:m="http://schemas.openxmlformats.org/officeDocument/2006/math">
                      <m:r>
                        <a:rPr lang="en-US" sz="2000" b="0" i="1" smtClean="0">
                          <a:latin typeface="Cambria Math"/>
                        </a:rPr>
                        <m:t>𝐸</m:t>
                      </m:r>
                      <m:d>
                        <m:dPr>
                          <m:ctrlPr>
                            <a:rPr lang="en-US" sz="2000" b="0" i="1" smtClean="0">
                              <a:latin typeface="Cambria Math" panose="02040503050406030204" pitchFamily="18" charset="0"/>
                            </a:rPr>
                          </m:ctrlPr>
                        </m:dPr>
                        <m:e>
                          <m:r>
                            <a:rPr lang="en-US" sz="2000" b="0" i="1" smtClean="0">
                              <a:latin typeface="Cambria Math"/>
                            </a:rPr>
                            <m:t>𝑋</m:t>
                          </m:r>
                          <m:r>
                            <a:rPr lang="en-US" sz="2000" b="0" i="1" smtClean="0">
                              <a:latin typeface="Cambria Math"/>
                            </a:rPr>
                            <m:t>+</m:t>
                          </m:r>
                          <m:r>
                            <a:rPr lang="en-US" sz="2000" b="0" i="1" smtClean="0">
                              <a:latin typeface="Cambria Math"/>
                            </a:rPr>
                            <m:t>𝑌</m:t>
                          </m:r>
                        </m:e>
                      </m:d>
                      <m:r>
                        <a:rPr lang="en-US" sz="2000" b="0" i="1" smtClean="0">
                          <a:latin typeface="Cambria Math"/>
                        </a:rPr>
                        <m:t>=</m:t>
                      </m:r>
                      <m:r>
                        <a:rPr lang="en-US" sz="2000" b="0" i="1" smtClean="0">
                          <a:latin typeface="Cambria Math"/>
                        </a:rPr>
                        <m:t>𝐸</m:t>
                      </m:r>
                      <m:d>
                        <m:dPr>
                          <m:ctrlPr>
                            <a:rPr lang="en-US" sz="2000" b="0" i="1" smtClean="0">
                              <a:latin typeface="Cambria Math" panose="02040503050406030204" pitchFamily="18" charset="0"/>
                            </a:rPr>
                          </m:ctrlPr>
                        </m:dPr>
                        <m:e>
                          <m:r>
                            <a:rPr lang="en-US" sz="2000" b="0" i="1" smtClean="0">
                              <a:latin typeface="Cambria Math"/>
                            </a:rPr>
                            <m:t>𝑋</m:t>
                          </m:r>
                        </m:e>
                      </m:d>
                      <m:r>
                        <a:rPr lang="en-US" sz="2000" b="0" i="1" smtClean="0">
                          <a:latin typeface="Cambria Math"/>
                        </a:rPr>
                        <m:t>+</m:t>
                      </m:r>
                      <m:r>
                        <a:rPr lang="en-US" sz="2000" b="0" i="1" smtClean="0">
                          <a:latin typeface="Cambria Math"/>
                        </a:rPr>
                        <m:t>𝐸</m:t>
                      </m:r>
                      <m:d>
                        <m:dPr>
                          <m:ctrlPr>
                            <a:rPr lang="en-US" sz="2000" b="0" i="1" smtClean="0">
                              <a:latin typeface="Cambria Math" panose="02040503050406030204" pitchFamily="18" charset="0"/>
                            </a:rPr>
                          </m:ctrlPr>
                        </m:dPr>
                        <m:e>
                          <m:r>
                            <a:rPr lang="en-US" sz="2000" b="0" i="1" smtClean="0">
                              <a:latin typeface="Cambria Math"/>
                            </a:rPr>
                            <m:t>𝑌</m:t>
                          </m:r>
                        </m:e>
                      </m:d>
                    </m:oMath>
                  </m:oMathPara>
                </a14:m>
                <a:endParaRPr lang="en-US" sz="2000" b="0" dirty="0"/>
              </a:p>
              <a:p>
                <a:pPr marL="0" indent="0" algn="just">
                  <a:buNone/>
                </a:pPr>
                <a:r>
                  <a:rPr lang="en-US" sz="2000" b="1" dirty="0"/>
                  <a:t>Generalization: </a:t>
                </a:r>
                <a14:m>
                  <m:oMath xmlns:m="http://schemas.openxmlformats.org/officeDocument/2006/math">
                    <m:r>
                      <a:rPr lang="en-US" sz="2000" b="0" i="1" smtClean="0">
                        <a:latin typeface="Cambria Math"/>
                      </a:rPr>
                      <m:t>𝐸</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1</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2</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𝑛</m:t>
                            </m:r>
                          </m:sub>
                        </m:sSub>
                      </m:e>
                    </m:d>
                    <m:r>
                      <a:rPr lang="en-US" sz="2000" b="0" i="1" smtClean="0">
                        <a:latin typeface="Cambria Math"/>
                      </a:rPr>
                      <m:t>=</m:t>
                    </m:r>
                    <m:r>
                      <a:rPr lang="en-US" sz="2000" b="0" i="1" smtClean="0">
                        <a:latin typeface="Cambria Math"/>
                      </a:rPr>
                      <m:t>𝐸</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a:rPr>
                              <m:t>𝑋</m:t>
                            </m:r>
                          </m:e>
                          <m:sub>
                            <m:r>
                              <a:rPr lang="en-US" sz="2000" i="1">
                                <a:latin typeface="Cambria Math"/>
                              </a:rPr>
                              <m:t>1</m:t>
                            </m:r>
                          </m:sub>
                        </m:sSub>
                        <m:r>
                          <a:rPr lang="en-US" sz="2000" b="0" i="1" smtClean="0">
                            <a:latin typeface="Cambria Math"/>
                          </a:rPr>
                          <m:t>)</m:t>
                        </m:r>
                        <m:r>
                          <a:rPr lang="en-US" sz="2000" i="1">
                            <a:latin typeface="Cambria Math"/>
                          </a:rPr>
                          <m:t>+</m:t>
                        </m:r>
                        <m:sSub>
                          <m:sSubPr>
                            <m:ctrlPr>
                              <a:rPr lang="en-US" sz="2000" i="1">
                                <a:latin typeface="Cambria Math" panose="02040503050406030204" pitchFamily="18" charset="0"/>
                              </a:rPr>
                            </m:ctrlPr>
                          </m:sSubPr>
                          <m:e>
                            <m:r>
                              <a:rPr lang="en-US" sz="2000" b="0" i="1" smtClean="0">
                                <a:latin typeface="Cambria Math"/>
                              </a:rPr>
                              <m:t>𝐸</m:t>
                            </m:r>
                            <m:r>
                              <a:rPr lang="en-US" sz="2000" b="0" i="1" smtClean="0">
                                <a:latin typeface="Cambria Math"/>
                              </a:rPr>
                              <m:t>(</m:t>
                            </m:r>
                            <m:r>
                              <a:rPr lang="en-US" sz="2000" i="1">
                                <a:latin typeface="Cambria Math"/>
                              </a:rPr>
                              <m:t>𝑋</m:t>
                            </m:r>
                          </m:e>
                          <m:sub>
                            <m:r>
                              <a:rPr lang="en-US" sz="2000" i="1">
                                <a:latin typeface="Cambria Math"/>
                              </a:rPr>
                              <m:t>2</m:t>
                            </m:r>
                          </m:sub>
                        </m:sSub>
                        <m:r>
                          <a:rPr lang="en-US" sz="2000" b="0" i="1" smtClean="0">
                            <a:latin typeface="Cambria Math"/>
                          </a:rPr>
                          <m:t>)</m:t>
                        </m:r>
                        <m:r>
                          <a:rPr lang="en-US" sz="2000" i="1">
                            <a:latin typeface="Cambria Math"/>
                          </a:rPr>
                          <m:t>+…+</m:t>
                        </m:r>
                        <m:r>
                          <a:rPr lang="en-US" sz="2000" b="0" i="1" smtClean="0">
                            <a:latin typeface="Cambria Math"/>
                          </a:rPr>
                          <m:t>𝐸</m:t>
                        </m:r>
                        <m:r>
                          <a:rPr lang="en-US" sz="2000" b="0" i="1" smtClean="0">
                            <a:latin typeface="Cambria Math"/>
                          </a:rPr>
                          <m:t>(</m:t>
                        </m:r>
                        <m:sSub>
                          <m:sSubPr>
                            <m:ctrlPr>
                              <a:rPr lang="en-US" sz="2000" i="1">
                                <a:latin typeface="Cambria Math" panose="02040503050406030204" pitchFamily="18" charset="0"/>
                              </a:rPr>
                            </m:ctrlPr>
                          </m:sSubPr>
                          <m:e>
                            <m:r>
                              <a:rPr lang="en-US" sz="2000" i="1">
                                <a:latin typeface="Cambria Math"/>
                              </a:rPr>
                              <m:t>𝑋</m:t>
                            </m:r>
                          </m:e>
                          <m:sub>
                            <m:r>
                              <a:rPr lang="en-US" sz="2000" i="1">
                                <a:latin typeface="Cambria Math"/>
                              </a:rPr>
                              <m:t>𝑛</m:t>
                            </m:r>
                          </m:sub>
                        </m:sSub>
                      </m:e>
                    </m:d>
                  </m:oMath>
                </a14:m>
                <a:endParaRPr lang="en-US" sz="2000" dirty="0"/>
              </a:p>
              <a:p>
                <a:pPr marL="0" indent="0" algn="just">
                  <a:buNone/>
                </a:pPr>
                <a:r>
                  <a:rPr lang="en-US" sz="2000" dirty="0"/>
                  <a:t>Or </a:t>
                </a:r>
                <a14:m>
                  <m:oMath xmlns:m="http://schemas.openxmlformats.org/officeDocument/2006/math">
                    <m:r>
                      <a:rPr lang="en-US" sz="2000" b="0" i="1" smtClean="0">
                        <a:latin typeface="Cambria Math"/>
                      </a:rPr>
                      <m:t>𝐸</m:t>
                    </m:r>
                    <m:d>
                      <m:dPr>
                        <m:ctrlPr>
                          <a:rPr lang="en-US" sz="2000" b="0" i="1" smtClean="0">
                            <a:latin typeface="Cambria Math" panose="02040503050406030204" pitchFamily="18" charset="0"/>
                          </a:rPr>
                        </m:ctrlPr>
                      </m:dPr>
                      <m:e>
                        <m:nary>
                          <m:naryPr>
                            <m:chr m:val="∑"/>
                            <m:ctrlPr>
                              <a:rPr lang="en-US" sz="2000" i="1">
                                <a:latin typeface="Cambria Math" panose="02040503050406030204" pitchFamily="18" charset="0"/>
                              </a:rPr>
                            </m:ctrlPr>
                          </m:naryPr>
                          <m:sub>
                            <m:r>
                              <m:rPr>
                                <m:brk m:alnAt="23"/>
                              </m:rPr>
                              <a:rPr lang="en-US" sz="2000" b="0" i="1" smtClean="0">
                                <a:latin typeface="Cambria Math"/>
                              </a:rPr>
                              <m:t>𝑖</m:t>
                            </m:r>
                            <m:r>
                              <a:rPr lang="en-US" sz="2000" b="0" i="1" smtClean="0">
                                <a:latin typeface="Cambria Math"/>
                              </a:rPr>
                              <m:t>=1</m:t>
                            </m:r>
                          </m:sub>
                          <m:sup>
                            <m:r>
                              <a:rPr lang="en-US" sz="2000" b="0" i="1" smtClean="0">
                                <a:latin typeface="Cambria Math"/>
                              </a:rPr>
                              <m:t>𝑛</m:t>
                            </m:r>
                          </m:sup>
                          <m:e>
                            <m:sSub>
                              <m:sSubPr>
                                <m:ctrlPr>
                                  <a:rPr lang="en-US" sz="200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𝑖</m:t>
                                </m:r>
                              </m:sub>
                            </m:sSub>
                          </m:e>
                        </m:nary>
                      </m:e>
                    </m:d>
                    <m:r>
                      <a:rPr lang="en-US" sz="2000" b="0" i="1" smtClean="0">
                        <a:latin typeface="Cambria Math"/>
                      </a:rPr>
                      <m:t>=</m:t>
                    </m:r>
                    <m:nary>
                      <m:naryPr>
                        <m:chr m:val="∑"/>
                        <m:ctrlPr>
                          <a:rPr lang="en-US" sz="2000" b="0" i="1" smtClean="0">
                            <a:latin typeface="Cambria Math" panose="02040503050406030204" pitchFamily="18" charset="0"/>
                          </a:rPr>
                        </m:ctrlPr>
                      </m:naryPr>
                      <m:sub>
                        <m:r>
                          <m:rPr>
                            <m:brk m:alnAt="23"/>
                          </m:rPr>
                          <a:rPr lang="en-US" sz="2000" b="0" i="1" smtClean="0">
                            <a:latin typeface="Cambria Math"/>
                          </a:rPr>
                          <m:t>𝑖</m:t>
                        </m:r>
                        <m:r>
                          <a:rPr lang="en-US" sz="2000" b="0" i="1" smtClean="0">
                            <a:latin typeface="Cambria Math"/>
                          </a:rPr>
                          <m:t>=1</m:t>
                        </m:r>
                      </m:sub>
                      <m:sup>
                        <m:r>
                          <a:rPr lang="en-US" sz="2000" b="0" i="1" smtClean="0">
                            <a:latin typeface="Cambria Math"/>
                          </a:rPr>
                          <m:t>𝑛</m:t>
                        </m:r>
                      </m:sup>
                      <m:e>
                        <m:r>
                          <a:rPr lang="en-US" sz="2000" b="0" i="1" smtClean="0">
                            <a:latin typeface="Cambria Math"/>
                          </a:rPr>
                          <m:t>𝐸</m:t>
                        </m:r>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𝑖</m:t>
                            </m:r>
                          </m:sub>
                        </m:sSub>
                        <m:r>
                          <a:rPr lang="en-US" sz="2000" b="0" i="1" smtClean="0">
                            <a:latin typeface="Cambria Math"/>
                          </a:rPr>
                          <m:t>)</m:t>
                        </m:r>
                      </m:e>
                    </m:nary>
                  </m:oMath>
                </a14:m>
                <a:endParaRPr lang="en-US" sz="2000" dirty="0"/>
              </a:p>
              <a:p>
                <a:pPr marL="0" indent="0" algn="just">
                  <a:buNone/>
                </a:pPr>
                <a:r>
                  <a:rPr lang="en-US" sz="2000" dirty="0"/>
                  <a:t>Note : if a and b are constant then </a:t>
                </a:r>
                <a14:m>
                  <m:oMath xmlns:m="http://schemas.openxmlformats.org/officeDocument/2006/math">
                    <m:r>
                      <a:rPr lang="en-US" sz="2000" b="0" i="1" smtClean="0">
                        <a:latin typeface="Cambria Math"/>
                      </a:rPr>
                      <m:t>𝐸</m:t>
                    </m:r>
                    <m:d>
                      <m:dPr>
                        <m:ctrlPr>
                          <a:rPr lang="en-US" sz="2000" b="0" i="1" smtClean="0">
                            <a:latin typeface="Cambria Math" panose="02040503050406030204" pitchFamily="18" charset="0"/>
                          </a:rPr>
                        </m:ctrlPr>
                      </m:dPr>
                      <m:e>
                        <m:r>
                          <a:rPr lang="en-US" sz="2000" b="0" i="1" smtClean="0">
                            <a:latin typeface="Cambria Math"/>
                          </a:rPr>
                          <m:t>𝑎𝑋</m:t>
                        </m:r>
                        <m:r>
                          <a:rPr lang="en-US" sz="2000" b="0" i="1" smtClean="0">
                            <a:latin typeface="Cambria Math"/>
                          </a:rPr>
                          <m:t>+</m:t>
                        </m:r>
                        <m:r>
                          <a:rPr lang="en-US" sz="2000" b="0" i="1" smtClean="0">
                            <a:latin typeface="Cambria Math"/>
                          </a:rPr>
                          <m:t>𝑏</m:t>
                        </m:r>
                      </m:e>
                    </m:d>
                    <m:r>
                      <a:rPr lang="en-US" sz="2000" b="0" i="1" smtClean="0">
                        <a:latin typeface="Cambria Math"/>
                      </a:rPr>
                      <m:t>=</m:t>
                    </m:r>
                    <m:r>
                      <a:rPr lang="en-US" sz="2000" b="0" i="1" smtClean="0">
                        <a:latin typeface="Cambria Math"/>
                      </a:rPr>
                      <m:t>𝑎𝐸</m:t>
                    </m:r>
                    <m:d>
                      <m:dPr>
                        <m:ctrlPr>
                          <a:rPr lang="en-US" sz="2000" b="0" i="1" smtClean="0">
                            <a:latin typeface="Cambria Math" panose="02040503050406030204" pitchFamily="18" charset="0"/>
                          </a:rPr>
                        </m:ctrlPr>
                      </m:dPr>
                      <m:e>
                        <m:r>
                          <a:rPr lang="en-US" sz="2000" b="0" i="1" smtClean="0">
                            <a:latin typeface="Cambria Math"/>
                          </a:rPr>
                          <m:t>𝑋</m:t>
                        </m:r>
                      </m:e>
                    </m:d>
                    <m:r>
                      <a:rPr lang="en-US" sz="2000" b="0" i="1" smtClean="0">
                        <a:latin typeface="Cambria Math"/>
                      </a:rPr>
                      <m:t>+</m:t>
                    </m:r>
                    <m:r>
                      <a:rPr lang="en-US" sz="2000" b="0" i="1" smtClean="0">
                        <a:latin typeface="Cambria Math"/>
                      </a:rPr>
                      <m:t>𝑏</m:t>
                    </m:r>
                  </m:oMath>
                </a14:m>
                <a:endParaRPr lang="en-US" sz="2000" dirty="0"/>
              </a:p>
              <a:p>
                <a:pPr algn="just">
                  <a:buFont typeface="Wingdings" pitchFamily="2" charset="2"/>
                  <a:buChar char="v"/>
                </a:pPr>
                <a:r>
                  <a:rPr lang="en-US" sz="2000" b="1" dirty="0"/>
                  <a:t>Theorem 4.</a:t>
                </a:r>
                <a:r>
                  <a:rPr lang="en-US" sz="2000" dirty="0"/>
                  <a:t>Expectation of the product of two independent random variables i.e.  </a:t>
                </a:r>
                <a14:m>
                  <m:oMath xmlns:m="http://schemas.openxmlformats.org/officeDocument/2006/math">
                    <m:r>
                      <m:rPr>
                        <m:sty m:val="p"/>
                      </m:rPr>
                      <a:rPr lang="en-US" sz="2000" b="0" i="0" smtClean="0">
                        <a:latin typeface="Cambria Math"/>
                      </a:rPr>
                      <m:t>E</m:t>
                    </m:r>
                    <m:d>
                      <m:dPr>
                        <m:ctrlPr>
                          <a:rPr lang="en-US" sz="2000" i="1" smtClean="0">
                            <a:latin typeface="Cambria Math" panose="02040503050406030204" pitchFamily="18" charset="0"/>
                          </a:rPr>
                        </m:ctrlPr>
                      </m:dPr>
                      <m:e>
                        <m:r>
                          <m:rPr>
                            <m:sty m:val="p"/>
                          </m:rPr>
                          <a:rPr lang="en-US" sz="2000" b="0" i="0" smtClean="0">
                            <a:latin typeface="Cambria Math"/>
                          </a:rPr>
                          <m:t>XY</m:t>
                        </m:r>
                      </m:e>
                    </m:d>
                    <m:r>
                      <a:rPr lang="en-US" sz="2000" b="0" i="0" smtClean="0">
                        <a:latin typeface="Cambria Math"/>
                      </a:rPr>
                      <m:t>=</m:t>
                    </m:r>
                    <m:r>
                      <m:rPr>
                        <m:sty m:val="p"/>
                      </m:rPr>
                      <a:rPr lang="en-US" sz="2000" b="0" i="0" smtClean="0">
                        <a:latin typeface="Cambria Math"/>
                      </a:rPr>
                      <m:t>E</m:t>
                    </m:r>
                    <m:d>
                      <m:dPr>
                        <m:ctrlPr>
                          <a:rPr lang="en-US" sz="2000" i="1" smtClean="0">
                            <a:latin typeface="Cambria Math" panose="02040503050406030204" pitchFamily="18" charset="0"/>
                          </a:rPr>
                        </m:ctrlPr>
                      </m:dPr>
                      <m:e>
                        <m:r>
                          <m:rPr>
                            <m:sty m:val="p"/>
                          </m:rPr>
                          <a:rPr lang="en-US" sz="2000" b="0" i="0" smtClean="0">
                            <a:latin typeface="Cambria Math"/>
                          </a:rPr>
                          <m:t>X</m:t>
                        </m:r>
                      </m:e>
                    </m:d>
                    <m:r>
                      <m:rPr>
                        <m:sty m:val="p"/>
                      </m:rPr>
                      <a:rPr lang="en-US" sz="2000" b="0" i="0" smtClean="0">
                        <a:latin typeface="Cambria Math"/>
                      </a:rPr>
                      <m:t>E</m:t>
                    </m:r>
                    <m:r>
                      <a:rPr lang="en-US" sz="2000" b="0" i="0" smtClean="0">
                        <a:latin typeface="Cambria Math"/>
                      </a:rPr>
                      <m:t>(</m:t>
                    </m:r>
                    <m:r>
                      <m:rPr>
                        <m:sty m:val="p"/>
                      </m:rPr>
                      <a:rPr lang="en-US" sz="2000" b="0" i="0" smtClean="0">
                        <a:latin typeface="Cambria Math"/>
                      </a:rPr>
                      <m:t>Y</m:t>
                    </m:r>
                    <m:r>
                      <a:rPr lang="en-US" sz="2000" b="0" i="0" smtClean="0">
                        <a:latin typeface="Cambria Math"/>
                      </a:rPr>
                      <m:t>)</m:t>
                    </m:r>
                  </m:oMath>
                </a14:m>
                <a:endParaRPr lang="en-US" sz="2000" dirty="0"/>
              </a:p>
              <a:p>
                <a:pPr marL="0" indent="0" algn="just">
                  <a:buNone/>
                </a:pPr>
                <a:r>
                  <a:rPr lang="en-US" sz="2000" b="1" dirty="0"/>
                  <a:t>Generalization:</a:t>
                </a:r>
                <a14:m>
                  <m:oMath xmlns:m="http://schemas.openxmlformats.org/officeDocument/2006/math">
                    <m:r>
                      <a:rPr lang="en-US" sz="2000" i="1">
                        <a:latin typeface="Cambria Math"/>
                      </a:rPr>
                      <m:t>𝐸</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a:rPr>
                              <m:t>𝑋</m:t>
                            </m:r>
                          </m:e>
                          <m:sub>
                            <m:r>
                              <a:rPr lang="en-US" sz="2000" i="1">
                                <a:latin typeface="Cambria Math"/>
                              </a:rPr>
                              <m:t>1</m:t>
                            </m:r>
                          </m:sub>
                        </m:sSub>
                        <m:r>
                          <a:rPr lang="en-US" sz="2000" b="0" i="1" smtClean="0">
                            <a:latin typeface="Cambria Math"/>
                          </a:rPr>
                          <m:t>,</m:t>
                        </m:r>
                        <m:sSub>
                          <m:sSubPr>
                            <m:ctrlPr>
                              <a:rPr lang="en-US" sz="2000" i="1">
                                <a:latin typeface="Cambria Math" panose="02040503050406030204" pitchFamily="18" charset="0"/>
                              </a:rPr>
                            </m:ctrlPr>
                          </m:sSubPr>
                          <m:e>
                            <m:r>
                              <a:rPr lang="en-US" sz="2000" i="1">
                                <a:latin typeface="Cambria Math"/>
                              </a:rPr>
                              <m:t>𝑋</m:t>
                            </m:r>
                          </m:e>
                          <m:sub>
                            <m:r>
                              <a:rPr lang="en-US" sz="2000" i="1">
                                <a:latin typeface="Cambria Math"/>
                              </a:rPr>
                              <m:t>2</m:t>
                            </m:r>
                          </m:sub>
                        </m:sSub>
                        <m:r>
                          <a:rPr lang="en-US" sz="2000" b="0" i="1" smtClean="0">
                            <a:latin typeface="Cambria Math"/>
                          </a:rPr>
                          <m:t>,</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𝑋</m:t>
                            </m:r>
                          </m:e>
                          <m:sub>
                            <m:r>
                              <a:rPr lang="en-US" sz="2000" i="1">
                                <a:latin typeface="Cambria Math"/>
                              </a:rPr>
                              <m:t>𝑛</m:t>
                            </m:r>
                          </m:sub>
                        </m:sSub>
                      </m:e>
                    </m:d>
                    <m:r>
                      <a:rPr lang="en-US" sz="2000" i="1">
                        <a:latin typeface="Cambria Math"/>
                      </a:rPr>
                      <m:t>=</m:t>
                    </m:r>
                    <m:r>
                      <a:rPr lang="en-US" sz="2000" i="1">
                        <a:latin typeface="Cambria Math"/>
                      </a:rPr>
                      <m:t>𝐸</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a:rPr>
                              <m:t>𝑋</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𝐸</m:t>
                            </m:r>
                            <m:r>
                              <a:rPr lang="en-US" sz="2000" i="1">
                                <a:latin typeface="Cambria Math"/>
                              </a:rPr>
                              <m:t>(</m:t>
                            </m:r>
                            <m:r>
                              <a:rPr lang="en-US" sz="2000" i="1">
                                <a:latin typeface="Cambria Math"/>
                              </a:rPr>
                              <m:t>𝑋</m:t>
                            </m:r>
                          </m:e>
                          <m:sub>
                            <m:r>
                              <a:rPr lang="en-US" sz="2000" i="1">
                                <a:latin typeface="Cambria Math"/>
                              </a:rPr>
                              <m:t>2</m:t>
                            </m:r>
                          </m:sub>
                        </m:sSub>
                        <m:r>
                          <a:rPr lang="en-US" sz="2000" i="1">
                            <a:latin typeface="Cambria Math"/>
                          </a:rPr>
                          <m:t>)…</m:t>
                        </m:r>
                        <m:r>
                          <a:rPr lang="en-US" sz="2000" i="1">
                            <a:latin typeface="Cambria Math"/>
                          </a:rPr>
                          <m:t>𝐸</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𝑋</m:t>
                            </m:r>
                          </m:e>
                          <m:sub>
                            <m:r>
                              <a:rPr lang="en-US" sz="2000" i="1">
                                <a:latin typeface="Cambria Math"/>
                              </a:rPr>
                              <m:t>𝑛</m:t>
                            </m:r>
                          </m:sub>
                        </m:sSub>
                      </m:e>
                    </m:d>
                  </m:oMath>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 </a:t>
            </a:r>
          </a:p>
          <a:p>
            <a:pPr lvl="0" algn="ctr">
              <a:spcBef>
                <a:spcPct val="0"/>
              </a:spcBef>
              <a:defRPr/>
            </a:pPr>
            <a:r>
              <a:rPr lang="en-US" sz="2400" b="1" dirty="0"/>
              <a:t>Mathematical expectation(CO4)</a:t>
            </a:r>
          </a:p>
          <a:p>
            <a:pPr algn="ctr">
              <a:spcBef>
                <a:spcPct val="0"/>
              </a:spcBef>
              <a:defRPr/>
            </a:pPr>
            <a:endParaRPr lang="en-US" sz="3000" dirty="0"/>
          </a:p>
        </p:txBody>
      </p:sp>
      <p:sp>
        <p:nvSpPr>
          <p:cNvPr id="2" name="Slide Number Placeholder 1">
            <a:extLst>
              <a:ext uri="{FF2B5EF4-FFF2-40B4-BE49-F238E27FC236}">
                <a16:creationId xmlns:a16="http://schemas.microsoft.com/office/drawing/2014/main" id="{FA0C6A67-0A8B-4A77-A48B-36696DF1382A}"/>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512909324"/>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lgn="just">
                  <a:buFont typeface="Wingdings" pitchFamily="2" charset="2"/>
                  <a:buChar char="v"/>
                </a:pPr>
                <a:r>
                  <a:rPr lang="en-US" sz="2000" b="1" dirty="0"/>
                  <a:t>Theorem 5. </a:t>
                </a:r>
                <a:r>
                  <a:rPr lang="en-US" sz="2000" dirty="0"/>
                  <a:t>Expectation of the difference of two random variables, </a:t>
                </a:r>
              </a:p>
              <a:p>
                <a:pPr marL="0" indent="0" algn="just">
                  <a:buNone/>
                </a:pPr>
                <a:r>
                  <a:rPr lang="en-US" sz="2000" dirty="0"/>
                  <a:t>i.e. E(X-Y)=E(X)-E(Y)</a:t>
                </a:r>
              </a:p>
              <a:p>
                <a:pPr marL="0" indent="0" algn="just">
                  <a:buNone/>
                </a:pPr>
                <a:r>
                  <a:rPr lang="en-US" sz="2000" b="1" dirty="0"/>
                  <a:t>Q1. </a:t>
                </a:r>
                <a:r>
                  <a:rPr lang="en-US" sz="2000" dirty="0"/>
                  <a:t>What is the expected value of the number of the number of points that will be obtained in a single throw with an ordinary die? Find variance also.</a:t>
                </a:r>
              </a:p>
              <a:p>
                <a:pPr marL="0" indent="0" algn="just">
                  <a:buNone/>
                </a:pPr>
                <a:r>
                  <a:rPr lang="en-US" sz="2000" b="1" dirty="0"/>
                  <a:t>Solution. </a:t>
                </a:r>
                <a:r>
                  <a:rPr lang="en-US" sz="2000" dirty="0"/>
                  <a:t>Here the variate is the number of points showing on a die. It assumes the values 1,2,3,4,5,6 with probability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6</m:t>
                        </m:r>
                      </m:den>
                    </m:f>
                  </m:oMath>
                </a14:m>
                <a:r>
                  <a:rPr lang="en-US" sz="2000" dirty="0"/>
                  <a:t> in each case.</a:t>
                </a:r>
              </a:p>
              <a:p>
                <a:pPr marL="0" indent="0" algn="just">
                  <a:buNone/>
                </a:pPr>
                <a14:m>
                  <m:oMath xmlns:m="http://schemas.openxmlformats.org/officeDocument/2006/math">
                    <m:r>
                      <a:rPr lang="en-US" sz="2000" b="0" i="1" smtClean="0">
                        <a:latin typeface="Cambria Math"/>
                      </a:rPr>
                      <m:t>𝐸</m:t>
                    </m:r>
                    <m:d>
                      <m:dPr>
                        <m:ctrlPr>
                          <a:rPr lang="en-US" sz="2000" b="0" i="1" smtClean="0">
                            <a:latin typeface="Cambria Math" panose="02040503050406030204" pitchFamily="18" charset="0"/>
                          </a:rPr>
                        </m:ctrlPr>
                      </m:dPr>
                      <m:e>
                        <m:r>
                          <a:rPr lang="en-US" sz="2000" b="0" i="1" smtClean="0">
                            <a:latin typeface="Cambria Math"/>
                          </a:rPr>
                          <m:t>𝑥</m:t>
                        </m:r>
                      </m:e>
                    </m:d>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1</m:t>
                        </m:r>
                      </m:sub>
                    </m:sSub>
                    <m:sSub>
                      <m:sSubPr>
                        <m:ctrlPr>
                          <a:rPr lang="en-US" sz="2000" b="0" i="1" smtClean="0">
                            <a:latin typeface="Cambria Math" panose="02040503050406030204" pitchFamily="18" charset="0"/>
                          </a:rPr>
                        </m:ctrlPr>
                      </m:sSubPr>
                      <m:e>
                        <m:r>
                          <a:rPr lang="en-US" sz="2000" b="0" i="1" smtClean="0">
                            <a:latin typeface="Cambria Math"/>
                          </a:rPr>
                          <m:t>𝑥</m:t>
                        </m:r>
                      </m:e>
                      <m:sub>
                        <m:r>
                          <a:rPr lang="en-US" sz="2000" b="0" i="1" smtClean="0">
                            <a:latin typeface="Cambria Math"/>
                          </a:rPr>
                          <m:t>1</m:t>
                        </m:r>
                      </m:sub>
                    </m:sSub>
                  </m:oMath>
                </a14:m>
                <a:r>
                  <a:rPr lang="en-US" sz="2000" dirty="0"/>
                  <a:t>+</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𝑝</m:t>
                        </m:r>
                      </m:e>
                      <m:sub>
                        <m:r>
                          <a:rPr lang="en-US" sz="2000" b="0" i="1" smtClean="0">
                            <a:latin typeface="Cambria Math"/>
                          </a:rPr>
                          <m:t>2</m:t>
                        </m:r>
                      </m:sub>
                    </m:sSub>
                    <m:sSub>
                      <m:sSubPr>
                        <m:ctrlPr>
                          <a:rPr lang="en-US" sz="2000" i="1">
                            <a:latin typeface="Cambria Math" panose="02040503050406030204" pitchFamily="18" charset="0"/>
                          </a:rPr>
                        </m:ctrlPr>
                      </m:sSubPr>
                      <m:e>
                        <m:r>
                          <a:rPr lang="en-US" sz="2000" i="1">
                            <a:latin typeface="Cambria Math"/>
                          </a:rPr>
                          <m:t>𝑥</m:t>
                        </m:r>
                      </m:e>
                      <m:sub>
                        <m:r>
                          <a:rPr lang="en-US" sz="2000" b="0" i="1" smtClean="0">
                            <a:latin typeface="Cambria Math"/>
                          </a:rPr>
                          <m:t>2</m:t>
                        </m:r>
                      </m:sub>
                    </m:sSub>
                  </m:oMath>
                </a14:m>
                <a:r>
                  <a:rPr lang="en-US" sz="2000" dirty="0"/>
                  <a:t>+….+</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𝑝</m:t>
                        </m:r>
                      </m:e>
                      <m:sub>
                        <m:r>
                          <a:rPr lang="en-US" sz="2000" b="0" i="1" smtClean="0">
                            <a:latin typeface="Cambria Math"/>
                          </a:rPr>
                          <m:t>6</m:t>
                        </m:r>
                      </m:sub>
                    </m:sSub>
                    <m:sSub>
                      <m:sSubPr>
                        <m:ctrlPr>
                          <a:rPr lang="en-US" sz="2000" i="1">
                            <a:latin typeface="Cambria Math" panose="02040503050406030204" pitchFamily="18" charset="0"/>
                          </a:rPr>
                        </m:ctrlPr>
                      </m:sSubPr>
                      <m:e>
                        <m:r>
                          <a:rPr lang="en-US" sz="2000" i="1">
                            <a:latin typeface="Cambria Math"/>
                          </a:rPr>
                          <m:t>𝑥</m:t>
                        </m:r>
                      </m:e>
                      <m:sub>
                        <m:r>
                          <a:rPr lang="en-US" sz="2000" b="0" i="1" smtClean="0">
                            <a:latin typeface="Cambria Math"/>
                          </a:rPr>
                          <m:t>6</m:t>
                        </m:r>
                      </m:sub>
                    </m:sSub>
                    <m:r>
                      <a:rPr lang="en-US" sz="2000" b="0" i="0"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6</m:t>
                        </m:r>
                      </m:den>
                    </m:f>
                    <m:r>
                      <a:rPr lang="en-US" sz="2000" b="0" i="1" smtClean="0">
                        <a:latin typeface="Cambria Math"/>
                        <a:ea typeface="Cambria Math"/>
                      </a:rPr>
                      <m:t>∙1+</m:t>
                    </m:r>
                    <m:f>
                      <m:fPr>
                        <m:ctrlPr>
                          <a:rPr lang="en-US" sz="2000" b="0" i="1" smtClean="0">
                            <a:latin typeface="Cambria Math" panose="02040503050406030204" pitchFamily="18" charset="0"/>
                            <a:ea typeface="Cambria Math"/>
                          </a:rPr>
                        </m:ctrlPr>
                      </m:fPr>
                      <m:num>
                        <m:r>
                          <a:rPr lang="en-US" sz="2000" b="0" i="1" smtClean="0">
                            <a:latin typeface="Cambria Math"/>
                            <a:ea typeface="Cambria Math"/>
                          </a:rPr>
                          <m:t>1</m:t>
                        </m:r>
                      </m:num>
                      <m:den>
                        <m:r>
                          <a:rPr lang="en-US" sz="2000" b="0" i="1" smtClean="0">
                            <a:latin typeface="Cambria Math"/>
                            <a:ea typeface="Cambria Math"/>
                          </a:rPr>
                          <m:t>6</m:t>
                        </m:r>
                      </m:den>
                    </m:f>
                    <m:r>
                      <a:rPr lang="en-US" sz="2000" b="0" i="1" smtClean="0">
                        <a:latin typeface="Cambria Math"/>
                        <a:ea typeface="Cambria Math"/>
                      </a:rPr>
                      <m:t>∙2+∙∙∙∙∙∙∙+</m:t>
                    </m:r>
                    <m:f>
                      <m:fPr>
                        <m:ctrlPr>
                          <a:rPr lang="en-US" sz="2000" b="0" i="1" smtClean="0">
                            <a:latin typeface="Cambria Math" panose="02040503050406030204" pitchFamily="18" charset="0"/>
                            <a:ea typeface="Cambria Math"/>
                          </a:rPr>
                        </m:ctrlPr>
                      </m:fPr>
                      <m:num>
                        <m:r>
                          <a:rPr lang="en-US" sz="2000" b="0" i="1" smtClean="0">
                            <a:latin typeface="Cambria Math"/>
                            <a:ea typeface="Cambria Math"/>
                          </a:rPr>
                          <m:t>1</m:t>
                        </m:r>
                      </m:num>
                      <m:den>
                        <m:r>
                          <a:rPr lang="en-US" sz="2000" b="0" i="1" smtClean="0">
                            <a:latin typeface="Cambria Math"/>
                            <a:ea typeface="Cambria Math"/>
                          </a:rPr>
                          <m:t>6</m:t>
                        </m:r>
                      </m:den>
                    </m:f>
                    <m:r>
                      <a:rPr lang="en-US" sz="2000" b="0" i="1" smtClean="0">
                        <a:latin typeface="Cambria Math"/>
                        <a:ea typeface="Cambria Math"/>
                      </a:rPr>
                      <m:t>∙6=3.5</m:t>
                    </m:r>
                  </m:oMath>
                </a14:m>
                <a:endParaRPr lang="en-US" sz="2000" dirty="0"/>
              </a:p>
              <a:p>
                <a:pPr marL="0" indent="0" algn="just">
                  <a:buNone/>
                </a:pPr>
                <a:r>
                  <a:rPr lang="en-US" sz="2000" dirty="0"/>
                  <a:t>var</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a:rPr>
                          <m:t>𝑥</m:t>
                        </m:r>
                      </m:e>
                    </m:d>
                    <m:r>
                      <a:rPr lang="en-US" sz="2000" b="0" i="1" smtClean="0">
                        <a:latin typeface="Cambria Math"/>
                      </a:rPr>
                      <m:t>=</m:t>
                    </m:r>
                    <m:r>
                      <m:rPr>
                        <m:sty m:val="p"/>
                      </m:rPr>
                      <a:rPr lang="en-US" sz="2000" b="0" i="0" smtClean="0">
                        <a:latin typeface="Cambria Math"/>
                      </a:rPr>
                      <m:t>E</m:t>
                    </m:r>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en-US" sz="2000" b="0" i="1" dirty="0" smtClean="0">
                                <a:latin typeface="Cambria Math"/>
                              </a:rPr>
                              <m:t>𝑥</m:t>
                            </m:r>
                          </m:e>
                          <m:sup>
                            <m:r>
                              <a:rPr lang="en-US" sz="2000" b="0" i="1" dirty="0" smtClean="0">
                                <a:latin typeface="Cambria Math"/>
                              </a:rPr>
                              <m:t>2</m:t>
                            </m:r>
                          </m:sup>
                        </m:sSup>
                      </m:e>
                    </m:d>
                    <m:r>
                      <a:rPr lang="en-US" sz="2000" b="0" i="0" dirty="0" smtClean="0">
                        <a:latin typeface="Cambria Math"/>
                      </a:rPr>
                      <m:t>−</m:t>
                    </m:r>
                    <m:d>
                      <m:dPr>
                        <m:begChr m:val="["/>
                        <m:endChr m:val="]"/>
                        <m:ctrlPr>
                          <a:rPr lang="en-US" sz="2000" b="0" i="1" dirty="0" smtClean="0">
                            <a:latin typeface="Cambria Math" panose="02040503050406030204" pitchFamily="18" charset="0"/>
                          </a:rPr>
                        </m:ctrlPr>
                      </m:dPr>
                      <m:e>
                        <m:r>
                          <m:rPr>
                            <m:sty m:val="p"/>
                          </m:rPr>
                          <a:rPr lang="en-US" sz="2000" b="0" i="0" dirty="0" smtClean="0">
                            <a:latin typeface="Cambria Math"/>
                          </a:rPr>
                          <m:t>E</m:t>
                        </m:r>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en-US" sz="2000" b="0" i="1" dirty="0" smtClean="0">
                                    <a:latin typeface="Cambria Math"/>
                                  </a:rPr>
                                  <m:t>𝑥</m:t>
                                </m:r>
                              </m:e>
                              <m:sup>
                                <m:r>
                                  <a:rPr lang="en-US" sz="2000" b="0" i="1" dirty="0" smtClean="0">
                                    <a:latin typeface="Cambria Math"/>
                                  </a:rPr>
                                  <m:t>2</m:t>
                                </m:r>
                              </m:sup>
                            </m:sSup>
                          </m:e>
                        </m:d>
                      </m:e>
                    </m:d>
                    <m:r>
                      <a:rPr lang="en-US" sz="2000" b="0" i="0" dirty="0" smtClean="0">
                        <a:latin typeface="Cambria Math"/>
                      </a:rPr>
                      <m:t>=</m:t>
                    </m:r>
                    <m:f>
                      <m:fPr>
                        <m:ctrlPr>
                          <a:rPr lang="en-US" sz="2000" b="0" i="1" dirty="0" smtClean="0">
                            <a:latin typeface="Cambria Math" panose="02040503050406030204" pitchFamily="18" charset="0"/>
                          </a:rPr>
                        </m:ctrlPr>
                      </m:fPr>
                      <m:num>
                        <m:r>
                          <a:rPr lang="en-US" sz="2000" b="0" i="1" dirty="0" smtClean="0">
                            <a:latin typeface="Cambria Math"/>
                          </a:rPr>
                          <m:t>1</m:t>
                        </m:r>
                      </m:num>
                      <m:den>
                        <m:r>
                          <a:rPr lang="en-US" sz="2000" b="0" i="1" dirty="0" smtClean="0">
                            <a:latin typeface="Cambria Math"/>
                          </a:rPr>
                          <m:t>6</m:t>
                        </m:r>
                      </m:den>
                    </m:f>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en-US" sz="2000" b="0" i="1" dirty="0" smtClean="0">
                                <a:latin typeface="Cambria Math"/>
                              </a:rPr>
                              <m:t>1</m:t>
                            </m:r>
                          </m:e>
                          <m:sup>
                            <m:r>
                              <a:rPr lang="en-US" sz="2000" b="0" i="1" dirty="0" smtClean="0">
                                <a:latin typeface="Cambria Math"/>
                              </a:rPr>
                              <m:t>2</m:t>
                            </m:r>
                          </m:sup>
                        </m:sSup>
                        <m:r>
                          <a:rPr lang="en-US" sz="2000" b="0" i="1" dirty="0" smtClean="0">
                            <a:latin typeface="Cambria Math"/>
                          </a:rPr>
                          <m:t>+</m:t>
                        </m:r>
                        <m:sSup>
                          <m:sSupPr>
                            <m:ctrlPr>
                              <a:rPr lang="en-US" sz="2000" b="0" i="1" dirty="0" smtClean="0">
                                <a:latin typeface="Cambria Math" panose="02040503050406030204" pitchFamily="18" charset="0"/>
                              </a:rPr>
                            </m:ctrlPr>
                          </m:sSupPr>
                          <m:e>
                            <m:r>
                              <a:rPr lang="en-US" sz="2000" b="0" i="1" dirty="0" smtClean="0">
                                <a:latin typeface="Cambria Math"/>
                              </a:rPr>
                              <m:t>2</m:t>
                            </m:r>
                          </m:e>
                          <m:sup>
                            <m:r>
                              <a:rPr lang="en-US" sz="2000" b="0" i="1" dirty="0" smtClean="0">
                                <a:latin typeface="Cambria Math"/>
                              </a:rPr>
                              <m:t>2</m:t>
                            </m:r>
                          </m:sup>
                        </m:sSup>
                        <m:r>
                          <a:rPr lang="en-US" sz="2000" b="0" i="1" dirty="0" smtClean="0">
                            <a:latin typeface="Cambria Math"/>
                          </a:rPr>
                          <m:t>+</m:t>
                        </m:r>
                        <m:r>
                          <a:rPr lang="en-US" sz="2000" b="0" i="1" dirty="0" smtClean="0">
                            <a:latin typeface="Cambria Math"/>
                            <a:ea typeface="Cambria Math"/>
                          </a:rPr>
                          <m:t>∙∙∙∙∙∙+</m:t>
                        </m:r>
                        <m:sSup>
                          <m:sSupPr>
                            <m:ctrlPr>
                              <a:rPr lang="en-US" sz="2000" b="0" i="1" dirty="0" smtClean="0">
                                <a:latin typeface="Cambria Math" panose="02040503050406030204" pitchFamily="18" charset="0"/>
                                <a:ea typeface="Cambria Math"/>
                              </a:rPr>
                            </m:ctrlPr>
                          </m:sSupPr>
                          <m:e>
                            <m:r>
                              <a:rPr lang="en-US" sz="2000" b="0" i="1" dirty="0" smtClean="0">
                                <a:latin typeface="Cambria Math"/>
                                <a:ea typeface="Cambria Math"/>
                              </a:rPr>
                              <m:t>6</m:t>
                            </m:r>
                          </m:e>
                          <m:sup>
                            <m:r>
                              <a:rPr lang="en-US" sz="2000" b="0" i="1" dirty="0" smtClean="0">
                                <a:latin typeface="Cambria Math"/>
                                <a:ea typeface="Cambria Math"/>
                              </a:rPr>
                              <m:t>2</m:t>
                            </m:r>
                          </m:sup>
                        </m:sSup>
                      </m:e>
                    </m:d>
                    <m:r>
                      <a:rPr lang="en-US" sz="2000" b="0" i="1" dirty="0" smtClean="0">
                        <a:latin typeface="Cambria Math"/>
                        <a:ea typeface="Cambria Math"/>
                      </a:rPr>
                      <m:t>−</m:t>
                    </m:r>
                    <m:sSup>
                      <m:sSupPr>
                        <m:ctrlPr>
                          <a:rPr lang="en-US" sz="2000" b="0" i="1" dirty="0" smtClean="0">
                            <a:latin typeface="Cambria Math" panose="02040503050406030204" pitchFamily="18" charset="0"/>
                            <a:ea typeface="Cambria Math"/>
                          </a:rPr>
                        </m:ctrlPr>
                      </m:sSupPr>
                      <m:e>
                        <m:d>
                          <m:dPr>
                            <m:ctrlPr>
                              <a:rPr lang="en-US" sz="2000" i="1" dirty="0">
                                <a:latin typeface="Cambria Math" panose="02040503050406030204" pitchFamily="18" charset="0"/>
                                <a:ea typeface="Cambria Math"/>
                              </a:rPr>
                            </m:ctrlPr>
                          </m:dPr>
                          <m:e>
                            <m:f>
                              <m:fPr>
                                <m:ctrlPr>
                                  <a:rPr lang="en-US" sz="2000" i="1" dirty="0">
                                    <a:latin typeface="Cambria Math" panose="02040503050406030204" pitchFamily="18" charset="0"/>
                                    <a:ea typeface="Cambria Math"/>
                                  </a:rPr>
                                </m:ctrlPr>
                              </m:fPr>
                              <m:num>
                                <m:r>
                                  <a:rPr lang="en-US" sz="2000" i="1" dirty="0">
                                    <a:latin typeface="Cambria Math"/>
                                    <a:ea typeface="Cambria Math"/>
                                  </a:rPr>
                                  <m:t>7</m:t>
                                </m:r>
                              </m:num>
                              <m:den>
                                <m:r>
                                  <a:rPr lang="en-US" sz="2000" i="1" dirty="0">
                                    <a:latin typeface="Cambria Math"/>
                                    <a:ea typeface="Cambria Math"/>
                                  </a:rPr>
                                  <m:t>2</m:t>
                                </m:r>
                              </m:den>
                            </m:f>
                          </m:e>
                        </m:d>
                      </m:e>
                      <m:sup>
                        <m:r>
                          <a:rPr lang="en-US" sz="2000" b="0" i="1" dirty="0" smtClean="0">
                            <a:latin typeface="Cambria Math"/>
                            <a:ea typeface="Cambria Math"/>
                          </a:rPr>
                          <m:t>2</m:t>
                        </m:r>
                      </m:sup>
                    </m:sSup>
                    <m:r>
                      <a:rPr lang="en-US" sz="2000" b="0" i="1" dirty="0" smtClean="0">
                        <a:latin typeface="Cambria Math"/>
                        <a:ea typeface="Cambria Math"/>
                      </a:rPr>
                      <m:t>=</m:t>
                    </m:r>
                    <m:f>
                      <m:fPr>
                        <m:ctrlPr>
                          <a:rPr lang="en-US" sz="2000" b="0" i="1" dirty="0" smtClean="0">
                            <a:latin typeface="Cambria Math" panose="02040503050406030204" pitchFamily="18" charset="0"/>
                            <a:ea typeface="Cambria Math"/>
                          </a:rPr>
                        </m:ctrlPr>
                      </m:fPr>
                      <m:num>
                        <m:r>
                          <a:rPr lang="en-US" sz="2000" b="0" i="1" dirty="0" smtClean="0">
                            <a:latin typeface="Cambria Math"/>
                            <a:ea typeface="Cambria Math"/>
                          </a:rPr>
                          <m:t>35</m:t>
                        </m:r>
                      </m:num>
                      <m:den>
                        <m:r>
                          <a:rPr lang="en-US" sz="2000" b="0" i="1" dirty="0" smtClean="0">
                            <a:latin typeface="Cambria Math"/>
                            <a:ea typeface="Cambria Math"/>
                          </a:rPr>
                          <m:t>12</m:t>
                        </m:r>
                      </m:den>
                    </m:f>
                  </m:oMath>
                </a14:m>
                <a:endParaRPr lang="en-US" sz="2000" dirty="0"/>
              </a:p>
              <a:p>
                <a:pPr marL="0" indent="0" algn="just">
                  <a:buNone/>
                </a:pPr>
                <a:endParaRPr lang="en-US" sz="20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mc:AlternateContent xmlns:mc="http://schemas.openxmlformats.org/markup-compatibility/2006" xmlns:a14="http://schemas.microsoft.com/office/drawing/2010/main">
        <mc:Choice Requires="a14">
          <p:sp>
            <p:nvSpPr>
              <p:cNvPr id="2" name="TextBox 1"/>
              <p:cNvSpPr txBox="1"/>
              <p:nvPr/>
            </p:nvSpPr>
            <p:spPr>
              <a:xfrm>
                <a:off x="4158641" y="2962405"/>
                <a:ext cx="29527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ea typeface="Cambria Math"/>
                        </a:rPr>
                        <m:t>∙</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4158641" y="2962405"/>
                <a:ext cx="295273" cy="369332"/>
              </a:xfrm>
              <a:prstGeom prst="rect">
                <a:avLst/>
              </a:prstGeom>
              <a:blipFill rotWithShape="0">
                <a:blip r:embed="rId4"/>
                <a:stretch>
                  <a:fillRect/>
                </a:stretch>
              </a:blipFill>
            </p:spPr>
            <p:txBody>
              <a:bodyPr/>
              <a:lstStyle/>
              <a:p>
                <a:r>
                  <a:rPr lang="en-US">
                    <a:noFill/>
                  </a:rPr>
                  <a:t> </a:t>
                </a:r>
              </a:p>
            </p:txBody>
          </p:sp>
        </mc:Fallback>
      </mc:AlternateContent>
      <p:sp>
        <p:nvSpPr>
          <p:cNvPr id="9"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 </a:t>
            </a:r>
          </a:p>
          <a:p>
            <a:pPr lvl="0" algn="ctr">
              <a:spcBef>
                <a:spcPct val="0"/>
              </a:spcBef>
              <a:defRPr/>
            </a:pPr>
            <a:r>
              <a:rPr lang="en-US" sz="2400" b="1" dirty="0"/>
              <a:t>Mathematical expectation(CO4)</a:t>
            </a:r>
          </a:p>
          <a:p>
            <a:pPr algn="ctr">
              <a:spcBef>
                <a:spcPct val="0"/>
              </a:spcBef>
              <a:defRPr/>
            </a:pPr>
            <a:endParaRPr lang="en-US" sz="3000" dirty="0"/>
          </a:p>
        </p:txBody>
      </p:sp>
      <p:sp>
        <p:nvSpPr>
          <p:cNvPr id="6" name="Slide Number Placeholder 5">
            <a:extLst>
              <a:ext uri="{FF2B5EF4-FFF2-40B4-BE49-F238E27FC236}">
                <a16:creationId xmlns:a16="http://schemas.microsoft.com/office/drawing/2014/main" id="{D0D66D05-FFB3-42E5-9416-45CAB2AA28FD}"/>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074505645"/>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51857"/>
            <a:ext cx="8229600" cy="4920343"/>
          </a:xfrm>
        </p:spPr>
        <p:txBody>
          <a:bodyPr>
            <a:normAutofit/>
          </a:bodyPr>
          <a:lstStyle/>
          <a:p>
            <a:pPr marL="0" indent="0">
              <a:buNone/>
            </a:pPr>
            <a:r>
              <a:rPr lang="en-US" sz="2200" dirty="0"/>
              <a:t>Q1. What is the mathematical expectation of the sum of points on n dice?</a:t>
            </a:r>
          </a:p>
          <a:p>
            <a:pPr marL="0" indent="0">
              <a:buNone/>
            </a:pPr>
            <a:r>
              <a:rPr lang="en-US" sz="2200" dirty="0"/>
              <a:t>Q2. Let X denote the number of women in the interview pool. We have found the probability mass function of X.</a:t>
            </a:r>
          </a:p>
          <a:p>
            <a:pPr marL="0" indent="0">
              <a:buNone/>
            </a:pPr>
            <a:endParaRPr lang="en-US" sz="2200" dirty="0"/>
          </a:p>
          <a:p>
            <a:pPr marL="0" lvl="0" indent="0">
              <a:buNone/>
            </a:pPr>
            <a:endParaRPr lang="en-US" sz="2200" dirty="0"/>
          </a:p>
          <a:p>
            <a:pPr marL="0" lvl="0" indent="0">
              <a:buNone/>
            </a:pPr>
            <a:r>
              <a:rPr lang="en-US" sz="2200" dirty="0"/>
              <a:t>How many women do you expect in the interview pool?</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 </a:t>
            </a:r>
          </a:p>
          <a:p>
            <a:pPr algn="ctr">
              <a:spcBef>
                <a:spcPct val="0"/>
              </a:spcBef>
              <a:defRPr/>
            </a:pPr>
            <a:r>
              <a:rPr lang="en-US" sz="2400" b="1" dirty="0"/>
              <a:t>Daily Quiz(CO4)</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86859EF-248F-4C6B-9B32-4D2445B5E29F}"/>
                  </a:ext>
                </a:extLst>
              </p:cNvPr>
              <p:cNvGraphicFramePr>
                <a:graphicFrameLocks noGrp="1"/>
              </p:cNvGraphicFramePr>
              <p:nvPr>
                <p:extLst>
                  <p:ext uri="{D42A27DB-BD31-4B8C-83A1-F6EECF244321}">
                    <p14:modId xmlns:p14="http://schemas.microsoft.com/office/powerpoint/2010/main" val="3355272580"/>
                  </p:ext>
                </p:extLst>
              </p:nvPr>
            </p:nvGraphicFramePr>
            <p:xfrm>
              <a:off x="1524000" y="2763520"/>
              <a:ext cx="6096000" cy="826326"/>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630965760"/>
                        </a:ext>
                      </a:extLst>
                    </a:gridCol>
                    <a:gridCol w="1524000">
                      <a:extLst>
                        <a:ext uri="{9D8B030D-6E8A-4147-A177-3AD203B41FA5}">
                          <a16:colId xmlns:a16="http://schemas.microsoft.com/office/drawing/2014/main" val="367607443"/>
                        </a:ext>
                      </a:extLst>
                    </a:gridCol>
                    <a:gridCol w="1524000">
                      <a:extLst>
                        <a:ext uri="{9D8B030D-6E8A-4147-A177-3AD203B41FA5}">
                          <a16:colId xmlns:a16="http://schemas.microsoft.com/office/drawing/2014/main" val="3966437220"/>
                        </a:ext>
                      </a:extLst>
                    </a:gridCol>
                    <a:gridCol w="1524000">
                      <a:extLst>
                        <a:ext uri="{9D8B030D-6E8A-4147-A177-3AD203B41FA5}">
                          <a16:colId xmlns:a16="http://schemas.microsoft.com/office/drawing/2014/main" val="4197181885"/>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r>
                                  <a:rPr lang="en-US" b="1" i="1" smtClean="0">
                                    <a:latin typeface="Cambria Math" panose="02040503050406030204" pitchFamily="18" charset="0"/>
                                  </a:rPr>
                                  <m:t>=</m:t>
                                </m:r>
                                <m:r>
                                  <a:rPr lang="en-US" b="1" i="1" smtClean="0">
                                    <a:latin typeface="Cambria Math" panose="02040503050406030204" pitchFamily="18" charset="0"/>
                                  </a:rPr>
                                  <m:t>𝒙</m:t>
                                </m:r>
                              </m:oMath>
                            </m:oMathPara>
                          </a14:m>
                          <a:endParaRPr lang="en-US" dirty="0"/>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1820088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11</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11</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11</m:t>
                                    </m:r>
                                  </m:den>
                                </m:f>
                              </m:oMath>
                            </m:oMathPara>
                          </a14:m>
                          <a:endParaRPr lang="en-US" dirty="0"/>
                        </a:p>
                      </a:txBody>
                      <a:tcPr/>
                    </a:tc>
                    <a:extLst>
                      <a:ext uri="{0D108BD9-81ED-4DB2-BD59-A6C34878D82A}">
                        <a16:rowId xmlns:a16="http://schemas.microsoft.com/office/drawing/2014/main" val="3902000400"/>
                      </a:ext>
                    </a:extLst>
                  </a:tr>
                </a:tbl>
              </a:graphicData>
            </a:graphic>
          </p:graphicFrame>
        </mc:Choice>
        <mc:Fallback xmlns="">
          <p:graphicFrame>
            <p:nvGraphicFramePr>
              <p:cNvPr id="2" name="Table 1">
                <a:extLst>
                  <a:ext uri="{FF2B5EF4-FFF2-40B4-BE49-F238E27FC236}">
                    <a16:creationId xmlns:a16="http://schemas.microsoft.com/office/drawing/2014/main" id="{A86859EF-248F-4C6B-9B32-4D2445B5E29F}"/>
                  </a:ext>
                </a:extLst>
              </p:cNvPr>
              <p:cNvGraphicFramePr>
                <a:graphicFrameLocks noGrp="1"/>
              </p:cNvGraphicFramePr>
              <p:nvPr>
                <p:extLst>
                  <p:ext uri="{D42A27DB-BD31-4B8C-83A1-F6EECF244321}">
                    <p14:modId xmlns:p14="http://schemas.microsoft.com/office/powerpoint/2010/main" val="3355272580"/>
                  </p:ext>
                </p:extLst>
              </p:nvPr>
            </p:nvGraphicFramePr>
            <p:xfrm>
              <a:off x="1524000" y="2763520"/>
              <a:ext cx="6096000" cy="826326"/>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630965760"/>
                        </a:ext>
                      </a:extLst>
                    </a:gridCol>
                    <a:gridCol w="1524000">
                      <a:extLst>
                        <a:ext uri="{9D8B030D-6E8A-4147-A177-3AD203B41FA5}">
                          <a16:colId xmlns:a16="http://schemas.microsoft.com/office/drawing/2014/main" val="367607443"/>
                        </a:ext>
                      </a:extLst>
                    </a:gridCol>
                    <a:gridCol w="1524000">
                      <a:extLst>
                        <a:ext uri="{9D8B030D-6E8A-4147-A177-3AD203B41FA5}">
                          <a16:colId xmlns:a16="http://schemas.microsoft.com/office/drawing/2014/main" val="3966437220"/>
                        </a:ext>
                      </a:extLst>
                    </a:gridCol>
                    <a:gridCol w="1524000">
                      <a:extLst>
                        <a:ext uri="{9D8B030D-6E8A-4147-A177-3AD203B41FA5}">
                          <a16:colId xmlns:a16="http://schemas.microsoft.com/office/drawing/2014/main" val="4197181885"/>
                        </a:ext>
                      </a:extLst>
                    </a:gridCol>
                  </a:tblGrid>
                  <a:tr h="370840">
                    <a:tc>
                      <a:txBody>
                        <a:bodyPr/>
                        <a:lstStyle/>
                        <a:p>
                          <a:endParaRPr lang="en-US"/>
                        </a:p>
                      </a:txBody>
                      <a:tcPr>
                        <a:blipFill>
                          <a:blip r:embed="rId2"/>
                          <a:stretch>
                            <a:fillRect l="-800" t="-45902" r="-302000" b="-350820"/>
                          </a:stretch>
                        </a:blipFill>
                      </a:tcPr>
                    </a:tc>
                    <a:tc>
                      <a:txBody>
                        <a:bodyPr/>
                        <a:lstStyle/>
                        <a:p>
                          <a:r>
                            <a:rPr lang="en-US" dirty="0"/>
                            <a:t>0</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182008856"/>
                      </a:ext>
                    </a:extLst>
                  </a:tr>
                  <a:tr h="455486">
                    <a:tc>
                      <a:txBody>
                        <a:bodyPr/>
                        <a:lstStyle/>
                        <a:p>
                          <a:endParaRPr lang="en-US"/>
                        </a:p>
                      </a:txBody>
                      <a:tcPr>
                        <a:blipFill>
                          <a:blip r:embed="rId2"/>
                          <a:stretch>
                            <a:fillRect l="-800" t="-118667" r="-302000" b="-185333"/>
                          </a:stretch>
                        </a:blipFill>
                      </a:tcPr>
                    </a:tc>
                    <a:tc>
                      <a:txBody>
                        <a:bodyPr/>
                        <a:lstStyle/>
                        <a:p>
                          <a:endParaRPr lang="en-US"/>
                        </a:p>
                      </a:txBody>
                      <a:tcPr>
                        <a:blipFill>
                          <a:blip r:embed="rId2"/>
                          <a:stretch>
                            <a:fillRect l="-100800" t="-118667" r="-202000" b="-185333"/>
                          </a:stretch>
                        </a:blipFill>
                      </a:tcPr>
                    </a:tc>
                    <a:tc>
                      <a:txBody>
                        <a:bodyPr/>
                        <a:lstStyle/>
                        <a:p>
                          <a:endParaRPr lang="en-US"/>
                        </a:p>
                      </a:txBody>
                      <a:tcPr>
                        <a:blipFill>
                          <a:blip r:embed="rId2"/>
                          <a:stretch>
                            <a:fillRect l="-200800" t="-118667" r="-102000" b="-185333"/>
                          </a:stretch>
                        </a:blipFill>
                      </a:tcPr>
                    </a:tc>
                    <a:tc>
                      <a:txBody>
                        <a:bodyPr/>
                        <a:lstStyle/>
                        <a:p>
                          <a:endParaRPr lang="en-US"/>
                        </a:p>
                      </a:txBody>
                      <a:tcPr>
                        <a:blipFill>
                          <a:blip r:embed="rId2"/>
                          <a:stretch>
                            <a:fillRect l="-300800" t="-118667" r="-2000" b="-185333"/>
                          </a:stretch>
                        </a:blipFill>
                      </a:tcPr>
                    </a:tc>
                    <a:extLst>
                      <a:ext uri="{0D108BD9-81ED-4DB2-BD59-A6C34878D82A}">
                        <a16:rowId xmlns:a16="http://schemas.microsoft.com/office/drawing/2014/main" val="3902000400"/>
                      </a:ext>
                    </a:extLst>
                  </a:tr>
                </a:tbl>
              </a:graphicData>
            </a:graphic>
          </p:graphicFrame>
        </mc:Fallback>
      </mc:AlternateContent>
    </p:spTree>
    <p:extLst>
      <p:ext uri="{BB962C8B-B14F-4D97-AF65-F5344CB8AC3E}">
        <p14:creationId xmlns:p14="http://schemas.microsoft.com/office/powerpoint/2010/main" val="631781968"/>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anose="05000000000000000000" pitchFamily="2" charset="2"/>
              <a:buChar char="ü"/>
            </a:pPr>
            <a:r>
              <a:rPr lang="en-US" sz="2200" dirty="0"/>
              <a:t>Mathematical expectation</a:t>
            </a:r>
          </a:p>
          <a:p>
            <a:pPr lvl="0">
              <a:buFont typeface="Wingdings" pitchFamily="2" charset="2"/>
              <a:buChar char="ü"/>
            </a:pPr>
            <a:r>
              <a:rPr lang="en-US" sz="2200" dirty="0"/>
              <a:t>Mean</a:t>
            </a:r>
          </a:p>
          <a:p>
            <a:pPr lvl="0">
              <a:buFont typeface="Wingdings" pitchFamily="2" charset="2"/>
              <a:buChar char="ü"/>
            </a:pPr>
            <a:r>
              <a:rPr lang="en-US" sz="2200" dirty="0"/>
              <a:t>Variance</a:t>
            </a: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Recap(CO4)</a:t>
            </a:r>
            <a:endParaRPr kumimoji="0" lang="en-US" sz="2400" b="1" i="0" u="none" strike="noStrike" kern="1200" cap="none" spc="0" normalizeH="0" baseline="0" noProof="0" dirty="0">
              <a:ln>
                <a:noFill/>
              </a:ln>
              <a:solidFill>
                <a:schemeClr val="dk1"/>
              </a:solidFill>
              <a:effectLst/>
              <a:uLnTx/>
              <a:uFillTx/>
            </a:endParaRPr>
          </a:p>
        </p:txBody>
      </p:sp>
      <p:sp>
        <p:nvSpPr>
          <p:cNvPr id="5" name="Slide Number Placeholder 4">
            <a:extLst>
              <a:ext uri="{FF2B5EF4-FFF2-40B4-BE49-F238E27FC236}">
                <a16:creationId xmlns:a16="http://schemas.microsoft.com/office/drawing/2014/main" id="{D5870352-636E-4242-B3AB-5B2C51425B55}"/>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10" name="Footer Placeholder 9">
            <a:extLst>
              <a:ext uri="{FF2B5EF4-FFF2-40B4-BE49-F238E27FC236}">
                <a16:creationId xmlns:a16="http://schemas.microsoft.com/office/drawing/2014/main" id="{58826BF7-9F68-4EC2-98AE-A052D7867406}"/>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098246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In probability theory and statistics, the </a:t>
            </a:r>
            <a:r>
              <a:rPr lang="en-US" sz="2200" i="1" dirty="0"/>
              <a:t>moment</a:t>
            </a:r>
            <a:r>
              <a:rPr lang="en-US" sz="2200" dirty="0"/>
              <a:t>-</a:t>
            </a:r>
            <a:r>
              <a:rPr lang="en-US" sz="2200" i="1" dirty="0"/>
              <a:t>generating function</a:t>
            </a:r>
            <a:r>
              <a:rPr lang="en-US" sz="2200" dirty="0"/>
              <a:t> of a real-valued random variable is an alternative specification of its probability .</a:t>
            </a:r>
            <a:endParaRPr lang="en-US" sz="2200" b="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4</a:t>
            </a:r>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Topic Objective(CO4)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ECCEA611-7A9D-490A-B03E-DA883472774A}"/>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0783523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q"/>
                </a:pPr>
                <a:r>
                  <a:rPr lang="en-US" sz="2000" b="1" dirty="0"/>
                  <a:t>MOMENT GENERATING FUNCTION:</a:t>
                </a:r>
              </a:p>
              <a:p>
                <a:pPr marL="0" indent="0">
                  <a:buNone/>
                </a:pPr>
                <a:r>
                  <a:rPr lang="en-US" sz="2000" dirty="0"/>
                  <a:t>An indirect method for computing moments is known as moment generating function. The  method depends on the finding of the moments generating function.</a:t>
                </a:r>
              </a:p>
              <a:p>
                <a:pPr>
                  <a:buFont typeface="Wingdings" pitchFamily="2" charset="2"/>
                  <a:buChar char="v"/>
                </a:pPr>
                <a:r>
                  <a:rPr lang="en-US" sz="2000" b="1" dirty="0"/>
                  <a:t>In Case of Continuous Variable </a:t>
                </a:r>
                <a14:m>
                  <m:oMath xmlns:m="http://schemas.openxmlformats.org/officeDocument/2006/math">
                    <m:r>
                      <a:rPr lang="en-US" sz="2000" b="1" i="1" smtClean="0">
                        <a:latin typeface="Cambria Math" panose="02040503050406030204" pitchFamily="18" charset="0"/>
                      </a:rPr>
                      <m:t>𝒙</m:t>
                    </m:r>
                  </m:oMath>
                </a14:m>
                <a:r>
                  <a:rPr lang="en-US" sz="2000" b="1" dirty="0"/>
                  <a:t>,it is defined as</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𝑀</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nary>
                        <m:naryPr>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𝑎</m:t>
                          </m:r>
                        </m:sub>
                        <m:sup>
                          <m:r>
                            <a:rPr lang="en-US" sz="2000" b="0" i="1" smtClean="0">
                              <a:latin typeface="Cambria Math" panose="02040503050406030204" pitchFamily="18" charset="0"/>
                            </a:rPr>
                            <m:t>𝑏</m:t>
                          </m:r>
                        </m:sup>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𝑡𝑥</m:t>
                              </m:r>
                            </m:sup>
                          </m:sSup>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𝑑𝑥</m:t>
                          </m:r>
                        </m:e>
                      </m:nary>
                    </m:oMath>
                  </m:oMathPara>
                </a14:m>
                <a:endParaRPr lang="en-US" sz="2000" b="0" dirty="0"/>
              </a:p>
              <a:p>
                <a:pPr marL="0" indent="0">
                  <a:buNone/>
                </a:pPr>
                <a:r>
                  <a:rPr lang="en-US" sz="2000" dirty="0"/>
                  <a:t>Where integral is a function of parameter t only. The limit a, b can be</a:t>
                </a:r>
              </a:p>
              <a:p>
                <a:pPr marL="0" indent="0">
                  <a:buNone/>
                </a:pP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ea typeface="Cambria Math"/>
                      </a:rPr>
                      <m:t>∞ </m:t>
                    </m:r>
                    <m:r>
                      <a:rPr lang="en-US" sz="2000" b="0" i="1" smtClean="0">
                        <a:latin typeface="Cambria Math" panose="02040503050406030204" pitchFamily="18" charset="0"/>
                        <a:ea typeface="Cambria Math"/>
                      </a:rPr>
                      <m:t>𝑎𝑛𝑑</m:t>
                    </m:r>
                    <m:r>
                      <a:rPr lang="en-US" sz="2000" b="0" i="1" smtClean="0">
                        <a:latin typeface="Cambria Math" panose="02040503050406030204" pitchFamily="18" charset="0"/>
                        <a:ea typeface="Cambria Math"/>
                      </a:rPr>
                      <m:t> ∞ </m:t>
                    </m:r>
                  </m:oMath>
                </a14:m>
                <a:r>
                  <a:rPr lang="en-US" sz="2000" b="0" dirty="0"/>
                  <a:t>respectively. It is possible to associate a moment generating function with the distribution only when all the moments of the distribution are finite.</a:t>
                </a:r>
              </a:p>
              <a:p>
                <a:pPr marL="0" indent="0">
                  <a:buNone/>
                </a:pPr>
                <a:r>
                  <a:rPr lang="en-US" sz="2000" dirty="0"/>
                  <a:t>Let us see how </a:t>
                </a:r>
                <a14:m>
                  <m:oMath xmlns:m="http://schemas.openxmlformats.org/officeDocument/2006/math">
                    <m:r>
                      <a:rPr lang="en-US" sz="2000" b="0" i="1" smtClean="0">
                        <a:latin typeface="Cambria Math" panose="02040503050406030204" pitchFamily="18" charset="0"/>
                      </a:rPr>
                      <m:t>𝑀</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 </m:t>
                    </m:r>
                  </m:oMath>
                </a14:m>
                <a:r>
                  <a:rPr lang="en-US" sz="2000" b="0" dirty="0"/>
                  <a:t>generates moments. For this let us assume</a:t>
                </a:r>
              </a:p>
              <a:p>
                <a:pPr marL="0" indent="0">
                  <a:buNone/>
                </a:pPr>
                <a:endParaRPr lang="en-US" sz="2200" b="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1259"/>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4</a:t>
            </a:r>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09FB981D-4D8A-484A-8E1F-44C30C2256F4}"/>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3955160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lstStyle/>
              <a:p>
                <a:pPr marL="0" indent="0">
                  <a:buNone/>
                </a:pPr>
                <a:r>
                  <a:rPr lang="en-US" sz="2000" dirty="0"/>
                  <a:t>That </a:t>
                </a:r>
                <a14:m>
                  <m:oMath xmlns:m="http://schemas.openxmlformats.org/officeDocument/2006/math">
                    <m:r>
                      <a:rPr lang="en-US" sz="2000" b="0" i="1" smtClean="0">
                        <a:latin typeface="Cambria Math"/>
                      </a:rPr>
                      <m:t>𝑓</m:t>
                    </m:r>
                    <m:d>
                      <m:dPr>
                        <m:ctrlPr>
                          <a:rPr lang="en-US" sz="2000" b="0" i="1" smtClean="0">
                            <a:latin typeface="Cambria Math" panose="02040503050406030204" pitchFamily="18" charset="0"/>
                          </a:rPr>
                        </m:ctrlPr>
                      </m:dPr>
                      <m:e>
                        <m:r>
                          <a:rPr lang="en-US" sz="2000" b="0" i="1" smtClean="0">
                            <a:latin typeface="Cambria Math"/>
                          </a:rPr>
                          <m:t>𝑥</m:t>
                        </m:r>
                      </m:e>
                    </m:d>
                  </m:oMath>
                </a14:m>
                <a:r>
                  <a:rPr lang="en-US" sz="2000" dirty="0"/>
                  <a:t> is a distribution function for which the integral given by(1) </a:t>
                </a:r>
                <a:r>
                  <a:rPr lang="en-US" sz="2000" dirty="0" err="1"/>
                  <a:t>exsists</a:t>
                </a:r>
                <a:r>
                  <a:rPr lang="en-US" sz="2000" dirty="0"/>
                  <a:t>.  Then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a:rPr>
                          <m:t>𝑒</m:t>
                        </m:r>
                      </m:e>
                      <m:sup>
                        <m:r>
                          <a:rPr lang="en-US" sz="2000" b="0" i="1" smtClean="0">
                            <a:latin typeface="Cambria Math"/>
                          </a:rPr>
                          <m:t>𝑡𝑥</m:t>
                        </m:r>
                      </m:sup>
                    </m:sSup>
                  </m:oMath>
                </a14:m>
                <a:r>
                  <a:rPr lang="en-US" sz="2000" dirty="0"/>
                  <a:t> may be expanded in a power series and the integration may be performed term by term. It follows that</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𝑀</m:t>
                      </m:r>
                      <m:d>
                        <m:dPr>
                          <m:ctrlPr>
                            <a:rPr lang="en-US" sz="2000" b="0" i="1" smtClean="0">
                              <a:latin typeface="Cambria Math" panose="02040503050406030204" pitchFamily="18" charset="0"/>
                            </a:rPr>
                          </m:ctrlPr>
                        </m:dPr>
                        <m:e>
                          <m:r>
                            <a:rPr lang="en-US" sz="2000" b="0" i="1" smtClean="0">
                              <a:latin typeface="Cambria Math"/>
                            </a:rPr>
                            <m:t>𝑡</m:t>
                          </m:r>
                        </m:e>
                      </m:d>
                      <m:r>
                        <a:rPr lang="en-US" sz="2000" b="0" i="1" smtClean="0">
                          <a:latin typeface="Cambria Math"/>
                        </a:rPr>
                        <m:t>=</m:t>
                      </m:r>
                      <m:nary>
                        <m:naryPr>
                          <m:ctrlPr>
                            <a:rPr lang="en-US" sz="2000" b="0" i="1" smtClean="0">
                              <a:latin typeface="Cambria Math" panose="02040503050406030204" pitchFamily="18" charset="0"/>
                            </a:rPr>
                          </m:ctrlPr>
                        </m:naryPr>
                        <m:sub>
                          <m:r>
                            <m:rPr>
                              <m:brk m:alnAt="23"/>
                            </m:rPr>
                            <a:rPr lang="en-US" sz="2000" b="0" i="1" smtClean="0">
                              <a:latin typeface="Cambria Math"/>
                            </a:rPr>
                            <m:t>𝑎</m:t>
                          </m:r>
                        </m:sub>
                        <m:sup>
                          <m:r>
                            <a:rPr lang="en-US" sz="2000" b="0" i="1" smtClean="0">
                              <a:latin typeface="Cambria Math"/>
                            </a:rPr>
                            <m:t>𝑏</m:t>
                          </m:r>
                        </m:sup>
                        <m:e>
                          <m:d>
                            <m:dPr>
                              <m:ctrlPr>
                                <a:rPr lang="en-US" sz="2000" b="0" i="1" smtClean="0">
                                  <a:latin typeface="Cambria Math" panose="02040503050406030204" pitchFamily="18" charset="0"/>
                                </a:rPr>
                              </m:ctrlPr>
                            </m:dPr>
                            <m:e>
                              <m:r>
                                <a:rPr lang="en-US" sz="2000" b="0" i="1" smtClean="0">
                                  <a:latin typeface="Cambria Math"/>
                                </a:rPr>
                                <m:t>1+</m:t>
                              </m:r>
                              <m:r>
                                <a:rPr lang="en-US" sz="2000" b="0" i="1" smtClean="0">
                                  <a:latin typeface="Cambria Math"/>
                                </a:rPr>
                                <m:t>𝑡𝑥</m:t>
                              </m:r>
                              <m:r>
                                <a:rPr lang="en-IN"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a:rPr>
                                        <m:t>𝑡</m:t>
                                      </m:r>
                                    </m:e>
                                    <m:sup>
                                      <m:r>
                                        <a:rPr lang="en-US" sz="2000" b="0" i="1" smtClean="0">
                                          <a:latin typeface="Cambria Math"/>
                                        </a:rPr>
                                        <m:t>2</m:t>
                                      </m:r>
                                    </m:sup>
                                  </m:sSup>
                                </m:num>
                                <m:den>
                                  <m:r>
                                    <a:rPr lang="en-US" sz="2000" b="0" i="1" smtClean="0">
                                      <a:latin typeface="Cambria Math"/>
                                    </a:rPr>
                                    <m:t>2</m:t>
                                  </m:r>
                                </m:den>
                              </m:f>
                              <m:sSup>
                                <m:sSupPr>
                                  <m:ctrlPr>
                                    <a:rPr lang="en-US" sz="2000" b="0" i="1" smtClean="0">
                                      <a:latin typeface="Cambria Math" panose="02040503050406030204" pitchFamily="18" charset="0"/>
                                    </a:rPr>
                                  </m:ctrlPr>
                                </m:sSupPr>
                                <m:e>
                                  <m:r>
                                    <a:rPr lang="en-US" sz="2000" b="0" i="1" smtClean="0">
                                      <a:latin typeface="Cambria Math"/>
                                    </a:rPr>
                                    <m:t>𝑥</m:t>
                                  </m:r>
                                </m:e>
                                <m:sup>
                                  <m:r>
                                    <a:rPr lang="en-US" sz="2000" b="0" i="1" smtClean="0">
                                      <a:latin typeface="Cambria Math"/>
                                    </a:rPr>
                                    <m:t>2</m:t>
                                  </m:r>
                                </m:sup>
                              </m:sSup>
                              <m:r>
                                <a:rPr lang="en-US" sz="2000" b="0" i="1" smtClean="0">
                                  <a:latin typeface="Cambria Math"/>
                                </a:rPr>
                                <m:t>+…</m:t>
                              </m:r>
                            </m:e>
                          </m:d>
                          <m:r>
                            <a:rPr lang="en-US" sz="2000" b="0" i="1" smtClean="0">
                              <a:latin typeface="Cambria Math"/>
                            </a:rPr>
                            <m:t>𝑓</m:t>
                          </m:r>
                          <m:d>
                            <m:dPr>
                              <m:ctrlPr>
                                <a:rPr lang="en-US" sz="2000" b="0" i="1" smtClean="0">
                                  <a:latin typeface="Cambria Math" panose="02040503050406030204" pitchFamily="18" charset="0"/>
                                </a:rPr>
                              </m:ctrlPr>
                            </m:dPr>
                            <m:e>
                              <m:r>
                                <a:rPr lang="en-US" sz="2000" b="0" i="1" smtClean="0">
                                  <a:latin typeface="Cambria Math"/>
                                </a:rPr>
                                <m:t>𝑥</m:t>
                              </m:r>
                            </m:e>
                          </m:d>
                          <m:r>
                            <a:rPr lang="en-US" sz="2000" b="0" i="1" smtClean="0">
                              <a:latin typeface="Cambria Math"/>
                            </a:rPr>
                            <m:t>𝑑𝑥</m:t>
                          </m:r>
                        </m:e>
                      </m:nary>
                    </m:oMath>
                  </m:oMathPara>
                </a14:m>
                <a:endParaRPr lang="en-US" sz="2000" dirty="0"/>
              </a:p>
              <a:p>
                <a:pPr marL="0" indent="0">
                  <a:buNone/>
                </a:pPr>
                <a14:m>
                  <m:oMath xmlns:m="http://schemas.openxmlformats.org/officeDocument/2006/math">
                    <m:r>
                      <a:rPr lang="en-US" sz="2000" b="0" i="1" smtClean="0">
                        <a:latin typeface="Cambria Math"/>
                      </a:rPr>
                      <m:t>=</m:t>
                    </m:r>
                    <m:nary>
                      <m:naryPr>
                        <m:ctrlPr>
                          <a:rPr lang="en-US" sz="2000" b="0" i="1" smtClean="0">
                            <a:latin typeface="Cambria Math" panose="02040503050406030204" pitchFamily="18" charset="0"/>
                          </a:rPr>
                        </m:ctrlPr>
                      </m:naryPr>
                      <m:sub>
                        <m:r>
                          <m:rPr>
                            <m:brk m:alnAt="23"/>
                          </m:rPr>
                          <a:rPr lang="en-US" sz="2000" b="0" i="1" smtClean="0">
                            <a:latin typeface="Cambria Math"/>
                          </a:rPr>
                          <m:t>𝑎</m:t>
                        </m:r>
                      </m:sub>
                      <m:sup>
                        <m:r>
                          <a:rPr lang="en-US" sz="2000" b="0" i="1" smtClean="0">
                            <a:latin typeface="Cambria Math"/>
                          </a:rPr>
                          <m:t>𝑏</m:t>
                        </m:r>
                      </m:sup>
                      <m:e>
                        <m:r>
                          <a:rPr lang="en-US" sz="2000" b="0" i="1" smtClean="0">
                            <a:latin typeface="Cambria Math"/>
                          </a:rPr>
                          <m:t>𝑓</m:t>
                        </m:r>
                        <m:d>
                          <m:dPr>
                            <m:ctrlPr>
                              <a:rPr lang="en-US" sz="2000" b="0" i="1" smtClean="0">
                                <a:latin typeface="Cambria Math" panose="02040503050406030204" pitchFamily="18" charset="0"/>
                              </a:rPr>
                            </m:ctrlPr>
                          </m:dPr>
                          <m:e>
                            <m:r>
                              <a:rPr lang="en-US" sz="2000" b="0" i="1" smtClean="0">
                                <a:latin typeface="Cambria Math"/>
                              </a:rPr>
                              <m:t>𝑥</m:t>
                            </m:r>
                          </m:e>
                        </m:d>
                        <m:r>
                          <a:rPr lang="en-US" sz="2000" b="0" i="1" smtClean="0">
                            <a:latin typeface="Cambria Math"/>
                          </a:rPr>
                          <m:t>𝑑𝑥</m:t>
                        </m:r>
                        <m:r>
                          <a:rPr lang="en-US" sz="2000" b="0" i="1" smtClean="0">
                            <a:latin typeface="Cambria Math"/>
                          </a:rPr>
                          <m:t>+</m:t>
                        </m:r>
                        <m:r>
                          <a:rPr lang="en-US" sz="2000" b="0" i="1" smtClean="0">
                            <a:latin typeface="Cambria Math"/>
                          </a:rPr>
                          <m:t>𝑡</m:t>
                        </m:r>
                        <m:nary>
                          <m:naryPr>
                            <m:ctrlPr>
                              <a:rPr lang="en-US" sz="2000" b="0" i="1" smtClean="0">
                                <a:latin typeface="Cambria Math" panose="02040503050406030204" pitchFamily="18" charset="0"/>
                              </a:rPr>
                            </m:ctrlPr>
                          </m:naryPr>
                          <m:sub>
                            <m:r>
                              <m:rPr>
                                <m:brk m:alnAt="23"/>
                              </m:rPr>
                              <a:rPr lang="en-US" sz="2000" b="0" i="1" smtClean="0">
                                <a:latin typeface="Cambria Math"/>
                              </a:rPr>
                              <m:t>𝑎</m:t>
                            </m:r>
                          </m:sub>
                          <m:sup>
                            <m:r>
                              <a:rPr lang="en-US" sz="2000" b="0" i="1" smtClean="0">
                                <a:latin typeface="Cambria Math"/>
                              </a:rPr>
                              <m:t>𝑏</m:t>
                            </m:r>
                          </m:sup>
                          <m:e>
                            <m:r>
                              <a:rPr lang="en-US" sz="2000" b="0" i="1" smtClean="0">
                                <a:latin typeface="Cambria Math"/>
                              </a:rPr>
                              <m:t>𝑥𝑓</m:t>
                            </m:r>
                            <m:d>
                              <m:dPr>
                                <m:ctrlPr>
                                  <a:rPr lang="en-US" sz="2000" b="0" i="1" smtClean="0">
                                    <a:latin typeface="Cambria Math" panose="02040503050406030204" pitchFamily="18" charset="0"/>
                                  </a:rPr>
                                </m:ctrlPr>
                              </m:dPr>
                              <m:e>
                                <m:r>
                                  <a:rPr lang="en-US" sz="2000" b="0" i="1" smtClean="0">
                                    <a:latin typeface="Cambria Math"/>
                                  </a:rPr>
                                  <m:t>𝑥</m:t>
                                </m:r>
                              </m:e>
                            </m:d>
                            <m:r>
                              <a:rPr lang="en-US" sz="2000" b="0" i="1" smtClean="0">
                                <a:latin typeface="Cambria Math"/>
                              </a:rPr>
                              <m:t>𝑑𝑥</m:t>
                            </m:r>
                          </m:e>
                        </m:nary>
                      </m:e>
                    </m:nary>
                  </m:oMath>
                </a14:m>
                <a:r>
                  <a:rPr lang="en-US" sz="2000" dirty="0"/>
                  <a:t>+….</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𝑣</m:t>
                          </m:r>
                        </m:e>
                        <m:sub>
                          <m:r>
                            <a:rPr lang="en-US" sz="2000" b="0" i="1" smtClean="0">
                              <a:latin typeface="Cambria Math"/>
                            </a:rPr>
                            <m:t>0</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𝑣</m:t>
                          </m:r>
                        </m:e>
                        <m:sub>
                          <m:r>
                            <a:rPr lang="en-US" sz="2000" b="0" i="1" smtClean="0">
                              <a:latin typeface="Cambria Math"/>
                            </a:rPr>
                            <m:t>1</m:t>
                          </m:r>
                        </m:sub>
                      </m:sSub>
                      <m:r>
                        <a:rPr lang="en-US" sz="2000" b="0" i="1" smtClean="0">
                          <a:latin typeface="Cambria Math"/>
                        </a:rPr>
                        <m:t>𝑡</m:t>
                      </m:r>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𝑣</m:t>
                          </m:r>
                        </m:e>
                        <m:sub>
                          <m:r>
                            <a:rPr lang="en-US" sz="2000" b="0" i="1" smtClean="0">
                              <a:latin typeface="Cambria Math"/>
                            </a:rPr>
                            <m:t>2</m:t>
                          </m:r>
                        </m:sub>
                      </m:sSub>
                      <m:r>
                        <a:rPr lang="en-US" sz="2000" b="0" i="1" smtClean="0">
                          <a:latin typeface="Cambria Math"/>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a:rPr>
                                <m:t>𝑡</m:t>
                              </m:r>
                            </m:e>
                            <m:sup>
                              <m:r>
                                <a:rPr lang="en-US" sz="2000" b="0" i="1" smtClean="0">
                                  <a:latin typeface="Cambria Math"/>
                                </a:rPr>
                                <m:t>2</m:t>
                              </m:r>
                            </m:sup>
                          </m:sSup>
                        </m:num>
                        <m:den>
                          <m:r>
                            <a:rPr lang="en-US" sz="2000" b="0" i="1" smtClean="0">
                              <a:latin typeface="Cambria Math"/>
                            </a:rPr>
                            <m:t>2</m:t>
                          </m:r>
                        </m:den>
                      </m:f>
                      <m:r>
                        <a:rPr lang="en-US" sz="2000" b="0" i="1" smtClean="0">
                          <a:latin typeface="Cambria Math"/>
                        </a:rPr>
                        <m:t>+…</m:t>
                      </m:r>
                    </m:oMath>
                  </m:oMathPara>
                </a14:m>
                <a:endParaRPr lang="en-US" sz="2000" dirty="0"/>
              </a:p>
              <a:p>
                <a:pPr marL="0" indent="0">
                  <a:buNone/>
                </a:pPr>
                <a:r>
                  <a:rPr lang="en-US" sz="2000" dirty="0"/>
                  <a:t>Obviously, the coefficient of </a:t>
                </a:r>
                <a14:m>
                  <m:oMath xmlns:m="http://schemas.openxmlformats.org/officeDocument/2006/math">
                    <m:f>
                      <m:fPr>
                        <m:ctrlPr>
                          <a:rPr lang="en-US" sz="2000" i="1" smtClean="0">
                            <a:latin typeface="Cambria Math" panose="02040503050406030204" pitchFamily="18" charset="0"/>
                          </a:rPr>
                        </m:ctrlPr>
                      </m:fPr>
                      <m:num>
                        <m:sSup>
                          <m:sSupPr>
                            <m:ctrlPr>
                              <a:rPr lang="en-US" sz="2000" i="1" smtClean="0">
                                <a:latin typeface="Cambria Math" panose="02040503050406030204" pitchFamily="18" charset="0"/>
                              </a:rPr>
                            </m:ctrlPr>
                          </m:sSupPr>
                          <m:e>
                            <m:r>
                              <a:rPr lang="en-US" sz="2000" b="0" i="1" smtClean="0">
                                <a:latin typeface="Cambria Math"/>
                              </a:rPr>
                              <m:t>𝑡</m:t>
                            </m:r>
                          </m:e>
                          <m:sup>
                            <m:r>
                              <a:rPr lang="en-US" sz="2000" b="0" i="1" smtClean="0">
                                <a:latin typeface="Cambria Math"/>
                              </a:rPr>
                              <m:t>𝑟</m:t>
                            </m:r>
                          </m:sup>
                        </m:sSup>
                      </m:num>
                      <m:den>
                        <m:r>
                          <a:rPr lang="en-US" sz="2000" b="0" i="1" smtClean="0">
                            <a:latin typeface="Cambria Math"/>
                          </a:rPr>
                          <m:t>𝑟</m:t>
                        </m:r>
                      </m:den>
                    </m:f>
                  </m:oMath>
                </a14:m>
                <a:r>
                  <a:rPr lang="en-US" sz="2000" dirty="0"/>
                  <a:t> in (2) is the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a:rPr>
                          <m:t>𝑟</m:t>
                        </m:r>
                      </m:e>
                      <m:sup>
                        <m:r>
                          <a:rPr lang="en-US" sz="2000" b="0" i="1" smtClean="0">
                            <a:latin typeface="Cambria Math"/>
                          </a:rPr>
                          <m:t>𝑡h</m:t>
                        </m:r>
                        <m:r>
                          <a:rPr lang="en-US" sz="2000" b="0" i="1" smtClean="0">
                            <a:latin typeface="Cambria Math"/>
                          </a:rPr>
                          <m:t> </m:t>
                        </m:r>
                      </m:sup>
                    </m:sSup>
                  </m:oMath>
                </a14:m>
                <a:r>
                  <a:rPr lang="en-US" sz="2000" dirty="0"/>
                  <a:t>moment about the origin.</a:t>
                </a:r>
              </a:p>
              <a:p>
                <a:pPr marL="0" indent="0">
                  <a:buNone/>
                </a:pPr>
                <a:r>
                  <a:rPr lang="en-US" sz="2000" dirty="0"/>
                  <a:t>Also,</a:t>
                </a:r>
                <a14:m>
                  <m:oMath xmlns:m="http://schemas.openxmlformats.org/officeDocument/2006/math">
                    <m:r>
                      <a:rPr lang="en-US" sz="2000" i="1" smtClean="0">
                        <a:latin typeface="Cambria Math"/>
                      </a:rPr>
                      <m:t> </m:t>
                    </m:r>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a:rPr>
                                      <m:t>𝑑</m:t>
                                    </m:r>
                                  </m:e>
                                  <m:sup>
                                    <m:r>
                                      <a:rPr lang="en-US" sz="2000" i="1">
                                        <a:latin typeface="Cambria Math"/>
                                      </a:rPr>
                                      <m:t>𝑟</m:t>
                                    </m:r>
                                  </m:sup>
                                </m:sSup>
                              </m:num>
                              <m:den>
                                <m:sSup>
                                  <m:sSupPr>
                                    <m:ctrlPr>
                                      <a:rPr lang="en-US" sz="2000" i="1">
                                        <a:latin typeface="Cambria Math" panose="02040503050406030204" pitchFamily="18" charset="0"/>
                                      </a:rPr>
                                    </m:ctrlPr>
                                  </m:sSupPr>
                                  <m:e>
                                    <m:r>
                                      <a:rPr lang="en-US" sz="2000" i="1">
                                        <a:latin typeface="Cambria Math"/>
                                      </a:rPr>
                                      <m:t>𝑑𝑡</m:t>
                                    </m:r>
                                  </m:e>
                                  <m:sup>
                                    <m:r>
                                      <a:rPr lang="en-US" sz="2000" i="1">
                                        <a:latin typeface="Cambria Math"/>
                                      </a:rPr>
                                      <m:t>𝑟</m:t>
                                    </m:r>
                                  </m:sup>
                                </m:sSup>
                              </m:den>
                            </m:f>
                            <m:r>
                              <a:rPr lang="en-US" sz="2000" i="1">
                                <a:latin typeface="Cambria Math"/>
                              </a:rPr>
                              <m:t>𝑀</m:t>
                            </m:r>
                            <m:d>
                              <m:dPr>
                                <m:ctrlPr>
                                  <a:rPr lang="en-US" sz="2000" i="1">
                                    <a:latin typeface="Cambria Math" panose="02040503050406030204" pitchFamily="18" charset="0"/>
                                  </a:rPr>
                                </m:ctrlPr>
                              </m:dPr>
                              <m:e>
                                <m:r>
                                  <a:rPr lang="en-US" sz="2000" i="1">
                                    <a:latin typeface="Cambria Math"/>
                                  </a:rPr>
                                  <m:t>𝑡</m:t>
                                </m:r>
                              </m:e>
                            </m:d>
                          </m:e>
                        </m:d>
                      </m:e>
                      <m:sub>
                        <m:r>
                          <a:rPr lang="en-US" sz="2000" b="0" i="1" smtClean="0">
                            <a:latin typeface="Cambria Math"/>
                          </a:rPr>
                          <m:t>𝑡</m:t>
                        </m:r>
                        <m:r>
                          <a:rPr lang="en-US" sz="2000" b="0" i="1" smtClean="0">
                            <a:latin typeface="Cambria Math"/>
                          </a:rPr>
                          <m:t>=0</m:t>
                        </m:r>
                      </m:sub>
                    </m:sSub>
                    <m:r>
                      <a:rPr lang="en-US" sz="2000" b="0" i="1" smtClean="0">
                        <a:latin typeface="Cambria Math"/>
                      </a:rPr>
                      <m:t>=</m:t>
                    </m:r>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a:rPr>
                                      <m:t>𝑣</m:t>
                                    </m:r>
                                  </m:e>
                                  <m:sub>
                                    <m:r>
                                      <a:rPr lang="en-US" sz="2000" i="1">
                                        <a:latin typeface="Cambria Math"/>
                                      </a:rPr>
                                      <m:t>𝑟</m:t>
                                    </m:r>
                                  </m:sub>
                                </m:sSub>
                              </m:num>
                              <m:den>
                                <m:r>
                                  <a:rPr lang="en-US" sz="2000" i="1">
                                    <a:latin typeface="Cambria Math"/>
                                  </a:rPr>
                                  <m:t>𝑟</m:t>
                                </m:r>
                              </m:den>
                            </m:f>
                            <m:r>
                              <a:rPr lang="en-US" sz="2000" i="1">
                                <a:latin typeface="Cambria Math"/>
                              </a:rPr>
                              <m:t>𝑟</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𝑣</m:t>
                                </m:r>
                              </m:e>
                              <m:sub>
                                <m:r>
                                  <a:rPr lang="en-US" sz="2000" i="1">
                                    <a:latin typeface="Cambria Math"/>
                                  </a:rPr>
                                  <m:t>𝑟</m:t>
                                </m:r>
                                <m:r>
                                  <a:rPr lang="en-US" sz="2000" i="1">
                                    <a:latin typeface="Cambria Math"/>
                                  </a:rPr>
                                  <m:t>+1</m:t>
                                </m:r>
                              </m:sub>
                            </m:sSub>
                            <m:r>
                              <a:rPr lang="en-US" sz="2000" i="1">
                                <a:latin typeface="Cambria Math"/>
                              </a:rPr>
                              <m:t>𝑡</m:t>
                            </m:r>
                            <m:r>
                              <a:rPr lang="en-US" sz="2000" i="1">
                                <a:latin typeface="Cambria Math"/>
                              </a:rPr>
                              <m:t>+…</m:t>
                            </m:r>
                          </m:e>
                        </m:d>
                      </m:e>
                      <m:sub>
                        <m:r>
                          <a:rPr lang="en-US" sz="2000" b="0" i="1" smtClean="0">
                            <a:latin typeface="Cambria Math"/>
                          </a:rPr>
                          <m:t>𝑡</m:t>
                        </m:r>
                        <m:r>
                          <a:rPr lang="en-US" sz="2000" b="0" i="1" smtClean="0">
                            <a:latin typeface="Cambria Math"/>
                          </a:rPr>
                          <m:t>=0</m:t>
                        </m:r>
                      </m:sub>
                    </m:sSub>
                    <m:r>
                      <a:rPr lang="en-US" sz="2000" b="0" i="0"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𝑣</m:t>
                        </m:r>
                      </m:e>
                      <m:sub>
                        <m:r>
                          <a:rPr lang="en-US" sz="2000" b="0" i="1" smtClean="0">
                            <a:latin typeface="Cambria Math"/>
                          </a:rPr>
                          <m:t>𝑟</m:t>
                        </m:r>
                      </m:sub>
                    </m:sSub>
                  </m:oMath>
                </a14:m>
                <a:r>
                  <a:rPr lang="en-US" sz="2000" dirty="0"/>
                  <a:t>, Thus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a:rPr>
                          <m:t>𝑣</m:t>
                        </m:r>
                      </m:e>
                      <m:sub>
                        <m:r>
                          <a:rPr lang="en-US" sz="2000" b="0" i="1" smtClean="0">
                            <a:latin typeface="Cambria Math"/>
                          </a:rPr>
                          <m:t>𝑟</m:t>
                        </m:r>
                        <m:r>
                          <a:rPr lang="en-US" sz="2000" b="0" i="1" smtClean="0">
                            <a:latin typeface="Cambria Math"/>
                          </a:rPr>
                          <m:t> </m:t>
                        </m:r>
                      </m:sub>
                    </m:sSub>
                  </m:oMath>
                </a14:m>
                <a:r>
                  <a:rPr lang="en-US" sz="2000" dirty="0"/>
                  <a:t>about origin </a:t>
                </a:r>
                <a14:m>
                  <m:oMath xmlns:m="http://schemas.openxmlformats.org/officeDocument/2006/math">
                    <m:r>
                      <a:rPr lang="en-US" sz="2000" b="0" i="1" smtClean="0">
                        <a:latin typeface="Cambria Math"/>
                      </a:rPr>
                      <m:t>=</m:t>
                    </m:r>
                    <m:sSup>
                      <m:sSupPr>
                        <m:ctrlPr>
                          <a:rPr lang="en-US" sz="2000" b="0" i="1" smtClean="0">
                            <a:latin typeface="Cambria Math" panose="02040503050406030204" pitchFamily="18" charset="0"/>
                          </a:rPr>
                        </m:ctrlPr>
                      </m:sSupPr>
                      <m:e>
                        <m:r>
                          <a:rPr lang="en-US" sz="2000" b="0" i="1" smtClean="0">
                            <a:latin typeface="Cambria Math"/>
                          </a:rPr>
                          <m:t>𝑟</m:t>
                        </m:r>
                      </m:e>
                      <m:sup>
                        <m:r>
                          <a:rPr lang="en-US" sz="2000" b="0" i="1" smtClean="0">
                            <a:latin typeface="Cambria Math"/>
                          </a:rPr>
                          <m:t>𝑡h</m:t>
                        </m:r>
                      </m:sup>
                    </m:sSup>
                  </m:oMath>
                </a14:m>
                <a:r>
                  <a:rPr lang="en-US" sz="2000" dirty="0"/>
                  <a:t> derivative of </a:t>
                </a:r>
                <a14:m>
                  <m:oMath xmlns:m="http://schemas.openxmlformats.org/officeDocument/2006/math">
                    <m:r>
                      <a:rPr lang="en-US" sz="2000" b="0" i="1" smtClean="0">
                        <a:latin typeface="Cambria Math"/>
                      </a:rPr>
                      <m:t>𝑀</m:t>
                    </m:r>
                    <m:d>
                      <m:dPr>
                        <m:ctrlPr>
                          <a:rPr lang="en-US" sz="2000" b="0" i="1" smtClean="0">
                            <a:latin typeface="Cambria Math" panose="02040503050406030204" pitchFamily="18" charset="0"/>
                          </a:rPr>
                        </m:ctrlPr>
                      </m:dPr>
                      <m:e>
                        <m:r>
                          <a:rPr lang="en-US" sz="2000" b="0" i="1" smtClean="0">
                            <a:latin typeface="Cambria Math"/>
                          </a:rPr>
                          <m:t>𝑡</m:t>
                        </m:r>
                      </m:e>
                    </m:d>
                    <m:r>
                      <a:rPr lang="en-US" sz="2000" b="0" i="1" smtClean="0">
                        <a:latin typeface="Cambria Math"/>
                      </a:rPr>
                      <m:t> </m:t>
                    </m:r>
                  </m:oMath>
                </a14:m>
                <a:r>
                  <a:rPr lang="en-US" sz="2000" dirty="0"/>
                  <a:t>with </a:t>
                </a:r>
                <a14:m>
                  <m:oMath xmlns:m="http://schemas.openxmlformats.org/officeDocument/2006/math">
                    <m:r>
                      <a:rPr lang="en-US" sz="2000" b="0" i="1" smtClean="0">
                        <a:latin typeface="Cambria Math"/>
                      </a:rPr>
                      <m:t>𝑡</m:t>
                    </m:r>
                    <m:r>
                      <a:rPr lang="en-US" sz="2000" b="0" i="1" smtClean="0">
                        <a:latin typeface="Cambria Math"/>
                      </a:rPr>
                      <m:t>=0.</m:t>
                    </m:r>
                  </m:oMath>
                </a14:m>
                <a:endParaRPr lang="en-US" sz="2000" b="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E3961CD6-73D4-4A3E-8C1D-C8206FAE423D}"/>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7279731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lgn="just">
                  <a:buNone/>
                </a:pPr>
                <a:r>
                  <a:rPr lang="en-US" sz="2000" dirty="0"/>
                  <a:t>Although the moment generating function (</a:t>
                </a:r>
                <a:r>
                  <a:rPr lang="en-US" sz="2000" dirty="0" err="1"/>
                  <a:t>m.g.f</a:t>
                </a:r>
                <a:r>
                  <a:rPr lang="en-US" sz="2000" dirty="0"/>
                  <a:t>) has been defined  for the variable </a:t>
                </a:r>
                <a14:m>
                  <m:oMath xmlns:m="http://schemas.openxmlformats.org/officeDocument/2006/math">
                    <m:r>
                      <a:rPr lang="en-US" sz="2000" b="0" i="1" smtClean="0">
                        <a:latin typeface="Cambria Math" panose="02040503050406030204" pitchFamily="18" charset="0"/>
                      </a:rPr>
                      <m:t>𝑥</m:t>
                    </m:r>
                  </m:oMath>
                </a14:m>
                <a:r>
                  <a:rPr lang="en-US" sz="2000" dirty="0"/>
                  <a:t> </a:t>
                </a:r>
                <a:r>
                  <a:rPr lang="en-US" sz="2000" dirty="0" err="1"/>
                  <a:t>e.g</a:t>
                </a:r>
                <a:r>
                  <a:rPr lang="en-US" sz="2000" dirty="0"/>
                  <a:t> if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𝑚</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𝑖𝑠</m:t>
                        </m:r>
                        <m:r>
                          <a:rPr lang="en-US" sz="2000" b="0" i="1" smtClean="0">
                            <a:latin typeface="Cambria Math" panose="02040503050406030204" pitchFamily="18" charset="0"/>
                          </a:rPr>
                          <m:t> </m:t>
                        </m:r>
                        <m:r>
                          <a:rPr lang="en-US" sz="2000" b="0" i="1" smtClean="0">
                            <a:latin typeface="Cambria Math" panose="02040503050406030204" pitchFamily="18" charset="0"/>
                          </a:rPr>
                          <m:t>𝑚𝑒𝑎𝑛</m:t>
                        </m:r>
                      </m:e>
                    </m:d>
                    <m:r>
                      <a:rPr lang="en-US" sz="2000" b="0" i="1" smtClean="0">
                        <a:latin typeface="Cambria Math" panose="02040503050406030204" pitchFamily="18" charset="0"/>
                      </a:rPr>
                      <m:t>,</m:t>
                    </m:r>
                  </m:oMath>
                </a14:m>
                <a:r>
                  <a:rPr lang="en-US" sz="2000" dirty="0"/>
                  <a:t>the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𝑟</m:t>
                        </m:r>
                      </m:e>
                      <m:sup>
                        <m:r>
                          <a:rPr lang="en-US" sz="2000" b="0" i="1" smtClean="0">
                            <a:latin typeface="Cambria Math" panose="02040503050406030204" pitchFamily="18" charset="0"/>
                          </a:rPr>
                          <m:t>𝑡h</m:t>
                        </m:r>
                      </m:sup>
                    </m:sSup>
                  </m:oMath>
                </a14:m>
                <a:r>
                  <a:rPr lang="en-US" sz="2000" dirty="0"/>
                  <a:t> moment about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 </m:t>
                    </m:r>
                  </m:oMath>
                </a14:m>
                <a:r>
                  <a:rPr lang="en-US" sz="2000" dirty="0"/>
                  <a:t>will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𝑟</m:t>
                        </m:r>
                      </m:e>
                      <m:sup>
                        <m:r>
                          <a:rPr lang="en-US" sz="2000" b="0" i="1" smtClean="0">
                            <a:latin typeface="Cambria Math" panose="02040503050406030204" pitchFamily="18" charset="0"/>
                          </a:rPr>
                          <m:t>𝑡h</m:t>
                        </m:r>
                      </m:sup>
                    </m:sSup>
                  </m:oMath>
                </a14:m>
                <a:r>
                  <a:rPr lang="en-US" sz="2000" dirty="0"/>
                  <a:t> moment about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 </m:t>
                    </m:r>
                  </m:oMath>
                </a14:m>
                <a:r>
                  <a:rPr lang="en-US" sz="2000" b="0" dirty="0"/>
                  <a:t>will given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𝑟</m:t>
                        </m:r>
                      </m:e>
                      <m:sup>
                        <m:r>
                          <a:rPr lang="en-US" sz="2000" i="1">
                            <a:latin typeface="Cambria Math" panose="02040503050406030204" pitchFamily="18" charset="0"/>
                          </a:rPr>
                          <m:t>𝑡h</m:t>
                        </m:r>
                      </m:sup>
                    </m:sSup>
                  </m:oMath>
                </a14:m>
                <a:r>
                  <a:rPr lang="en-US" sz="2000" dirty="0"/>
                  <a:t> moment of </a:t>
                </a:r>
                <a14:m>
                  <m:oMath xmlns:m="http://schemas.openxmlformats.org/officeDocument/2006/math">
                    <m:r>
                      <a:rPr lang="en-US" sz="2000" i="1">
                        <a:latin typeface="Cambria Math" panose="02040503050406030204" pitchFamily="18" charset="0"/>
                      </a:rPr>
                      <m:t>𝑥</m:t>
                    </m:r>
                  </m:oMath>
                </a14:m>
                <a:r>
                  <a:rPr lang="en-US" sz="2000" b="0" dirty="0"/>
                  <a:t> about the mean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rPr>
                      <m:t>.</m:t>
                    </m:r>
                  </m:oMath>
                </a14:m>
                <a:endParaRPr lang="en-US" sz="2000" b="0" i="1" dirty="0"/>
              </a:p>
              <a:p>
                <a:pPr marL="0" indent="0" algn="just">
                  <a:buNone/>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𝑀</m:t>
                          </m:r>
                        </m:e>
                        <m:sub>
                          <m:r>
                            <a:rPr lang="en-US" sz="2000" b="0" i="1" smtClean="0">
                              <a:latin typeface="Cambria Math" panose="02040503050406030204" pitchFamily="18" charset="0"/>
                            </a:rPr>
                            <m:t>𝑧</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𝑀</m:t>
                          </m:r>
                        </m:e>
                        <m:sub>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𝑚</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nary>
                        <m:naryPr>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𝑎</m:t>
                          </m:r>
                        </m:sub>
                        <m:sup>
                          <m:r>
                            <a:rPr lang="en-US" sz="2000" b="0" i="1" smtClean="0">
                              <a:latin typeface="Cambria Math" panose="02040503050406030204" pitchFamily="18" charset="0"/>
                            </a:rPr>
                            <m:t>𝑏</m:t>
                          </m:r>
                        </m:sup>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𝑡𝑥</m:t>
                              </m:r>
                            </m:sup>
                          </m:sSup>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𝑑𝑥</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𝑚𝑡</m:t>
                              </m:r>
                            </m:sup>
                          </m:sSup>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𝑀</m:t>
                              </m:r>
                            </m:e>
                            <m:sub>
                              <m:r>
                                <a:rPr lang="en-US" sz="2000" b="0" i="1" smtClean="0">
                                  <a:latin typeface="Cambria Math" panose="02040503050406030204" pitchFamily="18" charset="0"/>
                                </a:rPr>
                                <m:t>𝑥</m:t>
                              </m:r>
                            </m:sub>
                          </m:sSub>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e>
                      </m:nary>
                    </m:oMath>
                  </m:oMathPara>
                </a14:m>
                <a:endParaRPr lang="en-US" sz="2000" b="0" dirty="0"/>
              </a:p>
              <a:p>
                <a:pPr algn="just">
                  <a:buFont typeface="Wingdings" pitchFamily="2" charset="2"/>
                  <a:buChar char="v"/>
                </a:pPr>
                <a:r>
                  <a:rPr lang="en-US" sz="2000" b="1" dirty="0"/>
                  <a:t>In case of discrete distribution:</a:t>
                </a:r>
              </a:p>
              <a:p>
                <a:pPr marL="0" indent="0" algn="just">
                  <a:buNone/>
                </a:pPr>
                <a:r>
                  <a:rPr lang="en-US" sz="2000" dirty="0"/>
                  <a:t>The moment generating function is given by</a:t>
                </a:r>
              </a:p>
              <a:p>
                <a:pPr marL="0" indent="0" algn="just">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𝑀</m:t>
                          </m:r>
                        </m:e>
                        <m:sub>
                          <m:r>
                            <a:rPr lang="en-US" sz="2000" b="0" i="1">
                              <a:latin typeface="Cambria Math" panose="02040503050406030204" pitchFamily="18" charset="0"/>
                            </a:rPr>
                            <m:t>𝑧</m:t>
                          </m:r>
                        </m:sub>
                      </m:sSub>
                      <m:d>
                        <m:dPr>
                          <m:ctrlPr>
                            <a:rPr lang="en-US" sz="2000" i="1">
                              <a:latin typeface="Cambria Math" panose="02040503050406030204" pitchFamily="18" charset="0"/>
                            </a:rPr>
                          </m:ctrlPr>
                        </m:dPr>
                        <m:e>
                          <m:r>
                            <a:rPr lang="en-US" sz="2000" b="0" i="1">
                              <a:latin typeface="Cambria Math" panose="02040503050406030204" pitchFamily="18" charset="0"/>
                            </a:rPr>
                            <m:t>𝑡</m:t>
                          </m:r>
                        </m:e>
                      </m:d>
                      <m:r>
                        <a:rPr lang="en-US" sz="2000" b="0" i="1" smtClean="0">
                          <a:latin typeface="Cambria Math" panose="02040503050406030204" pitchFamily="18" charset="0"/>
                        </a:rPr>
                        <m:t>=</m:t>
                      </m:r>
                      <m:nary>
                        <m:naryPr>
                          <m:chr m:val="∑"/>
                          <m:subHide m:val="on"/>
                          <m:supHide m:val="on"/>
                          <m:ctrlPr>
                            <a:rPr lang="en-US" sz="2000" i="1" smtClean="0">
                              <a:latin typeface="Cambria Math" panose="02040503050406030204" pitchFamily="18" charset="0"/>
                            </a:rPr>
                          </m:ctrlPr>
                        </m:naryPr>
                        <m:sub/>
                        <m:sup/>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𝑡𝑧</m:t>
                              </m:r>
                            </m:sup>
                          </m:sSup>
                          <m:r>
                            <a:rPr lang="en-US" sz="2000" b="0" i="1" smtClean="0">
                              <a:latin typeface="Cambria Math" panose="02040503050406030204" pitchFamily="18" charset="0"/>
                            </a:rPr>
                            <m:t>𝑃</m:t>
                          </m:r>
                        </m:e>
                      </m:nary>
                    </m:oMath>
                  </m:oMathPara>
                </a14:m>
                <a:endParaRPr lang="en-US" sz="2000" dirty="0"/>
              </a:p>
              <a:p>
                <a:pPr marL="0" indent="0" algn="just">
                  <a:buNone/>
                </a:pPr>
                <a:r>
                  <a:rPr lang="en-US" sz="2000" dirty="0"/>
                  <a:t>By expanding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𝑒</m:t>
                        </m:r>
                      </m:e>
                      <m:sup>
                        <m:r>
                          <a:rPr lang="en-US" sz="2000" b="0" i="1">
                            <a:latin typeface="Cambria Math" panose="02040503050406030204" pitchFamily="18" charset="0"/>
                          </a:rPr>
                          <m:t>𝑡𝑧</m:t>
                        </m:r>
                      </m:sup>
                    </m:sSup>
                  </m:oMath>
                </a14:m>
                <a:r>
                  <a:rPr lang="en-US" sz="2000" dirty="0"/>
                  <a:t> we have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5D50C854-5D35-49C6-852A-4AA960497E0A}"/>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3585752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lstStyle/>
              <a:p>
                <a:pPr marL="0" indent="0">
                  <a:buNone/>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a:rPr>
                            <m:t>𝑀</m:t>
                          </m:r>
                        </m:e>
                        <m:sub>
                          <m:r>
                            <a:rPr lang="en-US" sz="2000" i="1">
                              <a:latin typeface="Cambria Math"/>
                            </a:rPr>
                            <m:t>𝑧</m:t>
                          </m:r>
                        </m:sub>
                      </m:sSub>
                      <m:d>
                        <m:dPr>
                          <m:ctrlPr>
                            <a:rPr lang="en-US" sz="2000" i="1">
                              <a:latin typeface="Cambria Math" panose="02040503050406030204" pitchFamily="18" charset="0"/>
                            </a:rPr>
                          </m:ctrlPr>
                        </m:dPr>
                        <m:e>
                          <m:r>
                            <a:rPr lang="en-US" sz="2000" i="1">
                              <a:latin typeface="Cambria Math"/>
                            </a:rPr>
                            <m:t>𝑡</m:t>
                          </m:r>
                        </m:e>
                      </m:d>
                      <m:r>
                        <a:rPr lang="en-US" sz="2000" i="1">
                          <a:latin typeface="Cambria Math"/>
                        </a:rPr>
                        <m:t>=</m:t>
                      </m:r>
                      <m:nary>
                        <m:naryPr>
                          <m:chr m:val="∑"/>
                          <m:subHide m:val="on"/>
                          <m:supHide m:val="on"/>
                          <m:ctrlPr>
                            <a:rPr lang="en-US" sz="2000" i="1">
                              <a:latin typeface="Cambria Math" panose="02040503050406030204" pitchFamily="18" charset="0"/>
                            </a:rPr>
                          </m:ctrlPr>
                        </m:naryPr>
                        <m:sub/>
                        <m:sup/>
                        <m:e>
                          <m:d>
                            <m:dPr>
                              <m:ctrlPr>
                                <a:rPr lang="en-US" sz="2000" i="1">
                                  <a:latin typeface="Cambria Math" panose="02040503050406030204" pitchFamily="18" charset="0"/>
                                </a:rPr>
                              </m:ctrlPr>
                            </m:dPr>
                            <m:e>
                              <m:r>
                                <a:rPr lang="en-US" sz="2000" i="1">
                                  <a:latin typeface="Cambria Math"/>
                                </a:rPr>
                                <m:t>1+</m:t>
                              </m:r>
                              <m:r>
                                <a:rPr lang="en-US" sz="2000" i="1">
                                  <a:latin typeface="Cambria Math"/>
                                </a:rPr>
                                <m:t>𝑡𝑧</m:t>
                              </m:r>
                              <m:r>
                                <a:rPr lang="en-US" sz="2000" i="1">
                                  <a:latin typeface="Cambria Math"/>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a:rPr>
                                        <m:t>𝑡</m:t>
                                      </m:r>
                                    </m:e>
                                    <m:sup>
                                      <m:r>
                                        <a:rPr lang="en-US" sz="2000" i="1">
                                          <a:latin typeface="Cambria Math"/>
                                        </a:rPr>
                                        <m:t>2</m:t>
                                      </m:r>
                                    </m:sup>
                                  </m:sSup>
                                </m:num>
                                <m:den>
                                  <m:r>
                                    <a:rPr lang="en-US" sz="2000" i="1">
                                      <a:latin typeface="Cambria Math"/>
                                    </a:rPr>
                                    <m:t>2</m:t>
                                  </m:r>
                                </m:den>
                              </m:f>
                              <m:sSup>
                                <m:sSupPr>
                                  <m:ctrlPr>
                                    <a:rPr lang="en-US" sz="2000" i="1">
                                      <a:latin typeface="Cambria Math" panose="02040503050406030204" pitchFamily="18" charset="0"/>
                                    </a:rPr>
                                  </m:ctrlPr>
                                </m:sSupPr>
                                <m:e>
                                  <m:r>
                                    <a:rPr lang="en-US" sz="2000" i="1">
                                      <a:latin typeface="Cambria Math"/>
                                    </a:rPr>
                                    <m:t>𝑧</m:t>
                                  </m:r>
                                </m:e>
                                <m:sup>
                                  <m:r>
                                    <a:rPr lang="en-US" sz="2000" i="1">
                                      <a:latin typeface="Cambria Math"/>
                                    </a:rPr>
                                    <m:t>2</m:t>
                                  </m:r>
                                </m:sup>
                              </m:sSup>
                              <m:r>
                                <a:rPr lang="en-US" sz="2000" i="1">
                                  <a:latin typeface="Cambria Math"/>
                                </a:rPr>
                                <m:t>+…</m:t>
                              </m:r>
                            </m:e>
                          </m:d>
                          <m:r>
                            <m:rPr>
                              <m:nor/>
                            </m:rPr>
                            <a:rPr lang="en-US" sz="2000" dirty="0"/>
                            <m:t> </m:t>
                          </m:r>
                          <m:r>
                            <a:rPr lang="en-US" sz="2000" i="1">
                              <a:latin typeface="Cambria Math"/>
                            </a:rPr>
                            <m:t>𝑃</m:t>
                          </m:r>
                        </m:e>
                      </m:nary>
                    </m:oMath>
                  </m:oMathPara>
                </a14:m>
                <a:endParaRPr lang="en-US" sz="20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a:rPr>
                        <m:t>=</m:t>
                      </m:r>
                      <m:nary>
                        <m:naryPr>
                          <m:chr m:val="∑"/>
                          <m:subHide m:val="on"/>
                          <m:supHide m:val="on"/>
                          <m:ctrlPr>
                            <a:rPr lang="en-US" sz="2000" i="1">
                              <a:latin typeface="Cambria Math" panose="02040503050406030204" pitchFamily="18" charset="0"/>
                            </a:rPr>
                          </m:ctrlPr>
                        </m:naryPr>
                        <m:sub/>
                        <m:sup/>
                        <m:e>
                          <m:r>
                            <m:rPr>
                              <m:nor/>
                            </m:rPr>
                            <a:rPr lang="en-US" sz="2000" dirty="0"/>
                            <m:t> </m:t>
                          </m:r>
                          <m:r>
                            <a:rPr lang="en-US" sz="2000" i="1">
                              <a:latin typeface="Cambria Math"/>
                            </a:rPr>
                            <m:t>𝑃</m:t>
                          </m:r>
                        </m:e>
                      </m:nary>
                      <m:r>
                        <a:rPr lang="en-US" sz="2000" i="1">
                          <a:latin typeface="Cambria Math"/>
                        </a:rPr>
                        <m:t>+</m:t>
                      </m:r>
                      <m:r>
                        <a:rPr lang="en-US" sz="2000" i="1">
                          <a:latin typeface="Cambria Math"/>
                        </a:rPr>
                        <m:t>𝑡</m:t>
                      </m:r>
                      <m:nary>
                        <m:naryPr>
                          <m:chr m:val="∑"/>
                          <m:subHide m:val="on"/>
                          <m:supHide m:val="on"/>
                          <m:ctrlPr>
                            <a:rPr lang="en-US" sz="2000" i="1">
                              <a:latin typeface="Cambria Math" panose="02040503050406030204" pitchFamily="18" charset="0"/>
                            </a:rPr>
                          </m:ctrlPr>
                        </m:naryPr>
                        <m:sub/>
                        <m:sup/>
                        <m:e>
                          <m:r>
                            <m:rPr>
                              <m:nor/>
                            </m:rPr>
                            <a:rPr lang="en-US" sz="2000" dirty="0"/>
                            <m:t> </m:t>
                          </m:r>
                          <m:r>
                            <a:rPr lang="en-US" sz="2000" i="1">
                              <a:latin typeface="Cambria Math"/>
                            </a:rPr>
                            <m:t>𝑃</m:t>
                          </m:r>
                        </m:e>
                      </m:nary>
                      <m:r>
                        <a:rPr lang="en-US" sz="2000" i="1">
                          <a:latin typeface="Cambria Math"/>
                        </a:rPr>
                        <m:t>𝑧</m:t>
                      </m:r>
                      <m:r>
                        <a:rPr lang="en-US" sz="2000" b="0" i="1" smtClean="0">
                          <a:latin typeface="Cambria Math"/>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a:rPr>
                                <m:t>𝑡</m:t>
                              </m:r>
                            </m:e>
                            <m:sup>
                              <m:r>
                                <a:rPr lang="en-US" sz="2000" i="1">
                                  <a:latin typeface="Cambria Math"/>
                                </a:rPr>
                                <m:t>2</m:t>
                              </m:r>
                            </m:sup>
                          </m:sSup>
                        </m:num>
                        <m:den>
                          <m:r>
                            <a:rPr lang="en-US" sz="2000" i="1">
                              <a:latin typeface="Cambria Math"/>
                            </a:rPr>
                            <m:t>2</m:t>
                          </m:r>
                        </m:den>
                      </m:f>
                      <m:nary>
                        <m:naryPr>
                          <m:chr m:val="∑"/>
                          <m:subHide m:val="on"/>
                          <m:supHide m:val="on"/>
                          <m:ctrlPr>
                            <a:rPr lang="en-US" sz="2000" i="1">
                              <a:latin typeface="Cambria Math" panose="02040503050406030204" pitchFamily="18" charset="0"/>
                            </a:rPr>
                          </m:ctrlPr>
                        </m:naryPr>
                        <m:sub/>
                        <m:sup/>
                        <m:e>
                          <m:r>
                            <m:rPr>
                              <m:nor/>
                            </m:rPr>
                            <a:rPr lang="en-US" sz="2000" dirty="0"/>
                            <m:t> </m:t>
                          </m:r>
                          <m:r>
                            <a:rPr lang="en-US" sz="2000" i="1">
                              <a:latin typeface="Cambria Math"/>
                            </a:rPr>
                            <m:t>𝑃</m:t>
                          </m:r>
                        </m:e>
                      </m:nary>
                      <m:sSup>
                        <m:sSupPr>
                          <m:ctrlPr>
                            <a:rPr lang="en-US" sz="2000" i="1">
                              <a:latin typeface="Cambria Math" panose="02040503050406030204" pitchFamily="18" charset="0"/>
                            </a:rPr>
                          </m:ctrlPr>
                        </m:sSupPr>
                        <m:e>
                          <m:r>
                            <a:rPr lang="en-US" sz="2000" i="1">
                              <a:latin typeface="Cambria Math"/>
                            </a:rPr>
                            <m:t>𝑧</m:t>
                          </m:r>
                        </m:e>
                        <m:sup>
                          <m:r>
                            <a:rPr lang="en-US" sz="2000" i="1">
                              <a:latin typeface="Cambria Math"/>
                            </a:rPr>
                            <m:t>2</m:t>
                          </m:r>
                        </m:sup>
                      </m:sSup>
                      <m:r>
                        <a:rPr lang="en-US" sz="2000" i="1">
                          <a:latin typeface="Cambria Math"/>
                        </a:rPr>
                        <m:t>+…</m:t>
                      </m:r>
                    </m:oMath>
                  </m:oMathPara>
                </a14:m>
                <a:endParaRPr lang="en-US" sz="2000" dirty="0"/>
              </a:p>
              <a:p>
                <a:pPr marL="0" indent="0">
                  <a:buNone/>
                </a:pPr>
                <a14:m>
                  <m:oMathPara xmlns:m="http://schemas.openxmlformats.org/officeDocument/2006/math">
                    <m:oMathParaPr>
                      <m:jc m:val="left"/>
                    </m:oMathParaPr>
                    <m:oMath xmlns:m="http://schemas.openxmlformats.org/officeDocument/2006/math">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𝑣</m:t>
                          </m:r>
                        </m:e>
                        <m:sub>
                          <m:r>
                            <a:rPr lang="en-US" sz="2000" i="1">
                              <a:latin typeface="Cambria Math"/>
                            </a:rPr>
                            <m:t>0</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𝑣</m:t>
                          </m:r>
                        </m:e>
                        <m:sub>
                          <m:r>
                            <a:rPr lang="en-US" sz="2000" i="1">
                              <a:latin typeface="Cambria Math"/>
                            </a:rPr>
                            <m:t>1</m:t>
                          </m:r>
                        </m:sub>
                      </m:sSub>
                      <m:r>
                        <a:rPr lang="en-US" sz="2000" i="1">
                          <a:latin typeface="Cambria Math"/>
                        </a:rPr>
                        <m:t>𝑡</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𝑣</m:t>
                          </m:r>
                        </m:e>
                        <m:sub>
                          <m:r>
                            <a:rPr lang="en-US" sz="2000" i="1">
                              <a:latin typeface="Cambria Math"/>
                            </a:rPr>
                            <m:t>2</m:t>
                          </m:r>
                        </m:sub>
                      </m:sSub>
                      <m:r>
                        <a:rPr lang="en-US" sz="2000" i="1">
                          <a:latin typeface="Cambria Math"/>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a:rPr>
                                <m:t>𝑡</m:t>
                              </m:r>
                            </m:e>
                            <m:sup>
                              <m:r>
                                <a:rPr lang="en-US" sz="2000" i="1">
                                  <a:latin typeface="Cambria Math"/>
                                </a:rPr>
                                <m:t>2</m:t>
                              </m:r>
                            </m:sup>
                          </m:sSup>
                        </m:num>
                        <m:den>
                          <m:r>
                            <a:rPr lang="en-US" sz="2000" i="1">
                              <a:latin typeface="Cambria Math"/>
                            </a:rPr>
                            <m:t>2</m:t>
                          </m:r>
                        </m:den>
                      </m:f>
                      <m:r>
                        <a:rPr lang="en-US" sz="2000" i="1">
                          <a:latin typeface="Cambria Math"/>
                        </a:rPr>
                        <m:t>+…</m:t>
                      </m:r>
                    </m:oMath>
                  </m:oMathPara>
                </a14:m>
                <a:endParaRPr lang="en-US" sz="2000" dirty="0"/>
              </a:p>
              <a:p>
                <a:pPr marL="0" indent="0">
                  <a:buNone/>
                </a:pPr>
                <a:r>
                  <a:rPr lang="en-US" sz="2000" dirty="0"/>
                  <a:t>We get </a:t>
                </a:r>
              </a:p>
              <a:p>
                <a:pPr marL="0" indent="0">
                  <a:buNone/>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𝑣</m:t>
                          </m:r>
                        </m:e>
                        <m:sub>
                          <m:r>
                            <a:rPr lang="en-US" sz="2000" b="0" i="1" smtClean="0">
                              <a:latin typeface="Cambria Math"/>
                            </a:rPr>
                            <m:t>𝑟</m:t>
                          </m:r>
                        </m:sub>
                      </m:sSub>
                      <m:r>
                        <a:rPr lang="en-US" sz="2000" b="0" i="1" smtClean="0">
                          <a:latin typeface="Cambria Math"/>
                        </a:rPr>
                        <m:t>=</m:t>
                      </m:r>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a:rPr>
                                        <m:t>𝑑</m:t>
                                      </m:r>
                                    </m:e>
                                    <m:sup>
                                      <m:r>
                                        <a:rPr lang="en-US" sz="2000" i="1">
                                          <a:latin typeface="Cambria Math"/>
                                        </a:rPr>
                                        <m:t>𝑟</m:t>
                                      </m:r>
                                    </m:sup>
                                  </m:sSup>
                                </m:num>
                                <m:den>
                                  <m:sSup>
                                    <m:sSupPr>
                                      <m:ctrlPr>
                                        <a:rPr lang="en-US" sz="2000" i="1">
                                          <a:latin typeface="Cambria Math" panose="02040503050406030204" pitchFamily="18" charset="0"/>
                                        </a:rPr>
                                      </m:ctrlPr>
                                    </m:sSupPr>
                                    <m:e>
                                      <m:r>
                                        <a:rPr lang="en-US" sz="2000" i="1">
                                          <a:latin typeface="Cambria Math"/>
                                        </a:rPr>
                                        <m:t>𝑑𝑡</m:t>
                                      </m:r>
                                    </m:e>
                                    <m:sup>
                                      <m:r>
                                        <a:rPr lang="en-US" sz="2000" i="1">
                                          <a:latin typeface="Cambria Math"/>
                                        </a:rPr>
                                        <m:t>𝑟</m:t>
                                      </m:r>
                                    </m:sup>
                                  </m:sSup>
                                </m:den>
                              </m:f>
                              <m:r>
                                <a:rPr lang="en-US" sz="2000" i="1">
                                  <a:latin typeface="Cambria Math"/>
                                </a:rPr>
                                <m:t>𝑀</m:t>
                              </m:r>
                              <m:d>
                                <m:dPr>
                                  <m:ctrlPr>
                                    <a:rPr lang="en-US" sz="2000" i="1">
                                      <a:latin typeface="Cambria Math" panose="02040503050406030204" pitchFamily="18" charset="0"/>
                                    </a:rPr>
                                  </m:ctrlPr>
                                </m:dPr>
                                <m:e>
                                  <m:r>
                                    <a:rPr lang="en-US" sz="2000" i="1">
                                      <a:latin typeface="Cambria Math"/>
                                    </a:rPr>
                                    <m:t>𝑡</m:t>
                                  </m:r>
                                </m:e>
                              </m:d>
                            </m:e>
                          </m:d>
                        </m:e>
                        <m:sub>
                          <m:r>
                            <a:rPr lang="en-US" sz="2000" b="0" i="1" smtClean="0">
                              <a:latin typeface="Cambria Math"/>
                            </a:rPr>
                            <m:t>𝑡</m:t>
                          </m:r>
                          <m:r>
                            <a:rPr lang="en-US" sz="2000" b="0" i="1" smtClean="0">
                              <a:latin typeface="Cambria Math"/>
                            </a:rPr>
                            <m:t>=0</m:t>
                          </m:r>
                        </m:sub>
                      </m:sSub>
                    </m:oMath>
                  </m:oMathPara>
                </a14:m>
                <a:endParaRPr lang="en-US" sz="2000" dirty="0"/>
              </a:p>
              <a:p>
                <a:pPr marL="0" indent="0">
                  <a:buNone/>
                </a:pPr>
                <a:r>
                  <a:rPr lang="en-US" sz="2000" dirty="0"/>
                  <a:t>Moment generating function about any arbitrary number</a:t>
                </a:r>
              </a:p>
              <a:p>
                <a:pPr marL="0" indent="0">
                  <a:buNone/>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𝑀</m:t>
                          </m:r>
                        </m:e>
                        <m:sub>
                          <m:r>
                            <a:rPr lang="en-US" sz="2000" b="0" i="1" smtClean="0">
                              <a:latin typeface="Cambria Math"/>
                            </a:rPr>
                            <m:t>𝑥</m:t>
                          </m:r>
                          <m:r>
                            <a:rPr lang="en-US" sz="2000" b="0" i="1" smtClean="0">
                              <a:latin typeface="Cambria Math"/>
                            </a:rPr>
                            <m:t>−</m:t>
                          </m:r>
                          <m:r>
                            <a:rPr lang="en-US" sz="2000" b="0" i="1" smtClean="0">
                              <a:latin typeface="Cambria Math"/>
                            </a:rPr>
                            <m:t>𝑎</m:t>
                          </m:r>
                        </m:sub>
                      </m:sSub>
                      <m:d>
                        <m:dPr>
                          <m:ctrlPr>
                            <a:rPr lang="en-US" sz="2000" i="1">
                              <a:latin typeface="Cambria Math" panose="02040503050406030204" pitchFamily="18" charset="0"/>
                            </a:rPr>
                          </m:ctrlPr>
                        </m:dPr>
                        <m:e>
                          <m:r>
                            <a:rPr lang="en-US" sz="2000" i="1">
                              <a:latin typeface="Cambria Math"/>
                            </a:rPr>
                            <m:t>𝑡</m:t>
                          </m:r>
                        </m:e>
                      </m:d>
                      <m:r>
                        <a:rPr lang="en-US" sz="2000" i="1">
                          <a:latin typeface="Cambria Math"/>
                        </a:rPr>
                        <m:t>=</m:t>
                      </m:r>
                      <m:r>
                        <a:rPr lang="en-US" sz="2000" b="0" i="1" smtClean="0">
                          <a:latin typeface="Cambria Math"/>
                        </a:rPr>
                        <m:t>𝐸</m:t>
                      </m:r>
                      <m:d>
                        <m:dPr>
                          <m:ctrlPr>
                            <a:rPr lang="en-US" sz="2000" b="0" i="1" smtClean="0">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d>
                                <m:dPr>
                                  <m:ctrlPr>
                                    <a:rPr lang="en-US" sz="2000" b="0" i="1" smtClean="0">
                                      <a:latin typeface="Cambria Math" panose="02040503050406030204" pitchFamily="18" charset="0"/>
                                    </a:rPr>
                                  </m:ctrlPr>
                                </m:dPr>
                                <m:e>
                                  <m:r>
                                    <a:rPr lang="en-US" sz="2000" i="1">
                                      <a:latin typeface="Cambria Math"/>
                                    </a:rPr>
                                    <m:t>𝑥</m:t>
                                  </m:r>
                                  <m:r>
                                    <a:rPr lang="en-US" sz="2000" b="0" i="1" smtClean="0">
                                      <a:latin typeface="Cambria Math"/>
                                    </a:rPr>
                                    <m:t>−</m:t>
                                  </m:r>
                                  <m:r>
                                    <a:rPr lang="en-US" sz="2000" b="0" i="1" smtClean="0">
                                      <a:latin typeface="Cambria Math"/>
                                    </a:rPr>
                                    <m:t>𝑎</m:t>
                                  </m:r>
                                </m:e>
                              </m:d>
                            </m:sup>
                          </m:sSup>
                        </m:e>
                      </m:d>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𝑒</m:t>
                          </m:r>
                        </m:e>
                        <m:sup>
                          <m:r>
                            <a:rPr lang="en-US" sz="2000" b="0" i="1" smtClean="0">
                              <a:latin typeface="Cambria Math"/>
                            </a:rPr>
                            <m:t>−</m:t>
                          </m:r>
                          <m:r>
                            <a:rPr lang="en-US" sz="2000" b="0" i="1" smtClean="0">
                              <a:latin typeface="Cambria Math"/>
                            </a:rPr>
                            <m:t>𝑎𝑡</m:t>
                          </m:r>
                        </m:sup>
                      </m:sSup>
                      <m:sSub>
                        <m:sSubPr>
                          <m:ctrlPr>
                            <a:rPr lang="en-US" sz="2000" i="1">
                              <a:latin typeface="Cambria Math" panose="02040503050406030204" pitchFamily="18" charset="0"/>
                            </a:rPr>
                          </m:ctrlPr>
                        </m:sSubPr>
                        <m:e>
                          <m:r>
                            <a:rPr lang="en-US" sz="2000" i="1">
                              <a:latin typeface="Cambria Math"/>
                            </a:rPr>
                            <m:t>𝑀</m:t>
                          </m:r>
                        </m:e>
                        <m:sub>
                          <m:r>
                            <a:rPr lang="en-US" sz="2000" i="1">
                              <a:latin typeface="Cambria Math"/>
                            </a:rPr>
                            <m:t>𝑥</m:t>
                          </m:r>
                        </m:sub>
                      </m:sSub>
                      <m:d>
                        <m:dPr>
                          <m:ctrlPr>
                            <a:rPr lang="en-US" sz="2000" i="1">
                              <a:latin typeface="Cambria Math" panose="02040503050406030204" pitchFamily="18" charset="0"/>
                            </a:rPr>
                          </m:ctrlPr>
                        </m:dPr>
                        <m:e>
                          <m:r>
                            <a:rPr lang="en-US" sz="2000" i="1">
                              <a:latin typeface="Cambria Math"/>
                            </a:rPr>
                            <m:t>𝑡</m:t>
                          </m:r>
                        </m:e>
                      </m:d>
                    </m:oMath>
                  </m:oMathPara>
                </a14:m>
                <a:endParaRPr lang="en-US" sz="2000" dirty="0"/>
              </a:p>
              <a:p>
                <a:pPr marL="0" indent="0">
                  <a:buNone/>
                </a:pPr>
                <a:endParaRPr lang="en-US" sz="2000" dirty="0"/>
              </a:p>
              <a:p>
                <a:pPr marL="0" indent="0">
                  <a:buNone/>
                </a:pPr>
                <a:endParaRPr lang="en-US" sz="200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BDA91C27-FC60-4F4F-819B-7CE578239195}"/>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18551878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lgn="just">
                  <a:buNone/>
                </a:pPr>
                <a:r>
                  <a:rPr lang="en-US" sz="2200" b="1" dirty="0"/>
                  <a:t>Properties for moment generating function:</a:t>
                </a:r>
              </a:p>
              <a:p>
                <a:pPr marL="457200" indent="-457200" algn="just">
                  <a:buAutoNum type="arabicPeriod"/>
                </a:pPr>
                <a:r>
                  <a:rPr lang="en-US" sz="2200" dirty="0"/>
                  <a:t>The moment generating function of  the sum of  two independent chance variables is the product of their respective moment generating function, </a:t>
                </a:r>
                <a:r>
                  <a:rPr lang="en-US" sz="2200" dirty="0" err="1"/>
                  <a:t>i.e</a:t>
                </a:r>
                <a14:m>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panose="02040503050406030204" pitchFamily="18" charset="0"/>
                          </a:rPr>
                          <m:t> </m:t>
                        </m:r>
                        <m:r>
                          <a:rPr lang="en-US" sz="2200" i="1">
                            <a:latin typeface="Cambria Math" panose="02040503050406030204" pitchFamily="18" charset="0"/>
                          </a:rPr>
                          <m:t>𝑀</m:t>
                        </m:r>
                      </m:e>
                      <m:sub>
                        <m:r>
                          <a:rPr lang="en-US" sz="2200" i="1">
                            <a:latin typeface="Cambria Math" panose="02040503050406030204" pitchFamily="18" charset="0"/>
                          </a:rPr>
                          <m:t>𝑥</m:t>
                        </m:r>
                        <m:r>
                          <a:rPr lang="en-US" sz="2200" b="0" i="1" smtClean="0">
                            <a:latin typeface="Cambria Math" panose="02040503050406030204" pitchFamily="18" charset="0"/>
                          </a:rPr>
                          <m:t>+</m:t>
                        </m:r>
                        <m:r>
                          <a:rPr lang="en-US" sz="2200" b="0" i="1" smtClean="0">
                            <a:latin typeface="Cambria Math" panose="02040503050406030204" pitchFamily="18" charset="0"/>
                          </a:rPr>
                          <m:t>𝑦</m:t>
                        </m:r>
                      </m:sub>
                    </m:sSub>
                    <m:d>
                      <m:dPr>
                        <m:ctrlPr>
                          <a:rPr lang="en-US" sz="2200" i="1">
                            <a:latin typeface="Cambria Math" panose="02040503050406030204" pitchFamily="18" charset="0"/>
                          </a:rPr>
                        </m:ctrlPr>
                      </m:dPr>
                      <m:e>
                        <m:r>
                          <a:rPr lang="en-US" sz="2200" i="1">
                            <a:latin typeface="Cambria Math" panose="02040503050406030204" pitchFamily="18" charset="0"/>
                          </a:rPr>
                          <m:t>𝑡</m:t>
                        </m:r>
                      </m:e>
                    </m:d>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𝑀</m:t>
                        </m:r>
                      </m:e>
                      <m:sub>
                        <m:r>
                          <a:rPr lang="en-US" sz="2200" i="1">
                            <a:latin typeface="Cambria Math" panose="02040503050406030204" pitchFamily="18" charset="0"/>
                          </a:rPr>
                          <m:t>𝑥</m:t>
                        </m:r>
                      </m:sub>
                    </m:sSub>
                    <m:d>
                      <m:dPr>
                        <m:ctrlPr>
                          <a:rPr lang="en-US" sz="2200" i="1">
                            <a:latin typeface="Cambria Math" panose="02040503050406030204" pitchFamily="18" charset="0"/>
                          </a:rPr>
                        </m:ctrlPr>
                      </m:dPr>
                      <m:e>
                        <m:r>
                          <a:rPr lang="en-US" sz="2200" i="1">
                            <a:latin typeface="Cambria Math" panose="02040503050406030204" pitchFamily="18" charset="0"/>
                          </a:rPr>
                          <m:t>𝑡</m:t>
                        </m:r>
                      </m:e>
                    </m:d>
                    <m:sSub>
                      <m:sSubPr>
                        <m:ctrlPr>
                          <a:rPr lang="en-US" sz="2200" i="1" smtClean="0">
                            <a:latin typeface="Cambria Math" panose="02040503050406030204" pitchFamily="18" charset="0"/>
                          </a:rPr>
                        </m:ctrlPr>
                      </m:sSubPr>
                      <m:e>
                        <m:r>
                          <a:rPr lang="en-US" sz="2200" i="1" smtClean="0">
                            <a:latin typeface="Cambria Math" panose="02040503050406030204" pitchFamily="18" charset="0"/>
                            <a:ea typeface="Cambria Math"/>
                          </a:rPr>
                          <m:t>×</m:t>
                        </m:r>
                        <m:r>
                          <a:rPr lang="en-US" sz="2200" i="1">
                            <a:latin typeface="Cambria Math" panose="02040503050406030204" pitchFamily="18" charset="0"/>
                          </a:rPr>
                          <m:t>𝑀</m:t>
                        </m:r>
                      </m:e>
                      <m:sub>
                        <m:r>
                          <a:rPr lang="en-US" sz="2200" b="0" i="1" smtClean="0">
                            <a:latin typeface="Cambria Math" panose="02040503050406030204" pitchFamily="18" charset="0"/>
                          </a:rPr>
                          <m:t>𝑦</m:t>
                        </m:r>
                      </m:sub>
                    </m:sSub>
                    <m:d>
                      <m:dPr>
                        <m:ctrlPr>
                          <a:rPr lang="en-US" sz="2200" i="1">
                            <a:latin typeface="Cambria Math" panose="02040503050406030204" pitchFamily="18" charset="0"/>
                          </a:rPr>
                        </m:ctrlPr>
                      </m:dPr>
                      <m:e>
                        <m:r>
                          <a:rPr lang="en-US" sz="2200" i="1">
                            <a:latin typeface="Cambria Math" panose="02040503050406030204" pitchFamily="18" charset="0"/>
                          </a:rPr>
                          <m:t>𝑡</m:t>
                        </m:r>
                      </m:e>
                    </m:d>
                  </m:oMath>
                </a14:m>
                <a:endParaRPr lang="en-US" sz="2200" dirty="0"/>
              </a:p>
              <a:p>
                <a:pPr marL="457200" indent="-457200" algn="just">
                  <a:buAutoNum type="arabicPeriod"/>
                </a:pPr>
                <a:r>
                  <a:rPr lang="en-US" sz="2200" dirty="0"/>
                  <a:t>Effect of change of origin and scale  on </a:t>
                </a:r>
                <a:r>
                  <a:rPr lang="en-US" sz="2200" dirty="0" err="1"/>
                  <a:t>m.g.f</a:t>
                </a:r>
                <a:r>
                  <a:rPr lang="en-US" sz="2200" dirty="0"/>
                  <a:t>.</a:t>
                </a:r>
              </a:p>
              <a:p>
                <a:pPr marL="0" indent="0" algn="just">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𝑀</m:t>
                          </m:r>
                        </m:e>
                        <m:sub>
                          <m:r>
                            <a:rPr lang="en-US" sz="2200" b="0" i="1" smtClean="0">
                              <a:latin typeface="Cambria Math" panose="02040503050406030204" pitchFamily="18" charset="0"/>
                            </a:rPr>
                            <m:t>𝑢</m:t>
                          </m:r>
                        </m:sub>
                      </m:sSub>
                      <m:d>
                        <m:dPr>
                          <m:ctrlPr>
                            <a:rPr lang="en-US" sz="2200" i="1">
                              <a:latin typeface="Cambria Math" panose="02040503050406030204" pitchFamily="18" charset="0"/>
                            </a:rPr>
                          </m:ctrlPr>
                        </m:dPr>
                        <m:e>
                          <m:r>
                            <a:rPr lang="en-US" sz="2200" i="1">
                              <a:latin typeface="Cambria Math" panose="02040503050406030204" pitchFamily="18" charset="0"/>
                            </a:rPr>
                            <m:t>𝑡</m:t>
                          </m:r>
                        </m:e>
                      </m:d>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𝑒</m:t>
                          </m:r>
                        </m:e>
                        <m:sup>
                          <m:f>
                            <m:fPr>
                              <m:type m:val="skw"/>
                              <m:ctrlPr>
                                <a:rPr lang="en-US" sz="2200" b="0" i="1" smtClean="0">
                                  <a:latin typeface="Cambria Math" panose="02040503050406030204" pitchFamily="18" charset="0"/>
                                </a:rPr>
                              </m:ctrlPr>
                            </m:fPr>
                            <m:num>
                              <m:r>
                                <a:rPr lang="en-US" sz="2200" b="0" i="1" smtClean="0">
                                  <a:latin typeface="Cambria Math" panose="02040503050406030204" pitchFamily="18" charset="0"/>
                                </a:rPr>
                                <m:t>−</m:t>
                              </m:r>
                              <m:r>
                                <a:rPr lang="en-US" sz="2200" b="0" i="1" smtClean="0">
                                  <a:latin typeface="Cambria Math" panose="02040503050406030204" pitchFamily="18" charset="0"/>
                                </a:rPr>
                                <m:t>𝑎𝑡</m:t>
                              </m:r>
                            </m:num>
                            <m:den>
                              <m:r>
                                <a:rPr lang="en-US" sz="2200" b="0" i="1" smtClean="0">
                                  <a:latin typeface="Cambria Math" panose="02040503050406030204" pitchFamily="18" charset="0"/>
                                </a:rPr>
                                <m:t>h</m:t>
                              </m:r>
                            </m:den>
                          </m:f>
                        </m:sup>
                      </m:sSup>
                      <m:sSub>
                        <m:sSubPr>
                          <m:ctrlPr>
                            <a:rPr lang="en-US" sz="2200" i="1" smtClean="0">
                              <a:latin typeface="Cambria Math" panose="02040503050406030204" pitchFamily="18" charset="0"/>
                            </a:rPr>
                          </m:ctrlPr>
                        </m:sSubPr>
                        <m:e>
                          <m:r>
                            <a:rPr lang="en-US" sz="2200" i="1">
                              <a:latin typeface="Cambria Math" panose="02040503050406030204" pitchFamily="18" charset="0"/>
                            </a:rPr>
                            <m:t>𝑀</m:t>
                          </m:r>
                        </m:e>
                        <m:sub>
                          <m:r>
                            <a:rPr lang="en-US" sz="2200" i="1">
                              <a:latin typeface="Cambria Math" panose="02040503050406030204" pitchFamily="18" charset="0"/>
                            </a:rPr>
                            <m:t>𝑥</m:t>
                          </m:r>
                        </m:sub>
                      </m:sSub>
                      <m:d>
                        <m:dPr>
                          <m:ctrlPr>
                            <a:rPr lang="en-US" sz="2200" i="1">
                              <a:latin typeface="Cambria Math" panose="02040503050406030204" pitchFamily="18" charset="0"/>
                            </a:rPr>
                          </m:ctrlPr>
                        </m:dPr>
                        <m:e>
                          <m:f>
                            <m:fPr>
                              <m:type m:val="skw"/>
                              <m:ctrlPr>
                                <a:rPr lang="en-US" sz="2200" i="1" smtClean="0">
                                  <a:latin typeface="Cambria Math" panose="02040503050406030204" pitchFamily="18" charset="0"/>
                                </a:rPr>
                              </m:ctrlPr>
                            </m:fPr>
                            <m:num>
                              <m:r>
                                <a:rPr lang="en-US" sz="2200" b="0" i="1" smtClean="0">
                                  <a:latin typeface="Cambria Math" panose="02040503050406030204" pitchFamily="18" charset="0"/>
                                </a:rPr>
                                <m:t>𝑡</m:t>
                              </m:r>
                            </m:num>
                            <m:den>
                              <m:r>
                                <a:rPr lang="en-US" sz="2200" b="0" i="1" smtClean="0">
                                  <a:latin typeface="Cambria Math" panose="02040503050406030204" pitchFamily="18" charset="0"/>
                                </a:rPr>
                                <m:t>h</m:t>
                              </m:r>
                            </m:den>
                          </m:f>
                        </m:e>
                      </m:d>
                    </m:oMath>
                  </m:oMathPara>
                </a14:m>
                <a:endParaRPr lang="en-US" sz="2200" dirty="0"/>
              </a:p>
              <a:p>
                <a:pPr marL="0" indent="0" algn="just">
                  <a:buNone/>
                </a:pPr>
                <a:r>
                  <a:rPr lang="en-US" sz="2200" b="1" dirty="0"/>
                  <a:t>Q1.</a:t>
                </a:r>
                <a:r>
                  <a:rPr lang="en-US" sz="2200" dirty="0"/>
                  <a:t> find the moment generating function of the discrete binomial distribution given by </a:t>
                </a:r>
                <a14:m>
                  <m:oMath xmlns:m="http://schemas.openxmlformats.org/officeDocument/2006/math">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𝑥</m:t>
                        </m:r>
                      </m:e>
                    </m:d>
                    <m:r>
                      <a:rPr lang="en-US" sz="2200" b="0" i="1" smtClean="0">
                        <a:latin typeface="Cambria Math" panose="02040503050406030204" pitchFamily="18" charset="0"/>
                      </a:rPr>
                      <m:t>=</m:t>
                    </m:r>
                    <m:sPre>
                      <m:sPrePr>
                        <m:ctrlPr>
                          <a:rPr lang="en-US" sz="2200" b="0" i="1" smtClean="0">
                            <a:latin typeface="Cambria Math" panose="02040503050406030204" pitchFamily="18" charset="0"/>
                          </a:rPr>
                        </m:ctrlPr>
                      </m:sPrePr>
                      <m:sub/>
                      <m:sup>
                        <m:r>
                          <a:rPr lang="en-US" sz="2200" b="0" i="1" smtClean="0">
                            <a:latin typeface="Cambria Math" panose="02040503050406030204" pitchFamily="18" charset="0"/>
                          </a:rPr>
                          <m:t>𝑛</m:t>
                        </m:r>
                      </m:sup>
                      <m:e>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𝑥</m:t>
                            </m:r>
                          </m:sub>
                        </m:sSub>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𝑝</m:t>
                            </m:r>
                          </m:e>
                          <m:sup>
                            <m:r>
                              <a:rPr lang="en-US" sz="2200" b="0" i="1" smtClean="0">
                                <a:latin typeface="Cambria Math" panose="02040503050406030204" pitchFamily="18" charset="0"/>
                              </a:rPr>
                              <m:t>𝑥</m:t>
                            </m:r>
                          </m:sup>
                        </m:sSup>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𝑞</m:t>
                            </m:r>
                          </m:e>
                          <m:sup>
                            <m:r>
                              <a:rPr lang="en-US" sz="2200" b="0" i="1" smtClean="0">
                                <a:latin typeface="Cambria Math" panose="02040503050406030204" pitchFamily="18" charset="0"/>
                              </a:rPr>
                              <m:t>𝑛</m:t>
                            </m:r>
                            <m:r>
                              <a:rPr lang="en-US" sz="2200" b="0" i="1" smtClean="0">
                                <a:latin typeface="Cambria Math" panose="02040503050406030204" pitchFamily="18" charset="0"/>
                              </a:rPr>
                              <m:t>−</m:t>
                            </m:r>
                            <m:r>
                              <a:rPr lang="en-US" sz="2200" b="0" i="1" smtClean="0">
                                <a:latin typeface="Cambria Math" panose="02040503050406030204" pitchFamily="18" charset="0"/>
                              </a:rPr>
                              <m:t>𝑥</m:t>
                            </m:r>
                          </m:sup>
                        </m:sSup>
                      </m:e>
                    </m:sPre>
                  </m:oMath>
                </a14:m>
                <a:r>
                  <a:rPr lang="en-US" sz="2200" dirty="0"/>
                  <a:t> where </a:t>
                </a:r>
                <a14:m>
                  <m:oMath xmlns:m="http://schemas.openxmlformats.org/officeDocument/2006/math">
                    <m:r>
                      <a:rPr lang="en-US" sz="2200" b="0" i="1" smtClean="0">
                        <a:latin typeface="Cambria Math" panose="02040503050406030204" pitchFamily="18" charset="0"/>
                      </a:rPr>
                      <m:t>𝑞</m:t>
                    </m:r>
                    <m:r>
                      <a:rPr lang="en-US" sz="2200" b="0" i="1" smtClean="0">
                        <a:latin typeface="Cambria Math" panose="02040503050406030204" pitchFamily="18" charset="0"/>
                      </a:rPr>
                      <m:t>=1−</m:t>
                    </m:r>
                    <m:r>
                      <a:rPr lang="en-US" sz="2200" b="0" i="1" smtClean="0">
                        <a:latin typeface="Cambria Math" panose="02040503050406030204" pitchFamily="18" charset="0"/>
                      </a:rPr>
                      <m:t>𝑝</m:t>
                    </m:r>
                  </m:oMath>
                </a14:m>
                <a:endParaRPr lang="en-US" sz="2200" b="0" dirty="0"/>
              </a:p>
              <a:p>
                <a:pPr marL="0" indent="0" algn="just">
                  <a:buNone/>
                </a:pPr>
                <a:r>
                  <a:rPr lang="en-US" sz="2200" dirty="0"/>
                  <a:t>Also find   the 1</a:t>
                </a:r>
                <a:r>
                  <a:rPr lang="en-US" sz="2200" baseline="30000" dirty="0"/>
                  <a:t>st</a:t>
                </a:r>
                <a:r>
                  <a:rPr lang="en-US" sz="2200" dirty="0"/>
                  <a:t> and 2</a:t>
                </a:r>
                <a:r>
                  <a:rPr lang="en-US" sz="2200" baseline="30000" dirty="0"/>
                  <a:t>nd</a:t>
                </a:r>
                <a:r>
                  <a:rPr lang="en-US" sz="2200" dirty="0"/>
                  <a:t> moment about the mean .</a:t>
                </a:r>
              </a:p>
              <a:p>
                <a:pPr marL="0" indent="0" algn="just">
                  <a:buNone/>
                </a:pPr>
                <a:r>
                  <a:rPr lang="en-US" sz="2200" b="1" dirty="0"/>
                  <a:t>Solution: </a:t>
                </a:r>
                <a:r>
                  <a:rPr lang="en-US" sz="2200" dirty="0"/>
                  <a:t>Moment generating function given about the origin is given by </a:t>
                </a:r>
              </a:p>
              <a:p>
                <a:pPr marL="0" indent="0" algn="just">
                  <a:buNone/>
                </a:pPr>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88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ACF87B30-534E-4DD2-891F-9A0ABA52CD0A}"/>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4705146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a:rPr>
                            <m:t>𝑀</m:t>
                          </m:r>
                        </m:e>
                        <m:sub>
                          <m:r>
                            <a:rPr lang="en-US" sz="2000" i="1">
                              <a:latin typeface="Cambria Math"/>
                            </a:rPr>
                            <m:t>𝑥</m:t>
                          </m:r>
                        </m:sub>
                      </m:sSub>
                      <m:d>
                        <m:dPr>
                          <m:ctrlPr>
                            <a:rPr lang="en-US" sz="2000" i="1">
                              <a:latin typeface="Cambria Math" panose="02040503050406030204" pitchFamily="18" charset="0"/>
                            </a:rPr>
                          </m:ctrlPr>
                        </m:dPr>
                        <m:e>
                          <m:r>
                            <a:rPr lang="en-US" sz="2000" i="1">
                              <a:latin typeface="Cambria Math"/>
                            </a:rPr>
                            <m:t>𝑡</m:t>
                          </m:r>
                        </m:e>
                      </m:d>
                      <m:r>
                        <a:rPr lang="en-US" sz="2000" i="1">
                          <a:latin typeface="Cambria Math"/>
                        </a:rPr>
                        <m:t>=</m:t>
                      </m:r>
                      <m:nary>
                        <m:naryPr>
                          <m:chr m:val="∑"/>
                          <m:subHide m:val="on"/>
                          <m:supHide m:val="on"/>
                          <m:ctrlPr>
                            <a:rPr lang="en-US" sz="2000" i="1">
                              <a:latin typeface="Cambria Math" panose="02040503050406030204" pitchFamily="18" charset="0"/>
                            </a:rPr>
                          </m:ctrlPr>
                        </m:naryPr>
                        <m:sub/>
                        <m:sup/>
                        <m:e>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𝑥𝑡</m:t>
                              </m:r>
                            </m:sup>
                          </m:sSup>
                          <m:r>
                            <a:rPr lang="en-US" sz="2000" i="1">
                              <a:latin typeface="Cambria Math"/>
                            </a:rPr>
                            <m:t>𝑃</m:t>
                          </m:r>
                          <m:r>
                            <a:rPr lang="en-US" sz="2000" i="1">
                              <a:latin typeface="Cambria Math"/>
                            </a:rPr>
                            <m:t>=</m:t>
                          </m:r>
                          <m:nary>
                            <m:naryPr>
                              <m:chr m:val="∑"/>
                              <m:subHide m:val="on"/>
                              <m:supHide m:val="on"/>
                              <m:ctrlPr>
                                <a:rPr lang="en-US" sz="2000" i="1">
                                  <a:latin typeface="Cambria Math" panose="02040503050406030204" pitchFamily="18" charset="0"/>
                                </a:rPr>
                              </m:ctrlPr>
                            </m:naryPr>
                            <m:sub/>
                            <m:sup/>
                            <m:e>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r>
                                    <a:rPr lang="en-US" sz="2000" b="0" i="1" smtClean="0">
                                      <a:latin typeface="Cambria Math"/>
                                    </a:rPr>
                                    <m:t>𝑥</m:t>
                                  </m:r>
                                </m:sup>
                              </m:sSup>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𝑛</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𝑥</m:t>
                                      </m:r>
                                    </m:sub>
                                  </m:sSub>
                                  <m:sSup>
                                    <m:sSupPr>
                                      <m:ctrlPr>
                                        <a:rPr lang="en-US" sz="2000" i="1">
                                          <a:latin typeface="Cambria Math" panose="02040503050406030204" pitchFamily="18" charset="0"/>
                                        </a:rPr>
                                      </m:ctrlPr>
                                    </m:sSupPr>
                                    <m:e>
                                      <m:r>
                                        <a:rPr lang="en-US" sz="2000" i="1">
                                          <a:latin typeface="Cambria Math"/>
                                        </a:rPr>
                                        <m:t>𝑝</m:t>
                                      </m:r>
                                    </m:e>
                                    <m:sup>
                                      <m:r>
                                        <a:rPr lang="en-US" sz="2000" i="1">
                                          <a:latin typeface="Cambria Math"/>
                                        </a:rPr>
                                        <m:t>𝑥</m:t>
                                      </m:r>
                                    </m:sup>
                                  </m:sSup>
                                  <m:sSup>
                                    <m:sSupPr>
                                      <m:ctrlPr>
                                        <a:rPr lang="en-US" sz="2000" i="1">
                                          <a:latin typeface="Cambria Math" panose="02040503050406030204" pitchFamily="18" charset="0"/>
                                        </a:rPr>
                                      </m:ctrlPr>
                                    </m:sSupPr>
                                    <m:e>
                                      <m:r>
                                        <a:rPr lang="en-US" sz="2000" i="1">
                                          <a:latin typeface="Cambria Math"/>
                                        </a:rPr>
                                        <m:t>𝑞</m:t>
                                      </m:r>
                                    </m:e>
                                    <m:sup>
                                      <m:r>
                                        <a:rPr lang="en-US" sz="2000" i="1">
                                          <a:latin typeface="Cambria Math"/>
                                        </a:rPr>
                                        <m:t>𝑛</m:t>
                                      </m:r>
                                      <m:r>
                                        <a:rPr lang="en-US" sz="2000" i="1">
                                          <a:latin typeface="Cambria Math"/>
                                        </a:rPr>
                                        <m:t>−</m:t>
                                      </m:r>
                                      <m:r>
                                        <a:rPr lang="en-US" sz="2000" i="1">
                                          <a:latin typeface="Cambria Math"/>
                                        </a:rPr>
                                        <m:t>𝑥</m:t>
                                      </m:r>
                                    </m:sup>
                                  </m:sSup>
                                </m:e>
                              </m:sPre>
                            </m:e>
                          </m:nary>
                          <m:r>
                            <m:rPr>
                              <m:nor/>
                            </m:rPr>
                            <a:rPr lang="en-US" sz="2000" dirty="0"/>
                            <m:t> </m:t>
                          </m:r>
                        </m:e>
                      </m:nary>
                    </m:oMath>
                  </m:oMathPara>
                </a14:m>
                <a:endParaRPr lang="en-US" sz="2000" dirty="0"/>
              </a:p>
              <a:p>
                <a:pPr marL="0" indent="0">
                  <a:buNone/>
                </a:pPr>
                <a14:m>
                  <m:oMathPara xmlns:m="http://schemas.openxmlformats.org/officeDocument/2006/math">
                    <m:oMathParaPr>
                      <m:jc m:val="left"/>
                    </m:oMathParaPr>
                    <m:oMath xmlns:m="http://schemas.openxmlformats.org/officeDocument/2006/math">
                      <m:r>
                        <a:rPr lang="en-US" sz="2000" b="0" i="1" smtClean="0">
                          <a:latin typeface="Cambria Math"/>
                        </a:rPr>
                        <m:t>=</m:t>
                      </m:r>
                      <m:nary>
                        <m:naryPr>
                          <m:chr m:val="∑"/>
                          <m:subHide m:val="on"/>
                          <m:supHide m:val="on"/>
                          <m:ctrlPr>
                            <a:rPr lang="en-US" sz="2000" i="1">
                              <a:latin typeface="Cambria Math" panose="02040503050406030204" pitchFamily="18" charset="0"/>
                            </a:rPr>
                          </m:ctrlPr>
                        </m:naryPr>
                        <m:sub/>
                        <m:sup/>
                        <m:e>
                          <m:sPre>
                            <m:sPrePr>
                              <m:ctrlPr>
                                <a:rPr lang="en-US" sz="2000" i="1">
                                  <a:latin typeface="Cambria Math" panose="02040503050406030204" pitchFamily="18" charset="0"/>
                                </a:rPr>
                              </m:ctrlPr>
                            </m:sPrePr>
                            <m:sub/>
                            <m:sup>
                              <m:r>
                                <a:rPr lang="en-US" sz="2000" i="1">
                                  <a:latin typeface="Cambria Math"/>
                                </a:rPr>
                                <m:t>𝑛</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𝑥</m:t>
                                  </m:r>
                                </m:sub>
                              </m:sSub>
                              <m:sSup>
                                <m:sSupPr>
                                  <m:ctrlPr>
                                    <a:rPr lang="en-US" sz="2000" i="1">
                                      <a:latin typeface="Cambria Math" panose="02040503050406030204" pitchFamily="18" charset="0"/>
                                    </a:rPr>
                                  </m:ctrlPr>
                                </m:sSupPr>
                                <m:e>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r>
                                    <a:rPr lang="en-US" sz="2000" b="0" i="1" smtClean="0">
                                      <a:latin typeface="Cambria Math"/>
                                    </a:rPr>
                                    <m:t>𝑝</m:t>
                                  </m:r>
                                  <m:r>
                                    <a:rPr lang="en-US" sz="2000" b="0" i="1" smtClean="0">
                                      <a:latin typeface="Cambria Math"/>
                                    </a:rPr>
                                    <m:t>)</m:t>
                                  </m:r>
                                </m:e>
                                <m:sup>
                                  <m:r>
                                    <a:rPr lang="en-US" sz="2000" i="1">
                                      <a:latin typeface="Cambria Math"/>
                                    </a:rPr>
                                    <m:t>𝑥</m:t>
                                  </m:r>
                                </m:sup>
                              </m:sSup>
                              <m:sSup>
                                <m:sSupPr>
                                  <m:ctrlPr>
                                    <a:rPr lang="en-US" sz="2000" i="1">
                                      <a:latin typeface="Cambria Math" panose="02040503050406030204" pitchFamily="18" charset="0"/>
                                    </a:rPr>
                                  </m:ctrlPr>
                                </m:sSupPr>
                                <m:e>
                                  <m:r>
                                    <a:rPr lang="en-US" sz="2000" i="1">
                                      <a:latin typeface="Cambria Math"/>
                                    </a:rPr>
                                    <m:t>𝑞</m:t>
                                  </m:r>
                                </m:e>
                                <m:sup>
                                  <m:r>
                                    <a:rPr lang="en-US" sz="2000" i="1">
                                      <a:latin typeface="Cambria Math"/>
                                    </a:rPr>
                                    <m:t>𝑛</m:t>
                                  </m:r>
                                  <m:r>
                                    <a:rPr lang="en-US" sz="2000" i="1">
                                      <a:latin typeface="Cambria Math"/>
                                    </a:rPr>
                                    <m:t>−</m:t>
                                  </m:r>
                                  <m:r>
                                    <a:rPr lang="en-US" sz="2000" i="1">
                                      <a:latin typeface="Cambria Math"/>
                                    </a:rPr>
                                    <m:t>𝑥</m:t>
                                  </m:r>
                                </m:sup>
                              </m:sSup>
                            </m:e>
                          </m:sPre>
                        </m:e>
                      </m:nary>
                      <m:r>
                        <m:rPr>
                          <m:nor/>
                        </m:rPr>
                        <a:rPr lang="en-US" sz="2000" dirty="0"/>
                        <m:t> </m:t>
                      </m:r>
                    </m:oMath>
                  </m:oMathPara>
                </a14:m>
                <a:endParaRPr lang="en-US" sz="2000" dirty="0"/>
              </a:p>
              <a:p>
                <a:pPr marL="0" indent="0">
                  <a:buNone/>
                </a:pPr>
                <a14:m>
                  <m:oMathPara xmlns:m="http://schemas.openxmlformats.org/officeDocument/2006/math">
                    <m:oMathParaPr>
                      <m:jc m:val="left"/>
                    </m:oMathParaPr>
                    <m:oMath xmlns:m="http://schemas.openxmlformats.org/officeDocument/2006/math">
                      <m:r>
                        <a:rPr lang="en-US" sz="2000" b="0" i="1" smtClean="0">
                          <a:latin typeface="Cambria Math"/>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a:rPr>
                                <m:t>𝑞</m:t>
                              </m:r>
                              <m:r>
                                <a:rPr lang="en-US" sz="2000" b="0" i="1" smtClean="0">
                                  <a:latin typeface="Cambria Math"/>
                                </a:rPr>
                                <m:t>+</m:t>
                              </m:r>
                              <m:r>
                                <a:rPr lang="en-US" sz="2000" b="0" i="1" smtClean="0">
                                  <a:latin typeface="Cambria Math"/>
                                </a:rPr>
                                <m:t>𝑝</m:t>
                              </m:r>
                              <m:sSup>
                                <m:sSupPr>
                                  <m:ctrlPr>
                                    <a:rPr lang="en-US" sz="2000" b="0" i="1" smtClean="0">
                                      <a:latin typeface="Cambria Math" panose="02040503050406030204" pitchFamily="18" charset="0"/>
                                    </a:rPr>
                                  </m:ctrlPr>
                                </m:sSupPr>
                                <m:e>
                                  <m:r>
                                    <a:rPr lang="en-US" sz="2000" b="0" i="1" smtClean="0">
                                      <a:latin typeface="Cambria Math"/>
                                    </a:rPr>
                                    <m:t>𝑒</m:t>
                                  </m:r>
                                </m:e>
                                <m:sup>
                                  <m:r>
                                    <a:rPr lang="en-US" sz="2000" b="0" i="1" smtClean="0">
                                      <a:latin typeface="Cambria Math"/>
                                    </a:rPr>
                                    <m:t>𝑡</m:t>
                                  </m:r>
                                </m:sup>
                              </m:sSup>
                            </m:e>
                          </m:d>
                        </m:e>
                        <m:sup>
                          <m:r>
                            <a:rPr lang="en-US" sz="2000" b="0" i="1" smtClean="0">
                              <a:latin typeface="Cambria Math"/>
                            </a:rPr>
                            <m:t>𝑛</m:t>
                          </m:r>
                        </m:sup>
                      </m:sSup>
                    </m:oMath>
                  </m:oMathPara>
                </a14:m>
                <a:endParaRPr lang="en-US" sz="2000" b="0" dirty="0"/>
              </a:p>
              <a:p>
                <a:pPr marL="0" indent="0">
                  <a:buNone/>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𝑣</m:t>
                          </m:r>
                        </m:e>
                        <m:sub>
                          <m:r>
                            <a:rPr lang="en-US" sz="2000" b="0" i="1" smtClean="0">
                              <a:latin typeface="Cambria Math"/>
                            </a:rPr>
                            <m:t>1</m:t>
                          </m:r>
                        </m:sub>
                      </m:sSub>
                      <m:r>
                        <a:rPr lang="en-US" sz="2000" i="1">
                          <a:latin typeface="Cambria Math"/>
                        </a:rPr>
                        <m:t>=</m:t>
                      </m:r>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smtClean="0">
                                      <a:latin typeface="Cambria Math"/>
                                    </a:rPr>
                                    <m:t>𝑑</m:t>
                                  </m:r>
                                </m:num>
                                <m:den>
                                  <m:r>
                                    <a:rPr lang="en-US" sz="2000" b="0" i="1" smtClean="0">
                                      <a:latin typeface="Cambria Math"/>
                                    </a:rPr>
                                    <m:t>𝑑𝑡</m:t>
                                  </m:r>
                                </m:den>
                              </m:f>
                              <m:r>
                                <a:rPr lang="en-US" sz="2000" i="1">
                                  <a:latin typeface="Cambria Math"/>
                                </a:rPr>
                                <m:t>𝑀</m:t>
                              </m:r>
                              <m:d>
                                <m:dPr>
                                  <m:ctrlPr>
                                    <a:rPr lang="en-US" sz="2000" i="1">
                                      <a:latin typeface="Cambria Math" panose="02040503050406030204" pitchFamily="18" charset="0"/>
                                    </a:rPr>
                                  </m:ctrlPr>
                                </m:dPr>
                                <m:e>
                                  <m:r>
                                    <a:rPr lang="en-US" sz="2000" i="1">
                                      <a:latin typeface="Cambria Math"/>
                                    </a:rPr>
                                    <m:t>𝑡</m:t>
                                  </m:r>
                                </m:e>
                              </m:d>
                            </m:e>
                          </m:d>
                        </m:e>
                        <m:sub>
                          <m:r>
                            <a:rPr lang="en-US" sz="2000" i="1">
                              <a:latin typeface="Cambria Math"/>
                            </a:rPr>
                            <m:t>𝑡</m:t>
                          </m:r>
                          <m:r>
                            <a:rPr lang="en-US" sz="2000" i="1">
                              <a:latin typeface="Cambria Math"/>
                            </a:rPr>
                            <m:t>=0</m:t>
                          </m:r>
                        </m:sub>
                      </m:sSub>
                      <m:r>
                        <a:rPr lang="en-US" sz="2000" b="0" i="1" smtClean="0">
                          <a:latin typeface="Cambria Math"/>
                        </a:rPr>
                        <m:t>=</m:t>
                      </m:r>
                      <m:sSub>
                        <m:sSubPr>
                          <m:ctrlPr>
                            <a:rPr lang="en-US" sz="2000" i="1">
                              <a:latin typeface="Cambria Math" panose="02040503050406030204" pitchFamily="18" charset="0"/>
                            </a:rPr>
                          </m:ctrlPr>
                        </m:sSubPr>
                        <m:e>
                          <m:r>
                            <a:rPr lang="en-US" sz="2000" b="0" i="1" smtClean="0">
                              <a:latin typeface="Cambria Math"/>
                            </a:rPr>
                            <m:t>[</m:t>
                          </m:r>
                          <m:r>
                            <a:rPr lang="en-US" sz="2000" b="0" i="1" smtClean="0">
                              <a:latin typeface="Cambria Math"/>
                            </a:rPr>
                            <m:t>𝑛</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a:rPr>
                                    <m:t>𝑞</m:t>
                                  </m:r>
                                  <m:r>
                                    <a:rPr lang="en-US" sz="2000" b="0" i="1" smtClean="0">
                                      <a:latin typeface="Cambria Math"/>
                                    </a:rPr>
                                    <m:t>+</m:t>
                                  </m:r>
                                  <m:r>
                                    <a:rPr lang="en-US" sz="2000" b="0" i="1" smtClean="0">
                                      <a:latin typeface="Cambria Math"/>
                                    </a:rPr>
                                    <m:t>𝑝</m:t>
                                  </m:r>
                                  <m:sSup>
                                    <m:sSupPr>
                                      <m:ctrlPr>
                                        <a:rPr lang="en-US" sz="2000" b="0" i="1" smtClean="0">
                                          <a:latin typeface="Cambria Math" panose="02040503050406030204" pitchFamily="18" charset="0"/>
                                        </a:rPr>
                                      </m:ctrlPr>
                                    </m:sSupPr>
                                    <m:e>
                                      <m:r>
                                        <a:rPr lang="en-US" sz="2000" b="0" i="1" smtClean="0">
                                          <a:latin typeface="Cambria Math"/>
                                        </a:rPr>
                                        <m:t>𝑒</m:t>
                                      </m:r>
                                    </m:e>
                                    <m:sup>
                                      <m:r>
                                        <a:rPr lang="en-US" sz="2000" b="0" i="1" smtClean="0">
                                          <a:latin typeface="Cambria Math"/>
                                        </a:rPr>
                                        <m:t>𝑡</m:t>
                                      </m:r>
                                    </m:sup>
                                  </m:sSup>
                                </m:e>
                              </m:d>
                            </m:e>
                            <m:sup>
                              <m:r>
                                <a:rPr lang="en-US" sz="2000" b="0" i="1" smtClean="0">
                                  <a:latin typeface="Cambria Math"/>
                                </a:rPr>
                                <m:t>𝑛</m:t>
                              </m:r>
                              <m:r>
                                <a:rPr lang="en-US" sz="2000" b="0" i="1" smtClean="0">
                                  <a:latin typeface="Cambria Math"/>
                                </a:rPr>
                                <m:t>−1</m:t>
                              </m:r>
                            </m:sup>
                          </m:sSup>
                          <m:r>
                            <a:rPr lang="en-US" sz="2000" b="0" i="1" smtClean="0">
                              <a:latin typeface="Cambria Math"/>
                            </a:rPr>
                            <m:t>𝑝</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r>
                            <a:rPr lang="en-US" sz="2000" b="0" i="1" smtClean="0">
                              <a:latin typeface="Cambria Math"/>
                            </a:rPr>
                            <m:t>]</m:t>
                          </m:r>
                        </m:e>
                        <m:sub>
                          <m:r>
                            <a:rPr lang="en-US" sz="2000" b="0" i="1" smtClean="0">
                              <a:latin typeface="Cambria Math"/>
                            </a:rPr>
                            <m:t>𝑡</m:t>
                          </m:r>
                          <m:r>
                            <a:rPr lang="en-US" sz="2000" b="0" i="1" smtClean="0">
                              <a:latin typeface="Cambria Math"/>
                            </a:rPr>
                            <m:t>=0</m:t>
                          </m:r>
                        </m:sub>
                      </m:sSub>
                      <m:r>
                        <a:rPr lang="en-US" sz="2000" b="0" i="1" smtClean="0">
                          <a:latin typeface="Cambria Math"/>
                        </a:rPr>
                        <m:t>=</m:t>
                      </m:r>
                      <m:r>
                        <a:rPr lang="en-US" sz="2000" b="0" i="1" smtClean="0">
                          <a:latin typeface="Cambria Math"/>
                        </a:rPr>
                        <m:t>𝑛𝑝</m:t>
                      </m:r>
                    </m:oMath>
                  </m:oMathPara>
                </a14:m>
                <a:endParaRPr lang="en-US" sz="2000" b="0" dirty="0"/>
              </a:p>
              <a:p>
                <a:pPr marL="0" indent="0">
                  <a:buNone/>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a:rPr>
                            <m:t>𝑣</m:t>
                          </m:r>
                        </m:e>
                        <m:sub>
                          <m:r>
                            <a:rPr lang="en-US" sz="2000" b="0" i="1" smtClean="0">
                              <a:latin typeface="Cambria Math"/>
                            </a:rPr>
                            <m:t>2</m:t>
                          </m:r>
                        </m:sub>
                      </m:sSub>
                      <m:r>
                        <a:rPr lang="en-US" sz="2000" i="1">
                          <a:latin typeface="Cambria Math"/>
                        </a:rPr>
                        <m:t>=</m:t>
                      </m:r>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a:rPr>
                                        <m:t>𝑑</m:t>
                                      </m:r>
                                    </m:e>
                                    <m:sup>
                                      <m:r>
                                        <a:rPr lang="en-US" sz="2000" b="0" i="1" smtClean="0">
                                          <a:latin typeface="Cambria Math"/>
                                        </a:rPr>
                                        <m:t>2</m:t>
                                      </m:r>
                                    </m:sup>
                                  </m:sSup>
                                </m:num>
                                <m:den>
                                  <m:sSup>
                                    <m:sSupPr>
                                      <m:ctrlPr>
                                        <a:rPr lang="en-US" sz="2000" i="1">
                                          <a:latin typeface="Cambria Math" panose="02040503050406030204" pitchFamily="18" charset="0"/>
                                        </a:rPr>
                                      </m:ctrlPr>
                                    </m:sSupPr>
                                    <m:e>
                                      <m:r>
                                        <a:rPr lang="en-US" sz="2000" i="1">
                                          <a:latin typeface="Cambria Math"/>
                                        </a:rPr>
                                        <m:t>𝑑𝑡</m:t>
                                      </m:r>
                                    </m:e>
                                    <m:sup>
                                      <m:r>
                                        <a:rPr lang="en-US" sz="2000" b="0" i="1" smtClean="0">
                                          <a:latin typeface="Cambria Math"/>
                                        </a:rPr>
                                        <m:t>2</m:t>
                                      </m:r>
                                    </m:sup>
                                  </m:sSup>
                                </m:den>
                              </m:f>
                              <m:r>
                                <a:rPr lang="en-US" sz="2000" i="1">
                                  <a:latin typeface="Cambria Math"/>
                                </a:rPr>
                                <m:t>𝑀</m:t>
                              </m:r>
                              <m:d>
                                <m:dPr>
                                  <m:ctrlPr>
                                    <a:rPr lang="en-US" sz="2000" i="1">
                                      <a:latin typeface="Cambria Math" panose="02040503050406030204" pitchFamily="18" charset="0"/>
                                    </a:rPr>
                                  </m:ctrlPr>
                                </m:dPr>
                                <m:e>
                                  <m:r>
                                    <a:rPr lang="en-US" sz="2000" i="1">
                                      <a:latin typeface="Cambria Math"/>
                                    </a:rPr>
                                    <m:t>𝑡</m:t>
                                  </m:r>
                                </m:e>
                              </m:d>
                            </m:e>
                          </m:d>
                        </m:e>
                        <m:sub>
                          <m:r>
                            <a:rPr lang="en-US" sz="2000" i="1">
                              <a:latin typeface="Cambria Math"/>
                            </a:rPr>
                            <m:t>𝑡</m:t>
                          </m:r>
                          <m:r>
                            <a:rPr lang="en-US" sz="2000" i="1">
                              <a:latin typeface="Cambria Math"/>
                            </a:rPr>
                            <m:t>=0</m:t>
                          </m:r>
                        </m:sub>
                      </m:sSub>
                      <m:r>
                        <a:rPr lang="en-US" sz="2000" b="0" i="1" smtClean="0">
                          <a:latin typeface="Cambria Math"/>
                        </a:rPr>
                        <m:t>=</m:t>
                      </m:r>
                      <m:sSub>
                        <m:sSubPr>
                          <m:ctrlPr>
                            <a:rPr lang="en-US" sz="2000" i="1">
                              <a:latin typeface="Cambria Math" panose="02040503050406030204" pitchFamily="18" charset="0"/>
                            </a:rPr>
                          </m:ctrlPr>
                        </m:sSubPr>
                        <m:e>
                          <m:r>
                            <a:rPr lang="en-US" sz="2000" i="1">
                              <a:latin typeface="Cambria Math"/>
                            </a:rPr>
                            <m:t>[</m:t>
                          </m:r>
                          <m:r>
                            <a:rPr lang="en-US" sz="2000" i="1">
                              <a:latin typeface="Cambria Math"/>
                            </a:rPr>
                            <m:t>𝑛𝑝</m:t>
                          </m:r>
                          <m:sSup>
                            <m:sSupPr>
                              <m:ctrlPr>
                                <a:rPr lang="en-US" sz="2000" i="1">
                                  <a:latin typeface="Cambria Math" panose="02040503050406030204" pitchFamily="18" charset="0"/>
                                </a:rPr>
                              </m:ctrlPr>
                            </m:sSupPr>
                            <m:e>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r>
                                <a:rPr lang="en-US" sz="2000" b="0" i="1" smtClean="0">
                                  <a:latin typeface="Cambria Math"/>
                                </a:rPr>
                                <m:t>(</m:t>
                              </m:r>
                              <m:r>
                                <a:rPr lang="en-US" sz="2000" b="0" i="1" smtClean="0">
                                  <a:latin typeface="Cambria Math"/>
                                </a:rPr>
                                <m:t>𝑛</m:t>
                              </m:r>
                              <m:r>
                                <a:rPr lang="en-US" sz="2000" b="0" i="1" smtClean="0">
                                  <a:latin typeface="Cambria Math"/>
                                </a:rPr>
                                <m:t>−1)</m:t>
                              </m:r>
                              <m:d>
                                <m:dPr>
                                  <m:ctrlPr>
                                    <a:rPr lang="en-US" sz="2000" i="1">
                                      <a:latin typeface="Cambria Math" panose="02040503050406030204" pitchFamily="18" charset="0"/>
                                    </a:rPr>
                                  </m:ctrlPr>
                                </m:dPr>
                                <m:e>
                                  <m:r>
                                    <a:rPr lang="en-US" sz="2000" i="1">
                                      <a:latin typeface="Cambria Math"/>
                                    </a:rPr>
                                    <m:t>𝑞</m:t>
                                  </m:r>
                                  <m:r>
                                    <a:rPr lang="en-US" sz="2000" i="1">
                                      <a:latin typeface="Cambria Math"/>
                                    </a:rPr>
                                    <m:t>+</m:t>
                                  </m:r>
                                  <m:r>
                                    <a:rPr lang="en-US" sz="2000" i="1">
                                      <a:latin typeface="Cambria Math"/>
                                    </a:rPr>
                                    <m:t>𝑝</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e>
                              </m:d>
                            </m:e>
                            <m:sup>
                              <m:r>
                                <a:rPr lang="en-US" sz="2000" i="1">
                                  <a:latin typeface="Cambria Math"/>
                                </a:rPr>
                                <m:t>𝑛</m:t>
                              </m:r>
                              <m:r>
                                <a:rPr lang="en-US" sz="2000" i="1">
                                  <a:latin typeface="Cambria Math"/>
                                </a:rPr>
                                <m:t>−2</m:t>
                              </m:r>
                            </m:sup>
                          </m:sSup>
                          <m:r>
                            <a:rPr lang="en-US" sz="2000" i="1">
                              <a:latin typeface="Cambria Math"/>
                            </a:rPr>
                            <m:t>𝑝</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r>
                            <a:rPr lang="en-US" sz="2000" b="0" i="1" smtClean="0">
                              <a:latin typeface="Cambria Math"/>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a:rPr>
                                    <m:t>𝑞</m:t>
                                  </m:r>
                                  <m:r>
                                    <a:rPr lang="en-US" sz="2000" i="1">
                                      <a:latin typeface="Cambria Math"/>
                                    </a:rPr>
                                    <m:t>+</m:t>
                                  </m:r>
                                  <m:r>
                                    <a:rPr lang="en-US" sz="2000" i="1">
                                      <a:latin typeface="Cambria Math"/>
                                    </a:rPr>
                                    <m:t>𝑝</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e>
                              </m:d>
                            </m:e>
                            <m:sup>
                              <m:r>
                                <a:rPr lang="en-US" sz="2000" i="1">
                                  <a:latin typeface="Cambria Math"/>
                                </a:rPr>
                                <m:t>𝑛</m:t>
                              </m:r>
                              <m:r>
                                <a:rPr lang="en-US" sz="2000" i="1">
                                  <a:latin typeface="Cambria Math"/>
                                </a:rPr>
                                <m:t>−1</m:t>
                              </m:r>
                            </m:sup>
                          </m:sSup>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r>
                            <a:rPr lang="en-US" sz="2000" i="1">
                              <a:latin typeface="Cambria Math"/>
                            </a:rPr>
                            <m:t>]</m:t>
                          </m:r>
                        </m:e>
                        <m:sub>
                          <m:r>
                            <a:rPr lang="en-US" sz="2000" i="1">
                              <a:latin typeface="Cambria Math"/>
                            </a:rPr>
                            <m:t>𝑡</m:t>
                          </m:r>
                          <m:r>
                            <a:rPr lang="en-US" sz="2000" i="1">
                              <a:latin typeface="Cambria Math"/>
                            </a:rPr>
                            <m:t>=0</m:t>
                          </m:r>
                        </m:sub>
                      </m:sSub>
                    </m:oMath>
                  </m:oMathPara>
                </a14:m>
                <a:endParaRPr lang="en-US" sz="2000" dirty="0"/>
              </a:p>
              <a:p>
                <a:pPr marL="0" indent="0">
                  <a:buNone/>
                </a:pPr>
                <a:endParaRPr lang="en-US" sz="2000" dirty="0"/>
              </a:p>
              <a:p>
                <a:pPr marL="0" indent="0">
                  <a:buNone/>
                </a:pPr>
                <a:endParaRPr lang="en-US" sz="2200" dirty="0"/>
              </a:p>
              <a:p>
                <a:pPr marL="0" indent="0">
                  <a:buNone/>
                </a:pPr>
                <a:endParaRPr lang="en-US" sz="2200" b="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645F13E3-E2AD-4CD6-B1ED-124B18E3409F}"/>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23127578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lstStyle/>
              <a:p>
                <a:pPr marL="0" indent="0">
                  <a:buNone/>
                </a:pPr>
                <a14:m>
                  <m:oMathPara xmlns:m="http://schemas.openxmlformats.org/officeDocument/2006/math">
                    <m:oMathParaPr>
                      <m:jc m:val="left"/>
                    </m:oMathParaPr>
                    <m:oMath xmlns:m="http://schemas.openxmlformats.org/officeDocument/2006/math">
                      <m:r>
                        <a:rPr lang="en-US" sz="2200" i="1" smtClean="0">
                          <a:latin typeface="Cambria Math"/>
                        </a:rPr>
                        <m:t>=</m:t>
                      </m:r>
                      <m:r>
                        <a:rPr lang="en-US" sz="2200" i="1">
                          <a:latin typeface="Cambria Math"/>
                        </a:rPr>
                        <m:t>[</m:t>
                      </m:r>
                      <m:r>
                        <a:rPr lang="en-US" sz="2200" i="1">
                          <a:latin typeface="Cambria Math"/>
                        </a:rPr>
                        <m:t>𝑛𝑝</m:t>
                      </m:r>
                      <m:r>
                        <a:rPr lang="en-US" sz="2200" i="1">
                          <a:latin typeface="Cambria Math"/>
                        </a:rPr>
                        <m:t>(</m:t>
                      </m:r>
                      <m:r>
                        <a:rPr lang="en-US" sz="2200" i="1">
                          <a:latin typeface="Cambria Math"/>
                        </a:rPr>
                        <m:t>𝑞</m:t>
                      </m:r>
                      <m:r>
                        <a:rPr lang="en-US" sz="2200" i="1">
                          <a:latin typeface="Cambria Math"/>
                        </a:rPr>
                        <m:t>+</m:t>
                      </m:r>
                      <m:r>
                        <a:rPr lang="en-US" sz="2200" i="1">
                          <a:latin typeface="Cambria Math"/>
                        </a:rPr>
                        <m:t>𝑝𝑛</m:t>
                      </m:r>
                      <m:r>
                        <a:rPr lang="en-US" sz="2200" i="1">
                          <a:latin typeface="Cambria Math"/>
                        </a:rPr>
                        <m:t>)]</m:t>
                      </m:r>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ea typeface="Cambria Math"/>
                        </a:rPr>
                        <m:t>=</m:t>
                      </m:r>
                      <m:r>
                        <a:rPr lang="en-US" sz="2200" b="0" i="1" smtClean="0">
                          <a:latin typeface="Cambria Math"/>
                          <a:ea typeface="Cambria Math"/>
                        </a:rPr>
                        <m:t>𝑛𝑝𝑞</m:t>
                      </m:r>
                      <m:r>
                        <a:rPr lang="en-US" sz="2200" b="0" i="1" smtClean="0">
                          <a:latin typeface="Cambria Math"/>
                          <a:ea typeface="Cambria Math"/>
                        </a:rPr>
                        <m:t>+</m:t>
                      </m:r>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𝑛</m:t>
                          </m:r>
                          <m:r>
                            <a:rPr lang="en-US" sz="2200" b="0" i="1" smtClean="0">
                              <a:latin typeface="Cambria Math"/>
                              <a:ea typeface="Cambria Math"/>
                            </a:rPr>
                            <m:t> </m:t>
                          </m:r>
                        </m:e>
                        <m:sup>
                          <m:r>
                            <a:rPr lang="en-US" sz="2200" b="0" i="1" smtClean="0">
                              <a:latin typeface="Cambria Math"/>
                              <a:ea typeface="Cambria Math"/>
                            </a:rPr>
                            <m:t>2</m:t>
                          </m:r>
                        </m:sup>
                      </m:sSup>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𝑝</m:t>
                          </m:r>
                        </m:e>
                        <m:sup>
                          <m:r>
                            <a:rPr lang="en-US" sz="2200" b="0" i="1" smtClean="0">
                              <a:latin typeface="Cambria Math"/>
                              <a:ea typeface="Cambria Math"/>
                            </a:rPr>
                            <m:t>2</m:t>
                          </m:r>
                        </m:sup>
                      </m:sSup>
                    </m:oMath>
                  </m:oMathPara>
                </a14:m>
                <a:endParaRPr lang="en-US" sz="2200" b="0" dirty="0">
                  <a:ea typeface="Cambria Math"/>
                </a:endParaRPr>
              </a:p>
              <a:p>
                <a:pPr marL="0" indent="0">
                  <a:buNone/>
                </a:pPr>
                <a:r>
                  <a:rPr lang="en-US" sz="2200" dirty="0"/>
                  <a:t>Hence first and second moments about the mean are given by </a:t>
                </a:r>
              </a:p>
              <a:p>
                <a:pPr marL="0" indent="0">
                  <a:buNone/>
                </a:pPr>
                <a14:m>
                  <m:oMathPara xmlns:m="http://schemas.openxmlformats.org/officeDocument/2006/math">
                    <m:oMathParaPr>
                      <m:jc m:val="left"/>
                    </m:oMathParaPr>
                    <m:oMath xmlns:m="http://schemas.openxmlformats.org/officeDocument/2006/math">
                      <m:sSub>
                        <m:sSubPr>
                          <m:ctrlPr>
                            <a:rPr lang="en-US" sz="2200" i="1" smtClean="0">
                              <a:latin typeface="Cambria Math" panose="02040503050406030204" pitchFamily="18" charset="0"/>
                            </a:rPr>
                          </m:ctrlPr>
                        </m:sSubPr>
                        <m:e>
                          <m:r>
                            <a:rPr lang="en-US" sz="2200" i="1" smtClean="0">
                              <a:latin typeface="Cambria Math"/>
                              <a:ea typeface="Cambria Math"/>
                            </a:rPr>
                            <m:t>𝜇</m:t>
                          </m:r>
                        </m:e>
                        <m:sub>
                          <m:r>
                            <a:rPr lang="en-US" sz="2200" b="0" i="1" smtClean="0">
                              <a:latin typeface="Cambria Math"/>
                            </a:rPr>
                            <m:t>1</m:t>
                          </m:r>
                        </m:sub>
                      </m:sSub>
                      <m:r>
                        <a:rPr lang="en-US" sz="2200" b="0" i="1" smtClean="0">
                          <a:latin typeface="Cambria Math"/>
                        </a:rPr>
                        <m:t>=0</m:t>
                      </m:r>
                    </m:oMath>
                  </m:oMathPara>
                </a14:m>
                <a:endParaRPr lang="en-US" sz="2200" b="0" dirty="0"/>
              </a:p>
              <a:p>
                <a:pPr marL="0" indent="0">
                  <a:buNone/>
                </a:pPr>
                <a:r>
                  <a:rPr lang="en-US" sz="2200" dirty="0"/>
                  <a:t>Since </a:t>
                </a:r>
                <a14:m>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m:t>
                    </m:r>
                    <m:sSub>
                      <m:sSubPr>
                        <m:ctrlPr>
                          <a:rPr lang="en-US" sz="2200" b="0" i="1" smtClean="0">
                            <a:latin typeface="Cambria Math" panose="02040503050406030204" pitchFamily="18" charset="0"/>
                          </a:rPr>
                        </m:ctrlPr>
                      </m:sSubPr>
                      <m:e>
                        <m:r>
                          <a:rPr lang="en-US" sz="2200" b="0" i="1" smtClean="0">
                            <a:latin typeface="Cambria Math"/>
                            <a:ea typeface="Cambria Math"/>
                          </a:rPr>
                          <m:t>𝜈</m:t>
                        </m:r>
                      </m:e>
                      <m:sub>
                        <m:r>
                          <a:rPr lang="en-US" sz="2200" b="0" i="1" smtClean="0">
                            <a:latin typeface="Cambria Math"/>
                          </a:rPr>
                          <m:t>1</m:t>
                        </m:r>
                      </m:sub>
                    </m:sSub>
                    <m:r>
                      <a:rPr lang="en-US" sz="2200" b="0" i="1" smtClean="0">
                        <a:latin typeface="Cambria Math"/>
                      </a:rPr>
                      <m:t>=</m:t>
                    </m:r>
                    <m:r>
                      <a:rPr lang="en-US" sz="2200" b="0" i="1" smtClean="0">
                        <a:latin typeface="Cambria Math"/>
                      </a:rPr>
                      <m:t>𝑛𝑝</m:t>
                    </m:r>
                  </m:oMath>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ea typeface="Cambria Math"/>
                        </a:rPr>
                        <m:t>∴</m:t>
                      </m:r>
                      <m:r>
                        <a:rPr lang="en-US" sz="2200" b="0" i="1" smtClean="0">
                          <a:latin typeface="Cambria Math"/>
                          <a:ea typeface="Cambria Math"/>
                        </a:rPr>
                        <m:t> </m:t>
                      </m:r>
                      <m:sSub>
                        <m:sSubPr>
                          <m:ctrlPr>
                            <a:rPr lang="en-US" sz="2200" b="0" i="1" smtClean="0">
                              <a:latin typeface="Cambria Math" panose="02040503050406030204" pitchFamily="18" charset="0"/>
                              <a:ea typeface="Cambria Math"/>
                            </a:rPr>
                          </m:ctrlPr>
                        </m:sSubPr>
                        <m:e>
                          <m:r>
                            <a:rPr lang="en-US" sz="2200" b="0" i="1" smtClean="0">
                              <a:latin typeface="Cambria Math"/>
                              <a:ea typeface="Cambria Math"/>
                            </a:rPr>
                            <m:t>𝜇</m:t>
                          </m:r>
                        </m:e>
                        <m:sub>
                          <m:r>
                            <a:rPr lang="en-US" sz="2200" b="0" i="1" smtClean="0">
                              <a:latin typeface="Cambria Math"/>
                              <a:ea typeface="Cambria Math"/>
                            </a:rPr>
                            <m:t>2</m:t>
                          </m:r>
                        </m:sub>
                      </m:sSub>
                      <m:r>
                        <a:rPr lang="en-US" sz="2200" b="0" i="1" smtClean="0">
                          <a:latin typeface="Cambria Math"/>
                          <a:ea typeface="Cambria Math"/>
                        </a:rPr>
                        <m:t>=</m:t>
                      </m:r>
                      <m:sSub>
                        <m:sSubPr>
                          <m:ctrlPr>
                            <a:rPr lang="en-US" sz="2200" b="0" i="1" smtClean="0">
                              <a:latin typeface="Cambria Math" panose="02040503050406030204" pitchFamily="18" charset="0"/>
                              <a:ea typeface="Cambria Math"/>
                            </a:rPr>
                          </m:ctrlPr>
                        </m:sSubPr>
                        <m:e>
                          <m:r>
                            <a:rPr lang="en-US" sz="2200" b="0" i="1" smtClean="0">
                              <a:latin typeface="Cambria Math"/>
                              <a:ea typeface="Cambria Math"/>
                            </a:rPr>
                            <m:t>𝜈</m:t>
                          </m:r>
                        </m:e>
                        <m:sub>
                          <m:r>
                            <a:rPr lang="en-US" sz="2200" b="0" i="1" smtClean="0">
                              <a:latin typeface="Cambria Math"/>
                              <a:ea typeface="Cambria Math"/>
                            </a:rPr>
                            <m:t>2</m:t>
                          </m:r>
                        </m:sub>
                      </m:sSub>
                      <m:r>
                        <a:rPr lang="en-US" sz="2200" b="0" i="1" smtClean="0">
                          <a:latin typeface="Cambria Math"/>
                          <a:ea typeface="Cambria Math"/>
                        </a:rPr>
                        <m:t>−</m:t>
                      </m:r>
                      <m:sSup>
                        <m:sSupPr>
                          <m:ctrlPr>
                            <a:rPr lang="en-US" sz="2200" b="0" i="1" smtClean="0">
                              <a:latin typeface="Cambria Math" panose="02040503050406030204" pitchFamily="18" charset="0"/>
                              <a:ea typeface="Cambria Math"/>
                            </a:rPr>
                          </m:ctrlPr>
                        </m:sSupPr>
                        <m:e>
                          <m:acc>
                            <m:accPr>
                              <m:chr m:val="̅"/>
                              <m:ctrlPr>
                                <a:rPr lang="en-US" sz="2200" b="0" i="1" smtClean="0">
                                  <a:latin typeface="Cambria Math" panose="02040503050406030204" pitchFamily="18" charset="0"/>
                                  <a:ea typeface="Cambria Math"/>
                                </a:rPr>
                              </m:ctrlPr>
                            </m:accPr>
                            <m:e>
                              <m:r>
                                <a:rPr lang="en-US" sz="2200" b="0" i="1" smtClean="0">
                                  <a:latin typeface="Cambria Math"/>
                                  <a:ea typeface="Cambria Math"/>
                                </a:rPr>
                                <m:t>𝑥</m:t>
                              </m:r>
                            </m:e>
                          </m:acc>
                        </m:e>
                        <m:sup>
                          <m:r>
                            <a:rPr lang="en-US" sz="2200" b="0" i="1" smtClean="0">
                              <a:latin typeface="Cambria Math"/>
                              <a:ea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𝜇</m:t>
                          </m:r>
                        </m:e>
                        <m:sub>
                          <m:r>
                            <a:rPr lang="en-US" sz="2200" i="1">
                              <a:latin typeface="Cambria Math"/>
                              <a:ea typeface="Cambria Math"/>
                            </a:rPr>
                            <m:t>2</m:t>
                          </m:r>
                        </m:sub>
                      </m:sSub>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𝜈</m:t>
                          </m:r>
                        </m:e>
                        <m:sub>
                          <m:r>
                            <a:rPr lang="en-US" sz="2200" i="1">
                              <a:latin typeface="Cambria Math"/>
                              <a:ea typeface="Cambria Math"/>
                            </a:rPr>
                            <m:t>2</m:t>
                          </m:r>
                        </m:sub>
                      </m:sSub>
                      <m:r>
                        <a:rPr lang="en-US" sz="2200" i="1">
                          <a:latin typeface="Cambria Math"/>
                          <a:ea typeface="Cambria Math"/>
                        </a:rPr>
                        <m:t>−</m:t>
                      </m:r>
                      <m:sSup>
                        <m:sSupPr>
                          <m:ctrlPr>
                            <a:rPr lang="en-US" sz="2200" i="1">
                              <a:latin typeface="Cambria Math" panose="02040503050406030204" pitchFamily="18" charset="0"/>
                              <a:ea typeface="Cambria Math"/>
                            </a:rPr>
                          </m:ctrlPr>
                        </m:sSupPr>
                        <m:e>
                          <m:sSub>
                            <m:sSubPr>
                              <m:ctrlPr>
                                <a:rPr lang="en-US" sz="2200" i="1" smtClean="0">
                                  <a:latin typeface="Cambria Math" panose="02040503050406030204" pitchFamily="18" charset="0"/>
                                  <a:ea typeface="Cambria Math"/>
                                </a:rPr>
                              </m:ctrlPr>
                            </m:sSubPr>
                            <m:e>
                              <m:r>
                                <a:rPr lang="en-US" sz="2200" i="1" smtClean="0">
                                  <a:latin typeface="Cambria Math"/>
                                  <a:ea typeface="Cambria Math"/>
                                </a:rPr>
                                <m:t>𝜈</m:t>
                              </m:r>
                            </m:e>
                            <m:sub>
                              <m:r>
                                <a:rPr lang="en-US" sz="2200" b="0" i="1" smtClean="0">
                                  <a:latin typeface="Cambria Math"/>
                                  <a:ea typeface="Cambria Math"/>
                                </a:rPr>
                                <m:t>1</m:t>
                              </m:r>
                            </m:sub>
                          </m:sSub>
                        </m:e>
                        <m:sup>
                          <m:r>
                            <a:rPr lang="en-US" sz="2200" i="1">
                              <a:latin typeface="Cambria Math"/>
                              <a:ea typeface="Cambria Math"/>
                            </a:rPr>
                            <m:t>2</m:t>
                          </m:r>
                        </m:sup>
                      </m:sSup>
                    </m:oMath>
                  </m:oMathPara>
                </a14:m>
                <a:endParaRPr lang="en-US" sz="22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r>
                        <a:rPr lang="en-US" sz="2200" b="0" i="1" smtClean="0">
                          <a:latin typeface="Cambria Math"/>
                        </a:rPr>
                        <m:t>𝑛𝑝𝑞</m:t>
                      </m:r>
                      <m:r>
                        <a:rPr lang="en-US" sz="2200" b="0" i="1" smtClean="0">
                          <a:latin typeface="Cambria Math"/>
                        </a:rPr>
                        <m:t>+</m:t>
                      </m:r>
                      <m:sSup>
                        <m:sSupPr>
                          <m:ctrlPr>
                            <a:rPr lang="en-US" sz="2200" i="1">
                              <a:latin typeface="Cambria Math" panose="02040503050406030204" pitchFamily="18" charset="0"/>
                              <a:ea typeface="Cambria Math"/>
                            </a:rPr>
                          </m:ctrlPr>
                        </m:sSupPr>
                        <m:e>
                          <m:r>
                            <a:rPr lang="en-US" sz="2200" i="1">
                              <a:latin typeface="Cambria Math"/>
                              <a:ea typeface="Cambria Math"/>
                            </a:rPr>
                            <m:t>𝑛</m:t>
                          </m:r>
                          <m:r>
                            <a:rPr lang="en-US" sz="2200" i="1">
                              <a:latin typeface="Cambria Math"/>
                              <a:ea typeface="Cambria Math"/>
                            </a:rPr>
                            <m:t> </m:t>
                          </m:r>
                        </m:e>
                        <m:sup>
                          <m:r>
                            <a:rPr lang="en-US" sz="2200" i="1">
                              <a:latin typeface="Cambria Math"/>
                              <a:ea typeface="Cambria Math"/>
                            </a:rPr>
                            <m:t>2</m:t>
                          </m:r>
                        </m:sup>
                      </m:sSup>
                      <m:sSup>
                        <m:sSupPr>
                          <m:ctrlPr>
                            <a:rPr lang="en-US" sz="2200" i="1">
                              <a:latin typeface="Cambria Math" panose="02040503050406030204" pitchFamily="18" charset="0"/>
                              <a:ea typeface="Cambria Math"/>
                            </a:rPr>
                          </m:ctrlPr>
                        </m:sSupPr>
                        <m:e>
                          <m:r>
                            <a:rPr lang="en-US" sz="2200" i="1">
                              <a:latin typeface="Cambria Math"/>
                              <a:ea typeface="Cambria Math"/>
                            </a:rPr>
                            <m:t>𝑝</m:t>
                          </m:r>
                        </m:e>
                        <m:sup>
                          <m:r>
                            <a:rPr lang="en-US" sz="2200" i="1">
                              <a:latin typeface="Cambria Math"/>
                              <a:ea typeface="Cambria Math"/>
                            </a:rPr>
                            <m:t>2</m:t>
                          </m:r>
                        </m:sup>
                      </m:sSup>
                      <m:r>
                        <a:rPr lang="en-US" sz="2200" b="0" i="0" smtClean="0">
                          <a:latin typeface="Cambria Math"/>
                          <a:ea typeface="Cambria Math"/>
                        </a:rPr>
                        <m:t>−</m:t>
                      </m:r>
                      <m:sSup>
                        <m:sSupPr>
                          <m:ctrlPr>
                            <a:rPr lang="en-US" sz="2200" i="1">
                              <a:latin typeface="Cambria Math" panose="02040503050406030204" pitchFamily="18" charset="0"/>
                              <a:ea typeface="Cambria Math"/>
                            </a:rPr>
                          </m:ctrlPr>
                        </m:sSupPr>
                        <m:e>
                          <m:r>
                            <a:rPr lang="en-US" sz="2200" i="1">
                              <a:latin typeface="Cambria Math"/>
                              <a:ea typeface="Cambria Math"/>
                            </a:rPr>
                            <m:t>𝑛</m:t>
                          </m:r>
                          <m:r>
                            <a:rPr lang="en-US" sz="2200" i="1">
                              <a:latin typeface="Cambria Math"/>
                              <a:ea typeface="Cambria Math"/>
                            </a:rPr>
                            <m:t> </m:t>
                          </m:r>
                        </m:e>
                        <m:sup>
                          <m:r>
                            <a:rPr lang="en-US" sz="2200" i="1">
                              <a:latin typeface="Cambria Math"/>
                              <a:ea typeface="Cambria Math"/>
                            </a:rPr>
                            <m:t>2</m:t>
                          </m:r>
                        </m:sup>
                      </m:sSup>
                      <m:sSup>
                        <m:sSupPr>
                          <m:ctrlPr>
                            <a:rPr lang="en-US" sz="2200" i="1">
                              <a:latin typeface="Cambria Math" panose="02040503050406030204" pitchFamily="18" charset="0"/>
                              <a:ea typeface="Cambria Math"/>
                            </a:rPr>
                          </m:ctrlPr>
                        </m:sSupPr>
                        <m:e>
                          <m:r>
                            <a:rPr lang="en-US" sz="2200" i="1">
                              <a:latin typeface="Cambria Math"/>
                              <a:ea typeface="Cambria Math"/>
                            </a:rPr>
                            <m:t>𝑝</m:t>
                          </m:r>
                        </m:e>
                        <m:sup>
                          <m:r>
                            <a:rPr lang="en-US" sz="2200" i="1">
                              <a:latin typeface="Cambria Math"/>
                              <a:ea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r>
                        <a:rPr lang="en-US" sz="2200" i="1">
                          <a:latin typeface="Cambria Math"/>
                        </a:rPr>
                        <m:t>𝑛𝑝𝑞</m:t>
                      </m:r>
                    </m:oMath>
                  </m:oMathPara>
                </a14:m>
                <a:endParaRPr lang="en-US" sz="2200" dirty="0"/>
              </a:p>
              <a:p>
                <a:pPr marL="0" indent="0">
                  <a:buNone/>
                </a:pPr>
                <a:r>
                  <a:rPr lang="en-US" sz="2200" dirty="0"/>
                  <a:t>Hence, mean</a:t>
                </a:r>
                <a14:m>
                  <m:oMath xmlns:m="http://schemas.openxmlformats.org/officeDocument/2006/math">
                    <m:r>
                      <a:rPr lang="en-US" sz="2200" i="1">
                        <a:latin typeface="Cambria Math"/>
                      </a:rPr>
                      <m:t>=</m:t>
                    </m:r>
                    <m:r>
                      <a:rPr lang="en-US" sz="2200" i="1">
                        <a:latin typeface="Cambria Math"/>
                      </a:rPr>
                      <m:t>𝑛𝑝</m:t>
                    </m:r>
                  </m:oMath>
                </a14:m>
                <a:r>
                  <a:rPr lang="en-US" sz="2200" dirty="0"/>
                  <a:t>, S.D. </a:t>
                </a:r>
                <a14:m>
                  <m:oMath xmlns:m="http://schemas.openxmlformats.org/officeDocument/2006/math">
                    <m:r>
                      <a:rPr lang="en-US" sz="2200" i="1">
                        <a:latin typeface="Cambria Math"/>
                      </a:rPr>
                      <m:t>=</m:t>
                    </m:r>
                    <m:rad>
                      <m:radPr>
                        <m:degHide m:val="on"/>
                        <m:ctrlPr>
                          <a:rPr lang="en-US" sz="2200" i="1">
                            <a:latin typeface="Cambria Math" panose="02040503050406030204" pitchFamily="18" charset="0"/>
                          </a:rPr>
                        </m:ctrlPr>
                      </m:radPr>
                      <m:deg/>
                      <m:e>
                        <m:sSub>
                          <m:sSubPr>
                            <m:ctrlPr>
                              <a:rPr lang="en-US" sz="2200" i="1">
                                <a:latin typeface="Cambria Math" panose="02040503050406030204" pitchFamily="18" charset="0"/>
                                <a:ea typeface="Cambria Math"/>
                              </a:rPr>
                            </m:ctrlPr>
                          </m:sSubPr>
                          <m:e>
                            <m:r>
                              <a:rPr lang="en-US" sz="2200" i="1">
                                <a:latin typeface="Cambria Math"/>
                                <a:ea typeface="Cambria Math"/>
                              </a:rPr>
                              <m:t>𝜇</m:t>
                            </m:r>
                          </m:e>
                          <m:sub>
                            <m:r>
                              <a:rPr lang="en-US" sz="2200" i="1">
                                <a:latin typeface="Cambria Math"/>
                                <a:ea typeface="Cambria Math"/>
                              </a:rPr>
                              <m:t>2</m:t>
                            </m:r>
                          </m:sub>
                        </m:sSub>
                      </m:e>
                    </m:rad>
                    <m:r>
                      <a:rPr lang="en-US" sz="2200" b="0" i="1" smtClean="0">
                        <a:latin typeface="Cambria Math"/>
                      </a:rPr>
                      <m:t>=</m:t>
                    </m:r>
                    <m:rad>
                      <m:radPr>
                        <m:degHide m:val="on"/>
                        <m:ctrlPr>
                          <a:rPr lang="en-US" sz="2200" i="1" smtClean="0">
                            <a:latin typeface="Cambria Math" panose="02040503050406030204" pitchFamily="18" charset="0"/>
                          </a:rPr>
                        </m:ctrlPr>
                      </m:radPr>
                      <m:deg/>
                      <m:e>
                        <m:r>
                          <a:rPr lang="en-US" sz="2200" i="1">
                            <a:latin typeface="Cambria Math"/>
                          </a:rPr>
                          <m:t>𝑛𝑝𝑞</m:t>
                        </m:r>
                        <m:r>
                          <m:rPr>
                            <m:nor/>
                          </m:rPr>
                          <a:rPr lang="en-US" sz="2200" dirty="0"/>
                          <m:t> </m:t>
                        </m:r>
                      </m:e>
                    </m:rad>
                    <m:r>
                      <a:rPr lang="en-US" sz="2200" b="0" i="1" smtClean="0">
                        <a:latin typeface="Cambria Math"/>
                      </a:rPr>
                      <m:t>.</m:t>
                    </m:r>
                  </m:oMath>
                </a14:m>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6468C6FC-DDE9-47B9-8E96-D22B048F6DEC}"/>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42786683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Q2. find the moment generating function of the discrete Poisson distribution given by </a:t>
                </a:r>
                <a14:m>
                  <m:oMath xmlns:m="http://schemas.openxmlformats.org/officeDocument/2006/math">
                    <m:r>
                      <a:rPr lang="en-US" sz="2200" b="0" i="1" smtClean="0">
                        <a:latin typeface="Cambria Math"/>
                      </a:rPr>
                      <m:t>𝑃</m:t>
                    </m:r>
                    <m:d>
                      <m:dPr>
                        <m:ctrlPr>
                          <a:rPr lang="en-US" sz="2200" b="0" i="1" smtClean="0">
                            <a:latin typeface="Cambria Math" panose="02040503050406030204" pitchFamily="18" charset="0"/>
                          </a:rPr>
                        </m:ctrlPr>
                      </m:dPr>
                      <m:e>
                        <m:r>
                          <a:rPr lang="en-US" sz="2200" b="0" i="1" smtClean="0">
                            <a:latin typeface="Cambria Math"/>
                          </a:rPr>
                          <m:t>𝑥</m:t>
                        </m:r>
                      </m:e>
                    </m:d>
                    <m:r>
                      <a:rPr lang="en-US" sz="2200" b="0" i="1" smtClean="0">
                        <a:latin typeface="Cambria Math"/>
                      </a:rPr>
                      <m:t>=</m:t>
                    </m:r>
                    <m:f>
                      <m:fPr>
                        <m:ctrlPr>
                          <a:rPr lang="en-US" sz="2200" b="0" i="1" smtClean="0">
                            <a:latin typeface="Cambria Math" panose="02040503050406030204" pitchFamily="18" charset="0"/>
                          </a:rPr>
                        </m:ctrlPr>
                      </m:fPr>
                      <m:num>
                        <m:sSup>
                          <m:sSupPr>
                            <m:ctrlPr>
                              <a:rPr lang="en-US" sz="2200" b="0" i="1" smtClean="0">
                                <a:latin typeface="Cambria Math" panose="02040503050406030204" pitchFamily="18" charset="0"/>
                              </a:rPr>
                            </m:ctrlPr>
                          </m:sSupPr>
                          <m:e>
                            <m:r>
                              <a:rPr lang="en-US" sz="2200" b="0" i="1" smtClean="0">
                                <a:latin typeface="Cambria Math"/>
                              </a:rPr>
                              <m:t>𝑒</m:t>
                            </m:r>
                          </m:e>
                          <m:sup>
                            <m:r>
                              <a:rPr lang="en-US" sz="2200" b="0" i="1" smtClean="0">
                                <a:latin typeface="Cambria Math"/>
                              </a:rPr>
                              <m:t>−</m:t>
                            </m:r>
                            <m:r>
                              <a:rPr lang="en-US" sz="2200" b="0" i="1" smtClean="0">
                                <a:latin typeface="Cambria Math"/>
                                <a:ea typeface="Cambria Math"/>
                              </a:rPr>
                              <m:t>𝜆</m:t>
                            </m:r>
                          </m:sup>
                        </m:sSup>
                        <m:sSup>
                          <m:sSupPr>
                            <m:ctrlPr>
                              <a:rPr lang="en-US" sz="2200" b="0" i="1" smtClean="0">
                                <a:latin typeface="Cambria Math" panose="02040503050406030204" pitchFamily="18" charset="0"/>
                              </a:rPr>
                            </m:ctrlPr>
                          </m:sSupPr>
                          <m:e>
                            <m:r>
                              <a:rPr lang="en-US" sz="2200" b="0" i="1" smtClean="0">
                                <a:latin typeface="Cambria Math"/>
                                <a:ea typeface="Cambria Math"/>
                              </a:rPr>
                              <m:t>𝜆</m:t>
                            </m:r>
                          </m:e>
                          <m:sup>
                            <m:r>
                              <a:rPr lang="en-US" sz="2200" b="0" i="1" smtClean="0">
                                <a:latin typeface="Cambria Math"/>
                              </a:rPr>
                              <m:t>𝑥</m:t>
                            </m:r>
                          </m:sup>
                        </m:sSup>
                      </m:num>
                      <m:den>
                        <m:r>
                          <a:rPr lang="en-US" sz="2200" b="0" i="1" smtClean="0">
                            <a:latin typeface="Cambria Math"/>
                          </a:rPr>
                          <m:t>𝑥</m:t>
                        </m:r>
                        <m:r>
                          <a:rPr lang="en-US" sz="2200" b="0" i="1" smtClean="0">
                            <a:latin typeface="Cambria Math"/>
                            <a:ea typeface="Cambria Math"/>
                          </a:rPr>
                          <m:t>!</m:t>
                        </m:r>
                      </m:den>
                    </m:f>
                  </m:oMath>
                </a14:m>
                <a:r>
                  <a:rPr lang="en-US" sz="2200" dirty="0"/>
                  <a:t> . Also find the first and second moments about the mean.</a:t>
                </a:r>
              </a:p>
              <a:p>
                <a:pPr marL="0" indent="0">
                  <a:buNone/>
                </a:pPr>
                <a:r>
                  <a:rPr lang="en-US" sz="2200" dirty="0"/>
                  <a:t>Solution: Moment generating function about the origin is given by </a:t>
                </a:r>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𝑀</m:t>
                          </m:r>
                        </m:e>
                        <m:sub>
                          <m:r>
                            <a:rPr lang="en-US" sz="2200" i="1">
                              <a:latin typeface="Cambria Math"/>
                            </a:rPr>
                            <m:t>𝑥</m:t>
                          </m:r>
                        </m:sub>
                      </m:sSub>
                      <m:d>
                        <m:dPr>
                          <m:ctrlPr>
                            <a:rPr lang="en-US" sz="2200" i="1">
                              <a:latin typeface="Cambria Math" panose="02040503050406030204" pitchFamily="18" charset="0"/>
                            </a:rPr>
                          </m:ctrlPr>
                        </m:dPr>
                        <m:e>
                          <m:r>
                            <a:rPr lang="en-US" sz="2200" i="1">
                              <a:latin typeface="Cambria Math"/>
                            </a:rPr>
                            <m:t>𝑡</m:t>
                          </m:r>
                        </m:e>
                      </m:d>
                      <m:r>
                        <a:rPr lang="en-US" sz="2200" i="1">
                          <a:latin typeface="Cambria Math"/>
                        </a:rPr>
                        <m:t>=</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𝑥𝑡</m:t>
                              </m:r>
                            </m:sup>
                          </m:sSup>
                          <m:r>
                            <a:rPr lang="en-US" sz="2200" i="1">
                              <a:latin typeface="Cambria Math"/>
                            </a:rPr>
                            <m:t>𝑃</m:t>
                          </m:r>
                          <m:r>
                            <a:rPr lang="en-US" sz="2200" i="1">
                              <a:latin typeface="Cambria Math"/>
                            </a:rPr>
                            <m:t>=</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𝑡𝑥</m:t>
                                  </m:r>
                                </m:sup>
                              </m:sSup>
                            </m:e>
                          </m:nary>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r>
                                    <a:rPr lang="en-US" sz="2200" i="1">
                                      <a:latin typeface="Cambria Math"/>
                                      <a:ea typeface="Cambria Math"/>
                                    </a:rPr>
                                    <m:t>𝜆</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𝑥</m:t>
                                  </m:r>
                                </m:sup>
                              </m:sSup>
                            </m:num>
                            <m:den>
                              <m:r>
                                <a:rPr lang="en-US" sz="2200" i="1">
                                  <a:latin typeface="Cambria Math"/>
                                </a:rPr>
                                <m:t>𝑥</m:t>
                              </m:r>
                              <m:r>
                                <a:rPr lang="en-US" sz="2200" i="1">
                                  <a:latin typeface="Cambria Math"/>
                                  <a:ea typeface="Cambria Math"/>
                                </a:rPr>
                                <m:t>!</m:t>
                              </m:r>
                            </m:den>
                          </m:f>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a:rPr>
                            <m:t>=</m:t>
                          </m:r>
                          <m:r>
                            <a:rPr lang="en-US" sz="2200" i="1">
                              <a:latin typeface="Cambria Math"/>
                            </a:rPr>
                            <m:t>𝑒</m:t>
                          </m:r>
                        </m:e>
                        <m:sup>
                          <m:r>
                            <a:rPr lang="en-US" sz="2200" b="0" i="1" smtClean="0">
                              <a:latin typeface="Cambria Math"/>
                            </a:rPr>
                            <m:t>−</m:t>
                          </m:r>
                          <m:r>
                            <a:rPr lang="en-US" sz="2200" b="0" i="1" smtClean="0">
                              <a:latin typeface="Cambria Math"/>
                              <a:ea typeface="Cambria Math"/>
                            </a:rPr>
                            <m:t>𝜆</m:t>
                          </m:r>
                        </m:sup>
                      </m:sSup>
                      <m:sSup>
                        <m:sSupPr>
                          <m:ctrlPr>
                            <a:rPr lang="en-US" sz="2200" i="1" smtClean="0">
                              <a:latin typeface="Cambria Math" panose="02040503050406030204" pitchFamily="18" charset="0"/>
                            </a:rPr>
                          </m:ctrlPr>
                        </m:sSupPr>
                        <m:e>
                          <m:r>
                            <a:rPr lang="en-US" sz="2200" b="0" i="1" smtClean="0">
                              <a:latin typeface="Cambria Math"/>
                            </a:rPr>
                            <m:t>𝑒</m:t>
                          </m:r>
                        </m:e>
                        <m:sup>
                          <m:r>
                            <a:rPr lang="en-US" sz="2200" i="1" smtClean="0">
                              <a:latin typeface="Cambria Math"/>
                              <a:ea typeface="Cambria Math"/>
                            </a:rPr>
                            <m:t>𝜆</m:t>
                          </m:r>
                          <m:sSup>
                            <m:sSupPr>
                              <m:ctrlPr>
                                <a:rPr lang="en-US" sz="2200" i="1" smtClean="0">
                                  <a:latin typeface="Cambria Math" panose="02040503050406030204" pitchFamily="18" charset="0"/>
                                  <a:ea typeface="Cambria Math"/>
                                </a:rPr>
                              </m:ctrlPr>
                            </m:sSupPr>
                            <m:e>
                              <m:r>
                                <a:rPr lang="en-US" sz="2200" b="0" i="1" smtClean="0">
                                  <a:latin typeface="Cambria Math"/>
                                  <a:ea typeface="Cambria Math"/>
                                </a:rPr>
                                <m:t>𝑒</m:t>
                              </m:r>
                            </m:e>
                            <m:sup>
                              <m:r>
                                <a:rPr lang="en-US" sz="2200" b="0" i="1" smtClean="0">
                                  <a:latin typeface="Cambria Math"/>
                                  <a:ea typeface="Cambria Math"/>
                                </a:rPr>
                                <m:t>𝑡</m:t>
                              </m:r>
                            </m:sup>
                          </m:sSup>
                        </m:sup>
                      </m:sSup>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𝑒</m:t>
                          </m:r>
                        </m:e>
                        <m:sup>
                          <m:r>
                            <a:rPr lang="en-US" sz="2200" b="0" i="1" smtClean="0">
                              <a:latin typeface="Cambria Math"/>
                              <a:ea typeface="Cambria Math"/>
                            </a:rPr>
                            <m:t>𝜆</m:t>
                          </m:r>
                          <m:d>
                            <m:dPr>
                              <m:ctrlPr>
                                <a:rPr lang="en-US" sz="2200" b="0" i="1" smtClean="0">
                                  <a:latin typeface="Cambria Math" panose="02040503050406030204" pitchFamily="18" charset="0"/>
                                  <a:ea typeface="Cambria Math"/>
                                </a:rPr>
                              </m:ctrlPr>
                            </m:dPr>
                            <m:e>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𝑒</m:t>
                                  </m:r>
                                </m:e>
                                <m:sup>
                                  <m:r>
                                    <a:rPr lang="en-US" sz="2200" b="0" i="1" smtClean="0">
                                      <a:latin typeface="Cambria Math"/>
                                      <a:ea typeface="Cambria Math"/>
                                    </a:rPr>
                                    <m:t>𝑡</m:t>
                                  </m:r>
                                </m:sup>
                              </m:sSup>
                              <m:r>
                                <a:rPr lang="en-US" sz="2200" b="0" i="1" smtClean="0">
                                  <a:latin typeface="Cambria Math"/>
                                  <a:ea typeface="Cambria Math"/>
                                </a:rPr>
                                <m:t>−1</m:t>
                              </m:r>
                            </m:e>
                          </m:d>
                        </m:sup>
                      </m:sSup>
                    </m:oMath>
                  </m:oMathPara>
                </a14:m>
                <a:endParaRPr lang="en-US" sz="2200" b="0"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𝑣</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a:rPr>
                                    <m:t>𝑑</m:t>
                                  </m:r>
                                </m:num>
                                <m:den>
                                  <m:r>
                                    <a:rPr lang="en-US" sz="2200" i="1">
                                      <a:latin typeface="Cambria Math"/>
                                    </a:rPr>
                                    <m:t>𝑑𝑡</m:t>
                                  </m:r>
                                </m:den>
                              </m:f>
                              <m:r>
                                <a:rPr lang="en-US" sz="2200" i="1">
                                  <a:latin typeface="Cambria Math"/>
                                </a:rPr>
                                <m:t>𝑀</m:t>
                              </m:r>
                              <m:d>
                                <m:dPr>
                                  <m:ctrlPr>
                                    <a:rPr lang="en-US" sz="2200" i="1">
                                      <a:latin typeface="Cambria Math" panose="02040503050406030204" pitchFamily="18" charset="0"/>
                                    </a:rPr>
                                  </m:ctrlPr>
                                </m:dPr>
                                <m:e>
                                  <m:r>
                                    <a:rPr lang="en-US" sz="2200" i="1">
                                      <a:latin typeface="Cambria Math"/>
                                    </a:rPr>
                                    <m:t>𝑡</m:t>
                                  </m:r>
                                </m:e>
                              </m:d>
                            </m:e>
                          </m:d>
                        </m:e>
                        <m:sub>
                          <m:r>
                            <a:rPr lang="en-US" sz="2200" i="1">
                              <a:latin typeface="Cambria Math"/>
                            </a:rPr>
                            <m:t>𝑡</m:t>
                          </m:r>
                          <m:r>
                            <a:rPr lang="en-US" sz="2200" i="1">
                              <a:latin typeface="Cambria Math"/>
                            </a:rPr>
                            <m:t>=0</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m:t>
                          </m:r>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ea typeface="Cambria Math"/>
                                </a:rPr>
                                <m:t>𝜆</m:t>
                              </m:r>
                              <m:d>
                                <m:dPr>
                                  <m:ctrlPr>
                                    <a:rPr lang="en-US" sz="2200" i="1">
                                      <a:latin typeface="Cambria Math" panose="02040503050406030204" pitchFamily="18" charset="0"/>
                                      <a:ea typeface="Cambria Math"/>
                                    </a:rPr>
                                  </m:ctrlPr>
                                </m:dPr>
                                <m:e>
                                  <m:sSup>
                                    <m:sSupPr>
                                      <m:ctrlPr>
                                        <a:rPr lang="en-US" sz="2200" i="1">
                                          <a:latin typeface="Cambria Math" panose="02040503050406030204" pitchFamily="18" charset="0"/>
                                          <a:ea typeface="Cambria Math"/>
                                        </a:rPr>
                                      </m:ctrlPr>
                                    </m:sSupPr>
                                    <m:e>
                                      <m:r>
                                        <a:rPr lang="en-US" sz="2200" i="1">
                                          <a:latin typeface="Cambria Math"/>
                                          <a:ea typeface="Cambria Math"/>
                                        </a:rPr>
                                        <m:t>𝑒</m:t>
                                      </m:r>
                                    </m:e>
                                    <m:sup>
                                      <m:r>
                                        <a:rPr lang="en-US" sz="2200" i="1">
                                          <a:latin typeface="Cambria Math"/>
                                          <a:ea typeface="Cambria Math"/>
                                        </a:rPr>
                                        <m:t>𝑡</m:t>
                                      </m:r>
                                    </m:sup>
                                  </m:sSup>
                                  <m:r>
                                    <a:rPr lang="en-US" sz="2200" i="1">
                                      <a:latin typeface="Cambria Math"/>
                                      <a:ea typeface="Cambria Math"/>
                                    </a:rPr>
                                    <m:t>−1</m:t>
                                  </m:r>
                                </m:e>
                              </m:d>
                            </m:sup>
                          </m:sSup>
                          <m:r>
                            <a:rPr lang="en-US" sz="2200" i="1" smtClean="0">
                              <a:latin typeface="Cambria Math"/>
                              <a:ea typeface="Cambria Math"/>
                            </a:rPr>
                            <m:t>𝜆</m:t>
                          </m:r>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𝑡</m:t>
                              </m:r>
                            </m:sup>
                          </m:sSup>
                          <m:r>
                            <a:rPr lang="en-US" sz="2200" i="1">
                              <a:latin typeface="Cambria Math"/>
                            </a:rPr>
                            <m:t>]</m:t>
                          </m:r>
                        </m:e>
                        <m:sub>
                          <m:r>
                            <a:rPr lang="en-US" sz="2200" i="1">
                              <a:latin typeface="Cambria Math"/>
                            </a:rPr>
                            <m:t>𝑡</m:t>
                          </m:r>
                          <m:r>
                            <a:rPr lang="en-US" sz="2200" i="1">
                              <a:latin typeface="Cambria Math"/>
                            </a:rPr>
                            <m:t>=0</m:t>
                          </m:r>
                        </m:sub>
                      </m:sSub>
                      <m:r>
                        <a:rPr lang="en-US" sz="2200" i="1">
                          <a:latin typeface="Cambria Math"/>
                        </a:rPr>
                        <m:t>=</m:t>
                      </m:r>
                      <m:r>
                        <a:rPr lang="en-US" sz="2200" i="1" smtClean="0">
                          <a:latin typeface="Cambria Math"/>
                          <a:ea typeface="Cambria Math"/>
                        </a:rPr>
                        <m:t>𝜆</m:t>
                      </m:r>
                    </m:oMath>
                  </m:oMathPara>
                </a14:m>
                <a:endParaRPr lang="en-US" sz="2200"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𝑣</m:t>
                          </m:r>
                        </m:e>
                        <m:sub>
                          <m:r>
                            <a:rPr lang="en-US" sz="2200" i="1">
                              <a:latin typeface="Cambria Math"/>
                            </a:rPr>
                            <m:t>2</m:t>
                          </m:r>
                        </m:sub>
                      </m:sSub>
                      <m:r>
                        <a:rPr lang="en-US" sz="2200" i="1">
                          <a:latin typeface="Cambria Math"/>
                        </a:rPr>
                        <m:t>=</m:t>
                      </m:r>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𝑑</m:t>
                                      </m:r>
                                    </m:e>
                                    <m:sup>
                                      <m:r>
                                        <a:rPr lang="en-US" sz="2200" i="1">
                                          <a:latin typeface="Cambria Math"/>
                                        </a:rPr>
                                        <m:t>2</m:t>
                                      </m:r>
                                    </m:sup>
                                  </m:sSup>
                                </m:num>
                                <m:den>
                                  <m:sSup>
                                    <m:sSupPr>
                                      <m:ctrlPr>
                                        <a:rPr lang="en-US" sz="2200" i="1">
                                          <a:latin typeface="Cambria Math" panose="02040503050406030204" pitchFamily="18" charset="0"/>
                                        </a:rPr>
                                      </m:ctrlPr>
                                    </m:sSupPr>
                                    <m:e>
                                      <m:r>
                                        <a:rPr lang="en-US" sz="2200" i="1">
                                          <a:latin typeface="Cambria Math"/>
                                        </a:rPr>
                                        <m:t>𝑑𝑡</m:t>
                                      </m:r>
                                    </m:e>
                                    <m:sup>
                                      <m:r>
                                        <a:rPr lang="en-US" sz="2200" i="1">
                                          <a:latin typeface="Cambria Math"/>
                                        </a:rPr>
                                        <m:t>2</m:t>
                                      </m:r>
                                    </m:sup>
                                  </m:sSup>
                                </m:den>
                              </m:f>
                              <m:r>
                                <a:rPr lang="en-US" sz="2200" i="1">
                                  <a:latin typeface="Cambria Math"/>
                                </a:rPr>
                                <m:t>𝑀</m:t>
                              </m:r>
                              <m:d>
                                <m:dPr>
                                  <m:ctrlPr>
                                    <a:rPr lang="en-US" sz="2200" i="1">
                                      <a:latin typeface="Cambria Math" panose="02040503050406030204" pitchFamily="18" charset="0"/>
                                    </a:rPr>
                                  </m:ctrlPr>
                                </m:dPr>
                                <m:e>
                                  <m:r>
                                    <a:rPr lang="en-US" sz="2200" i="1">
                                      <a:latin typeface="Cambria Math"/>
                                    </a:rPr>
                                    <m:t>𝑡</m:t>
                                  </m:r>
                                </m:e>
                              </m:d>
                            </m:e>
                          </m:d>
                        </m:e>
                        <m:sub>
                          <m:r>
                            <a:rPr lang="en-US" sz="2200" i="1">
                              <a:latin typeface="Cambria Math"/>
                            </a:rPr>
                            <m:t>𝑡</m:t>
                          </m:r>
                          <m:r>
                            <a:rPr lang="en-US" sz="2200" i="1">
                              <a:latin typeface="Cambria Math"/>
                            </a:rPr>
                            <m:t>=0</m:t>
                          </m:r>
                        </m:sub>
                      </m:sSub>
                      <m:r>
                        <a:rPr lang="en-US" sz="2200" b="0" i="1" smtClean="0">
                          <a:latin typeface="Cambria Math"/>
                        </a:rPr>
                        <m:t>=</m:t>
                      </m:r>
                      <m:r>
                        <a:rPr lang="en-US" sz="2200" i="1">
                          <a:latin typeface="Cambria Math"/>
                          <a:ea typeface="Cambria Math"/>
                        </a:rPr>
                        <m:t>𝜆</m:t>
                      </m:r>
                      <m:r>
                        <a:rPr lang="en-US" sz="2200" b="0" i="1" smtClean="0">
                          <a:latin typeface="Cambria Math"/>
                          <a:ea typeface="Cambria Math"/>
                        </a:rPr>
                        <m:t>(</m:t>
                      </m:r>
                      <m:r>
                        <a:rPr lang="en-US" sz="2200" i="1">
                          <a:latin typeface="Cambria Math"/>
                          <a:ea typeface="Cambria Math"/>
                        </a:rPr>
                        <m:t>𝜆</m:t>
                      </m:r>
                      <m:r>
                        <a:rPr lang="en-US" sz="2200" b="0" i="1" smtClean="0">
                          <a:latin typeface="Cambria Math"/>
                          <a:ea typeface="Cambria Math"/>
                        </a:rPr>
                        <m:t>+1)</m:t>
                      </m:r>
                    </m:oMath>
                  </m:oMathPara>
                </a14:m>
                <a:endParaRPr lang="en-US" sz="2200" dirty="0"/>
              </a:p>
              <a:p>
                <a:pPr marL="0" indent="0">
                  <a:buNone/>
                </a:pPr>
                <a:endParaRPr lang="en-US" sz="2200" b="0" dirty="0"/>
              </a:p>
              <a:p>
                <a:pPr marL="0" indent="0">
                  <a:buNone/>
                </a:pPr>
                <a:endParaRPr lang="en-US" sz="2200" b="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3F2FBB64-ADD3-4738-B064-3527D7F448F0}"/>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951653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Hence , the first and second moments about mean  are given by </a:t>
                </a:r>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b="0" i="1">
                              <a:latin typeface="Cambria Math"/>
                              <a:ea typeface="Cambria Math"/>
                            </a:rPr>
                            <m:t>𝜇</m:t>
                          </m:r>
                        </m:e>
                        <m:sub>
                          <m:r>
                            <a:rPr lang="en-US" sz="2200" b="0" i="1">
                              <a:latin typeface="Cambria Math"/>
                            </a:rPr>
                            <m:t>1</m:t>
                          </m:r>
                        </m:sub>
                      </m:sSub>
                      <m:r>
                        <a:rPr lang="en-US" sz="2200" b="0" i="1">
                          <a:latin typeface="Cambria Math"/>
                        </a:rPr>
                        <m:t>=0</m:t>
                      </m:r>
                    </m:oMath>
                  </m:oMathPara>
                </a14:m>
                <a:endParaRPr lang="en-US" sz="2200" dirty="0"/>
              </a:p>
              <a:p>
                <a:pPr marL="0" indent="0">
                  <a:buNone/>
                </a:pPr>
                <a:r>
                  <a:rPr lang="en-US" sz="2200" dirty="0"/>
                  <a:t>Since </a:t>
                </a:r>
                <a14:m>
                  <m:oMath xmlns:m="http://schemas.openxmlformats.org/officeDocument/2006/math">
                    <m:acc>
                      <m:accPr>
                        <m:chr m:val="̅"/>
                        <m:ctrlPr>
                          <a:rPr lang="en-US" sz="2200" i="1">
                            <a:latin typeface="Cambria Math" panose="02040503050406030204" pitchFamily="18" charset="0"/>
                          </a:rPr>
                        </m:ctrlPr>
                      </m:accPr>
                      <m:e>
                        <m:r>
                          <a:rPr lang="en-US" sz="2200" b="0" i="1">
                            <a:latin typeface="Cambria Math"/>
                          </a:rPr>
                          <m:t>𝑥</m:t>
                        </m:r>
                      </m:e>
                    </m:acc>
                    <m:r>
                      <a:rPr lang="en-US" sz="2200" b="0" i="1">
                        <a:latin typeface="Cambria Math"/>
                      </a:rPr>
                      <m:t>=</m:t>
                    </m:r>
                    <m:sSub>
                      <m:sSubPr>
                        <m:ctrlPr>
                          <a:rPr lang="en-US" sz="2200" i="1">
                            <a:latin typeface="Cambria Math" panose="02040503050406030204" pitchFamily="18" charset="0"/>
                          </a:rPr>
                        </m:ctrlPr>
                      </m:sSubPr>
                      <m:e>
                        <m:r>
                          <a:rPr lang="en-US" sz="2200" b="0" i="1">
                            <a:latin typeface="Cambria Math"/>
                            <a:ea typeface="Cambria Math"/>
                          </a:rPr>
                          <m:t>𝜈</m:t>
                        </m:r>
                      </m:e>
                      <m:sub>
                        <m:r>
                          <a:rPr lang="en-US" sz="2200" b="0" i="1">
                            <a:latin typeface="Cambria Math"/>
                          </a:rPr>
                          <m:t>1</m:t>
                        </m:r>
                      </m:sub>
                    </m:sSub>
                    <m:r>
                      <a:rPr lang="en-US" sz="2200" b="0" i="1">
                        <a:latin typeface="Cambria Math"/>
                      </a:rPr>
                      <m:t>=</m:t>
                    </m:r>
                    <m:r>
                      <a:rPr lang="en-US" sz="2200" b="0" i="1">
                        <a:latin typeface="Cambria Math"/>
                        <a:ea typeface="Cambria Math"/>
                      </a:rPr>
                      <m:t>𝜆</m:t>
                    </m:r>
                  </m:oMath>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a:latin typeface="Cambria Math"/>
                          <a:ea typeface="Cambria Math"/>
                        </a:rPr>
                        <m:t>∴ </m:t>
                      </m:r>
                      <m:sSub>
                        <m:sSubPr>
                          <m:ctrlPr>
                            <a:rPr lang="en-US" sz="2200" i="1">
                              <a:latin typeface="Cambria Math" panose="02040503050406030204" pitchFamily="18" charset="0"/>
                              <a:ea typeface="Cambria Math"/>
                            </a:rPr>
                          </m:ctrlPr>
                        </m:sSubPr>
                        <m:e>
                          <m:r>
                            <a:rPr lang="en-US" sz="2200" b="0" i="1">
                              <a:latin typeface="Cambria Math"/>
                              <a:ea typeface="Cambria Math"/>
                            </a:rPr>
                            <m:t>𝜇</m:t>
                          </m:r>
                        </m:e>
                        <m:sub>
                          <m:r>
                            <a:rPr lang="en-US" sz="2200" b="0" i="1">
                              <a:latin typeface="Cambria Math"/>
                              <a:ea typeface="Cambria Math"/>
                            </a:rPr>
                            <m:t>2</m:t>
                          </m:r>
                        </m:sub>
                      </m:sSub>
                      <m:r>
                        <a:rPr lang="en-US" sz="2200" b="0" i="1">
                          <a:latin typeface="Cambria Math"/>
                          <a:ea typeface="Cambria Math"/>
                        </a:rPr>
                        <m:t>=</m:t>
                      </m:r>
                      <m:sSub>
                        <m:sSubPr>
                          <m:ctrlPr>
                            <a:rPr lang="en-US" sz="2200" i="1">
                              <a:latin typeface="Cambria Math" panose="02040503050406030204" pitchFamily="18" charset="0"/>
                              <a:ea typeface="Cambria Math"/>
                            </a:rPr>
                          </m:ctrlPr>
                        </m:sSubPr>
                        <m:e>
                          <m:r>
                            <a:rPr lang="en-US" sz="2200" b="0" i="1">
                              <a:latin typeface="Cambria Math"/>
                              <a:ea typeface="Cambria Math"/>
                            </a:rPr>
                            <m:t>𝜈</m:t>
                          </m:r>
                        </m:e>
                        <m:sub>
                          <m:r>
                            <a:rPr lang="en-US" sz="2200" b="0" i="1">
                              <a:latin typeface="Cambria Math"/>
                              <a:ea typeface="Cambria Math"/>
                            </a:rPr>
                            <m:t>2</m:t>
                          </m:r>
                        </m:sub>
                      </m:sSub>
                      <m:r>
                        <a:rPr lang="en-US" sz="2200" b="0" i="1">
                          <a:latin typeface="Cambria Math"/>
                          <a:ea typeface="Cambria Math"/>
                        </a:rPr>
                        <m:t>−</m:t>
                      </m:r>
                      <m:sSup>
                        <m:sSupPr>
                          <m:ctrlPr>
                            <a:rPr lang="en-US" sz="2200" i="1">
                              <a:latin typeface="Cambria Math" panose="02040503050406030204" pitchFamily="18" charset="0"/>
                              <a:ea typeface="Cambria Math"/>
                            </a:rPr>
                          </m:ctrlPr>
                        </m:sSupPr>
                        <m:e>
                          <m:acc>
                            <m:accPr>
                              <m:chr m:val="̅"/>
                              <m:ctrlPr>
                                <a:rPr lang="en-US" sz="2200" i="1">
                                  <a:latin typeface="Cambria Math" panose="02040503050406030204" pitchFamily="18" charset="0"/>
                                  <a:ea typeface="Cambria Math"/>
                                </a:rPr>
                              </m:ctrlPr>
                            </m:accPr>
                            <m:e>
                              <m:r>
                                <a:rPr lang="en-US" sz="2200" b="0" i="1">
                                  <a:latin typeface="Cambria Math"/>
                                  <a:ea typeface="Cambria Math"/>
                                </a:rPr>
                                <m:t>𝑥</m:t>
                              </m:r>
                            </m:e>
                          </m:acc>
                        </m:e>
                        <m:sup>
                          <m:r>
                            <a:rPr lang="en-US" sz="2200" b="0" i="1">
                              <a:latin typeface="Cambria Math"/>
                              <a:ea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ea typeface="Cambria Math"/>
                            </a:rPr>
                          </m:ctrlPr>
                        </m:sSubPr>
                        <m:e>
                          <m:r>
                            <a:rPr lang="en-US" sz="2200" b="0" i="1">
                              <a:latin typeface="Cambria Math"/>
                              <a:ea typeface="Cambria Math"/>
                            </a:rPr>
                            <m:t>𝜇</m:t>
                          </m:r>
                        </m:e>
                        <m:sub>
                          <m:r>
                            <a:rPr lang="en-US" sz="2200" b="0" i="1">
                              <a:latin typeface="Cambria Math"/>
                              <a:ea typeface="Cambria Math"/>
                            </a:rPr>
                            <m:t>2</m:t>
                          </m:r>
                        </m:sub>
                      </m:sSub>
                      <m:r>
                        <a:rPr lang="en-US" sz="2200" b="0" i="1">
                          <a:latin typeface="Cambria Math"/>
                          <a:ea typeface="Cambria Math"/>
                        </a:rPr>
                        <m:t>=</m:t>
                      </m:r>
                      <m:sSub>
                        <m:sSubPr>
                          <m:ctrlPr>
                            <a:rPr lang="en-US" sz="2200" i="1">
                              <a:latin typeface="Cambria Math" panose="02040503050406030204" pitchFamily="18" charset="0"/>
                              <a:ea typeface="Cambria Math"/>
                            </a:rPr>
                          </m:ctrlPr>
                        </m:sSubPr>
                        <m:e>
                          <m:r>
                            <a:rPr lang="en-US" sz="2200" b="0" i="1">
                              <a:latin typeface="Cambria Math"/>
                              <a:ea typeface="Cambria Math"/>
                            </a:rPr>
                            <m:t>𝜈</m:t>
                          </m:r>
                        </m:e>
                        <m:sub>
                          <m:r>
                            <a:rPr lang="en-US" sz="2200" b="0" i="1">
                              <a:latin typeface="Cambria Math"/>
                              <a:ea typeface="Cambria Math"/>
                            </a:rPr>
                            <m:t>2</m:t>
                          </m:r>
                        </m:sub>
                      </m:sSub>
                      <m:r>
                        <a:rPr lang="en-US" sz="2200" b="0" i="1">
                          <a:latin typeface="Cambria Math"/>
                          <a:ea typeface="Cambria Math"/>
                        </a:rPr>
                        <m:t>−</m:t>
                      </m:r>
                      <m:sSup>
                        <m:sSupPr>
                          <m:ctrlPr>
                            <a:rPr lang="en-US" sz="2200" i="1">
                              <a:latin typeface="Cambria Math" panose="02040503050406030204" pitchFamily="18" charset="0"/>
                              <a:ea typeface="Cambria Math"/>
                            </a:rPr>
                          </m:ctrlPr>
                        </m:sSupPr>
                        <m:e>
                          <m:sSub>
                            <m:sSubPr>
                              <m:ctrlPr>
                                <a:rPr lang="en-US" sz="2200" i="1">
                                  <a:latin typeface="Cambria Math" panose="02040503050406030204" pitchFamily="18" charset="0"/>
                                  <a:ea typeface="Cambria Math"/>
                                </a:rPr>
                              </m:ctrlPr>
                            </m:sSubPr>
                            <m:e>
                              <m:r>
                                <a:rPr lang="en-US" sz="2200" b="0" i="1">
                                  <a:latin typeface="Cambria Math"/>
                                  <a:ea typeface="Cambria Math"/>
                                </a:rPr>
                                <m:t>𝜈</m:t>
                              </m:r>
                            </m:e>
                            <m:sub>
                              <m:r>
                                <a:rPr lang="en-US" sz="2200" b="0" i="1">
                                  <a:latin typeface="Cambria Math"/>
                                  <a:ea typeface="Cambria Math"/>
                                </a:rPr>
                                <m:t>1</m:t>
                              </m:r>
                            </m:sub>
                          </m:sSub>
                        </m:e>
                        <m:sup>
                          <m:r>
                            <a:rPr lang="en-US" sz="2200" b="0" i="1">
                              <a:latin typeface="Cambria Math"/>
                              <a:ea typeface="Cambria Math"/>
                            </a:rPr>
                            <m:t>2</m:t>
                          </m:r>
                        </m:sup>
                      </m:sSup>
                    </m:oMath>
                  </m:oMathPara>
                </a14:m>
                <a:endParaRPr lang="en-US" sz="2200" dirty="0">
                  <a:ea typeface="Cambria Math"/>
                </a:endParaRPr>
              </a:p>
              <a:p>
                <a:pPr marL="0" indent="0">
                  <a:buNone/>
                </a:pPr>
                <a14:m>
                  <m:oMath xmlns:m="http://schemas.openxmlformats.org/officeDocument/2006/math">
                    <m:r>
                      <a:rPr lang="en-US" sz="2200" b="0" i="1">
                        <a:latin typeface="Cambria Math"/>
                      </a:rPr>
                      <m:t>=</m:t>
                    </m:r>
                    <m:r>
                      <a:rPr lang="en-US" sz="2200" b="0" i="1">
                        <a:latin typeface="Cambria Math"/>
                        <a:ea typeface="Cambria Math"/>
                      </a:rPr>
                      <m:t>𝜆</m:t>
                    </m:r>
                    <m:r>
                      <a:rPr lang="en-US" sz="2200" b="0" i="1">
                        <a:latin typeface="Cambria Math"/>
                        <a:ea typeface="Cambria Math"/>
                      </a:rPr>
                      <m:t>(</m:t>
                    </m:r>
                    <m:r>
                      <a:rPr lang="en-US" sz="2200" b="0" i="1">
                        <a:latin typeface="Cambria Math"/>
                        <a:ea typeface="Cambria Math"/>
                      </a:rPr>
                      <m:t>𝜆</m:t>
                    </m:r>
                    <m:r>
                      <a:rPr lang="en-US" sz="2200" b="0" i="1">
                        <a:latin typeface="Cambria Math"/>
                        <a:ea typeface="Cambria Math"/>
                      </a:rPr>
                      <m:t>+1)</m:t>
                    </m:r>
                    <m:r>
                      <a:rPr lang="en-US" sz="2200" b="0">
                        <a:latin typeface="Cambria Math"/>
                        <a:ea typeface="Cambria Math"/>
                      </a:rPr>
                      <m:t>−</m:t>
                    </m:r>
                  </m:oMath>
                </a14:m>
                <a:r>
                  <a:rPr lang="en-US" sz="2200" dirty="0">
                    <a:ea typeface="Cambria Math"/>
                  </a:rPr>
                  <a:t> </a:t>
                </a:r>
                <a14:m>
                  <m:oMath xmlns:m="http://schemas.openxmlformats.org/officeDocument/2006/math">
                    <m:r>
                      <a:rPr lang="en-US" sz="2200" b="0" i="1">
                        <a:latin typeface="Cambria Math"/>
                        <a:ea typeface="Cambria Math"/>
                      </a:rPr>
                      <m:t>𝜆</m:t>
                    </m:r>
                  </m:oMath>
                </a14:m>
                <a:endParaRPr lang="en-US" sz="2200" dirty="0"/>
              </a:p>
              <a:p>
                <a:pPr marL="0" indent="0">
                  <a:buNone/>
                </a:pPr>
                <a14:m>
                  <m:oMath xmlns:m="http://schemas.openxmlformats.org/officeDocument/2006/math">
                    <m:r>
                      <a:rPr lang="en-US" sz="2200" b="0" i="1">
                        <a:latin typeface="Cambria Math"/>
                      </a:rPr>
                      <m:t>=</m:t>
                    </m:r>
                  </m:oMath>
                </a14:m>
                <a:r>
                  <a:rPr lang="en-US" sz="2200" dirty="0">
                    <a:ea typeface="Cambria Math"/>
                  </a:rPr>
                  <a:t> </a:t>
                </a:r>
                <a14:m>
                  <m:oMath xmlns:m="http://schemas.openxmlformats.org/officeDocument/2006/math">
                    <m:r>
                      <a:rPr lang="en-US" sz="2200" b="0" i="1">
                        <a:latin typeface="Cambria Math"/>
                        <a:ea typeface="Cambria Math"/>
                      </a:rPr>
                      <m:t>𝜆</m:t>
                    </m:r>
                    <m:r>
                      <a:rPr lang="en-US" sz="2200" b="0" i="1">
                        <a:latin typeface="Cambria Math"/>
                        <a:ea typeface="Cambria Math"/>
                      </a:rPr>
                      <m:t>(</m:t>
                    </m:r>
                    <m:r>
                      <a:rPr lang="en-US" sz="2200" b="0" i="1">
                        <a:latin typeface="Cambria Math"/>
                        <a:ea typeface="Cambria Math"/>
                      </a:rPr>
                      <m:t>𝜆</m:t>
                    </m:r>
                    <m:r>
                      <a:rPr lang="en-US" sz="2200" b="0" i="1">
                        <a:latin typeface="Cambria Math"/>
                        <a:ea typeface="Cambria Math"/>
                      </a:rPr>
                      <m:t>+1)</m:t>
                    </m:r>
                  </m:oMath>
                </a14:m>
                <a:endParaRPr lang="en-US" sz="2200" dirty="0"/>
              </a:p>
              <a:p>
                <a:pPr marL="0" indent="0">
                  <a:buNone/>
                </a:pPr>
                <a:r>
                  <a:rPr lang="en-US" sz="2200" dirty="0"/>
                  <a:t>Q3. find the </a:t>
                </a:r>
                <a:r>
                  <a:rPr lang="en-US" sz="2200" dirty="0" err="1"/>
                  <a:t>m.g.f</a:t>
                </a:r>
                <a:r>
                  <a:rPr lang="en-US" sz="2200" dirty="0"/>
                  <a:t>. of the continuous  normal distribution given by </a:t>
                </a:r>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200" b="0" i="1">
                          <a:latin typeface="Cambria Math"/>
                        </a:rPr>
                        <m:t>𝑓</m:t>
                      </m:r>
                      <m:d>
                        <m:dPr>
                          <m:ctrlPr>
                            <a:rPr lang="en-US" sz="2200" i="1">
                              <a:latin typeface="Cambria Math" panose="02040503050406030204" pitchFamily="18" charset="0"/>
                            </a:rPr>
                          </m:ctrlPr>
                        </m:dPr>
                        <m:e>
                          <m:r>
                            <a:rPr lang="en-US" sz="2200" b="0" i="1">
                              <a:latin typeface="Cambria Math"/>
                            </a:rPr>
                            <m:t>𝑥</m:t>
                          </m:r>
                        </m:e>
                      </m:d>
                      <m:r>
                        <a:rPr lang="en-US" sz="2200" b="0" i="1">
                          <a:latin typeface="Cambria Math"/>
                        </a:rPr>
                        <m:t>=</m:t>
                      </m:r>
                      <m:f>
                        <m:fPr>
                          <m:ctrlPr>
                            <a:rPr lang="en-US" sz="2200" i="1">
                              <a:latin typeface="Cambria Math" panose="02040503050406030204" pitchFamily="18" charset="0"/>
                            </a:rPr>
                          </m:ctrlPr>
                        </m:fPr>
                        <m:num>
                          <m:r>
                            <a:rPr lang="en-US" sz="2200" b="0" i="1">
                              <a:latin typeface="Cambria Math"/>
                            </a:rPr>
                            <m:t>1</m:t>
                          </m:r>
                        </m:num>
                        <m:den>
                          <m:r>
                            <a:rPr lang="en-US" sz="2200" b="0" i="1">
                              <a:latin typeface="Cambria Math"/>
                              <a:ea typeface="Cambria Math"/>
                            </a:rPr>
                            <m:t>𝜎</m:t>
                          </m:r>
                          <m:rad>
                            <m:radPr>
                              <m:degHide m:val="on"/>
                              <m:ctrlPr>
                                <a:rPr lang="en-US" sz="2200" i="1">
                                  <a:latin typeface="Cambria Math" panose="02040503050406030204" pitchFamily="18" charset="0"/>
                                  <a:ea typeface="Cambria Math"/>
                                </a:rPr>
                              </m:ctrlPr>
                            </m:radPr>
                            <m:deg/>
                            <m:e>
                              <m:r>
                                <a:rPr lang="en-US" sz="2200" b="0" i="1">
                                  <a:latin typeface="Cambria Math"/>
                                  <a:ea typeface="Cambria Math"/>
                                </a:rPr>
                                <m:t>2</m:t>
                              </m:r>
                              <m:r>
                                <a:rPr lang="en-US" sz="2200" b="0" i="1">
                                  <a:latin typeface="Cambria Math"/>
                                  <a:ea typeface="Cambria Math"/>
                                </a:rPr>
                                <m:t>𝜋</m:t>
                              </m:r>
                            </m:e>
                          </m:rad>
                        </m:den>
                      </m:f>
                      <m:sSup>
                        <m:sSupPr>
                          <m:ctrlPr>
                            <a:rPr lang="en-US" sz="2200" i="1">
                              <a:latin typeface="Cambria Math" panose="02040503050406030204" pitchFamily="18" charset="0"/>
                            </a:rPr>
                          </m:ctrlPr>
                        </m:sSupPr>
                        <m:e>
                          <m:r>
                            <a:rPr lang="en-US" sz="2200" b="0" i="1">
                              <a:latin typeface="Cambria Math"/>
                            </a:rPr>
                            <m:t>𝑒</m:t>
                          </m:r>
                        </m:e>
                        <m:sup>
                          <m:r>
                            <a:rPr lang="en-US" sz="2200" b="0" i="1">
                              <a:latin typeface="Cambria Math"/>
                            </a:rPr>
                            <m:t>−</m:t>
                          </m:r>
                          <m:f>
                            <m:fPr>
                              <m:ctrlPr>
                                <a:rPr lang="en-US" sz="2200" i="1">
                                  <a:latin typeface="Cambria Math" panose="02040503050406030204" pitchFamily="18" charset="0"/>
                                </a:rPr>
                              </m:ctrlPr>
                            </m:fPr>
                            <m:num>
                              <m:r>
                                <a:rPr lang="en-US" sz="2200" b="0" i="1">
                                  <a:latin typeface="Cambria Math"/>
                                </a:rPr>
                                <m:t>1</m:t>
                              </m:r>
                            </m:num>
                            <m:den>
                              <m:r>
                                <a:rPr lang="en-US" sz="2200" b="0" i="1">
                                  <a:latin typeface="Cambria Math"/>
                                </a:rPr>
                                <m:t>2</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b="0" i="1">
                                          <a:latin typeface="Cambria Math"/>
                                        </a:rPr>
                                        <m:t>𝑥</m:t>
                                      </m:r>
                                      <m:r>
                                        <a:rPr lang="en-US" sz="2200" b="0" i="1">
                                          <a:latin typeface="Cambria Math"/>
                                        </a:rPr>
                                        <m:t>−</m:t>
                                      </m:r>
                                      <m:r>
                                        <a:rPr lang="en-US" sz="2200" b="0" i="1">
                                          <a:latin typeface="Cambria Math"/>
                                          <a:ea typeface="Cambria Math"/>
                                        </a:rPr>
                                        <m:t>𝜇</m:t>
                                      </m:r>
                                    </m:num>
                                    <m:den>
                                      <m:r>
                                        <a:rPr lang="en-US" sz="2200" b="0" i="1">
                                          <a:latin typeface="Cambria Math"/>
                                          <a:ea typeface="Cambria Math"/>
                                        </a:rPr>
                                        <m:t>𝜎</m:t>
                                      </m:r>
                                    </m:den>
                                  </m:f>
                                </m:e>
                              </m:d>
                            </m:e>
                            <m:sup>
                              <m:r>
                                <a:rPr lang="en-US" sz="2200" b="0" i="1">
                                  <a:latin typeface="Cambria Math"/>
                                </a:rPr>
                                <m:t>2</m:t>
                              </m:r>
                            </m:sup>
                          </m:sSup>
                        </m:sup>
                      </m:sSup>
                      <m:r>
                        <a:rPr lang="en-US" sz="2200" b="0" i="1" smtClean="0">
                          <a:latin typeface="Cambria Math"/>
                        </a:rPr>
                        <m:t>;−</m:t>
                      </m:r>
                      <m:r>
                        <a:rPr lang="en-US" sz="2200" b="0" i="1" smtClean="0">
                          <a:latin typeface="Cambria Math"/>
                          <a:ea typeface="Cambria Math"/>
                        </a:rPr>
                        <m:t>∞&lt;</m:t>
                      </m:r>
                      <m:r>
                        <a:rPr lang="en-US" sz="2200" b="0" i="1" smtClean="0">
                          <a:latin typeface="Cambria Math"/>
                          <a:ea typeface="Cambria Math"/>
                        </a:rPr>
                        <m:t>𝑥</m:t>
                      </m:r>
                      <m:r>
                        <a:rPr lang="en-US" sz="2200" b="0" i="1" smtClean="0">
                          <a:latin typeface="Cambria Math"/>
                          <a:ea typeface="Cambria Math"/>
                        </a:rPr>
                        <m:t>&lt;∞</m:t>
                      </m:r>
                    </m:oMath>
                  </m:oMathPara>
                </a14:m>
                <a:endParaRPr lang="en-US" sz="2200" dirty="0">
                  <a:ea typeface="Cambria Math"/>
                </a:endParaRPr>
              </a:p>
              <a:p>
                <a:pPr marL="0" indent="0">
                  <a:buNone/>
                </a:pPr>
                <a:r>
                  <a:rPr lang="en-US" sz="2200" dirty="0"/>
                  <a:t>Solution: Moment generating function about the origin is </a:t>
                </a:r>
                <a:r>
                  <a:rPr lang="en-US" sz="2200" dirty="0" err="1"/>
                  <a:t>defineds</a:t>
                </a:r>
                <a:endParaRPr lang="en-US" sz="2200" dirty="0"/>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21294"/>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CD92276A-7F2C-4E25-A3EE-A4C9E78BAA4D}"/>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999049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US" sz="2200" i="1" smtClean="0">
                              <a:latin typeface="Cambria Math" panose="02040503050406030204" pitchFamily="18" charset="0"/>
                            </a:rPr>
                          </m:ctrlPr>
                        </m:sSubPr>
                        <m:e>
                          <m:r>
                            <a:rPr lang="en-US" sz="2200" i="1">
                              <a:latin typeface="Cambria Math"/>
                            </a:rPr>
                            <m:t>𝑀</m:t>
                          </m:r>
                        </m:e>
                        <m:sub>
                          <m:r>
                            <a:rPr lang="en-US" sz="2200" i="1">
                              <a:latin typeface="Cambria Math"/>
                            </a:rPr>
                            <m:t>𝑥</m:t>
                          </m:r>
                        </m:sub>
                      </m:sSub>
                      <m:d>
                        <m:dPr>
                          <m:ctrlPr>
                            <a:rPr lang="en-US" sz="2200" i="1">
                              <a:latin typeface="Cambria Math" panose="02040503050406030204" pitchFamily="18" charset="0"/>
                            </a:rPr>
                          </m:ctrlPr>
                        </m:dPr>
                        <m:e>
                          <m:r>
                            <a:rPr lang="en-US" sz="2200" i="1">
                              <a:latin typeface="Cambria Math"/>
                            </a:rPr>
                            <m:t>𝑡</m:t>
                          </m:r>
                        </m:e>
                      </m:d>
                      <m:r>
                        <a:rPr lang="en-US" sz="2200" i="1">
                          <a:latin typeface="Cambria Math"/>
                        </a:rPr>
                        <m:t>=</m:t>
                      </m:r>
                      <m:r>
                        <a:rPr lang="en-US" sz="2200" b="0" i="1" smtClean="0">
                          <a:latin typeface="Cambria Math"/>
                        </a:rPr>
                        <m:t>𝐸</m:t>
                      </m:r>
                      <m:d>
                        <m:dPr>
                          <m:ctrlPr>
                            <a:rPr lang="en-US" sz="2200" b="0" i="1" smtClean="0">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𝑡𝑥</m:t>
                              </m:r>
                            </m:sup>
                          </m:sSup>
                        </m:e>
                      </m:d>
                      <m:r>
                        <a:rPr lang="en-US" sz="2200" b="0" i="1" smtClean="0">
                          <a:latin typeface="Cambria Math"/>
                        </a:rPr>
                        <m:t>=</m:t>
                      </m:r>
                      <m:nary>
                        <m:naryPr>
                          <m:ctrlPr>
                            <a:rPr lang="en-US" sz="2200" i="1">
                              <a:latin typeface="Cambria Math" panose="02040503050406030204" pitchFamily="18" charset="0"/>
                            </a:rPr>
                          </m:ctrlPr>
                        </m:naryPr>
                        <m:sub>
                          <m:r>
                            <a:rPr lang="en-US" sz="2200" b="0" i="1" smtClean="0">
                              <a:latin typeface="Cambria Math"/>
                            </a:rPr>
                            <m:t>−</m:t>
                          </m:r>
                          <m:r>
                            <a:rPr lang="en-US" sz="2200" i="1" smtClean="0">
                              <a:latin typeface="Cambria Math"/>
                              <a:ea typeface="Cambria Math"/>
                            </a:rPr>
                            <m:t>∞</m:t>
                          </m:r>
                        </m:sub>
                        <m:sup>
                          <m:r>
                            <a:rPr lang="en-US" sz="2200" i="1" smtClean="0">
                              <a:latin typeface="Cambria Math"/>
                              <a:ea typeface="Cambria Math"/>
                            </a:rPr>
                            <m:t>∞</m:t>
                          </m:r>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𝑡𝑥</m:t>
                              </m:r>
                            </m:sup>
                          </m:sSup>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nary>
                        <m:naryPr>
                          <m:ctrlPr>
                            <a:rPr lang="en-US" sz="2200" i="1">
                              <a:latin typeface="Cambria Math" panose="02040503050406030204" pitchFamily="18" charset="0"/>
                            </a:rPr>
                          </m:ctrlPr>
                        </m:naryPr>
                        <m:sub>
                          <m:r>
                            <a:rPr lang="en-US" sz="2200" b="0" i="1" smtClean="0">
                              <a:latin typeface="Cambria Math"/>
                            </a:rPr>
                            <m:t>−</m:t>
                          </m:r>
                          <m:r>
                            <a:rPr lang="en-US" sz="2200" b="0" i="1" smtClean="0">
                              <a:latin typeface="Cambria Math"/>
                              <a:ea typeface="Cambria Math"/>
                            </a:rPr>
                            <m:t>∞</m:t>
                          </m:r>
                        </m:sub>
                        <m:sup>
                          <m:r>
                            <a:rPr lang="en-US" sz="2200" i="1" smtClean="0">
                              <a:latin typeface="Cambria Math"/>
                              <a:ea typeface="Cambria Math"/>
                            </a:rPr>
                            <m:t>∞</m:t>
                          </m:r>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𝑡𝑥</m:t>
                              </m:r>
                            </m:sup>
                          </m:sSup>
                          <m:f>
                            <m:fPr>
                              <m:ctrlPr>
                                <a:rPr lang="en-US" sz="2200" i="1">
                                  <a:latin typeface="Cambria Math" panose="02040503050406030204" pitchFamily="18" charset="0"/>
                                </a:rPr>
                              </m:ctrlPr>
                            </m:fPr>
                            <m:num>
                              <m:r>
                                <a:rPr lang="en-US" sz="2200" i="1">
                                  <a:latin typeface="Cambria Math"/>
                                </a:rPr>
                                <m:t>1</m:t>
                              </m:r>
                            </m:num>
                            <m:den>
                              <m:r>
                                <a:rPr lang="en-US" sz="2200" i="1">
                                  <a:latin typeface="Cambria Math"/>
                                  <a:ea typeface="Cambria Math"/>
                                </a:rPr>
                                <m:t>𝜎</m:t>
                              </m:r>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a:rPr>
                                            <m:t>𝑥</m:t>
                                          </m:r>
                                          <m:r>
                                            <a:rPr lang="en-US" sz="2200" i="1">
                                              <a:latin typeface="Cambria Math"/>
                                            </a:rPr>
                                            <m:t>−</m:t>
                                          </m:r>
                                          <m:r>
                                            <a:rPr lang="en-US" sz="2200" i="1">
                                              <a:latin typeface="Cambria Math"/>
                                              <a:ea typeface="Cambria Math"/>
                                            </a:rPr>
                                            <m:t>𝜇</m:t>
                                          </m:r>
                                        </m:num>
                                        <m:den>
                                          <m:r>
                                            <a:rPr lang="en-US" sz="2200" i="1">
                                              <a:latin typeface="Cambria Math"/>
                                              <a:ea typeface="Cambria Math"/>
                                            </a:rPr>
                                            <m:t>𝜎</m:t>
                                          </m:r>
                                        </m:den>
                                      </m:f>
                                    </m:e>
                                  </m:d>
                                </m:e>
                                <m:sup>
                                  <m:r>
                                    <a:rPr lang="en-US" sz="2200" i="1">
                                      <a:latin typeface="Cambria Math"/>
                                    </a:rPr>
                                    <m:t>2</m:t>
                                  </m:r>
                                </m:sup>
                              </m:sSup>
                            </m:sup>
                          </m:sSup>
                          <m:r>
                            <a:rPr lang="en-US" sz="2200" i="1">
                              <a:latin typeface="Cambria Math"/>
                            </a:rPr>
                            <m:t>𝑑𝑥</m:t>
                          </m:r>
                        </m:e>
                      </m:nary>
                    </m:oMath>
                  </m:oMathPara>
                </a14:m>
                <a:endParaRPr lang="en-US" sz="2200" dirty="0"/>
              </a:p>
              <a:p>
                <a:pPr marL="0" indent="0">
                  <a:buNone/>
                </a:pPr>
                <a14:m>
                  <m:oMath xmlns:m="http://schemas.openxmlformats.org/officeDocument/2006/math">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nary>
                      <m:naryPr>
                        <m:ctrlPr>
                          <a:rPr lang="en-US" sz="2200" i="1">
                            <a:latin typeface="Cambria Math" panose="02040503050406030204" pitchFamily="18" charset="0"/>
                          </a:rPr>
                        </m:ctrlPr>
                      </m:naryPr>
                      <m:sub>
                        <m:r>
                          <a:rPr lang="en-US" sz="2200" b="0" i="1" smtClean="0">
                            <a:latin typeface="Cambria Math"/>
                          </a:rPr>
                          <m:t>−</m:t>
                        </m:r>
                        <m:r>
                          <a:rPr lang="en-US" sz="2200" b="0" i="1" smtClean="0">
                            <a:latin typeface="Cambria Math"/>
                            <a:ea typeface="Cambria Math"/>
                          </a:rPr>
                          <m:t>∞</m:t>
                        </m:r>
                      </m:sub>
                      <m:sup>
                        <m:r>
                          <a:rPr lang="en-US" sz="2200" i="1" smtClean="0">
                            <a:latin typeface="Cambria Math"/>
                            <a:ea typeface="Cambria Math"/>
                          </a:rPr>
                          <m:t>∞</m:t>
                        </m:r>
                      </m:sup>
                      <m:e>
                        <m:sSup>
                          <m:sSupPr>
                            <m:ctrlPr>
                              <a:rPr lang="en-US" sz="2200" i="1">
                                <a:latin typeface="Cambria Math" panose="02040503050406030204" pitchFamily="18" charset="0"/>
                              </a:rPr>
                            </m:ctrlPr>
                          </m:sSupPr>
                          <m:e>
                            <m:r>
                              <a:rPr lang="en-US" sz="2200" i="1">
                                <a:latin typeface="Cambria Math"/>
                              </a:rPr>
                              <m:t>𝑒</m:t>
                            </m:r>
                          </m:e>
                          <m:sup>
                            <m:r>
                              <a:rPr lang="en-US" sz="2200" b="0" i="1" smtClean="0">
                                <a:latin typeface="Cambria Math"/>
                              </a:rPr>
                              <m:t>−</m:t>
                            </m:r>
                            <m:r>
                              <a:rPr lang="en-US" sz="2200" i="1">
                                <a:latin typeface="Cambria Math"/>
                              </a:rPr>
                              <m:t>𝑡</m:t>
                            </m:r>
                            <m:r>
                              <a:rPr lang="en-US" sz="2200" i="1">
                                <a:latin typeface="Cambria Math"/>
                                <a:ea typeface="Cambria Math"/>
                              </a:rPr>
                              <m:t>𝜎</m:t>
                            </m:r>
                            <m:r>
                              <a:rPr lang="en-US" sz="2200" b="0" i="1" smtClean="0">
                                <a:latin typeface="Cambria Math"/>
                              </a:rPr>
                              <m:t>𝑧</m:t>
                            </m:r>
                          </m:sup>
                        </m:sSup>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b="0" i="1" smtClean="0">
                                    <a:latin typeface="Cambria Math"/>
                                  </a:rPr>
                                  <m:t>𝑧</m:t>
                                </m:r>
                              </m:e>
                              <m:sup>
                                <m:r>
                                  <a:rPr lang="en-US" sz="2200" i="1">
                                    <a:latin typeface="Cambria Math"/>
                                  </a:rPr>
                                  <m:t>2</m:t>
                                </m:r>
                              </m:sup>
                            </m:sSup>
                          </m:sup>
                        </m:sSup>
                        <m:r>
                          <a:rPr lang="en-US" sz="2200" i="1">
                            <a:latin typeface="Cambria Math"/>
                          </a:rPr>
                          <m:t>𝑑</m:t>
                        </m:r>
                        <m:r>
                          <a:rPr lang="en-US" sz="2200" b="0" i="1" smtClean="0">
                            <a:latin typeface="Cambria Math"/>
                          </a:rPr>
                          <m:t>𝑧</m:t>
                        </m:r>
                      </m:e>
                    </m:nary>
                  </m:oMath>
                </a14:m>
                <a:r>
                  <a:rPr lang="en-US" sz="2200" dirty="0"/>
                  <a:t>; where </a:t>
                </a:r>
                <a14:m>
                  <m:oMath xmlns:m="http://schemas.openxmlformats.org/officeDocument/2006/math">
                    <m:r>
                      <m:rPr>
                        <m:sty m:val="p"/>
                      </m:rPr>
                      <a:rPr lang="en-US" sz="2200" b="0" i="0" smtClean="0">
                        <a:latin typeface="Cambria Math"/>
                      </a:rPr>
                      <m:t>z</m:t>
                    </m:r>
                    <m:r>
                      <a:rPr lang="en-US" sz="2200" b="0" i="0" smtClean="0">
                        <a:latin typeface="Cambria Math"/>
                      </a:rPr>
                      <m:t>=</m:t>
                    </m:r>
                    <m:f>
                      <m:fPr>
                        <m:ctrlPr>
                          <a:rPr lang="en-US" sz="2200" i="1">
                            <a:latin typeface="Cambria Math" panose="02040503050406030204" pitchFamily="18" charset="0"/>
                          </a:rPr>
                        </m:ctrlPr>
                      </m:fPr>
                      <m:num>
                        <m:r>
                          <a:rPr lang="en-US" sz="2200" i="1">
                            <a:latin typeface="Cambria Math"/>
                          </a:rPr>
                          <m:t>𝑥</m:t>
                        </m:r>
                        <m:r>
                          <a:rPr lang="en-US" sz="2200" i="1">
                            <a:latin typeface="Cambria Math"/>
                          </a:rPr>
                          <m:t>−</m:t>
                        </m:r>
                        <m:r>
                          <a:rPr lang="en-US" sz="2200" i="1">
                            <a:latin typeface="Cambria Math"/>
                            <a:ea typeface="Cambria Math"/>
                          </a:rPr>
                          <m:t>𝜇</m:t>
                        </m:r>
                      </m:num>
                      <m:den>
                        <m:r>
                          <a:rPr lang="en-US" sz="2200" i="1">
                            <a:latin typeface="Cambria Math"/>
                            <a:ea typeface="Cambria Math"/>
                          </a:rPr>
                          <m:t>𝜎</m:t>
                        </m:r>
                      </m:den>
                    </m:f>
                  </m:oMath>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d>
                            <m:dPr>
                              <m:ctrlPr>
                                <a:rPr lang="en-US" sz="2200" i="1" smtClean="0">
                                  <a:latin typeface="Cambria Math" panose="02040503050406030204" pitchFamily="18" charset="0"/>
                                </a:rPr>
                              </m:ctrlPr>
                            </m:dPr>
                            <m:e>
                              <m:r>
                                <a:rPr lang="en-US" sz="2200" i="1">
                                  <a:latin typeface="Cambria Math"/>
                                  <a:ea typeface="Cambria Math"/>
                                </a:rPr>
                                <m:t>𝜇</m:t>
                              </m:r>
                              <m:r>
                                <a:rPr lang="en-US" sz="2200" i="1">
                                  <a:latin typeface="Cambria Math"/>
                                </a:rPr>
                                <m:t>𝑡</m:t>
                              </m:r>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𝑡</m:t>
                                  </m:r>
                                </m:e>
                                <m:sup>
                                  <m:r>
                                    <a:rPr lang="en-US" sz="2200" i="1">
                                      <a:latin typeface="Cambria Math"/>
                                    </a:rPr>
                                    <m:t>2</m:t>
                                  </m:r>
                                </m:sup>
                              </m:sSup>
                              <m:sSup>
                                <m:sSupPr>
                                  <m:ctrlPr>
                                    <a:rPr lang="en-US" sz="2200" i="1">
                                      <a:latin typeface="Cambria Math" panose="02040503050406030204" pitchFamily="18" charset="0"/>
                                    </a:rPr>
                                  </m:ctrlPr>
                                </m:sSupPr>
                                <m:e>
                                  <m:r>
                                    <a:rPr lang="en-US" sz="2200" i="1">
                                      <a:latin typeface="Cambria Math"/>
                                      <a:ea typeface="Cambria Math"/>
                                    </a:rPr>
                                    <m:t>𝜎</m:t>
                                  </m:r>
                                </m:e>
                                <m:sup>
                                  <m:r>
                                    <a:rPr lang="en-US" sz="2200" i="1">
                                      <a:latin typeface="Cambria Math"/>
                                    </a:rPr>
                                    <m:t>2</m:t>
                                  </m:r>
                                </m:sup>
                              </m:sSup>
                            </m:e>
                          </m:d>
                        </m:sup>
                      </m:sSup>
                      <m:nary>
                        <m:naryPr>
                          <m:ctrlPr>
                            <a:rPr lang="en-US" sz="2200" i="1">
                              <a:latin typeface="Cambria Math" panose="02040503050406030204" pitchFamily="18" charset="0"/>
                            </a:rPr>
                          </m:ctrlPr>
                        </m:naryPr>
                        <m:sub>
                          <m: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r>
                                <a:rPr lang="en-US" sz="2200" b="0" i="1" smtClean="0">
                                  <a:latin typeface="Cambria Math"/>
                                </a:rPr>
                                <m:t>(</m:t>
                              </m:r>
                              <m:sSup>
                                <m:sSupPr>
                                  <m:ctrlPr>
                                    <a:rPr lang="en-US" sz="2200" i="1">
                                      <a:latin typeface="Cambria Math" panose="02040503050406030204" pitchFamily="18" charset="0"/>
                                    </a:rPr>
                                  </m:ctrlPr>
                                </m:sSupPr>
                                <m:e>
                                  <m:r>
                                    <a:rPr lang="en-US" sz="2200" i="1">
                                      <a:latin typeface="Cambria Math"/>
                                    </a:rPr>
                                    <m:t>𝑧</m:t>
                                  </m:r>
                                  <m:r>
                                    <a:rPr lang="en-US" sz="2200" i="1">
                                      <a:latin typeface="Cambria Math"/>
                                    </a:rPr>
                                    <m:t>−</m:t>
                                  </m:r>
                                  <m:r>
                                    <a:rPr lang="en-US" sz="2200" i="1">
                                      <a:latin typeface="Cambria Math"/>
                                    </a:rPr>
                                    <m:t>𝑡</m:t>
                                  </m:r>
                                  <m:r>
                                    <a:rPr lang="en-US" sz="2200" i="1">
                                      <a:latin typeface="Cambria Math"/>
                                      <a:ea typeface="Cambria Math"/>
                                    </a:rPr>
                                    <m:t>𝜎</m:t>
                                  </m:r>
                                  <m:r>
                                    <a:rPr lang="en-US" sz="2200" b="0" i="1" smtClean="0">
                                      <a:latin typeface="Cambria Math"/>
                                      <a:ea typeface="Cambria Math"/>
                                    </a:rPr>
                                    <m:t>)</m:t>
                                  </m:r>
                                </m:e>
                                <m:sup>
                                  <m:r>
                                    <a:rPr lang="en-US" sz="2200" i="1">
                                      <a:latin typeface="Cambria Math"/>
                                    </a:rPr>
                                    <m:t>2</m:t>
                                  </m:r>
                                </m:sup>
                              </m:sSup>
                            </m:sup>
                          </m:sSup>
                          <m:r>
                            <a:rPr lang="en-US" sz="2200" i="1">
                              <a:latin typeface="Cambria Math"/>
                            </a:rPr>
                            <m:t>𝑑𝑧</m:t>
                          </m:r>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sSup>
                        <m:sSupPr>
                          <m:ctrlPr>
                            <a:rPr lang="en-US" sz="2200" i="1">
                              <a:latin typeface="Cambria Math" panose="02040503050406030204" pitchFamily="18" charset="0"/>
                            </a:rPr>
                          </m:ctrlPr>
                        </m:sSupPr>
                        <m:e>
                          <m:r>
                            <a:rPr lang="en-US" sz="2200" i="1">
                              <a:latin typeface="Cambria Math"/>
                            </a:rPr>
                            <m:t>𝑒</m:t>
                          </m:r>
                        </m:e>
                        <m:sup>
                          <m:d>
                            <m:dPr>
                              <m:ctrlPr>
                                <a:rPr lang="en-US" sz="2200" i="1">
                                  <a:latin typeface="Cambria Math" panose="02040503050406030204" pitchFamily="18" charset="0"/>
                                </a:rPr>
                              </m:ctrlPr>
                            </m:dPr>
                            <m:e>
                              <m:r>
                                <a:rPr lang="en-US" sz="2200" i="1">
                                  <a:latin typeface="Cambria Math"/>
                                  <a:ea typeface="Cambria Math"/>
                                </a:rPr>
                                <m:t>𝜇</m:t>
                              </m:r>
                              <m:r>
                                <a:rPr lang="en-US" sz="2200" i="1">
                                  <a:latin typeface="Cambria Math"/>
                                </a:rPr>
                                <m:t>𝑡</m:t>
                              </m:r>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𝑡</m:t>
                                  </m:r>
                                </m:e>
                                <m:sup>
                                  <m:r>
                                    <a:rPr lang="en-US" sz="2200" i="1">
                                      <a:latin typeface="Cambria Math"/>
                                    </a:rPr>
                                    <m:t>2</m:t>
                                  </m:r>
                                </m:sup>
                              </m:sSup>
                              <m:sSup>
                                <m:sSupPr>
                                  <m:ctrlPr>
                                    <a:rPr lang="en-US" sz="2200" i="1">
                                      <a:latin typeface="Cambria Math" panose="02040503050406030204" pitchFamily="18" charset="0"/>
                                    </a:rPr>
                                  </m:ctrlPr>
                                </m:sSupPr>
                                <m:e>
                                  <m:r>
                                    <a:rPr lang="en-US" sz="2200" i="1">
                                      <a:latin typeface="Cambria Math"/>
                                      <a:ea typeface="Cambria Math"/>
                                    </a:rPr>
                                    <m:t>𝜎</m:t>
                                  </m:r>
                                </m:e>
                                <m:sup>
                                  <m:r>
                                    <a:rPr lang="en-US" sz="2200" i="1">
                                      <a:latin typeface="Cambria Math"/>
                                    </a:rPr>
                                    <m:t>2</m:t>
                                  </m:r>
                                </m:sup>
                              </m:sSup>
                            </m:e>
                          </m:d>
                        </m:sup>
                      </m:sSup>
                      <m:r>
                        <a:rPr lang="en-US" sz="2200" b="0" i="1" smtClean="0">
                          <a:latin typeface="Cambria Math"/>
                        </a:rPr>
                        <m:t>.1</m:t>
                      </m:r>
                    </m:oMath>
                  </m:oMathPara>
                </a14:m>
                <a:endParaRPr lang="en-US" sz="2200" b="0" dirty="0"/>
              </a:p>
              <a:p>
                <a:pPr marL="0" indent="0">
                  <a:buNone/>
                </a:pPr>
                <a14:m>
                  <m:oMathPara xmlns:m="http://schemas.openxmlformats.org/officeDocument/2006/math">
                    <m:oMathParaPr>
                      <m:jc m:val="left"/>
                    </m:oMathParaPr>
                    <m:oMath xmlns:m="http://schemas.openxmlformats.org/officeDocument/2006/math">
                      <m:sSup>
                        <m:sSupPr>
                          <m:ctrlPr>
                            <a:rPr lang="en-US" sz="2200" i="1">
                              <a:latin typeface="Cambria Math" panose="02040503050406030204" pitchFamily="18" charset="0"/>
                            </a:rPr>
                          </m:ctrlPr>
                        </m:sSupPr>
                        <m:e>
                          <m:r>
                            <a:rPr lang="en-US" sz="2200" b="0" i="1" smtClean="0">
                              <a:latin typeface="Cambria Math"/>
                            </a:rPr>
                            <m:t>=</m:t>
                          </m:r>
                          <m:r>
                            <a:rPr lang="en-US" sz="2200" i="1">
                              <a:latin typeface="Cambria Math"/>
                            </a:rPr>
                            <m:t>𝑒</m:t>
                          </m:r>
                        </m:e>
                        <m:sup>
                          <m:d>
                            <m:dPr>
                              <m:ctrlPr>
                                <a:rPr lang="en-US" sz="2200" i="1">
                                  <a:latin typeface="Cambria Math" panose="02040503050406030204" pitchFamily="18" charset="0"/>
                                </a:rPr>
                              </m:ctrlPr>
                            </m:dPr>
                            <m:e>
                              <m:r>
                                <a:rPr lang="en-US" sz="2200" i="1">
                                  <a:latin typeface="Cambria Math"/>
                                  <a:ea typeface="Cambria Math"/>
                                </a:rPr>
                                <m:t>𝜇</m:t>
                              </m:r>
                              <m:r>
                                <a:rPr lang="en-US" sz="2200" i="1">
                                  <a:latin typeface="Cambria Math"/>
                                </a:rPr>
                                <m:t>𝑡</m:t>
                              </m:r>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𝑡</m:t>
                                  </m:r>
                                </m:e>
                                <m:sup>
                                  <m:r>
                                    <a:rPr lang="en-US" sz="2200" i="1">
                                      <a:latin typeface="Cambria Math"/>
                                    </a:rPr>
                                    <m:t>2</m:t>
                                  </m:r>
                                </m:sup>
                              </m:sSup>
                              <m:sSup>
                                <m:sSupPr>
                                  <m:ctrlPr>
                                    <a:rPr lang="en-US" sz="2200" i="1">
                                      <a:latin typeface="Cambria Math" panose="02040503050406030204" pitchFamily="18" charset="0"/>
                                    </a:rPr>
                                  </m:ctrlPr>
                                </m:sSupPr>
                                <m:e>
                                  <m:r>
                                    <a:rPr lang="en-US" sz="2200" i="1">
                                      <a:latin typeface="Cambria Math"/>
                                      <a:ea typeface="Cambria Math"/>
                                    </a:rPr>
                                    <m:t>𝜎</m:t>
                                  </m:r>
                                </m:e>
                                <m:sup>
                                  <m:r>
                                    <a:rPr lang="en-US" sz="2200" i="1">
                                      <a:latin typeface="Cambria Math"/>
                                    </a:rPr>
                                    <m:t>2</m:t>
                                  </m:r>
                                </m:sup>
                              </m:sSup>
                            </m:e>
                          </m:d>
                        </m:sup>
                      </m:sSup>
                    </m:oMath>
                  </m:oMathPara>
                </a14:m>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Moment Generating Function(CO4)</a:t>
            </a:r>
            <a:endParaRPr kumimoji="0" lang="en-US" sz="2400" b="1" i="0" u="none" strike="noStrike" kern="1200" cap="none" spc="0" normalizeH="0" baseline="0" noProof="0" dirty="0">
              <a:ln>
                <a:noFill/>
              </a:ln>
              <a:solidFill>
                <a:schemeClr val="dk1"/>
              </a:solidFill>
              <a:effectLst/>
              <a:uLnTx/>
              <a:uFillTx/>
            </a:endParaRPr>
          </a:p>
        </p:txBody>
      </p:sp>
      <p:sp>
        <p:nvSpPr>
          <p:cNvPr id="2" name="Slide Number Placeholder 1">
            <a:extLst>
              <a:ext uri="{FF2B5EF4-FFF2-40B4-BE49-F238E27FC236}">
                <a16:creationId xmlns:a16="http://schemas.microsoft.com/office/drawing/2014/main" id="{B89C929D-9F45-4A50-9A11-C904861CACFD}"/>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4146062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b="1" dirty="0"/>
                  <a:t>Q1.</a:t>
                </a:r>
                <a:r>
                  <a:rPr lang="en-US" sz="2200" dirty="0"/>
                  <a:t> Find the moment generating function about origin of a random variable </a:t>
                </a:r>
                <a14:m>
                  <m:oMath xmlns:m="http://schemas.openxmlformats.org/officeDocument/2006/math">
                    <m:r>
                      <a:rPr lang="en-US" sz="2200" i="1">
                        <a:latin typeface="Cambria Math" panose="02040503050406030204" pitchFamily="18" charset="0"/>
                      </a:rPr>
                      <m:t>𝑋</m:t>
                    </m:r>
                  </m:oMath>
                </a14:m>
                <a:r>
                  <a:rPr lang="en-US" sz="2200" dirty="0"/>
                  <a:t> whose probability density function is given by </a:t>
                </a:r>
              </a:p>
              <a:p>
                <a:pPr marL="0" lvl="0" indent="0" algn="ctr">
                  <a:buNone/>
                </a:pPr>
                <a14:m>
                  <m:oMath xmlns:m="http://schemas.openxmlformats.org/officeDocument/2006/math">
                    <m:r>
                      <a:rPr lang="en-US" sz="2200" i="1">
                        <a:latin typeface="Cambria Math" panose="02040503050406030204" pitchFamily="18" charset="0"/>
                      </a:rPr>
                      <m:t>𝑓</m:t>
                    </m:r>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 </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den>
                    </m:f>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𝑥</m:t>
                            </m:r>
                          </m:e>
                        </m:d>
                      </m:sup>
                    </m:sSup>
                    <m:r>
                      <a:rPr lang="en-US" sz="2200" i="1">
                        <a:latin typeface="Cambria Math" panose="02040503050406030204" pitchFamily="18" charset="0"/>
                      </a:rPr>
                      <m:t>.</m:t>
                    </m:r>
                  </m:oMath>
                </a14:m>
                <a:r>
                  <a:rPr lang="en-US" sz="2200" b="1" dirty="0"/>
                  <a:t>			</a:t>
                </a:r>
              </a:p>
              <a:p>
                <a:pPr marL="0" lvl="0" indent="0">
                  <a:buNone/>
                </a:pPr>
                <a:r>
                  <a:rPr lang="en-US" sz="2200" b="1" dirty="0"/>
                  <a:t>Q2. </a:t>
                </a:r>
                <a:r>
                  <a:rPr lang="en-US" sz="2200" dirty="0"/>
                  <a:t>Find the moment generating function of x for f(x) = 1, where</a:t>
                </a:r>
              </a:p>
              <a:p>
                <a:pPr marL="0" lvl="0" indent="0">
                  <a:buNone/>
                </a:pPr>
                <a:r>
                  <a:rPr lang="en-US" sz="2200" dirty="0"/>
                  <a:t>0 &lt;x&lt; 1, and thereby confirm that E(x) = 12 and V (x) = 112 .</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pPr lvl="0">
              <a:defRPr/>
            </a:pPr>
            <a:r>
              <a:rPr lang="en-US"/>
              <a:t>Dr. Lokesh chaudhary    Statistics and Probability     Module 4</a:t>
            </a:r>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kumimoji="0" lang="en-US" sz="2400" b="1" i="0" u="none" strike="noStrike" kern="1200" cap="none" spc="0" normalizeH="0" baseline="0" noProof="0" dirty="0">
                <a:ln>
                  <a:noFill/>
                </a:ln>
                <a:solidFill>
                  <a:schemeClr val="dk1"/>
                </a:solidFill>
                <a:effectLst/>
                <a:uLnTx/>
                <a:uFillTx/>
              </a:rPr>
              <a:t>Daily Quiz</a:t>
            </a:r>
            <a:r>
              <a:rPr lang="en-US" sz="2400" b="1" dirty="0"/>
              <a:t>(CO4)</a:t>
            </a:r>
            <a:r>
              <a:rPr kumimoji="0" lang="en-US" sz="2400" b="1" i="0" u="none" strike="noStrike" kern="1200" cap="none" spc="0" normalizeH="0" baseline="0" noProof="0" dirty="0">
                <a:ln>
                  <a:noFill/>
                </a:ln>
                <a:solidFill>
                  <a:schemeClr val="dk1"/>
                </a:solidFill>
                <a:effectLst/>
                <a:uLnTx/>
                <a:uFillTx/>
              </a:rPr>
              <a:t> </a:t>
            </a:r>
          </a:p>
        </p:txBody>
      </p:sp>
      <p:sp>
        <p:nvSpPr>
          <p:cNvPr id="2" name="Slide Number Placeholder 1">
            <a:extLst>
              <a:ext uri="{FF2B5EF4-FFF2-40B4-BE49-F238E27FC236}">
                <a16:creationId xmlns:a16="http://schemas.microsoft.com/office/drawing/2014/main" id="{C221E603-7CF0-46A5-9904-B88F9CC86183}"/>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3355726164"/>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457200" lvl="0" indent="-457200">
                  <a:buFont typeface="+mj-lt"/>
                  <a:buAutoNum type="arabicPeriod"/>
                </a:pPr>
                <a:r>
                  <a:rPr lang="en-US" sz="2200" dirty="0"/>
                  <a:t>Find the moment generating function about origin of random variable </a:t>
                </a:r>
                <a14:m>
                  <m:oMath xmlns:m="http://schemas.openxmlformats.org/officeDocument/2006/math">
                    <m:r>
                      <a:rPr lang="en-US" sz="2200" i="1">
                        <a:latin typeface="Cambria Math"/>
                      </a:rPr>
                      <m:t>𝑋</m:t>
                    </m:r>
                  </m:oMath>
                </a14:m>
                <a:r>
                  <a:rPr lang="en-US" sz="2200" dirty="0"/>
                  <a:t> whose </a:t>
                </a:r>
                <a:r>
                  <a:rPr lang="en-US" sz="2200" dirty="0" err="1"/>
                  <a:t>p.m.f</a:t>
                </a:r>
                <a:r>
                  <a:rPr lang="en-US" sz="2200" dirty="0"/>
                  <a:t> is given by </a:t>
                </a:r>
                <a14:m>
                  <m:oMath xmlns:m="http://schemas.openxmlformats.org/officeDocument/2006/math">
                    <m:r>
                      <a:rPr lang="en-US" sz="2200" i="1">
                        <a:latin typeface="Cambria Math"/>
                      </a:rPr>
                      <m:t>𝑝</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m:t>
                    </m:r>
                    <m:r>
                      <a:rPr lang="en-US" sz="2200" i="1">
                        <a:latin typeface="Cambria Math"/>
                      </a:rPr>
                      <m:t>𝑝</m:t>
                    </m:r>
                    <m:sSup>
                      <m:sSupPr>
                        <m:ctrlPr>
                          <a:rPr lang="en-US" sz="2200" i="1">
                            <a:latin typeface="Cambria Math" panose="02040503050406030204" pitchFamily="18" charset="0"/>
                          </a:rPr>
                        </m:ctrlPr>
                      </m:sSupPr>
                      <m:e>
                        <m:r>
                          <a:rPr lang="en-US" sz="2200" i="1">
                            <a:latin typeface="Cambria Math"/>
                          </a:rPr>
                          <m:t>𝑞</m:t>
                        </m:r>
                      </m:e>
                      <m:sup>
                        <m:r>
                          <a:rPr lang="en-US" sz="2200" i="1">
                            <a:latin typeface="Cambria Math"/>
                          </a:rPr>
                          <m:t>𝑥</m:t>
                        </m:r>
                        <m:r>
                          <a:rPr lang="en-US" sz="2200" i="1">
                            <a:latin typeface="Cambria Math"/>
                          </a:rPr>
                          <m:t>−1</m:t>
                        </m:r>
                      </m:sup>
                    </m:sSup>
                    <m:r>
                      <a:rPr lang="en-US" sz="2200" i="1">
                        <a:latin typeface="Cambria Math"/>
                      </a:rPr>
                      <m:t>, </m:t>
                    </m:r>
                    <m:r>
                      <a:rPr lang="en-US" sz="2200" i="1">
                        <a:latin typeface="Cambria Math"/>
                      </a:rPr>
                      <m:t>𝑥</m:t>
                    </m:r>
                    <m:r>
                      <a:rPr lang="en-US" sz="2200" i="1">
                        <a:latin typeface="Cambria Math"/>
                      </a:rPr>
                      <m:t>=1,2,3……</m:t>
                    </m:r>
                  </m:oMath>
                </a14:m>
                <a:r>
                  <a:rPr lang="en-US" sz="2200" dirty="0"/>
                  <a:t> Hence find mean and variance of the distribution. </a:t>
                </a:r>
              </a:p>
              <a:p>
                <a:pPr marL="457200" lvl="0" indent="-457200">
                  <a:buFont typeface="+mj-lt"/>
                  <a:buAutoNum type="arabicPeriod"/>
                </a:pPr>
                <a:r>
                  <a:rPr lang="en-US" sz="2200" dirty="0"/>
                  <a:t>Find the mean and variance of  Binomial  distribution.</a:t>
                </a:r>
              </a:p>
              <a:p>
                <a:pPr marL="457200" indent="-457200">
                  <a:buFont typeface="+mj-lt"/>
                  <a:buAutoNum type="arabicPeriod"/>
                </a:pPr>
                <a:r>
                  <a:rPr lang="en-US" sz="2200" dirty="0"/>
                  <a:t>Find the mean and variance of  normal  distribution.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107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Weekly Assignments (CO4)</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1743630529"/>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anose="05000000000000000000" pitchFamily="2" charset="2"/>
              <a:buChar char="ü"/>
            </a:pPr>
            <a:r>
              <a:rPr lang="en-US" sz="2200" dirty="0"/>
              <a:t>Mathematical expectation</a:t>
            </a:r>
          </a:p>
          <a:p>
            <a:pPr lvl="0">
              <a:buFont typeface="Wingdings" pitchFamily="2" charset="2"/>
              <a:buChar char="ü"/>
            </a:pPr>
            <a:r>
              <a:rPr lang="en-US" sz="2200" dirty="0"/>
              <a:t>Mean</a:t>
            </a:r>
          </a:p>
          <a:p>
            <a:pPr lvl="0">
              <a:buFont typeface="Wingdings" pitchFamily="2" charset="2"/>
              <a:buChar char="ü"/>
            </a:pPr>
            <a:r>
              <a:rPr lang="en-US" sz="2200" dirty="0"/>
              <a:t>Variance</a:t>
            </a:r>
          </a:p>
          <a:p>
            <a:pPr lvl="0">
              <a:buFont typeface="Wingdings" pitchFamily="2" charset="2"/>
              <a:buChar char="ü"/>
            </a:pPr>
            <a:r>
              <a:rPr lang="en-US" sz="2200" dirty="0"/>
              <a:t>Moment Generating Function</a:t>
            </a: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Recap(CO4)</a:t>
            </a:r>
            <a:endParaRPr kumimoji="0" lang="en-US" sz="2400" b="1" i="0" u="none" strike="noStrike" kern="1200" cap="none" spc="0" normalizeH="0" baseline="0" noProof="0" dirty="0">
              <a:ln>
                <a:noFill/>
              </a:ln>
              <a:solidFill>
                <a:schemeClr val="dk1"/>
              </a:solidFill>
              <a:effectLst/>
              <a:uLnTx/>
              <a:uFillTx/>
            </a:endParaRPr>
          </a:p>
        </p:txBody>
      </p:sp>
      <p:sp>
        <p:nvSpPr>
          <p:cNvPr id="5" name="Slide Number Placeholder 4">
            <a:extLst>
              <a:ext uri="{FF2B5EF4-FFF2-40B4-BE49-F238E27FC236}">
                <a16:creationId xmlns:a16="http://schemas.microsoft.com/office/drawing/2014/main" id="{D5870352-636E-4242-B3AB-5B2C51425B55}"/>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Footer Placeholder 5">
            <a:extLst>
              <a:ext uri="{FF2B5EF4-FFF2-40B4-BE49-F238E27FC236}">
                <a16:creationId xmlns:a16="http://schemas.microsoft.com/office/drawing/2014/main" id="{F10E7A15-47B1-4A0F-A614-13710964D042}"/>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019849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0"/>
            <a:ext cx="8229600" cy="3916363"/>
          </a:xfrm>
        </p:spPr>
        <p:txBody>
          <a:bodyPr>
            <a:noAutofit/>
          </a:bodyPr>
          <a:lstStyle/>
          <a:p>
            <a:pPr marL="457200" indent="-457200" algn="just">
              <a:buNone/>
            </a:pPr>
            <a:r>
              <a:rPr lang="en-US" sz="2200" dirty="0"/>
              <a:t>	</a:t>
            </a:r>
            <a:r>
              <a:rPr lang="en-US" sz="2000" dirty="0"/>
              <a:t>The </a:t>
            </a:r>
            <a:r>
              <a:rPr lang="en-US" sz="2000" b="1" dirty="0"/>
              <a:t>probability distributions</a:t>
            </a:r>
            <a:r>
              <a:rPr lang="en-US" sz="2000" dirty="0"/>
              <a:t> are very much helpful for making predictions. Estimates and predictions form an </a:t>
            </a:r>
            <a:r>
              <a:rPr lang="en-US" sz="2000" b="1" dirty="0"/>
              <a:t>important</a:t>
            </a:r>
            <a:r>
              <a:rPr lang="en-US" sz="2000" dirty="0"/>
              <a:t> part of research investigation. With the help of Probability distributions, we make estimates and predictions for the further analysis. </a:t>
            </a:r>
            <a:r>
              <a:rPr lang="en-US" sz="2000" b="1" dirty="0"/>
              <a:t>	</a:t>
            </a:r>
          </a:p>
          <a:p>
            <a:pPr marL="457200" indent="-457200" algn="just">
              <a:buNone/>
            </a:pPr>
            <a:r>
              <a:rPr lang="en-US" sz="20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1371600" y="1"/>
            <a:ext cx="7772400" cy="8381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noProof="0" dirty="0">
                <a:ln>
                  <a:noFill/>
                </a:ln>
                <a:solidFill>
                  <a:schemeClr val="dk1"/>
                </a:solidFill>
                <a:effectLst/>
                <a:uLnTx/>
                <a:uFillTx/>
              </a:rPr>
              <a:t>Topic Objective</a:t>
            </a:r>
            <a:r>
              <a:rPr lang="en-US" sz="2400" b="1" dirty="0">
                <a:solidFill>
                  <a:schemeClr val="tx1"/>
                </a:solidFill>
              </a:rPr>
              <a:t>(CO4) </a:t>
            </a:r>
            <a:endParaRPr kumimoji="0" lang="en-US" sz="2400" b="1" i="0" u="none" strike="noStrike" kern="1200" cap="none" spc="0" normalizeH="0" baseline="0" noProof="0" dirty="0">
              <a:ln>
                <a:noFill/>
              </a:ln>
              <a:solidFill>
                <a:schemeClr val="dk1"/>
              </a:solidFill>
              <a:effectLst/>
              <a:uLnTx/>
              <a:uFillTx/>
            </a:endParaRPr>
          </a:p>
        </p:txBody>
      </p:sp>
      <p:sp>
        <p:nvSpPr>
          <p:cNvPr id="5" name="Footer Placeholder 4">
            <a:extLst>
              <a:ext uri="{FF2B5EF4-FFF2-40B4-BE49-F238E27FC236}">
                <a16:creationId xmlns:a16="http://schemas.microsoft.com/office/drawing/2014/main" id="{FF4A4404-9CC0-4F03-96BE-897965BDA64D}"/>
              </a:ext>
            </a:extLst>
          </p:cNvPr>
          <p:cNvSpPr>
            <a:spLocks noGrp="1"/>
          </p:cNvSpPr>
          <p:nvPr>
            <p:ph type="ftr" sz="quarter" idx="11"/>
          </p:nvPr>
        </p:nvSpPr>
        <p:spPr/>
        <p:txBody>
          <a:bodyPr/>
          <a:lstStyle/>
          <a:p>
            <a:r>
              <a:rPr lang="en-US"/>
              <a:t>Dr. Lokesh chaudhary    Statistics and Probability     Module 4</a:t>
            </a:r>
            <a:endParaRPr lang="en-US" dirty="0"/>
          </a:p>
        </p:txBody>
      </p:sp>
    </p:spTree>
  </p:cSld>
  <p:clrMapOvr>
    <a:masterClrMapping/>
  </p:clrMapOvr>
  <p:transition spd="med" advTm="2000">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648200"/>
          </a:xfrm>
        </p:spPr>
        <p:txBody>
          <a:bodyPr>
            <a:normAutofit/>
          </a:bodyPr>
          <a:lstStyle/>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					</a:t>
            </a:r>
          </a:p>
          <a:p>
            <a:pPr marL="0" indent="0">
              <a:buNone/>
            </a:pPr>
            <a:endParaRPr lang="en-US" sz="2200" dirty="0"/>
          </a:p>
          <a:p>
            <a:pPr marL="0" indent="0">
              <a:buNone/>
            </a:pPr>
            <a:endParaRPr lang="en-US" sz="2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Probability </a:t>
            </a:r>
            <a:r>
              <a:rPr kumimoji="0" lang="en-US" sz="2400" b="1" i="0" u="none" strike="noStrike" kern="1200" cap="none" spc="0" normalizeH="0" baseline="0" noProof="0" dirty="0">
                <a:ln>
                  <a:noFill/>
                </a:ln>
                <a:solidFill>
                  <a:schemeClr val="dk1"/>
                </a:solidFill>
                <a:effectLst/>
                <a:uLnTx/>
                <a:uFillTx/>
              </a:rPr>
              <a:t> distributions</a:t>
            </a:r>
            <a:r>
              <a:rPr lang="en-US" sz="2400" b="1" dirty="0"/>
              <a:t>(CO4)</a:t>
            </a:r>
            <a:endParaRPr kumimoji="0" lang="en-US" sz="2400" b="1" i="0" u="none" strike="noStrike" kern="1200" cap="none" spc="0" normalizeH="0" baseline="0" noProof="0" dirty="0">
              <a:ln>
                <a:noFill/>
              </a:ln>
              <a:solidFill>
                <a:schemeClr val="dk1"/>
              </a:solidFill>
              <a:effectLst/>
              <a:uLnTx/>
              <a:uFillTx/>
            </a:endParaRPr>
          </a:p>
        </p:txBody>
      </p:sp>
      <p:sp>
        <p:nvSpPr>
          <p:cNvPr id="2" name="Oval 1"/>
          <p:cNvSpPr/>
          <p:nvPr/>
        </p:nvSpPr>
        <p:spPr>
          <a:xfrm>
            <a:off x="2743200" y="1066800"/>
            <a:ext cx="3733800" cy="1447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Theoretical  probability distribution</a:t>
            </a:r>
          </a:p>
        </p:txBody>
      </p:sp>
      <p:cxnSp>
        <p:nvCxnSpPr>
          <p:cNvPr id="10" name="Straight Arrow Connector 9"/>
          <p:cNvCxnSpPr/>
          <p:nvPr/>
        </p:nvCxnSpPr>
        <p:spPr>
          <a:xfrm flipH="1">
            <a:off x="2895600" y="2514600"/>
            <a:ext cx="1219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308948" y="2514600"/>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914400" y="3009900"/>
            <a:ext cx="2743200"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Discrete probability distributions</a:t>
            </a:r>
          </a:p>
        </p:txBody>
      </p:sp>
      <p:sp>
        <p:nvSpPr>
          <p:cNvPr id="14" name="Oval 13"/>
          <p:cNvSpPr/>
          <p:nvPr/>
        </p:nvSpPr>
        <p:spPr>
          <a:xfrm>
            <a:off x="5791200" y="3009900"/>
            <a:ext cx="2514600"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Continuous probability distributions</a:t>
            </a:r>
          </a:p>
        </p:txBody>
      </p:sp>
      <p:sp>
        <p:nvSpPr>
          <p:cNvPr id="15" name="Rectangle 14"/>
          <p:cNvSpPr/>
          <p:nvPr/>
        </p:nvSpPr>
        <p:spPr>
          <a:xfrm>
            <a:off x="990600" y="4457700"/>
            <a:ext cx="30480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itchFamily="34" charset="0"/>
              <a:buChar char="•"/>
            </a:pPr>
            <a:r>
              <a:rPr lang="en-US" sz="2200" dirty="0"/>
              <a:t>Binomial Distribution</a:t>
            </a:r>
          </a:p>
          <a:p>
            <a:pPr marL="285750" indent="-285750" algn="ctr">
              <a:buFont typeface="Arial" pitchFamily="34" charset="0"/>
              <a:buChar char="•"/>
            </a:pPr>
            <a:r>
              <a:rPr lang="en-US" sz="2200" dirty="0"/>
              <a:t>Poisson Distribution</a:t>
            </a:r>
          </a:p>
        </p:txBody>
      </p:sp>
      <p:sp>
        <p:nvSpPr>
          <p:cNvPr id="16" name="Rectangle 15"/>
          <p:cNvSpPr/>
          <p:nvPr/>
        </p:nvSpPr>
        <p:spPr>
          <a:xfrm>
            <a:off x="5486400" y="4572000"/>
            <a:ext cx="29718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itchFamily="34" charset="0"/>
              <a:buChar char="•"/>
            </a:pPr>
            <a:r>
              <a:rPr lang="en-US" sz="2000" dirty="0"/>
              <a:t>Normal Distribution </a:t>
            </a:r>
          </a:p>
          <a:p>
            <a:pPr marL="285750" indent="-285750" algn="ctr">
              <a:buFont typeface="Arial" pitchFamily="34" charset="0"/>
              <a:buChar char="•"/>
            </a:pPr>
            <a:r>
              <a:rPr lang="en-US" sz="2000" dirty="0"/>
              <a:t>t- Distribution</a:t>
            </a:r>
          </a:p>
          <a:p>
            <a:pPr marL="285750" indent="-285750" algn="ctr">
              <a:buFont typeface="Arial" pitchFamily="34" charset="0"/>
              <a:buChar char="•"/>
            </a:pPr>
            <a:r>
              <a:rPr lang="en-US" sz="2000" dirty="0"/>
              <a:t>F-Distribution</a:t>
            </a:r>
          </a:p>
        </p:txBody>
      </p:sp>
      <p:cxnSp>
        <p:nvCxnSpPr>
          <p:cNvPr id="21" name="Straight Arrow Connector 20"/>
          <p:cNvCxnSpPr/>
          <p:nvPr/>
        </p:nvCxnSpPr>
        <p:spPr>
          <a:xfrm>
            <a:off x="7061548" y="4015375"/>
            <a:ext cx="0" cy="571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286000" y="4015375"/>
            <a:ext cx="0" cy="442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5EC2AD85-717F-4BBF-AB3B-A59FBCEB3169}"/>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724258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heel(1)">
                                      <p:cBhvr>
                                        <p:cTn id="17" dur="2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25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1000" fill="hold"/>
                                        <p:tgtEl>
                                          <p:spTgt spid="16"/>
                                        </p:tgtEl>
                                        <p:attrNameLst>
                                          <p:attrName>ppt_x</p:attrName>
                                        </p:attrNameLst>
                                      </p:cBhvr>
                                      <p:tavLst>
                                        <p:tav tm="0">
                                          <p:val>
                                            <p:strVal val="#ppt_x"/>
                                          </p:val>
                                        </p:tav>
                                        <p:tav tm="100000">
                                          <p:val>
                                            <p:strVal val="#ppt_x"/>
                                          </p:val>
                                        </p:tav>
                                      </p:tavLst>
                                    </p:anim>
                                    <p:anim calcmode="lin" valueType="num">
                                      <p:cBhvr additive="base">
                                        <p:cTn id="29"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4" grpId="0" animBg="1"/>
      <p:bldP spid="15"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lgn="just">
                  <a:buNone/>
                </a:pPr>
                <a:r>
                  <a:rPr lang="en-US" sz="2200" b="1" dirty="0"/>
                  <a:t>Binomial Probability Distribution:</a:t>
                </a:r>
                <a:r>
                  <a:rPr lang="en-US" sz="2200" dirty="0"/>
                  <a:t> Probability distribution defined as follows is known as binomial Probability distribution.</a:t>
                </a:r>
                <a:endParaRPr lang="en-US" sz="2200" i="1" dirty="0">
                  <a:latin typeface="Cambria Math"/>
                </a:endParaRPr>
              </a:p>
              <a:p>
                <a:pPr marL="0" indent="0" algn="just">
                  <a:buNone/>
                </a:pPr>
                <a:endParaRPr lang="en-US" sz="2200" dirty="0"/>
              </a:p>
              <a:p>
                <a:pPr marL="0" indent="0" algn="just">
                  <a:buNone/>
                </a:pPr>
                <a:endParaRPr lang="en-US" sz="2200" dirty="0"/>
              </a:p>
              <a:p>
                <a:pPr marL="0" indent="0" algn="just">
                  <a:buNone/>
                </a:pPr>
                <a:r>
                  <a:rPr lang="en-US" sz="2200" dirty="0"/>
                  <a:t>Where n is  no of trial which are finite ,r be the success in n trials and </a:t>
                </a:r>
              </a:p>
              <a:p>
                <a:pPr marL="0" indent="0" algn="just">
                  <a:buNone/>
                </a:pPr>
                <a14:m>
                  <m:oMath xmlns:m="http://schemas.openxmlformats.org/officeDocument/2006/math">
                    <m:r>
                      <a:rPr lang="en-US" sz="2200" b="0" i="1" smtClean="0">
                        <a:latin typeface="Cambria Math"/>
                      </a:rPr>
                      <m:t>𝑝</m:t>
                    </m:r>
                    <m:r>
                      <a:rPr lang="en-US" sz="2200" b="0" i="1" smtClean="0">
                        <a:latin typeface="Cambria Math"/>
                      </a:rPr>
                      <m:t>+</m:t>
                    </m:r>
                    <m:r>
                      <a:rPr lang="en-US" sz="2200" b="0" i="1" smtClean="0">
                        <a:latin typeface="Cambria Math"/>
                      </a:rPr>
                      <m:t>𝑞</m:t>
                    </m:r>
                    <m:r>
                      <a:rPr lang="en-US" sz="2200" b="0" i="1" smtClean="0">
                        <a:latin typeface="Cambria Math"/>
                      </a:rPr>
                      <m:t>=1</m:t>
                    </m:r>
                  </m:oMath>
                </a14:m>
                <a:r>
                  <a:rPr lang="en-US" sz="2200" dirty="0"/>
                  <a:t>, p is probability of success and q is probability of failure.</a:t>
                </a:r>
              </a:p>
              <a:p>
                <a:pPr marL="0" indent="0" algn="just">
                  <a:buNone/>
                </a:pPr>
                <a:r>
                  <a:rPr lang="en-US" sz="2200" dirty="0"/>
                  <a:t>Assumptions For Binomial distribution:</a:t>
                </a:r>
              </a:p>
              <a:p>
                <a:pPr algn="just"/>
                <a:r>
                  <a:rPr lang="en-US" sz="2200" dirty="0"/>
                  <a:t>n, the number of trials is finite</a:t>
                </a:r>
              </a:p>
              <a:p>
                <a:pPr algn="just"/>
                <a:r>
                  <a:rPr lang="en-US" sz="2200" dirty="0"/>
                  <a:t>Each trial has only two possible outcomes usually called success and failure.</a:t>
                </a:r>
              </a:p>
              <a:p>
                <a:pPr algn="just"/>
                <a:r>
                  <a:rPr lang="en-US" sz="2200" dirty="0"/>
                  <a:t>All trials are independent.</a:t>
                </a:r>
              </a:p>
              <a:p>
                <a:pPr algn="just"/>
                <a:r>
                  <a:rPr lang="en-US" sz="2200" dirty="0"/>
                  <a:t>p and q is constant for all trials.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889" b="-700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Binomial </a:t>
            </a:r>
            <a:r>
              <a:rPr lang="en-US" sz="2400" b="1" dirty="0"/>
              <a:t>Distribution(CO4)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2" name="Rectangle 1"/>
              <p:cNvSpPr/>
              <p:nvPr/>
            </p:nvSpPr>
            <p:spPr>
              <a:xfrm>
                <a:off x="1905000" y="1981200"/>
                <a:ext cx="5943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i="1" smtClean="0">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m:t>
                        </m:r>
                        <m:r>
                          <a:rPr lang="en-US" i="1">
                            <a:latin typeface="Cambria Math"/>
                          </a:rPr>
                          <m:t>𝑟</m:t>
                        </m:r>
                      </m:e>
                    </m:d>
                    <m:r>
                      <a:rPr lang="en-US" i="1">
                        <a:latin typeface="Cambria Math"/>
                      </a:rPr>
                      <m:t>=</m:t>
                    </m:r>
                    <m:sSub>
                      <m:sSubPr>
                        <m:ctrlPr>
                          <a:rPr lang="en-US" i="1">
                            <a:latin typeface="Cambria Math" panose="02040503050406030204" pitchFamily="18" charset="0"/>
                          </a:rPr>
                        </m:ctrlPr>
                      </m:sSubPr>
                      <m:e>
                        <m:sPre>
                          <m:sPrePr>
                            <m:ctrlPr>
                              <a:rPr lang="en-US" i="1">
                                <a:latin typeface="Cambria Math" panose="02040503050406030204" pitchFamily="18" charset="0"/>
                              </a:rPr>
                            </m:ctrlPr>
                          </m:sPrePr>
                          <m:sub>
                            <m:r>
                              <a:rPr lang="en-IN" b="0" i="1" smtClean="0">
                                <a:latin typeface="Cambria Math" panose="02040503050406030204" pitchFamily="18" charset="0"/>
                              </a:rPr>
                              <m:t> </m:t>
                            </m:r>
                          </m:sub>
                          <m:sup>
                            <m:r>
                              <a:rPr lang="en-US" i="1">
                                <a:latin typeface="Cambria Math"/>
                              </a:rPr>
                              <m:t>𝑛</m:t>
                            </m:r>
                          </m:sup>
                          <m:e>
                            <m:r>
                              <a:rPr lang="en-US" i="1">
                                <a:latin typeface="Cambria Math"/>
                              </a:rPr>
                              <m:t>𝐶</m:t>
                            </m:r>
                          </m:e>
                        </m:sPre>
                      </m:e>
                      <m:sub>
                        <m:r>
                          <a:rPr lang="en-US" i="1">
                            <a:latin typeface="Cambria Math"/>
                          </a:rPr>
                          <m:t>𝑟</m:t>
                        </m:r>
                      </m:sub>
                    </m:sSub>
                    <m:sSup>
                      <m:sSupPr>
                        <m:ctrlPr>
                          <a:rPr lang="en-US" i="1">
                            <a:latin typeface="Cambria Math" panose="02040503050406030204" pitchFamily="18" charset="0"/>
                          </a:rPr>
                        </m:ctrlPr>
                      </m:sSupPr>
                      <m:e>
                        <m:r>
                          <a:rPr lang="en-US" i="1">
                            <a:latin typeface="Cambria Math"/>
                          </a:rPr>
                          <m:t>𝑝</m:t>
                        </m:r>
                      </m:e>
                      <m:sup>
                        <m:r>
                          <a:rPr lang="en-US" i="1">
                            <a:latin typeface="Cambria Math"/>
                          </a:rPr>
                          <m:t>𝑟</m:t>
                        </m:r>
                      </m:sup>
                    </m:sSup>
                    <m:sSup>
                      <m:sSupPr>
                        <m:ctrlPr>
                          <a:rPr lang="en-US" i="1">
                            <a:latin typeface="Cambria Math" panose="02040503050406030204" pitchFamily="18" charset="0"/>
                          </a:rPr>
                        </m:ctrlPr>
                      </m:sSupPr>
                      <m:e>
                        <m:r>
                          <a:rPr lang="en-US" i="1">
                            <a:latin typeface="Cambria Math"/>
                          </a:rPr>
                          <m:t>𝑞</m:t>
                        </m:r>
                      </m:e>
                      <m:sup>
                        <m:r>
                          <a:rPr lang="en-US" i="1">
                            <a:latin typeface="Cambria Math"/>
                          </a:rPr>
                          <m:t>𝑛</m:t>
                        </m:r>
                        <m:r>
                          <a:rPr lang="en-US" i="1">
                            <a:latin typeface="Cambria Math"/>
                          </a:rPr>
                          <m:t>−</m:t>
                        </m:r>
                        <m:r>
                          <a:rPr lang="en-US" i="1">
                            <a:latin typeface="Cambria Math"/>
                          </a:rPr>
                          <m:t>𝑟</m:t>
                        </m:r>
                      </m:sup>
                    </m:sSup>
                  </m:oMath>
                </a14:m>
                <a:r>
                  <a:rPr lang="en-US" dirty="0"/>
                  <a:t>,</a:t>
                </a:r>
                <a14:m>
                  <m:oMath xmlns:m="http://schemas.openxmlformats.org/officeDocument/2006/math">
                    <m:r>
                      <a:rPr lang="en-US" i="1" dirty="0">
                        <a:latin typeface="Cambria Math"/>
                      </a:rPr>
                      <m:t>𝑟</m:t>
                    </m:r>
                    <m:r>
                      <a:rPr lang="en-US" i="1" dirty="0">
                        <a:latin typeface="Cambria Math"/>
                      </a:rPr>
                      <m:t>=1,2…</m:t>
                    </m:r>
                    <m:r>
                      <a:rPr lang="en-US" i="1" dirty="0">
                        <a:latin typeface="Cambria Math"/>
                      </a:rPr>
                      <m:t>𝑛</m:t>
                    </m:r>
                  </m:oMath>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1905000" y="1981200"/>
                <a:ext cx="5943600" cy="609600"/>
              </a:xfrm>
              <a:prstGeom prst="rect">
                <a:avLst/>
              </a:prstGeom>
              <a:blipFill>
                <a:blip r:embed="rId3"/>
                <a:stretch>
                  <a:fillRect/>
                </a:stretch>
              </a:blipFill>
            </p:spPr>
            <p:txBody>
              <a:bodyPr/>
              <a:lstStyle/>
              <a:p>
                <a:r>
                  <a:rPr lang="en-US">
                    <a:noFill/>
                  </a:rPr>
                  <a:t> </a:t>
                </a:r>
              </a:p>
            </p:txBody>
          </p:sp>
        </mc:Fallback>
      </mc:AlternateContent>
      <p:sp>
        <p:nvSpPr>
          <p:cNvPr id="8" name="Footer Placeholder 7">
            <a:extLst>
              <a:ext uri="{FF2B5EF4-FFF2-40B4-BE49-F238E27FC236}">
                <a16:creationId xmlns:a16="http://schemas.microsoft.com/office/drawing/2014/main" id="{030464C2-96F9-4004-9831-37D23D742EC4}"/>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0749909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Recurrence or recursion formula:</a:t>
                </a:r>
              </a:p>
              <a:p>
                <a:pPr marL="0" indent="0">
                  <a:buNone/>
                </a:pP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𝑟</m:t>
                        </m:r>
                      </m:e>
                    </m:d>
                    <m:r>
                      <a:rPr lang="en-US" sz="2200" i="1">
                        <a:latin typeface="Cambria Math"/>
                      </a:rPr>
                      <m:t>=</m:t>
                    </m:r>
                    <m:sSub>
                      <m:sSubPr>
                        <m:ctrlPr>
                          <a:rPr lang="en-US" sz="2200" i="1">
                            <a:latin typeface="Cambria Math" panose="02040503050406030204" pitchFamily="18" charset="0"/>
                          </a:rPr>
                        </m:ctrlPr>
                      </m:sSubPr>
                      <m:e>
                        <m:sPre>
                          <m:sPrePr>
                            <m:ctrlPr>
                              <a:rPr lang="en-US" sz="2200" i="1">
                                <a:latin typeface="Cambria Math" panose="02040503050406030204" pitchFamily="18" charset="0"/>
                              </a:rPr>
                            </m:ctrlPr>
                          </m:sPrePr>
                          <m:sub>
                            <m:r>
                              <a:rPr lang="en-IN" sz="2200" b="0" i="1" smtClean="0">
                                <a:latin typeface="Cambria Math" panose="02040503050406030204" pitchFamily="18" charset="0"/>
                              </a:rPr>
                              <m:t> </m:t>
                            </m:r>
                          </m:sub>
                          <m:sup>
                            <m:r>
                              <a:rPr lang="en-US" sz="2200" i="1">
                                <a:latin typeface="Cambria Math"/>
                              </a:rPr>
                              <m:t>𝑛</m:t>
                            </m:r>
                          </m:sup>
                          <m:e>
                            <m:r>
                              <a:rPr lang="en-US" sz="2200" i="1">
                                <a:latin typeface="Cambria Math"/>
                              </a:rPr>
                              <m:t>𝐶</m:t>
                            </m:r>
                          </m:e>
                        </m:sPre>
                      </m:e>
                      <m:sub>
                        <m:r>
                          <a:rPr lang="en-US" sz="2200" i="1">
                            <a:latin typeface="Cambria Math"/>
                          </a:rPr>
                          <m:t>𝑟</m:t>
                        </m:r>
                      </m:sub>
                    </m:sSub>
                    <m:sSup>
                      <m:sSupPr>
                        <m:ctrlPr>
                          <a:rPr lang="en-US" sz="2200" i="1">
                            <a:latin typeface="Cambria Math" panose="02040503050406030204" pitchFamily="18" charset="0"/>
                          </a:rPr>
                        </m:ctrlPr>
                      </m:sSupPr>
                      <m:e>
                        <m:r>
                          <a:rPr lang="en-US" sz="2200" i="1">
                            <a:latin typeface="Cambria Math"/>
                          </a:rPr>
                          <m:t>𝑝</m:t>
                        </m:r>
                      </m:e>
                      <m:sup>
                        <m:r>
                          <a:rPr lang="en-US" sz="2200" i="1">
                            <a:latin typeface="Cambria Math"/>
                          </a:rPr>
                          <m:t>𝑟</m:t>
                        </m:r>
                      </m:sup>
                    </m:sSup>
                    <m:sSup>
                      <m:sSupPr>
                        <m:ctrlPr>
                          <a:rPr lang="en-US" sz="2200" i="1">
                            <a:latin typeface="Cambria Math" panose="02040503050406030204" pitchFamily="18" charset="0"/>
                          </a:rPr>
                        </m:ctrlPr>
                      </m:sSupPr>
                      <m:e>
                        <m:r>
                          <a:rPr lang="en-US" sz="2200" i="1">
                            <a:latin typeface="Cambria Math"/>
                          </a:rPr>
                          <m:t>𝑞</m:t>
                        </m:r>
                      </m:e>
                      <m:sup>
                        <m:r>
                          <a:rPr lang="en-US" sz="2200" i="1">
                            <a:latin typeface="Cambria Math"/>
                          </a:rPr>
                          <m:t>𝑛</m:t>
                        </m:r>
                        <m:r>
                          <a:rPr lang="en-US" sz="2200" i="1">
                            <a:latin typeface="Cambria Math"/>
                          </a:rPr>
                          <m:t>−</m:t>
                        </m:r>
                        <m:r>
                          <a:rPr lang="en-US" sz="2200" i="1">
                            <a:latin typeface="Cambria Math"/>
                          </a:rPr>
                          <m:t>𝑟</m:t>
                        </m:r>
                      </m:sup>
                    </m:sSup>
                    <m:r>
                      <a:rPr lang="en-US" sz="2200" i="1" smtClean="0">
                        <a:latin typeface="Cambria Math"/>
                        <a:ea typeface="Cambria Math"/>
                      </a:rPr>
                      <m:t>=</m:t>
                    </m:r>
                    <m:f>
                      <m:fPr>
                        <m:ctrlPr>
                          <a:rPr lang="en-US" sz="2200" i="1" smtClean="0">
                            <a:latin typeface="Cambria Math" panose="02040503050406030204" pitchFamily="18" charset="0"/>
                            <a:ea typeface="Cambria Math"/>
                          </a:rPr>
                        </m:ctrlPr>
                      </m:fPr>
                      <m:num>
                        <m:r>
                          <a:rPr lang="en-US" sz="2200" b="0" i="1" smtClean="0">
                            <a:latin typeface="Cambria Math"/>
                            <a:ea typeface="Cambria Math"/>
                          </a:rPr>
                          <m:t>𝑛</m:t>
                        </m:r>
                        <m:r>
                          <a:rPr lang="en-US" sz="2200" b="0" i="1" smtClean="0">
                            <a:latin typeface="Cambria Math"/>
                            <a:ea typeface="Cambria Math"/>
                          </a:rPr>
                          <m:t>!</m:t>
                        </m:r>
                      </m:num>
                      <m:den>
                        <m:r>
                          <a:rPr lang="en-US" sz="2200" b="0" i="1" smtClean="0">
                            <a:latin typeface="Cambria Math"/>
                            <a:ea typeface="Cambria Math"/>
                          </a:rPr>
                          <m:t>𝑟</m:t>
                        </m:r>
                        <m:r>
                          <a:rPr lang="en-US" sz="2200" b="0" i="1" smtClean="0">
                            <a:latin typeface="Cambria Math"/>
                            <a:ea typeface="Cambria Math"/>
                          </a:rPr>
                          <m:t>!(</m:t>
                        </m:r>
                        <m:r>
                          <a:rPr lang="en-US" sz="2200" b="0" i="1" smtClean="0">
                            <a:latin typeface="Cambria Math"/>
                            <a:ea typeface="Cambria Math"/>
                          </a:rPr>
                          <m:t>𝑛</m:t>
                        </m:r>
                        <m:r>
                          <a:rPr lang="en-US" sz="2200" b="0" i="1" smtClean="0">
                            <a:latin typeface="Cambria Math"/>
                            <a:ea typeface="Cambria Math"/>
                          </a:rPr>
                          <m:t>−</m:t>
                        </m:r>
                        <m:r>
                          <a:rPr lang="en-US" sz="2200" b="0" i="1" smtClean="0">
                            <a:latin typeface="Cambria Math"/>
                            <a:ea typeface="Cambria Math"/>
                          </a:rPr>
                          <m:t>𝑟</m:t>
                        </m:r>
                        <m:r>
                          <a:rPr lang="en-US" sz="2200" b="0" i="1" smtClean="0">
                            <a:latin typeface="Cambria Math"/>
                            <a:ea typeface="Cambria Math"/>
                          </a:rPr>
                          <m:t>)!</m:t>
                        </m:r>
                      </m:den>
                    </m:f>
                    <m:sSup>
                      <m:sSupPr>
                        <m:ctrlPr>
                          <a:rPr lang="en-US" sz="2200" i="1" smtClean="0">
                            <a:latin typeface="Cambria Math" panose="02040503050406030204" pitchFamily="18" charset="0"/>
                            <a:ea typeface="Cambria Math"/>
                          </a:rPr>
                        </m:ctrlPr>
                      </m:sSupPr>
                      <m:e>
                        <m:r>
                          <a:rPr lang="en-US" sz="2200" b="0" i="1" smtClean="0">
                            <a:latin typeface="Cambria Math"/>
                            <a:ea typeface="Cambria Math"/>
                          </a:rPr>
                          <m:t>𝑝</m:t>
                        </m:r>
                      </m:e>
                      <m:sup>
                        <m:r>
                          <a:rPr lang="en-US" sz="2200" b="0" i="1" smtClean="0">
                            <a:latin typeface="Cambria Math"/>
                            <a:ea typeface="Cambria Math"/>
                          </a:rPr>
                          <m:t>𝑟</m:t>
                        </m:r>
                      </m:sup>
                    </m:sSup>
                    <m:sSup>
                      <m:sSupPr>
                        <m:ctrlPr>
                          <a:rPr lang="en-US" sz="2200" i="1" smtClean="0">
                            <a:latin typeface="Cambria Math" panose="02040503050406030204" pitchFamily="18" charset="0"/>
                            <a:ea typeface="Cambria Math"/>
                          </a:rPr>
                        </m:ctrlPr>
                      </m:sSupPr>
                      <m:e>
                        <m:r>
                          <a:rPr lang="en-US" sz="2200" b="0" i="1" smtClean="0">
                            <a:latin typeface="Cambria Math"/>
                            <a:ea typeface="Cambria Math"/>
                          </a:rPr>
                          <m:t>𝑞</m:t>
                        </m:r>
                      </m:e>
                      <m:sup>
                        <m:r>
                          <a:rPr lang="en-US" sz="2200" b="0" i="1" smtClean="0">
                            <a:latin typeface="Cambria Math"/>
                            <a:ea typeface="Cambria Math"/>
                          </a:rPr>
                          <m:t>𝑛</m:t>
                        </m:r>
                        <m:r>
                          <a:rPr lang="en-US" sz="2200" b="0" i="1" smtClean="0">
                            <a:latin typeface="Cambria Math"/>
                            <a:ea typeface="Cambria Math"/>
                          </a:rPr>
                          <m:t>−</m:t>
                        </m:r>
                        <m:r>
                          <a:rPr lang="en-US" sz="2200" b="0" i="1" smtClean="0">
                            <a:latin typeface="Cambria Math"/>
                            <a:ea typeface="Cambria Math"/>
                          </a:rPr>
                          <m:t>𝑟</m:t>
                        </m:r>
                      </m:sup>
                    </m:sSup>
                  </m:oMath>
                </a14:m>
                <a:r>
                  <a:rPr lang="en-US" sz="2200" dirty="0"/>
                  <a:t>….(1)</a:t>
                </a:r>
              </a:p>
              <a:p>
                <a:pPr marL="0" indent="0">
                  <a:buNone/>
                </a:pPr>
                <a:r>
                  <a:rPr lang="en-US" sz="2200" dirty="0"/>
                  <a:t>Equation (1) denote binomial distribution.</a:t>
                </a:r>
              </a:p>
              <a:p>
                <a:pPr marL="0" indent="0">
                  <a:buNone/>
                </a:pP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𝑟</m:t>
                        </m:r>
                        <m:r>
                          <a:rPr lang="en-US" sz="2200" b="0" i="1" smtClean="0">
                            <a:latin typeface="Cambria Math"/>
                          </a:rPr>
                          <m:t>+1</m:t>
                        </m:r>
                      </m:e>
                    </m:d>
                    <m:r>
                      <a:rPr lang="en-US" sz="2200" i="1">
                        <a:latin typeface="Cambria Math"/>
                      </a:rPr>
                      <m:t>=</m:t>
                    </m:r>
                    <m:sSub>
                      <m:sSubPr>
                        <m:ctrlPr>
                          <a:rPr lang="en-US" sz="2200" i="1">
                            <a:latin typeface="Cambria Math" panose="02040503050406030204" pitchFamily="18" charset="0"/>
                          </a:rPr>
                        </m:ctrlPr>
                      </m:sSubPr>
                      <m:e>
                        <m:sPre>
                          <m:sPrePr>
                            <m:ctrlPr>
                              <a:rPr lang="en-US" sz="2200" i="1">
                                <a:latin typeface="Cambria Math" panose="02040503050406030204" pitchFamily="18" charset="0"/>
                              </a:rPr>
                            </m:ctrlPr>
                          </m:sPrePr>
                          <m:sub>
                            <m:r>
                              <a:rPr lang="en-IN" sz="2200" b="0" i="1" smtClean="0">
                                <a:latin typeface="Cambria Math" panose="02040503050406030204" pitchFamily="18" charset="0"/>
                              </a:rPr>
                              <m:t> </m:t>
                            </m:r>
                          </m:sub>
                          <m:sup>
                            <m:r>
                              <a:rPr lang="en-US" sz="2200" i="1">
                                <a:latin typeface="Cambria Math"/>
                              </a:rPr>
                              <m:t>𝑛</m:t>
                            </m:r>
                          </m:sup>
                          <m:e>
                            <m:r>
                              <a:rPr lang="en-US" sz="2200" i="1">
                                <a:latin typeface="Cambria Math"/>
                              </a:rPr>
                              <m:t>𝐶</m:t>
                            </m:r>
                          </m:e>
                        </m:sPre>
                      </m:e>
                      <m:sub>
                        <m:r>
                          <a:rPr lang="en-US" sz="2200" i="1">
                            <a:latin typeface="Cambria Math"/>
                          </a:rPr>
                          <m:t>𝑟</m:t>
                        </m:r>
                        <m:r>
                          <a:rPr lang="en-US" sz="2200" b="0" i="1" smtClean="0">
                            <a:latin typeface="Cambria Math"/>
                          </a:rPr>
                          <m:t>+1</m:t>
                        </m:r>
                      </m:sub>
                    </m:sSub>
                    <m:sSup>
                      <m:sSupPr>
                        <m:ctrlPr>
                          <a:rPr lang="en-US" sz="2200" i="1">
                            <a:latin typeface="Cambria Math" panose="02040503050406030204" pitchFamily="18" charset="0"/>
                          </a:rPr>
                        </m:ctrlPr>
                      </m:sSupPr>
                      <m:e>
                        <m:r>
                          <a:rPr lang="en-US" sz="2200" i="1">
                            <a:latin typeface="Cambria Math"/>
                          </a:rPr>
                          <m:t>𝑝</m:t>
                        </m:r>
                      </m:e>
                      <m:sup>
                        <m:r>
                          <a:rPr lang="en-US" sz="2200" i="1">
                            <a:latin typeface="Cambria Math"/>
                          </a:rPr>
                          <m:t>𝑟</m:t>
                        </m:r>
                        <m:r>
                          <a:rPr lang="en-US" sz="2200" b="0" i="1" smtClean="0">
                            <a:latin typeface="Cambria Math"/>
                          </a:rPr>
                          <m:t>+1</m:t>
                        </m:r>
                      </m:sup>
                    </m:sSup>
                    <m:sSup>
                      <m:sSupPr>
                        <m:ctrlPr>
                          <a:rPr lang="en-US" sz="2200" i="1">
                            <a:latin typeface="Cambria Math" panose="02040503050406030204" pitchFamily="18" charset="0"/>
                          </a:rPr>
                        </m:ctrlPr>
                      </m:sSupPr>
                      <m:e>
                        <m:r>
                          <a:rPr lang="en-US" sz="2200" i="1">
                            <a:latin typeface="Cambria Math"/>
                          </a:rPr>
                          <m:t>𝑞</m:t>
                        </m:r>
                      </m:e>
                      <m:sup>
                        <m:r>
                          <a:rPr lang="en-US" sz="2200" i="1">
                            <a:latin typeface="Cambria Math"/>
                          </a:rPr>
                          <m:t>𝑛</m:t>
                        </m:r>
                        <m:r>
                          <a:rPr lang="en-US" sz="2200" i="1">
                            <a:latin typeface="Cambria Math"/>
                          </a:rPr>
                          <m:t>−</m:t>
                        </m:r>
                        <m:r>
                          <a:rPr lang="en-US" sz="2200" i="1">
                            <a:latin typeface="Cambria Math"/>
                          </a:rPr>
                          <m:t>𝑟</m:t>
                        </m:r>
                        <m:r>
                          <a:rPr lang="en-US" sz="2200" b="0" i="1" smtClean="0">
                            <a:latin typeface="Cambria Math"/>
                          </a:rPr>
                          <m:t>−1</m:t>
                        </m:r>
                      </m:sup>
                    </m:sSup>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𝑛</m:t>
                        </m:r>
                        <m:r>
                          <a:rPr lang="en-US" sz="2200" i="1">
                            <a:latin typeface="Cambria Math"/>
                            <a:ea typeface="Cambria Math"/>
                          </a:rPr>
                          <m:t>!</m:t>
                        </m:r>
                      </m:num>
                      <m:den>
                        <m:r>
                          <a:rPr lang="en-US" sz="2200" b="0" i="1" smtClean="0">
                            <a:latin typeface="Cambria Math"/>
                            <a:ea typeface="Cambria Math"/>
                          </a:rPr>
                          <m:t>(</m:t>
                        </m:r>
                        <m:r>
                          <a:rPr lang="en-US" sz="2200" i="1">
                            <a:latin typeface="Cambria Math"/>
                            <a:ea typeface="Cambria Math"/>
                          </a:rPr>
                          <m:t>𝑟</m:t>
                        </m:r>
                        <m:r>
                          <a:rPr lang="en-US" sz="2200" b="0" i="1" smtClean="0">
                            <a:latin typeface="Cambria Math"/>
                            <a:ea typeface="Cambria Math"/>
                          </a:rPr>
                          <m:t>+1)</m:t>
                        </m:r>
                        <m:r>
                          <a:rPr lang="en-US" sz="2200" i="1">
                            <a:latin typeface="Cambria Math"/>
                            <a:ea typeface="Cambria Math"/>
                          </a:rPr>
                          <m:t>!(</m:t>
                        </m:r>
                        <m:r>
                          <a:rPr lang="en-US" sz="2200" i="1">
                            <a:latin typeface="Cambria Math"/>
                            <a:ea typeface="Cambria Math"/>
                          </a:rPr>
                          <m:t>𝑛</m:t>
                        </m:r>
                        <m:r>
                          <a:rPr lang="en-US" sz="2200" i="1">
                            <a:latin typeface="Cambria Math"/>
                            <a:ea typeface="Cambria Math"/>
                          </a:rPr>
                          <m:t>−</m:t>
                        </m:r>
                        <m:r>
                          <a:rPr lang="en-US" sz="2200" i="1">
                            <a:latin typeface="Cambria Math"/>
                            <a:ea typeface="Cambria Math"/>
                          </a:rPr>
                          <m:t>𝑟</m:t>
                        </m:r>
                        <m:r>
                          <a:rPr lang="en-US" sz="2200" b="0" i="1" smtClean="0">
                            <a:latin typeface="Cambria Math"/>
                            <a:ea typeface="Cambria Math"/>
                          </a:rPr>
                          <m:t>−1</m:t>
                        </m:r>
                        <m:r>
                          <a:rPr lang="en-US" sz="2200" i="1">
                            <a:latin typeface="Cambria Math"/>
                            <a:ea typeface="Cambria Math"/>
                          </a:rPr>
                          <m:t>)!</m:t>
                        </m:r>
                      </m:den>
                    </m:f>
                    <m:sSup>
                      <m:sSupPr>
                        <m:ctrlPr>
                          <a:rPr lang="en-US" sz="2200" i="1">
                            <a:latin typeface="Cambria Math" panose="02040503050406030204" pitchFamily="18" charset="0"/>
                            <a:ea typeface="Cambria Math"/>
                          </a:rPr>
                        </m:ctrlPr>
                      </m:sSupPr>
                      <m:e>
                        <m:r>
                          <a:rPr lang="en-US" sz="2200" i="1">
                            <a:latin typeface="Cambria Math"/>
                            <a:ea typeface="Cambria Math"/>
                          </a:rPr>
                          <m:t>𝑝</m:t>
                        </m:r>
                      </m:e>
                      <m:sup>
                        <m:r>
                          <a:rPr lang="en-US" sz="2200" i="1">
                            <a:latin typeface="Cambria Math"/>
                            <a:ea typeface="Cambria Math"/>
                          </a:rPr>
                          <m:t>𝑟</m:t>
                        </m:r>
                        <m:r>
                          <a:rPr lang="en-US" sz="2200" b="0" i="1" smtClean="0">
                            <a:latin typeface="Cambria Math"/>
                            <a:ea typeface="Cambria Math"/>
                          </a:rPr>
                          <m:t>+1</m:t>
                        </m:r>
                      </m:sup>
                    </m:sSup>
                    <m:sSup>
                      <m:sSupPr>
                        <m:ctrlPr>
                          <a:rPr lang="en-US" sz="2200" i="1">
                            <a:latin typeface="Cambria Math" panose="02040503050406030204" pitchFamily="18" charset="0"/>
                            <a:ea typeface="Cambria Math"/>
                          </a:rPr>
                        </m:ctrlPr>
                      </m:sSupPr>
                      <m:e>
                        <m:r>
                          <a:rPr lang="en-US" sz="2200" i="1">
                            <a:latin typeface="Cambria Math"/>
                            <a:ea typeface="Cambria Math"/>
                          </a:rPr>
                          <m:t>𝑞</m:t>
                        </m:r>
                      </m:e>
                      <m:sup>
                        <m:r>
                          <a:rPr lang="en-US" sz="2200" i="1">
                            <a:latin typeface="Cambria Math"/>
                            <a:ea typeface="Cambria Math"/>
                          </a:rPr>
                          <m:t>𝑛</m:t>
                        </m:r>
                        <m:r>
                          <a:rPr lang="en-US" sz="2200" i="1">
                            <a:latin typeface="Cambria Math"/>
                            <a:ea typeface="Cambria Math"/>
                          </a:rPr>
                          <m:t>−</m:t>
                        </m:r>
                        <m:r>
                          <a:rPr lang="en-US" sz="2200" i="1">
                            <a:latin typeface="Cambria Math"/>
                            <a:ea typeface="Cambria Math"/>
                          </a:rPr>
                          <m:t>𝑟</m:t>
                        </m:r>
                        <m:r>
                          <a:rPr lang="en-US" sz="2200" b="0" i="1" smtClean="0">
                            <a:latin typeface="Cambria Math"/>
                            <a:ea typeface="Cambria Math"/>
                          </a:rPr>
                          <m:t>−1</m:t>
                        </m:r>
                      </m:sup>
                    </m:sSup>
                  </m:oMath>
                </a14:m>
                <a:r>
                  <a:rPr lang="en-US" sz="2200" dirty="0"/>
                  <a:t>….(2)</a:t>
                </a:r>
              </a:p>
              <a:p>
                <a:pPr marL="0" indent="0">
                  <a:buNone/>
                </a:pPr>
                <a:r>
                  <a:rPr lang="en-US" sz="2200" dirty="0"/>
                  <a:t>By equation (1) and (2)</a:t>
                </a:r>
              </a:p>
              <a:p>
                <a:pPr marL="0" indent="0">
                  <a:buNone/>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a:rPr>
                            <m:t>𝑃</m:t>
                          </m:r>
                          <m:r>
                            <a:rPr lang="en-US" sz="2200" b="0" i="1" smtClean="0">
                              <a:latin typeface="Cambria Math"/>
                            </a:rPr>
                            <m:t>(</m:t>
                          </m:r>
                          <m:r>
                            <a:rPr lang="en-US" sz="2200" b="0" i="1" smtClean="0">
                              <a:latin typeface="Cambria Math"/>
                            </a:rPr>
                            <m:t>𝑟</m:t>
                          </m:r>
                          <m:r>
                            <a:rPr lang="en-US" sz="2200" b="0" i="1" smtClean="0">
                              <a:latin typeface="Cambria Math"/>
                            </a:rPr>
                            <m:t>+1)</m:t>
                          </m:r>
                        </m:num>
                        <m:den>
                          <m:r>
                            <a:rPr lang="en-US" sz="2200" b="0" i="1" smtClean="0">
                              <a:latin typeface="Cambria Math"/>
                            </a:rPr>
                            <m:t>𝑃</m:t>
                          </m:r>
                          <m:r>
                            <a:rPr lang="en-US" sz="2200" b="0" i="1" smtClean="0">
                              <a:latin typeface="Cambria Math"/>
                            </a:rPr>
                            <m:t>(</m:t>
                          </m:r>
                          <m:r>
                            <a:rPr lang="en-US" sz="2200" b="0" i="1" smtClean="0">
                              <a:latin typeface="Cambria Math"/>
                            </a:rPr>
                            <m:t>𝑟</m:t>
                          </m:r>
                          <m:r>
                            <a:rPr lang="en-US" sz="2200" b="0" i="1" smtClean="0">
                              <a:latin typeface="Cambria Math"/>
                            </a:rPr>
                            <m:t>)</m:t>
                          </m:r>
                        </m:den>
                      </m:f>
                      <m:r>
                        <a:rPr lang="en-US" sz="2200" b="0" i="1" smtClean="0">
                          <a:latin typeface="Cambria Math"/>
                        </a:rPr>
                        <m:t>=</m:t>
                      </m:r>
                      <m:f>
                        <m:fPr>
                          <m:ctrlPr>
                            <a:rPr lang="en-US" sz="2200" i="1">
                              <a:latin typeface="Cambria Math" panose="02040503050406030204" pitchFamily="18" charset="0"/>
                              <a:ea typeface="Cambria Math"/>
                            </a:rPr>
                          </m:ctrlPr>
                        </m:fPr>
                        <m:num>
                          <m:r>
                            <a:rPr lang="en-US" sz="2200" b="0" i="1" smtClean="0">
                              <a:latin typeface="Cambria Math"/>
                              <a:ea typeface="Cambria Math"/>
                            </a:rPr>
                            <m:t>(</m:t>
                          </m:r>
                          <m:r>
                            <a:rPr lang="en-US" sz="2200" i="1">
                              <a:latin typeface="Cambria Math"/>
                              <a:ea typeface="Cambria Math"/>
                            </a:rPr>
                            <m:t>𝑛</m:t>
                          </m:r>
                          <m:r>
                            <a:rPr lang="en-US" sz="2200" b="0" i="1" smtClean="0">
                              <a:latin typeface="Cambria Math"/>
                              <a:ea typeface="Cambria Math"/>
                            </a:rPr>
                            <m:t>−</m:t>
                          </m:r>
                          <m:r>
                            <a:rPr lang="en-US" sz="2200" b="0" i="1" smtClean="0">
                              <a:latin typeface="Cambria Math"/>
                              <a:ea typeface="Cambria Math"/>
                            </a:rPr>
                            <m:t>𝑟</m:t>
                          </m:r>
                          <m:r>
                            <a:rPr lang="en-US" sz="2200" b="0" i="1" smtClean="0">
                              <a:latin typeface="Cambria Math"/>
                              <a:ea typeface="Cambria Math"/>
                            </a:rPr>
                            <m:t>)!</m:t>
                          </m:r>
                        </m:num>
                        <m:den>
                          <m:r>
                            <a:rPr lang="en-US" sz="2200" i="1">
                              <a:latin typeface="Cambria Math"/>
                              <a:ea typeface="Cambria Math"/>
                            </a:rPr>
                            <m:t>(</m:t>
                          </m:r>
                          <m:r>
                            <a:rPr lang="en-US" sz="2200" i="1">
                              <a:latin typeface="Cambria Math"/>
                              <a:ea typeface="Cambria Math"/>
                            </a:rPr>
                            <m:t>𝑛</m:t>
                          </m:r>
                          <m:r>
                            <a:rPr lang="en-US" sz="2200" i="1">
                              <a:latin typeface="Cambria Math"/>
                              <a:ea typeface="Cambria Math"/>
                            </a:rPr>
                            <m:t>−</m:t>
                          </m:r>
                          <m:r>
                            <a:rPr lang="en-US" sz="2200" i="1">
                              <a:latin typeface="Cambria Math"/>
                              <a:ea typeface="Cambria Math"/>
                            </a:rPr>
                            <m:t>𝑟</m:t>
                          </m:r>
                          <m:r>
                            <a:rPr lang="en-US" sz="2200" i="1">
                              <a:latin typeface="Cambria Math"/>
                              <a:ea typeface="Cambria Math"/>
                            </a:rPr>
                            <m:t>−1)!</m:t>
                          </m:r>
                        </m:den>
                      </m:f>
                      <m:r>
                        <a:rPr lang="en-US" sz="2200" i="1" smtClean="0">
                          <a:latin typeface="Cambria Math"/>
                          <a:ea typeface="Cambria Math"/>
                        </a:rPr>
                        <m:t>×</m:t>
                      </m:r>
                      <m:f>
                        <m:fPr>
                          <m:ctrlPr>
                            <a:rPr lang="en-US" sz="2200" i="1" smtClean="0">
                              <a:latin typeface="Cambria Math" panose="02040503050406030204" pitchFamily="18" charset="0"/>
                              <a:ea typeface="Cambria Math"/>
                            </a:rPr>
                          </m:ctrlPr>
                        </m:fPr>
                        <m:num>
                          <m:r>
                            <a:rPr lang="en-US" sz="2200" b="0" i="1" smtClean="0">
                              <a:latin typeface="Cambria Math"/>
                              <a:ea typeface="Cambria Math"/>
                            </a:rPr>
                            <m:t>𝑟</m:t>
                          </m:r>
                          <m:r>
                            <a:rPr lang="en-US" sz="2200" b="0" i="1" smtClean="0">
                              <a:latin typeface="Cambria Math"/>
                              <a:ea typeface="Cambria Math"/>
                            </a:rPr>
                            <m:t>!</m:t>
                          </m:r>
                        </m:num>
                        <m:den>
                          <m:r>
                            <a:rPr lang="en-US" sz="2200" b="0" i="1" smtClean="0">
                              <a:latin typeface="Cambria Math"/>
                              <a:ea typeface="Cambria Math"/>
                            </a:rPr>
                            <m:t>(</m:t>
                          </m:r>
                          <m:r>
                            <a:rPr lang="en-US" sz="2200" b="0" i="1" smtClean="0">
                              <a:latin typeface="Cambria Math"/>
                              <a:ea typeface="Cambria Math"/>
                            </a:rPr>
                            <m:t>𝑟</m:t>
                          </m:r>
                          <m:r>
                            <a:rPr lang="en-US" sz="2200" b="0" i="1" smtClean="0">
                              <a:latin typeface="Cambria Math"/>
                              <a:ea typeface="Cambria Math"/>
                            </a:rPr>
                            <m:t>+1)!</m:t>
                          </m:r>
                        </m:den>
                      </m:f>
                      <m:r>
                        <a:rPr lang="en-US" sz="2200" i="1" smtClean="0">
                          <a:latin typeface="Cambria Math"/>
                          <a:ea typeface="Cambria Math"/>
                        </a:rPr>
                        <m:t>×</m:t>
                      </m:r>
                      <m:f>
                        <m:fPr>
                          <m:ctrlPr>
                            <a:rPr lang="en-US" sz="2200" i="1" smtClean="0">
                              <a:latin typeface="Cambria Math" panose="02040503050406030204" pitchFamily="18" charset="0"/>
                              <a:ea typeface="Cambria Math"/>
                            </a:rPr>
                          </m:ctrlPr>
                        </m:fPr>
                        <m:num>
                          <m:r>
                            <a:rPr lang="en-US" sz="2200" b="0" i="1" smtClean="0">
                              <a:latin typeface="Cambria Math"/>
                              <a:ea typeface="Cambria Math"/>
                            </a:rPr>
                            <m:t>𝑝</m:t>
                          </m:r>
                        </m:num>
                        <m:den>
                          <m:r>
                            <a:rPr lang="en-US" sz="2200" b="0" i="1" smtClean="0">
                              <a:latin typeface="Cambria Math"/>
                              <a:ea typeface="Cambria Math"/>
                            </a:rPr>
                            <m:t>𝑞</m:t>
                          </m:r>
                        </m:den>
                      </m:f>
                    </m:oMath>
                  </m:oMathPara>
                </a14:m>
                <a:endParaRPr lang="en-US" sz="2200" dirty="0">
                  <a:ea typeface="Cambria Math"/>
                </a:endParaRPr>
              </a:p>
              <a:p>
                <a:pPr marL="0" indent="0">
                  <a:buNone/>
                </a:pP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𝑟</m:t>
                        </m:r>
                        <m:r>
                          <a:rPr lang="en-US" sz="2200" i="1">
                            <a:latin typeface="Cambria Math"/>
                          </a:rPr>
                          <m:t>+1</m:t>
                        </m:r>
                      </m:e>
                    </m:d>
                    <m:r>
                      <a:rPr lang="en-US" sz="2200" b="0" i="1" smtClean="0">
                        <a:latin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m:t>
                        </m:r>
                        <m:r>
                          <a:rPr lang="en-US" sz="2200" i="1">
                            <a:latin typeface="Cambria Math"/>
                            <a:ea typeface="Cambria Math"/>
                          </a:rPr>
                          <m:t>𝑛</m:t>
                        </m:r>
                        <m:r>
                          <a:rPr lang="en-US" sz="2200" i="1">
                            <a:latin typeface="Cambria Math"/>
                            <a:ea typeface="Cambria Math"/>
                          </a:rPr>
                          <m:t>−</m:t>
                        </m:r>
                        <m:r>
                          <a:rPr lang="en-US" sz="2200" i="1">
                            <a:latin typeface="Cambria Math"/>
                            <a:ea typeface="Cambria Math"/>
                          </a:rPr>
                          <m:t>𝑟</m:t>
                        </m:r>
                        <m:r>
                          <a:rPr lang="en-US" sz="2200" i="1">
                            <a:latin typeface="Cambria Math"/>
                            <a:ea typeface="Cambria Math"/>
                          </a:rPr>
                          <m:t>)</m:t>
                        </m:r>
                      </m:num>
                      <m:den>
                        <m:r>
                          <a:rPr lang="en-US" sz="2200" i="1">
                            <a:latin typeface="Cambria Math"/>
                            <a:ea typeface="Cambria Math"/>
                          </a:rPr>
                          <m:t>(</m:t>
                        </m:r>
                        <m:r>
                          <a:rPr lang="en-US" sz="2200" i="1">
                            <a:latin typeface="Cambria Math"/>
                            <a:ea typeface="Cambria Math"/>
                          </a:rPr>
                          <m:t>𝑟</m:t>
                        </m:r>
                        <m:r>
                          <a:rPr lang="en-US" sz="2200" b="0" i="1" smtClean="0">
                            <a:latin typeface="Cambria Math"/>
                            <a:ea typeface="Cambria Math"/>
                          </a:rPr>
                          <m:t>+</m:t>
                        </m:r>
                        <m:r>
                          <a:rPr lang="en-US" sz="2200" i="1">
                            <a:latin typeface="Cambria Math"/>
                            <a:ea typeface="Cambria Math"/>
                          </a:rPr>
                          <m:t>1)</m:t>
                        </m:r>
                      </m:den>
                    </m:f>
                    <m:f>
                      <m:fPr>
                        <m:ctrlPr>
                          <a:rPr lang="en-US" sz="2200" i="1">
                            <a:latin typeface="Cambria Math" panose="02040503050406030204" pitchFamily="18" charset="0"/>
                            <a:ea typeface="Cambria Math"/>
                          </a:rPr>
                        </m:ctrlPr>
                      </m:fPr>
                      <m:num>
                        <m:r>
                          <a:rPr lang="en-US" sz="2200" i="1">
                            <a:latin typeface="Cambria Math"/>
                            <a:ea typeface="Cambria Math"/>
                          </a:rPr>
                          <m:t>𝑝</m:t>
                        </m:r>
                      </m:num>
                      <m:den>
                        <m:r>
                          <a:rPr lang="en-US" sz="2200" i="1">
                            <a:latin typeface="Cambria Math"/>
                            <a:ea typeface="Cambria Math"/>
                          </a:rPr>
                          <m:t>𝑞</m:t>
                        </m:r>
                      </m:den>
                    </m:f>
                    <m:r>
                      <a:rPr lang="en-US" sz="2200" b="0" i="1" smtClean="0">
                        <a:latin typeface="Cambria Math"/>
                        <a:ea typeface="Cambria Math"/>
                      </a:rPr>
                      <m:t>. </m:t>
                    </m:r>
                    <m:r>
                      <a:rPr lang="en-US" sz="2200" b="0" i="1" smtClean="0">
                        <a:latin typeface="Cambria Math"/>
                        <a:ea typeface="Cambria Math"/>
                      </a:rPr>
                      <m:t>𝑃</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𝑟</m:t>
                        </m:r>
                      </m:e>
                    </m:d>
                  </m:oMath>
                </a14:m>
                <a:r>
                  <a:rPr lang="en-US" sz="2200" b="0" dirty="0">
                    <a:ea typeface="Cambria Math"/>
                  </a:rPr>
                  <a:t>…..(3)</a:t>
                </a:r>
              </a:p>
              <a:p>
                <a:pPr marL="0" indent="0">
                  <a:buNone/>
                </a:pPr>
                <a:r>
                  <a:rPr lang="en-US" sz="2200" dirty="0">
                    <a:ea typeface="Cambria Math"/>
                  </a:rPr>
                  <a:t>Equation (3) is known as Recurrence Formula.</a:t>
                </a:r>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DD58D459-CC89-462C-986E-F697E5C79EF1}"/>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7641795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000" b="1" dirty="0"/>
                  <a:t>Mean Of Binomial distribution:</a:t>
                </a:r>
              </a:p>
              <a:p>
                <a:pPr marL="0" indent="0">
                  <a:buNone/>
                </a:pPr>
                <a14:m>
                  <m:oMathPara xmlns:m="http://schemas.openxmlformats.org/officeDocument/2006/math">
                    <m:oMathParaPr>
                      <m:jc m:val="centerGroup"/>
                    </m:oMathParaPr>
                    <m:oMath xmlns:m="http://schemas.openxmlformats.org/officeDocument/2006/math">
                      <m:r>
                        <a:rPr lang="en-US" sz="2000" b="1" i="1" smtClean="0">
                          <a:latin typeface="Cambria Math"/>
                          <a:ea typeface="Cambria Math"/>
                        </a:rPr>
                        <m:t>𝝁</m:t>
                      </m:r>
                      <m:r>
                        <a:rPr lang="en-US" sz="2000" b="1" i="1" smtClean="0">
                          <a:latin typeface="Cambria Math"/>
                          <a:ea typeface="Cambria Math"/>
                        </a:rPr>
                        <m:t>=</m:t>
                      </m:r>
                      <m:nary>
                        <m:naryPr>
                          <m:chr m:val="∑"/>
                          <m:ctrlPr>
                            <a:rPr lang="en-US" sz="2000" b="1" i="1" smtClean="0">
                              <a:latin typeface="Cambria Math" panose="02040503050406030204" pitchFamily="18" charset="0"/>
                              <a:ea typeface="Cambria Math"/>
                            </a:rPr>
                          </m:ctrlPr>
                        </m:naryPr>
                        <m:sub>
                          <m:r>
                            <m:rPr>
                              <m:brk m:alnAt="23"/>
                            </m:rPr>
                            <a:rPr lang="en-US" sz="2000" b="1" i="1" smtClean="0">
                              <a:latin typeface="Cambria Math"/>
                              <a:ea typeface="Cambria Math"/>
                            </a:rPr>
                            <m:t>𝒓</m:t>
                          </m:r>
                          <m:r>
                            <a:rPr lang="en-US" sz="2000" b="1" i="1" smtClean="0">
                              <a:latin typeface="Cambria Math"/>
                              <a:ea typeface="Cambria Math"/>
                            </a:rPr>
                            <m:t>=</m:t>
                          </m:r>
                          <m:r>
                            <a:rPr lang="en-US" sz="2000" b="1" i="1" smtClean="0">
                              <a:latin typeface="Cambria Math"/>
                              <a:ea typeface="Cambria Math"/>
                            </a:rPr>
                            <m:t>𝟎</m:t>
                          </m:r>
                        </m:sub>
                        <m:sup>
                          <m:r>
                            <a:rPr lang="en-US" sz="2000" b="1" i="1" smtClean="0">
                              <a:latin typeface="Cambria Math"/>
                              <a:ea typeface="Cambria Math"/>
                            </a:rPr>
                            <m:t>𝒏</m:t>
                          </m:r>
                        </m:sup>
                        <m:e>
                          <m:r>
                            <a:rPr lang="en-US" sz="2000" b="1" i="1" smtClean="0">
                              <a:latin typeface="Cambria Math"/>
                              <a:ea typeface="Cambria Math"/>
                            </a:rPr>
                            <m:t>𝒓𝑷</m:t>
                          </m:r>
                          <m:r>
                            <a:rPr lang="en-US" sz="2000" b="1" i="1" smtClean="0">
                              <a:latin typeface="Cambria Math"/>
                              <a:ea typeface="Cambria Math"/>
                            </a:rPr>
                            <m:t>(</m:t>
                          </m:r>
                          <m:r>
                            <a:rPr lang="en-US" sz="2000" b="1" i="1" smtClean="0">
                              <a:latin typeface="Cambria Math"/>
                              <a:ea typeface="Cambria Math"/>
                            </a:rPr>
                            <m:t>𝒓</m:t>
                          </m:r>
                          <m:r>
                            <a:rPr lang="en-US" sz="2000" b="1" i="1" smtClean="0">
                              <a:latin typeface="Cambria Math"/>
                              <a:ea typeface="Cambria Math"/>
                            </a:rPr>
                            <m:t>)</m:t>
                          </m:r>
                        </m:e>
                      </m:nary>
                    </m:oMath>
                  </m:oMathPara>
                </a14:m>
                <a:endParaRPr lang="en-US" sz="2000" b="1" dirty="0">
                  <a:ea typeface="Cambria Math"/>
                </a:endParaRPr>
              </a:p>
              <a:p>
                <a:pPr marL="0" indent="0">
                  <a:buNone/>
                </a:pPr>
                <a:r>
                  <a:rPr lang="en-US" sz="2000" dirty="0"/>
                  <a:t>For Binomial distribution </a:t>
                </a:r>
                <a14:m>
                  <m:oMath xmlns:m="http://schemas.openxmlformats.org/officeDocument/2006/math">
                    <m:r>
                      <a:rPr lang="en-US" sz="2000" b="0" i="1">
                        <a:latin typeface="Cambria Math"/>
                      </a:rPr>
                      <m:t>𝑃</m:t>
                    </m:r>
                    <m:d>
                      <m:dPr>
                        <m:ctrlPr>
                          <a:rPr lang="en-US" sz="2000" i="1">
                            <a:latin typeface="Cambria Math" panose="02040503050406030204" pitchFamily="18" charset="0"/>
                          </a:rPr>
                        </m:ctrlPr>
                      </m:dPr>
                      <m:e>
                        <m:r>
                          <a:rPr lang="en-US" sz="2000" b="0" i="1">
                            <a:latin typeface="Cambria Math"/>
                          </a:rPr>
                          <m:t>𝑟</m:t>
                        </m:r>
                      </m:e>
                    </m:d>
                    <m:r>
                      <a:rPr lang="en-US" sz="2000" b="0" i="1">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𝑛</m:t>
                            </m:r>
                          </m:sup>
                          <m:e>
                            <m:r>
                              <a:rPr lang="en-US" sz="2000" b="0" i="1">
                                <a:latin typeface="Cambria Math"/>
                              </a:rPr>
                              <m:t>𝐶</m:t>
                            </m:r>
                          </m:e>
                        </m:sPre>
                      </m:e>
                      <m:sub>
                        <m:r>
                          <a:rPr lang="en-US" sz="2000" b="0" i="1">
                            <a:latin typeface="Cambria Math"/>
                          </a:rPr>
                          <m:t>𝑟</m:t>
                        </m:r>
                      </m:sub>
                    </m:sSub>
                    <m:sSup>
                      <m:sSupPr>
                        <m:ctrlPr>
                          <a:rPr lang="en-US" sz="2000" i="1">
                            <a:latin typeface="Cambria Math" panose="02040503050406030204" pitchFamily="18" charset="0"/>
                          </a:rPr>
                        </m:ctrlPr>
                      </m:sSupPr>
                      <m:e>
                        <m:r>
                          <a:rPr lang="en-US" sz="2000" b="0" i="1">
                            <a:latin typeface="Cambria Math"/>
                          </a:rPr>
                          <m:t>𝑝</m:t>
                        </m:r>
                      </m:e>
                      <m:sup>
                        <m:r>
                          <a:rPr lang="en-US" sz="2000" b="0" i="1">
                            <a:latin typeface="Cambria Math"/>
                          </a:rPr>
                          <m:t>𝑟</m:t>
                        </m:r>
                      </m:sup>
                    </m:sSup>
                    <m:sSup>
                      <m:sSupPr>
                        <m:ctrlPr>
                          <a:rPr lang="en-US" sz="2000" i="1">
                            <a:latin typeface="Cambria Math" panose="02040503050406030204" pitchFamily="18" charset="0"/>
                          </a:rPr>
                        </m:ctrlPr>
                      </m:sSupPr>
                      <m:e>
                        <m:r>
                          <a:rPr lang="en-US" sz="2000" b="0" i="1">
                            <a:latin typeface="Cambria Math"/>
                          </a:rPr>
                          <m:t>𝑞</m:t>
                        </m:r>
                      </m:e>
                      <m:sup>
                        <m:r>
                          <a:rPr lang="en-US" sz="2000" b="0" i="1">
                            <a:latin typeface="Cambria Math"/>
                          </a:rPr>
                          <m:t>𝑛</m:t>
                        </m:r>
                        <m:r>
                          <a:rPr lang="en-US" sz="2000" b="0" i="1">
                            <a:latin typeface="Cambria Math"/>
                          </a:rPr>
                          <m:t>−</m:t>
                        </m:r>
                        <m:r>
                          <a:rPr lang="en-US" sz="2000" b="0" i="1">
                            <a:latin typeface="Cambria Math"/>
                          </a:rPr>
                          <m:t>𝑟</m:t>
                        </m:r>
                      </m:sup>
                    </m:sSup>
                  </m:oMath>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a:latin typeface="Cambria Math"/>
                          <a:ea typeface="Cambria Math"/>
                        </a:rPr>
                        <m:t>𝜇</m:t>
                      </m:r>
                      <m:r>
                        <a:rPr lang="en-US" sz="2000" b="0" i="1">
                          <a:latin typeface="Cambria Math"/>
                          <a:ea typeface="Cambria Math"/>
                        </a:rPr>
                        <m:t>=</m:t>
                      </m:r>
                      <m:nary>
                        <m:naryPr>
                          <m:chr m:val="∑"/>
                          <m:ctrlPr>
                            <a:rPr lang="en-US" sz="2000" i="1">
                              <a:latin typeface="Cambria Math" panose="02040503050406030204" pitchFamily="18" charset="0"/>
                              <a:ea typeface="Cambria Math"/>
                            </a:rPr>
                          </m:ctrlPr>
                        </m:naryPr>
                        <m:sub>
                          <m:r>
                            <m:rPr>
                              <m:brk m:alnAt="23"/>
                            </m:rPr>
                            <a:rPr lang="en-US" sz="2000" b="0" i="1">
                              <a:latin typeface="Cambria Math"/>
                              <a:ea typeface="Cambria Math"/>
                            </a:rPr>
                            <m:t>𝑟</m:t>
                          </m:r>
                          <m:r>
                            <a:rPr lang="en-US" sz="2000" b="0" i="1">
                              <a:latin typeface="Cambria Math"/>
                              <a:ea typeface="Cambria Math"/>
                            </a:rPr>
                            <m:t>=0</m:t>
                          </m:r>
                        </m:sub>
                        <m:sup>
                          <m:r>
                            <a:rPr lang="en-US" sz="2000" b="0" i="1">
                              <a:latin typeface="Cambria Math"/>
                              <a:ea typeface="Cambria Math"/>
                            </a:rPr>
                            <m:t>𝑛</m:t>
                          </m:r>
                        </m:sup>
                        <m:e>
                          <m:r>
                            <a:rPr lang="en-US" sz="2000" b="0" i="1">
                              <a:latin typeface="Cambria Math"/>
                              <a:ea typeface="Cambria Math"/>
                            </a:rPr>
                            <m:t>𝑟</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𝑛</m:t>
                                  </m:r>
                                </m:sup>
                                <m:e>
                                  <m:r>
                                    <a:rPr lang="en-US" sz="2000" b="0" i="1">
                                      <a:latin typeface="Cambria Math"/>
                                    </a:rPr>
                                    <m:t>𝐶</m:t>
                                  </m:r>
                                </m:e>
                              </m:sPre>
                            </m:e>
                            <m:sub>
                              <m:r>
                                <a:rPr lang="en-US" sz="2000" b="0" i="1">
                                  <a:latin typeface="Cambria Math"/>
                                </a:rPr>
                                <m:t>𝑟</m:t>
                              </m:r>
                            </m:sub>
                          </m:sSub>
                          <m:sSup>
                            <m:sSupPr>
                              <m:ctrlPr>
                                <a:rPr lang="en-US" sz="2000" i="1">
                                  <a:latin typeface="Cambria Math" panose="02040503050406030204" pitchFamily="18" charset="0"/>
                                </a:rPr>
                              </m:ctrlPr>
                            </m:sSupPr>
                            <m:e>
                              <m:r>
                                <a:rPr lang="en-US" sz="2000" b="0" i="1">
                                  <a:latin typeface="Cambria Math"/>
                                </a:rPr>
                                <m:t>𝑝</m:t>
                              </m:r>
                            </m:e>
                            <m:sup>
                              <m:r>
                                <a:rPr lang="en-US" sz="2000" b="0" i="1">
                                  <a:latin typeface="Cambria Math"/>
                                </a:rPr>
                                <m:t>𝑟</m:t>
                              </m:r>
                            </m:sup>
                          </m:sSup>
                          <m:sSup>
                            <m:sSupPr>
                              <m:ctrlPr>
                                <a:rPr lang="en-US" sz="2000" i="1">
                                  <a:latin typeface="Cambria Math" panose="02040503050406030204" pitchFamily="18" charset="0"/>
                                </a:rPr>
                              </m:ctrlPr>
                            </m:sSupPr>
                            <m:e>
                              <m:r>
                                <a:rPr lang="en-US" sz="2000" b="0" i="1">
                                  <a:latin typeface="Cambria Math"/>
                                </a:rPr>
                                <m:t>𝑞</m:t>
                              </m:r>
                            </m:e>
                            <m:sup>
                              <m:r>
                                <a:rPr lang="en-US" sz="2000" b="0" i="1">
                                  <a:latin typeface="Cambria Math"/>
                                </a:rPr>
                                <m:t>𝑛</m:t>
                              </m:r>
                              <m:r>
                                <a:rPr lang="en-US" sz="2000" b="0" i="1">
                                  <a:latin typeface="Cambria Math"/>
                                </a:rPr>
                                <m:t>−</m:t>
                              </m:r>
                              <m:r>
                                <a:rPr lang="en-US" sz="2000" b="0" i="1">
                                  <a:latin typeface="Cambria Math"/>
                                </a:rPr>
                                <m:t>𝑟</m:t>
                              </m:r>
                            </m:sup>
                          </m:sSup>
                          <m:r>
                            <m:rPr>
                              <m:nor/>
                            </m:rPr>
                            <a:rPr lang="en-US" sz="2000" dirty="0"/>
                            <m:t> </m:t>
                          </m:r>
                        </m:e>
                      </m:nary>
                    </m:oMath>
                  </m:oMathPara>
                </a14:m>
                <a:endParaRPr lang="en-US" sz="2000" dirty="0">
                  <a:ea typeface="Cambria Math"/>
                </a:endParaRPr>
              </a:p>
              <a:p>
                <a:pPr marL="0" indent="0">
                  <a:buNone/>
                </a:pPr>
                <a:r>
                  <a:rPr lang="en-US" sz="2000" dirty="0">
                    <a:ea typeface="Cambria Math"/>
                  </a:rPr>
                  <a:t>By expanding  we have </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ea typeface="Cambria Math"/>
                        </a:rPr>
                        <m:t>⟹0+1.</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𝑛</m:t>
                              </m:r>
                            </m:sup>
                            <m:e>
                              <m:r>
                                <a:rPr lang="en-US" sz="2000" b="0" i="1">
                                  <a:latin typeface="Cambria Math"/>
                                </a:rPr>
                                <m:t>𝐶</m:t>
                              </m:r>
                            </m:e>
                          </m:sPre>
                        </m:e>
                        <m:sub>
                          <m:r>
                            <a:rPr lang="en-US" sz="2000" b="0" i="1" smtClean="0">
                              <a:latin typeface="Cambria Math"/>
                            </a:rPr>
                            <m:t>1</m:t>
                          </m:r>
                        </m:sub>
                      </m:sSub>
                      <m:r>
                        <a:rPr lang="en-US" sz="2000" b="0" i="1" smtClean="0">
                          <a:latin typeface="Cambria Math"/>
                        </a:rPr>
                        <m:t>𝑝</m:t>
                      </m:r>
                      <m:sSup>
                        <m:sSupPr>
                          <m:ctrlPr>
                            <a:rPr lang="en-US" sz="2000" i="1">
                              <a:latin typeface="Cambria Math" panose="02040503050406030204" pitchFamily="18" charset="0"/>
                            </a:rPr>
                          </m:ctrlPr>
                        </m:sSupPr>
                        <m:e>
                          <m:r>
                            <a:rPr lang="en-US" sz="2000" b="0" i="1">
                              <a:latin typeface="Cambria Math"/>
                            </a:rPr>
                            <m:t>𝑞</m:t>
                          </m:r>
                        </m:e>
                        <m:sup>
                          <m:r>
                            <a:rPr lang="en-US" sz="2000" b="0" i="1">
                              <a:latin typeface="Cambria Math"/>
                            </a:rPr>
                            <m:t>𝑛</m:t>
                          </m:r>
                          <m:r>
                            <a:rPr lang="en-US" sz="2000" b="0" i="1">
                              <a:latin typeface="Cambria Math"/>
                            </a:rPr>
                            <m:t>−1</m:t>
                          </m:r>
                        </m:sup>
                      </m:sSup>
                      <m:r>
                        <a:rPr lang="en-US" sz="2000" b="0" i="1" smtClean="0">
                          <a:latin typeface="Cambria Math"/>
                        </a:rPr>
                        <m:t>+2.</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𝑛</m:t>
                              </m:r>
                            </m:sup>
                            <m:e>
                              <m:r>
                                <a:rPr lang="en-US" sz="2000" b="0" i="1">
                                  <a:latin typeface="Cambria Math"/>
                                </a:rPr>
                                <m:t>𝐶</m:t>
                              </m:r>
                            </m:e>
                          </m:sPre>
                        </m:e>
                        <m:sub>
                          <m:r>
                            <a:rPr lang="en-US" sz="2000" b="0" i="1" smtClean="0">
                              <a:latin typeface="Cambria Math"/>
                            </a:rPr>
                            <m:t>2</m:t>
                          </m:r>
                        </m:sub>
                      </m:sSub>
                      <m:sSup>
                        <m:sSupPr>
                          <m:ctrlPr>
                            <a:rPr lang="en-US" sz="2000" i="1">
                              <a:latin typeface="Cambria Math" panose="02040503050406030204" pitchFamily="18" charset="0"/>
                            </a:rPr>
                          </m:ctrlPr>
                        </m:sSupPr>
                        <m:e>
                          <m:r>
                            <a:rPr lang="en-US" sz="2000" b="0" i="1">
                              <a:latin typeface="Cambria Math"/>
                            </a:rPr>
                            <m:t>𝑝</m:t>
                          </m:r>
                        </m:e>
                        <m:sup>
                          <m:r>
                            <a:rPr lang="en-US" sz="2000" b="0" i="1" smtClean="0">
                              <a:latin typeface="Cambria Math"/>
                            </a:rPr>
                            <m:t>2</m:t>
                          </m:r>
                        </m:sup>
                      </m:sSup>
                      <m:sSup>
                        <m:sSupPr>
                          <m:ctrlPr>
                            <a:rPr lang="en-US" sz="2000" i="1">
                              <a:latin typeface="Cambria Math" panose="02040503050406030204" pitchFamily="18" charset="0"/>
                            </a:rPr>
                          </m:ctrlPr>
                        </m:sSupPr>
                        <m:e>
                          <m:r>
                            <a:rPr lang="en-US" sz="2000" b="0" i="1">
                              <a:latin typeface="Cambria Math"/>
                            </a:rPr>
                            <m:t>𝑞</m:t>
                          </m:r>
                        </m:e>
                        <m:sup>
                          <m:r>
                            <a:rPr lang="en-US" sz="2000" b="0" i="1">
                              <a:latin typeface="Cambria Math"/>
                            </a:rPr>
                            <m:t>𝑛</m:t>
                          </m:r>
                          <m:r>
                            <a:rPr lang="en-US" sz="2000" b="0" i="1">
                              <a:latin typeface="Cambria Math"/>
                            </a:rPr>
                            <m:t>−2</m:t>
                          </m:r>
                        </m:sup>
                      </m:sSup>
                      <m:r>
                        <a:rPr lang="en-US" sz="2000" b="0" i="1" smtClean="0">
                          <a:latin typeface="Cambria Math"/>
                        </a:rPr>
                        <m:t>+…+</m:t>
                      </m:r>
                      <m:r>
                        <a:rPr lang="en-US" sz="2000" b="0" i="1" smtClean="0">
                          <a:latin typeface="Cambria Math"/>
                        </a:rPr>
                        <m:t>𝑛</m:t>
                      </m:r>
                      <m:r>
                        <a:rPr lang="en-US" sz="2000" b="0" i="1" smtClean="0">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𝑛</m:t>
                              </m:r>
                            </m:sup>
                            <m:e>
                              <m:r>
                                <a:rPr lang="en-US" sz="2000" b="0" i="1">
                                  <a:latin typeface="Cambria Math"/>
                                </a:rPr>
                                <m:t>𝐶</m:t>
                              </m:r>
                            </m:e>
                          </m:sPre>
                        </m:e>
                        <m:sub>
                          <m:r>
                            <a:rPr lang="en-US" sz="2000" b="0" i="1" smtClean="0">
                              <a:latin typeface="Cambria Math"/>
                            </a:rPr>
                            <m:t>𝑛</m:t>
                          </m:r>
                        </m:sub>
                      </m:sSub>
                      <m:sSup>
                        <m:sSupPr>
                          <m:ctrlPr>
                            <a:rPr lang="en-US" sz="2000" i="1">
                              <a:latin typeface="Cambria Math" panose="02040503050406030204" pitchFamily="18" charset="0"/>
                            </a:rPr>
                          </m:ctrlPr>
                        </m:sSupPr>
                        <m:e>
                          <m:r>
                            <a:rPr lang="en-US" sz="2000" b="0" i="1">
                              <a:latin typeface="Cambria Math"/>
                            </a:rPr>
                            <m:t>𝑝</m:t>
                          </m:r>
                        </m:e>
                        <m:sup>
                          <m:r>
                            <a:rPr lang="en-US" sz="2000" b="0" i="1" smtClean="0">
                              <a:latin typeface="Cambria Math"/>
                            </a:rPr>
                            <m:t>𝑛</m:t>
                          </m:r>
                        </m:sup>
                      </m:sSup>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a:ea typeface="Cambria Math"/>
                        </a:rPr>
                        <m:t>⟹</m:t>
                      </m:r>
                      <m:r>
                        <a:rPr lang="en-US" sz="2000" b="0" i="1" smtClean="0">
                          <a:latin typeface="Cambria Math"/>
                          <a:ea typeface="Cambria Math"/>
                        </a:rPr>
                        <m:t>𝑛𝑝</m:t>
                      </m:r>
                      <m:d>
                        <m:dPr>
                          <m:begChr m:val="["/>
                          <m:endChr m:val="]"/>
                          <m:ctrlPr>
                            <a:rPr lang="en-US" sz="2000" b="0" i="1" smtClean="0">
                              <a:latin typeface="Cambria Math" panose="02040503050406030204" pitchFamily="18" charset="0"/>
                              <a:ea typeface="Cambria Math"/>
                            </a:rPr>
                          </m:ctrlPr>
                        </m:dPr>
                        <m:e>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𝑛</m:t>
                                  </m:r>
                                  <m:r>
                                    <a:rPr lang="en-US" sz="2000" b="0" i="1" smtClean="0">
                                      <a:latin typeface="Cambria Math"/>
                                    </a:rPr>
                                    <m:t>−1</m:t>
                                  </m:r>
                                </m:sup>
                                <m:e>
                                  <m:r>
                                    <a:rPr lang="en-US" sz="2000" i="1">
                                      <a:latin typeface="Cambria Math"/>
                                    </a:rPr>
                                    <m:t>𝐶</m:t>
                                  </m:r>
                                </m:e>
                              </m:sPre>
                            </m:e>
                            <m:sub>
                              <m:r>
                                <a:rPr lang="en-US" sz="2000" b="0" i="1" smtClean="0">
                                  <a:latin typeface="Cambria Math"/>
                                </a:rPr>
                                <m:t>0</m:t>
                              </m:r>
                            </m:sub>
                          </m:sSub>
                          <m:sSup>
                            <m:sSupPr>
                              <m:ctrlPr>
                                <a:rPr lang="en-US" sz="2000" i="1">
                                  <a:latin typeface="Cambria Math" panose="02040503050406030204" pitchFamily="18" charset="0"/>
                                </a:rPr>
                              </m:ctrlPr>
                            </m:sSupPr>
                            <m:e>
                              <m:r>
                                <a:rPr lang="en-US" sz="2000" i="1">
                                  <a:latin typeface="Cambria Math"/>
                                </a:rPr>
                                <m:t>𝑞</m:t>
                              </m:r>
                            </m:e>
                            <m:sup>
                              <m:r>
                                <a:rPr lang="en-US" sz="2000" i="1">
                                  <a:latin typeface="Cambria Math"/>
                                </a:rPr>
                                <m:t>𝑛</m:t>
                              </m:r>
                              <m:r>
                                <a:rPr lang="en-US" sz="2000" i="1">
                                  <a:latin typeface="Cambria Math"/>
                                </a:rPr>
                                <m:t>−1</m:t>
                              </m:r>
                            </m:sup>
                          </m:sSup>
                          <m:r>
                            <a:rPr lang="en-US" sz="2000" i="1">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𝑛</m:t>
                                  </m:r>
                                  <m:r>
                                    <a:rPr lang="en-US" sz="2000" b="0" i="1" smtClean="0">
                                      <a:latin typeface="Cambria Math"/>
                                    </a:rPr>
                                    <m:t>−1</m:t>
                                  </m:r>
                                </m:sup>
                                <m:e>
                                  <m:r>
                                    <a:rPr lang="en-US" sz="2000" i="1">
                                      <a:latin typeface="Cambria Math"/>
                                    </a:rPr>
                                    <m:t>𝐶</m:t>
                                  </m:r>
                                </m:e>
                              </m:sPre>
                            </m:e>
                            <m:sub>
                              <m:r>
                                <a:rPr lang="en-US" sz="2000" b="0" i="1" smtClean="0">
                                  <a:latin typeface="Cambria Math"/>
                                </a:rPr>
                                <m:t>1</m:t>
                              </m:r>
                            </m:sub>
                          </m:sSub>
                          <m:r>
                            <a:rPr lang="en-US" sz="2000" b="0" i="1" smtClean="0">
                              <a:latin typeface="Cambria Math"/>
                            </a:rPr>
                            <m:t>𝑝</m:t>
                          </m:r>
                          <m:sSup>
                            <m:sSupPr>
                              <m:ctrlPr>
                                <a:rPr lang="en-US" sz="2000" i="1">
                                  <a:latin typeface="Cambria Math" panose="02040503050406030204" pitchFamily="18" charset="0"/>
                                </a:rPr>
                              </m:ctrlPr>
                            </m:sSupPr>
                            <m:e>
                              <m:r>
                                <a:rPr lang="en-US" sz="2000" i="1">
                                  <a:latin typeface="Cambria Math"/>
                                </a:rPr>
                                <m:t>𝑞</m:t>
                              </m:r>
                            </m:e>
                            <m:sup>
                              <m:r>
                                <a:rPr lang="en-US" sz="2000" i="1">
                                  <a:latin typeface="Cambria Math"/>
                                </a:rPr>
                                <m:t>𝑛</m:t>
                              </m:r>
                              <m:r>
                                <a:rPr lang="en-US" sz="2000" i="1">
                                  <a:latin typeface="Cambria Math"/>
                                </a:rPr>
                                <m:t>−2</m:t>
                              </m:r>
                            </m:sup>
                          </m:sSup>
                          <m:r>
                            <a:rPr lang="en-US" sz="2000" i="1">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𝑛</m:t>
                                  </m:r>
                                  <m:r>
                                    <a:rPr lang="en-US" sz="2000" b="0" i="1" smtClean="0">
                                      <a:latin typeface="Cambria Math"/>
                                    </a:rPr>
                                    <m:t>−1</m:t>
                                  </m:r>
                                </m:sup>
                                <m:e>
                                  <m:r>
                                    <a:rPr lang="en-US" sz="2000" i="1">
                                      <a:latin typeface="Cambria Math"/>
                                    </a:rPr>
                                    <m:t>𝐶</m:t>
                                  </m:r>
                                </m:e>
                              </m:sPre>
                            </m:e>
                            <m:sub>
                              <m:r>
                                <a:rPr lang="en-US" sz="2000" i="1">
                                  <a:latin typeface="Cambria Math"/>
                                </a:rPr>
                                <m:t>𝑛</m:t>
                              </m:r>
                              <m:r>
                                <a:rPr lang="en-US" sz="2000" b="0" i="1" smtClean="0">
                                  <a:latin typeface="Cambria Math"/>
                                </a:rPr>
                                <m:t>−1</m:t>
                              </m:r>
                            </m:sub>
                          </m:sSub>
                          <m:sSup>
                            <m:sSupPr>
                              <m:ctrlPr>
                                <a:rPr lang="en-US" sz="2000" i="1">
                                  <a:latin typeface="Cambria Math" panose="02040503050406030204" pitchFamily="18" charset="0"/>
                                </a:rPr>
                              </m:ctrlPr>
                            </m:sSupPr>
                            <m:e>
                              <m:r>
                                <a:rPr lang="en-US" sz="2000" i="1">
                                  <a:latin typeface="Cambria Math"/>
                                </a:rPr>
                                <m:t>𝑝</m:t>
                              </m:r>
                            </m:e>
                            <m:sup>
                              <m:r>
                                <a:rPr lang="en-US" sz="2000" i="1">
                                  <a:latin typeface="Cambria Math"/>
                                </a:rPr>
                                <m:t>𝑛</m:t>
                              </m:r>
                              <m:r>
                                <a:rPr lang="en-US" sz="2000" b="0" i="1" smtClean="0">
                                  <a:latin typeface="Cambria Math"/>
                                </a:rPr>
                                <m:t>−1</m:t>
                              </m:r>
                            </m:sup>
                          </m:sSup>
                        </m:e>
                      </m:d>
                    </m:oMath>
                  </m:oMathPara>
                </a14:m>
                <a:endParaRPr lang="en-US" sz="2000" b="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a:ea typeface="Cambria Math"/>
                        </a:rPr>
                        <m:t>⟹</m:t>
                      </m:r>
                      <m:r>
                        <a:rPr lang="en-US" sz="2000" b="0" i="1" smtClean="0">
                          <a:latin typeface="Cambria Math"/>
                          <a:ea typeface="Cambria Math"/>
                        </a:rPr>
                        <m:t>𝑛𝑝</m:t>
                      </m:r>
                      <m:sSup>
                        <m:sSupPr>
                          <m:ctrlPr>
                            <a:rPr lang="en-US" sz="2000" b="0" i="1" smtClean="0">
                              <a:latin typeface="Cambria Math" panose="02040503050406030204" pitchFamily="18" charset="0"/>
                              <a:ea typeface="Cambria Math"/>
                            </a:rPr>
                          </m:ctrlPr>
                        </m:sSupPr>
                        <m:e>
                          <m:d>
                            <m:dPr>
                              <m:ctrlPr>
                                <a:rPr lang="en-US" sz="2000" b="0" i="1" smtClean="0">
                                  <a:latin typeface="Cambria Math" panose="02040503050406030204" pitchFamily="18" charset="0"/>
                                  <a:ea typeface="Cambria Math"/>
                                </a:rPr>
                              </m:ctrlPr>
                            </m:dPr>
                            <m:e>
                              <m:r>
                                <a:rPr lang="en-US" sz="2000" b="0" i="1" smtClean="0">
                                  <a:latin typeface="Cambria Math"/>
                                  <a:ea typeface="Cambria Math"/>
                                </a:rPr>
                                <m:t>𝑞</m:t>
                              </m:r>
                              <m:r>
                                <a:rPr lang="en-US" sz="2000" b="0" i="1" smtClean="0">
                                  <a:latin typeface="Cambria Math"/>
                                  <a:ea typeface="Cambria Math"/>
                                </a:rPr>
                                <m:t>+</m:t>
                              </m:r>
                              <m:r>
                                <a:rPr lang="en-US" sz="2000" b="0" i="1" smtClean="0">
                                  <a:latin typeface="Cambria Math"/>
                                  <a:ea typeface="Cambria Math"/>
                                </a:rPr>
                                <m:t>𝑝</m:t>
                              </m:r>
                            </m:e>
                          </m:d>
                        </m:e>
                        <m:sup>
                          <m:r>
                            <a:rPr lang="en-US" sz="2000" b="0" i="1" smtClean="0">
                              <a:latin typeface="Cambria Math"/>
                              <a:ea typeface="Cambria Math"/>
                            </a:rPr>
                            <m:t>𝑛</m:t>
                          </m:r>
                          <m:r>
                            <a:rPr lang="en-US" sz="2000" b="0" i="1" smtClean="0">
                              <a:latin typeface="Cambria Math"/>
                              <a:ea typeface="Cambria Math"/>
                            </a:rPr>
                            <m:t>−1</m:t>
                          </m:r>
                        </m:sup>
                      </m:sSup>
                      <m:r>
                        <a:rPr lang="en-US" sz="2000" b="0" i="1" smtClean="0">
                          <a:latin typeface="Cambria Math"/>
                          <a:ea typeface="Cambria Math"/>
                        </a:rPr>
                        <m:t>=</m:t>
                      </m:r>
                      <m:r>
                        <a:rPr lang="en-US" sz="2000" b="0" i="1" smtClean="0">
                          <a:latin typeface="Cambria Math"/>
                          <a:ea typeface="Cambria Math"/>
                        </a:rPr>
                        <m:t>𝑛𝑝</m:t>
                      </m:r>
                    </m:oMath>
                  </m:oMathPara>
                </a14:m>
                <a:endParaRPr lang="en-US" sz="2000" b="0" dirty="0">
                  <a:ea typeface="Cambria Math"/>
                </a:endParaRPr>
              </a:p>
              <a:p>
                <a:pPr marL="0" indent="0">
                  <a:buNone/>
                </a:pPr>
                <a:r>
                  <a:rPr lang="en-US" sz="2000" b="1" dirty="0"/>
                  <a:t>Hence mean of binomial distribution is </a:t>
                </a:r>
                <a:r>
                  <a:rPr lang="en-US" sz="2000" b="1" dirty="0" err="1"/>
                  <a:t>np</a:t>
                </a:r>
                <a:r>
                  <a:rPr lang="en-US" sz="2000" b="1" dirty="0"/>
                  <a:t>.</a:t>
                </a:r>
              </a:p>
              <a:p>
                <a:pPr marL="0" indent="0">
                  <a:buNone/>
                </a:pPr>
                <a:endParaRPr lang="en-US" sz="2000" dirty="0"/>
              </a:p>
              <a:p>
                <a:pPr marL="0" indent="0">
                  <a:buNone/>
                </a:pPr>
                <a:endParaRPr lang="en-US" sz="2200" dirty="0"/>
              </a:p>
              <a:p>
                <a:pPr marL="0" indent="0">
                  <a:buNone/>
                </a:pPr>
                <a:endParaRPr lang="en-US" sz="2200" dirty="0"/>
              </a:p>
              <a:p>
                <a:pPr marL="0" indent="0">
                  <a:buNone/>
                </a:pPr>
                <a:endParaRPr lang="en-US" sz="2200" b="1" dirty="0">
                  <a:ea typeface="Cambria Math"/>
                </a:endParaRPr>
              </a:p>
              <a:p>
                <a:pPr marL="0" indent="0">
                  <a:buNone/>
                </a:pPr>
                <a:endParaRPr lang="en-US" sz="2200" b="1" dirty="0"/>
              </a:p>
              <a:p>
                <a:pPr marL="0" indent="0">
                  <a:buNone/>
                </a:pPr>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898D071A-BE67-4B77-892F-4FF692E95E21}"/>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7651032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000" b="1" dirty="0"/>
                  <a:t>Variance of Binomial Distribution:</a:t>
                </a:r>
              </a:p>
              <a:p>
                <a:pPr marL="0" indent="0">
                  <a:buNone/>
                </a:pPr>
                <a14:m>
                  <m:oMathPara xmlns:m="http://schemas.openxmlformats.org/officeDocument/2006/math">
                    <m:oMathParaPr>
                      <m:jc m:val="left"/>
                    </m:oMathParaPr>
                    <m:oMath xmlns:m="http://schemas.openxmlformats.org/officeDocument/2006/math">
                      <m:r>
                        <a:rPr lang="en-US" sz="2000" b="0" i="1" smtClean="0">
                          <a:latin typeface="Cambria Math"/>
                        </a:rPr>
                        <m:t>𝑉𝑎𝑟𝑖𝑎𝑛𝑐𝑒</m:t>
                      </m:r>
                      <m:r>
                        <a:rPr lang="en-US" sz="2000" b="0" i="1" smtClean="0">
                          <a:latin typeface="Cambria Math"/>
                        </a:rPr>
                        <m:t> </m:t>
                      </m:r>
                      <m:sSup>
                        <m:sSupPr>
                          <m:ctrlPr>
                            <a:rPr lang="en-US" sz="2000" i="1" smtClean="0">
                              <a:latin typeface="Cambria Math" panose="02040503050406030204" pitchFamily="18" charset="0"/>
                            </a:rPr>
                          </m:ctrlPr>
                        </m:sSupPr>
                        <m:e>
                          <m:r>
                            <a:rPr lang="en-US" sz="2000" b="0" i="1" smtClean="0">
                              <a:latin typeface="Cambria Math"/>
                              <a:ea typeface="Cambria Math"/>
                            </a:rPr>
                            <m:t>𝜎</m:t>
                          </m:r>
                        </m:e>
                        <m:sup>
                          <m:r>
                            <a:rPr lang="en-US" sz="2000" b="0" i="1" smtClean="0">
                              <a:latin typeface="Cambria Math"/>
                            </a:rPr>
                            <m:t>2</m:t>
                          </m:r>
                        </m:sup>
                      </m:sSup>
                      <m:r>
                        <a:rPr lang="en-US" sz="2000" b="0" i="1" smtClean="0">
                          <a:latin typeface="Cambria Math"/>
                        </a:rPr>
                        <m:t>=</m:t>
                      </m:r>
                      <m:nary>
                        <m:naryPr>
                          <m:chr m:val="∑"/>
                          <m:ctrlPr>
                            <a:rPr lang="en-US" sz="2000" i="1" smtClean="0">
                              <a:latin typeface="Cambria Math" panose="02040503050406030204" pitchFamily="18" charset="0"/>
                            </a:rPr>
                          </m:ctrlPr>
                        </m:naryPr>
                        <m:sub>
                          <m:r>
                            <m:rPr>
                              <m:brk m:alnAt="23"/>
                            </m:rPr>
                            <a:rPr lang="en-US" sz="2000" b="0" i="1" smtClean="0">
                              <a:latin typeface="Cambria Math"/>
                            </a:rPr>
                            <m:t>𝑟</m:t>
                          </m:r>
                          <m:r>
                            <a:rPr lang="en-US" sz="2000" b="0" i="1" smtClean="0">
                              <a:latin typeface="Cambria Math"/>
                            </a:rPr>
                            <m:t>=0</m:t>
                          </m:r>
                        </m:sub>
                        <m:sup>
                          <m:r>
                            <a:rPr lang="en-US" sz="2000" b="0" i="1" smtClean="0">
                              <a:latin typeface="Cambria Math"/>
                            </a:rPr>
                            <m:t>𝑛</m:t>
                          </m:r>
                        </m:sup>
                        <m:e>
                          <m:sSup>
                            <m:sSupPr>
                              <m:ctrlPr>
                                <a:rPr lang="en-US" sz="2000" i="1" smtClean="0">
                                  <a:latin typeface="Cambria Math" panose="02040503050406030204" pitchFamily="18" charset="0"/>
                                </a:rPr>
                              </m:ctrlPr>
                            </m:sSupPr>
                            <m:e>
                              <m:r>
                                <a:rPr lang="en-US" sz="2000" b="0" i="1" smtClean="0">
                                  <a:latin typeface="Cambria Math"/>
                                </a:rPr>
                                <m:t>𝑟</m:t>
                              </m:r>
                            </m:e>
                            <m:sup>
                              <m:r>
                                <a:rPr lang="en-US" sz="2000" b="0" i="1" smtClean="0">
                                  <a:latin typeface="Cambria Math"/>
                                </a:rPr>
                                <m:t>2</m:t>
                              </m:r>
                            </m:sup>
                          </m:sSup>
                          <m:r>
                            <a:rPr lang="en-US" sz="2000" b="0" i="1" smtClean="0">
                              <a:latin typeface="Cambria Math"/>
                            </a:rPr>
                            <m:t>𝑃</m:t>
                          </m:r>
                          <m:d>
                            <m:dPr>
                              <m:ctrlPr>
                                <a:rPr lang="en-US" sz="2000" i="1" smtClean="0">
                                  <a:latin typeface="Cambria Math" panose="02040503050406030204" pitchFamily="18" charset="0"/>
                                </a:rPr>
                              </m:ctrlPr>
                            </m:dPr>
                            <m:e>
                              <m:r>
                                <a:rPr lang="en-US" sz="2000" b="0" i="1" smtClean="0">
                                  <a:latin typeface="Cambria Math"/>
                                </a:rPr>
                                <m:t>𝑟</m:t>
                              </m:r>
                            </m:e>
                          </m:d>
                          <m:r>
                            <a:rPr lang="en-US" sz="2000" b="0" i="1" smtClean="0">
                              <a:latin typeface="Cambria Math"/>
                            </a:rPr>
                            <m:t>−</m:t>
                          </m:r>
                          <m:sSup>
                            <m:sSupPr>
                              <m:ctrlPr>
                                <a:rPr lang="en-US" sz="2000" i="1" smtClean="0">
                                  <a:latin typeface="Cambria Math" panose="02040503050406030204" pitchFamily="18" charset="0"/>
                                </a:rPr>
                              </m:ctrlPr>
                            </m:sSupPr>
                            <m:e>
                              <m:r>
                                <a:rPr lang="en-US" sz="2000" b="0" i="1" smtClean="0">
                                  <a:latin typeface="Cambria Math"/>
                                  <a:ea typeface="Cambria Math"/>
                                </a:rPr>
                                <m:t>𝜇</m:t>
                              </m:r>
                            </m:e>
                            <m:sup>
                              <m:r>
                                <a:rPr lang="en-US" sz="2000" b="0" i="1" smtClean="0">
                                  <a:latin typeface="Cambria Math"/>
                                </a:rPr>
                                <m:t>2</m:t>
                              </m:r>
                            </m:sup>
                          </m:sSup>
                        </m:e>
                      </m:nary>
                    </m:oMath>
                  </m:oMathPara>
                </a14:m>
                <a:endParaRPr lang="en-US" sz="2000" dirty="0"/>
              </a:p>
              <a:p>
                <a:pPr marL="0" indent="0">
                  <a:buNone/>
                </a:pPr>
                <a14:m>
                  <m:oMathPara xmlns:m="http://schemas.openxmlformats.org/officeDocument/2006/math">
                    <m:oMathParaPr>
                      <m:jc m:val="left"/>
                    </m:oMathParaPr>
                    <m:oMath xmlns:m="http://schemas.openxmlformats.org/officeDocument/2006/math">
                      <m:r>
                        <a:rPr lang="en-US" sz="2000" i="1">
                          <a:latin typeface="Cambria Math"/>
                        </a:rPr>
                        <m:t>=</m:t>
                      </m:r>
                      <m:nary>
                        <m:naryPr>
                          <m:chr m:val="∑"/>
                          <m:ctrlPr>
                            <a:rPr lang="en-US" sz="2000" i="1">
                              <a:latin typeface="Cambria Math" panose="02040503050406030204" pitchFamily="18" charset="0"/>
                            </a:rPr>
                          </m:ctrlPr>
                        </m:naryPr>
                        <m:sub>
                          <m:r>
                            <m:rPr>
                              <m:brk m:alnAt="23"/>
                            </m:rPr>
                            <a:rPr lang="en-US" sz="2000" i="1">
                              <a:latin typeface="Cambria Math"/>
                            </a:rPr>
                            <m:t>𝑟</m:t>
                          </m:r>
                          <m:r>
                            <a:rPr lang="en-US" sz="2000" i="1">
                              <a:latin typeface="Cambria Math"/>
                            </a:rPr>
                            <m:t>=0</m:t>
                          </m:r>
                        </m:sub>
                        <m:sup>
                          <m:r>
                            <a:rPr lang="en-US" sz="2000" i="1">
                              <a:latin typeface="Cambria Math"/>
                            </a:rPr>
                            <m:t>𝑛</m:t>
                          </m:r>
                        </m:sup>
                        <m:e>
                          <m:r>
                            <a:rPr lang="en-US" sz="2000" b="0" i="1" smtClean="0">
                              <a:latin typeface="Cambria Math"/>
                            </a:rPr>
                            <m:t>[</m:t>
                          </m:r>
                          <m:r>
                            <a:rPr lang="en-US" sz="2000" b="0" i="1" smtClean="0">
                              <a:latin typeface="Cambria Math"/>
                            </a:rPr>
                            <m:t>𝑟</m:t>
                          </m:r>
                          <m:r>
                            <a:rPr lang="en-US" sz="2000" b="0" i="1" smtClean="0">
                              <a:latin typeface="Cambria Math"/>
                            </a:rPr>
                            <m:t>+</m:t>
                          </m:r>
                          <m:r>
                            <a:rPr lang="en-US" sz="2000" b="0" i="1" smtClean="0">
                              <a:latin typeface="Cambria Math"/>
                            </a:rPr>
                            <m:t>𝑟</m:t>
                          </m:r>
                          <m:d>
                            <m:dPr>
                              <m:ctrlPr>
                                <a:rPr lang="en-US" sz="2000" b="0" i="1" smtClean="0">
                                  <a:latin typeface="Cambria Math" panose="02040503050406030204" pitchFamily="18" charset="0"/>
                                </a:rPr>
                              </m:ctrlPr>
                            </m:dPr>
                            <m:e>
                              <m:r>
                                <a:rPr lang="en-US" sz="2000" b="0" i="1" smtClean="0">
                                  <a:latin typeface="Cambria Math"/>
                                </a:rPr>
                                <m:t>𝑟</m:t>
                              </m:r>
                              <m:r>
                                <a:rPr lang="en-US" sz="2000" b="0" i="1" smtClean="0">
                                  <a:latin typeface="Cambria Math"/>
                                </a:rPr>
                                <m:t>−1</m:t>
                              </m:r>
                            </m:e>
                          </m:d>
                          <m:r>
                            <a:rPr lang="en-US" sz="2000" b="0" i="1" smtClean="0">
                              <a:latin typeface="Cambria Math"/>
                            </a:rPr>
                            <m:t>]</m:t>
                          </m:r>
                          <m:r>
                            <a:rPr lang="en-US" sz="2000" i="1">
                              <a:latin typeface="Cambria Math"/>
                            </a:rPr>
                            <m:t>𝑃</m:t>
                          </m:r>
                          <m:d>
                            <m:dPr>
                              <m:ctrlPr>
                                <a:rPr lang="en-US" sz="2000" i="1">
                                  <a:latin typeface="Cambria Math" panose="02040503050406030204" pitchFamily="18" charset="0"/>
                                </a:rPr>
                              </m:ctrlPr>
                            </m:dPr>
                            <m:e>
                              <m:r>
                                <a:rPr lang="en-US" sz="2000" i="1">
                                  <a:latin typeface="Cambria Math"/>
                                </a:rPr>
                                <m:t>𝑟</m:t>
                              </m:r>
                            </m:e>
                          </m:d>
                          <m:r>
                            <a:rPr lang="en-US" sz="2000" i="1">
                              <a:latin typeface="Cambria Math"/>
                            </a:rPr>
                            <m:t>−</m:t>
                          </m:r>
                          <m:sSup>
                            <m:sSupPr>
                              <m:ctrlPr>
                                <a:rPr lang="en-US" sz="2000" i="1">
                                  <a:latin typeface="Cambria Math" panose="02040503050406030204" pitchFamily="18" charset="0"/>
                                </a:rPr>
                              </m:ctrlPr>
                            </m:sSupPr>
                            <m:e>
                              <m:r>
                                <a:rPr lang="en-US" sz="2000" i="1">
                                  <a:latin typeface="Cambria Math"/>
                                  <a:ea typeface="Cambria Math"/>
                                </a:rPr>
                                <m:t>𝜇</m:t>
                              </m:r>
                            </m:e>
                            <m:sup>
                              <m:r>
                                <a:rPr lang="en-US" sz="2000" i="1">
                                  <a:latin typeface="Cambria Math"/>
                                </a:rPr>
                                <m:t>2</m:t>
                              </m:r>
                            </m:sup>
                          </m:sSup>
                        </m:e>
                      </m:nary>
                    </m:oMath>
                  </m:oMathPara>
                </a14:m>
                <a:endParaRPr lang="en-US" sz="2000" dirty="0"/>
              </a:p>
              <a:p>
                <a:pPr marL="0" indent="0">
                  <a:buNone/>
                </a:pPr>
                <a14:m>
                  <m:oMathPara xmlns:m="http://schemas.openxmlformats.org/officeDocument/2006/math">
                    <m:oMathParaPr>
                      <m:jc m:val="left"/>
                    </m:oMathParaPr>
                    <m:oMath xmlns:m="http://schemas.openxmlformats.org/officeDocument/2006/math">
                      <m:r>
                        <a:rPr lang="en-US" sz="2000" i="1">
                          <a:latin typeface="Cambria Math"/>
                        </a:rPr>
                        <m:t>=</m:t>
                      </m:r>
                      <m:nary>
                        <m:naryPr>
                          <m:chr m:val="∑"/>
                          <m:ctrlPr>
                            <a:rPr lang="en-US" sz="2000" i="1">
                              <a:latin typeface="Cambria Math" panose="02040503050406030204" pitchFamily="18" charset="0"/>
                            </a:rPr>
                          </m:ctrlPr>
                        </m:naryPr>
                        <m:sub>
                          <m:r>
                            <m:rPr>
                              <m:brk m:alnAt="23"/>
                            </m:rPr>
                            <a:rPr lang="en-US" sz="2000" i="1">
                              <a:latin typeface="Cambria Math"/>
                            </a:rPr>
                            <m:t>𝑟</m:t>
                          </m:r>
                          <m:r>
                            <a:rPr lang="en-US" sz="2000" i="1">
                              <a:latin typeface="Cambria Math"/>
                            </a:rPr>
                            <m:t>=0</m:t>
                          </m:r>
                        </m:sub>
                        <m:sup>
                          <m:r>
                            <a:rPr lang="en-US" sz="2000" i="1">
                              <a:latin typeface="Cambria Math"/>
                            </a:rPr>
                            <m:t>𝑛</m:t>
                          </m:r>
                        </m:sup>
                        <m:e>
                          <m:r>
                            <a:rPr lang="en-US" sz="2000" b="0" i="1" smtClean="0">
                              <a:latin typeface="Cambria Math"/>
                            </a:rPr>
                            <m:t>𝑟</m:t>
                          </m:r>
                          <m:r>
                            <a:rPr lang="en-US" sz="2000" i="1">
                              <a:latin typeface="Cambria Math"/>
                            </a:rPr>
                            <m:t>𝑃</m:t>
                          </m:r>
                          <m:d>
                            <m:dPr>
                              <m:ctrlPr>
                                <a:rPr lang="en-US" sz="2000" i="1">
                                  <a:latin typeface="Cambria Math" panose="02040503050406030204" pitchFamily="18" charset="0"/>
                                </a:rPr>
                              </m:ctrlPr>
                            </m:dPr>
                            <m:e>
                              <m:r>
                                <a:rPr lang="en-US" sz="2000" i="1">
                                  <a:latin typeface="Cambria Math"/>
                                </a:rPr>
                                <m:t>𝑟</m:t>
                              </m:r>
                            </m:e>
                          </m:d>
                          <m:r>
                            <a:rPr lang="en-US" sz="2000" b="0" i="1" smtClean="0">
                              <a:latin typeface="Cambria Math"/>
                            </a:rPr>
                            <m:t>+</m:t>
                          </m:r>
                          <m:nary>
                            <m:naryPr>
                              <m:chr m:val="∑"/>
                              <m:ctrlPr>
                                <a:rPr lang="en-US" sz="2000" i="1">
                                  <a:latin typeface="Cambria Math" panose="02040503050406030204" pitchFamily="18" charset="0"/>
                                </a:rPr>
                              </m:ctrlPr>
                            </m:naryPr>
                            <m:sub>
                              <m:r>
                                <m:rPr>
                                  <m:brk m:alnAt="23"/>
                                </m:rPr>
                                <a:rPr lang="en-US" sz="2000" i="1">
                                  <a:latin typeface="Cambria Math"/>
                                </a:rPr>
                                <m:t>𝑟</m:t>
                              </m:r>
                              <m:r>
                                <a:rPr lang="en-US" sz="2000" i="1">
                                  <a:latin typeface="Cambria Math"/>
                                </a:rPr>
                                <m:t>=0</m:t>
                              </m:r>
                            </m:sub>
                            <m:sup>
                              <m:r>
                                <a:rPr lang="en-US" sz="2000" i="1">
                                  <a:latin typeface="Cambria Math"/>
                                </a:rPr>
                                <m:t>𝑛</m:t>
                              </m:r>
                            </m:sup>
                            <m:e>
                              <m:r>
                                <a:rPr lang="en-US" sz="2000" b="0" i="1" smtClean="0">
                                  <a:latin typeface="Cambria Math"/>
                                </a:rPr>
                                <m:t>𝑟</m:t>
                              </m:r>
                              <m:r>
                                <a:rPr lang="en-US" sz="2000" b="0" i="1" smtClean="0">
                                  <a:latin typeface="Cambria Math"/>
                                </a:rPr>
                                <m:t>(</m:t>
                              </m:r>
                              <m:r>
                                <a:rPr lang="en-US" sz="2000" b="0" i="1" smtClean="0">
                                  <a:latin typeface="Cambria Math"/>
                                </a:rPr>
                                <m:t>𝑟</m:t>
                              </m:r>
                              <m:r>
                                <a:rPr lang="en-US" sz="2000" b="0" i="1" smtClean="0">
                                  <a:latin typeface="Cambria Math"/>
                                </a:rPr>
                                <m:t>−1)</m:t>
                              </m:r>
                              <m:r>
                                <a:rPr lang="en-US" sz="2000" i="1">
                                  <a:latin typeface="Cambria Math"/>
                                </a:rPr>
                                <m:t>𝑃</m:t>
                              </m:r>
                              <m:d>
                                <m:dPr>
                                  <m:ctrlPr>
                                    <a:rPr lang="en-US" sz="2000" i="1">
                                      <a:latin typeface="Cambria Math" panose="02040503050406030204" pitchFamily="18" charset="0"/>
                                    </a:rPr>
                                  </m:ctrlPr>
                                </m:dPr>
                                <m:e>
                                  <m:r>
                                    <a:rPr lang="en-US" sz="2000" i="1">
                                      <a:latin typeface="Cambria Math"/>
                                    </a:rPr>
                                    <m:t>𝑟</m:t>
                                  </m:r>
                                </m:e>
                              </m:d>
                              <m:r>
                                <a:rPr lang="en-US" sz="2000" i="1">
                                  <a:latin typeface="Cambria Math"/>
                                </a:rPr>
                                <m:t>−</m:t>
                              </m:r>
                              <m:sSup>
                                <m:sSupPr>
                                  <m:ctrlPr>
                                    <a:rPr lang="en-US" sz="2000" i="1">
                                      <a:latin typeface="Cambria Math" panose="02040503050406030204" pitchFamily="18" charset="0"/>
                                    </a:rPr>
                                  </m:ctrlPr>
                                </m:sSupPr>
                                <m:e>
                                  <m:r>
                                    <a:rPr lang="en-US" sz="2000" i="1">
                                      <a:latin typeface="Cambria Math"/>
                                      <a:ea typeface="Cambria Math"/>
                                    </a:rPr>
                                    <m:t>𝜇</m:t>
                                  </m:r>
                                </m:e>
                                <m:sup>
                                  <m:r>
                                    <a:rPr lang="en-US" sz="2000" i="1">
                                      <a:latin typeface="Cambria Math"/>
                                    </a:rPr>
                                    <m:t>2</m:t>
                                  </m:r>
                                </m:sup>
                              </m:sSup>
                            </m:e>
                          </m:nary>
                        </m:e>
                      </m:nary>
                    </m:oMath>
                  </m:oMathPara>
                </a14:m>
                <a:endParaRPr lang="en-US" sz="2000" dirty="0"/>
              </a:p>
              <a:p>
                <a:pPr marL="0" indent="0">
                  <a:buNone/>
                </a:pPr>
                <a14:m>
                  <m:oMathPara xmlns:m="http://schemas.openxmlformats.org/officeDocument/2006/math">
                    <m:oMathParaPr>
                      <m:jc m:val="left"/>
                    </m:oMathParaPr>
                    <m:oMath xmlns:m="http://schemas.openxmlformats.org/officeDocument/2006/math">
                      <m:r>
                        <a:rPr lang="en-US" sz="2000" i="1">
                          <a:latin typeface="Cambria Math"/>
                        </a:rPr>
                        <m:t>=</m:t>
                      </m:r>
                      <m:r>
                        <a:rPr lang="en-US" sz="2000" b="0" i="1" smtClean="0">
                          <a:latin typeface="Cambria Math"/>
                        </a:rPr>
                        <m:t>𝑛𝑝</m:t>
                      </m:r>
                      <m:r>
                        <a:rPr lang="en-US" sz="2000" b="0" i="1" smtClean="0">
                          <a:latin typeface="Cambria Math"/>
                          <a:ea typeface="Cambria Math"/>
                        </a:rPr>
                        <m:t>+</m:t>
                      </m:r>
                      <m:nary>
                        <m:naryPr>
                          <m:chr m:val="∑"/>
                          <m:ctrlPr>
                            <a:rPr lang="en-US" sz="2000" i="1" smtClean="0">
                              <a:latin typeface="Cambria Math" panose="02040503050406030204" pitchFamily="18" charset="0"/>
                            </a:rPr>
                          </m:ctrlPr>
                        </m:naryPr>
                        <m:sub>
                          <m:r>
                            <m:rPr>
                              <m:brk m:alnAt="23"/>
                            </m:rPr>
                            <a:rPr lang="en-US" sz="2000" i="1">
                              <a:latin typeface="Cambria Math"/>
                            </a:rPr>
                            <m:t>𝑟</m:t>
                          </m:r>
                          <m:r>
                            <a:rPr lang="en-US" sz="2000" i="1">
                              <a:latin typeface="Cambria Math"/>
                            </a:rPr>
                            <m:t>=0</m:t>
                          </m:r>
                        </m:sub>
                        <m:sup>
                          <m:r>
                            <a:rPr lang="en-US" sz="2000" i="1">
                              <a:latin typeface="Cambria Math"/>
                            </a:rPr>
                            <m:t>𝑛</m:t>
                          </m:r>
                        </m:sup>
                        <m:e>
                          <m:r>
                            <a:rPr lang="en-US" sz="2000" b="0" i="1" smtClean="0">
                              <a:latin typeface="Cambria Math"/>
                            </a:rPr>
                            <m:t>𝑟</m:t>
                          </m:r>
                          <m:r>
                            <a:rPr lang="en-US" sz="2000" b="0" i="1" smtClean="0">
                              <a:latin typeface="Cambria Math"/>
                            </a:rPr>
                            <m:t>(</m:t>
                          </m:r>
                          <m:r>
                            <a:rPr lang="en-US" sz="2000" b="0" i="1" smtClean="0">
                              <a:latin typeface="Cambria Math"/>
                            </a:rPr>
                            <m:t>𝑟</m:t>
                          </m:r>
                          <m:r>
                            <a:rPr lang="en-US" sz="2000" b="0" i="1" smtClean="0">
                              <a:latin typeface="Cambria Math"/>
                            </a:rPr>
                            <m:t>−1)</m:t>
                          </m:r>
                          <m:r>
                            <a:rPr lang="en-US" sz="2000" i="1">
                              <a:latin typeface="Cambria Math"/>
                            </a:rPr>
                            <m:t>𝑃</m:t>
                          </m:r>
                          <m:d>
                            <m:dPr>
                              <m:ctrlPr>
                                <a:rPr lang="en-US" sz="2000" i="1">
                                  <a:latin typeface="Cambria Math" panose="02040503050406030204" pitchFamily="18" charset="0"/>
                                </a:rPr>
                              </m:ctrlPr>
                            </m:dPr>
                            <m:e>
                              <m:r>
                                <a:rPr lang="en-US" sz="2000" i="1">
                                  <a:latin typeface="Cambria Math"/>
                                </a:rPr>
                                <m:t>𝑟</m:t>
                              </m:r>
                            </m:e>
                          </m:d>
                          <m:r>
                            <a:rPr lang="en-US" sz="2000" i="1">
                              <a:latin typeface="Cambria Math"/>
                            </a:rPr>
                            <m:t>−</m:t>
                          </m:r>
                          <m:sSup>
                            <m:sSupPr>
                              <m:ctrlPr>
                                <a:rPr lang="en-US" sz="2000" i="1">
                                  <a:latin typeface="Cambria Math" panose="02040503050406030204" pitchFamily="18" charset="0"/>
                                </a:rPr>
                              </m:ctrlPr>
                            </m:sSupPr>
                            <m:e>
                              <m:r>
                                <a:rPr lang="en-US" sz="2000" b="0" i="1" smtClean="0">
                                  <a:latin typeface="Cambria Math"/>
                                </a:rPr>
                                <m:t>𝑛</m:t>
                              </m:r>
                            </m:e>
                            <m:sup>
                              <m:r>
                                <a:rPr lang="en-US" sz="2000" i="1">
                                  <a:latin typeface="Cambria Math"/>
                                </a:rPr>
                                <m:t>2</m:t>
                              </m:r>
                            </m:sup>
                          </m:sSup>
                          <m:sSup>
                            <m:sSupPr>
                              <m:ctrlPr>
                                <a:rPr lang="en-US" sz="2000" i="1">
                                  <a:latin typeface="Cambria Math" panose="02040503050406030204" pitchFamily="18" charset="0"/>
                                  <a:ea typeface="Cambria Math"/>
                                </a:rPr>
                              </m:ctrlPr>
                            </m:sSupPr>
                            <m:e>
                              <m:r>
                                <a:rPr lang="en-US" sz="2000" i="1">
                                  <a:latin typeface="Cambria Math"/>
                                  <a:ea typeface="Cambria Math"/>
                                </a:rPr>
                                <m:t>𝑝</m:t>
                              </m:r>
                            </m:e>
                            <m:sup>
                              <m:r>
                                <a:rPr lang="en-US" sz="2000" i="1">
                                  <a:latin typeface="Cambria Math"/>
                                  <a:ea typeface="Cambria Math"/>
                                </a:rPr>
                                <m:t>2</m:t>
                              </m:r>
                            </m:sup>
                          </m:sSup>
                        </m:e>
                      </m:nary>
                    </m:oMath>
                  </m:oMathPara>
                </a14:m>
                <a:endParaRPr lang="en-US" sz="2000" dirty="0"/>
              </a:p>
              <a:p>
                <a:pPr marL="0" indent="0">
                  <a:buNone/>
                </a:pPr>
                <a14:m>
                  <m:oMathPara xmlns:m="http://schemas.openxmlformats.org/officeDocument/2006/math">
                    <m:oMathParaPr>
                      <m:jc m:val="left"/>
                    </m:oMathParaPr>
                    <m:oMath xmlns:m="http://schemas.openxmlformats.org/officeDocument/2006/math">
                      <m:r>
                        <a:rPr lang="en-US" sz="2000" i="1">
                          <a:latin typeface="Cambria Math"/>
                        </a:rPr>
                        <m:t>=</m:t>
                      </m:r>
                      <m:r>
                        <a:rPr lang="en-US" sz="2000" i="1">
                          <a:latin typeface="Cambria Math"/>
                        </a:rPr>
                        <m:t>𝑛𝑝</m:t>
                      </m:r>
                      <m:r>
                        <a:rPr lang="en-US" sz="2000" i="1">
                          <a:latin typeface="Cambria Math"/>
                          <a:ea typeface="Cambria Math"/>
                        </a:rPr>
                        <m:t>+</m:t>
                      </m:r>
                      <m:r>
                        <a:rPr lang="en-US" sz="2000" b="0" i="1" smtClean="0">
                          <a:latin typeface="Cambria Math"/>
                          <a:ea typeface="Cambria Math"/>
                        </a:rPr>
                        <m:t>𝑛</m:t>
                      </m:r>
                      <m:d>
                        <m:dPr>
                          <m:ctrlPr>
                            <a:rPr lang="en-US" sz="2000" b="0" i="1" smtClean="0">
                              <a:latin typeface="Cambria Math" panose="02040503050406030204" pitchFamily="18" charset="0"/>
                              <a:ea typeface="Cambria Math"/>
                            </a:rPr>
                          </m:ctrlPr>
                        </m:dPr>
                        <m:e>
                          <m:r>
                            <a:rPr lang="en-US" sz="2000" b="0" i="1" smtClean="0">
                              <a:latin typeface="Cambria Math"/>
                              <a:ea typeface="Cambria Math"/>
                            </a:rPr>
                            <m:t>𝑛</m:t>
                          </m:r>
                          <m:r>
                            <a:rPr lang="en-US" sz="2000" b="0" i="1" smtClean="0">
                              <a:latin typeface="Cambria Math"/>
                              <a:ea typeface="Cambria Math"/>
                            </a:rPr>
                            <m:t>−1</m:t>
                          </m:r>
                        </m:e>
                      </m:d>
                      <m:sSup>
                        <m:sSupPr>
                          <m:ctrlPr>
                            <a:rPr lang="en-US" sz="2000" b="0" i="1" smtClean="0">
                              <a:latin typeface="Cambria Math" panose="02040503050406030204" pitchFamily="18" charset="0"/>
                              <a:ea typeface="Cambria Math"/>
                            </a:rPr>
                          </m:ctrlPr>
                        </m:sSupPr>
                        <m:e>
                          <m:r>
                            <a:rPr lang="en-US" sz="2000" b="0" i="1" smtClean="0">
                              <a:latin typeface="Cambria Math"/>
                              <a:ea typeface="Cambria Math"/>
                            </a:rPr>
                            <m:t>𝑝</m:t>
                          </m:r>
                        </m:e>
                        <m:sup>
                          <m:r>
                            <a:rPr lang="en-US" sz="2000" b="0" i="1" smtClean="0">
                              <a:latin typeface="Cambria Math"/>
                              <a:ea typeface="Cambria Math"/>
                            </a:rPr>
                            <m:t>2</m:t>
                          </m:r>
                        </m:sup>
                      </m:sSup>
                      <m:r>
                        <a:rPr lang="en-US" sz="2000" b="0" i="1" smtClean="0">
                          <a:latin typeface="Cambria Math"/>
                          <a:ea typeface="Cambria Math"/>
                        </a:rPr>
                        <m:t>−</m:t>
                      </m:r>
                      <m:sSup>
                        <m:sSupPr>
                          <m:ctrlPr>
                            <a:rPr lang="en-US" sz="2000" b="0" i="1" smtClean="0">
                              <a:latin typeface="Cambria Math" panose="02040503050406030204" pitchFamily="18" charset="0"/>
                              <a:ea typeface="Cambria Math"/>
                            </a:rPr>
                          </m:ctrlPr>
                        </m:sSupPr>
                        <m:e>
                          <m:r>
                            <a:rPr lang="en-US" sz="2000" b="0" i="1" smtClean="0">
                              <a:latin typeface="Cambria Math"/>
                              <a:ea typeface="Cambria Math"/>
                            </a:rPr>
                            <m:t>𝑛</m:t>
                          </m:r>
                        </m:e>
                        <m:sup>
                          <m:r>
                            <a:rPr lang="en-US" sz="2000" b="0" i="1" smtClean="0">
                              <a:latin typeface="Cambria Math"/>
                              <a:ea typeface="Cambria Math"/>
                            </a:rPr>
                            <m:t>2</m:t>
                          </m:r>
                        </m:sup>
                      </m:sSup>
                      <m:sSup>
                        <m:sSupPr>
                          <m:ctrlPr>
                            <a:rPr lang="en-US" sz="2000" b="0" i="1" smtClean="0">
                              <a:latin typeface="Cambria Math" panose="02040503050406030204" pitchFamily="18" charset="0"/>
                              <a:ea typeface="Cambria Math"/>
                            </a:rPr>
                          </m:ctrlPr>
                        </m:sSupPr>
                        <m:e>
                          <m:r>
                            <a:rPr lang="en-US" sz="2000" b="0" i="1" smtClean="0">
                              <a:latin typeface="Cambria Math"/>
                              <a:ea typeface="Cambria Math"/>
                            </a:rPr>
                            <m:t>𝑝</m:t>
                          </m:r>
                        </m:e>
                        <m:sup>
                          <m:r>
                            <a:rPr lang="en-US" sz="2000" b="0" i="1" smtClean="0">
                              <a:latin typeface="Cambria Math"/>
                              <a:ea typeface="Cambria Math"/>
                            </a:rPr>
                            <m:t>2</m:t>
                          </m:r>
                        </m:sup>
                      </m:sSup>
                      <m:r>
                        <a:rPr lang="en-US" sz="2000" b="0" i="1" smtClean="0">
                          <a:latin typeface="Cambria Math"/>
                          <a:ea typeface="Cambria Math"/>
                        </a:rPr>
                        <m:t>=</m:t>
                      </m:r>
                      <m:r>
                        <a:rPr lang="en-US" sz="2000" b="0" i="1" smtClean="0">
                          <a:latin typeface="Cambria Math"/>
                          <a:ea typeface="Cambria Math"/>
                        </a:rPr>
                        <m:t>𝑛𝑝</m:t>
                      </m:r>
                      <m:d>
                        <m:dPr>
                          <m:ctrlPr>
                            <a:rPr lang="en-US" sz="2000" b="0" i="1" smtClean="0">
                              <a:latin typeface="Cambria Math" panose="02040503050406030204" pitchFamily="18" charset="0"/>
                              <a:ea typeface="Cambria Math"/>
                            </a:rPr>
                          </m:ctrlPr>
                        </m:dPr>
                        <m:e>
                          <m:r>
                            <a:rPr lang="en-US" sz="2000" b="0" i="1" smtClean="0">
                              <a:latin typeface="Cambria Math"/>
                              <a:ea typeface="Cambria Math"/>
                            </a:rPr>
                            <m:t>1−</m:t>
                          </m:r>
                          <m:r>
                            <a:rPr lang="en-US" sz="2000" b="0" i="1" smtClean="0">
                              <a:latin typeface="Cambria Math"/>
                              <a:ea typeface="Cambria Math"/>
                            </a:rPr>
                            <m:t>𝑝</m:t>
                          </m:r>
                        </m:e>
                      </m:d>
                      <m:r>
                        <a:rPr lang="en-US" sz="2000" b="0" i="1" smtClean="0">
                          <a:latin typeface="Cambria Math"/>
                          <a:ea typeface="Cambria Math"/>
                        </a:rPr>
                        <m:t>=</m:t>
                      </m:r>
                      <m:r>
                        <a:rPr lang="en-US" sz="2000" b="0" i="1" smtClean="0">
                          <a:latin typeface="Cambria Math"/>
                          <a:ea typeface="Cambria Math"/>
                        </a:rPr>
                        <m:t>𝑛𝑝𝑞</m:t>
                      </m:r>
                    </m:oMath>
                  </m:oMathPara>
                </a14:m>
                <a:endParaRPr lang="en-US" sz="2000" dirty="0"/>
              </a:p>
              <a:p>
                <a:pPr marL="0" indent="0">
                  <a:buNone/>
                </a:pPr>
                <a:endParaRPr lang="en-US" sz="2000" dirty="0"/>
              </a:p>
              <a:p>
                <a:pPr marL="0" indent="0">
                  <a:buNone/>
                </a:pPr>
                <a:endParaRPr lang="en-US" sz="2000" dirty="0"/>
              </a:p>
              <a:p>
                <a:pPr marL="0" indent="0">
                  <a:buNone/>
                </a:pPr>
                <a:endParaRPr lang="en-US" sz="2200" dirty="0"/>
              </a:p>
              <a:p>
                <a:pPr marL="0" indent="0">
                  <a:buNone/>
                </a:pPr>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15713412-0A78-4AD8-9597-D8B6A25DA391}"/>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5988388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000" dirty="0"/>
                  <a:t>Hence the</a:t>
                </a:r>
                <a:r>
                  <a:rPr lang="en-US" sz="2000" b="1" dirty="0"/>
                  <a:t> Variance of binomial distribution is </a:t>
                </a:r>
                <a14:m>
                  <m:oMath xmlns:m="http://schemas.openxmlformats.org/officeDocument/2006/math">
                    <m:r>
                      <a:rPr lang="en-US" sz="2000" b="1" i="1" smtClean="0">
                        <a:latin typeface="Cambria Math"/>
                      </a:rPr>
                      <m:t>𝒏𝒑𝒒</m:t>
                    </m:r>
                  </m:oMath>
                </a14:m>
                <a:r>
                  <a:rPr lang="en-US" sz="2000" dirty="0"/>
                  <a:t>and Standard deviation is </a:t>
                </a:r>
                <a14:m>
                  <m:oMath xmlns:m="http://schemas.openxmlformats.org/officeDocument/2006/math">
                    <m:rad>
                      <m:radPr>
                        <m:degHide m:val="on"/>
                        <m:ctrlPr>
                          <a:rPr lang="en-US" sz="2000" i="1" smtClean="0">
                            <a:latin typeface="Cambria Math" panose="02040503050406030204" pitchFamily="18" charset="0"/>
                          </a:rPr>
                        </m:ctrlPr>
                      </m:radPr>
                      <m:deg/>
                      <m:e>
                        <m:r>
                          <a:rPr lang="en-US" sz="2000" b="0" i="1" smtClean="0">
                            <a:latin typeface="Cambria Math"/>
                          </a:rPr>
                          <m:t>𝑛𝑝𝑞</m:t>
                        </m:r>
                      </m:e>
                    </m:rad>
                  </m:oMath>
                </a14:m>
                <a:r>
                  <a:rPr lang="en-US" sz="2000" dirty="0"/>
                  <a:t>.</a:t>
                </a:r>
              </a:p>
              <a:p>
                <a:pPr marL="0" indent="0" algn="just">
                  <a:buNone/>
                </a:pPr>
                <a:r>
                  <a:rPr lang="en-US" sz="2000" b="1" dirty="0"/>
                  <a:t>Moment generating function of binomial Distribution:</a:t>
                </a:r>
              </a:p>
              <a:p>
                <a:pPr marL="514350" indent="-514350" algn="just">
                  <a:buFont typeface="+mj-lt"/>
                  <a:buAutoNum type="romanLcPeriod"/>
                </a:pPr>
                <a:r>
                  <a:rPr lang="en-US" sz="2000" dirty="0"/>
                  <a:t>About origin</a:t>
                </a:r>
              </a:p>
              <a:p>
                <a:pPr marL="0" indent="0" algn="just">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a:rPr>
                            <m:t>𝑀</m:t>
                          </m:r>
                        </m:e>
                        <m:sub>
                          <m:r>
                            <a:rPr lang="en-US" sz="2000" b="0" i="1" smtClean="0">
                              <a:latin typeface="Cambria Math"/>
                            </a:rPr>
                            <m:t>𝑥</m:t>
                          </m:r>
                        </m:sub>
                      </m:sSub>
                      <m:d>
                        <m:dPr>
                          <m:ctrlPr>
                            <a:rPr lang="en-US" sz="2000" i="1" smtClean="0">
                              <a:latin typeface="Cambria Math" panose="02040503050406030204" pitchFamily="18" charset="0"/>
                            </a:rPr>
                          </m:ctrlPr>
                        </m:dPr>
                        <m:e>
                          <m:r>
                            <a:rPr lang="en-US" sz="2000" b="0" i="1" smtClean="0">
                              <a:latin typeface="Cambria Math"/>
                            </a:rPr>
                            <m:t>𝑡</m:t>
                          </m:r>
                        </m:e>
                      </m:d>
                      <m:r>
                        <a:rPr lang="en-US" sz="2000" b="0" i="1" smtClean="0">
                          <a:latin typeface="Cambria Math"/>
                        </a:rPr>
                        <m:t>=</m:t>
                      </m:r>
                      <m:r>
                        <a:rPr lang="en-US" sz="2000" b="0" i="1" smtClean="0">
                          <a:latin typeface="Cambria Math"/>
                        </a:rPr>
                        <m:t>𝐸</m:t>
                      </m:r>
                      <m:d>
                        <m:dPr>
                          <m:ctrlPr>
                            <a:rPr lang="en-US" sz="2000" i="1" smtClean="0">
                              <a:latin typeface="Cambria Math" panose="02040503050406030204" pitchFamily="18" charset="0"/>
                            </a:rPr>
                          </m:ctrlPr>
                        </m:dPr>
                        <m:e>
                          <m:sSup>
                            <m:sSupPr>
                              <m:ctrlPr>
                                <a:rPr lang="en-US" sz="2000" i="1" smtClean="0">
                                  <a:latin typeface="Cambria Math" panose="02040503050406030204" pitchFamily="18" charset="0"/>
                                </a:rPr>
                              </m:ctrlPr>
                            </m:sSupPr>
                            <m:e>
                              <m:r>
                                <a:rPr lang="en-US" sz="2000" b="0" i="1" smtClean="0">
                                  <a:latin typeface="Cambria Math"/>
                                </a:rPr>
                                <m:t>𝑒</m:t>
                              </m:r>
                            </m:e>
                            <m:sup>
                              <m:r>
                                <a:rPr lang="en-US" sz="2000" b="0" i="1" smtClean="0">
                                  <a:latin typeface="Cambria Math"/>
                                </a:rPr>
                                <m:t>𝑥𝑡</m:t>
                              </m:r>
                            </m:sup>
                          </m:sSup>
                        </m:e>
                      </m:d>
                      <m:r>
                        <a:rPr lang="en-US" sz="2000" b="0" i="1" smtClean="0">
                          <a:latin typeface="Cambria Math"/>
                        </a:rPr>
                        <m:t>=</m:t>
                      </m:r>
                      <m:nary>
                        <m:naryPr>
                          <m:chr m:val="∑"/>
                          <m:ctrlPr>
                            <a:rPr lang="en-US" sz="2000" i="1" smtClean="0">
                              <a:latin typeface="Cambria Math" panose="02040503050406030204" pitchFamily="18" charset="0"/>
                            </a:rPr>
                          </m:ctrlPr>
                        </m:naryPr>
                        <m:sub>
                          <m:r>
                            <m:rPr>
                              <m:brk m:alnAt="23"/>
                            </m:rPr>
                            <a:rPr lang="en-US" sz="2000" b="0" i="1" smtClean="0">
                              <a:latin typeface="Cambria Math"/>
                            </a:rPr>
                            <m:t>𝑥</m:t>
                          </m:r>
                          <m:r>
                            <a:rPr lang="en-US" sz="2000" b="0" i="1" smtClean="0">
                              <a:latin typeface="Cambria Math"/>
                            </a:rPr>
                            <m:t>=0</m:t>
                          </m:r>
                        </m:sub>
                        <m:sup>
                          <m:r>
                            <a:rPr lang="en-US" sz="2000" b="0" i="1" smtClean="0">
                              <a:latin typeface="Cambria Math"/>
                            </a:rPr>
                            <m:t>𝑛</m:t>
                          </m:r>
                        </m:sup>
                        <m:e>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sup>
                                  <m:r>
                                    <a:rPr lang="en-US" sz="2000" b="0" i="1">
                                      <a:latin typeface="Cambria Math"/>
                                    </a:rPr>
                                    <m:t>𝑛</m:t>
                                  </m:r>
                                </m:sup>
                                <m:e>
                                  <m:r>
                                    <a:rPr lang="en-US" sz="2000" b="0" i="1">
                                      <a:latin typeface="Cambria Math"/>
                                    </a:rPr>
                                    <m:t>𝐶</m:t>
                                  </m:r>
                                </m:e>
                              </m:sPre>
                            </m:e>
                            <m:sub>
                              <m:r>
                                <a:rPr lang="en-US" sz="2000" b="0" i="1" smtClean="0">
                                  <a:latin typeface="Cambria Math"/>
                                </a:rPr>
                                <m:t>𝑥</m:t>
                              </m:r>
                            </m:sub>
                          </m:sSub>
                          <m:r>
                            <a:rPr lang="en-US" sz="2000" b="0" i="1" smtClean="0">
                              <a:latin typeface="Cambria Math"/>
                            </a:rPr>
                            <m:t>(</m:t>
                          </m:r>
                          <m:sSup>
                            <m:sSupPr>
                              <m:ctrlPr>
                                <a:rPr lang="en-US" sz="2000" i="1">
                                  <a:latin typeface="Cambria Math" panose="02040503050406030204" pitchFamily="18" charset="0"/>
                                </a:rPr>
                              </m:ctrlPr>
                            </m:sSupPr>
                            <m:e>
                              <m:r>
                                <a:rPr lang="en-US" sz="2000" b="0" i="1">
                                  <a:latin typeface="Cambria Math"/>
                                </a:rPr>
                                <m:t>𝑝</m:t>
                              </m:r>
                              <m:sSup>
                                <m:sSupPr>
                                  <m:ctrlPr>
                                    <a:rPr lang="en-US" sz="2000" i="1">
                                      <a:latin typeface="Cambria Math" panose="02040503050406030204" pitchFamily="18" charset="0"/>
                                    </a:rPr>
                                  </m:ctrlPr>
                                </m:sSupPr>
                                <m:e>
                                  <m:r>
                                    <a:rPr lang="en-US" sz="2000" b="0" i="1">
                                      <a:latin typeface="Cambria Math"/>
                                    </a:rPr>
                                    <m:t>𝑒</m:t>
                                  </m:r>
                                </m:e>
                                <m:sup>
                                  <m:r>
                                    <a:rPr lang="en-US" sz="2000" b="0" i="1">
                                      <a:latin typeface="Cambria Math"/>
                                    </a:rPr>
                                    <m:t>𝑡</m:t>
                                  </m:r>
                                </m:sup>
                              </m:sSup>
                              <m:r>
                                <a:rPr lang="en-US" sz="2000" b="0" i="1" smtClean="0">
                                  <a:latin typeface="Cambria Math"/>
                                </a:rPr>
                                <m:t>)</m:t>
                              </m:r>
                            </m:e>
                            <m:sup>
                              <m:r>
                                <a:rPr lang="en-US" sz="2000" b="0" i="1" smtClean="0">
                                  <a:latin typeface="Cambria Math"/>
                                </a:rPr>
                                <m:t>𝑥</m:t>
                              </m:r>
                            </m:sup>
                          </m:sSup>
                          <m:sSup>
                            <m:sSupPr>
                              <m:ctrlPr>
                                <a:rPr lang="en-US" sz="2000" i="1">
                                  <a:latin typeface="Cambria Math" panose="02040503050406030204" pitchFamily="18" charset="0"/>
                                </a:rPr>
                              </m:ctrlPr>
                            </m:sSupPr>
                            <m:e>
                              <m:r>
                                <a:rPr lang="en-US" sz="2000" b="0" i="1">
                                  <a:latin typeface="Cambria Math"/>
                                </a:rPr>
                                <m:t>𝑞</m:t>
                              </m:r>
                            </m:e>
                            <m:sup>
                              <m:r>
                                <a:rPr lang="en-US" sz="2000" b="0" i="1">
                                  <a:latin typeface="Cambria Math"/>
                                </a:rPr>
                                <m:t>𝑛</m:t>
                              </m:r>
                              <m:r>
                                <a:rPr lang="en-US" sz="2000" b="0" i="1">
                                  <a:latin typeface="Cambria Math"/>
                                </a:rPr>
                                <m:t>−</m:t>
                              </m:r>
                              <m:r>
                                <a:rPr lang="en-US" sz="2000" b="0" i="1" smtClean="0">
                                  <a:latin typeface="Cambria Math"/>
                                </a:rPr>
                                <m:t>𝑥</m:t>
                              </m:r>
                            </m:sup>
                          </m:sSup>
                        </m:e>
                      </m:nary>
                      <m:r>
                        <a:rPr lang="en-US" sz="2000" b="0" i="1" smtClean="0">
                          <a:latin typeface="Cambria Math"/>
                        </a:rPr>
                        <m:t>=</m:t>
                      </m:r>
                      <m:sSup>
                        <m:sSupPr>
                          <m:ctrlPr>
                            <a:rPr lang="en-US" sz="2000" i="1">
                              <a:latin typeface="Cambria Math" panose="02040503050406030204" pitchFamily="18" charset="0"/>
                            </a:rPr>
                          </m:ctrlPr>
                        </m:sSupPr>
                        <m:e>
                          <m:r>
                            <a:rPr lang="en-US" sz="2000" b="0" i="1" smtClean="0">
                              <a:latin typeface="Cambria Math"/>
                            </a:rPr>
                            <m:t>(</m:t>
                          </m:r>
                          <m:r>
                            <a:rPr lang="en-US" sz="2000" b="0" i="1" smtClean="0">
                              <a:latin typeface="Cambria Math"/>
                            </a:rPr>
                            <m:t>𝑞</m:t>
                          </m:r>
                          <m:r>
                            <a:rPr lang="en-US" sz="2000" b="0" i="1" smtClean="0">
                              <a:latin typeface="Cambria Math"/>
                            </a:rPr>
                            <m:t>+</m:t>
                          </m:r>
                          <m:r>
                            <a:rPr lang="en-US" sz="2000" b="0" i="1" smtClean="0">
                              <a:latin typeface="Cambria Math"/>
                            </a:rPr>
                            <m:t>𝑝</m:t>
                          </m:r>
                          <m:sSup>
                            <m:sSupPr>
                              <m:ctrlPr>
                                <a:rPr lang="en-US" sz="2000" i="1">
                                  <a:latin typeface="Cambria Math" panose="02040503050406030204" pitchFamily="18" charset="0"/>
                                </a:rPr>
                              </m:ctrlPr>
                            </m:sSupPr>
                            <m:e>
                              <m:r>
                                <a:rPr lang="en-US" sz="2000" b="0" i="1">
                                  <a:latin typeface="Cambria Math"/>
                                </a:rPr>
                                <m:t>𝑒</m:t>
                              </m:r>
                            </m:e>
                            <m:sup>
                              <m:r>
                                <a:rPr lang="en-US" sz="2000" b="0" i="1">
                                  <a:latin typeface="Cambria Math"/>
                                </a:rPr>
                                <m:t>𝑡</m:t>
                              </m:r>
                            </m:sup>
                          </m:sSup>
                          <m:r>
                            <a:rPr lang="en-US" sz="2000" b="0" i="1" smtClean="0">
                              <a:latin typeface="Cambria Math"/>
                            </a:rPr>
                            <m:t>)</m:t>
                          </m:r>
                        </m:e>
                        <m:sup>
                          <m:r>
                            <a:rPr lang="en-US" sz="2000" b="0" i="1" smtClean="0">
                              <a:latin typeface="Cambria Math"/>
                            </a:rPr>
                            <m:t>𝑛</m:t>
                          </m:r>
                        </m:sup>
                      </m:sSup>
                    </m:oMath>
                  </m:oMathPara>
                </a14:m>
                <a:endParaRPr lang="en-US" sz="2000" dirty="0"/>
              </a:p>
              <a:p>
                <a:pPr marL="514350" indent="-514350" algn="just">
                  <a:buAutoNum type="romanLcPeriod" startAt="2"/>
                </a:pPr>
                <a:r>
                  <a:rPr lang="en-US" sz="2000" dirty="0"/>
                  <a:t>About mean</a:t>
                </a:r>
              </a:p>
              <a:p>
                <a:pPr marL="0" indent="0" algn="just">
                  <a:buNone/>
                </a:pPr>
                <a:endParaRPr lang="en-US" sz="2000" dirty="0"/>
              </a:p>
              <a:p>
                <a:pPr marL="0" indent="0" algn="just">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a:rPr>
                            <m:t>𝑀</m:t>
                          </m:r>
                        </m:e>
                        <m:sub>
                          <m:r>
                            <a:rPr lang="en-US" sz="2000" i="1">
                              <a:latin typeface="Cambria Math"/>
                            </a:rPr>
                            <m:t>𝑥</m:t>
                          </m:r>
                          <m:r>
                            <a:rPr lang="en-US" sz="2000" b="0" i="1" smtClean="0">
                              <a:latin typeface="Cambria Math"/>
                            </a:rPr>
                            <m:t>−</m:t>
                          </m:r>
                          <m:r>
                            <a:rPr lang="en-US" sz="2000" b="0" i="1" smtClean="0">
                              <a:latin typeface="Cambria Math"/>
                            </a:rPr>
                            <m:t>𝑛𝑝</m:t>
                          </m:r>
                        </m:sub>
                      </m:sSub>
                      <m:d>
                        <m:dPr>
                          <m:ctrlPr>
                            <a:rPr lang="en-US" sz="2000" i="1">
                              <a:latin typeface="Cambria Math" panose="02040503050406030204" pitchFamily="18" charset="0"/>
                            </a:rPr>
                          </m:ctrlPr>
                        </m:dPr>
                        <m:e>
                          <m:r>
                            <a:rPr lang="en-US" sz="2000" i="1">
                              <a:latin typeface="Cambria Math"/>
                            </a:rPr>
                            <m:t>𝑡</m:t>
                          </m:r>
                        </m:e>
                      </m:d>
                      <m:r>
                        <a:rPr lang="en-US" sz="2000" i="1">
                          <a:latin typeface="Cambria Math"/>
                        </a:rPr>
                        <m:t>=</m:t>
                      </m:r>
                      <m:r>
                        <a:rPr lang="en-US" sz="2000" i="1">
                          <a:latin typeface="Cambria Math"/>
                        </a:rPr>
                        <m:t>𝐸</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a:rPr>
                                <m:t>𝑒</m:t>
                              </m:r>
                            </m:e>
                            <m:sup>
                              <m:r>
                                <a:rPr lang="en-US" sz="2000" b="0" i="1" smtClean="0">
                                  <a:latin typeface="Cambria Math"/>
                                </a:rPr>
                                <m:t>𝑡</m:t>
                              </m:r>
                              <m:r>
                                <a:rPr lang="en-US" sz="2000" b="0" i="1" smtClean="0">
                                  <a:latin typeface="Cambria Math"/>
                                </a:rPr>
                                <m:t>(</m:t>
                              </m:r>
                              <m:r>
                                <a:rPr lang="en-US" sz="2000" i="1">
                                  <a:latin typeface="Cambria Math"/>
                                </a:rPr>
                                <m:t>𝑥</m:t>
                              </m:r>
                              <m:r>
                                <a:rPr lang="en-US" sz="2000" b="0" i="1" smtClean="0">
                                  <a:latin typeface="Cambria Math"/>
                                </a:rPr>
                                <m:t>−</m:t>
                              </m:r>
                              <m:r>
                                <a:rPr lang="en-US" sz="2000" b="0" i="1" smtClean="0">
                                  <a:latin typeface="Cambria Math"/>
                                </a:rPr>
                                <m:t>𝑛𝑝</m:t>
                              </m:r>
                              <m:r>
                                <a:rPr lang="en-US" sz="2000" b="0" i="1" smtClean="0">
                                  <a:latin typeface="Cambria Math"/>
                                </a:rPr>
                                <m:t>)</m:t>
                              </m:r>
                            </m:sup>
                          </m:sSup>
                        </m:e>
                      </m:d>
                      <m:r>
                        <a:rPr lang="en-US" sz="2000" i="1">
                          <a:latin typeface="Cambria Math"/>
                        </a:rPr>
                        <m:t>=</m:t>
                      </m:r>
                      <m:sSup>
                        <m:sSupPr>
                          <m:ctrlPr>
                            <a:rPr lang="en-US" sz="2000" i="1" smtClean="0">
                              <a:latin typeface="Cambria Math" panose="02040503050406030204" pitchFamily="18" charset="0"/>
                            </a:rPr>
                          </m:ctrlPr>
                        </m:sSupPr>
                        <m:e>
                          <m:r>
                            <a:rPr lang="en-US" sz="2000" b="0" i="1" smtClean="0">
                              <a:latin typeface="Cambria Math"/>
                            </a:rPr>
                            <m:t>𝑒</m:t>
                          </m:r>
                        </m:e>
                        <m:sup>
                          <m:r>
                            <a:rPr lang="en-US" sz="2000" b="0" i="1" smtClean="0">
                              <a:latin typeface="Cambria Math"/>
                            </a:rPr>
                            <m:t>−</m:t>
                          </m:r>
                          <m:r>
                            <a:rPr lang="en-US" sz="2000" b="0" i="1" smtClean="0">
                              <a:latin typeface="Cambria Math"/>
                            </a:rPr>
                            <m:t>𝑛𝑝𝑡</m:t>
                          </m:r>
                        </m:sup>
                      </m:sSup>
                      <m:r>
                        <a:rPr lang="en-US" sz="2000" i="1">
                          <a:latin typeface="Cambria Math"/>
                        </a:rPr>
                        <m:t>𝐸</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𝑥𝑡</m:t>
                              </m:r>
                            </m:sup>
                          </m:sSup>
                        </m:e>
                      </m:d>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m:t>
                          </m:r>
                          <m:r>
                            <a:rPr lang="en-US" sz="2000" i="1">
                              <a:latin typeface="Cambria Math"/>
                            </a:rPr>
                            <m:t>𝑛𝑝𝑡</m:t>
                          </m:r>
                        </m:sup>
                      </m:sSup>
                      <m:sSub>
                        <m:sSubPr>
                          <m:ctrlPr>
                            <a:rPr lang="en-US" sz="2000" i="1">
                              <a:latin typeface="Cambria Math" panose="02040503050406030204" pitchFamily="18" charset="0"/>
                            </a:rPr>
                          </m:ctrlPr>
                        </m:sSubPr>
                        <m:e>
                          <m:r>
                            <a:rPr lang="en-US" sz="2000" i="1">
                              <a:latin typeface="Cambria Math"/>
                            </a:rPr>
                            <m:t>𝑀</m:t>
                          </m:r>
                        </m:e>
                        <m:sub>
                          <m:r>
                            <a:rPr lang="en-US" sz="2000" i="1">
                              <a:latin typeface="Cambria Math"/>
                            </a:rPr>
                            <m:t>𝑥</m:t>
                          </m:r>
                        </m:sub>
                      </m:sSub>
                      <m:d>
                        <m:dPr>
                          <m:ctrlPr>
                            <a:rPr lang="en-US" sz="2000" i="1">
                              <a:latin typeface="Cambria Math" panose="02040503050406030204" pitchFamily="18" charset="0"/>
                            </a:rPr>
                          </m:ctrlPr>
                        </m:dPr>
                        <m:e>
                          <m:r>
                            <a:rPr lang="en-US" sz="2000" i="1">
                              <a:latin typeface="Cambria Math"/>
                            </a:rPr>
                            <m:t>𝑡</m:t>
                          </m:r>
                        </m:e>
                      </m:d>
                      <m:r>
                        <a:rPr lang="en-US" sz="2000" b="0" i="1" smtClean="0">
                          <a:latin typeface="Cambria Math"/>
                        </a:rPr>
                        <m:t>=</m:t>
                      </m:r>
                      <m:sSup>
                        <m:sSupPr>
                          <m:ctrlPr>
                            <a:rPr lang="en-US" sz="2000" i="1">
                              <a:latin typeface="Cambria Math" panose="02040503050406030204" pitchFamily="18" charset="0"/>
                            </a:rPr>
                          </m:ctrlPr>
                        </m:sSupPr>
                        <m:e>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m:t>
                              </m:r>
                              <m:r>
                                <a:rPr lang="en-US" sz="2000" i="1">
                                  <a:latin typeface="Cambria Math"/>
                                </a:rPr>
                                <m:t>𝑛𝑝𝑡</m:t>
                              </m:r>
                            </m:sup>
                          </m:sSup>
                          <m:r>
                            <a:rPr lang="en-US" sz="2000" i="1">
                              <a:latin typeface="Cambria Math"/>
                            </a:rPr>
                            <m:t>(</m:t>
                          </m:r>
                          <m:r>
                            <a:rPr lang="en-US" sz="2000" i="1">
                              <a:latin typeface="Cambria Math"/>
                            </a:rPr>
                            <m:t>𝑞</m:t>
                          </m:r>
                          <m:r>
                            <a:rPr lang="en-US" sz="2000" i="1">
                              <a:latin typeface="Cambria Math"/>
                            </a:rPr>
                            <m:t>+</m:t>
                          </m:r>
                          <m:r>
                            <a:rPr lang="en-US" sz="2000" i="1">
                              <a:latin typeface="Cambria Math"/>
                            </a:rPr>
                            <m:t>𝑝</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𝑡</m:t>
                              </m:r>
                            </m:sup>
                          </m:sSup>
                          <m:r>
                            <a:rPr lang="en-US" sz="2000" i="1">
                              <a:latin typeface="Cambria Math"/>
                            </a:rPr>
                            <m:t>)</m:t>
                          </m:r>
                        </m:e>
                        <m:sup>
                          <m:r>
                            <a:rPr lang="en-US" sz="2000" i="1">
                              <a:latin typeface="Cambria Math"/>
                            </a:rPr>
                            <m:t>𝑛</m:t>
                          </m:r>
                        </m:sup>
                      </m:sSup>
                      <m:r>
                        <a:rPr lang="en-US" sz="2000" i="1">
                          <a:latin typeface="Cambria Math"/>
                        </a:rPr>
                        <m:t>=</m:t>
                      </m:r>
                      <m:sSup>
                        <m:sSupPr>
                          <m:ctrlPr>
                            <a:rPr lang="en-US" sz="2000" i="1">
                              <a:latin typeface="Cambria Math" panose="02040503050406030204" pitchFamily="18" charset="0"/>
                            </a:rPr>
                          </m:ctrlPr>
                        </m:sSupPr>
                        <m:e>
                          <m:r>
                            <a:rPr lang="en-US" sz="2000" i="1">
                              <a:latin typeface="Cambria Math"/>
                            </a:rPr>
                            <m:t>(</m:t>
                          </m:r>
                          <m:r>
                            <a:rPr lang="en-US" sz="2000" i="1">
                              <a:latin typeface="Cambria Math"/>
                            </a:rPr>
                            <m:t>𝑞</m:t>
                          </m:r>
                          <m:sSup>
                            <m:sSupPr>
                              <m:ctrlPr>
                                <a:rPr lang="en-US" sz="2000" i="1">
                                  <a:latin typeface="Cambria Math" panose="02040503050406030204" pitchFamily="18" charset="0"/>
                                </a:rPr>
                              </m:ctrlPr>
                            </m:sSupPr>
                            <m:e>
                              <m:r>
                                <a:rPr lang="en-US" sz="2000" i="1">
                                  <a:latin typeface="Cambria Math"/>
                                </a:rPr>
                                <m:t>𝑒</m:t>
                              </m:r>
                            </m:e>
                            <m:sup>
                              <m:r>
                                <a:rPr lang="en-US" sz="2000" i="1">
                                  <a:latin typeface="Cambria Math"/>
                                </a:rPr>
                                <m:t>−</m:t>
                              </m:r>
                              <m:r>
                                <a:rPr lang="en-US" sz="2000" i="1">
                                  <a:latin typeface="Cambria Math"/>
                                </a:rPr>
                                <m:t>𝑝𝑡</m:t>
                              </m:r>
                            </m:sup>
                          </m:sSup>
                          <m:r>
                            <a:rPr lang="en-US" sz="2000" i="1">
                              <a:latin typeface="Cambria Math"/>
                            </a:rPr>
                            <m:t>+</m:t>
                          </m:r>
                          <m:r>
                            <a:rPr lang="en-US" sz="2000" i="1">
                              <a:latin typeface="Cambria Math"/>
                            </a:rPr>
                            <m:t>𝑝</m:t>
                          </m:r>
                          <m:sSup>
                            <m:sSupPr>
                              <m:ctrlPr>
                                <a:rPr lang="en-US" sz="2000" i="1">
                                  <a:latin typeface="Cambria Math" panose="02040503050406030204" pitchFamily="18" charset="0"/>
                                </a:rPr>
                              </m:ctrlPr>
                            </m:sSupPr>
                            <m:e>
                              <m:r>
                                <a:rPr lang="en-US" sz="2000" i="1">
                                  <a:latin typeface="Cambria Math"/>
                                </a:rPr>
                                <m:t>𝑒</m:t>
                              </m:r>
                            </m:e>
                            <m:sup>
                              <m:r>
                                <a:rPr lang="en-US" sz="2000" b="0" i="1" smtClean="0">
                                  <a:latin typeface="Cambria Math"/>
                                </a:rPr>
                                <m:t>𝑞</m:t>
                              </m:r>
                              <m:r>
                                <a:rPr lang="en-US" sz="2000" i="1">
                                  <a:latin typeface="Cambria Math"/>
                                </a:rPr>
                                <m:t>𝑡</m:t>
                              </m:r>
                            </m:sup>
                          </m:sSup>
                          <m:r>
                            <a:rPr lang="en-US" sz="2000" i="1">
                              <a:latin typeface="Cambria Math"/>
                            </a:rPr>
                            <m:t>)</m:t>
                          </m:r>
                        </m:e>
                        <m:sup>
                          <m:r>
                            <a:rPr lang="en-US" sz="2000" i="1">
                              <a:latin typeface="Cambria Math"/>
                            </a:rPr>
                            <m:t>𝑛</m:t>
                          </m:r>
                        </m:sup>
                      </m:sSup>
                    </m:oMath>
                  </m:oMathPara>
                </a14:m>
                <a:endParaRPr lang="en-US" sz="2000" dirty="0"/>
              </a:p>
              <a:p>
                <a:pPr marL="0" indent="0" algn="just">
                  <a:buNone/>
                </a:pPr>
                <a:endParaRPr lang="en-US" sz="20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57771046-DEA2-4B73-84A4-8E2718216544}"/>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683628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000" b="1" dirty="0"/>
              <a:t>Applications of Binomial Distribution:</a:t>
            </a:r>
          </a:p>
          <a:p>
            <a:pPr marL="457200" indent="-457200" algn="just">
              <a:buFont typeface="+mj-lt"/>
              <a:buAutoNum type="arabicPeriod"/>
            </a:pPr>
            <a:r>
              <a:rPr lang="en-US" sz="2000" dirty="0"/>
              <a:t>In problem concerning no. of defectives in sample production line.</a:t>
            </a:r>
          </a:p>
          <a:p>
            <a:pPr marL="457200" indent="-457200" algn="just">
              <a:buFont typeface="+mj-lt"/>
              <a:buAutoNum type="arabicPeriod"/>
            </a:pPr>
            <a:r>
              <a:rPr lang="en-US" sz="2000" dirty="0"/>
              <a:t>In estimation of reliability of systems.</a:t>
            </a:r>
          </a:p>
          <a:p>
            <a:pPr marL="457200" indent="-457200" algn="just">
              <a:buFont typeface="+mj-lt"/>
              <a:buAutoNum type="arabicPeriod"/>
            </a:pPr>
            <a:r>
              <a:rPr lang="en-US" sz="2000" dirty="0"/>
              <a:t>No. of rounds fired from a gun hitting a target.</a:t>
            </a:r>
          </a:p>
          <a:p>
            <a:pPr marL="457200" indent="-457200" algn="just">
              <a:buFont typeface="+mj-lt"/>
              <a:buAutoNum type="arabicPeriod"/>
            </a:pPr>
            <a:r>
              <a:rPr lang="en-US" sz="2000" dirty="0"/>
              <a:t>In radar detection.</a:t>
            </a:r>
          </a:p>
          <a:p>
            <a:pPr marL="0" indent="0" algn="just">
              <a:buNone/>
            </a:pPr>
            <a:endParaRPr lang="en-US" sz="2000" dirty="0"/>
          </a:p>
          <a:p>
            <a:pPr marL="0" indent="0" algn="just">
              <a:buNone/>
            </a:pPr>
            <a:r>
              <a:rPr lang="en-US" sz="2000" dirty="0"/>
              <a:t>Q1. If 10% of bolts are produced by a machine are defective , determine the probability that out of 10 bolts chosen at random </a:t>
            </a:r>
          </a:p>
          <a:p>
            <a:pPr marL="514350" indent="-514350" algn="just">
              <a:buFont typeface="+mj-lt"/>
              <a:buAutoNum type="romanLcPeriod"/>
            </a:pPr>
            <a:r>
              <a:rPr lang="en-US" sz="2000" dirty="0"/>
              <a:t>1</a:t>
            </a:r>
          </a:p>
          <a:p>
            <a:pPr marL="514350" indent="-514350" algn="just">
              <a:buFont typeface="+mj-lt"/>
              <a:buAutoNum type="romanLcPeriod"/>
            </a:pPr>
            <a:r>
              <a:rPr lang="en-US" sz="2000" dirty="0"/>
              <a:t>None	</a:t>
            </a:r>
          </a:p>
          <a:p>
            <a:pPr marL="514350" indent="-514350" algn="just">
              <a:buFont typeface="+mj-lt"/>
              <a:buAutoNum type="romanLcPeriod"/>
            </a:pPr>
            <a:r>
              <a:rPr lang="en-US" sz="2000" dirty="0"/>
              <a:t>At most 2 bolts will be defective </a:t>
            </a:r>
          </a:p>
          <a:p>
            <a:pPr marL="514350" indent="-514350" algn="just">
              <a:buFont typeface="+mj-lt"/>
              <a:buAutoNum type="romanLcPeriod"/>
            </a:pPr>
            <a:endParaRPr lang="en-US" sz="2000" dirty="0"/>
          </a:p>
          <a:p>
            <a:pPr marL="0" indent="0" algn="just">
              <a:buNone/>
            </a:pPr>
            <a:endParaRPr lang="en-US" sz="2000" dirty="0"/>
          </a:p>
          <a:p>
            <a:pPr marL="457200" indent="-457200">
              <a:buFont typeface="+mj-lt"/>
              <a:buAutoNum type="arabicPeriod"/>
            </a:pPr>
            <a:endParaRPr lang="en-US" sz="2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200" b="0" i="0" u="none" strike="noStrike" kern="1200" cap="none" spc="0" normalizeH="0" baseline="0" noProof="0" dirty="0">
              <a:ln>
                <a:noFill/>
              </a:ln>
              <a:solidFill>
                <a:schemeClr val="dk1"/>
              </a:solidFill>
              <a:effectLst/>
              <a:uLnTx/>
              <a:uFillTx/>
              <a:latin typeface="+mn-lt"/>
              <a:ea typeface="+mn-ea"/>
              <a:cs typeface="+mn-cs"/>
            </a:endParaRPr>
          </a:p>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200" b="0" i="0" u="none" strike="noStrike" kern="1200" cap="none" spc="0" normalizeH="0" baseline="0" noProof="0" dirty="0">
              <a:ln>
                <a:noFill/>
              </a:ln>
              <a:solidFill>
                <a:schemeClr val="dk1"/>
              </a:solidFill>
              <a:effectLst/>
              <a:uLnTx/>
              <a:uFillTx/>
              <a:latin typeface="+mn-lt"/>
              <a:ea typeface="+mn-ea"/>
              <a:cs typeface="+mn-cs"/>
            </a:endParaRPr>
          </a:p>
        </p:txBody>
      </p:sp>
      <p:sp>
        <p:nvSpPr>
          <p:cNvPr id="2" name="Footer Placeholder 1"/>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3728657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000" dirty="0"/>
                  <a:t>Solution: let p and q are the probability of defective and non defective bolts respectively.</a:t>
                </a:r>
              </a:p>
              <a:p>
                <a:pPr marL="0" indent="0">
                  <a:buNone/>
                </a:pPr>
                <a14:m>
                  <m:oMath xmlns:m="http://schemas.openxmlformats.org/officeDocument/2006/math">
                    <m:r>
                      <a:rPr lang="en-US" sz="2000" b="0" i="1" smtClean="0">
                        <a:latin typeface="Cambria Math"/>
                      </a:rPr>
                      <m:t>𝑝</m:t>
                    </m:r>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10</m:t>
                        </m:r>
                      </m:num>
                      <m:den>
                        <m:r>
                          <a:rPr lang="en-US" sz="2000" b="0" i="1" smtClean="0">
                            <a:latin typeface="Cambria Math"/>
                          </a:rPr>
                          <m:t>100</m:t>
                        </m:r>
                      </m:den>
                    </m:f>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10</m:t>
                        </m:r>
                      </m:den>
                    </m:f>
                    <m:r>
                      <a:rPr lang="en-US" sz="2000" b="0" i="1" smtClean="0">
                        <a:latin typeface="Cambria Math"/>
                      </a:rPr>
                      <m:t>,</m:t>
                    </m:r>
                    <m:r>
                      <a:rPr lang="en-US" sz="2000" b="0" i="1" smtClean="0">
                        <a:latin typeface="Cambria Math"/>
                      </a:rPr>
                      <m:t>𝑞</m:t>
                    </m:r>
                    <m:r>
                      <a:rPr lang="en-US" sz="2000" i="1">
                        <a:latin typeface="Cambria Math"/>
                      </a:rPr>
                      <m:t>=</m:t>
                    </m:r>
                    <m:r>
                      <a:rPr lang="en-US" sz="2000" b="0" i="1" smtClean="0">
                        <a:latin typeface="Cambria Math"/>
                      </a:rPr>
                      <m:t>1−</m:t>
                    </m:r>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10</m:t>
                        </m:r>
                      </m:den>
                    </m:f>
                    <m:r>
                      <a:rPr lang="en-US" sz="2000" i="1">
                        <a:latin typeface="Cambria Math"/>
                      </a:rPr>
                      <m:t>=</m:t>
                    </m:r>
                    <m:f>
                      <m:fPr>
                        <m:ctrlPr>
                          <a:rPr lang="en-US" sz="2000" i="1">
                            <a:latin typeface="Cambria Math" panose="02040503050406030204" pitchFamily="18" charset="0"/>
                          </a:rPr>
                        </m:ctrlPr>
                      </m:fPr>
                      <m:num>
                        <m:r>
                          <a:rPr lang="en-US" sz="2000" b="0" i="1" smtClean="0">
                            <a:latin typeface="Cambria Math"/>
                          </a:rPr>
                          <m:t>9</m:t>
                        </m:r>
                      </m:num>
                      <m:den>
                        <m:r>
                          <a:rPr lang="en-US" sz="2000" i="1">
                            <a:latin typeface="Cambria Math"/>
                          </a:rPr>
                          <m:t>10</m:t>
                        </m:r>
                      </m:den>
                    </m:f>
                  </m:oMath>
                </a14:m>
                <a:r>
                  <a:rPr lang="en-US" sz="2000" dirty="0"/>
                  <a:t> and n=10 (no of bolts chosen)</a:t>
                </a:r>
              </a:p>
              <a:p>
                <a:pPr marL="0" indent="0">
                  <a:buNone/>
                </a:pPr>
                <a:r>
                  <a:rPr lang="en-US" sz="2000" dirty="0"/>
                  <a:t>The Probability of r defective bolts out of n bolt chosen at random is given by </a:t>
                </a:r>
                <a14:m>
                  <m:oMath xmlns:m="http://schemas.openxmlformats.org/officeDocument/2006/math">
                    <m:r>
                      <a:rPr lang="en-US" sz="2000" i="1">
                        <a:latin typeface="Cambria Math"/>
                      </a:rPr>
                      <m:t>𝑃</m:t>
                    </m:r>
                    <m:d>
                      <m:dPr>
                        <m:ctrlPr>
                          <a:rPr lang="en-US" sz="2000" i="1">
                            <a:latin typeface="Cambria Math" panose="02040503050406030204" pitchFamily="18" charset="0"/>
                          </a:rPr>
                        </m:ctrlPr>
                      </m:dPr>
                      <m:e>
                        <m:r>
                          <a:rPr lang="en-US" sz="2000" i="1">
                            <a:latin typeface="Cambria Math"/>
                          </a:rPr>
                          <m:t>𝑟</m:t>
                        </m:r>
                      </m:e>
                    </m:d>
                    <m:r>
                      <a:rPr lang="en-US" sz="2000" i="1">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𝑛</m:t>
                            </m:r>
                          </m:sup>
                          <m:e>
                            <m:r>
                              <a:rPr lang="en-US" sz="2000" i="1">
                                <a:latin typeface="Cambria Math"/>
                              </a:rPr>
                              <m:t>𝐶</m:t>
                            </m:r>
                          </m:e>
                        </m:sPre>
                      </m:e>
                      <m:sub>
                        <m:r>
                          <a:rPr lang="en-US" sz="2000" i="1">
                            <a:latin typeface="Cambria Math"/>
                          </a:rPr>
                          <m:t>𝑟</m:t>
                        </m:r>
                      </m:sub>
                    </m:sSub>
                    <m:sSup>
                      <m:sSupPr>
                        <m:ctrlPr>
                          <a:rPr lang="en-US" sz="2000" i="1">
                            <a:latin typeface="Cambria Math" panose="02040503050406030204" pitchFamily="18" charset="0"/>
                          </a:rPr>
                        </m:ctrlPr>
                      </m:sSupPr>
                      <m:e>
                        <m:r>
                          <a:rPr lang="en-US" sz="2000" i="1">
                            <a:latin typeface="Cambria Math"/>
                          </a:rPr>
                          <m:t>𝑝</m:t>
                        </m:r>
                      </m:e>
                      <m:sup>
                        <m:r>
                          <a:rPr lang="en-US" sz="2000" i="1">
                            <a:latin typeface="Cambria Math"/>
                          </a:rPr>
                          <m:t>𝑟</m:t>
                        </m:r>
                      </m:sup>
                    </m:sSup>
                    <m:sSup>
                      <m:sSupPr>
                        <m:ctrlPr>
                          <a:rPr lang="en-US" sz="2000" i="1">
                            <a:latin typeface="Cambria Math" panose="02040503050406030204" pitchFamily="18" charset="0"/>
                          </a:rPr>
                        </m:ctrlPr>
                      </m:sSupPr>
                      <m:e>
                        <m:r>
                          <a:rPr lang="en-US" sz="2000" i="1">
                            <a:latin typeface="Cambria Math"/>
                          </a:rPr>
                          <m:t>𝑞</m:t>
                        </m:r>
                      </m:e>
                      <m:sup>
                        <m:r>
                          <a:rPr lang="en-US" sz="2000" i="1">
                            <a:latin typeface="Cambria Math"/>
                          </a:rPr>
                          <m:t>𝑛</m:t>
                        </m:r>
                        <m:r>
                          <a:rPr lang="en-US" sz="2000" i="1">
                            <a:latin typeface="Cambria Math"/>
                          </a:rPr>
                          <m:t>−</m:t>
                        </m:r>
                        <m:r>
                          <a:rPr lang="en-US" sz="2000" i="1">
                            <a:latin typeface="Cambria Math"/>
                          </a:rPr>
                          <m:t>𝑟</m:t>
                        </m:r>
                      </m:sup>
                    </m:sSup>
                  </m:oMath>
                </a14:m>
                <a:endParaRPr lang="en-US" sz="2000" dirty="0"/>
              </a:p>
              <a:p>
                <a:pPr marL="514350" indent="-514350">
                  <a:buFont typeface="+mj-lt"/>
                  <a:buAutoNum type="romanLcPeriod"/>
                </a:pPr>
                <a:r>
                  <a:rPr lang="en-US" sz="2000" dirty="0"/>
                  <a:t>Here r=1,</a:t>
                </a:r>
              </a:p>
              <a:p>
                <a:pPr marL="0" indent="0">
                  <a:buNone/>
                </a:pPr>
                <a14:m>
                  <m:oMathPara xmlns:m="http://schemas.openxmlformats.org/officeDocument/2006/math">
                    <m:oMathParaPr>
                      <m:jc m:val="left"/>
                    </m:oMathParaPr>
                    <m:oMath xmlns:m="http://schemas.openxmlformats.org/officeDocument/2006/math">
                      <m:r>
                        <a:rPr lang="en-US" sz="2000" i="1">
                          <a:latin typeface="Cambria Math"/>
                        </a:rPr>
                        <m:t>𝑃</m:t>
                      </m:r>
                      <m:d>
                        <m:dPr>
                          <m:ctrlPr>
                            <a:rPr lang="en-US" sz="2000" i="1">
                              <a:latin typeface="Cambria Math" panose="02040503050406030204" pitchFamily="18" charset="0"/>
                            </a:rPr>
                          </m:ctrlPr>
                        </m:dPr>
                        <m:e>
                          <m:r>
                            <a:rPr lang="en-US" sz="2000" b="0" i="1" smtClean="0">
                              <a:latin typeface="Cambria Math"/>
                            </a:rPr>
                            <m:t>1</m:t>
                          </m:r>
                        </m:e>
                      </m:d>
                      <m:r>
                        <a:rPr lang="en-US" sz="2000" i="1">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smtClean="0">
                                  <a:latin typeface="Cambria Math"/>
                                </a:rPr>
                                <m:t>10</m:t>
                              </m:r>
                            </m:sup>
                            <m:e>
                              <m:r>
                                <a:rPr lang="en-US" sz="2000" i="1">
                                  <a:latin typeface="Cambria Math"/>
                                </a:rPr>
                                <m:t>𝐶</m:t>
                              </m:r>
                            </m:e>
                          </m:sPre>
                        </m:e>
                        <m:sub>
                          <m:r>
                            <a:rPr lang="en-US" sz="2000" b="0" i="1" smtClean="0">
                              <a:latin typeface="Cambria Math"/>
                            </a:rPr>
                            <m:t>1</m:t>
                          </m:r>
                        </m:sub>
                      </m:sSub>
                      <m:sSup>
                        <m:sSupPr>
                          <m:ctrlPr>
                            <a:rPr lang="en-US" sz="2000" i="1" smtClean="0">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smtClean="0">
                                      <a:latin typeface="Cambria Math"/>
                                    </a:rPr>
                                    <m:t>1</m:t>
                                  </m:r>
                                </m:num>
                                <m:den>
                                  <m:r>
                                    <a:rPr lang="en-US" sz="2000" b="0" i="1" smtClean="0">
                                      <a:latin typeface="Cambria Math"/>
                                    </a:rPr>
                                    <m:t>10</m:t>
                                  </m:r>
                                </m:den>
                              </m:f>
                            </m:e>
                          </m:d>
                        </m:e>
                        <m:sup>
                          <m:r>
                            <a:rPr lang="en-US" sz="2000" b="0" i="1" smtClean="0">
                              <a:latin typeface="Cambria Math"/>
                            </a:rPr>
                            <m:t>1</m:t>
                          </m:r>
                        </m:sup>
                      </m:sSup>
                      <m:sSup>
                        <m:sSupPr>
                          <m:ctrlPr>
                            <a:rPr lang="en-US" sz="2000" i="1">
                              <a:latin typeface="Cambria Math" panose="02040503050406030204" pitchFamily="18" charset="0"/>
                            </a:rPr>
                          </m:ctrlPr>
                        </m:sSupPr>
                        <m:e>
                          <m:d>
                            <m:dPr>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a:rPr lang="en-US" sz="2000" b="0" i="1" smtClean="0">
                                      <a:latin typeface="Cambria Math"/>
                                    </a:rPr>
                                    <m:t>9</m:t>
                                  </m:r>
                                </m:num>
                                <m:den>
                                  <m:r>
                                    <a:rPr lang="en-US" sz="2000" b="0" i="1" smtClean="0">
                                      <a:latin typeface="Cambria Math"/>
                                    </a:rPr>
                                    <m:t>10</m:t>
                                  </m:r>
                                </m:den>
                              </m:f>
                            </m:e>
                          </m:d>
                        </m:e>
                        <m:sup>
                          <m:r>
                            <a:rPr lang="en-US" sz="2000" b="0" i="1" smtClean="0">
                              <a:latin typeface="Cambria Math"/>
                            </a:rPr>
                            <m:t>10−1</m:t>
                          </m:r>
                        </m:sup>
                      </m:sSup>
                      <m:r>
                        <a:rPr lang="en-US" sz="2000" b="0" i="1" smtClean="0">
                          <a:latin typeface="Cambria Math"/>
                        </a:rPr>
                        <m:t>=0.3874</m:t>
                      </m:r>
                    </m:oMath>
                  </m:oMathPara>
                </a14:m>
                <a:endParaRPr lang="en-US" sz="2000" dirty="0"/>
              </a:p>
              <a:p>
                <a:pPr marL="514350" indent="-514350">
                  <a:buAutoNum type="romanLcPeriod" startAt="2"/>
                </a:pPr>
                <a:r>
                  <a:rPr lang="en-US" sz="2000" dirty="0"/>
                  <a:t>Here r=0</a:t>
                </a:r>
              </a:p>
              <a:p>
                <a:pPr marL="0" indent="0">
                  <a:buNone/>
                </a:pPr>
                <a14:m>
                  <m:oMathPara xmlns:m="http://schemas.openxmlformats.org/officeDocument/2006/math">
                    <m:oMathParaPr>
                      <m:jc m:val="left"/>
                    </m:oMathParaPr>
                    <m:oMath xmlns:m="http://schemas.openxmlformats.org/officeDocument/2006/math">
                      <m:r>
                        <a:rPr lang="en-US" sz="2000" i="1">
                          <a:latin typeface="Cambria Math"/>
                        </a:rPr>
                        <m:t>𝑃</m:t>
                      </m:r>
                      <m:d>
                        <m:dPr>
                          <m:ctrlPr>
                            <a:rPr lang="en-US" sz="2000" i="1">
                              <a:latin typeface="Cambria Math" panose="02040503050406030204" pitchFamily="18" charset="0"/>
                            </a:rPr>
                          </m:ctrlPr>
                        </m:dPr>
                        <m:e>
                          <m:r>
                            <a:rPr lang="en-US" sz="2000" b="0" i="1" smtClean="0">
                              <a:latin typeface="Cambria Math"/>
                            </a:rPr>
                            <m:t>0</m:t>
                          </m:r>
                        </m:e>
                      </m:d>
                      <m:r>
                        <a:rPr lang="en-US" sz="2000" i="1">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10</m:t>
                              </m:r>
                            </m:sup>
                            <m:e>
                              <m:r>
                                <a:rPr lang="en-US" sz="2000" i="1">
                                  <a:latin typeface="Cambria Math"/>
                                </a:rPr>
                                <m:t>𝐶</m:t>
                              </m:r>
                            </m:e>
                          </m:sPre>
                        </m:e>
                        <m:sub>
                          <m:r>
                            <a:rPr lang="en-US" sz="2000" b="0" i="1" smtClean="0">
                              <a:latin typeface="Cambria Math"/>
                            </a:rPr>
                            <m:t>0</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10</m:t>
                                  </m:r>
                                </m:den>
                              </m:f>
                            </m:e>
                          </m:d>
                        </m:e>
                        <m:sup>
                          <m:r>
                            <a:rPr lang="en-US" sz="2000" b="0" i="1" smtClean="0">
                              <a:latin typeface="Cambria Math"/>
                            </a:rPr>
                            <m:t>0</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9</m:t>
                                  </m:r>
                                </m:num>
                                <m:den>
                                  <m:r>
                                    <a:rPr lang="en-US" sz="2000" i="1">
                                      <a:latin typeface="Cambria Math"/>
                                    </a:rPr>
                                    <m:t>10</m:t>
                                  </m:r>
                                </m:den>
                              </m:f>
                            </m:e>
                          </m:d>
                        </m:e>
                        <m:sup>
                          <m:r>
                            <a:rPr lang="en-US" sz="2000" i="1">
                              <a:latin typeface="Cambria Math"/>
                            </a:rPr>
                            <m:t>10−</m:t>
                          </m:r>
                          <m:r>
                            <a:rPr lang="en-US" sz="2000" b="0" i="1" smtClean="0">
                              <a:latin typeface="Cambria Math"/>
                            </a:rPr>
                            <m:t>0</m:t>
                          </m:r>
                        </m:sup>
                      </m:sSup>
                      <m:r>
                        <a:rPr lang="en-US" sz="2000" i="1">
                          <a:latin typeface="Cambria Math"/>
                        </a:rPr>
                        <m:t>=0.3</m:t>
                      </m:r>
                      <m:r>
                        <a:rPr lang="en-US" sz="2000" b="0" i="1" smtClean="0">
                          <a:latin typeface="Cambria Math"/>
                        </a:rPr>
                        <m:t>486</m:t>
                      </m:r>
                    </m:oMath>
                  </m:oMathPara>
                </a14:m>
                <a:endParaRPr lang="en-US" sz="20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b="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391433" y="0"/>
            <a:ext cx="7772400" cy="8382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Problem’s based on Binomial </a:t>
            </a:r>
          </a:p>
          <a:p>
            <a:pPr lvl="0" algn="ctr">
              <a:spcBef>
                <a:spcPct val="0"/>
              </a:spcBef>
              <a:defRPr/>
            </a:pPr>
            <a:r>
              <a:rPr lang="en-US" sz="2400" b="1" dirty="0"/>
              <a:t>Distribution(CO4)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99F49BDC-9E56-43E8-B850-B74CCD6C72B2}"/>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48021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000" dirty="0"/>
                  <a:t>iii.Prob.that at most 2 bolts will be defective =</a:t>
                </a:r>
                <a14:m>
                  <m:oMath xmlns:m="http://schemas.openxmlformats.org/officeDocument/2006/math">
                    <m:r>
                      <a:rPr lang="en-US" sz="2000" b="0" i="1" smtClean="0">
                        <a:latin typeface="Cambria Math"/>
                      </a:rPr>
                      <m:t>𝑃</m:t>
                    </m:r>
                  </m:oMath>
                </a14:m>
                <a:r>
                  <a:rPr lang="en-US" sz="2000" dirty="0"/>
                  <a:t>(</a:t>
                </a:r>
                <a14:m>
                  <m:oMath xmlns:m="http://schemas.openxmlformats.org/officeDocument/2006/math">
                    <m:r>
                      <a:rPr lang="en-US" sz="2000" i="1" smtClean="0">
                        <a:latin typeface="Cambria Math"/>
                        <a:ea typeface="Cambria Math"/>
                      </a:rPr>
                      <m:t>≤</m:t>
                    </m:r>
                    <m:r>
                      <a:rPr lang="en-US" sz="2000" b="0" i="1" smtClean="0">
                        <a:latin typeface="Cambria Math"/>
                        <a:ea typeface="Cambria Math"/>
                      </a:rPr>
                      <m:t>2)=</m:t>
                    </m:r>
                    <m:r>
                      <a:rPr lang="en-US" sz="2000" b="0" i="1" smtClean="0">
                        <a:latin typeface="Cambria Math"/>
                        <a:ea typeface="Cambria Math"/>
                      </a:rPr>
                      <m:t>𝑃</m:t>
                    </m:r>
                    <m:r>
                      <a:rPr lang="en-US" sz="2000" b="0" i="1" smtClean="0">
                        <a:latin typeface="Cambria Math"/>
                        <a:ea typeface="Cambria Math"/>
                      </a:rPr>
                      <m:t>(0)+</m:t>
                    </m:r>
                    <m:r>
                      <a:rPr lang="en-US" sz="2000" b="0" i="1" smtClean="0">
                        <a:latin typeface="Cambria Math"/>
                        <a:ea typeface="Cambria Math"/>
                      </a:rPr>
                      <m:t>𝑃</m:t>
                    </m:r>
                    <m:r>
                      <a:rPr lang="en-US" sz="2000" b="0" i="1" smtClean="0">
                        <a:latin typeface="Cambria Math"/>
                        <a:ea typeface="Cambria Math"/>
                      </a:rPr>
                      <m:t>(1)+</m:t>
                    </m:r>
                    <m:r>
                      <a:rPr lang="en-US" sz="2000" b="0" i="1" smtClean="0">
                        <a:latin typeface="Cambria Math"/>
                        <a:ea typeface="Cambria Math"/>
                      </a:rPr>
                      <m:t>𝑃</m:t>
                    </m:r>
                    <m:r>
                      <a:rPr lang="en-US" sz="2000" b="0" i="1" smtClean="0">
                        <a:latin typeface="Cambria Math"/>
                        <a:ea typeface="Cambria Math"/>
                      </a:rPr>
                      <m:t>(2)</m:t>
                    </m:r>
                  </m:oMath>
                </a14:m>
                <a:endParaRPr lang="en-US" sz="2000" dirty="0"/>
              </a:p>
              <a:p>
                <a:pPr marL="0" indent="0" algn="just">
                  <a:buNone/>
                </a:pPr>
                <a14:m>
                  <m:oMathPara xmlns:m="http://schemas.openxmlformats.org/officeDocument/2006/math">
                    <m:oMathParaPr>
                      <m:jc m:val="centerGroup"/>
                    </m:oMathParaPr>
                    <m:oMath xmlns:m="http://schemas.openxmlformats.org/officeDocument/2006/math">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2</m:t>
                          </m:r>
                        </m:e>
                      </m:d>
                      <m:r>
                        <a:rPr lang="en-US" sz="2000" b="0" i="1" smtClean="0">
                          <a:latin typeface="Cambria Math"/>
                        </a:rPr>
                        <m:t>=</m:t>
                      </m:r>
                      <m:sSub>
                        <m:sSubPr>
                          <m:ctrlPr>
                            <a:rPr lang="en-US" sz="2000" i="1">
                              <a:latin typeface="Cambria Math" panose="02040503050406030204" pitchFamily="18" charset="0"/>
                            </a:rPr>
                          </m:ctrlPr>
                        </m:sSubPr>
                        <m:e>
                          <m:sPre>
                            <m:sPrePr>
                              <m:ctrlPr>
                                <a:rPr lang="en-US" sz="2000" i="1">
                                  <a:latin typeface="Cambria Math" panose="02040503050406030204" pitchFamily="18" charset="0"/>
                                </a:rPr>
                              </m:ctrlPr>
                            </m:sPrePr>
                            <m:sub/>
                            <m:sup>
                              <m:r>
                                <a:rPr lang="en-US" sz="2000" i="1">
                                  <a:latin typeface="Cambria Math"/>
                                </a:rPr>
                                <m:t>10</m:t>
                              </m:r>
                            </m:sup>
                            <m:e>
                              <m:r>
                                <a:rPr lang="en-US" sz="2000" i="1">
                                  <a:latin typeface="Cambria Math"/>
                                </a:rPr>
                                <m:t>𝐶</m:t>
                              </m:r>
                            </m:e>
                          </m:sPre>
                        </m:e>
                        <m:sub>
                          <m:r>
                            <a:rPr lang="en-US" sz="2000" b="0" i="1" smtClean="0">
                              <a:latin typeface="Cambria Math"/>
                            </a:rPr>
                            <m:t>2</m:t>
                          </m:r>
                        </m:sub>
                      </m:sSub>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10</m:t>
                                  </m:r>
                                </m:den>
                              </m:f>
                            </m:e>
                          </m:d>
                        </m:e>
                        <m:sup>
                          <m:r>
                            <a:rPr lang="en-US" sz="2000" b="0" i="1" smtClean="0">
                              <a:latin typeface="Cambria Math"/>
                            </a:rPr>
                            <m:t>2</m:t>
                          </m:r>
                        </m:sup>
                      </m:sSup>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a:rPr lang="en-US" sz="2000" b="0" i="1" smtClean="0">
                                      <a:latin typeface="Cambria Math"/>
                                    </a:rPr>
                                    <m:t>9</m:t>
                                  </m:r>
                                </m:num>
                                <m:den>
                                  <m:r>
                                    <a:rPr lang="en-US" sz="2000" b="0" i="1" smtClean="0">
                                      <a:latin typeface="Cambria Math"/>
                                    </a:rPr>
                                    <m:t>10</m:t>
                                  </m:r>
                                </m:den>
                              </m:f>
                            </m:e>
                          </m:d>
                        </m:e>
                        <m:sup>
                          <m:r>
                            <a:rPr lang="en-US" sz="2000" b="0" i="1" smtClean="0">
                              <a:latin typeface="Cambria Math"/>
                            </a:rPr>
                            <m:t>10−2</m:t>
                          </m:r>
                        </m:sup>
                      </m:sSup>
                    </m:oMath>
                  </m:oMathPara>
                </a14:m>
                <a:endParaRPr lang="en-US" sz="2000" dirty="0"/>
              </a:p>
              <a:p>
                <a:pPr marL="0" indent="0" algn="just">
                  <a:buNone/>
                </a:pPr>
                <a:r>
                  <a:rPr lang="en-US" sz="2000" dirty="0"/>
                  <a:t>=45</a:t>
                </a:r>
                <a14:m>
                  <m:oMath xmlns:m="http://schemas.openxmlformats.org/officeDocument/2006/math">
                    <m:d>
                      <m:dPr>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100</m:t>
                            </m:r>
                          </m:den>
                        </m:f>
                      </m:e>
                    </m:d>
                    <m:d>
                      <m:dPr>
                        <m:ctrlPr>
                          <a:rPr lang="en-US" sz="2000" i="1" smtClean="0">
                            <a:latin typeface="Cambria Math" panose="02040503050406030204" pitchFamily="18" charset="0"/>
                          </a:rPr>
                        </m:ctrlPr>
                      </m:dPr>
                      <m:e>
                        <m:r>
                          <a:rPr lang="en-US" sz="2000" b="0" i="1" smtClean="0">
                            <a:latin typeface="Cambria Math"/>
                          </a:rPr>
                          <m:t>0.43046</m:t>
                        </m:r>
                      </m:e>
                    </m:d>
                    <m:r>
                      <a:rPr lang="en-US" sz="2000" b="0" i="0" smtClean="0">
                        <a:latin typeface="Cambria Math"/>
                      </a:rPr>
                      <m:t>=0.1937</m:t>
                    </m:r>
                  </m:oMath>
                </a14:m>
                <a:endParaRPr lang="en-US" sz="2000" dirty="0"/>
              </a:p>
              <a:p>
                <a:pPr marL="0" indent="0" algn="just">
                  <a:buNone/>
                </a:pPr>
                <a:r>
                  <a:rPr lang="en-US" sz="2000" dirty="0"/>
                  <a:t>From(4).Required Probability=</a:t>
                </a:r>
                <a14:m>
                  <m:oMath xmlns:m="http://schemas.openxmlformats.org/officeDocument/2006/math">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0</m:t>
                        </m:r>
                      </m:e>
                    </m:d>
                    <m:r>
                      <a:rPr lang="en-US" sz="2000" b="0" i="1" smtClean="0">
                        <a:latin typeface="Cambria Math"/>
                      </a:rPr>
                      <m:t>+</m:t>
                    </m:r>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1</m:t>
                        </m:r>
                      </m:e>
                    </m:d>
                    <m:r>
                      <a:rPr lang="en-US" sz="2000" b="0" i="1" smtClean="0">
                        <a:latin typeface="Cambria Math"/>
                      </a:rPr>
                      <m:t>+</m:t>
                    </m:r>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2</m:t>
                        </m:r>
                      </m:e>
                    </m:d>
                  </m:oMath>
                </a14:m>
                <a:endParaRPr lang="en-US" sz="2000" b="0" dirty="0"/>
              </a:p>
              <a:p>
                <a:pPr marL="0" indent="0" algn="just">
                  <a:buNone/>
                </a:pPr>
                <a14:m>
                  <m:oMathPara xmlns:m="http://schemas.openxmlformats.org/officeDocument/2006/math">
                    <m:oMathParaPr>
                      <m:jc m:val="centerGroup"/>
                    </m:oMathParaPr>
                    <m:oMath xmlns:m="http://schemas.openxmlformats.org/officeDocument/2006/math">
                      <m:r>
                        <a:rPr lang="en-US" sz="2000" b="0" i="1" smtClean="0">
                          <a:latin typeface="Cambria Math"/>
                        </a:rPr>
                        <m:t>                     =0.3486+0.3874+0.1937=0.9297</m:t>
                      </m:r>
                    </m:oMath>
                  </m:oMathPara>
                </a14:m>
                <a:endParaRPr lang="en-US" sz="2000" dirty="0"/>
              </a:p>
              <a:p>
                <a:pPr marL="0" indent="0" algn="just">
                  <a:buNone/>
                </a:pPr>
                <a:r>
                  <a:rPr lang="en-US" sz="2000" dirty="0"/>
                  <a:t>Q2. Out of 800 families with 4 children each, how many families would be expected to have </a:t>
                </a:r>
              </a:p>
              <a:p>
                <a:pPr marL="514350" indent="-514350" algn="just">
                  <a:buFont typeface="+mj-lt"/>
                  <a:buAutoNum type="romanLcPeriod"/>
                </a:pPr>
                <a:r>
                  <a:rPr lang="en-US" sz="2000" dirty="0"/>
                  <a:t>2 boys and 2 girls 	ii.	At least one boy		iii	no girl</a:t>
                </a:r>
              </a:p>
              <a:p>
                <a:pPr marL="0" indent="0" algn="just">
                  <a:buNone/>
                </a:pPr>
                <a:r>
                  <a:rPr lang="en-US" sz="2000" dirty="0"/>
                  <a:t>iv.	</a:t>
                </a:r>
                <a:r>
                  <a:rPr lang="en-US" sz="2000" dirty="0" err="1"/>
                  <a:t>Atmost</a:t>
                </a:r>
                <a:r>
                  <a:rPr lang="en-US" sz="2000" dirty="0"/>
                  <a:t> two girls? Assume equal probability for boys and girls.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391433" y="0"/>
            <a:ext cx="77724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Problem’s based on Binomial </a:t>
            </a:r>
          </a:p>
          <a:p>
            <a:pPr lvl="0" algn="ctr">
              <a:spcBef>
                <a:spcPct val="0"/>
              </a:spcBef>
              <a:defRPr/>
            </a:pPr>
            <a:r>
              <a:rPr lang="en-US" sz="2400" b="1" dirty="0"/>
              <a:t>distribution(CO4)</a:t>
            </a:r>
          </a:p>
        </p:txBody>
      </p:sp>
      <p:sp>
        <p:nvSpPr>
          <p:cNvPr id="5" name="Footer Placeholder 4">
            <a:extLst>
              <a:ext uri="{FF2B5EF4-FFF2-40B4-BE49-F238E27FC236}">
                <a16:creationId xmlns:a16="http://schemas.microsoft.com/office/drawing/2014/main" id="{F64196BB-F717-4136-B88F-A8034BFE4755}"/>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40580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000" b="1" dirty="0"/>
                  <a:t>Solution: </a:t>
                </a:r>
                <a:r>
                  <a:rPr lang="en-US" sz="2000" dirty="0"/>
                  <a:t>Probability for boys and girls are equal </a:t>
                </a:r>
              </a:p>
              <a:p>
                <a:pPr marL="0" indent="0" algn="just">
                  <a:buNone/>
                </a:pPr>
                <a14:m>
                  <m:oMathPara xmlns:m="http://schemas.openxmlformats.org/officeDocument/2006/math">
                    <m:oMathParaPr>
                      <m:jc m:val="left"/>
                    </m:oMathParaPr>
                    <m:oMath xmlns:m="http://schemas.openxmlformats.org/officeDocument/2006/math">
                      <m:r>
                        <a:rPr lang="en-US" sz="2000" b="0" i="1" smtClean="0">
                          <a:latin typeface="Cambria Math"/>
                        </a:rPr>
                        <m:t>𝑝</m:t>
                      </m:r>
                      <m:r>
                        <a:rPr lang="en-US" sz="2000" b="0" i="1" smtClean="0">
                          <a:latin typeface="Cambria Math"/>
                        </a:rPr>
                        <m:t>=</m:t>
                      </m:r>
                      <m:r>
                        <a:rPr lang="en-US" sz="2000" b="0" i="1" smtClean="0">
                          <a:latin typeface="Cambria Math"/>
                        </a:rPr>
                        <m:t>𝑝𝑟𝑜𝑏𝑎𝑏𝑖𝑙𝑖𝑡𝑦</m:t>
                      </m:r>
                      <m:r>
                        <a:rPr lang="en-US" sz="2000" b="0" i="1" smtClean="0">
                          <a:latin typeface="Cambria Math"/>
                        </a:rPr>
                        <m:t> </m:t>
                      </m:r>
                      <m:r>
                        <a:rPr lang="en-US" sz="2000" b="0" i="1" smtClean="0">
                          <a:latin typeface="Cambria Math"/>
                        </a:rPr>
                        <m:t>𝑜𝑓</m:t>
                      </m:r>
                      <m:r>
                        <a:rPr lang="en-US" sz="2000" b="0" i="1" smtClean="0">
                          <a:latin typeface="Cambria Math"/>
                        </a:rPr>
                        <m:t> </m:t>
                      </m:r>
                      <m:r>
                        <a:rPr lang="en-US" sz="2000" b="0" i="1" smtClean="0">
                          <a:latin typeface="Cambria Math"/>
                        </a:rPr>
                        <m:t>h𝑎𝑣𝑖𝑛𝑔</m:t>
                      </m:r>
                      <m:r>
                        <a:rPr lang="en-US" sz="2000" b="0" i="1" smtClean="0">
                          <a:latin typeface="Cambria Math"/>
                        </a:rPr>
                        <m:t> </m:t>
                      </m:r>
                      <m:r>
                        <a:rPr lang="en-US" sz="2000" b="0" i="1" smtClean="0">
                          <a:latin typeface="Cambria Math"/>
                        </a:rPr>
                        <m:t>𝑎</m:t>
                      </m:r>
                      <m:r>
                        <a:rPr lang="en-US" sz="2000" b="0" i="1" smtClean="0">
                          <a:latin typeface="Cambria Math"/>
                        </a:rPr>
                        <m:t> </m:t>
                      </m:r>
                      <m:r>
                        <a:rPr lang="en-US" sz="2000" b="0" i="1" smtClean="0">
                          <a:latin typeface="Cambria Math"/>
                        </a:rPr>
                        <m:t>𝑏𝑜𝑦</m:t>
                      </m:r>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2</m:t>
                          </m:r>
                        </m:den>
                      </m:f>
                      <m:r>
                        <a:rPr lang="en-US" sz="2000" b="0" i="1" smtClean="0">
                          <a:latin typeface="Cambria Math"/>
                        </a:rPr>
                        <m:t>, </m:t>
                      </m:r>
                    </m:oMath>
                  </m:oMathPara>
                </a14:m>
                <a:endParaRPr lang="en-US" sz="2000" b="0" i="1" dirty="0">
                  <a:latin typeface="Cambria Math"/>
                </a:endParaRPr>
              </a:p>
              <a:p>
                <a:pPr marL="0" indent="0" algn="just">
                  <a:buNone/>
                </a:pPr>
                <a14:m>
                  <m:oMath xmlns:m="http://schemas.openxmlformats.org/officeDocument/2006/math">
                    <m:r>
                      <a:rPr lang="en-US" sz="2000" b="0" i="1" smtClean="0">
                        <a:latin typeface="Cambria Math"/>
                      </a:rPr>
                      <m:t>𝑞</m:t>
                    </m:r>
                    <m:r>
                      <a:rPr lang="en-US" sz="2000" b="0" i="1" smtClean="0">
                        <a:latin typeface="Cambria Math"/>
                      </a:rPr>
                      <m:t>=</m:t>
                    </m:r>
                    <m:r>
                      <a:rPr lang="en-US" sz="2000" b="0" i="1" smtClean="0">
                        <a:latin typeface="Cambria Math"/>
                      </a:rPr>
                      <m:t>𝑝𝑟𝑜𝑏𝑎𝑏𝑖𝑙𝑖𝑡𝑦</m:t>
                    </m:r>
                    <m:r>
                      <a:rPr lang="en-US" sz="2000" b="0" i="1" smtClean="0">
                        <a:latin typeface="Cambria Math"/>
                      </a:rPr>
                      <m:t> </m:t>
                    </m:r>
                    <m:r>
                      <a:rPr lang="en-US" sz="2000" b="0" i="1" smtClean="0">
                        <a:latin typeface="Cambria Math"/>
                      </a:rPr>
                      <m:t>𝑜𝑓</m:t>
                    </m:r>
                    <m:r>
                      <a:rPr lang="en-US" sz="2000" b="0" i="1" smtClean="0">
                        <a:latin typeface="Cambria Math"/>
                      </a:rPr>
                      <m:t> </m:t>
                    </m:r>
                    <m:r>
                      <a:rPr lang="en-US" sz="2000" b="0" i="1" smtClean="0">
                        <a:latin typeface="Cambria Math"/>
                      </a:rPr>
                      <m:t>h𝑎𝑣𝑖𝑛𝑔</m:t>
                    </m:r>
                    <m:r>
                      <a:rPr lang="en-US" sz="2000" b="0" i="1" smtClean="0">
                        <a:latin typeface="Cambria Math"/>
                      </a:rPr>
                      <m:t> </m:t>
                    </m:r>
                    <m:r>
                      <a:rPr lang="en-US" sz="2000" b="0" i="1" smtClean="0">
                        <a:latin typeface="Cambria Math"/>
                      </a:rPr>
                      <m:t>𝑎</m:t>
                    </m:r>
                    <m:r>
                      <a:rPr lang="en-US" sz="2000" b="0" i="1" smtClean="0">
                        <a:latin typeface="Cambria Math"/>
                      </a:rPr>
                      <m:t> </m:t>
                    </m:r>
                    <m:r>
                      <a:rPr lang="en-US" sz="2000" b="0" i="1" smtClean="0">
                        <a:latin typeface="Cambria Math"/>
                      </a:rPr>
                      <m:t>𝑔𝑖𝑟𝑙</m:t>
                    </m:r>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1</m:t>
                        </m:r>
                      </m:num>
                      <m:den>
                        <m:r>
                          <a:rPr lang="en-US" sz="2000" b="0" i="1" smtClean="0">
                            <a:latin typeface="Cambria Math"/>
                          </a:rPr>
                          <m:t>2</m:t>
                        </m:r>
                      </m:den>
                    </m:f>
                    <m:r>
                      <a:rPr lang="en-US" sz="2000" b="0" i="1" smtClean="0">
                        <a:latin typeface="Cambria Math"/>
                      </a:rPr>
                      <m:t> </m:t>
                    </m:r>
                  </m:oMath>
                </a14:m>
                <a:r>
                  <a:rPr lang="en-US" sz="2000" dirty="0"/>
                  <a:t>  n=4 N=800</a:t>
                </a:r>
              </a:p>
              <a:p>
                <a:pPr marL="514350" indent="-514350" algn="just">
                  <a:buFont typeface="+mj-lt"/>
                  <a:buAutoNum type="romanLcPeriod"/>
                </a:pPr>
                <a:r>
                  <a:rPr lang="en-US" sz="2000" dirty="0"/>
                  <a:t>The expected number of families having 2 boys and 2 girls</a:t>
                </a:r>
              </a:p>
              <a:p>
                <a:pPr marL="0" indent="0" algn="just">
                  <a:buNone/>
                </a:pPr>
                <a14:m>
                  <m:oMathPara xmlns:m="http://schemas.openxmlformats.org/officeDocument/2006/math">
                    <m:oMathParaPr>
                      <m:jc m:val="left"/>
                    </m:oMathParaPr>
                    <m:oMath xmlns:m="http://schemas.openxmlformats.org/officeDocument/2006/math">
                      <m:r>
                        <a:rPr lang="en-US" sz="2000" b="0" i="1" smtClean="0">
                          <a:latin typeface="Cambria Math"/>
                        </a:rPr>
                        <m:t>=800</m:t>
                      </m:r>
                      <m:sPre>
                        <m:sPrePr>
                          <m:ctrlPr>
                            <a:rPr lang="en-US" sz="2000" i="1" smtClean="0">
                              <a:latin typeface="Cambria Math" panose="02040503050406030204" pitchFamily="18" charset="0"/>
                            </a:rPr>
                          </m:ctrlPr>
                        </m:sPrePr>
                        <m:sub>
                          <m:r>
                            <a:rPr lang="en-IN" sz="2000" b="0" i="1" smtClean="0">
                              <a:latin typeface="Cambria Math" panose="02040503050406030204" pitchFamily="18" charset="0"/>
                            </a:rPr>
                            <m:t> </m:t>
                          </m:r>
                        </m:sub>
                        <m:sup>
                          <m:r>
                            <a:rPr lang="en-US" sz="2000" b="0" i="1" smtClean="0">
                              <a:latin typeface="Cambria Math"/>
                            </a:rPr>
                            <m:t>4</m:t>
                          </m:r>
                        </m:sup>
                        <m:e>
                          <m:sSub>
                            <m:sSubPr>
                              <m:ctrlPr>
                                <a:rPr lang="en-US" sz="2000" i="1" smtClean="0">
                                  <a:latin typeface="Cambria Math" panose="02040503050406030204" pitchFamily="18" charset="0"/>
                                </a:rPr>
                              </m:ctrlPr>
                            </m:sSubPr>
                            <m:e>
                              <m:r>
                                <a:rPr lang="en-US" sz="2000" b="0" i="1" smtClean="0">
                                  <a:latin typeface="Cambria Math"/>
                                </a:rPr>
                                <m:t>𝐶</m:t>
                              </m:r>
                            </m:e>
                            <m:sub>
                              <m:r>
                                <a:rPr lang="en-US" sz="2000" b="0" i="1" smtClean="0">
                                  <a:latin typeface="Cambria Math"/>
                                </a:rPr>
                                <m:t>2</m:t>
                              </m:r>
                            </m:sub>
                          </m:sSub>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smtClean="0">
                                  <a:latin typeface="Cambria Math"/>
                                </a:rPr>
                                <m:t>2</m:t>
                              </m:r>
                            </m:sup>
                          </m:sSup>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smtClean="0">
                                  <a:latin typeface="Cambria Math"/>
                                </a:rPr>
                                <m:t>2</m:t>
                              </m:r>
                            </m:sup>
                          </m:sSup>
                          <m:r>
                            <a:rPr lang="en-US" sz="2000" b="0" i="1" smtClean="0">
                              <a:latin typeface="Cambria Math"/>
                            </a:rPr>
                            <m:t>=300</m:t>
                          </m:r>
                        </m:e>
                      </m:sPre>
                    </m:oMath>
                  </m:oMathPara>
                </a14:m>
                <a:endParaRPr lang="en-US" sz="2000" dirty="0"/>
              </a:p>
              <a:p>
                <a:pPr marL="514350" indent="-514350" algn="just">
                  <a:buAutoNum type="romanLcPeriod" startAt="2"/>
                </a:pPr>
                <a:r>
                  <a:rPr lang="en-US" sz="2000" dirty="0"/>
                  <a:t>The expected number of families having at least one boy</a:t>
                </a:r>
              </a:p>
              <a:p>
                <a:pPr marL="0" indent="0" algn="just">
                  <a:buNone/>
                </a:pPr>
                <a14:m>
                  <m:oMathPara xmlns:m="http://schemas.openxmlformats.org/officeDocument/2006/math">
                    <m:oMathParaPr>
                      <m:jc m:val="left"/>
                    </m:oMathParaPr>
                    <m:oMath xmlns:m="http://schemas.openxmlformats.org/officeDocument/2006/math">
                      <m:r>
                        <a:rPr lang="en-US" sz="2000" i="1">
                          <a:latin typeface="Cambria Math"/>
                        </a:rPr>
                        <m:t>=800</m:t>
                      </m:r>
                      <m:d>
                        <m:dPr>
                          <m:begChr m:val="["/>
                          <m:endChr m:val="]"/>
                          <m:ctrlPr>
                            <a:rPr lang="en-US" sz="2000" i="1" smtClean="0">
                              <a:latin typeface="Cambria Math" panose="02040503050406030204" pitchFamily="18" charset="0"/>
                            </a:rPr>
                          </m:ctrlPr>
                        </m:d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4</m:t>
                              </m:r>
                            </m:sup>
                            <m:e>
                              <m:sSub>
                                <m:sSubPr>
                                  <m:ctrlPr>
                                    <a:rPr lang="en-US" sz="2000" i="1">
                                      <a:latin typeface="Cambria Math" panose="02040503050406030204" pitchFamily="18" charset="0"/>
                                    </a:rPr>
                                  </m:ctrlPr>
                                </m:sSubPr>
                                <m:e>
                                  <m:r>
                                    <a:rPr lang="en-US" sz="2000" i="1">
                                      <a:latin typeface="Cambria Math"/>
                                    </a:rPr>
                                    <m:t>𝐶</m:t>
                                  </m:r>
                                </m:e>
                                <m:sub>
                                  <m:r>
                                    <a:rPr lang="en-US" sz="2000" b="0" i="1" smtClean="0">
                                      <a:latin typeface="Cambria Math"/>
                                    </a:rPr>
                                    <m:t>1</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e>
                                  </m:d>
                                </m:e>
                                <m:sup>
                                  <m:r>
                                    <a:rPr lang="en-US" sz="2000" b="0" i="1" smtClean="0">
                                      <a:latin typeface="Cambria Math"/>
                                    </a:rPr>
                                    <m:t>3</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e>
                                  </m:d>
                                </m:e>
                                <m:sup>
                                  <m:r>
                                    <a:rPr lang="en-US" sz="2000" b="0" i="1" smtClean="0">
                                      <a:latin typeface="Cambria Math"/>
                                    </a:rPr>
                                    <m:t>1</m:t>
                                  </m:r>
                                </m:sup>
                              </m:sSup>
                            </m:e>
                          </m:sPre>
                          <m:r>
                            <m:rPr>
                              <m:nor/>
                            </m:rPr>
                            <a:rPr lang="en-US" sz="2000" dirty="0"/>
                            <m:t> </m:t>
                          </m:r>
                          <m:r>
                            <a:rPr lang="en-US" sz="2000" b="0" i="1" dirty="0" smtClean="0">
                              <a:latin typeface="Cambria Math"/>
                            </a:rPr>
                            <m:t>+</m:t>
                          </m:r>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4</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2</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e>
                                  </m:d>
                                </m:e>
                                <m:sup>
                                  <m:r>
                                    <a:rPr lang="en-US" sz="2000" i="1">
                                      <a:latin typeface="Cambria Math"/>
                                    </a:rPr>
                                    <m:t>2</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e>
                                  </m:d>
                                </m:e>
                                <m:sup>
                                  <m:r>
                                    <a:rPr lang="en-US" sz="2000" i="1">
                                      <a:latin typeface="Cambria Math"/>
                                    </a:rPr>
                                    <m:t>2</m:t>
                                  </m:r>
                                </m:sup>
                              </m:sSup>
                            </m:e>
                          </m:sPre>
                          <m:r>
                            <m:rPr>
                              <m:nor/>
                            </m:rPr>
                            <a:rPr lang="en-US" sz="2000" dirty="0"/>
                            <m:t> </m:t>
                          </m:r>
                          <m:r>
                            <a:rPr lang="en-US" sz="2000" b="0" i="1" dirty="0" smtClean="0">
                              <a:latin typeface="Cambria Math"/>
                            </a:rPr>
                            <m:t>+</m:t>
                          </m:r>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4</m:t>
                              </m:r>
                            </m:sup>
                            <m:e>
                              <m:sSub>
                                <m:sSubPr>
                                  <m:ctrlPr>
                                    <a:rPr lang="en-US" sz="2000" i="1">
                                      <a:latin typeface="Cambria Math" panose="02040503050406030204" pitchFamily="18" charset="0"/>
                                    </a:rPr>
                                  </m:ctrlPr>
                                </m:sSubPr>
                                <m:e>
                                  <m:r>
                                    <a:rPr lang="en-US" sz="2000" i="1">
                                      <a:latin typeface="Cambria Math"/>
                                    </a:rPr>
                                    <m:t>𝐶</m:t>
                                  </m:r>
                                </m:e>
                                <m:sub>
                                  <m:r>
                                    <a:rPr lang="en-US" sz="2000" b="0" i="1" smtClean="0">
                                      <a:latin typeface="Cambria Math"/>
                                    </a:rPr>
                                    <m:t>3</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e>
                                  </m:d>
                                </m:e>
                                <m:sup>
                                  <m:r>
                                    <a:rPr lang="en-US" sz="2000" b="0" i="1" smtClean="0">
                                      <a:latin typeface="Cambria Math"/>
                                    </a:rPr>
                                    <m:t>1</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e>
                                  </m:d>
                                </m:e>
                                <m:sup>
                                  <m:r>
                                    <a:rPr lang="en-US" sz="2000" b="0" i="1" smtClean="0">
                                      <a:latin typeface="Cambria Math"/>
                                    </a:rPr>
                                    <m:t>3</m:t>
                                  </m:r>
                                </m:sup>
                              </m:sSup>
                            </m:e>
                          </m:sPre>
                          <m:r>
                            <m:rPr>
                              <m:nor/>
                            </m:rPr>
                            <a:rPr lang="en-US" sz="2000" dirty="0"/>
                            <m:t> </m:t>
                          </m:r>
                          <m:r>
                            <a:rPr lang="en-US" sz="2000" b="0" i="1" dirty="0" smtClean="0">
                              <a:latin typeface="Cambria Math"/>
                            </a:rPr>
                            <m:t>+</m:t>
                          </m:r>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i="1">
                                  <a:latin typeface="Cambria Math"/>
                                </a:rPr>
                                <m:t>4</m:t>
                              </m:r>
                            </m:sup>
                            <m:e>
                              <m:sSub>
                                <m:sSubPr>
                                  <m:ctrlPr>
                                    <a:rPr lang="en-US" sz="2000" i="1">
                                      <a:latin typeface="Cambria Math" panose="02040503050406030204" pitchFamily="18" charset="0"/>
                                    </a:rPr>
                                  </m:ctrlPr>
                                </m:sSubPr>
                                <m:e>
                                  <m:r>
                                    <a:rPr lang="en-US" sz="2000" i="1">
                                      <a:latin typeface="Cambria Math"/>
                                    </a:rPr>
                                    <m:t>𝐶</m:t>
                                  </m:r>
                                </m:e>
                                <m:sub>
                                  <m:r>
                                    <a:rPr lang="en-US" sz="2000" b="0" i="1" smtClean="0">
                                      <a:latin typeface="Cambria Math"/>
                                    </a:rPr>
                                    <m:t>4</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e>
                                  </m:d>
                                </m:e>
                                <m:sup>
                                  <m:r>
                                    <a:rPr lang="en-US" sz="2000" b="0" i="1" smtClean="0">
                                      <a:latin typeface="Cambria Math"/>
                                    </a:rPr>
                                    <m:t>4</m:t>
                                  </m:r>
                                </m:sup>
                              </m:sSup>
                            </m:e>
                          </m:sPre>
                          <m:r>
                            <m:rPr>
                              <m:nor/>
                            </m:rPr>
                            <a:rPr lang="en-US" sz="2000" dirty="0"/>
                            <m:t> </m:t>
                          </m:r>
                        </m:e>
                      </m:d>
                      <m:r>
                        <a:rPr lang="en-US" sz="2000" b="0" i="1" smtClean="0">
                          <a:latin typeface="Cambria Math"/>
                        </a:rPr>
                        <m:t>=750</m:t>
                      </m:r>
                    </m:oMath>
                  </m:oMathPara>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2501C00A-1C01-4EB1-AA49-6EF00D610DBD}"/>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8473722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514350" indent="-514350">
                  <a:buAutoNum type="romanLcPeriod" startAt="3"/>
                </a:pPr>
                <a:r>
                  <a:rPr lang="en-US" sz="2000" dirty="0"/>
                  <a:t>The expected number of families having no girl i.e. having 4 boys </a:t>
                </a:r>
                <a14:m>
                  <m:oMath xmlns:m="http://schemas.openxmlformats.org/officeDocument/2006/math">
                    <m:r>
                      <a:rPr lang="en-US" sz="2000" b="0" i="1">
                        <a:latin typeface="Cambria Math"/>
                      </a:rPr>
                      <m:t>=800</m:t>
                    </m:r>
                    <m:d>
                      <m:dPr>
                        <m:begChr m:val="["/>
                        <m:endChr m:val="]"/>
                        <m:ctrlPr>
                          <a:rPr lang="en-US" sz="2000" i="1">
                            <a:latin typeface="Cambria Math" panose="02040503050406030204" pitchFamily="18" charset="0"/>
                          </a:rPr>
                        </m:ctrlPr>
                      </m:d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4</m:t>
                            </m:r>
                          </m:sup>
                          <m:e>
                            <m:sSub>
                              <m:sSubPr>
                                <m:ctrlPr>
                                  <a:rPr lang="en-US" sz="2000" i="1">
                                    <a:latin typeface="Cambria Math" panose="02040503050406030204" pitchFamily="18" charset="0"/>
                                  </a:rPr>
                                </m:ctrlPr>
                              </m:sSubPr>
                              <m:e>
                                <m:r>
                                  <a:rPr lang="en-US" sz="2000" b="0" i="1">
                                    <a:latin typeface="Cambria Math"/>
                                  </a:rPr>
                                  <m:t>𝐶</m:t>
                                </m:r>
                              </m:e>
                              <m:sub>
                                <m:r>
                                  <a:rPr lang="en-US" sz="2000" b="0" i="1">
                                    <a:latin typeface="Cambria Math"/>
                                  </a:rPr>
                                  <m:t>4</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a:latin typeface="Cambria Math"/>
                                  </a:rPr>
                                  <m:t>4</m:t>
                                </m:r>
                              </m:sup>
                            </m:sSup>
                          </m:e>
                        </m:sPre>
                        <m:r>
                          <m:rPr>
                            <m:nor/>
                          </m:rPr>
                          <a:rPr lang="en-US" sz="2000" dirty="0"/>
                          <m:t> </m:t>
                        </m:r>
                      </m:e>
                    </m:d>
                    <m:r>
                      <a:rPr lang="en-US" sz="2000" b="0" i="1" dirty="0" smtClean="0">
                        <a:latin typeface="Cambria Math"/>
                      </a:rPr>
                      <m:t>=50</m:t>
                    </m:r>
                  </m:oMath>
                </a14:m>
                <a:endParaRPr lang="en-US" sz="2000" dirty="0"/>
              </a:p>
              <a:p>
                <a:pPr marL="514350" indent="-514350">
                  <a:buAutoNum type="romanLcPeriod" startAt="3"/>
                </a:pPr>
                <a:r>
                  <a:rPr lang="en-US" sz="2000" dirty="0"/>
                  <a:t>The expected number of families having almost two girls i.e. having at least 2 boys</a:t>
                </a:r>
              </a:p>
              <a:p>
                <a:pPr marL="0" indent="0">
                  <a:buNone/>
                </a:pPr>
                <a14:m>
                  <m:oMathPara xmlns:m="http://schemas.openxmlformats.org/officeDocument/2006/math">
                    <m:oMathParaPr>
                      <m:jc m:val="centerGroup"/>
                    </m:oMathParaPr>
                    <m:oMath xmlns:m="http://schemas.openxmlformats.org/officeDocument/2006/math">
                      <m:r>
                        <a:rPr lang="en-US" sz="2000" b="0" i="1">
                          <a:latin typeface="Cambria Math"/>
                        </a:rPr>
                        <m:t>=800</m:t>
                      </m:r>
                      <m:d>
                        <m:dPr>
                          <m:begChr m:val="["/>
                          <m:endChr m:val="]"/>
                          <m:ctrlPr>
                            <a:rPr lang="en-US" sz="2000" i="1">
                              <a:latin typeface="Cambria Math" panose="02040503050406030204" pitchFamily="18" charset="0"/>
                            </a:rPr>
                          </m:ctrlPr>
                        </m:dPr>
                        <m:e>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4</m:t>
                              </m:r>
                            </m:sup>
                            <m:e>
                              <m:sSub>
                                <m:sSubPr>
                                  <m:ctrlPr>
                                    <a:rPr lang="en-US" sz="2000" i="1">
                                      <a:latin typeface="Cambria Math" panose="02040503050406030204" pitchFamily="18" charset="0"/>
                                    </a:rPr>
                                  </m:ctrlPr>
                                </m:sSubPr>
                                <m:e>
                                  <m:r>
                                    <a:rPr lang="en-US" sz="2000" b="0" i="1">
                                      <a:latin typeface="Cambria Math"/>
                                    </a:rPr>
                                    <m:t>𝐶</m:t>
                                  </m:r>
                                </m:e>
                                <m:sub>
                                  <m:r>
                                    <a:rPr lang="en-US" sz="2000" b="0" i="1">
                                      <a:latin typeface="Cambria Math"/>
                                    </a:rPr>
                                    <m:t>2</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a:latin typeface="Cambria Math"/>
                                    </a:rPr>
                                    <m:t>2</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a:latin typeface="Cambria Math"/>
                                    </a:rPr>
                                    <m:t>2</m:t>
                                  </m:r>
                                </m:sup>
                              </m:sSup>
                            </m:e>
                          </m:sPre>
                          <m:r>
                            <m:rPr>
                              <m:nor/>
                            </m:rPr>
                            <a:rPr lang="en-US" sz="2000" dirty="0"/>
                            <m:t> </m:t>
                          </m:r>
                          <m:r>
                            <a:rPr lang="en-US" sz="2000" b="0" i="1" dirty="0">
                              <a:latin typeface="Cambria Math"/>
                            </a:rPr>
                            <m:t>+</m:t>
                          </m:r>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4</m:t>
                              </m:r>
                            </m:sup>
                            <m:e>
                              <m:sSub>
                                <m:sSubPr>
                                  <m:ctrlPr>
                                    <a:rPr lang="en-US" sz="2000" i="1">
                                      <a:latin typeface="Cambria Math" panose="02040503050406030204" pitchFamily="18" charset="0"/>
                                    </a:rPr>
                                  </m:ctrlPr>
                                </m:sSubPr>
                                <m:e>
                                  <m:r>
                                    <a:rPr lang="en-US" sz="2000" b="0" i="1">
                                      <a:latin typeface="Cambria Math"/>
                                    </a:rPr>
                                    <m:t>𝐶</m:t>
                                  </m:r>
                                </m:e>
                                <m:sub>
                                  <m:r>
                                    <a:rPr lang="en-US" sz="2000" b="0" i="1">
                                      <a:latin typeface="Cambria Math"/>
                                    </a:rPr>
                                    <m:t>3</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a:latin typeface="Cambria Math"/>
                                    </a:rPr>
                                    <m:t>1</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a:latin typeface="Cambria Math"/>
                                    </a:rPr>
                                    <m:t>3</m:t>
                                  </m:r>
                                </m:sup>
                              </m:sSup>
                            </m:e>
                          </m:sPre>
                          <m:r>
                            <m:rPr>
                              <m:nor/>
                            </m:rPr>
                            <a:rPr lang="en-US" sz="2000" dirty="0"/>
                            <m:t> </m:t>
                          </m:r>
                          <m:r>
                            <a:rPr lang="en-US" sz="2000" b="0" i="1" dirty="0">
                              <a:latin typeface="Cambria Math"/>
                            </a:rPr>
                            <m:t>+</m:t>
                          </m:r>
                          <m:sPre>
                            <m:sPrePr>
                              <m:ctrlPr>
                                <a:rPr lang="en-US" sz="2000" i="1">
                                  <a:latin typeface="Cambria Math" panose="02040503050406030204" pitchFamily="18" charset="0"/>
                                </a:rPr>
                              </m:ctrlPr>
                            </m:sPrePr>
                            <m:sub>
                              <m:r>
                                <a:rPr lang="en-IN" sz="2000" b="0" i="1" smtClean="0">
                                  <a:latin typeface="Cambria Math" panose="02040503050406030204" pitchFamily="18" charset="0"/>
                                </a:rPr>
                                <m:t> </m:t>
                              </m:r>
                            </m:sub>
                            <m:sup>
                              <m:r>
                                <a:rPr lang="en-US" sz="2000" b="0" i="1">
                                  <a:latin typeface="Cambria Math"/>
                                </a:rPr>
                                <m:t>4</m:t>
                              </m:r>
                            </m:sup>
                            <m:e>
                              <m:sSub>
                                <m:sSubPr>
                                  <m:ctrlPr>
                                    <a:rPr lang="en-US" sz="2000" i="1">
                                      <a:latin typeface="Cambria Math" panose="02040503050406030204" pitchFamily="18" charset="0"/>
                                    </a:rPr>
                                  </m:ctrlPr>
                                </m:sSubPr>
                                <m:e>
                                  <m:r>
                                    <a:rPr lang="en-US" sz="2000" b="0" i="1">
                                      <a:latin typeface="Cambria Math"/>
                                    </a:rPr>
                                    <m:t>𝐶</m:t>
                                  </m:r>
                                </m:e>
                                <m:sub>
                                  <m:r>
                                    <a:rPr lang="en-US" sz="2000" b="0" i="1">
                                      <a:latin typeface="Cambria Math"/>
                                    </a:rPr>
                                    <m:t>4</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a:latin typeface="Cambria Math"/>
                                            </a:rPr>
                                            <m:t>1</m:t>
                                          </m:r>
                                        </m:num>
                                        <m:den>
                                          <m:r>
                                            <a:rPr lang="en-US" sz="2000" b="0" i="1">
                                              <a:latin typeface="Cambria Math"/>
                                            </a:rPr>
                                            <m:t>2</m:t>
                                          </m:r>
                                        </m:den>
                                      </m:f>
                                    </m:e>
                                  </m:d>
                                </m:e>
                                <m:sup>
                                  <m:r>
                                    <a:rPr lang="en-US" sz="2000" b="0" i="1">
                                      <a:latin typeface="Cambria Math"/>
                                    </a:rPr>
                                    <m:t>4</m:t>
                                  </m:r>
                                </m:sup>
                              </m:sSup>
                            </m:e>
                          </m:sPre>
                          <m:r>
                            <m:rPr>
                              <m:nor/>
                            </m:rPr>
                            <a:rPr lang="en-US" sz="2000" dirty="0"/>
                            <m:t> </m:t>
                          </m:r>
                        </m:e>
                      </m:d>
                      <m:r>
                        <a:rPr lang="en-US" sz="2000" b="0" i="1" dirty="0" smtClean="0">
                          <a:latin typeface="Cambria Math"/>
                        </a:rPr>
                        <m:t>=550</m:t>
                      </m:r>
                    </m:oMath>
                  </m:oMathPara>
                </a14:m>
                <a:endParaRPr lang="en-US" sz="2000" dirty="0"/>
              </a:p>
              <a:p>
                <a:pPr marL="0" indent="0">
                  <a:buNone/>
                </a:pPr>
                <a:endParaRPr lang="en-US" sz="2000" dirty="0"/>
              </a:p>
              <a:p>
                <a:pPr marL="0" indent="0">
                  <a:buNone/>
                </a:pPr>
                <a:endParaRPr lang="en-US" sz="20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667" t="-809"/>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err="1"/>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12DA12C8-D96F-48F2-AD4B-790BC8B55C01}"/>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9788022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25000" lnSpcReduction="20000"/>
              </a:bodyPr>
              <a:lstStyle/>
              <a:p>
                <a:pPr marL="457200" lvl="0" indent="-457200" algn="just">
                  <a:buAutoNum type="arabicPeriod"/>
                </a:pPr>
                <a:r>
                  <a:rPr lang="en-US" sz="8800" dirty="0"/>
                  <a:t>Four persons in a group of 20 are graduates. If 4 persons are selected at random from 20, find the probability that all 4 are graduates.                                                                       </a:t>
                </a:r>
              </a:p>
              <a:p>
                <a:pPr marL="0" lvl="0" indent="0" algn="just">
                  <a:buNone/>
                </a:pPr>
                <a:r>
                  <a:rPr lang="en-US" sz="8800" dirty="0"/>
                  <a:t>       Ans: 0.0016</a:t>
                </a:r>
              </a:p>
              <a:p>
                <a:pPr marL="0" lvl="0" indent="0" algn="just">
                  <a:buNone/>
                </a:pPr>
                <a:r>
                  <a:rPr lang="en-US" sz="8800" dirty="0"/>
                  <a:t>2.   The Prob. that a bulb produced by a factory will fuse after use of        </a:t>
                </a:r>
              </a:p>
              <a:p>
                <a:pPr marL="0" lvl="0" indent="0" algn="just">
                  <a:buNone/>
                </a:pPr>
                <a:r>
                  <a:rPr lang="en-US" sz="8800" dirty="0"/>
                  <a:t>      150 days is 0.05. Find the probability that out of 5 such bulbs at    </a:t>
                </a:r>
              </a:p>
              <a:p>
                <a:pPr marL="0" lvl="0" indent="0" algn="just">
                  <a:buNone/>
                </a:pPr>
                <a:r>
                  <a:rPr lang="en-US" sz="8800" dirty="0"/>
                  <a:t>      least one bulb will fuse after use of 150 days of use. </a:t>
                </a:r>
              </a:p>
              <a:p>
                <a:pPr marL="0" lvl="0" indent="0" algn="just">
                  <a:buNone/>
                </a:pPr>
                <a:r>
                  <a:rPr lang="en-US" sz="8800" dirty="0"/>
                  <a:t>        Ans:   </a:t>
                </a:r>
                <a14:m>
                  <m:oMath xmlns:m="http://schemas.openxmlformats.org/officeDocument/2006/math">
                    <m:r>
                      <a:rPr lang="en-US" sz="8800" b="0" i="1" smtClean="0">
                        <a:latin typeface="Cambria Math"/>
                      </a:rPr>
                      <m:t>1−</m:t>
                    </m:r>
                    <m:sSup>
                      <m:sSupPr>
                        <m:ctrlPr>
                          <a:rPr lang="en-US" sz="8800" b="0" i="1" smtClean="0">
                            <a:latin typeface="Cambria Math" panose="02040503050406030204" pitchFamily="18" charset="0"/>
                          </a:rPr>
                        </m:ctrlPr>
                      </m:sSupPr>
                      <m:e>
                        <m:d>
                          <m:dPr>
                            <m:ctrlPr>
                              <a:rPr lang="en-US" sz="8800" b="0" i="1" smtClean="0">
                                <a:latin typeface="Cambria Math" panose="02040503050406030204" pitchFamily="18" charset="0"/>
                              </a:rPr>
                            </m:ctrlPr>
                          </m:dPr>
                          <m:e>
                            <m:f>
                              <m:fPr>
                                <m:ctrlPr>
                                  <a:rPr lang="en-US" sz="8800" b="0" i="1" smtClean="0">
                                    <a:latin typeface="Cambria Math" panose="02040503050406030204" pitchFamily="18" charset="0"/>
                                  </a:rPr>
                                </m:ctrlPr>
                              </m:fPr>
                              <m:num>
                                <m:r>
                                  <a:rPr lang="en-US" sz="8800" b="0" i="1" smtClean="0">
                                    <a:latin typeface="Cambria Math"/>
                                  </a:rPr>
                                  <m:t>19</m:t>
                                </m:r>
                              </m:num>
                              <m:den>
                                <m:r>
                                  <a:rPr lang="en-US" sz="8800" b="0" i="1" smtClean="0">
                                    <a:latin typeface="Cambria Math"/>
                                  </a:rPr>
                                  <m:t>20</m:t>
                                </m:r>
                              </m:den>
                            </m:f>
                          </m:e>
                        </m:d>
                      </m:e>
                      <m:sup>
                        <m:r>
                          <a:rPr lang="en-US" sz="8800" b="0" i="1" smtClean="0">
                            <a:latin typeface="Cambria Math"/>
                          </a:rPr>
                          <m:t>5</m:t>
                        </m:r>
                      </m:sup>
                    </m:sSup>
                  </m:oMath>
                </a14:m>
                <a:endParaRPr lang="en-US" sz="8800" dirty="0"/>
              </a:p>
              <a:p>
                <a:pPr marL="0" indent="0" algn="just">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2426" r="-889"/>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Daily Quiz(CO4)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72FAEF91-4D03-4A6A-AD6E-A321148E8FCE}"/>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8268738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anose="05000000000000000000" pitchFamily="2" charset="2"/>
              <a:buChar char="ü"/>
            </a:pPr>
            <a:r>
              <a:rPr lang="en-US" sz="2000" dirty="0"/>
              <a:t>Mathematical expectation</a:t>
            </a:r>
          </a:p>
          <a:p>
            <a:pPr lvl="0">
              <a:buFont typeface="Wingdings" pitchFamily="2" charset="2"/>
              <a:buChar char="ü"/>
            </a:pPr>
            <a:r>
              <a:rPr lang="en-US" sz="2000" dirty="0"/>
              <a:t>Mean</a:t>
            </a:r>
          </a:p>
          <a:p>
            <a:pPr lvl="0">
              <a:buFont typeface="Wingdings" pitchFamily="2" charset="2"/>
              <a:buChar char="ü"/>
            </a:pPr>
            <a:r>
              <a:rPr lang="en-US" sz="2000" dirty="0"/>
              <a:t>Variance</a:t>
            </a:r>
          </a:p>
          <a:p>
            <a:pPr lvl="0">
              <a:buFont typeface="Wingdings" pitchFamily="2" charset="2"/>
              <a:buChar char="ü"/>
            </a:pPr>
            <a:r>
              <a:rPr lang="en-US" sz="2000" dirty="0"/>
              <a:t>Moment Generating Function</a:t>
            </a:r>
          </a:p>
          <a:p>
            <a:pPr algn="just">
              <a:buFont typeface="Wingdings" pitchFamily="2" charset="2"/>
              <a:buChar char="ü"/>
            </a:pPr>
            <a:r>
              <a:rPr lang="en-US" sz="2000" dirty="0"/>
              <a:t>Binomial distribution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Recap (CO4)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64B8DBD7-6340-4331-86CB-7FAE2482F326}"/>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754881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Poisson distribution</a:t>
                </a:r>
                <a:r>
                  <a:rPr lang="en-US" sz="2200" dirty="0"/>
                  <a:t>: Probability distribution defined as follows is known as Poisson  Probability distribution.</a:t>
                </a:r>
              </a:p>
              <a:p>
                <a:pPr marL="0" indent="0">
                  <a:buNone/>
                </a:pPr>
                <a:endParaRPr lang="en-US" sz="2200" i="1" dirty="0">
                  <a:latin typeface="Cambria Math"/>
                </a:endParaRPr>
              </a:p>
              <a:p>
                <a:pPr marL="0" indent="0">
                  <a:buNone/>
                </a:pPr>
                <a:endParaRPr lang="en-US" sz="2200" i="1" dirty="0">
                  <a:latin typeface="Cambria Math"/>
                </a:endParaRPr>
              </a:p>
              <a:p>
                <a:pPr marL="0" indent="0">
                  <a:buNone/>
                </a:pPr>
                <a:r>
                  <a:rPr lang="en-US" sz="2200" dirty="0"/>
                  <a:t>Where </a:t>
                </a:r>
                <a14:m>
                  <m:oMath xmlns:m="http://schemas.openxmlformats.org/officeDocument/2006/math">
                    <m:r>
                      <a:rPr lang="en-US" sz="2200" i="1" smtClean="0">
                        <a:latin typeface="Cambria Math"/>
                        <a:ea typeface="Cambria Math"/>
                      </a:rPr>
                      <m:t>𝜆</m:t>
                    </m:r>
                    <m:r>
                      <a:rPr lang="en-US" sz="2200" b="0" i="1" smtClean="0">
                        <a:latin typeface="Cambria Math"/>
                        <a:ea typeface="Cambria Math"/>
                      </a:rPr>
                      <m:t> </m:t>
                    </m:r>
                    <m:r>
                      <a:rPr lang="en-US" sz="2200" b="0" i="1" smtClean="0">
                        <a:latin typeface="Cambria Math"/>
                        <a:ea typeface="Cambria Math"/>
                      </a:rPr>
                      <m:t>𝑓𝑖𝑛𝑖𝑡𝑒</m:t>
                    </m:r>
                    <m:r>
                      <a:rPr lang="en-US" sz="2200" b="0" i="1" smtClean="0">
                        <a:latin typeface="Cambria Math"/>
                        <a:ea typeface="Cambria Math"/>
                      </a:rPr>
                      <m:t> </m:t>
                    </m:r>
                    <m:r>
                      <a:rPr lang="en-US" sz="2200" b="0" i="1" smtClean="0">
                        <a:latin typeface="Cambria Math"/>
                        <a:ea typeface="Cambria Math"/>
                      </a:rPr>
                      <m:t>𝑛𝑢𝑚𝑏𝑒𝑟</m:t>
                    </m:r>
                    <m:r>
                      <a:rPr lang="en-US" sz="2200" b="0" i="1" smtClean="0">
                        <a:latin typeface="Cambria Math"/>
                        <a:ea typeface="Cambria Math"/>
                      </a:rPr>
                      <m:t>=</m:t>
                    </m:r>
                    <m:r>
                      <a:rPr lang="en-US" sz="2200" b="0" i="1" smtClean="0">
                        <a:latin typeface="Cambria Math"/>
                        <a:ea typeface="Cambria Math"/>
                      </a:rPr>
                      <m:t>𝑛𝑝</m:t>
                    </m:r>
                    <m:r>
                      <a:rPr lang="en-US" sz="2200" b="0" i="0" smtClean="0">
                        <a:latin typeface="Cambria Math"/>
                        <a:ea typeface="Cambria Math"/>
                      </a:rPr>
                      <m:t>.</m:t>
                    </m:r>
                  </m:oMath>
                </a14:m>
                <a:endParaRPr lang="en-US" sz="2200" dirty="0"/>
              </a:p>
              <a:p>
                <a:pPr marL="0" indent="0">
                  <a:buNone/>
                </a:pPr>
                <a:r>
                  <a:rPr lang="en-US" sz="2200" b="1" dirty="0"/>
                  <a:t>Recurrence formula for Poisson Distribution:</a:t>
                </a:r>
              </a:p>
              <a:p>
                <a:pPr marL="0" indent="0">
                  <a:buNone/>
                </a:pPr>
                <a:r>
                  <a:rPr lang="en-US" sz="2200" dirty="0"/>
                  <a:t>Poisson distribution</a:t>
                </a: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𝑟</m:t>
                        </m:r>
                      </m:e>
                    </m:d>
                    <m:r>
                      <a:rPr lang="en-US" sz="2200" i="1">
                        <a:latin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r>
                              <a:rPr lang="en-US" sz="2200" i="1">
                                <a:latin typeface="Cambria Math"/>
                                <a:ea typeface="Cambria Math"/>
                              </a:rPr>
                              <m:t>𝜆</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𝑟</m:t>
                            </m:r>
                          </m:sup>
                        </m:sSup>
                      </m:num>
                      <m:den>
                        <m:r>
                          <a:rPr lang="en-US" sz="2200" i="1">
                            <a:latin typeface="Cambria Math"/>
                          </a:rPr>
                          <m:t>𝑟</m:t>
                        </m:r>
                        <m:r>
                          <a:rPr lang="en-US" sz="2200" i="1">
                            <a:latin typeface="Cambria Math"/>
                            <a:ea typeface="Cambria Math"/>
                          </a:rPr>
                          <m:t>!</m:t>
                        </m:r>
                      </m:den>
                    </m:f>
                    <m:r>
                      <a:rPr lang="en-US" sz="2200" b="0" i="1" smtClean="0">
                        <a:latin typeface="Cambria Math"/>
                        <a:ea typeface="Cambria Math"/>
                      </a:rPr>
                      <m:t>………</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1</m:t>
                        </m:r>
                      </m:e>
                    </m:d>
                  </m:oMath>
                </a14:m>
                <a:endParaRPr lang="en-US" sz="2200" b="0" dirty="0">
                  <a:ea typeface="Cambria Math"/>
                </a:endParaRPr>
              </a:p>
              <a:p>
                <a:pPr marL="0" indent="0">
                  <a:buNone/>
                </a:pP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𝑟</m:t>
                        </m:r>
                        <m:r>
                          <a:rPr lang="en-US" sz="2200" b="0" i="1" smtClean="0">
                            <a:latin typeface="Cambria Math"/>
                          </a:rPr>
                          <m:t>+1</m:t>
                        </m:r>
                      </m:e>
                    </m:d>
                    <m:r>
                      <a:rPr lang="en-US" sz="2200" i="1">
                        <a:latin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r>
                              <a:rPr lang="en-US" sz="2200" i="1">
                                <a:latin typeface="Cambria Math"/>
                                <a:ea typeface="Cambria Math"/>
                              </a:rPr>
                              <m:t>𝜆</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𝑟</m:t>
                            </m:r>
                            <m:r>
                              <a:rPr lang="en-US" sz="2200" b="0" i="1" smtClean="0">
                                <a:latin typeface="Cambria Math"/>
                              </a:rPr>
                              <m:t>+1</m:t>
                            </m:r>
                          </m:sup>
                        </m:sSup>
                      </m:num>
                      <m:den>
                        <m:r>
                          <a:rPr lang="en-US" sz="2200" b="0" i="1" smtClean="0">
                            <a:latin typeface="Cambria Math"/>
                          </a:rPr>
                          <m:t>(</m:t>
                        </m:r>
                        <m:r>
                          <a:rPr lang="en-US" sz="2200" i="1">
                            <a:latin typeface="Cambria Math"/>
                          </a:rPr>
                          <m:t>𝑟</m:t>
                        </m:r>
                        <m:r>
                          <a:rPr lang="en-US" sz="2200" b="0" i="1" smtClean="0">
                            <a:latin typeface="Cambria Math"/>
                          </a:rPr>
                          <m:t>+1)</m:t>
                        </m:r>
                        <m:r>
                          <a:rPr lang="en-US" sz="2200" i="1">
                            <a:latin typeface="Cambria Math"/>
                            <a:ea typeface="Cambria Math"/>
                          </a:rPr>
                          <m:t>!</m:t>
                        </m:r>
                      </m:den>
                    </m:f>
                  </m:oMath>
                </a14:m>
                <a:r>
                  <a:rPr lang="en-US" sz="2200" dirty="0">
                    <a:latin typeface="Cambria Math"/>
                  </a:rPr>
                  <a:t>……..(2)</a:t>
                </a:r>
              </a:p>
              <a:p>
                <a:pPr marL="0" indent="0">
                  <a:buNone/>
                </a:pPr>
                <a14:m>
                  <m:oMathPara xmlns:m="http://schemas.openxmlformats.org/officeDocument/2006/math">
                    <m:oMathParaPr>
                      <m:jc m:val="left"/>
                    </m:oMathParaPr>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a:rPr>
                            <m:t>𝑃</m:t>
                          </m:r>
                          <m:r>
                            <a:rPr lang="en-US" sz="2200" b="0" i="1" smtClean="0">
                              <a:latin typeface="Cambria Math"/>
                            </a:rPr>
                            <m:t>(</m:t>
                          </m:r>
                          <m:r>
                            <a:rPr lang="en-US" sz="2200" b="0" i="1" smtClean="0">
                              <a:latin typeface="Cambria Math"/>
                            </a:rPr>
                            <m:t>𝑟</m:t>
                          </m:r>
                          <m:r>
                            <a:rPr lang="en-US" sz="2200" b="0" i="1" smtClean="0">
                              <a:latin typeface="Cambria Math"/>
                            </a:rPr>
                            <m:t>+1)</m:t>
                          </m:r>
                        </m:num>
                        <m:den>
                          <m:r>
                            <a:rPr lang="en-US" sz="2200" b="0" i="1" smtClean="0">
                              <a:latin typeface="Cambria Math"/>
                            </a:rPr>
                            <m:t>𝑃</m:t>
                          </m:r>
                          <m:r>
                            <a:rPr lang="en-US" sz="2200" b="0" i="1" smtClean="0">
                              <a:latin typeface="Cambria Math"/>
                            </a:rPr>
                            <m:t>(</m:t>
                          </m:r>
                          <m:r>
                            <a:rPr lang="en-US" sz="2200" b="0" i="1" smtClean="0">
                              <a:latin typeface="Cambria Math"/>
                            </a:rPr>
                            <m:t>𝑟</m:t>
                          </m:r>
                          <m:r>
                            <a:rPr lang="en-US" sz="2200" b="0" i="1" smtClean="0">
                              <a:latin typeface="Cambria Math"/>
                            </a:rPr>
                            <m:t>)</m:t>
                          </m:r>
                        </m:den>
                      </m:f>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ea typeface="Cambria Math"/>
                            </a:rPr>
                            <m:t>𝜆</m:t>
                          </m:r>
                          <m:r>
                            <a:rPr lang="en-US" sz="2200" b="0" i="1" smtClean="0">
                              <a:latin typeface="Cambria Math"/>
                              <a:ea typeface="Cambria Math"/>
                            </a:rPr>
                            <m:t>𝑟</m:t>
                          </m:r>
                          <m:r>
                            <a:rPr lang="en-US" sz="2200" b="0" i="1" smtClean="0">
                              <a:latin typeface="Cambria Math"/>
                              <a:ea typeface="Cambria Math"/>
                            </a:rPr>
                            <m:t>!</m:t>
                          </m:r>
                        </m:num>
                        <m:den>
                          <m:r>
                            <a:rPr lang="en-US" sz="2200" b="0" i="1" smtClean="0">
                              <a:latin typeface="Cambria Math"/>
                            </a:rPr>
                            <m:t>(</m:t>
                          </m:r>
                          <m:r>
                            <a:rPr lang="en-US" sz="2200" b="0" i="1" smtClean="0">
                              <a:latin typeface="Cambria Math"/>
                            </a:rPr>
                            <m:t>𝑟</m:t>
                          </m:r>
                          <m:r>
                            <a:rPr lang="en-US" sz="2200" b="0" i="1" smtClean="0">
                              <a:latin typeface="Cambria Math"/>
                            </a:rPr>
                            <m:t>+1)!</m:t>
                          </m:r>
                        </m:den>
                      </m:f>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ea typeface="Cambria Math"/>
                            </a:rPr>
                            <m:t>𝜆</m:t>
                          </m:r>
                        </m:num>
                        <m:den>
                          <m:r>
                            <a:rPr lang="en-US" sz="2200" b="0" i="1" smtClean="0">
                              <a:latin typeface="Cambria Math"/>
                            </a:rPr>
                            <m:t>𝑟</m:t>
                          </m:r>
                          <m:r>
                            <a:rPr lang="en-US" sz="2200" b="0" i="1" smtClean="0">
                              <a:latin typeface="Cambria Math"/>
                            </a:rPr>
                            <m:t>+1</m:t>
                          </m:r>
                        </m:den>
                      </m:f>
                    </m:oMath>
                  </m:oMathPara>
                </a14:m>
                <a:endParaRPr lang="en-US" sz="2200" dirty="0">
                  <a:latin typeface="Cambria Math"/>
                </a:endParaRPr>
              </a:p>
              <a:p>
                <a:pPr marL="0" indent="0">
                  <a:buNone/>
                </a:pPr>
                <a:endParaRPr lang="en-US" sz="2200" dirty="0">
                  <a:latin typeface="Cambria Math"/>
                </a:endParaRP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Poisson </a:t>
            </a:r>
            <a:r>
              <a:rPr lang="en-US" sz="2400" b="1" dirty="0"/>
              <a:t>Distribution(CO4)</a:t>
            </a:r>
            <a:r>
              <a:rPr kumimoji="0" lang="en-US" sz="2400" b="1" i="0" u="none" strike="noStrike" kern="1200" cap="none" spc="0" normalizeH="0" noProof="0" dirty="0">
                <a:ln>
                  <a:noFill/>
                </a:ln>
                <a:solidFill>
                  <a:schemeClr val="dk1"/>
                </a:solidFill>
                <a:effectLst/>
                <a:uLnTx/>
                <a:uFillTx/>
                <a:latin typeface="+mn-lt"/>
                <a:ea typeface="+mn-ea"/>
                <a:cs typeface="+mn-cs"/>
              </a:rPr>
              <a:t> </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2" name="Rectangle 1"/>
              <p:cNvSpPr/>
              <p:nvPr/>
            </p:nvSpPr>
            <p:spPr>
              <a:xfrm>
                <a:off x="1295400" y="1905000"/>
                <a:ext cx="6248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m:t>
                          </m:r>
                          <m:r>
                            <a:rPr lang="en-US" i="1">
                              <a:latin typeface="Cambria Math"/>
                            </a:rPr>
                            <m:t>𝑟</m:t>
                          </m:r>
                        </m:e>
                      </m:d>
                      <m:r>
                        <a:rPr lang="en-US" i="1">
                          <a:latin typeface="Cambria Math"/>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a:rPr>
                                <m:t>𝑒</m:t>
                              </m:r>
                            </m:e>
                            <m:sup>
                              <m:r>
                                <a:rPr lang="en-US" i="1">
                                  <a:latin typeface="Cambria Math"/>
                                </a:rPr>
                                <m:t>−</m:t>
                              </m:r>
                              <m:r>
                                <a:rPr lang="en-US" i="1">
                                  <a:latin typeface="Cambria Math"/>
                                  <a:ea typeface="Cambria Math"/>
                                </a:rPr>
                                <m:t>𝜆</m:t>
                              </m:r>
                            </m:sup>
                          </m:sSup>
                          <m:sSup>
                            <m:sSupPr>
                              <m:ctrlPr>
                                <a:rPr lang="en-US" i="1">
                                  <a:latin typeface="Cambria Math" panose="02040503050406030204" pitchFamily="18" charset="0"/>
                                </a:rPr>
                              </m:ctrlPr>
                            </m:sSupPr>
                            <m:e>
                              <m:r>
                                <a:rPr lang="en-US" i="1">
                                  <a:latin typeface="Cambria Math"/>
                                  <a:ea typeface="Cambria Math"/>
                                </a:rPr>
                                <m:t>𝜆</m:t>
                              </m:r>
                            </m:e>
                            <m:sup>
                              <m:r>
                                <a:rPr lang="en-US" i="1">
                                  <a:latin typeface="Cambria Math"/>
                                </a:rPr>
                                <m:t>𝑟</m:t>
                              </m:r>
                            </m:sup>
                          </m:sSup>
                        </m:num>
                        <m:den>
                          <m:r>
                            <a:rPr lang="en-US" i="1">
                              <a:latin typeface="Cambria Math"/>
                            </a:rPr>
                            <m:t>𝑟</m:t>
                          </m:r>
                          <m:r>
                            <a:rPr lang="en-US" i="1">
                              <a:latin typeface="Cambria Math"/>
                              <a:ea typeface="Cambria Math"/>
                            </a:rPr>
                            <m:t>!</m:t>
                          </m:r>
                        </m:den>
                      </m:f>
                      <m:r>
                        <a:rPr lang="en-US" i="1">
                          <a:latin typeface="Cambria Math"/>
                        </a:rPr>
                        <m:t>, </m:t>
                      </m:r>
                      <m:d>
                        <m:dPr>
                          <m:ctrlPr>
                            <a:rPr lang="en-US" i="1">
                              <a:latin typeface="Cambria Math" panose="02040503050406030204" pitchFamily="18" charset="0"/>
                            </a:rPr>
                          </m:ctrlPr>
                        </m:dPr>
                        <m:e>
                          <m:r>
                            <a:rPr lang="en-US" i="1">
                              <a:latin typeface="Cambria Math"/>
                            </a:rPr>
                            <m:t>𝑟</m:t>
                          </m:r>
                          <m:r>
                            <a:rPr lang="en-US" i="1">
                              <a:latin typeface="Cambria Math"/>
                            </a:rPr>
                            <m:t>=0,1,2,3….</m:t>
                          </m:r>
                        </m:e>
                      </m:d>
                    </m:oMath>
                  </m:oMathPara>
                </a14:m>
                <a:endParaRPr lang="en-US" i="1" dirty="0">
                  <a:latin typeface="Cambria Math"/>
                </a:endParaRPr>
              </a:p>
            </p:txBody>
          </p:sp>
        </mc:Choice>
        <mc:Fallback xmlns="">
          <p:sp>
            <p:nvSpPr>
              <p:cNvPr id="2" name="Rectangle 1"/>
              <p:cNvSpPr>
                <a:spLocks noRot="1" noChangeAspect="1" noMove="1" noResize="1" noEditPoints="1" noAdjustHandles="1" noChangeArrowheads="1" noChangeShapeType="1" noTextEdit="1"/>
              </p:cNvSpPr>
              <p:nvPr/>
            </p:nvSpPr>
            <p:spPr>
              <a:xfrm>
                <a:off x="1295400" y="1905000"/>
                <a:ext cx="6248400" cy="762000"/>
              </a:xfrm>
              <a:prstGeom prst="rect">
                <a:avLst/>
              </a:prstGeom>
              <a:blipFill>
                <a:blip r:embed="rId3"/>
                <a:stretch>
                  <a:fillRect/>
                </a:stretch>
              </a:blipFill>
            </p:spPr>
            <p:txBody>
              <a:bodyPr/>
              <a:lstStyle/>
              <a:p>
                <a:r>
                  <a:rPr lang="en-US">
                    <a:noFill/>
                  </a:rPr>
                  <a:t> </a:t>
                </a:r>
              </a:p>
            </p:txBody>
          </p:sp>
        </mc:Fallback>
      </mc:AlternateContent>
      <p:sp>
        <p:nvSpPr>
          <p:cNvPr id="8" name="Footer Placeholder 7">
            <a:extLst>
              <a:ext uri="{FF2B5EF4-FFF2-40B4-BE49-F238E27FC236}">
                <a16:creationId xmlns:a16="http://schemas.microsoft.com/office/drawing/2014/main" id="{B73C2304-4003-4007-8F0B-8B2F1B40699A}"/>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2943362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Para xmlns:m="http://schemas.openxmlformats.org/officeDocument/2006/math">
                    <m:oMathParaPr>
                      <m:jc m:val="left"/>
                    </m:oMathParaPr>
                    <m:oMath xmlns:m="http://schemas.openxmlformats.org/officeDocument/2006/math">
                      <m:r>
                        <a:rPr lang="en-US" sz="2200" i="1" smtClean="0">
                          <a:latin typeface="Cambria Math" panose="02040503050406030204" pitchFamily="18" charset="0"/>
                        </a:rPr>
                        <m:t>𝑃</m:t>
                      </m:r>
                      <m:d>
                        <m:dPr>
                          <m:ctrlPr>
                            <a:rPr lang="en-US" sz="2200" i="1" smtClean="0">
                              <a:latin typeface="Cambria Math" panose="02040503050406030204" pitchFamily="18" charset="0"/>
                            </a:rPr>
                          </m:ctrlPr>
                        </m:dPr>
                        <m:e>
                          <m:r>
                            <a:rPr lang="en-US" sz="2200" i="1" smtClean="0">
                              <a:latin typeface="Cambria Math" panose="02040503050406030204" pitchFamily="18" charset="0"/>
                            </a:rPr>
                            <m:t>𝑟</m:t>
                          </m:r>
                          <m:r>
                            <a:rPr lang="en-US" sz="2200" b="0" i="1" smtClean="0">
                              <a:latin typeface="Cambria Math" panose="02040503050406030204" pitchFamily="18" charset="0"/>
                            </a:rPr>
                            <m:t>+1</m:t>
                          </m:r>
                        </m:e>
                      </m:d>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ea typeface="Cambria Math"/>
                            </a:rPr>
                            <m:t>𝜆</m:t>
                          </m:r>
                        </m:num>
                        <m:den>
                          <m:r>
                            <a:rPr lang="en-US" sz="2200" i="1">
                              <a:latin typeface="Cambria Math" panose="02040503050406030204" pitchFamily="18" charset="0"/>
                            </a:rPr>
                            <m:t>𝑟</m:t>
                          </m:r>
                          <m:r>
                            <a:rPr lang="en-US" sz="2200" i="1">
                              <a:latin typeface="Cambria Math" panose="02040503050406030204" pitchFamily="18" charset="0"/>
                            </a:rPr>
                            <m:t>+1</m:t>
                          </m:r>
                        </m:den>
                      </m:f>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e>
                      </m:d>
                      <m:r>
                        <a:rPr lang="en-US" sz="2200" b="0" i="1" smtClean="0">
                          <a:latin typeface="Cambria Math" panose="02040503050406030204" pitchFamily="18" charset="0"/>
                        </a:rPr>
                        <m:t>, </m:t>
                      </m:r>
                      <m:r>
                        <a:rPr lang="en-US" sz="2200" b="0" i="1" smtClean="0">
                          <a:latin typeface="Cambria Math" panose="02040503050406030204" pitchFamily="18" charset="0"/>
                        </a:rPr>
                        <m:t>𝑟</m:t>
                      </m:r>
                      <m:r>
                        <a:rPr lang="en-US" sz="2200" b="0" i="1" smtClean="0">
                          <a:latin typeface="Cambria Math" panose="02040503050406030204" pitchFamily="18" charset="0"/>
                        </a:rPr>
                        <m:t>=01,2,3……</m:t>
                      </m:r>
                    </m:oMath>
                  </m:oMathPara>
                </a14:m>
                <a:endParaRPr lang="en-US" sz="2200" dirty="0"/>
              </a:p>
              <a:p>
                <a:pPr marL="0" indent="0">
                  <a:buNone/>
                </a:pPr>
                <a:r>
                  <a:rPr lang="en-US" sz="2200" dirty="0"/>
                  <a:t>This is called the recurrence or recursion formula for Poisson distribution.</a:t>
                </a:r>
              </a:p>
              <a:p>
                <a:pPr marL="0" indent="0">
                  <a:buNone/>
                </a:pPr>
                <a:r>
                  <a:rPr lang="en-US" sz="2200" dirty="0"/>
                  <a:t>Mean of the Poisson distribution: </a:t>
                </a:r>
              </a:p>
              <a:p>
                <a:pPr marL="0" indent="0">
                  <a:buNone/>
                </a:pPr>
                <a:r>
                  <a:rPr lang="en-US" sz="2200" dirty="0"/>
                  <a:t>Mean </a:t>
                </a:r>
                <a14:m>
                  <m:oMath xmlns:m="http://schemas.openxmlformats.org/officeDocument/2006/math">
                    <m:r>
                      <a:rPr lang="en-US" sz="2200" i="1" smtClean="0">
                        <a:latin typeface="Cambria Math" panose="02040503050406030204" pitchFamily="18" charset="0"/>
                        <a:ea typeface="Cambria Math"/>
                      </a:rPr>
                      <m:t>𝜇</m:t>
                    </m:r>
                    <m:r>
                      <a:rPr lang="en-US" sz="2200" b="0" i="1" smtClean="0">
                        <a:latin typeface="Cambria Math" panose="02040503050406030204" pitchFamily="18" charset="0"/>
                        <a:ea typeface="Cambria Math"/>
                      </a:rPr>
                      <m:t>=</m:t>
                    </m:r>
                    <m:nary>
                      <m:naryPr>
                        <m:chr m:val="∑"/>
                        <m:ctrlPr>
                          <a:rPr lang="en-US" sz="2200" b="0" i="1" smtClean="0">
                            <a:latin typeface="Cambria Math" panose="02040503050406030204" pitchFamily="18" charset="0"/>
                            <a:ea typeface="Cambria Math"/>
                          </a:rPr>
                        </m:ctrlPr>
                      </m:naryPr>
                      <m:sub>
                        <m:r>
                          <m:rPr>
                            <m:brk m:alnAt="23"/>
                          </m:rPr>
                          <a:rPr lang="en-US" sz="2200" b="0" i="1" smtClean="0">
                            <a:latin typeface="Cambria Math" panose="02040503050406030204" pitchFamily="18" charset="0"/>
                            <a:ea typeface="Cambria Math"/>
                          </a:rPr>
                          <m:t>𝑟</m:t>
                        </m:r>
                        <m:r>
                          <a:rPr lang="en-US" sz="2200" b="0" i="1" smtClean="0">
                            <a:latin typeface="Cambria Math" panose="02040503050406030204" pitchFamily="18" charset="0"/>
                            <a:ea typeface="Cambria Math"/>
                          </a:rPr>
                          <m:t>=0</m:t>
                        </m:r>
                      </m:sub>
                      <m:sup>
                        <m:r>
                          <a:rPr lang="en-US" sz="2200" b="0" i="1" smtClean="0">
                            <a:latin typeface="Cambria Math" panose="02040503050406030204" pitchFamily="18" charset="0"/>
                            <a:ea typeface="Cambria Math"/>
                          </a:rPr>
                          <m:t>∞</m:t>
                        </m:r>
                      </m:sup>
                      <m:e>
                        <m:r>
                          <a:rPr lang="en-US" sz="2200" b="0" i="1" smtClean="0">
                            <a:latin typeface="Cambria Math" panose="02040503050406030204" pitchFamily="18" charset="0"/>
                            <a:ea typeface="Cambria Math"/>
                          </a:rPr>
                          <m:t>𝑟𝑃</m:t>
                        </m:r>
                        <m:d>
                          <m:dPr>
                            <m:ctrlPr>
                              <a:rPr lang="en-US" sz="2200" b="0" i="1" smtClean="0">
                                <a:latin typeface="Cambria Math" panose="02040503050406030204" pitchFamily="18" charset="0"/>
                                <a:ea typeface="Cambria Math"/>
                              </a:rPr>
                            </m:ctrlPr>
                          </m:dPr>
                          <m:e>
                            <m:r>
                              <a:rPr lang="en-US" sz="2200" b="0" i="1" smtClean="0">
                                <a:latin typeface="Cambria Math" panose="02040503050406030204" pitchFamily="18" charset="0"/>
                                <a:ea typeface="Cambria Math"/>
                              </a:rPr>
                              <m:t>𝑟</m:t>
                            </m:r>
                          </m:e>
                        </m:d>
                      </m:e>
                    </m:nary>
                  </m:oMath>
                </a14:m>
                <a:endParaRPr lang="en-US" sz="2200" b="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panose="02040503050406030204" pitchFamily="18" charset="0"/>
                          <a:ea typeface="Cambria Math"/>
                        </a:rPr>
                        <m:t>=</m:t>
                      </m:r>
                      <m:nary>
                        <m:naryPr>
                          <m:chr m:val="∑"/>
                          <m:ctrlPr>
                            <a:rPr lang="en-US" sz="2200" i="1">
                              <a:latin typeface="Cambria Math" panose="02040503050406030204" pitchFamily="18" charset="0"/>
                              <a:ea typeface="Cambria Math"/>
                            </a:rPr>
                          </m:ctrlPr>
                        </m:naryPr>
                        <m:sub>
                          <m:r>
                            <m:rPr>
                              <m:brk m:alnAt="23"/>
                            </m:rPr>
                            <a:rPr lang="en-US" sz="2200" i="1">
                              <a:latin typeface="Cambria Math" panose="02040503050406030204" pitchFamily="18" charset="0"/>
                              <a:ea typeface="Cambria Math"/>
                            </a:rPr>
                            <m:t>𝑟</m:t>
                          </m:r>
                          <m:r>
                            <a:rPr lang="en-US" sz="2200" i="1">
                              <a:latin typeface="Cambria Math" panose="02040503050406030204" pitchFamily="18" charset="0"/>
                              <a:ea typeface="Cambria Math"/>
                            </a:rPr>
                            <m:t>=0</m:t>
                          </m:r>
                        </m:sub>
                        <m:sup>
                          <m:r>
                            <a:rPr lang="en-US" sz="2200" i="1">
                              <a:latin typeface="Cambria Math" panose="02040503050406030204" pitchFamily="18" charset="0"/>
                              <a:ea typeface="Cambria Math"/>
                            </a:rPr>
                            <m:t>∞</m:t>
                          </m:r>
                        </m:sup>
                        <m:e>
                          <m:r>
                            <a:rPr lang="en-US" sz="2200" i="1">
                              <a:latin typeface="Cambria Math" panose="02040503050406030204" pitchFamily="18" charset="0"/>
                              <a:ea typeface="Cambria Math"/>
                            </a:rPr>
                            <m:t>𝑟</m:t>
                          </m:r>
                          <m:r>
                            <a:rPr lang="en-US" sz="2200" i="1">
                              <a:latin typeface="Cambria Math" panose="02040503050406030204" pitchFamily="18" charset="0"/>
                              <a:ea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ea typeface="Cambria Math"/>
                                    </a:rPr>
                                    <m:t>𝜆</m:t>
                                  </m:r>
                                </m:sup>
                              </m:sSup>
                              <m:sSup>
                                <m:sSupPr>
                                  <m:ctrlPr>
                                    <a:rPr lang="en-US" sz="2200" i="1">
                                      <a:latin typeface="Cambria Math" panose="02040503050406030204" pitchFamily="18" charset="0"/>
                                    </a:rPr>
                                  </m:ctrlPr>
                                </m:sSupPr>
                                <m:e>
                                  <m:r>
                                    <a:rPr lang="en-US" sz="2200" i="1">
                                      <a:latin typeface="Cambria Math" panose="02040503050406030204" pitchFamily="18" charset="0"/>
                                      <a:ea typeface="Cambria Math"/>
                                    </a:rPr>
                                    <m:t>𝜆</m:t>
                                  </m:r>
                                </m:e>
                                <m:sup>
                                  <m:r>
                                    <a:rPr lang="en-US" sz="2200" i="1">
                                      <a:latin typeface="Cambria Math" panose="02040503050406030204" pitchFamily="18" charset="0"/>
                                    </a:rPr>
                                    <m:t>𝑟</m:t>
                                  </m:r>
                                </m:sup>
                              </m:sSup>
                            </m:num>
                            <m:den>
                              <m:r>
                                <a:rPr lang="en-US" sz="2200" i="1">
                                  <a:latin typeface="Cambria Math" panose="02040503050406030204" pitchFamily="18" charset="0"/>
                                </a:rPr>
                                <m:t>𝑟</m:t>
                              </m:r>
                              <m:r>
                                <a:rPr lang="en-US" sz="2200" i="1">
                                  <a:latin typeface="Cambria Math" panose="02040503050406030204" pitchFamily="18" charset="0"/>
                                  <a:ea typeface="Cambria Math"/>
                                </a:rPr>
                                <m:t>!</m:t>
                              </m:r>
                            </m:den>
                          </m:f>
                        </m:e>
                      </m:nary>
                    </m:oMath>
                  </m:oMathPara>
                </a14:m>
                <a:endParaRPr lang="en-US" sz="2200" b="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ea typeface="Cambria Math"/>
                        </a:rPr>
                        <m:t>=</m:t>
                      </m:r>
                      <m:sSup>
                        <m:sSupPr>
                          <m:ctrlPr>
                            <a:rPr lang="en-US" sz="2200" b="0" i="1" smtClean="0">
                              <a:latin typeface="Cambria Math" panose="02040503050406030204" pitchFamily="18" charset="0"/>
                              <a:ea typeface="Cambria Math"/>
                            </a:rPr>
                          </m:ctrlPr>
                        </m:sSupPr>
                        <m:e>
                          <m:r>
                            <a:rPr lang="en-US" sz="2200" b="0" i="1" smtClean="0">
                              <a:latin typeface="Cambria Math" panose="02040503050406030204" pitchFamily="18" charset="0"/>
                              <a:ea typeface="Cambria Math"/>
                            </a:rPr>
                            <m:t>𝑒</m:t>
                          </m:r>
                        </m:e>
                        <m:sup>
                          <m:r>
                            <a:rPr lang="en-US" sz="2200" b="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𝜆</m:t>
                          </m:r>
                        </m:sup>
                      </m:sSup>
                      <m:nary>
                        <m:naryPr>
                          <m:chr m:val="∑"/>
                          <m:ctrlPr>
                            <a:rPr lang="en-US" sz="2200" b="0" i="1" smtClean="0">
                              <a:latin typeface="Cambria Math" panose="02040503050406030204" pitchFamily="18" charset="0"/>
                              <a:ea typeface="Cambria Math"/>
                            </a:rPr>
                          </m:ctrlPr>
                        </m:naryPr>
                        <m:sub>
                          <m:r>
                            <m:rPr>
                              <m:brk m:alnAt="23"/>
                            </m:rPr>
                            <a:rPr lang="en-US" sz="2200" b="0" i="1" smtClean="0">
                              <a:latin typeface="Cambria Math" panose="02040503050406030204" pitchFamily="18" charset="0"/>
                              <a:ea typeface="Cambria Math"/>
                            </a:rPr>
                            <m:t>𝑟</m:t>
                          </m:r>
                          <m:r>
                            <a:rPr lang="en-US" sz="2200" b="0" i="1" smtClean="0">
                              <a:latin typeface="Cambria Math" panose="02040503050406030204" pitchFamily="18" charset="0"/>
                              <a:ea typeface="Cambria Math"/>
                            </a:rPr>
                            <m:t>=1</m:t>
                          </m:r>
                        </m:sub>
                        <m:sup>
                          <m:r>
                            <a:rPr lang="en-US" sz="2200" b="0" i="1" smtClean="0">
                              <a:latin typeface="Cambria Math" panose="02040503050406030204" pitchFamily="18" charset="0"/>
                              <a:ea typeface="Cambria Math"/>
                            </a:rPr>
                            <m:t>∞</m:t>
                          </m:r>
                        </m:sup>
                        <m:e>
                          <m:f>
                            <m:fPr>
                              <m:ctrlPr>
                                <a:rPr lang="en-US" sz="2200" b="0" i="1" smtClean="0">
                                  <a:latin typeface="Cambria Math" panose="02040503050406030204" pitchFamily="18" charset="0"/>
                                  <a:ea typeface="Cambria Math"/>
                                </a:rPr>
                              </m:ctrlPr>
                            </m:fPr>
                            <m:num>
                              <m:sSup>
                                <m:sSupPr>
                                  <m:ctrlPr>
                                    <a:rPr lang="en-US" sz="2200" i="1">
                                      <a:latin typeface="Cambria Math" panose="02040503050406030204" pitchFamily="18" charset="0"/>
                                    </a:rPr>
                                  </m:ctrlPr>
                                </m:sSupPr>
                                <m:e>
                                  <m:r>
                                    <a:rPr lang="en-US" sz="2200" i="1">
                                      <a:latin typeface="Cambria Math" panose="02040503050406030204" pitchFamily="18" charset="0"/>
                                      <a:ea typeface="Cambria Math"/>
                                    </a:rPr>
                                    <m:t>𝜆</m:t>
                                  </m:r>
                                </m:e>
                                <m:sup>
                                  <m:r>
                                    <a:rPr lang="en-US" sz="2200" i="1">
                                      <a:latin typeface="Cambria Math" panose="02040503050406030204" pitchFamily="18" charset="0"/>
                                    </a:rPr>
                                    <m:t>𝑟</m:t>
                                  </m:r>
                                </m:sup>
                              </m:sSup>
                            </m:num>
                            <m:den>
                              <m:r>
                                <a:rPr lang="en-US" sz="2200" b="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𝑟</m:t>
                              </m:r>
                              <m:r>
                                <a:rPr lang="en-US" sz="2200" b="0" i="1" smtClean="0">
                                  <a:latin typeface="Cambria Math" panose="02040503050406030204" pitchFamily="18" charset="0"/>
                                  <a:ea typeface="Cambria Math"/>
                                </a:rPr>
                                <m:t>−1)!</m:t>
                              </m:r>
                            </m:den>
                          </m:f>
                        </m:e>
                      </m:nary>
                    </m:oMath>
                  </m:oMathPara>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A281082B-B276-4B83-B49B-84894779FB77}"/>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53659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a:rPr>
                        <m:t>=</m:t>
                      </m:r>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𝑒</m:t>
                          </m:r>
                        </m:e>
                        <m:sup>
                          <m:r>
                            <a:rPr lang="en-US" sz="2000" i="1">
                              <a:latin typeface="Cambria Math" panose="02040503050406030204" pitchFamily="18" charset="0"/>
                              <a:ea typeface="Cambria Math"/>
                            </a:rPr>
                            <m:t>−</m:t>
                          </m:r>
                          <m:r>
                            <a:rPr lang="en-US" sz="2000" i="1">
                              <a:latin typeface="Cambria Math" panose="02040503050406030204" pitchFamily="18" charset="0"/>
                              <a:ea typeface="Cambria Math"/>
                            </a:rPr>
                            <m:t>𝜆</m:t>
                          </m:r>
                        </m:sup>
                      </m:sSup>
                      <m:d>
                        <m:dPr>
                          <m:ctrlPr>
                            <a:rPr lang="en-US" sz="2000" i="1">
                              <a:latin typeface="Cambria Math" panose="02040503050406030204" pitchFamily="18" charset="0"/>
                              <a:ea typeface="Cambria Math"/>
                            </a:rPr>
                          </m:ctrlPr>
                        </m:dPr>
                        <m:e>
                          <m:r>
                            <a:rPr lang="en-US" sz="2000" i="1">
                              <a:latin typeface="Cambria Math" panose="02040503050406030204" pitchFamily="18" charset="0"/>
                              <a:ea typeface="Cambria Math"/>
                            </a:rPr>
                            <m:t>𝜆</m:t>
                          </m:r>
                          <m:r>
                            <a:rPr lang="en-US" sz="2000" i="1">
                              <a:latin typeface="Cambria Math" panose="02040503050406030204" pitchFamily="18" charset="0"/>
                              <a:ea typeface="Cambria Math"/>
                            </a:rPr>
                            <m:t>+</m:t>
                          </m:r>
                          <m:f>
                            <m:fPr>
                              <m:ctrlPr>
                                <a:rPr lang="en-US" sz="2000" i="1">
                                  <a:latin typeface="Cambria Math" panose="02040503050406030204" pitchFamily="18" charset="0"/>
                                  <a:ea typeface="Cambria Math"/>
                                </a:rPr>
                              </m:ctrlPr>
                            </m:fPr>
                            <m:num>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𝜆</m:t>
                                  </m:r>
                                </m:e>
                                <m:sup>
                                  <m:r>
                                    <a:rPr lang="en-US" sz="2000" i="1">
                                      <a:latin typeface="Cambria Math" panose="02040503050406030204" pitchFamily="18" charset="0"/>
                                      <a:ea typeface="Cambria Math"/>
                                    </a:rPr>
                                    <m:t>2</m:t>
                                  </m:r>
                                </m:sup>
                              </m:sSup>
                            </m:num>
                            <m:den>
                              <m:r>
                                <a:rPr lang="en-US" sz="2000" i="1">
                                  <a:latin typeface="Cambria Math" panose="02040503050406030204" pitchFamily="18" charset="0"/>
                                  <a:ea typeface="Cambria Math"/>
                                </a:rPr>
                                <m:t>1!</m:t>
                              </m:r>
                            </m:den>
                          </m:f>
                          <m:r>
                            <a:rPr lang="en-US" sz="2000" i="1">
                              <a:latin typeface="Cambria Math" panose="02040503050406030204" pitchFamily="18" charset="0"/>
                              <a:ea typeface="Cambria Math"/>
                            </a:rPr>
                            <m:t>+</m:t>
                          </m:r>
                          <m:f>
                            <m:fPr>
                              <m:ctrlPr>
                                <a:rPr lang="en-US" sz="2000" i="1">
                                  <a:latin typeface="Cambria Math" panose="02040503050406030204" pitchFamily="18" charset="0"/>
                                  <a:ea typeface="Cambria Math"/>
                                </a:rPr>
                              </m:ctrlPr>
                            </m:fPr>
                            <m:num>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𝜆</m:t>
                                  </m:r>
                                </m:e>
                                <m:sup>
                                  <m:r>
                                    <a:rPr lang="en-US" sz="2000" i="1">
                                      <a:latin typeface="Cambria Math" panose="02040503050406030204" pitchFamily="18" charset="0"/>
                                      <a:ea typeface="Cambria Math"/>
                                    </a:rPr>
                                    <m:t>3</m:t>
                                  </m:r>
                                </m:sup>
                              </m:sSup>
                            </m:num>
                            <m:den>
                              <m:r>
                                <a:rPr lang="en-US" sz="2000" i="1">
                                  <a:latin typeface="Cambria Math" panose="02040503050406030204" pitchFamily="18" charset="0"/>
                                  <a:ea typeface="Cambria Math"/>
                                </a:rPr>
                                <m:t>2!</m:t>
                              </m:r>
                            </m:den>
                          </m:f>
                          <m:r>
                            <a:rPr lang="en-US" sz="2000" i="1">
                              <a:latin typeface="Cambria Math" panose="02040503050406030204" pitchFamily="18" charset="0"/>
                              <a:ea typeface="Cambria Math"/>
                            </a:rPr>
                            <m:t>+….</m:t>
                          </m:r>
                        </m:e>
                      </m:d>
                    </m:oMath>
                  </m:oMathPara>
                </a14:m>
                <a:endParaRPr lang="en-US" sz="20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ea typeface="Cambria Math"/>
                        </a:rPr>
                        <m:t>=</m:t>
                      </m:r>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𝜆</m:t>
                          </m:r>
                          <m:r>
                            <a:rPr lang="en-US" sz="2000" i="1">
                              <a:latin typeface="Cambria Math" panose="02040503050406030204" pitchFamily="18" charset="0"/>
                              <a:ea typeface="Cambria Math"/>
                            </a:rPr>
                            <m:t>𝑒</m:t>
                          </m:r>
                        </m:e>
                        <m:sup>
                          <m:r>
                            <a:rPr lang="en-US" sz="2000" i="1">
                              <a:latin typeface="Cambria Math" panose="02040503050406030204" pitchFamily="18" charset="0"/>
                              <a:ea typeface="Cambria Math"/>
                            </a:rPr>
                            <m:t>−</m:t>
                          </m:r>
                          <m:r>
                            <a:rPr lang="en-US" sz="2000" i="1">
                              <a:latin typeface="Cambria Math" panose="02040503050406030204" pitchFamily="18" charset="0"/>
                              <a:ea typeface="Cambria Math"/>
                            </a:rPr>
                            <m:t>𝜆</m:t>
                          </m:r>
                        </m:sup>
                      </m:sSup>
                      <m:d>
                        <m:dPr>
                          <m:ctrlPr>
                            <a:rPr lang="en-US" sz="2000" i="1">
                              <a:latin typeface="Cambria Math" panose="02040503050406030204" pitchFamily="18" charset="0"/>
                              <a:ea typeface="Cambria Math"/>
                            </a:rPr>
                          </m:ctrlPr>
                        </m:dPr>
                        <m:e>
                          <m:r>
                            <a:rPr lang="en-US" sz="2000" i="1">
                              <a:latin typeface="Cambria Math" panose="02040503050406030204" pitchFamily="18" charset="0"/>
                              <a:ea typeface="Cambria Math"/>
                            </a:rPr>
                            <m:t>1+</m:t>
                          </m:r>
                          <m:f>
                            <m:fPr>
                              <m:ctrlPr>
                                <a:rPr lang="en-US" sz="2000" i="1">
                                  <a:latin typeface="Cambria Math" panose="02040503050406030204" pitchFamily="18" charset="0"/>
                                  <a:ea typeface="Cambria Math"/>
                                </a:rPr>
                              </m:ctrlPr>
                            </m:fPr>
                            <m:num>
                              <m:r>
                                <a:rPr lang="en-US" sz="2000" i="1">
                                  <a:latin typeface="Cambria Math" panose="02040503050406030204" pitchFamily="18" charset="0"/>
                                  <a:ea typeface="Cambria Math"/>
                                </a:rPr>
                                <m:t>𝜆</m:t>
                              </m:r>
                            </m:num>
                            <m:den>
                              <m:r>
                                <a:rPr lang="en-US" sz="2000" i="1">
                                  <a:latin typeface="Cambria Math" panose="02040503050406030204" pitchFamily="18" charset="0"/>
                                  <a:ea typeface="Cambria Math"/>
                                </a:rPr>
                                <m:t>1!</m:t>
                              </m:r>
                            </m:den>
                          </m:f>
                          <m:r>
                            <a:rPr lang="en-US" sz="2000" i="1">
                              <a:latin typeface="Cambria Math" panose="02040503050406030204" pitchFamily="18" charset="0"/>
                              <a:ea typeface="Cambria Math"/>
                            </a:rPr>
                            <m:t>+</m:t>
                          </m:r>
                          <m:f>
                            <m:fPr>
                              <m:ctrlPr>
                                <a:rPr lang="en-US" sz="2000" i="1">
                                  <a:latin typeface="Cambria Math" panose="02040503050406030204" pitchFamily="18" charset="0"/>
                                  <a:ea typeface="Cambria Math"/>
                                </a:rPr>
                              </m:ctrlPr>
                            </m:fPr>
                            <m:num>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𝜆</m:t>
                                  </m:r>
                                </m:e>
                                <m:sup>
                                  <m:r>
                                    <a:rPr lang="en-US" sz="2000" i="1">
                                      <a:latin typeface="Cambria Math" panose="02040503050406030204" pitchFamily="18" charset="0"/>
                                      <a:ea typeface="Cambria Math"/>
                                    </a:rPr>
                                    <m:t>2</m:t>
                                  </m:r>
                                </m:sup>
                              </m:sSup>
                            </m:num>
                            <m:den>
                              <m:r>
                                <a:rPr lang="en-US" sz="2000" i="1">
                                  <a:latin typeface="Cambria Math" panose="02040503050406030204" pitchFamily="18" charset="0"/>
                                  <a:ea typeface="Cambria Math"/>
                                </a:rPr>
                                <m:t>2!</m:t>
                              </m:r>
                            </m:den>
                          </m:f>
                          <m:r>
                            <a:rPr lang="en-US" sz="2000" i="1">
                              <a:latin typeface="Cambria Math" panose="02040503050406030204" pitchFamily="18" charset="0"/>
                              <a:ea typeface="Cambria Math"/>
                            </a:rPr>
                            <m:t>+….</m:t>
                          </m:r>
                        </m:e>
                      </m:d>
                    </m:oMath>
                  </m:oMathPara>
                </a14:m>
                <a:endParaRPr lang="en-US" sz="20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a:rPr>
                        <m:t>=</m:t>
                      </m:r>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𝜆</m:t>
                          </m:r>
                          <m:r>
                            <a:rPr lang="en-US" sz="2000" i="1">
                              <a:latin typeface="Cambria Math" panose="02040503050406030204" pitchFamily="18" charset="0"/>
                              <a:ea typeface="Cambria Math"/>
                            </a:rPr>
                            <m:t>𝑒</m:t>
                          </m:r>
                        </m:e>
                        <m:sup>
                          <m:r>
                            <a:rPr lang="en-US" sz="2000" i="1">
                              <a:latin typeface="Cambria Math" panose="02040503050406030204" pitchFamily="18" charset="0"/>
                              <a:ea typeface="Cambria Math"/>
                            </a:rPr>
                            <m:t>−</m:t>
                          </m:r>
                          <m:r>
                            <a:rPr lang="en-US" sz="2000" i="1">
                              <a:latin typeface="Cambria Math" panose="02040503050406030204" pitchFamily="18" charset="0"/>
                              <a:ea typeface="Cambria Math"/>
                            </a:rPr>
                            <m:t>𝜆</m:t>
                          </m:r>
                        </m:sup>
                      </m:sSup>
                      <m:d>
                        <m:dPr>
                          <m:ctrlPr>
                            <a:rPr lang="en-US" sz="2000" i="1">
                              <a:latin typeface="Cambria Math" panose="02040503050406030204" pitchFamily="18" charset="0"/>
                              <a:ea typeface="Cambria Math"/>
                            </a:rPr>
                          </m:ctrlPr>
                        </m:dPr>
                        <m:e>
                          <m:r>
                            <a:rPr lang="en-US" sz="2000" i="1">
                              <a:latin typeface="Cambria Math" panose="02040503050406030204" pitchFamily="18" charset="0"/>
                              <a:ea typeface="Cambria Math"/>
                            </a:rPr>
                            <m:t>1+</m:t>
                          </m:r>
                          <m:f>
                            <m:fPr>
                              <m:ctrlPr>
                                <a:rPr lang="en-US" sz="2000" i="1">
                                  <a:latin typeface="Cambria Math" panose="02040503050406030204" pitchFamily="18" charset="0"/>
                                  <a:ea typeface="Cambria Math"/>
                                </a:rPr>
                              </m:ctrlPr>
                            </m:fPr>
                            <m:num>
                              <m:r>
                                <a:rPr lang="en-US" sz="2000" i="1">
                                  <a:latin typeface="Cambria Math" panose="02040503050406030204" pitchFamily="18" charset="0"/>
                                  <a:ea typeface="Cambria Math"/>
                                </a:rPr>
                                <m:t>𝜆</m:t>
                              </m:r>
                            </m:num>
                            <m:den>
                              <m:r>
                                <a:rPr lang="en-US" sz="2000" i="1">
                                  <a:latin typeface="Cambria Math" panose="02040503050406030204" pitchFamily="18" charset="0"/>
                                  <a:ea typeface="Cambria Math"/>
                                </a:rPr>
                                <m:t>1!</m:t>
                              </m:r>
                            </m:den>
                          </m:f>
                          <m:r>
                            <a:rPr lang="en-US" sz="2000" i="1">
                              <a:latin typeface="Cambria Math" panose="02040503050406030204" pitchFamily="18" charset="0"/>
                              <a:ea typeface="Cambria Math"/>
                            </a:rPr>
                            <m:t>+</m:t>
                          </m:r>
                          <m:f>
                            <m:fPr>
                              <m:ctrlPr>
                                <a:rPr lang="en-US" sz="2000" i="1">
                                  <a:latin typeface="Cambria Math" panose="02040503050406030204" pitchFamily="18" charset="0"/>
                                  <a:ea typeface="Cambria Math"/>
                                </a:rPr>
                              </m:ctrlPr>
                            </m:fPr>
                            <m:num>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𝜆</m:t>
                                  </m:r>
                                </m:e>
                                <m:sup>
                                  <m:r>
                                    <a:rPr lang="en-US" sz="2000" i="1">
                                      <a:latin typeface="Cambria Math" panose="02040503050406030204" pitchFamily="18" charset="0"/>
                                      <a:ea typeface="Cambria Math"/>
                                    </a:rPr>
                                    <m:t>2</m:t>
                                  </m:r>
                                </m:sup>
                              </m:sSup>
                            </m:num>
                            <m:den>
                              <m:r>
                                <a:rPr lang="en-US" sz="2000" i="1">
                                  <a:latin typeface="Cambria Math" panose="02040503050406030204" pitchFamily="18" charset="0"/>
                                  <a:ea typeface="Cambria Math"/>
                                </a:rPr>
                                <m:t>2!</m:t>
                              </m:r>
                            </m:den>
                          </m:f>
                          <m:r>
                            <a:rPr lang="en-US" sz="2000" i="1">
                              <a:latin typeface="Cambria Math" panose="02040503050406030204" pitchFamily="18" charset="0"/>
                              <a:ea typeface="Cambria Math"/>
                            </a:rPr>
                            <m:t>+….</m:t>
                          </m:r>
                        </m:e>
                      </m:d>
                    </m:oMath>
                  </m:oMathPara>
                </a14:m>
                <a:endParaRPr lang="en-US" sz="20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a:rPr>
                        <m:t>=</m:t>
                      </m:r>
                      <m:sSup>
                        <m:sSupPr>
                          <m:ctrlPr>
                            <a:rPr lang="en-US" sz="2000" i="1">
                              <a:latin typeface="Cambria Math" panose="02040503050406030204" pitchFamily="18" charset="0"/>
                              <a:ea typeface="Cambria Math"/>
                            </a:rPr>
                          </m:ctrlPr>
                        </m:sSupPr>
                        <m:e>
                          <m:r>
                            <a:rPr lang="en-US" sz="2000" i="1">
                              <a:latin typeface="Cambria Math" panose="02040503050406030204" pitchFamily="18" charset="0"/>
                              <a:ea typeface="Cambria Math"/>
                            </a:rPr>
                            <m:t>𝜆</m:t>
                          </m:r>
                          <m:r>
                            <a:rPr lang="en-US" sz="2000" i="1">
                              <a:latin typeface="Cambria Math" panose="02040503050406030204" pitchFamily="18" charset="0"/>
                              <a:ea typeface="Cambria Math"/>
                            </a:rPr>
                            <m:t>𝑒</m:t>
                          </m:r>
                        </m:e>
                        <m:sup>
                          <m:r>
                            <a:rPr lang="en-US" sz="2000" i="1">
                              <a:latin typeface="Cambria Math" panose="02040503050406030204" pitchFamily="18" charset="0"/>
                              <a:ea typeface="Cambria Math"/>
                            </a:rPr>
                            <m:t>−</m:t>
                          </m:r>
                          <m:r>
                            <a:rPr lang="en-US" sz="2000" i="1">
                              <a:latin typeface="Cambria Math" panose="02040503050406030204" pitchFamily="18" charset="0"/>
                              <a:ea typeface="Cambria Math"/>
                            </a:rPr>
                            <m:t>𝜆</m:t>
                          </m:r>
                        </m:sup>
                      </m:sSup>
                      <m:sSup>
                        <m:sSupPr>
                          <m:ctrlPr>
                            <a:rPr lang="en-US" sz="2000" i="1" smtClean="0">
                              <a:latin typeface="Cambria Math" panose="02040503050406030204" pitchFamily="18" charset="0"/>
                              <a:ea typeface="Cambria Math"/>
                            </a:rPr>
                          </m:ctrlPr>
                        </m:sSupPr>
                        <m:e>
                          <m:r>
                            <a:rPr lang="en-US" sz="2000" i="1">
                              <a:latin typeface="Cambria Math" panose="02040503050406030204" pitchFamily="18" charset="0"/>
                              <a:ea typeface="Cambria Math"/>
                            </a:rPr>
                            <m:t>𝑒</m:t>
                          </m:r>
                        </m:e>
                        <m:sup>
                          <m:r>
                            <a:rPr lang="en-US" sz="2000" i="1">
                              <a:latin typeface="Cambria Math" panose="02040503050406030204" pitchFamily="18" charset="0"/>
                              <a:ea typeface="Cambria Math"/>
                            </a:rPr>
                            <m:t>𝜆</m:t>
                          </m:r>
                        </m:sup>
                      </m:sSup>
                      <m:r>
                        <a:rPr lang="en-US" sz="2000" b="0" i="1" smtClean="0">
                          <a:latin typeface="Cambria Math" panose="02040503050406030204" pitchFamily="18" charset="0"/>
                          <a:ea typeface="Cambria Math"/>
                        </a:rPr>
                        <m:t>=</m:t>
                      </m:r>
                      <m:r>
                        <a:rPr lang="en-US" sz="2000" i="1">
                          <a:latin typeface="Cambria Math" panose="02040503050406030204" pitchFamily="18" charset="0"/>
                          <a:ea typeface="Cambria Math"/>
                        </a:rPr>
                        <m:t>𝜆</m:t>
                      </m:r>
                    </m:oMath>
                  </m:oMathPara>
                </a14:m>
                <a:endParaRPr lang="en-US" sz="2000" dirty="0">
                  <a:ea typeface="Cambria Math"/>
                </a:endParaRPr>
              </a:p>
              <a:p>
                <a:pPr marL="0" indent="0">
                  <a:buNone/>
                </a:pPr>
                <a:r>
                  <a:rPr lang="en-US" sz="2000" dirty="0">
                    <a:ea typeface="Cambria Math"/>
                  </a:rPr>
                  <a:t>Mean </a:t>
                </a:r>
                <a14:m>
                  <m:oMath xmlns:m="http://schemas.openxmlformats.org/officeDocument/2006/math">
                    <m:r>
                      <a:rPr lang="en-US" sz="2000" i="1">
                        <a:latin typeface="Cambria Math" panose="02040503050406030204" pitchFamily="18" charset="0"/>
                        <a:ea typeface="Cambria Math"/>
                      </a:rPr>
                      <m:t>=</m:t>
                    </m:r>
                    <m:r>
                      <a:rPr lang="en-US" sz="2000" i="1">
                        <a:latin typeface="Cambria Math" panose="02040503050406030204" pitchFamily="18" charset="0"/>
                        <a:ea typeface="Cambria Math"/>
                      </a:rPr>
                      <m:t>𝜆</m:t>
                    </m:r>
                  </m:oMath>
                </a14:m>
                <a:r>
                  <a:rPr lang="en-US" sz="2000" dirty="0">
                    <a:ea typeface="Cambria Math"/>
                  </a:rPr>
                  <a:t> for Poisson distribution.</a:t>
                </a:r>
              </a:p>
              <a:p>
                <a:pPr marL="0" indent="0">
                  <a:buNone/>
                </a:pPr>
                <a:r>
                  <a:rPr lang="en-US" sz="2000" dirty="0"/>
                  <a:t>Variance of Poisson Distribution:</a:t>
                </a:r>
              </a:p>
              <a:p>
                <a:pPr mar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𝑉𝑎𝑟𝑖𝑎𝑛𝑐𝑒</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ea typeface="Cambria Math"/>
                            </a:rPr>
                            <m:t>𝜎</m:t>
                          </m:r>
                        </m:e>
                        <m:sup>
                          <m:r>
                            <a:rPr lang="en-US" sz="2000" i="1">
                              <a:latin typeface="Cambria Math" panose="02040503050406030204" pitchFamily="18" charset="0"/>
                            </a:rPr>
                            <m:t>2</m:t>
                          </m:r>
                        </m:sup>
                      </m:sSup>
                      <m:r>
                        <a:rPr lang="en-US" sz="2000" i="1">
                          <a:latin typeface="Cambria Math" panose="02040503050406030204" pitchFamily="18" charset="0"/>
                        </a:rPr>
                        <m:t>=</m:t>
                      </m:r>
                      <m:nary>
                        <m:naryPr>
                          <m:chr m:val="∑"/>
                          <m:ctrlPr>
                            <a:rPr lang="en-US" sz="2000" i="1" smtClean="0">
                              <a:latin typeface="Cambria Math" panose="02040503050406030204" pitchFamily="18" charset="0"/>
                            </a:rPr>
                          </m:ctrlPr>
                        </m:naryPr>
                        <m:sub>
                          <m:r>
                            <m:rPr>
                              <m:brk m:alnAt="23"/>
                            </m:rPr>
                            <a:rPr lang="en-US" sz="2000" i="1">
                              <a:latin typeface="Cambria Math" panose="02040503050406030204" pitchFamily="18" charset="0"/>
                            </a:rPr>
                            <m:t>𝑟</m:t>
                          </m:r>
                          <m:r>
                            <a:rPr lang="en-US" sz="2000" i="1">
                              <a:latin typeface="Cambria Math" panose="02040503050406030204" pitchFamily="18" charset="0"/>
                            </a:rPr>
                            <m:t>=0</m:t>
                          </m:r>
                        </m:sub>
                        <m:sup>
                          <m:r>
                            <a:rPr lang="en-US" sz="2000" i="1" smtClean="0">
                              <a:latin typeface="Cambria Math" panose="02040503050406030204" pitchFamily="18" charset="0"/>
                              <a:ea typeface="Cambria Math"/>
                            </a:rPr>
                            <m:t>∞</m:t>
                          </m:r>
                        </m:sup>
                        <m:e>
                          <m:sSup>
                            <m:sSupPr>
                              <m:ctrlPr>
                                <a:rPr lang="en-US" sz="2000" i="1">
                                  <a:latin typeface="Cambria Math" panose="02040503050406030204" pitchFamily="18" charset="0"/>
                                </a:rPr>
                              </m:ctrlPr>
                            </m:sSupPr>
                            <m:e>
                              <m:r>
                                <a:rPr lang="en-US" sz="2000" i="1">
                                  <a:latin typeface="Cambria Math" panose="02040503050406030204" pitchFamily="18" charset="0"/>
                                </a:rPr>
                                <m:t>𝑟</m:t>
                              </m:r>
                            </m:e>
                            <m:sup>
                              <m:r>
                                <a:rPr lang="en-US" sz="2000" i="1">
                                  <a:latin typeface="Cambria Math" panose="02040503050406030204" pitchFamily="18" charset="0"/>
                                </a:rPr>
                                <m:t>2</m:t>
                              </m:r>
                            </m:sup>
                          </m:sSup>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𝑟</m:t>
                              </m:r>
                            </m:e>
                          </m:d>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ea typeface="Cambria Math"/>
                                </a:rPr>
                                <m:t>𝜇</m:t>
                              </m:r>
                            </m:e>
                            <m:sup>
                              <m:r>
                                <a:rPr lang="en-US" sz="2000" i="1">
                                  <a:latin typeface="Cambria Math" panose="02040503050406030204" pitchFamily="18" charset="0"/>
                                </a:rPr>
                                <m:t>2</m:t>
                              </m:r>
                            </m:sup>
                          </m:sSup>
                        </m:e>
                      </m:nary>
                    </m:oMath>
                  </m:oMathPara>
                </a14:m>
                <a:endParaRPr lang="en-US" sz="2000" dirty="0"/>
              </a:p>
              <a:p>
                <a:pPr marL="0" indent="0">
                  <a:buNone/>
                </a:pPr>
                <a:endParaRPr lang="en-US" sz="20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a:stretch>
              </a:blipFill>
            </p:spPr>
            <p:txBody>
              <a:bodyPr/>
              <a:lstStyle/>
              <a:p>
                <a:r>
                  <a:rPr lang="en-IN">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223C9877-1961-4DA2-BA85-64CDBF0DA4F7}"/>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3594912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a:bodyPr>
              <a:lstStyle/>
              <a:p>
                <a:pPr marL="0" indent="0">
                  <a:buNone/>
                </a:pPr>
                <a14:m>
                  <m:oMathPara xmlns:m="http://schemas.openxmlformats.org/officeDocument/2006/math">
                    <m:oMathParaPr>
                      <m:jc m:val="left"/>
                    </m:oMathParaPr>
                    <m:oMath xmlns:m="http://schemas.openxmlformats.org/officeDocument/2006/math">
                      <m:r>
                        <a:rPr lang="en-US" sz="2200" i="1" smtClean="0">
                          <a:latin typeface="Cambria Math"/>
                        </a:rPr>
                        <m:t>=</m:t>
                      </m:r>
                      <m:nary>
                        <m:naryPr>
                          <m:chr m:val="∑"/>
                          <m:ctrlPr>
                            <a:rPr lang="en-US" sz="2200" i="1">
                              <a:latin typeface="Cambria Math" panose="02040503050406030204" pitchFamily="18" charset="0"/>
                            </a:rPr>
                          </m:ctrlPr>
                        </m:naryPr>
                        <m:sub>
                          <m:r>
                            <m:rPr>
                              <m:brk m:alnAt="23"/>
                            </m:rPr>
                            <a:rPr lang="en-US" sz="2200" i="1">
                              <a:latin typeface="Cambria Math"/>
                            </a:rPr>
                            <m:t>𝑟</m:t>
                          </m:r>
                          <m:r>
                            <a:rPr lang="en-US" sz="2200" i="1">
                              <a:latin typeface="Cambria Math"/>
                            </a:rPr>
                            <m:t>=0</m:t>
                          </m:r>
                        </m:sub>
                        <m:sup>
                          <m:r>
                            <a:rPr lang="en-US" sz="2200" i="1">
                              <a:latin typeface="Cambria Math"/>
                              <a:ea typeface="Cambria Math"/>
                            </a:rPr>
                            <m:t>∞</m:t>
                          </m:r>
                        </m:sup>
                        <m:e>
                          <m:sSup>
                            <m:sSupPr>
                              <m:ctrlPr>
                                <a:rPr lang="en-US" sz="2200" i="1">
                                  <a:latin typeface="Cambria Math" panose="02040503050406030204" pitchFamily="18" charset="0"/>
                                </a:rPr>
                              </m:ctrlPr>
                            </m:sSupPr>
                            <m:e>
                              <m:r>
                                <a:rPr lang="en-US" sz="2200" i="1">
                                  <a:latin typeface="Cambria Math"/>
                                </a:rPr>
                                <m:t>𝑟</m:t>
                              </m:r>
                            </m:e>
                            <m:sup>
                              <m:r>
                                <a:rPr lang="en-US" sz="2200" i="1">
                                  <a:latin typeface="Cambria Math"/>
                                </a:rPr>
                                <m:t>2</m:t>
                              </m:r>
                            </m:sup>
                          </m:sSup>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r>
                                    <a:rPr lang="en-US" sz="2200" i="1">
                                      <a:latin typeface="Cambria Math"/>
                                      <a:ea typeface="Cambria Math"/>
                                    </a:rPr>
                                    <m:t>𝜆</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𝑟</m:t>
                                  </m:r>
                                </m:sup>
                              </m:sSup>
                            </m:num>
                            <m:den>
                              <m:r>
                                <a:rPr lang="en-US" sz="2200" i="1">
                                  <a:latin typeface="Cambria Math"/>
                                </a:rPr>
                                <m:t>𝑟</m:t>
                              </m:r>
                              <m:r>
                                <a:rPr lang="en-US" sz="2200" i="1">
                                  <a:latin typeface="Cambria Math"/>
                                  <a:ea typeface="Cambria Math"/>
                                </a:rPr>
                                <m:t>!</m:t>
                              </m:r>
                            </m:den>
                          </m:f>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𝜇</m:t>
                              </m:r>
                            </m:e>
                            <m:sup>
                              <m:r>
                                <a:rPr lang="en-US" sz="2200" i="1">
                                  <a:latin typeface="Cambria Math"/>
                                </a:rPr>
                                <m:t>2</m:t>
                              </m:r>
                            </m:sup>
                          </m:sSup>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𝑒</m:t>
                          </m:r>
                        </m:e>
                        <m:sup>
                          <m:r>
                            <a:rPr lang="en-US" sz="2200" b="0" i="1" smtClean="0">
                              <a:latin typeface="Cambria Math"/>
                            </a:rPr>
                            <m:t>−</m:t>
                          </m:r>
                          <m:r>
                            <a:rPr lang="en-US" sz="2200" b="0" i="1" smtClean="0">
                              <a:latin typeface="Cambria Math"/>
                              <a:ea typeface="Cambria Math"/>
                            </a:rPr>
                            <m:t>𝜆</m:t>
                          </m:r>
                        </m:sup>
                      </m:sSup>
                      <m:nary>
                        <m:naryPr>
                          <m:chr m:val="∑"/>
                          <m:ctrlPr>
                            <a:rPr lang="en-US" sz="2200" i="1">
                              <a:latin typeface="Cambria Math" panose="02040503050406030204" pitchFamily="18" charset="0"/>
                            </a:rPr>
                          </m:ctrlPr>
                        </m:naryPr>
                        <m:sub>
                          <m:r>
                            <m:rPr>
                              <m:brk m:alnAt="23"/>
                            </m:rPr>
                            <a:rPr lang="en-US" sz="2200" i="1">
                              <a:latin typeface="Cambria Math"/>
                            </a:rPr>
                            <m:t>𝑟</m:t>
                          </m:r>
                          <m:r>
                            <a:rPr lang="en-US" sz="2200" i="1">
                              <a:latin typeface="Cambria Math"/>
                            </a:rPr>
                            <m:t>=0</m:t>
                          </m:r>
                        </m:sub>
                        <m:sup>
                          <m:r>
                            <a:rPr lang="en-US" sz="2200" i="1">
                              <a:latin typeface="Cambria Math"/>
                              <a:ea typeface="Cambria Math"/>
                            </a:rPr>
                            <m:t>∞</m:t>
                          </m:r>
                        </m:sup>
                        <m:e>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𝑟</m:t>
                                  </m:r>
                                </m:e>
                                <m:sup>
                                  <m:r>
                                    <a:rPr lang="en-US" sz="2200" i="1">
                                      <a:latin typeface="Cambria Math"/>
                                    </a:rPr>
                                    <m:t>2</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𝑟</m:t>
                                  </m:r>
                                </m:sup>
                              </m:sSup>
                            </m:num>
                            <m:den>
                              <m:r>
                                <a:rPr lang="en-US" sz="2200" i="1">
                                  <a:latin typeface="Cambria Math"/>
                                </a:rPr>
                                <m:t>𝑟</m:t>
                              </m:r>
                              <m:r>
                                <a:rPr lang="en-US" sz="2200" i="1">
                                  <a:latin typeface="Cambria Math"/>
                                  <a:ea typeface="Cambria Math"/>
                                </a:rPr>
                                <m:t>!</m:t>
                              </m:r>
                            </m:den>
                          </m:f>
                          <m:r>
                            <a:rPr lang="en-US" sz="2200" i="1">
                              <a:latin typeface="Cambria Math"/>
                            </a:rPr>
                            <m:t>−</m:t>
                          </m:r>
                          <m:sSup>
                            <m:sSupPr>
                              <m:ctrlPr>
                                <a:rPr lang="en-US" sz="2200" i="1">
                                  <a:latin typeface="Cambria Math" panose="02040503050406030204" pitchFamily="18" charset="0"/>
                                </a:rPr>
                              </m:ctrlPr>
                            </m:sSupPr>
                            <m:e>
                              <m:r>
                                <a:rPr lang="en-US" sz="2200" i="1" smtClean="0">
                                  <a:latin typeface="Cambria Math"/>
                                  <a:ea typeface="Cambria Math"/>
                                </a:rPr>
                                <m:t>𝜆</m:t>
                              </m:r>
                            </m:e>
                            <m:sup>
                              <m:r>
                                <a:rPr lang="en-US" sz="2200" i="1">
                                  <a:latin typeface="Cambria Math"/>
                                </a:rPr>
                                <m:t>2</m:t>
                              </m:r>
                            </m:sup>
                          </m:sSup>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𝑒</m:t>
                          </m:r>
                        </m:e>
                        <m:sup>
                          <m:r>
                            <a:rPr lang="en-US" sz="2200" b="0" i="1" smtClean="0">
                              <a:latin typeface="Cambria Math"/>
                            </a:rPr>
                            <m:t>−</m:t>
                          </m:r>
                          <m:r>
                            <a:rPr lang="en-US" sz="2200" b="0" i="1" smtClean="0">
                              <a:latin typeface="Cambria Math"/>
                              <a:ea typeface="Cambria Math"/>
                            </a:rPr>
                            <m:t>𝜆</m:t>
                          </m:r>
                        </m:sup>
                      </m:sSup>
                      <m:d>
                        <m:dPr>
                          <m:begChr m:val="["/>
                          <m:endChr m:val="]"/>
                          <m:ctrlPr>
                            <a:rPr lang="en-US" sz="2200" b="0" i="1" smtClean="0">
                              <a:latin typeface="Cambria Math" panose="02040503050406030204" pitchFamily="18" charset="0"/>
                            </a:rPr>
                          </m:ctrlPr>
                        </m:dPr>
                        <m:e>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b="0" i="1" smtClean="0">
                                      <a:latin typeface="Cambria Math"/>
                                    </a:rPr>
                                    <m:t>1</m:t>
                                  </m:r>
                                </m:e>
                                <m:sup>
                                  <m:r>
                                    <a:rPr lang="en-US" sz="2200" i="1">
                                      <a:latin typeface="Cambria Math"/>
                                    </a:rPr>
                                    <m:t>2</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b="0" i="1" smtClean="0">
                                      <a:latin typeface="Cambria Math"/>
                                      <a:ea typeface="Cambria Math"/>
                                    </a:rPr>
                                    <m:t>1</m:t>
                                  </m:r>
                                </m:sup>
                              </m:sSup>
                            </m:num>
                            <m:den>
                              <m:r>
                                <a:rPr lang="en-US" sz="2200" b="0" i="1" smtClean="0">
                                  <a:latin typeface="Cambria Math"/>
                                </a:rPr>
                                <m:t>1</m:t>
                              </m:r>
                              <m:r>
                                <a:rPr lang="en-US" sz="2200" i="1">
                                  <a:latin typeface="Cambria Math"/>
                                  <a:ea typeface="Cambria Math"/>
                                </a:rPr>
                                <m:t>!</m:t>
                              </m:r>
                            </m:den>
                          </m:f>
                          <m:r>
                            <a:rPr lang="en-US" sz="2200" b="0" i="1" smtClean="0">
                              <a:latin typeface="Cambria Math"/>
                              <a:ea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b="0" i="1" smtClean="0">
                                      <a:latin typeface="Cambria Math"/>
                                    </a:rPr>
                                    <m:t>2</m:t>
                                  </m:r>
                                </m:e>
                                <m:sup>
                                  <m:r>
                                    <a:rPr lang="en-US" sz="2200" i="1">
                                      <a:latin typeface="Cambria Math"/>
                                    </a:rPr>
                                    <m:t>2</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b="0" i="1" smtClean="0">
                                      <a:latin typeface="Cambria Math"/>
                                      <a:ea typeface="Cambria Math"/>
                                    </a:rPr>
                                    <m:t>2</m:t>
                                  </m:r>
                                </m:sup>
                              </m:sSup>
                            </m:num>
                            <m:den>
                              <m:r>
                                <a:rPr lang="en-US" sz="2200" b="0" i="1" smtClean="0">
                                  <a:latin typeface="Cambria Math"/>
                                </a:rPr>
                                <m:t>2</m:t>
                              </m:r>
                              <m:r>
                                <a:rPr lang="en-US" sz="2200" i="1">
                                  <a:latin typeface="Cambria Math"/>
                                  <a:ea typeface="Cambria Math"/>
                                </a:rPr>
                                <m:t>!</m:t>
                              </m:r>
                            </m:den>
                          </m:f>
                          <m:r>
                            <a:rPr lang="en-US" sz="2200" b="0" i="1" smtClean="0">
                              <a:latin typeface="Cambria Math"/>
                              <a:ea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b="0" i="1" smtClean="0">
                                      <a:latin typeface="Cambria Math"/>
                                    </a:rPr>
                                    <m:t>3</m:t>
                                  </m:r>
                                </m:e>
                                <m:sup>
                                  <m:r>
                                    <a:rPr lang="en-US" sz="2200" i="1">
                                      <a:latin typeface="Cambria Math"/>
                                    </a:rPr>
                                    <m:t>2</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b="0" i="1" smtClean="0">
                                      <a:latin typeface="Cambria Math"/>
                                      <a:ea typeface="Cambria Math"/>
                                    </a:rPr>
                                    <m:t>3</m:t>
                                  </m:r>
                                </m:sup>
                              </m:sSup>
                            </m:num>
                            <m:den>
                              <m:r>
                                <a:rPr lang="en-US" sz="2200" b="0" i="1" smtClean="0">
                                  <a:latin typeface="Cambria Math"/>
                                </a:rPr>
                                <m:t>3</m:t>
                              </m:r>
                              <m:r>
                                <a:rPr lang="en-US" sz="2200" i="1">
                                  <a:latin typeface="Cambria Math"/>
                                  <a:ea typeface="Cambria Math"/>
                                </a:rPr>
                                <m:t>!</m:t>
                              </m:r>
                            </m:den>
                          </m:f>
                          <m:r>
                            <a:rPr lang="en-US" sz="2200" b="0" i="1" smtClean="0">
                              <a:latin typeface="Cambria Math"/>
                              <a:ea typeface="Cambria Math"/>
                            </a:rPr>
                            <m:t>+…</m:t>
                          </m:r>
                        </m:e>
                      </m:d>
                      <m:r>
                        <a:rPr lang="en-US" sz="2200" b="0" i="1" smtClean="0">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r>
                            <a:rPr lang="en-US" sz="2200" i="1">
                              <a:latin typeface="Cambria Math"/>
                            </a:rPr>
                            <m:t>𝑒</m:t>
                          </m:r>
                        </m:e>
                        <m:sup>
                          <m:r>
                            <a:rPr lang="en-US" sz="2200" i="1">
                              <a:latin typeface="Cambria Math"/>
                            </a:rPr>
                            <m:t>−</m:t>
                          </m:r>
                          <m:r>
                            <a:rPr lang="en-US" sz="2200" i="1">
                              <a:latin typeface="Cambria Math"/>
                              <a:ea typeface="Cambria Math"/>
                            </a:rPr>
                            <m:t>𝜆</m:t>
                          </m:r>
                        </m:sup>
                      </m:sSup>
                      <m:d>
                        <m:dPr>
                          <m:begChr m:val="["/>
                          <m:endChr m:val="]"/>
                          <m:ctrlPr>
                            <a:rPr lang="en-US" sz="2200" i="1">
                              <a:latin typeface="Cambria Math" panose="02040503050406030204" pitchFamily="18" charset="0"/>
                            </a:rPr>
                          </m:ctrlPr>
                        </m:dPr>
                        <m:e>
                          <m:r>
                            <a:rPr lang="en-US" sz="2200" b="0" i="1" smtClean="0">
                              <a:latin typeface="Cambria Math"/>
                            </a:rPr>
                            <m:t>1</m:t>
                          </m:r>
                          <m:r>
                            <a:rPr lang="en-US" sz="2200" i="1">
                              <a:latin typeface="Cambria Math"/>
                              <a:ea typeface="Cambria Math"/>
                            </a:rPr>
                            <m:t>+</m:t>
                          </m:r>
                          <m:f>
                            <m:fPr>
                              <m:ctrlPr>
                                <a:rPr lang="en-US" sz="2200" i="1">
                                  <a:latin typeface="Cambria Math" panose="02040503050406030204" pitchFamily="18" charset="0"/>
                                </a:rPr>
                              </m:ctrlPr>
                            </m:fPr>
                            <m:num>
                              <m:r>
                                <a:rPr lang="en-US" sz="2200" b="0" i="1" smtClean="0">
                                  <a:latin typeface="Cambria Math"/>
                                </a:rPr>
                                <m:t>2</m:t>
                              </m:r>
                              <m:r>
                                <a:rPr lang="en-US" sz="2200" i="1">
                                  <a:latin typeface="Cambria Math"/>
                                  <a:ea typeface="Cambria Math"/>
                                </a:rPr>
                                <m:t>𝜆</m:t>
                              </m:r>
                            </m:num>
                            <m:den>
                              <m:r>
                                <a:rPr lang="en-US" sz="2200" b="0" i="1" smtClean="0">
                                  <a:latin typeface="Cambria Math"/>
                                  <a:ea typeface="Cambria Math"/>
                                </a:rPr>
                                <m:t>1</m:t>
                              </m:r>
                              <m:r>
                                <a:rPr lang="en-US" sz="2200" i="1">
                                  <a:latin typeface="Cambria Math"/>
                                  <a:ea typeface="Cambria Math"/>
                                </a:rPr>
                                <m:t>!</m:t>
                              </m:r>
                            </m:den>
                          </m:f>
                          <m:r>
                            <a:rPr lang="en-US" sz="2200" i="1">
                              <a:latin typeface="Cambria Math"/>
                              <a:ea typeface="Cambria Math"/>
                            </a:rPr>
                            <m:t>+</m:t>
                          </m:r>
                          <m:f>
                            <m:fPr>
                              <m:ctrlPr>
                                <a:rPr lang="en-US" sz="2200" i="1">
                                  <a:latin typeface="Cambria Math" panose="02040503050406030204" pitchFamily="18" charset="0"/>
                                </a:rPr>
                              </m:ctrlPr>
                            </m:fPr>
                            <m:num>
                              <m:r>
                                <a:rPr lang="en-US" sz="2200" b="0" i="1" smtClean="0">
                                  <a:latin typeface="Cambria Math"/>
                                </a:rPr>
                                <m:t>3</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ea typeface="Cambria Math"/>
                                    </a:rPr>
                                    <m:t>2</m:t>
                                  </m:r>
                                </m:sup>
                              </m:sSup>
                            </m:num>
                            <m:den>
                              <m:r>
                                <a:rPr lang="en-US" sz="2200" b="0" i="1" smtClean="0">
                                  <a:latin typeface="Cambria Math"/>
                                  <a:ea typeface="Cambria Math"/>
                                </a:rPr>
                                <m:t>2</m:t>
                              </m:r>
                              <m:r>
                                <a:rPr lang="en-US" sz="2200" i="1">
                                  <a:latin typeface="Cambria Math"/>
                                  <a:ea typeface="Cambria Math"/>
                                </a:rPr>
                                <m:t>!</m:t>
                              </m:r>
                            </m:den>
                          </m:f>
                          <m:r>
                            <a:rPr lang="en-US" sz="2200" i="1">
                              <a:latin typeface="Cambria Math"/>
                              <a:ea typeface="Cambria Math"/>
                            </a:rPr>
                            <m:t>+…</m:t>
                          </m:r>
                        </m:e>
                      </m:d>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r>
                            <a:rPr lang="en-US" sz="2200" i="1">
                              <a:latin typeface="Cambria Math"/>
                            </a:rPr>
                            <m:t>𝑒</m:t>
                          </m:r>
                        </m:e>
                        <m:sup>
                          <m:r>
                            <a:rPr lang="en-US" sz="2200" i="1">
                              <a:latin typeface="Cambria Math"/>
                            </a:rPr>
                            <m:t>−</m:t>
                          </m:r>
                          <m:r>
                            <a:rPr lang="en-US" sz="2200" i="1">
                              <a:latin typeface="Cambria Math"/>
                              <a:ea typeface="Cambria Math"/>
                            </a:rPr>
                            <m:t>𝜆</m:t>
                          </m:r>
                        </m:sup>
                      </m:sSup>
                      <m:d>
                        <m:dPr>
                          <m:begChr m:val="["/>
                          <m:endChr m:val="]"/>
                          <m:ctrlPr>
                            <a:rPr lang="en-US" sz="2200" i="1">
                              <a:latin typeface="Cambria Math" panose="02040503050406030204" pitchFamily="18" charset="0"/>
                            </a:rPr>
                          </m:ctrlPr>
                        </m:dPr>
                        <m:e>
                          <m:r>
                            <a:rPr lang="en-US" sz="2200" i="1">
                              <a:latin typeface="Cambria Math"/>
                            </a:rPr>
                            <m:t>1</m:t>
                          </m:r>
                          <m:r>
                            <a:rPr lang="en-US" sz="2200" i="1">
                              <a:latin typeface="Cambria Math"/>
                              <a:ea typeface="Cambria Math"/>
                            </a:rPr>
                            <m:t>+</m:t>
                          </m:r>
                          <m:f>
                            <m:fPr>
                              <m:ctrlPr>
                                <a:rPr lang="en-US" sz="2200" i="1">
                                  <a:latin typeface="Cambria Math" panose="02040503050406030204" pitchFamily="18" charset="0"/>
                                </a:rPr>
                              </m:ctrlPr>
                            </m:fPr>
                            <m:num>
                              <m:r>
                                <a:rPr lang="en-US" sz="2200" b="0" i="1" smtClean="0">
                                  <a:latin typeface="Cambria Math"/>
                                </a:rPr>
                                <m:t>(1+1)</m:t>
                              </m:r>
                              <m:r>
                                <a:rPr lang="en-US" sz="2200" i="1">
                                  <a:latin typeface="Cambria Math"/>
                                  <a:ea typeface="Cambria Math"/>
                                </a:rPr>
                                <m:t>𝜆</m:t>
                              </m:r>
                            </m:num>
                            <m:den>
                              <m:r>
                                <a:rPr lang="en-US" sz="2200" i="1">
                                  <a:latin typeface="Cambria Math"/>
                                  <a:ea typeface="Cambria Math"/>
                                </a:rPr>
                                <m:t>1!</m:t>
                              </m:r>
                            </m:den>
                          </m:f>
                          <m:r>
                            <a:rPr lang="en-US" sz="2200" i="1">
                              <a:latin typeface="Cambria Math"/>
                              <a:ea typeface="Cambria Math"/>
                            </a:rPr>
                            <m:t>+</m:t>
                          </m:r>
                          <m:f>
                            <m:fPr>
                              <m:ctrlPr>
                                <a:rPr lang="en-US" sz="2200" i="1">
                                  <a:latin typeface="Cambria Math" panose="02040503050406030204" pitchFamily="18" charset="0"/>
                                </a:rPr>
                              </m:ctrlPr>
                            </m:fPr>
                            <m:num>
                              <m:r>
                                <a:rPr lang="en-US" sz="2200" b="0" i="1" smtClean="0">
                                  <a:latin typeface="Cambria Math"/>
                                </a:rPr>
                                <m:t>(1+2)</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ea typeface="Cambria Math"/>
                                    </a:rPr>
                                    <m:t>2</m:t>
                                  </m:r>
                                </m:sup>
                              </m:sSup>
                            </m:num>
                            <m:den>
                              <m:r>
                                <a:rPr lang="en-US" sz="2200" i="1">
                                  <a:latin typeface="Cambria Math"/>
                                  <a:ea typeface="Cambria Math"/>
                                </a:rPr>
                                <m:t>2!</m:t>
                              </m:r>
                            </m:den>
                          </m:f>
                          <m:r>
                            <a:rPr lang="en-US" sz="2200" i="1">
                              <a:latin typeface="Cambria Math"/>
                              <a:ea typeface="Cambria Math"/>
                            </a:rPr>
                            <m:t>+…</m:t>
                          </m:r>
                        </m:e>
                      </m:d>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r>
                            <a:rPr lang="en-US" sz="2200" i="1">
                              <a:latin typeface="Cambria Math"/>
                            </a:rPr>
                            <m:t>𝑒</m:t>
                          </m:r>
                        </m:e>
                        <m:sup>
                          <m:r>
                            <a:rPr lang="en-US" sz="2200" i="1">
                              <a:latin typeface="Cambria Math"/>
                            </a:rPr>
                            <m:t>−</m:t>
                          </m:r>
                          <m:r>
                            <a:rPr lang="en-US" sz="2200" i="1">
                              <a:latin typeface="Cambria Math"/>
                              <a:ea typeface="Cambria Math"/>
                            </a:rPr>
                            <m:t>𝜆</m:t>
                          </m:r>
                        </m:sup>
                      </m:sSup>
                      <m:d>
                        <m:dPr>
                          <m:begChr m:val="["/>
                          <m:endChr m:val="]"/>
                          <m:ctrlPr>
                            <a:rPr lang="en-US" sz="2200" i="1" smtClean="0">
                              <a:latin typeface="Cambria Math" panose="02040503050406030204" pitchFamily="18" charset="0"/>
                            </a:rPr>
                          </m:ctrlPr>
                        </m:dPr>
                        <m:e>
                          <m:d>
                            <m:dPr>
                              <m:ctrlPr>
                                <a:rPr lang="en-US" sz="2200" i="1" smtClean="0">
                                  <a:latin typeface="Cambria Math" panose="02040503050406030204" pitchFamily="18" charset="0"/>
                                </a:rPr>
                              </m:ctrlPr>
                            </m:dPr>
                            <m:e>
                              <m:r>
                                <a:rPr lang="en-US" sz="2200" i="1">
                                  <a:latin typeface="Cambria Math"/>
                                </a:rPr>
                                <m:t>1</m:t>
                              </m:r>
                              <m:r>
                                <a:rPr lang="en-US" sz="2200" i="1">
                                  <a:latin typeface="Cambria Math"/>
                                  <a:ea typeface="Cambria Math"/>
                                </a:rPr>
                                <m:t>+</m:t>
                              </m:r>
                              <m:f>
                                <m:fPr>
                                  <m:ctrlPr>
                                    <a:rPr lang="en-US" sz="2200" i="1">
                                      <a:latin typeface="Cambria Math" panose="02040503050406030204" pitchFamily="18" charset="0"/>
                                    </a:rPr>
                                  </m:ctrlPr>
                                </m:fPr>
                                <m:num>
                                  <m:r>
                                    <a:rPr lang="en-US" sz="2200" i="1">
                                      <a:latin typeface="Cambria Math"/>
                                      <a:ea typeface="Cambria Math"/>
                                    </a:rPr>
                                    <m:t>𝜆</m:t>
                                  </m:r>
                                </m:num>
                                <m:den>
                                  <m:r>
                                    <a:rPr lang="en-US" sz="2200" i="1">
                                      <a:latin typeface="Cambria Math"/>
                                      <a:ea typeface="Cambria Math"/>
                                    </a:rPr>
                                    <m:t>1!</m:t>
                                  </m:r>
                                </m:den>
                              </m:f>
                              <m:r>
                                <a:rPr lang="en-US" sz="2200" i="1">
                                  <a:latin typeface="Cambria Math"/>
                                  <a:ea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ea typeface="Cambria Math"/>
                                        </a:rPr>
                                        <m:t>2</m:t>
                                      </m:r>
                                    </m:sup>
                                  </m:sSup>
                                </m:num>
                                <m:den>
                                  <m:r>
                                    <a:rPr lang="en-US" sz="2200" i="1">
                                      <a:latin typeface="Cambria Math"/>
                                      <a:ea typeface="Cambria Math"/>
                                    </a:rPr>
                                    <m:t>2!</m:t>
                                  </m:r>
                                </m:den>
                              </m:f>
                              <m:r>
                                <a:rPr lang="en-US" sz="2200" i="1">
                                  <a:latin typeface="Cambria Math"/>
                                  <a:ea typeface="Cambria Math"/>
                                </a:rPr>
                                <m:t>+…</m:t>
                              </m:r>
                            </m:e>
                          </m:d>
                          <m:r>
                            <a:rPr lang="en-US" sz="2200" b="0" i="1" smtClean="0">
                              <a:latin typeface="Cambria Math"/>
                            </a:rPr>
                            <m:t>+</m:t>
                          </m:r>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a:ea typeface="Cambria Math"/>
                                    </a:rPr>
                                    <m:t>𝜆</m:t>
                                  </m:r>
                                </m:num>
                                <m:den>
                                  <m:r>
                                    <a:rPr lang="en-US" sz="2200" i="1">
                                      <a:latin typeface="Cambria Math"/>
                                      <a:ea typeface="Cambria Math"/>
                                    </a:rPr>
                                    <m:t>1!</m:t>
                                  </m:r>
                                </m:den>
                              </m:f>
                              <m:r>
                                <a:rPr lang="en-US" sz="2200" i="1">
                                  <a:latin typeface="Cambria Math"/>
                                  <a:ea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b="0" i="1" smtClean="0">
                                          <a:latin typeface="Cambria Math"/>
                                        </a:rPr>
                                        <m:t>2</m:t>
                                      </m:r>
                                      <m:r>
                                        <a:rPr lang="en-US" sz="2200" i="1">
                                          <a:latin typeface="Cambria Math"/>
                                          <a:ea typeface="Cambria Math"/>
                                        </a:rPr>
                                        <m:t>𝜆</m:t>
                                      </m:r>
                                    </m:e>
                                    <m:sup>
                                      <m:r>
                                        <a:rPr lang="en-US" sz="2200" i="1">
                                          <a:latin typeface="Cambria Math"/>
                                          <a:ea typeface="Cambria Math"/>
                                        </a:rPr>
                                        <m:t>2</m:t>
                                      </m:r>
                                    </m:sup>
                                  </m:sSup>
                                </m:num>
                                <m:den>
                                  <m:r>
                                    <a:rPr lang="en-US" sz="2200" i="1">
                                      <a:latin typeface="Cambria Math"/>
                                      <a:ea typeface="Cambria Math"/>
                                    </a:rPr>
                                    <m:t>2!</m:t>
                                  </m:r>
                                </m:den>
                              </m:f>
                              <m:r>
                                <a:rPr lang="en-US" sz="2200" i="1">
                                  <a:latin typeface="Cambria Math"/>
                                  <a:ea typeface="Cambria Math"/>
                                </a:rPr>
                                <m:t>+…</m:t>
                              </m:r>
                            </m:e>
                          </m:d>
                        </m:e>
                      </m:d>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815" b="-3436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F49AFA7F-365A-45B7-B475-CF158276F422}"/>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5984569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800600"/>
              </a:xfrm>
            </p:spPr>
            <p:txBody>
              <a:bodyPr>
                <a:noAutofit/>
              </a:bodyPr>
              <a:lstStyle/>
              <a:p>
                <a:pPr marL="0" indent="0">
                  <a:buNone/>
                </a:pPr>
                <a14:m>
                  <m:oMathPara xmlns:m="http://schemas.openxmlformats.org/officeDocument/2006/math">
                    <m:oMathParaPr>
                      <m:jc m:val="left"/>
                    </m:oMathParaPr>
                    <m:oMath xmlns:m="http://schemas.openxmlformats.org/officeDocument/2006/math">
                      <m:r>
                        <a:rPr lang="en-US" sz="2200" i="1" smtClean="0">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r>
                            <a:rPr lang="en-US" sz="2200" i="1">
                              <a:latin typeface="Cambria Math"/>
                            </a:rPr>
                            <m:t>𝑒</m:t>
                          </m:r>
                        </m:e>
                        <m:sup>
                          <m:r>
                            <a:rPr lang="en-US" sz="2200" i="1">
                              <a:latin typeface="Cambria Math"/>
                            </a:rPr>
                            <m:t>−</m:t>
                          </m:r>
                          <m:r>
                            <a:rPr lang="en-US" sz="2200" i="1">
                              <a:latin typeface="Cambria Math"/>
                              <a:ea typeface="Cambria Math"/>
                            </a:rPr>
                            <m:t>𝜆</m:t>
                          </m:r>
                        </m:sup>
                      </m:sSup>
                      <m:d>
                        <m:dPr>
                          <m:begChr m:val="["/>
                          <m:endChr m:val="]"/>
                          <m:ctrlPr>
                            <a:rPr lang="en-US" sz="2200" i="1" smtClean="0">
                              <a:latin typeface="Cambria Math" panose="02040503050406030204" pitchFamily="18" charset="0"/>
                            </a:rPr>
                          </m:ctrlPr>
                        </m:dPr>
                        <m:e>
                          <m:sSup>
                            <m:sSupPr>
                              <m:ctrlPr>
                                <a:rPr lang="en-US" sz="2200" i="1">
                                  <a:latin typeface="Cambria Math" panose="02040503050406030204" pitchFamily="18" charset="0"/>
                                  <a:ea typeface="Cambria Math"/>
                                </a:rPr>
                              </m:ctrlPr>
                            </m:sSupPr>
                            <m:e>
                              <m:r>
                                <a:rPr lang="en-US" sz="2200" i="1">
                                  <a:latin typeface="Cambria Math"/>
                                  <a:ea typeface="Cambria Math"/>
                                </a:rPr>
                                <m:t>𝑒</m:t>
                              </m:r>
                            </m:e>
                            <m:sup>
                              <m:r>
                                <a:rPr lang="en-US" sz="2200" i="1">
                                  <a:latin typeface="Cambria Math"/>
                                  <a:ea typeface="Cambria Math"/>
                                </a:rPr>
                                <m:t>𝜆</m:t>
                              </m:r>
                            </m:sup>
                          </m:sSup>
                          <m:r>
                            <a:rPr lang="en-US" sz="2200" b="0" i="1" smtClean="0">
                              <a:latin typeface="Cambria Math"/>
                              <a:ea typeface="Cambria Math"/>
                            </a:rPr>
                            <m:t>+</m:t>
                          </m:r>
                          <m:r>
                            <a:rPr lang="en-US" sz="2200" i="1">
                              <a:latin typeface="Cambria Math"/>
                              <a:ea typeface="Cambria Math"/>
                            </a:rPr>
                            <m:t>𝜆</m:t>
                          </m:r>
                          <m:d>
                            <m:dPr>
                              <m:ctrlPr>
                                <a:rPr lang="en-US" sz="2200" i="1">
                                  <a:latin typeface="Cambria Math" panose="02040503050406030204" pitchFamily="18" charset="0"/>
                                </a:rPr>
                              </m:ctrlPr>
                            </m:dPr>
                            <m:e>
                              <m:r>
                                <a:rPr lang="en-US" sz="2200" i="1">
                                  <a:latin typeface="Cambria Math"/>
                                </a:rPr>
                                <m:t>1</m:t>
                              </m:r>
                              <m:r>
                                <a:rPr lang="en-US" sz="2200" i="1">
                                  <a:latin typeface="Cambria Math"/>
                                  <a:ea typeface="Cambria Math"/>
                                </a:rPr>
                                <m:t>+</m:t>
                              </m:r>
                              <m:f>
                                <m:fPr>
                                  <m:ctrlPr>
                                    <a:rPr lang="en-US" sz="2200" i="1">
                                      <a:latin typeface="Cambria Math" panose="02040503050406030204" pitchFamily="18" charset="0"/>
                                    </a:rPr>
                                  </m:ctrlPr>
                                </m:fPr>
                                <m:num>
                                  <m:r>
                                    <a:rPr lang="en-US" sz="2200" i="1">
                                      <a:latin typeface="Cambria Math"/>
                                      <a:ea typeface="Cambria Math"/>
                                    </a:rPr>
                                    <m:t>𝜆</m:t>
                                  </m:r>
                                </m:num>
                                <m:den>
                                  <m:r>
                                    <a:rPr lang="en-US" sz="2200" i="1">
                                      <a:latin typeface="Cambria Math"/>
                                      <a:ea typeface="Cambria Math"/>
                                    </a:rPr>
                                    <m:t>1</m:t>
                                  </m:r>
                                  <m:r>
                                    <a:rPr lang="en-US" sz="2200" i="1" smtClean="0">
                                      <a:latin typeface="Cambria Math"/>
                                      <a:ea typeface="Cambria Math"/>
                                    </a:rPr>
                                    <m:t>!</m:t>
                                  </m:r>
                                </m:den>
                              </m:f>
                              <m:r>
                                <a:rPr lang="en-US" sz="2200" i="1">
                                  <a:latin typeface="Cambria Math"/>
                                  <a:ea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ea typeface="Cambria Math"/>
                                        </a:rPr>
                                        <m:t>2</m:t>
                                      </m:r>
                                    </m:sup>
                                  </m:sSup>
                                </m:num>
                                <m:den>
                                  <m:r>
                                    <a:rPr lang="en-US" sz="2200" i="1">
                                      <a:latin typeface="Cambria Math"/>
                                      <a:ea typeface="Cambria Math"/>
                                    </a:rPr>
                                    <m:t>2!</m:t>
                                  </m:r>
                                </m:den>
                              </m:f>
                              <m:r>
                                <a:rPr lang="en-US" sz="2200" i="1">
                                  <a:latin typeface="Cambria Math"/>
                                  <a:ea typeface="Cambria Math"/>
                                </a:rPr>
                                <m:t>+…</m:t>
                              </m:r>
                            </m:e>
                          </m:d>
                        </m:e>
                      </m:d>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r>
                            <a:rPr lang="en-US" sz="2200" i="1">
                              <a:latin typeface="Cambria Math"/>
                            </a:rPr>
                            <m:t>𝑒</m:t>
                          </m:r>
                        </m:e>
                        <m:sup>
                          <m:r>
                            <a:rPr lang="en-US" sz="2200" i="1">
                              <a:latin typeface="Cambria Math"/>
                            </a:rPr>
                            <m:t>−</m:t>
                          </m:r>
                          <m:r>
                            <a:rPr lang="en-US" sz="2200" i="1">
                              <a:latin typeface="Cambria Math"/>
                              <a:ea typeface="Cambria Math"/>
                            </a:rPr>
                            <m:t>𝜆</m:t>
                          </m:r>
                        </m:sup>
                      </m:sSup>
                      <m:d>
                        <m:dPr>
                          <m:begChr m:val="["/>
                          <m:endChr m:val="]"/>
                          <m:ctrlPr>
                            <a:rPr lang="en-US" sz="2200" i="1">
                              <a:latin typeface="Cambria Math" panose="02040503050406030204" pitchFamily="18" charset="0"/>
                            </a:rPr>
                          </m:ctrlPr>
                        </m:dPr>
                        <m:e>
                          <m:sSup>
                            <m:sSupPr>
                              <m:ctrlPr>
                                <a:rPr lang="en-US" sz="2200" i="1">
                                  <a:latin typeface="Cambria Math" panose="02040503050406030204" pitchFamily="18" charset="0"/>
                                  <a:ea typeface="Cambria Math"/>
                                </a:rPr>
                              </m:ctrlPr>
                            </m:sSupPr>
                            <m:e>
                              <m:r>
                                <a:rPr lang="en-US" sz="2200" i="1">
                                  <a:latin typeface="Cambria Math"/>
                                  <a:ea typeface="Cambria Math"/>
                                </a:rPr>
                                <m:t>𝑒</m:t>
                              </m:r>
                            </m:e>
                            <m:sup>
                              <m:r>
                                <a:rPr lang="en-US" sz="2200" i="1">
                                  <a:latin typeface="Cambria Math"/>
                                  <a:ea typeface="Cambria Math"/>
                                </a:rPr>
                                <m:t>𝜆</m:t>
                              </m:r>
                            </m:sup>
                          </m:sSup>
                          <m:r>
                            <a:rPr lang="en-US" sz="2200" i="1">
                              <a:latin typeface="Cambria Math"/>
                              <a:ea typeface="Cambria Math"/>
                            </a:rPr>
                            <m:t>+</m:t>
                          </m:r>
                          <m:r>
                            <a:rPr lang="en-US" sz="2200" i="1">
                              <a:latin typeface="Cambria Math"/>
                              <a:ea typeface="Cambria Math"/>
                            </a:rPr>
                            <m:t>𝜆</m:t>
                          </m:r>
                          <m:sSup>
                            <m:sSupPr>
                              <m:ctrlPr>
                                <a:rPr lang="en-US" sz="2200" i="1">
                                  <a:latin typeface="Cambria Math" panose="02040503050406030204" pitchFamily="18" charset="0"/>
                                  <a:ea typeface="Cambria Math"/>
                                </a:rPr>
                              </m:ctrlPr>
                            </m:sSupPr>
                            <m:e>
                              <m:r>
                                <a:rPr lang="en-US" sz="2200" i="1">
                                  <a:latin typeface="Cambria Math"/>
                                  <a:ea typeface="Cambria Math"/>
                                </a:rPr>
                                <m:t>𝑒</m:t>
                              </m:r>
                            </m:e>
                            <m:sup>
                              <m:r>
                                <a:rPr lang="en-US" sz="2200" i="1">
                                  <a:latin typeface="Cambria Math"/>
                                  <a:ea typeface="Cambria Math"/>
                                </a:rPr>
                                <m:t>𝜆</m:t>
                              </m:r>
                            </m:sup>
                          </m:sSup>
                        </m:e>
                      </m:d>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sSup>
                        <m:sSupPr>
                          <m:ctrlPr>
                            <a:rPr lang="en-US" sz="2200" i="1">
                              <a:latin typeface="Cambria Math" panose="02040503050406030204" pitchFamily="18" charset="0"/>
                              <a:ea typeface="Cambria Math"/>
                            </a:rPr>
                          </m:ctrlPr>
                        </m:sSupPr>
                        <m:e>
                          <m:r>
                            <a:rPr lang="en-US" sz="2200" i="1">
                              <a:latin typeface="Cambria Math"/>
                              <a:ea typeface="Cambria Math"/>
                            </a:rPr>
                            <m:t>𝑒</m:t>
                          </m:r>
                        </m:e>
                        <m:sup>
                          <m:r>
                            <a:rPr lang="en-US" sz="2200" i="1">
                              <a:latin typeface="Cambria Math"/>
                              <a:ea typeface="Cambria Math"/>
                            </a:rPr>
                            <m:t>𝜆</m:t>
                          </m:r>
                        </m:sup>
                      </m:sSup>
                      <m:sSup>
                        <m:sSupPr>
                          <m:ctrlPr>
                            <a:rPr lang="en-US" sz="2200" i="1">
                              <a:latin typeface="Cambria Math" panose="02040503050406030204" pitchFamily="18" charset="0"/>
                              <a:ea typeface="Cambria Math"/>
                            </a:rPr>
                          </m:ctrlPr>
                        </m:sSupPr>
                        <m:e>
                          <m:r>
                            <a:rPr lang="en-US" sz="2200" i="1">
                              <a:latin typeface="Cambria Math"/>
                              <a:ea typeface="Cambria Math"/>
                            </a:rPr>
                            <m:t>𝑒</m:t>
                          </m:r>
                        </m:e>
                        <m:sup>
                          <m:r>
                            <a:rPr lang="en-US" sz="2200" b="0" i="1" smtClean="0">
                              <a:latin typeface="Cambria Math"/>
                              <a:ea typeface="Cambria Math"/>
                            </a:rPr>
                            <m:t>−</m:t>
                          </m:r>
                          <m:r>
                            <a:rPr lang="en-US" sz="2200" i="1">
                              <a:latin typeface="Cambria Math"/>
                              <a:ea typeface="Cambria Math"/>
                            </a:rPr>
                            <m:t>𝜆</m:t>
                          </m:r>
                        </m:sup>
                      </m:sSup>
                      <m:r>
                        <a:rPr lang="en-US" sz="2200" i="1">
                          <a:latin typeface="Cambria Math"/>
                          <a:ea typeface="Cambria Math"/>
                        </a:rPr>
                        <m:t>𝜆</m:t>
                      </m:r>
                      <m:d>
                        <m:dPr>
                          <m:begChr m:val="["/>
                          <m:endChr m:val="]"/>
                          <m:ctrlPr>
                            <a:rPr lang="en-US" sz="2200" i="1">
                              <a:latin typeface="Cambria Math" panose="02040503050406030204" pitchFamily="18" charset="0"/>
                            </a:rPr>
                          </m:ctrlPr>
                        </m:dPr>
                        <m:e>
                          <m:r>
                            <a:rPr lang="en-US" sz="2200" b="0" i="1" smtClean="0">
                              <a:latin typeface="Cambria Math"/>
                            </a:rPr>
                            <m:t>1</m:t>
                          </m:r>
                          <m:r>
                            <a:rPr lang="en-US" sz="2200" i="1">
                              <a:latin typeface="Cambria Math"/>
                              <a:ea typeface="Cambria Math"/>
                            </a:rPr>
                            <m:t>+</m:t>
                          </m:r>
                          <m:r>
                            <a:rPr lang="en-US" sz="2200" i="1">
                              <a:latin typeface="Cambria Math"/>
                              <a:ea typeface="Cambria Math"/>
                            </a:rPr>
                            <m:t>𝜆</m:t>
                          </m:r>
                        </m:e>
                      </m:d>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r>
                        <a:rPr lang="en-US" sz="2200" i="1">
                          <a:latin typeface="Cambria Math"/>
                          <a:ea typeface="Cambria Math"/>
                        </a:rPr>
                        <m:t>𝜆</m:t>
                      </m:r>
                      <m:d>
                        <m:dPr>
                          <m:begChr m:val="["/>
                          <m:endChr m:val="]"/>
                          <m:ctrlPr>
                            <a:rPr lang="en-US" sz="2200" i="1">
                              <a:latin typeface="Cambria Math" panose="02040503050406030204" pitchFamily="18" charset="0"/>
                            </a:rPr>
                          </m:ctrlPr>
                        </m:dPr>
                        <m:e>
                          <m:r>
                            <a:rPr lang="en-US" sz="2200" i="1">
                              <a:latin typeface="Cambria Math"/>
                            </a:rPr>
                            <m:t>1</m:t>
                          </m:r>
                          <m:r>
                            <a:rPr lang="en-US" sz="2200" i="1">
                              <a:latin typeface="Cambria Math"/>
                              <a:ea typeface="Cambria Math"/>
                            </a:rPr>
                            <m:t>+</m:t>
                          </m:r>
                          <m:r>
                            <a:rPr lang="en-US" sz="2200" i="1">
                              <a:latin typeface="Cambria Math"/>
                              <a:ea typeface="Cambria Math"/>
                            </a:rPr>
                            <m:t>𝜆</m:t>
                          </m:r>
                        </m:e>
                      </m:d>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r>
                        <a:rPr lang="en-US" sz="2200" i="1">
                          <a:latin typeface="Cambria Math"/>
                          <a:ea typeface="Cambria Math"/>
                        </a:rPr>
                        <m:t>𝜆</m:t>
                      </m:r>
                    </m:oMath>
                  </m:oMathPara>
                </a14:m>
                <a:endParaRPr lang="en-US" sz="2200" dirty="0"/>
              </a:p>
              <a:p>
                <a:pPr marL="0" indent="0">
                  <a:buNone/>
                </a:pPr>
                <a:r>
                  <a:rPr lang="en-US" sz="2200" dirty="0"/>
                  <a:t>Hence , the Variance of  the Poisson distribution is also </a:t>
                </a:r>
                <a14:m>
                  <m:oMath xmlns:m="http://schemas.openxmlformats.org/officeDocument/2006/math">
                    <m:r>
                      <a:rPr lang="en-US" sz="2200" i="1">
                        <a:latin typeface="Cambria Math"/>
                        <a:ea typeface="Cambria Math"/>
                      </a:rPr>
                      <m:t>𝜆</m:t>
                    </m:r>
                  </m:oMath>
                </a14:m>
                <a:r>
                  <a:rPr lang="en-US" sz="2200" dirty="0"/>
                  <a:t>.</a:t>
                </a:r>
              </a:p>
              <a:p>
                <a:pPr marL="0" indent="0">
                  <a:buNone/>
                </a:pPr>
                <a:r>
                  <a:rPr lang="en-US" sz="2200" b="1" dirty="0"/>
                  <a:t>Applications of Poisson Distribution:</a:t>
                </a:r>
              </a:p>
              <a:p>
                <a:pPr marL="514350" indent="-514350">
                  <a:buFont typeface="+mj-lt"/>
                  <a:buAutoNum type="romanLcPeriod"/>
                </a:pPr>
                <a:r>
                  <a:rPr lang="en-US" sz="2200" dirty="0"/>
                  <a:t>Arrival pattern of the defective vehicles in a workshop.</a:t>
                </a:r>
              </a:p>
              <a:p>
                <a:pPr marL="514350" indent="-514350">
                  <a:buFont typeface="+mj-lt"/>
                  <a:buAutoNum type="romanLcPeriod"/>
                </a:pPr>
                <a:r>
                  <a:rPr lang="en-US" sz="2200" dirty="0"/>
                  <a:t>Patients in hospitals.</a:t>
                </a:r>
              </a:p>
              <a:p>
                <a:pPr marL="514350" indent="-514350">
                  <a:buFont typeface="+mj-lt"/>
                  <a:buAutoNum type="romanLcPeriod"/>
                </a:pPr>
                <a:r>
                  <a:rPr lang="en-US" sz="2200" dirty="0"/>
                  <a:t>Telephone calls.</a:t>
                </a:r>
              </a:p>
              <a:p>
                <a:pPr marL="514350" indent="-514350">
                  <a:buFont typeface="+mj-lt"/>
                  <a:buAutoNum type="romanLcPeriod"/>
                </a:pPr>
                <a:r>
                  <a:rPr lang="en-US" sz="2200" dirty="0"/>
                  <a:t>Emission of radioactive </a:t>
                </a:r>
                <a14:m>
                  <m:oMath xmlns:m="http://schemas.openxmlformats.org/officeDocument/2006/math">
                    <m:d>
                      <m:dPr>
                        <m:ctrlPr>
                          <a:rPr lang="en-US" sz="2200" i="1" smtClean="0">
                            <a:latin typeface="Cambria Math" panose="02040503050406030204" pitchFamily="18" charset="0"/>
                          </a:rPr>
                        </m:ctrlPr>
                      </m:dPr>
                      <m:e>
                        <m:r>
                          <a:rPr lang="en-US" sz="2200" i="1" smtClean="0">
                            <a:latin typeface="Cambria Math"/>
                            <a:ea typeface="Cambria Math"/>
                          </a:rPr>
                          <m:t>𝛼</m:t>
                        </m:r>
                      </m:e>
                    </m:d>
                  </m:oMath>
                </a14:m>
                <a:r>
                  <a:rPr lang="en-US" sz="2200" dirty="0"/>
                  <a:t> particles.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800600"/>
              </a:xfrm>
              <a:blipFill>
                <a:blip r:embed="rId2"/>
                <a:stretch>
                  <a:fillRect l="-96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E3C18A10-E7B7-4E00-B679-0C94BB19F4B3}"/>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60907519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Q1.</a:t>
                </a:r>
                <a:r>
                  <a:rPr lang="en-US" sz="2200" dirty="0"/>
                  <a:t> If the Variance of the Poisson distribution is 2 , find the probability for r=1,2,3,4 from the recurrence relation of the Poisson Distribution. Also find </a:t>
                </a:r>
                <a14:m>
                  <m:oMath xmlns:m="http://schemas.openxmlformats.org/officeDocument/2006/math">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𝑟</m:t>
                        </m:r>
                        <m:r>
                          <a:rPr lang="en-US" sz="2200" b="0" i="1" smtClean="0">
                            <a:latin typeface="Cambria Math" panose="02040503050406030204" pitchFamily="18" charset="0"/>
                            <a:ea typeface="Cambria Math"/>
                          </a:rPr>
                          <m:t>≥4</m:t>
                        </m:r>
                      </m:e>
                    </m:d>
                    <m:r>
                      <a:rPr lang="en-US" sz="2200" b="0" i="1" smtClean="0">
                        <a:latin typeface="Cambria Math" panose="02040503050406030204" pitchFamily="18" charset="0"/>
                        <a:ea typeface="Cambria Math"/>
                      </a:rPr>
                      <m:t>.</m:t>
                    </m:r>
                  </m:oMath>
                </a14:m>
                <a:endParaRPr lang="en-US" sz="2200" b="0" dirty="0">
                  <a:ea typeface="Cambria Math"/>
                </a:endParaRPr>
              </a:p>
              <a:p>
                <a:pPr marL="0" indent="0">
                  <a:buNone/>
                </a:pPr>
                <a:r>
                  <a:rPr lang="en-US" sz="2200" b="1" dirty="0"/>
                  <a:t>Solution: </a:t>
                </a:r>
                <a:r>
                  <a:rPr lang="en-US" sz="2200" dirty="0"/>
                  <a:t>Given that Variance </a:t>
                </a:r>
                <a14:m>
                  <m:oMath xmlns:m="http://schemas.openxmlformats.org/officeDocument/2006/math">
                    <m:r>
                      <a:rPr lang="en-US" sz="220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2=</m:t>
                    </m:r>
                    <m:r>
                      <a:rPr lang="en-US" sz="2200" b="0" i="1" smtClean="0">
                        <a:latin typeface="Cambria Math" panose="02040503050406030204" pitchFamily="18" charset="0"/>
                        <a:ea typeface="Cambria Math"/>
                      </a:rPr>
                      <m:t>𝜆</m:t>
                    </m:r>
                  </m:oMath>
                </a14:m>
                <a:endParaRPr lang="en-US" sz="2200" b="0" dirty="0">
                  <a:ea typeface="Cambria Math"/>
                </a:endParaRPr>
              </a:p>
              <a:p>
                <a:pPr marL="0" indent="0">
                  <a:buNone/>
                </a:pPr>
                <a:r>
                  <a:rPr lang="en-US" sz="2200" dirty="0">
                    <a:ea typeface="Cambria Math"/>
                  </a:rPr>
                  <a:t>Recurrence relation for Poisson distribution</a:t>
                </a:r>
                <a:endParaRPr lang="en-US" sz="2200" b="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r>
                            <a:rPr lang="en-US" sz="2200" i="1">
                              <a:latin typeface="Cambria Math" panose="02040503050406030204" pitchFamily="18" charset="0"/>
                            </a:rPr>
                            <m:t>+1</m:t>
                          </m:r>
                        </m:e>
                      </m:d>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ea typeface="Cambria Math"/>
                            </a:rPr>
                            <m:t>𝜆</m:t>
                          </m:r>
                        </m:num>
                        <m:den>
                          <m:r>
                            <a:rPr lang="en-US" sz="2200" i="1">
                              <a:latin typeface="Cambria Math" panose="02040503050406030204" pitchFamily="18" charset="0"/>
                            </a:rPr>
                            <m:t>𝑟</m:t>
                          </m:r>
                          <m:r>
                            <a:rPr lang="en-US" sz="2200" i="1">
                              <a:latin typeface="Cambria Math" panose="02040503050406030204" pitchFamily="18" charset="0"/>
                            </a:rPr>
                            <m:t>+1</m:t>
                          </m:r>
                        </m:den>
                      </m:f>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e>
                      </m:d>
                      <m:r>
                        <a:rPr lang="en-US" sz="2200" b="0" i="1" smtClean="0">
                          <a:latin typeface="Cambria Math" panose="02040503050406030204" pitchFamily="18" charset="0"/>
                        </a:rPr>
                        <m:t>=</m:t>
                      </m:r>
                      <m:f>
                        <m:fPr>
                          <m:ctrlPr>
                            <a:rPr lang="en-US" sz="2200" i="1">
                              <a:latin typeface="Cambria Math" panose="02040503050406030204" pitchFamily="18" charset="0"/>
                            </a:rPr>
                          </m:ctrlPr>
                        </m:fPr>
                        <m:num>
                          <m:r>
                            <a:rPr lang="en-US" sz="2200" b="0" i="1" smtClean="0">
                              <a:latin typeface="Cambria Math" panose="02040503050406030204" pitchFamily="18" charset="0"/>
                            </a:rPr>
                            <m:t>2</m:t>
                          </m:r>
                        </m:num>
                        <m:den>
                          <m:r>
                            <a:rPr lang="en-US" sz="2200" i="1">
                              <a:latin typeface="Cambria Math" panose="02040503050406030204" pitchFamily="18" charset="0"/>
                            </a:rPr>
                            <m:t>𝑟</m:t>
                          </m:r>
                          <m:r>
                            <a:rPr lang="en-US" sz="2200" i="1">
                              <a:latin typeface="Cambria Math" panose="02040503050406030204" pitchFamily="18" charset="0"/>
                            </a:rPr>
                            <m:t>+1</m:t>
                          </m:r>
                        </m:den>
                      </m:f>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e>
                      </m:d>
                      <m:r>
                        <a:rPr lang="en-US" sz="2200" b="0" i="1" smtClean="0">
                          <a:latin typeface="Cambria Math" panose="02040503050406030204" pitchFamily="18" charset="0"/>
                        </a:rPr>
                        <m:t>……(1)</m:t>
                      </m:r>
                    </m:oMath>
                  </m:oMathPara>
                </a14:m>
                <a:endParaRPr lang="en-US" sz="2200" b="0" dirty="0">
                  <a:ea typeface="Cambria Math"/>
                </a:endParaRPr>
              </a:p>
              <a:p>
                <a:pPr marL="0" indent="0">
                  <a:buNone/>
                </a:pPr>
                <a:r>
                  <a:rPr lang="en-US" sz="2200" dirty="0">
                    <a:ea typeface="Cambria Math"/>
                  </a:rPr>
                  <a:t>Poisson Distribution </a:t>
                </a:r>
                <a14:m>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e>
                    </m:d>
                    <m:r>
                      <a:rPr lang="en-US" sz="2200" i="1">
                        <a:latin typeface="Cambria Math" panose="02040503050406030204" pitchFamily="18" charset="0"/>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ea typeface="Cambria Math"/>
                              </a:rPr>
                              <m:t>𝜆</m:t>
                            </m:r>
                          </m:sup>
                        </m:sSup>
                        <m:sSup>
                          <m:sSupPr>
                            <m:ctrlPr>
                              <a:rPr lang="en-US" sz="2200" i="1">
                                <a:latin typeface="Cambria Math" panose="02040503050406030204" pitchFamily="18" charset="0"/>
                              </a:rPr>
                            </m:ctrlPr>
                          </m:sSupPr>
                          <m:e>
                            <m:r>
                              <a:rPr lang="en-US" sz="2200" i="1">
                                <a:latin typeface="Cambria Math" panose="02040503050406030204" pitchFamily="18" charset="0"/>
                                <a:ea typeface="Cambria Math"/>
                              </a:rPr>
                              <m:t>𝜆</m:t>
                            </m:r>
                          </m:e>
                          <m:sup>
                            <m:r>
                              <a:rPr lang="en-US" sz="2200" i="1">
                                <a:latin typeface="Cambria Math" panose="02040503050406030204" pitchFamily="18" charset="0"/>
                              </a:rPr>
                              <m:t>𝑟</m:t>
                            </m:r>
                          </m:sup>
                        </m:sSup>
                      </m:num>
                      <m:den>
                        <m:r>
                          <a:rPr lang="en-US" sz="2200" i="1">
                            <a:latin typeface="Cambria Math" panose="02040503050406030204" pitchFamily="18" charset="0"/>
                          </a:rPr>
                          <m:t>𝑟</m:t>
                        </m:r>
                        <m:r>
                          <a:rPr lang="en-US" sz="2200" i="1">
                            <a:latin typeface="Cambria Math" panose="02040503050406030204" pitchFamily="18" charset="0"/>
                            <a:ea typeface="Cambria Math"/>
                          </a:rPr>
                          <m:t>!</m:t>
                        </m:r>
                      </m:den>
                    </m:f>
                  </m:oMath>
                </a14:m>
                <a:endParaRPr lang="en-US" sz="2200" dirty="0">
                  <a:ea typeface="Cambria Math"/>
                </a:endParaRPr>
              </a:p>
              <a:p>
                <a:pPr marL="0" indent="0">
                  <a:buNone/>
                </a:pPr>
                <a:r>
                  <a:rPr lang="en-US" sz="2200" dirty="0">
                    <a:ea typeface="Cambria Math"/>
                  </a:rPr>
                  <a:t>So </a:t>
                </a:r>
                <a14:m>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e>
                    </m:d>
                    <m:r>
                      <a:rPr lang="en-US" sz="2200" i="1">
                        <a:latin typeface="Cambria Math" panose="02040503050406030204" pitchFamily="18" charset="0"/>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−2</m:t>
                            </m:r>
                          </m:sup>
                        </m:sSup>
                        <m:sSup>
                          <m:sSupPr>
                            <m:ctrlPr>
                              <a:rPr lang="en-US" sz="2200" i="1">
                                <a:latin typeface="Cambria Math" panose="02040503050406030204" pitchFamily="18" charset="0"/>
                              </a:rPr>
                            </m:ctrlPr>
                          </m:sSupPr>
                          <m:e>
                            <m:r>
                              <a:rPr lang="en-US" sz="2200" i="1">
                                <a:latin typeface="Cambria Math" panose="02040503050406030204" pitchFamily="18" charset="0"/>
                              </a:rPr>
                              <m:t>2</m:t>
                            </m:r>
                          </m:e>
                          <m:sup>
                            <m:r>
                              <a:rPr lang="en-US" sz="2200" i="1">
                                <a:latin typeface="Cambria Math" panose="02040503050406030204" pitchFamily="18" charset="0"/>
                              </a:rPr>
                              <m:t>𝑟</m:t>
                            </m:r>
                          </m:sup>
                        </m:sSup>
                      </m:num>
                      <m:den>
                        <m:r>
                          <a:rPr lang="en-US" sz="2200" i="1">
                            <a:latin typeface="Cambria Math" panose="02040503050406030204" pitchFamily="18" charset="0"/>
                          </a:rPr>
                          <m:t>𝑟</m:t>
                        </m:r>
                        <m:r>
                          <a:rPr lang="en-US" sz="2200" i="1">
                            <a:latin typeface="Cambria Math" panose="02040503050406030204" pitchFamily="18" charset="0"/>
                            <a:ea typeface="Cambria Math"/>
                          </a:rPr>
                          <m:t>!</m:t>
                        </m:r>
                      </m:den>
                    </m:f>
                    <m:r>
                      <a:rPr lang="en-US" sz="2200" i="1">
                        <a:latin typeface="Cambria Math" panose="02040503050406030204" pitchFamily="18" charset="0"/>
                        <a:ea typeface="Cambria Math"/>
                      </a:rPr>
                      <m:t>⟹</m:t>
                    </m:r>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0</m:t>
                        </m:r>
                      </m:e>
                    </m:d>
                    <m:r>
                      <a:rPr lang="en-US" sz="2200" i="1">
                        <a:latin typeface="Cambria Math" panose="02040503050406030204" pitchFamily="18" charset="0"/>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−2</m:t>
                            </m:r>
                          </m:sup>
                        </m:sSup>
                        <m:sSup>
                          <m:sSupPr>
                            <m:ctrlPr>
                              <a:rPr lang="en-US" sz="2200" i="1">
                                <a:latin typeface="Cambria Math" panose="02040503050406030204" pitchFamily="18" charset="0"/>
                              </a:rPr>
                            </m:ctrlPr>
                          </m:sSupPr>
                          <m:e>
                            <m:r>
                              <a:rPr lang="en-US" sz="2200" i="1">
                                <a:latin typeface="Cambria Math" panose="02040503050406030204" pitchFamily="18" charset="0"/>
                              </a:rPr>
                              <m:t>2</m:t>
                            </m:r>
                          </m:e>
                          <m:sup>
                            <m:r>
                              <a:rPr lang="en-US" sz="2200" i="1">
                                <a:latin typeface="Cambria Math" panose="02040503050406030204" pitchFamily="18" charset="0"/>
                                <a:ea typeface="Cambria Math"/>
                              </a:rPr>
                              <m:t>0</m:t>
                            </m:r>
                          </m:sup>
                        </m:sSup>
                      </m:num>
                      <m:den>
                        <m:r>
                          <a:rPr lang="en-US" sz="2200" i="1">
                            <a:latin typeface="Cambria Math" panose="02040503050406030204" pitchFamily="18" charset="0"/>
                          </a:rPr>
                          <m:t>0</m:t>
                        </m:r>
                        <m:r>
                          <a:rPr lang="en-US" sz="2200" i="1">
                            <a:latin typeface="Cambria Math" panose="02040503050406030204" pitchFamily="18" charset="0"/>
                            <a:ea typeface="Cambria Math"/>
                          </a:rPr>
                          <m:t>!</m:t>
                        </m:r>
                      </m:den>
                    </m:f>
                    <m:r>
                      <a:rPr lang="en-US" sz="2200" i="1">
                        <a:latin typeface="Cambria Math" panose="02040503050406030204" pitchFamily="18" charset="0"/>
                        <a:ea typeface="Cambria Math"/>
                      </a:rPr>
                      <m:t>⟹</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−2</m:t>
                        </m:r>
                      </m:sup>
                    </m:sSup>
                    <m:r>
                      <a:rPr lang="en-US" sz="2200" i="1">
                        <a:latin typeface="Cambria Math" panose="02040503050406030204" pitchFamily="18" charset="0"/>
                      </a:rPr>
                      <m:t>=0.1353</m:t>
                    </m:r>
                  </m:oMath>
                </a14:m>
                <a:endParaRPr lang="en-US" sz="2200" dirty="0">
                  <a:ea typeface="Cambria Math"/>
                </a:endParaRPr>
              </a:p>
              <a:p>
                <a:pPr marL="0" indent="0">
                  <a:buNone/>
                </a:pPr>
                <a:r>
                  <a:rPr lang="en-US" sz="2200" b="0" dirty="0">
                    <a:ea typeface="Cambria Math"/>
                  </a:rPr>
                  <a:t>Now putting </a:t>
                </a:r>
                <a:r>
                  <a:rPr lang="en-US" sz="2200" dirty="0"/>
                  <a:t>r=0,1,2,3 in equation (1)</a:t>
                </a:r>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96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391433" y="0"/>
            <a:ext cx="7772400" cy="8382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Problem based on Poisson </a:t>
            </a:r>
          </a:p>
          <a:p>
            <a:pPr lvl="0" algn="ctr">
              <a:spcBef>
                <a:spcPct val="0"/>
              </a:spcBef>
              <a:defRPr/>
            </a:pPr>
            <a:r>
              <a:rPr lang="en-US" sz="2400" b="1" dirty="0"/>
              <a:t>Distributions(CO4)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76D5A3C1-2E40-4C34-A887-C467CA8A4539}"/>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6352226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1</m:t>
                          </m:r>
                        </m:e>
                      </m:d>
                      <m:r>
                        <a:rPr lang="en-US" sz="2200" b="0" i="1" smtClean="0">
                          <a:latin typeface="Cambria Math" panose="02040503050406030204" pitchFamily="18" charset="0"/>
                        </a:rPr>
                        <m:t>=2</m:t>
                      </m:r>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0</m:t>
                          </m:r>
                        </m:e>
                      </m:d>
                      <m:r>
                        <a:rPr lang="en-US" sz="2200" b="0" i="1" smtClean="0">
                          <a:latin typeface="Cambria Math" panose="02040503050406030204" pitchFamily="18" charset="0"/>
                        </a:rPr>
                        <m:t>=2</m:t>
                      </m:r>
                      <m:r>
                        <a:rPr lang="en-US" sz="2200" b="0" i="1" smtClean="0">
                          <a:latin typeface="Cambria Math" panose="02040503050406030204" pitchFamily="18" charset="0"/>
                          <a:ea typeface="Cambria Math"/>
                        </a:rPr>
                        <m:t>×0.1353=0.2706</m:t>
                      </m:r>
                    </m:oMath>
                  </m:oMathPara>
                </a14:m>
                <a:endParaRPr lang="en-US" sz="2200" b="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b="0" i="1" smtClean="0">
                              <a:latin typeface="Cambria Math" panose="02040503050406030204" pitchFamily="18" charset="0"/>
                            </a:rPr>
                            <m:t>2</m:t>
                          </m:r>
                        </m:e>
                      </m:d>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2</m:t>
                          </m:r>
                        </m:num>
                        <m:den>
                          <m:r>
                            <a:rPr lang="en-US" sz="2200" i="1">
                              <a:latin typeface="Cambria Math" panose="02040503050406030204" pitchFamily="18" charset="0"/>
                            </a:rPr>
                            <m:t>2</m:t>
                          </m:r>
                        </m:den>
                      </m:f>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b="0" i="1" smtClean="0">
                              <a:latin typeface="Cambria Math" panose="02040503050406030204" pitchFamily="18" charset="0"/>
                            </a:rPr>
                            <m:t>1</m:t>
                          </m:r>
                        </m:e>
                      </m:d>
                      <m:r>
                        <a:rPr lang="en-US" sz="2200" i="1">
                          <a:latin typeface="Cambria Math" panose="02040503050406030204" pitchFamily="18" charset="0"/>
                        </a:rPr>
                        <m:t>=</m:t>
                      </m:r>
                      <m:f>
                        <m:fPr>
                          <m:ctrlPr>
                            <a:rPr lang="en-US" sz="2200" i="1" smtClean="0">
                              <a:latin typeface="Cambria Math" panose="02040503050406030204" pitchFamily="18" charset="0"/>
                            </a:rPr>
                          </m:ctrlPr>
                        </m:fPr>
                        <m:num>
                          <m:r>
                            <a:rPr lang="en-US" sz="2200" b="0" i="1" smtClean="0">
                              <a:latin typeface="Cambria Math" panose="02040503050406030204" pitchFamily="18" charset="0"/>
                            </a:rPr>
                            <m:t>2</m:t>
                          </m:r>
                        </m:num>
                        <m:den>
                          <m:r>
                            <a:rPr lang="en-US" sz="2200" b="0" i="1" smtClean="0">
                              <a:latin typeface="Cambria Math" panose="02040503050406030204" pitchFamily="18" charset="0"/>
                            </a:rPr>
                            <m:t>2</m:t>
                          </m:r>
                        </m:den>
                      </m:f>
                      <m:r>
                        <a:rPr lang="en-US" sz="2200" i="1">
                          <a:latin typeface="Cambria Math" panose="02040503050406030204" pitchFamily="18" charset="0"/>
                          <a:ea typeface="Cambria Math"/>
                        </a:rPr>
                        <m:t>×</m:t>
                      </m:r>
                      <m:r>
                        <a:rPr lang="en-US" sz="2200" b="0" i="1" smtClean="0">
                          <a:latin typeface="Cambria Math" panose="02040503050406030204" pitchFamily="18" charset="0"/>
                          <a:ea typeface="Cambria Math"/>
                        </a:rPr>
                        <m:t>0</m:t>
                      </m:r>
                      <m:r>
                        <a:rPr lang="en-US" sz="2200" i="1">
                          <a:latin typeface="Cambria Math" panose="02040503050406030204" pitchFamily="18" charset="0"/>
                          <a:ea typeface="Cambria Math"/>
                        </a:rPr>
                        <m:t>.2706</m:t>
                      </m:r>
                      <m:r>
                        <a:rPr lang="en-US" sz="2200" b="0" i="1" smtClean="0">
                          <a:latin typeface="Cambria Math" panose="02040503050406030204" pitchFamily="18" charset="0"/>
                          <a:ea typeface="Cambria Math"/>
                        </a:rPr>
                        <m:t>=0.2706</m:t>
                      </m:r>
                    </m:oMath>
                  </m:oMathPara>
                </a14:m>
                <a:endParaRPr lang="en-US" sz="22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b="0" i="1" smtClean="0">
                              <a:latin typeface="Cambria Math" panose="02040503050406030204" pitchFamily="18" charset="0"/>
                            </a:rPr>
                            <m:t>3</m:t>
                          </m:r>
                        </m:e>
                      </m:d>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2</m:t>
                          </m:r>
                        </m:num>
                        <m:den>
                          <m:r>
                            <a:rPr lang="en-US" sz="2200" b="0" i="1" smtClean="0">
                              <a:latin typeface="Cambria Math" panose="02040503050406030204" pitchFamily="18" charset="0"/>
                            </a:rPr>
                            <m:t>3</m:t>
                          </m:r>
                        </m:den>
                      </m:f>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b="0" i="1" smtClean="0">
                              <a:latin typeface="Cambria Math" panose="02040503050406030204" pitchFamily="18" charset="0"/>
                            </a:rPr>
                            <m:t>2</m:t>
                          </m:r>
                        </m:e>
                      </m:d>
                      <m:r>
                        <a:rPr lang="en-US" sz="2200" i="1">
                          <a:latin typeface="Cambria Math" panose="02040503050406030204" pitchFamily="18" charset="0"/>
                        </a:rPr>
                        <m:t>=</m:t>
                      </m:r>
                      <m:f>
                        <m:fPr>
                          <m:ctrlPr>
                            <a:rPr lang="en-US" sz="2200" i="1" smtClean="0">
                              <a:latin typeface="Cambria Math" panose="02040503050406030204" pitchFamily="18" charset="0"/>
                            </a:rPr>
                          </m:ctrlPr>
                        </m:fPr>
                        <m:num>
                          <m:r>
                            <a:rPr lang="en-US" sz="2200" b="0" i="1" smtClean="0">
                              <a:latin typeface="Cambria Math" panose="02040503050406030204" pitchFamily="18" charset="0"/>
                            </a:rPr>
                            <m:t>2</m:t>
                          </m:r>
                        </m:num>
                        <m:den>
                          <m:r>
                            <a:rPr lang="en-US" sz="2200" b="0" i="1" smtClean="0">
                              <a:latin typeface="Cambria Math" panose="02040503050406030204" pitchFamily="18" charset="0"/>
                            </a:rPr>
                            <m:t>3</m:t>
                          </m:r>
                        </m:den>
                      </m:f>
                      <m:r>
                        <a:rPr lang="en-US" sz="2200" i="1">
                          <a:latin typeface="Cambria Math" panose="02040503050406030204" pitchFamily="18" charset="0"/>
                          <a:ea typeface="Cambria Math"/>
                        </a:rPr>
                        <m:t>×</m:t>
                      </m:r>
                      <m:r>
                        <a:rPr lang="en-US" sz="2200" b="0" i="1" smtClean="0">
                          <a:latin typeface="Cambria Math" panose="02040503050406030204" pitchFamily="18" charset="0"/>
                          <a:ea typeface="Cambria Math"/>
                        </a:rPr>
                        <m:t>0</m:t>
                      </m:r>
                      <m:r>
                        <a:rPr lang="en-US" sz="2200" i="1">
                          <a:latin typeface="Cambria Math" panose="02040503050406030204" pitchFamily="18" charset="0"/>
                          <a:ea typeface="Cambria Math"/>
                        </a:rPr>
                        <m:t>.2706</m:t>
                      </m:r>
                      <m:r>
                        <a:rPr lang="en-US" sz="2200" b="0" i="1" smtClean="0">
                          <a:latin typeface="Cambria Math" panose="02040503050406030204" pitchFamily="18" charset="0"/>
                          <a:ea typeface="Cambria Math"/>
                        </a:rPr>
                        <m:t>=0.1804</m:t>
                      </m:r>
                    </m:oMath>
                  </m:oMathPara>
                </a14:m>
                <a:endParaRPr lang="en-US" sz="22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b="0" i="1" smtClean="0">
                              <a:latin typeface="Cambria Math" panose="02040503050406030204" pitchFamily="18" charset="0"/>
                            </a:rPr>
                            <m:t>4</m:t>
                          </m:r>
                        </m:e>
                      </m:d>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2</m:t>
                          </m:r>
                        </m:num>
                        <m:den>
                          <m:r>
                            <a:rPr lang="en-US" sz="2200" b="0" i="1" smtClean="0">
                              <a:latin typeface="Cambria Math" panose="02040503050406030204" pitchFamily="18" charset="0"/>
                            </a:rPr>
                            <m:t>4</m:t>
                          </m:r>
                        </m:den>
                      </m:f>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b="0" i="1" smtClean="0">
                              <a:latin typeface="Cambria Math" panose="02040503050406030204" pitchFamily="18" charset="0"/>
                            </a:rPr>
                            <m:t>3</m:t>
                          </m:r>
                        </m:e>
                      </m:d>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b="0" i="1" smtClean="0">
                              <a:latin typeface="Cambria Math" panose="02040503050406030204" pitchFamily="18" charset="0"/>
                            </a:rPr>
                            <m:t>1</m:t>
                          </m:r>
                        </m:num>
                        <m:den>
                          <m:r>
                            <a:rPr lang="en-US" sz="2200" b="0" i="1" smtClean="0">
                              <a:latin typeface="Cambria Math" panose="02040503050406030204" pitchFamily="18" charset="0"/>
                            </a:rPr>
                            <m:t>2</m:t>
                          </m:r>
                        </m:den>
                      </m:f>
                      <m:r>
                        <a:rPr lang="en-US" sz="2200" i="1">
                          <a:latin typeface="Cambria Math" panose="02040503050406030204" pitchFamily="18" charset="0"/>
                          <a:ea typeface="Cambria Math"/>
                        </a:rPr>
                        <m:t>×0.1804</m:t>
                      </m:r>
                      <m:r>
                        <a:rPr lang="en-US" sz="2200" b="0" i="1" smtClean="0">
                          <a:latin typeface="Cambria Math" panose="02040503050406030204" pitchFamily="18" charset="0"/>
                          <a:ea typeface="Cambria Math"/>
                        </a:rPr>
                        <m:t>=0.0902</m:t>
                      </m:r>
                    </m:oMath>
                  </m:oMathPara>
                </a14:m>
                <a:endParaRPr lang="en-US" sz="2200" b="0" dirty="0">
                  <a:ea typeface="Cambria Math"/>
                </a:endParaRPr>
              </a:p>
              <a:p>
                <a:pPr marL="0" indent="0">
                  <a:buNone/>
                </a:pPr>
                <a:r>
                  <a:rPr lang="en-US" sz="2200" dirty="0">
                    <a:ea typeface="Cambria Math"/>
                  </a:rPr>
                  <a:t>Now to calculate </a:t>
                </a:r>
                <a14:m>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r>
                          <a:rPr lang="en-US" sz="2200" i="1">
                            <a:latin typeface="Cambria Math" panose="02040503050406030204" pitchFamily="18" charset="0"/>
                            <a:ea typeface="Cambria Math"/>
                          </a:rPr>
                          <m:t>≥4</m:t>
                        </m:r>
                      </m:e>
                    </m:d>
                    <m:r>
                      <a:rPr lang="en-US" sz="2200" b="0" i="1" smtClean="0">
                        <a:latin typeface="Cambria Math" panose="02040503050406030204" pitchFamily="18" charset="0"/>
                        <a:ea typeface="Cambria Math"/>
                      </a:rPr>
                      <m:t>, </m:t>
                    </m:r>
                    <m:r>
                      <a:rPr lang="en-US" sz="2200" b="0" i="1" smtClean="0">
                        <a:latin typeface="Cambria Math" panose="02040503050406030204" pitchFamily="18" charset="0"/>
                        <a:ea typeface="Cambria Math"/>
                      </a:rPr>
                      <m:t>𝑤𝑒</m:t>
                    </m:r>
                    <m:r>
                      <a:rPr lang="en-US" sz="2200" b="0" i="1" smtClean="0">
                        <a:latin typeface="Cambria Math" panose="02040503050406030204" pitchFamily="18" charset="0"/>
                        <a:ea typeface="Cambria Math"/>
                      </a:rPr>
                      <m:t> </m:t>
                    </m:r>
                    <m:r>
                      <a:rPr lang="en-US" sz="2200" b="0" i="1" smtClean="0">
                        <a:latin typeface="Cambria Math" panose="02040503050406030204" pitchFamily="18" charset="0"/>
                        <a:ea typeface="Cambria Math"/>
                      </a:rPr>
                      <m:t>h𝑎𝑣𝑒</m:t>
                    </m:r>
                  </m:oMath>
                </a14:m>
                <a:endParaRPr lang="en-US" sz="2200" i="1"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𝑟</m:t>
                          </m:r>
                          <m:r>
                            <a:rPr lang="en-US" sz="2200" i="1">
                              <a:latin typeface="Cambria Math" panose="02040503050406030204" pitchFamily="18" charset="0"/>
                              <a:ea typeface="Cambria Math"/>
                            </a:rPr>
                            <m:t>≥4</m:t>
                          </m:r>
                        </m:e>
                      </m:d>
                      <m:r>
                        <a:rPr lang="en-US" sz="2200" b="0" i="1" smtClean="0">
                          <a:latin typeface="Cambria Math" panose="02040503050406030204" pitchFamily="18" charset="0"/>
                          <a:ea typeface="Cambria Math"/>
                        </a:rPr>
                        <m:t>=1−[</m:t>
                      </m:r>
                      <m:r>
                        <a:rPr lang="en-US" sz="2200" b="0" i="1" smtClean="0">
                          <a:latin typeface="Cambria Math" panose="02040503050406030204" pitchFamily="18" charset="0"/>
                          <a:ea typeface="Cambria Math"/>
                        </a:rPr>
                        <m:t>𝑃</m:t>
                      </m:r>
                      <m:d>
                        <m:dPr>
                          <m:ctrlPr>
                            <a:rPr lang="en-US" sz="2200" b="0" i="1" smtClean="0">
                              <a:latin typeface="Cambria Math" panose="02040503050406030204" pitchFamily="18" charset="0"/>
                              <a:ea typeface="Cambria Math"/>
                            </a:rPr>
                          </m:ctrlPr>
                        </m:dPr>
                        <m:e>
                          <m:r>
                            <a:rPr lang="en-US" sz="2200" b="0" i="1" smtClean="0">
                              <a:latin typeface="Cambria Math" panose="02040503050406030204" pitchFamily="18" charset="0"/>
                              <a:ea typeface="Cambria Math"/>
                            </a:rPr>
                            <m:t>0</m:t>
                          </m:r>
                        </m:e>
                      </m:d>
                      <m:r>
                        <a:rPr lang="en-US" sz="2200" b="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𝑃</m:t>
                      </m:r>
                      <m:d>
                        <m:dPr>
                          <m:ctrlPr>
                            <a:rPr lang="en-US" sz="2200" b="0" i="1" smtClean="0">
                              <a:latin typeface="Cambria Math" panose="02040503050406030204" pitchFamily="18" charset="0"/>
                              <a:ea typeface="Cambria Math"/>
                            </a:rPr>
                          </m:ctrlPr>
                        </m:dPr>
                        <m:e>
                          <m:r>
                            <a:rPr lang="en-US" sz="2200" b="0" i="1" smtClean="0">
                              <a:latin typeface="Cambria Math" panose="02040503050406030204" pitchFamily="18" charset="0"/>
                              <a:ea typeface="Cambria Math"/>
                            </a:rPr>
                            <m:t>1</m:t>
                          </m:r>
                        </m:e>
                      </m:d>
                      <m:r>
                        <a:rPr lang="en-US" sz="2200" b="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𝑃</m:t>
                      </m:r>
                      <m:d>
                        <m:dPr>
                          <m:ctrlPr>
                            <a:rPr lang="en-US" sz="2200" b="0" i="1" smtClean="0">
                              <a:latin typeface="Cambria Math" panose="02040503050406030204" pitchFamily="18" charset="0"/>
                              <a:ea typeface="Cambria Math"/>
                            </a:rPr>
                          </m:ctrlPr>
                        </m:dPr>
                        <m:e>
                          <m:r>
                            <a:rPr lang="en-US" sz="2200" b="0" i="1" smtClean="0">
                              <a:latin typeface="Cambria Math" panose="02040503050406030204" pitchFamily="18" charset="0"/>
                              <a:ea typeface="Cambria Math"/>
                            </a:rPr>
                            <m:t>2</m:t>
                          </m:r>
                        </m:e>
                      </m:d>
                      <m:r>
                        <a:rPr lang="en-US" sz="2200" b="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𝑃</m:t>
                      </m:r>
                      <m:d>
                        <m:dPr>
                          <m:ctrlPr>
                            <a:rPr lang="en-US" sz="2200" b="0" i="1" smtClean="0">
                              <a:latin typeface="Cambria Math" panose="02040503050406030204" pitchFamily="18" charset="0"/>
                              <a:ea typeface="Cambria Math"/>
                            </a:rPr>
                          </m:ctrlPr>
                        </m:dPr>
                        <m:e>
                          <m:r>
                            <a:rPr lang="en-US" sz="2200" b="0" i="1" smtClean="0">
                              <a:latin typeface="Cambria Math" panose="02040503050406030204" pitchFamily="18" charset="0"/>
                              <a:ea typeface="Cambria Math"/>
                            </a:rPr>
                            <m:t>3</m:t>
                          </m:r>
                        </m:e>
                      </m:d>
                      <m:r>
                        <a:rPr lang="en-US" sz="2200" b="0" i="1" smtClean="0">
                          <a:latin typeface="Cambria Math" panose="02040503050406030204" pitchFamily="18" charset="0"/>
                          <a:ea typeface="Cambria Math"/>
                        </a:rPr>
                        <m:t>]</m:t>
                      </m:r>
                    </m:oMath>
                  </m:oMathPara>
                </a14:m>
                <a:endParaRPr lang="en-US" sz="22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1−</m:t>
                      </m:r>
                      <m:d>
                        <m:dPr>
                          <m:begChr m:val="["/>
                          <m:endChr m:val="]"/>
                          <m:ctrlPr>
                            <a:rPr lang="en-US" sz="2200" b="0" i="1" smtClean="0">
                              <a:latin typeface="Cambria Math" panose="02040503050406030204" pitchFamily="18" charset="0"/>
                              <a:ea typeface="Cambria Math"/>
                            </a:rPr>
                          </m:ctrlPr>
                        </m:dPr>
                        <m:e>
                          <m:r>
                            <a:rPr lang="en-US" sz="2200" b="0" i="1" smtClean="0">
                              <a:latin typeface="Cambria Math" panose="02040503050406030204" pitchFamily="18" charset="0"/>
                              <a:ea typeface="Cambria Math"/>
                            </a:rPr>
                            <m:t>0.1353+0.2706+0.2706+0.1804</m:t>
                          </m:r>
                        </m:e>
                      </m:d>
                    </m:oMath>
                  </m:oMathPara>
                </a14:m>
                <a:endParaRPr lang="en-US" sz="2200" b="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panose="02040503050406030204" pitchFamily="18" charset="0"/>
                          <a:ea typeface="Cambria Math"/>
                        </a:rPr>
                        <m:t>=</m:t>
                      </m:r>
                      <m:r>
                        <a:rPr lang="en-US" sz="2200" b="0" i="1" smtClean="0">
                          <a:latin typeface="Cambria Math" panose="02040503050406030204" pitchFamily="18" charset="0"/>
                          <a:ea typeface="Cambria Math"/>
                        </a:rPr>
                        <m:t>0.1431</m:t>
                      </m:r>
                    </m:oMath>
                  </m:oMathPara>
                </a14:m>
                <a:endParaRPr lang="en-US" sz="2200" b="0" dirty="0">
                  <a:ea typeface="Cambria Math"/>
                </a:endParaRPr>
              </a:p>
              <a:p>
                <a:pPr marL="0" indent="0">
                  <a:buNone/>
                </a:pPr>
                <a:r>
                  <a:rPr lang="en-US" sz="2200" dirty="0">
                    <a:ea typeface="Cambria Math"/>
                  </a:rPr>
                  <a:t>Q2. Fit a Poisson distribution to the following data and calculate theoretical frequencies.</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b="-134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D29B193D-FD08-4C00-A6F4-9926C93BD248}"/>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1582683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Mean of Poisson distribution </a:t>
                </a:r>
                <a14:m>
                  <m:oMath xmlns:m="http://schemas.openxmlformats.org/officeDocument/2006/math">
                    <m:r>
                      <m:rPr>
                        <m:sty m:val="p"/>
                      </m:rPr>
                      <a:rPr lang="el-GR" sz="2200" i="1" smtClean="0">
                        <a:latin typeface="Cambria Math"/>
                        <a:ea typeface="Cambria Math"/>
                      </a:rPr>
                      <m:t>λ</m:t>
                    </m:r>
                    <m:r>
                      <a:rPr lang="en-US" sz="2200" i="1" smtClean="0">
                        <a:latin typeface="Cambria Math"/>
                        <a:ea typeface="Cambria Math"/>
                      </a:rPr>
                      <m:t>=</m:t>
                    </m:r>
                    <m:f>
                      <m:fPr>
                        <m:ctrlPr>
                          <a:rPr lang="en-US" sz="2200" i="1" smtClean="0">
                            <a:latin typeface="Cambria Math" panose="02040503050406030204" pitchFamily="18" charset="0"/>
                            <a:ea typeface="Cambria Math"/>
                          </a:rPr>
                        </m:ctrlPr>
                      </m:fPr>
                      <m:num>
                        <m:nary>
                          <m:naryPr>
                            <m:chr m:val="∑"/>
                            <m:subHide m:val="on"/>
                            <m:supHide m:val="on"/>
                            <m:ctrlPr>
                              <a:rPr lang="en-US" sz="2200" i="1" smtClean="0">
                                <a:latin typeface="Cambria Math" panose="02040503050406030204" pitchFamily="18" charset="0"/>
                                <a:ea typeface="Cambria Math"/>
                              </a:rPr>
                            </m:ctrlPr>
                          </m:naryPr>
                          <m:sub/>
                          <m:sup/>
                          <m:e>
                            <m:r>
                              <a:rPr lang="en-US" sz="2200" b="0" i="1" smtClean="0">
                                <a:latin typeface="Cambria Math"/>
                                <a:ea typeface="Cambria Math"/>
                              </a:rPr>
                              <m:t>𝑓𝑥</m:t>
                            </m:r>
                          </m:e>
                        </m:nary>
                      </m:num>
                      <m:den>
                        <m:nary>
                          <m:naryPr>
                            <m:chr m:val="∑"/>
                            <m:subHide m:val="on"/>
                            <m:supHide m:val="on"/>
                            <m:ctrlPr>
                              <a:rPr lang="en-US" sz="2200" i="1" smtClean="0">
                                <a:latin typeface="Cambria Math" panose="02040503050406030204" pitchFamily="18" charset="0"/>
                                <a:ea typeface="Cambria Math"/>
                              </a:rPr>
                            </m:ctrlPr>
                          </m:naryPr>
                          <m:sub/>
                          <m:sup/>
                          <m:e>
                            <m:r>
                              <a:rPr lang="en-US" sz="2200" b="0" i="1" smtClean="0">
                                <a:latin typeface="Cambria Math"/>
                                <a:ea typeface="Cambria Math"/>
                              </a:rPr>
                              <m:t>𝑓</m:t>
                            </m:r>
                          </m:e>
                        </m:nary>
                      </m:den>
                    </m:f>
                  </m:oMath>
                </a14:m>
                <a:endParaRPr lang="en-US" sz="2200" i="1" dirty="0">
                  <a:latin typeface="Cambria Math"/>
                  <a:ea typeface="Cambria Math"/>
                </a:endParaRPr>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0×122+1×60+2×15+3×2+4×1</m:t>
                          </m:r>
                        </m:num>
                        <m:den>
                          <m:r>
                            <a:rPr lang="en-US" sz="2200" b="0" i="1" smtClean="0">
                              <a:latin typeface="Cambria Math"/>
                              <a:ea typeface="Cambria Math"/>
                            </a:rPr>
                            <m:t>122+60+15+2+1</m:t>
                          </m:r>
                        </m:den>
                      </m:f>
                      <m:nary>
                        <m:naryPr>
                          <m:chr m:val="∑"/>
                          <m:subHide m:val="on"/>
                          <m:supHide m:val="on"/>
                          <m:ctrlPr>
                            <a:rPr lang="en-US" sz="2200" i="1">
                              <a:latin typeface="Cambria Math" panose="02040503050406030204" pitchFamily="18" charset="0"/>
                              <a:ea typeface="Cambria Math"/>
                            </a:rPr>
                          </m:ctrlPr>
                        </m:naryPr>
                        <m:sub/>
                        <m:sup/>
                        <m:e>
                          <m:r>
                            <a:rPr lang="en-US" sz="2200" i="1">
                              <a:latin typeface="Cambria Math"/>
                              <a:ea typeface="Cambria Math"/>
                            </a:rPr>
                            <m:t>𝑓</m:t>
                          </m:r>
                        </m:e>
                      </m:nary>
                      <m:r>
                        <a:rPr lang="en-US" sz="2200" b="0" i="0" smtClean="0">
                          <a:latin typeface="Cambria Math"/>
                          <a:ea typeface="Cambria Math"/>
                        </a:rPr>
                        <m:t>=</m:t>
                      </m:r>
                      <m:r>
                        <m:rPr>
                          <m:sty m:val="p"/>
                        </m:rPr>
                        <a:rPr lang="en-US" sz="2200" b="0" i="0" smtClean="0">
                          <a:latin typeface="Cambria Math"/>
                          <a:ea typeface="Cambria Math"/>
                        </a:rPr>
                        <m:t>N</m:t>
                      </m:r>
                      <m:r>
                        <a:rPr lang="en-US" sz="2200" b="0" i="0" smtClean="0">
                          <a:latin typeface="Cambria Math"/>
                          <a:ea typeface="Cambria Math"/>
                        </a:rPr>
                        <m:t>=200</m:t>
                      </m:r>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=0.5</m:t>
                      </m:r>
                    </m:oMath>
                  </m:oMathPara>
                </a14:m>
                <a:endParaRPr lang="en-US" sz="2200" dirty="0"/>
              </a:p>
              <a:p>
                <a:pPr marL="0" indent="0">
                  <a:buNone/>
                </a:pPr>
                <a:r>
                  <a:rPr lang="en-US" sz="2200" dirty="0"/>
                  <a:t>Required Poisson distribution </a:t>
                </a: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m:t>
                      </m:r>
                      <m:r>
                        <a:rPr lang="en-US" sz="2200" b="0" i="1" smtClean="0">
                          <a:latin typeface="Cambria Math"/>
                        </a:rPr>
                        <m:t>𝑁</m:t>
                      </m:r>
                      <m:r>
                        <a:rPr lang="en-US" sz="2200" b="0" i="1" smtClean="0">
                          <a:latin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r>
                                <a:rPr lang="en-US" sz="2200" i="1">
                                  <a:latin typeface="Cambria Math"/>
                                  <a:ea typeface="Cambria Math"/>
                                </a:rPr>
                                <m:t>𝜆</m:t>
                              </m:r>
                            </m:sup>
                          </m:sSup>
                          <m:sSup>
                            <m:sSupPr>
                              <m:ctrlPr>
                                <a:rPr lang="en-US" sz="2200" i="1">
                                  <a:latin typeface="Cambria Math" panose="02040503050406030204" pitchFamily="18" charset="0"/>
                                </a:rPr>
                              </m:ctrlPr>
                            </m:sSupPr>
                            <m:e>
                              <m:r>
                                <a:rPr lang="en-US" sz="2200" i="1">
                                  <a:latin typeface="Cambria Math"/>
                                  <a:ea typeface="Cambria Math"/>
                                </a:rPr>
                                <m:t>𝜆</m:t>
                              </m:r>
                            </m:e>
                            <m:sup>
                              <m:r>
                                <a:rPr lang="en-US" sz="2200" i="1">
                                  <a:latin typeface="Cambria Math"/>
                                </a:rPr>
                                <m:t>𝑟</m:t>
                              </m:r>
                            </m:sup>
                          </m:sSup>
                        </m:num>
                        <m:den>
                          <m:r>
                            <a:rPr lang="en-US" sz="2200" i="1">
                              <a:latin typeface="Cambria Math"/>
                            </a:rPr>
                            <m:t>𝑟</m:t>
                          </m:r>
                          <m:r>
                            <a:rPr lang="en-US" sz="2200" i="1">
                              <a:latin typeface="Cambria Math"/>
                              <a:ea typeface="Cambria Math"/>
                            </a:rPr>
                            <m:t>!</m:t>
                          </m:r>
                        </m:den>
                      </m:f>
                      <m:r>
                        <a:rPr lang="en-US" sz="2200" b="0" i="0" smtClean="0">
                          <a:latin typeface="Cambria Math"/>
                          <a:ea typeface="Cambria Math"/>
                        </a:rPr>
                        <m:t>=200</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r>
                                <a:rPr lang="en-US" sz="2200" b="0" i="1" smtClean="0">
                                  <a:latin typeface="Cambria Math"/>
                                </a:rPr>
                                <m:t>0.5</m:t>
                              </m:r>
                            </m:sup>
                          </m:sSup>
                          <m:sSup>
                            <m:sSupPr>
                              <m:ctrlPr>
                                <a:rPr lang="en-US" sz="2200" i="1">
                                  <a:latin typeface="Cambria Math" panose="02040503050406030204" pitchFamily="18" charset="0"/>
                                </a:rPr>
                              </m:ctrlPr>
                            </m:sSupPr>
                            <m:e>
                              <m:r>
                                <a:rPr lang="en-US" sz="2200" b="0" i="1" smtClean="0">
                                  <a:latin typeface="Cambria Math"/>
                                </a:rPr>
                                <m:t>(0.5)</m:t>
                              </m:r>
                            </m:e>
                            <m:sup>
                              <m:r>
                                <a:rPr lang="en-US" sz="2200" i="1">
                                  <a:latin typeface="Cambria Math"/>
                                </a:rPr>
                                <m:t>𝑟</m:t>
                              </m:r>
                            </m:sup>
                          </m:sSup>
                        </m:num>
                        <m:den>
                          <m:r>
                            <a:rPr lang="en-US" sz="2200" i="1">
                              <a:latin typeface="Cambria Math"/>
                            </a:rPr>
                            <m:t>𝑟</m:t>
                          </m:r>
                          <m:r>
                            <a:rPr lang="en-US" sz="2200" i="1">
                              <a:latin typeface="Cambria Math"/>
                              <a:ea typeface="Cambria Math"/>
                            </a:rPr>
                            <m:t>!</m:t>
                          </m:r>
                        </m:den>
                      </m:f>
                      <m:r>
                        <a:rPr lang="en-US" sz="2200" b="0" i="1" smtClean="0">
                          <a:latin typeface="Cambria Math"/>
                          <a:ea typeface="Cambria Math"/>
                        </a:rPr>
                        <m:t>=(121.306)</m:t>
                      </m:r>
                      <m:f>
                        <m:fPr>
                          <m:ctrlPr>
                            <a:rPr lang="en-US" sz="2200" i="1">
                              <a:latin typeface="Cambria Math" panose="02040503050406030204" pitchFamily="18" charset="0"/>
                            </a:rPr>
                          </m:ctrlPr>
                        </m:fPr>
                        <m:num>
                          <m:r>
                            <a:rPr lang="en-US" sz="2200" b="0" i="1" smtClean="0">
                              <a:latin typeface="Cambria Math"/>
                            </a:rPr>
                            <m:t>(</m:t>
                          </m:r>
                          <m:sSup>
                            <m:sSupPr>
                              <m:ctrlPr>
                                <a:rPr lang="en-US" sz="2200" i="1">
                                  <a:latin typeface="Cambria Math" panose="02040503050406030204" pitchFamily="18" charset="0"/>
                                </a:rPr>
                              </m:ctrlPr>
                            </m:sSupPr>
                            <m:e>
                              <m:r>
                                <a:rPr lang="en-US" sz="2200" i="1">
                                  <a:latin typeface="Cambria Math"/>
                                </a:rPr>
                                <m:t>0.5</m:t>
                              </m:r>
                              <m:r>
                                <a:rPr lang="en-US" sz="2200" b="0" i="1" smtClean="0">
                                  <a:latin typeface="Cambria Math"/>
                                </a:rPr>
                                <m:t>)</m:t>
                              </m:r>
                            </m:e>
                            <m:sup>
                              <m:r>
                                <a:rPr lang="en-US" sz="2200" i="1">
                                  <a:latin typeface="Cambria Math"/>
                                </a:rPr>
                                <m:t>𝑟</m:t>
                              </m:r>
                            </m:sup>
                          </m:sSup>
                        </m:num>
                        <m:den>
                          <m:r>
                            <a:rPr lang="en-US" sz="2200" i="1">
                              <a:latin typeface="Cambria Math"/>
                            </a:rPr>
                            <m:t>𝑟</m:t>
                          </m:r>
                          <m:r>
                            <a:rPr lang="en-US" sz="2200" i="1">
                              <a:latin typeface="Cambria Math"/>
                              <a:ea typeface="Cambria Math"/>
                            </a:rPr>
                            <m:t>!</m:t>
                          </m:r>
                        </m:den>
                      </m:f>
                    </m:oMath>
                  </m:oMathPara>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err="1"/>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graphicFrame>
        <p:nvGraphicFramePr>
          <p:cNvPr id="9" name="Table 8"/>
          <p:cNvGraphicFramePr>
            <a:graphicFrameLocks noGrp="1"/>
          </p:cNvGraphicFramePr>
          <p:nvPr/>
        </p:nvGraphicFramePr>
        <p:xfrm>
          <a:off x="716593" y="1447800"/>
          <a:ext cx="7696200" cy="7416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1282700">
                  <a:extLst>
                    <a:ext uri="{9D8B030D-6E8A-4147-A177-3AD203B41FA5}">
                      <a16:colId xmlns:a16="http://schemas.microsoft.com/office/drawing/2014/main" val="20002"/>
                    </a:ext>
                  </a:extLst>
                </a:gridCol>
                <a:gridCol w="1282700">
                  <a:extLst>
                    <a:ext uri="{9D8B030D-6E8A-4147-A177-3AD203B41FA5}">
                      <a16:colId xmlns:a16="http://schemas.microsoft.com/office/drawing/2014/main" val="20003"/>
                    </a:ext>
                  </a:extLst>
                </a:gridCol>
                <a:gridCol w="1282700">
                  <a:extLst>
                    <a:ext uri="{9D8B030D-6E8A-4147-A177-3AD203B41FA5}">
                      <a16:colId xmlns:a16="http://schemas.microsoft.com/office/drawing/2014/main" val="20004"/>
                    </a:ext>
                  </a:extLst>
                </a:gridCol>
                <a:gridCol w="1282700">
                  <a:extLst>
                    <a:ext uri="{9D8B030D-6E8A-4147-A177-3AD203B41FA5}">
                      <a16:colId xmlns:a16="http://schemas.microsoft.com/office/drawing/2014/main" val="20005"/>
                    </a:ext>
                  </a:extLst>
                </a:gridCol>
              </a:tblGrid>
              <a:tr h="370840">
                <a:tc>
                  <a:txBody>
                    <a:bodyPr/>
                    <a:lstStyle/>
                    <a:p>
                      <a:r>
                        <a:rPr lang="en-US" dirty="0"/>
                        <a:t>Deaths:</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0"/>
                  </a:ext>
                </a:extLst>
              </a:tr>
              <a:tr h="370840">
                <a:tc>
                  <a:txBody>
                    <a:bodyPr/>
                    <a:lstStyle/>
                    <a:p>
                      <a:r>
                        <a:rPr lang="en-US" dirty="0"/>
                        <a:t>Frequencies</a:t>
                      </a:r>
                    </a:p>
                  </a:txBody>
                  <a:tcPr/>
                </a:tc>
                <a:tc>
                  <a:txBody>
                    <a:bodyPr/>
                    <a:lstStyle/>
                    <a:p>
                      <a:r>
                        <a:rPr lang="en-US" dirty="0"/>
                        <a:t>122</a:t>
                      </a:r>
                    </a:p>
                  </a:txBody>
                  <a:tcPr/>
                </a:tc>
                <a:tc>
                  <a:txBody>
                    <a:bodyPr/>
                    <a:lstStyle/>
                    <a:p>
                      <a:r>
                        <a:rPr lang="en-US" dirty="0"/>
                        <a:t>60</a:t>
                      </a:r>
                    </a:p>
                  </a:txBody>
                  <a:tcPr/>
                </a:tc>
                <a:tc>
                  <a:txBody>
                    <a:bodyPr/>
                    <a:lstStyle/>
                    <a:p>
                      <a:r>
                        <a:rPr lang="en-US" dirty="0"/>
                        <a:t>15</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1"/>
                  </a:ext>
                </a:extLst>
              </a:tr>
            </a:tbl>
          </a:graphicData>
        </a:graphic>
      </p:graphicFrame>
      <p:sp>
        <p:nvSpPr>
          <p:cNvPr id="12" name="Footer Placeholder 11">
            <a:extLst>
              <a:ext uri="{FF2B5EF4-FFF2-40B4-BE49-F238E27FC236}">
                <a16:creationId xmlns:a16="http://schemas.microsoft.com/office/drawing/2014/main" id="{08258D6C-B000-4AD3-A726-2A8B591FF390}"/>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5716745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Content Placeholder 1"/>
              <p:cNvGraphicFramePr>
                <a:graphicFrameLocks noGrp="1"/>
              </p:cNvGraphicFramePr>
              <p:nvPr>
                <p:ph idx="1"/>
                <p:extLst>
                  <p:ext uri="{D42A27DB-BD31-4B8C-83A1-F6EECF244321}">
                    <p14:modId xmlns:p14="http://schemas.microsoft.com/office/powerpoint/2010/main" val="838909404"/>
                  </p:ext>
                </p:extLst>
              </p:nvPr>
            </p:nvGraphicFramePr>
            <p:xfrm>
              <a:off x="533400" y="990600"/>
              <a:ext cx="8153400" cy="5222206"/>
            </p:xfrm>
            <a:graphic>
              <a:graphicData uri="http://schemas.openxmlformats.org/drawingml/2006/table">
                <a:tbl>
                  <a:tblPr firstRow="1" bandRow="1">
                    <a:tableStyleId>{5C22544A-7EE6-4342-B048-85BDC9FD1C3A}</a:tableStyleId>
                  </a:tblPr>
                  <a:tblGrid>
                    <a:gridCol w="905933">
                      <a:extLst>
                        <a:ext uri="{9D8B030D-6E8A-4147-A177-3AD203B41FA5}">
                          <a16:colId xmlns:a16="http://schemas.microsoft.com/office/drawing/2014/main" val="20000"/>
                        </a:ext>
                      </a:extLst>
                    </a:gridCol>
                    <a:gridCol w="4529667">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336990">
                    <a:tc>
                      <a:txBody>
                        <a:bodyPr/>
                        <a:lstStyle/>
                        <a:p>
                          <a:pPr algn="ctr"/>
                          <a:r>
                            <a:rPr lang="en-US" sz="2000" dirty="0"/>
                            <a:t> r</a:t>
                          </a:r>
                        </a:p>
                      </a:txBody>
                      <a:tcPr/>
                    </a:tc>
                    <a:tc>
                      <a:txBody>
                        <a:bodyPr/>
                        <a:lstStyle/>
                        <a:p>
                          <a:r>
                            <a:rPr lang="en-US" sz="2000" dirty="0"/>
                            <a:t>N.P(r)</a:t>
                          </a:r>
                        </a:p>
                      </a:txBody>
                      <a:tcPr/>
                    </a:tc>
                    <a:tc>
                      <a:txBody>
                        <a:bodyPr/>
                        <a:lstStyle/>
                        <a:p>
                          <a:pPr algn="ctr"/>
                          <a:r>
                            <a:rPr lang="en-US" sz="2000" dirty="0"/>
                            <a:t>Theoretical</a:t>
                          </a:r>
                          <a:r>
                            <a:rPr lang="en-US" sz="2000" baseline="0" dirty="0"/>
                            <a:t> frequencies</a:t>
                          </a:r>
                          <a:endParaRPr lang="en-US" sz="2000" dirty="0"/>
                        </a:p>
                      </a:txBody>
                      <a:tcPr/>
                    </a:tc>
                    <a:extLst>
                      <a:ext uri="{0D108BD9-81ED-4DB2-BD59-A6C34878D82A}">
                        <a16:rowId xmlns:a16="http://schemas.microsoft.com/office/drawing/2014/main" val="10000"/>
                      </a:ext>
                    </a:extLst>
                  </a:tr>
                  <a:tr h="596053">
                    <a:tc>
                      <a:txBody>
                        <a:bodyPr/>
                        <a:lstStyle/>
                        <a:p>
                          <a:pPr algn="ctr"/>
                          <a:endParaRPr lang="en-US" sz="2000" dirty="0"/>
                        </a:p>
                        <a:p>
                          <a:pPr algn="ctr"/>
                          <a:r>
                            <a:rPr lang="en-US" sz="2000" dirty="0"/>
                            <a:t>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ea typeface="Cambria Math"/>
                                      </a:rPr>
                                    </m:ctrlPr>
                                  </m:dPr>
                                  <m:e>
                                    <m:r>
                                      <a:rPr lang="en-US" sz="2000" b="0" i="1" smtClean="0">
                                        <a:latin typeface="Cambria Math"/>
                                        <a:ea typeface="Cambria Math"/>
                                      </a:rPr>
                                      <m:t>121.306</m:t>
                                    </m:r>
                                  </m:e>
                                </m:d>
                                <m:f>
                                  <m:fPr>
                                    <m:ctrlPr>
                                      <a:rPr lang="en-US" sz="2000" i="1">
                                        <a:latin typeface="Cambria Math" panose="02040503050406030204" pitchFamily="18" charset="0"/>
                                      </a:rPr>
                                    </m:ctrlPr>
                                  </m:fPr>
                                  <m:num>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0.5</m:t>
                                        </m:r>
                                        <m:r>
                                          <a:rPr lang="en-US" sz="2000" b="0" i="1" smtClean="0">
                                            <a:latin typeface="Cambria Math"/>
                                          </a:rPr>
                                          <m:t>)</m:t>
                                        </m:r>
                                      </m:e>
                                      <m:sup>
                                        <m:r>
                                          <a:rPr lang="en-US" sz="2000" b="0" i="1" smtClean="0">
                                            <a:latin typeface="Cambria Math"/>
                                          </a:rPr>
                                          <m:t>0</m:t>
                                        </m:r>
                                      </m:sup>
                                    </m:sSup>
                                  </m:num>
                                  <m:den>
                                    <m:r>
                                      <a:rPr lang="en-US" sz="2000" b="0" i="1" smtClean="0">
                                        <a:latin typeface="Cambria Math"/>
                                      </a:rPr>
                                      <m:t>0</m:t>
                                    </m:r>
                                    <m:r>
                                      <a:rPr lang="en-US" sz="2000" i="1">
                                        <a:latin typeface="Cambria Math"/>
                                        <a:ea typeface="Cambria Math"/>
                                      </a:rPr>
                                      <m:t>!</m:t>
                                    </m:r>
                                  </m:den>
                                </m:f>
                                <m:r>
                                  <a:rPr lang="en-US" sz="2000" b="0" i="1" smtClean="0">
                                    <a:latin typeface="Cambria Math"/>
                                    <a:ea typeface="Cambria Math"/>
                                  </a:rPr>
                                  <m:t>=121.306</m:t>
                                </m:r>
                              </m:oMath>
                            </m:oMathPara>
                          </a14:m>
                          <a:endParaRPr lang="en-US" sz="2000" dirty="0"/>
                        </a:p>
                      </a:txBody>
                      <a:tcPr/>
                    </a:tc>
                    <a:tc>
                      <a:txBody>
                        <a:bodyPr/>
                        <a:lstStyle/>
                        <a:p>
                          <a:pPr algn="ctr"/>
                          <a:endParaRPr lang="en-US" sz="2000" dirty="0"/>
                        </a:p>
                        <a:p>
                          <a:pPr algn="ctr"/>
                          <a:r>
                            <a:rPr lang="en-US" sz="2000" dirty="0"/>
                            <a:t>121</a:t>
                          </a:r>
                        </a:p>
                      </a:txBody>
                      <a:tcPr/>
                    </a:tc>
                    <a:extLst>
                      <a:ext uri="{0D108BD9-81ED-4DB2-BD59-A6C34878D82A}">
                        <a16:rowId xmlns:a16="http://schemas.microsoft.com/office/drawing/2014/main" val="10001"/>
                      </a:ext>
                    </a:extLst>
                  </a:tr>
                  <a:tr h="854896">
                    <a:tc>
                      <a:txBody>
                        <a:bodyPr/>
                        <a:lstStyle/>
                        <a:p>
                          <a:pPr algn="ctr"/>
                          <a:endParaRPr lang="en-US" sz="2000" dirty="0"/>
                        </a:p>
                        <a:p>
                          <a:pPr algn="ctr"/>
                          <a:r>
                            <a:rPr lang="en-US" sz="2000"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ea typeface="Cambria Math"/>
                                      </a:rPr>
                                    </m:ctrlPr>
                                  </m:dPr>
                                  <m:e>
                                    <m:r>
                                      <a:rPr lang="en-US" sz="2000" b="0" i="1" smtClean="0">
                                        <a:latin typeface="Cambria Math"/>
                                        <a:ea typeface="Cambria Math"/>
                                      </a:rPr>
                                      <m:t>121.306</m:t>
                                    </m:r>
                                  </m:e>
                                </m:d>
                                <m:f>
                                  <m:fPr>
                                    <m:ctrlPr>
                                      <a:rPr lang="en-US" sz="2000" i="1">
                                        <a:latin typeface="Cambria Math" panose="02040503050406030204" pitchFamily="18" charset="0"/>
                                      </a:rPr>
                                    </m:ctrlPr>
                                  </m:fPr>
                                  <m:num>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0.5</m:t>
                                        </m:r>
                                        <m:r>
                                          <a:rPr lang="en-US" sz="2000" b="0" i="1" smtClean="0">
                                            <a:latin typeface="Cambria Math"/>
                                          </a:rPr>
                                          <m:t>)</m:t>
                                        </m:r>
                                      </m:e>
                                      <m:sup>
                                        <m:r>
                                          <a:rPr lang="en-US" sz="2000" b="0" i="1" smtClean="0">
                                            <a:latin typeface="Cambria Math"/>
                                          </a:rPr>
                                          <m:t>1</m:t>
                                        </m:r>
                                      </m:sup>
                                    </m:sSup>
                                  </m:num>
                                  <m:den>
                                    <m:r>
                                      <a:rPr lang="en-US" sz="2000" b="0" i="1" smtClean="0">
                                        <a:latin typeface="Cambria Math"/>
                                      </a:rPr>
                                      <m:t>1</m:t>
                                    </m:r>
                                    <m:r>
                                      <a:rPr lang="en-US" sz="2000" i="1">
                                        <a:latin typeface="Cambria Math"/>
                                        <a:ea typeface="Cambria Math"/>
                                      </a:rPr>
                                      <m:t>!</m:t>
                                    </m:r>
                                  </m:den>
                                </m:f>
                                <m:r>
                                  <a:rPr lang="en-US" sz="2000" b="0" i="1" smtClean="0">
                                    <a:latin typeface="Cambria Math"/>
                                    <a:ea typeface="Cambria Math"/>
                                  </a:rPr>
                                  <m:t>=60.653</m:t>
                                </m:r>
                              </m:oMath>
                            </m:oMathPara>
                          </a14:m>
                          <a:endParaRPr lang="en-US" sz="2000" dirty="0"/>
                        </a:p>
                      </a:txBody>
                      <a:tcPr/>
                    </a:tc>
                    <a:tc>
                      <a:txBody>
                        <a:bodyPr/>
                        <a:lstStyle/>
                        <a:p>
                          <a:pPr algn="ctr"/>
                          <a:endParaRPr lang="en-US" sz="2000" dirty="0"/>
                        </a:p>
                        <a:p>
                          <a:pPr algn="ctr"/>
                          <a:r>
                            <a:rPr lang="en-US" sz="2000" dirty="0"/>
                            <a:t>61</a:t>
                          </a:r>
                        </a:p>
                      </a:txBody>
                      <a:tcPr/>
                    </a:tc>
                    <a:extLst>
                      <a:ext uri="{0D108BD9-81ED-4DB2-BD59-A6C34878D82A}">
                        <a16:rowId xmlns:a16="http://schemas.microsoft.com/office/drawing/2014/main" val="10002"/>
                      </a:ext>
                    </a:extLst>
                  </a:tr>
                  <a:tr h="855437">
                    <a:tc>
                      <a:txBody>
                        <a:bodyPr/>
                        <a:lstStyle/>
                        <a:p>
                          <a:pPr algn="ctr"/>
                          <a:endParaRPr lang="en-US" sz="2000" dirty="0"/>
                        </a:p>
                        <a:p>
                          <a:pPr algn="ctr"/>
                          <a:r>
                            <a:rPr lang="en-US" sz="2000"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ea typeface="Cambria Math"/>
                                      </a:rPr>
                                    </m:ctrlPr>
                                  </m:dPr>
                                  <m:e>
                                    <m:r>
                                      <a:rPr lang="en-US" sz="2000" b="0" i="1" smtClean="0">
                                        <a:latin typeface="Cambria Math"/>
                                        <a:ea typeface="Cambria Math"/>
                                      </a:rPr>
                                      <m:t>121.306</m:t>
                                    </m:r>
                                  </m:e>
                                </m:d>
                                <m:f>
                                  <m:fPr>
                                    <m:ctrlPr>
                                      <a:rPr lang="en-US" sz="2000" i="1">
                                        <a:latin typeface="Cambria Math" panose="02040503050406030204" pitchFamily="18" charset="0"/>
                                      </a:rPr>
                                    </m:ctrlPr>
                                  </m:fPr>
                                  <m:num>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0.5</m:t>
                                        </m:r>
                                        <m:r>
                                          <a:rPr lang="en-US" sz="2000" b="0" i="1" smtClean="0">
                                            <a:latin typeface="Cambria Math"/>
                                          </a:rPr>
                                          <m:t>)</m:t>
                                        </m:r>
                                      </m:e>
                                      <m:sup>
                                        <m:r>
                                          <a:rPr lang="en-US" sz="2000" b="0" i="1" smtClean="0">
                                            <a:latin typeface="Cambria Math"/>
                                          </a:rPr>
                                          <m:t>2</m:t>
                                        </m:r>
                                      </m:sup>
                                    </m:sSup>
                                  </m:num>
                                  <m:den>
                                    <m:r>
                                      <a:rPr lang="en-US" sz="2000" b="0" i="1" smtClean="0">
                                        <a:latin typeface="Cambria Math"/>
                                      </a:rPr>
                                      <m:t>2</m:t>
                                    </m:r>
                                    <m:r>
                                      <a:rPr lang="en-US" sz="2000" i="1">
                                        <a:latin typeface="Cambria Math"/>
                                        <a:ea typeface="Cambria Math"/>
                                      </a:rPr>
                                      <m:t>!</m:t>
                                    </m:r>
                                  </m:den>
                                </m:f>
                                <m:r>
                                  <a:rPr lang="en-US" sz="2000" b="0" i="1" smtClean="0">
                                    <a:latin typeface="Cambria Math"/>
                                    <a:ea typeface="Cambria Math"/>
                                  </a:rPr>
                                  <m:t>=15.163</m:t>
                                </m:r>
                              </m:oMath>
                            </m:oMathPara>
                          </a14:m>
                          <a:endParaRPr lang="en-US" sz="2000" dirty="0"/>
                        </a:p>
                      </a:txBody>
                      <a:tcPr/>
                    </a:tc>
                    <a:tc>
                      <a:txBody>
                        <a:bodyPr/>
                        <a:lstStyle/>
                        <a:p>
                          <a:pPr algn="ctr"/>
                          <a:endParaRPr lang="en-US" sz="2000" dirty="0"/>
                        </a:p>
                        <a:p>
                          <a:pPr algn="ctr"/>
                          <a:r>
                            <a:rPr lang="en-US" sz="2000" dirty="0"/>
                            <a:t>15</a:t>
                          </a:r>
                        </a:p>
                      </a:txBody>
                      <a:tcPr/>
                    </a:tc>
                    <a:extLst>
                      <a:ext uri="{0D108BD9-81ED-4DB2-BD59-A6C34878D82A}">
                        <a16:rowId xmlns:a16="http://schemas.microsoft.com/office/drawing/2014/main" val="10003"/>
                      </a:ext>
                    </a:extLst>
                  </a:tr>
                  <a:tr h="857165">
                    <a:tc>
                      <a:txBody>
                        <a:bodyPr/>
                        <a:lstStyle/>
                        <a:p>
                          <a:pPr algn="ctr"/>
                          <a:endParaRPr lang="en-US" sz="2000" dirty="0"/>
                        </a:p>
                        <a:p>
                          <a:pPr algn="ctr"/>
                          <a:r>
                            <a:rPr lang="en-US" sz="2000"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ea typeface="Cambria Math"/>
                                      </a:rPr>
                                    </m:ctrlPr>
                                  </m:dPr>
                                  <m:e>
                                    <m:r>
                                      <a:rPr lang="en-US" sz="2000" b="0" i="1" smtClean="0">
                                        <a:latin typeface="Cambria Math"/>
                                        <a:ea typeface="Cambria Math"/>
                                      </a:rPr>
                                      <m:t>121.306</m:t>
                                    </m:r>
                                  </m:e>
                                </m:d>
                                <m:f>
                                  <m:fPr>
                                    <m:ctrlPr>
                                      <a:rPr lang="en-US" sz="2000" i="1">
                                        <a:latin typeface="Cambria Math" panose="02040503050406030204" pitchFamily="18" charset="0"/>
                                      </a:rPr>
                                    </m:ctrlPr>
                                  </m:fPr>
                                  <m:num>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0.5</m:t>
                                        </m:r>
                                        <m:r>
                                          <a:rPr lang="en-US" sz="2000" b="0" i="1" smtClean="0">
                                            <a:latin typeface="Cambria Math"/>
                                          </a:rPr>
                                          <m:t>)</m:t>
                                        </m:r>
                                      </m:e>
                                      <m:sup>
                                        <m:r>
                                          <a:rPr lang="en-US" sz="2000" b="0" i="1" smtClean="0">
                                            <a:latin typeface="Cambria Math"/>
                                          </a:rPr>
                                          <m:t>3</m:t>
                                        </m:r>
                                      </m:sup>
                                    </m:sSup>
                                  </m:num>
                                  <m:den>
                                    <m:r>
                                      <a:rPr lang="en-US" sz="2000" b="0" i="1" smtClean="0">
                                        <a:latin typeface="Cambria Math"/>
                                      </a:rPr>
                                      <m:t>3</m:t>
                                    </m:r>
                                    <m:r>
                                      <a:rPr lang="en-US" sz="2000" i="1">
                                        <a:latin typeface="Cambria Math"/>
                                        <a:ea typeface="Cambria Math"/>
                                      </a:rPr>
                                      <m:t>!</m:t>
                                    </m:r>
                                  </m:den>
                                </m:f>
                                <m:r>
                                  <a:rPr lang="en-US" sz="2000" b="0" i="0" smtClean="0">
                                    <a:latin typeface="Cambria Math"/>
                                    <a:ea typeface="Cambria Math"/>
                                  </a:rPr>
                                  <m:t>=2.527</m:t>
                                </m:r>
                              </m:oMath>
                            </m:oMathPara>
                          </a14:m>
                          <a:endParaRPr lang="en-US" sz="2000" dirty="0"/>
                        </a:p>
                      </a:txBody>
                      <a:tcPr/>
                    </a:tc>
                    <a:tc>
                      <a:txBody>
                        <a:bodyPr/>
                        <a:lstStyle/>
                        <a:p>
                          <a:pPr algn="ctr"/>
                          <a:endParaRPr lang="en-US" sz="2000" dirty="0"/>
                        </a:p>
                        <a:p>
                          <a:pPr algn="ctr"/>
                          <a:r>
                            <a:rPr lang="en-US" sz="2000" dirty="0"/>
                            <a:t>3</a:t>
                          </a:r>
                        </a:p>
                      </a:txBody>
                      <a:tcPr/>
                    </a:tc>
                    <a:extLst>
                      <a:ext uri="{0D108BD9-81ED-4DB2-BD59-A6C34878D82A}">
                        <a16:rowId xmlns:a16="http://schemas.microsoft.com/office/drawing/2014/main" val="10004"/>
                      </a:ext>
                    </a:extLst>
                  </a:tr>
                  <a:tr h="854356">
                    <a:tc>
                      <a:txBody>
                        <a:bodyPr/>
                        <a:lstStyle/>
                        <a:p>
                          <a:pPr algn="ctr"/>
                          <a:endParaRPr lang="en-US" sz="2000" dirty="0"/>
                        </a:p>
                        <a:p>
                          <a:pPr algn="ctr"/>
                          <a:r>
                            <a:rPr lang="en-US" sz="2000" dirty="0"/>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ea typeface="Cambria Math"/>
                                      </a:rPr>
                                    </m:ctrlPr>
                                  </m:dPr>
                                  <m:e>
                                    <m:r>
                                      <a:rPr lang="en-US" sz="2000" b="0" i="1" smtClean="0">
                                        <a:latin typeface="Cambria Math"/>
                                        <a:ea typeface="Cambria Math"/>
                                      </a:rPr>
                                      <m:t>121.306</m:t>
                                    </m:r>
                                  </m:e>
                                </m:d>
                                <m:f>
                                  <m:fPr>
                                    <m:ctrlPr>
                                      <a:rPr lang="en-US" sz="2000" i="1">
                                        <a:latin typeface="Cambria Math" panose="02040503050406030204" pitchFamily="18" charset="0"/>
                                      </a:rPr>
                                    </m:ctrlPr>
                                  </m:fPr>
                                  <m:num>
                                    <m:r>
                                      <a:rPr lang="en-US" sz="2000" b="0" i="1" smtClean="0">
                                        <a:latin typeface="Cambria Math"/>
                                      </a:rPr>
                                      <m:t>(</m:t>
                                    </m:r>
                                    <m:sSup>
                                      <m:sSupPr>
                                        <m:ctrlPr>
                                          <a:rPr lang="en-US" sz="2000" i="1">
                                            <a:latin typeface="Cambria Math" panose="02040503050406030204" pitchFamily="18" charset="0"/>
                                          </a:rPr>
                                        </m:ctrlPr>
                                      </m:sSupPr>
                                      <m:e>
                                        <m:r>
                                          <a:rPr lang="en-US" sz="2000" i="1">
                                            <a:latin typeface="Cambria Math"/>
                                          </a:rPr>
                                          <m:t>0.5</m:t>
                                        </m:r>
                                        <m:r>
                                          <a:rPr lang="en-US" sz="2000" b="0" i="1" smtClean="0">
                                            <a:latin typeface="Cambria Math"/>
                                          </a:rPr>
                                          <m:t>)</m:t>
                                        </m:r>
                                      </m:e>
                                      <m:sup>
                                        <m:r>
                                          <a:rPr lang="en-US" sz="2000" b="0" i="1" smtClean="0">
                                            <a:latin typeface="Cambria Math"/>
                                          </a:rPr>
                                          <m:t>4</m:t>
                                        </m:r>
                                      </m:sup>
                                    </m:sSup>
                                  </m:num>
                                  <m:den>
                                    <m:r>
                                      <a:rPr lang="en-US" sz="2000" b="0" i="1" smtClean="0">
                                        <a:latin typeface="Cambria Math"/>
                                      </a:rPr>
                                      <m:t>4</m:t>
                                    </m:r>
                                    <m:r>
                                      <a:rPr lang="en-US" sz="2000" i="1">
                                        <a:latin typeface="Cambria Math"/>
                                        <a:ea typeface="Cambria Math"/>
                                      </a:rPr>
                                      <m:t>!</m:t>
                                    </m:r>
                                  </m:den>
                                </m:f>
                                <m:r>
                                  <a:rPr lang="en-US" sz="2000" b="0" i="0" smtClean="0">
                                    <a:latin typeface="Cambria Math"/>
                                    <a:ea typeface="Cambria Math"/>
                                  </a:rPr>
                                  <m:t>=0.3159</m:t>
                                </m:r>
                              </m:oMath>
                            </m:oMathPara>
                          </a14:m>
                          <a:endParaRPr lang="en-US" sz="2000" dirty="0"/>
                        </a:p>
                      </a:txBody>
                      <a:tcPr/>
                    </a:tc>
                    <a:tc>
                      <a:txBody>
                        <a:bodyPr/>
                        <a:lstStyle/>
                        <a:p>
                          <a:pPr algn="ctr"/>
                          <a:endParaRPr lang="en-US" sz="2000" dirty="0"/>
                        </a:p>
                        <a:p>
                          <a:pPr algn="ctr"/>
                          <a:r>
                            <a:rPr lang="en-US" sz="2000" dirty="0"/>
                            <a:t>0</a:t>
                          </a:r>
                        </a:p>
                      </a:txBody>
                      <a:tcPr/>
                    </a:tc>
                    <a:extLst>
                      <a:ext uri="{0D108BD9-81ED-4DB2-BD59-A6C34878D82A}">
                        <a16:rowId xmlns:a16="http://schemas.microsoft.com/office/drawing/2014/main" val="10005"/>
                      </a:ext>
                    </a:extLst>
                  </a:tr>
                  <a:tr h="336990">
                    <a:tc>
                      <a:txBody>
                        <a:bodyPr/>
                        <a:lstStyle/>
                        <a:p>
                          <a:pPr algn="ctr"/>
                          <a:endParaRPr lang="en-US" sz="2000" dirty="0"/>
                        </a:p>
                      </a:txBody>
                      <a:tcPr/>
                    </a:tc>
                    <a:tc>
                      <a:txBody>
                        <a:bodyPr/>
                        <a:lstStyle/>
                        <a:p>
                          <a:endParaRPr lang="en-US" sz="2000"/>
                        </a:p>
                      </a:txBody>
                      <a:tcPr/>
                    </a:tc>
                    <a:tc>
                      <a:txBody>
                        <a:bodyPr/>
                        <a:lstStyle/>
                        <a:p>
                          <a:pPr algn="ctr"/>
                          <a:r>
                            <a:rPr lang="en-US" sz="2000" dirty="0"/>
                            <a:t>Total=200</a:t>
                          </a:r>
                        </a:p>
                      </a:txBody>
                      <a:tcPr/>
                    </a:tc>
                    <a:extLst>
                      <a:ext uri="{0D108BD9-81ED-4DB2-BD59-A6C34878D82A}">
                        <a16:rowId xmlns:a16="http://schemas.microsoft.com/office/drawing/2014/main" val="10006"/>
                      </a:ext>
                    </a:extLst>
                  </a:tr>
                </a:tbl>
              </a:graphicData>
            </a:graphic>
          </p:graphicFrame>
        </mc:Choice>
        <mc:Fallback xmlns="">
          <p:graphicFrame>
            <p:nvGraphicFramePr>
              <p:cNvPr id="2" name="Content Placeholder 1"/>
              <p:cNvGraphicFramePr>
                <a:graphicFrameLocks noGrp="1"/>
              </p:cNvGraphicFramePr>
              <p:nvPr>
                <p:ph idx="1"/>
                <p:extLst>
                  <p:ext uri="{D42A27DB-BD31-4B8C-83A1-F6EECF244321}">
                    <p14:modId xmlns:p14="http://schemas.microsoft.com/office/powerpoint/2010/main" val="838909404"/>
                  </p:ext>
                </p:extLst>
              </p:nvPr>
            </p:nvGraphicFramePr>
            <p:xfrm>
              <a:off x="533400" y="990600"/>
              <a:ext cx="8153400" cy="5222206"/>
            </p:xfrm>
            <a:graphic>
              <a:graphicData uri="http://schemas.openxmlformats.org/drawingml/2006/table">
                <a:tbl>
                  <a:tblPr firstRow="1" bandRow="1">
                    <a:tableStyleId>{5C22544A-7EE6-4342-B048-85BDC9FD1C3A}</a:tableStyleId>
                  </a:tblPr>
                  <a:tblGrid>
                    <a:gridCol w="905933">
                      <a:extLst>
                        <a:ext uri="{9D8B030D-6E8A-4147-A177-3AD203B41FA5}">
                          <a16:colId xmlns:a16="http://schemas.microsoft.com/office/drawing/2014/main" val="20000"/>
                        </a:ext>
                      </a:extLst>
                    </a:gridCol>
                    <a:gridCol w="4529667">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701040">
                    <a:tc>
                      <a:txBody>
                        <a:bodyPr/>
                        <a:lstStyle/>
                        <a:p>
                          <a:pPr algn="ctr"/>
                          <a:r>
                            <a:rPr lang="en-US" sz="2000" dirty="0"/>
                            <a:t> r</a:t>
                          </a:r>
                        </a:p>
                      </a:txBody>
                      <a:tcPr/>
                    </a:tc>
                    <a:tc>
                      <a:txBody>
                        <a:bodyPr/>
                        <a:lstStyle/>
                        <a:p>
                          <a:r>
                            <a:rPr lang="en-US" sz="2000" dirty="0"/>
                            <a:t>N.P(r)</a:t>
                          </a:r>
                        </a:p>
                      </a:txBody>
                      <a:tcPr/>
                    </a:tc>
                    <a:tc>
                      <a:txBody>
                        <a:bodyPr/>
                        <a:lstStyle/>
                        <a:p>
                          <a:pPr algn="ctr"/>
                          <a:r>
                            <a:rPr lang="en-US" sz="2000" dirty="0"/>
                            <a:t>Theoretical</a:t>
                          </a:r>
                          <a:r>
                            <a:rPr lang="en-US" sz="2000" baseline="0" dirty="0"/>
                            <a:t> frequencies</a:t>
                          </a:r>
                          <a:endParaRPr lang="en-US" sz="2000" dirty="0"/>
                        </a:p>
                      </a:txBody>
                      <a:tcPr/>
                    </a:tc>
                    <a:extLst>
                      <a:ext uri="{0D108BD9-81ED-4DB2-BD59-A6C34878D82A}">
                        <a16:rowId xmlns:a16="http://schemas.microsoft.com/office/drawing/2014/main" val="10000"/>
                      </a:ext>
                    </a:extLst>
                  </a:tr>
                  <a:tr h="703072">
                    <a:tc>
                      <a:txBody>
                        <a:bodyPr/>
                        <a:lstStyle/>
                        <a:p>
                          <a:pPr algn="ctr"/>
                          <a:endParaRPr lang="en-US" sz="2000" dirty="0"/>
                        </a:p>
                        <a:p>
                          <a:pPr algn="ctr"/>
                          <a:r>
                            <a:rPr lang="en-US" sz="2000" dirty="0"/>
                            <a:t>0</a:t>
                          </a:r>
                        </a:p>
                      </a:txBody>
                      <a:tcPr/>
                    </a:tc>
                    <a:tc>
                      <a:txBody>
                        <a:bodyPr/>
                        <a:lstStyle/>
                        <a:p>
                          <a:endParaRPr lang="en-US"/>
                        </a:p>
                      </a:txBody>
                      <a:tcPr>
                        <a:blipFill>
                          <a:blip r:embed="rId2"/>
                          <a:stretch>
                            <a:fillRect l="-20188" t="-103448" r="-60700" b="-555172"/>
                          </a:stretch>
                        </a:blipFill>
                      </a:tcPr>
                    </a:tc>
                    <a:tc>
                      <a:txBody>
                        <a:bodyPr/>
                        <a:lstStyle/>
                        <a:p>
                          <a:pPr algn="ctr"/>
                          <a:endParaRPr lang="en-US" sz="2000" dirty="0"/>
                        </a:p>
                        <a:p>
                          <a:pPr algn="ctr"/>
                          <a:r>
                            <a:rPr lang="en-US" sz="2000" dirty="0"/>
                            <a:t>121</a:t>
                          </a:r>
                        </a:p>
                      </a:txBody>
                      <a:tcPr/>
                    </a:tc>
                    <a:extLst>
                      <a:ext uri="{0D108BD9-81ED-4DB2-BD59-A6C34878D82A}">
                        <a16:rowId xmlns:a16="http://schemas.microsoft.com/office/drawing/2014/main" val="10001"/>
                      </a:ext>
                    </a:extLst>
                  </a:tr>
                  <a:tr h="854896">
                    <a:tc>
                      <a:txBody>
                        <a:bodyPr/>
                        <a:lstStyle/>
                        <a:p>
                          <a:pPr algn="ctr"/>
                          <a:endParaRPr lang="en-US" sz="2000" dirty="0"/>
                        </a:p>
                        <a:p>
                          <a:pPr algn="ctr"/>
                          <a:r>
                            <a:rPr lang="en-US" sz="2000" dirty="0"/>
                            <a:t>1</a:t>
                          </a:r>
                        </a:p>
                      </a:txBody>
                      <a:tcPr/>
                    </a:tc>
                    <a:tc>
                      <a:txBody>
                        <a:bodyPr/>
                        <a:lstStyle/>
                        <a:p>
                          <a:endParaRPr lang="en-US"/>
                        </a:p>
                      </a:txBody>
                      <a:tcPr>
                        <a:blipFill>
                          <a:blip r:embed="rId2"/>
                          <a:stretch>
                            <a:fillRect l="-20188" t="-168571" r="-60700" b="-360000"/>
                          </a:stretch>
                        </a:blipFill>
                      </a:tcPr>
                    </a:tc>
                    <a:tc>
                      <a:txBody>
                        <a:bodyPr/>
                        <a:lstStyle/>
                        <a:p>
                          <a:pPr algn="ctr"/>
                          <a:endParaRPr lang="en-US" sz="2000" dirty="0"/>
                        </a:p>
                        <a:p>
                          <a:pPr algn="ctr"/>
                          <a:r>
                            <a:rPr lang="en-US" sz="2000" dirty="0"/>
                            <a:t>61</a:t>
                          </a:r>
                        </a:p>
                      </a:txBody>
                      <a:tcPr/>
                    </a:tc>
                    <a:extLst>
                      <a:ext uri="{0D108BD9-81ED-4DB2-BD59-A6C34878D82A}">
                        <a16:rowId xmlns:a16="http://schemas.microsoft.com/office/drawing/2014/main" val="10002"/>
                      </a:ext>
                    </a:extLst>
                  </a:tr>
                  <a:tr h="855437">
                    <a:tc>
                      <a:txBody>
                        <a:bodyPr/>
                        <a:lstStyle/>
                        <a:p>
                          <a:pPr algn="ctr"/>
                          <a:endParaRPr lang="en-US" sz="2000" dirty="0"/>
                        </a:p>
                        <a:p>
                          <a:pPr algn="ctr"/>
                          <a:r>
                            <a:rPr lang="en-US" sz="2000" dirty="0"/>
                            <a:t>2</a:t>
                          </a:r>
                        </a:p>
                      </a:txBody>
                      <a:tcPr/>
                    </a:tc>
                    <a:tc>
                      <a:txBody>
                        <a:bodyPr/>
                        <a:lstStyle/>
                        <a:p>
                          <a:endParaRPr lang="en-US"/>
                        </a:p>
                      </a:txBody>
                      <a:tcPr>
                        <a:blipFill>
                          <a:blip r:embed="rId2"/>
                          <a:stretch>
                            <a:fillRect l="-20188" t="-266667" r="-60700" b="-257447"/>
                          </a:stretch>
                        </a:blipFill>
                      </a:tcPr>
                    </a:tc>
                    <a:tc>
                      <a:txBody>
                        <a:bodyPr/>
                        <a:lstStyle/>
                        <a:p>
                          <a:pPr algn="ctr"/>
                          <a:endParaRPr lang="en-US" sz="2000" dirty="0"/>
                        </a:p>
                        <a:p>
                          <a:pPr algn="ctr"/>
                          <a:r>
                            <a:rPr lang="en-US" sz="2000" dirty="0"/>
                            <a:t>15</a:t>
                          </a:r>
                        </a:p>
                      </a:txBody>
                      <a:tcPr/>
                    </a:tc>
                    <a:extLst>
                      <a:ext uri="{0D108BD9-81ED-4DB2-BD59-A6C34878D82A}">
                        <a16:rowId xmlns:a16="http://schemas.microsoft.com/office/drawing/2014/main" val="10003"/>
                      </a:ext>
                    </a:extLst>
                  </a:tr>
                  <a:tr h="857165">
                    <a:tc>
                      <a:txBody>
                        <a:bodyPr/>
                        <a:lstStyle/>
                        <a:p>
                          <a:pPr algn="ctr"/>
                          <a:endParaRPr lang="en-US" sz="2000" dirty="0"/>
                        </a:p>
                        <a:p>
                          <a:pPr algn="ctr"/>
                          <a:r>
                            <a:rPr lang="en-US" sz="2000" dirty="0"/>
                            <a:t>3</a:t>
                          </a:r>
                        </a:p>
                      </a:txBody>
                      <a:tcPr/>
                    </a:tc>
                    <a:tc>
                      <a:txBody>
                        <a:bodyPr/>
                        <a:lstStyle/>
                        <a:p>
                          <a:endParaRPr lang="en-US"/>
                        </a:p>
                      </a:txBody>
                      <a:tcPr>
                        <a:blipFill>
                          <a:blip r:embed="rId2"/>
                          <a:stretch>
                            <a:fillRect l="-20188" t="-366667" r="-60700" b="-157447"/>
                          </a:stretch>
                        </a:blipFill>
                      </a:tcPr>
                    </a:tc>
                    <a:tc>
                      <a:txBody>
                        <a:bodyPr/>
                        <a:lstStyle/>
                        <a:p>
                          <a:pPr algn="ctr"/>
                          <a:endParaRPr lang="en-US" sz="2000" dirty="0"/>
                        </a:p>
                        <a:p>
                          <a:pPr algn="ctr"/>
                          <a:r>
                            <a:rPr lang="en-US" sz="2000" dirty="0"/>
                            <a:t>3</a:t>
                          </a:r>
                        </a:p>
                      </a:txBody>
                      <a:tcPr/>
                    </a:tc>
                    <a:extLst>
                      <a:ext uri="{0D108BD9-81ED-4DB2-BD59-A6C34878D82A}">
                        <a16:rowId xmlns:a16="http://schemas.microsoft.com/office/drawing/2014/main" val="10004"/>
                      </a:ext>
                    </a:extLst>
                  </a:tr>
                  <a:tr h="854356">
                    <a:tc>
                      <a:txBody>
                        <a:bodyPr/>
                        <a:lstStyle/>
                        <a:p>
                          <a:pPr algn="ctr"/>
                          <a:endParaRPr lang="en-US" sz="2000" dirty="0"/>
                        </a:p>
                        <a:p>
                          <a:pPr algn="ctr"/>
                          <a:r>
                            <a:rPr lang="en-US" sz="2000" dirty="0"/>
                            <a:t>4</a:t>
                          </a:r>
                        </a:p>
                      </a:txBody>
                      <a:tcPr/>
                    </a:tc>
                    <a:tc>
                      <a:txBody>
                        <a:bodyPr/>
                        <a:lstStyle/>
                        <a:p>
                          <a:endParaRPr lang="en-US"/>
                        </a:p>
                      </a:txBody>
                      <a:tcPr>
                        <a:blipFill>
                          <a:blip r:embed="rId2"/>
                          <a:stretch>
                            <a:fillRect l="-20188" t="-470000" r="-60700" b="-58571"/>
                          </a:stretch>
                        </a:blipFill>
                      </a:tcPr>
                    </a:tc>
                    <a:tc>
                      <a:txBody>
                        <a:bodyPr/>
                        <a:lstStyle/>
                        <a:p>
                          <a:pPr algn="ctr"/>
                          <a:endParaRPr lang="en-US" sz="2000" dirty="0"/>
                        </a:p>
                        <a:p>
                          <a:pPr algn="ctr"/>
                          <a:r>
                            <a:rPr lang="en-US" sz="2000" dirty="0"/>
                            <a:t>0</a:t>
                          </a:r>
                        </a:p>
                      </a:txBody>
                      <a:tcPr/>
                    </a:tc>
                    <a:extLst>
                      <a:ext uri="{0D108BD9-81ED-4DB2-BD59-A6C34878D82A}">
                        <a16:rowId xmlns:a16="http://schemas.microsoft.com/office/drawing/2014/main" val="10005"/>
                      </a:ext>
                    </a:extLst>
                  </a:tr>
                  <a:tr h="396240">
                    <a:tc>
                      <a:txBody>
                        <a:bodyPr/>
                        <a:lstStyle/>
                        <a:p>
                          <a:pPr algn="ctr"/>
                          <a:endParaRPr lang="en-US" sz="2000" dirty="0"/>
                        </a:p>
                      </a:txBody>
                      <a:tcPr/>
                    </a:tc>
                    <a:tc>
                      <a:txBody>
                        <a:bodyPr/>
                        <a:lstStyle/>
                        <a:p>
                          <a:endParaRPr lang="en-US" sz="2000"/>
                        </a:p>
                      </a:txBody>
                      <a:tcPr/>
                    </a:tc>
                    <a:tc>
                      <a:txBody>
                        <a:bodyPr/>
                        <a:lstStyle/>
                        <a:p>
                          <a:pPr algn="ctr"/>
                          <a:r>
                            <a:rPr lang="en-US" sz="2000" dirty="0"/>
                            <a:t>Total=200</a:t>
                          </a:r>
                        </a:p>
                      </a:txBody>
                      <a:tcPr/>
                    </a:tc>
                    <a:extLst>
                      <a:ext uri="{0D108BD9-81ED-4DB2-BD59-A6C34878D82A}">
                        <a16:rowId xmlns:a16="http://schemas.microsoft.com/office/drawing/2014/main" val="10006"/>
                      </a:ext>
                    </a:extLst>
                  </a:tr>
                </a:tbl>
              </a:graphicData>
            </a:graphic>
          </p:graphicFrame>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9284F528-62FF-4CD1-A58F-9E9C314551B8}"/>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2622642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anose="05000000000000000000" pitchFamily="2" charset="2"/>
              <a:buChar char="ü"/>
            </a:pPr>
            <a:r>
              <a:rPr lang="en-US" sz="2200" dirty="0"/>
              <a:t>Mathematical expectation</a:t>
            </a:r>
          </a:p>
          <a:p>
            <a:pPr lvl="0">
              <a:buFont typeface="Wingdings" pitchFamily="2" charset="2"/>
              <a:buChar char="ü"/>
            </a:pPr>
            <a:r>
              <a:rPr lang="en-US" sz="2200" dirty="0"/>
              <a:t>Mean</a:t>
            </a:r>
          </a:p>
          <a:p>
            <a:pPr lvl="0">
              <a:buFont typeface="Wingdings" pitchFamily="2" charset="2"/>
              <a:buChar char="ü"/>
            </a:pPr>
            <a:r>
              <a:rPr lang="en-US" sz="2200" dirty="0"/>
              <a:t>Variance</a:t>
            </a:r>
          </a:p>
          <a:p>
            <a:pPr lvl="0">
              <a:buFont typeface="Wingdings" pitchFamily="2" charset="2"/>
              <a:buChar char="ü"/>
            </a:pPr>
            <a:r>
              <a:rPr lang="en-US" sz="2200" dirty="0"/>
              <a:t>Moment Generating Function</a:t>
            </a:r>
          </a:p>
          <a:p>
            <a:pPr algn="just">
              <a:buFont typeface="Wingdings" pitchFamily="2" charset="2"/>
              <a:buChar char="ü"/>
            </a:pPr>
            <a:r>
              <a:rPr lang="en-US" sz="2200" dirty="0"/>
              <a:t>Binomial distribution</a:t>
            </a:r>
          </a:p>
          <a:p>
            <a:pPr algn="just">
              <a:buFont typeface="Wingdings" pitchFamily="2" charset="2"/>
              <a:buChar char="ü"/>
            </a:pPr>
            <a:r>
              <a:rPr lang="en-US" sz="2200" dirty="0"/>
              <a:t>Poisson distribution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Recap (CO4)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02FB1CB2-1E16-4A71-A45E-CB622C70B080}"/>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0250198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r>
              <a:rPr lang="en-US" sz="2200" dirty="0"/>
              <a:t>To define the probability density function of a </a:t>
            </a:r>
            <a:r>
              <a:rPr lang="en-US" sz="2200" b="1" dirty="0"/>
              <a:t>normal</a:t>
            </a:r>
            <a:r>
              <a:rPr lang="en-US" sz="2200" dirty="0"/>
              <a:t> random variable. </a:t>
            </a:r>
          </a:p>
          <a:p>
            <a:r>
              <a:rPr lang="en-US" sz="2200" dirty="0"/>
              <a:t>To learn the characteristics of a typical </a:t>
            </a:r>
            <a:r>
              <a:rPr lang="en-US" sz="2200" b="1" dirty="0"/>
              <a:t>normal curve</a:t>
            </a:r>
            <a:r>
              <a:rPr lang="en-US" sz="2200" dirty="0"/>
              <a:t>. </a:t>
            </a:r>
          </a:p>
          <a:p>
            <a:r>
              <a:rPr lang="en-US" sz="2200" dirty="0"/>
              <a:t> To explore the key properties, such as the moment-generating function, mean and variance, of a </a:t>
            </a:r>
            <a:r>
              <a:rPr lang="en-US" sz="2200" b="1" dirty="0"/>
              <a:t>normal</a:t>
            </a:r>
            <a:r>
              <a:rPr lang="en-US" sz="2200" dirty="0"/>
              <a:t> random variable.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9"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t> </a:t>
            </a:r>
          </a:p>
          <a:p>
            <a:pPr algn="ctr">
              <a:spcBef>
                <a:spcPct val="0"/>
              </a:spcBef>
              <a:defRPr/>
            </a:pPr>
            <a:r>
              <a:rPr lang="en-US" sz="2400" b="1" dirty="0"/>
              <a:t>Topic objective of Normal Distribution(CO4)</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i="0" u="none" strike="noStrike" kern="1200" cap="none" spc="0" normalizeH="0" baseline="0" noProof="0" dirty="0">
              <a:ln>
                <a:noFill/>
              </a:ln>
              <a:solidFill>
                <a:schemeClr val="dk1"/>
              </a:solidFill>
              <a:effectLst/>
              <a:uLnTx/>
              <a:uFillTx/>
            </a:endParaRPr>
          </a:p>
        </p:txBody>
      </p:sp>
      <p:sp>
        <p:nvSpPr>
          <p:cNvPr id="5" name="Footer Placeholder 4">
            <a:extLst>
              <a:ext uri="{FF2B5EF4-FFF2-40B4-BE49-F238E27FC236}">
                <a16:creationId xmlns:a16="http://schemas.microsoft.com/office/drawing/2014/main" id="{139C18E4-6306-467C-A6E7-59ED59EAD780}"/>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3208767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Normal Distribution: </a:t>
                </a:r>
                <a:r>
                  <a:rPr lang="en-US" sz="2200" dirty="0"/>
                  <a:t>The general equation of the normal distribution is given by</a:t>
                </a:r>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Basic properties for Normal distributions:</a:t>
                </a:r>
              </a:p>
              <a:p>
                <a:pPr marL="514350" indent="-514350">
                  <a:buFont typeface="+mj-lt"/>
                  <a:buAutoNum type="romanLcPeriod"/>
                </a:pPr>
                <a14:m>
                  <m:oMath xmlns:m="http://schemas.openxmlformats.org/officeDocument/2006/math">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ea typeface="Cambria Math"/>
                      </a:rPr>
                      <m:t>≥0</m:t>
                    </m:r>
                  </m:oMath>
                </a14:m>
                <a:endParaRPr lang="en-US" sz="2200" dirty="0"/>
              </a:p>
              <a:p>
                <a:pPr marL="514350" indent="-514350">
                  <a:buFont typeface="+mj-lt"/>
                  <a:buAutoNum type="romanLcPeriod"/>
                </a:pPr>
                <a14:m>
                  <m:oMath xmlns:m="http://schemas.openxmlformats.org/officeDocument/2006/math">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r>
                          <a:rPr lang="en-US" sz="2200" i="1">
                            <a:latin typeface="Cambria Math"/>
                          </a:rPr>
                          <m:t>=1</m:t>
                        </m:r>
                      </m:e>
                    </m:nary>
                  </m:oMath>
                </a14:m>
                <a:endParaRPr lang="en-US" sz="2200" dirty="0"/>
              </a:p>
              <a:p>
                <a:pPr marL="0" indent="0">
                  <a:buNone/>
                </a:pPr>
                <a:r>
                  <a:rPr lang="en-US" sz="2200" dirty="0"/>
                  <a:t>i.e. the total area under the normal curve above x-axis is 1.</a:t>
                </a:r>
              </a:p>
              <a:p>
                <a:pPr marL="514350" indent="-514350">
                  <a:buAutoNum type="romanLcPeriod" startAt="3"/>
                </a:pPr>
                <a:r>
                  <a:rPr lang="en-US" sz="2200" dirty="0"/>
                  <a:t>Normal curve is symmetrical about its mean.</a:t>
                </a:r>
              </a:p>
              <a:p>
                <a:pPr marL="514350" indent="-514350">
                  <a:buAutoNum type="romanLcPeriod" startAt="3"/>
                </a:pPr>
                <a:r>
                  <a:rPr lang="en-US" sz="2200" dirty="0"/>
                  <a:t>The mean, mode and median coincide for this distribution.</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b="-10782"/>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Normal </a:t>
            </a:r>
            <a:r>
              <a:rPr lang="en-US" sz="2400" b="1" dirty="0"/>
              <a:t>Distribution(CO4)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2" name="Rectangle 1"/>
              <p:cNvSpPr/>
              <p:nvPr/>
            </p:nvSpPr>
            <p:spPr>
              <a:xfrm>
                <a:off x="1391433" y="1981200"/>
                <a:ext cx="54483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ea typeface="Cambria Math"/>
                            </a:rPr>
                            <m:t>𝜎</m:t>
                          </m:r>
                          <m:rad>
                            <m:radPr>
                              <m:degHide m:val="on"/>
                              <m:ctrlPr>
                                <a:rPr lang="en-US" i="1">
                                  <a:latin typeface="Cambria Math" panose="02040503050406030204" pitchFamily="18" charset="0"/>
                                  <a:ea typeface="Cambria Math"/>
                                </a:rPr>
                              </m:ctrlPr>
                            </m:radPr>
                            <m:deg/>
                            <m:e>
                              <m:r>
                                <a:rPr lang="en-US" i="1">
                                  <a:latin typeface="Cambria Math"/>
                                  <a:ea typeface="Cambria Math"/>
                                </a:rPr>
                                <m:t>2</m:t>
                              </m:r>
                              <m:r>
                                <a:rPr lang="en-US" i="1">
                                  <a:latin typeface="Cambria Math"/>
                                  <a:ea typeface="Cambria Math"/>
                                </a:rPr>
                                <m:t>𝜋</m:t>
                              </m:r>
                            </m:e>
                          </m:rad>
                        </m:den>
                      </m:f>
                      <m:sSup>
                        <m:sSupPr>
                          <m:ctrlPr>
                            <a:rPr lang="en-US" i="1">
                              <a:latin typeface="Cambria Math" panose="02040503050406030204" pitchFamily="18" charset="0"/>
                            </a:rPr>
                          </m:ctrlPr>
                        </m:sSupPr>
                        <m:e>
                          <m:r>
                            <a:rPr lang="en-US" i="1">
                              <a:latin typeface="Cambria Math"/>
                            </a:rPr>
                            <m:t>𝑒</m:t>
                          </m:r>
                        </m:e>
                        <m:sup>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a:rPr>
                                        <m:t>𝑥</m:t>
                                      </m:r>
                                      <m:r>
                                        <a:rPr lang="en-US" i="1">
                                          <a:latin typeface="Cambria Math"/>
                                        </a:rPr>
                                        <m:t>−</m:t>
                                      </m:r>
                                      <m:r>
                                        <a:rPr lang="en-US" i="1">
                                          <a:latin typeface="Cambria Math"/>
                                          <a:ea typeface="Cambria Math"/>
                                        </a:rPr>
                                        <m:t>𝜇</m:t>
                                      </m:r>
                                    </m:num>
                                    <m:den>
                                      <m:r>
                                        <a:rPr lang="en-US" i="1">
                                          <a:latin typeface="Cambria Math"/>
                                          <a:ea typeface="Cambria Math"/>
                                        </a:rPr>
                                        <m:t>𝜎</m:t>
                                      </m:r>
                                    </m:den>
                                  </m:f>
                                </m:e>
                              </m:d>
                            </m:e>
                            <m:sup>
                              <m:r>
                                <a:rPr lang="en-US" i="1">
                                  <a:latin typeface="Cambria Math"/>
                                </a:rPr>
                                <m:t>2</m:t>
                              </m:r>
                            </m:sup>
                          </m:sSup>
                        </m:sup>
                      </m:sSup>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1391433" y="1981200"/>
                <a:ext cx="5448300" cy="990600"/>
              </a:xfrm>
              <a:prstGeom prst="rect">
                <a:avLst/>
              </a:prstGeom>
              <a:blipFill rotWithShape="1">
                <a:blip r:embed="rId4"/>
                <a:stretch>
                  <a:fillRect/>
                </a:stretch>
              </a:blipFill>
            </p:spPr>
            <p:txBody>
              <a:bodyPr/>
              <a:lstStyle/>
              <a:p>
                <a:r>
                  <a:rPr lang="en-US">
                    <a:noFill/>
                  </a:rPr>
                  <a:t> </a:t>
                </a:r>
              </a:p>
            </p:txBody>
          </p:sp>
        </mc:Fallback>
      </mc:AlternateContent>
      <p:sp>
        <p:nvSpPr>
          <p:cNvPr id="8" name="Footer Placeholder 7">
            <a:extLst>
              <a:ext uri="{FF2B5EF4-FFF2-40B4-BE49-F238E27FC236}">
                <a16:creationId xmlns:a16="http://schemas.microsoft.com/office/drawing/2014/main" id="{C3BB8729-EB77-4DEA-A71E-CB33ADA2272D}"/>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42627084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Standard form of the normal distribution: </a:t>
                </a:r>
                <a:r>
                  <a:rPr lang="en-US" sz="2200" dirty="0"/>
                  <a:t> The probability density function for the normal distribution in standard form is given by </a:t>
                </a:r>
              </a:p>
              <a:p>
                <a:pPr marL="0" indent="0">
                  <a:buNone/>
                </a:pPr>
                <a:endParaRPr lang="en-US" sz="2200" dirty="0"/>
              </a:p>
              <a:p>
                <a:pPr marL="0" indent="0">
                  <a:buNone/>
                </a:pPr>
                <a:endParaRPr lang="en-US" sz="2200" dirty="0"/>
              </a:p>
              <a:p>
                <a:pPr marL="0" indent="0">
                  <a:buNone/>
                </a:pPr>
                <a:r>
                  <a:rPr lang="en-US" sz="2200" dirty="0"/>
                  <a:t>By taking </a:t>
                </a:r>
                <a14:m>
                  <m:oMath xmlns:m="http://schemas.openxmlformats.org/officeDocument/2006/math">
                    <m:r>
                      <a:rPr lang="en-US" sz="2200" b="0" i="1" smtClean="0">
                        <a:latin typeface="Cambria Math"/>
                      </a:rPr>
                      <m:t>𝑧</m:t>
                    </m:r>
                    <m:r>
                      <a:rPr lang="en-US" sz="2200" b="0" i="1" smtClean="0">
                        <a:latin typeface="Cambria Math"/>
                      </a:rPr>
                      <m:t>=</m:t>
                    </m:r>
                    <m:f>
                      <m:fPr>
                        <m:ctrlPr>
                          <a:rPr lang="en-US" sz="2200" b="0" i="1" smtClean="0">
                            <a:latin typeface="Cambria Math" panose="02040503050406030204" pitchFamily="18" charset="0"/>
                          </a:rPr>
                        </m:ctrlPr>
                      </m:fPr>
                      <m:num>
                        <m:r>
                          <a:rPr lang="en-US" sz="2200" b="0" i="1" smtClean="0">
                            <a:latin typeface="Cambria Math"/>
                          </a:rPr>
                          <m:t>𝑥</m:t>
                        </m:r>
                        <m:r>
                          <a:rPr lang="en-US" sz="2200" b="0" i="1" smtClean="0">
                            <a:latin typeface="Cambria Math"/>
                          </a:rPr>
                          <m:t>−</m:t>
                        </m:r>
                        <m:r>
                          <a:rPr lang="en-US" sz="2200" b="0" i="1" smtClean="0">
                            <a:latin typeface="Cambria Math"/>
                            <a:ea typeface="Cambria Math"/>
                          </a:rPr>
                          <m:t>𝜇</m:t>
                        </m:r>
                      </m:num>
                      <m:den>
                        <m:r>
                          <a:rPr lang="en-US" sz="2200" b="0" i="1" smtClean="0">
                            <a:latin typeface="Cambria Math"/>
                            <a:ea typeface="Cambria Math"/>
                          </a:rPr>
                          <m:t>𝜎</m:t>
                        </m:r>
                      </m:den>
                    </m:f>
                  </m:oMath>
                </a14:m>
                <a:r>
                  <a:rPr lang="en-US" sz="2200" dirty="0"/>
                  <a:t> , standard normal curve is formed . The total area under the curve is 1 and it is divided into two parts by z=0.</a:t>
                </a:r>
              </a:p>
              <a:p>
                <a:pPr marL="0" indent="0">
                  <a:buNone/>
                </a:pPr>
                <a:endParaRPr lang="en-US" sz="2200" dirty="0"/>
              </a:p>
              <a:p>
                <a:pPr marL="0" indent="0">
                  <a:buNone/>
                </a:pPr>
                <a:endParaRPr lang="en-US" sz="2200" b="1" dirty="0"/>
              </a:p>
              <a:p>
                <a:pPr marL="0" indent="0">
                  <a:buNone/>
                </a:pPr>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err="1"/>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2" name="Rectangle 1"/>
              <p:cNvSpPr/>
              <p:nvPr/>
            </p:nvSpPr>
            <p:spPr>
              <a:xfrm>
                <a:off x="2209800" y="1981200"/>
                <a:ext cx="4572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i="1">
                          <a:latin typeface="Cambria Math"/>
                        </a:rPr>
                        <m:t>𝑓</m:t>
                      </m:r>
                      <m:d>
                        <m:dPr>
                          <m:ctrlPr>
                            <a:rPr lang="en-US" i="1">
                              <a:latin typeface="Cambria Math" panose="02040503050406030204" pitchFamily="18" charset="0"/>
                            </a:rPr>
                          </m:ctrlPr>
                        </m:dPr>
                        <m:e>
                          <m:r>
                            <a:rPr lang="en-US" i="1">
                              <a:latin typeface="Cambria Math"/>
                            </a:rPr>
                            <m:t>𝑧</m:t>
                          </m:r>
                        </m:e>
                      </m:d>
                      <m:r>
                        <a:rPr lang="en-US" i="1">
                          <a:latin typeface="Cambria Math"/>
                        </a:rPr>
                        <m:t>=</m:t>
                      </m:r>
                      <m:f>
                        <m:fPr>
                          <m:ctrlPr>
                            <a:rPr lang="en-US" i="1">
                              <a:latin typeface="Cambria Math" panose="02040503050406030204" pitchFamily="18" charset="0"/>
                            </a:rPr>
                          </m:ctrlPr>
                        </m:fPr>
                        <m:num>
                          <m:r>
                            <a:rPr lang="en-US" i="1">
                              <a:latin typeface="Cambria Math"/>
                            </a:rPr>
                            <m:t>1</m:t>
                          </m:r>
                        </m:num>
                        <m:den>
                          <m:rad>
                            <m:radPr>
                              <m:degHide m:val="on"/>
                              <m:ctrlPr>
                                <a:rPr lang="en-US" i="1">
                                  <a:latin typeface="Cambria Math" panose="02040503050406030204" pitchFamily="18" charset="0"/>
                                  <a:ea typeface="Cambria Math"/>
                                </a:rPr>
                              </m:ctrlPr>
                            </m:radPr>
                            <m:deg/>
                            <m:e>
                              <m:r>
                                <a:rPr lang="en-US" i="1">
                                  <a:latin typeface="Cambria Math"/>
                                  <a:ea typeface="Cambria Math"/>
                                </a:rPr>
                                <m:t>2</m:t>
                              </m:r>
                              <m:r>
                                <a:rPr lang="en-US" i="1">
                                  <a:latin typeface="Cambria Math"/>
                                  <a:ea typeface="Cambria Math"/>
                                </a:rPr>
                                <m:t>𝜋</m:t>
                              </m:r>
                            </m:e>
                          </m:rad>
                        </m:den>
                      </m:f>
                      <m:sSup>
                        <m:sSupPr>
                          <m:ctrlPr>
                            <a:rPr lang="en-US" i="1">
                              <a:latin typeface="Cambria Math" panose="02040503050406030204" pitchFamily="18" charset="0"/>
                            </a:rPr>
                          </m:ctrlPr>
                        </m:sSupPr>
                        <m:e>
                          <m:r>
                            <a:rPr lang="en-US" i="1">
                              <a:latin typeface="Cambria Math"/>
                            </a:rPr>
                            <m:t>𝑒</m:t>
                          </m:r>
                        </m:e>
                        <m:sup>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sSup>
                            <m:sSupPr>
                              <m:ctrlPr>
                                <a:rPr lang="en-US" i="1">
                                  <a:latin typeface="Cambria Math" panose="02040503050406030204" pitchFamily="18" charset="0"/>
                                </a:rPr>
                              </m:ctrlPr>
                            </m:sSupPr>
                            <m:e>
                              <m:r>
                                <a:rPr lang="en-US" i="1">
                                  <a:latin typeface="Cambria Math"/>
                                </a:rPr>
                                <m:t>𝑧</m:t>
                              </m:r>
                            </m:e>
                            <m:sup>
                              <m:r>
                                <a:rPr lang="en-US" i="1">
                                  <a:latin typeface="Cambria Math"/>
                                </a:rPr>
                                <m:t>2</m:t>
                              </m:r>
                            </m:sup>
                          </m:sSup>
                        </m:sup>
                      </m:sSup>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2209800" y="1981200"/>
                <a:ext cx="4572000" cy="685800"/>
              </a:xfrm>
              <a:prstGeom prst="rect">
                <a:avLst/>
              </a:prstGeom>
              <a:blipFill rotWithShape="1">
                <a:blip r:embed="rId4"/>
                <a:stretch>
                  <a:fillRect/>
                </a:stretch>
              </a:blipFill>
            </p:spPr>
            <p:txBody>
              <a:bodyPr/>
              <a:lstStyle/>
              <a:p>
                <a:r>
                  <a:rPr lang="en-US">
                    <a:noFill/>
                  </a:rPr>
                  <a:t> </a:t>
                </a:r>
              </a:p>
            </p:txBody>
          </p:sp>
        </mc:Fallback>
      </mc:AlternateContent>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5000" y="3886200"/>
            <a:ext cx="5029200" cy="1905000"/>
          </a:xfrm>
          <a:prstGeom prst="rect">
            <a:avLst/>
          </a:prstGeom>
        </p:spPr>
      </p:pic>
      <p:sp>
        <p:nvSpPr>
          <p:cNvPr id="8" name="Footer Placeholder 7">
            <a:extLst>
              <a:ext uri="{FF2B5EF4-FFF2-40B4-BE49-F238E27FC236}">
                <a16:creationId xmlns:a16="http://schemas.microsoft.com/office/drawing/2014/main" id="{833CB17D-8D0A-41B5-9969-F6D0F00A7F75}"/>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526638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Mean of Normal Distribution:</a:t>
                </a:r>
                <a:r>
                  <a:rPr lang="en-US" sz="2200" dirty="0"/>
                  <a:t> A.M of continuous distribution f(x) is given by </a:t>
                </a:r>
                <a:endParaRPr lang="en-US" sz="2200" b="1"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𝐴</m:t>
                      </m:r>
                      <m:r>
                        <a:rPr lang="en-US" sz="2200" b="0" i="1" smtClean="0">
                          <a:latin typeface="Cambria Math"/>
                        </a:rPr>
                        <m:t>.</m:t>
                      </m:r>
                      <m:r>
                        <a:rPr lang="en-US" sz="2200" b="0" i="1" smtClean="0">
                          <a:latin typeface="Cambria Math"/>
                        </a:rPr>
                        <m:t>𝑀</m:t>
                      </m:r>
                      <m:d>
                        <m:dPr>
                          <m:ctrlPr>
                            <a:rPr lang="en-US" sz="2200" b="0" i="1" smtClean="0">
                              <a:latin typeface="Cambria Math" panose="02040503050406030204" pitchFamily="18" charset="0"/>
                            </a:rPr>
                          </m:ctrlPr>
                        </m:dPr>
                        <m:e>
                          <m:acc>
                            <m:accPr>
                              <m:chr m:val="̅"/>
                              <m:ctrlPr>
                                <a:rPr lang="en-US" sz="2200" b="0" i="1" smtClean="0">
                                  <a:latin typeface="Cambria Math" panose="02040503050406030204" pitchFamily="18" charset="0"/>
                                </a:rPr>
                              </m:ctrlPr>
                            </m:accPr>
                            <m:e>
                              <m:r>
                                <a:rPr lang="en-US" sz="2200" b="0" i="1" smtClean="0">
                                  <a:latin typeface="Cambria Math"/>
                                </a:rPr>
                                <m:t>𝑥</m:t>
                              </m:r>
                            </m:e>
                          </m:acc>
                        </m:e>
                      </m:d>
                      <m:r>
                        <a:rPr lang="en-US" sz="2200" b="0" i="1" smtClean="0">
                          <a:latin typeface="Cambria Math"/>
                        </a:rPr>
                        <m:t>=</m:t>
                      </m:r>
                      <m:f>
                        <m:fPr>
                          <m:ctrlPr>
                            <a:rPr lang="en-US" sz="2200" b="0" i="1" smtClean="0">
                              <a:latin typeface="Cambria Math" panose="02040503050406030204" pitchFamily="18" charset="0"/>
                            </a:rPr>
                          </m:ctrlPr>
                        </m:fPr>
                        <m:num>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b="0" i="1" smtClean="0">
                                  <a:latin typeface="Cambria Math"/>
                                  <a:ea typeface="Cambria Math"/>
                                </a:rPr>
                                <m:t>𝑥</m:t>
                              </m:r>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e>
                          </m:nary>
                          <m:r>
                            <m:rPr>
                              <m:nor/>
                            </m:rPr>
                            <a:rPr lang="en-US" sz="2200" dirty="0"/>
                            <m:t> </m:t>
                          </m:r>
                        </m:num>
                        <m:den>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e>
                          </m:nary>
                          <m:r>
                            <m:rPr>
                              <m:nor/>
                            </m:rPr>
                            <a:rPr lang="en-US" sz="2200" dirty="0"/>
                            <m:t> </m:t>
                          </m:r>
                        </m:den>
                      </m:f>
                    </m:oMath>
                  </m:oMathPara>
                </a14:m>
                <a:endParaRPr lang="en-US" sz="2200" b="0" dirty="0"/>
              </a:p>
              <a:p>
                <a:pPr marL="0" indent="0">
                  <a:buNone/>
                </a:pPr>
                <a14:m>
                  <m:oMath xmlns:m="http://schemas.openxmlformats.org/officeDocument/2006/math">
                    <m:acc>
                      <m:accPr>
                        <m:chr m:val="̅"/>
                        <m:ctrlPr>
                          <a:rPr lang="en-US" sz="2200" b="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b="0" i="1" smtClean="0">
                            <a:latin typeface="Cambria Math"/>
                            <a:ea typeface="Cambria Math"/>
                          </a:rPr>
                          <m:t>𝑥</m:t>
                        </m:r>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e>
                    </m:nary>
                  </m:oMath>
                </a14:m>
                <a:r>
                  <a:rPr lang="en-US" sz="2200" dirty="0"/>
                  <a:t> because </a:t>
                </a:r>
                <a14:m>
                  <m:oMath xmlns:m="http://schemas.openxmlformats.org/officeDocument/2006/math">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r>
                          <a:rPr lang="en-US" sz="2200" i="1">
                            <a:latin typeface="Cambria Math"/>
                          </a:rPr>
                          <m:t>=1</m:t>
                        </m:r>
                      </m:e>
                    </m:nary>
                  </m:oMath>
                </a14:m>
                <a:endParaRPr lang="en-US" sz="2200" dirty="0"/>
              </a:p>
              <a:p>
                <a:pPr marL="0" indent="0">
                  <a:buNone/>
                </a:pPr>
                <a:r>
                  <a:rPr lang="en-US" sz="2200" dirty="0"/>
                  <a:t>So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i="1">
                            <a:latin typeface="Cambria Math"/>
                            <a:ea typeface="Cambria Math"/>
                          </a:rPr>
                          <m:t>𝑥</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ea typeface="Cambria Math"/>
                              </a:rPr>
                              <m:t>𝜎</m:t>
                            </m:r>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a:rPr>
                                          <m:t>𝑥</m:t>
                                        </m:r>
                                        <m:r>
                                          <a:rPr lang="en-US" sz="2200" i="1">
                                            <a:latin typeface="Cambria Math"/>
                                          </a:rPr>
                                          <m:t>−</m:t>
                                        </m:r>
                                        <m:r>
                                          <a:rPr lang="en-US" sz="2200" i="1">
                                            <a:latin typeface="Cambria Math"/>
                                            <a:ea typeface="Cambria Math"/>
                                          </a:rPr>
                                          <m:t>𝜇</m:t>
                                        </m:r>
                                      </m:num>
                                      <m:den>
                                        <m:r>
                                          <a:rPr lang="en-US" sz="2200" i="1">
                                            <a:latin typeface="Cambria Math"/>
                                            <a:ea typeface="Cambria Math"/>
                                          </a:rPr>
                                          <m:t>𝜎</m:t>
                                        </m:r>
                                      </m:den>
                                    </m:f>
                                  </m:e>
                                </m:d>
                              </m:e>
                              <m:sup>
                                <m:r>
                                  <a:rPr lang="en-US" sz="2200" i="1">
                                    <a:latin typeface="Cambria Math"/>
                                  </a:rPr>
                                  <m:t>2</m:t>
                                </m:r>
                              </m:sup>
                            </m:sSup>
                          </m:sup>
                        </m:sSup>
                        <m:r>
                          <a:rPr lang="en-US" sz="2200" i="1">
                            <a:latin typeface="Cambria Math"/>
                          </a:rPr>
                          <m:t>𝑑𝑥</m:t>
                        </m:r>
                      </m:e>
                    </m:nary>
                  </m:oMath>
                </a14:m>
                <a:endParaRPr lang="en-US" sz="2200" dirty="0"/>
              </a:p>
              <a:p>
                <a:pPr marL="0" indent="0">
                  <a:buNone/>
                </a:pPr>
                <a:r>
                  <a:rPr lang="en-US" sz="2200" dirty="0"/>
                  <a:t>Let </a:t>
                </a:r>
                <a14:m>
                  <m:oMath xmlns:m="http://schemas.openxmlformats.org/officeDocument/2006/math">
                    <m:f>
                      <m:fPr>
                        <m:ctrlPr>
                          <a:rPr lang="en-US" sz="2200" i="1">
                            <a:latin typeface="Cambria Math" panose="02040503050406030204" pitchFamily="18" charset="0"/>
                          </a:rPr>
                        </m:ctrlPr>
                      </m:fPr>
                      <m:num>
                        <m:r>
                          <a:rPr lang="en-US" sz="2200" i="1">
                            <a:latin typeface="Cambria Math"/>
                          </a:rPr>
                          <m:t>𝑥</m:t>
                        </m:r>
                        <m:r>
                          <a:rPr lang="en-US" sz="2200" i="1">
                            <a:latin typeface="Cambria Math"/>
                          </a:rPr>
                          <m:t>−</m:t>
                        </m:r>
                        <m:r>
                          <a:rPr lang="en-US" sz="2200" i="1">
                            <a:latin typeface="Cambria Math"/>
                            <a:ea typeface="Cambria Math"/>
                          </a:rPr>
                          <m:t>𝜇</m:t>
                        </m:r>
                      </m:num>
                      <m:den>
                        <m:r>
                          <a:rPr lang="en-US" sz="2200" i="1">
                            <a:latin typeface="Cambria Math"/>
                            <a:ea typeface="Cambria Math"/>
                          </a:rPr>
                          <m:t>𝜎</m:t>
                        </m:r>
                      </m:den>
                    </m:f>
                    <m:r>
                      <a:rPr lang="en-US" sz="2200" b="0" i="1" smtClean="0">
                        <a:latin typeface="Cambria Math"/>
                        <a:ea typeface="Cambria Math"/>
                      </a:rPr>
                      <m:t>=</m:t>
                    </m:r>
                    <m:r>
                      <a:rPr lang="en-US" sz="2200" b="0" i="1" smtClean="0">
                        <a:latin typeface="Cambria Math"/>
                        <a:ea typeface="Cambria Math"/>
                      </a:rPr>
                      <m:t>𝑧</m:t>
                    </m:r>
                  </m:oMath>
                </a14:m>
                <a:r>
                  <a:rPr lang="en-US" sz="2200" dirty="0"/>
                  <a:t> so that  </a:t>
                </a:r>
                <a14:m>
                  <m:oMath xmlns:m="http://schemas.openxmlformats.org/officeDocument/2006/math">
                    <m:r>
                      <a:rPr lang="en-US" sz="2200" i="1">
                        <a:latin typeface="Cambria Math"/>
                      </a:rPr>
                      <m:t>𝑥</m:t>
                    </m:r>
                    <m:r>
                      <a:rPr lang="en-US" sz="2200" b="0" i="1" smtClean="0">
                        <a:latin typeface="Cambria Math"/>
                      </a:rPr>
                      <m:t>=</m:t>
                    </m:r>
                    <m:r>
                      <a:rPr lang="en-US" sz="2200" i="1">
                        <a:latin typeface="Cambria Math"/>
                        <a:ea typeface="Cambria Math"/>
                      </a:rPr>
                      <m:t>𝜇</m:t>
                    </m:r>
                    <m:r>
                      <a:rPr lang="en-US" sz="2200" b="0" i="1" smtClean="0">
                        <a:latin typeface="Cambria Math"/>
                        <a:ea typeface="Cambria Math"/>
                      </a:rPr>
                      <m:t>+</m:t>
                    </m:r>
                    <m:r>
                      <a:rPr lang="en-US" sz="2200" i="1">
                        <a:latin typeface="Cambria Math"/>
                        <a:ea typeface="Cambria Math"/>
                      </a:rPr>
                      <m:t>𝜎</m:t>
                    </m:r>
                    <m:r>
                      <a:rPr lang="en-US" sz="2200" i="1">
                        <a:latin typeface="Cambria Math"/>
                      </a:rPr>
                      <m:t>𝑧</m:t>
                    </m:r>
                  </m:oMath>
                </a14:m>
                <a:r>
                  <a:rPr lang="en-US" sz="2200" dirty="0"/>
                  <a:t> therefore </a:t>
                </a:r>
                <a14:m>
                  <m:oMath xmlns:m="http://schemas.openxmlformats.org/officeDocument/2006/math">
                    <m:r>
                      <m:rPr>
                        <m:sty m:val="p"/>
                      </m:rPr>
                      <a:rPr lang="en-US" sz="2200" b="0" i="0" smtClean="0">
                        <a:latin typeface="Cambria Math"/>
                        <a:ea typeface="Cambria Math"/>
                      </a:rPr>
                      <m:t>dx</m:t>
                    </m:r>
                    <m:r>
                      <a:rPr lang="en-US" sz="2200" b="0" i="0" smtClean="0">
                        <a:latin typeface="Cambria Math"/>
                        <a:ea typeface="Cambria Math"/>
                      </a:rPr>
                      <m:t>=</m:t>
                    </m:r>
                    <m:r>
                      <a:rPr lang="en-US" sz="2200" i="1">
                        <a:latin typeface="Cambria Math"/>
                        <a:ea typeface="Cambria Math"/>
                      </a:rPr>
                      <m:t>𝜎</m:t>
                    </m:r>
                    <m:r>
                      <a:rPr lang="en-US" sz="2200" b="0" i="1" smtClean="0">
                        <a:latin typeface="Cambria Math"/>
                        <a:ea typeface="Cambria Math"/>
                      </a:rPr>
                      <m:t>𝑑</m:t>
                    </m:r>
                    <m:r>
                      <a:rPr lang="en-US" sz="2200" i="1">
                        <a:latin typeface="Cambria Math"/>
                      </a:rPr>
                      <m:t>𝑧</m:t>
                    </m:r>
                  </m:oMath>
                </a14:m>
                <a:endParaRPr lang="en-US" sz="2200" dirty="0"/>
              </a:p>
              <a:p>
                <a:pPr marL="0" indent="0">
                  <a:buNone/>
                </a:pPr>
                <a14:m>
                  <m:oMathPara xmlns:m="http://schemas.openxmlformats.org/officeDocument/2006/math">
                    <m:oMathParaPr>
                      <m:jc m:val="left"/>
                    </m:oMathParaPr>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b="0" i="1" smtClean="0">
                              <a:latin typeface="Cambria Math"/>
                              <a:ea typeface="Cambria Math"/>
                            </a:rPr>
                            <m:t>(</m:t>
                          </m:r>
                          <m:r>
                            <a:rPr lang="en-US" sz="2200" i="1">
                              <a:latin typeface="Cambria Math"/>
                              <a:ea typeface="Cambria Math"/>
                            </a:rPr>
                            <m:t>𝜇</m:t>
                          </m:r>
                          <m:r>
                            <a:rPr lang="en-US" sz="2200" i="1">
                              <a:latin typeface="Cambria Math"/>
                              <a:ea typeface="Cambria Math"/>
                            </a:rPr>
                            <m:t>+</m:t>
                          </m:r>
                          <m:r>
                            <a:rPr lang="en-US" sz="2200" i="1">
                              <a:latin typeface="Cambria Math"/>
                              <a:ea typeface="Cambria Math"/>
                            </a:rPr>
                            <m:t>𝜎</m:t>
                          </m:r>
                          <m:r>
                            <a:rPr lang="en-US" sz="2200" i="1">
                              <a:latin typeface="Cambria Math"/>
                            </a:rPr>
                            <m:t>𝑧</m:t>
                          </m:r>
                          <m:r>
                            <a:rPr lang="en-US" sz="2200" b="0" i="1" smtClean="0">
                              <a:latin typeface="Cambria Math"/>
                              <a:ea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ea typeface="Cambria Math"/>
                                </a:rPr>
                                <m:t>𝜎</m:t>
                              </m:r>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b="0" i="1" smtClean="0">
                                      <a:latin typeface="Cambria Math"/>
                                    </a:rPr>
                                    <m:t>𝑧</m:t>
                                  </m:r>
                                </m:e>
                                <m:sup>
                                  <m:r>
                                    <a:rPr lang="en-US" sz="2200" i="1">
                                      <a:latin typeface="Cambria Math"/>
                                    </a:rPr>
                                    <m:t>2</m:t>
                                  </m:r>
                                </m:sup>
                              </m:sSup>
                            </m:sup>
                          </m:sSup>
                          <m:r>
                            <a:rPr lang="en-US" sz="2200" i="1">
                              <a:latin typeface="Cambria Math"/>
                              <a:ea typeface="Cambria Math"/>
                            </a:rPr>
                            <m:t>𝜎</m:t>
                          </m:r>
                          <m:r>
                            <a:rPr lang="en-US" sz="2200" b="0" i="1" smtClean="0">
                              <a:latin typeface="Cambria Math"/>
                              <a:ea typeface="Cambria Math"/>
                            </a:rPr>
                            <m:t>𝑑</m:t>
                          </m:r>
                          <m:r>
                            <a:rPr lang="en-US" sz="2200" i="1">
                              <a:latin typeface="Cambria Math"/>
                            </a:rPr>
                            <m:t>𝑧</m:t>
                          </m:r>
                        </m:e>
                      </m:nary>
                    </m:oMath>
                  </m:oMathPara>
                </a14:m>
                <a:endParaRPr lang="en-US" sz="2200" b="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9569"/>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91433" y="0"/>
            <a:ext cx="7772400" cy="8382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Mean and Variance of</a:t>
            </a:r>
            <a:r>
              <a:rPr kumimoji="0" lang="en-US" sz="2400" b="1" i="0" u="none" strike="noStrike" kern="1200" cap="none" spc="0" normalizeH="0" noProof="0" dirty="0">
                <a:ln>
                  <a:noFill/>
                </a:ln>
                <a:solidFill>
                  <a:schemeClr val="dk1"/>
                </a:solidFill>
                <a:effectLst/>
                <a:uLnTx/>
                <a:uFillTx/>
                <a:latin typeface="+mn-lt"/>
                <a:ea typeface="+mn-ea"/>
                <a:cs typeface="+mn-cs"/>
              </a:rPr>
              <a:t> Normal </a:t>
            </a:r>
          </a:p>
          <a:p>
            <a:pPr lvl="0" algn="ctr">
              <a:spcBef>
                <a:spcPct val="0"/>
              </a:spcBef>
              <a:defRPr/>
            </a:pPr>
            <a:r>
              <a:rPr kumimoji="0" lang="en-US" sz="2400" b="1" i="0" u="none" strike="noStrike" kern="1200" cap="none" spc="0" normalizeH="0" noProof="0" dirty="0">
                <a:ln>
                  <a:noFill/>
                </a:ln>
                <a:solidFill>
                  <a:schemeClr val="dk1"/>
                </a:solidFill>
                <a:effectLst/>
                <a:uLnTx/>
                <a:uFillTx/>
                <a:latin typeface="+mn-lt"/>
                <a:ea typeface="+mn-ea"/>
                <a:cs typeface="+mn-cs"/>
              </a:rPr>
              <a:t>distribution</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KMB-104                Module-3</a:t>
            </a:r>
          </a:p>
        </p:txBody>
      </p:sp>
      <p:sp>
        <p:nvSpPr>
          <p:cNvPr id="2" name="Footer Placeholder 1"/>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0842295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sz="2200" i="1" smtClean="0">
                          <a:latin typeface="Cambria Math"/>
                        </a:rPr>
                        <m:t>=</m:t>
                      </m:r>
                      <m:r>
                        <a:rPr lang="en-US" sz="2200" i="1">
                          <a:latin typeface="Cambria Math"/>
                          <a:ea typeface="Cambria Math"/>
                        </a:rPr>
                        <m:t>𝜇</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f>
                            <m:fPr>
                              <m:ctrlPr>
                                <a:rPr lang="en-US" sz="2200" i="1">
                                  <a:latin typeface="Cambria Math" panose="02040503050406030204" pitchFamily="18" charset="0"/>
                                </a:rPr>
                              </m:ctrlPr>
                            </m:fPr>
                            <m:num>
                              <m:r>
                                <a:rPr lang="en-US" sz="2200" i="1">
                                  <a:latin typeface="Cambria Math"/>
                                </a:rPr>
                                <m:t>1</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r>
                            <a:rPr lang="en-US" sz="2200" i="1">
                              <a:latin typeface="Cambria Math"/>
                              <a:ea typeface="Cambria Math"/>
                            </a:rPr>
                            <m:t>𝑑</m:t>
                          </m:r>
                          <m:r>
                            <a:rPr lang="en-US" sz="2200" i="1">
                              <a:latin typeface="Cambria Math"/>
                            </a:rPr>
                            <m:t>𝑧</m:t>
                          </m:r>
                          <m:r>
                            <a:rPr lang="en-US" sz="2200" b="0" i="1" smtClean="0">
                              <a:latin typeface="Cambria Math"/>
                            </a:rPr>
                            <m:t>+</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i="1">
                                  <a:latin typeface="Cambria Math"/>
                                </a:rPr>
                                <m:t>𝑧</m:t>
                              </m:r>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r>
                                <a:rPr lang="en-US" sz="2200" i="1">
                                  <a:latin typeface="Cambria Math"/>
                                  <a:ea typeface="Cambria Math"/>
                                </a:rPr>
                                <m:t>𝑑</m:t>
                              </m:r>
                              <m:r>
                                <a:rPr lang="en-US" sz="2200" i="1">
                                  <a:latin typeface="Cambria Math"/>
                                </a:rPr>
                                <m:t>𝑧</m:t>
                              </m:r>
                            </m:e>
                          </m:nary>
                          <m:r>
                            <m:rPr>
                              <m:nor/>
                            </m:rPr>
                            <a:rPr lang="en-US" sz="2200" dirty="0"/>
                            <m:t> </m:t>
                          </m:r>
                        </m:e>
                      </m:nary>
                    </m:oMath>
                  </m:oMathPara>
                </a14:m>
                <a:endParaRPr lang="en-US" sz="2200" dirty="0"/>
              </a:p>
              <a:p>
                <a:pPr marL="0" indent="0">
                  <a:buNone/>
                </a:pPr>
                <a:r>
                  <a:rPr lang="en-US" sz="2200" dirty="0"/>
                  <a:t>Because </a:t>
                </a:r>
                <a14:m>
                  <m:oMath xmlns:m="http://schemas.openxmlformats.org/officeDocument/2006/math">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f>
                          <m:fPr>
                            <m:ctrlPr>
                              <a:rPr lang="en-US" sz="2200" i="1">
                                <a:latin typeface="Cambria Math" panose="02040503050406030204" pitchFamily="18" charset="0"/>
                              </a:rPr>
                            </m:ctrlPr>
                          </m:fPr>
                          <m:num>
                            <m:r>
                              <a:rPr lang="en-US" sz="2200" i="1">
                                <a:latin typeface="Cambria Math"/>
                              </a:rPr>
                              <m:t>1</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r>
                          <a:rPr lang="en-US" sz="2200" i="1">
                            <a:latin typeface="Cambria Math"/>
                            <a:ea typeface="Cambria Math"/>
                          </a:rPr>
                          <m:t>𝑑</m:t>
                        </m:r>
                        <m:r>
                          <a:rPr lang="en-US" sz="2200" i="1">
                            <a:latin typeface="Cambria Math"/>
                          </a:rPr>
                          <m:t>𝑧</m:t>
                        </m:r>
                        <m:r>
                          <m:rPr>
                            <m:nor/>
                          </m:rPr>
                          <a:rPr lang="en-US" sz="2200" b="0" i="0" smtClean="0">
                            <a:latin typeface="Cambria Math"/>
                          </a:rPr>
                          <m:t>=1</m:t>
                        </m:r>
                        <m:r>
                          <m:rPr>
                            <m:nor/>
                          </m:rPr>
                          <a:rPr lang="en-US" sz="2200" dirty="0"/>
                          <m:t> </m:t>
                        </m:r>
                      </m:e>
                    </m:nary>
                  </m:oMath>
                </a14:m>
                <a:r>
                  <a:rPr lang="en-US" sz="2200" dirty="0"/>
                  <a:t>so in above equation</a:t>
                </a:r>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r>
                        <a:rPr lang="en-US" sz="2200" i="1">
                          <a:latin typeface="Cambria Math"/>
                          <a:ea typeface="Cambria Math"/>
                        </a:rPr>
                        <m:t>𝜇</m:t>
                      </m:r>
                      <m:r>
                        <a:rPr lang="en-US" sz="2200" b="0" i="0" smtClean="0">
                          <a:latin typeface="Cambria Math"/>
                          <a:ea typeface="Cambria Math"/>
                        </a:rPr>
                        <m:t>+</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i="1">
                              <a:latin typeface="Cambria Math"/>
                            </a:rPr>
                            <m:t>𝑧</m:t>
                          </m:r>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r>
                            <a:rPr lang="en-US" sz="2200" i="1">
                              <a:latin typeface="Cambria Math"/>
                              <a:ea typeface="Cambria Math"/>
                            </a:rPr>
                            <m:t>𝑑</m:t>
                          </m:r>
                          <m:r>
                            <a:rPr lang="en-US" sz="2200" i="1">
                              <a:latin typeface="Cambria Math"/>
                            </a:rPr>
                            <m:t>𝑧</m:t>
                          </m:r>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r>
                        <a:rPr lang="en-US" sz="2200" i="1">
                          <a:latin typeface="Cambria Math"/>
                          <a:ea typeface="Cambria Math"/>
                        </a:rPr>
                        <m:t>𝜇</m:t>
                      </m:r>
                      <m:r>
                        <a:rPr lang="en-US" sz="2200">
                          <a:latin typeface="Cambria Math"/>
                          <a:ea typeface="Cambria Math"/>
                        </a:rPr>
                        <m:t>+</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r>
                            <a:rPr lang="en-US" sz="2200" i="1">
                              <a:latin typeface="Cambria Math"/>
                              <a:ea typeface="Cambria Math"/>
                            </a:rPr>
                            <m:t>𝑑</m:t>
                          </m:r>
                          <m:d>
                            <m:dPr>
                              <m:ctrlPr>
                                <a:rPr lang="en-US" sz="2200" i="1" smtClean="0">
                                  <a:latin typeface="Cambria Math" panose="02040503050406030204" pitchFamily="18" charset="0"/>
                                  <a:ea typeface="Cambria Math"/>
                                </a:rPr>
                              </m:ctrlPr>
                            </m:dPr>
                            <m:e>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num>
                                <m:den>
                                  <m:r>
                                    <a:rPr lang="en-US" sz="2200" i="1">
                                      <a:latin typeface="Cambria Math"/>
                                    </a:rPr>
                                    <m:t>2</m:t>
                                  </m:r>
                                </m:den>
                              </m:f>
                            </m:e>
                          </m:d>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r>
                        <a:rPr lang="en-US" sz="2200" i="1">
                          <a:latin typeface="Cambria Math"/>
                          <a:ea typeface="Cambria Math"/>
                        </a:rPr>
                        <m:t>𝜇</m:t>
                      </m:r>
                      <m:r>
                        <a:rPr lang="en-US" sz="2200">
                          <a:latin typeface="Cambria Math"/>
                          <a:ea typeface="Cambria Math"/>
                        </a:rPr>
                        <m:t>+</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b>
                        <m:sSubPr>
                          <m:ctrlPr>
                            <a:rPr lang="en-US" sz="2200" i="1" smtClean="0">
                              <a:latin typeface="Cambria Math" panose="02040503050406030204" pitchFamily="18" charset="0"/>
                              <a:ea typeface="Cambria Math"/>
                            </a:rPr>
                          </m:ctrlPr>
                        </m:sSubPr>
                        <m:e>
                          <m:sSubSup>
                            <m:sSubSupPr>
                              <m:ctrlPr>
                                <a:rPr lang="en-US" sz="2200" i="1">
                                  <a:latin typeface="Cambria Math" panose="02040503050406030204" pitchFamily="18" charset="0"/>
                                  <a:ea typeface="Cambria Math"/>
                                </a:rPr>
                              </m:ctrlPr>
                            </m:sSubSupPr>
                            <m:e>
                              <m:d>
                                <m:dPr>
                                  <m:ctrlPr>
                                    <a:rPr lang="en-US" sz="2200" i="1">
                                      <a:latin typeface="Cambria Math" panose="02040503050406030204" pitchFamily="18" charset="0"/>
                                      <a:ea typeface="Cambria Math"/>
                                    </a:rPr>
                                  </m:ctrlPr>
                                </m:dPr>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e>
                              </m:d>
                            </m:e>
                            <m:sub/>
                            <m:sup>
                              <m:r>
                                <a:rPr lang="en-US" sz="2200" i="1">
                                  <a:latin typeface="Cambria Math"/>
                                  <a:ea typeface="Cambria Math"/>
                                </a:rPr>
                                <m:t>∞</m:t>
                              </m:r>
                            </m:sup>
                          </m:sSubSup>
                        </m:e>
                        <m:sub>
                          <m:r>
                            <a:rPr lang="en-US" sz="2200" b="0" i="1" smtClean="0">
                              <a:latin typeface="Cambria Math"/>
                              <a:ea typeface="Cambria Math"/>
                            </a:rPr>
                            <m:t>−∞</m:t>
                          </m:r>
                        </m:sub>
                      </m:sSub>
                    </m:oMath>
                  </m:oMathPara>
                </a14:m>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b="-44609"/>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err="1">
                <a:ln>
                  <a:noFill/>
                </a:ln>
                <a:solidFill>
                  <a:schemeClr val="dk1"/>
                </a:solidFill>
                <a:effectLst/>
                <a:uLnTx/>
                <a:uFillTx/>
                <a:latin typeface="+mn-lt"/>
                <a:ea typeface="+mn-ea"/>
                <a:cs typeface="+mn-cs"/>
              </a:rPr>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1976377E-4821-48FF-861E-BC9348B7BBEE}"/>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7344102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a:rPr>
                            <m:t>𝑥</m:t>
                          </m:r>
                        </m:e>
                      </m:acc>
                      <m:r>
                        <a:rPr lang="en-US" sz="2200" b="0" i="0" smtClean="0">
                          <a:latin typeface="Cambria Math"/>
                        </a:rPr>
                        <m:t>=</m:t>
                      </m:r>
                      <m:r>
                        <m:rPr>
                          <m:sty m:val="p"/>
                        </m:rPr>
                        <a:rPr lang="el-GR" sz="2200" b="0" i="1" smtClean="0">
                          <a:latin typeface="Cambria Math"/>
                          <a:ea typeface="Cambria Math"/>
                        </a:rPr>
                        <m:t>μ</m:t>
                      </m:r>
                    </m:oMath>
                  </m:oMathPara>
                </a14:m>
                <a:endParaRPr lang="en-US" sz="2200" dirty="0"/>
              </a:p>
              <a:p>
                <a:pPr marL="0" indent="0">
                  <a:buNone/>
                </a:pPr>
                <a:r>
                  <a:rPr lang="en-US" sz="2200" dirty="0"/>
                  <a:t>Variance of Normal distribution :</a:t>
                </a:r>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smtClean="0">
                                  <a:latin typeface="Cambria Math" panose="02040503050406030204" pitchFamily="18" charset="0"/>
                                  <a:ea typeface="Cambria Math"/>
                                </a:rPr>
                              </m:ctrlPr>
                            </m:sSupPr>
                            <m:e>
                              <m:r>
                                <a:rPr lang="en-US" sz="2200" b="0" i="1" smtClean="0">
                                  <a:latin typeface="Cambria Math"/>
                                  <a:ea typeface="Cambria Math"/>
                                </a:rPr>
                                <m:t>(</m:t>
                              </m:r>
                              <m:r>
                                <a:rPr lang="en-US" sz="2200" b="0" i="1" smtClean="0">
                                  <a:latin typeface="Cambria Math"/>
                                  <a:ea typeface="Cambria Math"/>
                                </a:rPr>
                                <m:t>𝑥</m:t>
                              </m:r>
                              <m:r>
                                <a:rPr lang="en-US" sz="2200" b="0" i="1" smtClean="0">
                                  <a:latin typeface="Cambria Math"/>
                                  <a:ea typeface="Cambria Math"/>
                                </a:rPr>
                                <m:t>−</m:t>
                              </m:r>
                              <m:acc>
                                <m:accPr>
                                  <m:chr m:val="̅"/>
                                  <m:ctrlPr>
                                    <a:rPr lang="en-US" sz="2200" b="0" i="1" smtClean="0">
                                      <a:latin typeface="Cambria Math" panose="02040503050406030204" pitchFamily="18" charset="0"/>
                                      <a:ea typeface="Cambria Math"/>
                                    </a:rPr>
                                  </m:ctrlPr>
                                </m:accPr>
                                <m:e>
                                  <m:r>
                                    <a:rPr lang="en-US" sz="2200" b="0" i="1" smtClean="0">
                                      <a:latin typeface="Cambria Math"/>
                                      <a:ea typeface="Cambria Math"/>
                                    </a:rPr>
                                    <m:t>𝑥</m:t>
                                  </m:r>
                                </m:e>
                              </m:acc>
                              <m:r>
                                <a:rPr lang="en-US" sz="2200" b="0" i="1" smtClean="0">
                                  <a:latin typeface="Cambria Math"/>
                                </a:rPr>
                                <m:t>)</m:t>
                              </m:r>
                            </m:e>
                            <m:sup>
                              <m:r>
                                <a:rPr lang="en-US" sz="2200" b="0" i="1" smtClean="0">
                                  <a:latin typeface="Cambria Math"/>
                                  <a:ea typeface="Cambria Math"/>
                                </a:rPr>
                                <m:t>2</m:t>
                              </m:r>
                            </m:sup>
                          </m:sSup>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e>
                      </m:nary>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a:latin typeface="Cambria Math" panose="02040503050406030204" pitchFamily="18" charset="0"/>
                                  <a:ea typeface="Cambria Math"/>
                                </a:rPr>
                              </m:ctrlPr>
                            </m:sSupPr>
                            <m:e>
                              <m:r>
                                <a:rPr lang="en-US" sz="2200" i="1">
                                  <a:latin typeface="Cambria Math"/>
                                  <a:ea typeface="Cambria Math"/>
                                </a:rPr>
                                <m:t>𝑥</m:t>
                              </m:r>
                            </m:e>
                            <m:sup>
                              <m:r>
                                <a:rPr lang="en-US" sz="2200" i="1">
                                  <a:latin typeface="Cambria Math"/>
                                  <a:ea typeface="Cambria Math"/>
                                </a:rPr>
                                <m:t>2</m:t>
                              </m:r>
                            </m:sup>
                          </m:sSup>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r>
                            <m:rPr>
                              <m:nor/>
                            </m:rPr>
                            <a:rPr lang="en-US" sz="2200" dirty="0"/>
                            <m:t> </m:t>
                          </m:r>
                          <m:sSup>
                            <m:sSupPr>
                              <m:ctrlPr>
                                <a:rPr lang="en-US" sz="2200" i="1">
                                  <a:latin typeface="Cambria Math" panose="02040503050406030204" pitchFamily="18" charset="0"/>
                                  <a:ea typeface="Cambria Math"/>
                                </a:rPr>
                              </m:ctrlPr>
                            </m:sSupPr>
                            <m:e>
                              <m:r>
                                <a:rPr lang="en-US" sz="2200" i="1">
                                  <a:latin typeface="Cambria Math"/>
                                  <a:ea typeface="Cambria Math"/>
                                </a:rPr>
                                <m:t>−</m:t>
                              </m:r>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e>
                            <m:sup>
                              <m:r>
                                <a:rPr lang="en-US" sz="2200" i="1">
                                  <a:latin typeface="Cambria Math"/>
                                  <a:ea typeface="Cambria Math"/>
                                </a:rPr>
                                <m:t>2</m:t>
                              </m:r>
                            </m:sup>
                          </m:sSup>
                        </m:e>
                      </m:nary>
                      <m:r>
                        <a:rPr lang="en-US" sz="2200" b="0" i="0" smtClean="0">
                          <a:latin typeface="Cambria Math"/>
                        </a:rPr>
                        <m:t>…………(1)</m:t>
                      </m:r>
                    </m:oMath>
                  </m:oMathPara>
                </a14:m>
                <a:endParaRPr lang="en-US" sz="2200" dirty="0"/>
              </a:p>
              <a:p>
                <a:pPr marL="0" indent="0">
                  <a:buNone/>
                </a:pPr>
                <a:r>
                  <a:rPr lang="en-US" sz="2200" dirty="0"/>
                  <a:t>Let </a:t>
                </a:r>
                <a14:m>
                  <m:oMath xmlns:m="http://schemas.openxmlformats.org/officeDocument/2006/math">
                    <m:r>
                      <m:rPr>
                        <m:sty m:val="p"/>
                      </m:rPr>
                      <a:rPr lang="en-US" sz="2200" b="0" i="0" smtClean="0">
                        <a:latin typeface="Cambria Math"/>
                      </a:rPr>
                      <m:t>I</m:t>
                    </m:r>
                    <m:r>
                      <a:rPr lang="en-US" sz="2200" i="1">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a:latin typeface="Cambria Math" panose="02040503050406030204" pitchFamily="18" charset="0"/>
                                <a:ea typeface="Cambria Math"/>
                              </a:rPr>
                            </m:ctrlPr>
                          </m:sSupPr>
                          <m:e>
                            <m:r>
                              <a:rPr lang="en-US" sz="2200" i="1">
                                <a:latin typeface="Cambria Math"/>
                                <a:ea typeface="Cambria Math"/>
                              </a:rPr>
                              <m:t>𝑥</m:t>
                            </m:r>
                          </m:e>
                          <m:sup>
                            <m:r>
                              <a:rPr lang="en-US" sz="2200" i="1">
                                <a:latin typeface="Cambria Math"/>
                                <a:ea typeface="Cambria Math"/>
                              </a:rPr>
                              <m:t>2</m:t>
                            </m:r>
                          </m:sup>
                        </m:sSup>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r>
                          <m:rPr>
                            <m:nor/>
                          </m:rPr>
                          <a:rPr lang="en-US" sz="2200" dirty="0"/>
                          <m:t> </m:t>
                        </m:r>
                        <m:r>
                          <a:rPr lang="en-US" sz="2200" i="1">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a:latin typeface="Cambria Math" panose="02040503050406030204" pitchFamily="18" charset="0"/>
                                    <a:ea typeface="Cambria Math"/>
                                  </a:rPr>
                                </m:ctrlPr>
                              </m:sSupPr>
                              <m:e>
                                <m:r>
                                  <a:rPr lang="en-US" sz="2200" i="1">
                                    <a:latin typeface="Cambria Math"/>
                                    <a:ea typeface="Cambria Math"/>
                                  </a:rPr>
                                  <m:t>𝑥</m:t>
                                </m:r>
                              </m:e>
                              <m:sup>
                                <m:r>
                                  <a:rPr lang="en-US" sz="2200" i="1">
                                    <a:latin typeface="Cambria Math"/>
                                    <a:ea typeface="Cambria Math"/>
                                  </a:rPr>
                                  <m:t>2</m:t>
                                </m:r>
                              </m:sup>
                            </m:sSup>
                          </m:e>
                        </m:nary>
                        <m:f>
                          <m:fPr>
                            <m:ctrlPr>
                              <a:rPr lang="en-US" sz="2200" i="1">
                                <a:latin typeface="Cambria Math" panose="02040503050406030204" pitchFamily="18" charset="0"/>
                              </a:rPr>
                            </m:ctrlPr>
                          </m:fPr>
                          <m:num>
                            <m:r>
                              <a:rPr lang="en-US" sz="2200" i="1">
                                <a:latin typeface="Cambria Math"/>
                              </a:rPr>
                              <m:t>1</m:t>
                            </m:r>
                          </m:num>
                          <m:den>
                            <m:r>
                              <a:rPr lang="en-US" sz="2200" i="1">
                                <a:latin typeface="Cambria Math"/>
                                <a:ea typeface="Cambria Math"/>
                              </a:rPr>
                              <m:t>𝜎</m:t>
                            </m:r>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a:rPr>
                                          <m:t>𝑥</m:t>
                                        </m:r>
                                        <m:r>
                                          <a:rPr lang="en-US" sz="2200" i="1">
                                            <a:latin typeface="Cambria Math"/>
                                          </a:rPr>
                                          <m:t>−</m:t>
                                        </m:r>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num>
                                      <m:den>
                                        <m:r>
                                          <a:rPr lang="en-US" sz="2200" i="1">
                                            <a:latin typeface="Cambria Math"/>
                                            <a:ea typeface="Cambria Math"/>
                                          </a:rPr>
                                          <m:t>𝜎</m:t>
                                        </m:r>
                                      </m:den>
                                    </m:f>
                                  </m:e>
                                </m:d>
                              </m:e>
                              <m:sup>
                                <m:r>
                                  <a:rPr lang="en-US" sz="2200" i="1">
                                    <a:latin typeface="Cambria Math"/>
                                  </a:rPr>
                                  <m:t>2</m:t>
                                </m:r>
                              </m:sup>
                            </m:sSup>
                          </m:sup>
                        </m:sSup>
                        <m:r>
                          <a:rPr lang="en-US" sz="2200" b="0" i="1" smtClean="0">
                            <a:latin typeface="Cambria Math"/>
                          </a:rPr>
                          <m:t>𝑑𝑥</m:t>
                        </m:r>
                      </m:e>
                    </m:nary>
                  </m:oMath>
                </a14:m>
                <a:endParaRPr lang="en-US" sz="2200" dirty="0"/>
              </a:p>
              <a:p>
                <a:pPr marL="0" indent="0">
                  <a:buNone/>
                </a:pPr>
                <a14:m>
                  <m:oMath xmlns:m="http://schemas.openxmlformats.org/officeDocument/2006/math">
                    <m:f>
                      <m:fPr>
                        <m:ctrlPr>
                          <a:rPr lang="en-US" sz="2200" i="1">
                            <a:latin typeface="Cambria Math" panose="02040503050406030204" pitchFamily="18" charset="0"/>
                          </a:rPr>
                        </m:ctrlPr>
                      </m:fPr>
                      <m:num>
                        <m:r>
                          <a:rPr lang="en-US" sz="2200" i="1">
                            <a:latin typeface="Cambria Math"/>
                          </a:rPr>
                          <m:t>𝑥</m:t>
                        </m:r>
                        <m:r>
                          <a:rPr lang="en-US" sz="2200" i="1">
                            <a:latin typeface="Cambria Math"/>
                          </a:rPr>
                          <m:t>−</m:t>
                        </m:r>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num>
                      <m:den>
                        <m:r>
                          <a:rPr lang="en-US" sz="2200" i="1">
                            <a:latin typeface="Cambria Math"/>
                            <a:ea typeface="Cambria Math"/>
                          </a:rPr>
                          <m:t>𝜎</m:t>
                        </m:r>
                      </m:den>
                    </m:f>
                    <m:r>
                      <a:rPr lang="en-US" sz="2200" b="0" i="0" smtClean="0">
                        <a:latin typeface="Cambria Math"/>
                        <a:ea typeface="Cambria Math"/>
                      </a:rPr>
                      <m:t>=</m:t>
                    </m:r>
                    <m:r>
                      <m:rPr>
                        <m:sty m:val="p"/>
                      </m:rPr>
                      <a:rPr lang="en-US" sz="2200" b="0" i="0" smtClean="0">
                        <a:latin typeface="Cambria Math"/>
                        <a:ea typeface="Cambria Math"/>
                      </a:rPr>
                      <m:t>z</m:t>
                    </m:r>
                  </m:oMath>
                </a14:m>
                <a:r>
                  <a:rPr lang="en-US" sz="2200" dirty="0"/>
                  <a:t> so that</a:t>
                </a:r>
                <a14:m>
                  <m:oMath xmlns:m="http://schemas.openxmlformats.org/officeDocument/2006/math">
                    <m:r>
                      <a:rPr lang="en-US" sz="2200" b="0" i="0" smtClean="0">
                        <a:latin typeface="Cambria Math"/>
                      </a:rPr>
                      <m:t> </m:t>
                    </m:r>
                    <m:r>
                      <a:rPr lang="en-US" sz="2200" i="1">
                        <a:latin typeface="Cambria Math"/>
                      </a:rPr>
                      <m:t>𝑥</m:t>
                    </m:r>
                    <m:r>
                      <a:rPr lang="en-US" sz="2200" b="0" i="1" smtClean="0">
                        <a:latin typeface="Cambria Math"/>
                      </a:rPr>
                      <m:t>=</m:t>
                    </m:r>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r>
                      <a:rPr lang="en-US" sz="2200" b="0" i="1" smtClean="0">
                        <a:latin typeface="Cambria Math"/>
                        <a:ea typeface="Cambria Math"/>
                      </a:rPr>
                      <m:t>+</m:t>
                    </m:r>
                    <m:r>
                      <a:rPr lang="en-US" sz="2200" i="1">
                        <a:latin typeface="Cambria Math"/>
                        <a:ea typeface="Cambria Math"/>
                      </a:rPr>
                      <m:t>𝜎</m:t>
                    </m:r>
                    <m:r>
                      <a:rPr lang="en-US" sz="2200" b="0" i="1" smtClean="0">
                        <a:latin typeface="Cambria Math"/>
                        <a:ea typeface="Cambria Math"/>
                      </a:rPr>
                      <m:t>𝑧</m:t>
                    </m:r>
                    <m:r>
                      <a:rPr lang="en-US" sz="2200" b="0" i="1" smtClean="0">
                        <a:latin typeface="Cambria Math"/>
                        <a:ea typeface="Cambria Math"/>
                      </a:rPr>
                      <m:t> </m:t>
                    </m:r>
                  </m:oMath>
                </a14:m>
                <a:r>
                  <a:rPr lang="en-US" sz="2200" dirty="0"/>
                  <a:t>therefore </a:t>
                </a:r>
                <a14:m>
                  <m:oMath xmlns:m="http://schemas.openxmlformats.org/officeDocument/2006/math">
                    <m:r>
                      <m:rPr>
                        <m:sty m:val="p"/>
                      </m:rPr>
                      <a:rPr lang="en-US" sz="2200" b="0" i="0" smtClean="0">
                        <a:latin typeface="Cambria Math"/>
                      </a:rPr>
                      <m:t>d</m:t>
                    </m:r>
                    <m:r>
                      <a:rPr lang="en-US" sz="2200" i="1">
                        <a:latin typeface="Cambria Math"/>
                      </a:rPr>
                      <m:t>𝑥</m:t>
                    </m:r>
                    <m:r>
                      <a:rPr lang="en-US" sz="2200" i="1">
                        <a:latin typeface="Cambria Math"/>
                      </a:rPr>
                      <m:t>=</m:t>
                    </m:r>
                    <m:r>
                      <a:rPr lang="en-US" sz="2200" i="1">
                        <a:latin typeface="Cambria Math"/>
                        <a:ea typeface="Cambria Math"/>
                      </a:rPr>
                      <m:t>𝜎</m:t>
                    </m:r>
                    <m:r>
                      <a:rPr lang="en-US" sz="2200" b="0" i="1" smtClean="0">
                        <a:latin typeface="Cambria Math"/>
                        <a:ea typeface="Cambria Math"/>
                      </a:rPr>
                      <m:t>𝑑</m:t>
                    </m:r>
                    <m:r>
                      <a:rPr lang="en-US" sz="2200" i="1">
                        <a:latin typeface="Cambria Math"/>
                        <a:ea typeface="Cambria Math"/>
                      </a:rPr>
                      <m:t>𝑧</m:t>
                    </m:r>
                  </m:oMath>
                </a14:m>
                <a:endParaRPr lang="en-US" sz="2200" dirty="0"/>
              </a:p>
              <a:p>
                <a:pPr marL="0" indent="0">
                  <a:buNone/>
                </a:pPr>
                <a:endParaRPr lang="en-US" sz="2200" dirty="0"/>
              </a:p>
              <a:p>
                <a:pPr marL="0" indent="0">
                  <a:buNone/>
                </a:pPr>
                <a:endParaRPr lang="en-US" sz="2200" dirty="0"/>
              </a:p>
              <a:p>
                <a:endParaRPr lang="en-US" sz="2200" dirty="0"/>
              </a:p>
              <a:p>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4717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err="1"/>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D7E3C02C-A807-4EAB-967A-66244525ADEC}"/>
              </a:ext>
            </a:extLst>
          </p:cNvPr>
          <p:cNvSpPr>
            <a:spLocks noGrp="1"/>
          </p:cNvSpPr>
          <p:nvPr>
            <p:ph type="ftr" sz="quarter" idx="11"/>
          </p:nvPr>
        </p:nvSpPr>
        <p:spPr/>
        <p:txBody>
          <a:bodyPr/>
          <a:lstStyle/>
          <a:p>
            <a:r>
              <a:rPr lang="en-US"/>
              <a:t>Dr. Lokesh chaudhary    Statistics and Probability     Module 4</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r>
                        <m:rPr>
                          <m:sty m:val="p"/>
                        </m:rPr>
                        <a:rPr lang="en-US" sz="2200" smtClean="0">
                          <a:latin typeface="Cambria Math"/>
                        </a:rPr>
                        <m:t>I</m:t>
                      </m:r>
                      <m:r>
                        <a:rPr lang="en-US" sz="2200" i="1">
                          <a:latin typeface="Cambria Math"/>
                        </a:rPr>
                        <m:t>=</m:t>
                      </m:r>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a:latin typeface="Cambria Math" panose="02040503050406030204" pitchFamily="18" charset="0"/>
                                  <a:ea typeface="Cambria Math"/>
                                </a:rPr>
                              </m:ctrlPr>
                            </m:sSupPr>
                            <m:e>
                              <m:r>
                                <a:rPr lang="en-US" sz="2200" b="0" i="1" smtClean="0">
                                  <a:latin typeface="Cambria Math"/>
                                  <a:ea typeface="Cambria Math"/>
                                </a:rPr>
                                <m:t>(</m:t>
                              </m:r>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r>
                                <a:rPr lang="en-US" sz="2200" i="1">
                                  <a:latin typeface="Cambria Math"/>
                                  <a:ea typeface="Cambria Math"/>
                                </a:rPr>
                                <m:t>+</m:t>
                              </m:r>
                              <m:r>
                                <a:rPr lang="en-US" sz="2200" i="1">
                                  <a:latin typeface="Cambria Math"/>
                                  <a:ea typeface="Cambria Math"/>
                                </a:rPr>
                                <m:t>𝜎</m:t>
                              </m:r>
                              <m:r>
                                <a:rPr lang="en-US" sz="2200" i="1">
                                  <a:latin typeface="Cambria Math"/>
                                  <a:ea typeface="Cambria Math"/>
                                </a:rPr>
                                <m:t>𝑧</m:t>
                              </m:r>
                              <m:r>
                                <a:rPr lang="en-US" sz="2200" b="0" i="1" smtClean="0">
                                  <a:latin typeface="Cambria Math"/>
                                  <a:ea typeface="Cambria Math"/>
                                </a:rPr>
                                <m:t>)</m:t>
                              </m:r>
                            </m:e>
                            <m:sup>
                              <m:r>
                                <a:rPr lang="en-US" sz="2200" i="1">
                                  <a:latin typeface="Cambria Math"/>
                                  <a:ea typeface="Cambria Math"/>
                                </a:rPr>
                                <m:t>2</m:t>
                              </m:r>
                            </m:sup>
                          </m:sSup>
                        </m:e>
                      </m:nary>
                      <m:f>
                        <m:fPr>
                          <m:ctrlPr>
                            <a:rPr lang="en-US" sz="2200" i="1">
                              <a:latin typeface="Cambria Math" panose="02040503050406030204" pitchFamily="18" charset="0"/>
                            </a:rPr>
                          </m:ctrlPr>
                        </m:fPr>
                        <m:num>
                          <m:r>
                            <a:rPr lang="en-US" sz="2200" i="1">
                              <a:latin typeface="Cambria Math"/>
                            </a:rPr>
                            <m:t>1</m:t>
                          </m:r>
                        </m:num>
                        <m:den>
                          <m:r>
                            <a:rPr lang="en-US" sz="2200" i="1">
                              <a:latin typeface="Cambria Math"/>
                              <a:ea typeface="Cambria Math"/>
                            </a:rPr>
                            <m:t>𝜎</m:t>
                          </m:r>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b="0" i="1" smtClean="0">
                                  <a:latin typeface="Cambria Math"/>
                                </a:rPr>
                                <m:t>𝑧</m:t>
                              </m:r>
                            </m:e>
                            <m:sup>
                              <m:r>
                                <a:rPr lang="en-US" sz="2200" i="1">
                                  <a:latin typeface="Cambria Math"/>
                                </a:rPr>
                                <m:t>2</m:t>
                              </m:r>
                            </m:sup>
                          </m:sSup>
                        </m:sup>
                      </m:sSup>
                      <m:r>
                        <a:rPr lang="en-US" sz="2200" i="1">
                          <a:latin typeface="Cambria Math"/>
                          <a:ea typeface="Cambria Math"/>
                        </a:rPr>
                        <m:t>𝜎</m:t>
                      </m:r>
                      <m:r>
                        <a:rPr lang="en-US" sz="2200" i="1">
                          <a:latin typeface="Cambria Math"/>
                        </a:rPr>
                        <m:t>𝑑𝑥</m:t>
                      </m:r>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ea typeface="Cambria Math"/>
                        </a:rPr>
                        <m:t>=</m:t>
                      </m:r>
                      <m:r>
                        <a:rPr lang="en-US" sz="2200" b="0" i="1" smtClean="0">
                          <a:latin typeface="Cambria Math"/>
                          <a:ea typeface="Cambria Math"/>
                        </a:rPr>
                        <m:t>−</m:t>
                      </m:r>
                      <m:f>
                        <m:fPr>
                          <m:ctrlPr>
                            <a:rPr lang="en-US" sz="2200" i="1" smtClean="0">
                              <a:latin typeface="Cambria Math" panose="02040503050406030204" pitchFamily="18" charset="0"/>
                              <a:ea typeface="Cambria Math"/>
                            </a:rPr>
                          </m:ctrlPr>
                        </m:fPr>
                        <m:num>
                          <m:sSup>
                            <m:sSupPr>
                              <m:ctrlPr>
                                <a:rPr lang="en-US" sz="2200" i="1" smtClean="0">
                                  <a:latin typeface="Cambria Math" panose="02040503050406030204" pitchFamily="18" charset="0"/>
                                  <a:ea typeface="Cambria Math"/>
                                </a:rPr>
                              </m:ctrlPr>
                            </m:sSupPr>
                            <m:e>
                              <m:r>
                                <a:rPr lang="en-US" sz="2200" i="1">
                                  <a:latin typeface="Cambria Math"/>
                                  <a:ea typeface="Cambria Math"/>
                                </a:rPr>
                                <m:t>𝜎</m:t>
                              </m:r>
                            </m:e>
                            <m:sup>
                              <m:r>
                                <a:rPr lang="en-US" sz="2200" b="0" i="1" smtClean="0">
                                  <a:latin typeface="Cambria Math"/>
                                  <a:ea typeface="Cambria Math"/>
                                </a:rPr>
                                <m:t>2</m:t>
                              </m:r>
                            </m:sup>
                          </m:sSup>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sSup>
                        <m:sSupPr>
                          <m:ctrlPr>
                            <a:rPr lang="en-US" sz="2200" i="1" smtClean="0">
                              <a:latin typeface="Cambria Math" panose="02040503050406030204" pitchFamily="18" charset="0"/>
                              <a:ea typeface="Cambria Math"/>
                            </a:rPr>
                          </m:ctrlPr>
                        </m:sSupPr>
                        <m:e>
                          <m:sSub>
                            <m:sSubPr>
                              <m:ctrlPr>
                                <a:rPr lang="en-US" sz="2200" i="1" smtClean="0">
                                  <a:latin typeface="Cambria Math" panose="02040503050406030204" pitchFamily="18" charset="0"/>
                                  <a:ea typeface="Cambria Math"/>
                                </a:rPr>
                              </m:ctrlPr>
                            </m:sSubPr>
                            <m:e>
                              <m:d>
                                <m:dPr>
                                  <m:ctrlPr>
                                    <a:rPr lang="en-US" sz="2200" i="1" smtClean="0">
                                      <a:latin typeface="Cambria Math" panose="02040503050406030204" pitchFamily="18" charset="0"/>
                                      <a:ea typeface="Cambria Math"/>
                                    </a:rPr>
                                  </m:ctrlPr>
                                </m:dPr>
                                <m:e>
                                  <m:r>
                                    <a:rPr lang="en-US" sz="2200" b="0" i="1" smtClean="0">
                                      <a:latin typeface="Cambria Math"/>
                                      <a:ea typeface="Cambria Math"/>
                                    </a:rPr>
                                    <m:t>𝑧</m:t>
                                  </m:r>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e>
                              </m:d>
                            </m:e>
                            <m:sub>
                              <m:r>
                                <a:rPr lang="en-US" sz="2200" b="0" i="1" smtClean="0">
                                  <a:latin typeface="Cambria Math"/>
                                  <a:ea typeface="Cambria Math"/>
                                </a:rPr>
                                <m:t>−∞</m:t>
                              </m:r>
                            </m:sub>
                          </m:sSub>
                        </m:e>
                        <m:sup>
                          <m:r>
                            <a:rPr lang="en-US" sz="2200" i="1" smtClean="0">
                              <a:latin typeface="Cambria Math"/>
                              <a:ea typeface="Cambria Math"/>
                            </a:rPr>
                            <m:t>∞</m:t>
                          </m:r>
                        </m:sup>
                      </m:sSup>
                      <m:r>
                        <a:rPr lang="en-US" sz="2200" b="0" i="0" smtClean="0">
                          <a:latin typeface="Cambria Math"/>
                          <a:ea typeface="Cambria Math"/>
                        </a:rPr>
                        <m:t>+</m:t>
                      </m:r>
                      <m:f>
                        <m:fPr>
                          <m:ctrlPr>
                            <a:rPr lang="en-US" sz="2200" i="1">
                              <a:latin typeface="Cambria Math" panose="02040503050406030204" pitchFamily="18" charset="0"/>
                              <a:ea typeface="Cambria Math"/>
                            </a:rPr>
                          </m:ctrlPr>
                        </m:fPr>
                        <m:num>
                          <m:sSup>
                            <m:sSupPr>
                              <m:ctrlPr>
                                <a:rPr lang="en-US" sz="2200" i="1">
                                  <a:latin typeface="Cambria Math" panose="02040503050406030204" pitchFamily="18" charset="0"/>
                                  <a:ea typeface="Cambria Math"/>
                                </a:rPr>
                              </m:ctrlPr>
                            </m:sSupPr>
                            <m:e>
                              <m:r>
                                <a:rPr lang="en-US" sz="2200" i="1">
                                  <a:latin typeface="Cambria Math"/>
                                  <a:ea typeface="Cambria Math"/>
                                </a:rPr>
                                <m:t>𝜎</m:t>
                              </m:r>
                            </m:e>
                            <m:sup>
                              <m:r>
                                <a:rPr lang="en-US" sz="2200" i="1">
                                  <a:latin typeface="Cambria Math"/>
                                  <a:ea typeface="Cambria Math"/>
                                </a:rPr>
                                <m:t>2</m:t>
                              </m:r>
                            </m:sup>
                          </m:sSup>
                        </m:num>
                        <m:den>
                          <m:rad>
                            <m:radPr>
                              <m:degHide m:val="on"/>
                              <m:ctrlPr>
                                <a:rPr lang="en-US" sz="2200" i="1">
                                  <a:latin typeface="Cambria Math" panose="02040503050406030204" pitchFamily="18" charset="0"/>
                                  <a:ea typeface="Cambria Math"/>
                                </a:rPr>
                              </m:ctrlPr>
                            </m:radPr>
                            <m:deg/>
                            <m:e>
                              <m:r>
                                <a:rPr lang="en-US" sz="2200" i="1">
                                  <a:latin typeface="Cambria Math"/>
                                  <a:ea typeface="Cambria Math"/>
                                </a:rPr>
                                <m:t>2</m:t>
                              </m:r>
                              <m:r>
                                <a:rPr lang="en-US" sz="2200" i="1">
                                  <a:latin typeface="Cambria Math"/>
                                  <a:ea typeface="Cambria Math"/>
                                </a:rPr>
                                <m:t>𝜋</m:t>
                              </m:r>
                            </m:e>
                          </m:rad>
                        </m:den>
                      </m:f>
                      <m:nary>
                        <m:naryPr>
                          <m:limLoc m:val="undOvr"/>
                          <m:ctrlPr>
                            <a:rPr lang="en-US" sz="2200" i="1" smtClean="0">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sup>
                          </m:sSup>
                        </m:e>
                      </m:nary>
                      <m:r>
                        <a:rPr lang="en-US" sz="2200" i="1">
                          <a:latin typeface="Cambria Math"/>
                        </a:rPr>
                        <m:t>𝑑𝑥</m:t>
                      </m:r>
                      <m:r>
                        <a:rPr lang="en-US" sz="2200" b="0" i="1" smtClean="0">
                          <a:latin typeface="Cambria Math"/>
                        </a:rPr>
                        <m:t>+</m:t>
                      </m:r>
                      <m:sSup>
                        <m:sSupPr>
                          <m:ctrlPr>
                            <a:rPr lang="en-US" sz="2200" b="0" i="1" smtClean="0">
                              <a:latin typeface="Cambria Math" panose="02040503050406030204" pitchFamily="18" charset="0"/>
                            </a:rPr>
                          </m:ctrlPr>
                        </m:sSupPr>
                        <m:e>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e>
                        <m:sup>
                          <m:r>
                            <a:rPr lang="en-US" sz="2200" b="0" i="1" smtClean="0">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m:t>
                      </m:r>
                      <m:r>
                        <a:rPr lang="en-US" sz="2200" b="0" i="1" smtClean="0">
                          <a:latin typeface="Cambria Math"/>
                          <a:ea typeface="Cambria Math"/>
                        </a:rPr>
                        <m:t>0+</m:t>
                      </m:r>
                      <m:sSup>
                        <m:sSupPr>
                          <m:ctrlPr>
                            <a:rPr lang="en-US" sz="2200" i="1">
                              <a:latin typeface="Cambria Math" panose="02040503050406030204" pitchFamily="18" charset="0"/>
                              <a:ea typeface="Cambria Math"/>
                            </a:rPr>
                          </m:ctrlPr>
                        </m:sSupPr>
                        <m:e>
                          <m:r>
                            <a:rPr lang="en-US" sz="2200" i="1">
                              <a:latin typeface="Cambria Math"/>
                              <a:ea typeface="Cambria Math"/>
                            </a:rPr>
                            <m:t>𝜎</m:t>
                          </m:r>
                        </m:e>
                        <m:sup>
                          <m:r>
                            <a:rPr lang="en-US" sz="2200" i="1">
                              <a:latin typeface="Cambria Math"/>
                              <a:ea typeface="Cambria Math"/>
                            </a:rPr>
                            <m:t>2</m:t>
                          </m:r>
                        </m:sup>
                      </m:sSup>
                      <m:r>
                        <a:rPr lang="en-US" sz="2200" i="1">
                          <a:latin typeface="Cambria Math"/>
                        </a:rPr>
                        <m:t>+</m:t>
                      </m:r>
                      <m:sSup>
                        <m:sSupPr>
                          <m:ctrlPr>
                            <a:rPr lang="en-US" sz="2200" i="1">
                              <a:latin typeface="Cambria Math" panose="02040503050406030204" pitchFamily="18" charset="0"/>
                            </a:rPr>
                          </m:ctrlPr>
                        </m:sSupPr>
                        <m:e>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e>
                        <m:sup>
                          <m:r>
                            <a:rPr lang="en-US" sz="2200" i="1">
                              <a:latin typeface="Cambria Math"/>
                            </a:rPr>
                            <m:t>2</m:t>
                          </m:r>
                        </m:sup>
                      </m:sSup>
                    </m:oMath>
                  </m:oMathPara>
                </a14:m>
                <a:endParaRPr lang="en-US" sz="2200" dirty="0"/>
              </a:p>
              <a:p>
                <a:pPr marL="0" indent="0">
                  <a:buNone/>
                </a:pPr>
                <a14:m>
                  <m:oMathPara xmlns:m="http://schemas.openxmlformats.org/officeDocument/2006/math">
                    <m:oMathParaPr>
                      <m:jc m:val="left"/>
                    </m:oMathParaPr>
                    <m:oMath xmlns:m="http://schemas.openxmlformats.org/officeDocument/2006/math">
                      <m:sSup>
                        <m:sSupPr>
                          <m:ctrlPr>
                            <a:rPr lang="en-US" sz="2200" i="1">
                              <a:latin typeface="Cambria Math" panose="02040503050406030204" pitchFamily="18" charset="0"/>
                              <a:ea typeface="Cambria Math"/>
                            </a:rPr>
                          </m:ctrlPr>
                        </m:sSupPr>
                        <m:e>
                          <m:r>
                            <a:rPr lang="en-US" sz="2200" b="0" i="1" smtClean="0">
                              <a:latin typeface="Cambria Math"/>
                              <a:ea typeface="Cambria Math"/>
                            </a:rPr>
                            <m:t>=</m:t>
                          </m:r>
                          <m:r>
                            <a:rPr lang="en-US" sz="2200" i="1">
                              <a:latin typeface="Cambria Math"/>
                              <a:ea typeface="Cambria Math"/>
                            </a:rPr>
                            <m:t>𝜎</m:t>
                          </m:r>
                        </m:e>
                        <m:sup>
                          <m:r>
                            <a:rPr lang="en-US" sz="2200" i="1">
                              <a:latin typeface="Cambria Math"/>
                              <a:ea typeface="Cambria Math"/>
                            </a:rPr>
                            <m:t>2</m:t>
                          </m:r>
                        </m:sup>
                      </m:sSup>
                      <m:r>
                        <a:rPr lang="en-US" sz="2200" i="1">
                          <a:latin typeface="Cambria Math"/>
                        </a:rPr>
                        <m:t>+</m:t>
                      </m:r>
                      <m:sSup>
                        <m:sSupPr>
                          <m:ctrlPr>
                            <a:rPr lang="en-US" sz="2200" i="1">
                              <a:latin typeface="Cambria Math" panose="02040503050406030204" pitchFamily="18" charset="0"/>
                            </a:rPr>
                          </m:ctrlPr>
                        </m:sSupPr>
                        <m:e>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e>
                        <m:sup>
                          <m:r>
                            <a:rPr lang="en-US" sz="2200" i="1">
                              <a:latin typeface="Cambria Math"/>
                            </a:rPr>
                            <m:t>2</m:t>
                          </m:r>
                        </m:sup>
                      </m:sSup>
                    </m:oMath>
                  </m:oMathPara>
                </a14:m>
                <a:endParaRPr lang="en-US" sz="2200" dirty="0"/>
              </a:p>
              <a:p>
                <a:pPr marL="0" indent="0">
                  <a:buNone/>
                </a:pPr>
                <a:r>
                  <a:rPr lang="en-US" sz="2200" dirty="0"/>
                  <a:t>In equation(1)</a:t>
                </a:r>
              </a:p>
              <a:p>
                <a:pPr marL="0" indent="0">
                  <a:buNone/>
                </a:pPr>
                <a:r>
                  <a:rPr lang="en-US" sz="2200" dirty="0"/>
                  <a:t>Variance </a:t>
                </a:r>
                <a14:m>
                  <m:oMath xmlns:m="http://schemas.openxmlformats.org/officeDocument/2006/math">
                    <m:sSup>
                      <m:sSupPr>
                        <m:ctrlPr>
                          <a:rPr lang="en-US" sz="2200" i="1">
                            <a:latin typeface="Cambria Math" panose="02040503050406030204" pitchFamily="18" charset="0"/>
                            <a:ea typeface="Cambria Math"/>
                          </a:rPr>
                        </m:ctrlPr>
                      </m:sSupPr>
                      <m:e>
                        <m:r>
                          <a:rPr lang="en-US" sz="2200" b="0" i="1" smtClean="0">
                            <a:latin typeface="Cambria Math"/>
                            <a:ea typeface="Cambria Math"/>
                          </a:rPr>
                          <m:t>=</m:t>
                        </m:r>
                        <m:r>
                          <a:rPr lang="en-US" sz="2200" i="1">
                            <a:latin typeface="Cambria Math"/>
                            <a:ea typeface="Cambria Math"/>
                          </a:rPr>
                          <m:t>𝜎</m:t>
                        </m:r>
                      </m:e>
                      <m:sup>
                        <m:r>
                          <a:rPr lang="en-US" sz="2200" i="1">
                            <a:latin typeface="Cambria Math"/>
                            <a:ea typeface="Cambria Math"/>
                          </a:rPr>
                          <m:t>2</m:t>
                        </m:r>
                      </m:sup>
                    </m:sSup>
                    <m:r>
                      <a:rPr lang="en-US" sz="2200" i="1">
                        <a:latin typeface="Cambria Math"/>
                      </a:rPr>
                      <m:t>+</m:t>
                    </m:r>
                    <m:sSup>
                      <m:sSupPr>
                        <m:ctrlPr>
                          <a:rPr lang="en-US" sz="2200" i="1">
                            <a:latin typeface="Cambria Math" panose="02040503050406030204" pitchFamily="18" charset="0"/>
                          </a:rPr>
                        </m:ctrlPr>
                      </m:sSupPr>
                      <m:e>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e>
                      <m:sup>
                        <m:r>
                          <a:rPr lang="en-US" sz="2200" i="1">
                            <a:latin typeface="Cambria Math"/>
                          </a:rPr>
                          <m:t>2</m:t>
                        </m:r>
                      </m:sup>
                    </m:sSup>
                    <m:r>
                      <a:rPr lang="en-US" sz="2200" b="0" i="1" smtClean="0">
                        <a:latin typeface="Cambria Math"/>
                      </a:rPr>
                      <m:t>−</m:t>
                    </m:r>
                    <m:sSup>
                      <m:sSupPr>
                        <m:ctrlPr>
                          <a:rPr lang="en-US" sz="2200" i="1">
                            <a:latin typeface="Cambria Math" panose="02040503050406030204" pitchFamily="18" charset="0"/>
                          </a:rPr>
                        </m:ctrlPr>
                      </m:sSupPr>
                      <m:e>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e>
                      <m:sup>
                        <m:r>
                          <a:rPr lang="en-US" sz="2200" i="1">
                            <a:latin typeface="Cambria Math"/>
                          </a:rPr>
                          <m:t>2</m:t>
                        </m:r>
                      </m:sup>
                    </m:sSup>
                    <m:r>
                      <a:rPr lang="en-US" sz="2200" b="0" i="1" smtClean="0">
                        <a:latin typeface="Cambria Math"/>
                      </a:rPr>
                      <m:t>=</m:t>
                    </m:r>
                    <m:sSup>
                      <m:sSupPr>
                        <m:ctrlPr>
                          <a:rPr lang="en-US" sz="2200" i="1" smtClean="0">
                            <a:latin typeface="Cambria Math" panose="02040503050406030204" pitchFamily="18" charset="0"/>
                            <a:ea typeface="Cambria Math"/>
                          </a:rPr>
                        </m:ctrlPr>
                      </m:sSupPr>
                      <m:e>
                        <m:r>
                          <a:rPr lang="en-US" sz="2200" i="1">
                            <a:latin typeface="Cambria Math"/>
                            <a:ea typeface="Cambria Math"/>
                          </a:rPr>
                          <m:t>𝜎</m:t>
                        </m:r>
                      </m:e>
                      <m:sup>
                        <m:r>
                          <a:rPr lang="en-US" sz="2200" i="1">
                            <a:latin typeface="Cambria Math"/>
                            <a:ea typeface="Cambria Math"/>
                          </a:rPr>
                          <m:t>2</m:t>
                        </m:r>
                      </m:sup>
                    </m:sSup>
                  </m:oMath>
                </a14:m>
                <a:endParaRPr lang="en-US" sz="2200" dirty="0"/>
              </a:p>
              <a:p>
                <a:pPr marL="0" indent="0">
                  <a:buNone/>
                </a:pPr>
                <a:r>
                  <a:rPr lang="en-US" sz="2200" dirty="0" err="1"/>
                  <a:t>s.d.</a:t>
                </a:r>
                <a:r>
                  <a:rPr lang="en-US" sz="2200" dirty="0"/>
                  <a:t> of normal distribution is </a:t>
                </a:r>
                <a14:m>
                  <m:oMath xmlns:m="http://schemas.openxmlformats.org/officeDocument/2006/math">
                    <m:r>
                      <a:rPr lang="en-US" sz="2200" i="1">
                        <a:latin typeface="Cambria Math"/>
                        <a:ea typeface="Cambria Math"/>
                      </a:rPr>
                      <m:t>𝜎</m:t>
                    </m:r>
                  </m:oMath>
                </a14:m>
                <a:r>
                  <a:rPr lang="en-US" sz="2200" dirty="0"/>
                  <a:t>.</a:t>
                </a:r>
              </a:p>
              <a:p>
                <a:pPr marL="0" indent="0">
                  <a:buNone/>
                </a:pPr>
                <a:endParaRPr lang="en-US" sz="2200" dirty="0"/>
              </a:p>
              <a:p>
                <a:pPr marL="0" indent="0">
                  <a:buNone/>
                </a:pPr>
                <a:endParaRPr lang="en-US" sz="2200" dirty="0"/>
              </a:p>
              <a:p>
                <a:pPr marL="0" indent="0">
                  <a:buNone/>
                </a:pPr>
                <a:endParaRPr lang="en-US" sz="2200" dirty="0"/>
              </a:p>
              <a:p>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b="-42722"/>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Cont</a:t>
            </a:r>
            <a:r>
              <a:rPr lang="en-US" sz="2400" b="1" dirty="0"/>
              <a:t>... (CO4)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71EBD92A-AF6E-4792-9B02-BF5758CCE0CE}"/>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9246671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Q1. A sample of 100 dry battery cells tested to find the length of the life produced the following results :</a:t>
                </a:r>
              </a:p>
              <a:p>
                <a:pPr marL="0" indent="0">
                  <a:buNone/>
                </a:pPr>
                <a14:m>
                  <m:oMathPara xmlns:m="http://schemas.openxmlformats.org/officeDocument/2006/math">
                    <m:oMathParaPr>
                      <m:jc m:val="centerGroup"/>
                    </m:oMathParaPr>
                    <m:oMath xmlns:m="http://schemas.openxmlformats.org/officeDocument/2006/math">
                      <m:acc>
                        <m:accPr>
                          <m:chr m:val="̅"/>
                          <m:ctrlPr>
                            <a:rPr lang="en-US" sz="2200" i="1" smtClean="0">
                              <a:latin typeface="Cambria Math" panose="02040503050406030204" pitchFamily="18" charset="0"/>
                            </a:rPr>
                          </m:ctrlPr>
                        </m:accPr>
                        <m:e>
                          <m:r>
                            <a:rPr lang="en-US" sz="2200" b="0" i="1" smtClean="0">
                              <a:latin typeface="Cambria Math"/>
                            </a:rPr>
                            <m:t>𝑥</m:t>
                          </m:r>
                        </m:e>
                      </m:acc>
                      <m:r>
                        <a:rPr lang="en-US" sz="2200" b="0" i="1" smtClean="0">
                          <a:latin typeface="Cambria Math"/>
                        </a:rPr>
                        <m:t>=12 </m:t>
                      </m:r>
                      <m:r>
                        <a:rPr lang="en-US" sz="2200" b="0" i="1" smtClean="0">
                          <a:latin typeface="Cambria Math"/>
                        </a:rPr>
                        <m:t>h𝑜𝑢𝑟𝑠</m:t>
                      </m:r>
                      <m:r>
                        <a:rPr lang="en-US" sz="2200" b="0" i="1" smtClean="0">
                          <a:latin typeface="Cambria Math"/>
                        </a:rPr>
                        <m:t>, </m:t>
                      </m:r>
                      <m:r>
                        <a:rPr lang="en-US" sz="2200" b="0" i="1" smtClean="0">
                          <a:latin typeface="Cambria Math"/>
                          <a:ea typeface="Cambria Math"/>
                        </a:rPr>
                        <m:t>𝜎</m:t>
                      </m:r>
                      <m:r>
                        <a:rPr lang="en-US" sz="2200" b="0" i="1" smtClean="0">
                          <a:latin typeface="Cambria Math"/>
                          <a:ea typeface="Cambria Math"/>
                        </a:rPr>
                        <m:t>=3 </m:t>
                      </m:r>
                      <m:r>
                        <a:rPr lang="en-US" sz="2200" b="0" i="1" smtClean="0">
                          <a:latin typeface="Cambria Math"/>
                          <a:ea typeface="Cambria Math"/>
                        </a:rPr>
                        <m:t>h𝑜𝑢𝑟𝑠</m:t>
                      </m:r>
                    </m:oMath>
                  </m:oMathPara>
                </a14:m>
                <a:endParaRPr lang="en-US" sz="2200" b="0" dirty="0">
                  <a:ea typeface="Cambria Math"/>
                </a:endParaRPr>
              </a:p>
              <a:p>
                <a:pPr marL="0" indent="0">
                  <a:buNone/>
                </a:pPr>
                <a:r>
                  <a:rPr lang="en-US" sz="2200" dirty="0"/>
                  <a:t>Assuming the data to be normally distributed, what percentage of battery cells are expected to have life </a:t>
                </a:r>
              </a:p>
              <a:p>
                <a:pPr marL="514350" indent="-514350">
                  <a:buFont typeface="+mj-lt"/>
                  <a:buAutoNum type="romanLcPeriod"/>
                </a:pPr>
                <a:r>
                  <a:rPr lang="en-US" sz="2200" dirty="0"/>
                  <a:t>More than 15 hours</a:t>
                </a:r>
              </a:p>
              <a:p>
                <a:pPr marL="514350" indent="-514350">
                  <a:buFont typeface="+mj-lt"/>
                  <a:buAutoNum type="romanLcPeriod"/>
                </a:pPr>
                <a:r>
                  <a:rPr lang="en-US" sz="2200" dirty="0"/>
                  <a:t>Less than 6 hours</a:t>
                </a:r>
              </a:p>
              <a:p>
                <a:pPr marL="514350" indent="-514350">
                  <a:buFont typeface="+mj-lt"/>
                  <a:buAutoNum type="romanLcPeriod"/>
                </a:pPr>
                <a:r>
                  <a:rPr lang="en-US" sz="2200" dirty="0"/>
                  <a:t>b</a:t>
                </a:r>
                <a14:m>
                  <m:oMath xmlns:m="http://schemas.openxmlformats.org/officeDocument/2006/math">
                    <m:r>
                      <m:rPr>
                        <m:sty m:val="p"/>
                      </m:rPr>
                      <a:rPr lang="en-US" sz="2200" i="0">
                        <a:latin typeface="Cambria Math"/>
                      </a:rPr>
                      <m:t>etween</m:t>
                    </m:r>
                    <m:r>
                      <a:rPr lang="en-US" sz="2200" i="0">
                        <a:latin typeface="Cambria Math"/>
                      </a:rPr>
                      <m:t> 10 </m:t>
                    </m:r>
                    <m:r>
                      <m:rPr>
                        <m:sty m:val="p"/>
                      </m:rPr>
                      <a:rPr lang="en-US" sz="2200" i="0">
                        <a:latin typeface="Cambria Math"/>
                      </a:rPr>
                      <m:t>and</m:t>
                    </m:r>
                    <m:r>
                      <a:rPr lang="en-US" sz="2200" i="0">
                        <a:latin typeface="Cambria Math"/>
                      </a:rPr>
                      <m:t> 14 </m:t>
                    </m:r>
                    <m:r>
                      <m:rPr>
                        <m:sty m:val="p"/>
                      </m:rPr>
                      <a:rPr lang="en-US" sz="2200" i="0">
                        <a:latin typeface="Cambria Math"/>
                      </a:rPr>
                      <m:t>hours</m:t>
                    </m:r>
                  </m:oMath>
                </a14:m>
                <a:endParaRPr lang="en-US" sz="2200" dirty="0"/>
              </a:p>
              <a:p>
                <a:pPr marL="0" indent="0">
                  <a:buNone/>
                </a:pPr>
                <a:r>
                  <a:rPr lang="en-US" sz="2200" dirty="0"/>
                  <a:t>Solution: x denotes the life of dry battery cells .</a:t>
                </a:r>
              </a:p>
              <a:p>
                <a:pPr marL="0" indent="0">
                  <a:buNone/>
                </a:pPr>
                <a:r>
                  <a:rPr lang="en-US" sz="2200" b="0" dirty="0"/>
                  <a:t>And </a:t>
                </a:r>
                <a14:m>
                  <m:oMath xmlns:m="http://schemas.openxmlformats.org/officeDocument/2006/math">
                    <m:r>
                      <a:rPr lang="en-US" sz="2200" b="0" i="1" smtClean="0">
                        <a:latin typeface="Cambria Math"/>
                      </a:rPr>
                      <m:t>𝑧</m:t>
                    </m:r>
                    <m:r>
                      <a:rPr lang="en-US" sz="2200" b="0" i="1" smtClean="0">
                        <a:latin typeface="Cambria Math"/>
                      </a:rPr>
                      <m:t>=</m:t>
                    </m:r>
                    <m:f>
                      <m:fPr>
                        <m:ctrlPr>
                          <a:rPr lang="en-US" sz="2200" i="1">
                            <a:latin typeface="Cambria Math" panose="02040503050406030204" pitchFamily="18" charset="0"/>
                          </a:rPr>
                        </m:ctrlPr>
                      </m:fPr>
                      <m:num>
                        <m:r>
                          <a:rPr lang="en-US" sz="2200" i="1">
                            <a:latin typeface="Cambria Math"/>
                          </a:rPr>
                          <m:t>𝑥</m:t>
                        </m:r>
                        <m:r>
                          <a:rPr lang="en-US" sz="2200" i="1">
                            <a:latin typeface="Cambria Math"/>
                          </a:rPr>
                          <m:t>−</m:t>
                        </m:r>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num>
                      <m:den>
                        <m:r>
                          <a:rPr lang="en-US" sz="2200" i="1">
                            <a:latin typeface="Cambria Math"/>
                            <a:ea typeface="Cambria Math"/>
                          </a:rPr>
                          <m:t>𝜎</m:t>
                        </m:r>
                      </m:den>
                    </m:f>
                    <m:r>
                      <a:rPr lang="en-US" sz="2200" b="0" i="1" smtClean="0">
                        <a:latin typeface="Cambria Math"/>
                        <a:ea typeface="Cambria Math"/>
                      </a:rPr>
                      <m:t>=</m:t>
                    </m:r>
                    <m:f>
                      <m:fPr>
                        <m:ctrlPr>
                          <a:rPr lang="en-US" sz="2200" i="1">
                            <a:latin typeface="Cambria Math" panose="02040503050406030204" pitchFamily="18" charset="0"/>
                          </a:rPr>
                        </m:ctrlPr>
                      </m:fPr>
                      <m:num>
                        <m:r>
                          <a:rPr lang="en-US" sz="2200" i="1">
                            <a:latin typeface="Cambria Math"/>
                          </a:rPr>
                          <m:t>𝑥</m:t>
                        </m:r>
                        <m:r>
                          <a:rPr lang="en-US" sz="2200" i="1">
                            <a:latin typeface="Cambria Math"/>
                          </a:rPr>
                          <m:t>−12</m:t>
                        </m:r>
                      </m:num>
                      <m:den>
                        <m:r>
                          <a:rPr lang="en-US" sz="2200" b="0" i="1" smtClean="0">
                            <a:latin typeface="Cambria Math"/>
                            <a:ea typeface="Cambria Math"/>
                          </a:rPr>
                          <m:t>3</m:t>
                        </m:r>
                      </m:den>
                    </m:f>
                  </m:oMath>
                </a14:m>
                <a:endParaRPr lang="en-US" sz="2200" dirty="0"/>
              </a:p>
              <a:p>
                <a:pPr marL="0" indent="0">
                  <a:buNone/>
                </a:pPr>
                <a:r>
                  <a:rPr lang="en-US" sz="2200" dirty="0"/>
                  <a:t>i.	When </a:t>
                </a:r>
                <a14:m>
                  <m:oMath xmlns:m="http://schemas.openxmlformats.org/officeDocument/2006/math">
                    <m:r>
                      <m:rPr>
                        <m:sty m:val="p"/>
                      </m:rPr>
                      <a:rPr lang="en-US" sz="2200" b="0" i="0" smtClean="0">
                        <a:latin typeface="Cambria Math"/>
                        <a:ea typeface="Cambria Math"/>
                      </a:rPr>
                      <m:t>x</m:t>
                    </m:r>
                    <m:r>
                      <a:rPr lang="en-US" sz="2200">
                        <a:latin typeface="Cambria Math"/>
                        <a:ea typeface="Cambria Math"/>
                      </a:rPr>
                      <m:t>=</m:t>
                    </m:r>
                    <m:r>
                      <a:rPr lang="en-US" sz="2200" b="0" i="0" smtClean="0">
                        <a:latin typeface="Cambria Math"/>
                        <a:ea typeface="Cambria Math"/>
                      </a:rPr>
                      <m:t>15 </m:t>
                    </m:r>
                    <m:r>
                      <m:rPr>
                        <m:sty m:val="p"/>
                      </m:rPr>
                      <a:rPr lang="en-US" sz="2200" b="0" i="0" smtClean="0">
                        <a:latin typeface="Cambria Math"/>
                        <a:ea typeface="Cambria Math"/>
                      </a:rPr>
                      <m:t>then</m:t>
                    </m:r>
                    <m:r>
                      <a:rPr lang="en-US" sz="2200" b="0" i="0" smtClean="0">
                        <a:latin typeface="Cambria Math"/>
                        <a:ea typeface="Cambria Math"/>
                      </a:rPr>
                      <m:t> </m:t>
                    </m:r>
                    <m:r>
                      <m:rPr>
                        <m:sty m:val="p"/>
                      </m:rPr>
                      <a:rPr lang="en-US" sz="2200" b="0" i="0" smtClean="0">
                        <a:latin typeface="Cambria Math"/>
                        <a:ea typeface="Cambria Math"/>
                      </a:rPr>
                      <m:t>z</m:t>
                    </m:r>
                    <m:r>
                      <a:rPr lang="en-US" sz="2200" b="0" i="0" smtClean="0">
                        <a:latin typeface="Cambria Math"/>
                        <a:ea typeface="Cambria Math"/>
                      </a:rPr>
                      <m:t>=1</m:t>
                    </m:r>
                  </m:oMath>
                </a14:m>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b="-18194"/>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371600" y="0"/>
            <a:ext cx="77724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Problem</a:t>
            </a:r>
            <a:r>
              <a:rPr kumimoji="0" lang="en-US" sz="2400" b="1" i="0" u="none" strike="noStrike" kern="1200" cap="none" spc="0" normalizeH="0" noProof="0" dirty="0">
                <a:ln>
                  <a:noFill/>
                </a:ln>
                <a:solidFill>
                  <a:schemeClr val="dk1"/>
                </a:solidFill>
                <a:effectLst/>
                <a:uLnTx/>
                <a:uFillTx/>
                <a:latin typeface="+mn-lt"/>
                <a:ea typeface="+mn-ea"/>
                <a:cs typeface="+mn-cs"/>
              </a:rPr>
              <a:t> based on Normal </a:t>
            </a:r>
          </a:p>
          <a:p>
            <a:pPr lvl="0" algn="ctr">
              <a:spcBef>
                <a:spcPct val="0"/>
              </a:spcBef>
              <a:defRPr/>
            </a:pPr>
            <a:r>
              <a:rPr kumimoji="0" lang="en-US" sz="2400" b="1" i="0" u="none" strike="noStrike" kern="1200" cap="none" spc="0" normalizeH="0" noProof="0" dirty="0">
                <a:ln>
                  <a:noFill/>
                </a:ln>
                <a:solidFill>
                  <a:schemeClr val="dk1"/>
                </a:solidFill>
                <a:effectLst/>
                <a:uLnTx/>
                <a:uFillTx/>
                <a:latin typeface="+mn-lt"/>
                <a:ea typeface="+mn-ea"/>
                <a:cs typeface="+mn-cs"/>
              </a:rPr>
              <a:t>distribution</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1BFD74E0-F635-4D56-823D-0E47C90C20C7}"/>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6454272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Therefore </a:t>
                </a:r>
                <a14:m>
                  <m:oMath xmlns:m="http://schemas.openxmlformats.org/officeDocument/2006/math">
                    <m:r>
                      <a:rPr lang="en-US" sz="2200" b="0" i="1" smtClean="0">
                        <a:latin typeface="Cambria Math"/>
                      </a:rPr>
                      <m:t>𝑃</m:t>
                    </m:r>
                    <m:d>
                      <m:dPr>
                        <m:ctrlPr>
                          <a:rPr lang="en-US" sz="2200" b="0" i="1" smtClean="0">
                            <a:latin typeface="Cambria Math" panose="02040503050406030204" pitchFamily="18" charset="0"/>
                          </a:rPr>
                        </m:ctrlPr>
                      </m:dPr>
                      <m:e>
                        <m:r>
                          <a:rPr lang="en-US" sz="2200" b="0" i="1" smtClean="0">
                            <a:latin typeface="Cambria Math"/>
                          </a:rPr>
                          <m:t>𝑥</m:t>
                        </m:r>
                        <m:r>
                          <a:rPr lang="en-US" sz="2200" b="0" i="1" smtClean="0">
                            <a:latin typeface="Cambria Math"/>
                          </a:rPr>
                          <m:t>&gt;15</m:t>
                        </m:r>
                      </m:e>
                    </m:d>
                    <m:r>
                      <a:rPr lang="en-US" sz="2200" b="0" i="1" smtClean="0">
                        <a:latin typeface="Cambria Math"/>
                      </a:rPr>
                      <m:t>=</m:t>
                    </m:r>
                    <m:r>
                      <a:rPr lang="en-US" sz="2200" b="0" i="1" smtClean="0">
                        <a:latin typeface="Cambria Math"/>
                      </a:rPr>
                      <m:t>𝑃</m:t>
                    </m:r>
                    <m:r>
                      <a:rPr lang="en-US" sz="2200" b="0" i="1" smtClean="0">
                        <a:latin typeface="Cambria Math"/>
                      </a:rPr>
                      <m:t>(</m:t>
                    </m:r>
                    <m:r>
                      <a:rPr lang="en-US" sz="2200" b="0" i="1" smtClean="0">
                        <a:latin typeface="Cambria Math"/>
                      </a:rPr>
                      <m:t>𝑧</m:t>
                    </m:r>
                    <m:r>
                      <a:rPr lang="en-US" sz="2200" b="0" i="1" smtClean="0">
                        <a:latin typeface="Cambria Math"/>
                      </a:rPr>
                      <m:t>&gt;1)</m:t>
                    </m:r>
                  </m:oMath>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ea typeface="Cambria Math"/>
                        </a:rPr>
                        <m:t>=</m:t>
                      </m:r>
                      <m:r>
                        <a:rPr lang="en-US" sz="2200" b="0" i="1" smtClean="0">
                          <a:latin typeface="Cambria Math"/>
                          <a:ea typeface="Cambria Math"/>
                        </a:rPr>
                        <m:t>𝑃</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0&lt;</m:t>
                          </m:r>
                          <m:r>
                            <a:rPr lang="en-US" sz="2200" b="0" i="1" smtClean="0">
                              <a:latin typeface="Cambria Math"/>
                              <a:ea typeface="Cambria Math"/>
                            </a:rPr>
                            <m:t>𝑧</m:t>
                          </m:r>
                          <m:r>
                            <a:rPr lang="en-US" sz="2200" b="0" i="1" smtClean="0">
                              <a:latin typeface="Cambria Math"/>
                              <a:ea typeface="Cambria Math"/>
                            </a:rPr>
                            <m:t>&lt;∞</m:t>
                          </m:r>
                        </m:e>
                      </m:d>
                      <m:r>
                        <a:rPr lang="en-US" sz="2200" b="0" i="1" smtClean="0">
                          <a:latin typeface="Cambria Math"/>
                          <a:ea typeface="Cambria Math"/>
                        </a:rPr>
                        <m:t>−</m:t>
                      </m:r>
                      <m:r>
                        <a:rPr lang="en-US" sz="2200" b="0" i="1" smtClean="0">
                          <a:latin typeface="Cambria Math"/>
                          <a:ea typeface="Cambria Math"/>
                        </a:rPr>
                        <m:t>𝑃</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0&lt;</m:t>
                          </m:r>
                          <m:r>
                            <a:rPr lang="en-US" sz="2200" b="0" i="1" smtClean="0">
                              <a:latin typeface="Cambria Math"/>
                              <a:ea typeface="Cambria Math"/>
                            </a:rPr>
                            <m:t>𝑧</m:t>
                          </m:r>
                          <m:r>
                            <a:rPr lang="en-US" sz="2200" b="0" i="1" smtClean="0">
                              <a:latin typeface="Cambria Math"/>
                              <a:ea typeface="Cambria Math"/>
                            </a:rPr>
                            <m:t>&lt;1</m:t>
                          </m:r>
                        </m:e>
                      </m:d>
                    </m:oMath>
                  </m:oMathPara>
                </a14:m>
                <a:endParaRPr lang="en-US" sz="2200" b="0" i="1" dirty="0">
                  <a:latin typeface="Cambria Math"/>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m:t>
                      </m:r>
                      <m:r>
                        <a:rPr lang="en-US" sz="2200" b="0" i="1" smtClean="0">
                          <a:latin typeface="Cambria Math"/>
                          <a:ea typeface="Cambria Math"/>
                        </a:rPr>
                        <m:t>0.5</m:t>
                      </m:r>
                      <m:r>
                        <a:rPr lang="en-US" sz="2200" i="1">
                          <a:latin typeface="Cambria Math"/>
                          <a:ea typeface="Cambria Math"/>
                        </a:rPr>
                        <m:t>−</m:t>
                      </m:r>
                      <m:r>
                        <a:rPr lang="en-US" sz="2200" b="0" i="0" smtClean="0">
                          <a:latin typeface="Cambria Math"/>
                          <a:ea typeface="Cambria Math"/>
                        </a:rPr>
                        <m:t>0.3413=0.1587=15.87%</m:t>
                      </m:r>
                    </m:oMath>
                  </m:oMathPara>
                </a14:m>
                <a:endParaRPr lang="en-US" sz="2200" dirty="0">
                  <a:ea typeface="Cambria Math"/>
                </a:endParaRPr>
              </a:p>
              <a:p>
                <a:pPr marL="0" indent="0">
                  <a:buNone/>
                </a:pPr>
                <a:endParaRPr lang="en-US" sz="2200" dirty="0">
                  <a:ea typeface="Cambria Math"/>
                </a:endParaRPr>
              </a:p>
              <a:p>
                <a:pPr marL="0" indent="0">
                  <a:buNone/>
                </a:pPr>
                <a:endParaRPr lang="en-US" sz="2200" dirty="0">
                  <a:ea typeface="Cambria Math"/>
                </a:endParaRPr>
              </a:p>
              <a:p>
                <a:pPr marL="514350" indent="-514350">
                  <a:buAutoNum type="romanLcPeriod" startAt="2"/>
                </a:pPr>
                <a:r>
                  <a:rPr lang="en-US" sz="2200" dirty="0">
                    <a:ea typeface="Cambria Math"/>
                  </a:rPr>
                  <a:t>When </a:t>
                </a:r>
                <a14:m>
                  <m:oMath xmlns:m="http://schemas.openxmlformats.org/officeDocument/2006/math">
                    <m:r>
                      <m:rPr>
                        <m:sty m:val="p"/>
                      </m:rPr>
                      <a:rPr lang="en-US" sz="2200">
                        <a:latin typeface="Cambria Math"/>
                        <a:ea typeface="Cambria Math"/>
                      </a:rPr>
                      <m:t>x</m:t>
                    </m:r>
                    <m:r>
                      <a:rPr lang="en-US" sz="2200">
                        <a:latin typeface="Cambria Math"/>
                        <a:ea typeface="Cambria Math"/>
                      </a:rPr>
                      <m:t>=6 </m:t>
                    </m:r>
                    <m:r>
                      <m:rPr>
                        <m:sty m:val="p"/>
                      </m:rPr>
                      <a:rPr lang="en-US" sz="2200">
                        <a:latin typeface="Cambria Math"/>
                        <a:ea typeface="Cambria Math"/>
                      </a:rPr>
                      <m:t>then</m:t>
                    </m:r>
                    <m:r>
                      <a:rPr lang="en-US" sz="2200">
                        <a:latin typeface="Cambria Math"/>
                        <a:ea typeface="Cambria Math"/>
                      </a:rPr>
                      <m:t> </m:t>
                    </m:r>
                    <m:r>
                      <m:rPr>
                        <m:sty m:val="p"/>
                      </m:rPr>
                      <a:rPr lang="en-US" sz="2200">
                        <a:latin typeface="Cambria Math"/>
                        <a:ea typeface="Cambria Math"/>
                      </a:rPr>
                      <m:t>z</m:t>
                    </m:r>
                    <m:r>
                      <a:rPr lang="en-US" sz="2200">
                        <a:latin typeface="Cambria Math"/>
                        <a:ea typeface="Cambria Math"/>
                      </a:rPr>
                      <m:t>=−2</m:t>
                    </m:r>
                  </m:oMath>
                </a14:m>
                <a:endParaRPr lang="en-US" sz="2200" dirty="0"/>
              </a:p>
              <a:p>
                <a:pPr marL="0" indent="0">
                  <a:buNone/>
                </a:pPr>
                <a:r>
                  <a:rPr lang="en-US" sz="2200" dirty="0"/>
                  <a:t>Therefore </a:t>
                </a:r>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𝑥</m:t>
                          </m:r>
                          <m:r>
                            <a:rPr lang="en-US" sz="2200" b="0" i="1" smtClean="0">
                              <a:latin typeface="Cambria Math"/>
                            </a:rPr>
                            <m:t>&lt;6</m:t>
                          </m:r>
                        </m:e>
                      </m:d>
                      <m:r>
                        <a:rPr lang="en-US" sz="2200" i="1">
                          <a:latin typeface="Cambria Math"/>
                        </a:rPr>
                        <m:t>=</m:t>
                      </m:r>
                      <m:r>
                        <a:rPr lang="en-US" sz="2200" i="1">
                          <a:latin typeface="Cambria Math"/>
                        </a:rPr>
                        <m:t>𝑃</m:t>
                      </m:r>
                      <m:r>
                        <a:rPr lang="en-US" sz="2200" i="1">
                          <a:latin typeface="Cambria Math"/>
                        </a:rPr>
                        <m:t>(</m:t>
                      </m:r>
                      <m:r>
                        <a:rPr lang="en-US" sz="2200" i="1">
                          <a:latin typeface="Cambria Math"/>
                        </a:rPr>
                        <m:t>𝑧</m:t>
                      </m:r>
                      <m:r>
                        <a:rPr lang="en-US" sz="2200" b="0" i="1" smtClean="0">
                          <a:latin typeface="Cambria Math"/>
                        </a:rPr>
                        <m:t>&lt;−2</m:t>
                      </m:r>
                      <m:r>
                        <a:rPr lang="en-US" sz="2200" i="1">
                          <a:latin typeface="Cambria Math"/>
                        </a:rPr>
                        <m:t>)</m:t>
                      </m:r>
                      <m:r>
                        <a:rPr lang="en-US" sz="2200" b="0" i="0" smtClean="0">
                          <a:latin typeface="Cambria Math"/>
                        </a:rPr>
                        <m:t>=</m:t>
                      </m:r>
                      <m:r>
                        <a:rPr lang="en-US" sz="2200" i="1">
                          <a:latin typeface="Cambria Math"/>
                        </a:rPr>
                        <m:t>𝑃</m:t>
                      </m:r>
                      <m:r>
                        <a:rPr lang="en-US" sz="2200" i="1">
                          <a:latin typeface="Cambria Math"/>
                        </a:rPr>
                        <m:t>(</m:t>
                      </m:r>
                      <m:r>
                        <a:rPr lang="en-US" sz="2200" i="1">
                          <a:latin typeface="Cambria Math"/>
                        </a:rPr>
                        <m:t>𝑧</m:t>
                      </m:r>
                      <m:r>
                        <a:rPr lang="en-US" sz="2200" b="0" i="1" smtClean="0">
                          <a:latin typeface="Cambria Math"/>
                        </a:rPr>
                        <m:t>&gt;</m:t>
                      </m:r>
                      <m:r>
                        <a:rPr lang="en-US" sz="2200" i="1">
                          <a:latin typeface="Cambria Math"/>
                        </a:rPr>
                        <m:t>2)</m:t>
                      </m:r>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m:t>
                      </m:r>
                      <m:r>
                        <a:rPr lang="en-US" sz="2200" i="1">
                          <a:latin typeface="Cambria Math"/>
                          <a:ea typeface="Cambria Math"/>
                        </a:rPr>
                        <m:t>𝑃</m:t>
                      </m:r>
                      <m:d>
                        <m:dPr>
                          <m:ctrlPr>
                            <a:rPr lang="en-US" sz="2200" i="1">
                              <a:latin typeface="Cambria Math" panose="02040503050406030204" pitchFamily="18" charset="0"/>
                              <a:ea typeface="Cambria Math"/>
                            </a:rPr>
                          </m:ctrlPr>
                        </m:dPr>
                        <m:e>
                          <m:r>
                            <a:rPr lang="en-US" sz="2200" i="1">
                              <a:latin typeface="Cambria Math"/>
                              <a:ea typeface="Cambria Math"/>
                            </a:rPr>
                            <m:t>0&lt;</m:t>
                          </m:r>
                          <m:r>
                            <a:rPr lang="en-US" sz="2200" i="1">
                              <a:latin typeface="Cambria Math"/>
                              <a:ea typeface="Cambria Math"/>
                            </a:rPr>
                            <m:t>𝑧</m:t>
                          </m:r>
                          <m:r>
                            <a:rPr lang="en-US" sz="2200" i="1">
                              <a:latin typeface="Cambria Math"/>
                              <a:ea typeface="Cambria Math"/>
                            </a:rPr>
                            <m:t>&lt;∞</m:t>
                          </m:r>
                        </m:e>
                      </m:d>
                      <m:r>
                        <a:rPr lang="en-US" sz="2200" i="1">
                          <a:latin typeface="Cambria Math"/>
                          <a:ea typeface="Cambria Math"/>
                        </a:rPr>
                        <m:t>−</m:t>
                      </m:r>
                      <m:r>
                        <a:rPr lang="en-US" sz="2200" i="1">
                          <a:latin typeface="Cambria Math"/>
                          <a:ea typeface="Cambria Math"/>
                        </a:rPr>
                        <m:t>𝑃</m:t>
                      </m:r>
                      <m:d>
                        <m:dPr>
                          <m:ctrlPr>
                            <a:rPr lang="en-US" sz="2200" i="1">
                              <a:latin typeface="Cambria Math" panose="02040503050406030204" pitchFamily="18" charset="0"/>
                              <a:ea typeface="Cambria Math"/>
                            </a:rPr>
                          </m:ctrlPr>
                        </m:dPr>
                        <m:e>
                          <m:r>
                            <a:rPr lang="en-US" sz="2200" i="1">
                              <a:latin typeface="Cambria Math"/>
                              <a:ea typeface="Cambria Math"/>
                            </a:rPr>
                            <m:t>0&lt;</m:t>
                          </m:r>
                          <m:r>
                            <a:rPr lang="en-US" sz="2200" i="1">
                              <a:latin typeface="Cambria Math"/>
                              <a:ea typeface="Cambria Math"/>
                            </a:rPr>
                            <m:t>𝑧</m:t>
                          </m:r>
                          <m:r>
                            <a:rPr lang="en-US" sz="2200" i="1">
                              <a:latin typeface="Cambria Math"/>
                              <a:ea typeface="Cambria Math"/>
                            </a:rPr>
                            <m:t>&lt;2</m:t>
                          </m:r>
                        </m:e>
                      </m:d>
                    </m:oMath>
                  </m:oMathPara>
                </a14:m>
                <a:endParaRPr lang="en-US" sz="2200" i="1" dirty="0">
                  <a:latin typeface="Cambria Math"/>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=0.5−</m:t>
                      </m:r>
                      <m:r>
                        <a:rPr lang="en-US" sz="2200">
                          <a:latin typeface="Cambria Math"/>
                          <a:ea typeface="Cambria Math"/>
                        </a:rPr>
                        <m:t>0.</m:t>
                      </m:r>
                      <m:r>
                        <a:rPr lang="en-US" sz="2200" b="0" i="0" smtClean="0">
                          <a:latin typeface="Cambria Math"/>
                          <a:ea typeface="Cambria Math"/>
                        </a:rPr>
                        <m:t>4772</m:t>
                      </m:r>
                      <m:r>
                        <a:rPr lang="en-US" sz="2200">
                          <a:latin typeface="Cambria Math"/>
                          <a:ea typeface="Cambria Math"/>
                        </a:rPr>
                        <m:t>=0.</m:t>
                      </m:r>
                      <m:r>
                        <a:rPr lang="en-US" sz="2200" b="0" i="0" smtClean="0">
                          <a:latin typeface="Cambria Math"/>
                          <a:ea typeface="Cambria Math"/>
                        </a:rPr>
                        <m:t>0228</m:t>
                      </m:r>
                      <m:r>
                        <a:rPr lang="en-US" sz="2200">
                          <a:latin typeface="Cambria Math"/>
                          <a:ea typeface="Cambria Math"/>
                        </a:rPr>
                        <m:t>=</m:t>
                      </m:r>
                      <m:r>
                        <a:rPr lang="en-US" sz="2200" b="0" i="0" smtClean="0">
                          <a:latin typeface="Cambria Math"/>
                          <a:ea typeface="Cambria Math"/>
                        </a:rPr>
                        <m:t>2</m:t>
                      </m:r>
                      <m:r>
                        <a:rPr lang="en-US" sz="2200">
                          <a:latin typeface="Cambria Math"/>
                          <a:ea typeface="Cambria Math"/>
                        </a:rPr>
                        <m:t>.</m:t>
                      </m:r>
                      <m:r>
                        <a:rPr lang="en-US" sz="2200" b="0" i="0" smtClean="0">
                          <a:latin typeface="Cambria Math"/>
                          <a:ea typeface="Cambria Math"/>
                        </a:rPr>
                        <m:t>2</m:t>
                      </m:r>
                      <m:r>
                        <a:rPr lang="en-US" sz="2200">
                          <a:latin typeface="Cambria Math"/>
                          <a:ea typeface="Cambria Math"/>
                        </a:rPr>
                        <m:t>8%</m:t>
                      </m:r>
                    </m:oMath>
                  </m:oMathPara>
                </a14:m>
                <a:endParaRPr lang="en-US" sz="2200" dirty="0">
                  <a:ea typeface="Cambria Math"/>
                </a:endParaRP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ea typeface="Cambria Math"/>
                </a:endParaRPr>
              </a:p>
              <a:p>
                <a:pPr marL="0" indent="0">
                  <a:buNone/>
                </a:pPr>
                <a:endParaRPr lang="en-US" sz="2200" dirty="0"/>
              </a:p>
              <a:p>
                <a:pPr marL="0" indent="0">
                  <a:buNone/>
                </a:pPr>
                <a:endParaRPr lang="en-US" sz="2200" dirty="0"/>
              </a:p>
              <a:p>
                <a:pPr marL="0" indent="0">
                  <a:buNone/>
                </a:pPr>
                <a:endParaRPr lang="en-US" sz="2200" dirty="0">
                  <a:ea typeface="Cambria Math"/>
                </a:endParaRPr>
              </a:p>
              <a:p>
                <a:pPr marL="0" indent="0">
                  <a:buNone/>
                </a:pPr>
                <a:endParaRPr lang="en-US" sz="2200" dirty="0"/>
              </a:p>
              <a:p>
                <a:pPr marL="0" indent="0">
                  <a:buNone/>
                </a:pPr>
                <a:endParaRPr lang="en-US" sz="2200" dirty="0"/>
              </a:p>
              <a:p>
                <a:endParaRPr lang="en-US" sz="2200" dirty="0"/>
              </a:p>
              <a:p>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b="-10027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err="1"/>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1066800"/>
            <a:ext cx="3495675" cy="129540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5423" y="3183176"/>
            <a:ext cx="3934252" cy="1600201"/>
          </a:xfrm>
          <a:prstGeom prst="rect">
            <a:avLst/>
          </a:prstGeom>
        </p:spPr>
      </p:pic>
      <p:sp>
        <p:nvSpPr>
          <p:cNvPr id="8" name="Footer Placeholder 7">
            <a:extLst>
              <a:ext uri="{FF2B5EF4-FFF2-40B4-BE49-F238E27FC236}">
                <a16:creationId xmlns:a16="http://schemas.microsoft.com/office/drawing/2014/main" id="{57A40386-1A2E-4C3B-AC14-D83D7D042486}"/>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2624106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514350" indent="-514350">
                  <a:buAutoNum type="romanLcPeriod" startAt="3"/>
                </a:pPr>
                <a:r>
                  <a:rPr lang="en-US" sz="2200" dirty="0">
                    <a:ea typeface="Cambria Math"/>
                  </a:rPr>
                  <a:t>When </a:t>
                </a:r>
                <a14:m>
                  <m:oMath xmlns:m="http://schemas.openxmlformats.org/officeDocument/2006/math">
                    <m:r>
                      <m:rPr>
                        <m:sty m:val="p"/>
                      </m:rPr>
                      <a:rPr lang="en-US" sz="2200">
                        <a:latin typeface="Cambria Math"/>
                        <a:ea typeface="Cambria Math"/>
                      </a:rPr>
                      <m:t>x</m:t>
                    </m:r>
                    <m:r>
                      <a:rPr lang="en-US" sz="2200">
                        <a:latin typeface="Cambria Math"/>
                        <a:ea typeface="Cambria Math"/>
                      </a:rPr>
                      <m:t>=10 </m:t>
                    </m:r>
                    <m:r>
                      <m:rPr>
                        <m:sty m:val="p"/>
                      </m:rPr>
                      <a:rPr lang="en-US" sz="2200">
                        <a:latin typeface="Cambria Math"/>
                        <a:ea typeface="Cambria Math"/>
                      </a:rPr>
                      <m:t>then</m:t>
                    </m:r>
                    <m:r>
                      <a:rPr lang="en-US" sz="2200">
                        <a:latin typeface="Cambria Math"/>
                        <a:ea typeface="Cambria Math"/>
                      </a:rPr>
                      <m:t> </m:t>
                    </m:r>
                    <m:r>
                      <m:rPr>
                        <m:sty m:val="p"/>
                      </m:rPr>
                      <a:rPr lang="en-US" sz="2200">
                        <a:latin typeface="Cambria Math"/>
                        <a:ea typeface="Cambria Math"/>
                      </a:rPr>
                      <m:t>z</m:t>
                    </m:r>
                    <m:r>
                      <a:rPr lang="en-US" sz="2200">
                        <a:latin typeface="Cambria Math"/>
                        <a:ea typeface="Cambria Math"/>
                      </a:rPr>
                      <m:t>=−0.67</m:t>
                    </m:r>
                  </m:oMath>
                </a14:m>
                <a:endParaRPr lang="en-US" sz="2200" dirty="0"/>
              </a:p>
              <a:p>
                <a:pPr marL="0" indent="0">
                  <a:buNone/>
                </a:pPr>
                <a14:m>
                  <m:oMathPara xmlns:m="http://schemas.openxmlformats.org/officeDocument/2006/math">
                    <m:oMathParaPr>
                      <m:jc m:val="left"/>
                    </m:oMathParaPr>
                    <m:oMath xmlns:m="http://schemas.openxmlformats.org/officeDocument/2006/math">
                      <m:r>
                        <m:rPr>
                          <m:sty m:val="p"/>
                        </m:rPr>
                        <a:rPr lang="en-US" sz="2200">
                          <a:latin typeface="Cambria Math"/>
                          <a:ea typeface="Cambria Math"/>
                        </a:rPr>
                        <m:t>when</m:t>
                      </m:r>
                      <m:r>
                        <a:rPr lang="en-US" sz="2200">
                          <a:latin typeface="Cambria Math"/>
                          <a:ea typeface="Cambria Math"/>
                        </a:rPr>
                        <m:t> </m:t>
                      </m:r>
                      <m:r>
                        <m:rPr>
                          <m:sty m:val="p"/>
                        </m:rPr>
                        <a:rPr lang="en-US" sz="2200">
                          <a:latin typeface="Cambria Math"/>
                          <a:ea typeface="Cambria Math"/>
                        </a:rPr>
                        <m:t>x</m:t>
                      </m:r>
                      <m:r>
                        <a:rPr lang="en-US" sz="2200">
                          <a:latin typeface="Cambria Math"/>
                          <a:ea typeface="Cambria Math"/>
                        </a:rPr>
                        <m:t>=14 </m:t>
                      </m:r>
                      <m:r>
                        <m:rPr>
                          <m:sty m:val="p"/>
                        </m:rPr>
                        <a:rPr lang="en-US" sz="2200">
                          <a:latin typeface="Cambria Math"/>
                          <a:ea typeface="Cambria Math"/>
                        </a:rPr>
                        <m:t>then</m:t>
                      </m:r>
                      <m:r>
                        <a:rPr lang="en-US" sz="2200">
                          <a:latin typeface="Cambria Math"/>
                          <a:ea typeface="Cambria Math"/>
                        </a:rPr>
                        <m:t> </m:t>
                      </m:r>
                      <m:r>
                        <m:rPr>
                          <m:sty m:val="p"/>
                        </m:rPr>
                        <a:rPr lang="en-US" sz="2200">
                          <a:latin typeface="Cambria Math"/>
                          <a:ea typeface="Cambria Math"/>
                        </a:rPr>
                        <m:t>z</m:t>
                      </m:r>
                      <m:r>
                        <a:rPr lang="en-US" sz="2200">
                          <a:latin typeface="Cambria Math"/>
                          <a:ea typeface="Cambria Math"/>
                        </a:rPr>
                        <m:t>=0.67</m:t>
                      </m:r>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10&lt;</m:t>
                          </m:r>
                          <m:r>
                            <a:rPr lang="en-US" sz="2200" i="1">
                              <a:latin typeface="Cambria Math"/>
                            </a:rPr>
                            <m:t>𝑥</m:t>
                          </m:r>
                          <m:r>
                            <a:rPr lang="en-US" sz="2200" i="1">
                              <a:latin typeface="Cambria Math"/>
                            </a:rPr>
                            <m:t>&lt;14</m:t>
                          </m:r>
                        </m:e>
                      </m:d>
                      <m:r>
                        <a:rPr lang="en-US" sz="2200" i="1">
                          <a:latin typeface="Cambria Math"/>
                        </a:rPr>
                        <m:t>=</m:t>
                      </m:r>
                      <m:r>
                        <a:rPr lang="en-US" sz="2200" i="1">
                          <a:latin typeface="Cambria Math"/>
                        </a:rPr>
                        <m:t>𝑃</m:t>
                      </m:r>
                      <m:d>
                        <m:dPr>
                          <m:ctrlPr>
                            <a:rPr lang="en-US" sz="2200" i="1">
                              <a:latin typeface="Cambria Math" panose="02040503050406030204" pitchFamily="18" charset="0"/>
                            </a:rPr>
                          </m:ctrlPr>
                        </m:dPr>
                        <m:e>
                          <m:r>
                            <a:rPr lang="en-US" sz="2200" i="1">
                              <a:latin typeface="Cambria Math"/>
                            </a:rPr>
                            <m:t>−0.67&lt;</m:t>
                          </m:r>
                          <m:r>
                            <a:rPr lang="en-US" sz="2200" i="1">
                              <a:latin typeface="Cambria Math"/>
                            </a:rPr>
                            <m:t>𝑧</m:t>
                          </m:r>
                          <m:r>
                            <a:rPr lang="en-US" sz="2200" i="1">
                              <a:latin typeface="Cambria Math"/>
                            </a:rPr>
                            <m:t>&lt;</m:t>
                          </m:r>
                        </m:e>
                      </m:d>
                      <m:r>
                        <a:rPr lang="en-US" sz="2200" i="1">
                          <a:latin typeface="Cambria Math"/>
                        </a:rPr>
                        <m:t>.67)</m:t>
                      </m:r>
                    </m:oMath>
                  </m:oMathPara>
                </a14:m>
                <a:endParaRPr lang="en-US" sz="2200" dirty="0"/>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=2</m:t>
                      </m:r>
                      <m:r>
                        <a:rPr lang="en-US" sz="2200" i="1">
                          <a:latin typeface="Cambria Math"/>
                          <a:ea typeface="Cambria Math"/>
                        </a:rPr>
                        <m:t>𝑃</m:t>
                      </m:r>
                      <m:d>
                        <m:dPr>
                          <m:ctrlPr>
                            <a:rPr lang="en-US" sz="2200" i="1">
                              <a:latin typeface="Cambria Math" panose="02040503050406030204" pitchFamily="18" charset="0"/>
                              <a:ea typeface="Cambria Math"/>
                            </a:rPr>
                          </m:ctrlPr>
                        </m:dPr>
                        <m:e>
                          <m:r>
                            <a:rPr lang="en-US" sz="2200" i="1">
                              <a:latin typeface="Cambria Math"/>
                              <a:ea typeface="Cambria Math"/>
                            </a:rPr>
                            <m:t>0&lt;</m:t>
                          </m:r>
                          <m:r>
                            <a:rPr lang="en-US" sz="2200" i="1">
                              <a:latin typeface="Cambria Math"/>
                              <a:ea typeface="Cambria Math"/>
                            </a:rPr>
                            <m:t>𝑧</m:t>
                          </m:r>
                          <m:r>
                            <a:rPr lang="en-US" sz="2200" i="1">
                              <a:latin typeface="Cambria Math"/>
                              <a:ea typeface="Cambria Math"/>
                            </a:rPr>
                            <m:t>&lt;0.67</m:t>
                          </m:r>
                        </m:e>
                      </m:d>
                      <m:r>
                        <a:rPr lang="en-US" sz="2200" i="1">
                          <a:latin typeface="Cambria Math"/>
                          <a:ea typeface="Cambria Math"/>
                        </a:rPr>
                        <m:t>=2×0.2485=49.70%</m:t>
                      </m:r>
                    </m:oMath>
                  </m:oMathPara>
                </a14:m>
                <a:endParaRPr lang="en-US" sz="2200" i="1" dirty="0">
                  <a:latin typeface="Cambria Math"/>
                  <a:ea typeface="Cambria Math"/>
                </a:endParaRP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107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err="1"/>
              <a:t>Cont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2647950"/>
            <a:ext cx="5029200" cy="2076450"/>
          </a:xfrm>
          <a:prstGeom prst="rect">
            <a:avLst/>
          </a:prstGeom>
        </p:spPr>
      </p:pic>
      <p:sp>
        <p:nvSpPr>
          <p:cNvPr id="5" name="Footer Placeholder 4">
            <a:extLst>
              <a:ext uri="{FF2B5EF4-FFF2-40B4-BE49-F238E27FC236}">
                <a16:creationId xmlns:a16="http://schemas.microsoft.com/office/drawing/2014/main" id="{E3CCC0EF-07F1-4BD1-93E1-6009AB74A36E}"/>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1889910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400" dirty="0"/>
                  <a:t>1. In a distribution exactly Normal, 31% of the items are under 45 and 8% are over 64. What are the mean and Standard deviation of this Distribution? It is given that if</a:t>
                </a:r>
              </a:p>
              <a:p>
                <a:pPr marL="0" indent="0">
                  <a:buNone/>
                </a:pPr>
                <a:r>
                  <a:rPr lang="en-US" sz="2400" dirty="0"/>
                  <a:t>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𝑡</m:t>
                        </m:r>
                      </m:e>
                    </m:d>
                    <m:r>
                      <a:rPr lang="en-US" sz="2400" i="1">
                        <a:latin typeface="Cambria Math"/>
                      </a:rPr>
                      <m:t>=</m:t>
                    </m:r>
                    <m:f>
                      <m:fPr>
                        <m:ctrlPr>
                          <a:rPr lang="en-US" sz="2400" i="1">
                            <a:latin typeface="Cambria Math" panose="02040503050406030204" pitchFamily="18" charset="0"/>
                          </a:rPr>
                        </m:ctrlPr>
                      </m:fPr>
                      <m:num>
                        <m:r>
                          <a:rPr lang="en-US" sz="2400" i="1">
                            <a:latin typeface="Cambria Math"/>
                          </a:rPr>
                          <m:t>1</m:t>
                        </m:r>
                      </m:num>
                      <m:den>
                        <m:rad>
                          <m:radPr>
                            <m:degHide m:val="on"/>
                            <m:ctrlPr>
                              <a:rPr lang="en-US" sz="2400" i="1">
                                <a:latin typeface="Cambria Math" panose="02040503050406030204" pitchFamily="18" charset="0"/>
                              </a:rPr>
                            </m:ctrlPr>
                          </m:radPr>
                          <m:deg/>
                          <m:e>
                            <m:r>
                              <a:rPr lang="en-US" sz="2400" i="1">
                                <a:latin typeface="Cambria Math"/>
                              </a:rPr>
                              <m:t>2</m:t>
                            </m:r>
                            <m:r>
                              <a:rPr lang="en-US" sz="2400" i="1">
                                <a:latin typeface="Cambria Math"/>
                              </a:rPr>
                              <m:t>𝜋</m:t>
                            </m:r>
                          </m:e>
                        </m:rad>
                      </m:den>
                    </m:f>
                    <m:nary>
                      <m:naryPr>
                        <m:limLoc m:val="undOvr"/>
                        <m:ctrlPr>
                          <a:rPr lang="en-US" sz="2400" i="1">
                            <a:latin typeface="Cambria Math" panose="02040503050406030204" pitchFamily="18" charset="0"/>
                          </a:rPr>
                        </m:ctrlPr>
                      </m:naryPr>
                      <m:sub>
                        <m:r>
                          <a:rPr lang="en-US" sz="2400" i="1">
                            <a:latin typeface="Cambria Math"/>
                          </a:rPr>
                          <m:t>0</m:t>
                        </m:r>
                      </m:sub>
                      <m:sup>
                        <m:r>
                          <a:rPr lang="en-US" sz="2400" i="1">
                            <a:latin typeface="Cambria Math"/>
                          </a:rPr>
                          <m:t>𝑡</m:t>
                        </m:r>
                      </m:sup>
                      <m:e>
                        <m:sSup>
                          <m:sSupPr>
                            <m:ctrlPr>
                              <a:rPr lang="en-US" sz="2400" i="1">
                                <a:latin typeface="Cambria Math" panose="02040503050406030204" pitchFamily="18" charset="0"/>
                              </a:rPr>
                            </m:ctrlPr>
                          </m:sSupPr>
                          <m:e>
                            <m:r>
                              <a:rPr lang="en-US" sz="2400" i="1">
                                <a:latin typeface="Cambria Math"/>
                              </a:rPr>
                              <m:t>𝑒</m:t>
                            </m:r>
                          </m:e>
                          <m:sup>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a:rPr>
                                      <m:t>−</m:t>
                                    </m:r>
                                    <m:r>
                                      <a:rPr lang="en-US" sz="2400" i="1">
                                        <a:latin typeface="Cambria Math"/>
                                      </a:rPr>
                                      <m:t>𝑥</m:t>
                                    </m:r>
                                  </m:e>
                                  <m:sup>
                                    <m:r>
                                      <a:rPr lang="en-US" sz="2400" i="1">
                                        <a:latin typeface="Cambria Math"/>
                                      </a:rPr>
                                      <m:t>2</m:t>
                                    </m:r>
                                  </m:sup>
                                </m:sSup>
                              </m:num>
                              <m:den>
                                <m:r>
                                  <a:rPr lang="en-US" sz="2400" i="1">
                                    <a:latin typeface="Cambria Math"/>
                                  </a:rPr>
                                  <m:t>2</m:t>
                                </m:r>
                              </m:den>
                            </m:f>
                          </m:sup>
                        </m:sSup>
                        <m:r>
                          <a:rPr lang="en-US" sz="2400" i="1">
                            <a:latin typeface="Cambria Math"/>
                          </a:rPr>
                          <m:t>𝑑𝑥</m:t>
                        </m:r>
                      </m:e>
                    </m:nary>
                  </m:oMath>
                </a14:m>
                <a:r>
                  <a:rPr lang="en-US" sz="2400" dirty="0"/>
                  <a:t> then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0.5</m:t>
                        </m:r>
                      </m:e>
                    </m:d>
                    <m:r>
                      <a:rPr lang="en-US" sz="2400" i="1">
                        <a:latin typeface="Cambria Math"/>
                      </a:rPr>
                      <m:t>=0.19, </m:t>
                    </m:r>
                    <m:r>
                      <a:rPr lang="en-US" sz="2400" i="1">
                        <a:latin typeface="Cambria Math"/>
                      </a:rPr>
                      <m:t>𝑓</m:t>
                    </m:r>
                    <m:d>
                      <m:dPr>
                        <m:ctrlPr>
                          <a:rPr lang="en-US" sz="2400" i="1">
                            <a:latin typeface="Cambria Math" panose="02040503050406030204" pitchFamily="18" charset="0"/>
                          </a:rPr>
                        </m:ctrlPr>
                      </m:dPr>
                      <m:e>
                        <m:r>
                          <a:rPr lang="en-US" sz="2400" i="1">
                            <a:latin typeface="Cambria Math"/>
                          </a:rPr>
                          <m:t>1.4</m:t>
                        </m:r>
                      </m:e>
                    </m:d>
                    <m:r>
                      <a:rPr lang="en-US" sz="2400" i="1">
                        <a:latin typeface="Cambria Math"/>
                      </a:rPr>
                      <m:t>=0.42. </m:t>
                    </m:r>
                  </m:oMath>
                </a14:m>
                <a:endParaRPr lang="en-US" sz="2400" dirty="0"/>
              </a:p>
              <a:p>
                <a:pPr marL="0" indent="0">
                  <a:buNone/>
                </a:pPr>
                <a:r>
                  <a:rPr lang="en-US" sz="2400" dirty="0"/>
                  <a:t>2. The lifetimes, T hours, of a certain brand of battery are assumed to be Normally distributed with a mean of 825 and a variance of 900 . Find the probability that one such battery will last between 801 and 870 hours.</a:t>
                </a:r>
              </a:p>
              <a:p>
                <a:pPr marL="0" indent="0">
                  <a:buNone/>
                </a:pPr>
                <a:r>
                  <a:rPr lang="en-US" sz="2400" b="1" dirty="0"/>
                  <a:t>Ans: </a:t>
                </a:r>
                <a:r>
                  <a:rPr lang="en-US" sz="2400" dirty="0"/>
                  <a:t>0.7213</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1185" t="-1078" r="-1852"/>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Daily Quiz(CO4)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EA076836-DEEF-481F-8B33-A82D2EFA6988}"/>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4179839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buFont typeface="Wingdings" pitchFamily="2" charset="2"/>
              <a:buChar char="ü"/>
            </a:pPr>
            <a:r>
              <a:rPr lang="en-US" sz="2400" dirty="0"/>
              <a:t>Mathematical expectation</a:t>
            </a:r>
          </a:p>
          <a:p>
            <a:pPr lvl="0">
              <a:buFont typeface="Wingdings" pitchFamily="2" charset="2"/>
              <a:buChar char="ü"/>
            </a:pPr>
            <a:r>
              <a:rPr lang="en-US" sz="2400" dirty="0"/>
              <a:t>Mean</a:t>
            </a:r>
          </a:p>
          <a:p>
            <a:pPr lvl="0">
              <a:buFont typeface="Wingdings" pitchFamily="2" charset="2"/>
              <a:buChar char="ü"/>
            </a:pPr>
            <a:r>
              <a:rPr lang="en-US" sz="2400" dirty="0"/>
              <a:t>Variance</a:t>
            </a:r>
          </a:p>
          <a:p>
            <a:pPr lvl="0">
              <a:buFont typeface="Wingdings" pitchFamily="2" charset="2"/>
              <a:buChar char="ü"/>
            </a:pPr>
            <a:r>
              <a:rPr lang="en-US" sz="2400" dirty="0"/>
              <a:t>Moment Generating Function</a:t>
            </a:r>
          </a:p>
          <a:p>
            <a:pPr algn="just">
              <a:buFont typeface="Wingdings" pitchFamily="2" charset="2"/>
              <a:buChar char="ü"/>
            </a:pPr>
            <a:r>
              <a:rPr lang="en-US" sz="2400" dirty="0"/>
              <a:t>Binomial distribution</a:t>
            </a:r>
          </a:p>
          <a:p>
            <a:pPr algn="just">
              <a:buFont typeface="Wingdings" pitchFamily="2" charset="2"/>
              <a:buChar char="ü"/>
            </a:pPr>
            <a:r>
              <a:rPr lang="en-US" sz="2400" dirty="0"/>
              <a:t>Poisson distribution</a:t>
            </a:r>
          </a:p>
          <a:p>
            <a:pPr>
              <a:buFont typeface="Wingdings" pitchFamily="2" charset="2"/>
              <a:buChar char="ü"/>
            </a:pPr>
            <a:r>
              <a:rPr lang="en-US" sz="2400" dirty="0"/>
              <a:t>Normal Distributions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Recap(CO4)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AEC22993-ABC0-4103-BECD-95C99C0B5E07}"/>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9389915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Exponential Distribution(CO4)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57200" y="1066800"/>
                <a:ext cx="8229600" cy="5059363"/>
              </a:xfrm>
            </p:spPr>
            <p:txBody>
              <a:bodyPr>
                <a:noAutofit/>
              </a:bodyPr>
              <a:lstStyle/>
              <a:p>
                <a:pPr algn="just">
                  <a:buNone/>
                </a:pPr>
                <a:r>
                  <a:rPr lang="en-US" sz="2200" b="1" dirty="0"/>
                  <a:t>Exponential distribution: </a:t>
                </a:r>
              </a:p>
              <a:p>
                <a:pPr marL="0" indent="0">
                  <a:buNone/>
                </a:pPr>
                <a:r>
                  <a:rPr lang="en-US" sz="2200" dirty="0"/>
                  <a:t>        A continuous random variable </a:t>
                </a:r>
                <a14:m>
                  <m:oMath xmlns:m="http://schemas.openxmlformats.org/officeDocument/2006/math">
                    <m:r>
                      <a:rPr lang="en-US" sz="2200" i="1">
                        <a:latin typeface="Cambria Math" panose="02040503050406030204" pitchFamily="18" charset="0"/>
                      </a:rPr>
                      <m:t>𝑋</m:t>
                    </m:r>
                    <m:r>
                      <a:rPr lang="en-US" sz="2200" i="1">
                        <a:latin typeface="Cambria Math" panose="02040503050406030204" pitchFamily="18" charset="0"/>
                      </a:rPr>
                      <m:t>=</m:t>
                    </m:r>
                    <m:r>
                      <a:rPr lang="en-US" sz="2200" i="1">
                        <a:latin typeface="Cambria Math" panose="02040503050406030204" pitchFamily="18" charset="0"/>
                      </a:rPr>
                      <m:t>𝑥</m:t>
                    </m:r>
                  </m:oMath>
                </a14:m>
                <a:r>
                  <a:rPr lang="en-US" sz="2200" dirty="0"/>
                  <a:t>  which has the following  Pdf </a:t>
                </a:r>
              </a:p>
              <a:p>
                <a:pPr marL="0" indent="0">
                  <a:buNone/>
                </a:pPr>
                <a:r>
                  <a:rPr lang="en-US" sz="2200" dirty="0"/>
                  <a:t>              </a:t>
                </a:r>
                <a14:m>
                  <m:oMath xmlns:m="http://schemas.openxmlformats.org/officeDocument/2006/math">
                    <m:r>
                      <a:rPr lang="en-US" sz="2200" i="1">
                        <a:latin typeface="Cambria Math" panose="02040503050406030204" pitchFamily="18" charset="0"/>
                      </a:rPr>
                      <m:t>𝑓</m:t>
                    </m:r>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eqArr>
                          <m:eqArrPr>
                            <m:ctrlPr>
                              <a:rPr lang="en-US" sz="2200" i="1">
                                <a:latin typeface="Cambria Math" panose="02040503050406030204" pitchFamily="18" charset="0"/>
                              </a:rPr>
                            </m:ctrlPr>
                          </m:eqArrPr>
                          <m:e>
                            <m:r>
                              <a:rPr lang="en-US" sz="2200" i="1">
                                <a:latin typeface="Cambria Math" panose="02040503050406030204" pitchFamily="18" charset="0"/>
                              </a:rPr>
                              <m:t>𝜆</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   </m:t>
                            </m:r>
                            <m:r>
                              <a:rPr lang="en-US" sz="2200" i="1">
                                <a:latin typeface="Cambria Math" panose="02040503050406030204" pitchFamily="18" charset="0"/>
                              </a:rPr>
                              <m:t>𝑓𝑜𝑟</m:t>
                            </m:r>
                            <m:r>
                              <a:rPr lang="en-US" sz="2200" i="1">
                                <a:latin typeface="Cambria Math" panose="02040503050406030204" pitchFamily="18" charset="0"/>
                              </a:rPr>
                              <m:t> </m:t>
                            </m:r>
                            <m:r>
                              <a:rPr lang="en-US" sz="2200" i="1">
                                <a:latin typeface="Cambria Math" panose="02040503050406030204" pitchFamily="18" charset="0"/>
                              </a:rPr>
                              <m:t>𝑥</m:t>
                            </m:r>
                            <m:r>
                              <a:rPr lang="en-US" sz="2200" i="1">
                                <a:latin typeface="Cambria Math" panose="02040503050406030204" pitchFamily="18" charset="0"/>
                              </a:rPr>
                              <m:t>≥0</m:t>
                            </m:r>
                          </m:e>
                          <m:e>
                            <m:r>
                              <a:rPr lang="en-US" sz="2200" i="1">
                                <a:latin typeface="Cambria Math" panose="02040503050406030204" pitchFamily="18" charset="0"/>
                              </a:rPr>
                              <m:t>0          </m:t>
                            </m:r>
                            <m:r>
                              <a:rPr lang="en-US" sz="2200" i="1">
                                <a:latin typeface="Cambria Math" panose="02040503050406030204" pitchFamily="18" charset="0"/>
                              </a:rPr>
                              <m:t>𝑓𝑜𝑟</m:t>
                            </m:r>
                            <m:r>
                              <a:rPr lang="en-US" sz="2200" i="1">
                                <a:latin typeface="Cambria Math" panose="02040503050406030204" pitchFamily="18" charset="0"/>
                              </a:rPr>
                              <m:t> </m:t>
                            </m:r>
                            <m:r>
                              <a:rPr lang="en-US" sz="2200" i="1">
                                <a:latin typeface="Cambria Math" panose="02040503050406030204" pitchFamily="18" charset="0"/>
                              </a:rPr>
                              <m:t>𝑥</m:t>
                            </m:r>
                            <m:r>
                              <a:rPr lang="en-US" sz="2200" i="1">
                                <a:latin typeface="Cambria Math" panose="02040503050406030204" pitchFamily="18" charset="0"/>
                              </a:rPr>
                              <m:t>&lt;0</m:t>
                            </m:r>
                          </m:e>
                        </m:eqArr>
                      </m:e>
                    </m:d>
                  </m:oMath>
                </a14:m>
                <a:r>
                  <a:rPr lang="en-US" sz="2200" dirty="0"/>
                  <a:t> </a:t>
                </a:r>
              </a:p>
              <a:p>
                <a:pPr marL="0" indent="0">
                  <a:buNone/>
                </a:pPr>
                <a:r>
                  <a:rPr lang="en-US" sz="2200" dirty="0"/>
                  <a:t>                                           Where </a:t>
                </a:r>
                <a14:m>
                  <m:oMath xmlns:m="http://schemas.openxmlformats.org/officeDocument/2006/math">
                    <m:r>
                      <a:rPr lang="en-US" sz="2200" i="1">
                        <a:latin typeface="Cambria Math" panose="02040503050406030204" pitchFamily="18" charset="0"/>
                      </a:rPr>
                      <m:t>𝜆</m:t>
                    </m:r>
                  </m:oMath>
                </a14:m>
                <a:r>
                  <a:rPr lang="en-US" sz="2200" dirty="0"/>
                  <a:t> is a parameter.</a:t>
                </a:r>
              </a:p>
              <a:p>
                <a:pPr marL="0" indent="0">
                  <a:buNone/>
                </a:pPr>
                <a:r>
                  <a:rPr lang="en-US" sz="2200" dirty="0"/>
                  <a:t>           is called exponential distribution.</a:t>
                </a:r>
              </a:p>
              <a:p>
                <a:pPr marL="0" indent="0">
                  <a:buNone/>
                </a:pPr>
                <a:r>
                  <a:rPr lang="en-US" sz="2200" b="1" dirty="0"/>
                  <a:t> Mean of Exponential distribution:  </a:t>
                </a:r>
                <a:r>
                  <a:rPr lang="en-US" sz="2200" dirty="0"/>
                  <a:t>We know that mean is given by </a:t>
                </a:r>
              </a:p>
              <a:p>
                <a:pPr marL="0" indent="0">
                  <a:buNone/>
                </a:pPr>
                <a:r>
                  <a:rPr lang="en-US" sz="2200" b="1" dirty="0"/>
                  <a:t>                    </a:t>
                </a:r>
                <a:r>
                  <a:rPr lang="en-US" sz="2200" dirty="0"/>
                  <a:t>Mean = </a:t>
                </a:r>
                <a14:m>
                  <m:oMath xmlns:m="http://schemas.openxmlformats.org/officeDocument/2006/math">
                    <m:r>
                      <a:rPr lang="en-US" sz="2200" i="1">
                        <a:latin typeface="Cambria Math" panose="02040503050406030204" pitchFamily="18" charset="0"/>
                      </a:rPr>
                      <m:t>𝐸</m:t>
                    </m:r>
                    <m:d>
                      <m:dPr>
                        <m:ctrlPr>
                          <a:rPr lang="en-US" sz="2200" i="1">
                            <a:latin typeface="Cambria Math" panose="02040503050406030204" pitchFamily="18" charset="0"/>
                          </a:rPr>
                        </m:ctrlPr>
                      </m:dPr>
                      <m:e>
                        <m:r>
                          <a:rPr lang="en-US" sz="2200" i="1">
                            <a:latin typeface="Cambria Math" panose="02040503050406030204" pitchFamily="18" charset="0"/>
                          </a:rPr>
                          <m:t>𝑋</m:t>
                        </m:r>
                        <m:r>
                          <a:rPr lang="en-US" sz="2200" i="1">
                            <a:latin typeface="Cambria Math" panose="02040503050406030204" pitchFamily="18" charset="0"/>
                          </a:rPr>
                          <m:t>=</m:t>
                        </m:r>
                        <m:r>
                          <a:rPr lang="en-US" sz="2200" i="1">
                            <a:latin typeface="Cambria Math" panose="02040503050406030204" pitchFamily="18" charset="0"/>
                          </a:rPr>
                          <m:t>𝑥</m:t>
                        </m:r>
                      </m:e>
                    </m:d>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m:t>
                        </m:r>
                      </m:sub>
                      <m:sup>
                        <m:r>
                          <a:rPr lang="en-US" sz="2200" i="1">
                            <a:latin typeface="Cambria Math" panose="02040503050406030204" pitchFamily="18" charset="0"/>
                          </a:rPr>
                          <m:t>∞</m:t>
                        </m:r>
                      </m:sup>
                      <m:e>
                        <m:r>
                          <a:rPr lang="en-US" sz="2200" i="1">
                            <a:latin typeface="Cambria Math" panose="02040503050406030204" pitchFamily="18" charset="0"/>
                          </a:rPr>
                          <m:t>𝑥𝑓</m:t>
                        </m:r>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𝑑𝑥</m:t>
                        </m:r>
                      </m:e>
                    </m:nary>
                  </m:oMath>
                </a14:m>
                <a:r>
                  <a:rPr lang="en-US" sz="2200" dirty="0"/>
                  <a:t> </a:t>
                </a:r>
              </a:p>
              <a:p>
                <a:pPr marL="0" indent="0">
                  <a:buNone/>
                </a:pPr>
                <a:r>
                  <a:rPr lang="en-US" sz="2200" dirty="0"/>
                  <a:t>                                                      </a:t>
                </a:r>
                <a14:m>
                  <m:oMath xmlns:m="http://schemas.openxmlformats.org/officeDocument/2006/math">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m:t>
                        </m:r>
                      </m:sup>
                      <m:e>
                        <m:r>
                          <a:rPr lang="en-US" sz="2200" i="1">
                            <a:latin typeface="Cambria Math" panose="02040503050406030204" pitchFamily="18" charset="0"/>
                          </a:rPr>
                          <m:t>𝑥</m:t>
                        </m:r>
                        <m:r>
                          <a:rPr lang="en-US" sz="2200" i="1">
                            <a:latin typeface="Cambria Math" panose="02040503050406030204" pitchFamily="18" charset="0"/>
                          </a:rPr>
                          <m:t>𝜆</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 </m:t>
                        </m:r>
                        <m:r>
                          <a:rPr lang="en-US" sz="2200" i="1">
                            <a:latin typeface="Cambria Math" panose="02040503050406030204" pitchFamily="18" charset="0"/>
                          </a:rPr>
                          <m:t>𝑑𝑥</m:t>
                        </m:r>
                      </m:e>
                    </m:nary>
                  </m:oMath>
                </a14:m>
                <a:endParaRPr lang="en-US" sz="2200" dirty="0"/>
              </a:p>
              <a:p>
                <a:pPr marL="0" indent="0">
                  <a:buNone/>
                </a:pPr>
                <a:r>
                  <a:rPr lang="en-US" sz="2200" dirty="0"/>
                  <a:t>                                                      </a:t>
                </a:r>
                <a14:m>
                  <m:oMath xmlns:m="http://schemas.openxmlformats.org/officeDocument/2006/math">
                    <m:r>
                      <a:rPr lang="en-US" sz="2200" i="1">
                        <a:latin typeface="Cambria Math" panose="02040503050406030204" pitchFamily="18" charset="0"/>
                      </a:rPr>
                      <m:t>=</m:t>
                    </m:r>
                    <m:r>
                      <a:rPr lang="en-US" sz="2200" i="1">
                        <a:latin typeface="Cambria Math" panose="02040503050406030204" pitchFamily="18" charset="0"/>
                      </a:rPr>
                      <m:t>𝜆</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m:t>
                        </m:r>
                      </m:sup>
                      <m:e>
                        <m:r>
                          <a:rPr lang="en-US" sz="2200" i="1">
                            <a:latin typeface="Cambria Math" panose="02040503050406030204" pitchFamily="18" charset="0"/>
                          </a:rPr>
                          <m:t>𝑥</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 </m:t>
                        </m:r>
                        <m:r>
                          <a:rPr lang="en-US" sz="2200" i="1">
                            <a:latin typeface="Cambria Math" panose="02040503050406030204" pitchFamily="18" charset="0"/>
                          </a:rPr>
                          <m:t>𝑑𝑥</m:t>
                        </m:r>
                      </m:e>
                    </m:nary>
                  </m:oMath>
                </a14:m>
                <a:endParaRPr lang="en-US" sz="2200" dirty="0"/>
              </a:p>
              <a:p>
                <a:pPr marL="0" indent="0">
                  <a:buNone/>
                </a:pPr>
                <a:r>
                  <a:rPr lang="en-US" sz="2200" dirty="0"/>
                  <a:t>                                                                               </a:t>
                </a:r>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57200" y="1066800"/>
                <a:ext cx="8229600" cy="5059363"/>
              </a:xfrm>
              <a:blipFill>
                <a:blip r:embed="rId3"/>
                <a:stretch>
                  <a:fillRect l="-963" t="-843"/>
                </a:stretch>
              </a:blipFill>
            </p:spPr>
            <p:txBody>
              <a:bodyPr/>
              <a:lstStyle/>
              <a:p>
                <a:r>
                  <a:rPr lang="en-US">
                    <a:noFill/>
                  </a:rPr>
                  <a:t> </a:t>
                </a:r>
              </a:p>
            </p:txBody>
          </p:sp>
        </mc:Fallback>
      </mc:AlternateContent>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Equation.DSMT4">
                  <p:embed/>
                </p:oleObj>
              </mc:Choice>
              <mc:Fallback>
                <p:oleObj name="Equation" r:id="rId6" imgW="114120" imgH="177480" progId="Equation.DSMT4">
                  <p:embed/>
                  <p:pic>
                    <p:nvPicPr>
                      <p:cNvPr id="13"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2C8B0C6B-5214-48D2-BC4E-58D39C2EE4CD}"/>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6168176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Exponential Distribution(CO4)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57200" y="1066800"/>
                <a:ext cx="8229600" cy="5181599"/>
              </a:xfrm>
            </p:spPr>
            <p:txBody>
              <a:bodyPr>
                <a:noAutofit/>
              </a:bodyPr>
              <a:lstStyle/>
              <a:p>
                <a:pPr marL="0" indent="0">
                  <a:buNone/>
                </a:pPr>
                <a:r>
                  <a:rPr lang="en-US" sz="2200" dirty="0"/>
                  <a:t> </a:t>
                </a:r>
                <a14:m>
                  <m:oMath xmlns:m="http://schemas.openxmlformats.org/officeDocument/2006/math">
                    <m:r>
                      <a:rPr lang="en-US" sz="2200" i="1">
                        <a:latin typeface="Cambria Math" panose="02040503050406030204" pitchFamily="18" charset="0"/>
                      </a:rPr>
                      <m:t>=</m:t>
                    </m:r>
                    <m:r>
                      <a:rPr lang="en-US" sz="2200" i="1">
                        <a:latin typeface="Cambria Math" panose="02040503050406030204" pitchFamily="18" charset="0"/>
                      </a:rPr>
                      <m:t>𝜆</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m:t>
                        </m:r>
                      </m:sup>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r>
                              <a:rPr lang="en-US" sz="2200" i="1">
                                <a:latin typeface="Cambria Math" panose="02040503050406030204" pitchFamily="18" charset="0"/>
                              </a:rPr>
                              <m:t>2−1</m:t>
                            </m:r>
                          </m:sup>
                        </m:sSup>
                      </m:e>
                    </m:nary>
                    <m:r>
                      <a:rPr lang="en-US" sz="2200" i="1">
                        <a:latin typeface="Cambria Math" panose="02040503050406030204" pitchFamily="18" charset="0"/>
                      </a:rPr>
                      <m:t> </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 </m:t>
                    </m:r>
                    <m:r>
                      <a:rPr lang="en-US" sz="2200" i="1">
                        <a:latin typeface="Cambria Math" panose="02040503050406030204" pitchFamily="18" charset="0"/>
                      </a:rPr>
                      <m:t>𝑑𝑥</m:t>
                    </m:r>
                  </m:oMath>
                </a14:m>
                <a:r>
                  <a:rPr lang="en-US" sz="2200" dirty="0"/>
                  <a:t>,  which is a Gamma function</a:t>
                </a:r>
              </a:p>
              <a:p>
                <a:pPr marL="0" indent="0" algn="just">
                  <a:buNone/>
                </a:pPr>
                <a:r>
                  <a:rPr lang="en-US" sz="2200" dirty="0"/>
                  <a:t>                                                      </a:t>
                </a:r>
                <a14:m>
                  <m:oMath xmlns:m="http://schemas.openxmlformats.org/officeDocument/2006/math">
                    <m:r>
                      <a:rPr lang="en-US" sz="2200" i="1">
                        <a:latin typeface="Cambria Math" panose="02040503050406030204" pitchFamily="18" charset="0"/>
                      </a:rPr>
                      <m:t>=</m:t>
                    </m:r>
                    <m:r>
                      <a:rPr lang="en-US" sz="2200" i="1">
                        <a:latin typeface="Cambria Math" panose="02040503050406030204" pitchFamily="18" charset="0"/>
                      </a:rPr>
                      <m:t>𝜆</m:t>
                    </m:r>
                    <m:f>
                      <m:fPr>
                        <m:ctrlPr>
                          <a:rPr lang="en-US" sz="2200" i="1">
                            <a:latin typeface="Cambria Math" panose="02040503050406030204" pitchFamily="18" charset="0"/>
                          </a:rPr>
                        </m:ctrlPr>
                      </m:fPr>
                      <m:num>
                        <m:r>
                          <m:rPr>
                            <m:sty m:val="p"/>
                          </m:rPr>
                          <a:rPr lang="en-US" sz="2200">
                            <a:latin typeface="Cambria Math" panose="02040503050406030204" pitchFamily="18" charset="0"/>
                          </a:rPr>
                          <m:t>Γ</m:t>
                        </m:r>
                        <m:r>
                          <a:rPr lang="en-US" sz="2200" i="1">
                            <a:latin typeface="Cambria Math" panose="02040503050406030204" pitchFamily="18" charset="0"/>
                          </a:rPr>
                          <m:t>2</m:t>
                        </m:r>
                      </m:num>
                      <m:den>
                        <m:sSup>
                          <m:sSupPr>
                            <m:ctrlPr>
                              <a:rPr lang="en-US" sz="2200" i="1">
                                <a:latin typeface="Cambria Math" panose="02040503050406030204" pitchFamily="18" charset="0"/>
                              </a:rPr>
                            </m:ctrlPr>
                          </m:sSupPr>
                          <m:e>
                            <m:r>
                              <a:rPr lang="en-US" sz="2200" i="1">
                                <a:latin typeface="Cambria Math" panose="02040503050406030204" pitchFamily="18" charset="0"/>
                              </a:rPr>
                              <m:t>𝜆</m:t>
                            </m:r>
                          </m:e>
                          <m:sup>
                            <m:r>
                              <a:rPr lang="en-US" sz="2200" i="1">
                                <a:latin typeface="Cambria Math" panose="02040503050406030204" pitchFamily="18" charset="0"/>
                              </a:rPr>
                              <m:t>2</m:t>
                            </m:r>
                          </m:sup>
                        </m:sSup>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ea typeface="Cambria Math"/>
                          </a:rPr>
                          <m:t>𝜆</m:t>
                        </m:r>
                      </m:den>
                    </m:f>
                  </m:oMath>
                </a14:m>
                <a:r>
                  <a:rPr lang="en-US" sz="2200" dirty="0"/>
                  <a:t>  </a:t>
                </a:r>
              </a:p>
              <a:p>
                <a:pPr marL="0" indent="0">
                  <a:buNone/>
                </a:pPr>
                <a:r>
                  <a:rPr lang="en-US" sz="2200" dirty="0"/>
                  <a:t>                                        </a:t>
                </a:r>
                <a14:m>
                  <m:oMath xmlns:m="http://schemas.openxmlformats.org/officeDocument/2006/math">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𝑀𝑒𝑎𝑛</m:t>
                        </m:r>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𝜆</m:t>
                            </m:r>
                          </m:den>
                        </m:f>
                      </m:e>
                    </m:d>
                  </m:oMath>
                </a14:m>
                <a:endParaRPr lang="en-US" sz="2200" dirty="0"/>
              </a:p>
              <a:p>
                <a:pPr marL="0" indent="0" algn="just">
                  <a:buNone/>
                </a:pPr>
                <a:r>
                  <a:rPr lang="en-US" sz="2200" b="1" dirty="0"/>
                  <a:t>Variance of Exponential distribution: </a:t>
                </a:r>
              </a:p>
              <a:p>
                <a:pPr marL="0" indent="0" algn="just">
                  <a:buNone/>
                </a:pPr>
                <a:r>
                  <a:rPr lang="en-US" sz="2200" dirty="0"/>
                  <a:t>We know that the variance is given by</a:t>
                </a:r>
              </a:p>
              <a:p>
                <a:pPr marL="0" indent="0" algn="just">
                  <a:buNone/>
                </a:pPr>
                <a:r>
                  <a:rPr lang="en-US" sz="2200" dirty="0"/>
                  <a:t>                        Variance</a:t>
                </a:r>
                <a14:m>
                  <m:oMath xmlns:m="http://schemas.openxmlformats.org/officeDocument/2006/math">
                    <m:d>
                      <m:dPr>
                        <m:ctrlPr>
                          <a:rPr lang="en-US" sz="2200" i="1">
                            <a:latin typeface="Cambria Math" panose="02040503050406030204" pitchFamily="18" charset="0"/>
                          </a:rPr>
                        </m:ctrlPr>
                      </m:dPr>
                      <m:e>
                        <m:r>
                          <a:rPr lang="en-US" sz="2200" i="1">
                            <a:latin typeface="Cambria Math" panose="02040503050406030204" pitchFamily="18" charset="0"/>
                          </a:rPr>
                          <m:t>𝑋</m:t>
                        </m:r>
                        <m:r>
                          <a:rPr lang="en-US" sz="2200" i="1">
                            <a:latin typeface="Cambria Math" panose="02040503050406030204" pitchFamily="18" charset="0"/>
                          </a:rPr>
                          <m:t>=</m:t>
                        </m:r>
                        <m:r>
                          <a:rPr lang="en-US" sz="2200" i="1">
                            <a:latin typeface="Cambria Math" panose="02040503050406030204" pitchFamily="18" charset="0"/>
                          </a:rPr>
                          <m:t>𝑥</m:t>
                        </m:r>
                      </m:e>
                    </m:d>
                    <m:r>
                      <a:rPr lang="en-US" sz="2200" i="1">
                        <a:latin typeface="Cambria Math" panose="02040503050406030204" pitchFamily="18" charset="0"/>
                      </a:rPr>
                      <m:t>=</m:t>
                    </m:r>
                    <m:r>
                      <a:rPr lang="en-US" sz="2200" i="1">
                        <a:latin typeface="Cambria Math" panose="02040503050406030204" pitchFamily="18" charset="0"/>
                      </a:rPr>
                      <m:t>𝐸</m:t>
                    </m:r>
                    <m:d>
                      <m:dPr>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r>
                              <a:rPr lang="en-US" sz="2200" i="1">
                                <a:latin typeface="Cambria Math" panose="02040503050406030204" pitchFamily="18" charset="0"/>
                              </a:rPr>
                              <m:t>2</m:t>
                            </m:r>
                          </m:sup>
                        </m:sSup>
                      </m:e>
                    </m:d>
                    <m:r>
                      <a:rPr lang="en-US" sz="2200" i="1">
                        <a:latin typeface="Cambria Math" panose="02040503050406030204" pitchFamily="18" charset="0"/>
                      </a:rPr>
                      <m:t>−</m:t>
                    </m:r>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a:rPr lang="en-US" sz="2200" i="1">
                                <a:latin typeface="Cambria Math" panose="02040503050406030204" pitchFamily="18" charset="0"/>
                              </a:rPr>
                              <m:t>𝐸</m:t>
                            </m:r>
                            <m:r>
                              <a:rPr lang="en-US" sz="2200" i="1">
                                <a:latin typeface="Cambria Math" panose="02040503050406030204" pitchFamily="18" charset="0"/>
                              </a:rPr>
                              <m:t>(</m:t>
                            </m:r>
                            <m:r>
                              <a:rPr lang="en-US" sz="2200" i="1">
                                <a:latin typeface="Cambria Math" panose="02040503050406030204" pitchFamily="18" charset="0"/>
                              </a:rPr>
                              <m:t>𝑥</m:t>
                            </m:r>
                            <m:r>
                              <a:rPr lang="en-US" sz="2200" i="1">
                                <a:latin typeface="Cambria Math" panose="02040503050406030204" pitchFamily="18" charset="0"/>
                              </a:rPr>
                              <m:t>)</m:t>
                            </m:r>
                          </m:e>
                        </m:d>
                      </m:e>
                      <m:sup>
                        <m:r>
                          <a:rPr lang="en-US" sz="2200" i="1">
                            <a:latin typeface="Cambria Math" panose="02040503050406030204" pitchFamily="18" charset="0"/>
                          </a:rPr>
                          <m:t>2</m:t>
                        </m:r>
                      </m:sup>
                    </m:sSup>
                  </m:oMath>
                </a14:m>
                <a:r>
                  <a:rPr lang="en-US" sz="2200" dirty="0"/>
                  <a:t> ……….(1)</a:t>
                </a:r>
              </a:p>
              <a:p>
                <a:pPr marL="0" indent="0" algn="just">
                  <a:buNone/>
                </a:pPr>
                <a:r>
                  <a:rPr lang="en-US" sz="2200" dirty="0"/>
                  <a:t>       Now       </a:t>
                </a:r>
                <a14:m>
                  <m:oMath xmlns:m="http://schemas.openxmlformats.org/officeDocument/2006/math">
                    <m:r>
                      <a:rPr lang="en-US" sz="2200" i="1">
                        <a:latin typeface="Cambria Math" panose="02040503050406030204" pitchFamily="18" charset="0"/>
                      </a:rPr>
                      <m:t>𝐸</m:t>
                    </m:r>
                    <m:d>
                      <m:dPr>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r>
                              <a:rPr lang="en-US" sz="2200" i="1">
                                <a:latin typeface="Cambria Math" panose="02040503050406030204" pitchFamily="18" charset="0"/>
                              </a:rPr>
                              <m:t>2</m:t>
                            </m:r>
                          </m:sup>
                        </m:sSup>
                      </m:e>
                    </m:d>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m:t>
                        </m:r>
                      </m:sub>
                      <m:sup>
                        <m:r>
                          <a:rPr lang="en-US" sz="2200" i="1">
                            <a:latin typeface="Cambria Math" panose="02040503050406030204" pitchFamily="18" charset="0"/>
                          </a:rPr>
                          <m:t>∞</m:t>
                        </m:r>
                      </m:sup>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r>
                              <a:rPr lang="en-US" sz="2200" i="1">
                                <a:latin typeface="Cambria Math" panose="02040503050406030204" pitchFamily="18" charset="0"/>
                              </a:rPr>
                              <m:t>2</m:t>
                            </m:r>
                          </m:sup>
                        </m:sSup>
                        <m:r>
                          <a:rPr lang="en-US" sz="2200" i="1">
                            <a:latin typeface="Cambria Math" panose="02040503050406030204" pitchFamily="18" charset="0"/>
                          </a:rPr>
                          <m:t>𝑓</m:t>
                        </m:r>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𝑑𝑥</m:t>
                        </m:r>
                      </m:e>
                    </m:nary>
                  </m:oMath>
                </a14:m>
                <a:endParaRPr lang="en-US" sz="2200" dirty="0"/>
              </a:p>
              <a:p>
                <a:pPr marL="0" indent="0" algn="just">
                  <a:buNone/>
                </a:pPr>
                <a:r>
                  <a:rPr lang="en-US" sz="2200" dirty="0"/>
                  <a:t>                                  </a:t>
                </a:r>
                <a14:m>
                  <m:oMath xmlns:m="http://schemas.openxmlformats.org/officeDocument/2006/math">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m:t>
                        </m:r>
                      </m:sup>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r>
                              <a:rPr lang="en-US" sz="2200" i="1">
                                <a:latin typeface="Cambria Math" panose="02040503050406030204" pitchFamily="18" charset="0"/>
                              </a:rPr>
                              <m:t>2</m:t>
                            </m:r>
                          </m:sup>
                        </m:sSup>
                        <m:r>
                          <a:rPr lang="en-US" sz="2200" i="1">
                            <a:latin typeface="Cambria Math" panose="02040503050406030204" pitchFamily="18" charset="0"/>
                          </a:rPr>
                          <m:t>𝜆</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 </m:t>
                        </m:r>
                        <m:r>
                          <a:rPr lang="en-US" sz="2200" i="1">
                            <a:latin typeface="Cambria Math" panose="02040503050406030204" pitchFamily="18" charset="0"/>
                          </a:rPr>
                          <m:t>𝑑𝑥</m:t>
                        </m:r>
                      </m:e>
                    </m:nary>
                  </m:oMath>
                </a14:m>
                <a:r>
                  <a:rPr lang="en-US" sz="2200" dirty="0"/>
                  <a:t> </a:t>
                </a:r>
              </a:p>
              <a:p>
                <a:pPr marL="0" indent="0" algn="just">
                  <a:buNone/>
                </a:pPr>
                <a:r>
                  <a:rPr lang="en-US" sz="2200" dirty="0"/>
                  <a:t>                                  </a:t>
                </a:r>
                <a14:m>
                  <m:oMath xmlns:m="http://schemas.openxmlformats.org/officeDocument/2006/math">
                    <m:r>
                      <a:rPr lang="en-US" sz="2200" i="1">
                        <a:latin typeface="Cambria Math" panose="02040503050406030204" pitchFamily="18" charset="0"/>
                      </a:rPr>
                      <m:t>=</m:t>
                    </m:r>
                    <m:r>
                      <a:rPr lang="en-US" sz="2200" i="1">
                        <a:latin typeface="Cambria Math" panose="02040503050406030204" pitchFamily="18" charset="0"/>
                      </a:rPr>
                      <m:t>𝜆</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m:t>
                        </m:r>
                      </m:sup>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r>
                              <a:rPr lang="en-US" sz="2200" i="1">
                                <a:latin typeface="Cambria Math" panose="02040503050406030204" pitchFamily="18" charset="0"/>
                              </a:rPr>
                              <m:t>3−1</m:t>
                            </m:r>
                          </m:sup>
                        </m:sSup>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 </m:t>
                        </m:r>
                        <m:r>
                          <a:rPr lang="en-US" sz="2200" i="1">
                            <a:latin typeface="Cambria Math" panose="02040503050406030204" pitchFamily="18" charset="0"/>
                          </a:rPr>
                          <m:t>𝑑𝑥</m:t>
                        </m:r>
                        <m:r>
                          <a:rPr lang="en-US" sz="2200" i="1">
                            <a:latin typeface="Cambria Math" panose="02040503050406030204" pitchFamily="18" charset="0"/>
                          </a:rPr>
                          <m:t> </m:t>
                        </m:r>
                      </m:e>
                    </m:nary>
                  </m:oMath>
                </a14:m>
                <a:r>
                  <a:rPr lang="en-US" sz="2200" dirty="0"/>
                  <a:t>, which is a Gamma function</a:t>
                </a:r>
              </a:p>
              <a:p>
                <a:pPr marL="0" indent="0" algn="just">
                  <a:buNone/>
                </a:pPr>
                <a:r>
                  <a:rPr lang="en-US" sz="2200" dirty="0"/>
                  <a:t>                                  </a:t>
                </a:r>
                <a14:m>
                  <m:oMath xmlns:m="http://schemas.openxmlformats.org/officeDocument/2006/math">
                    <m:r>
                      <a:rPr lang="en-US" sz="2200" i="1">
                        <a:latin typeface="Cambria Math" panose="02040503050406030204" pitchFamily="18" charset="0"/>
                      </a:rPr>
                      <m:t>=</m:t>
                    </m:r>
                    <m:r>
                      <a:rPr lang="en-US" sz="2200" i="1">
                        <a:latin typeface="Cambria Math" panose="02040503050406030204" pitchFamily="18" charset="0"/>
                      </a:rPr>
                      <m:t>𝜆</m:t>
                    </m:r>
                    <m:f>
                      <m:fPr>
                        <m:ctrlPr>
                          <a:rPr lang="en-US" sz="2200" i="1">
                            <a:latin typeface="Cambria Math" panose="02040503050406030204" pitchFamily="18" charset="0"/>
                          </a:rPr>
                        </m:ctrlPr>
                      </m:fPr>
                      <m:num>
                        <m:r>
                          <m:rPr>
                            <m:sty m:val="p"/>
                          </m:rPr>
                          <a:rPr lang="en-US" sz="2200">
                            <a:latin typeface="Cambria Math" panose="02040503050406030204" pitchFamily="18" charset="0"/>
                          </a:rPr>
                          <m:t>Γ</m:t>
                        </m:r>
                        <m:r>
                          <a:rPr lang="en-US" sz="2200">
                            <a:latin typeface="Cambria Math" panose="02040503050406030204" pitchFamily="18" charset="0"/>
                          </a:rPr>
                          <m:t>3</m:t>
                        </m:r>
                      </m:num>
                      <m:den>
                        <m:sSup>
                          <m:sSupPr>
                            <m:ctrlPr>
                              <a:rPr lang="en-US" sz="2200" i="1">
                                <a:latin typeface="Cambria Math" panose="02040503050406030204" pitchFamily="18" charset="0"/>
                              </a:rPr>
                            </m:ctrlPr>
                          </m:sSupPr>
                          <m:e>
                            <m:r>
                              <m:rPr>
                                <m:sty m:val="p"/>
                              </m:rPr>
                              <a:rPr lang="en-US" sz="2200">
                                <a:latin typeface="Cambria Math" panose="02040503050406030204" pitchFamily="18" charset="0"/>
                              </a:rPr>
                              <m:t>λ</m:t>
                            </m:r>
                          </m:e>
                          <m:sup>
                            <m:r>
                              <a:rPr lang="en-US" sz="2200">
                                <a:latin typeface="Cambria Math" panose="02040503050406030204" pitchFamily="18" charset="0"/>
                              </a:rPr>
                              <m:t>3</m:t>
                            </m:r>
                          </m:sup>
                        </m:sSup>
                      </m:den>
                    </m:f>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2</m:t>
                        </m:r>
                      </m:num>
                      <m:den>
                        <m:sSup>
                          <m:sSupPr>
                            <m:ctrlPr>
                              <a:rPr lang="en-US" sz="2200" i="1">
                                <a:latin typeface="Cambria Math" panose="02040503050406030204" pitchFamily="18" charset="0"/>
                              </a:rPr>
                            </m:ctrlPr>
                          </m:sSupPr>
                          <m:e>
                            <m:r>
                              <a:rPr lang="en-US" sz="2200" i="1">
                                <a:latin typeface="Cambria Math" panose="02040503050406030204" pitchFamily="18" charset="0"/>
                              </a:rPr>
                              <m:t>𝜆</m:t>
                            </m:r>
                          </m:e>
                          <m:sup>
                            <m:r>
                              <a:rPr lang="en-US" sz="2200" i="1">
                                <a:latin typeface="Cambria Math" panose="02040503050406030204" pitchFamily="18" charset="0"/>
                              </a:rPr>
                              <m:t>2</m:t>
                            </m:r>
                          </m:sup>
                        </m:sSup>
                      </m:den>
                    </m:f>
                  </m:oMath>
                </a14:m>
                <a:r>
                  <a:rPr lang="en-US" sz="2200" dirty="0"/>
                  <a:t>     </a:t>
                </a:r>
              </a:p>
              <a:p>
                <a:pPr marL="0" marR="0" algn="just">
                  <a:spcBef>
                    <a:spcPts val="0"/>
                  </a:spcBef>
                  <a:spcAft>
                    <a:spcPts val="0"/>
                  </a:spcAft>
                  <a:buNone/>
                </a:pPr>
                <a:r>
                  <a:rPr lang="en-US" sz="2200" dirty="0"/>
                  <a:t>                         </a:t>
                </a:r>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57200" y="1066800"/>
                <a:ext cx="8229600" cy="5181599"/>
              </a:xfrm>
              <a:blipFill>
                <a:blip r:embed="rId3"/>
                <a:stretch>
                  <a:fillRect l="-963" r="-593"/>
                </a:stretch>
              </a:blipFill>
            </p:spPr>
            <p:txBody>
              <a:bodyPr/>
              <a:lstStyle/>
              <a:p>
                <a:r>
                  <a:rPr lang="en-US">
                    <a:noFill/>
                  </a:rPr>
                  <a:t> </a:t>
                </a:r>
              </a:p>
            </p:txBody>
          </p:sp>
        </mc:Fallback>
      </mc:AlternateContent>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Equation.DSMT4">
                  <p:embed/>
                </p:oleObj>
              </mc:Choice>
              <mc:Fallback>
                <p:oleObj name="Equation" r:id="rId6" imgW="114120" imgH="177480" progId="Equation.DSMT4">
                  <p:embed/>
                  <p:pic>
                    <p:nvPicPr>
                      <p:cNvPr id="13"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02D13E5D-7956-43FF-9C3B-AD622652A86A}"/>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444298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Exponential Distribution(CO4)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57200" y="1066801"/>
                <a:ext cx="8229600" cy="4876800"/>
              </a:xfrm>
            </p:spPr>
            <p:txBody>
              <a:bodyPr>
                <a:noAutofit/>
              </a:bodyPr>
              <a:lstStyle/>
              <a:p>
                <a:pPr marL="0" indent="0" algn="just">
                  <a:buNone/>
                </a:pPr>
                <a:r>
                  <a:rPr lang="en-US" sz="2200" dirty="0"/>
                  <a:t>From (1),       Variance</a:t>
                </a:r>
                <a14:m>
                  <m:oMath xmlns:m="http://schemas.openxmlformats.org/officeDocument/2006/math">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m:t>
                    </m:r>
                    <m:r>
                      <a:rPr lang="en-US" sz="2200" i="1">
                        <a:latin typeface="Cambria Math" panose="02040503050406030204" pitchFamily="18" charset="0"/>
                      </a:rPr>
                      <m:t>𝐸</m:t>
                    </m:r>
                    <m:d>
                      <m:dPr>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r>
                              <a:rPr lang="en-US" sz="2200" i="1">
                                <a:latin typeface="Cambria Math" panose="02040503050406030204" pitchFamily="18" charset="0"/>
                              </a:rPr>
                              <m:t>2</m:t>
                            </m:r>
                          </m:sup>
                        </m:sSup>
                      </m:e>
                    </m:d>
                    <m:r>
                      <a:rPr lang="en-US" sz="2200" i="1">
                        <a:latin typeface="Cambria Math" panose="02040503050406030204" pitchFamily="18" charset="0"/>
                      </a:rPr>
                      <m:t>−</m:t>
                    </m:r>
                    <m:sSup>
                      <m:sSupPr>
                        <m:ctrlPr>
                          <a:rPr lang="en-US" sz="2200" i="1">
                            <a:latin typeface="Cambria Math" panose="02040503050406030204" pitchFamily="18" charset="0"/>
                          </a:rPr>
                        </m:ctrlPr>
                      </m:sSupPr>
                      <m:e>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𝐸</m:t>
                            </m:r>
                            <m:r>
                              <a:rPr lang="en-US" sz="2200" i="1">
                                <a:latin typeface="Cambria Math" panose="02040503050406030204" pitchFamily="18" charset="0"/>
                              </a:rPr>
                              <m:t>(</m:t>
                            </m:r>
                            <m:r>
                              <a:rPr lang="en-US" sz="2200" i="1">
                                <a:latin typeface="Cambria Math" panose="02040503050406030204" pitchFamily="18" charset="0"/>
                              </a:rPr>
                              <m:t>𝑥</m:t>
                            </m:r>
                            <m:r>
                              <a:rPr lang="en-US" sz="2200" i="1">
                                <a:latin typeface="Cambria Math" panose="02040503050406030204" pitchFamily="18" charset="0"/>
                              </a:rPr>
                              <m:t>)</m:t>
                            </m:r>
                          </m:e>
                        </m:d>
                      </m:e>
                      <m:sup>
                        <m:r>
                          <a:rPr lang="en-US" sz="2200" i="1">
                            <a:latin typeface="Cambria Math" panose="02040503050406030204" pitchFamily="18" charset="0"/>
                          </a:rPr>
                          <m:t>2</m:t>
                        </m:r>
                      </m:sup>
                    </m:sSup>
                  </m:oMath>
                </a14:m>
                <a:endParaRPr lang="en-US" sz="2200" dirty="0"/>
              </a:p>
              <a:p>
                <a:pPr marL="0" indent="0" algn="just">
                  <a:buNone/>
                </a:pPr>
                <a:r>
                  <a:rPr lang="en-US" sz="2200" dirty="0"/>
                  <a:t>                                    </a:t>
                </a:r>
                <a14:m>
                  <m:oMath xmlns:m="http://schemas.openxmlformats.org/officeDocument/2006/math">
                    <m:r>
                      <a:rPr lang="en-US" sz="2200" i="1">
                        <a:latin typeface="Cambria Math" panose="02040503050406030204" pitchFamily="18" charset="0"/>
                      </a:rPr>
                      <m:t>𝑉</m:t>
                    </m:r>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 </m:t>
                    </m:r>
                    <m:f>
                      <m:fPr>
                        <m:ctrlPr>
                          <a:rPr lang="en-US" sz="2200" i="1">
                            <a:latin typeface="Cambria Math" panose="02040503050406030204" pitchFamily="18" charset="0"/>
                          </a:rPr>
                        </m:ctrlPr>
                      </m:fPr>
                      <m:num>
                        <m:r>
                          <a:rPr lang="en-US" sz="2200" i="1">
                            <a:latin typeface="Cambria Math" panose="02040503050406030204" pitchFamily="18" charset="0"/>
                          </a:rPr>
                          <m:t>2</m:t>
                        </m:r>
                      </m:num>
                      <m:den>
                        <m:sSup>
                          <m:sSupPr>
                            <m:ctrlPr>
                              <a:rPr lang="en-US" sz="2200" i="1">
                                <a:latin typeface="Cambria Math" panose="02040503050406030204" pitchFamily="18" charset="0"/>
                              </a:rPr>
                            </m:ctrlPr>
                          </m:sSupPr>
                          <m:e>
                            <m:r>
                              <a:rPr lang="en-US" sz="2200" i="1">
                                <a:latin typeface="Cambria Math" panose="02040503050406030204" pitchFamily="18" charset="0"/>
                              </a:rPr>
                              <m:t>𝜆</m:t>
                            </m:r>
                          </m:e>
                          <m:sup>
                            <m:r>
                              <a:rPr lang="en-US" sz="2200" i="1">
                                <a:latin typeface="Cambria Math" panose="02040503050406030204" pitchFamily="18" charset="0"/>
                              </a:rPr>
                              <m:t>2</m:t>
                            </m:r>
                          </m:sup>
                        </m:sSup>
                      </m:den>
                    </m:f>
                    <m:r>
                      <a:rPr lang="en-US" sz="2200" i="1">
                        <a:latin typeface="Cambria Math" panose="02040503050406030204" pitchFamily="18" charset="0"/>
                      </a:rPr>
                      <m:t>−</m:t>
                    </m:r>
                    <m:sSup>
                      <m:sSupPr>
                        <m:ctrlPr>
                          <a:rPr lang="en-US" sz="2200" i="1">
                            <a:latin typeface="Cambria Math" panose="02040503050406030204" pitchFamily="18" charset="0"/>
                          </a:rPr>
                        </m:ctrlPr>
                      </m:sSupPr>
                      <m:e>
                        <m:d>
                          <m:dPr>
                            <m:begChr m:val="["/>
                            <m:endChr m:val="]"/>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𝜆</m:t>
                                </m:r>
                              </m:den>
                            </m:f>
                          </m:e>
                        </m:d>
                      </m:e>
                      <m:sup>
                        <m:r>
                          <a:rPr lang="en-US" sz="2200" i="1">
                            <a:latin typeface="Cambria Math" panose="02040503050406030204" pitchFamily="18" charset="0"/>
                          </a:rPr>
                          <m:t>2</m:t>
                        </m:r>
                      </m:sup>
                    </m:sSup>
                    <m:r>
                      <a:rPr lang="en-US" sz="2200" i="1">
                        <a:latin typeface="Cambria Math" panose="02040503050406030204" pitchFamily="18" charset="0"/>
                      </a:rPr>
                      <m:t>= </m:t>
                    </m:r>
                    <m:f>
                      <m:fPr>
                        <m:ctrlPr>
                          <a:rPr lang="en-US" sz="2200" i="1">
                            <a:latin typeface="Cambria Math" panose="02040503050406030204" pitchFamily="18" charset="0"/>
                          </a:rPr>
                        </m:ctrlPr>
                      </m:fPr>
                      <m:num>
                        <m:r>
                          <a:rPr lang="en-US" sz="2200" i="1">
                            <a:latin typeface="Cambria Math" panose="02040503050406030204" pitchFamily="18" charset="0"/>
                          </a:rPr>
                          <m:t>1</m:t>
                        </m:r>
                      </m:num>
                      <m:den>
                        <m:sSup>
                          <m:sSupPr>
                            <m:ctrlPr>
                              <a:rPr lang="en-US" sz="2200" i="1">
                                <a:latin typeface="Cambria Math" panose="02040503050406030204" pitchFamily="18" charset="0"/>
                              </a:rPr>
                            </m:ctrlPr>
                          </m:sSupPr>
                          <m:e>
                            <m:r>
                              <a:rPr lang="en-US" sz="2200" i="1">
                                <a:latin typeface="Cambria Math" panose="02040503050406030204" pitchFamily="18" charset="0"/>
                              </a:rPr>
                              <m:t>𝜆</m:t>
                            </m:r>
                          </m:e>
                          <m:sup>
                            <m:r>
                              <a:rPr lang="en-US" sz="2200" i="1">
                                <a:latin typeface="Cambria Math" panose="02040503050406030204" pitchFamily="18" charset="0"/>
                              </a:rPr>
                              <m:t>2</m:t>
                            </m:r>
                          </m:sup>
                        </m:sSup>
                      </m:den>
                    </m:f>
                  </m:oMath>
                </a14:m>
                <a:r>
                  <a:rPr lang="en-US" sz="2200" dirty="0"/>
                  <a:t>  </a:t>
                </a:r>
              </a:p>
              <a:p>
                <a:pPr marL="0" indent="0" algn="just">
                  <a:buNone/>
                </a:pPr>
                <a:r>
                  <a:rPr lang="en-US" sz="2200" dirty="0"/>
                  <a:t>       Hence                          </a:t>
                </a:r>
                <a:r>
                  <a:rPr lang="en-US" sz="2200" b="1" dirty="0"/>
                  <a:t>Variance</a:t>
                </a:r>
                <a14:m>
                  <m:oMath xmlns:m="http://schemas.openxmlformats.org/officeDocument/2006/math">
                    <m:d>
                      <m:dPr>
                        <m:ctrlPr>
                          <a:rPr lang="en-US" sz="2200" b="1" i="1">
                            <a:latin typeface="Cambria Math" panose="02040503050406030204" pitchFamily="18" charset="0"/>
                          </a:rPr>
                        </m:ctrlPr>
                      </m:dPr>
                      <m:e>
                        <m:r>
                          <a:rPr lang="en-US" sz="2200" b="1" i="1">
                            <a:latin typeface="Cambria Math" panose="02040503050406030204" pitchFamily="18" charset="0"/>
                          </a:rPr>
                          <m:t>𝒙</m:t>
                        </m:r>
                      </m:e>
                    </m:d>
                    <m:r>
                      <a:rPr lang="en-US" sz="2200" b="1" i="1">
                        <a:latin typeface="Cambria Math" panose="02040503050406030204" pitchFamily="18" charset="0"/>
                      </a:rPr>
                      <m:t>=</m:t>
                    </m:r>
                    <m:f>
                      <m:fPr>
                        <m:ctrlPr>
                          <a:rPr lang="en-US" sz="2200" b="1" i="1">
                            <a:latin typeface="Cambria Math" panose="02040503050406030204" pitchFamily="18" charset="0"/>
                          </a:rPr>
                        </m:ctrlPr>
                      </m:fPr>
                      <m:num>
                        <m:r>
                          <a:rPr lang="en-US" sz="2200" b="1" i="1">
                            <a:latin typeface="Cambria Math" panose="02040503050406030204" pitchFamily="18" charset="0"/>
                          </a:rPr>
                          <m:t>𝟏</m:t>
                        </m:r>
                      </m:num>
                      <m:den>
                        <m:sSup>
                          <m:sSupPr>
                            <m:ctrlPr>
                              <a:rPr lang="en-US" sz="2200" b="1" i="1">
                                <a:latin typeface="Cambria Math" panose="02040503050406030204" pitchFamily="18" charset="0"/>
                              </a:rPr>
                            </m:ctrlPr>
                          </m:sSupPr>
                          <m:e>
                            <m:r>
                              <a:rPr lang="en-US" sz="2200" b="1" i="1">
                                <a:latin typeface="Cambria Math" panose="02040503050406030204" pitchFamily="18" charset="0"/>
                              </a:rPr>
                              <m:t>𝝀</m:t>
                            </m:r>
                          </m:e>
                          <m:sup>
                            <m:r>
                              <a:rPr lang="en-US" sz="2200" b="1" i="1">
                                <a:latin typeface="Cambria Math" panose="02040503050406030204" pitchFamily="18" charset="0"/>
                              </a:rPr>
                              <m:t>𝟐</m:t>
                            </m:r>
                          </m:sup>
                        </m:sSup>
                      </m:den>
                    </m:f>
                  </m:oMath>
                </a14:m>
                <a:endParaRPr lang="en-US" sz="2200" dirty="0"/>
              </a:p>
              <a:p>
                <a:pPr marL="0" indent="0" algn="just">
                  <a:buNone/>
                </a:pPr>
                <a:r>
                  <a:rPr lang="en-US" sz="2200" b="1" dirty="0"/>
                  <a:t>Q1.</a:t>
                </a:r>
                <a:r>
                  <a:rPr lang="en-US" sz="2200" dirty="0"/>
                  <a:t> The length of Telephone conversation is an exponential variate with mean 3minutes. Find the Probability that call</a:t>
                </a:r>
              </a:p>
              <a:p>
                <a:pPr marL="0" lvl="0" indent="0" algn="just">
                  <a:buNone/>
                </a:pPr>
                <a:r>
                  <a:rPr lang="en-US" sz="2200" dirty="0"/>
                  <a:t>      (a)  End in less than 3 minutes.</a:t>
                </a:r>
              </a:p>
              <a:p>
                <a:pPr marL="0" lvl="0" indent="0" algn="just">
                  <a:buNone/>
                </a:pPr>
                <a:r>
                  <a:rPr lang="en-US" sz="2200" dirty="0"/>
                  <a:t>      (b)  End between 3 to 5 minutes.</a:t>
                </a:r>
              </a:p>
              <a:p>
                <a:pPr marL="0" indent="0" algn="just">
                  <a:buNone/>
                </a:pPr>
                <a:r>
                  <a:rPr lang="en-US" sz="2200" b="1" dirty="0"/>
                  <a:t> Solution.</a:t>
                </a:r>
                <a:r>
                  <a:rPr lang="en-US" sz="2200" dirty="0"/>
                  <a:t>     Given, Mean</a:t>
                </a:r>
                <a14:m>
                  <m:oMath xmlns:m="http://schemas.openxmlformats.org/officeDocument/2006/math">
                    <m:r>
                      <a:rPr lang="en-US" sz="2200" i="1">
                        <a:latin typeface="Cambria Math" panose="02040503050406030204" pitchFamily="18" charset="0"/>
                      </a:rPr>
                      <m:t>=3=</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𝜆</m:t>
                        </m:r>
                      </m:den>
                    </m:f>
                  </m:oMath>
                </a14:m>
                <a:endParaRPr lang="en-US" sz="2200" dirty="0"/>
              </a:p>
              <a:p>
                <a:pPr marL="0" indent="0" algn="just">
                  <a:buNone/>
                </a:pPr>
                <a:r>
                  <a:rPr lang="en-US" sz="2200" dirty="0"/>
                  <a:t>                                               </a:t>
                </a:r>
                <a14:m>
                  <m:oMath xmlns:m="http://schemas.openxmlformats.org/officeDocument/2006/math">
                    <m:r>
                      <a:rPr lang="en-US" sz="2200">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3</m:t>
                        </m:r>
                      </m:den>
                    </m:f>
                  </m:oMath>
                </a14:m>
                <a:endParaRPr lang="en-US" sz="2200" dirty="0"/>
              </a:p>
              <a:p>
                <a:pPr marL="0" lvl="0" indent="0" algn="just">
                  <a:buNone/>
                </a:pPr>
                <a:r>
                  <a:rPr lang="en-US" sz="2200" dirty="0"/>
                  <a:t>                </a:t>
                </a:r>
                <a14:m>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𝑥</m:t>
                        </m:r>
                        <m:r>
                          <a:rPr lang="en-US" sz="2200" i="1">
                            <a:latin typeface="Cambria Math" panose="02040503050406030204" pitchFamily="18" charset="0"/>
                          </a:rPr>
                          <m:t>&lt;3</m:t>
                        </m:r>
                      </m:e>
                    </m:d>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3</m:t>
                        </m:r>
                      </m:sup>
                      <m:e>
                        <m:r>
                          <a:rPr lang="en-US" sz="2200" i="1">
                            <a:latin typeface="Cambria Math" panose="02040503050406030204" pitchFamily="18" charset="0"/>
                          </a:rPr>
                          <m:t>𝑓</m:t>
                        </m:r>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𝑑𝑥</m:t>
                        </m:r>
                      </m:e>
                    </m:nary>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3</m:t>
                        </m:r>
                      </m:sup>
                      <m:e>
                        <m:r>
                          <a:rPr lang="en-US" sz="2200" i="1">
                            <a:latin typeface="Cambria Math" panose="02040503050406030204" pitchFamily="18" charset="0"/>
                          </a:rPr>
                          <m:t>𝜆</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 </m:t>
                        </m:r>
                        <m:r>
                          <a:rPr lang="en-US" sz="2200" i="1">
                            <a:latin typeface="Cambria Math" panose="02040503050406030204" pitchFamily="18" charset="0"/>
                          </a:rPr>
                          <m:t>𝑑𝑥</m:t>
                        </m:r>
                      </m:e>
                    </m:nary>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0</m:t>
                        </m:r>
                      </m:sub>
                      <m:sup>
                        <m:r>
                          <a:rPr lang="en-US" sz="2200" i="1">
                            <a:latin typeface="Cambria Math" panose="02040503050406030204" pitchFamily="18" charset="0"/>
                          </a:rPr>
                          <m:t>3</m:t>
                        </m:r>
                      </m:sup>
                      <m:e>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3</m:t>
                            </m:r>
                          </m:den>
                        </m:f>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f>
                              <m:fPr>
                                <m:type m:val="lin"/>
                                <m:ctrlPr>
                                  <a:rPr lang="en-US" sz="2200" i="1">
                                    <a:latin typeface="Cambria Math" panose="02040503050406030204" pitchFamily="18" charset="0"/>
                                  </a:rPr>
                                </m:ctrlPr>
                              </m:fPr>
                              <m:num>
                                <m:r>
                                  <a:rPr lang="en-US" sz="2200" i="1">
                                    <a:latin typeface="Cambria Math" panose="02040503050406030204" pitchFamily="18" charset="0"/>
                                  </a:rPr>
                                  <m:t>𝑥</m:t>
                                </m:r>
                              </m:num>
                              <m:den>
                                <m:r>
                                  <a:rPr lang="en-US" sz="2200" i="1">
                                    <a:latin typeface="Cambria Math" panose="02040503050406030204" pitchFamily="18" charset="0"/>
                                  </a:rPr>
                                  <m:t>3</m:t>
                                </m:r>
                              </m:den>
                            </m:f>
                          </m:sup>
                        </m:sSup>
                        <m:r>
                          <a:rPr lang="en-US" sz="2200" i="1">
                            <a:latin typeface="Cambria Math" panose="02040503050406030204" pitchFamily="18" charset="0"/>
                          </a:rPr>
                          <m:t>𝑑𝑥</m:t>
                        </m:r>
                      </m:e>
                    </m:nary>
                  </m:oMath>
                </a14:m>
                <a:endParaRPr lang="en-US" sz="2200" dirty="0"/>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57200" y="1066801"/>
                <a:ext cx="8229600" cy="4876800"/>
              </a:xfrm>
              <a:blipFill>
                <a:blip r:embed="rId3"/>
                <a:stretch>
                  <a:fillRect l="-963" t="-875" r="-963" b="-500"/>
                </a:stretch>
              </a:blipFill>
            </p:spPr>
            <p:txBody>
              <a:bodyPr/>
              <a:lstStyle/>
              <a:p>
                <a:r>
                  <a:rPr lang="en-US">
                    <a:noFill/>
                  </a:rPr>
                  <a:t> </a:t>
                </a:r>
              </a:p>
            </p:txBody>
          </p:sp>
        </mc:Fallback>
      </mc:AlternateContent>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Equation.DSMT4">
                  <p:embed/>
                </p:oleObj>
              </mc:Choice>
              <mc:Fallback>
                <p:oleObj name="Equation" r:id="rId6" imgW="114120" imgH="177480" progId="Equation.DSMT4">
                  <p:embed/>
                  <p:pic>
                    <p:nvPicPr>
                      <p:cNvPr id="13"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FA8C243D-984C-469C-BB4C-A9F4D6771465}"/>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1465343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Exponential Distribution(CO4)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57200" y="1066800"/>
                <a:ext cx="8229600" cy="5059363"/>
              </a:xfrm>
            </p:spPr>
            <p:txBody>
              <a:bodyPr>
                <a:noAutofit/>
              </a:bodyPr>
              <a:lstStyle/>
              <a:p>
                <a:pPr marL="0" lvl="0" indent="0" algn="just">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3</m:t>
                          </m:r>
                        </m:den>
                      </m:f>
                      <m:sSubSup>
                        <m:sSubSupPr>
                          <m:ctrlPr>
                            <a:rPr lang="en-US" sz="2200" i="1">
                              <a:latin typeface="Cambria Math" panose="02040503050406030204" pitchFamily="18" charset="0"/>
                            </a:rPr>
                          </m:ctrlPr>
                        </m:sSubSupPr>
                        <m:e>
                          <m:d>
                            <m:dPr>
                              <m:begChr m:val="["/>
                              <m:endChr m:val="]"/>
                              <m:ctrlPr>
                                <a:rPr lang="en-US" sz="2200" i="1">
                                  <a:latin typeface="Cambria Math" panose="02040503050406030204" pitchFamily="18" charset="0"/>
                                </a:rPr>
                              </m:ctrlPr>
                            </m:dPr>
                            <m:e>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f>
                                        <m:fPr>
                                          <m:type m:val="lin"/>
                                          <m:ctrlPr>
                                            <a:rPr lang="en-US" sz="2200" i="1">
                                              <a:latin typeface="Cambria Math" panose="02040503050406030204" pitchFamily="18" charset="0"/>
                                            </a:rPr>
                                          </m:ctrlPr>
                                        </m:fPr>
                                        <m:num>
                                          <m:r>
                                            <a:rPr lang="en-US" sz="2200" i="1">
                                              <a:latin typeface="Cambria Math" panose="02040503050406030204" pitchFamily="18" charset="0"/>
                                            </a:rPr>
                                            <m:t>−</m:t>
                                          </m:r>
                                          <m:r>
                                            <a:rPr lang="en-US" sz="2200" i="1">
                                              <a:latin typeface="Cambria Math" panose="02040503050406030204" pitchFamily="18" charset="0"/>
                                            </a:rPr>
                                            <m:t>𝑥</m:t>
                                          </m:r>
                                        </m:num>
                                        <m:den>
                                          <m:r>
                                            <a:rPr lang="en-US" sz="2200" i="1">
                                              <a:latin typeface="Cambria Math" panose="02040503050406030204" pitchFamily="18" charset="0"/>
                                            </a:rPr>
                                            <m:t>3</m:t>
                                          </m:r>
                                        </m:den>
                                      </m:f>
                                    </m:sup>
                                  </m:sSup>
                                </m:num>
                                <m:den>
                                  <m:f>
                                    <m:fPr>
                                      <m:type m:val="lin"/>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3</m:t>
                                      </m:r>
                                    </m:den>
                                  </m:f>
                                </m:den>
                              </m:f>
                            </m:e>
                          </m:d>
                        </m:e>
                        <m:sub>
                          <m:r>
                            <a:rPr lang="en-US" sz="2200" i="1">
                              <a:latin typeface="Cambria Math" panose="02040503050406030204" pitchFamily="18" charset="0"/>
                            </a:rPr>
                            <m:t>0</m:t>
                          </m:r>
                        </m:sub>
                        <m:sup>
                          <m:r>
                            <a:rPr lang="en-US" sz="2200" i="1">
                              <a:latin typeface="Cambria Math" panose="02040503050406030204" pitchFamily="18" charset="0"/>
                            </a:rPr>
                            <m:t>3</m:t>
                          </m:r>
                        </m:sup>
                      </m:sSubSup>
                      <m:r>
                        <a:rPr lang="en-US" sz="2200" i="1">
                          <a:latin typeface="Cambria Math" panose="02040503050406030204" pitchFamily="18" charset="0"/>
                        </a:rPr>
                        <m:t>=−</m:t>
                      </m:r>
                      <m:d>
                        <m:dPr>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−1</m:t>
                              </m:r>
                            </m:sup>
                          </m:sSup>
                          <m:r>
                            <a:rPr lang="en-US" sz="2200" i="1">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−0</m:t>
                              </m:r>
                            </m:sup>
                          </m:sSup>
                        </m:e>
                      </m:d>
                      <m:r>
                        <a:rPr lang="en-US" sz="2200" i="1">
                          <a:latin typeface="Cambria Math" panose="02040503050406030204" pitchFamily="18" charset="0"/>
                        </a:rPr>
                        <m:t>=1−</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𝑒</m:t>
                          </m:r>
                        </m:den>
                      </m:f>
                    </m:oMath>
                  </m:oMathPara>
                </a14:m>
                <a:endParaRPr lang="en-US" sz="2200" dirty="0"/>
              </a:p>
              <a:p>
                <a:pPr marL="0" lvl="0" indent="0" algn="just">
                  <a:buNone/>
                </a:pPr>
                <a:r>
                  <a:rPr lang="en-US" sz="2200" dirty="0"/>
                  <a:t>        </a:t>
                </a:r>
                <a14:m>
                  <m:oMath xmlns:m="http://schemas.openxmlformats.org/officeDocument/2006/math">
                    <m:r>
                      <a:rPr lang="en-US" sz="2200" i="1">
                        <a:latin typeface="Cambria Math" panose="02040503050406030204" pitchFamily="18" charset="0"/>
                      </a:rPr>
                      <m:t>𝑃</m:t>
                    </m:r>
                    <m:d>
                      <m:dPr>
                        <m:ctrlPr>
                          <a:rPr lang="en-US" sz="2200" i="1">
                            <a:latin typeface="Cambria Math" panose="02040503050406030204" pitchFamily="18" charset="0"/>
                          </a:rPr>
                        </m:ctrlPr>
                      </m:dPr>
                      <m:e>
                        <m:r>
                          <a:rPr lang="en-US" sz="2200" i="1">
                            <a:latin typeface="Cambria Math" panose="02040503050406030204" pitchFamily="18" charset="0"/>
                          </a:rPr>
                          <m:t>3&lt;</m:t>
                        </m:r>
                        <m:r>
                          <a:rPr lang="en-US" sz="2200" i="1">
                            <a:latin typeface="Cambria Math" panose="02040503050406030204" pitchFamily="18" charset="0"/>
                          </a:rPr>
                          <m:t>𝑥</m:t>
                        </m:r>
                        <m:r>
                          <a:rPr lang="en-US" sz="2200" i="1">
                            <a:latin typeface="Cambria Math" panose="02040503050406030204" pitchFamily="18" charset="0"/>
                          </a:rPr>
                          <m:t>&lt;5</m:t>
                        </m:r>
                      </m:e>
                    </m:d>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3</m:t>
                        </m:r>
                      </m:sub>
                      <m:sup>
                        <m:r>
                          <a:rPr lang="en-US" sz="2200" i="1">
                            <a:latin typeface="Cambria Math" panose="02040503050406030204" pitchFamily="18" charset="0"/>
                          </a:rPr>
                          <m:t>5</m:t>
                        </m:r>
                      </m:sup>
                      <m:e>
                        <m:r>
                          <a:rPr lang="en-US" sz="2200" i="1">
                            <a:latin typeface="Cambria Math" panose="02040503050406030204" pitchFamily="18" charset="0"/>
                          </a:rPr>
                          <m:t>𝑓</m:t>
                        </m:r>
                        <m:d>
                          <m:dPr>
                            <m:ctrlPr>
                              <a:rPr lang="en-US" sz="2200" i="1">
                                <a:latin typeface="Cambria Math" panose="02040503050406030204" pitchFamily="18" charset="0"/>
                              </a:rPr>
                            </m:ctrlPr>
                          </m:dPr>
                          <m:e>
                            <m:r>
                              <a:rPr lang="en-US" sz="2200" i="1">
                                <a:latin typeface="Cambria Math" panose="02040503050406030204" pitchFamily="18" charset="0"/>
                              </a:rPr>
                              <m:t>𝑥</m:t>
                            </m:r>
                          </m:e>
                        </m:d>
                        <m:r>
                          <a:rPr lang="en-US" sz="2200" i="1">
                            <a:latin typeface="Cambria Math" panose="02040503050406030204" pitchFamily="18" charset="0"/>
                          </a:rPr>
                          <m:t>𝑑𝑥</m:t>
                        </m:r>
                        <m:r>
                          <a:rPr lang="en-US" sz="2200" i="1">
                            <a:latin typeface="Cambria Math" panose="02040503050406030204" pitchFamily="18" charset="0"/>
                          </a:rPr>
                          <m:t>=</m:t>
                        </m:r>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3</m:t>
                            </m:r>
                          </m:sub>
                          <m:sup>
                            <m:r>
                              <a:rPr lang="en-US" sz="2200" i="1">
                                <a:latin typeface="Cambria Math" panose="02040503050406030204" pitchFamily="18" charset="0"/>
                              </a:rPr>
                              <m:t>5</m:t>
                            </m:r>
                          </m:sup>
                          <m:e>
                            <m:r>
                              <a:rPr lang="en-US" sz="2200" i="1">
                                <a:latin typeface="Cambria Math" panose="02040503050406030204" pitchFamily="18" charset="0"/>
                              </a:rPr>
                              <m:t>𝜆</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𝜆</m:t>
                                </m:r>
                                <m:r>
                                  <a:rPr lang="en-US" sz="2200" i="1">
                                    <a:latin typeface="Cambria Math" panose="02040503050406030204" pitchFamily="18" charset="0"/>
                                  </a:rPr>
                                  <m:t>𝑥</m:t>
                                </m:r>
                              </m:sup>
                            </m:sSup>
                            <m:r>
                              <a:rPr lang="en-US" sz="2200" i="1">
                                <a:latin typeface="Cambria Math" panose="02040503050406030204" pitchFamily="18" charset="0"/>
                              </a:rPr>
                              <m:t>𝑑𝑥</m:t>
                            </m:r>
                          </m:e>
                        </m:nary>
                      </m:e>
                    </m:nary>
                  </m:oMath>
                </a14:m>
                <a:endParaRPr lang="en-US" sz="2200" dirty="0"/>
              </a:p>
              <a:p>
                <a:pPr marL="0" indent="0" algn="just">
                  <a:buNone/>
                </a:pPr>
                <a:r>
                  <a:rPr lang="en-US" sz="2200" dirty="0"/>
                  <a:t>                                  </a:t>
                </a:r>
                <a14:m>
                  <m:oMath xmlns:m="http://schemas.openxmlformats.org/officeDocument/2006/math">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3</m:t>
                        </m:r>
                      </m:den>
                    </m:f>
                    <m:nary>
                      <m:naryPr>
                        <m:limLoc m:val="undOvr"/>
                        <m:ctrlPr>
                          <a:rPr lang="en-US" sz="2200" i="1">
                            <a:latin typeface="Cambria Math" panose="02040503050406030204" pitchFamily="18" charset="0"/>
                          </a:rPr>
                        </m:ctrlPr>
                      </m:naryPr>
                      <m:sub>
                        <m:r>
                          <a:rPr lang="en-US" sz="2200" i="1">
                            <a:latin typeface="Cambria Math" panose="02040503050406030204" pitchFamily="18" charset="0"/>
                          </a:rPr>
                          <m:t>3</m:t>
                        </m:r>
                      </m:sub>
                      <m:sup>
                        <m:r>
                          <a:rPr lang="en-US" sz="2200" i="1">
                            <a:latin typeface="Cambria Math" panose="02040503050406030204" pitchFamily="18" charset="0"/>
                          </a:rPr>
                          <m:t>5</m:t>
                        </m:r>
                      </m:sup>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f>
                              <m:fPr>
                                <m:type m:val="lin"/>
                                <m:ctrlPr>
                                  <a:rPr lang="en-US" sz="2200" i="1">
                                    <a:latin typeface="Cambria Math" panose="02040503050406030204" pitchFamily="18" charset="0"/>
                                  </a:rPr>
                                </m:ctrlPr>
                              </m:fPr>
                              <m:num>
                                <m:r>
                                  <a:rPr lang="en-US" sz="2200" i="1">
                                    <a:latin typeface="Cambria Math" panose="02040503050406030204" pitchFamily="18" charset="0"/>
                                  </a:rPr>
                                  <m:t>𝑥</m:t>
                                </m:r>
                              </m:num>
                              <m:den>
                                <m:r>
                                  <a:rPr lang="en-US" sz="2200" i="1">
                                    <a:latin typeface="Cambria Math" panose="02040503050406030204" pitchFamily="18" charset="0"/>
                                  </a:rPr>
                                  <m:t>3</m:t>
                                </m:r>
                              </m:den>
                            </m:f>
                          </m:sup>
                        </m:sSup>
                        <m:r>
                          <a:rPr lang="en-US" sz="2200" i="1">
                            <a:latin typeface="Cambria Math" panose="02040503050406030204" pitchFamily="18" charset="0"/>
                          </a:rPr>
                          <m:t>𝑑𝑥</m:t>
                        </m:r>
                      </m:e>
                    </m:nary>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3</m:t>
                        </m:r>
                      </m:den>
                    </m:f>
                    <m:sSubSup>
                      <m:sSubSupPr>
                        <m:ctrlPr>
                          <a:rPr lang="en-US" sz="2200" i="1">
                            <a:latin typeface="Cambria Math" panose="02040503050406030204" pitchFamily="18" charset="0"/>
                          </a:rPr>
                        </m:ctrlPr>
                      </m:sSubSupPr>
                      <m:e>
                        <m:d>
                          <m:dPr>
                            <m:begChr m:val="["/>
                            <m:endChr m:val="]"/>
                            <m:ctrlPr>
                              <a:rPr lang="en-US" sz="2200" i="1">
                                <a:latin typeface="Cambria Math" panose="02040503050406030204" pitchFamily="18" charset="0"/>
                              </a:rPr>
                            </m:ctrlPr>
                          </m:dPr>
                          <m:e>
                            <m:f>
                              <m:fPr>
                                <m:ctrlPr>
                                  <a:rPr lang="en-US" sz="2200" i="1">
                                    <a:latin typeface="Cambria Math" panose="02040503050406030204" pitchFamily="18" charset="0"/>
                                  </a:rPr>
                                </m:ctrlPr>
                              </m:fPr>
                              <m:num>
                                <m:f>
                                  <m:fPr>
                                    <m:type m:val="lin"/>
                                    <m:ctrlPr>
                                      <a:rPr lang="en-US" sz="2200" i="1">
                                        <a:latin typeface="Cambria Math" panose="02040503050406030204" pitchFamily="18" charset="0"/>
                                      </a:rPr>
                                    </m:ctrlPr>
                                  </m:fPr>
                                  <m:num>
                                    <m:r>
                                      <a:rPr lang="en-US" sz="2200" i="1">
                                        <a:latin typeface="Cambria Math" panose="02040503050406030204" pitchFamily="18" charset="0"/>
                                      </a:rPr>
                                      <m:t>−</m:t>
                                    </m:r>
                                    <m:r>
                                      <a:rPr lang="en-US" sz="2200" i="1">
                                        <a:latin typeface="Cambria Math" panose="02040503050406030204" pitchFamily="18" charset="0"/>
                                      </a:rPr>
                                      <m:t>𝑥</m:t>
                                    </m:r>
                                  </m:num>
                                  <m:den>
                                    <m:r>
                                      <a:rPr lang="en-US" sz="2200" i="1">
                                        <a:latin typeface="Cambria Math" panose="02040503050406030204" pitchFamily="18" charset="0"/>
                                      </a:rPr>
                                      <m:t>3</m:t>
                                    </m:r>
                                  </m:den>
                                </m:f>
                              </m:num>
                              <m:den>
                                <m:f>
                                  <m:fPr>
                                    <m:type m:val="lin"/>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3</m:t>
                                    </m:r>
                                  </m:den>
                                </m:f>
                              </m:den>
                            </m:f>
                          </m:e>
                        </m:d>
                      </m:e>
                      <m:sub>
                        <m:r>
                          <a:rPr lang="en-US" sz="2200" i="1">
                            <a:latin typeface="Cambria Math" panose="02040503050406030204" pitchFamily="18" charset="0"/>
                          </a:rPr>
                          <m:t>3</m:t>
                        </m:r>
                      </m:sub>
                      <m:sup>
                        <m:r>
                          <a:rPr lang="en-US" sz="2200" i="1">
                            <a:latin typeface="Cambria Math" panose="02040503050406030204" pitchFamily="18" charset="0"/>
                          </a:rPr>
                          <m:t>5</m:t>
                        </m:r>
                      </m:sup>
                    </m:sSubSup>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f>
                              <m:fPr>
                                <m:type m:val="lin"/>
                                <m:ctrlPr>
                                  <a:rPr lang="en-US" sz="2200" i="1">
                                    <a:latin typeface="Cambria Math" panose="02040503050406030204" pitchFamily="18" charset="0"/>
                                  </a:rPr>
                                </m:ctrlPr>
                              </m:fPr>
                              <m:num>
                                <m:r>
                                  <a:rPr lang="en-US" sz="2200" i="1">
                                    <a:latin typeface="Cambria Math" panose="02040503050406030204" pitchFamily="18" charset="0"/>
                                  </a:rPr>
                                  <m:t>5</m:t>
                                </m:r>
                              </m:num>
                              <m:den>
                                <m:r>
                                  <a:rPr lang="en-US" sz="2200" i="1">
                                    <a:latin typeface="Cambria Math" panose="02040503050406030204" pitchFamily="18" charset="0"/>
                                  </a:rPr>
                                  <m:t>3</m:t>
                                </m:r>
                              </m:den>
                            </m:f>
                          </m:sup>
                        </m:sSup>
                        <m:r>
                          <a:rPr lang="en-US" sz="2200" i="1">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−1</m:t>
                            </m:r>
                          </m:sup>
                        </m:sSup>
                      </m:e>
                    </m:d>
                  </m:oMath>
                </a14:m>
                <a:endParaRPr lang="en-US" sz="2200" dirty="0"/>
              </a:p>
              <a:p>
                <a:pPr marL="0" indent="0" algn="just">
                  <a:buNone/>
                </a:pPr>
                <a:r>
                  <a:rPr lang="en-US" sz="2200" dirty="0"/>
                  <a:t>                                  </a:t>
                </a:r>
                <a14:m>
                  <m:oMath xmlns:m="http://schemas.openxmlformats.org/officeDocument/2006/math">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𝑒</m:t>
                        </m:r>
                      </m:den>
                    </m:f>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f>
                              <m:fPr>
                                <m:type m:val="lin"/>
                                <m:ctrlPr>
                                  <a:rPr lang="en-US" sz="2200" i="1">
                                    <a:latin typeface="Cambria Math" panose="02040503050406030204" pitchFamily="18" charset="0"/>
                                  </a:rPr>
                                </m:ctrlPr>
                              </m:fPr>
                              <m:num>
                                <m:r>
                                  <a:rPr lang="en-US" sz="2200" i="1">
                                    <a:latin typeface="Cambria Math" panose="02040503050406030204" pitchFamily="18" charset="0"/>
                                  </a:rPr>
                                  <m:t>5</m:t>
                                </m:r>
                              </m:num>
                              <m:den>
                                <m:r>
                                  <a:rPr lang="en-US" sz="2200" i="1">
                                    <a:latin typeface="Cambria Math" panose="02040503050406030204" pitchFamily="18" charset="0"/>
                                  </a:rPr>
                                  <m:t>3</m:t>
                                </m:r>
                              </m:den>
                            </m:f>
                          </m:sup>
                        </m:sSup>
                      </m:den>
                    </m:f>
                  </m:oMath>
                </a14:m>
                <a:endParaRPr lang="en-US" sz="2200" dirty="0"/>
              </a:p>
              <a:p>
                <a:pPr marL="0" indent="0" algn="just">
                  <a:buNone/>
                </a:pPr>
                <a:endParaRPr lang="en-US" sz="2200" dirty="0"/>
              </a:p>
              <a:p>
                <a:pPr algn="just">
                  <a:buNone/>
                </a:pPr>
                <a:endParaRPr lang="en-US" sz="2200" dirty="0"/>
              </a:p>
              <a:p>
                <a:pPr algn="just">
                  <a:buNone/>
                </a:pPr>
                <a:endParaRPr lang="en-US" sz="2200" dirty="0"/>
              </a:p>
              <a:p>
                <a:pPr marL="0" marR="0" algn="just">
                  <a:spcBef>
                    <a:spcPts val="0"/>
                  </a:spcBef>
                  <a:spcAft>
                    <a:spcPts val="0"/>
                  </a:spcAft>
                  <a:buNone/>
                </a:pPr>
                <a:r>
                  <a:rPr lang="en-US" sz="2200" dirty="0"/>
                  <a:t>                          </a:t>
                </a:r>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57200" y="1066800"/>
                <a:ext cx="8229600" cy="5059363"/>
              </a:xfrm>
              <a:blipFill rotWithShape="1">
                <a:blip r:embed="rId3"/>
                <a:stretch>
                  <a:fillRect l="-889"/>
                </a:stretch>
              </a:blipFill>
            </p:spPr>
            <p:txBody>
              <a:bodyPr/>
              <a:lstStyle/>
              <a:p>
                <a:r>
                  <a:rPr lang="en-US">
                    <a:noFill/>
                  </a:rPr>
                  <a:t> </a:t>
                </a:r>
              </a:p>
            </p:txBody>
          </p:sp>
        </mc:Fallback>
      </mc:AlternateContent>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Equation.DSMT4">
                  <p:embed/>
                </p:oleObj>
              </mc:Choice>
              <mc:Fallback>
                <p:oleObj name="Equation" r:id="rId6" imgW="114120" imgH="177480" progId="Equation.DSMT4">
                  <p:embed/>
                  <p:pic>
                    <p:nvPicPr>
                      <p:cNvPr id="13"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1D8D80A3-789C-4D89-A9CE-DAA8261DE0B9}"/>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055361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Daily Quiz(CO4)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11" name="Content Placeholder 10"/>
          <p:cNvSpPr>
            <a:spLocks noGrp="1"/>
          </p:cNvSpPr>
          <p:nvPr>
            <p:ph idx="1"/>
          </p:nvPr>
        </p:nvSpPr>
        <p:spPr>
          <a:xfrm>
            <a:off x="457200" y="1066800"/>
            <a:ext cx="8229600" cy="5059363"/>
          </a:xfrm>
        </p:spPr>
        <p:txBody>
          <a:bodyPr>
            <a:normAutofit/>
          </a:bodyPr>
          <a:lstStyle/>
          <a:p>
            <a:pPr marL="0" indent="0" algn="just">
              <a:buNone/>
            </a:pPr>
            <a:r>
              <a:rPr lang="en-US" sz="2200" b="1" dirty="0"/>
              <a:t>Q1.</a:t>
            </a:r>
            <a:r>
              <a:rPr lang="en-US" sz="2200" dirty="0"/>
              <a:t> The length of Telephone conversation is an exponential variate with mean 7 minutes. Find the Probability that call</a:t>
            </a:r>
          </a:p>
          <a:p>
            <a:pPr marL="0" lvl="0" indent="0" algn="just">
              <a:buNone/>
            </a:pPr>
            <a:r>
              <a:rPr lang="en-US" sz="2200" dirty="0"/>
              <a:t>      (a)  End in less than 7 minutes.</a:t>
            </a:r>
          </a:p>
          <a:p>
            <a:pPr marL="0" lvl="0" indent="0" algn="just">
              <a:buNone/>
            </a:pPr>
            <a:r>
              <a:rPr lang="en-US" sz="2200" dirty="0"/>
              <a:t>      (b)  Ends between 7 to 10 minutes.</a:t>
            </a:r>
          </a:p>
          <a:p>
            <a:pPr marL="0" lvl="0" indent="0" algn="just">
              <a:buNone/>
            </a:pPr>
            <a:r>
              <a:rPr lang="en-US" sz="2200" dirty="0"/>
              <a:t>Q2. A monitor issues a warning signal when an action is needed as part of a production process. The interval, 𝑋 hours, between successive signals follows an exponential distribution with parameter 0.08. Find the probability that the interval between the next two signals is Longer than 50 hours.</a:t>
            </a:r>
          </a:p>
          <a:p>
            <a:pPr marL="0" lvl="0" indent="0" algn="just">
              <a:buNone/>
            </a:pPr>
            <a:r>
              <a:rPr lang="en-US" sz="2200" dirty="0"/>
              <a:t>Ans: 0.0183              </a:t>
            </a:r>
          </a:p>
        </p:txBody>
      </p:sp>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2" imgW="114120" imgH="177480" progId="Equation.DSMT4">
                  <p:embed/>
                </p:oleObj>
              </mc:Choice>
              <mc:Fallback>
                <p:oleObj name="Equation" r:id="rId2" imgW="114120" imgH="177480" progId="Equation.DSMT4">
                  <p:embed/>
                  <p:pic>
                    <p:nvPicPr>
                      <p:cNvPr id="12"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3"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4892EDCD-F18F-4370-A539-D63EE153FF8B}"/>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7042883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Weekly Assignment(CO4)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11" name="Content Placeholder 10"/>
          <p:cNvSpPr>
            <a:spLocks noGrp="1"/>
          </p:cNvSpPr>
          <p:nvPr>
            <p:ph idx="1"/>
          </p:nvPr>
        </p:nvSpPr>
        <p:spPr>
          <a:xfrm>
            <a:off x="457200" y="1066801"/>
            <a:ext cx="8229600" cy="4495800"/>
          </a:xfrm>
        </p:spPr>
        <p:txBody>
          <a:bodyPr>
            <a:noAutofit/>
          </a:bodyPr>
          <a:lstStyle/>
          <a:p>
            <a:pPr marL="0" indent="0" algn="just">
              <a:buNone/>
            </a:pPr>
            <a:r>
              <a:rPr lang="en-US" sz="2200" b="1" dirty="0"/>
              <a:t>Q1.</a:t>
            </a:r>
            <a:r>
              <a:rPr lang="en-US" sz="2200" dirty="0"/>
              <a:t> The length of Telephone conversation is an exponential </a:t>
            </a:r>
            <a:r>
              <a:rPr lang="en-US" sz="2200" dirty="0" err="1"/>
              <a:t>variate</a:t>
            </a:r>
            <a:r>
              <a:rPr lang="en-US" sz="2200" dirty="0"/>
              <a:t> with mean 5 minutes.      Find the Probability that call</a:t>
            </a:r>
          </a:p>
          <a:p>
            <a:pPr marL="0" lvl="0" indent="0" algn="just">
              <a:buNone/>
            </a:pPr>
            <a:r>
              <a:rPr lang="en-US" sz="2200" dirty="0"/>
              <a:t>      (a)  End in less than 5 minutes.</a:t>
            </a:r>
          </a:p>
          <a:p>
            <a:pPr marL="0" lvl="0" indent="0" algn="just">
              <a:buNone/>
            </a:pPr>
            <a:r>
              <a:rPr lang="en-US" sz="2200" dirty="0"/>
              <a:t>      (b)  </a:t>
            </a:r>
            <a:r>
              <a:rPr lang="en-US" sz="2200" dirty="0" err="1"/>
              <a:t>tabels</a:t>
            </a:r>
            <a:r>
              <a:rPr lang="en-US" sz="2200" dirty="0"/>
              <a:t>  between 5 to 10 minutes.</a:t>
            </a:r>
          </a:p>
          <a:p>
            <a:pPr marL="0" indent="0" algn="just">
              <a:buNone/>
            </a:pPr>
            <a:r>
              <a:rPr lang="en-US" sz="2200" dirty="0"/>
              <a:t>Q2. The experience shows that 4 accidents occur in a plant on an average per month. Calculate the probabilities of less than 3 accidents in a certain month. Use Poisson distribution. (Given e</a:t>
            </a:r>
            <a:r>
              <a:rPr lang="en-US" sz="2200" baseline="30000" dirty="0"/>
              <a:t>-4</a:t>
            </a:r>
            <a:r>
              <a:rPr lang="en-US" sz="2200" dirty="0"/>
              <a:t>=0.01832).</a:t>
            </a:r>
          </a:p>
          <a:p>
            <a:pPr marL="0" lvl="0" indent="0">
              <a:buNone/>
            </a:pPr>
            <a:r>
              <a:rPr lang="en-US" sz="2200" dirty="0"/>
              <a:t>Q3. Net profit of 400 companies is normally distributed with a mean profit of </a:t>
            </a:r>
            <a:r>
              <a:rPr lang="en-US" sz="2200" dirty="0" err="1"/>
              <a:t>Rs</a:t>
            </a:r>
            <a:r>
              <a:rPr lang="en-US" sz="2200" dirty="0"/>
              <a:t>. 150  lakhs and a standard deviation of </a:t>
            </a:r>
            <a:r>
              <a:rPr lang="en-US" sz="2200" dirty="0" err="1"/>
              <a:t>Rs</a:t>
            </a:r>
            <a:r>
              <a:rPr lang="en-US" sz="2200" dirty="0"/>
              <a:t>. 20 lakhs. Find the number of companies whose profits(</a:t>
            </a:r>
            <a:r>
              <a:rPr lang="en-US" sz="2200" dirty="0" err="1"/>
              <a:t>Rs</a:t>
            </a:r>
            <a:r>
              <a:rPr lang="en-US" sz="2200" dirty="0"/>
              <a:t>. Lakhs ) are  between 100 and 138.Also find the minimum profit of top 15% companies. (Area for Z=2.5 ,0.35 and 0.6 are 0.4938,1.04 and 0.2251)</a:t>
            </a:r>
          </a:p>
          <a:p>
            <a:pPr marL="0" marR="0" algn="just">
              <a:spcBef>
                <a:spcPts val="0"/>
              </a:spcBef>
              <a:spcAft>
                <a:spcPts val="0"/>
              </a:spcAft>
              <a:buNone/>
            </a:pPr>
            <a:r>
              <a:rPr lang="en-US" sz="2200" dirty="0"/>
              <a:t>                          </a:t>
            </a:r>
          </a:p>
        </p:txBody>
      </p:sp>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2" imgW="114120" imgH="177480" progId="Equation.DSMT4">
                  <p:embed/>
                </p:oleObj>
              </mc:Choice>
              <mc:Fallback>
                <p:oleObj name="Equation" r:id="rId2" imgW="114120" imgH="177480" progId="Equation.DSMT4">
                  <p:embed/>
                  <p:pic>
                    <p:nvPicPr>
                      <p:cNvPr id="12"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3"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E5BC6404-B138-4D8A-AE6E-7DE56CF78B89}"/>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5069700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Weekly Assignment(CO4)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57200" y="1066801"/>
                <a:ext cx="8229600" cy="4724400"/>
              </a:xfrm>
            </p:spPr>
            <p:txBody>
              <a:bodyPr>
                <a:noAutofit/>
              </a:bodyPr>
              <a:lstStyle/>
              <a:p>
                <a:pPr marL="0" indent="0" algn="just">
                  <a:buNone/>
                </a:pPr>
                <a:r>
                  <a:rPr lang="en-US" sz="2200" dirty="0"/>
                  <a:t> Q4. In a sample of 1000 cases, the mean of a certain test is 14 and standard deviation is 2.5. Assuming distribution to be normal find </a:t>
                </a:r>
              </a:p>
              <a:p>
                <a:pPr marL="514350" lvl="0" indent="-514350">
                  <a:buFont typeface="+mj-lt"/>
                  <a:buAutoNum type="romanLcPeriod"/>
                </a:pPr>
                <a:r>
                  <a:rPr lang="en-US" sz="2200" dirty="0"/>
                  <a:t>How many students score between 12 and 15?</a:t>
                </a:r>
              </a:p>
              <a:p>
                <a:pPr marL="514350" lvl="0" indent="-514350">
                  <a:buFont typeface="+mj-lt"/>
                  <a:buAutoNum type="romanLcPeriod"/>
                </a:pPr>
                <a:r>
                  <a:rPr lang="en-US" sz="2200" dirty="0"/>
                  <a:t>How many score above 18?</a:t>
                </a:r>
              </a:p>
              <a:p>
                <a:pPr marL="514350" lvl="0" indent="-514350">
                  <a:buFont typeface="+mj-lt"/>
                  <a:buAutoNum type="romanLcPeriod"/>
                </a:pPr>
                <a:r>
                  <a:rPr lang="en-US" sz="2200" dirty="0"/>
                  <a:t>How many score below 8?</a:t>
                </a:r>
              </a:p>
              <a:p>
                <a:pPr marL="514350" lvl="0" indent="-514350">
                  <a:buFont typeface="+mj-lt"/>
                  <a:buAutoNum type="romanLcPeriod"/>
                </a:pPr>
                <a:r>
                  <a:rPr lang="en-US" sz="2200" dirty="0"/>
                  <a:t>How many score 16?       					</a:t>
                </a:r>
              </a:p>
              <a:p>
                <a:pPr marL="0" lvl="0" indent="0">
                  <a:buNone/>
                </a:pPr>
                <a:r>
                  <a:rPr lang="en-US" sz="2200" dirty="0"/>
                  <a:t>Given that </a:t>
                </a:r>
                <a14:m>
                  <m:oMath xmlns:m="http://schemas.openxmlformats.org/officeDocument/2006/math">
                    <m:r>
                      <a:rPr lang="en-US" sz="2200" i="1">
                        <a:latin typeface="Cambria Math"/>
                      </a:rPr>
                      <m:t>𝜙</m:t>
                    </m:r>
                    <m:d>
                      <m:dPr>
                        <m:ctrlPr>
                          <a:rPr lang="en-US" sz="2200" i="1">
                            <a:latin typeface="Cambria Math" panose="02040503050406030204" pitchFamily="18" charset="0"/>
                          </a:rPr>
                        </m:ctrlPr>
                      </m:dPr>
                      <m:e>
                        <m:r>
                          <a:rPr lang="en-US" sz="2200" i="1">
                            <a:latin typeface="Cambria Math"/>
                          </a:rPr>
                          <m:t>𝑧</m:t>
                        </m:r>
                      </m:e>
                    </m:d>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ad>
                          <m:radPr>
                            <m:degHide m:val="on"/>
                            <m:ctrlPr>
                              <a:rPr lang="en-US" sz="2200" i="1">
                                <a:latin typeface="Cambria Math" panose="02040503050406030204" pitchFamily="18" charset="0"/>
                              </a:rPr>
                            </m:ctrlPr>
                          </m:radPr>
                          <m:deg/>
                          <m:e>
                            <m:r>
                              <a:rPr lang="en-US" sz="2200" i="1">
                                <a:latin typeface="Cambria Math"/>
                              </a:rPr>
                              <m:t>2</m:t>
                            </m:r>
                            <m:r>
                              <a:rPr lang="en-US" sz="2200" i="1">
                                <a:latin typeface="Cambria Math"/>
                              </a:rPr>
                              <m:t>𝜋</m:t>
                            </m:r>
                          </m:e>
                        </m:rad>
                      </m:den>
                    </m:f>
                    <m:nary>
                      <m:naryPr>
                        <m:limLoc m:val="subSup"/>
                        <m:ctrlPr>
                          <a:rPr lang="en-US" sz="2200" i="1">
                            <a:latin typeface="Cambria Math" panose="02040503050406030204" pitchFamily="18" charset="0"/>
                          </a:rPr>
                        </m:ctrlPr>
                      </m:naryPr>
                      <m:sub>
                        <m:r>
                          <a:rPr lang="en-US" sz="2200" i="1">
                            <a:latin typeface="Cambria Math"/>
                          </a:rPr>
                          <m:t>0</m:t>
                        </m:r>
                      </m:sub>
                      <m:sup>
                        <m:r>
                          <a:rPr lang="en-US" sz="2200" i="1">
                            <a:latin typeface="Cambria Math"/>
                          </a:rPr>
                          <m:t>𝑧</m:t>
                        </m:r>
                      </m:sup>
                      <m:e>
                        <m:sSup>
                          <m:sSupPr>
                            <m:ctrlPr>
                              <a:rPr lang="en-US" sz="2200" i="1">
                                <a:latin typeface="Cambria Math" panose="02040503050406030204" pitchFamily="18" charset="0"/>
                              </a:rPr>
                            </m:ctrlPr>
                          </m:sSupPr>
                          <m:e>
                            <m:r>
                              <a:rPr lang="en-US" sz="2200" i="1">
                                <a:latin typeface="Cambria Math"/>
                              </a:rPr>
                              <m:t>𝑒</m:t>
                            </m:r>
                          </m:e>
                          <m:sup>
                            <m:r>
                              <a:rPr lang="en-US" sz="2200" i="1">
                                <a:latin typeface="Cambria Math"/>
                              </a:rPr>
                              <m:t>−</m:t>
                            </m:r>
                            <m:f>
                              <m:fPr>
                                <m:type m:val="lin"/>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𝑧</m:t>
                                    </m:r>
                                  </m:e>
                                  <m:sup>
                                    <m:r>
                                      <a:rPr lang="en-US" sz="2200" i="1">
                                        <a:latin typeface="Cambria Math"/>
                                      </a:rPr>
                                      <m:t>2</m:t>
                                    </m:r>
                                  </m:sup>
                                </m:sSup>
                              </m:num>
                              <m:den>
                                <m:r>
                                  <a:rPr lang="en-US" sz="2200" i="1">
                                    <a:latin typeface="Cambria Math"/>
                                  </a:rPr>
                                  <m:t>2</m:t>
                                </m:r>
                              </m:den>
                            </m:f>
                          </m:sup>
                        </m:sSup>
                        <m:r>
                          <a:rPr lang="en-US" sz="2200" i="1">
                            <a:latin typeface="Cambria Math"/>
                          </a:rPr>
                          <m:t>𝑑𝑧</m:t>
                        </m:r>
                      </m:e>
                    </m:nary>
                    <m:r>
                      <a:rPr lang="en-US" sz="2200" i="1">
                        <a:latin typeface="Cambria Math"/>
                      </a:rPr>
                      <m:t>, </m:t>
                    </m:r>
                    <m:r>
                      <a:rPr lang="en-US" sz="2200" i="1">
                        <a:latin typeface="Cambria Math"/>
                      </a:rPr>
                      <m:t>𝜙</m:t>
                    </m:r>
                    <m:d>
                      <m:dPr>
                        <m:ctrlPr>
                          <a:rPr lang="en-US" sz="2200" i="1">
                            <a:latin typeface="Cambria Math" panose="02040503050406030204" pitchFamily="18" charset="0"/>
                          </a:rPr>
                        </m:ctrlPr>
                      </m:dPr>
                      <m:e>
                        <m:r>
                          <a:rPr lang="en-US" sz="2200" i="1">
                            <a:latin typeface="Cambria Math"/>
                          </a:rPr>
                          <m:t>0.4</m:t>
                        </m:r>
                      </m:e>
                    </m:d>
                    <m:r>
                      <a:rPr lang="en-US" sz="2200" i="1">
                        <a:latin typeface="Cambria Math"/>
                      </a:rPr>
                      <m:t>=0.155,</m:t>
                    </m:r>
                    <m:r>
                      <a:rPr lang="en-US" sz="2200" i="1">
                        <a:latin typeface="Cambria Math"/>
                      </a:rPr>
                      <m:t>𝜙</m:t>
                    </m:r>
                    <m:d>
                      <m:dPr>
                        <m:ctrlPr>
                          <a:rPr lang="en-US" sz="2200" i="1">
                            <a:latin typeface="Cambria Math" panose="02040503050406030204" pitchFamily="18" charset="0"/>
                          </a:rPr>
                        </m:ctrlPr>
                      </m:dPr>
                      <m:e>
                        <m:r>
                          <a:rPr lang="en-US" sz="2200" i="1">
                            <a:latin typeface="Cambria Math"/>
                          </a:rPr>
                          <m:t>0.8</m:t>
                        </m:r>
                      </m:e>
                    </m:d>
                    <m:r>
                      <a:rPr lang="en-US" sz="2200" i="1">
                        <a:latin typeface="Cambria Math"/>
                      </a:rPr>
                      <m:t>=0.2881,</m:t>
                    </m:r>
                    <m:r>
                      <a:rPr lang="en-US" sz="2200" i="1">
                        <a:latin typeface="Cambria Math"/>
                      </a:rPr>
                      <m:t>𝜙</m:t>
                    </m:r>
                    <m:d>
                      <m:dPr>
                        <m:ctrlPr>
                          <a:rPr lang="en-US" sz="2200" i="1">
                            <a:latin typeface="Cambria Math" panose="02040503050406030204" pitchFamily="18" charset="0"/>
                          </a:rPr>
                        </m:ctrlPr>
                      </m:dPr>
                      <m:e>
                        <m:r>
                          <a:rPr lang="en-US" sz="2200" i="1">
                            <a:latin typeface="Cambria Math"/>
                          </a:rPr>
                          <m:t>1.6</m:t>
                        </m:r>
                      </m:e>
                    </m:d>
                    <m:r>
                      <a:rPr lang="en-US" sz="2200" i="1">
                        <a:latin typeface="Cambria Math"/>
                      </a:rPr>
                      <m:t>=0.445,</m:t>
                    </m:r>
                    <m:r>
                      <a:rPr lang="en-US" sz="2200" i="1">
                        <a:latin typeface="Cambria Math"/>
                      </a:rPr>
                      <m:t>𝜙</m:t>
                    </m:r>
                    <m:d>
                      <m:dPr>
                        <m:ctrlPr>
                          <a:rPr lang="en-US" sz="2200" i="1">
                            <a:latin typeface="Cambria Math" panose="02040503050406030204" pitchFamily="18" charset="0"/>
                          </a:rPr>
                        </m:ctrlPr>
                      </m:dPr>
                      <m:e>
                        <m:r>
                          <a:rPr lang="en-US" sz="2200" i="1">
                            <a:latin typeface="Cambria Math"/>
                          </a:rPr>
                          <m:t>0.6</m:t>
                        </m:r>
                      </m:e>
                    </m:d>
                    <m:r>
                      <a:rPr lang="en-US" sz="2200" i="1">
                        <a:latin typeface="Cambria Math"/>
                      </a:rPr>
                      <m:t>=0.0225,</m:t>
                    </m:r>
                    <m:r>
                      <a:rPr lang="en-US" sz="2200" i="1">
                        <a:latin typeface="Cambria Math"/>
                      </a:rPr>
                      <m:t>𝜙</m:t>
                    </m:r>
                    <m:d>
                      <m:dPr>
                        <m:ctrlPr>
                          <a:rPr lang="en-US" sz="2200" i="1">
                            <a:latin typeface="Cambria Math" panose="02040503050406030204" pitchFamily="18" charset="0"/>
                          </a:rPr>
                        </m:ctrlPr>
                      </m:dPr>
                      <m:e>
                        <m:r>
                          <a:rPr lang="en-US" sz="2200" i="1">
                            <a:latin typeface="Cambria Math"/>
                          </a:rPr>
                          <m:t>1</m:t>
                        </m:r>
                      </m:e>
                    </m:d>
                    <m:r>
                      <a:rPr lang="en-US" sz="2200" i="1">
                        <a:latin typeface="Cambria Math"/>
                      </a:rPr>
                      <m:t>=0.341</m:t>
                    </m:r>
                  </m:oMath>
                </a14:m>
                <a:r>
                  <a:rPr lang="en-US" sz="2200" dirty="0"/>
                  <a:t>). </a:t>
                </a:r>
              </a:p>
              <a:p>
                <a:pPr marL="0" indent="0">
                  <a:buNone/>
                </a:pPr>
                <a:r>
                  <a:rPr lang="en-US" sz="2200" dirty="0"/>
                  <a:t>Q5. A large number of measurement is normally distributed with a mean 65.5 inches and S.D. of 6.2 inches. Find the percentage of measurement that fall between 54.8 inches and 68.8 inches.  Given that area (at z  = 1.73) = 0.4582 and  area (at z  = .53) = 0.2019 .</a:t>
                </a:r>
              </a:p>
              <a:p>
                <a:pPr algn="just">
                  <a:buNone/>
                </a:pPr>
                <a:endParaRPr lang="en-US" sz="2200" dirty="0"/>
              </a:p>
              <a:p>
                <a:pPr marL="0" marR="0" algn="just">
                  <a:spcBef>
                    <a:spcPts val="0"/>
                  </a:spcBef>
                  <a:spcAft>
                    <a:spcPts val="0"/>
                  </a:spcAft>
                  <a:buNone/>
                </a:pPr>
                <a:r>
                  <a:rPr lang="en-US" sz="2200" dirty="0"/>
                  <a:t>                          </a:t>
                </a:r>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57200" y="1066801"/>
                <a:ext cx="8229600" cy="4724400"/>
              </a:xfrm>
              <a:blipFill>
                <a:blip r:embed="rId3"/>
                <a:stretch>
                  <a:fillRect l="-963" t="-903" r="-963" b="-2194"/>
                </a:stretch>
              </a:blipFill>
            </p:spPr>
            <p:txBody>
              <a:bodyPr/>
              <a:lstStyle/>
              <a:p>
                <a:r>
                  <a:rPr lang="en-IN">
                    <a:noFill/>
                  </a:rPr>
                  <a:t> </a:t>
                </a:r>
              </a:p>
            </p:txBody>
          </p:sp>
        </mc:Fallback>
      </mc:AlternateContent>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Equation.DSMT4">
                  <p:embed/>
                </p:oleObj>
              </mc:Choice>
              <mc:Fallback>
                <p:oleObj name="Equation" r:id="rId6" imgW="114120" imgH="177480" progId="Equation.DSMT4">
                  <p:embed/>
                  <p:pic>
                    <p:nvPicPr>
                      <p:cNvPr id="13"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85EAB3B8-7A33-41EF-939B-C8F592C9FDCF}"/>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6893539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Q6. In a distribution exactly Normal, 31% of the items are under 45 and 8% are over 64. What are the mean and Standard deviation of this Distribution? It is given that if </a:t>
                </a:r>
                <a14:m>
                  <m:oMath xmlns:m="http://schemas.openxmlformats.org/officeDocument/2006/math">
                    <m:r>
                      <a:rPr lang="en-US" sz="2200" i="1">
                        <a:latin typeface="Cambria Math"/>
                      </a:rPr>
                      <m:t>𝑓</m:t>
                    </m:r>
                    <m:d>
                      <m:dPr>
                        <m:ctrlPr>
                          <a:rPr lang="en-US" sz="2200" i="1">
                            <a:latin typeface="Cambria Math" panose="02040503050406030204" pitchFamily="18" charset="0"/>
                          </a:rPr>
                        </m:ctrlPr>
                      </m:dPr>
                      <m:e>
                        <m:r>
                          <a:rPr lang="en-US" sz="2200" i="1">
                            <a:latin typeface="Cambria Math"/>
                          </a:rPr>
                          <m:t>𝑡</m:t>
                        </m:r>
                      </m:e>
                    </m:d>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ad>
                          <m:radPr>
                            <m:degHide m:val="on"/>
                            <m:ctrlPr>
                              <a:rPr lang="en-US" sz="2200" i="1">
                                <a:latin typeface="Cambria Math" panose="02040503050406030204" pitchFamily="18" charset="0"/>
                              </a:rPr>
                            </m:ctrlPr>
                          </m:radPr>
                          <m:deg/>
                          <m:e>
                            <m:r>
                              <a:rPr lang="en-US" sz="2200" i="1">
                                <a:latin typeface="Cambria Math"/>
                              </a:rPr>
                              <m:t>2</m:t>
                            </m:r>
                            <m:r>
                              <a:rPr lang="en-US" sz="2200" i="1">
                                <a:latin typeface="Cambria Math"/>
                              </a:rPr>
                              <m:t>𝜋</m:t>
                            </m:r>
                          </m:e>
                        </m:rad>
                      </m:den>
                    </m:f>
                    <m:nary>
                      <m:naryPr>
                        <m:limLoc m:val="undOvr"/>
                        <m:ctrlPr>
                          <a:rPr lang="en-US" sz="2200" i="1">
                            <a:latin typeface="Cambria Math" panose="02040503050406030204" pitchFamily="18" charset="0"/>
                          </a:rPr>
                        </m:ctrlPr>
                      </m:naryPr>
                      <m:sub>
                        <m:r>
                          <a:rPr lang="en-US" sz="2200" i="1">
                            <a:latin typeface="Cambria Math"/>
                          </a:rPr>
                          <m:t>0</m:t>
                        </m:r>
                      </m:sub>
                      <m:sup>
                        <m:r>
                          <a:rPr lang="en-US" sz="2200" i="1">
                            <a:latin typeface="Cambria Math"/>
                          </a:rPr>
                          <m:t>𝑡</m:t>
                        </m:r>
                      </m:sup>
                      <m:e>
                        <m:sSup>
                          <m:sSupPr>
                            <m:ctrlPr>
                              <a:rPr lang="en-US" sz="2200" i="1">
                                <a:latin typeface="Cambria Math" panose="02040503050406030204" pitchFamily="18" charset="0"/>
                              </a:rPr>
                            </m:ctrlPr>
                          </m:sSupPr>
                          <m:e>
                            <m:r>
                              <a:rPr lang="en-US" sz="2200" i="1">
                                <a:latin typeface="Cambria Math"/>
                              </a:rPr>
                              <m:t>𝑒</m:t>
                            </m:r>
                          </m:e>
                          <m:sup>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i="1">
                                        <a:latin typeface="Cambria Math"/>
                                      </a:rPr>
                                      <m:t>−</m:t>
                                    </m:r>
                                    <m:r>
                                      <a:rPr lang="en-US" sz="2200" i="1">
                                        <a:latin typeface="Cambria Math"/>
                                      </a:rPr>
                                      <m:t>𝑥</m:t>
                                    </m:r>
                                  </m:e>
                                  <m:sup>
                                    <m:r>
                                      <a:rPr lang="en-US" sz="2200" i="1">
                                        <a:latin typeface="Cambria Math"/>
                                      </a:rPr>
                                      <m:t>2</m:t>
                                    </m:r>
                                  </m:sup>
                                </m:sSup>
                              </m:num>
                              <m:den>
                                <m:r>
                                  <a:rPr lang="en-US" sz="2200" i="1">
                                    <a:latin typeface="Cambria Math"/>
                                  </a:rPr>
                                  <m:t>2</m:t>
                                </m:r>
                              </m:den>
                            </m:f>
                          </m:sup>
                        </m:sSup>
                        <m:r>
                          <a:rPr lang="en-US" sz="2200" i="1">
                            <a:latin typeface="Cambria Math"/>
                          </a:rPr>
                          <m:t>𝑑𝑥</m:t>
                        </m:r>
                      </m:e>
                    </m:nary>
                  </m:oMath>
                </a14:m>
                <a:r>
                  <a:rPr lang="en-US" sz="2200" dirty="0"/>
                  <a:t>then </a:t>
                </a:r>
                <a14:m>
                  <m:oMath xmlns:m="http://schemas.openxmlformats.org/officeDocument/2006/math">
                    <m:r>
                      <a:rPr lang="en-US" sz="2200" i="1">
                        <a:latin typeface="Cambria Math"/>
                      </a:rPr>
                      <m:t>𝑓</m:t>
                    </m:r>
                    <m:d>
                      <m:dPr>
                        <m:ctrlPr>
                          <a:rPr lang="en-US" sz="2200" i="1">
                            <a:latin typeface="Cambria Math" panose="02040503050406030204" pitchFamily="18" charset="0"/>
                          </a:rPr>
                        </m:ctrlPr>
                      </m:dPr>
                      <m:e>
                        <m:r>
                          <a:rPr lang="en-US" sz="2200" i="1">
                            <a:latin typeface="Cambria Math"/>
                          </a:rPr>
                          <m:t>0.5</m:t>
                        </m:r>
                      </m:e>
                    </m:d>
                    <m:r>
                      <a:rPr lang="en-US" sz="2200" i="1">
                        <a:latin typeface="Cambria Math"/>
                      </a:rPr>
                      <m:t>=0.19, </m:t>
                    </m:r>
                    <m:r>
                      <a:rPr lang="en-US" sz="2200" i="1">
                        <a:latin typeface="Cambria Math"/>
                      </a:rPr>
                      <m:t>𝑓</m:t>
                    </m:r>
                    <m:d>
                      <m:dPr>
                        <m:ctrlPr>
                          <a:rPr lang="en-US" sz="2200" i="1">
                            <a:latin typeface="Cambria Math" panose="02040503050406030204" pitchFamily="18" charset="0"/>
                          </a:rPr>
                        </m:ctrlPr>
                      </m:dPr>
                      <m:e>
                        <m:r>
                          <a:rPr lang="en-US" sz="2200" i="1">
                            <a:latin typeface="Cambria Math"/>
                          </a:rPr>
                          <m:t>1.4</m:t>
                        </m:r>
                      </m:e>
                    </m:d>
                    <m:r>
                      <a:rPr lang="en-US" sz="2200" i="1">
                        <a:latin typeface="Cambria Math"/>
                      </a:rPr>
                      <m:t>=0.42 </m:t>
                    </m:r>
                  </m:oMath>
                </a14:m>
                <a:endParaRPr lang="en-US" sz="2200" dirty="0"/>
              </a:p>
              <a:p>
                <a:pPr marL="0" lvl="0" indent="0">
                  <a:buNone/>
                </a:pPr>
                <a:r>
                  <a:rPr lang="en-US" sz="2200" dirty="0"/>
                  <a:t>Q7.</a:t>
                </a:r>
                <a:r>
                  <a:rPr lang="en-US" sz="2400" dirty="0"/>
                  <a:t> The life of army shoes is normally distributed with mean 8 months and standard deviation 2 months. If 5000 airs are insured, how many pairs would you expected to need replacement after 12 months? </a:t>
                </a:r>
              </a:p>
              <a:p>
                <a:pPr marL="0" lvl="0" indent="0">
                  <a:buNone/>
                </a:pPr>
                <a:r>
                  <a:rPr lang="en-US" sz="2200" dirty="0"/>
                  <a:t>Q8. </a:t>
                </a:r>
                <a:r>
                  <a:rPr lang="en-US" sz="2400" dirty="0"/>
                  <a:t>Find the mean and variance of the Binomial, Poisson and Normal distribution.</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1185" t="-943" r="-163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Weekly Assignment(CO4)</a:t>
            </a:r>
          </a:p>
        </p:txBody>
      </p:sp>
      <p:sp>
        <p:nvSpPr>
          <p:cNvPr id="5" name="Footer Placeholder 4">
            <a:extLst>
              <a:ext uri="{FF2B5EF4-FFF2-40B4-BE49-F238E27FC236}">
                <a16:creationId xmlns:a16="http://schemas.microsoft.com/office/drawing/2014/main" id="{C916C6B7-EAD4-4AF3-B8D8-63796D2ACC7D}"/>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1686036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lnSpcReduction="20000"/>
              </a:bodyPr>
              <a:lstStyle/>
              <a:p>
                <a:pPr marL="0" lvl="0" indent="0">
                  <a:buNone/>
                </a:pPr>
                <a:r>
                  <a:rPr lang="en-US" sz="2400" dirty="0"/>
                  <a:t>Q9. The probability that a pen manufactured by a company will be defective is </a:t>
                </a:r>
                <a14:m>
                  <m:oMath xmlns:m="http://schemas.openxmlformats.org/officeDocument/2006/math">
                    <m:f>
                      <m:fPr>
                        <m:type m:val="lin"/>
                        <m:ctrlPr>
                          <a:rPr lang="en-US" sz="2400" i="1">
                            <a:latin typeface="Cambria Math" panose="02040503050406030204" pitchFamily="18" charset="0"/>
                          </a:rPr>
                        </m:ctrlPr>
                      </m:fPr>
                      <m:num>
                        <m:r>
                          <a:rPr lang="en-US" sz="2400" i="1">
                            <a:latin typeface="Cambria Math"/>
                          </a:rPr>
                          <m:t>1</m:t>
                        </m:r>
                      </m:num>
                      <m:den>
                        <m:r>
                          <a:rPr lang="en-US" sz="2400" i="1">
                            <a:latin typeface="Cambria Math"/>
                          </a:rPr>
                          <m:t>10</m:t>
                        </m:r>
                      </m:den>
                    </m:f>
                    <m:r>
                      <a:rPr lang="en-US" sz="2400" i="1">
                        <a:latin typeface="Cambria Math"/>
                      </a:rPr>
                      <m:t>.</m:t>
                    </m:r>
                  </m:oMath>
                </a14:m>
                <a:r>
                  <a:rPr lang="en-US" sz="2400" dirty="0"/>
                  <a:t> If 12 such pens are manufactured, find the probability that</a:t>
                </a:r>
              </a:p>
              <a:p>
                <a:pPr marL="514350" lvl="0" indent="-514350">
                  <a:buFont typeface="+mj-lt"/>
                  <a:buAutoNum type="romanLcPeriod"/>
                </a:pPr>
                <a:r>
                  <a:rPr lang="en-US" sz="2400" dirty="0"/>
                  <a:t>Exactly two will be defective </a:t>
                </a:r>
              </a:p>
              <a:p>
                <a:pPr marL="514350" lvl="0" indent="-514350">
                  <a:buFont typeface="+mj-lt"/>
                  <a:buAutoNum type="romanLcPeriod"/>
                </a:pPr>
                <a:r>
                  <a:rPr lang="en-US" sz="2400" dirty="0"/>
                  <a:t>At least two will be defective</a:t>
                </a:r>
              </a:p>
              <a:p>
                <a:pPr marL="514350" lvl="0" indent="-514350">
                  <a:buFont typeface="+mj-lt"/>
                  <a:buAutoNum type="romanLcPeriod"/>
                </a:pPr>
                <a:r>
                  <a:rPr lang="en-US" sz="2400" dirty="0"/>
                  <a:t>None will be defective.</a:t>
                </a:r>
              </a:p>
              <a:p>
                <a:pPr marL="0" indent="0">
                  <a:buNone/>
                </a:pPr>
                <a:endParaRPr lang="en-US" sz="2400" dirty="0"/>
              </a:p>
              <a:p>
                <a:pPr marL="0" lvl="0" indent="0">
                  <a:buNone/>
                </a:pPr>
                <a:r>
                  <a:rPr lang="en-US" sz="2400" dirty="0"/>
                  <a:t>Q10. It is given that 2% of the electric bulbs manufactured by a company are defective. Using Poisson distribution find the probability that a sample of 200 bulbs will contain</a:t>
                </a:r>
              </a:p>
              <a:p>
                <a:pPr marL="514350" lvl="0" indent="-514350">
                  <a:buFont typeface="+mj-lt"/>
                  <a:buAutoNum type="romanLcPeriod"/>
                </a:pPr>
                <a:r>
                  <a:rPr lang="en-US" sz="2400" dirty="0"/>
                  <a:t>No defective bulb</a:t>
                </a:r>
              </a:p>
              <a:p>
                <a:pPr marL="514350" lvl="0" indent="-514350">
                  <a:buFont typeface="+mj-lt"/>
                  <a:buAutoNum type="romanLcPeriod"/>
                </a:pPr>
                <a:r>
                  <a:rPr lang="en-US" sz="2400" dirty="0"/>
                  <a:t>Two defective bulbs</a:t>
                </a:r>
              </a:p>
              <a:p>
                <a:pPr marL="514350" lvl="0" indent="-514350">
                  <a:buFont typeface="+mj-lt"/>
                  <a:buAutoNum type="romanLcPeriod"/>
                </a:pPr>
                <a:r>
                  <a:rPr lang="en-US" sz="2400" dirty="0" err="1"/>
                  <a:t>Atmost</a:t>
                </a:r>
                <a:r>
                  <a:rPr lang="en-US" sz="2400" dirty="0"/>
                  <a:t> three defective bulbs.</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700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Weekly Assignment(CO4)</a:t>
            </a:r>
          </a:p>
        </p:txBody>
      </p:sp>
      <p:sp>
        <p:nvSpPr>
          <p:cNvPr id="5" name="Footer Placeholder 4">
            <a:extLst>
              <a:ext uri="{FF2B5EF4-FFF2-40B4-BE49-F238E27FC236}">
                <a16:creationId xmlns:a16="http://schemas.microsoft.com/office/drawing/2014/main" id="{C88D6143-E27B-4BFB-9109-31B265BDE992}"/>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41001825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200" dirty="0"/>
              <a:t>Q11. In a test on 2000 electric </a:t>
            </a:r>
            <a:r>
              <a:rPr lang="en-US" sz="2200" dirty="0" err="1"/>
              <a:t>bulbs,it</a:t>
            </a:r>
            <a:r>
              <a:rPr lang="en-US" sz="2200" dirty="0"/>
              <a:t> was found that the life of a particular make, was normally distributed with an average life of 2040 hours and S.D. of 60 hours, estimate the number of bulbs likely to burn for</a:t>
            </a:r>
          </a:p>
          <a:p>
            <a:pPr marL="514350" lvl="0" indent="-514350">
              <a:buFont typeface="+mj-lt"/>
              <a:buAutoNum type="romanLcPeriod"/>
            </a:pPr>
            <a:r>
              <a:rPr lang="en-US" sz="2200" dirty="0"/>
              <a:t>More than 2150 hours</a:t>
            </a:r>
          </a:p>
          <a:p>
            <a:pPr marL="514350" lvl="0" indent="-514350">
              <a:buFont typeface="+mj-lt"/>
              <a:buAutoNum type="romanLcPeriod"/>
            </a:pPr>
            <a:r>
              <a:rPr lang="en-US" sz="2200" dirty="0"/>
              <a:t>Less than 1950 hours</a:t>
            </a:r>
          </a:p>
          <a:p>
            <a:pPr marL="514350" lvl="0" indent="-514350">
              <a:buFont typeface="+mj-lt"/>
              <a:buAutoNum type="romanLcPeriod"/>
            </a:pPr>
            <a:r>
              <a:rPr lang="en-US" sz="2200" dirty="0"/>
              <a:t>More than 1920 hours but less than 2160 hours 		</a:t>
            </a:r>
          </a:p>
          <a:p>
            <a:pPr marL="0" lvl="0" indent="0">
              <a:buNone/>
            </a:pPr>
            <a:r>
              <a:rPr lang="en-US" sz="2200" dirty="0"/>
              <a:t>Q12. In a distribution exactly Normal, 7% of the items are under 35 and 89% are under 63. What are the mean and Standard deviation of this Distribution?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a:t>
            </a:r>
            <a:r>
              <a:rPr kumimoji="0" lang="en-US" sz="2400" b="1" i="0" u="none" strike="noStrike" kern="1200" cap="none" spc="0" normalizeH="0" noProof="0" dirty="0">
                <a:ln>
                  <a:noFill/>
                </a:ln>
                <a:solidFill>
                  <a:schemeClr val="dk1"/>
                </a:solidFill>
                <a:effectLst/>
                <a:uLnTx/>
                <a:uFillTx/>
                <a:latin typeface="+mn-lt"/>
                <a:ea typeface="+mn-ea"/>
                <a:cs typeface="+mn-cs"/>
              </a:rPr>
              <a:t> Assignment</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85857065-EB73-435E-B6E8-E1BDD0C17713}"/>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35185409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334000"/>
          </a:xfrm>
        </p:spPr>
        <p:txBody>
          <a:bodyPr>
            <a:noAutofit/>
          </a:bodyPr>
          <a:lstStyle/>
          <a:p>
            <a:r>
              <a:rPr lang="en-US" sz="1800" b="1" dirty="0"/>
              <a:t>Self made Video Link:</a:t>
            </a:r>
          </a:p>
          <a:p>
            <a:r>
              <a:rPr lang="en-US" sz="1800" u="sng" dirty="0">
                <a:hlinkClick r:id="rId2"/>
              </a:rPr>
              <a:t>https://youtu.be/6pZXCcoeYiU</a:t>
            </a:r>
            <a:endParaRPr lang="en-US" sz="1800" dirty="0"/>
          </a:p>
          <a:p>
            <a:r>
              <a:rPr lang="en-US" sz="1800" u="sng" dirty="0">
                <a:hlinkClick r:id="rId3"/>
              </a:rPr>
              <a:t>https://youtu.be/izT2QpldbnU</a:t>
            </a:r>
            <a:endParaRPr lang="en-US" sz="1800" dirty="0"/>
          </a:p>
          <a:p>
            <a:r>
              <a:rPr lang="en-US" sz="1800" u="sng" dirty="0">
                <a:hlinkClick r:id="rId4"/>
              </a:rPr>
              <a:t>https://youtu.be/UaLNsZQK8fo</a:t>
            </a:r>
            <a:endParaRPr lang="en-US" sz="1800" dirty="0"/>
          </a:p>
          <a:p>
            <a:r>
              <a:rPr lang="en-US" sz="1800" b="1" dirty="0"/>
              <a:t>Suggested Video Links:</a:t>
            </a:r>
          </a:p>
          <a:p>
            <a:r>
              <a:rPr lang="en-US" sz="1800" dirty="0">
                <a:hlinkClick r:id="rId5"/>
              </a:rPr>
              <a:t>https://youtu.be/L3wQw0wva3g</a:t>
            </a:r>
            <a:r>
              <a:rPr lang="en-US" sz="1800" dirty="0"/>
              <a:t>  </a:t>
            </a:r>
          </a:p>
          <a:p>
            <a:r>
              <a:rPr lang="en-US" sz="1800" dirty="0">
                <a:hlinkClick r:id="rId6"/>
              </a:rPr>
              <a:t>https://youtu.be/n9qpktdFfLU</a:t>
            </a:r>
            <a:r>
              <a:rPr lang="en-US" sz="1800" dirty="0"/>
              <a:t>  </a:t>
            </a:r>
          </a:p>
          <a:p>
            <a:r>
              <a:rPr lang="en-US" sz="1800" dirty="0">
                <a:hlinkClick r:id="rId7"/>
              </a:rPr>
              <a:t>https://youtu.be/_Qlxt0HmuOo</a:t>
            </a:r>
            <a:r>
              <a:rPr lang="en-US" sz="1800" dirty="0"/>
              <a:t>  </a:t>
            </a:r>
          </a:p>
          <a:p>
            <a:r>
              <a:rPr lang="en-US" sz="1800" dirty="0">
                <a:hlinkClick r:id="rId8"/>
              </a:rPr>
              <a:t>https://youtu.be/YSwmpAmLV2s</a:t>
            </a:r>
            <a:r>
              <a:rPr lang="en-US" sz="1800" dirty="0"/>
              <a:t>  </a:t>
            </a:r>
          </a:p>
          <a:p>
            <a:r>
              <a:rPr lang="en-US" sz="1800" dirty="0">
                <a:hlinkClick r:id="rId9"/>
              </a:rPr>
              <a:t>https://youtu.be/KLnGOL_AUgA</a:t>
            </a:r>
            <a:r>
              <a:rPr lang="en-US" sz="1800" dirty="0"/>
              <a:t>  </a:t>
            </a:r>
          </a:p>
          <a:p>
            <a:r>
              <a:rPr lang="en-US" sz="1800" dirty="0">
                <a:hlinkClick r:id="rId10"/>
              </a:rPr>
              <a:t>https://youtu.be/cQp_bJdxjWw</a:t>
            </a:r>
            <a:r>
              <a:rPr lang="en-US" sz="1800" dirty="0"/>
              <a:t>  </a:t>
            </a:r>
          </a:p>
          <a:p>
            <a:r>
              <a:rPr lang="en-US" sz="1800" dirty="0">
                <a:hlinkClick r:id="rId11"/>
              </a:rPr>
              <a:t>https://youtu.be/geB0A7CPGaQ</a:t>
            </a:r>
            <a:r>
              <a:rPr lang="en-US" sz="1800" dirty="0"/>
              <a:t>  </a:t>
            </a:r>
          </a:p>
          <a:p>
            <a:r>
              <a:rPr lang="en-US" sz="1800" dirty="0">
                <a:hlinkClick r:id="rId12"/>
              </a:rPr>
              <a:t>https://youtu.be/zmyh7nCjmsg</a:t>
            </a:r>
            <a:r>
              <a:rPr lang="en-US" sz="1800" dirty="0"/>
              <a:t>  </a:t>
            </a:r>
          </a:p>
          <a:p>
            <a:r>
              <a:rPr lang="en-US" sz="1800" dirty="0">
                <a:hlinkClick r:id="rId13"/>
              </a:rPr>
              <a:t>https://youtu.be/ohquDY3fZqk</a:t>
            </a:r>
            <a:r>
              <a:rPr lang="en-US" sz="1800" dirty="0"/>
              <a:t>  </a:t>
            </a:r>
          </a:p>
          <a:p>
            <a:r>
              <a:rPr lang="en-US" sz="1800" dirty="0">
                <a:hlinkClick r:id="rId14"/>
              </a:rPr>
              <a:t>https://youtu.be/izGZLnB-mEo</a:t>
            </a:r>
            <a:r>
              <a:rPr lang="en-US" sz="1800" dirty="0"/>
              <a:t>  </a:t>
            </a:r>
          </a:p>
          <a:p>
            <a:r>
              <a:rPr lang="en-US" sz="1800" dirty="0">
                <a:hlinkClick r:id="rId15"/>
              </a:rPr>
              <a:t>https://youtu.be/q48uKU_KWas</a:t>
            </a:r>
            <a:r>
              <a:rPr lang="en-US" sz="18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0" i="0" u="none" strike="noStrike" kern="1200" cap="none" spc="0" normalizeH="0" noProof="0" dirty="0">
                <a:ln>
                  <a:noFill/>
                </a:ln>
                <a:solidFill>
                  <a:schemeClr val="dk1"/>
                </a:solidFill>
                <a:effectLst/>
                <a:uLnTx/>
                <a:uFillTx/>
                <a:latin typeface="+mn-lt"/>
                <a:ea typeface="+mn-ea"/>
                <a:cs typeface="+mn-cs"/>
              </a:rPr>
              <a:t> Links, </a:t>
            </a:r>
            <a:r>
              <a:rPr kumimoji="0" lang="en-US" sz="2400" b="0" i="0" u="none" strike="noStrike" kern="1200" cap="none" spc="0" normalizeH="0" noProof="0" dirty="0" err="1">
                <a:ln>
                  <a:noFill/>
                </a:ln>
                <a:solidFill>
                  <a:schemeClr val="dk1"/>
                </a:solidFill>
                <a:effectLst/>
                <a:uLnTx/>
                <a:uFillTx/>
                <a:latin typeface="+mn-lt"/>
                <a:ea typeface="+mn-ea"/>
                <a:cs typeface="+mn-cs"/>
              </a:rPr>
              <a:t>Youtube</a:t>
            </a:r>
            <a:r>
              <a:rPr kumimoji="0" lang="en-US" sz="24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A0DE7F34-FF8A-42FF-B0BE-0B3F20B17EC9}"/>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312972904"/>
      </p:ext>
    </p:extLst>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914398"/>
                <a:ext cx="8229600" cy="5441951"/>
              </a:xfrm>
            </p:spPr>
            <p:txBody>
              <a:bodyPr>
                <a:noAutofit/>
              </a:bodyPr>
              <a:lstStyle/>
              <a:p>
                <a:pPr marL="0" lvl="0" indent="0">
                  <a:buNone/>
                </a:pPr>
                <a:r>
                  <a:rPr lang="en-US" sz="2000" dirty="0"/>
                  <a:t>Q1. Suppose that a random variable </a:t>
                </a:r>
                <a14:m>
                  <m:oMath xmlns:m="http://schemas.openxmlformats.org/officeDocument/2006/math">
                    <m:r>
                      <a:rPr lang="en-US" sz="2000" i="1">
                        <a:latin typeface="Cambria Math" panose="02040503050406030204" pitchFamily="18" charset="0"/>
                      </a:rPr>
                      <m:t>𝑥</m:t>
                    </m:r>
                  </m:oMath>
                </a14:m>
                <a:r>
                  <a:rPr lang="en-US" sz="2000" dirty="0"/>
                  <a:t> has normal distribution with mean 9 and variance 9. Then the value of </a:t>
                </a:r>
                <a14:m>
                  <m:oMath xmlns:m="http://schemas.openxmlformats.org/officeDocument/2006/math">
                    <m:r>
                      <a:rPr lang="en-US" sz="2000" i="1">
                        <a:latin typeface="Cambria Math" panose="02040503050406030204" pitchFamily="18" charset="0"/>
                      </a:rPr>
                      <m:t>𝑐</m:t>
                    </m:r>
                  </m:oMath>
                </a14:m>
                <a:r>
                  <a:rPr lang="en-US" sz="2000" dirty="0"/>
                  <a:t> such that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&gt;</m:t>
                        </m:r>
                        <m:r>
                          <a:rPr lang="en-US" sz="2000" i="1">
                            <a:latin typeface="Cambria Math" panose="02040503050406030204" pitchFamily="18" charset="0"/>
                          </a:rPr>
                          <m:t>𝑐</m:t>
                        </m:r>
                      </m:e>
                    </m:d>
                    <m:r>
                      <a:rPr lang="en-US" sz="2000" i="1">
                        <a:latin typeface="Cambria Math" panose="02040503050406030204" pitchFamily="18" charset="0"/>
                      </a:rPr>
                      <m:t>=0.16</m:t>
                    </m:r>
                  </m:oMath>
                </a14:m>
                <a:r>
                  <a:rPr lang="en-US" sz="2000" dirty="0"/>
                  <a:t> is-(Given that </a:t>
                </a:r>
                <a14:m>
                  <m:oMath xmlns:m="http://schemas.openxmlformats.org/officeDocument/2006/math">
                    <m:r>
                      <a:rPr lang="en-US" sz="2000" i="1">
                        <a:latin typeface="Cambria Math" panose="02040503050406030204" pitchFamily="18" charset="0"/>
                      </a:rPr>
                      <m:t>𝜙</m:t>
                    </m:r>
                    <m:d>
                      <m:dPr>
                        <m:ctrlPr>
                          <a:rPr lang="en-US" sz="2000" i="1">
                            <a:latin typeface="Cambria Math" panose="02040503050406030204" pitchFamily="18" charset="0"/>
                          </a:rPr>
                        </m:ctrlPr>
                      </m:dPr>
                      <m:e>
                        <m:r>
                          <a:rPr lang="en-US" sz="2000" i="1">
                            <a:latin typeface="Cambria Math" panose="02040503050406030204" pitchFamily="18" charset="0"/>
                          </a:rPr>
                          <m:t>1</m:t>
                        </m:r>
                      </m:e>
                    </m:d>
                    <m:r>
                      <a:rPr lang="en-US" sz="2000" i="1">
                        <a:latin typeface="Cambria Math" panose="02040503050406030204" pitchFamily="18" charset="0"/>
                      </a:rPr>
                      <m:t>=0.34</m:t>
                    </m:r>
                  </m:oMath>
                </a14:m>
                <a:r>
                  <a:rPr lang="en-US" sz="2000" dirty="0"/>
                  <a:t> )</a:t>
                </a:r>
              </a:p>
              <a:p>
                <a:pPr marL="400050" lvl="0" indent="-400050">
                  <a:buFont typeface="+mj-lt"/>
                  <a:buAutoNum type="romanLcPeriod"/>
                </a:pPr>
                <a:r>
                  <a:rPr lang="en-US" sz="2000" dirty="0"/>
                  <a:t>12</a:t>
                </a:r>
              </a:p>
              <a:p>
                <a:pPr marL="400050" lvl="0" indent="-400050">
                  <a:buFont typeface="+mj-lt"/>
                  <a:buAutoNum type="romanLcPeriod"/>
                </a:pPr>
                <a:r>
                  <a:rPr lang="en-US" sz="2000" dirty="0"/>
                  <a:t>1</a:t>
                </a:r>
              </a:p>
              <a:p>
                <a:pPr marL="400050" lvl="0" indent="-400050">
                  <a:buFont typeface="+mj-lt"/>
                  <a:buAutoNum type="romanLcPeriod"/>
                </a:pPr>
                <a:r>
                  <a:rPr lang="en-US" sz="2000" dirty="0"/>
                  <a:t>10</a:t>
                </a:r>
              </a:p>
              <a:p>
                <a:pPr marL="400050" lvl="0" indent="-400050">
                  <a:buFont typeface="+mj-lt"/>
                  <a:buAutoNum type="romanLcPeriod"/>
                </a:pPr>
                <a:r>
                  <a:rPr lang="en-US" sz="2000" dirty="0"/>
                  <a:t>None of these</a:t>
                </a:r>
              </a:p>
              <a:p>
                <a:pPr marL="0" lvl="0" indent="0">
                  <a:buNone/>
                </a:pPr>
                <a:r>
                  <a:rPr lang="en-US" sz="2000" dirty="0"/>
                  <a:t>Q2 .The life of army shoes is normally distributed with mean 8 months and standard deviation 2 months. If 5000 pairs are issued, how many pairs would be expected to need replacement after 12 months are-(Given that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𝑧</m:t>
                        </m:r>
                        <m:r>
                          <a:rPr lang="en-US" sz="2000" i="1">
                            <a:latin typeface="Cambria Math" panose="02040503050406030204" pitchFamily="18" charset="0"/>
                          </a:rPr>
                          <m:t>≥2</m:t>
                        </m:r>
                      </m:e>
                    </m:d>
                    <m:r>
                      <a:rPr lang="en-US" sz="2000" i="1">
                        <a:latin typeface="Cambria Math" panose="02040503050406030204" pitchFamily="18" charset="0"/>
                      </a:rPr>
                      <m:t>=0.228</m:t>
                    </m:r>
                  </m:oMath>
                </a14:m>
                <a:r>
                  <a:rPr lang="en-US" sz="2000" dirty="0"/>
                  <a:t>)</a:t>
                </a:r>
              </a:p>
              <a:p>
                <a:pPr marL="400050" lvl="0" indent="-400050">
                  <a:buFont typeface="+mj-lt"/>
                  <a:buAutoNum type="romanLcPeriod"/>
                </a:pPr>
                <a:r>
                  <a:rPr lang="en-US" sz="2000" dirty="0"/>
                  <a:t>114</a:t>
                </a:r>
              </a:p>
              <a:p>
                <a:pPr marL="400050" lvl="0" indent="-400050">
                  <a:buFont typeface="+mj-lt"/>
                  <a:buAutoNum type="romanLcPeriod"/>
                </a:pPr>
                <a:r>
                  <a:rPr lang="en-US" sz="2000" dirty="0"/>
                  <a:t>4886</a:t>
                </a:r>
              </a:p>
              <a:p>
                <a:pPr marL="400050" lvl="0" indent="-400050">
                  <a:buFont typeface="+mj-lt"/>
                  <a:buAutoNum type="romanLcPeriod"/>
                </a:pPr>
                <a:r>
                  <a:rPr lang="en-US" sz="2000" dirty="0"/>
                  <a:t>115</a:t>
                </a:r>
              </a:p>
              <a:p>
                <a:pPr marL="400050" lvl="0" indent="-400050">
                  <a:buFont typeface="+mj-lt"/>
                  <a:buAutoNum type="romanLcPeriod"/>
                </a:pPr>
                <a:r>
                  <a:rPr lang="en-US" sz="2000" dirty="0"/>
                  <a:t>4890</a:t>
                </a:r>
              </a:p>
              <a:p>
                <a:pPr marL="0" indent="0">
                  <a:buNone/>
                </a:pPr>
                <a:r>
                  <a:rPr lang="en-US" sz="2000" b="1" dirty="0"/>
                  <a:t> </a:t>
                </a:r>
                <a:endParaRPr lang="en-US" sz="2000" dirty="0"/>
              </a:p>
              <a:p>
                <a:pPr marL="0" lv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914398"/>
                <a:ext cx="8229600" cy="5441951"/>
              </a:xfrm>
              <a:blipFill>
                <a:blip r:embed="rId2"/>
                <a:stretch>
                  <a:fillRect l="-815" t="-560" r="-96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25A4572A-F9A9-4590-BA14-22724472A27B}"/>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608033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000" dirty="0"/>
                  <a:t>Q3. Suppose that a book of 600 pages contains 40 printing mistakes. Assume that these errors are randomly distributed throughout the book and </a:t>
                </a:r>
                <a14:m>
                  <m:oMath xmlns:m="http://schemas.openxmlformats.org/officeDocument/2006/math">
                    <m:r>
                      <a:rPr lang="en-US" sz="2000" i="1">
                        <a:latin typeface="Cambria Math" panose="02040503050406030204" pitchFamily="18" charset="0"/>
                      </a:rPr>
                      <m:t>𝑥</m:t>
                    </m:r>
                  </m:oMath>
                </a14:m>
                <a:r>
                  <a:rPr lang="en-US" sz="2000" dirty="0"/>
                  <a:t>, the number of errors per page has a Poisson distribution then what is probability that 10 pages selected at random will be free of errors</a:t>
                </a:r>
              </a:p>
              <a:p>
                <a:pPr marL="514350" lvl="0" indent="-514350">
                  <a:buFont typeface="+mj-lt"/>
                  <a:buAutoNum type="romanLcPeriod"/>
                </a:pPr>
                <a:r>
                  <a:rPr lang="en-US" sz="2000" dirty="0"/>
                  <a:t>0.54</a:t>
                </a:r>
              </a:p>
              <a:p>
                <a:pPr marL="514350" lvl="0" indent="-514350">
                  <a:buFont typeface="+mj-lt"/>
                  <a:buAutoNum type="romanLcPeriod"/>
                </a:pPr>
                <a:r>
                  <a:rPr lang="en-US" sz="2000" dirty="0"/>
                  <a:t>0.15</a:t>
                </a:r>
              </a:p>
              <a:p>
                <a:pPr marL="514350" lvl="0" indent="-514350">
                  <a:buFont typeface="+mj-lt"/>
                  <a:buAutoNum type="romanLcPeriod"/>
                </a:pPr>
                <a:r>
                  <a:rPr lang="en-US" sz="2000" dirty="0"/>
                  <a:t>0.51</a:t>
                </a:r>
              </a:p>
              <a:p>
                <a:pPr marL="514350" lvl="0" indent="-514350">
                  <a:buFont typeface="+mj-lt"/>
                  <a:buAutoNum type="romanLcPeriod"/>
                </a:pPr>
                <a:r>
                  <a:rPr lang="en-US" sz="2000" dirty="0"/>
                  <a:t>None of these</a:t>
                </a:r>
              </a:p>
              <a:p>
                <a:pPr marL="0" lv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DF821567-39B0-4284-83A4-21AFFBDCE81B}"/>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7036518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000" dirty="0"/>
                  <a:t>Q4. The probability that a bomb dropped from a plane will strike the target is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5</m:t>
                        </m:r>
                      </m:den>
                    </m:f>
                  </m:oMath>
                </a14:m>
                <a:r>
                  <a:rPr lang="en-US" sz="2000" dirty="0"/>
                  <a:t>. If six bombs are dropped then the probability that exactly two will strike the target is</a:t>
                </a:r>
              </a:p>
              <a:p>
                <a:pPr marL="400050" lvl="0" indent="-400050">
                  <a:buFont typeface="+mj-lt"/>
                  <a:buAutoNum type="romanLcPeriod"/>
                </a:pPr>
                <a:r>
                  <a:rPr lang="en-US" sz="2000" dirty="0"/>
                  <a:t>0.345</a:t>
                </a:r>
              </a:p>
              <a:p>
                <a:pPr marL="400050" lvl="0" indent="-400050">
                  <a:buFont typeface="+mj-lt"/>
                  <a:buAutoNum type="romanLcPeriod"/>
                </a:pPr>
                <a:r>
                  <a:rPr lang="en-US" sz="2000" dirty="0"/>
                  <a:t>0.145</a:t>
                </a:r>
              </a:p>
              <a:p>
                <a:pPr marL="400050" lvl="0" indent="-400050">
                  <a:buFont typeface="+mj-lt"/>
                  <a:buAutoNum type="romanLcPeriod"/>
                </a:pPr>
                <a:r>
                  <a:rPr lang="en-US" sz="2000" dirty="0"/>
                  <a:t>0.245</a:t>
                </a:r>
              </a:p>
              <a:p>
                <a:pPr marL="400050" lvl="0" indent="-400050">
                  <a:buFont typeface="+mj-lt"/>
                  <a:buAutoNum type="romanLcPeriod"/>
                </a:pPr>
                <a:r>
                  <a:rPr lang="en-US" sz="2000" dirty="0"/>
                  <a:t>None of these</a:t>
                </a:r>
              </a:p>
              <a:p>
                <a:pPr marL="0" lvl="0" indent="0">
                  <a:buNone/>
                </a:pPr>
                <a:r>
                  <a:rPr lang="en-US" sz="2000" dirty="0"/>
                  <a:t>Q5. For the standard normal </a:t>
                </a:r>
                <a:r>
                  <a:rPr lang="en-US" sz="2000" dirty="0" err="1"/>
                  <a:t>variate</a:t>
                </a:r>
                <a:r>
                  <a:rPr lang="en-US" sz="2000" dirty="0"/>
                  <a:t> </a:t>
                </a:r>
                <a14:m>
                  <m:oMath xmlns:m="http://schemas.openxmlformats.org/officeDocument/2006/math">
                    <m:r>
                      <a:rPr lang="en-US" sz="2000" i="1">
                        <a:latin typeface="Cambria Math" panose="02040503050406030204" pitchFamily="18" charset="0"/>
                      </a:rPr>
                      <m:t>𝑧</m:t>
                    </m:r>
                  </m:oMath>
                </a14:m>
                <a:r>
                  <a:rPr lang="en-US" sz="2000" dirty="0"/>
                  <a:t> mean and variance are-</a:t>
                </a:r>
              </a:p>
              <a:p>
                <a:pPr marL="400050" lvl="0" indent="-400050">
                  <a:buFont typeface="+mj-lt"/>
                  <a:buAutoNum type="romanLcPeriod"/>
                </a:pPr>
                <a:r>
                  <a:rPr lang="en-US" sz="2000" dirty="0"/>
                  <a:t>0,1</a:t>
                </a:r>
              </a:p>
              <a:p>
                <a:pPr marL="400050" lvl="0" indent="-400050">
                  <a:buFont typeface="+mj-lt"/>
                  <a:buAutoNum type="romanLcPeriod"/>
                </a:pP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oMath>
                </a14:m>
                <a:endParaRPr lang="en-US" sz="2000" dirty="0"/>
              </a:p>
              <a:p>
                <a:pPr marL="400050" lvl="0" indent="-400050">
                  <a:buFont typeface="+mj-lt"/>
                  <a:buAutoNum type="romanLcPeriod"/>
                </a:pPr>
                <a:r>
                  <a:rPr lang="en-US" sz="2000" dirty="0"/>
                  <a:t>1,0</a:t>
                </a:r>
              </a:p>
              <a:p>
                <a:pPr marL="400050" lvl="0" indent="-400050">
                  <a:buFont typeface="+mj-lt"/>
                  <a:buAutoNum type="romanLcPeriod"/>
                </a:pP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𝜇</m:t>
                    </m:r>
                  </m:oMath>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370" b="-27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r>
              <a:rPr lang="en-US" sz="2400" b="1" dirty="0"/>
              <a:t>(CO4)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2FF7AA82-D066-4DED-AABC-69727381385A}"/>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38968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Glossary(CO4)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11" name="Content Placeholder 10"/>
          <p:cNvSpPr>
            <a:spLocks noGrp="1"/>
          </p:cNvSpPr>
          <p:nvPr>
            <p:ph idx="1"/>
          </p:nvPr>
        </p:nvSpPr>
        <p:spPr>
          <a:xfrm>
            <a:off x="457200" y="1066801"/>
            <a:ext cx="8229600" cy="4648200"/>
          </a:xfrm>
        </p:spPr>
        <p:txBody>
          <a:bodyPr>
            <a:noAutofit/>
          </a:bodyPr>
          <a:lstStyle/>
          <a:p>
            <a:pPr marL="0" lvl="0" indent="0">
              <a:buNone/>
            </a:pPr>
            <a:r>
              <a:rPr lang="en-US" sz="2200" dirty="0"/>
              <a:t>Q1. The distribution of the number of road accidents per day in a city is </a:t>
            </a:r>
            <a:r>
              <a:rPr lang="en-US" sz="2200" dirty="0" err="1"/>
              <a:t>poisson</a:t>
            </a:r>
            <a:r>
              <a:rPr lang="en-US" sz="2200" dirty="0"/>
              <a:t>  with mean 4. find the number of days  out of 100 days when there will be </a:t>
            </a:r>
          </a:p>
          <a:p>
            <a:pPr marL="514350" lvl="0" indent="-514350">
              <a:buFont typeface="+mj-lt"/>
              <a:buAutoNum type="romanLcPeriod"/>
            </a:pPr>
            <a:r>
              <a:rPr lang="en-US" sz="2200" dirty="0"/>
              <a:t>No accident</a:t>
            </a:r>
          </a:p>
          <a:p>
            <a:pPr marL="514350" lvl="0" indent="-514350">
              <a:buFont typeface="+mj-lt"/>
              <a:buAutoNum type="romanLcPeriod"/>
            </a:pPr>
            <a:r>
              <a:rPr lang="en-US" sz="2200" dirty="0"/>
              <a:t>At least two accident</a:t>
            </a:r>
          </a:p>
          <a:p>
            <a:pPr marL="514350" lvl="0" indent="-514350">
              <a:buFont typeface="+mj-lt"/>
              <a:buAutoNum type="romanLcPeriod"/>
            </a:pPr>
            <a:r>
              <a:rPr lang="en-US" sz="2200" dirty="0"/>
              <a:t>At most three accident </a:t>
            </a:r>
          </a:p>
          <a:p>
            <a:pPr marL="514350" lvl="0" indent="-514350">
              <a:buFont typeface="+mj-lt"/>
              <a:buAutoNum type="romanLcPeriod"/>
            </a:pPr>
            <a:r>
              <a:rPr lang="en-US" sz="2200" dirty="0"/>
              <a:t>Between two and five accident</a:t>
            </a:r>
          </a:p>
          <a:p>
            <a:pPr marL="0" lvl="0" indent="0">
              <a:buNone/>
            </a:pPr>
            <a:r>
              <a:rPr lang="en-US" sz="2200" dirty="0"/>
              <a:t>Pick the correct option from glossary</a:t>
            </a:r>
          </a:p>
          <a:p>
            <a:pPr marL="457200" lvl="0" indent="-457200">
              <a:buFont typeface="+mj-lt"/>
              <a:buAutoNum type="alphaLcPeriod"/>
            </a:pPr>
            <a:r>
              <a:rPr lang="en-US" sz="2200" dirty="0"/>
              <a:t>91</a:t>
            </a:r>
          </a:p>
          <a:p>
            <a:pPr marL="457200" lvl="0" indent="-457200">
              <a:buFont typeface="+mj-lt"/>
              <a:buAutoNum type="alphaLcPeriod"/>
            </a:pPr>
            <a:r>
              <a:rPr lang="en-US" sz="2200" dirty="0"/>
              <a:t>43</a:t>
            </a:r>
          </a:p>
          <a:p>
            <a:pPr marL="457200" lvl="0" indent="-457200">
              <a:buFont typeface="+mj-lt"/>
              <a:buAutoNum type="alphaLcPeriod"/>
            </a:pPr>
            <a:r>
              <a:rPr lang="en-US" sz="2200" dirty="0"/>
              <a:t>39</a:t>
            </a:r>
          </a:p>
          <a:p>
            <a:pPr marL="457200" lvl="0" indent="-457200">
              <a:buFont typeface="+mj-lt"/>
              <a:buAutoNum type="alphaLcPeriod"/>
            </a:pPr>
            <a:r>
              <a:rPr lang="en-US" sz="2200" dirty="0"/>
              <a:t>2</a:t>
            </a:r>
          </a:p>
        </p:txBody>
      </p:sp>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2" imgW="114120" imgH="177480" progId="Equation.DSMT4">
                  <p:embed/>
                </p:oleObj>
              </mc:Choice>
              <mc:Fallback>
                <p:oleObj name="Equation" r:id="rId2" imgW="114120" imgH="177480" progId="Equation.DSMT4">
                  <p:embed/>
                  <p:pic>
                    <p:nvPicPr>
                      <p:cNvPr id="12"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3"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1B12B5B7-DFEE-42A1-BBC5-A72FA68A2F2D}"/>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8647202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Glossary(CO4)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11" name="Content Placeholder 10"/>
          <p:cNvSpPr>
            <a:spLocks noGrp="1"/>
          </p:cNvSpPr>
          <p:nvPr>
            <p:ph idx="1"/>
          </p:nvPr>
        </p:nvSpPr>
        <p:spPr>
          <a:xfrm>
            <a:off x="457200" y="1066800"/>
            <a:ext cx="8229600" cy="5059363"/>
          </a:xfrm>
        </p:spPr>
        <p:txBody>
          <a:bodyPr>
            <a:noAutofit/>
          </a:bodyPr>
          <a:lstStyle/>
          <a:p>
            <a:pPr marL="0" lvl="0" indent="0">
              <a:buNone/>
            </a:pPr>
            <a:r>
              <a:rPr lang="en-US" sz="2200" dirty="0"/>
              <a:t>Q2.In 800 families with 4 children each ,how many families would be expected to have </a:t>
            </a:r>
          </a:p>
          <a:p>
            <a:pPr marL="514350" lvl="0" indent="-514350">
              <a:buFont typeface="+mj-lt"/>
              <a:buAutoNum type="romanLcPeriod"/>
            </a:pPr>
            <a:r>
              <a:rPr lang="en-US" sz="2200" dirty="0"/>
              <a:t>2 boys and 2 girls </a:t>
            </a:r>
          </a:p>
          <a:p>
            <a:pPr marL="514350" lvl="0" indent="-514350">
              <a:buFont typeface="+mj-lt"/>
              <a:buAutoNum type="romanLcPeriod"/>
            </a:pPr>
            <a:r>
              <a:rPr lang="en-US" sz="2200" dirty="0"/>
              <a:t>No girl</a:t>
            </a:r>
          </a:p>
          <a:p>
            <a:pPr marL="514350" lvl="0" indent="-514350">
              <a:buFont typeface="+mj-lt"/>
              <a:buAutoNum type="romanLcPeriod"/>
            </a:pPr>
            <a:r>
              <a:rPr lang="en-US" sz="2200" dirty="0"/>
              <a:t>At least one boy</a:t>
            </a:r>
          </a:p>
          <a:p>
            <a:pPr marL="514350" lvl="0" indent="-514350">
              <a:buFont typeface="+mj-lt"/>
              <a:buAutoNum type="romanLcPeriod"/>
            </a:pPr>
            <a:r>
              <a:rPr lang="en-US" sz="2200" dirty="0"/>
              <a:t>At most two girls (Assume equal probabilities for boys and girls)</a:t>
            </a:r>
          </a:p>
          <a:p>
            <a:pPr marL="0" lvl="0" indent="0">
              <a:buNone/>
            </a:pPr>
            <a:r>
              <a:rPr lang="en-US" sz="2200" dirty="0"/>
              <a:t>Pick the correct option from glossary</a:t>
            </a:r>
          </a:p>
          <a:p>
            <a:pPr marL="457200" lvl="0" indent="-457200">
              <a:buFont typeface="+mj-lt"/>
              <a:buAutoNum type="alphaLcPeriod"/>
            </a:pPr>
            <a:r>
              <a:rPr lang="en-US" sz="2200" dirty="0"/>
              <a:t>750</a:t>
            </a:r>
          </a:p>
          <a:p>
            <a:pPr marL="457200" lvl="0" indent="-457200">
              <a:buFont typeface="+mj-lt"/>
              <a:buAutoNum type="alphaLcPeriod"/>
            </a:pPr>
            <a:r>
              <a:rPr lang="en-US" sz="2200" dirty="0"/>
              <a:t>550</a:t>
            </a:r>
          </a:p>
          <a:p>
            <a:pPr marL="457200" lvl="0" indent="-457200">
              <a:buFont typeface="+mj-lt"/>
              <a:buAutoNum type="alphaLcPeriod"/>
            </a:pPr>
            <a:r>
              <a:rPr lang="en-US" sz="2200" dirty="0"/>
              <a:t>50</a:t>
            </a:r>
          </a:p>
          <a:p>
            <a:pPr marL="457200" lvl="0" indent="-457200">
              <a:buFont typeface="+mj-lt"/>
              <a:buAutoNum type="alphaLcPeriod"/>
            </a:pPr>
            <a:r>
              <a:rPr lang="en-US" sz="2200" dirty="0"/>
              <a:t>300</a:t>
            </a:r>
          </a:p>
          <a:p>
            <a:pPr marL="0" indent="0">
              <a:buNone/>
            </a:pPr>
            <a:endParaRPr lang="en-US" sz="2200" dirty="0"/>
          </a:p>
          <a:p>
            <a:pPr marL="0" indent="0" algn="just">
              <a:buNone/>
            </a:pPr>
            <a:endParaRPr lang="en-US" sz="2200" dirty="0"/>
          </a:p>
        </p:txBody>
      </p:sp>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2" imgW="114120" imgH="177480" progId="Equation.DSMT4">
                  <p:embed/>
                </p:oleObj>
              </mc:Choice>
              <mc:Fallback>
                <p:oleObj name="Equation" r:id="rId2" imgW="114120" imgH="177480" progId="Equation.DSMT4">
                  <p:embed/>
                  <p:pic>
                    <p:nvPicPr>
                      <p:cNvPr id="12"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3"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CE01EF06-AB8E-4A1C-BF71-2217D0883CF9}"/>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8807931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University Expected question(CO4)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57200" y="1066800"/>
                <a:ext cx="8229600" cy="5059363"/>
              </a:xfrm>
            </p:spPr>
            <p:txBody>
              <a:bodyPr>
                <a:noAutofit/>
              </a:bodyPr>
              <a:lstStyle/>
              <a:p>
                <a:pPr marL="0" lvl="0" indent="0">
                  <a:buNone/>
                </a:pPr>
                <a:r>
                  <a:rPr lang="en-US" sz="2400" dirty="0"/>
                  <a:t>Q1. Find the mean and variance of the binomial distribution. </a:t>
                </a:r>
              </a:p>
              <a:p>
                <a:pPr marL="0" lvl="0" indent="0">
                  <a:buNone/>
                </a:pPr>
                <a:r>
                  <a:rPr lang="en-US" sz="2400" dirty="0"/>
                  <a:t>Q2. If the probability of hitting a target is 10% and 10 shots are fired independently. What is the probability that the target will be hit at least once?					 	</a:t>
                </a:r>
              </a:p>
              <a:p>
                <a:pPr marL="0" lvl="0" indent="0">
                  <a:buNone/>
                </a:pPr>
                <a:r>
                  <a:rPr lang="en-US" sz="2400" dirty="0"/>
                  <a:t>Q3. If there are 3 misprints in a book of 1000 pages find the probability that a given page will contain</a:t>
                </a:r>
              </a:p>
              <a:p>
                <a:pPr marL="514350" lvl="0" indent="-514350">
                  <a:buFont typeface="+mj-lt"/>
                  <a:buAutoNum type="romanLcPeriod"/>
                </a:pPr>
                <a:r>
                  <a:rPr lang="en-US" sz="2400" dirty="0"/>
                  <a:t>No misprint</a:t>
                </a:r>
              </a:p>
              <a:p>
                <a:pPr marL="514350" lvl="0" indent="-514350">
                  <a:buFont typeface="+mj-lt"/>
                  <a:buAutoNum type="romanLcPeriod"/>
                </a:pPr>
                <a:r>
                  <a:rPr lang="en-US" sz="2400" dirty="0"/>
                  <a:t>More than 2 misprints</a:t>
                </a:r>
              </a:p>
              <a:p>
                <a:pPr marL="0" lvl="0" indent="0">
                  <a:buNone/>
                </a:pPr>
                <a:r>
                  <a:rPr lang="en-US" sz="2400" dirty="0"/>
                  <a:t>Q4</a:t>
                </a:r>
                <a:r>
                  <a:rPr lang="en-US" sz="2400" b="1" dirty="0"/>
                  <a:t>. </a:t>
                </a:r>
                <a:r>
                  <a:rPr lang="en-US" sz="2400" dirty="0"/>
                  <a:t>If the heights of 300 students are normally distributed with mean 64.5 inches and standard deviation 3.3 inches. Find the height below which 99% of the student lie. </a:t>
                </a:r>
              </a:p>
              <a:p>
                <a:pPr marL="0" indent="0">
                  <a:buNone/>
                </a:pPr>
                <a:r>
                  <a:rPr lang="en-US" sz="2400" dirty="0"/>
                  <a:t>(Given that </a:t>
                </a:r>
                <a14:m>
                  <m:oMath xmlns:m="http://schemas.openxmlformats.org/officeDocument/2006/math">
                    <m:r>
                      <a:rPr lang="en-US" sz="2400" i="1">
                        <a:latin typeface="Cambria Math"/>
                      </a:rPr>
                      <m:t>𝜙</m:t>
                    </m:r>
                    <m:d>
                      <m:dPr>
                        <m:ctrlPr>
                          <a:rPr lang="en-US" sz="2400" i="1">
                            <a:latin typeface="Cambria Math" panose="02040503050406030204" pitchFamily="18" charset="0"/>
                          </a:rPr>
                        </m:ctrlPr>
                      </m:dPr>
                      <m:e>
                        <m:r>
                          <a:rPr lang="en-US" sz="2400" i="1">
                            <a:latin typeface="Cambria Math"/>
                          </a:rPr>
                          <m:t>𝑧</m:t>
                        </m:r>
                      </m:e>
                    </m:d>
                    <m:r>
                      <a:rPr lang="en-US" sz="2400" i="1">
                        <a:latin typeface="Cambria Math"/>
                      </a:rPr>
                      <m:t>=</m:t>
                    </m:r>
                    <m:f>
                      <m:fPr>
                        <m:ctrlPr>
                          <a:rPr lang="en-US" sz="2400" i="1">
                            <a:latin typeface="Cambria Math" panose="02040503050406030204" pitchFamily="18" charset="0"/>
                          </a:rPr>
                        </m:ctrlPr>
                      </m:fPr>
                      <m:num>
                        <m:r>
                          <a:rPr lang="en-US" sz="2400" i="1">
                            <a:latin typeface="Cambria Math"/>
                          </a:rPr>
                          <m:t>1</m:t>
                        </m:r>
                      </m:num>
                      <m:den>
                        <m:rad>
                          <m:radPr>
                            <m:degHide m:val="on"/>
                            <m:ctrlPr>
                              <a:rPr lang="en-US" sz="2400" i="1">
                                <a:latin typeface="Cambria Math" panose="02040503050406030204" pitchFamily="18" charset="0"/>
                              </a:rPr>
                            </m:ctrlPr>
                          </m:radPr>
                          <m:deg/>
                          <m:e>
                            <m:r>
                              <a:rPr lang="en-US" sz="2400" i="1">
                                <a:latin typeface="Cambria Math"/>
                              </a:rPr>
                              <m:t>2</m:t>
                            </m:r>
                            <m:r>
                              <a:rPr lang="en-US" sz="2400" i="1">
                                <a:latin typeface="Cambria Math"/>
                              </a:rPr>
                              <m:t>𝜋</m:t>
                            </m:r>
                          </m:e>
                        </m:rad>
                      </m:den>
                    </m:f>
                    <m:nary>
                      <m:naryPr>
                        <m:limLoc m:val="subSup"/>
                        <m:ctrlPr>
                          <a:rPr lang="en-US" sz="2400" i="1">
                            <a:latin typeface="Cambria Math" panose="02040503050406030204" pitchFamily="18" charset="0"/>
                          </a:rPr>
                        </m:ctrlPr>
                      </m:naryPr>
                      <m:sub>
                        <m:r>
                          <a:rPr lang="en-US" sz="2400" i="1">
                            <a:latin typeface="Cambria Math"/>
                          </a:rPr>
                          <m:t>0</m:t>
                        </m:r>
                      </m:sub>
                      <m:sup>
                        <m:r>
                          <a:rPr lang="en-US" sz="2400" i="1">
                            <a:latin typeface="Cambria Math"/>
                          </a:rPr>
                          <m:t>𝑧</m:t>
                        </m:r>
                      </m:sup>
                      <m:e>
                        <m:sSup>
                          <m:sSupPr>
                            <m:ctrlPr>
                              <a:rPr lang="en-US" sz="2400" i="1">
                                <a:latin typeface="Cambria Math" panose="02040503050406030204" pitchFamily="18" charset="0"/>
                              </a:rPr>
                            </m:ctrlPr>
                          </m:sSupPr>
                          <m:e>
                            <m:r>
                              <a:rPr lang="en-US" sz="2400" i="1">
                                <a:latin typeface="Cambria Math"/>
                              </a:rPr>
                              <m:t>𝑒</m:t>
                            </m:r>
                          </m:e>
                          <m:sup>
                            <m:r>
                              <a:rPr lang="en-US" sz="2400" i="1">
                                <a:latin typeface="Cambria Math"/>
                              </a:rPr>
                              <m:t>−</m:t>
                            </m:r>
                            <m:f>
                              <m:fPr>
                                <m:type m:val="lin"/>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a:rPr>
                                      <m:t>𝑧</m:t>
                                    </m:r>
                                  </m:e>
                                  <m:sup>
                                    <m:r>
                                      <a:rPr lang="en-US" sz="2400" i="1">
                                        <a:latin typeface="Cambria Math"/>
                                      </a:rPr>
                                      <m:t>2</m:t>
                                    </m:r>
                                  </m:sup>
                                </m:sSup>
                              </m:num>
                              <m:den>
                                <m:r>
                                  <a:rPr lang="en-US" sz="2400" i="1">
                                    <a:latin typeface="Cambria Math"/>
                                  </a:rPr>
                                  <m:t>2</m:t>
                                </m:r>
                              </m:den>
                            </m:f>
                          </m:sup>
                        </m:sSup>
                        <m:r>
                          <a:rPr lang="en-US" sz="2400" i="1">
                            <a:latin typeface="Cambria Math"/>
                          </a:rPr>
                          <m:t>𝑑𝑧</m:t>
                        </m:r>
                      </m:e>
                    </m:nary>
                    <m:r>
                      <a:rPr lang="en-US" sz="2400" i="1">
                        <a:latin typeface="Cambria Math"/>
                      </a:rPr>
                      <m:t>, </m:t>
                    </m:r>
                    <m:r>
                      <a:rPr lang="en-US" sz="2400" i="1">
                        <a:latin typeface="Cambria Math"/>
                      </a:rPr>
                      <m:t>𝜙</m:t>
                    </m:r>
                    <m:d>
                      <m:dPr>
                        <m:ctrlPr>
                          <a:rPr lang="en-US" sz="2400" i="1">
                            <a:latin typeface="Cambria Math" panose="02040503050406030204" pitchFamily="18" charset="0"/>
                          </a:rPr>
                        </m:ctrlPr>
                      </m:dPr>
                      <m:e>
                        <m:r>
                          <a:rPr lang="en-US" sz="2400" i="1">
                            <a:latin typeface="Cambria Math"/>
                          </a:rPr>
                          <m:t>2.327</m:t>
                        </m:r>
                      </m:e>
                    </m:d>
                    <m:r>
                      <a:rPr lang="en-US" sz="2400" i="1">
                        <a:latin typeface="Cambria Math"/>
                      </a:rPr>
                      <m:t>=0.49</m:t>
                    </m:r>
                  </m:oMath>
                </a14:m>
                <a:r>
                  <a:rPr lang="en-US" sz="2400" dirty="0"/>
                  <a:t>). </a:t>
                </a:r>
                <a:r>
                  <a:rPr lang="en-US" sz="2400" b="1" dirty="0"/>
                  <a:t> </a:t>
                </a:r>
                <a:endParaRPr lang="en-US" sz="2400" dirty="0"/>
              </a:p>
              <a:p>
                <a:pPr marL="0" indent="0">
                  <a:buNone/>
                </a:pPr>
                <a:r>
                  <a:rPr lang="en-US" sz="2400" b="1" dirty="0"/>
                  <a:t>	</a:t>
                </a:r>
                <a:endParaRPr lang="en-US" sz="2400" dirty="0"/>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57200" y="1066800"/>
                <a:ext cx="8229600" cy="5059363"/>
              </a:xfrm>
              <a:blipFill>
                <a:blip r:embed="rId3"/>
                <a:stretch>
                  <a:fillRect l="-1185" t="-964" b="-2169"/>
                </a:stretch>
              </a:blipFill>
            </p:spPr>
            <p:txBody>
              <a:bodyPr/>
              <a:lstStyle/>
              <a:p>
                <a:r>
                  <a:rPr lang="en-IN">
                    <a:noFill/>
                  </a:rPr>
                  <a:t> </a:t>
                </a:r>
              </a:p>
            </p:txBody>
          </p:sp>
        </mc:Fallback>
      </mc:AlternateContent>
      <p:graphicFrame>
        <p:nvGraphicFramePr>
          <p:cNvPr id="12" name="Object 11"/>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Equation.DSMT4">
                  <p:embed/>
                </p:oleObj>
              </mc:Choice>
              <mc:Fallback>
                <p:oleObj name="Equation" r:id="rId4" imgW="114120" imgH="177480" progId="Equation.DSMT4">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Equation.DSMT4">
                  <p:embed/>
                </p:oleObj>
              </mc:Choice>
              <mc:Fallback>
                <p:oleObj name="Equation" r:id="rId6" imgW="114120" imgH="177480" progId="Equation.DSMT4">
                  <p:embed/>
                  <p:pic>
                    <p:nvPicPr>
                      <p:cNvPr id="13"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5CA7057B-8A93-4A18-9137-6CE99AA679EF}"/>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389017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371600" y="1"/>
            <a:ext cx="7772400" cy="8381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University Expected question(CO4)</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Content Placeholder 8"/>
          <p:cNvSpPr>
            <a:spLocks noGrp="1"/>
          </p:cNvSpPr>
          <p:nvPr>
            <p:ph idx="1"/>
          </p:nvPr>
        </p:nvSpPr>
        <p:spPr>
          <a:xfrm>
            <a:off x="457200" y="914400"/>
            <a:ext cx="8229600" cy="5211763"/>
          </a:xfrm>
        </p:spPr>
        <p:txBody>
          <a:bodyPr>
            <a:noAutofit/>
          </a:bodyPr>
          <a:lstStyle/>
          <a:p>
            <a:pPr lvl="0">
              <a:buNone/>
            </a:pPr>
            <a:r>
              <a:rPr lang="en-US" sz="2000" dirty="0"/>
              <a:t>Q7. The experience shows that 4 accidents occur in a plant on an average per month. Calculate the probabilities of less than 3 accidents in a certain month. Use Poisson distribution. (Given e</a:t>
            </a:r>
            <a:r>
              <a:rPr lang="en-US" sz="2000" baseline="30000" dirty="0"/>
              <a:t>-4</a:t>
            </a:r>
            <a:r>
              <a:rPr lang="en-US" sz="2000" dirty="0"/>
              <a:t>=0.01832).</a:t>
            </a:r>
          </a:p>
          <a:p>
            <a:pPr lvl="0">
              <a:buNone/>
            </a:pPr>
            <a:r>
              <a:rPr lang="en-US" sz="2000" dirty="0"/>
              <a:t>Q8. As a result of tests on 20,000 electric bulbs manufactured by a company it was found that the life time of a bulb was normally distributed with an average life of 2040 hours and standard deviation of 60 hours. On the basis of the information, estimate the number of bulbs that is expected to burn for </a:t>
            </a:r>
          </a:p>
          <a:p>
            <a:pPr marL="514350" indent="-514350">
              <a:buAutoNum type="romanLcParenBoth"/>
            </a:pPr>
            <a:r>
              <a:rPr lang="en-US" sz="2000" dirty="0"/>
              <a:t>more than 2150 hours, and 	(ii) less than 1960 hours.</a:t>
            </a:r>
          </a:p>
          <a:p>
            <a:pPr marL="0" lvl="0" indent="0">
              <a:buNone/>
            </a:pPr>
            <a:r>
              <a:rPr lang="en-US" sz="2000" dirty="0"/>
              <a:t>Q9. Write short note on </a:t>
            </a:r>
          </a:p>
          <a:p>
            <a:pPr marL="514350" lvl="0" indent="-514350">
              <a:buFont typeface="+mj-lt"/>
              <a:buAutoNum type="romanLcPeriod"/>
            </a:pPr>
            <a:r>
              <a:rPr lang="en-US" sz="2000" dirty="0"/>
              <a:t>Binomial distribution</a:t>
            </a:r>
          </a:p>
          <a:p>
            <a:pPr marL="514350" lvl="0" indent="-514350">
              <a:buFont typeface="+mj-lt"/>
              <a:buAutoNum type="romanLcPeriod"/>
            </a:pPr>
            <a:r>
              <a:rPr lang="en-US" sz="2000" dirty="0"/>
              <a:t>Poisson distribution</a:t>
            </a:r>
          </a:p>
          <a:p>
            <a:pPr marL="0" lvl="0" indent="0">
              <a:buNone/>
            </a:pPr>
            <a:r>
              <a:rPr lang="en-US" sz="2000" dirty="0"/>
              <a:t>Q10. Show that mean of binomial distribution is </a:t>
            </a:r>
            <a:r>
              <a:rPr lang="en-US" sz="2000" dirty="0" err="1"/>
              <a:t>np</a:t>
            </a:r>
            <a:r>
              <a:rPr lang="en-US" sz="2000" dirty="0"/>
              <a:t>.</a:t>
            </a:r>
          </a:p>
          <a:p>
            <a:pPr marL="0" indent="0">
              <a:buNone/>
            </a:pPr>
            <a:endParaRPr lang="en-US" sz="2000" dirty="0"/>
          </a:p>
          <a:p>
            <a:endParaRPr lang="en-US" sz="2000" dirty="0"/>
          </a:p>
        </p:txBody>
      </p:sp>
      <p:sp>
        <p:nvSpPr>
          <p:cNvPr id="3" name="Footer Placeholder 2">
            <a:extLst>
              <a:ext uri="{FF2B5EF4-FFF2-40B4-BE49-F238E27FC236}">
                <a16:creationId xmlns:a16="http://schemas.microsoft.com/office/drawing/2014/main" id="{41C06415-4B55-4A20-956B-6CA789837497}"/>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3281626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8" name="Title 1"/>
          <p:cNvSpPr txBox="1">
            <a:spLocks noGrp="1"/>
          </p:cNvSpPr>
          <p:nvPr>
            <p:ph type="title"/>
          </p:nvPr>
        </p:nvSpPr>
        <p:spPr>
          <a:xfrm>
            <a:off x="1541172" y="0"/>
            <a:ext cx="7602828"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a:t>Dr. Lokesh chaudhary    Statistics and Probability     Module 4</a:t>
            </a:r>
            <a:endParaRPr lang="en-US" dirty="0"/>
          </a:p>
        </p:txBody>
      </p:sp>
      <p:pic>
        <p:nvPicPr>
          <p:cNvPr id="5" name="Picture 4">
            <a:extLst>
              <a:ext uri="{FF2B5EF4-FFF2-40B4-BE49-F238E27FC236}">
                <a16:creationId xmlns:a16="http://schemas.microsoft.com/office/drawing/2014/main" id="{646F58D2-FE5A-4B9D-95BE-B3F46D1A6E8F}"/>
              </a:ext>
            </a:extLst>
          </p:cNvPr>
          <p:cNvPicPr>
            <a:picLocks noChangeAspect="1"/>
          </p:cNvPicPr>
          <p:nvPr/>
        </p:nvPicPr>
        <p:blipFill>
          <a:blip r:embed="rId2"/>
          <a:stretch>
            <a:fillRect/>
          </a:stretch>
        </p:blipFill>
        <p:spPr>
          <a:xfrm>
            <a:off x="990600" y="1066800"/>
            <a:ext cx="7391400" cy="3439005"/>
          </a:xfrm>
          <a:prstGeom prst="rect">
            <a:avLst/>
          </a:prstGeom>
        </p:spPr>
      </p:pic>
      <p:pic>
        <p:nvPicPr>
          <p:cNvPr id="9" name="Picture 8">
            <a:extLst>
              <a:ext uri="{FF2B5EF4-FFF2-40B4-BE49-F238E27FC236}">
                <a16:creationId xmlns:a16="http://schemas.microsoft.com/office/drawing/2014/main" id="{63B7C3C7-EEE8-484B-8808-0C230C658C04}"/>
              </a:ext>
            </a:extLst>
          </p:cNvPr>
          <p:cNvPicPr>
            <a:picLocks noChangeAspect="1"/>
          </p:cNvPicPr>
          <p:nvPr/>
        </p:nvPicPr>
        <p:blipFill>
          <a:blip r:embed="rId3"/>
          <a:stretch>
            <a:fillRect/>
          </a:stretch>
        </p:blipFill>
        <p:spPr>
          <a:xfrm>
            <a:off x="1066800" y="4571787"/>
            <a:ext cx="7086600" cy="1600413"/>
          </a:xfrm>
          <a:prstGeom prst="rect">
            <a:avLst/>
          </a:prstGeom>
        </p:spPr>
      </p:pic>
    </p:spTree>
    <p:extLst>
      <p:ext uri="{BB962C8B-B14F-4D97-AF65-F5344CB8AC3E}">
        <p14:creationId xmlns:p14="http://schemas.microsoft.com/office/powerpoint/2010/main" val="39069846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8" name="Title 1"/>
          <p:cNvSpPr txBox="1">
            <a:spLocks noGrp="1"/>
          </p:cNvSpPr>
          <p:nvPr>
            <p:ph type="title"/>
          </p:nvPr>
        </p:nvSpPr>
        <p:spPr>
          <a:xfrm>
            <a:off x="1660124" y="2146"/>
            <a:ext cx="7483875" cy="72969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a:t>Dr. Lokesh chaudhary    Statistics and Probability     Module 4</a:t>
            </a:r>
            <a:endParaRPr lang="en-US" dirty="0"/>
          </a:p>
        </p:txBody>
      </p:sp>
      <p:pic>
        <p:nvPicPr>
          <p:cNvPr id="5" name="Picture 4">
            <a:extLst>
              <a:ext uri="{FF2B5EF4-FFF2-40B4-BE49-F238E27FC236}">
                <a16:creationId xmlns:a16="http://schemas.microsoft.com/office/drawing/2014/main" id="{48C27AB1-F9E3-45D0-9B82-3FEBFB8F6E3C}"/>
              </a:ext>
            </a:extLst>
          </p:cNvPr>
          <p:cNvPicPr>
            <a:picLocks noChangeAspect="1"/>
          </p:cNvPicPr>
          <p:nvPr/>
        </p:nvPicPr>
        <p:blipFill>
          <a:blip r:embed="rId2"/>
          <a:stretch>
            <a:fillRect/>
          </a:stretch>
        </p:blipFill>
        <p:spPr>
          <a:xfrm>
            <a:off x="685800" y="990600"/>
            <a:ext cx="7772399" cy="2724530"/>
          </a:xfrm>
          <a:prstGeom prst="rect">
            <a:avLst/>
          </a:prstGeom>
        </p:spPr>
      </p:pic>
      <p:pic>
        <p:nvPicPr>
          <p:cNvPr id="7" name="Picture 6">
            <a:extLst>
              <a:ext uri="{FF2B5EF4-FFF2-40B4-BE49-F238E27FC236}">
                <a16:creationId xmlns:a16="http://schemas.microsoft.com/office/drawing/2014/main" id="{C6082FAB-7B07-4090-AB4F-2DD8E04EA8EE}"/>
              </a:ext>
            </a:extLst>
          </p:cNvPr>
          <p:cNvPicPr>
            <a:picLocks noChangeAspect="1"/>
          </p:cNvPicPr>
          <p:nvPr/>
        </p:nvPicPr>
        <p:blipFill>
          <a:blip r:embed="rId3"/>
          <a:stretch>
            <a:fillRect/>
          </a:stretch>
        </p:blipFill>
        <p:spPr>
          <a:xfrm>
            <a:off x="914401" y="3943167"/>
            <a:ext cx="7543798" cy="1771833"/>
          </a:xfrm>
          <a:prstGeom prst="rect">
            <a:avLst/>
          </a:prstGeom>
        </p:spPr>
      </p:pic>
    </p:spTree>
    <p:extLst>
      <p:ext uri="{BB962C8B-B14F-4D97-AF65-F5344CB8AC3E}">
        <p14:creationId xmlns:p14="http://schemas.microsoft.com/office/powerpoint/2010/main" val="8394113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8" name="Title 1"/>
          <p:cNvSpPr txBox="1">
            <a:spLocks noGrp="1"/>
          </p:cNvSpPr>
          <p:nvPr>
            <p:ph type="title"/>
          </p:nvPr>
        </p:nvSpPr>
        <p:spPr>
          <a:xfrm>
            <a:off x="1676400" y="19318"/>
            <a:ext cx="7467600"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pic>
        <p:nvPicPr>
          <p:cNvPr id="7" name="Picture 6">
            <a:extLst>
              <a:ext uri="{FF2B5EF4-FFF2-40B4-BE49-F238E27FC236}">
                <a16:creationId xmlns:a16="http://schemas.microsoft.com/office/drawing/2014/main" id="{AB35E215-ED8A-4CC4-80E8-8EC554551789}"/>
              </a:ext>
            </a:extLst>
          </p:cNvPr>
          <p:cNvPicPr>
            <a:picLocks noChangeAspect="1"/>
          </p:cNvPicPr>
          <p:nvPr/>
        </p:nvPicPr>
        <p:blipFill>
          <a:blip r:embed="rId2"/>
          <a:stretch>
            <a:fillRect/>
          </a:stretch>
        </p:blipFill>
        <p:spPr>
          <a:xfrm>
            <a:off x="914400" y="990601"/>
            <a:ext cx="7467600" cy="3657600"/>
          </a:xfrm>
          <a:prstGeom prst="rect">
            <a:avLst/>
          </a:prstGeom>
        </p:spPr>
      </p:pic>
      <p:pic>
        <p:nvPicPr>
          <p:cNvPr id="9" name="Picture 8">
            <a:extLst>
              <a:ext uri="{FF2B5EF4-FFF2-40B4-BE49-F238E27FC236}">
                <a16:creationId xmlns:a16="http://schemas.microsoft.com/office/drawing/2014/main" id="{0572AA7D-5000-48F6-9C93-35CAD33ED94D}"/>
              </a:ext>
            </a:extLst>
          </p:cNvPr>
          <p:cNvPicPr>
            <a:picLocks noChangeAspect="1"/>
          </p:cNvPicPr>
          <p:nvPr/>
        </p:nvPicPr>
        <p:blipFill>
          <a:blip r:embed="rId3"/>
          <a:stretch>
            <a:fillRect/>
          </a:stretch>
        </p:blipFill>
        <p:spPr>
          <a:xfrm>
            <a:off x="914400" y="5019504"/>
            <a:ext cx="7467600" cy="1228896"/>
          </a:xfrm>
          <a:prstGeom prst="rect">
            <a:avLst/>
          </a:prstGeom>
        </p:spPr>
      </p:pic>
    </p:spTree>
    <p:extLst>
      <p:ext uri="{BB962C8B-B14F-4D97-AF65-F5344CB8AC3E}">
        <p14:creationId xmlns:p14="http://schemas.microsoft.com/office/powerpoint/2010/main" val="36884812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8" name="Title 1"/>
          <p:cNvSpPr txBox="1">
            <a:spLocks noGrp="1"/>
          </p:cNvSpPr>
          <p:nvPr>
            <p:ph type="title"/>
          </p:nvPr>
        </p:nvSpPr>
        <p:spPr>
          <a:xfrm>
            <a:off x="1598026" y="22538"/>
            <a:ext cx="7545974"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pic>
        <p:nvPicPr>
          <p:cNvPr id="7" name="Picture 6">
            <a:extLst>
              <a:ext uri="{FF2B5EF4-FFF2-40B4-BE49-F238E27FC236}">
                <a16:creationId xmlns:a16="http://schemas.microsoft.com/office/drawing/2014/main" id="{5E47A160-07D5-4957-8FAD-5D6674051540}"/>
              </a:ext>
            </a:extLst>
          </p:cNvPr>
          <p:cNvPicPr>
            <a:picLocks noChangeAspect="1"/>
          </p:cNvPicPr>
          <p:nvPr/>
        </p:nvPicPr>
        <p:blipFill>
          <a:blip r:embed="rId2"/>
          <a:stretch>
            <a:fillRect/>
          </a:stretch>
        </p:blipFill>
        <p:spPr>
          <a:xfrm>
            <a:off x="1542627" y="1404655"/>
            <a:ext cx="6058746" cy="4048690"/>
          </a:xfrm>
          <a:prstGeom prst="rect">
            <a:avLst/>
          </a:prstGeom>
        </p:spPr>
      </p:pic>
    </p:spTree>
    <p:extLst>
      <p:ext uri="{BB962C8B-B14F-4D97-AF65-F5344CB8AC3E}">
        <p14:creationId xmlns:p14="http://schemas.microsoft.com/office/powerpoint/2010/main" val="36368044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8" name="Title 1"/>
          <p:cNvSpPr txBox="1">
            <a:spLocks noGrp="1"/>
          </p:cNvSpPr>
          <p:nvPr>
            <p:ph type="title"/>
          </p:nvPr>
        </p:nvSpPr>
        <p:spPr>
          <a:xfrm>
            <a:off x="1828800" y="-19318"/>
            <a:ext cx="7315200" cy="70353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pic>
        <p:nvPicPr>
          <p:cNvPr id="7" name="Picture 6">
            <a:extLst>
              <a:ext uri="{FF2B5EF4-FFF2-40B4-BE49-F238E27FC236}">
                <a16:creationId xmlns:a16="http://schemas.microsoft.com/office/drawing/2014/main" id="{81588560-69CA-4A34-96DC-55776ED079B2}"/>
              </a:ext>
            </a:extLst>
          </p:cNvPr>
          <p:cNvPicPr>
            <a:picLocks noChangeAspect="1"/>
          </p:cNvPicPr>
          <p:nvPr/>
        </p:nvPicPr>
        <p:blipFill>
          <a:blip r:embed="rId2"/>
          <a:stretch>
            <a:fillRect/>
          </a:stretch>
        </p:blipFill>
        <p:spPr>
          <a:xfrm>
            <a:off x="762000" y="1295400"/>
            <a:ext cx="7852365" cy="4329345"/>
          </a:xfrm>
          <a:prstGeom prst="rect">
            <a:avLst/>
          </a:prstGeom>
        </p:spPr>
      </p:pic>
    </p:spTree>
    <p:extLst>
      <p:ext uri="{BB962C8B-B14F-4D97-AF65-F5344CB8AC3E}">
        <p14:creationId xmlns:p14="http://schemas.microsoft.com/office/powerpoint/2010/main" val="25879255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8" name="Title 1"/>
          <p:cNvSpPr txBox="1">
            <a:spLocks noGrp="1"/>
          </p:cNvSpPr>
          <p:nvPr>
            <p:ph type="title"/>
          </p:nvPr>
        </p:nvSpPr>
        <p:spPr>
          <a:xfrm>
            <a:off x="1752600" y="0"/>
            <a:ext cx="73914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pic>
        <p:nvPicPr>
          <p:cNvPr id="7" name="Content Placeholder 6">
            <a:extLst>
              <a:ext uri="{FF2B5EF4-FFF2-40B4-BE49-F238E27FC236}">
                <a16:creationId xmlns:a16="http://schemas.microsoft.com/office/drawing/2014/main" id="{71EF8110-EA64-49B4-A6AB-920EC6589C3C}"/>
              </a:ext>
            </a:extLst>
          </p:cNvPr>
          <p:cNvPicPr>
            <a:picLocks noGrp="1" noChangeAspect="1"/>
          </p:cNvPicPr>
          <p:nvPr>
            <p:ph idx="1"/>
          </p:nvPr>
        </p:nvPicPr>
        <p:blipFill>
          <a:blip r:embed="rId2"/>
          <a:stretch>
            <a:fillRect/>
          </a:stretch>
        </p:blipFill>
        <p:spPr>
          <a:xfrm>
            <a:off x="1066800" y="1143000"/>
            <a:ext cx="7391400" cy="4724400"/>
          </a:xfrm>
          <a:prstGeom prst="rect">
            <a:avLst/>
          </a:prstGeom>
        </p:spPr>
      </p:pic>
    </p:spTree>
    <p:extLst>
      <p:ext uri="{BB962C8B-B14F-4D97-AF65-F5344CB8AC3E}">
        <p14:creationId xmlns:p14="http://schemas.microsoft.com/office/powerpoint/2010/main" val="3841168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8" name="Title 1"/>
          <p:cNvSpPr txBox="1">
            <a:spLocks noGrp="1"/>
          </p:cNvSpPr>
          <p:nvPr>
            <p:ph type="title"/>
          </p:nvPr>
        </p:nvSpPr>
        <p:spPr>
          <a:xfrm>
            <a:off x="1752600" y="0"/>
            <a:ext cx="7391400" cy="64531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sp>
        <p:nvSpPr>
          <p:cNvPr id="5" name="Content Placeholder 4">
            <a:extLst>
              <a:ext uri="{FF2B5EF4-FFF2-40B4-BE49-F238E27FC236}">
                <a16:creationId xmlns:a16="http://schemas.microsoft.com/office/drawing/2014/main" id="{765AD767-036F-4E5A-B917-5F3EAAD990A2}"/>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AEDC727-2A68-45FF-B890-0AC0D195970B}"/>
              </a:ext>
            </a:extLst>
          </p:cNvPr>
          <p:cNvPicPr>
            <a:picLocks noChangeAspect="1"/>
          </p:cNvPicPr>
          <p:nvPr/>
        </p:nvPicPr>
        <p:blipFill>
          <a:blip r:embed="rId2"/>
          <a:stretch>
            <a:fillRect/>
          </a:stretch>
        </p:blipFill>
        <p:spPr>
          <a:xfrm>
            <a:off x="457199" y="1143000"/>
            <a:ext cx="8229600" cy="4724400"/>
          </a:xfrm>
          <a:prstGeom prst="rect">
            <a:avLst/>
          </a:prstGeom>
        </p:spPr>
      </p:pic>
    </p:spTree>
    <p:extLst>
      <p:ext uri="{BB962C8B-B14F-4D97-AF65-F5344CB8AC3E}">
        <p14:creationId xmlns:p14="http://schemas.microsoft.com/office/powerpoint/2010/main" val="15637584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8" name="Title 1"/>
          <p:cNvSpPr txBox="1">
            <a:spLocks noGrp="1"/>
          </p:cNvSpPr>
          <p:nvPr>
            <p:ph type="title"/>
          </p:nvPr>
        </p:nvSpPr>
        <p:spPr>
          <a:xfrm>
            <a:off x="1905000" y="19318"/>
            <a:ext cx="7239000" cy="66648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sp>
        <p:nvSpPr>
          <p:cNvPr id="5" name="Content Placeholder 4">
            <a:extLst>
              <a:ext uri="{FF2B5EF4-FFF2-40B4-BE49-F238E27FC236}">
                <a16:creationId xmlns:a16="http://schemas.microsoft.com/office/drawing/2014/main" id="{0917DDCA-7CF9-4099-AEEC-F65AA6AD9E08}"/>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6A2A8AD-4128-4D79-9298-D7BA2FB110CB}"/>
              </a:ext>
            </a:extLst>
          </p:cNvPr>
          <p:cNvPicPr>
            <a:picLocks noChangeAspect="1"/>
          </p:cNvPicPr>
          <p:nvPr/>
        </p:nvPicPr>
        <p:blipFill>
          <a:blip r:embed="rId2"/>
          <a:stretch>
            <a:fillRect/>
          </a:stretch>
        </p:blipFill>
        <p:spPr>
          <a:xfrm>
            <a:off x="782276" y="1219199"/>
            <a:ext cx="7523524" cy="4800601"/>
          </a:xfrm>
          <a:prstGeom prst="rect">
            <a:avLst/>
          </a:prstGeom>
        </p:spPr>
      </p:pic>
    </p:spTree>
    <p:extLst>
      <p:ext uri="{BB962C8B-B14F-4D97-AF65-F5344CB8AC3E}">
        <p14:creationId xmlns:p14="http://schemas.microsoft.com/office/powerpoint/2010/main" val="38371356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8" name="Title 1"/>
          <p:cNvSpPr txBox="1">
            <a:spLocks noGrp="1"/>
          </p:cNvSpPr>
          <p:nvPr>
            <p:ph type="title"/>
          </p:nvPr>
        </p:nvSpPr>
        <p:spPr>
          <a:xfrm>
            <a:off x="1600200" y="33270"/>
            <a:ext cx="7543800" cy="77511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7" name="Footer Placeholder 6"/>
          <p:cNvSpPr>
            <a:spLocks noGrp="1"/>
          </p:cNvSpPr>
          <p:nvPr>
            <p:ph type="ftr" sz="quarter" idx="11"/>
          </p:nvPr>
        </p:nvSpPr>
        <p:spPr/>
        <p:txBody>
          <a:bodyPr/>
          <a:lstStyle/>
          <a:p>
            <a:r>
              <a:rPr lang="en-US"/>
              <a:t>Dr. Lokesh chaudhary    Statistics and Probability     Module 4</a:t>
            </a:r>
            <a:endParaRPr lang="en-US" dirty="0"/>
          </a:p>
        </p:txBody>
      </p:sp>
      <p:pic>
        <p:nvPicPr>
          <p:cNvPr id="4" name="Picture 3">
            <a:extLst>
              <a:ext uri="{FF2B5EF4-FFF2-40B4-BE49-F238E27FC236}">
                <a16:creationId xmlns:a16="http://schemas.microsoft.com/office/drawing/2014/main" id="{0CB8F498-20C3-45C8-B977-F3CD49EF044B}"/>
              </a:ext>
            </a:extLst>
          </p:cNvPr>
          <p:cNvPicPr>
            <a:picLocks noChangeAspect="1"/>
          </p:cNvPicPr>
          <p:nvPr/>
        </p:nvPicPr>
        <p:blipFill>
          <a:blip r:embed="rId2"/>
          <a:stretch>
            <a:fillRect/>
          </a:stretch>
        </p:blipFill>
        <p:spPr>
          <a:xfrm>
            <a:off x="838200" y="1676400"/>
            <a:ext cx="7391400" cy="4038600"/>
          </a:xfrm>
          <a:prstGeom prst="rect">
            <a:avLst/>
          </a:prstGeom>
        </p:spPr>
      </p:pic>
    </p:spTree>
    <p:extLst>
      <p:ext uri="{BB962C8B-B14F-4D97-AF65-F5344CB8AC3E}">
        <p14:creationId xmlns:p14="http://schemas.microsoft.com/office/powerpoint/2010/main" val="25441077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8" name="Title 1"/>
          <p:cNvSpPr txBox="1">
            <a:spLocks noGrp="1"/>
          </p:cNvSpPr>
          <p:nvPr>
            <p:ph type="title"/>
          </p:nvPr>
        </p:nvSpPr>
        <p:spPr>
          <a:xfrm>
            <a:off x="1905000" y="0"/>
            <a:ext cx="72390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pic>
        <p:nvPicPr>
          <p:cNvPr id="7" name="Picture 6">
            <a:extLst>
              <a:ext uri="{FF2B5EF4-FFF2-40B4-BE49-F238E27FC236}">
                <a16:creationId xmlns:a16="http://schemas.microsoft.com/office/drawing/2014/main" id="{FDCE1061-A8CE-4196-B58E-A5D41EDDE513}"/>
              </a:ext>
            </a:extLst>
          </p:cNvPr>
          <p:cNvPicPr>
            <a:picLocks noChangeAspect="1"/>
          </p:cNvPicPr>
          <p:nvPr/>
        </p:nvPicPr>
        <p:blipFill>
          <a:blip r:embed="rId2"/>
          <a:stretch>
            <a:fillRect/>
          </a:stretch>
        </p:blipFill>
        <p:spPr>
          <a:xfrm>
            <a:off x="1075468" y="1143000"/>
            <a:ext cx="7239000" cy="4495800"/>
          </a:xfrm>
          <a:prstGeom prst="rect">
            <a:avLst/>
          </a:prstGeom>
        </p:spPr>
      </p:pic>
    </p:spTree>
    <p:extLst>
      <p:ext uri="{BB962C8B-B14F-4D97-AF65-F5344CB8AC3E}">
        <p14:creationId xmlns:p14="http://schemas.microsoft.com/office/powerpoint/2010/main" val="36402241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8" name="Title 1"/>
          <p:cNvSpPr txBox="1">
            <a:spLocks noGrp="1"/>
          </p:cNvSpPr>
          <p:nvPr>
            <p:ph type="title"/>
          </p:nvPr>
        </p:nvSpPr>
        <p:spPr>
          <a:xfrm>
            <a:off x="1691828" y="6439"/>
            <a:ext cx="7452172" cy="75556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 4</a:t>
            </a:r>
            <a:endParaRPr lang="en-US" dirty="0"/>
          </a:p>
        </p:txBody>
      </p:sp>
      <p:pic>
        <p:nvPicPr>
          <p:cNvPr id="7" name="Picture 6">
            <a:extLst>
              <a:ext uri="{FF2B5EF4-FFF2-40B4-BE49-F238E27FC236}">
                <a16:creationId xmlns:a16="http://schemas.microsoft.com/office/drawing/2014/main" id="{E750AE95-E9F7-4917-B995-BD6C038A75EE}"/>
              </a:ext>
            </a:extLst>
          </p:cNvPr>
          <p:cNvPicPr>
            <a:picLocks noChangeAspect="1"/>
          </p:cNvPicPr>
          <p:nvPr/>
        </p:nvPicPr>
        <p:blipFill>
          <a:blip r:embed="rId2"/>
          <a:stretch>
            <a:fillRect/>
          </a:stretch>
        </p:blipFill>
        <p:spPr>
          <a:xfrm>
            <a:off x="777428" y="1314154"/>
            <a:ext cx="7452172" cy="4553245"/>
          </a:xfrm>
          <a:prstGeom prst="rect">
            <a:avLst/>
          </a:prstGeom>
        </p:spPr>
      </p:pic>
    </p:spTree>
    <p:extLst>
      <p:ext uri="{BB962C8B-B14F-4D97-AF65-F5344CB8AC3E}">
        <p14:creationId xmlns:p14="http://schemas.microsoft.com/office/powerpoint/2010/main" val="20268537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839200" cy="5486400"/>
          </a:xfrm>
        </p:spPr>
        <p:txBody>
          <a:bodyPr>
            <a:noAutofit/>
          </a:bodyPr>
          <a:lstStyle/>
          <a:p>
            <a:pPr lvl="0" algn="just">
              <a:lnSpc>
                <a:spcPct val="150000"/>
              </a:lnSpc>
              <a:buNone/>
            </a:pPr>
            <a:r>
              <a:rPr lang="en-US" sz="2200" dirty="0"/>
              <a:t>Students have taught the importance of the following topics….</a:t>
            </a:r>
          </a:p>
          <a:p>
            <a:pPr marL="0" indent="0">
              <a:buNone/>
            </a:pPr>
            <a:r>
              <a:rPr lang="en-US" sz="2200" dirty="0"/>
              <a:t>With  the concept of probability to evaluate probability distributions:</a:t>
            </a:r>
          </a:p>
          <a:p>
            <a:pPr>
              <a:buFont typeface="Wingdings" panose="05000000000000000000" pitchFamily="2" charset="2"/>
              <a:buChar char="ü"/>
            </a:pPr>
            <a:r>
              <a:rPr lang="en-US" sz="2400" dirty="0"/>
              <a:t>Mathematical expectation</a:t>
            </a:r>
          </a:p>
          <a:p>
            <a:pPr lvl="0">
              <a:buFont typeface="Wingdings" pitchFamily="2" charset="2"/>
              <a:buChar char="ü"/>
            </a:pPr>
            <a:r>
              <a:rPr lang="en-US" sz="2400" dirty="0"/>
              <a:t>Mean</a:t>
            </a:r>
          </a:p>
          <a:p>
            <a:pPr lvl="0">
              <a:buFont typeface="Wingdings" pitchFamily="2" charset="2"/>
              <a:buChar char="ü"/>
            </a:pPr>
            <a:r>
              <a:rPr lang="en-US" sz="2400" dirty="0"/>
              <a:t>Variance</a:t>
            </a:r>
          </a:p>
          <a:p>
            <a:pPr lvl="0">
              <a:buFont typeface="Wingdings" pitchFamily="2" charset="2"/>
              <a:buChar char="ü"/>
            </a:pPr>
            <a:r>
              <a:rPr lang="en-US" sz="2400" dirty="0"/>
              <a:t>Moment Generating Function</a:t>
            </a:r>
          </a:p>
          <a:p>
            <a:pPr algn="just">
              <a:buFont typeface="Wingdings" pitchFamily="2" charset="2"/>
              <a:buChar char="ü"/>
            </a:pPr>
            <a:r>
              <a:rPr lang="en-US" sz="2400" dirty="0"/>
              <a:t>Binomial distribution</a:t>
            </a:r>
          </a:p>
          <a:p>
            <a:pPr algn="just">
              <a:buFont typeface="Wingdings" pitchFamily="2" charset="2"/>
              <a:buChar char="ü"/>
            </a:pPr>
            <a:r>
              <a:rPr lang="en-US" sz="2400" dirty="0"/>
              <a:t>Poisson distribution</a:t>
            </a:r>
          </a:p>
          <a:p>
            <a:pPr algn="just">
              <a:buFont typeface="Wingdings" pitchFamily="2" charset="2"/>
              <a:buChar char="ü"/>
            </a:pPr>
            <a:r>
              <a:rPr lang="en-US" sz="2400" dirty="0"/>
              <a:t>Exponential Distribution</a:t>
            </a:r>
          </a:p>
          <a:p>
            <a:pPr marL="0" indent="0">
              <a:buNone/>
            </a:pPr>
            <a:endParaRPr lang="en-US" sz="2200" dirty="0"/>
          </a:p>
          <a:p>
            <a:pPr>
              <a:buFont typeface="Wingdings" pitchFamily="2" charset="2"/>
              <a:buChar char="q"/>
            </a:pPr>
            <a:endParaRPr lang="en-US" sz="2200" dirty="0"/>
          </a:p>
          <a:p>
            <a:pPr lvl="0" algn="just">
              <a:lnSpc>
                <a:spcPct val="150000"/>
              </a:lnSpc>
              <a:buFont typeface="Wingdings" pitchFamily="2" charset="2"/>
              <a:buChar char="q"/>
            </a:pPr>
            <a:endParaRPr lang="en-US" sz="2200" dirty="0"/>
          </a:p>
          <a:p>
            <a:pPr lvl="0" algn="just">
              <a:lnSpc>
                <a:spcPct val="150000"/>
              </a:lnSpc>
              <a:buFont typeface="Wingdings" pitchFamily="2" charset="2"/>
              <a:buChar char="q"/>
            </a:pPr>
            <a:endParaRPr lang="en-US" sz="2200" dirty="0"/>
          </a:p>
          <a:p>
            <a:pPr>
              <a:buFont typeface="Wingdings" pitchFamily="2" charset="2"/>
              <a:buChar char="§"/>
            </a:pPr>
            <a:endParaRPr lang="en-US" sz="2200" dirty="0"/>
          </a:p>
          <a:p>
            <a:pPr>
              <a:buFont typeface="Wingdings" pitchFamily="2" charset="2"/>
              <a:buChar char="§"/>
            </a:pPr>
            <a:endParaRPr lang="en-US" sz="2200" dirty="0"/>
          </a:p>
          <a:p>
            <a:pPr lvl="0" algn="just">
              <a:lnSpc>
                <a:spcPct val="150000"/>
              </a:lnSpc>
              <a:buFont typeface="Wingdings" pitchFamily="2" charset="2"/>
              <a:buChar char="q"/>
            </a:pPr>
            <a:endParaRPr lang="en-US" sz="2200" dirty="0"/>
          </a:p>
          <a:p>
            <a:pPr lvl="0" algn="just">
              <a:lnSpc>
                <a:spcPct val="150000"/>
              </a:lnSpc>
              <a:buNone/>
            </a:pPr>
            <a:endParaRPr lang="en-US" sz="2200" dirty="0"/>
          </a:p>
          <a:p>
            <a:pPr marL="0" indent="0">
              <a:buNone/>
            </a:pPr>
            <a:endParaRPr lang="en-US" sz="2200" dirty="0"/>
          </a:p>
          <a:p>
            <a:pPr>
              <a:buFont typeface="Wingdings" pitchFamily="2" charset="2"/>
              <a:buChar char="ü"/>
            </a:pPr>
            <a:endParaRPr lang="en-US" sz="2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Module Recap(CO4)</a:t>
            </a:r>
          </a:p>
        </p:txBody>
      </p:sp>
      <p:sp>
        <p:nvSpPr>
          <p:cNvPr id="2" name="Footer Placeholder 1">
            <a:extLst>
              <a:ext uri="{FF2B5EF4-FFF2-40B4-BE49-F238E27FC236}">
                <a16:creationId xmlns:a16="http://schemas.microsoft.com/office/drawing/2014/main" id="{455CD096-6485-493A-85FE-19765B925793}"/>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25044549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7" name="Title 1"/>
          <p:cNvSpPr txBox="1">
            <a:spLocks/>
          </p:cNvSpPr>
          <p:nvPr/>
        </p:nvSpPr>
        <p:spPr>
          <a:xfrm>
            <a:off x="1371600" y="-508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r>
              <a:rPr kumimoji="0" lang="en-US" sz="2400" b="1" i="0" u="none" strike="noStrike" kern="1200" cap="none" spc="0" normalizeH="0" baseline="0" noProof="0" dirty="0">
                <a:ln>
                  <a:noFill/>
                </a:ln>
                <a:solidFill>
                  <a:schemeClr val="dk1"/>
                </a:solidFill>
                <a:effectLst/>
                <a:uLnTx/>
                <a:uFillTx/>
                <a:latin typeface="+mn-lt"/>
                <a:ea typeface="+mn-ea"/>
                <a:cs typeface="+mn-cs"/>
              </a:rPr>
              <a:t> (CO4)</a:t>
            </a:r>
          </a:p>
        </p:txBody>
      </p:sp>
      <p:sp>
        <p:nvSpPr>
          <p:cNvPr id="11" name="Content Placeholder 10"/>
          <p:cNvSpPr>
            <a:spLocks noGrp="1"/>
          </p:cNvSpPr>
          <p:nvPr>
            <p:ph idx="1"/>
          </p:nvPr>
        </p:nvSpPr>
        <p:spPr>
          <a:xfrm>
            <a:off x="457200" y="1219200"/>
            <a:ext cx="8229600" cy="4525963"/>
          </a:xfrm>
        </p:spPr>
        <p:txBody>
          <a:bodyPr>
            <a:normAutofit/>
          </a:bodyPr>
          <a:lstStyle/>
          <a:p>
            <a:pPr marL="0" lvl="0" indent="0" algn="ctr">
              <a:buNone/>
            </a:pPr>
            <a:r>
              <a:rPr lang="en-US" sz="2200" b="1" u="sng" dirty="0">
                <a:latin typeface="Times New Roman" pitchFamily="18" charset="0"/>
                <a:cs typeface="Times New Roman" pitchFamily="18" charset="0"/>
              </a:rPr>
              <a:t>Text Books</a:t>
            </a:r>
          </a:p>
          <a:p>
            <a:pPr lvl="0"/>
            <a:r>
              <a:rPr lang="en-US" sz="2200" dirty="0">
                <a:latin typeface="Times New Roman" pitchFamily="18" charset="0"/>
                <a:cs typeface="Times New Roman" pitchFamily="18" charset="0"/>
              </a:rPr>
              <a:t>N. P. Bali: A Textbook of Engineering Mathematics-IV, University Science Press.</a:t>
            </a:r>
          </a:p>
          <a:p>
            <a:pPr marL="0" lvl="0" indent="0">
              <a:buNone/>
            </a:pPr>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H. K. </a:t>
            </a:r>
            <a:r>
              <a:rPr lang="en-US" sz="2200" dirty="0" err="1">
                <a:latin typeface="Times New Roman" pitchFamily="18" charset="0"/>
                <a:cs typeface="Times New Roman" pitchFamily="18" charset="0"/>
              </a:rPr>
              <a:t>Dass</a:t>
            </a:r>
            <a:r>
              <a:rPr lang="en-US" sz="2200" dirty="0">
                <a:latin typeface="Times New Roman" pitchFamily="18" charset="0"/>
                <a:cs typeface="Times New Roman" pitchFamily="18" charset="0"/>
              </a:rPr>
              <a:t>: Introduction to Engineering Mathematics, S. Chand.</a:t>
            </a: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S. Ross: A First Course in Probability, 6th Ed., Pearson Education India, 2002.</a:t>
            </a: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W. Feller, An Introduction to Probability Theory and its Applications, Vol. 1, 3rd Ed., Wiley, 1968.</a:t>
            </a:r>
          </a:p>
        </p:txBody>
      </p:sp>
      <p:sp>
        <p:nvSpPr>
          <p:cNvPr id="3" name="Footer Placeholder 2">
            <a:extLst>
              <a:ext uri="{FF2B5EF4-FFF2-40B4-BE49-F238E27FC236}">
                <a16:creationId xmlns:a16="http://schemas.microsoft.com/office/drawing/2014/main" id="{188506A9-6778-4479-B2D6-BBD5C6210A57}"/>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9813974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1371600" y="-508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r>
              <a:rPr kumimoji="0" lang="en-US" sz="2400" b="1" i="0" u="none" strike="noStrike" kern="1200" cap="none" spc="0" normalizeH="0" baseline="0" noProof="0" dirty="0">
                <a:ln>
                  <a:noFill/>
                </a:ln>
                <a:solidFill>
                  <a:schemeClr val="dk1"/>
                </a:solidFill>
                <a:effectLst/>
                <a:uLnTx/>
                <a:uFillTx/>
                <a:latin typeface="+mn-lt"/>
                <a:ea typeface="+mn-ea"/>
                <a:cs typeface="+mn-cs"/>
              </a:rPr>
              <a:t> (CO4)</a:t>
            </a:r>
          </a:p>
        </p:txBody>
      </p:sp>
      <p:sp>
        <p:nvSpPr>
          <p:cNvPr id="11" name="Content Placeholder 10"/>
          <p:cNvSpPr>
            <a:spLocks noGrp="1"/>
          </p:cNvSpPr>
          <p:nvPr>
            <p:ph idx="1"/>
          </p:nvPr>
        </p:nvSpPr>
        <p:spPr>
          <a:xfrm>
            <a:off x="609600" y="1295400"/>
            <a:ext cx="8229600" cy="4525963"/>
          </a:xfrm>
        </p:spPr>
        <p:txBody>
          <a:bodyPr>
            <a:normAutofit lnSpcReduction="10000"/>
          </a:bodyPr>
          <a:lstStyle/>
          <a:p>
            <a:pPr algn="ctr">
              <a:buNone/>
            </a:pPr>
            <a:r>
              <a:rPr lang="en-US" sz="2200" b="1" u="sng" dirty="0">
                <a:latin typeface="Times New Roman" pitchFamily="18" charset="0"/>
                <a:cs typeface="Times New Roman" pitchFamily="18" charset="0"/>
              </a:rPr>
              <a:t>Reference Books</a:t>
            </a:r>
            <a:endParaRPr lang="en-US" sz="2200" u="sng" dirty="0">
              <a:latin typeface="Times New Roman" pitchFamily="18" charset="0"/>
              <a:cs typeface="Times New Roman" pitchFamily="18" charset="0"/>
            </a:endParaRPr>
          </a:p>
          <a:p>
            <a:r>
              <a:rPr lang="en-US" sz="2200" dirty="0"/>
              <a:t>P. G. </a:t>
            </a:r>
            <a:r>
              <a:rPr lang="en-US" sz="2200" dirty="0" err="1"/>
              <a:t>Hoel</a:t>
            </a:r>
            <a:r>
              <a:rPr lang="en-US" sz="2200" dirty="0"/>
              <a:t>, S. C. Port and C. J. Stone, Introduction to Probability Theory, Universal Book Stall, 2003(Reprint).</a:t>
            </a:r>
            <a:endParaRPr lang="en-US" sz="2200" dirty="0">
              <a:latin typeface="Times New Roman" pitchFamily="18" charset="0"/>
              <a:cs typeface="Times New Roman" pitchFamily="18" charset="0"/>
            </a:endParaRP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R.K. Jain and S.R.K. </a:t>
            </a:r>
            <a:r>
              <a:rPr lang="en-US" sz="2200" dirty="0" err="1">
                <a:latin typeface="Times New Roman" pitchFamily="18" charset="0"/>
                <a:cs typeface="Times New Roman" pitchFamily="18" charset="0"/>
              </a:rPr>
              <a:t>Iyenger</a:t>
            </a:r>
            <a:r>
              <a:rPr lang="en-US" sz="2200" dirty="0">
                <a:latin typeface="Times New Roman" pitchFamily="18" charset="0"/>
                <a:cs typeface="Times New Roman" pitchFamily="18" charset="0"/>
              </a:rPr>
              <a:t>: Advance Engineering Mathematics; </a:t>
            </a:r>
            <a:r>
              <a:rPr lang="en-US" sz="2200" dirty="0" err="1">
                <a:latin typeface="Times New Roman" pitchFamily="18" charset="0"/>
                <a:cs typeface="Times New Roman" pitchFamily="18" charset="0"/>
              </a:rPr>
              <a:t>Narosa</a:t>
            </a:r>
            <a:r>
              <a:rPr lang="en-US" sz="2200" dirty="0">
                <a:latin typeface="Times New Roman" pitchFamily="18" charset="0"/>
                <a:cs typeface="Times New Roman" pitchFamily="18" charset="0"/>
              </a:rPr>
              <a:t> Publishing House, New Delhi.</a:t>
            </a:r>
          </a:p>
          <a:p>
            <a:pPr lvl="0"/>
            <a:endParaRPr lang="en-US" sz="2200" dirty="0">
              <a:latin typeface="Times New Roman" pitchFamily="18" charset="0"/>
              <a:cs typeface="Times New Roman" pitchFamily="18" charset="0"/>
            </a:endParaRPr>
          </a:p>
          <a:p>
            <a:pPr lvl="0"/>
            <a:r>
              <a:rPr lang="en-US" sz="2200" dirty="0">
                <a:latin typeface="Times New Roman" pitchFamily="18" charset="0"/>
                <a:cs typeface="Times New Roman" pitchFamily="18" charset="0"/>
              </a:rPr>
              <a:t>J.N. </a:t>
            </a:r>
            <a:r>
              <a:rPr lang="en-US" sz="2200" dirty="0" err="1">
                <a:latin typeface="Times New Roman" pitchFamily="18" charset="0"/>
                <a:cs typeface="Times New Roman" pitchFamily="18" charset="0"/>
              </a:rPr>
              <a:t>Kapur</a:t>
            </a:r>
            <a:r>
              <a:rPr lang="en-US" sz="2200" dirty="0">
                <a:latin typeface="Times New Roman" pitchFamily="18" charset="0"/>
                <a:cs typeface="Times New Roman" pitchFamily="18" charset="0"/>
              </a:rPr>
              <a:t>: Mathematical Statistics; S. Chand &amp; Sons Company Limited, New Delhi.</a:t>
            </a:r>
          </a:p>
          <a:p>
            <a:pPr lvl="0"/>
            <a:endParaRPr lang="en-US" sz="2200" dirty="0">
              <a:latin typeface="Times New Roman" pitchFamily="18" charset="0"/>
              <a:cs typeface="Times New Roman" pitchFamily="18" charset="0"/>
            </a:endParaRPr>
          </a:p>
          <a:p>
            <a:pPr lvl="0"/>
            <a:r>
              <a:rPr lang="en-US" sz="2200" dirty="0" err="1">
                <a:latin typeface="Times New Roman" pitchFamily="18" charset="0"/>
                <a:cs typeface="Times New Roman" pitchFamily="18" charset="0"/>
              </a:rPr>
              <a:t>D.N.Elhance,V</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Elhance</a:t>
            </a:r>
            <a:r>
              <a:rPr lang="en-US" sz="2200" dirty="0">
                <a:latin typeface="Times New Roman" pitchFamily="18" charset="0"/>
                <a:cs typeface="Times New Roman" pitchFamily="18" charset="0"/>
              </a:rPr>
              <a:t> &amp; B.M. Aggarwal: Fundamentals of Statistics; Kitab Mahal Distributers, New Delhi.</a:t>
            </a:r>
          </a:p>
        </p:txBody>
      </p:sp>
      <p:sp>
        <p:nvSpPr>
          <p:cNvPr id="3" name="Footer Placeholder 2">
            <a:extLst>
              <a:ext uri="{FF2B5EF4-FFF2-40B4-BE49-F238E27FC236}">
                <a16:creationId xmlns:a16="http://schemas.microsoft.com/office/drawing/2014/main" id="{188506A9-6778-4479-B2D6-BBD5C6210A57}"/>
              </a:ext>
            </a:extLst>
          </p:cNvPr>
          <p:cNvSpPr>
            <a:spLocks noGrp="1"/>
          </p:cNvSpPr>
          <p:nvPr>
            <p:ph type="ftr" sz="quarter" idx="11"/>
          </p:nvPr>
        </p:nvSpPr>
        <p:spPr/>
        <p:txBody>
          <a:bodyPr/>
          <a:lstStyle/>
          <a:p>
            <a:r>
              <a:rPr lang="en-US"/>
              <a:t>Dr. Lokesh chaudhary    Statistics and Probability     Module 4</a:t>
            </a:r>
            <a:endParaRPr lang="en-US" dirty="0"/>
          </a:p>
        </p:txBody>
      </p:sp>
    </p:spTree>
    <p:extLst>
      <p:ext uri="{BB962C8B-B14F-4D97-AF65-F5344CB8AC3E}">
        <p14:creationId xmlns:p14="http://schemas.microsoft.com/office/powerpoint/2010/main" val="12381811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9" name="Content Placeholder 8"/>
          <p:cNvSpPr>
            <a:spLocks noGrp="1"/>
          </p:cNvSpPr>
          <p:nvPr>
            <p:ph idx="1"/>
          </p:nvPr>
        </p:nvSpPr>
        <p:spPr>
          <a:xfrm>
            <a:off x="2559423" y="1143000"/>
            <a:ext cx="4177555" cy="1107996"/>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solidFill>
                  <a:schemeClr val="accent5">
                    <a:lumMod val="75000"/>
                  </a:schemeClr>
                </a:solidFill>
              </a:rPr>
              <a:t>Thank You</a:t>
            </a:r>
          </a:p>
        </p:txBody>
      </p:sp>
      <p:sp>
        <p:nvSpPr>
          <p:cNvPr id="2" name="Footer Placeholder 1">
            <a:extLst>
              <a:ext uri="{FF2B5EF4-FFF2-40B4-BE49-F238E27FC236}">
                <a16:creationId xmlns:a16="http://schemas.microsoft.com/office/drawing/2014/main" id="{F2FE425D-F87B-4711-BC33-7A9253247EBC}"/>
              </a:ext>
            </a:extLst>
          </p:cNvPr>
          <p:cNvSpPr>
            <a:spLocks noGrp="1"/>
          </p:cNvSpPr>
          <p:nvPr>
            <p:ph type="ftr" sz="quarter" idx="11"/>
          </p:nvPr>
        </p:nvSpPr>
        <p:spPr/>
        <p:txBody>
          <a:bodyPr/>
          <a:lstStyle/>
          <a:p>
            <a:r>
              <a:rPr lang="en-US"/>
              <a:t>Dr. Lokesh chaudhary    Statistics and Probability     Module 4</a:t>
            </a:r>
            <a:endParaRPr lang="en-US" dirty="0"/>
          </a:p>
        </p:txBody>
      </p:sp>
      <p:pic>
        <p:nvPicPr>
          <p:cNvPr id="8" name="Picture 7">
            <a:extLst>
              <a:ext uri="{FF2B5EF4-FFF2-40B4-BE49-F238E27FC236}">
                <a16:creationId xmlns:a16="http://schemas.microsoft.com/office/drawing/2014/main" id="{6E249BA6-6E78-EC97-4959-745EE58944C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4247" b="21643"/>
          <a:stretch/>
        </p:blipFill>
        <p:spPr>
          <a:xfrm>
            <a:off x="3124200" y="2438400"/>
            <a:ext cx="3314700" cy="2209800"/>
          </a:xfrm>
          <a:prstGeom prst="rect">
            <a:avLst/>
          </a:prstGeom>
        </p:spPr>
      </p:pic>
    </p:spTree>
    <p:extLst>
      <p:ext uri="{BB962C8B-B14F-4D97-AF65-F5344CB8AC3E}">
        <p14:creationId xmlns:p14="http://schemas.microsoft.com/office/powerpoint/2010/main" val="2555220207"/>
      </p:ext>
    </p:extLst>
  </p:cSld>
  <p:clrMapOvr>
    <a:masterClrMapping/>
  </p:clrMapOvr>
  <p:transition spd="slow">
    <p:push dir="u"/>
  </p:transition>
</p:sld>
</file>

<file path=ppt/theme/theme1.xml><?xml version="1.0" encoding="utf-8"?>
<a:theme xmlns:a="http://schemas.openxmlformats.org/drawingml/2006/main" name="Office Theme">
  <a:themeElements>
    <a:clrScheme name="Custom 4">
      <a:dk1>
        <a:srgbClr val="323232"/>
      </a:dk1>
      <a:lt1>
        <a:srgbClr val="FFFFFF"/>
      </a:lt1>
      <a:dk2>
        <a:srgbClr val="323232"/>
      </a:dk2>
      <a:lt2>
        <a:srgbClr val="FFFFFF"/>
      </a:lt2>
      <a:accent1>
        <a:srgbClr val="FF6566"/>
      </a:accent1>
      <a:accent2>
        <a:srgbClr val="FF6566"/>
      </a:accent2>
      <a:accent3>
        <a:srgbClr val="FF6566"/>
      </a:accent3>
      <a:accent4>
        <a:srgbClr val="FF6566"/>
      </a:accent4>
      <a:accent5>
        <a:srgbClr val="FF6566"/>
      </a:accent5>
      <a:accent6>
        <a:srgbClr val="FF6566"/>
      </a:accent6>
      <a:hlink>
        <a:srgbClr val="002060"/>
      </a:hlink>
      <a:folHlink>
        <a:srgbClr val="00206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2034</TotalTime>
  <Words>7512</Words>
  <Application>Microsoft Office PowerPoint</Application>
  <PresentationFormat>On-screen Show (4:3)</PresentationFormat>
  <Paragraphs>1043</Paragraphs>
  <Slides>100</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100</vt:i4>
      </vt:variant>
    </vt:vector>
  </HeadingPairs>
  <TitlesOfParts>
    <vt:vector size="107" baseType="lpstr">
      <vt:lpstr>Arial</vt:lpstr>
      <vt:lpstr>Calibri</vt:lpstr>
      <vt:lpstr>Cambria Math</vt:lpstr>
      <vt:lpstr>Times New Roman</vt:lpstr>
      <vt:lpstr>Wingdings</vt:lpstr>
      <vt:lpstr>Office Theme</vt:lpstr>
      <vt:lpstr>Equation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Dr Lokesh Chaudhary</cp:lastModifiedBy>
  <cp:revision>189</cp:revision>
  <dcterms:created xsi:type="dcterms:W3CDTF">2006-08-16T00:00:00Z</dcterms:created>
  <dcterms:modified xsi:type="dcterms:W3CDTF">2025-10-13T04:00:06Z</dcterms:modified>
</cp:coreProperties>
</file>