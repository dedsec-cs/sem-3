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6"/>
  </p:notesMasterIdLst>
  <p:handoutMasterIdLst>
    <p:handoutMasterId r:id="rId97"/>
  </p:handoutMasterIdLst>
  <p:sldIdLst>
    <p:sldId id="728" r:id="rId5"/>
    <p:sldId id="593" r:id="rId6"/>
    <p:sldId id="613" r:id="rId7"/>
    <p:sldId id="772" r:id="rId8"/>
    <p:sldId id="773" r:id="rId9"/>
    <p:sldId id="774" r:id="rId10"/>
    <p:sldId id="820" r:id="rId11"/>
    <p:sldId id="621" r:id="rId12"/>
    <p:sldId id="601" r:id="rId13"/>
    <p:sldId id="451" r:id="rId14"/>
    <p:sldId id="452" r:id="rId15"/>
    <p:sldId id="453" r:id="rId16"/>
    <p:sldId id="454" r:id="rId17"/>
    <p:sldId id="455" r:id="rId18"/>
    <p:sldId id="456" r:id="rId19"/>
    <p:sldId id="457" r:id="rId20"/>
    <p:sldId id="894" r:id="rId21"/>
    <p:sldId id="895" r:id="rId22"/>
    <p:sldId id="474" r:id="rId23"/>
    <p:sldId id="475" r:id="rId24"/>
    <p:sldId id="476" r:id="rId25"/>
    <p:sldId id="477" r:id="rId26"/>
    <p:sldId id="478"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50" r:id="rId48"/>
    <p:sldId id="551" r:id="rId49"/>
    <p:sldId id="552" r:id="rId50"/>
    <p:sldId id="553" r:id="rId51"/>
    <p:sldId id="554" r:id="rId52"/>
    <p:sldId id="555" r:id="rId53"/>
    <p:sldId id="556" r:id="rId54"/>
    <p:sldId id="557" r:id="rId55"/>
    <p:sldId id="558" r:id="rId56"/>
    <p:sldId id="559" r:id="rId57"/>
    <p:sldId id="560" r:id="rId58"/>
    <p:sldId id="561" r:id="rId59"/>
    <p:sldId id="562" r:id="rId60"/>
    <p:sldId id="563" r:id="rId61"/>
    <p:sldId id="564" r:id="rId62"/>
    <p:sldId id="565" r:id="rId63"/>
    <p:sldId id="566" r:id="rId64"/>
    <p:sldId id="567" r:id="rId65"/>
    <p:sldId id="569" r:id="rId66"/>
    <p:sldId id="572" r:id="rId67"/>
    <p:sldId id="573" r:id="rId68"/>
    <p:sldId id="574" r:id="rId69"/>
    <p:sldId id="575" r:id="rId70"/>
    <p:sldId id="576" r:id="rId71"/>
    <p:sldId id="604" r:id="rId72"/>
    <p:sldId id="605" r:id="rId73"/>
    <p:sldId id="274" r:id="rId74"/>
    <p:sldId id="606" r:id="rId75"/>
    <p:sldId id="607" r:id="rId76"/>
    <p:sldId id="608" r:id="rId77"/>
    <p:sldId id="679" r:id="rId78"/>
    <p:sldId id="267" r:id="rId79"/>
    <p:sldId id="612" r:id="rId80"/>
    <p:sldId id="265" r:id="rId81"/>
    <p:sldId id="914" r:id="rId82"/>
    <p:sldId id="915" r:id="rId83"/>
    <p:sldId id="916" r:id="rId84"/>
    <p:sldId id="917" r:id="rId85"/>
    <p:sldId id="918" r:id="rId86"/>
    <p:sldId id="919" r:id="rId87"/>
    <p:sldId id="920" r:id="rId88"/>
    <p:sldId id="921" r:id="rId89"/>
    <p:sldId id="922" r:id="rId90"/>
    <p:sldId id="923" r:id="rId91"/>
    <p:sldId id="924" r:id="rId92"/>
    <p:sldId id="623" r:id="rId93"/>
    <p:sldId id="624" r:id="rId94"/>
    <p:sldId id="625" r:id="rId9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11" d="100"/>
          <a:sy n="111" d="100"/>
        </p:scale>
        <p:origin x="165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10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latin typeface="Times New Roman" panose="02020603050405020304" pitchFamily="18" charset="0"/>
              </a:rPr>
              <a:pPr/>
              <a:t>7/28/2025</a:t>
            </a:fld>
            <a:endParaRPr lang="en-US" dirty="0">
              <a:latin typeface="Times New Roman" panose="02020603050405020304" pitchFamily="18"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latin typeface="Times New Roman" panose="02020603050405020304" pitchFamily="18" charset="0"/>
              </a:rPr>
              <a:pPr/>
              <a:t>‹#›</a:t>
            </a:fld>
            <a:endParaRPr lang="en-US" dirty="0">
              <a:latin typeface="Times New Roman" panose="02020603050405020304" pitchFamily="18" charset="0"/>
            </a:endParaRPr>
          </a:p>
        </p:txBody>
      </p:sp>
      <p:pic>
        <p:nvPicPr>
          <p:cNvPr id="10242" name="Picture 2" descr="C:\Users\User\Desktop\Logo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43000" cy="61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83060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18407A98-9A18-4E47-AF94-789022A0201E}" type="datetimeFigureOut">
              <a:rPr lang="en-US" smtClean="0"/>
              <a:pPr/>
              <a:t>7/28/2025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1635F52E-BA8C-4FAB-BCFA-C67A14D9CE22}" type="slidenum">
              <a:rPr lang="en-US" smtClean="0"/>
              <a:pPr/>
              <a:t>‹#›</a:t>
            </a:fld>
            <a:endParaRPr lang="en-US" dirty="0"/>
          </a:p>
        </p:txBody>
      </p:sp>
    </p:spTree>
    <p:extLst>
      <p:ext uri="{BB962C8B-B14F-4D97-AF65-F5344CB8AC3E}">
        <p14:creationId xmlns:p14="http://schemas.microsoft.com/office/powerpoint/2010/main" val="93950302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444848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351741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1023761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2991748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sz="24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7370C78-AC72-4FD5-83D6-0FB891AC3C3A}"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367"/>
            <a:ext cx="8229600" cy="1143000"/>
          </a:xfrm>
        </p:spPr>
        <p:txBody>
          <a:bodyPr>
            <a:normAutofit/>
          </a:bodyPr>
          <a:lstStyle>
            <a:lvl1pPr>
              <a:defRPr sz="24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000">
                <a:latin typeface="Times New Roman" panose="02020603050405020304" pitchFamily="18" charset="0"/>
                <a:cs typeface="Times New Roman" panose="02020603050405020304" pitchFamily="18"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C2628B-7DA5-4D13-ACF7-F606131D9BAC}"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F4E6C58D-D5AA-457E-8263-145B24B41A32}"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5762"/>
            <a:ext cx="8229600" cy="1143000"/>
          </a:xfrm>
        </p:spPr>
        <p:txBody>
          <a:bodyPr>
            <a:normAutofit/>
          </a:bodyPr>
          <a:lstStyle>
            <a:lvl1pPr>
              <a:defRPr sz="2400"/>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F608A09-D4B1-4288-A089-1CD6FA65577B}"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 2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4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24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1E681D1-5C99-491F-B01F-992510994F55}" type="datetime1">
              <a:rPr lang="en-US" smtClean="0"/>
              <a:t>7/28/2025</a:t>
            </a:fld>
            <a:endParaRPr lang="en-US"/>
          </a:p>
        </p:txBody>
      </p:sp>
      <p:sp>
        <p:nvSpPr>
          <p:cNvPr id="8" name="Footer Placeholder 7"/>
          <p:cNvSpPr>
            <a:spLocks noGrp="1"/>
          </p:cNvSpPr>
          <p:nvPr>
            <p:ph type="ftr" sz="quarter" idx="11"/>
          </p:nvPr>
        </p:nvSpPr>
        <p:spPr/>
        <p:txBody>
          <a:bodyPr/>
          <a:lstStyle/>
          <a:p>
            <a:r>
              <a:rPr lang="en-US"/>
              <a:t>Dr. Lokesh Chaudhary    Statistics and Probability    Module 2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45762"/>
            <a:ext cx="8229600" cy="1143000"/>
          </a:xfrm>
        </p:spPr>
        <p:txBody>
          <a:bodyPr/>
          <a:lstStyle>
            <a:lvl1pPr>
              <a:defRPr sz="2400"/>
            </a:lvl1pPr>
          </a:lstStyle>
          <a:p>
            <a:r>
              <a:rPr lang="en-US" dirty="0"/>
              <a:t>Click to edit Master title style</a:t>
            </a:r>
          </a:p>
        </p:txBody>
      </p:sp>
      <p:sp>
        <p:nvSpPr>
          <p:cNvPr id="3" name="Date Placeholder 2"/>
          <p:cNvSpPr>
            <a:spLocks noGrp="1"/>
          </p:cNvSpPr>
          <p:nvPr>
            <p:ph type="dt" sz="half" idx="10"/>
          </p:nvPr>
        </p:nvSpPr>
        <p:spPr/>
        <p:txBody>
          <a:bodyPr/>
          <a:lstStyle/>
          <a:p>
            <a:fld id="{F92913B6-DFC8-4780-81EC-C776D28A0C69}" type="datetime1">
              <a:rPr lang="en-US" smtClean="0"/>
              <a:t>7/28/2025</a:t>
            </a:fld>
            <a:endParaRPr lang="en-US"/>
          </a:p>
        </p:txBody>
      </p:sp>
      <p:sp>
        <p:nvSpPr>
          <p:cNvPr id="4" name="Footer Placeholder 3"/>
          <p:cNvSpPr>
            <a:spLocks noGrp="1"/>
          </p:cNvSpPr>
          <p:nvPr>
            <p:ph type="ftr" sz="quarter" idx="11"/>
          </p:nvPr>
        </p:nvSpPr>
        <p:spPr/>
        <p:txBody>
          <a:bodyPr/>
          <a:lstStyle/>
          <a:p>
            <a:r>
              <a:rPr lang="en-US"/>
              <a:t>Dr. Lokesh Chaudhary    Statistics and Probability    Module 2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AECC2F-BE16-4C4B-904A-892A25E9D942}" type="datetime1">
              <a:rPr lang="en-US" smtClean="0"/>
              <a:t>7/28/2025</a:t>
            </a:fld>
            <a:endParaRPr lang="en-US"/>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4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842F4610-2E14-46D2-9E33-CDC1DF6C74BF}"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 2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4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E4FC2C8-11C8-4087-82CE-F57C2D26D48A}"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 2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FC43E-CE19-4CF6-ABE3-0E492FD6EAD1}"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C9AC44-5E88-4992-AFB3-76DF72905D72}"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1B6BE014-09D7-4E97-96F6-6A0AD7D9067C}" type="datetime1">
              <a:rPr lang="en-US" smtClean="0"/>
              <a:t>7/28/2025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US"/>
              <a:t>Dr. Lokesh Chaudhary    Statistics and Probability    Module 2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B6F15528-21DE-4FAA-801E-634DDDAF4B2B}" type="slidenum">
              <a:rPr lang="en-US" smtClean="0"/>
              <a:pPr/>
              <a:t>‹#›</a:t>
            </a:fld>
            <a:endParaRPr lang="en-US" dirty="0"/>
          </a:p>
        </p:txBody>
      </p:sp>
      <p:pic>
        <p:nvPicPr>
          <p:cNvPr id="8" name="Picture 7" descr="A logo for a company&#10;&#10;Description automatically generated">
            <a:extLst>
              <a:ext uri="{FF2B5EF4-FFF2-40B4-BE49-F238E27FC236}">
                <a16:creationId xmlns:a16="http://schemas.microsoft.com/office/drawing/2014/main" id="{D13CA9E2-8C65-BEF0-58F2-370438AC39A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142999" cy="135096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2400" b="1" kern="1200">
          <a:solidFill>
            <a:schemeClr val="tx1"/>
          </a:solidFill>
          <a:latin typeface="Times New Roman" panose="020206030504050203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620.png"/></Relationships>
</file>

<file path=ppt/slides/_rels/slide65.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noidainstituteofengtech-my.sharepoint.com/:w:/g/personal/kuntimishra_niet_co_in/EWSTpgxrY3JMjv1TFFUu95EB8hi85bVGtLTxK0JPOlbGQQ?e=Qhroes" TargetMode="External"/><Relationship Id="rId2" Type="http://schemas.openxmlformats.org/officeDocument/2006/relationships/hyperlink" Target="https://noidainstituteofengtech-my.sharepoint.com/:w:/g/personal/kuntimishra_niet_co_in/EeKp0XZTy5xIoPSVlpDEDu8BajgQdfMqE3HX2M0sIHeEew?e=LabCTc" TargetMode="External"/><Relationship Id="rId1" Type="http://schemas.openxmlformats.org/officeDocument/2006/relationships/slideLayout" Target="../slideLayouts/slideLayout2.xml"/><Relationship Id="rId5" Type="http://schemas.openxmlformats.org/officeDocument/2006/relationships/hyperlink" Target="https://noidainstituteofengtech-my.sharepoint.com/:b:/g/personal/kuntimishra_niet_co_in/EQjn8gCwSXNAggC69pGDdG8BmUvJ4ORfHNH-3TJAua3xyQ?e=za2raN" TargetMode="External"/><Relationship Id="rId4" Type="http://schemas.openxmlformats.org/officeDocument/2006/relationships/hyperlink" Target="https://noidainstituteofengtech-my.sharepoint.com/:w:/g/personal/kuntimishra_niet_co_in/EZ2QtOdGyNdCn7UR0t2z-osBAR-Cf4N1haMplFXri2KYSA?e=P6Cz8F"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730.png"/><Relationship Id="rId1" Type="http://schemas.openxmlformats.org/officeDocument/2006/relationships/slideLayout" Target="../slideLayouts/slideLayout2.xml"/><Relationship Id="rId4" Type="http://schemas.openxmlformats.org/officeDocument/2006/relationships/image" Target="../media/image6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0230" y="215612"/>
            <a:ext cx="7049862" cy="830354"/>
          </a:xfrm>
        </p:spPr>
        <p:style>
          <a:lnRef idx="1">
            <a:schemeClr val="accent5"/>
          </a:lnRef>
          <a:fillRef idx="2">
            <a:schemeClr val="accent5"/>
          </a:fillRef>
          <a:effectRef idx="1">
            <a:schemeClr val="accent5"/>
          </a:effectRef>
          <a:fontRef idx="minor">
            <a:schemeClr val="dk1"/>
          </a:fontRef>
        </p:style>
        <p:txBody>
          <a:bodyPr>
            <a:noAutofit/>
          </a:bodyPr>
          <a:lstStyle/>
          <a:p>
            <a:r>
              <a:rPr lang="en-US" b="1" dirty="0" err="1"/>
              <a:t>Noida</a:t>
            </a:r>
            <a:r>
              <a:rPr lang="en-US" b="1" dirty="0"/>
              <a:t> Institute of Engineering and Technology, Greater </a:t>
            </a:r>
            <a:r>
              <a:rPr lang="en-US" b="1" dirty="0" err="1"/>
              <a:t>Noida</a:t>
            </a:r>
            <a:endParaRPr lang="en-US" b="1" dirty="0"/>
          </a:p>
        </p:txBody>
      </p:sp>
      <p:sp>
        <p:nvSpPr>
          <p:cNvPr id="6" name="Subtitle 2"/>
          <p:cNvSpPr txBox="1">
            <a:spLocks/>
          </p:cNvSpPr>
          <p:nvPr/>
        </p:nvSpPr>
        <p:spPr>
          <a:xfrm>
            <a:off x="5257800" y="3962400"/>
            <a:ext cx="3282292" cy="954284"/>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chor="t">
            <a:normAutofit/>
          </a:bodyPr>
          <a:lstStyle/>
          <a:p>
            <a:pPr lvl="0" algn="ct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Dr. </a:t>
            </a:r>
            <a:r>
              <a:rPr lang="en-US" sz="2200">
                <a:solidFill>
                  <a:schemeClr val="tx1"/>
                </a:solidFill>
                <a:latin typeface="Times New Roman" panose="02020603050405020304" pitchFamily="18" charset="0"/>
                <a:cs typeface="Times New Roman" panose="02020603050405020304" pitchFamily="18" charset="0"/>
              </a:rPr>
              <a:t>Lokesh Chaudhary</a:t>
            </a:r>
            <a:endParaRPr lang="en-US" sz="2200" dirty="0">
              <a:solidFill>
                <a:schemeClr val="tx1"/>
              </a:solidFill>
              <a:latin typeface="Times New Roman" panose="02020603050405020304" pitchFamily="18" charset="0"/>
              <a:cs typeface="Times New Roman" panose="02020603050405020304" pitchFamily="18" charset="0"/>
            </a:endParaRPr>
          </a:p>
          <a:p>
            <a:pPr lvl="0">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Department of Mathematics</a:t>
            </a:r>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6000750" y="2819400"/>
            <a:ext cx="1143000" cy="1143000"/>
          </a:xfrm>
          <a:prstGeom prst="rect">
            <a:avLst/>
          </a:prstGeom>
          <a:noFill/>
        </p:spPr>
      </p:pic>
      <p:sp>
        <p:nvSpPr>
          <p:cNvPr id="12" name="Subtitle 2"/>
          <p:cNvSpPr txBox="1">
            <a:spLocks/>
          </p:cNvSpPr>
          <p:nvPr/>
        </p:nvSpPr>
        <p:spPr>
          <a:xfrm>
            <a:off x="1371600" y="2600324"/>
            <a:ext cx="1543050" cy="523875"/>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lgn="ct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Module 2</a:t>
            </a:r>
          </a:p>
        </p:txBody>
      </p:sp>
      <p:sp>
        <p:nvSpPr>
          <p:cNvPr id="14" name="Subtitle 2"/>
          <p:cNvSpPr txBox="1">
            <a:spLocks/>
          </p:cNvSpPr>
          <p:nvPr/>
        </p:nvSpPr>
        <p:spPr>
          <a:xfrm>
            <a:off x="1257300" y="3505200"/>
            <a:ext cx="3543300" cy="1412570"/>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Name:	Statistics and 		Probability</a:t>
            </a:r>
          </a:p>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Code:	BAS0303N</a:t>
            </a:r>
          </a:p>
        </p:txBody>
      </p:sp>
      <p:sp>
        <p:nvSpPr>
          <p:cNvPr id="16" name="Footer Placeholder 12"/>
          <p:cNvSpPr txBox="1">
            <a:spLocks/>
          </p:cNvSpPr>
          <p:nvPr/>
        </p:nvSpPr>
        <p:spPr>
          <a:xfrm>
            <a:off x="2914650" y="5612607"/>
            <a:ext cx="3771900" cy="273844"/>
          </a:xfrm>
          <a:prstGeom prst="rect">
            <a:avLst/>
          </a:prstGeom>
        </p:spPr>
        <p:txBody>
          <a:bodyPr vert="horz" lIns="68580" tIns="34290" rIns="68580" bIns="34290" rtlCol="0" anchor="ctr"/>
          <a:lstStyle/>
          <a:p>
            <a:pPr algn="ctr">
              <a:defRPr/>
            </a:pPr>
            <a:endParaRPr lang="en-US" sz="900" dirty="0">
              <a:solidFill>
                <a:schemeClr val="tx1">
                  <a:tint val="75000"/>
                </a:schemeClr>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3417026" y="6074081"/>
            <a:ext cx="2857500" cy="411956"/>
          </a:xfrm>
        </p:spPr>
        <p:txBody>
          <a:bodyPr/>
          <a:lstStyle/>
          <a:p>
            <a:r>
              <a:rPr lang="en-US" b="1">
                <a:cs typeface="Times New Roman" panose="02020603050405020304" pitchFamily="18" charset="0"/>
              </a:rPr>
              <a:t>Dr. Lokesh Chaudhary    Statistics and Probability    Module 2 </a:t>
            </a:r>
            <a:endParaRPr lang="en-US" b="1" dirty="0">
              <a:cs typeface="Times New Roman" panose="02020603050405020304" pitchFamily="18" charset="0"/>
            </a:endParaRPr>
          </a:p>
        </p:txBody>
      </p:sp>
      <p:sp>
        <p:nvSpPr>
          <p:cNvPr id="18" name="Subtitle 2"/>
          <p:cNvSpPr txBox="1">
            <a:spLocks/>
          </p:cNvSpPr>
          <p:nvPr/>
        </p:nvSpPr>
        <p:spPr>
          <a:xfrm>
            <a:off x="1302869" y="5190423"/>
            <a:ext cx="2354731" cy="524577"/>
          </a:xfrm>
          <a:prstGeom prst="rect">
            <a:avLst/>
          </a:prstGeom>
        </p:spPr>
        <p:style>
          <a:lnRef idx="2">
            <a:schemeClr val="accent5"/>
          </a:lnRef>
          <a:fillRef idx="1">
            <a:schemeClr val="lt1"/>
          </a:fillRef>
          <a:effectRef idx="0">
            <a:schemeClr val="accent5"/>
          </a:effectRef>
          <a:fontRef idx="minor">
            <a:schemeClr val="dk1"/>
          </a:fontRef>
        </p:style>
        <p:txBody>
          <a:bodyPr vert="horz" lIns="51435" tIns="25718" rIns="51435" bIns="25718" rtlCol="0">
            <a:normAutofit/>
          </a:bodyPr>
          <a:lstStyle/>
          <a:p>
            <a:pPr algn="ctr">
              <a:spcBef>
                <a:spcPct val="20000"/>
              </a:spcBef>
              <a:defRPr/>
            </a:pPr>
            <a:r>
              <a:rPr lang="en-US" sz="2400" dirty="0">
                <a:solidFill>
                  <a:schemeClr val="tx1"/>
                </a:solidFill>
                <a:latin typeface="Times New Roman" panose="02020603050405020304" pitchFamily="18" charset="0"/>
                <a:cs typeface="Times New Roman" panose="02020603050405020304" pitchFamily="18" charset="0"/>
              </a:rPr>
              <a:t> B Tech 4</a:t>
            </a:r>
            <a:r>
              <a:rPr lang="en-US" sz="2400" baseline="30000" dirty="0">
                <a:solidFill>
                  <a:schemeClr val="tx1"/>
                </a:solidFill>
                <a:latin typeface="Times New Roman" panose="02020603050405020304" pitchFamily="18" charset="0"/>
                <a:cs typeface="Times New Roman" panose="02020603050405020304" pitchFamily="18" charset="0"/>
              </a:rPr>
              <a:t>th</a:t>
            </a:r>
            <a:r>
              <a:rPr lang="en-US" sz="2400" dirty="0">
                <a:solidFill>
                  <a:schemeClr val="tx1"/>
                </a:solidFill>
                <a:latin typeface="Times New Roman" panose="02020603050405020304" pitchFamily="18" charset="0"/>
                <a:cs typeface="Times New Roman" panose="02020603050405020304" pitchFamily="18" charset="0"/>
              </a:rPr>
              <a:t> Sem</a:t>
            </a:r>
          </a:p>
        </p:txBody>
      </p:sp>
      <p:sp>
        <p:nvSpPr>
          <p:cNvPr id="3" name="Slide Number Placeholder 2"/>
          <p:cNvSpPr>
            <a:spLocks noGrp="1"/>
          </p:cNvSpPr>
          <p:nvPr>
            <p:ph type="sldNum" sz="quarter" idx="12"/>
          </p:nvPr>
        </p:nvSpPr>
        <p:spPr/>
        <p:txBody>
          <a:bodyPr/>
          <a:lstStyle/>
          <a:p>
            <a:fld id="{B6F15528-21DE-4FAA-801E-634DDDAF4B2B}" type="slidenum">
              <a:rPr lang="en-US" smtClean="0">
                <a:cs typeface="Times New Roman" panose="02020603050405020304" pitchFamily="18" charset="0"/>
              </a:rPr>
              <a:pPr/>
              <a:t>1</a:t>
            </a:fld>
            <a:endParaRPr lang="en-US">
              <a:cs typeface="Times New Roman" panose="02020603050405020304" pitchFamily="18" charset="0"/>
            </a:endParaRPr>
          </a:p>
        </p:txBody>
      </p:sp>
      <p:sp>
        <p:nvSpPr>
          <p:cNvPr id="19" name="Subtitle 2"/>
          <p:cNvSpPr txBox="1">
            <a:spLocks/>
          </p:cNvSpPr>
          <p:nvPr/>
        </p:nvSpPr>
        <p:spPr>
          <a:xfrm>
            <a:off x="2028824" y="1477015"/>
            <a:ext cx="5286375" cy="59765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400" b="1" dirty="0">
                <a:solidFill>
                  <a:schemeClr val="tx1"/>
                </a:solidFill>
              </a:rPr>
              <a:t>Statistical Technique-II</a:t>
            </a:r>
          </a:p>
        </p:txBody>
      </p:sp>
    </p:spTree>
    <p:extLst>
      <p:ext uri="{BB962C8B-B14F-4D97-AF65-F5344CB8AC3E}">
        <p14:creationId xmlns:p14="http://schemas.microsoft.com/office/powerpoint/2010/main" val="1964090766"/>
      </p:ext>
    </p:extLst>
  </p:cSld>
  <p:clrMapOvr>
    <a:masterClrMapping/>
  </p:clrMapOvr>
  <p:transition spd="med" advTm="2000">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2" name="Content Placeholder 1"/>
          <p:cNvSpPr>
            <a:spLocks noGrp="1"/>
          </p:cNvSpPr>
          <p:nvPr>
            <p:ph idx="1"/>
          </p:nvPr>
        </p:nvSpPr>
        <p:spPr>
          <a:xfrm>
            <a:off x="457200" y="1143000"/>
            <a:ext cx="8229600" cy="5137150"/>
          </a:xfrm>
        </p:spPr>
        <p:txBody>
          <a:bodyPr>
            <a:noAutofit/>
          </a:bodyPr>
          <a:lstStyle/>
          <a:p>
            <a:pPr marL="0" indent="0" algn="just">
              <a:buNone/>
            </a:pPr>
            <a:r>
              <a:rPr lang="en-US" sz="2000" b="1" dirty="0">
                <a:ea typeface="Times New Roman" pitchFamily="18" charset="0"/>
              </a:rPr>
              <a:t>Module 1: (</a:t>
            </a:r>
            <a:r>
              <a:rPr lang="en-US" sz="2000" b="1" dirty="0">
                <a:ea typeface="Calibri" panose="020F0502020204030204" pitchFamily="34" charset="0"/>
              </a:rPr>
              <a:t>Statistical Techniques-I)</a:t>
            </a:r>
            <a:endParaRPr lang="en-US" sz="2000" b="1" dirty="0">
              <a:ea typeface="Times New Roman" panose="02020603050405020304" pitchFamily="18" charset="0"/>
            </a:endParaRPr>
          </a:p>
          <a:p>
            <a:pPr marL="0" indent="0" algn="just">
              <a:buNone/>
            </a:pPr>
            <a:r>
              <a:rPr lang="en-US" sz="2000" dirty="0"/>
              <a:t>Introduction: Measures of central tendency: Mean, Median, Mode, Standard deviation, Quartile deviation, Moment, Skewness, Kurtosis.</a:t>
            </a:r>
            <a:endParaRPr lang="en-US" sz="2000" dirty="0">
              <a:ea typeface="Calibri" panose="020F0502020204030204" pitchFamily="34" charset="0"/>
            </a:endParaRPr>
          </a:p>
          <a:p>
            <a:pPr marL="0" indent="0" algn="just">
              <a:buNone/>
            </a:pPr>
            <a:r>
              <a:rPr lang="en-US" sz="2000" b="1" dirty="0">
                <a:ea typeface="Times New Roman" panose="02020603050405020304" pitchFamily="18" charset="0"/>
              </a:rPr>
              <a:t>Module 2: (</a:t>
            </a:r>
            <a:r>
              <a:rPr lang="en-US" sz="2000" b="1" dirty="0">
                <a:ea typeface="Calibri" panose="020F0502020204030204" pitchFamily="34" charset="0"/>
              </a:rPr>
              <a:t>Statistical Techniques-II)</a:t>
            </a:r>
          </a:p>
          <a:p>
            <a:pPr marL="0" indent="0" algn="just">
              <a:buNone/>
            </a:pPr>
            <a:r>
              <a:rPr lang="en-US" sz="2000" dirty="0"/>
              <a:t>Curve Fitting, Method of least squares, fitting of straight lines, Fitting of second-degree parabola, Exponential curves, Correlation and Rank correlation, Linear regression, nonlinear regression and multiple linear regression.</a:t>
            </a:r>
          </a:p>
          <a:p>
            <a:pPr marL="0" indent="0">
              <a:buNone/>
            </a:pPr>
            <a:r>
              <a:rPr lang="en-US" sz="2000" b="1" dirty="0">
                <a:ea typeface="Times New Roman" panose="02020603050405020304" pitchFamily="18" charset="0"/>
              </a:rPr>
              <a:t>Module 3: (</a:t>
            </a:r>
            <a:r>
              <a:rPr lang="en-US" sz="2000" b="1" dirty="0">
                <a:ea typeface="Calibri" panose="020F0502020204030204" pitchFamily="34" charset="0"/>
              </a:rPr>
              <a:t>Probability and Random Variable) </a:t>
            </a:r>
          </a:p>
          <a:p>
            <a:pPr marL="0" indent="0">
              <a:buNone/>
            </a:pPr>
            <a:r>
              <a:rPr lang="en-US" sz="2000" dirty="0"/>
              <a:t>Random Variable: Definition of a Random Variable, Discrete Random Variable, Continuous Random Variable, Probability mass function, Probability Density Function, Distribution functions. </a:t>
            </a:r>
          </a:p>
          <a:p>
            <a:pPr marL="0" indent="0">
              <a:buNone/>
            </a:pPr>
            <a:r>
              <a:rPr lang="en-US" sz="2000" dirty="0"/>
              <a:t>Multiple Random Variables:  Joint density and distribution Function, Properties of Joint Distribution function, Marginal density Functions, Conditional Distribution and Density, Statistical Independence, Central Limit Theorem (Proof not expected).</a:t>
            </a:r>
          </a:p>
        </p:txBody>
      </p:sp>
    </p:spTree>
    <p:extLst>
      <p:ext uri="{BB962C8B-B14F-4D97-AF65-F5344CB8AC3E}">
        <p14:creationId xmlns:p14="http://schemas.microsoft.com/office/powerpoint/2010/main" val="78481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2" name="Content Placeholder 1"/>
          <p:cNvSpPr>
            <a:spLocks noGrp="1"/>
          </p:cNvSpPr>
          <p:nvPr>
            <p:ph idx="1"/>
          </p:nvPr>
        </p:nvSpPr>
        <p:spPr/>
        <p:txBody>
          <a:bodyPr>
            <a:normAutofit/>
          </a:bodyPr>
          <a:lstStyle/>
          <a:p>
            <a:pPr marL="0" indent="0" algn="just">
              <a:buNone/>
            </a:pPr>
            <a:r>
              <a:rPr lang="en-IN" sz="2000" b="1" dirty="0">
                <a:solidFill>
                  <a:srgbClr val="000000"/>
                </a:solidFill>
                <a:ea typeface="Times New Roman" panose="02020603050405020304" pitchFamily="18" charset="0"/>
              </a:rPr>
              <a:t>Module 4: (</a:t>
            </a:r>
            <a:r>
              <a:rPr lang="en-US" sz="2000" b="1" dirty="0">
                <a:ea typeface="Calibri" panose="020F0502020204030204" pitchFamily="34" charset="0"/>
              </a:rPr>
              <a:t>Expectations and Probability Distribution)</a:t>
            </a:r>
            <a:endParaRPr lang="en-IN" sz="2000" b="1" dirty="0">
              <a:solidFill>
                <a:srgbClr val="000000"/>
              </a:solidFill>
              <a:ea typeface="Times New Roman" panose="02020603050405020304" pitchFamily="18" charset="0"/>
            </a:endParaRPr>
          </a:p>
          <a:p>
            <a:pPr marL="0" indent="0" algn="just">
              <a:buNone/>
            </a:pPr>
            <a:r>
              <a:rPr lang="en-US" sz="2000" dirty="0"/>
              <a:t>Expectations of single Random Variable, Mean, Variance, Moment Generating Function, Binomial, Poisson, Normal, Exponential distribution.</a:t>
            </a:r>
          </a:p>
          <a:p>
            <a:pPr marL="0" indent="0" algn="just">
              <a:buNone/>
            </a:pPr>
            <a:r>
              <a:rPr lang="en-US" sz="2000" b="1">
                <a:ea typeface="Calibri" panose="020F0502020204030204" pitchFamily="34" charset="0"/>
              </a:rPr>
              <a:t>Module 5: </a:t>
            </a:r>
            <a:r>
              <a:rPr lang="en-US" sz="2000" b="1" dirty="0">
                <a:ea typeface="Calibri" panose="020F0502020204030204" pitchFamily="34" charset="0"/>
              </a:rPr>
              <a:t>(</a:t>
            </a:r>
            <a:r>
              <a:rPr lang="en-US" sz="2000" b="1" dirty="0"/>
              <a:t>Hypothesis Tests and Control Charts</a:t>
            </a:r>
            <a:r>
              <a:rPr lang="en-US" sz="2000" b="1" dirty="0">
                <a:ea typeface="Calibri" panose="020F0502020204030204" pitchFamily="34" charset="0"/>
              </a:rPr>
              <a:t>)</a:t>
            </a:r>
          </a:p>
          <a:p>
            <a:pPr marL="0" indent="0">
              <a:buNone/>
            </a:pPr>
            <a:r>
              <a:rPr lang="en-US" sz="2000" dirty="0"/>
              <a:t>Testing a Hypothesis, Null hypothesis, Alternative hypothesis, Level of significance, Confidence limits, Test of significance of difference of means, Z-test, t-test and Chi-square test, F-test, One way ANOVA.</a:t>
            </a:r>
          </a:p>
          <a:p>
            <a:pPr marL="0" indent="0">
              <a:buNone/>
            </a:pPr>
            <a:r>
              <a:rPr lang="en-US" sz="2000" dirty="0"/>
              <a:t>Statistical Quality Control (SQC), Control Charts, Control Charts for variables (Mean and Range Charts), Control Charts for Variables (p, np and C charts).</a:t>
            </a:r>
            <a:endParaRPr lang="en-US" sz="2000" dirty="0">
              <a:ea typeface="Calibri" panose="020F0502020204030204" pitchFamily="34" charset="0"/>
            </a:endParaRPr>
          </a:p>
          <a:p>
            <a:pPr marL="0" indent="0" algn="just">
              <a:buNone/>
            </a:pPr>
            <a:endParaRPr lang="en-IN" sz="2000" b="1" dirty="0">
              <a:solidFill>
                <a:srgbClr val="000000"/>
              </a:solidFill>
              <a:ea typeface="Times New Roman" panose="02020603050405020304" pitchFamily="18" charset="0"/>
            </a:endParaRPr>
          </a:p>
        </p:txBody>
      </p:sp>
    </p:spTree>
    <p:extLst>
      <p:ext uri="{BB962C8B-B14F-4D97-AF65-F5344CB8AC3E}">
        <p14:creationId xmlns:p14="http://schemas.microsoft.com/office/powerpoint/2010/main" val="89641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v"/>
            </a:pPr>
            <a:r>
              <a:rPr lang="en-US" sz="2200" dirty="0">
                <a:latin typeface="Times New Roman" panose="02020603050405020304" pitchFamily="18" charset="0"/>
                <a:cs typeface="Times New Roman" panose="02020603050405020304" pitchFamily="18" charset="0"/>
              </a:rPr>
              <a:t>Data Analysis</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Artificial intelligence</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Network and Traffic modeling</a:t>
            </a:r>
            <a:endParaRPr lang="en-US" sz="2200" dirty="0">
              <a:latin typeface="Times New Roman" panose="02020603050405020304" pitchFamily="18" charset="0"/>
              <a:cs typeface="Times New Roman" panose="02020603050405020304" pitchFamily="18" charset="0"/>
            </a:endParaRPr>
          </a:p>
          <a:p>
            <a:pPr>
              <a:buFont typeface="Wingdings" pitchFamily="2" charset="2"/>
              <a:buChar char="v"/>
            </a:pPr>
            <a:endParaRPr lang="en-US" sz="2200" dirty="0">
              <a:effectLst/>
            </a:endParaRP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Wise Application </a:t>
            </a:r>
          </a:p>
        </p:txBody>
      </p:sp>
    </p:spTree>
    <p:extLst>
      <p:ext uri="{BB962C8B-B14F-4D97-AF65-F5344CB8AC3E}">
        <p14:creationId xmlns:p14="http://schemas.microsoft.com/office/powerpoint/2010/main" val="210942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dirty="0"/>
              <a:t>The objective of this course is to familiarize the students with concepts of Probability and statistical techniques. It aims to equip the students with adequate Knowledge of statistics that will enable them in formulating Problems and solving problems analytically.</a:t>
            </a:r>
            <a:endParaRPr lang="en-US" dirty="0">
              <a:ea typeface="Calibri" panose="020F0502020204030204" pitchFamily="34" charset="0"/>
            </a:endParaRPr>
          </a:p>
          <a:p>
            <a:pPr marL="0" indent="0" algn="just">
              <a:buNone/>
            </a:pPr>
            <a:r>
              <a:rPr lang="en-US" dirty="0"/>
              <a:t>     The students will learn: </a:t>
            </a:r>
          </a:p>
          <a:p>
            <a:r>
              <a:rPr lang="en-US" dirty="0">
                <a:ea typeface="Calibri" panose="020F0502020204030204" pitchFamily="34" charset="0"/>
              </a:rPr>
              <a:t>Understand the concept of correlation, moments, skewness and kurtosis and curve fitting.</a:t>
            </a:r>
          </a:p>
          <a:p>
            <a:r>
              <a:rPr lang="en-US" dirty="0">
                <a:ea typeface="Calibri" panose="020F0502020204030204" pitchFamily="34" charset="0"/>
              </a:rPr>
              <a:t>Apply the concept of hypothesis testing and statistical quality control to create control charts.</a:t>
            </a:r>
          </a:p>
          <a:p>
            <a:r>
              <a:rPr lang="en-US" dirty="0">
                <a:ea typeface="Calibri" panose="020F0502020204030204" pitchFamily="34" charset="0"/>
              </a:rPr>
              <a:t>Remember the concept of probability to evaluate probability distributions. </a:t>
            </a:r>
          </a:p>
          <a:p>
            <a:r>
              <a:rPr lang="en-US" dirty="0">
                <a:ea typeface="Calibri" panose="020F0502020204030204" pitchFamily="34" charset="0"/>
              </a:rPr>
              <a:t>Understand the concept of Mathematical Expectations and Probability Distribution.</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Objectives</a:t>
            </a:r>
          </a:p>
        </p:txBody>
      </p:sp>
    </p:spTree>
    <p:extLst>
      <p:ext uri="{BB962C8B-B14F-4D97-AF65-F5344CB8AC3E}">
        <p14:creationId xmlns:p14="http://schemas.microsoft.com/office/powerpoint/2010/main" val="273942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CO1: Apply the concept of moments, skewness and kurtosis in relevant field.</a:t>
            </a:r>
          </a:p>
          <a:p>
            <a:pPr marL="0" indent="0">
              <a:buNone/>
            </a:pPr>
            <a:r>
              <a:rPr lang="en-US" sz="2200" b="1" dirty="0"/>
              <a:t>CO2: Apply the concept of correlation, regression and curve fitting with real world problems.</a:t>
            </a:r>
          </a:p>
          <a:p>
            <a:pPr marL="0" indent="0">
              <a:buNone/>
            </a:pPr>
            <a:r>
              <a:rPr lang="en-US" sz="2200" dirty="0"/>
              <a:t>CO3: Apply the concept of probability and random variable.</a:t>
            </a:r>
          </a:p>
          <a:p>
            <a:pPr marL="0" indent="0">
              <a:buNone/>
            </a:pPr>
            <a:r>
              <a:rPr lang="en-US" sz="2200" dirty="0"/>
              <a:t>CO4: Apply the concept of Mathematical Expectations and Probability Distribution in real life problems.</a:t>
            </a:r>
          </a:p>
          <a:p>
            <a:pPr marL="0" indent="0">
              <a:buNone/>
            </a:pPr>
            <a:r>
              <a:rPr lang="en-US" sz="2200" dirty="0"/>
              <a:t>CO5: Apply the concept of hypothesis testing and statistical quality control to create control charts.</a:t>
            </a:r>
          </a:p>
          <a:p>
            <a:pPr marL="0" indent="0">
              <a:buNone/>
            </a:pPr>
            <a:endParaRPr lang="en-US" sz="2200" dirty="0"/>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Outcomes</a:t>
            </a:r>
            <a:r>
              <a:rPr lang="en-US" sz="2400" b="1" dirty="0">
                <a:latin typeface="Times New Roman" panose="02020603050405020304" pitchFamily="18" charset="0"/>
              </a:rPr>
              <a:t> (CO2)</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06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
            </a:pPr>
            <a:r>
              <a:rPr lang="en-US" sz="2200" dirty="0"/>
              <a:t>Knowledge of </a:t>
            </a:r>
            <a:r>
              <a:rPr lang="en-US" sz="2200" dirty="0" err="1"/>
              <a:t>Maths</a:t>
            </a:r>
            <a:r>
              <a:rPr lang="en-US" sz="2200" dirty="0"/>
              <a:t> 1 B.Tech.</a:t>
            </a:r>
          </a:p>
          <a:p>
            <a:pPr>
              <a:buFont typeface="Wingdings" pitchFamily="2" charset="2"/>
              <a:buChar char="§"/>
            </a:pPr>
            <a:r>
              <a:rPr lang="en-US" sz="2200" dirty="0"/>
              <a:t>Knowledge of  </a:t>
            </a:r>
            <a:r>
              <a:rPr lang="en-US" sz="2200" dirty="0" err="1"/>
              <a:t>Maths</a:t>
            </a:r>
            <a:r>
              <a:rPr lang="en-US" sz="2200" dirty="0"/>
              <a:t> 2 B.Tech.</a:t>
            </a:r>
          </a:p>
          <a:p>
            <a:pPr>
              <a:buFont typeface="Wingdings" pitchFamily="2" charset="2"/>
              <a:buChar char="§"/>
            </a:pPr>
            <a:r>
              <a:rPr lang="en-US" sz="2200" dirty="0"/>
              <a:t>Knowledge of  Permutation and Combination.</a:t>
            </a:r>
          </a:p>
          <a:p>
            <a:pPr marL="0" indent="0">
              <a:buNone/>
            </a:pPr>
            <a:endParaRPr lang="en-US" sz="2200" dirty="0"/>
          </a:p>
          <a:p>
            <a:pPr>
              <a:buFont typeface="Wingdings" pitchFamily="2" charset="2"/>
              <a:buChar char="§"/>
            </a:pPr>
            <a:endParaRPr lang="en-US" sz="2200" dirty="0"/>
          </a:p>
          <a:p>
            <a:pPr marL="0" indent="0">
              <a:buNone/>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524000" y="-32657"/>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Prerequisite</a:t>
            </a:r>
          </a:p>
        </p:txBody>
      </p:sp>
      <p:sp>
        <p:nvSpPr>
          <p:cNvPr id="2" name="Footer Placeholder 1"/>
          <p:cNvSpPr>
            <a:spLocks noGrp="1"/>
          </p:cNvSpPr>
          <p:nvPr>
            <p:ph type="ftr" sz="quarter" idx="11"/>
          </p:nvPr>
        </p:nvSpPr>
        <p:spPr/>
        <p:txBody>
          <a:bodyPr/>
          <a:lstStyle/>
          <a:p>
            <a:r>
              <a:rPr lang="en-US"/>
              <a:t>Dr. Lokesh Chaudhary    Statistics and Probability    Module 2 </a:t>
            </a:r>
            <a:endParaRPr lang="en-US" dirty="0"/>
          </a:p>
        </p:txBody>
      </p:sp>
    </p:spTree>
    <p:extLst>
      <p:ext uri="{BB962C8B-B14F-4D97-AF65-F5344CB8AC3E}">
        <p14:creationId xmlns:p14="http://schemas.microsoft.com/office/powerpoint/2010/main" val="5675745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4724400" cy="4724400"/>
          </a:xfrm>
        </p:spPr>
        <p:txBody>
          <a:bodyPr>
            <a:noAutofit/>
          </a:bodyPr>
          <a:lstStyle/>
          <a:p>
            <a:endParaRPr lang="en-US" sz="2200" dirty="0"/>
          </a:p>
          <a:p>
            <a:endParaRPr lang="en-US" sz="2200" dirty="0"/>
          </a:p>
          <a:p>
            <a:endParaRPr lang="en-US" sz="2200" dirty="0"/>
          </a:p>
        </p:txBody>
      </p:sp>
      <p:sp>
        <p:nvSpPr>
          <p:cNvPr id="8"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Module Content(CO2)</a:t>
            </a:r>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11" name="TextBox 10">
            <a:extLst>
              <a:ext uri="{FF2B5EF4-FFF2-40B4-BE49-F238E27FC236}">
                <a16:creationId xmlns:a16="http://schemas.microsoft.com/office/drawing/2014/main" id="{F58943FA-4C8A-4A0E-9BE4-589FF0524F89}"/>
              </a:ext>
            </a:extLst>
          </p:cNvPr>
          <p:cNvSpPr txBox="1"/>
          <p:nvPr/>
        </p:nvSpPr>
        <p:spPr>
          <a:xfrm>
            <a:off x="1143000" y="1398925"/>
            <a:ext cx="7391400" cy="3139321"/>
          </a:xfrm>
          <a:prstGeom prst="rect">
            <a:avLst/>
          </a:prstGeom>
          <a:noFill/>
        </p:spPr>
        <p:txBody>
          <a:bodyPr wrap="square">
            <a:spAutoFit/>
          </a:bodyPr>
          <a:lstStyle/>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Curve Fitting</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Method of least squares</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Fitting of straight lines</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Fitting of second degree parabola</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Exponential curves</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Correlation and Rank correlation,</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Linear regression</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Nonlinear regression</a:t>
            </a:r>
          </a:p>
          <a:p>
            <a:pPr marL="342900" indent="-342900" algn="just">
              <a:buFont typeface="Arial" pitchFamily="34" charset="0"/>
              <a:buChar char="•"/>
            </a:pPr>
            <a:r>
              <a:rPr lang="en-US" sz="2200" dirty="0">
                <a:latin typeface="Times New Roman" pitchFamily="18" charset="0"/>
                <a:ea typeface="Calibri" panose="020F0502020204030204" pitchFamily="34" charset="0"/>
                <a:cs typeface="Times New Roman" pitchFamily="18" charset="0"/>
              </a:rPr>
              <a:t>Multiple linear regression</a:t>
            </a:r>
          </a:p>
        </p:txBody>
      </p:sp>
    </p:spTree>
    <p:extLst>
      <p:ext uri="{BB962C8B-B14F-4D97-AF65-F5344CB8AC3E}">
        <p14:creationId xmlns:p14="http://schemas.microsoft.com/office/powerpoint/2010/main" val="338514776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524000"/>
            <a:ext cx="8077200" cy="2895600"/>
          </a:xfrm>
        </p:spPr>
        <p:txBody>
          <a:bodyPr>
            <a:noAutofit/>
          </a:bodyPr>
          <a:lstStyle/>
          <a:p>
            <a:pPr algn="just"/>
            <a:r>
              <a:rPr lang="en-US" sz="2200" dirty="0"/>
              <a:t>The objective of this course is to familiarize the engineers with concept of Statistical techniques.</a:t>
            </a:r>
          </a:p>
          <a:p>
            <a:pPr algn="just"/>
            <a:r>
              <a:rPr lang="en-US" sz="2200" dirty="0"/>
              <a:t> It aims to show case the students with standard concepts and tools from </a:t>
            </a:r>
            <a:r>
              <a:rPr lang="en-US" sz="2200" dirty="0" err="1"/>
              <a:t>B.Tech</a:t>
            </a:r>
            <a:r>
              <a:rPr lang="en-US" sz="2200" dirty="0"/>
              <a:t> to deal with advanced level of mathematics and applications that would be essential for their disciplines. </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Module</a:t>
            </a:r>
            <a:r>
              <a:rPr lang="en-US" sz="2400" b="1" noProof="0" dirty="0">
                <a:latin typeface="Times New Roman" panose="02020603050405020304" pitchFamily="18" charset="0"/>
              </a:rPr>
              <a:t> </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rPr>
              <a:t>Objectives</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85829702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400" b="1" dirty="0"/>
              <a:t>Curve Fitting</a:t>
            </a:r>
            <a:endParaRPr lang="en-US" sz="2200" b="1" dirty="0"/>
          </a:p>
          <a:p>
            <a:r>
              <a:rPr lang="en-US" sz="2200" dirty="0"/>
              <a:t>The objective of curve fitting is to find the parameters of a mathematical model that describes a set of data in a way that minimizes the difference between the model and the data.</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Topic objectives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0594533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q"/>
            </a:pPr>
            <a:r>
              <a:rPr lang="en-US" sz="2200" b="1" dirty="0"/>
              <a:t>Curve Fitting :</a:t>
            </a:r>
            <a:r>
              <a:rPr lang="en-US" sz="2200" dirty="0"/>
              <a:t>Curve fitting means an exact relationship between two variables by algebraic equation. It enables us to represent the relationship  between two variables by simple algebraic expressions e.g. polynomials, exponential or logarithmic functions.  .It is also used to estimate the values of one variable corresponding  to the specified values of other variables.   </a:t>
            </a:r>
          </a:p>
          <a:p>
            <a:endParaRPr lang="en-US" sz="2200" dirty="0"/>
          </a:p>
          <a:p>
            <a:pPr>
              <a:buFont typeface="Wingdings" panose="05000000000000000000" pitchFamily="2" charset="2"/>
              <a:buChar char="q"/>
            </a:pPr>
            <a:r>
              <a:rPr lang="en-US" sz="2200" b="1" dirty="0"/>
              <a:t>Method of Least Squares: </a:t>
            </a:r>
            <a:r>
              <a:rPr lang="en-US" sz="2200" dirty="0"/>
              <a:t>Method of least squares provides a unique set of values to the constants and hence suggests a curve of best fit to the given data.</a:t>
            </a:r>
            <a:endParaRPr lang="en-US" sz="2200" b="1"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9960674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Fitting a Straight Line: </a:t>
                </a:r>
                <a:r>
                  <a:rPr lang="en-US" sz="2200" dirty="0"/>
                  <a:t>Let </a:t>
                </a:r>
                <a14:m>
                  <m:oMath xmlns:m="http://schemas.openxmlformats.org/officeDocument/2006/math">
                    <m:d>
                      <m:dPr>
                        <m:ctrlPr>
                          <a:rPr lang="en-US" sz="2200" i="1" smtClean="0">
                            <a:latin typeface="Cambria Math" panose="02040503050406030204" pitchFamily="18" charset="0"/>
                          </a:rPr>
                        </m:ctrlPr>
                      </m:dPr>
                      <m:e>
                        <m:r>
                          <a:rPr lang="en-US" sz="2200" b="0" i="1" smtClean="0">
                            <a:latin typeface="Cambria Math"/>
                          </a:rPr>
                          <m:t> </m:t>
                        </m:r>
                        <m:sSub>
                          <m:sSubPr>
                            <m:ctrlPr>
                              <a:rPr lang="en-US" sz="2200" i="1" smtClean="0">
                                <a:latin typeface="Cambria Math" panose="02040503050406030204" pitchFamily="18" charset="0"/>
                              </a:rPr>
                            </m:ctrlPr>
                          </m:sSubPr>
                          <m:e>
                            <m:r>
                              <a:rPr lang="en-US" sz="2200" b="0" i="1" smtClean="0">
                                <a:latin typeface="Cambria Math"/>
                              </a:rPr>
                              <m:t>𝑥</m:t>
                            </m:r>
                          </m:e>
                          <m:sub>
                            <m:r>
                              <a:rPr lang="en-US" sz="2200" b="0" i="1" smtClean="0">
                                <a:latin typeface="Cambria Math"/>
                              </a:rPr>
                              <m:t>𝑖</m:t>
                            </m:r>
                          </m:sub>
                        </m:sSub>
                        <m:r>
                          <a:rPr lang="en-US" sz="2200" b="0" i="1" smtClean="0">
                            <a:latin typeface="Cambria Math"/>
                          </a:rPr>
                          <m:t>,</m:t>
                        </m:r>
                        <m:sSub>
                          <m:sSubPr>
                            <m:ctrlPr>
                              <a:rPr lang="en-US" sz="2200" i="1" smtClean="0">
                                <a:latin typeface="Cambria Math" panose="02040503050406030204" pitchFamily="18" charset="0"/>
                              </a:rPr>
                            </m:ctrlPr>
                          </m:sSubPr>
                          <m:e>
                            <m:r>
                              <a:rPr lang="en-US" sz="2200" b="0" i="1" smtClean="0">
                                <a:latin typeface="Cambria Math"/>
                              </a:rPr>
                              <m:t>𝑦</m:t>
                            </m:r>
                          </m:e>
                          <m:sub>
                            <m:r>
                              <a:rPr lang="en-US" sz="2200" b="0" i="1" smtClean="0">
                                <a:latin typeface="Cambria Math"/>
                              </a:rPr>
                              <m:t>𝑖</m:t>
                            </m:r>
                          </m:sub>
                        </m:sSub>
                      </m:e>
                    </m:d>
                    <m:r>
                      <a:rPr lang="en-US" sz="2200" b="0" i="1" smtClean="0">
                        <a:latin typeface="Cambria Math"/>
                      </a:rPr>
                      <m:t>,</m:t>
                    </m:r>
                    <m:r>
                      <a:rPr lang="en-US" sz="2200" b="0" i="1" smtClean="0">
                        <a:latin typeface="Cambria Math"/>
                      </a:rPr>
                      <m:t>𝑖</m:t>
                    </m:r>
                    <m:r>
                      <a:rPr lang="en-US" sz="2200" b="0" i="1" smtClean="0">
                        <a:latin typeface="Cambria Math"/>
                      </a:rPr>
                      <m:t>=1,2,….</m:t>
                    </m:r>
                    <m:r>
                      <a:rPr lang="en-US" sz="2200" b="0" i="1" smtClean="0">
                        <a:latin typeface="Cambria Math"/>
                      </a:rPr>
                      <m:t>𝑛</m:t>
                    </m:r>
                  </m:oMath>
                </a14:m>
                <a:r>
                  <a:rPr lang="en-US" sz="2200" dirty="0"/>
                  <a:t> be n sets of observations of related data and </a:t>
                </a:r>
                <a:endParaRPr lang="en-US" sz="2200" b="0" i="1" dirty="0">
                  <a:latin typeface="Cambria Math"/>
                </a:endParaRPr>
              </a:p>
              <a:p>
                <a:pPr marL="0" indent="0">
                  <a:buNone/>
                </a:pP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.1+</m:t>
                    </m:r>
                    <m:r>
                      <a:rPr lang="en-US" sz="2200" b="0" i="1" smtClean="0">
                        <a:latin typeface="Cambria Math"/>
                      </a:rPr>
                      <m:t>𝑏</m:t>
                    </m:r>
                    <m:r>
                      <a:rPr lang="en-US" sz="2200" b="0" i="1" smtClean="0">
                        <a:latin typeface="Cambria Math"/>
                      </a:rPr>
                      <m:t>.</m:t>
                    </m:r>
                    <m:r>
                      <a:rPr lang="en-US" sz="2200" b="0" i="1" smtClean="0">
                        <a:latin typeface="Cambria Math"/>
                      </a:rPr>
                      <m:t>𝑥</m:t>
                    </m:r>
                  </m:oMath>
                </a14:m>
                <a:r>
                  <a:rPr lang="en-US" sz="2200" dirty="0"/>
                  <a:t>			(1)</a:t>
                </a:r>
              </a:p>
              <a:p>
                <a:pPr marL="0" indent="0">
                  <a:buNone/>
                </a:pPr>
                <a:r>
                  <a:rPr lang="en-US" sz="2200" dirty="0"/>
                  <a:t>Normal equations	</a:t>
                </a:r>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𝑦</m:t>
                        </m:r>
                      </m:e>
                    </m:nary>
                    <m:r>
                      <a:rPr lang="en-US" sz="2200" b="0" i="1" smtClean="0">
                        <a:latin typeface="Cambria Math"/>
                      </a:rPr>
                      <m:t>=</m:t>
                    </m:r>
                    <m:r>
                      <a:rPr lang="en-US" sz="2200" b="0" i="1" smtClean="0">
                        <a:latin typeface="Cambria Math"/>
                      </a:rPr>
                      <m:t>𝑛𝑎</m:t>
                    </m:r>
                    <m:r>
                      <a:rPr lang="en-US" sz="2200" b="0" i="1" smtClean="0">
                        <a:latin typeface="Cambria Math"/>
                      </a:rPr>
                      <m:t>+</m:t>
                    </m:r>
                    <m:r>
                      <a:rPr lang="en-US" sz="2200" b="0" i="1" smtClean="0">
                        <a:latin typeface="Cambria Math"/>
                      </a:rPr>
                      <m:t>𝑏</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e>
                    </m:nary>
                  </m:oMath>
                </a14:m>
                <a:r>
                  <a:rPr lang="en-US" sz="2200" dirty="0"/>
                  <a:t>		(2)</a:t>
                </a:r>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𝑥𝑦</m:t>
                        </m:r>
                      </m:e>
                    </m:nary>
                    <m:r>
                      <a:rPr lang="en-US" sz="2200" b="0" i="1" smtClean="0">
                        <a:latin typeface="Cambria Math"/>
                      </a:rPr>
                      <m:t>=</m:t>
                    </m:r>
                    <m:r>
                      <a:rPr lang="en-US" sz="2200" b="0" i="1" smtClean="0">
                        <a:latin typeface="Cambria Math"/>
                      </a:rPr>
                      <m:t>𝑎</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e>
                    </m:nary>
                    <m:r>
                      <a:rPr lang="en-US" sz="2200" b="0" i="1" smtClean="0">
                        <a:latin typeface="Cambria Math"/>
                      </a:rPr>
                      <m:t>+</m:t>
                    </m:r>
                    <m:r>
                      <a:rPr lang="en-US" sz="2200" b="0" i="1" smtClean="0">
                        <a:latin typeface="Cambria Math"/>
                      </a:rPr>
                      <m:t>𝑏</m:t>
                    </m:r>
                    <m:nary>
                      <m:naryPr>
                        <m:chr m:val="∑"/>
                        <m:subHide m:val="on"/>
                        <m:supHide m:val="on"/>
                        <m:ctrlPr>
                          <a:rPr lang="en-US" sz="2200" i="1" smtClean="0">
                            <a:latin typeface="Cambria Math" panose="02040503050406030204" pitchFamily="18" charset="0"/>
                          </a:rPr>
                        </m:ctrlPr>
                      </m:naryPr>
                      <m:sub/>
                      <m:sup/>
                      <m:e>
                        <m:sSup>
                          <m:sSupPr>
                            <m:ctrlPr>
                              <a:rPr lang="en-US" sz="2200" i="1" smtClean="0">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e>
                    </m:nary>
                  </m:oMath>
                </a14:m>
                <a:r>
                  <a:rPr lang="en-US" sz="2200" dirty="0"/>
                  <a:t>		(3)</a:t>
                </a:r>
              </a:p>
              <a:p>
                <a:pPr marL="0" indent="0">
                  <a:buNone/>
                </a:pPr>
                <a:r>
                  <a:rPr lang="en-US" sz="2200" dirty="0"/>
                  <a:t>If n is odd then,</a:t>
                </a:r>
                <a14:m>
                  <m:oMath xmlns:m="http://schemas.openxmlformats.org/officeDocument/2006/math">
                    <m:r>
                      <a:rPr lang="en-US" sz="2200" b="0" i="1" smtClean="0">
                        <a:latin typeface="Cambria Math"/>
                      </a:rPr>
                      <m:t>𝑢</m:t>
                    </m:r>
                    <m:r>
                      <a:rPr lang="en-US" sz="2200" b="0" i="1" smtClean="0">
                        <a:latin typeface="Cambria Math"/>
                      </a:rPr>
                      <m:t>=</m:t>
                    </m:r>
                    <m:f>
                      <m:fPr>
                        <m:ctrlPr>
                          <a:rPr lang="en-US" sz="2200" i="1" smtClean="0">
                            <a:latin typeface="Cambria Math" panose="02040503050406030204" pitchFamily="18" charset="0"/>
                          </a:rPr>
                        </m:ctrlPr>
                      </m:fPr>
                      <m:num>
                        <m:r>
                          <a:rPr lang="en-US" sz="2200" b="0" i="1" smtClean="0">
                            <a:latin typeface="Cambria Math"/>
                          </a:rPr>
                          <m:t>𝑥</m:t>
                        </m:r>
                        <m:r>
                          <a:rPr lang="en-US" sz="2200" b="0" i="1" smtClean="0">
                            <a:latin typeface="Cambria Math"/>
                          </a:rPr>
                          <m:t>−(</m:t>
                        </m:r>
                        <m:r>
                          <a:rPr lang="en-US" sz="2200" b="0" i="1" smtClean="0">
                            <a:latin typeface="Cambria Math"/>
                          </a:rPr>
                          <m:t>𝑚𝑖𝑑𝑑𝑙𝑒</m:t>
                        </m:r>
                        <m:r>
                          <a:rPr lang="en-US" sz="2200" b="0" i="1" smtClean="0">
                            <a:latin typeface="Cambria Math"/>
                          </a:rPr>
                          <m:t> </m:t>
                        </m:r>
                        <m:r>
                          <a:rPr lang="en-US" sz="2200" b="0" i="1" smtClean="0">
                            <a:latin typeface="Cambria Math"/>
                          </a:rPr>
                          <m:t>𝑡𝑒𝑟𝑚</m:t>
                        </m:r>
                        <m:r>
                          <a:rPr lang="en-US" sz="2200" b="0" i="1" smtClean="0">
                            <a:latin typeface="Cambria Math"/>
                          </a:rPr>
                          <m:t>)</m:t>
                        </m:r>
                      </m:num>
                      <m:den>
                        <m:r>
                          <a:rPr lang="en-US" sz="2200" b="0" i="1" smtClean="0">
                            <a:latin typeface="Cambria Math"/>
                          </a:rPr>
                          <m:t>𝑖𝑛𝑡𝑒𝑟𝑣𝑎𝑙</m:t>
                        </m:r>
                        <m:r>
                          <a:rPr lang="en-US" sz="2200" b="0" i="1" smtClean="0">
                            <a:latin typeface="Cambria Math"/>
                          </a:rPr>
                          <m:t>(</m:t>
                        </m:r>
                        <m:r>
                          <a:rPr lang="en-US" sz="2200" b="0" i="1" smtClean="0">
                            <a:latin typeface="Cambria Math"/>
                          </a:rPr>
                          <m:t>h</m:t>
                        </m:r>
                        <m:r>
                          <a:rPr lang="en-US" sz="2200" b="0" i="1" smtClean="0">
                            <a:latin typeface="Cambria Math"/>
                          </a:rPr>
                          <m:t>)</m:t>
                        </m:r>
                      </m:den>
                    </m:f>
                  </m:oMath>
                </a14:m>
                <a:endParaRPr lang="en-US" sz="2200" dirty="0"/>
              </a:p>
              <a:p>
                <a:pPr marL="0" indent="0">
                  <a:buNone/>
                </a:pPr>
                <a:r>
                  <a:rPr lang="en-US" sz="2200" dirty="0"/>
                  <a:t>If n is even then,</a:t>
                </a:r>
                <a14:m>
                  <m:oMath xmlns:m="http://schemas.openxmlformats.org/officeDocument/2006/math">
                    <m:r>
                      <a:rPr lang="en-US" sz="2200" b="0" i="1" smtClean="0">
                        <a:latin typeface="Cambria Math"/>
                      </a:rPr>
                      <m:t>𝑢</m:t>
                    </m:r>
                    <m:r>
                      <a:rPr lang="en-US" sz="2200" b="0" i="1" smtClean="0">
                        <a:latin typeface="Cambria Math"/>
                      </a:rPr>
                      <m:t>=</m:t>
                    </m:r>
                    <m:f>
                      <m:fPr>
                        <m:ctrlPr>
                          <a:rPr lang="en-US" sz="2200" i="1" smtClean="0">
                            <a:latin typeface="Cambria Math" panose="02040503050406030204" pitchFamily="18" charset="0"/>
                          </a:rPr>
                        </m:ctrlPr>
                      </m:fPr>
                      <m:num>
                        <m:r>
                          <a:rPr lang="en-US" sz="2200" b="0" i="1" smtClean="0">
                            <a:latin typeface="Cambria Math"/>
                          </a:rPr>
                          <m:t>𝑥</m:t>
                        </m:r>
                        <m:r>
                          <a:rPr lang="en-US" sz="2200" b="0" i="1" smtClean="0">
                            <a:latin typeface="Cambria Math"/>
                          </a:rPr>
                          <m:t>−(</m:t>
                        </m:r>
                        <m:r>
                          <a:rPr lang="en-US" sz="2200" b="0" i="1" smtClean="0">
                            <a:latin typeface="Cambria Math"/>
                          </a:rPr>
                          <m:t>𝑚𝑒𝑎𝑛</m:t>
                        </m:r>
                        <m:r>
                          <a:rPr lang="en-US" sz="2200" b="0" i="1" smtClean="0">
                            <a:latin typeface="Cambria Math"/>
                          </a:rPr>
                          <m:t> </m:t>
                        </m:r>
                        <m:r>
                          <a:rPr lang="en-US" sz="2200" b="0" i="1" smtClean="0">
                            <a:latin typeface="Cambria Math"/>
                          </a:rPr>
                          <m:t>𝑜𝑓</m:t>
                        </m:r>
                        <m:r>
                          <a:rPr lang="en-US" sz="2200" b="0" i="1" smtClean="0">
                            <a:latin typeface="Cambria Math"/>
                          </a:rPr>
                          <m:t> </m:t>
                        </m:r>
                        <m:r>
                          <a:rPr lang="en-US" sz="2200" b="0" i="1" smtClean="0">
                            <a:latin typeface="Cambria Math"/>
                          </a:rPr>
                          <m:t>𝑡𝑤𝑜</m:t>
                        </m:r>
                        <m:r>
                          <a:rPr lang="en-US" sz="2200" b="0" i="1" smtClean="0">
                            <a:latin typeface="Cambria Math"/>
                          </a:rPr>
                          <m:t> </m:t>
                        </m:r>
                        <m:r>
                          <a:rPr lang="en-US" sz="2200" b="0" i="1" smtClean="0">
                            <a:latin typeface="Cambria Math"/>
                          </a:rPr>
                          <m:t>𝑚𝑖𝑑𝑑𝑙𝑒</m:t>
                        </m:r>
                        <m:r>
                          <a:rPr lang="en-US" sz="2200" b="0" i="1" smtClean="0">
                            <a:latin typeface="Cambria Math"/>
                          </a:rPr>
                          <m:t> </m:t>
                        </m:r>
                        <m:r>
                          <a:rPr lang="en-US" sz="2200" b="0" i="1" smtClean="0">
                            <a:latin typeface="Cambria Math"/>
                          </a:rPr>
                          <m:t>𝑡𝑒𝑟𝑚𝑠</m:t>
                        </m:r>
                        <m:r>
                          <a:rPr lang="en-US" sz="2200" b="0" i="1" smtClean="0">
                            <a:latin typeface="Cambria Math"/>
                          </a:rPr>
                          <m:t>)</m:t>
                        </m:r>
                      </m:num>
                      <m:den>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2</m:t>
                            </m:r>
                          </m:den>
                        </m:f>
                        <m:r>
                          <a:rPr lang="en-US" sz="2200" b="0" i="1" smtClean="0">
                            <a:latin typeface="Cambria Math"/>
                          </a:rPr>
                          <m:t>(</m:t>
                        </m:r>
                        <m:r>
                          <a:rPr lang="en-US" sz="2200" b="0" i="1" smtClean="0">
                            <a:latin typeface="Cambria Math"/>
                          </a:rPr>
                          <m:t>𝑖𝑛𝑡𝑒𝑟𝑣𝑎𝑙</m:t>
                        </m:r>
                        <m:r>
                          <a:rPr lang="en-US" sz="2200" b="0" i="1" smtClean="0">
                            <a:latin typeface="Cambria Math"/>
                          </a:rPr>
                          <m:t>)</m:t>
                        </m:r>
                      </m:den>
                    </m:f>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5185"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82211278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Q1. Fit a straight line to the following data by least square method.</a:t>
                </a:r>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Sol. Let the straight line obtained from the given data be</a:t>
                </a:r>
                <a:endParaRPr lang="en-US" sz="2200" b="0" i="1" dirty="0">
                  <a:latin typeface="Cambria Math"/>
                </a:endParaRPr>
              </a:p>
              <a:p>
                <a:pPr marL="0" indent="0">
                  <a:buNone/>
                </a:pP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.1+</m:t>
                    </m:r>
                    <m:r>
                      <a:rPr lang="en-US" sz="2200" b="0" i="1" smtClean="0">
                        <a:latin typeface="Cambria Math"/>
                      </a:rPr>
                      <m:t>𝑏𝑥</m:t>
                    </m:r>
                  </m:oMath>
                </a14:m>
                <a:r>
                  <a:rPr lang="en-US" sz="2200" dirty="0"/>
                  <a:t>			(1)</a:t>
                </a:r>
              </a:p>
              <a:p>
                <a:pPr marL="0" indent="0">
                  <a:buNone/>
                </a:pPr>
                <a:r>
                  <a:rPr lang="en-US" sz="2200" dirty="0"/>
                  <a:t> then the normal equations are</a:t>
                </a:r>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𝑦</m:t>
                        </m:r>
                      </m:e>
                    </m:nary>
                    <m:r>
                      <a:rPr lang="en-US" sz="2200" b="0" i="1" smtClean="0">
                        <a:latin typeface="Cambria Math"/>
                      </a:rPr>
                      <m:t>=</m:t>
                    </m:r>
                    <m:r>
                      <a:rPr lang="en-US" sz="2200" b="0" i="1" smtClean="0">
                        <a:latin typeface="Cambria Math"/>
                      </a:rPr>
                      <m:t>𝑚𝑎</m:t>
                    </m:r>
                    <m:r>
                      <a:rPr lang="en-US" sz="2200" b="0" i="1" smtClean="0">
                        <a:latin typeface="Cambria Math"/>
                      </a:rPr>
                      <m:t>+</m:t>
                    </m:r>
                    <m:r>
                      <a:rPr lang="en-US" sz="2200" b="0" i="1" smtClean="0">
                        <a:latin typeface="Cambria Math"/>
                      </a:rPr>
                      <m:t>𝑏</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e>
                    </m:nary>
                  </m:oMath>
                </a14:m>
                <a:r>
                  <a:rPr lang="en-US" sz="2200" dirty="0"/>
                  <a:t> 		(2)</a:t>
                </a:r>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𝑥𝑦</m:t>
                        </m:r>
                      </m:e>
                    </m:nary>
                    <m:r>
                      <a:rPr lang="en-US" sz="2200" b="0" i="1" smtClean="0">
                        <a:latin typeface="Cambria Math"/>
                      </a:rPr>
                      <m:t>=</m:t>
                    </m:r>
                    <m:r>
                      <a:rPr lang="en-US" sz="2200" b="0" i="1" smtClean="0">
                        <a:latin typeface="Cambria Math"/>
                      </a:rPr>
                      <m:t>𝑎</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e>
                    </m:nary>
                    <m:r>
                      <a:rPr lang="en-US" sz="2200" b="0" i="1" smtClean="0">
                        <a:latin typeface="Cambria Math"/>
                      </a:rPr>
                      <m:t>+</m:t>
                    </m:r>
                    <m:r>
                      <a:rPr lang="en-US" sz="2200" b="0" i="1" smtClean="0">
                        <a:latin typeface="Cambria Math"/>
                      </a:rPr>
                      <m:t>𝑏</m:t>
                    </m:r>
                    <m:nary>
                      <m:naryPr>
                        <m:chr m:val="∑"/>
                        <m:subHide m:val="on"/>
                        <m:supHide m:val="on"/>
                        <m:ctrlPr>
                          <a:rPr lang="en-US" sz="2200" i="1" smtClean="0">
                            <a:latin typeface="Cambria Math" panose="02040503050406030204" pitchFamily="18" charset="0"/>
                          </a:rPr>
                        </m:ctrlPr>
                      </m:naryPr>
                      <m:sub/>
                      <m:sup/>
                      <m:e>
                        <m:sSup>
                          <m:sSupPr>
                            <m:ctrlPr>
                              <a:rPr lang="en-US" sz="2200" i="1" smtClean="0">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e>
                    </m:nary>
                  </m:oMath>
                </a14:m>
                <a:r>
                  <a:rPr lang="en-US" sz="2200" dirty="0"/>
                  <a:t> 		(3)                                    </a:t>
                </a:r>
              </a:p>
              <a:p>
                <a:pPr marL="0" indent="0">
                  <a:buNone/>
                </a:pPr>
                <a:r>
                  <a:rPr lang="en-US" sz="2200" dirty="0"/>
                  <a:t>m=5</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5185"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90446339"/>
                  </p:ext>
                </p:extLst>
              </p:nvPr>
            </p:nvGraphicFramePr>
            <p:xfrm>
              <a:off x="1524000" y="1651000"/>
              <a:ext cx="6096000" cy="7366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3.3</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6.3</a:t>
                          </a:r>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90446339"/>
                  </p:ext>
                </p:extLst>
              </p:nvPr>
            </p:nvGraphicFramePr>
            <p:xfrm>
              <a:off x="1524000" y="1651000"/>
              <a:ext cx="6096000" cy="7366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65760">
                    <a:tc>
                      <a:txBody>
                        <a:bodyPr/>
                        <a:lstStyle/>
                        <a:p>
                          <a:endParaRPr lang="en-US"/>
                        </a:p>
                      </a:txBody>
                      <a:tcPr>
                        <a:blipFill>
                          <a:blip r:embed="rId3"/>
                          <a:stretch>
                            <a:fillRect l="-1198" t="-8197" r="-501796" b="-124590"/>
                          </a:stretch>
                        </a:blipFill>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0"/>
                      </a:ext>
                    </a:extLst>
                  </a:tr>
                  <a:tr h="370840">
                    <a:tc>
                      <a:txBody>
                        <a:bodyPr/>
                        <a:lstStyle/>
                        <a:p>
                          <a:endParaRPr lang="en-US"/>
                        </a:p>
                      </a:txBody>
                      <a:tcPr>
                        <a:blipFill>
                          <a:blip r:embed="rId3"/>
                          <a:stretch>
                            <a:fillRect l="-1198" t="-108197" r="-501796" b="-24590"/>
                          </a:stretch>
                        </a:blipFill>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3.3</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6.3</a:t>
                          </a:r>
                        </a:p>
                      </a:txBody>
                      <a:tcPr/>
                    </a:tc>
                    <a:extLst>
                      <a:ext uri="{0D108BD9-81ED-4DB2-BD59-A6C34878D82A}">
                        <a16:rowId xmlns:a16="http://schemas.microsoft.com/office/drawing/2014/main" val="10001"/>
                      </a:ext>
                    </a:extLst>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61161643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mc:AlternateContent xmlns:mc="http://schemas.openxmlformats.org/markup-compatibility/2006" xmlns:a14="http://schemas.microsoft.com/office/drawing/2010/main">
        <mc:Choice Requires="a14">
          <p:sp>
            <p:nvSpPr>
              <p:cNvPr id="9" name="Content Placeholder 8"/>
              <p:cNvSpPr>
                <a:spLocks noGrp="1"/>
              </p:cNvSpPr>
              <p:nvPr>
                <p:ph idx="1"/>
              </p:nvPr>
            </p:nvSpPr>
            <p:spPr>
              <a:xfrm>
                <a:off x="685800" y="4224382"/>
                <a:ext cx="8001000" cy="1795418"/>
              </a:xfrm>
            </p:spPr>
            <p:txBody>
              <a:bodyPr>
                <a:normAutofit/>
              </a:bodyPr>
              <a:lstStyle/>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i="1">
                              <a:latin typeface="Cambria Math" panose="02040503050406030204" pitchFamily="18" charset="0"/>
                            </a:rPr>
                          </m:ctrlPr>
                        </m:naryPr>
                        <m:sub/>
                        <m:sup/>
                        <m:e>
                          <m:r>
                            <a:rPr lang="en-US" i="1">
                              <a:latin typeface="Cambria Math"/>
                            </a:rPr>
                            <m:t>𝑥𝑦</m:t>
                          </m:r>
                        </m:e>
                      </m:nary>
                      <m:r>
                        <a:rPr lang="en-US" i="1">
                          <a:latin typeface="Cambria Math"/>
                        </a:rPr>
                        <m:t>=</m:t>
                      </m:r>
                      <m:r>
                        <a:rPr lang="en-US" i="1">
                          <a:latin typeface="Cambria Math"/>
                        </a:rPr>
                        <m:t>𝑎</m:t>
                      </m:r>
                      <m:nary>
                        <m:naryPr>
                          <m:chr m:val="∑"/>
                          <m:subHide m:val="on"/>
                          <m:supHide m:val="on"/>
                          <m:ctrlPr>
                            <a:rPr lang="en-US" i="1">
                              <a:latin typeface="Cambria Math" panose="02040503050406030204" pitchFamily="18" charset="0"/>
                            </a:rPr>
                          </m:ctrlPr>
                        </m:naryPr>
                        <m:sub/>
                        <m:sup/>
                        <m:e>
                          <m:r>
                            <a:rPr lang="en-US" i="1">
                              <a:latin typeface="Cambria Math"/>
                            </a:rPr>
                            <m:t>𝑥</m:t>
                          </m:r>
                        </m:e>
                      </m:nary>
                      <m:r>
                        <a:rPr lang="en-US" i="1">
                          <a:latin typeface="Cambria Math"/>
                        </a:rPr>
                        <m:t>+</m:t>
                      </m:r>
                      <m:r>
                        <a:rPr lang="en-US" i="1">
                          <a:latin typeface="Cambria Math"/>
                        </a:rPr>
                        <m:t>𝑏</m:t>
                      </m:r>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e>
                      </m:nary>
                      <m:r>
                        <a:rPr lang="en-US" b="0" i="1" smtClean="0">
                          <a:latin typeface="Cambria Math"/>
                        </a:rPr>
                        <m:t>⇒47.1=10</m:t>
                      </m:r>
                      <m:r>
                        <a:rPr lang="en-US" b="0" i="1" smtClean="0">
                          <a:latin typeface="Cambria Math"/>
                        </a:rPr>
                        <m:t>𝑎</m:t>
                      </m:r>
                      <m:r>
                        <a:rPr lang="en-US" b="0" i="1" smtClean="0">
                          <a:latin typeface="Cambria Math"/>
                        </a:rPr>
                        <m:t>+30</m:t>
                      </m:r>
                      <m:r>
                        <a:rPr lang="en-US" b="0" i="1" smtClean="0">
                          <a:latin typeface="Cambria Math"/>
                        </a:rPr>
                        <m:t>𝑏</m:t>
                      </m:r>
                    </m:oMath>
                  </m:oMathPara>
                </a14:m>
                <a:endParaRPr lang="en-US" b="0" dirty="0"/>
              </a:p>
              <a:p>
                <a:pPr marL="0" indent="0">
                  <a:buNone/>
                </a:pPr>
                <a:r>
                  <a:rPr lang="en-US" dirty="0"/>
                  <a:t>Solving we get </a:t>
                </a:r>
                <a14:m>
                  <m:oMath xmlns:m="http://schemas.openxmlformats.org/officeDocument/2006/math">
                    <m:r>
                      <a:rPr lang="en-US" b="0" i="1" smtClean="0">
                        <a:latin typeface="Cambria Math"/>
                      </a:rPr>
                      <m:t>𝑎</m:t>
                    </m:r>
                    <m:r>
                      <a:rPr lang="en-US" b="0" i="1" smtClean="0">
                        <a:latin typeface="Cambria Math"/>
                      </a:rPr>
                      <m:t>=0.72,</m:t>
                    </m:r>
                    <m:r>
                      <a:rPr lang="en-US" b="0" i="1" smtClean="0">
                        <a:latin typeface="Cambria Math"/>
                      </a:rPr>
                      <m:t>𝑏</m:t>
                    </m:r>
                    <m:r>
                      <a:rPr lang="en-US" b="0" i="1" smtClean="0">
                        <a:latin typeface="Cambria Math"/>
                      </a:rPr>
                      <m:t>=1.33</m:t>
                    </m:r>
                  </m:oMath>
                </a14:m>
                <a:endParaRPr lang="en-US" b="0" dirty="0"/>
              </a:p>
              <a:p>
                <a:pPr marL="0" indent="0">
                  <a:buNone/>
                </a:pPr>
                <a:r>
                  <a:rPr lang="en-US" dirty="0"/>
                  <a:t>Required lines is </a:t>
                </a:r>
                <a14:m>
                  <m:oMath xmlns:m="http://schemas.openxmlformats.org/officeDocument/2006/math">
                    <m:r>
                      <a:rPr lang="en-US" b="0" i="1" smtClean="0">
                        <a:latin typeface="Cambria Math"/>
                      </a:rPr>
                      <m:t>𝑦</m:t>
                    </m:r>
                    <m:r>
                      <a:rPr lang="en-US" b="0" i="1" smtClean="0">
                        <a:latin typeface="Cambria Math"/>
                      </a:rPr>
                      <m:t>=0.72+1.33</m:t>
                    </m:r>
                    <m:r>
                      <a:rPr lang="en-US" b="0" i="1" smtClean="0">
                        <a:latin typeface="Cambria Math"/>
                      </a:rPr>
                      <m:t>𝑥</m:t>
                    </m:r>
                  </m:oMath>
                </a14:m>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idx="1"/>
              </p:nvPr>
            </p:nvSpPr>
            <p:spPr>
              <a:xfrm>
                <a:off x="685800" y="4224382"/>
                <a:ext cx="8001000" cy="1795418"/>
              </a:xfrm>
              <a:blipFill>
                <a:blip r:embed="rId2"/>
                <a:stretch>
                  <a:fillRect l="-838"/>
                </a:stretch>
              </a:blipFill>
            </p:spPr>
            <p:txBody>
              <a:bodyPr/>
              <a:lstStyle/>
              <a:p>
                <a:r>
                  <a:rPr lang="en-US">
                    <a:noFill/>
                  </a:rPr>
                  <a:t> </a:t>
                </a:r>
              </a:p>
            </p:txBody>
          </p:sp>
        </mc:Fallback>
      </mc:AlternateContent>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B0427EE-B8C7-489A-986C-7DC9DB5B2F8E}"/>
                  </a:ext>
                </a:extLst>
              </p:cNvPr>
              <p:cNvGraphicFramePr>
                <a:graphicFrameLocks noGrp="1"/>
              </p:cNvGraphicFramePr>
              <p:nvPr>
                <p:extLst>
                  <p:ext uri="{D42A27DB-BD31-4B8C-83A1-F6EECF244321}">
                    <p14:modId xmlns:p14="http://schemas.microsoft.com/office/powerpoint/2010/main" val="698437909"/>
                  </p:ext>
                </p:extLst>
              </p:nvPr>
            </p:nvGraphicFramePr>
            <p:xfrm>
              <a:off x="1219200" y="990600"/>
              <a:ext cx="6705600" cy="3124202"/>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4206461038"/>
                        </a:ext>
                      </a:extLst>
                    </a:gridCol>
                    <a:gridCol w="1676400">
                      <a:extLst>
                        <a:ext uri="{9D8B030D-6E8A-4147-A177-3AD203B41FA5}">
                          <a16:colId xmlns:a16="http://schemas.microsoft.com/office/drawing/2014/main" val="1269122857"/>
                        </a:ext>
                      </a:extLst>
                    </a:gridCol>
                    <a:gridCol w="1676400">
                      <a:extLst>
                        <a:ext uri="{9D8B030D-6E8A-4147-A177-3AD203B41FA5}">
                          <a16:colId xmlns:a16="http://schemas.microsoft.com/office/drawing/2014/main" val="286128301"/>
                        </a:ext>
                      </a:extLst>
                    </a:gridCol>
                    <a:gridCol w="1676400">
                      <a:extLst>
                        <a:ext uri="{9D8B030D-6E8A-4147-A177-3AD203B41FA5}">
                          <a16:colId xmlns:a16="http://schemas.microsoft.com/office/drawing/2014/main" val="64655418"/>
                        </a:ext>
                      </a:extLst>
                    </a:gridCol>
                  </a:tblGrid>
                  <a:tr h="389677">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𝒙𝒚</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1" i="1" smtClean="0">
                                        <a:latin typeface="Cambria Math" panose="02040503050406030204" pitchFamily="18" charset="0"/>
                                      </a:rPr>
                                      <m:t>𝟐</m:t>
                                    </m:r>
                                  </m:sup>
                                </m:sSup>
                              </m:oMath>
                            </m:oMathPara>
                          </a14:m>
                          <a:endParaRPr lang="en-US" dirty="0"/>
                        </a:p>
                      </a:txBody>
                      <a:tcPr/>
                    </a:tc>
                    <a:extLst>
                      <a:ext uri="{0D108BD9-81ED-4DB2-BD59-A6C34878D82A}">
                        <a16:rowId xmlns:a16="http://schemas.microsoft.com/office/drawing/2014/main" val="1831223593"/>
                      </a:ext>
                    </a:extLst>
                  </a:tr>
                  <a:tr h="388546">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914335635"/>
                      </a:ext>
                    </a:extLst>
                  </a:tr>
                  <a:tr h="388546">
                    <a:tc>
                      <a:txBody>
                        <a:bodyPr/>
                        <a:lstStyle/>
                        <a:p>
                          <a:r>
                            <a:rPr lang="en-US" dirty="0"/>
                            <a:t>1</a:t>
                          </a:r>
                        </a:p>
                      </a:txBody>
                      <a:tcPr/>
                    </a:tc>
                    <a:tc>
                      <a:txBody>
                        <a:bodyPr/>
                        <a:lstStyle/>
                        <a:p>
                          <a:r>
                            <a:rPr lang="en-US" dirty="0"/>
                            <a:t>1.8</a:t>
                          </a:r>
                        </a:p>
                      </a:txBody>
                      <a:tcPr/>
                    </a:tc>
                    <a:tc>
                      <a:txBody>
                        <a:bodyPr/>
                        <a:lstStyle/>
                        <a:p>
                          <a:r>
                            <a:rPr lang="en-US" dirty="0"/>
                            <a:t>1.8</a:t>
                          </a:r>
                        </a:p>
                      </a:txBody>
                      <a:tcPr/>
                    </a:tc>
                    <a:tc>
                      <a:txBody>
                        <a:bodyPr/>
                        <a:lstStyle/>
                        <a:p>
                          <a:r>
                            <a:rPr lang="en-US" dirty="0"/>
                            <a:t>1</a:t>
                          </a:r>
                        </a:p>
                      </a:txBody>
                      <a:tcPr/>
                    </a:tc>
                    <a:extLst>
                      <a:ext uri="{0D108BD9-81ED-4DB2-BD59-A6C34878D82A}">
                        <a16:rowId xmlns:a16="http://schemas.microsoft.com/office/drawing/2014/main" val="2277806695"/>
                      </a:ext>
                    </a:extLst>
                  </a:tr>
                  <a:tr h="388546">
                    <a:tc>
                      <a:txBody>
                        <a:bodyPr/>
                        <a:lstStyle/>
                        <a:p>
                          <a:r>
                            <a:rPr lang="en-US" dirty="0"/>
                            <a:t>2</a:t>
                          </a:r>
                        </a:p>
                      </a:txBody>
                      <a:tcPr/>
                    </a:tc>
                    <a:tc>
                      <a:txBody>
                        <a:bodyPr/>
                        <a:lstStyle/>
                        <a:p>
                          <a:r>
                            <a:rPr lang="en-US" dirty="0"/>
                            <a:t>3.3</a:t>
                          </a:r>
                        </a:p>
                      </a:txBody>
                      <a:tcPr/>
                    </a:tc>
                    <a:tc>
                      <a:txBody>
                        <a:bodyPr/>
                        <a:lstStyle/>
                        <a:p>
                          <a:r>
                            <a:rPr lang="en-US" dirty="0"/>
                            <a:t>6.6</a:t>
                          </a:r>
                        </a:p>
                      </a:txBody>
                      <a:tcPr/>
                    </a:tc>
                    <a:tc>
                      <a:txBody>
                        <a:bodyPr/>
                        <a:lstStyle/>
                        <a:p>
                          <a:r>
                            <a:rPr lang="en-US" dirty="0"/>
                            <a:t>4</a:t>
                          </a:r>
                        </a:p>
                      </a:txBody>
                      <a:tcPr/>
                    </a:tc>
                    <a:extLst>
                      <a:ext uri="{0D108BD9-81ED-4DB2-BD59-A6C34878D82A}">
                        <a16:rowId xmlns:a16="http://schemas.microsoft.com/office/drawing/2014/main" val="1035193212"/>
                      </a:ext>
                    </a:extLst>
                  </a:tr>
                  <a:tr h="388546">
                    <a:tc>
                      <a:txBody>
                        <a:bodyPr/>
                        <a:lstStyle/>
                        <a:p>
                          <a:r>
                            <a:rPr lang="en-US" dirty="0"/>
                            <a:t>3</a:t>
                          </a:r>
                        </a:p>
                      </a:txBody>
                      <a:tcPr/>
                    </a:tc>
                    <a:tc>
                      <a:txBody>
                        <a:bodyPr/>
                        <a:lstStyle/>
                        <a:p>
                          <a:r>
                            <a:rPr lang="en-US" dirty="0"/>
                            <a:t>4.5</a:t>
                          </a:r>
                        </a:p>
                      </a:txBody>
                      <a:tcPr/>
                    </a:tc>
                    <a:tc>
                      <a:txBody>
                        <a:bodyPr/>
                        <a:lstStyle/>
                        <a:p>
                          <a:r>
                            <a:rPr lang="en-US" dirty="0"/>
                            <a:t>13.5</a:t>
                          </a:r>
                        </a:p>
                      </a:txBody>
                      <a:tcPr/>
                    </a:tc>
                    <a:tc>
                      <a:txBody>
                        <a:bodyPr/>
                        <a:lstStyle/>
                        <a:p>
                          <a:r>
                            <a:rPr lang="en-US" dirty="0"/>
                            <a:t>9</a:t>
                          </a:r>
                        </a:p>
                      </a:txBody>
                      <a:tcPr/>
                    </a:tc>
                    <a:extLst>
                      <a:ext uri="{0D108BD9-81ED-4DB2-BD59-A6C34878D82A}">
                        <a16:rowId xmlns:a16="http://schemas.microsoft.com/office/drawing/2014/main" val="2589467761"/>
                      </a:ext>
                    </a:extLst>
                  </a:tr>
                  <a:tr h="388546">
                    <a:tc>
                      <a:txBody>
                        <a:bodyPr/>
                        <a:lstStyle/>
                        <a:p>
                          <a:r>
                            <a:rPr lang="en-US" dirty="0"/>
                            <a:t>4</a:t>
                          </a:r>
                        </a:p>
                      </a:txBody>
                      <a:tcPr/>
                    </a:tc>
                    <a:tc>
                      <a:txBody>
                        <a:bodyPr/>
                        <a:lstStyle/>
                        <a:p>
                          <a:r>
                            <a:rPr lang="en-US" dirty="0"/>
                            <a:t>6.3</a:t>
                          </a:r>
                        </a:p>
                      </a:txBody>
                      <a:tcPr/>
                    </a:tc>
                    <a:tc>
                      <a:txBody>
                        <a:bodyPr/>
                        <a:lstStyle/>
                        <a:p>
                          <a:r>
                            <a:rPr lang="en-US" dirty="0"/>
                            <a:t>25.2</a:t>
                          </a:r>
                        </a:p>
                      </a:txBody>
                      <a:tcPr/>
                    </a:tc>
                    <a:tc>
                      <a:txBody>
                        <a:bodyPr/>
                        <a:lstStyle/>
                        <a:p>
                          <a:r>
                            <a:rPr lang="en-US" dirty="0"/>
                            <a:t>16</a:t>
                          </a:r>
                        </a:p>
                      </a:txBody>
                      <a:tcPr/>
                    </a:tc>
                    <a:extLst>
                      <a:ext uri="{0D108BD9-81ED-4DB2-BD59-A6C34878D82A}">
                        <a16:rowId xmlns:a16="http://schemas.microsoft.com/office/drawing/2014/main" val="454493013"/>
                      </a:ext>
                    </a:extLst>
                  </a:tr>
                  <a:tr h="791795">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m:t>
                                    </m:r>
                                  </m:e>
                                </m:nary>
                                <m:r>
                                  <a:rPr lang="en-US" b="0" i="1" smtClean="0">
                                    <a:latin typeface="Cambria Math" panose="02040503050406030204" pitchFamily="18" charset="0"/>
                                  </a:rPr>
                                  <m:t>=10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𝑦</m:t>
                                    </m:r>
                                  </m:e>
                                </m:nary>
                                <m:r>
                                  <a:rPr lang="en-US" b="0" i="1" smtClean="0">
                                    <a:latin typeface="Cambria Math" panose="02040503050406030204" pitchFamily="18" charset="0"/>
                                  </a:rPr>
                                  <m:t>=16.9</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𝑥𝑦</m:t>
                                    </m:r>
                                  </m:e>
                                </m:nary>
                                <m:r>
                                  <a:rPr lang="en-US" b="0" i="1" smtClean="0">
                                    <a:latin typeface="Cambria Math" panose="02040503050406030204" pitchFamily="18" charset="0"/>
                                  </a:rPr>
                                  <m:t>=47.1</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1" i="1" smtClean="0">
                                            <a:latin typeface="Cambria Math" panose="02040503050406030204" pitchFamily="18" charset="0"/>
                                          </a:rPr>
                                          <m:t>𝟐</m:t>
                                        </m:r>
                                      </m:sup>
                                    </m:sSup>
                                    <m:r>
                                      <m:rPr>
                                        <m:nor/>
                                      </m:rPr>
                                      <a:rPr lang="en-US" dirty="0"/>
                                      <m:t> </m:t>
                                    </m:r>
                                  </m:e>
                                </m:nary>
                                <m:r>
                                  <a:rPr lang="en-US" b="0" i="1" smtClean="0">
                                    <a:latin typeface="Cambria Math" panose="02040503050406030204" pitchFamily="18" charset="0"/>
                                  </a:rPr>
                                  <m:t>=30</m:t>
                                </m:r>
                              </m:oMath>
                            </m:oMathPara>
                          </a14:m>
                          <a:endParaRPr lang="en-US" dirty="0"/>
                        </a:p>
                      </a:txBody>
                      <a:tcPr/>
                    </a:tc>
                    <a:extLst>
                      <a:ext uri="{0D108BD9-81ED-4DB2-BD59-A6C34878D82A}">
                        <a16:rowId xmlns:a16="http://schemas.microsoft.com/office/drawing/2014/main" val="3373543652"/>
                      </a:ext>
                    </a:extLst>
                  </a:tr>
                </a:tbl>
              </a:graphicData>
            </a:graphic>
          </p:graphicFrame>
        </mc:Choice>
        <mc:Fallback xmlns="">
          <p:graphicFrame>
            <p:nvGraphicFramePr>
              <p:cNvPr id="2" name="Table 1">
                <a:extLst>
                  <a:ext uri="{FF2B5EF4-FFF2-40B4-BE49-F238E27FC236}">
                    <a16:creationId xmlns:a16="http://schemas.microsoft.com/office/drawing/2014/main" id="{DB0427EE-B8C7-489A-986C-7DC9DB5B2F8E}"/>
                  </a:ext>
                </a:extLst>
              </p:cNvPr>
              <p:cNvGraphicFramePr>
                <a:graphicFrameLocks noGrp="1"/>
              </p:cNvGraphicFramePr>
              <p:nvPr>
                <p:extLst>
                  <p:ext uri="{D42A27DB-BD31-4B8C-83A1-F6EECF244321}">
                    <p14:modId xmlns:p14="http://schemas.microsoft.com/office/powerpoint/2010/main" val="698437909"/>
                  </p:ext>
                </p:extLst>
              </p:nvPr>
            </p:nvGraphicFramePr>
            <p:xfrm>
              <a:off x="1219200" y="990600"/>
              <a:ext cx="6705600" cy="3124202"/>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4206461038"/>
                        </a:ext>
                      </a:extLst>
                    </a:gridCol>
                    <a:gridCol w="1676400">
                      <a:extLst>
                        <a:ext uri="{9D8B030D-6E8A-4147-A177-3AD203B41FA5}">
                          <a16:colId xmlns:a16="http://schemas.microsoft.com/office/drawing/2014/main" val="1269122857"/>
                        </a:ext>
                      </a:extLst>
                    </a:gridCol>
                    <a:gridCol w="1676400">
                      <a:extLst>
                        <a:ext uri="{9D8B030D-6E8A-4147-A177-3AD203B41FA5}">
                          <a16:colId xmlns:a16="http://schemas.microsoft.com/office/drawing/2014/main" val="286128301"/>
                        </a:ext>
                      </a:extLst>
                    </a:gridCol>
                    <a:gridCol w="1676400">
                      <a:extLst>
                        <a:ext uri="{9D8B030D-6E8A-4147-A177-3AD203B41FA5}">
                          <a16:colId xmlns:a16="http://schemas.microsoft.com/office/drawing/2014/main" val="64655418"/>
                        </a:ext>
                      </a:extLst>
                    </a:gridCol>
                  </a:tblGrid>
                  <a:tr h="389677">
                    <a:tc>
                      <a:txBody>
                        <a:bodyPr/>
                        <a:lstStyle/>
                        <a:p>
                          <a:endParaRPr lang="en-US"/>
                        </a:p>
                      </a:txBody>
                      <a:tcPr>
                        <a:blipFill>
                          <a:blip r:embed="rId3"/>
                          <a:stretch>
                            <a:fillRect l="-727" t="-1563" r="-301818" b="-706250"/>
                          </a:stretch>
                        </a:blipFill>
                      </a:tcPr>
                    </a:tc>
                    <a:tc>
                      <a:txBody>
                        <a:bodyPr/>
                        <a:lstStyle/>
                        <a:p>
                          <a:endParaRPr lang="en-US"/>
                        </a:p>
                      </a:txBody>
                      <a:tcPr>
                        <a:blipFill>
                          <a:blip r:embed="rId3"/>
                          <a:stretch>
                            <a:fillRect l="-100727" t="-1563" r="-201818" b="-706250"/>
                          </a:stretch>
                        </a:blipFill>
                      </a:tcPr>
                    </a:tc>
                    <a:tc>
                      <a:txBody>
                        <a:bodyPr/>
                        <a:lstStyle/>
                        <a:p>
                          <a:endParaRPr lang="en-US"/>
                        </a:p>
                      </a:txBody>
                      <a:tcPr>
                        <a:blipFill>
                          <a:blip r:embed="rId3"/>
                          <a:stretch>
                            <a:fillRect l="-200727" t="-1563" r="-101818" b="-706250"/>
                          </a:stretch>
                        </a:blipFill>
                      </a:tcPr>
                    </a:tc>
                    <a:tc>
                      <a:txBody>
                        <a:bodyPr/>
                        <a:lstStyle/>
                        <a:p>
                          <a:endParaRPr lang="en-US"/>
                        </a:p>
                      </a:txBody>
                      <a:tcPr>
                        <a:blipFill>
                          <a:blip r:embed="rId3"/>
                          <a:stretch>
                            <a:fillRect l="-300727" t="-1563" r="-1818" b="-706250"/>
                          </a:stretch>
                        </a:blipFill>
                      </a:tcPr>
                    </a:tc>
                    <a:extLst>
                      <a:ext uri="{0D108BD9-81ED-4DB2-BD59-A6C34878D82A}">
                        <a16:rowId xmlns:a16="http://schemas.microsoft.com/office/drawing/2014/main" val="1831223593"/>
                      </a:ext>
                    </a:extLst>
                  </a:tr>
                  <a:tr h="388546">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914335635"/>
                      </a:ext>
                    </a:extLst>
                  </a:tr>
                  <a:tr h="388546">
                    <a:tc>
                      <a:txBody>
                        <a:bodyPr/>
                        <a:lstStyle/>
                        <a:p>
                          <a:r>
                            <a:rPr lang="en-US" dirty="0"/>
                            <a:t>1</a:t>
                          </a:r>
                        </a:p>
                      </a:txBody>
                      <a:tcPr/>
                    </a:tc>
                    <a:tc>
                      <a:txBody>
                        <a:bodyPr/>
                        <a:lstStyle/>
                        <a:p>
                          <a:r>
                            <a:rPr lang="en-US" dirty="0"/>
                            <a:t>1.8</a:t>
                          </a:r>
                        </a:p>
                      </a:txBody>
                      <a:tcPr/>
                    </a:tc>
                    <a:tc>
                      <a:txBody>
                        <a:bodyPr/>
                        <a:lstStyle/>
                        <a:p>
                          <a:r>
                            <a:rPr lang="en-US" dirty="0"/>
                            <a:t>1.8</a:t>
                          </a:r>
                        </a:p>
                      </a:txBody>
                      <a:tcPr/>
                    </a:tc>
                    <a:tc>
                      <a:txBody>
                        <a:bodyPr/>
                        <a:lstStyle/>
                        <a:p>
                          <a:r>
                            <a:rPr lang="en-US" dirty="0"/>
                            <a:t>1</a:t>
                          </a:r>
                        </a:p>
                      </a:txBody>
                      <a:tcPr/>
                    </a:tc>
                    <a:extLst>
                      <a:ext uri="{0D108BD9-81ED-4DB2-BD59-A6C34878D82A}">
                        <a16:rowId xmlns:a16="http://schemas.microsoft.com/office/drawing/2014/main" val="2277806695"/>
                      </a:ext>
                    </a:extLst>
                  </a:tr>
                  <a:tr h="388546">
                    <a:tc>
                      <a:txBody>
                        <a:bodyPr/>
                        <a:lstStyle/>
                        <a:p>
                          <a:r>
                            <a:rPr lang="en-US" dirty="0"/>
                            <a:t>2</a:t>
                          </a:r>
                        </a:p>
                      </a:txBody>
                      <a:tcPr/>
                    </a:tc>
                    <a:tc>
                      <a:txBody>
                        <a:bodyPr/>
                        <a:lstStyle/>
                        <a:p>
                          <a:r>
                            <a:rPr lang="en-US" dirty="0"/>
                            <a:t>3.3</a:t>
                          </a:r>
                        </a:p>
                      </a:txBody>
                      <a:tcPr/>
                    </a:tc>
                    <a:tc>
                      <a:txBody>
                        <a:bodyPr/>
                        <a:lstStyle/>
                        <a:p>
                          <a:r>
                            <a:rPr lang="en-US" dirty="0"/>
                            <a:t>6.6</a:t>
                          </a:r>
                        </a:p>
                      </a:txBody>
                      <a:tcPr/>
                    </a:tc>
                    <a:tc>
                      <a:txBody>
                        <a:bodyPr/>
                        <a:lstStyle/>
                        <a:p>
                          <a:r>
                            <a:rPr lang="en-US" dirty="0"/>
                            <a:t>4</a:t>
                          </a:r>
                        </a:p>
                      </a:txBody>
                      <a:tcPr/>
                    </a:tc>
                    <a:extLst>
                      <a:ext uri="{0D108BD9-81ED-4DB2-BD59-A6C34878D82A}">
                        <a16:rowId xmlns:a16="http://schemas.microsoft.com/office/drawing/2014/main" val="1035193212"/>
                      </a:ext>
                    </a:extLst>
                  </a:tr>
                  <a:tr h="388546">
                    <a:tc>
                      <a:txBody>
                        <a:bodyPr/>
                        <a:lstStyle/>
                        <a:p>
                          <a:r>
                            <a:rPr lang="en-US" dirty="0"/>
                            <a:t>3</a:t>
                          </a:r>
                        </a:p>
                      </a:txBody>
                      <a:tcPr/>
                    </a:tc>
                    <a:tc>
                      <a:txBody>
                        <a:bodyPr/>
                        <a:lstStyle/>
                        <a:p>
                          <a:r>
                            <a:rPr lang="en-US" dirty="0"/>
                            <a:t>4.5</a:t>
                          </a:r>
                        </a:p>
                      </a:txBody>
                      <a:tcPr/>
                    </a:tc>
                    <a:tc>
                      <a:txBody>
                        <a:bodyPr/>
                        <a:lstStyle/>
                        <a:p>
                          <a:r>
                            <a:rPr lang="en-US" dirty="0"/>
                            <a:t>13.5</a:t>
                          </a:r>
                        </a:p>
                      </a:txBody>
                      <a:tcPr/>
                    </a:tc>
                    <a:tc>
                      <a:txBody>
                        <a:bodyPr/>
                        <a:lstStyle/>
                        <a:p>
                          <a:r>
                            <a:rPr lang="en-US" dirty="0"/>
                            <a:t>9</a:t>
                          </a:r>
                        </a:p>
                      </a:txBody>
                      <a:tcPr/>
                    </a:tc>
                    <a:extLst>
                      <a:ext uri="{0D108BD9-81ED-4DB2-BD59-A6C34878D82A}">
                        <a16:rowId xmlns:a16="http://schemas.microsoft.com/office/drawing/2014/main" val="2589467761"/>
                      </a:ext>
                    </a:extLst>
                  </a:tr>
                  <a:tr h="388546">
                    <a:tc>
                      <a:txBody>
                        <a:bodyPr/>
                        <a:lstStyle/>
                        <a:p>
                          <a:r>
                            <a:rPr lang="en-US" dirty="0"/>
                            <a:t>4</a:t>
                          </a:r>
                        </a:p>
                      </a:txBody>
                      <a:tcPr/>
                    </a:tc>
                    <a:tc>
                      <a:txBody>
                        <a:bodyPr/>
                        <a:lstStyle/>
                        <a:p>
                          <a:r>
                            <a:rPr lang="en-US" dirty="0"/>
                            <a:t>6.3</a:t>
                          </a:r>
                        </a:p>
                      </a:txBody>
                      <a:tcPr/>
                    </a:tc>
                    <a:tc>
                      <a:txBody>
                        <a:bodyPr/>
                        <a:lstStyle/>
                        <a:p>
                          <a:r>
                            <a:rPr lang="en-US" dirty="0"/>
                            <a:t>25.2</a:t>
                          </a:r>
                        </a:p>
                      </a:txBody>
                      <a:tcPr/>
                    </a:tc>
                    <a:tc>
                      <a:txBody>
                        <a:bodyPr/>
                        <a:lstStyle/>
                        <a:p>
                          <a:r>
                            <a:rPr lang="en-US" dirty="0"/>
                            <a:t>16</a:t>
                          </a:r>
                        </a:p>
                      </a:txBody>
                      <a:tcPr/>
                    </a:tc>
                    <a:extLst>
                      <a:ext uri="{0D108BD9-81ED-4DB2-BD59-A6C34878D82A}">
                        <a16:rowId xmlns:a16="http://schemas.microsoft.com/office/drawing/2014/main" val="454493013"/>
                      </a:ext>
                    </a:extLst>
                  </a:tr>
                  <a:tr h="791795">
                    <a:tc>
                      <a:txBody>
                        <a:bodyPr/>
                        <a:lstStyle/>
                        <a:p>
                          <a:endParaRPr lang="en-US"/>
                        </a:p>
                      </a:txBody>
                      <a:tcPr>
                        <a:blipFill>
                          <a:blip r:embed="rId3"/>
                          <a:stretch>
                            <a:fillRect l="-727" t="-296154" r="-301818" b="-1538"/>
                          </a:stretch>
                        </a:blipFill>
                      </a:tcPr>
                    </a:tc>
                    <a:tc>
                      <a:txBody>
                        <a:bodyPr/>
                        <a:lstStyle/>
                        <a:p>
                          <a:endParaRPr lang="en-US"/>
                        </a:p>
                      </a:txBody>
                      <a:tcPr>
                        <a:blipFill>
                          <a:blip r:embed="rId3"/>
                          <a:stretch>
                            <a:fillRect l="-100727" t="-296154" r="-201818" b="-1538"/>
                          </a:stretch>
                        </a:blipFill>
                      </a:tcPr>
                    </a:tc>
                    <a:tc>
                      <a:txBody>
                        <a:bodyPr/>
                        <a:lstStyle/>
                        <a:p>
                          <a:endParaRPr lang="en-US"/>
                        </a:p>
                      </a:txBody>
                      <a:tcPr>
                        <a:blipFill>
                          <a:blip r:embed="rId3"/>
                          <a:stretch>
                            <a:fillRect l="-200727" t="-296154" r="-101818" b="-1538"/>
                          </a:stretch>
                        </a:blipFill>
                      </a:tcPr>
                    </a:tc>
                    <a:tc>
                      <a:txBody>
                        <a:bodyPr/>
                        <a:lstStyle/>
                        <a:p>
                          <a:endParaRPr lang="en-US"/>
                        </a:p>
                      </a:txBody>
                      <a:tcPr>
                        <a:blipFill>
                          <a:blip r:embed="rId3"/>
                          <a:stretch>
                            <a:fillRect l="-300727" t="-296154" r="-1818" b="-1538"/>
                          </a:stretch>
                        </a:blipFill>
                      </a:tcPr>
                    </a:tc>
                    <a:extLst>
                      <a:ext uri="{0D108BD9-81ED-4DB2-BD59-A6C34878D82A}">
                        <a16:rowId xmlns:a16="http://schemas.microsoft.com/office/drawing/2014/main" val="3373543652"/>
                      </a:ext>
                    </a:extLst>
                  </a:tr>
                </a:tbl>
              </a:graphicData>
            </a:graphic>
          </p:graphicFrame>
        </mc:Fallback>
      </mc:AlternateContent>
    </p:spTree>
    <p:extLst>
      <p:ext uri="{BB962C8B-B14F-4D97-AF65-F5344CB8AC3E}">
        <p14:creationId xmlns:p14="http://schemas.microsoft.com/office/powerpoint/2010/main" val="340994492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Ø"/>
                </a:pPr>
                <a:r>
                  <a:rPr lang="en-US" b="1" dirty="0"/>
                  <a:t>Fitting of an Exponential Curve</a:t>
                </a:r>
              </a:p>
              <a:p>
                <a:pPr marL="0" indent="0">
                  <a:buNone/>
                </a:pPr>
                <a:r>
                  <a:rPr lang="en-US" dirty="0"/>
                  <a:t>Let  </a:t>
                </a:r>
                <a14:m>
                  <m:oMath xmlns:m="http://schemas.openxmlformats.org/officeDocument/2006/math">
                    <m:r>
                      <a:rPr lang="en-US" b="0" i="1" smtClean="0">
                        <a:latin typeface="Cambria Math"/>
                      </a:rPr>
                      <m:t>𝑦</m:t>
                    </m:r>
                    <m:r>
                      <a:rPr lang="en-US" b="0" i="1" smtClean="0">
                        <a:latin typeface="Cambria Math"/>
                      </a:rPr>
                      <m:t>=</m:t>
                    </m:r>
                    <m:r>
                      <a:rPr lang="en-US" b="0" i="1" smtClean="0">
                        <a:latin typeface="Cambria Math"/>
                      </a:rPr>
                      <m:t>𝑎</m:t>
                    </m:r>
                    <m:sSup>
                      <m:sSupPr>
                        <m:ctrlPr>
                          <a:rPr lang="en-US" i="1" smtClean="0">
                            <a:latin typeface="Cambria Math" panose="02040503050406030204" pitchFamily="18" charset="0"/>
                          </a:rPr>
                        </m:ctrlPr>
                      </m:sSupPr>
                      <m:e>
                        <m:r>
                          <a:rPr lang="en-US" b="0" i="1" smtClean="0">
                            <a:latin typeface="Cambria Math"/>
                          </a:rPr>
                          <m:t>𝑒</m:t>
                        </m:r>
                      </m:e>
                      <m:sup>
                        <m:r>
                          <a:rPr lang="en-US" b="0" i="1" smtClean="0">
                            <a:latin typeface="Cambria Math"/>
                          </a:rPr>
                          <m:t>𝑏𝑥</m:t>
                        </m:r>
                      </m:sup>
                    </m:sSup>
                  </m:oMath>
                </a14:m>
                <a:endParaRPr lang="en-US" dirty="0"/>
              </a:p>
              <a:p>
                <a:pPr marL="0" indent="0">
                  <a:buNone/>
                </a:pPr>
                <a:r>
                  <a:rPr lang="en-US" dirty="0"/>
                  <a:t>Taking logarithm on both sides, we get</a:t>
                </a:r>
              </a:p>
              <a:p>
                <a:pPr marL="0" indent="0">
                  <a:buNone/>
                </a:pPr>
                <a14:m>
                  <m:oMathPara xmlns:m="http://schemas.openxmlformats.org/officeDocument/2006/math">
                    <m:oMathParaPr>
                      <m:jc m:val="left"/>
                    </m:oMathParaPr>
                    <m:oMath xmlns:m="http://schemas.openxmlformats.org/officeDocument/2006/math">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10</m:t>
                              </m:r>
                            </m:sub>
                          </m:sSub>
                        </m:fName>
                        <m:e>
                          <m:r>
                            <a:rPr lang="en-US" b="0" i="1" smtClean="0">
                              <a:latin typeface="Cambria Math"/>
                            </a:rPr>
                            <m:t>𝑦</m:t>
                          </m:r>
                        </m:e>
                      </m:func>
                      <m:r>
                        <a:rPr lang="en-US" b="0" i="1" smtClean="0">
                          <a:latin typeface="Cambria Math"/>
                        </a:rPr>
                        <m:t>=</m:t>
                      </m:r>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10</m:t>
                              </m:r>
                            </m:sub>
                          </m:sSub>
                        </m:fName>
                        <m:e>
                          <m:r>
                            <a:rPr lang="en-US" b="0" i="1" smtClean="0">
                              <a:latin typeface="Cambria Math"/>
                            </a:rPr>
                            <m:t>𝑎</m:t>
                          </m:r>
                        </m:e>
                      </m:func>
                      <m:r>
                        <a:rPr lang="en-US" b="0" i="1" smtClean="0">
                          <a:latin typeface="Cambria Math"/>
                        </a:rPr>
                        <m:t>+</m:t>
                      </m:r>
                      <m:r>
                        <a:rPr lang="en-US" b="0" i="1" smtClean="0">
                          <a:latin typeface="Cambria Math"/>
                        </a:rPr>
                        <m:t>𝑏𝑥</m:t>
                      </m:r>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10</m:t>
                              </m:r>
                            </m:sub>
                          </m:sSub>
                        </m:fName>
                        <m:e>
                          <m:r>
                            <a:rPr lang="en-US" b="0" i="1" smtClean="0">
                              <a:latin typeface="Cambria Math"/>
                            </a:rPr>
                            <m:t>𝑒</m:t>
                          </m:r>
                        </m:e>
                      </m:func>
                    </m:oMath>
                  </m:oMathPara>
                </a14:m>
                <a:endParaRPr lang="en-US"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a:rPr>
                        <m:t>𝑌</m:t>
                      </m:r>
                      <m:r>
                        <a:rPr lang="en-US" b="0" i="1" smtClean="0">
                          <a:latin typeface="Cambria Math"/>
                        </a:rPr>
                        <m:t>=</m:t>
                      </m:r>
                      <m:r>
                        <a:rPr lang="en-US" b="0" i="1" smtClean="0">
                          <a:latin typeface="Cambria Math"/>
                        </a:rPr>
                        <m:t>𝐴</m:t>
                      </m:r>
                      <m:r>
                        <a:rPr lang="en-US" b="0" i="1" smtClean="0">
                          <a:latin typeface="Cambria Math"/>
                        </a:rPr>
                        <m:t>+</m:t>
                      </m:r>
                      <m:r>
                        <a:rPr lang="en-US" b="0" i="1" smtClean="0">
                          <a:latin typeface="Cambria Math"/>
                        </a:rPr>
                        <m:t>𝐵𝑋</m:t>
                      </m:r>
                    </m:oMath>
                  </m:oMathPara>
                </a14:m>
                <a:endParaRPr lang="en-US" dirty="0"/>
              </a:p>
              <a:p>
                <a:pPr marL="0" indent="0">
                  <a:buNone/>
                </a:pPr>
                <a:r>
                  <a:rPr lang="en-US" dirty="0"/>
                  <a:t>Where </a:t>
                </a:r>
                <a14:m>
                  <m:oMath xmlns:m="http://schemas.openxmlformats.org/officeDocument/2006/math">
                    <m:r>
                      <a:rPr lang="en-US" b="0" i="1" smtClean="0">
                        <a:latin typeface="Cambria Math"/>
                      </a:rPr>
                      <m:t>𝑌</m:t>
                    </m:r>
                    <m:r>
                      <a:rPr lang="en-US" b="0" i="1" smtClean="0">
                        <a:latin typeface="Cambria Math"/>
                      </a:rPr>
                      <m:t>=</m:t>
                    </m:r>
                  </m:oMath>
                </a14:m>
                <a:r>
                  <a:rPr lang="en-US" dirty="0"/>
                  <a:t>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𝑦</m:t>
                        </m:r>
                      </m:e>
                    </m:func>
                    <m:r>
                      <a:rPr lang="en-US" b="0" i="1" smtClean="0">
                        <a:latin typeface="Cambria Math"/>
                      </a:rPr>
                      <m:t>,</m:t>
                    </m:r>
                    <m:r>
                      <a:rPr lang="en-US" b="0" i="1" smtClean="0">
                        <a:latin typeface="Cambria Math"/>
                      </a:rPr>
                      <m:t>𝐴</m:t>
                    </m:r>
                    <m:r>
                      <a:rPr lang="en-US" b="0" i="1" smtClean="0">
                        <a:latin typeface="Cambria Math"/>
                      </a:rPr>
                      <m:t>=</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𝑎</m:t>
                        </m:r>
                      </m:e>
                    </m:func>
                  </m:oMath>
                </a14:m>
                <a:r>
                  <a:rPr lang="en-US" dirty="0"/>
                  <a:t>,</a:t>
                </a:r>
                <a14:m>
                  <m:oMath xmlns:m="http://schemas.openxmlformats.org/officeDocument/2006/math">
                    <m:r>
                      <a:rPr lang="en-US" b="0" i="1" dirty="0" smtClean="0">
                        <a:latin typeface="Cambria Math"/>
                      </a:rPr>
                      <m:t>𝐵</m:t>
                    </m:r>
                    <m:r>
                      <a:rPr lang="en-US" b="0" i="0" dirty="0" smtClean="0">
                        <a:latin typeface="Cambria Math"/>
                      </a:rPr>
                      <m:t>=</m:t>
                    </m:r>
                    <m:r>
                      <a:rPr lang="en-US" b="0" i="1">
                        <a:latin typeface="Cambria Math"/>
                      </a:rPr>
                      <m:t>𝑏</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𝑒</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e>
                    </m:func>
                  </m:oMath>
                </a14:m>
                <a:endParaRPr lang="en-US" dirty="0"/>
              </a:p>
              <a:p>
                <a:pPr marL="0" indent="0">
                  <a:buNone/>
                </a:pPr>
                <a:r>
                  <a:rPr lang="en-US" dirty="0"/>
                  <a:t>The normal equation for (1) are</a:t>
                </a:r>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𝑌</m:t>
                          </m:r>
                        </m:e>
                      </m:nary>
                      <m:r>
                        <a:rPr lang="en-US" b="0" i="1" smtClean="0">
                          <a:latin typeface="Cambria Math"/>
                        </a:rPr>
                        <m:t>=</m:t>
                      </m:r>
                      <m:r>
                        <a:rPr lang="en-US" b="0" i="1" smtClean="0">
                          <a:latin typeface="Cambria Math"/>
                        </a:rPr>
                        <m:t>𝑛𝐴</m:t>
                      </m:r>
                      <m:r>
                        <a:rPr lang="en-US" b="0" i="1" smtClean="0">
                          <a:latin typeface="Cambria Math"/>
                        </a:rPr>
                        <m:t>+</m:t>
                      </m:r>
                      <m:r>
                        <a:rPr lang="en-US" b="0" i="1" smtClean="0">
                          <a:latin typeface="Cambria Math"/>
                        </a:rPr>
                        <m:t>𝐵</m:t>
                      </m:r>
                      <m:nary>
                        <m:naryPr>
                          <m:chr m:val="∑"/>
                          <m:subHide m:val="on"/>
                          <m:supHide m:val="on"/>
                          <m:ctrlPr>
                            <a:rPr lang="en-US" i="1" smtClean="0">
                              <a:latin typeface="Cambria Math" panose="02040503050406030204" pitchFamily="18" charset="0"/>
                            </a:rPr>
                          </m:ctrlPr>
                        </m:naryPr>
                        <m:sub/>
                        <m:sup/>
                        <m:e>
                          <m:r>
                            <a:rPr lang="en-US" b="0" i="1" smtClean="0">
                              <a:latin typeface="Cambria Math"/>
                            </a:rPr>
                            <m:t>𝑋</m:t>
                          </m:r>
                        </m:e>
                      </m:nary>
                      <m:r>
                        <a:rPr lang="en-US" b="0" i="1" smtClean="0">
                          <a:latin typeface="Cambria Math"/>
                        </a:rPr>
                        <m:t> </m:t>
                      </m:r>
                      <m:r>
                        <a:rPr lang="en-US" b="0" i="1" smtClean="0">
                          <a:latin typeface="Cambria Math"/>
                        </a:rPr>
                        <m:t>𝑎𝑛𝑑</m:t>
                      </m:r>
                      <m:r>
                        <a:rPr lang="en-US" b="0" i="1" smtClean="0">
                          <a:latin typeface="Cambria Math"/>
                        </a:rPr>
                        <m:t> </m:t>
                      </m:r>
                      <m:nary>
                        <m:naryPr>
                          <m:chr m:val="∑"/>
                          <m:subHide m:val="on"/>
                          <m:supHide m:val="on"/>
                          <m:ctrlPr>
                            <a:rPr lang="en-US" i="1" smtClean="0">
                              <a:latin typeface="Cambria Math" panose="02040503050406030204" pitchFamily="18" charset="0"/>
                            </a:rPr>
                          </m:ctrlPr>
                        </m:naryPr>
                        <m:sub/>
                        <m:sup/>
                        <m:e>
                          <m:r>
                            <a:rPr lang="en-US" b="0" i="1" smtClean="0">
                              <a:latin typeface="Cambria Math"/>
                            </a:rPr>
                            <m:t>𝑋𝑌</m:t>
                          </m:r>
                        </m:e>
                      </m:nary>
                      <m:r>
                        <a:rPr lang="en-US" b="0" i="1" smtClean="0">
                          <a:latin typeface="Cambria Math"/>
                        </a:rPr>
                        <m:t>=</m:t>
                      </m:r>
                      <m:r>
                        <a:rPr lang="en-US" b="0" i="1" smtClean="0">
                          <a:latin typeface="Cambria Math"/>
                        </a:rPr>
                        <m:t>𝐴</m:t>
                      </m:r>
                      <m:nary>
                        <m:naryPr>
                          <m:chr m:val="∑"/>
                          <m:subHide m:val="on"/>
                          <m:supHide m:val="on"/>
                          <m:ctrlPr>
                            <a:rPr lang="en-US" i="1" smtClean="0">
                              <a:latin typeface="Cambria Math" panose="02040503050406030204" pitchFamily="18" charset="0"/>
                            </a:rPr>
                          </m:ctrlPr>
                        </m:naryPr>
                        <m:sub/>
                        <m:sup/>
                        <m:e>
                          <m:r>
                            <a:rPr lang="en-US" b="0" i="1" smtClean="0">
                              <a:latin typeface="Cambria Math"/>
                            </a:rPr>
                            <m:t>𝑋</m:t>
                          </m:r>
                        </m:e>
                      </m:nary>
                      <m:r>
                        <a:rPr lang="en-US" b="0" i="1" smtClean="0">
                          <a:latin typeface="Cambria Math"/>
                        </a:rPr>
                        <m:t>+</m:t>
                      </m:r>
                      <m:r>
                        <a:rPr lang="en-US" b="0" i="1" smtClean="0">
                          <a:latin typeface="Cambria Math"/>
                        </a:rPr>
                        <m:t>𝐵</m:t>
                      </m:r>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e>
                      </m:nary>
                    </m:oMath>
                  </m:oMathPara>
                </a14:m>
                <a:endParaRPr lang="en-US" dirty="0"/>
              </a:p>
              <a:p>
                <a:pPr marL="0" indent="0">
                  <a:buNone/>
                </a:pPr>
                <a:r>
                  <a:rPr lang="en-US" dirty="0"/>
                  <a:t>Solving these, we get A and B.</a:t>
                </a:r>
              </a:p>
              <a:p>
                <a:pPr marL="0" indent="0">
                  <a:buNone/>
                </a:pPr>
                <a:r>
                  <a:rPr lang="en-US" dirty="0"/>
                  <a:t>Then </a:t>
                </a:r>
                <a14:m>
                  <m:oMath xmlns:m="http://schemas.openxmlformats.org/officeDocument/2006/math">
                    <m:r>
                      <a:rPr lang="en-US" b="0" i="1" smtClean="0">
                        <a:latin typeface="Cambria Math"/>
                      </a:rPr>
                      <m:t>𝑎</m:t>
                    </m:r>
                    <m:r>
                      <a:rPr lang="en-US" b="0" i="1" smtClean="0">
                        <a:latin typeface="Cambria Math"/>
                      </a:rPr>
                      <m:t>=</m:t>
                    </m:r>
                    <m:r>
                      <a:rPr lang="en-US" b="0" i="1" smtClean="0">
                        <a:latin typeface="Cambria Math"/>
                      </a:rPr>
                      <m:t>𝑎𝑛𝑡𝑖𝑙𝑜𝑔</m:t>
                    </m:r>
                    <m:r>
                      <a:rPr lang="en-US" b="0" i="1" smtClean="0">
                        <a:latin typeface="Cambria Math"/>
                      </a:rPr>
                      <m:t> </m:t>
                    </m:r>
                    <m:r>
                      <a:rPr lang="en-US" b="0" i="1" smtClean="0">
                        <a:latin typeface="Cambria Math"/>
                      </a:rPr>
                      <m:t>𝐴𝑎𝑛𝑑</m:t>
                    </m:r>
                    <m:r>
                      <a:rPr lang="en-US" b="0" i="1" smtClean="0">
                        <a:latin typeface="Cambria Math"/>
                      </a:rPr>
                      <m:t> </m:t>
                    </m:r>
                    <m:r>
                      <a:rPr lang="en-US" b="0" i="1" smtClean="0">
                        <a:latin typeface="Cambria Math"/>
                      </a:rPr>
                      <m:t>𝐵</m:t>
                    </m:r>
                    <m:r>
                      <a:rPr lang="en-US" b="0" i="1" smtClean="0">
                        <a:latin typeface="Cambria Math"/>
                      </a:rPr>
                      <m:t>=</m:t>
                    </m:r>
                    <m:f>
                      <m:fPr>
                        <m:ctrlPr>
                          <a:rPr lang="en-US" i="1" smtClean="0">
                            <a:latin typeface="Cambria Math" panose="02040503050406030204" pitchFamily="18" charset="0"/>
                          </a:rPr>
                        </m:ctrlPr>
                      </m:fPr>
                      <m:num>
                        <m:r>
                          <a:rPr lang="en-US" b="0" i="1" smtClean="0">
                            <a:latin typeface="Cambria Math"/>
                          </a:rPr>
                          <m:t>𝐵</m:t>
                        </m:r>
                      </m:num>
                      <m:den>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10</m:t>
                                </m:r>
                              </m:sub>
                            </m:sSub>
                          </m:fName>
                          <m:e>
                            <m:r>
                              <a:rPr lang="en-US" b="0" i="1" smtClean="0">
                                <a:latin typeface="Cambria Math"/>
                              </a:rPr>
                              <m:t>𝑒</m:t>
                            </m:r>
                          </m:e>
                        </m:func>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9" name="Title 1"/>
          <p:cNvSpPr txBox="1">
            <a:spLocks/>
          </p:cNvSpPr>
          <p:nvPr/>
        </p:nvSpPr>
        <p:spPr>
          <a:xfrm>
            <a:off x="1371600" y="-2650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7301275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Ø"/>
                </a:pPr>
                <a:r>
                  <a:rPr lang="en-US" b="1" dirty="0"/>
                  <a:t>FITTING OF THE CURVE </a:t>
                </a:r>
                <a:endParaRPr lang="en-US" b="1" i="1" dirty="0"/>
              </a:p>
              <a:p>
                <a:pPr marL="0" indent="0">
                  <a:buNone/>
                </a:pPr>
                <a:r>
                  <a:rPr lang="en-US" dirty="0"/>
                  <a:t>Let </a:t>
                </a:r>
                <a14:m>
                  <m:oMath xmlns:m="http://schemas.openxmlformats.org/officeDocument/2006/math">
                    <m:r>
                      <a:rPr lang="en-US" b="0" i="1">
                        <a:latin typeface="Cambria Math"/>
                      </a:rPr>
                      <m:t>𝑦</m:t>
                    </m:r>
                    <m:r>
                      <a:rPr lang="en-US" b="0" i="1">
                        <a:latin typeface="Cambria Math"/>
                      </a:rPr>
                      <m:t>=</m:t>
                    </m:r>
                    <m:r>
                      <a:rPr lang="en-US" b="0" i="1">
                        <a:latin typeface="Cambria Math"/>
                      </a:rPr>
                      <m:t>𝑎</m:t>
                    </m:r>
                    <m:sSup>
                      <m:sSupPr>
                        <m:ctrlPr>
                          <a:rPr lang="en-US" i="1">
                            <a:latin typeface="Cambria Math" panose="02040503050406030204" pitchFamily="18" charset="0"/>
                          </a:rPr>
                        </m:ctrlPr>
                      </m:sSupPr>
                      <m:e>
                        <m:r>
                          <a:rPr lang="en-US" b="0" i="1" smtClean="0">
                            <a:latin typeface="Cambria Math"/>
                          </a:rPr>
                          <m:t>𝑥</m:t>
                        </m:r>
                      </m:e>
                      <m:sup>
                        <m:r>
                          <a:rPr lang="en-US" b="0" i="1">
                            <a:latin typeface="Cambria Math"/>
                          </a:rPr>
                          <m:t>𝑏</m:t>
                        </m:r>
                      </m:sup>
                    </m:sSup>
                  </m:oMath>
                </a14:m>
                <a:endParaRPr lang="en-US" dirty="0"/>
              </a:p>
              <a:p>
                <a:pPr marL="0" indent="0">
                  <a:buNone/>
                </a:pPr>
                <a:r>
                  <a:rPr lang="en-US" dirty="0"/>
                  <a:t>Taking logarithm on both sides, we get</a:t>
                </a:r>
              </a:p>
              <a:p>
                <a:pPr marL="0" indent="0">
                  <a:buNone/>
                </a:pPr>
                <a14:m>
                  <m:oMathPara xmlns:m="http://schemas.openxmlformats.org/officeDocument/2006/math">
                    <m:oMathParaPr>
                      <m:jc m:val="left"/>
                    </m:oMathParaPr>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𝑦</m:t>
                          </m:r>
                        </m:e>
                      </m:func>
                      <m:r>
                        <a:rPr lang="en-US" b="0" i="1">
                          <a:latin typeface="Cambria Math"/>
                        </a:rPr>
                        <m:t>=</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𝑎</m:t>
                          </m:r>
                        </m:e>
                      </m:func>
                      <m:r>
                        <a:rPr lang="en-US" b="0" i="1">
                          <a:latin typeface="Cambria Math"/>
                        </a:rPr>
                        <m:t>+</m:t>
                      </m:r>
                      <m:r>
                        <a:rPr lang="en-US" b="0" i="1">
                          <a:latin typeface="Cambria Math"/>
                        </a:rPr>
                        <m:t>𝑏</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smtClean="0">
                              <a:latin typeface="Cambria Math"/>
                            </a:rPr>
                            <m:t>𝑥</m:t>
                          </m:r>
                        </m:e>
                      </m:func>
                    </m:oMath>
                  </m:oMathPara>
                </a14:m>
                <a:endParaRPr lang="en-US" i="1" dirty="0"/>
              </a:p>
              <a:p>
                <a:pPr marL="0" indent="0">
                  <a:buNone/>
                </a:pPr>
                <a14:m>
                  <m:oMathPara xmlns:m="http://schemas.openxmlformats.org/officeDocument/2006/math">
                    <m:oMathParaPr>
                      <m:jc m:val="left"/>
                    </m:oMathParaPr>
                    <m:oMath xmlns:m="http://schemas.openxmlformats.org/officeDocument/2006/math">
                      <m:r>
                        <a:rPr lang="en-US" b="0" i="1">
                          <a:latin typeface="Cambria Math"/>
                        </a:rPr>
                        <m:t>𝑌</m:t>
                      </m:r>
                      <m:r>
                        <a:rPr lang="en-US" b="0" i="1">
                          <a:latin typeface="Cambria Math"/>
                        </a:rPr>
                        <m:t>=</m:t>
                      </m:r>
                      <m:r>
                        <a:rPr lang="en-US" b="0" i="1">
                          <a:latin typeface="Cambria Math"/>
                        </a:rPr>
                        <m:t>𝐴</m:t>
                      </m:r>
                      <m:r>
                        <a:rPr lang="en-US" b="0" i="1">
                          <a:latin typeface="Cambria Math"/>
                        </a:rPr>
                        <m:t>+</m:t>
                      </m:r>
                      <m:r>
                        <a:rPr lang="en-US" b="0" i="1">
                          <a:latin typeface="Cambria Math"/>
                        </a:rPr>
                        <m:t>𝐵𝑋</m:t>
                      </m:r>
                    </m:oMath>
                  </m:oMathPara>
                </a14:m>
                <a:endParaRPr lang="en-US" dirty="0"/>
              </a:p>
              <a:p>
                <a:pPr marL="0" indent="0">
                  <a:buNone/>
                </a:pPr>
                <a:r>
                  <a:rPr lang="en-US" dirty="0"/>
                  <a:t>Where </a:t>
                </a:r>
                <a14:m>
                  <m:oMath xmlns:m="http://schemas.openxmlformats.org/officeDocument/2006/math">
                    <m:r>
                      <a:rPr lang="en-US" b="0" i="1">
                        <a:latin typeface="Cambria Math"/>
                      </a:rPr>
                      <m:t>𝑌</m:t>
                    </m:r>
                    <m:r>
                      <a:rPr lang="en-US" b="0" i="1">
                        <a:latin typeface="Cambria Math"/>
                      </a:rPr>
                      <m:t>=</m:t>
                    </m:r>
                  </m:oMath>
                </a14:m>
                <a:r>
                  <a:rPr lang="en-US" dirty="0"/>
                  <a:t>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𝑦</m:t>
                        </m:r>
                      </m:e>
                    </m:func>
                    <m:r>
                      <a:rPr lang="en-US" b="0" i="1">
                        <a:latin typeface="Cambria Math"/>
                      </a:rPr>
                      <m:t>,</m:t>
                    </m:r>
                    <m:r>
                      <a:rPr lang="en-US" b="0" i="1">
                        <a:latin typeface="Cambria Math"/>
                      </a:rPr>
                      <m:t>𝐴</m:t>
                    </m:r>
                    <m:r>
                      <a:rPr lang="en-US" b="0" i="1">
                        <a:latin typeface="Cambria Math"/>
                      </a:rPr>
                      <m:t>=</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b="0">
                                <a:latin typeface="Cambria Math"/>
                              </a:rPr>
                              <m:t>log</m:t>
                            </m:r>
                          </m:e>
                          <m:sub>
                            <m:r>
                              <a:rPr lang="en-US" b="0" i="1">
                                <a:latin typeface="Cambria Math"/>
                              </a:rPr>
                              <m:t>10</m:t>
                            </m:r>
                          </m:sub>
                        </m:sSub>
                      </m:fName>
                      <m:e>
                        <m:r>
                          <a:rPr lang="en-US" b="0" i="1">
                            <a:latin typeface="Cambria Math"/>
                          </a:rPr>
                          <m:t>𝑎</m:t>
                        </m:r>
                      </m:e>
                    </m:func>
                  </m:oMath>
                </a14:m>
                <a:r>
                  <a:rPr lang="en-US" dirty="0"/>
                  <a:t>,</a:t>
                </a:r>
                <a14:m>
                  <m:oMath xmlns:m="http://schemas.openxmlformats.org/officeDocument/2006/math">
                    <m:r>
                      <a:rPr lang="en-US" b="0" i="1" dirty="0">
                        <a:latin typeface="Cambria Math"/>
                      </a:rPr>
                      <m:t>𝐵</m:t>
                    </m:r>
                    <m:r>
                      <a:rPr lang="en-US" b="0" dirty="0">
                        <a:latin typeface="Cambria Math"/>
                      </a:rPr>
                      <m:t>=</m:t>
                    </m:r>
                    <m:r>
                      <a:rPr lang="en-US" b="0" i="1">
                        <a:latin typeface="Cambria Math"/>
                      </a:rPr>
                      <m:t>𝑏</m:t>
                    </m:r>
                    <m:func>
                      <m:funcPr>
                        <m:ctrlPr>
                          <a:rPr lang="en-US" i="1" smtClean="0">
                            <a:latin typeface="Cambria Math" panose="02040503050406030204" pitchFamily="18" charset="0"/>
                          </a:rPr>
                        </m:ctrlPr>
                      </m:funcPr>
                      <m:fName>
                        <m:r>
                          <a:rPr lang="en-US" b="0" i="1" smtClean="0">
                            <a:latin typeface="Cambria Math"/>
                          </a:rPr>
                          <m:t> </m:t>
                        </m:r>
                      </m:fName>
                      <m:e>
                        <m:r>
                          <a:rPr lang="en-US" b="0" i="1">
                            <a:latin typeface="Cambria Math"/>
                          </a:rPr>
                          <m:t>,</m:t>
                        </m:r>
                        <m:r>
                          <a:rPr lang="en-US" b="0" i="1">
                            <a:latin typeface="Cambria Math"/>
                          </a:rPr>
                          <m:t>𝑋</m:t>
                        </m:r>
                        <m:r>
                          <a:rPr lang="en-US" b="0" i="1">
                            <a:latin typeface="Cambria Math"/>
                          </a:rPr>
                          <m:t>=</m:t>
                        </m:r>
                      </m:e>
                    </m:func>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10</m:t>
                            </m:r>
                          </m:sub>
                        </m:sSub>
                      </m:fName>
                      <m:e>
                        <m:r>
                          <a:rPr lang="en-US" b="0" i="1" smtClean="0">
                            <a:latin typeface="Cambria Math"/>
                          </a:rPr>
                          <m:t>𝑥</m:t>
                        </m:r>
                      </m:e>
                    </m:func>
                  </m:oMath>
                </a14:m>
                <a:endParaRPr lang="en-US" dirty="0"/>
              </a:p>
              <a:p>
                <a:pPr marL="0" indent="0">
                  <a:buNone/>
                </a:pPr>
                <a:r>
                  <a:rPr lang="en-US" dirty="0"/>
                  <a:t>The normal equation to (1) are</a:t>
                </a:r>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i="1">
                              <a:latin typeface="Cambria Math" panose="02040503050406030204" pitchFamily="18" charset="0"/>
                            </a:rPr>
                          </m:ctrlPr>
                        </m:naryPr>
                        <m:sub/>
                        <m:sup/>
                        <m:e>
                          <m:r>
                            <a:rPr lang="en-US" b="0" i="1">
                              <a:latin typeface="Cambria Math"/>
                            </a:rPr>
                            <m:t>𝑌</m:t>
                          </m:r>
                        </m:e>
                      </m:nary>
                      <m:r>
                        <a:rPr lang="en-US" b="0" i="1">
                          <a:latin typeface="Cambria Math"/>
                        </a:rPr>
                        <m:t>=</m:t>
                      </m:r>
                      <m:r>
                        <a:rPr lang="en-US" b="0" i="1">
                          <a:latin typeface="Cambria Math"/>
                        </a:rPr>
                        <m:t>𝑛𝐴</m:t>
                      </m:r>
                      <m:r>
                        <a:rPr lang="en-US" b="0" i="1">
                          <a:latin typeface="Cambria Math"/>
                        </a:rPr>
                        <m:t>+</m:t>
                      </m:r>
                      <m:r>
                        <a:rPr lang="en-US" b="0" i="1">
                          <a:latin typeface="Cambria Math"/>
                        </a:rPr>
                        <m:t>𝐵</m:t>
                      </m:r>
                      <m:nary>
                        <m:naryPr>
                          <m:chr m:val="∑"/>
                          <m:subHide m:val="on"/>
                          <m:supHide m:val="on"/>
                          <m:ctrlPr>
                            <a:rPr lang="en-US" i="1">
                              <a:latin typeface="Cambria Math" panose="02040503050406030204" pitchFamily="18" charset="0"/>
                            </a:rPr>
                          </m:ctrlPr>
                        </m:naryPr>
                        <m:sub/>
                        <m:sup/>
                        <m:e>
                          <m:r>
                            <a:rPr lang="en-US" b="0" i="1">
                              <a:latin typeface="Cambria Math"/>
                            </a:rPr>
                            <m:t>𝑋</m:t>
                          </m:r>
                        </m:e>
                      </m:nary>
                      <m:r>
                        <a:rPr lang="en-US" b="0" i="1">
                          <a:latin typeface="Cambria Math"/>
                        </a:rPr>
                        <m:t> </m:t>
                      </m:r>
                      <m:r>
                        <a:rPr lang="en-US" b="0" i="1">
                          <a:latin typeface="Cambria Math"/>
                        </a:rPr>
                        <m:t>𝑎𝑛𝑑</m:t>
                      </m:r>
                      <m:r>
                        <a:rPr lang="en-US" b="0" i="1">
                          <a:latin typeface="Cambria Math"/>
                        </a:rPr>
                        <m:t> </m:t>
                      </m:r>
                      <m:nary>
                        <m:naryPr>
                          <m:chr m:val="∑"/>
                          <m:subHide m:val="on"/>
                          <m:supHide m:val="on"/>
                          <m:ctrlPr>
                            <a:rPr lang="en-US" i="1">
                              <a:latin typeface="Cambria Math" panose="02040503050406030204" pitchFamily="18" charset="0"/>
                            </a:rPr>
                          </m:ctrlPr>
                        </m:naryPr>
                        <m:sub/>
                        <m:sup/>
                        <m:e>
                          <m:r>
                            <a:rPr lang="en-US" b="0" i="1">
                              <a:latin typeface="Cambria Math"/>
                            </a:rPr>
                            <m:t>𝑋𝑌</m:t>
                          </m:r>
                        </m:e>
                      </m:nary>
                      <m:r>
                        <a:rPr lang="en-US" b="0" i="1">
                          <a:latin typeface="Cambria Math"/>
                        </a:rPr>
                        <m:t>=</m:t>
                      </m:r>
                      <m:r>
                        <a:rPr lang="en-US" b="0" i="1">
                          <a:latin typeface="Cambria Math"/>
                        </a:rPr>
                        <m:t>𝐴</m:t>
                      </m:r>
                      <m:nary>
                        <m:naryPr>
                          <m:chr m:val="∑"/>
                          <m:subHide m:val="on"/>
                          <m:supHide m:val="on"/>
                          <m:ctrlPr>
                            <a:rPr lang="en-US" i="1">
                              <a:latin typeface="Cambria Math" panose="02040503050406030204" pitchFamily="18" charset="0"/>
                            </a:rPr>
                          </m:ctrlPr>
                        </m:naryPr>
                        <m:sub/>
                        <m:sup/>
                        <m:e>
                          <m:r>
                            <a:rPr lang="en-US" b="0" i="1">
                              <a:latin typeface="Cambria Math"/>
                            </a:rPr>
                            <m:t>𝑋</m:t>
                          </m:r>
                        </m:e>
                      </m:nary>
                      <m:r>
                        <a:rPr lang="en-US" b="0" i="1">
                          <a:latin typeface="Cambria Math"/>
                        </a:rPr>
                        <m:t>+</m:t>
                      </m:r>
                      <m:r>
                        <a:rPr lang="en-US" b="0" i="1">
                          <a:latin typeface="Cambria Math"/>
                        </a:rPr>
                        <m:t>𝐵</m:t>
                      </m:r>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b="0" i="1">
                                  <a:latin typeface="Cambria Math"/>
                                </a:rPr>
                                <m:t>𝑋</m:t>
                              </m:r>
                            </m:e>
                            <m:sup>
                              <m:r>
                                <a:rPr lang="en-US" b="0" i="1">
                                  <a:latin typeface="Cambria Math"/>
                                </a:rPr>
                                <m:t>2</m:t>
                              </m:r>
                            </m:sup>
                          </m:sSup>
                        </m:e>
                      </m:nary>
                    </m:oMath>
                  </m:oMathPara>
                </a14:m>
                <a:endParaRPr lang="en-US" dirty="0"/>
              </a:p>
              <a:p>
                <a:pPr marL="0" indent="0">
                  <a:buNone/>
                </a:pPr>
                <a:r>
                  <a:rPr lang="en-US" dirty="0"/>
                  <a:t>Which results A and B on solving and </a:t>
                </a:r>
                <a14:m>
                  <m:oMath xmlns:m="http://schemas.openxmlformats.org/officeDocument/2006/math">
                    <m:r>
                      <a:rPr lang="en-US" b="0" i="1" smtClean="0">
                        <a:latin typeface="Cambria Math"/>
                      </a:rPr>
                      <m:t>𝑎</m:t>
                    </m:r>
                    <m:r>
                      <a:rPr lang="en-US" b="0" i="1" smtClean="0">
                        <a:latin typeface="Cambria Math"/>
                      </a:rPr>
                      <m:t>=</m:t>
                    </m:r>
                    <m:r>
                      <a:rPr lang="en-US" b="0" i="1" smtClean="0">
                        <a:latin typeface="Cambria Math"/>
                      </a:rPr>
                      <m:t>𝑎𝑛𝑡𝑖𝑙𝑜𝑔</m:t>
                    </m:r>
                    <m:r>
                      <a:rPr lang="en-US" b="0" i="1" smtClean="0">
                        <a:latin typeface="Cambria Math"/>
                      </a:rPr>
                      <m:t> </m:t>
                    </m:r>
                    <m:r>
                      <a:rPr lang="en-US" b="0" i="1" smtClean="0">
                        <a:latin typeface="Cambria Math"/>
                      </a:rPr>
                      <m:t>𝐴</m:t>
                    </m:r>
                    <m:r>
                      <a:rPr lang="en-US" b="0" i="1" smtClean="0">
                        <a:latin typeface="Cambria Math"/>
                      </a:rPr>
                      <m:t>,</m:t>
                    </m:r>
                    <m:r>
                      <a:rPr lang="en-US" b="0" i="1" smtClean="0">
                        <a:latin typeface="Cambria Math"/>
                      </a:rPr>
                      <m:t>𝑏</m:t>
                    </m:r>
                    <m:r>
                      <a:rPr lang="en-US" b="0" i="1" smtClean="0">
                        <a:latin typeface="Cambria Math"/>
                      </a:rPr>
                      <m:t>=</m:t>
                    </m:r>
                    <m:r>
                      <a:rPr lang="en-US" b="0" i="1" smtClean="0">
                        <a:latin typeface="Cambria Math"/>
                      </a:rPr>
                      <m:t>𝐵</m:t>
                    </m:r>
                    <m:r>
                      <a:rPr lang="en-US"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765074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dirty="0"/>
                  <a:t>Q1. Fit the following Equation,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oMath>
                </a14:m>
                <a:r>
                  <a:rPr lang="en-US" dirty="0"/>
                  <a:t>, to the following data:</a:t>
                </a:r>
              </a:p>
              <a:p>
                <a:pPr marL="0" indent="0">
                  <a:buNone/>
                </a:pPr>
                <a:endParaRPr lang="en-US" dirty="0"/>
              </a:p>
              <a:p>
                <a:pPr marL="0" indent="0">
                  <a:buNone/>
                </a:pPr>
                <a:endParaRPr lang="en-US" dirty="0"/>
              </a:p>
              <a:p>
                <a:pPr marL="0" indent="0">
                  <a:buNone/>
                </a:pPr>
                <a:endParaRPr lang="en-US" dirty="0"/>
              </a:p>
              <a:p>
                <a:pPr marL="0" indent="0">
                  <a:buNone/>
                </a:pPr>
                <a:r>
                  <a:rPr lang="en-US" b="1" dirty="0"/>
                  <a:t>Sol: </a:t>
                </a:r>
                <a:r>
                  <a:rPr lang="en-US" dirty="0"/>
                  <a:t>The given equation is:</a:t>
                </a:r>
                <a:endParaRPr lang="en-US" i="1" dirty="0">
                  <a:latin typeface="Cambria Math"/>
                </a:endParaRPr>
              </a:p>
              <a:p>
                <a:pPr marL="0" indent="0">
                  <a:buNone/>
                </a:pP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𝑎</m:t>
                    </m:r>
                    <m:sSup>
                      <m:sSupPr>
                        <m:ctrlPr>
                          <a:rPr lang="en-US" i="1">
                            <a:latin typeface="Cambria Math" panose="02040503050406030204" pitchFamily="18" charset="0"/>
                          </a:rPr>
                        </m:ctrlPr>
                      </m:sSupPr>
                      <m:e>
                        <m:r>
                          <a:rPr lang="en-US" b="0" i="1" smtClean="0">
                            <a:latin typeface="Cambria Math" panose="02040503050406030204" pitchFamily="18" charset="0"/>
                          </a:rPr>
                          <m:t>𝑥</m:t>
                        </m:r>
                      </m:e>
                      <m:sup>
                        <m:r>
                          <a:rPr lang="en-US" i="1">
                            <a:latin typeface="Cambria Math" panose="02040503050406030204" pitchFamily="18" charset="0"/>
                          </a:rPr>
                          <m:t>𝑏</m:t>
                        </m:r>
                      </m:sup>
                    </m:sSup>
                  </m:oMath>
                </a14:m>
                <a:r>
                  <a:rPr lang="en-US" dirty="0"/>
                  <a:t>			(1)</a:t>
                </a:r>
              </a:p>
              <a:p>
                <a:pPr marL="0" indent="0">
                  <a:buNone/>
                </a:pPr>
                <a:r>
                  <a:rPr lang="en-US" dirty="0"/>
                  <a:t>then the normal equations are</a:t>
                </a:r>
              </a:p>
              <a:p>
                <a:pPr marL="0" indent="0">
                  <a:buNone/>
                </a:pPr>
                <a14:m>
                  <m:oMathPara xmlns:m="http://schemas.openxmlformats.org/officeDocument/2006/math">
                    <m:oMathParaPr>
                      <m:jc m:val="left"/>
                    </m:oMathParaPr>
                    <m:oMath xmlns:m="http://schemas.openxmlformats.org/officeDocument/2006/math">
                      <m:func>
                        <m:funcPr>
                          <m:ctrlPr>
                            <a:rPr lang="es-ES" i="1" dirty="0" smtClean="0">
                              <a:latin typeface="Cambria Math" panose="02040503050406030204" pitchFamily="18" charset="0"/>
                            </a:rPr>
                          </m:ctrlPr>
                        </m:funcPr>
                        <m:fName>
                          <m:r>
                            <m:rPr>
                              <m:sty m:val="p"/>
                            </m:rPr>
                            <a:rPr lang="es-ES" i="0" dirty="0" smtClean="0">
                              <a:latin typeface="Cambria Math" panose="02040503050406030204" pitchFamily="18" charset="0"/>
                            </a:rPr>
                            <m:t>log</m:t>
                          </m:r>
                        </m:fName>
                        <m:e>
                          <m:r>
                            <a:rPr lang="es-ES" i="1" dirty="0" smtClean="0">
                              <a:latin typeface="Cambria Math" panose="02040503050406030204" pitchFamily="18" charset="0"/>
                            </a:rPr>
                            <m:t>𝑦</m:t>
                          </m:r>
                        </m:e>
                      </m:func>
                      <m:r>
                        <a:rPr lang="en-US" b="0" i="1" dirty="0" smtClean="0">
                          <a:latin typeface="Cambria Math" panose="02040503050406030204" pitchFamily="18" charset="0"/>
                        </a:rPr>
                        <m:t>=</m:t>
                      </m:r>
                      <m:func>
                        <m:funcPr>
                          <m:ctrlPr>
                            <a:rPr lang="es-ES" i="1" dirty="0" smtClean="0">
                              <a:latin typeface="Cambria Math" panose="02040503050406030204" pitchFamily="18" charset="0"/>
                            </a:rPr>
                          </m:ctrlPr>
                        </m:funcPr>
                        <m:fName>
                          <m:r>
                            <m:rPr>
                              <m:sty m:val="p"/>
                            </m:rPr>
                            <a:rPr lang="es-ES" i="0" dirty="0" smtClean="0">
                              <a:latin typeface="Cambria Math" panose="02040503050406030204" pitchFamily="18" charset="0"/>
                            </a:rPr>
                            <m:t>log</m:t>
                          </m:r>
                        </m:fName>
                        <m:e>
                          <m:r>
                            <a:rPr lang="es-ES" i="1" dirty="0" smtClean="0">
                              <a:latin typeface="Cambria Math" panose="02040503050406030204" pitchFamily="18" charset="0"/>
                            </a:rPr>
                            <m:t>𝑎</m:t>
                          </m:r>
                        </m:e>
                      </m:func>
                      <m:r>
                        <a:rPr lang="en-US" b="0" i="1" dirty="0" smtClean="0">
                          <a:latin typeface="Cambria Math" panose="02040503050406030204" pitchFamily="18" charset="0"/>
                        </a:rPr>
                        <m:t>+</m:t>
                      </m:r>
                      <m:r>
                        <a:rPr lang="es-ES" i="1" dirty="0" smtClean="0">
                          <a:latin typeface="Cambria Math" panose="02040503050406030204" pitchFamily="18" charset="0"/>
                        </a:rPr>
                        <m:t>𝑏</m:t>
                      </m:r>
                      <m:r>
                        <a:rPr lang="es-ES" i="1" dirty="0" smtClean="0">
                          <a:latin typeface="Cambria Math" panose="02040503050406030204" pitchFamily="18" charset="0"/>
                        </a:rPr>
                        <m:t> </m:t>
                      </m:r>
                      <m:r>
                        <m:rPr>
                          <m:sty m:val="p"/>
                        </m:rPr>
                        <a:rPr lang="es-ES" i="1" dirty="0" smtClean="0">
                          <a:latin typeface="Cambria Math" panose="02040503050406030204" pitchFamily="18" charset="0"/>
                        </a:rPr>
                        <m:t>log</m:t>
                      </m:r>
                      <m:r>
                        <a:rPr lang="es-ES" i="1" dirty="0" smtClean="0">
                          <a:latin typeface="Cambria Math" panose="02040503050406030204" pitchFamily="18" charset="0"/>
                        </a:rPr>
                        <m:t>⁡</m:t>
                      </m:r>
                      <m:r>
                        <a:rPr lang="es-ES" i="1" dirty="0" smtClean="0">
                          <a:latin typeface="Cambria Math" panose="02040503050406030204" pitchFamily="18" charset="0"/>
                        </a:rPr>
                        <m:t>𝑥</m:t>
                      </m:r>
                    </m:oMath>
                  </m:oMathPara>
                </a14:m>
                <a:endParaRPr lang="en-US" dirty="0"/>
              </a:p>
              <a:p>
                <a:pPr marL="0" indent="0">
                  <a:buNone/>
                </a:pPr>
                <a:r>
                  <a:rPr lang="en-US" dirty="0"/>
                  <a:t>Let </a:t>
                </a:r>
                <a14:m>
                  <m:oMath xmlns:m="http://schemas.openxmlformats.org/officeDocument/2006/math">
                    <m:r>
                      <m:rPr>
                        <m:sty m:val="p"/>
                      </m:rPr>
                      <a:rPr lang="en-US" b="0" i="0" dirty="0" smtClean="0">
                        <a:latin typeface="Cambria Math" panose="02040503050406030204" pitchFamily="18" charset="0"/>
                      </a:rPr>
                      <m:t>Y</m:t>
                    </m:r>
                    <m:r>
                      <a:rPr lang="en-US" b="0" i="0" dirty="0" smtClean="0">
                        <a:latin typeface="Cambria Math" panose="02040503050406030204" pitchFamily="18" charset="0"/>
                      </a:rPr>
                      <m:t>=</m:t>
                    </m:r>
                    <m:func>
                      <m:funcPr>
                        <m:ctrlPr>
                          <a:rPr lang="es-ES" i="1" dirty="0">
                            <a:latin typeface="Cambria Math" panose="02040503050406030204" pitchFamily="18" charset="0"/>
                          </a:rPr>
                        </m:ctrlPr>
                      </m:funcPr>
                      <m:fName>
                        <m:r>
                          <m:rPr>
                            <m:sty m:val="p"/>
                          </m:rPr>
                          <a:rPr lang="es-ES" dirty="0">
                            <a:latin typeface="Cambria Math" panose="02040503050406030204" pitchFamily="18" charset="0"/>
                          </a:rPr>
                          <m:t>log</m:t>
                        </m:r>
                      </m:fName>
                      <m:e>
                        <m:r>
                          <a:rPr lang="es-ES" i="1" dirty="0">
                            <a:latin typeface="Cambria Math" panose="02040503050406030204" pitchFamily="18" charset="0"/>
                          </a:rPr>
                          <m:t>𝑦</m:t>
                        </m:r>
                      </m:e>
                    </m:func>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i="1" dirty="0">
                        <a:latin typeface="Cambria Math" panose="02040503050406030204" pitchFamily="18" charset="0"/>
                      </a:rPr>
                      <m:t>=</m:t>
                    </m:r>
                    <m:func>
                      <m:funcPr>
                        <m:ctrlPr>
                          <a:rPr lang="es-ES" i="1" dirty="0">
                            <a:latin typeface="Cambria Math" panose="02040503050406030204" pitchFamily="18" charset="0"/>
                          </a:rPr>
                        </m:ctrlPr>
                      </m:funcPr>
                      <m:fName>
                        <m:r>
                          <m:rPr>
                            <m:sty m:val="p"/>
                          </m:rPr>
                          <a:rPr lang="es-ES" dirty="0">
                            <a:latin typeface="Cambria Math" panose="02040503050406030204" pitchFamily="18" charset="0"/>
                          </a:rPr>
                          <m:t>log</m:t>
                        </m:r>
                      </m:fName>
                      <m:e>
                        <m:r>
                          <a:rPr lang="es-ES" i="1" dirty="0">
                            <a:latin typeface="Cambria Math" panose="02040503050406030204" pitchFamily="18" charset="0"/>
                          </a:rPr>
                          <m:t>𝑎</m:t>
                        </m:r>
                      </m:e>
                    </m:func>
                    <m:r>
                      <a:rPr lang="en-US" b="0" i="1" dirty="0" smtClean="0">
                        <a:latin typeface="Cambria Math" panose="02040503050406030204" pitchFamily="18" charset="0"/>
                      </a:rPr>
                      <m:t>,  </m:t>
                    </m:r>
                    <m:r>
                      <a:rPr lang="en-US" b="0" i="1" dirty="0" smtClean="0">
                        <a:latin typeface="Cambria Math" panose="02040503050406030204" pitchFamily="18" charset="0"/>
                      </a:rPr>
                      <m:t>𝑋</m:t>
                    </m:r>
                    <m:r>
                      <a:rPr lang="en-US" b="0" i="1" dirty="0" smtClean="0">
                        <a:latin typeface="Cambria Math" panose="02040503050406030204" pitchFamily="18" charset="0"/>
                      </a:rPr>
                      <m:t>= </m:t>
                    </m:r>
                    <m:r>
                      <m:rPr>
                        <m:sty m:val="p"/>
                      </m:rPr>
                      <a:rPr lang="es-ES" i="1" dirty="0">
                        <a:latin typeface="Cambria Math" panose="02040503050406030204" pitchFamily="18" charset="0"/>
                      </a:rPr>
                      <m:t>log</m:t>
                    </m:r>
                    <m:r>
                      <a:rPr lang="es-ES" i="1" dirty="0">
                        <a:latin typeface="Cambria Math" panose="02040503050406030204" pitchFamily="18" charset="0"/>
                      </a:rPr>
                      <m:t>⁡</m:t>
                    </m:r>
                    <m:r>
                      <a:rPr lang="es-ES" i="1" dirty="0">
                        <a:latin typeface="Cambria Math" panose="02040503050406030204" pitchFamily="18" charset="0"/>
                      </a:rPr>
                      <m:t>𝑥</m:t>
                    </m:r>
                  </m:oMath>
                </a14:m>
                <a:endParaRPr lang="en-US" dirty="0"/>
              </a:p>
              <a:p>
                <a:pPr marL="0" indent="0">
                  <a:buNone/>
                </a:pPr>
                <a14:m>
                  <m:oMath xmlns:m="http://schemas.openxmlformats.org/officeDocument/2006/math">
                    <m:nary>
                      <m:naryPr>
                        <m:chr m:val="∑"/>
                        <m:subHide m:val="on"/>
                        <m:supHide m:val="on"/>
                        <m:ctrlPr>
                          <a:rPr lang="en-US" i="1">
                            <a:latin typeface="Cambria Math" panose="02040503050406030204" pitchFamily="18" charset="0"/>
                          </a:rPr>
                        </m:ctrlPr>
                      </m:naryPr>
                      <m:sub/>
                      <m:sup/>
                      <m:e>
                        <m:r>
                          <a:rPr lang="en-US" b="0" i="1" dirty="0" smtClean="0">
                            <a:latin typeface="Cambria Math" panose="02040503050406030204" pitchFamily="18" charset="0"/>
                          </a:rPr>
                          <m:t>𝑌</m:t>
                        </m:r>
                      </m:e>
                    </m:nary>
                    <m:r>
                      <a:rPr lang="en-US" i="1">
                        <a:latin typeface="Cambria Math"/>
                      </a:rPr>
                      <m:t>=</m:t>
                    </m:r>
                    <m:r>
                      <a:rPr lang="en-US" b="0" i="1" smtClean="0">
                        <a:latin typeface="Cambria Math" panose="02040503050406030204" pitchFamily="18" charset="0"/>
                      </a:rPr>
                      <m:t>𝑛</m:t>
                    </m:r>
                    <m:r>
                      <a:rPr lang="en-US" b="0" i="1" dirty="0" smtClean="0">
                        <a:latin typeface="Cambria Math" panose="02040503050406030204" pitchFamily="18" charset="0"/>
                      </a:rPr>
                      <m:t>𝐴</m:t>
                    </m:r>
                    <m:r>
                      <a:rPr lang="en-US" i="1">
                        <a:latin typeface="Cambria Math"/>
                      </a:rPr>
                      <m:t>+</m:t>
                    </m:r>
                    <m:r>
                      <a:rPr lang="en-US" i="1">
                        <a:latin typeface="Cambria Math"/>
                      </a:rPr>
                      <m:t>𝑏</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𝑋</m:t>
                        </m:r>
                      </m:e>
                    </m:nary>
                  </m:oMath>
                </a14:m>
                <a:r>
                  <a:rPr lang="en-US" dirty="0"/>
                  <a:t>	(2)</a:t>
                </a:r>
              </a:p>
              <a:p>
                <a:pPr marL="0" indent="0">
                  <a:buNone/>
                </a:pPr>
                <a14:m>
                  <m:oMath xmlns:m="http://schemas.openxmlformats.org/officeDocument/2006/math">
                    <m:nary>
                      <m:naryPr>
                        <m:chr m:val="∑"/>
                        <m:subHide m:val="on"/>
                        <m:supHide m:val="on"/>
                        <m:ctrlPr>
                          <a:rPr lang="en-US" i="1">
                            <a:latin typeface="Cambria Math" panose="02040503050406030204" pitchFamily="18" charset="0"/>
                          </a:rPr>
                        </m:ctrlPr>
                      </m:naryPr>
                      <m:sub/>
                      <m:sup/>
                      <m:e>
                        <m:r>
                          <a:rPr lang="en-US" b="0" i="1" smtClean="0">
                            <a:latin typeface="Cambria Math" panose="02040503050406030204" pitchFamily="18" charset="0"/>
                          </a:rPr>
                          <m:t>𝑋𝑌</m:t>
                        </m:r>
                      </m:e>
                    </m:nary>
                    <m:r>
                      <a:rPr lang="en-US" i="1">
                        <a:latin typeface="Cambria Math"/>
                      </a:rPr>
                      <m:t>=</m:t>
                    </m:r>
                    <m:r>
                      <a:rPr lang="en-US" b="0" i="1" smtClean="0">
                        <a:latin typeface="Cambria Math" panose="02040503050406030204" pitchFamily="18" charset="0"/>
                      </a:rPr>
                      <m:t>𝐴</m:t>
                    </m:r>
                    <m:nary>
                      <m:naryPr>
                        <m:chr m:val="∑"/>
                        <m:subHide m:val="on"/>
                        <m:supHide m:val="on"/>
                        <m:ctrlPr>
                          <a:rPr lang="en-US" i="1">
                            <a:latin typeface="Cambria Math" panose="02040503050406030204" pitchFamily="18" charset="0"/>
                          </a:rPr>
                        </m:ctrlPr>
                      </m:naryPr>
                      <m:sub/>
                      <m:sup/>
                      <m:e>
                        <m:r>
                          <a:rPr lang="en-US" b="0" i="1" smtClean="0">
                            <a:latin typeface="Cambria Math" panose="02040503050406030204" pitchFamily="18" charset="0"/>
                          </a:rPr>
                          <m:t>𝑋</m:t>
                        </m:r>
                      </m:e>
                    </m:nary>
                    <m:r>
                      <a:rPr lang="en-US" i="1">
                        <a:latin typeface="Cambria Math"/>
                      </a:rPr>
                      <m:t>+</m:t>
                    </m:r>
                    <m:r>
                      <a:rPr lang="en-US" i="1">
                        <a:latin typeface="Cambria Math"/>
                      </a:rPr>
                      <m:t>𝑏</m:t>
                    </m:r>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b="0" i="1" smtClean="0">
                                <a:latin typeface="Cambria Math" panose="02040503050406030204" pitchFamily="18" charset="0"/>
                              </a:rPr>
                              <m:t>𝑋</m:t>
                            </m:r>
                          </m:e>
                          <m:sup>
                            <m:r>
                              <a:rPr lang="en-US" i="1">
                                <a:latin typeface="Cambria Math"/>
                              </a:rPr>
                              <m:t>2</m:t>
                            </m:r>
                          </m:sup>
                        </m:sSup>
                      </m:e>
                    </m:nary>
                  </m:oMath>
                </a14:m>
                <a:r>
                  <a:rPr lang="en-US" dirty="0"/>
                  <a:t> 	(3)                                    </a:t>
                </a:r>
              </a:p>
              <a:p>
                <a:pPr marL="0" indent="0">
                  <a:buNone/>
                </a:pPr>
                <a:r>
                  <a:rPr lang="en-US" dirty="0"/>
                  <a:t>n=5</a:t>
                </a:r>
              </a:p>
              <a:p>
                <a:pPr marL="0" indent="0">
                  <a:buNone/>
                </a:pP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4593" t="-674" b="-485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1BFE93E-6AC5-4654-A214-5E824A491D7D}"/>
                  </a:ext>
                </a:extLst>
              </p:cNvPr>
              <p:cNvGraphicFramePr>
                <a:graphicFrameLocks noGrp="1"/>
              </p:cNvGraphicFramePr>
              <p:nvPr>
                <p:extLst>
                  <p:ext uri="{D42A27DB-BD31-4B8C-83A1-F6EECF244321}">
                    <p14:modId xmlns:p14="http://schemas.microsoft.com/office/powerpoint/2010/main" val="3761617771"/>
                  </p:ext>
                </p:extLst>
              </p:nvPr>
            </p:nvGraphicFramePr>
            <p:xfrm>
              <a:off x="1371600" y="1620520"/>
              <a:ext cx="6096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464277648"/>
                        </a:ext>
                      </a:extLst>
                    </a:gridCol>
                    <a:gridCol w="1016000">
                      <a:extLst>
                        <a:ext uri="{9D8B030D-6E8A-4147-A177-3AD203B41FA5}">
                          <a16:colId xmlns:a16="http://schemas.microsoft.com/office/drawing/2014/main" val="2566178687"/>
                        </a:ext>
                      </a:extLst>
                    </a:gridCol>
                    <a:gridCol w="1016000">
                      <a:extLst>
                        <a:ext uri="{9D8B030D-6E8A-4147-A177-3AD203B41FA5}">
                          <a16:colId xmlns:a16="http://schemas.microsoft.com/office/drawing/2014/main" val="3164719788"/>
                        </a:ext>
                      </a:extLst>
                    </a:gridCol>
                    <a:gridCol w="1016000">
                      <a:extLst>
                        <a:ext uri="{9D8B030D-6E8A-4147-A177-3AD203B41FA5}">
                          <a16:colId xmlns:a16="http://schemas.microsoft.com/office/drawing/2014/main" val="1236294677"/>
                        </a:ext>
                      </a:extLst>
                    </a:gridCol>
                    <a:gridCol w="1016000">
                      <a:extLst>
                        <a:ext uri="{9D8B030D-6E8A-4147-A177-3AD203B41FA5}">
                          <a16:colId xmlns:a16="http://schemas.microsoft.com/office/drawing/2014/main" val="2658487123"/>
                        </a:ext>
                      </a:extLst>
                    </a:gridCol>
                    <a:gridCol w="1016000">
                      <a:extLst>
                        <a:ext uri="{9D8B030D-6E8A-4147-A177-3AD203B41FA5}">
                          <a16:colId xmlns:a16="http://schemas.microsoft.com/office/drawing/2014/main" val="1587378695"/>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3687715373"/>
                      </a:ext>
                    </a:extLst>
                  </a:tr>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m:t>
                                </m:r>
                              </m:oMath>
                            </m:oMathPara>
                          </a14:m>
                          <a:endParaRPr lang="en-US" dirty="0"/>
                        </a:p>
                      </a:txBody>
                      <a:tcPr/>
                    </a:tc>
                    <a:tc>
                      <a:txBody>
                        <a:bodyPr/>
                        <a:lstStyle/>
                        <a:p>
                          <a:r>
                            <a:rPr lang="en-US" dirty="0"/>
                            <a:t>0.5</a:t>
                          </a:r>
                        </a:p>
                      </a:txBody>
                      <a:tcPr/>
                    </a:tc>
                    <a:tc>
                      <a:txBody>
                        <a:bodyPr/>
                        <a:lstStyle/>
                        <a:p>
                          <a:r>
                            <a:rPr lang="en-US" dirty="0"/>
                            <a:t>1.7</a:t>
                          </a:r>
                        </a:p>
                      </a:txBody>
                      <a:tcPr/>
                    </a:tc>
                    <a:tc>
                      <a:txBody>
                        <a:bodyPr/>
                        <a:lstStyle/>
                        <a:p>
                          <a:r>
                            <a:rPr lang="en-US" dirty="0"/>
                            <a:t>3.4</a:t>
                          </a:r>
                        </a:p>
                      </a:txBody>
                      <a:tcPr/>
                    </a:tc>
                    <a:tc>
                      <a:txBody>
                        <a:bodyPr/>
                        <a:lstStyle/>
                        <a:p>
                          <a:r>
                            <a:rPr lang="en-US" dirty="0"/>
                            <a:t>5.7</a:t>
                          </a:r>
                        </a:p>
                      </a:txBody>
                      <a:tcPr/>
                    </a:tc>
                    <a:tc>
                      <a:txBody>
                        <a:bodyPr/>
                        <a:lstStyle/>
                        <a:p>
                          <a:r>
                            <a:rPr lang="en-US" dirty="0"/>
                            <a:t>8.4</a:t>
                          </a:r>
                        </a:p>
                      </a:txBody>
                      <a:tcPr/>
                    </a:tc>
                    <a:extLst>
                      <a:ext uri="{0D108BD9-81ED-4DB2-BD59-A6C34878D82A}">
                        <a16:rowId xmlns:a16="http://schemas.microsoft.com/office/drawing/2014/main" val="905307708"/>
                      </a:ext>
                    </a:extLst>
                  </a:tr>
                </a:tbl>
              </a:graphicData>
            </a:graphic>
          </p:graphicFrame>
        </mc:Choice>
        <mc:Fallback xmlns="">
          <p:graphicFrame>
            <p:nvGraphicFramePr>
              <p:cNvPr id="2" name="Table 1">
                <a:extLst>
                  <a:ext uri="{FF2B5EF4-FFF2-40B4-BE49-F238E27FC236}">
                    <a16:creationId xmlns:a16="http://schemas.microsoft.com/office/drawing/2014/main" id="{81BFE93E-6AC5-4654-A214-5E824A491D7D}"/>
                  </a:ext>
                </a:extLst>
              </p:cNvPr>
              <p:cNvGraphicFramePr>
                <a:graphicFrameLocks noGrp="1"/>
              </p:cNvGraphicFramePr>
              <p:nvPr>
                <p:extLst>
                  <p:ext uri="{D42A27DB-BD31-4B8C-83A1-F6EECF244321}">
                    <p14:modId xmlns:p14="http://schemas.microsoft.com/office/powerpoint/2010/main" val="3761617771"/>
                  </p:ext>
                </p:extLst>
              </p:nvPr>
            </p:nvGraphicFramePr>
            <p:xfrm>
              <a:off x="1371600" y="1620520"/>
              <a:ext cx="6096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464277648"/>
                        </a:ext>
                      </a:extLst>
                    </a:gridCol>
                    <a:gridCol w="1016000">
                      <a:extLst>
                        <a:ext uri="{9D8B030D-6E8A-4147-A177-3AD203B41FA5}">
                          <a16:colId xmlns:a16="http://schemas.microsoft.com/office/drawing/2014/main" val="2566178687"/>
                        </a:ext>
                      </a:extLst>
                    </a:gridCol>
                    <a:gridCol w="1016000">
                      <a:extLst>
                        <a:ext uri="{9D8B030D-6E8A-4147-A177-3AD203B41FA5}">
                          <a16:colId xmlns:a16="http://schemas.microsoft.com/office/drawing/2014/main" val="3164719788"/>
                        </a:ext>
                      </a:extLst>
                    </a:gridCol>
                    <a:gridCol w="1016000">
                      <a:extLst>
                        <a:ext uri="{9D8B030D-6E8A-4147-A177-3AD203B41FA5}">
                          <a16:colId xmlns:a16="http://schemas.microsoft.com/office/drawing/2014/main" val="1236294677"/>
                        </a:ext>
                      </a:extLst>
                    </a:gridCol>
                    <a:gridCol w="1016000">
                      <a:extLst>
                        <a:ext uri="{9D8B030D-6E8A-4147-A177-3AD203B41FA5}">
                          <a16:colId xmlns:a16="http://schemas.microsoft.com/office/drawing/2014/main" val="2658487123"/>
                        </a:ext>
                      </a:extLst>
                    </a:gridCol>
                    <a:gridCol w="1016000">
                      <a:extLst>
                        <a:ext uri="{9D8B030D-6E8A-4147-A177-3AD203B41FA5}">
                          <a16:colId xmlns:a16="http://schemas.microsoft.com/office/drawing/2014/main" val="1587378695"/>
                        </a:ext>
                      </a:extLst>
                    </a:gridCol>
                  </a:tblGrid>
                  <a:tr h="370840">
                    <a:tc>
                      <a:txBody>
                        <a:bodyPr/>
                        <a:lstStyle/>
                        <a:p>
                          <a:endParaRPr lang="en-US"/>
                        </a:p>
                      </a:txBody>
                      <a:tcPr>
                        <a:blipFill>
                          <a:blip r:embed="rId3"/>
                          <a:stretch>
                            <a:fillRect l="-1198" t="-8065" r="-501796" b="-122581"/>
                          </a:stretch>
                        </a:blipFill>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3687715373"/>
                      </a:ext>
                    </a:extLst>
                  </a:tr>
                  <a:tr h="370840">
                    <a:tc>
                      <a:txBody>
                        <a:bodyPr/>
                        <a:lstStyle/>
                        <a:p>
                          <a:endParaRPr lang="en-US"/>
                        </a:p>
                      </a:txBody>
                      <a:tcPr>
                        <a:blipFill>
                          <a:blip r:embed="rId3"/>
                          <a:stretch>
                            <a:fillRect l="-1198" t="-109836" r="-501796" b="-24590"/>
                          </a:stretch>
                        </a:blipFill>
                      </a:tcPr>
                    </a:tc>
                    <a:tc>
                      <a:txBody>
                        <a:bodyPr/>
                        <a:lstStyle/>
                        <a:p>
                          <a:r>
                            <a:rPr lang="en-US" dirty="0"/>
                            <a:t>0.5</a:t>
                          </a:r>
                        </a:p>
                      </a:txBody>
                      <a:tcPr/>
                    </a:tc>
                    <a:tc>
                      <a:txBody>
                        <a:bodyPr/>
                        <a:lstStyle/>
                        <a:p>
                          <a:r>
                            <a:rPr lang="en-US" dirty="0"/>
                            <a:t>1.7</a:t>
                          </a:r>
                        </a:p>
                      </a:txBody>
                      <a:tcPr/>
                    </a:tc>
                    <a:tc>
                      <a:txBody>
                        <a:bodyPr/>
                        <a:lstStyle/>
                        <a:p>
                          <a:r>
                            <a:rPr lang="en-US" dirty="0"/>
                            <a:t>3.4</a:t>
                          </a:r>
                        </a:p>
                      </a:txBody>
                      <a:tcPr/>
                    </a:tc>
                    <a:tc>
                      <a:txBody>
                        <a:bodyPr/>
                        <a:lstStyle/>
                        <a:p>
                          <a:r>
                            <a:rPr lang="en-US" dirty="0"/>
                            <a:t>5.7</a:t>
                          </a:r>
                        </a:p>
                      </a:txBody>
                      <a:tcPr/>
                    </a:tc>
                    <a:tc>
                      <a:txBody>
                        <a:bodyPr/>
                        <a:lstStyle/>
                        <a:p>
                          <a:r>
                            <a:rPr lang="en-US" dirty="0"/>
                            <a:t>8.4</a:t>
                          </a:r>
                        </a:p>
                      </a:txBody>
                      <a:tcPr/>
                    </a:tc>
                    <a:extLst>
                      <a:ext uri="{0D108BD9-81ED-4DB2-BD59-A6C34878D82A}">
                        <a16:rowId xmlns:a16="http://schemas.microsoft.com/office/drawing/2014/main" val="905307708"/>
                      </a:ext>
                    </a:extLst>
                  </a:tr>
                </a:tbl>
              </a:graphicData>
            </a:graphic>
          </p:graphicFrame>
        </mc:Fallback>
      </mc:AlternateContent>
    </p:spTree>
    <p:extLst>
      <p:ext uri="{BB962C8B-B14F-4D97-AF65-F5344CB8AC3E}">
        <p14:creationId xmlns:p14="http://schemas.microsoft.com/office/powerpoint/2010/main" val="25657845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1000"/>
                                        <p:tgtEl>
                                          <p:spTgt spid="3">
                                            <p:txEl>
                                              <p:pRg st="10" end="10"/>
                                            </p:txEl>
                                          </p:spTgt>
                                        </p:tgtEl>
                                      </p:cBhvr>
                                    </p:animEffect>
                                    <p:anim calcmode="lin" valueType="num">
                                      <p:cBhvr>
                                        <p:cTn id="5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Effect transition="in" filter="fade">
                                      <p:cBhvr>
                                        <p:cTn id="63" dur="1000"/>
                                        <p:tgtEl>
                                          <p:spTgt spid="3">
                                            <p:txEl>
                                              <p:pRg st="11" end="11"/>
                                            </p:txEl>
                                          </p:spTgt>
                                        </p:tgtEl>
                                      </p:cBhvr>
                                    </p:animEffect>
                                    <p:anim calcmode="lin" valueType="num">
                                      <p:cBhvr>
                                        <p:cTn id="6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CE7396E0-1122-4D94-B23E-E32F71419E34}"/>
                  </a:ext>
                </a:extLst>
              </p:cNvPr>
              <p:cNvGraphicFramePr>
                <a:graphicFrameLocks noGrp="1"/>
              </p:cNvGraphicFramePr>
              <p:nvPr>
                <p:ph idx="1"/>
                <p:extLst>
                  <p:ext uri="{D42A27DB-BD31-4B8C-83A1-F6EECF244321}">
                    <p14:modId xmlns:p14="http://schemas.microsoft.com/office/powerpoint/2010/main" val="3038679396"/>
                  </p:ext>
                </p:extLst>
              </p:nvPr>
            </p:nvGraphicFramePr>
            <p:xfrm>
              <a:off x="838200" y="1219197"/>
              <a:ext cx="7772400" cy="2667003"/>
            </p:xfrm>
            <a:graphic>
              <a:graphicData uri="http://schemas.openxmlformats.org/drawingml/2006/table">
                <a:tbl>
                  <a:tblPr firstRow="1" bandRow="1">
                    <a:tableStyleId>{5C22544A-7EE6-4342-B048-85BDC9FD1C3A}</a:tableStyleId>
                  </a:tblPr>
                  <a:tblGrid>
                    <a:gridCol w="791633">
                      <a:extLst>
                        <a:ext uri="{9D8B030D-6E8A-4147-A177-3AD203B41FA5}">
                          <a16:colId xmlns:a16="http://schemas.microsoft.com/office/drawing/2014/main" val="360451504"/>
                        </a:ext>
                      </a:extLst>
                    </a:gridCol>
                    <a:gridCol w="1799167">
                      <a:extLst>
                        <a:ext uri="{9D8B030D-6E8A-4147-A177-3AD203B41FA5}">
                          <a16:colId xmlns:a16="http://schemas.microsoft.com/office/drawing/2014/main" val="1363710141"/>
                        </a:ext>
                      </a:extLst>
                    </a:gridCol>
                    <a:gridCol w="1295400">
                      <a:extLst>
                        <a:ext uri="{9D8B030D-6E8A-4147-A177-3AD203B41FA5}">
                          <a16:colId xmlns:a16="http://schemas.microsoft.com/office/drawing/2014/main" val="3222612455"/>
                        </a:ext>
                      </a:extLst>
                    </a:gridCol>
                    <a:gridCol w="1295400">
                      <a:extLst>
                        <a:ext uri="{9D8B030D-6E8A-4147-A177-3AD203B41FA5}">
                          <a16:colId xmlns:a16="http://schemas.microsoft.com/office/drawing/2014/main" val="29121123"/>
                        </a:ext>
                      </a:extLst>
                    </a:gridCol>
                    <a:gridCol w="1295400">
                      <a:extLst>
                        <a:ext uri="{9D8B030D-6E8A-4147-A177-3AD203B41FA5}">
                          <a16:colId xmlns:a16="http://schemas.microsoft.com/office/drawing/2014/main" val="2396323223"/>
                        </a:ext>
                      </a:extLst>
                    </a:gridCol>
                    <a:gridCol w="1295400">
                      <a:extLst>
                        <a:ext uri="{9D8B030D-6E8A-4147-A177-3AD203B41FA5}">
                          <a16:colId xmlns:a16="http://schemas.microsoft.com/office/drawing/2014/main" val="1626846056"/>
                        </a:ext>
                      </a:extLst>
                    </a:gridCol>
                  </a:tblGrid>
                  <a:tr h="381951">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b="1" i="1" smtClean="0">
                                    <a:latin typeface="Cambria Math" panose="02040503050406030204" pitchFamily="18" charset="0"/>
                                  </a:rPr>
                                  <m:t>=</m:t>
                                </m:r>
                                <m:r>
                                  <a:rPr lang="en-US" b="1" i="1" smtClean="0">
                                    <a:latin typeface="Cambria Math" panose="02040503050406030204" pitchFamily="18" charset="0"/>
                                  </a:rPr>
                                  <m:t>𝒍𝒐𝒈</m:t>
                                </m:r>
                                <m:r>
                                  <a:rPr lang="en-US" b="1" i="1" smtClean="0">
                                    <a:latin typeface="Cambria Math" panose="02040503050406030204" pitchFamily="18" charset="0"/>
                                  </a:rPr>
                                  <m:t> </m:t>
                                </m:r>
                                <m:r>
                                  <a:rPr lang="en-US" b="1" i="1" smtClean="0">
                                    <a:latin typeface="Cambria Math" panose="02040503050406030204" pitchFamily="18" charset="0"/>
                                  </a:rPr>
                                  <m:t>𝒙</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𝒀</m:t>
                                </m:r>
                                <m:r>
                                  <a:rPr lang="en-US" b="1" i="1" smtClean="0">
                                    <a:latin typeface="Cambria Math" panose="02040503050406030204" pitchFamily="18" charset="0"/>
                                  </a:rPr>
                                  <m:t>=</m:t>
                                </m:r>
                                <m:r>
                                  <a:rPr lang="en-US" b="1" i="1" smtClean="0">
                                    <a:latin typeface="Cambria Math" panose="02040503050406030204" pitchFamily="18" charset="0"/>
                                  </a:rPr>
                                  <m:t>𝒍𝒐𝒈</m:t>
                                </m:r>
                                <m:r>
                                  <a:rPr lang="en-US" b="1" i="1" smtClean="0">
                                    <a:latin typeface="Cambria Math" panose="02040503050406030204" pitchFamily="18" charset="0"/>
                                  </a:rPr>
                                  <m:t> </m:t>
                                </m:r>
                                <m:r>
                                  <a:rPr lang="en-US" b="1" i="1" smtClean="0">
                                    <a:latin typeface="Cambria Math" panose="02040503050406030204" pitchFamily="18" charset="0"/>
                                  </a:rPr>
                                  <m:t>𝒚</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panose="02040503050406030204" pitchFamily="18" charset="0"/>
                                      </a:rPr>
                                      <m:t>𝑿</m:t>
                                    </m:r>
                                  </m:e>
                                  <m:sup>
                                    <m:r>
                                      <a:rPr lang="en-US" b="1" i="1" smtClean="0">
                                        <a:latin typeface="Cambria Math" panose="02040503050406030204" pitchFamily="18" charset="0"/>
                                      </a:rPr>
                                      <m:t>𝟐</m:t>
                                    </m:r>
                                  </m:sup>
                                </m:sSup>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𝑿𝒀</m:t>
                                </m:r>
                              </m:oMath>
                            </m:oMathPara>
                          </a14:m>
                          <a:endParaRPr lang="en-US" dirty="0"/>
                        </a:p>
                      </a:txBody>
                      <a:tcPr/>
                    </a:tc>
                    <a:extLst>
                      <a:ext uri="{0D108BD9-81ED-4DB2-BD59-A6C34878D82A}">
                        <a16:rowId xmlns:a16="http://schemas.microsoft.com/office/drawing/2014/main" val="3332269473"/>
                      </a:ext>
                    </a:extLst>
                  </a:tr>
                  <a:tr h="380842">
                    <a:tc>
                      <a:txBody>
                        <a:bodyPr/>
                        <a:lstStyle/>
                        <a:p>
                          <a:r>
                            <a:rPr lang="en-US" dirty="0"/>
                            <a:t>1</a:t>
                          </a:r>
                        </a:p>
                      </a:txBody>
                      <a:tcPr/>
                    </a:tc>
                    <a:tc>
                      <a:txBody>
                        <a:bodyPr/>
                        <a:lstStyle/>
                        <a:p>
                          <a:r>
                            <a:rPr lang="en-US" dirty="0"/>
                            <a:t>0.5</a:t>
                          </a:r>
                        </a:p>
                      </a:txBody>
                      <a:tcPr/>
                    </a:tc>
                    <a:tc>
                      <a:txBody>
                        <a:bodyPr/>
                        <a:lstStyle/>
                        <a:p>
                          <a:r>
                            <a:rPr lang="en-US" dirty="0"/>
                            <a:t>0</a:t>
                          </a:r>
                        </a:p>
                      </a:txBody>
                      <a:tcPr/>
                    </a:tc>
                    <a:tc>
                      <a:txBody>
                        <a:bodyPr/>
                        <a:lstStyle/>
                        <a:p>
                          <a:r>
                            <a:rPr lang="en-US" dirty="0"/>
                            <a:t>-0.301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417245691"/>
                      </a:ext>
                    </a:extLst>
                  </a:tr>
                  <a:tr h="380842">
                    <a:tc>
                      <a:txBody>
                        <a:bodyPr/>
                        <a:lstStyle/>
                        <a:p>
                          <a:r>
                            <a:rPr lang="en-US" dirty="0"/>
                            <a:t>2</a:t>
                          </a:r>
                        </a:p>
                      </a:txBody>
                      <a:tcPr/>
                    </a:tc>
                    <a:tc>
                      <a:txBody>
                        <a:bodyPr/>
                        <a:lstStyle/>
                        <a:p>
                          <a:r>
                            <a:rPr lang="en-US" dirty="0"/>
                            <a:t>1.7</a:t>
                          </a:r>
                        </a:p>
                      </a:txBody>
                      <a:tcPr/>
                    </a:tc>
                    <a:tc>
                      <a:txBody>
                        <a:bodyPr/>
                        <a:lstStyle/>
                        <a:p>
                          <a:r>
                            <a:rPr lang="en-US" dirty="0"/>
                            <a:t>0.301</a:t>
                          </a:r>
                        </a:p>
                      </a:txBody>
                      <a:tcPr/>
                    </a:tc>
                    <a:tc>
                      <a:txBody>
                        <a:bodyPr/>
                        <a:lstStyle/>
                        <a:p>
                          <a:r>
                            <a:rPr lang="en-US" dirty="0"/>
                            <a:t>0.226</a:t>
                          </a:r>
                        </a:p>
                      </a:txBody>
                      <a:tcPr/>
                    </a:tc>
                    <a:tc>
                      <a:txBody>
                        <a:bodyPr/>
                        <a:lstStyle/>
                        <a:p>
                          <a:r>
                            <a:rPr lang="en-US" dirty="0"/>
                            <a:t>0.0694</a:t>
                          </a:r>
                        </a:p>
                      </a:txBody>
                      <a:tcPr/>
                    </a:tc>
                    <a:tc>
                      <a:txBody>
                        <a:bodyPr/>
                        <a:lstStyle/>
                        <a:p>
                          <a:r>
                            <a:rPr lang="en-US" dirty="0"/>
                            <a:t>0.0906</a:t>
                          </a:r>
                        </a:p>
                      </a:txBody>
                      <a:tcPr/>
                    </a:tc>
                    <a:extLst>
                      <a:ext uri="{0D108BD9-81ED-4DB2-BD59-A6C34878D82A}">
                        <a16:rowId xmlns:a16="http://schemas.microsoft.com/office/drawing/2014/main" val="3897694853"/>
                      </a:ext>
                    </a:extLst>
                  </a:tr>
                  <a:tr h="380842">
                    <a:tc>
                      <a:txBody>
                        <a:bodyPr/>
                        <a:lstStyle/>
                        <a:p>
                          <a:r>
                            <a:rPr lang="en-US" dirty="0"/>
                            <a:t>3</a:t>
                          </a:r>
                        </a:p>
                      </a:txBody>
                      <a:tcPr/>
                    </a:tc>
                    <a:tc>
                      <a:txBody>
                        <a:bodyPr/>
                        <a:lstStyle/>
                        <a:p>
                          <a:r>
                            <a:rPr lang="en-US" dirty="0"/>
                            <a:t>3.5</a:t>
                          </a:r>
                        </a:p>
                      </a:txBody>
                      <a:tcPr/>
                    </a:tc>
                    <a:tc>
                      <a:txBody>
                        <a:bodyPr/>
                        <a:lstStyle/>
                        <a:p>
                          <a:r>
                            <a:rPr lang="en-US" dirty="0"/>
                            <a:t>0.477</a:t>
                          </a:r>
                        </a:p>
                      </a:txBody>
                      <a:tcPr/>
                    </a:tc>
                    <a:tc>
                      <a:txBody>
                        <a:bodyPr/>
                        <a:lstStyle/>
                        <a:p>
                          <a:r>
                            <a:rPr lang="en-US" dirty="0"/>
                            <a:t>0.534</a:t>
                          </a:r>
                        </a:p>
                      </a:txBody>
                      <a:tcPr/>
                    </a:tc>
                    <a:tc>
                      <a:txBody>
                        <a:bodyPr/>
                        <a:lstStyle/>
                        <a:p>
                          <a:r>
                            <a:rPr lang="en-US" dirty="0"/>
                            <a:t>0.2536</a:t>
                          </a:r>
                        </a:p>
                      </a:txBody>
                      <a:tcPr/>
                    </a:tc>
                    <a:tc>
                      <a:txBody>
                        <a:bodyPr/>
                        <a:lstStyle/>
                        <a:p>
                          <a:r>
                            <a:rPr lang="en-US" dirty="0"/>
                            <a:t>0.2276</a:t>
                          </a:r>
                        </a:p>
                      </a:txBody>
                      <a:tcPr/>
                    </a:tc>
                    <a:extLst>
                      <a:ext uri="{0D108BD9-81ED-4DB2-BD59-A6C34878D82A}">
                        <a16:rowId xmlns:a16="http://schemas.microsoft.com/office/drawing/2014/main" val="966311834"/>
                      </a:ext>
                    </a:extLst>
                  </a:tr>
                  <a:tr h="380842">
                    <a:tc>
                      <a:txBody>
                        <a:bodyPr/>
                        <a:lstStyle/>
                        <a:p>
                          <a:r>
                            <a:rPr lang="en-US" dirty="0"/>
                            <a:t>4</a:t>
                          </a:r>
                        </a:p>
                      </a:txBody>
                      <a:tcPr/>
                    </a:tc>
                    <a:tc>
                      <a:txBody>
                        <a:bodyPr/>
                        <a:lstStyle/>
                        <a:p>
                          <a:r>
                            <a:rPr lang="en-US" dirty="0"/>
                            <a:t>5.7</a:t>
                          </a:r>
                        </a:p>
                      </a:txBody>
                      <a:tcPr/>
                    </a:tc>
                    <a:tc>
                      <a:txBody>
                        <a:bodyPr/>
                        <a:lstStyle/>
                        <a:p>
                          <a:r>
                            <a:rPr lang="en-US" dirty="0"/>
                            <a:t>0.602</a:t>
                          </a:r>
                        </a:p>
                      </a:txBody>
                      <a:tcPr/>
                    </a:tc>
                    <a:tc>
                      <a:txBody>
                        <a:bodyPr/>
                        <a:lstStyle/>
                        <a:p>
                          <a:r>
                            <a:rPr lang="en-US" dirty="0"/>
                            <a:t>0.753</a:t>
                          </a:r>
                        </a:p>
                      </a:txBody>
                      <a:tcPr/>
                    </a:tc>
                    <a:tc>
                      <a:txBody>
                        <a:bodyPr/>
                        <a:lstStyle/>
                        <a:p>
                          <a:r>
                            <a:rPr lang="en-US" dirty="0"/>
                            <a:t>0.4551</a:t>
                          </a:r>
                        </a:p>
                      </a:txBody>
                      <a:tcPr/>
                    </a:tc>
                    <a:tc>
                      <a:txBody>
                        <a:bodyPr/>
                        <a:lstStyle/>
                        <a:p>
                          <a:r>
                            <a:rPr lang="en-US" dirty="0"/>
                            <a:t>0.3625</a:t>
                          </a:r>
                        </a:p>
                      </a:txBody>
                      <a:tcPr/>
                    </a:tc>
                    <a:extLst>
                      <a:ext uri="{0D108BD9-81ED-4DB2-BD59-A6C34878D82A}">
                        <a16:rowId xmlns:a16="http://schemas.microsoft.com/office/drawing/2014/main" val="3799776152"/>
                      </a:ext>
                    </a:extLst>
                  </a:tr>
                  <a:tr h="380842">
                    <a:tc>
                      <a:txBody>
                        <a:bodyPr/>
                        <a:lstStyle/>
                        <a:p>
                          <a:r>
                            <a:rPr lang="en-US" dirty="0"/>
                            <a:t>5</a:t>
                          </a:r>
                        </a:p>
                      </a:txBody>
                      <a:tcPr/>
                    </a:tc>
                    <a:tc>
                      <a:txBody>
                        <a:bodyPr/>
                        <a:lstStyle/>
                        <a:p>
                          <a:r>
                            <a:rPr lang="en-US" dirty="0"/>
                            <a:t>8.4</a:t>
                          </a:r>
                        </a:p>
                      </a:txBody>
                      <a:tcPr/>
                    </a:tc>
                    <a:tc>
                      <a:txBody>
                        <a:bodyPr/>
                        <a:lstStyle/>
                        <a:p>
                          <a:r>
                            <a:rPr lang="en-US" dirty="0"/>
                            <a:t>0.699</a:t>
                          </a:r>
                        </a:p>
                      </a:txBody>
                      <a:tcPr/>
                    </a:tc>
                    <a:tc>
                      <a:txBody>
                        <a:bodyPr/>
                        <a:lstStyle/>
                        <a:p>
                          <a:r>
                            <a:rPr lang="en-US" dirty="0"/>
                            <a:t>0.922</a:t>
                          </a:r>
                        </a:p>
                      </a:txBody>
                      <a:tcPr/>
                    </a:tc>
                    <a:tc>
                      <a:txBody>
                        <a:bodyPr/>
                        <a:lstStyle/>
                        <a:p>
                          <a:r>
                            <a:rPr lang="en-US" dirty="0"/>
                            <a:t>0.6460</a:t>
                          </a:r>
                        </a:p>
                      </a:txBody>
                      <a:tcPr/>
                    </a:tc>
                    <a:tc>
                      <a:txBody>
                        <a:bodyPr/>
                        <a:lstStyle/>
                        <a:p>
                          <a:r>
                            <a:rPr lang="en-US" dirty="0"/>
                            <a:t>0.4886</a:t>
                          </a:r>
                        </a:p>
                      </a:txBody>
                      <a:tcPr/>
                    </a:tc>
                    <a:extLst>
                      <a:ext uri="{0D108BD9-81ED-4DB2-BD59-A6C34878D82A}">
                        <a16:rowId xmlns:a16="http://schemas.microsoft.com/office/drawing/2014/main" val="2397848456"/>
                      </a:ext>
                    </a:extLst>
                  </a:tr>
                  <a:tr h="380842">
                    <a:tc>
                      <a:txBody>
                        <a:bodyPr/>
                        <a:lstStyle/>
                        <a:p>
                          <a:endParaRPr lang="en-US" dirty="0"/>
                        </a:p>
                      </a:txBody>
                      <a:tcPr/>
                    </a:tc>
                    <a:tc>
                      <a:txBody>
                        <a:bodyPr/>
                        <a:lstStyle/>
                        <a:p>
                          <a:r>
                            <a:rPr lang="en-US" dirty="0"/>
                            <a:t>Total</a:t>
                          </a:r>
                        </a:p>
                      </a:txBody>
                      <a:tcPr/>
                    </a:tc>
                    <a:tc>
                      <a:txBody>
                        <a:bodyPr/>
                        <a:lstStyle/>
                        <a:p>
                          <a:r>
                            <a:rPr lang="en-US" dirty="0"/>
                            <a:t>2.079</a:t>
                          </a:r>
                        </a:p>
                      </a:txBody>
                      <a:tcPr/>
                    </a:tc>
                    <a:tc>
                      <a:txBody>
                        <a:bodyPr/>
                        <a:lstStyle/>
                        <a:p>
                          <a:r>
                            <a:rPr lang="en-US" dirty="0"/>
                            <a:t>2.141</a:t>
                          </a:r>
                        </a:p>
                      </a:txBody>
                      <a:tcPr/>
                    </a:tc>
                    <a:tc>
                      <a:txBody>
                        <a:bodyPr/>
                        <a:lstStyle/>
                        <a:p>
                          <a:r>
                            <a:rPr lang="en-US" dirty="0"/>
                            <a:t>1.424</a:t>
                          </a:r>
                        </a:p>
                      </a:txBody>
                      <a:tcPr/>
                    </a:tc>
                    <a:tc>
                      <a:txBody>
                        <a:bodyPr/>
                        <a:lstStyle/>
                        <a:p>
                          <a:r>
                            <a:rPr lang="en-US" dirty="0"/>
                            <a:t>1.169</a:t>
                          </a:r>
                        </a:p>
                      </a:txBody>
                      <a:tcPr/>
                    </a:tc>
                    <a:extLst>
                      <a:ext uri="{0D108BD9-81ED-4DB2-BD59-A6C34878D82A}">
                        <a16:rowId xmlns:a16="http://schemas.microsoft.com/office/drawing/2014/main" val="2595146215"/>
                      </a:ext>
                    </a:extLst>
                  </a:tr>
                </a:tbl>
              </a:graphicData>
            </a:graphic>
          </p:graphicFrame>
        </mc:Choice>
        <mc:Fallback xmlns="">
          <p:graphicFrame>
            <p:nvGraphicFramePr>
              <p:cNvPr id="7" name="Content Placeholder 6">
                <a:extLst>
                  <a:ext uri="{FF2B5EF4-FFF2-40B4-BE49-F238E27FC236}">
                    <a16:creationId xmlns:a16="http://schemas.microsoft.com/office/drawing/2014/main" id="{CE7396E0-1122-4D94-B23E-E32F71419E34}"/>
                  </a:ext>
                </a:extLst>
              </p:cNvPr>
              <p:cNvGraphicFramePr>
                <a:graphicFrameLocks noGrp="1"/>
              </p:cNvGraphicFramePr>
              <p:nvPr>
                <p:ph idx="1"/>
                <p:extLst>
                  <p:ext uri="{D42A27DB-BD31-4B8C-83A1-F6EECF244321}">
                    <p14:modId xmlns:p14="http://schemas.microsoft.com/office/powerpoint/2010/main" val="3038679396"/>
                  </p:ext>
                </p:extLst>
              </p:nvPr>
            </p:nvGraphicFramePr>
            <p:xfrm>
              <a:off x="838200" y="1219197"/>
              <a:ext cx="7772400" cy="2667003"/>
            </p:xfrm>
            <a:graphic>
              <a:graphicData uri="http://schemas.openxmlformats.org/drawingml/2006/table">
                <a:tbl>
                  <a:tblPr firstRow="1" bandRow="1">
                    <a:tableStyleId>{5C22544A-7EE6-4342-B048-85BDC9FD1C3A}</a:tableStyleId>
                  </a:tblPr>
                  <a:tblGrid>
                    <a:gridCol w="791633">
                      <a:extLst>
                        <a:ext uri="{9D8B030D-6E8A-4147-A177-3AD203B41FA5}">
                          <a16:colId xmlns:a16="http://schemas.microsoft.com/office/drawing/2014/main" val="360451504"/>
                        </a:ext>
                      </a:extLst>
                    </a:gridCol>
                    <a:gridCol w="1799167">
                      <a:extLst>
                        <a:ext uri="{9D8B030D-6E8A-4147-A177-3AD203B41FA5}">
                          <a16:colId xmlns:a16="http://schemas.microsoft.com/office/drawing/2014/main" val="1363710141"/>
                        </a:ext>
                      </a:extLst>
                    </a:gridCol>
                    <a:gridCol w="1295400">
                      <a:extLst>
                        <a:ext uri="{9D8B030D-6E8A-4147-A177-3AD203B41FA5}">
                          <a16:colId xmlns:a16="http://schemas.microsoft.com/office/drawing/2014/main" val="3222612455"/>
                        </a:ext>
                      </a:extLst>
                    </a:gridCol>
                    <a:gridCol w="1295400">
                      <a:extLst>
                        <a:ext uri="{9D8B030D-6E8A-4147-A177-3AD203B41FA5}">
                          <a16:colId xmlns:a16="http://schemas.microsoft.com/office/drawing/2014/main" val="29121123"/>
                        </a:ext>
                      </a:extLst>
                    </a:gridCol>
                    <a:gridCol w="1295400">
                      <a:extLst>
                        <a:ext uri="{9D8B030D-6E8A-4147-A177-3AD203B41FA5}">
                          <a16:colId xmlns:a16="http://schemas.microsoft.com/office/drawing/2014/main" val="2396323223"/>
                        </a:ext>
                      </a:extLst>
                    </a:gridCol>
                    <a:gridCol w="1295400">
                      <a:extLst>
                        <a:ext uri="{9D8B030D-6E8A-4147-A177-3AD203B41FA5}">
                          <a16:colId xmlns:a16="http://schemas.microsoft.com/office/drawing/2014/main" val="1626846056"/>
                        </a:ext>
                      </a:extLst>
                    </a:gridCol>
                  </a:tblGrid>
                  <a:tr h="381951">
                    <a:tc>
                      <a:txBody>
                        <a:bodyPr/>
                        <a:lstStyle/>
                        <a:p>
                          <a:endParaRPr lang="en-US"/>
                        </a:p>
                      </a:txBody>
                      <a:tcPr>
                        <a:blipFill>
                          <a:blip r:embed="rId2"/>
                          <a:stretch>
                            <a:fillRect l="-769" t="-1587" r="-884615" b="-617460"/>
                          </a:stretch>
                        </a:blipFill>
                      </a:tcPr>
                    </a:tc>
                    <a:tc>
                      <a:txBody>
                        <a:bodyPr/>
                        <a:lstStyle/>
                        <a:p>
                          <a:endParaRPr lang="en-US"/>
                        </a:p>
                      </a:txBody>
                      <a:tcPr>
                        <a:blipFill>
                          <a:blip r:embed="rId2"/>
                          <a:stretch>
                            <a:fillRect l="-44407" t="-1587" r="-289831" b="-617460"/>
                          </a:stretch>
                        </a:blipFill>
                      </a:tcPr>
                    </a:tc>
                    <a:tc>
                      <a:txBody>
                        <a:bodyPr/>
                        <a:lstStyle/>
                        <a:p>
                          <a:endParaRPr lang="en-US"/>
                        </a:p>
                      </a:txBody>
                      <a:tcPr>
                        <a:blipFill>
                          <a:blip r:embed="rId2"/>
                          <a:stretch>
                            <a:fillRect l="-200000" t="-1587" r="-301408" b="-617460"/>
                          </a:stretch>
                        </a:blipFill>
                      </a:tcPr>
                    </a:tc>
                    <a:tc>
                      <a:txBody>
                        <a:bodyPr/>
                        <a:lstStyle/>
                        <a:p>
                          <a:endParaRPr lang="en-US"/>
                        </a:p>
                      </a:txBody>
                      <a:tcPr>
                        <a:blipFill>
                          <a:blip r:embed="rId2"/>
                          <a:stretch>
                            <a:fillRect l="-300000" t="-1587" r="-201408" b="-617460"/>
                          </a:stretch>
                        </a:blipFill>
                      </a:tcPr>
                    </a:tc>
                    <a:tc>
                      <a:txBody>
                        <a:bodyPr/>
                        <a:lstStyle/>
                        <a:p>
                          <a:endParaRPr lang="en-US"/>
                        </a:p>
                      </a:txBody>
                      <a:tcPr>
                        <a:blipFill>
                          <a:blip r:embed="rId2"/>
                          <a:stretch>
                            <a:fillRect l="-401887" t="-1587" r="-102358" b="-617460"/>
                          </a:stretch>
                        </a:blipFill>
                      </a:tcPr>
                    </a:tc>
                    <a:tc>
                      <a:txBody>
                        <a:bodyPr/>
                        <a:lstStyle/>
                        <a:p>
                          <a:endParaRPr lang="en-US"/>
                        </a:p>
                      </a:txBody>
                      <a:tcPr>
                        <a:blipFill>
                          <a:blip r:embed="rId2"/>
                          <a:stretch>
                            <a:fillRect l="-499531" t="-1587" r="-1878" b="-617460"/>
                          </a:stretch>
                        </a:blipFill>
                      </a:tcPr>
                    </a:tc>
                    <a:extLst>
                      <a:ext uri="{0D108BD9-81ED-4DB2-BD59-A6C34878D82A}">
                        <a16:rowId xmlns:a16="http://schemas.microsoft.com/office/drawing/2014/main" val="3332269473"/>
                      </a:ext>
                    </a:extLst>
                  </a:tr>
                  <a:tr h="380842">
                    <a:tc>
                      <a:txBody>
                        <a:bodyPr/>
                        <a:lstStyle/>
                        <a:p>
                          <a:r>
                            <a:rPr lang="en-US" dirty="0"/>
                            <a:t>1</a:t>
                          </a:r>
                        </a:p>
                      </a:txBody>
                      <a:tcPr/>
                    </a:tc>
                    <a:tc>
                      <a:txBody>
                        <a:bodyPr/>
                        <a:lstStyle/>
                        <a:p>
                          <a:r>
                            <a:rPr lang="en-US" dirty="0"/>
                            <a:t>0.5</a:t>
                          </a:r>
                        </a:p>
                      </a:txBody>
                      <a:tcPr/>
                    </a:tc>
                    <a:tc>
                      <a:txBody>
                        <a:bodyPr/>
                        <a:lstStyle/>
                        <a:p>
                          <a:r>
                            <a:rPr lang="en-US" dirty="0"/>
                            <a:t>0</a:t>
                          </a:r>
                        </a:p>
                      </a:txBody>
                      <a:tcPr/>
                    </a:tc>
                    <a:tc>
                      <a:txBody>
                        <a:bodyPr/>
                        <a:lstStyle/>
                        <a:p>
                          <a:r>
                            <a:rPr lang="en-US" dirty="0"/>
                            <a:t>-0.301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417245691"/>
                      </a:ext>
                    </a:extLst>
                  </a:tr>
                  <a:tr h="380842">
                    <a:tc>
                      <a:txBody>
                        <a:bodyPr/>
                        <a:lstStyle/>
                        <a:p>
                          <a:r>
                            <a:rPr lang="en-US" dirty="0"/>
                            <a:t>2</a:t>
                          </a:r>
                        </a:p>
                      </a:txBody>
                      <a:tcPr/>
                    </a:tc>
                    <a:tc>
                      <a:txBody>
                        <a:bodyPr/>
                        <a:lstStyle/>
                        <a:p>
                          <a:r>
                            <a:rPr lang="en-US" dirty="0"/>
                            <a:t>1.7</a:t>
                          </a:r>
                        </a:p>
                      </a:txBody>
                      <a:tcPr/>
                    </a:tc>
                    <a:tc>
                      <a:txBody>
                        <a:bodyPr/>
                        <a:lstStyle/>
                        <a:p>
                          <a:r>
                            <a:rPr lang="en-US" dirty="0"/>
                            <a:t>0.301</a:t>
                          </a:r>
                        </a:p>
                      </a:txBody>
                      <a:tcPr/>
                    </a:tc>
                    <a:tc>
                      <a:txBody>
                        <a:bodyPr/>
                        <a:lstStyle/>
                        <a:p>
                          <a:r>
                            <a:rPr lang="en-US" dirty="0"/>
                            <a:t>0.226</a:t>
                          </a:r>
                        </a:p>
                      </a:txBody>
                      <a:tcPr/>
                    </a:tc>
                    <a:tc>
                      <a:txBody>
                        <a:bodyPr/>
                        <a:lstStyle/>
                        <a:p>
                          <a:r>
                            <a:rPr lang="en-US" dirty="0"/>
                            <a:t>0.0694</a:t>
                          </a:r>
                        </a:p>
                      </a:txBody>
                      <a:tcPr/>
                    </a:tc>
                    <a:tc>
                      <a:txBody>
                        <a:bodyPr/>
                        <a:lstStyle/>
                        <a:p>
                          <a:r>
                            <a:rPr lang="en-US" dirty="0"/>
                            <a:t>0.0906</a:t>
                          </a:r>
                        </a:p>
                      </a:txBody>
                      <a:tcPr/>
                    </a:tc>
                    <a:extLst>
                      <a:ext uri="{0D108BD9-81ED-4DB2-BD59-A6C34878D82A}">
                        <a16:rowId xmlns:a16="http://schemas.microsoft.com/office/drawing/2014/main" val="3897694853"/>
                      </a:ext>
                    </a:extLst>
                  </a:tr>
                  <a:tr h="380842">
                    <a:tc>
                      <a:txBody>
                        <a:bodyPr/>
                        <a:lstStyle/>
                        <a:p>
                          <a:r>
                            <a:rPr lang="en-US" dirty="0"/>
                            <a:t>3</a:t>
                          </a:r>
                        </a:p>
                      </a:txBody>
                      <a:tcPr/>
                    </a:tc>
                    <a:tc>
                      <a:txBody>
                        <a:bodyPr/>
                        <a:lstStyle/>
                        <a:p>
                          <a:r>
                            <a:rPr lang="en-US" dirty="0"/>
                            <a:t>3.5</a:t>
                          </a:r>
                        </a:p>
                      </a:txBody>
                      <a:tcPr/>
                    </a:tc>
                    <a:tc>
                      <a:txBody>
                        <a:bodyPr/>
                        <a:lstStyle/>
                        <a:p>
                          <a:r>
                            <a:rPr lang="en-US" dirty="0"/>
                            <a:t>0.477</a:t>
                          </a:r>
                        </a:p>
                      </a:txBody>
                      <a:tcPr/>
                    </a:tc>
                    <a:tc>
                      <a:txBody>
                        <a:bodyPr/>
                        <a:lstStyle/>
                        <a:p>
                          <a:r>
                            <a:rPr lang="en-US" dirty="0"/>
                            <a:t>0.534</a:t>
                          </a:r>
                        </a:p>
                      </a:txBody>
                      <a:tcPr/>
                    </a:tc>
                    <a:tc>
                      <a:txBody>
                        <a:bodyPr/>
                        <a:lstStyle/>
                        <a:p>
                          <a:r>
                            <a:rPr lang="en-US" dirty="0"/>
                            <a:t>0.2536</a:t>
                          </a:r>
                        </a:p>
                      </a:txBody>
                      <a:tcPr/>
                    </a:tc>
                    <a:tc>
                      <a:txBody>
                        <a:bodyPr/>
                        <a:lstStyle/>
                        <a:p>
                          <a:r>
                            <a:rPr lang="en-US" dirty="0"/>
                            <a:t>0.2276</a:t>
                          </a:r>
                        </a:p>
                      </a:txBody>
                      <a:tcPr/>
                    </a:tc>
                    <a:extLst>
                      <a:ext uri="{0D108BD9-81ED-4DB2-BD59-A6C34878D82A}">
                        <a16:rowId xmlns:a16="http://schemas.microsoft.com/office/drawing/2014/main" val="966311834"/>
                      </a:ext>
                    </a:extLst>
                  </a:tr>
                  <a:tr h="380842">
                    <a:tc>
                      <a:txBody>
                        <a:bodyPr/>
                        <a:lstStyle/>
                        <a:p>
                          <a:r>
                            <a:rPr lang="en-US" dirty="0"/>
                            <a:t>4</a:t>
                          </a:r>
                        </a:p>
                      </a:txBody>
                      <a:tcPr/>
                    </a:tc>
                    <a:tc>
                      <a:txBody>
                        <a:bodyPr/>
                        <a:lstStyle/>
                        <a:p>
                          <a:r>
                            <a:rPr lang="en-US" dirty="0"/>
                            <a:t>5.7</a:t>
                          </a:r>
                        </a:p>
                      </a:txBody>
                      <a:tcPr/>
                    </a:tc>
                    <a:tc>
                      <a:txBody>
                        <a:bodyPr/>
                        <a:lstStyle/>
                        <a:p>
                          <a:r>
                            <a:rPr lang="en-US" dirty="0"/>
                            <a:t>0.602</a:t>
                          </a:r>
                        </a:p>
                      </a:txBody>
                      <a:tcPr/>
                    </a:tc>
                    <a:tc>
                      <a:txBody>
                        <a:bodyPr/>
                        <a:lstStyle/>
                        <a:p>
                          <a:r>
                            <a:rPr lang="en-US" dirty="0"/>
                            <a:t>0.753</a:t>
                          </a:r>
                        </a:p>
                      </a:txBody>
                      <a:tcPr/>
                    </a:tc>
                    <a:tc>
                      <a:txBody>
                        <a:bodyPr/>
                        <a:lstStyle/>
                        <a:p>
                          <a:r>
                            <a:rPr lang="en-US" dirty="0"/>
                            <a:t>0.4551</a:t>
                          </a:r>
                        </a:p>
                      </a:txBody>
                      <a:tcPr/>
                    </a:tc>
                    <a:tc>
                      <a:txBody>
                        <a:bodyPr/>
                        <a:lstStyle/>
                        <a:p>
                          <a:r>
                            <a:rPr lang="en-US" dirty="0"/>
                            <a:t>0.3625</a:t>
                          </a:r>
                        </a:p>
                      </a:txBody>
                      <a:tcPr/>
                    </a:tc>
                    <a:extLst>
                      <a:ext uri="{0D108BD9-81ED-4DB2-BD59-A6C34878D82A}">
                        <a16:rowId xmlns:a16="http://schemas.microsoft.com/office/drawing/2014/main" val="3799776152"/>
                      </a:ext>
                    </a:extLst>
                  </a:tr>
                  <a:tr h="380842">
                    <a:tc>
                      <a:txBody>
                        <a:bodyPr/>
                        <a:lstStyle/>
                        <a:p>
                          <a:r>
                            <a:rPr lang="en-US" dirty="0"/>
                            <a:t>5</a:t>
                          </a:r>
                        </a:p>
                      </a:txBody>
                      <a:tcPr/>
                    </a:tc>
                    <a:tc>
                      <a:txBody>
                        <a:bodyPr/>
                        <a:lstStyle/>
                        <a:p>
                          <a:r>
                            <a:rPr lang="en-US" dirty="0"/>
                            <a:t>8.4</a:t>
                          </a:r>
                        </a:p>
                      </a:txBody>
                      <a:tcPr/>
                    </a:tc>
                    <a:tc>
                      <a:txBody>
                        <a:bodyPr/>
                        <a:lstStyle/>
                        <a:p>
                          <a:r>
                            <a:rPr lang="en-US" dirty="0"/>
                            <a:t>0.699</a:t>
                          </a:r>
                        </a:p>
                      </a:txBody>
                      <a:tcPr/>
                    </a:tc>
                    <a:tc>
                      <a:txBody>
                        <a:bodyPr/>
                        <a:lstStyle/>
                        <a:p>
                          <a:r>
                            <a:rPr lang="en-US" dirty="0"/>
                            <a:t>0.922</a:t>
                          </a:r>
                        </a:p>
                      </a:txBody>
                      <a:tcPr/>
                    </a:tc>
                    <a:tc>
                      <a:txBody>
                        <a:bodyPr/>
                        <a:lstStyle/>
                        <a:p>
                          <a:r>
                            <a:rPr lang="en-US" dirty="0"/>
                            <a:t>0.6460</a:t>
                          </a:r>
                        </a:p>
                      </a:txBody>
                      <a:tcPr/>
                    </a:tc>
                    <a:tc>
                      <a:txBody>
                        <a:bodyPr/>
                        <a:lstStyle/>
                        <a:p>
                          <a:r>
                            <a:rPr lang="en-US" dirty="0"/>
                            <a:t>0.4886</a:t>
                          </a:r>
                        </a:p>
                      </a:txBody>
                      <a:tcPr/>
                    </a:tc>
                    <a:extLst>
                      <a:ext uri="{0D108BD9-81ED-4DB2-BD59-A6C34878D82A}">
                        <a16:rowId xmlns:a16="http://schemas.microsoft.com/office/drawing/2014/main" val="2397848456"/>
                      </a:ext>
                    </a:extLst>
                  </a:tr>
                  <a:tr h="380842">
                    <a:tc>
                      <a:txBody>
                        <a:bodyPr/>
                        <a:lstStyle/>
                        <a:p>
                          <a:endParaRPr lang="en-US" dirty="0"/>
                        </a:p>
                      </a:txBody>
                      <a:tcPr/>
                    </a:tc>
                    <a:tc>
                      <a:txBody>
                        <a:bodyPr/>
                        <a:lstStyle/>
                        <a:p>
                          <a:r>
                            <a:rPr lang="en-US" dirty="0"/>
                            <a:t>Total</a:t>
                          </a:r>
                        </a:p>
                      </a:txBody>
                      <a:tcPr/>
                    </a:tc>
                    <a:tc>
                      <a:txBody>
                        <a:bodyPr/>
                        <a:lstStyle/>
                        <a:p>
                          <a:r>
                            <a:rPr lang="en-US" dirty="0"/>
                            <a:t>2.079</a:t>
                          </a:r>
                        </a:p>
                      </a:txBody>
                      <a:tcPr/>
                    </a:tc>
                    <a:tc>
                      <a:txBody>
                        <a:bodyPr/>
                        <a:lstStyle/>
                        <a:p>
                          <a:r>
                            <a:rPr lang="en-US" dirty="0"/>
                            <a:t>2.141</a:t>
                          </a:r>
                        </a:p>
                      </a:txBody>
                      <a:tcPr/>
                    </a:tc>
                    <a:tc>
                      <a:txBody>
                        <a:bodyPr/>
                        <a:lstStyle/>
                        <a:p>
                          <a:r>
                            <a:rPr lang="en-US" dirty="0"/>
                            <a:t>1.424</a:t>
                          </a:r>
                        </a:p>
                      </a:txBody>
                      <a:tcPr/>
                    </a:tc>
                    <a:tc>
                      <a:txBody>
                        <a:bodyPr/>
                        <a:lstStyle/>
                        <a:p>
                          <a:r>
                            <a:rPr lang="en-US" dirty="0"/>
                            <a:t>1.169</a:t>
                          </a:r>
                        </a:p>
                      </a:txBody>
                      <a:tcPr/>
                    </a:tc>
                    <a:extLst>
                      <a:ext uri="{0D108BD9-81ED-4DB2-BD59-A6C34878D82A}">
                        <a16:rowId xmlns:a16="http://schemas.microsoft.com/office/drawing/2014/main" val="2595146215"/>
                      </a:ext>
                    </a:extLst>
                  </a:tr>
                </a:tbl>
              </a:graphicData>
            </a:graphic>
          </p:graphicFrame>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Curve Fitting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E376D9F-468A-467B-88E6-1399623201BD}"/>
                  </a:ext>
                </a:extLst>
              </p:cNvPr>
              <p:cNvSpPr txBox="1"/>
              <p:nvPr/>
            </p:nvSpPr>
            <p:spPr>
              <a:xfrm>
                <a:off x="933548" y="4114800"/>
                <a:ext cx="7571303" cy="1631216"/>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By Normal Equations</a:t>
                </a:r>
              </a:p>
              <a:p>
                <a14:m>
                  <m:oMath xmlns:m="http://schemas.openxmlformats.org/officeDocument/2006/math">
                    <m:r>
                      <a:rPr lang="en-US" sz="2000" b="0" i="1" smtClean="0">
                        <a:latin typeface="Cambria Math" panose="02040503050406030204" pitchFamily="18" charset="0"/>
                      </a:rPr>
                      <m:t>2.141</m:t>
                    </m:r>
                    <m:r>
                      <a:rPr lang="en-US" sz="2000" i="1">
                        <a:latin typeface="Cambria Math"/>
                      </a:rPr>
                      <m:t>=</m:t>
                    </m:r>
                    <m:r>
                      <a:rPr lang="en-US" sz="2000" b="0" i="1" smtClean="0">
                        <a:latin typeface="Cambria Math" panose="02040503050406030204" pitchFamily="18" charset="0"/>
                      </a:rPr>
                      <m:t>5</m:t>
                    </m:r>
                    <m:r>
                      <a:rPr lang="en-US" sz="2000" i="1" dirty="0">
                        <a:latin typeface="Cambria Math" panose="02040503050406030204" pitchFamily="18" charset="0"/>
                      </a:rPr>
                      <m:t>𝐴</m:t>
                    </m:r>
                    <m:r>
                      <a:rPr lang="en-US" sz="2000" i="1">
                        <a:latin typeface="Cambria Math"/>
                      </a:rPr>
                      <m:t>+</m:t>
                    </m:r>
                    <m:r>
                      <a:rPr lang="en-US" sz="2000" b="0" i="1" smtClean="0">
                        <a:latin typeface="Cambria Math" panose="02040503050406030204" pitchFamily="18" charset="0"/>
                      </a:rPr>
                      <m:t>2.079</m:t>
                    </m:r>
                    <m:r>
                      <a:rPr lang="en-US" sz="2000" b="0" i="1" smtClean="0">
                        <a:latin typeface="Cambria Math" panose="02040503050406030204" pitchFamily="18" charset="0"/>
                      </a:rPr>
                      <m:t>𝑏</m:t>
                    </m:r>
                  </m:oMath>
                </a14:m>
                <a:r>
                  <a:rPr lang="en-US" sz="2000" dirty="0">
                    <a:latin typeface="Times New Roman" panose="02020603050405020304" pitchFamily="18" charset="0"/>
                    <a:cs typeface="Times New Roman" panose="02020603050405020304" pitchFamily="18" charset="0"/>
                  </a:rPr>
                  <a:t> 		</a:t>
                </a:r>
              </a:p>
              <a:p>
                <a14:m>
                  <m:oMath xmlns:m="http://schemas.openxmlformats.org/officeDocument/2006/math">
                    <m:r>
                      <a:rPr lang="en-US" sz="2000" b="0" i="1" smtClean="0">
                        <a:latin typeface="Cambria Math" panose="02040503050406030204" pitchFamily="18" charset="0"/>
                      </a:rPr>
                      <m:t>1.169</m:t>
                    </m:r>
                    <m:r>
                      <a:rPr lang="en-US" sz="2000" i="1">
                        <a:latin typeface="Cambria Math"/>
                      </a:rPr>
                      <m:t>=</m:t>
                    </m:r>
                    <m:r>
                      <a:rPr lang="en-US" sz="2000" b="0" i="1" smtClean="0">
                        <a:latin typeface="Cambria Math" panose="02040503050406030204" pitchFamily="18" charset="0"/>
                      </a:rPr>
                      <m:t>2.079</m:t>
                    </m:r>
                    <m:r>
                      <a:rPr lang="en-US" sz="2000" i="1">
                        <a:latin typeface="Cambria Math" panose="02040503050406030204" pitchFamily="18" charset="0"/>
                      </a:rPr>
                      <m:t>𝐴</m:t>
                    </m:r>
                    <m:r>
                      <a:rPr lang="en-US" sz="2000" i="1">
                        <a:latin typeface="Cambria Math"/>
                      </a:rPr>
                      <m:t>+</m:t>
                    </m:r>
                    <m:r>
                      <a:rPr lang="en-US" sz="2000" b="0" i="1" smtClean="0">
                        <a:latin typeface="Cambria Math" panose="02040503050406030204" pitchFamily="18" charset="0"/>
                      </a:rPr>
                      <m:t>1.424</m:t>
                    </m:r>
                    <m:r>
                      <a:rPr lang="en-US" sz="2000" i="1">
                        <a:latin typeface="Cambria Math"/>
                      </a:rPr>
                      <m:t>𝑏</m:t>
                    </m:r>
                  </m:oMath>
                </a14:m>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By solving these equations: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rPr>
                      <m:t>=−0.334</m:t>
                    </m:r>
                  </m:oMath>
                </a14:m>
                <a:r>
                  <a:rPr lang="en-US" sz="2000" dirty="0">
                    <a:latin typeface="Times New Roman" panose="02020603050405020304" pitchFamily="18" charset="0"/>
                    <a:cs typeface="Times New Roman" panose="02020603050405020304" pitchFamily="18" charset="0"/>
                  </a:rPr>
                  <a:t> then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=0.46</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b="0" i="1" smtClean="0">
                        <a:latin typeface="Cambria Math" panose="02040503050406030204" pitchFamily="18" charset="0"/>
                      </a:rPr>
                      <m:t>𝑏</m:t>
                    </m:r>
                    <m:r>
                      <a:rPr lang="en-US" sz="2000" b="0" i="1" smtClean="0">
                        <a:latin typeface="Cambria Math" panose="02040503050406030204" pitchFamily="18" charset="0"/>
                      </a:rPr>
                      <m:t>=1.75</m:t>
                    </m:r>
                  </m:oMath>
                </a14:m>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Hence the fitting is: 	</a:t>
                </a:r>
                <a:r>
                  <a:rPr lang="en-US" sz="2000" dirty="0"/>
                  <a:t> </a:t>
                </a:r>
                <a14:m>
                  <m:oMath xmlns:m="http://schemas.openxmlformats.org/officeDocument/2006/math">
                    <m:r>
                      <a:rPr lang="en-US" sz="2000" i="1">
                        <a:latin typeface="Cambria Math" panose="02040503050406030204" pitchFamily="18" charset="0"/>
                      </a:rPr>
                      <m:t>𝑦</m:t>
                    </m:r>
                    <m:r>
                      <a:rPr lang="en-US" sz="2000" i="1">
                        <a:latin typeface="Cambria Math" panose="02040503050406030204" pitchFamily="18" charset="0"/>
                      </a:rPr>
                      <m:t>=0.46</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1.75</m:t>
                        </m:r>
                      </m:sup>
                    </m:sSup>
                  </m:oMath>
                </a14:m>
                <a:endParaRPr lang="en-US" sz="2000"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7E376D9F-468A-467B-88E6-1399623201BD}"/>
                  </a:ext>
                </a:extLst>
              </p:cNvPr>
              <p:cNvSpPr txBox="1">
                <a:spLocks noRot="1" noChangeAspect="1" noMove="1" noResize="1" noEditPoints="1" noAdjustHandles="1" noChangeArrowheads="1" noChangeShapeType="1" noTextEdit="1"/>
              </p:cNvSpPr>
              <p:nvPr/>
            </p:nvSpPr>
            <p:spPr>
              <a:xfrm>
                <a:off x="933548" y="4114800"/>
                <a:ext cx="7571303" cy="1631216"/>
              </a:xfrm>
              <a:prstGeom prst="rect">
                <a:avLst/>
              </a:prstGeom>
              <a:blipFill>
                <a:blip r:embed="rId3"/>
                <a:stretch>
                  <a:fillRect l="-805" t="-1866" b="-5597"/>
                </a:stretch>
              </a:blipFill>
            </p:spPr>
            <p:txBody>
              <a:bodyPr/>
              <a:lstStyle/>
              <a:p>
                <a:r>
                  <a:rPr lang="en-US">
                    <a:noFill/>
                  </a:rPr>
                  <a:t> </a:t>
                </a:r>
              </a:p>
            </p:txBody>
          </p:sp>
        </mc:Fallback>
      </mc:AlternateContent>
    </p:spTree>
    <p:extLst>
      <p:ext uri="{BB962C8B-B14F-4D97-AF65-F5344CB8AC3E}">
        <p14:creationId xmlns:p14="http://schemas.microsoft.com/office/powerpoint/2010/main" val="315370788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dirty="0"/>
                  <a:t>Q1. Fit a second degree parabola to the following data-</a:t>
                </a:r>
              </a:p>
              <a:p>
                <a:pPr marL="0" indent="0">
                  <a:buNone/>
                </a:pPr>
                <a:endParaRPr lang="en-US" dirty="0"/>
              </a:p>
              <a:p>
                <a:pPr marL="0" indent="0">
                  <a:buNone/>
                </a:pPr>
                <a:endParaRPr lang="en-US" dirty="0"/>
              </a:p>
              <a:p>
                <a:pPr marL="0" indent="0">
                  <a:buNone/>
                </a:pPr>
                <a:endParaRPr lang="en-US" dirty="0"/>
              </a:p>
              <a:p>
                <a:pPr marL="0" indent="0">
                  <a:buNone/>
                </a:pPr>
                <a:r>
                  <a:rPr lang="en-US" dirty="0"/>
                  <a:t>Q2. Find the best values of a &amp; b for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a:latin typeface="Cambria Math" panose="02040503050406030204" pitchFamily="18" charset="0"/>
                      </a:rPr>
                      <m:t>𝑎</m:t>
                    </m:r>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𝑒</m:t>
                        </m:r>
                      </m:e>
                      <m:sup>
                        <m:r>
                          <a:rPr lang="en-US" b="0" i="1" dirty="0" smtClean="0">
                            <a:latin typeface="Cambria Math" panose="02040503050406030204" pitchFamily="18" charset="0"/>
                          </a:rPr>
                          <m:t>𝑏𝑥</m:t>
                        </m:r>
                      </m:sup>
                    </m:sSup>
                    <m:r>
                      <a:rPr lang="en-US" i="1" dirty="0">
                        <a:latin typeface="Cambria Math" panose="02040503050406030204" pitchFamily="18" charset="0"/>
                      </a:rPr>
                      <m:t> </m:t>
                    </m:r>
                  </m:oMath>
                </a14:m>
                <a:r>
                  <a:rPr lang="en-US" dirty="0"/>
                  <a:t> by the method of least squares to the following data:</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latin typeface="Times New Roman" panose="02020603050405020304" pitchFamily="18" charset="0"/>
              </a:rPr>
              <a:t>Daily Quiz</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88079833"/>
                  </p:ext>
                </p:extLst>
              </p:nvPr>
            </p:nvGraphicFramePr>
            <p:xfrm>
              <a:off x="1066801" y="1752600"/>
              <a:ext cx="5943599" cy="771144"/>
            </p:xfrm>
            <a:graphic>
              <a:graphicData uri="http://schemas.openxmlformats.org/drawingml/2006/table">
                <a:tbl>
                  <a:tblPr firstRow="1" firstCol="1" bandRow="1">
                    <a:tableStyleId>{5C22544A-7EE6-4342-B048-85BDC9FD1C3A}</a:tableStyleId>
                  </a:tblPr>
                  <a:tblGrid>
                    <a:gridCol w="1580928">
                      <a:extLst>
                        <a:ext uri="{9D8B030D-6E8A-4147-A177-3AD203B41FA5}">
                          <a16:colId xmlns:a16="http://schemas.microsoft.com/office/drawing/2014/main" val="20000"/>
                        </a:ext>
                      </a:extLst>
                    </a:gridCol>
                    <a:gridCol w="907091">
                      <a:extLst>
                        <a:ext uri="{9D8B030D-6E8A-4147-A177-3AD203B41FA5}">
                          <a16:colId xmlns:a16="http://schemas.microsoft.com/office/drawing/2014/main" val="20001"/>
                        </a:ext>
                      </a:extLst>
                    </a:gridCol>
                    <a:gridCol w="863895">
                      <a:extLst>
                        <a:ext uri="{9D8B030D-6E8A-4147-A177-3AD203B41FA5}">
                          <a16:colId xmlns:a16="http://schemas.microsoft.com/office/drawing/2014/main" val="20002"/>
                        </a:ext>
                      </a:extLst>
                    </a:gridCol>
                    <a:gridCol w="863895">
                      <a:extLst>
                        <a:ext uri="{9D8B030D-6E8A-4147-A177-3AD203B41FA5}">
                          <a16:colId xmlns:a16="http://schemas.microsoft.com/office/drawing/2014/main" val="20003"/>
                        </a:ext>
                      </a:extLst>
                    </a:gridCol>
                    <a:gridCol w="863895">
                      <a:extLst>
                        <a:ext uri="{9D8B030D-6E8A-4147-A177-3AD203B41FA5}">
                          <a16:colId xmlns:a16="http://schemas.microsoft.com/office/drawing/2014/main" val="20004"/>
                        </a:ext>
                      </a:extLst>
                    </a:gridCol>
                    <a:gridCol w="863895">
                      <a:extLst>
                        <a:ext uri="{9D8B030D-6E8A-4147-A177-3AD203B41FA5}">
                          <a16:colId xmlns:a16="http://schemas.microsoft.com/office/drawing/2014/main" val="20005"/>
                        </a:ext>
                      </a:extLst>
                    </a:gridCol>
                  </a:tblGrid>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a:rPr>
                                  <m:t>𝑥</m:t>
                                </m:r>
                              </m:oMath>
                            </m:oMathPara>
                          </a14:m>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4</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b="1" i="0" smtClean="0">
                                    <a:effectLst/>
                                    <a:latin typeface="Cambria Math" panose="02040503050406030204" pitchFamily="18" charset="0"/>
                                  </a:rPr>
                                  <m:t>𝐲</m:t>
                                </m:r>
                              </m:oMath>
                            </m:oMathPara>
                          </a14:m>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21</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88079833"/>
                  </p:ext>
                </p:extLst>
              </p:nvPr>
            </p:nvGraphicFramePr>
            <p:xfrm>
              <a:off x="1066801" y="1752600"/>
              <a:ext cx="5943599" cy="771144"/>
            </p:xfrm>
            <a:graphic>
              <a:graphicData uri="http://schemas.openxmlformats.org/drawingml/2006/table">
                <a:tbl>
                  <a:tblPr firstRow="1" firstCol="1" bandRow="1">
                    <a:tableStyleId>{5C22544A-7EE6-4342-B048-85BDC9FD1C3A}</a:tableStyleId>
                  </a:tblPr>
                  <a:tblGrid>
                    <a:gridCol w="1580928">
                      <a:extLst>
                        <a:ext uri="{9D8B030D-6E8A-4147-A177-3AD203B41FA5}">
                          <a16:colId xmlns:a16="http://schemas.microsoft.com/office/drawing/2014/main" val="20000"/>
                        </a:ext>
                      </a:extLst>
                    </a:gridCol>
                    <a:gridCol w="907091">
                      <a:extLst>
                        <a:ext uri="{9D8B030D-6E8A-4147-A177-3AD203B41FA5}">
                          <a16:colId xmlns:a16="http://schemas.microsoft.com/office/drawing/2014/main" val="20001"/>
                        </a:ext>
                      </a:extLst>
                    </a:gridCol>
                    <a:gridCol w="863895">
                      <a:extLst>
                        <a:ext uri="{9D8B030D-6E8A-4147-A177-3AD203B41FA5}">
                          <a16:colId xmlns:a16="http://schemas.microsoft.com/office/drawing/2014/main" val="20002"/>
                        </a:ext>
                      </a:extLst>
                    </a:gridCol>
                    <a:gridCol w="863895">
                      <a:extLst>
                        <a:ext uri="{9D8B030D-6E8A-4147-A177-3AD203B41FA5}">
                          <a16:colId xmlns:a16="http://schemas.microsoft.com/office/drawing/2014/main" val="20003"/>
                        </a:ext>
                      </a:extLst>
                    </a:gridCol>
                    <a:gridCol w="863895">
                      <a:extLst>
                        <a:ext uri="{9D8B030D-6E8A-4147-A177-3AD203B41FA5}">
                          <a16:colId xmlns:a16="http://schemas.microsoft.com/office/drawing/2014/main" val="20004"/>
                        </a:ext>
                      </a:extLst>
                    </a:gridCol>
                    <a:gridCol w="863895">
                      <a:extLst>
                        <a:ext uri="{9D8B030D-6E8A-4147-A177-3AD203B41FA5}">
                          <a16:colId xmlns:a16="http://schemas.microsoft.com/office/drawing/2014/main" val="20005"/>
                        </a:ext>
                      </a:extLst>
                    </a:gridCol>
                  </a:tblGrid>
                  <a:tr h="385572">
                    <a:tc>
                      <a:txBody>
                        <a:bodyPr/>
                        <a:lstStyle/>
                        <a:p>
                          <a:endParaRPr lang="en-US"/>
                        </a:p>
                      </a:txBody>
                      <a:tcPr marL="68580" marR="68580" marT="0" marB="0">
                        <a:blipFill>
                          <a:blip r:embed="rId3"/>
                          <a:stretch>
                            <a:fillRect l="-772" t="-17188" r="-278378" b="-134375"/>
                          </a:stretch>
                        </a:blipFill>
                      </a:tcPr>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4</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385572">
                    <a:tc>
                      <a:txBody>
                        <a:bodyPr/>
                        <a:lstStyle/>
                        <a:p>
                          <a:endParaRPr lang="en-US"/>
                        </a:p>
                      </a:txBody>
                      <a:tcPr marL="68580" marR="68580" marT="0" marB="0">
                        <a:blipFill>
                          <a:blip r:embed="rId3"/>
                          <a:stretch>
                            <a:fillRect l="-772" t="-119048" r="-278378" b="-36508"/>
                          </a:stretch>
                        </a:blipFill>
                      </a:tcPr>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21</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31F26A38-D351-41DC-9745-A8BAE52718E0}"/>
                  </a:ext>
                </a:extLst>
              </p:cNvPr>
              <p:cNvGraphicFramePr>
                <a:graphicFrameLocks noGrp="1"/>
              </p:cNvGraphicFramePr>
              <p:nvPr>
                <p:extLst>
                  <p:ext uri="{D42A27DB-BD31-4B8C-83A1-F6EECF244321}">
                    <p14:modId xmlns:p14="http://schemas.microsoft.com/office/powerpoint/2010/main" val="3985488478"/>
                  </p:ext>
                </p:extLst>
              </p:nvPr>
            </p:nvGraphicFramePr>
            <p:xfrm>
              <a:off x="1219201" y="3343656"/>
              <a:ext cx="5943599" cy="771144"/>
            </p:xfrm>
            <a:graphic>
              <a:graphicData uri="http://schemas.openxmlformats.org/drawingml/2006/table">
                <a:tbl>
                  <a:tblPr firstRow="1" firstCol="1" bandRow="1">
                    <a:tableStyleId>{5C22544A-7EE6-4342-B048-85BDC9FD1C3A}</a:tableStyleId>
                  </a:tblPr>
                  <a:tblGrid>
                    <a:gridCol w="1580928">
                      <a:extLst>
                        <a:ext uri="{9D8B030D-6E8A-4147-A177-3AD203B41FA5}">
                          <a16:colId xmlns:a16="http://schemas.microsoft.com/office/drawing/2014/main" val="20000"/>
                        </a:ext>
                      </a:extLst>
                    </a:gridCol>
                    <a:gridCol w="907091">
                      <a:extLst>
                        <a:ext uri="{9D8B030D-6E8A-4147-A177-3AD203B41FA5}">
                          <a16:colId xmlns:a16="http://schemas.microsoft.com/office/drawing/2014/main" val="20001"/>
                        </a:ext>
                      </a:extLst>
                    </a:gridCol>
                    <a:gridCol w="863895">
                      <a:extLst>
                        <a:ext uri="{9D8B030D-6E8A-4147-A177-3AD203B41FA5}">
                          <a16:colId xmlns:a16="http://schemas.microsoft.com/office/drawing/2014/main" val="20002"/>
                        </a:ext>
                      </a:extLst>
                    </a:gridCol>
                    <a:gridCol w="863895">
                      <a:extLst>
                        <a:ext uri="{9D8B030D-6E8A-4147-A177-3AD203B41FA5}">
                          <a16:colId xmlns:a16="http://schemas.microsoft.com/office/drawing/2014/main" val="20003"/>
                        </a:ext>
                      </a:extLst>
                    </a:gridCol>
                    <a:gridCol w="863895">
                      <a:extLst>
                        <a:ext uri="{9D8B030D-6E8A-4147-A177-3AD203B41FA5}">
                          <a16:colId xmlns:a16="http://schemas.microsoft.com/office/drawing/2014/main" val="20004"/>
                        </a:ext>
                      </a:extLst>
                    </a:gridCol>
                    <a:gridCol w="863895">
                      <a:extLst>
                        <a:ext uri="{9D8B030D-6E8A-4147-A177-3AD203B41FA5}">
                          <a16:colId xmlns:a16="http://schemas.microsoft.com/office/drawing/2014/main" val="20005"/>
                        </a:ext>
                      </a:extLst>
                    </a:gridCol>
                  </a:tblGrid>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a:rPr>
                                  <m:t>𝑥</m:t>
                                </m:r>
                              </m:oMath>
                            </m:oMathPara>
                          </a14:m>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8</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12</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20</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b="1" i="0" smtClean="0">
                                    <a:effectLst/>
                                    <a:latin typeface="Cambria Math" panose="02040503050406030204" pitchFamily="18" charset="0"/>
                                  </a:rPr>
                                  <m:t>𝐲</m:t>
                                </m:r>
                              </m:oMath>
                            </m:oMathPara>
                          </a14:m>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0.55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0.18</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8" name="Table 7">
                <a:extLst>
                  <a:ext uri="{FF2B5EF4-FFF2-40B4-BE49-F238E27FC236}">
                    <a16:creationId xmlns:a16="http://schemas.microsoft.com/office/drawing/2014/main" id="{31F26A38-D351-41DC-9745-A8BAE52718E0}"/>
                  </a:ext>
                </a:extLst>
              </p:cNvPr>
              <p:cNvGraphicFramePr>
                <a:graphicFrameLocks noGrp="1"/>
              </p:cNvGraphicFramePr>
              <p:nvPr>
                <p:extLst>
                  <p:ext uri="{D42A27DB-BD31-4B8C-83A1-F6EECF244321}">
                    <p14:modId xmlns:p14="http://schemas.microsoft.com/office/powerpoint/2010/main" val="3985488478"/>
                  </p:ext>
                </p:extLst>
              </p:nvPr>
            </p:nvGraphicFramePr>
            <p:xfrm>
              <a:off x="1219201" y="3343656"/>
              <a:ext cx="5943599" cy="771144"/>
            </p:xfrm>
            <a:graphic>
              <a:graphicData uri="http://schemas.openxmlformats.org/drawingml/2006/table">
                <a:tbl>
                  <a:tblPr firstRow="1" firstCol="1" bandRow="1">
                    <a:tableStyleId>{5C22544A-7EE6-4342-B048-85BDC9FD1C3A}</a:tableStyleId>
                  </a:tblPr>
                  <a:tblGrid>
                    <a:gridCol w="1580928">
                      <a:extLst>
                        <a:ext uri="{9D8B030D-6E8A-4147-A177-3AD203B41FA5}">
                          <a16:colId xmlns:a16="http://schemas.microsoft.com/office/drawing/2014/main" val="20000"/>
                        </a:ext>
                      </a:extLst>
                    </a:gridCol>
                    <a:gridCol w="907091">
                      <a:extLst>
                        <a:ext uri="{9D8B030D-6E8A-4147-A177-3AD203B41FA5}">
                          <a16:colId xmlns:a16="http://schemas.microsoft.com/office/drawing/2014/main" val="20001"/>
                        </a:ext>
                      </a:extLst>
                    </a:gridCol>
                    <a:gridCol w="863895">
                      <a:extLst>
                        <a:ext uri="{9D8B030D-6E8A-4147-A177-3AD203B41FA5}">
                          <a16:colId xmlns:a16="http://schemas.microsoft.com/office/drawing/2014/main" val="20002"/>
                        </a:ext>
                      </a:extLst>
                    </a:gridCol>
                    <a:gridCol w="863895">
                      <a:extLst>
                        <a:ext uri="{9D8B030D-6E8A-4147-A177-3AD203B41FA5}">
                          <a16:colId xmlns:a16="http://schemas.microsoft.com/office/drawing/2014/main" val="20003"/>
                        </a:ext>
                      </a:extLst>
                    </a:gridCol>
                    <a:gridCol w="863895">
                      <a:extLst>
                        <a:ext uri="{9D8B030D-6E8A-4147-A177-3AD203B41FA5}">
                          <a16:colId xmlns:a16="http://schemas.microsoft.com/office/drawing/2014/main" val="20004"/>
                        </a:ext>
                      </a:extLst>
                    </a:gridCol>
                    <a:gridCol w="863895">
                      <a:extLst>
                        <a:ext uri="{9D8B030D-6E8A-4147-A177-3AD203B41FA5}">
                          <a16:colId xmlns:a16="http://schemas.microsoft.com/office/drawing/2014/main" val="20005"/>
                        </a:ext>
                      </a:extLst>
                    </a:gridCol>
                  </a:tblGrid>
                  <a:tr h="385572">
                    <a:tc>
                      <a:txBody>
                        <a:bodyPr/>
                        <a:lstStyle/>
                        <a:p>
                          <a:endParaRPr lang="en-US"/>
                        </a:p>
                      </a:txBody>
                      <a:tcPr marL="68580" marR="68580" marT="0" marB="0">
                        <a:blipFill>
                          <a:blip r:embed="rId4"/>
                          <a:stretch>
                            <a:fillRect l="-772" t="-17188" r="-278378" b="-134375"/>
                          </a:stretch>
                        </a:blipFill>
                      </a:tcPr>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8</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12</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20</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385572">
                    <a:tc>
                      <a:txBody>
                        <a:bodyPr/>
                        <a:lstStyle/>
                        <a:p>
                          <a:endParaRPr lang="en-US"/>
                        </a:p>
                      </a:txBody>
                      <a:tcPr marL="68580" marR="68580" marT="0" marB="0">
                        <a:blipFill>
                          <a:blip r:embed="rId4"/>
                          <a:stretch>
                            <a:fillRect l="-772" t="-119048" r="-278378" b="-36508"/>
                          </a:stretch>
                        </a:blipFill>
                      </a:tcPr>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3.0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1.0</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0.55</a:t>
                          </a:r>
                          <a:endParaRPr lang="en-US" sz="22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2200" dirty="0">
                              <a:effectLst/>
                              <a:latin typeface="Times New Roman" panose="02020603050405020304" pitchFamily="18" charset="0"/>
                            </a:rPr>
                            <a:t>0.18</a:t>
                          </a:r>
                          <a:endParaRPr lang="en-US" sz="22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1819333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ü"/>
                </a:pPr>
                <a:r>
                  <a:rPr lang="en-US" sz="2200" dirty="0"/>
                  <a:t> Moments </a:t>
                </a:r>
              </a:p>
              <a:p>
                <a:pPr>
                  <a:buFont typeface="Wingdings" pitchFamily="2" charset="2"/>
                  <a:buChar char="ü"/>
                </a:pPr>
                <a:r>
                  <a:rPr lang="en-US" sz="2200" dirty="0"/>
                  <a:t>Relation between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𝑣</m:t>
                        </m:r>
                      </m:e>
                      <m:sub>
                        <m:r>
                          <a:rPr lang="en-US" sz="2200" i="1">
                            <a:latin typeface="Cambria Math"/>
                          </a:rPr>
                          <m:t>𝑟</m:t>
                        </m:r>
                      </m:sub>
                    </m:sSub>
                    <m:r>
                      <a:rPr lang="en-US" sz="2200" i="1">
                        <a:latin typeface="Cambria Math"/>
                      </a:rPr>
                      <m:t> </m:t>
                    </m:r>
                    <m:r>
                      <a:rPr lang="en-US" sz="2200" i="1">
                        <a:latin typeface="Cambria Math"/>
                      </a:rPr>
                      <m:t>𝑎𝑛𝑑</m:t>
                    </m:r>
                    <m:r>
                      <a:rPr lang="en-US" sz="2200" i="1">
                        <a:latin typeface="Cambria Math"/>
                      </a:rPr>
                      <m:t> </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𝑟</m:t>
                        </m:r>
                      </m:sub>
                    </m:sSub>
                  </m:oMath>
                </a14:m>
                <a:endParaRPr lang="en-US" sz="2200" dirty="0"/>
              </a:p>
              <a:p>
                <a:pPr>
                  <a:buFont typeface="Wingdings" pitchFamily="2" charset="2"/>
                  <a:buChar char="ü"/>
                </a:pPr>
                <a:r>
                  <a:rPr lang="en-US" sz="2200" dirty="0"/>
                  <a:t>Relation between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𝑟</m:t>
                        </m:r>
                      </m:sub>
                    </m:sSub>
                    <m:r>
                      <a:rPr lang="en-US" sz="2200" i="1">
                        <a:latin typeface="Cambria Math"/>
                      </a:rPr>
                      <m:t> </m:t>
                    </m:r>
                    <m:r>
                      <a:rPr lang="en-US" sz="2200" i="1">
                        <a:latin typeface="Cambria Math"/>
                      </a:rPr>
                      <m:t>𝑎𝑛𝑑</m:t>
                    </m:r>
                    <m:r>
                      <a:rPr lang="en-US" sz="2200" i="1">
                        <a:latin typeface="Cambria Math"/>
                      </a:rPr>
                      <m:t> </m:t>
                    </m:r>
                    <m:sSub>
                      <m:sSubPr>
                        <m:ctrlPr>
                          <a:rPr lang="en-US" sz="2200" i="1">
                            <a:latin typeface="Cambria Math" panose="02040503050406030204" pitchFamily="18" charset="0"/>
                          </a:rPr>
                        </m:ctrlPr>
                      </m:sSubPr>
                      <m:e>
                        <m:r>
                          <a:rPr lang="en-US" sz="2200" i="1">
                            <a:latin typeface="Cambria Math"/>
                            <a:ea typeface="Cambria Math"/>
                          </a:rPr>
                          <m:t>𝜇</m:t>
                        </m:r>
                        <m:r>
                          <a:rPr lang="en-US" sz="2200" i="1">
                            <a:latin typeface="Cambria Math"/>
                            <a:ea typeface="Cambria Math"/>
                          </a:rPr>
                          <m:t>′</m:t>
                        </m:r>
                      </m:e>
                      <m:sub>
                        <m:r>
                          <a:rPr lang="en-US" sz="2200" i="1">
                            <a:latin typeface="Cambria Math"/>
                          </a:rPr>
                          <m:t>𝑟</m:t>
                        </m:r>
                      </m:sub>
                    </m:sSub>
                  </m:oMath>
                </a14:m>
                <a:endParaRPr lang="en-US" sz="2200" dirty="0"/>
              </a:p>
              <a:p>
                <a:pPr>
                  <a:buFont typeface="Wingdings" pitchFamily="2" charset="2"/>
                  <a:buChar char="ü"/>
                </a:pPr>
                <a:r>
                  <a:rPr lang="en-US" sz="2200" dirty="0"/>
                  <a:t>Skewness &amp; kurtosis</a:t>
                </a:r>
              </a:p>
              <a:p>
                <a:pPr>
                  <a:buFont typeface="Wingdings" pitchFamily="2" charset="2"/>
                  <a:buChar char="ü"/>
                </a:pPr>
                <a:r>
                  <a:rPr lang="en-US" sz="2200" dirty="0"/>
                  <a:t>Curve fitting</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latin typeface="Times New Roman" panose="02020603050405020304" pitchFamily="18" charset="0"/>
              </a:rPr>
              <a:t>Recap</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6442800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4525963"/>
          </a:xfrm>
        </p:spPr>
        <p:txBody>
          <a:bodyPr>
            <a:normAutofit/>
          </a:bodyPr>
          <a:lstStyle/>
          <a:p>
            <a:pPr marL="0" indent="0" algn="ctr">
              <a:buNone/>
            </a:pPr>
            <a:r>
              <a:rPr lang="en-US" sz="2400" dirty="0"/>
              <a:t>Correlation</a:t>
            </a:r>
            <a:endParaRPr lang="en-US" sz="2200" dirty="0"/>
          </a:p>
          <a:p>
            <a:r>
              <a:rPr lang="en-US" sz="2200" dirty="0"/>
              <a:t>Identify the direction and strength of a correlation between two factors.</a:t>
            </a:r>
          </a:p>
          <a:p>
            <a:r>
              <a:rPr lang="en-US" sz="2200" dirty="0"/>
              <a:t>Compute and interpret the Pearson correlation coefficient and test for significance.</a:t>
            </a:r>
          </a:p>
          <a:p>
            <a:r>
              <a:rPr lang="en-US" sz="2200" dirty="0"/>
              <a:t>Compute and interpret the coefficient of determination.</a:t>
            </a:r>
          </a:p>
          <a:p>
            <a:r>
              <a:rPr lang="en-US" sz="2200" dirty="0"/>
              <a:t>Compute and interpret the Spearman correlation coefficient and test for significance.</a:t>
            </a: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9" name="Title 1"/>
          <p:cNvSpPr txBox="1">
            <a:spLocks/>
          </p:cNvSpPr>
          <p:nvPr/>
        </p:nvSpPr>
        <p:spPr>
          <a:xfrm>
            <a:off x="1371600" y="-3975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latin typeface="Times New Roman" panose="02020603050405020304" pitchFamily="18" charset="0"/>
              </a:rPr>
              <a:t> </a:t>
            </a:r>
            <a:r>
              <a:rPr lang="en-US" sz="2400" b="1" dirty="0">
                <a:latin typeface="Times New Roman" panose="02020603050405020304" pitchFamily="18" charset="0"/>
              </a:rPr>
              <a:t>Topic objective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61877772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nSpc>
                <a:spcPct val="100000"/>
              </a:lnSpc>
              <a:spcBef>
                <a:spcPts val="1245"/>
              </a:spcBef>
              <a:buFont typeface="Wingdings" pitchFamily="2" charset="2"/>
              <a:buChar char="Ø"/>
            </a:pPr>
            <a:r>
              <a:rPr lang="en-US" sz="2200" b="1" dirty="0"/>
              <a:t>Correlation</a:t>
            </a:r>
            <a:r>
              <a:rPr lang="en-US" sz="2200" b="1" dirty="0">
                <a:cs typeface="Georgia"/>
              </a:rPr>
              <a:t>:</a:t>
            </a:r>
            <a:r>
              <a:rPr lang="en-US" sz="2200" b="1" spc="-60" dirty="0">
                <a:cs typeface="Georgia"/>
              </a:rPr>
              <a:t> </a:t>
            </a:r>
            <a:r>
              <a:rPr lang="en-US" sz="2200" spc="-130" dirty="0">
                <a:cs typeface="Tahoma"/>
              </a:rPr>
              <a:t>In </a:t>
            </a:r>
            <a:r>
              <a:rPr lang="en-US" sz="2200" spc="-85" dirty="0">
                <a:cs typeface="Tahoma"/>
              </a:rPr>
              <a:t>a </a:t>
            </a:r>
            <a:r>
              <a:rPr lang="en-US" sz="2200" spc="-55" dirty="0">
                <a:cs typeface="Tahoma"/>
              </a:rPr>
              <a:t>bivariate </a:t>
            </a:r>
            <a:r>
              <a:rPr lang="en-US" sz="2200" spc="-40" dirty="0">
                <a:cs typeface="Tahoma"/>
              </a:rPr>
              <a:t>distribution </a:t>
            </a:r>
            <a:r>
              <a:rPr lang="en-US" sz="2200" spc="-155" dirty="0">
                <a:cs typeface="Tahoma"/>
              </a:rPr>
              <a:t>we </a:t>
            </a:r>
            <a:r>
              <a:rPr lang="en-US" sz="2200" spc="-110" dirty="0">
                <a:cs typeface="Tahoma"/>
              </a:rPr>
              <a:t>are </a:t>
            </a:r>
            <a:r>
              <a:rPr lang="en-US" sz="2200" spc="-65" dirty="0">
                <a:cs typeface="Tahoma"/>
              </a:rPr>
              <a:t>interested </a:t>
            </a:r>
            <a:r>
              <a:rPr lang="en-US" sz="2200" spc="-20" dirty="0">
                <a:cs typeface="Tahoma"/>
              </a:rPr>
              <a:t>to </a:t>
            </a:r>
            <a:r>
              <a:rPr lang="en-US" sz="2200" spc="-50" dirty="0">
                <a:cs typeface="Tahoma"/>
              </a:rPr>
              <a:t>find </a:t>
            </a:r>
            <a:r>
              <a:rPr lang="en-US" sz="2200" spc="-45" dirty="0">
                <a:cs typeface="Tahoma"/>
              </a:rPr>
              <a:t>out </a:t>
            </a:r>
            <a:r>
              <a:rPr lang="en-US" sz="2200" spc="-150" dirty="0">
                <a:uFill>
                  <a:solidFill>
                    <a:srgbClr val="7F007F"/>
                  </a:solidFill>
                </a:uFill>
                <a:cs typeface="Tahoma"/>
              </a:rPr>
              <a:t>i f</a:t>
            </a:r>
            <a:r>
              <a:rPr lang="en-US" sz="2200" spc="-150" dirty="0">
                <a:cs typeface="Trebuchet MS"/>
              </a:rPr>
              <a:t>  </a:t>
            </a:r>
            <a:r>
              <a:rPr lang="en-US" sz="2200" spc="-130" dirty="0">
                <a:cs typeface="Trebuchet MS"/>
              </a:rPr>
              <a:t>there </a:t>
            </a:r>
            <a:r>
              <a:rPr lang="en-US" sz="2200" spc="-85" dirty="0">
                <a:cs typeface="Trebuchet MS"/>
              </a:rPr>
              <a:t>is </a:t>
            </a:r>
            <a:r>
              <a:rPr lang="en-US" sz="2200" spc="-75" dirty="0">
                <a:cs typeface="Trebuchet MS"/>
              </a:rPr>
              <a:t>any </a:t>
            </a:r>
            <a:r>
              <a:rPr lang="en-US" sz="2200" spc="-110" dirty="0">
                <a:cs typeface="Trebuchet MS"/>
              </a:rPr>
              <a:t>correlation </a:t>
            </a:r>
            <a:r>
              <a:rPr lang="en-US" sz="2200" spc="-130" dirty="0">
                <a:cs typeface="Trebuchet MS"/>
              </a:rPr>
              <a:t>between </a:t>
            </a:r>
            <a:r>
              <a:rPr lang="en-US" sz="2200" spc="-120" dirty="0">
                <a:cs typeface="Trebuchet MS"/>
              </a:rPr>
              <a:t>the </a:t>
            </a:r>
            <a:r>
              <a:rPr lang="en-US" sz="2200" spc="-135" dirty="0">
                <a:cs typeface="Trebuchet MS"/>
              </a:rPr>
              <a:t>two </a:t>
            </a:r>
            <a:r>
              <a:rPr lang="en-US" sz="2200" spc="-110" dirty="0">
                <a:cs typeface="Trebuchet MS"/>
              </a:rPr>
              <a:t>variables </a:t>
            </a:r>
            <a:r>
              <a:rPr lang="en-US" sz="2200" spc="-105" dirty="0">
                <a:cs typeface="Trebuchet MS"/>
              </a:rPr>
              <a:t>under  </a:t>
            </a:r>
            <a:r>
              <a:rPr lang="en-US" sz="2200" spc="-114" dirty="0">
                <a:uFill>
                  <a:solidFill>
                    <a:srgbClr val="7F007F"/>
                  </a:solidFill>
                </a:uFill>
                <a:cs typeface="Trebuchet MS"/>
              </a:rPr>
              <a:t>study.</a:t>
            </a:r>
            <a:endParaRPr lang="en-US" sz="2200" dirty="0">
              <a:cs typeface="Trebuchet MS"/>
            </a:endParaRPr>
          </a:p>
          <a:p>
            <a:pPr marL="441325" marR="5080">
              <a:lnSpc>
                <a:spcPct val="102200"/>
              </a:lnSpc>
              <a:spcBef>
                <a:spcPts val="1280"/>
              </a:spcBef>
            </a:pPr>
            <a:r>
              <a:rPr lang="en-US" sz="2200" spc="-105" dirty="0">
                <a:cs typeface="Tahoma"/>
              </a:rPr>
              <a:t>If </a:t>
            </a:r>
            <a:r>
              <a:rPr lang="en-US" sz="2200" spc="-65" dirty="0">
                <a:cs typeface="Tahoma"/>
              </a:rPr>
              <a:t>the </a:t>
            </a:r>
            <a:r>
              <a:rPr lang="en-US" sz="2200" spc="-75" dirty="0">
                <a:uFill>
                  <a:solidFill>
                    <a:srgbClr val="0000FF"/>
                  </a:solidFill>
                </a:uFill>
                <a:cs typeface="Trebuchet MS"/>
              </a:rPr>
              <a:t>change </a:t>
            </a:r>
            <a:r>
              <a:rPr lang="en-US" sz="2200" spc="-95" dirty="0">
                <a:uFill>
                  <a:solidFill>
                    <a:srgbClr val="0000FF"/>
                  </a:solidFill>
                </a:uFill>
                <a:cs typeface="Trebuchet MS"/>
              </a:rPr>
              <a:t>in </a:t>
            </a:r>
            <a:r>
              <a:rPr lang="en-US" sz="2200" spc="-100" dirty="0">
                <a:uFill>
                  <a:solidFill>
                    <a:srgbClr val="0000FF"/>
                  </a:solidFill>
                </a:uFill>
                <a:cs typeface="Trebuchet MS"/>
              </a:rPr>
              <a:t>one </a:t>
            </a:r>
            <a:r>
              <a:rPr lang="en-US" sz="2200" spc="-120" dirty="0">
                <a:uFill>
                  <a:solidFill>
                    <a:srgbClr val="0000FF"/>
                  </a:solidFill>
                </a:uFill>
                <a:cs typeface="Trebuchet MS"/>
              </a:rPr>
              <a:t>variable affects </a:t>
            </a:r>
            <a:r>
              <a:rPr lang="en-US" sz="2200" spc="-90" dirty="0">
                <a:uFill>
                  <a:solidFill>
                    <a:srgbClr val="0000FF"/>
                  </a:solidFill>
                </a:uFill>
                <a:cs typeface="Trebuchet MS"/>
              </a:rPr>
              <a:t>a </a:t>
            </a:r>
            <a:r>
              <a:rPr lang="en-US" sz="2200" spc="-75" dirty="0">
                <a:uFill>
                  <a:solidFill>
                    <a:srgbClr val="0000FF"/>
                  </a:solidFill>
                </a:uFill>
                <a:cs typeface="Trebuchet MS"/>
              </a:rPr>
              <a:t>change </a:t>
            </a:r>
            <a:r>
              <a:rPr lang="en-US" sz="2200" spc="-95" dirty="0">
                <a:uFill>
                  <a:solidFill>
                    <a:srgbClr val="0000FF"/>
                  </a:solidFill>
                </a:uFill>
                <a:cs typeface="Trebuchet MS"/>
              </a:rPr>
              <a:t>in </a:t>
            </a:r>
            <a:r>
              <a:rPr lang="en-US" sz="2200" spc="-120" dirty="0">
                <a:uFill>
                  <a:solidFill>
                    <a:srgbClr val="0000FF"/>
                  </a:solidFill>
                </a:uFill>
                <a:cs typeface="Trebuchet MS"/>
              </a:rPr>
              <a:t>the </a:t>
            </a:r>
            <a:r>
              <a:rPr lang="en-US" sz="2200" spc="-114" dirty="0">
                <a:uFill>
                  <a:solidFill>
                    <a:srgbClr val="0000FF"/>
                  </a:solidFill>
                </a:uFill>
                <a:cs typeface="Trebuchet MS"/>
              </a:rPr>
              <a:t>other </a:t>
            </a:r>
            <a:r>
              <a:rPr lang="en-US" sz="2200" spc="-114" dirty="0">
                <a:cs typeface="Trebuchet MS"/>
              </a:rPr>
              <a:t> </a:t>
            </a:r>
            <a:r>
              <a:rPr lang="en-US" sz="2200" spc="-125" dirty="0">
                <a:uFill>
                  <a:solidFill>
                    <a:srgbClr val="0000FF"/>
                  </a:solidFill>
                </a:uFill>
                <a:cs typeface="Trebuchet MS"/>
              </a:rPr>
              <a:t>variable,</a:t>
            </a:r>
            <a:r>
              <a:rPr lang="en-US" sz="2200" spc="-125" dirty="0">
                <a:cs typeface="Trebuchet MS"/>
              </a:rPr>
              <a:t> </a:t>
            </a:r>
            <a:r>
              <a:rPr lang="en-US" sz="2200" spc="-65" dirty="0">
                <a:cs typeface="Tahoma"/>
              </a:rPr>
              <a:t>the </a:t>
            </a:r>
            <a:r>
              <a:rPr lang="en-US" sz="2200" spc="-75" dirty="0">
                <a:cs typeface="Tahoma"/>
              </a:rPr>
              <a:t>variables </a:t>
            </a:r>
            <a:r>
              <a:rPr lang="en-US" sz="2200" spc="-110" dirty="0">
                <a:cs typeface="Tahoma"/>
              </a:rPr>
              <a:t>are </a:t>
            </a:r>
            <a:r>
              <a:rPr lang="en-US" sz="2200" spc="-70" dirty="0">
                <a:cs typeface="Tahoma"/>
              </a:rPr>
              <a:t>said </a:t>
            </a:r>
            <a:r>
              <a:rPr lang="en-US" sz="2200" spc="-20" dirty="0">
                <a:cs typeface="Tahoma"/>
              </a:rPr>
              <a:t>to </a:t>
            </a:r>
            <a:r>
              <a:rPr lang="en-US" sz="2200" spc="-90" dirty="0">
                <a:cs typeface="Tahoma"/>
              </a:rPr>
              <a:t>be</a:t>
            </a:r>
            <a:r>
              <a:rPr lang="en-US" sz="2200" spc="-110" dirty="0">
                <a:cs typeface="Tahoma"/>
              </a:rPr>
              <a:t> </a:t>
            </a:r>
            <a:r>
              <a:rPr lang="en-US" sz="2200" spc="-65" dirty="0">
                <a:uFill>
                  <a:solidFill>
                    <a:srgbClr val="000000"/>
                  </a:solidFill>
                </a:uFill>
                <a:cs typeface="Tahoma"/>
              </a:rPr>
              <a:t>correlated.</a:t>
            </a:r>
            <a:endParaRPr lang="en-US" sz="2200" dirty="0">
              <a:cs typeface="Tahoma"/>
            </a:endParaRPr>
          </a:p>
          <a:p>
            <a:pPr>
              <a:buFont typeface="Wingdings" panose="05000000000000000000" pitchFamily="2" charset="2"/>
              <a:buChar char="Ø"/>
            </a:pPr>
            <a:r>
              <a:rPr lang="en-US" sz="2200" b="1" dirty="0">
                <a:cs typeface="PMingLiU"/>
              </a:rPr>
              <a:t>Positive Correlation</a:t>
            </a:r>
          </a:p>
          <a:p>
            <a:pPr marL="441325" marR="81280">
              <a:lnSpc>
                <a:spcPct val="102200"/>
              </a:lnSpc>
              <a:spcBef>
                <a:spcPts val="1110"/>
              </a:spcBef>
            </a:pPr>
            <a:r>
              <a:rPr lang="en-US" sz="2200" spc="-105" dirty="0">
                <a:cs typeface="Tahoma"/>
              </a:rPr>
              <a:t>If </a:t>
            </a:r>
            <a:r>
              <a:rPr lang="en-US" sz="2200" spc="-65" dirty="0">
                <a:cs typeface="Tahoma"/>
              </a:rPr>
              <a:t>the </a:t>
            </a:r>
            <a:r>
              <a:rPr lang="en-US" sz="2200" spc="-85" dirty="0">
                <a:cs typeface="Tahoma"/>
              </a:rPr>
              <a:t>two </a:t>
            </a:r>
            <a:r>
              <a:rPr lang="en-US" sz="2200" spc="-75" dirty="0">
                <a:cs typeface="Tahoma"/>
              </a:rPr>
              <a:t>variables </a:t>
            </a:r>
            <a:r>
              <a:rPr lang="en-US" sz="2200" spc="-70" dirty="0">
                <a:uFill>
                  <a:solidFill>
                    <a:srgbClr val="0000FF"/>
                  </a:solidFill>
                </a:uFill>
                <a:cs typeface="Tahoma"/>
              </a:rPr>
              <a:t>deviate </a:t>
            </a:r>
            <a:r>
              <a:rPr lang="en-US" sz="2200" spc="-40" dirty="0">
                <a:uFill>
                  <a:solidFill>
                    <a:srgbClr val="0000FF"/>
                  </a:solidFill>
                </a:uFill>
                <a:cs typeface="Tahoma"/>
              </a:rPr>
              <a:t>in </a:t>
            </a:r>
            <a:r>
              <a:rPr lang="en-US" sz="2200" spc="-65" dirty="0">
                <a:uFill>
                  <a:solidFill>
                    <a:srgbClr val="0000FF"/>
                  </a:solidFill>
                </a:uFill>
                <a:cs typeface="Tahoma"/>
              </a:rPr>
              <a:t>the </a:t>
            </a:r>
            <a:r>
              <a:rPr lang="en-US" sz="2200" spc="-110" dirty="0">
                <a:uFill>
                  <a:solidFill>
                    <a:srgbClr val="0000FF"/>
                  </a:solidFill>
                </a:uFill>
                <a:cs typeface="Tahoma"/>
              </a:rPr>
              <a:t>same </a:t>
            </a:r>
            <a:r>
              <a:rPr lang="en-US" sz="2200" spc="-45" dirty="0">
                <a:uFill>
                  <a:solidFill>
                    <a:srgbClr val="0000FF"/>
                  </a:solidFill>
                </a:uFill>
                <a:cs typeface="Tahoma"/>
              </a:rPr>
              <a:t>direction,</a:t>
            </a:r>
            <a:r>
              <a:rPr lang="en-US" sz="2200" spc="-45" dirty="0">
                <a:cs typeface="Tahoma"/>
              </a:rPr>
              <a:t> </a:t>
            </a:r>
            <a:r>
              <a:rPr lang="en-US" sz="2200" spc="-60" dirty="0">
                <a:uFill>
                  <a:solidFill>
                    <a:srgbClr val="000000"/>
                  </a:solidFill>
                </a:uFill>
                <a:cs typeface="Tahoma"/>
              </a:rPr>
              <a:t>i.e., </a:t>
            </a:r>
            <a:r>
              <a:rPr lang="en-US" sz="2200" spc="-10" dirty="0">
                <a:uFill>
                  <a:solidFill>
                    <a:srgbClr val="000000"/>
                  </a:solidFill>
                </a:uFill>
                <a:cs typeface="Tahoma"/>
              </a:rPr>
              <a:t>if </a:t>
            </a:r>
            <a:r>
              <a:rPr lang="en-US" sz="2200" spc="-10" dirty="0">
                <a:cs typeface="Tahoma"/>
              </a:rPr>
              <a:t> </a:t>
            </a:r>
            <a:r>
              <a:rPr lang="en-US" sz="2200" spc="-65" dirty="0">
                <a:cs typeface="Tahoma"/>
              </a:rPr>
              <a:t>the </a:t>
            </a:r>
            <a:r>
              <a:rPr lang="en-US" sz="2200" spc="-80" dirty="0">
                <a:cs typeface="Tahoma"/>
              </a:rPr>
              <a:t>increase </a:t>
            </a:r>
            <a:r>
              <a:rPr lang="en-US" sz="2200" spc="-55" dirty="0">
                <a:cs typeface="Tahoma"/>
              </a:rPr>
              <a:t>(or </a:t>
            </a:r>
            <a:r>
              <a:rPr lang="en-US" sz="2200" spc="-90" dirty="0">
                <a:cs typeface="Tahoma"/>
              </a:rPr>
              <a:t>decrease) </a:t>
            </a:r>
            <a:r>
              <a:rPr lang="en-US" sz="2200" spc="-40" dirty="0">
                <a:cs typeface="Tahoma"/>
              </a:rPr>
              <a:t>in </a:t>
            </a:r>
            <a:r>
              <a:rPr lang="en-US" sz="2200" spc="-105" dirty="0">
                <a:cs typeface="Tahoma"/>
              </a:rPr>
              <a:t>one </a:t>
            </a:r>
            <a:r>
              <a:rPr lang="en-US" sz="2200" spc="-65" dirty="0">
                <a:cs typeface="Tahoma"/>
              </a:rPr>
              <a:t>results </a:t>
            </a:r>
            <a:r>
              <a:rPr lang="en-US" sz="2200" spc="-40" dirty="0">
                <a:cs typeface="Tahoma"/>
              </a:rPr>
              <a:t>in </a:t>
            </a:r>
            <a:r>
              <a:rPr lang="en-US" sz="2200" spc="-85" dirty="0">
                <a:cs typeface="Tahoma"/>
              </a:rPr>
              <a:t>a  </a:t>
            </a:r>
            <a:r>
              <a:rPr lang="en-US" sz="2200" spc="-75" dirty="0">
                <a:cs typeface="Tahoma"/>
              </a:rPr>
              <a:t>corresponding </a:t>
            </a:r>
            <a:r>
              <a:rPr lang="en-US" sz="2200" spc="-80" dirty="0">
                <a:cs typeface="Tahoma"/>
              </a:rPr>
              <a:t>increase </a:t>
            </a:r>
            <a:r>
              <a:rPr lang="en-US" sz="2200" spc="-55" dirty="0">
                <a:cs typeface="Tahoma"/>
              </a:rPr>
              <a:t>(or </a:t>
            </a:r>
            <a:r>
              <a:rPr lang="en-US" sz="2200" spc="-90" dirty="0">
                <a:cs typeface="Tahoma"/>
              </a:rPr>
              <a:t>decrease) </a:t>
            </a:r>
            <a:r>
              <a:rPr lang="en-US" sz="2200" spc="-40" dirty="0">
                <a:cs typeface="Tahoma"/>
              </a:rPr>
              <a:t>in </a:t>
            </a:r>
            <a:r>
              <a:rPr lang="en-US" sz="2200" spc="-65" dirty="0">
                <a:cs typeface="Tahoma"/>
              </a:rPr>
              <a:t>the </a:t>
            </a:r>
            <a:r>
              <a:rPr lang="en-US" sz="2200" spc="-60" dirty="0">
                <a:cs typeface="Tahoma"/>
              </a:rPr>
              <a:t>other,  </a:t>
            </a:r>
            <a:r>
              <a:rPr lang="en-US" sz="2200" spc="-55" dirty="0">
                <a:cs typeface="Tahoma"/>
              </a:rPr>
              <a:t>correlation is </a:t>
            </a:r>
            <a:r>
              <a:rPr lang="en-US" sz="2200" spc="-70" dirty="0">
                <a:cs typeface="Tahoma"/>
              </a:rPr>
              <a:t>said </a:t>
            </a:r>
            <a:r>
              <a:rPr lang="en-US" sz="2200" spc="-20" dirty="0">
                <a:cs typeface="Tahoma"/>
              </a:rPr>
              <a:t>to </a:t>
            </a:r>
            <a:r>
              <a:rPr lang="en-US" sz="2200" spc="-90" dirty="0">
                <a:cs typeface="Tahoma"/>
              </a:rPr>
              <a:t>be </a:t>
            </a:r>
            <a:r>
              <a:rPr lang="en-US" sz="2200" i="1" spc="-110" dirty="0">
                <a:uFill>
                  <a:solidFill>
                    <a:srgbClr val="7F007F"/>
                  </a:solidFill>
                </a:uFill>
                <a:cs typeface="Trebuchet MS"/>
              </a:rPr>
              <a:t>direct </a:t>
            </a:r>
            <a:r>
              <a:rPr lang="en-US" sz="2200" i="1" spc="-130" dirty="0">
                <a:uFill>
                  <a:solidFill>
                    <a:srgbClr val="7F007F"/>
                  </a:solidFill>
                </a:uFill>
                <a:cs typeface="Trebuchet MS"/>
              </a:rPr>
              <a:t>or</a:t>
            </a:r>
            <a:r>
              <a:rPr lang="en-US" sz="2200" i="1" spc="240" dirty="0">
                <a:uFill>
                  <a:solidFill>
                    <a:srgbClr val="7F007F"/>
                  </a:solidFill>
                </a:uFill>
                <a:cs typeface="Trebuchet MS"/>
              </a:rPr>
              <a:t> </a:t>
            </a:r>
            <a:r>
              <a:rPr lang="en-US" sz="2200" i="1" spc="-100" dirty="0">
                <a:uFill>
                  <a:solidFill>
                    <a:srgbClr val="7F007F"/>
                  </a:solidFill>
                </a:uFill>
                <a:cs typeface="Trebuchet MS"/>
              </a:rPr>
              <a:t>positive.</a:t>
            </a:r>
            <a:endParaRPr lang="en-US" sz="2200" dirty="0">
              <a:cs typeface="Trebuchet MS"/>
            </a:endParaRPr>
          </a:p>
          <a:p>
            <a:pPr marL="441325" marR="5080">
              <a:lnSpc>
                <a:spcPct val="102200"/>
              </a:lnSpc>
              <a:spcBef>
                <a:spcPts val="1275"/>
              </a:spcBef>
            </a:pPr>
            <a:r>
              <a:rPr lang="en-US" sz="2200" spc="-50" dirty="0">
                <a:cs typeface="Tahoma"/>
              </a:rPr>
              <a:t>For </a:t>
            </a:r>
            <a:r>
              <a:rPr lang="en-US" sz="2200" spc="-85" dirty="0">
                <a:cs typeface="Tahoma"/>
              </a:rPr>
              <a:t>example, </a:t>
            </a:r>
            <a:r>
              <a:rPr lang="en-US" sz="2200" spc="-65" dirty="0">
                <a:cs typeface="Tahoma"/>
              </a:rPr>
              <a:t>the </a:t>
            </a:r>
            <a:r>
              <a:rPr lang="en-US" sz="2200" spc="-55" dirty="0">
                <a:cs typeface="Tahoma"/>
              </a:rPr>
              <a:t>correlation </a:t>
            </a:r>
            <a:r>
              <a:rPr lang="en-US" sz="2200" spc="-105" dirty="0">
                <a:cs typeface="Tahoma"/>
              </a:rPr>
              <a:t>between </a:t>
            </a:r>
            <a:r>
              <a:rPr lang="en-US" sz="2200" b="1" spc="100" dirty="0">
                <a:cs typeface="Arial"/>
              </a:rPr>
              <a:t>(i) </a:t>
            </a:r>
            <a:r>
              <a:rPr lang="en-US" sz="2200" spc="-65" dirty="0">
                <a:uFill>
                  <a:solidFill>
                    <a:srgbClr val="0000FF"/>
                  </a:solidFill>
                </a:uFill>
                <a:cs typeface="Tahoma"/>
              </a:rPr>
              <a:t>the </a:t>
            </a:r>
            <a:r>
              <a:rPr lang="en-US" sz="2200" spc="-70" dirty="0">
                <a:uFill>
                  <a:solidFill>
                    <a:srgbClr val="0000FF"/>
                  </a:solidFill>
                </a:uFill>
                <a:cs typeface="Tahoma"/>
              </a:rPr>
              <a:t>heights </a:t>
            </a:r>
            <a:r>
              <a:rPr lang="en-US" sz="2200" spc="-80" dirty="0">
                <a:uFill>
                  <a:solidFill>
                    <a:srgbClr val="0000FF"/>
                  </a:solidFill>
                </a:uFill>
                <a:cs typeface="Tahoma"/>
              </a:rPr>
              <a:t>and </a:t>
            </a:r>
            <a:r>
              <a:rPr lang="en-US" sz="2200" spc="-80" dirty="0">
                <a:cs typeface="Tahoma"/>
              </a:rPr>
              <a:t> </a:t>
            </a:r>
            <a:r>
              <a:rPr lang="en-US" sz="2200" spc="-80" dirty="0">
                <a:uFill>
                  <a:solidFill>
                    <a:srgbClr val="0000FF"/>
                  </a:solidFill>
                </a:uFill>
                <a:cs typeface="Tahoma"/>
              </a:rPr>
              <a:t>weights </a:t>
            </a:r>
            <a:r>
              <a:rPr lang="en-US" sz="2200" spc="-55" dirty="0">
                <a:uFill>
                  <a:solidFill>
                    <a:srgbClr val="0000FF"/>
                  </a:solidFill>
                </a:uFill>
                <a:cs typeface="Tahoma"/>
              </a:rPr>
              <a:t>of </a:t>
            </a:r>
            <a:r>
              <a:rPr lang="en-US" sz="2200" spc="-85" dirty="0">
                <a:uFill>
                  <a:solidFill>
                    <a:srgbClr val="0000FF"/>
                  </a:solidFill>
                </a:uFill>
                <a:cs typeface="Tahoma"/>
              </a:rPr>
              <a:t>a </a:t>
            </a:r>
            <a:r>
              <a:rPr lang="en-US" sz="2200" spc="-75" dirty="0">
                <a:uFill>
                  <a:solidFill>
                    <a:srgbClr val="0000FF"/>
                  </a:solidFill>
                </a:uFill>
                <a:cs typeface="Tahoma"/>
              </a:rPr>
              <a:t>group </a:t>
            </a:r>
            <a:r>
              <a:rPr lang="en-US" sz="2200" spc="-55" dirty="0">
                <a:uFill>
                  <a:solidFill>
                    <a:srgbClr val="0000FF"/>
                  </a:solidFill>
                </a:uFill>
                <a:cs typeface="Tahoma"/>
              </a:rPr>
              <a:t>of </a:t>
            </a:r>
            <a:r>
              <a:rPr lang="en-US" sz="2200" spc="-85" dirty="0">
                <a:uFill>
                  <a:solidFill>
                    <a:srgbClr val="0000FF"/>
                  </a:solidFill>
                </a:uFill>
                <a:cs typeface="Tahoma"/>
              </a:rPr>
              <a:t>persons,</a:t>
            </a:r>
            <a:r>
              <a:rPr lang="en-US" sz="2200" spc="-85" dirty="0">
                <a:cs typeface="Tahoma"/>
              </a:rPr>
              <a:t> </a:t>
            </a:r>
            <a:r>
              <a:rPr lang="en-US" sz="2200" spc="-80" dirty="0">
                <a:cs typeface="Tahoma"/>
              </a:rPr>
              <a:t>and </a:t>
            </a:r>
            <a:r>
              <a:rPr lang="en-US" sz="2200" b="1" spc="65" dirty="0">
                <a:cs typeface="Arial"/>
              </a:rPr>
              <a:t>(ii) </a:t>
            </a:r>
            <a:r>
              <a:rPr lang="en-US" sz="2200" spc="-65" dirty="0">
                <a:uFill>
                  <a:solidFill>
                    <a:srgbClr val="7F007F"/>
                  </a:solidFill>
                </a:uFill>
                <a:cs typeface="Tahoma"/>
              </a:rPr>
              <a:t>the </a:t>
            </a:r>
            <a:r>
              <a:rPr lang="en-US" sz="2200" spc="-75" dirty="0">
                <a:uFill>
                  <a:solidFill>
                    <a:srgbClr val="7F007F"/>
                  </a:solidFill>
                </a:uFill>
                <a:cs typeface="Tahoma"/>
              </a:rPr>
              <a:t>income </a:t>
            </a:r>
            <a:r>
              <a:rPr lang="en-US" sz="2200" spc="-80" dirty="0">
                <a:uFill>
                  <a:solidFill>
                    <a:srgbClr val="7F007F"/>
                  </a:solidFill>
                </a:uFill>
                <a:cs typeface="Tahoma"/>
              </a:rPr>
              <a:t>and </a:t>
            </a:r>
            <a:r>
              <a:rPr lang="en-US" sz="2200" spc="-80" dirty="0">
                <a:cs typeface="Tahoma"/>
              </a:rPr>
              <a:t> </a:t>
            </a:r>
            <a:r>
              <a:rPr lang="en-US" sz="2200" spc="-75" dirty="0">
                <a:uFill>
                  <a:solidFill>
                    <a:srgbClr val="7F007F"/>
                  </a:solidFill>
                </a:uFill>
                <a:cs typeface="Tahoma"/>
              </a:rPr>
              <a:t>expenditure;</a:t>
            </a:r>
            <a:r>
              <a:rPr lang="en-US" sz="2200" spc="-75" dirty="0">
                <a:cs typeface="Tahoma"/>
              </a:rPr>
              <a:t> </a:t>
            </a:r>
            <a:r>
              <a:rPr lang="en-US" sz="2200" spc="-55" dirty="0">
                <a:cs typeface="Tahoma"/>
              </a:rPr>
              <a:t>is</a:t>
            </a:r>
            <a:r>
              <a:rPr lang="en-US" sz="2200" spc="130" dirty="0">
                <a:cs typeface="Tahoma"/>
              </a:rPr>
              <a:t> </a:t>
            </a:r>
            <a:r>
              <a:rPr lang="en-US" sz="2200" spc="-50" dirty="0">
                <a:cs typeface="Tahoma"/>
              </a:rPr>
              <a:t>positive.</a:t>
            </a:r>
            <a:endParaRPr lang="en-US" sz="2200" dirty="0">
              <a:cs typeface="Tahoma"/>
            </a:endParaRP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9072676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nSpc>
                <a:spcPct val="100000"/>
              </a:lnSpc>
              <a:spcBef>
                <a:spcPts val="1245"/>
              </a:spcBef>
              <a:buFont typeface="Wingdings" pitchFamily="2" charset="2"/>
              <a:buChar char="Ø"/>
            </a:pPr>
            <a:r>
              <a:rPr lang="en-US" sz="2200" b="1" spc="-70" dirty="0">
                <a:uFill>
                  <a:solidFill>
                    <a:srgbClr val="0000FF"/>
                  </a:solidFill>
                </a:uFill>
                <a:cs typeface="Tahoma"/>
              </a:rPr>
              <a:t>Negative Correlation:</a:t>
            </a:r>
          </a:p>
          <a:p>
            <a:pPr marL="12700">
              <a:lnSpc>
                <a:spcPct val="100000"/>
              </a:lnSpc>
              <a:spcBef>
                <a:spcPts val="1245"/>
              </a:spcBef>
            </a:pPr>
            <a:r>
              <a:rPr lang="en-US" sz="2200" spc="-70" dirty="0">
                <a:uFill>
                  <a:solidFill>
                    <a:srgbClr val="0000FF"/>
                  </a:solidFill>
                </a:uFill>
                <a:cs typeface="Tahoma"/>
              </a:rPr>
              <a:t>If the two variables deviate in the opposite </a:t>
            </a:r>
            <a:r>
              <a:rPr lang="en-US" sz="2200" spc="-55" dirty="0">
                <a:uFill>
                  <a:solidFill>
                    <a:srgbClr val="0000FF"/>
                  </a:solidFill>
                </a:uFill>
                <a:cs typeface="Tahoma"/>
              </a:rPr>
              <a:t>directions,</a:t>
            </a:r>
            <a:r>
              <a:rPr lang="en-US" sz="2200" spc="-55" dirty="0">
                <a:cs typeface="Tahoma"/>
              </a:rPr>
              <a:t> </a:t>
            </a:r>
            <a:r>
              <a:rPr lang="en-US" sz="2200" spc="-60" dirty="0">
                <a:uFill>
                  <a:solidFill>
                    <a:srgbClr val="000000"/>
                  </a:solidFill>
                </a:uFill>
                <a:cs typeface="Tahoma"/>
              </a:rPr>
              <a:t>i.e., </a:t>
            </a:r>
            <a:r>
              <a:rPr lang="en-US" sz="2200" spc="-60" dirty="0">
                <a:cs typeface="Tahoma"/>
              </a:rPr>
              <a:t> </a:t>
            </a:r>
            <a:r>
              <a:rPr lang="en-US" sz="2200" spc="-10" dirty="0">
                <a:cs typeface="Tahoma"/>
              </a:rPr>
              <a:t>if </a:t>
            </a:r>
            <a:r>
              <a:rPr lang="en-US" sz="2200" spc="-80" dirty="0">
                <a:cs typeface="Tahoma"/>
              </a:rPr>
              <a:t>increase </a:t>
            </a:r>
            <a:r>
              <a:rPr lang="en-US" sz="2200" spc="-55" dirty="0">
                <a:cs typeface="Tahoma"/>
              </a:rPr>
              <a:t>(or </a:t>
            </a:r>
            <a:r>
              <a:rPr lang="en-US" sz="2200" spc="-90" dirty="0">
                <a:cs typeface="Tahoma"/>
              </a:rPr>
              <a:t>decrease) </a:t>
            </a:r>
            <a:r>
              <a:rPr lang="en-US" sz="2200" spc="-40" dirty="0">
                <a:cs typeface="Tahoma"/>
              </a:rPr>
              <a:t>in </a:t>
            </a:r>
            <a:r>
              <a:rPr lang="en-US" sz="2200" spc="-105" dirty="0">
                <a:cs typeface="Tahoma"/>
              </a:rPr>
              <a:t>one </a:t>
            </a:r>
            <a:r>
              <a:rPr lang="en-US" sz="2200" spc="-65" dirty="0">
                <a:cs typeface="Tahoma"/>
              </a:rPr>
              <a:t>results </a:t>
            </a:r>
            <a:r>
              <a:rPr lang="en-US" sz="2200" spc="-40" dirty="0">
                <a:cs typeface="Tahoma"/>
              </a:rPr>
              <a:t>in </a:t>
            </a:r>
            <a:r>
              <a:rPr lang="en-US" sz="2200" spc="-75" dirty="0">
                <a:cs typeface="Tahoma"/>
              </a:rPr>
              <a:t>corresponding  </a:t>
            </a:r>
            <a:r>
              <a:rPr lang="en-US" sz="2200" spc="-100" dirty="0">
                <a:uFill>
                  <a:solidFill>
                    <a:srgbClr val="000000"/>
                  </a:solidFill>
                </a:uFill>
                <a:cs typeface="Tahoma"/>
              </a:rPr>
              <a:t>decrease </a:t>
            </a:r>
            <a:r>
              <a:rPr lang="en-US" sz="2200" spc="-55" dirty="0">
                <a:uFill>
                  <a:solidFill>
                    <a:srgbClr val="000000"/>
                  </a:solidFill>
                </a:uFill>
                <a:cs typeface="Tahoma"/>
              </a:rPr>
              <a:t>(or </a:t>
            </a:r>
            <a:r>
              <a:rPr lang="en-US" sz="2200" spc="-70" dirty="0">
                <a:uFill>
                  <a:solidFill>
                    <a:srgbClr val="000000"/>
                  </a:solidFill>
                </a:uFill>
                <a:cs typeface="Tahoma"/>
              </a:rPr>
              <a:t>increase) </a:t>
            </a:r>
            <a:r>
              <a:rPr lang="en-US" sz="2200" spc="-40" dirty="0">
                <a:uFill>
                  <a:solidFill>
                    <a:srgbClr val="000000"/>
                  </a:solidFill>
                </a:uFill>
                <a:cs typeface="Tahoma"/>
              </a:rPr>
              <a:t>in </a:t>
            </a:r>
            <a:r>
              <a:rPr lang="en-US" sz="2200" spc="-65" dirty="0">
                <a:uFill>
                  <a:solidFill>
                    <a:srgbClr val="000000"/>
                  </a:solidFill>
                </a:uFill>
                <a:cs typeface="Tahoma"/>
              </a:rPr>
              <a:t>the </a:t>
            </a:r>
            <a:r>
              <a:rPr lang="en-US" sz="2200" spc="-60" dirty="0">
                <a:uFill>
                  <a:solidFill>
                    <a:srgbClr val="000000"/>
                  </a:solidFill>
                </a:uFill>
                <a:cs typeface="Tahoma"/>
              </a:rPr>
              <a:t>other,</a:t>
            </a:r>
            <a:r>
              <a:rPr lang="en-US" sz="2200" spc="-60" dirty="0">
                <a:cs typeface="Tahoma"/>
              </a:rPr>
              <a:t> </a:t>
            </a:r>
            <a:r>
              <a:rPr lang="en-US" sz="2200" spc="-55" dirty="0">
                <a:cs typeface="Tahoma"/>
              </a:rPr>
              <a:t>correlation is </a:t>
            </a:r>
            <a:r>
              <a:rPr lang="en-US" sz="2200" spc="-70" dirty="0">
                <a:cs typeface="Tahoma"/>
              </a:rPr>
              <a:t>said </a:t>
            </a:r>
            <a:r>
              <a:rPr lang="en-US" sz="2200" spc="-20" dirty="0">
                <a:cs typeface="Tahoma"/>
              </a:rPr>
              <a:t>to  </a:t>
            </a:r>
            <a:r>
              <a:rPr lang="en-US" sz="2200" spc="-90" dirty="0">
                <a:cs typeface="Tahoma"/>
              </a:rPr>
              <a:t>be </a:t>
            </a:r>
            <a:r>
              <a:rPr lang="en-US" sz="2200" i="1" spc="-110" dirty="0">
                <a:uFill>
                  <a:solidFill>
                    <a:srgbClr val="7F007F"/>
                  </a:solidFill>
                </a:uFill>
                <a:cs typeface="Trebuchet MS"/>
              </a:rPr>
              <a:t>diverse </a:t>
            </a:r>
            <a:r>
              <a:rPr lang="en-US" sz="2200" i="1" spc="-130" dirty="0">
                <a:uFill>
                  <a:solidFill>
                    <a:srgbClr val="7F007F"/>
                  </a:solidFill>
                </a:uFill>
                <a:cs typeface="Trebuchet MS"/>
              </a:rPr>
              <a:t>or</a:t>
            </a:r>
            <a:r>
              <a:rPr lang="en-US" sz="2200" i="1" spc="-85" dirty="0">
                <a:uFill>
                  <a:solidFill>
                    <a:srgbClr val="7F007F"/>
                  </a:solidFill>
                </a:uFill>
                <a:cs typeface="Trebuchet MS"/>
              </a:rPr>
              <a:t> </a:t>
            </a:r>
            <a:r>
              <a:rPr lang="en-US" sz="2200" i="1" spc="-105" dirty="0">
                <a:uFill>
                  <a:solidFill>
                    <a:srgbClr val="7F007F"/>
                  </a:solidFill>
                </a:uFill>
                <a:cs typeface="Trebuchet MS"/>
              </a:rPr>
              <a:t>negative.</a:t>
            </a:r>
            <a:endParaRPr lang="en-US" sz="2200" dirty="0">
              <a:cs typeface="Trebuchet MS"/>
            </a:endParaRPr>
          </a:p>
          <a:p>
            <a:pPr marL="441325" marR="5080">
              <a:lnSpc>
                <a:spcPct val="102200"/>
              </a:lnSpc>
              <a:spcBef>
                <a:spcPts val="1275"/>
              </a:spcBef>
            </a:pPr>
            <a:r>
              <a:rPr lang="en-US" sz="2200" spc="-50" dirty="0">
                <a:cs typeface="Tahoma"/>
              </a:rPr>
              <a:t>For </a:t>
            </a:r>
            <a:r>
              <a:rPr lang="en-US" sz="2200" spc="-85" dirty="0">
                <a:cs typeface="Tahoma"/>
              </a:rPr>
              <a:t>example, </a:t>
            </a:r>
            <a:r>
              <a:rPr lang="en-US" sz="2200" spc="-65" dirty="0">
                <a:cs typeface="Tahoma"/>
              </a:rPr>
              <a:t>the </a:t>
            </a:r>
            <a:r>
              <a:rPr lang="en-US" sz="2200" spc="-55" dirty="0">
                <a:cs typeface="Tahoma"/>
              </a:rPr>
              <a:t>correlation </a:t>
            </a:r>
            <a:r>
              <a:rPr lang="en-US" sz="2200" spc="-105" dirty="0">
                <a:cs typeface="Tahoma"/>
              </a:rPr>
              <a:t>between </a:t>
            </a:r>
            <a:r>
              <a:rPr lang="en-US" sz="2200" b="1" spc="100" dirty="0">
                <a:cs typeface="Arial"/>
              </a:rPr>
              <a:t>(i) </a:t>
            </a:r>
            <a:r>
              <a:rPr lang="en-US" sz="2200" spc="-65" dirty="0">
                <a:uFill>
                  <a:solidFill>
                    <a:srgbClr val="0000FF"/>
                  </a:solidFill>
                </a:uFill>
                <a:cs typeface="Tahoma"/>
              </a:rPr>
              <a:t>the </a:t>
            </a:r>
            <a:r>
              <a:rPr lang="en-US" sz="2200" spc="-70" dirty="0">
                <a:uFill>
                  <a:solidFill>
                    <a:srgbClr val="0000FF"/>
                  </a:solidFill>
                </a:uFill>
                <a:cs typeface="Tahoma"/>
              </a:rPr>
              <a:t>price </a:t>
            </a:r>
            <a:r>
              <a:rPr lang="en-US" sz="2200" spc="-80" dirty="0">
                <a:uFill>
                  <a:solidFill>
                    <a:srgbClr val="0000FF"/>
                  </a:solidFill>
                </a:uFill>
                <a:cs typeface="Tahoma"/>
              </a:rPr>
              <a:t>and </a:t>
            </a:r>
            <a:r>
              <a:rPr lang="en-US" sz="2200" spc="-80" dirty="0">
                <a:cs typeface="Tahoma"/>
              </a:rPr>
              <a:t> </a:t>
            </a:r>
            <a:r>
              <a:rPr lang="en-US" sz="2200" spc="-95" dirty="0">
                <a:uFill>
                  <a:solidFill>
                    <a:srgbClr val="0000FF"/>
                  </a:solidFill>
                </a:uFill>
                <a:cs typeface="Tahoma"/>
              </a:rPr>
              <a:t>demand </a:t>
            </a:r>
            <a:r>
              <a:rPr lang="en-US" sz="2200" spc="-55" dirty="0">
                <a:uFill>
                  <a:solidFill>
                    <a:srgbClr val="0000FF"/>
                  </a:solidFill>
                </a:uFill>
                <a:cs typeface="Tahoma"/>
              </a:rPr>
              <a:t>of </a:t>
            </a:r>
            <a:r>
              <a:rPr lang="en-US" sz="2200" spc="-85" dirty="0">
                <a:uFill>
                  <a:solidFill>
                    <a:srgbClr val="0000FF"/>
                  </a:solidFill>
                </a:uFill>
                <a:cs typeface="Tahoma"/>
              </a:rPr>
              <a:t>a </a:t>
            </a:r>
            <a:r>
              <a:rPr lang="en-US" sz="2200" spc="-70" dirty="0">
                <a:uFill>
                  <a:solidFill>
                    <a:srgbClr val="0000FF"/>
                  </a:solidFill>
                </a:uFill>
                <a:cs typeface="Tahoma"/>
              </a:rPr>
              <a:t>commodity,</a:t>
            </a:r>
            <a:r>
              <a:rPr lang="en-US" sz="2200" spc="-70" dirty="0">
                <a:cs typeface="Tahoma"/>
              </a:rPr>
              <a:t> </a:t>
            </a:r>
            <a:r>
              <a:rPr lang="en-US" sz="2200" spc="-80" dirty="0">
                <a:cs typeface="Tahoma"/>
              </a:rPr>
              <a:t>and </a:t>
            </a:r>
            <a:r>
              <a:rPr lang="en-US" sz="2200" b="1" spc="65" dirty="0">
                <a:cs typeface="Arial"/>
              </a:rPr>
              <a:t>(ii) </a:t>
            </a:r>
            <a:r>
              <a:rPr lang="en-US" sz="2200" spc="-65" dirty="0">
                <a:uFill>
                  <a:solidFill>
                    <a:srgbClr val="7F007F"/>
                  </a:solidFill>
                </a:uFill>
                <a:cs typeface="Tahoma"/>
              </a:rPr>
              <a:t>the </a:t>
            </a:r>
            <a:r>
              <a:rPr lang="en-US" sz="2200" spc="-80" dirty="0">
                <a:uFill>
                  <a:solidFill>
                    <a:srgbClr val="7F007F"/>
                  </a:solidFill>
                </a:uFill>
                <a:cs typeface="Tahoma"/>
              </a:rPr>
              <a:t>volume and </a:t>
            </a:r>
            <a:r>
              <a:rPr lang="en-US" sz="2200" spc="-105" dirty="0">
                <a:uFill>
                  <a:solidFill>
                    <a:srgbClr val="7F007F"/>
                  </a:solidFill>
                </a:uFill>
                <a:cs typeface="Tahoma"/>
              </a:rPr>
              <a:t>pressure </a:t>
            </a:r>
            <a:r>
              <a:rPr lang="en-US" sz="2200" spc="-105" dirty="0">
                <a:cs typeface="Tahoma"/>
              </a:rPr>
              <a:t> </a:t>
            </a:r>
            <a:r>
              <a:rPr lang="en-US" sz="2200" spc="-55" dirty="0">
                <a:uFill>
                  <a:solidFill>
                    <a:srgbClr val="7F007F"/>
                  </a:solidFill>
                </a:uFill>
                <a:cs typeface="Tahoma"/>
              </a:rPr>
              <a:t>of </a:t>
            </a:r>
            <a:r>
              <a:rPr lang="en-US" sz="2200" spc="-85" dirty="0">
                <a:uFill>
                  <a:solidFill>
                    <a:srgbClr val="7F007F"/>
                  </a:solidFill>
                </a:uFill>
                <a:cs typeface="Tahoma"/>
              </a:rPr>
              <a:t>a </a:t>
            </a:r>
            <a:r>
              <a:rPr lang="en-US" sz="2200" spc="-55" dirty="0">
                <a:uFill>
                  <a:solidFill>
                    <a:srgbClr val="7F007F"/>
                  </a:solidFill>
                </a:uFill>
                <a:cs typeface="Tahoma"/>
              </a:rPr>
              <a:t>perfect </a:t>
            </a:r>
            <a:r>
              <a:rPr lang="en-US" sz="2200" spc="-110" dirty="0">
                <a:uFill>
                  <a:solidFill>
                    <a:srgbClr val="7F007F"/>
                  </a:solidFill>
                </a:uFill>
                <a:cs typeface="Tahoma"/>
              </a:rPr>
              <a:t>gas;</a:t>
            </a:r>
            <a:r>
              <a:rPr lang="en-US" sz="2200" spc="-110" dirty="0">
                <a:cs typeface="Tahoma"/>
              </a:rPr>
              <a:t> </a:t>
            </a:r>
            <a:r>
              <a:rPr lang="en-US" sz="2200" spc="-55" dirty="0">
                <a:cs typeface="Tahoma"/>
              </a:rPr>
              <a:t>is</a:t>
            </a:r>
            <a:r>
              <a:rPr lang="en-US" sz="2200" spc="25" dirty="0">
                <a:cs typeface="Tahoma"/>
              </a:rPr>
              <a:t> </a:t>
            </a:r>
            <a:r>
              <a:rPr lang="en-US" sz="2200" spc="-70" dirty="0">
                <a:cs typeface="Tahoma"/>
              </a:rPr>
              <a:t>negative.</a:t>
            </a:r>
            <a:endParaRPr lang="en-US" sz="2200" dirty="0">
              <a:cs typeface="Tahoma"/>
            </a:endParaRPr>
          </a:p>
          <a:p>
            <a:pPr>
              <a:buFont typeface="Wingdings" pitchFamily="2" charset="2"/>
              <a:buChar char="Ø"/>
            </a:pPr>
            <a:r>
              <a:rPr lang="en-US" sz="2200" b="1" spc="-70" dirty="0">
                <a:cs typeface="Tahoma"/>
              </a:rPr>
              <a:t>Perfect Correlation:</a:t>
            </a:r>
          </a:p>
          <a:p>
            <a:pPr marL="12700" marR="5080">
              <a:lnSpc>
                <a:spcPct val="102200"/>
              </a:lnSpc>
              <a:spcBef>
                <a:spcPts val="1110"/>
              </a:spcBef>
            </a:pPr>
            <a:r>
              <a:rPr lang="en-US" sz="2200" spc="-45" dirty="0">
                <a:cs typeface="Tahoma"/>
              </a:rPr>
              <a:t>Correlation </a:t>
            </a:r>
            <a:r>
              <a:rPr lang="en-US" sz="2200" spc="-55" dirty="0">
                <a:cs typeface="Tahoma"/>
              </a:rPr>
              <a:t>is </a:t>
            </a:r>
            <a:r>
              <a:rPr lang="en-US" sz="2200" spc="-70" dirty="0">
                <a:cs typeface="Tahoma"/>
              </a:rPr>
              <a:t>said </a:t>
            </a:r>
            <a:r>
              <a:rPr lang="en-US" sz="2200" spc="-20" dirty="0">
                <a:cs typeface="Tahoma"/>
              </a:rPr>
              <a:t>to </a:t>
            </a:r>
            <a:r>
              <a:rPr lang="en-US" sz="2200" spc="-90" dirty="0">
                <a:cs typeface="Tahoma"/>
              </a:rPr>
              <a:t>be </a:t>
            </a:r>
            <a:r>
              <a:rPr lang="en-US" sz="2200" spc="-55" dirty="0">
                <a:uFill>
                  <a:solidFill>
                    <a:srgbClr val="FF0000"/>
                  </a:solidFill>
                </a:uFill>
                <a:cs typeface="Tahoma"/>
              </a:rPr>
              <a:t>perfect</a:t>
            </a:r>
            <a:r>
              <a:rPr lang="en-US" sz="2200" spc="-55" dirty="0">
                <a:cs typeface="Tahoma"/>
              </a:rPr>
              <a:t> </a:t>
            </a:r>
            <a:r>
              <a:rPr lang="en-US" sz="2200" spc="-10" dirty="0">
                <a:uFill>
                  <a:solidFill>
                    <a:srgbClr val="0000FF"/>
                  </a:solidFill>
                </a:uFill>
                <a:cs typeface="Tahoma"/>
              </a:rPr>
              <a:t>if </a:t>
            </a:r>
            <a:r>
              <a:rPr lang="en-US" sz="2200" spc="-65" dirty="0">
                <a:uFill>
                  <a:solidFill>
                    <a:srgbClr val="0000FF"/>
                  </a:solidFill>
                </a:uFill>
                <a:cs typeface="Tahoma"/>
              </a:rPr>
              <a:t>the </a:t>
            </a:r>
            <a:r>
              <a:rPr lang="en-US" sz="2200" spc="-55" dirty="0">
                <a:uFill>
                  <a:solidFill>
                    <a:srgbClr val="0000FF"/>
                  </a:solidFill>
                </a:uFill>
                <a:cs typeface="Tahoma"/>
              </a:rPr>
              <a:t>deviation </a:t>
            </a:r>
            <a:r>
              <a:rPr lang="en-US" sz="2200" spc="-40" dirty="0">
                <a:uFill>
                  <a:solidFill>
                    <a:srgbClr val="0000FF"/>
                  </a:solidFill>
                </a:uFill>
                <a:cs typeface="Tahoma"/>
              </a:rPr>
              <a:t>in </a:t>
            </a:r>
            <a:r>
              <a:rPr lang="en-US" sz="2200" spc="-105" dirty="0">
                <a:uFill>
                  <a:solidFill>
                    <a:srgbClr val="0000FF"/>
                  </a:solidFill>
                </a:uFill>
                <a:cs typeface="Tahoma"/>
              </a:rPr>
              <a:t>one </a:t>
            </a:r>
            <a:r>
              <a:rPr lang="en-US" sz="2200" spc="-70" dirty="0">
                <a:uFill>
                  <a:solidFill>
                    <a:srgbClr val="0000FF"/>
                  </a:solidFill>
                </a:uFill>
                <a:cs typeface="Tahoma"/>
              </a:rPr>
              <a:t>variable </a:t>
            </a:r>
            <a:r>
              <a:rPr lang="en-US" sz="2200" spc="-70" dirty="0">
                <a:cs typeface="Tahoma"/>
              </a:rPr>
              <a:t> </a:t>
            </a:r>
            <a:r>
              <a:rPr lang="en-US" sz="2200" spc="-55" dirty="0">
                <a:cs typeface="Tahoma"/>
              </a:rPr>
              <a:t>is </a:t>
            </a:r>
            <a:r>
              <a:rPr lang="en-US" sz="2200" spc="-75" dirty="0">
                <a:cs typeface="Tahoma"/>
              </a:rPr>
              <a:t>followed </a:t>
            </a:r>
            <a:r>
              <a:rPr lang="en-US" sz="2200" spc="-100" dirty="0">
                <a:cs typeface="Tahoma"/>
              </a:rPr>
              <a:t>by </a:t>
            </a:r>
            <a:r>
              <a:rPr lang="en-US" sz="2200" spc="-85" dirty="0">
                <a:cs typeface="Tahoma"/>
              </a:rPr>
              <a:t>a </a:t>
            </a:r>
            <a:r>
              <a:rPr lang="en-US" sz="2200" spc="-75" dirty="0">
                <a:cs typeface="Tahoma"/>
              </a:rPr>
              <a:t>corresponding </a:t>
            </a:r>
            <a:r>
              <a:rPr lang="en-US" sz="2200" spc="-80" dirty="0">
                <a:cs typeface="Tahoma"/>
              </a:rPr>
              <a:t>and </a:t>
            </a:r>
            <a:r>
              <a:rPr lang="en-US" sz="2200" spc="-55" dirty="0">
                <a:cs typeface="Tahoma"/>
              </a:rPr>
              <a:t>proportional deviation </a:t>
            </a:r>
            <a:r>
              <a:rPr lang="en-US" sz="2200" spc="-40" dirty="0">
                <a:cs typeface="Tahoma"/>
              </a:rPr>
              <a:t>in  </a:t>
            </a:r>
            <a:r>
              <a:rPr lang="en-US" sz="2200" spc="-65" dirty="0">
                <a:uFill>
                  <a:solidFill>
                    <a:srgbClr val="0000FF"/>
                  </a:solidFill>
                </a:uFill>
                <a:cs typeface="Tahoma"/>
              </a:rPr>
              <a:t>the</a:t>
            </a:r>
            <a:r>
              <a:rPr lang="en-US" sz="2200" spc="25" dirty="0">
                <a:uFill>
                  <a:solidFill>
                    <a:srgbClr val="0000FF"/>
                  </a:solidFill>
                </a:uFill>
                <a:cs typeface="Tahoma"/>
              </a:rPr>
              <a:t> </a:t>
            </a:r>
            <a:r>
              <a:rPr lang="en-US" sz="2200" spc="-60" dirty="0">
                <a:uFill>
                  <a:solidFill>
                    <a:srgbClr val="0000FF"/>
                  </a:solidFill>
                </a:uFill>
                <a:cs typeface="Tahoma"/>
              </a:rPr>
              <a:t>other.</a:t>
            </a:r>
            <a:endParaRPr lang="en-US" sz="2200" dirty="0">
              <a:cs typeface="Tahoma"/>
            </a:endParaRP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9438514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nSpc>
                    <a:spcPct val="100000"/>
                  </a:lnSpc>
                  <a:spcBef>
                    <a:spcPts val="1245"/>
                  </a:spcBef>
                  <a:buNone/>
                </a:pPr>
                <a:r>
                  <a:rPr lang="en-US" sz="2200" b="1" spc="-55" dirty="0">
                    <a:uFill>
                      <a:solidFill>
                        <a:srgbClr val="FF0000"/>
                      </a:solidFill>
                    </a:uFill>
                    <a:cs typeface="Tahoma"/>
                  </a:rPr>
                  <a:t>Correlation Coefficient:</a:t>
                </a:r>
              </a:p>
              <a:p>
                <a:pPr marL="0" marR="5080" indent="0">
                  <a:lnSpc>
                    <a:spcPct val="102200"/>
                  </a:lnSpc>
                  <a:spcBef>
                    <a:spcPts val="1110"/>
                  </a:spcBef>
                  <a:buNone/>
                </a:pPr>
                <a:r>
                  <a:rPr lang="en-US" sz="2200" spc="-25" dirty="0">
                    <a:solidFill>
                      <a:schemeClr val="tx1"/>
                    </a:solidFill>
                    <a:cs typeface="Tahoma"/>
                  </a:rPr>
                  <a:t>	The </a:t>
                </a:r>
                <a:r>
                  <a:rPr lang="en-US" sz="2200" spc="-55" dirty="0">
                    <a:solidFill>
                      <a:schemeClr val="tx1"/>
                    </a:solidFill>
                    <a:uFill>
                      <a:solidFill>
                        <a:srgbClr val="FF0000"/>
                      </a:solidFill>
                    </a:uFill>
                    <a:cs typeface="Tahoma"/>
                  </a:rPr>
                  <a:t>correlation </a:t>
                </a:r>
                <a:r>
                  <a:rPr lang="en-US" sz="2200" spc="-50" dirty="0">
                    <a:solidFill>
                      <a:schemeClr val="tx1"/>
                    </a:solidFill>
                    <a:uFill>
                      <a:solidFill>
                        <a:srgbClr val="FF0000"/>
                      </a:solidFill>
                    </a:uFill>
                    <a:cs typeface="Tahoma"/>
                  </a:rPr>
                  <a:t>coefficient</a:t>
                </a:r>
                <a:r>
                  <a:rPr lang="en-US" sz="2200" spc="-50" dirty="0">
                    <a:solidFill>
                      <a:schemeClr val="tx1"/>
                    </a:solidFill>
                    <a:cs typeface="Tahoma"/>
                  </a:rPr>
                  <a:t> </a:t>
                </a:r>
                <a:r>
                  <a:rPr lang="en-US" sz="2200" spc="-100" dirty="0">
                    <a:solidFill>
                      <a:schemeClr val="tx1"/>
                    </a:solidFill>
                    <a:cs typeface="Tahoma"/>
                  </a:rPr>
                  <a:t>due </a:t>
                </a:r>
                <a:r>
                  <a:rPr lang="en-US" sz="2200" spc="-20" dirty="0">
                    <a:solidFill>
                      <a:schemeClr val="tx1"/>
                    </a:solidFill>
                    <a:cs typeface="Tahoma"/>
                  </a:rPr>
                  <a:t>to </a:t>
                </a:r>
                <a:r>
                  <a:rPr lang="en-US" sz="2200" spc="-5" dirty="0">
                    <a:solidFill>
                      <a:schemeClr val="tx1"/>
                    </a:solidFill>
                    <a:cs typeface="Tahoma"/>
                  </a:rPr>
                  <a:t>Karl </a:t>
                </a:r>
                <a:r>
                  <a:rPr lang="en-US" sz="2200" spc="-75" dirty="0">
                    <a:solidFill>
                      <a:schemeClr val="tx1"/>
                    </a:solidFill>
                    <a:cs typeface="Tahoma"/>
                  </a:rPr>
                  <a:t>Pearson </a:t>
                </a:r>
                <a:r>
                  <a:rPr lang="en-US" sz="2200" spc="-55" dirty="0">
                    <a:solidFill>
                      <a:schemeClr val="tx1"/>
                    </a:solidFill>
                    <a:cs typeface="Tahoma"/>
                  </a:rPr>
                  <a:t>is </a:t>
                </a:r>
                <a:r>
                  <a:rPr lang="en-US" sz="2200" spc="-80" dirty="0">
                    <a:solidFill>
                      <a:schemeClr val="tx1"/>
                    </a:solidFill>
                    <a:cs typeface="Tahoma"/>
                  </a:rPr>
                  <a:t>defined </a:t>
                </a:r>
                <a:r>
                  <a:rPr lang="en-US" sz="2200" spc="-100" dirty="0">
                    <a:solidFill>
                      <a:schemeClr val="tx1"/>
                    </a:solidFill>
                    <a:cs typeface="Tahoma"/>
                  </a:rPr>
                  <a:t>as </a:t>
                </a:r>
                <a:r>
                  <a:rPr lang="en-US" sz="2200" spc="-85" dirty="0">
                    <a:solidFill>
                      <a:schemeClr val="tx1"/>
                    </a:solidFill>
                    <a:uFill>
                      <a:solidFill>
                        <a:srgbClr val="0000FF"/>
                      </a:solidFill>
                    </a:uFill>
                    <a:cs typeface="Tahoma"/>
                  </a:rPr>
                  <a:t>a </a:t>
                </a:r>
                <a:r>
                  <a:rPr lang="en-US" sz="2200" spc="-85" dirty="0">
                    <a:solidFill>
                      <a:schemeClr val="tx1"/>
                    </a:solidFill>
                    <a:cs typeface="Tahoma"/>
                  </a:rPr>
                  <a:t> </a:t>
                </a:r>
                <a:r>
                  <a:rPr lang="en-US" sz="2200" spc="-100" dirty="0">
                    <a:solidFill>
                      <a:schemeClr val="tx1"/>
                    </a:solidFill>
                    <a:cs typeface="Tahoma"/>
                  </a:rPr>
                  <a:t>measure </a:t>
                </a:r>
                <a:r>
                  <a:rPr lang="en-US" sz="2200" spc="-55" dirty="0">
                    <a:solidFill>
                      <a:schemeClr val="tx1"/>
                    </a:solidFill>
                    <a:cs typeface="Tahoma"/>
                  </a:rPr>
                  <a:t>of intensity </a:t>
                </a:r>
                <a:r>
                  <a:rPr lang="en-US" sz="2200" spc="-85" dirty="0">
                    <a:solidFill>
                      <a:schemeClr val="tx1"/>
                    </a:solidFill>
                    <a:cs typeface="Tahoma"/>
                  </a:rPr>
                  <a:t>or </a:t>
                </a:r>
                <a:r>
                  <a:rPr lang="en-US" sz="2200" spc="-110" dirty="0">
                    <a:solidFill>
                      <a:schemeClr val="tx1"/>
                    </a:solidFill>
                    <a:cs typeface="Tahoma"/>
                  </a:rPr>
                  <a:t>degree </a:t>
                </a:r>
                <a:r>
                  <a:rPr lang="en-US" sz="2200" spc="-55" dirty="0">
                    <a:solidFill>
                      <a:schemeClr val="tx1"/>
                    </a:solidFill>
                    <a:cs typeface="Tahoma"/>
                  </a:rPr>
                  <a:t>of </a:t>
                </a:r>
                <a:r>
                  <a:rPr lang="en-US" sz="2200" spc="-65" dirty="0">
                    <a:solidFill>
                      <a:schemeClr val="tx1"/>
                    </a:solidFill>
                    <a:cs typeface="Tahoma"/>
                  </a:rPr>
                  <a:t>linear </a:t>
                </a:r>
                <a:r>
                  <a:rPr lang="en-US" sz="2200" spc="-55" dirty="0">
                    <a:solidFill>
                      <a:schemeClr val="tx1"/>
                    </a:solidFill>
                    <a:cs typeface="Tahoma"/>
                  </a:rPr>
                  <a:t>relationship </a:t>
                </a:r>
                <a:r>
                  <a:rPr lang="en-US" sz="2200" spc="-105" dirty="0">
                    <a:solidFill>
                      <a:schemeClr val="tx1"/>
                    </a:solidFill>
                    <a:cs typeface="Tahoma"/>
                  </a:rPr>
                  <a:t>between  </a:t>
                </a:r>
                <a:r>
                  <a:rPr lang="en-US" sz="2200" spc="-85" dirty="0">
                    <a:solidFill>
                      <a:schemeClr val="tx1"/>
                    </a:solidFill>
                    <a:uFill>
                      <a:solidFill>
                        <a:srgbClr val="0000FF"/>
                      </a:solidFill>
                    </a:uFill>
                    <a:cs typeface="Tahoma"/>
                  </a:rPr>
                  <a:t>two</a:t>
                </a:r>
                <a:r>
                  <a:rPr lang="en-US" sz="2200" spc="25" dirty="0">
                    <a:solidFill>
                      <a:schemeClr val="tx1"/>
                    </a:solidFill>
                    <a:uFill>
                      <a:solidFill>
                        <a:srgbClr val="0000FF"/>
                      </a:solidFill>
                    </a:uFill>
                    <a:cs typeface="Tahoma"/>
                  </a:rPr>
                  <a:t> </a:t>
                </a:r>
                <a:r>
                  <a:rPr lang="en-US" sz="2200" spc="-70" dirty="0">
                    <a:solidFill>
                      <a:schemeClr val="tx1"/>
                    </a:solidFill>
                    <a:uFill>
                      <a:solidFill>
                        <a:srgbClr val="0000FF"/>
                      </a:solidFill>
                    </a:uFill>
                    <a:cs typeface="Tahoma"/>
                  </a:rPr>
                  <a:t>variables.</a:t>
                </a:r>
                <a:endParaRPr lang="en-US" sz="2200" dirty="0">
                  <a:solidFill>
                    <a:schemeClr val="tx1"/>
                  </a:solidFill>
                  <a:cs typeface="Tahoma"/>
                </a:endParaRPr>
              </a:p>
              <a:p>
                <a:pPr marL="0" indent="0">
                  <a:buNone/>
                </a:pPr>
                <a:r>
                  <a:rPr lang="en-US" sz="2200" b="1" spc="-5" dirty="0">
                    <a:cs typeface="Tahoma"/>
                  </a:rPr>
                  <a:t>Karl Pearson’s Correlation  Coefficient</a:t>
                </a:r>
              </a:p>
              <a:p>
                <a:pPr marL="0" marR="55880" indent="0">
                  <a:lnSpc>
                    <a:spcPct val="102200"/>
                  </a:lnSpc>
                  <a:spcBef>
                    <a:spcPts val="1110"/>
                  </a:spcBef>
                  <a:buNone/>
                </a:pPr>
                <a:r>
                  <a:rPr lang="en-US" sz="2200" spc="-5" dirty="0">
                    <a:solidFill>
                      <a:schemeClr val="tx1"/>
                    </a:solidFill>
                    <a:cs typeface="Tahoma"/>
                  </a:rPr>
                  <a:t>	Karl </a:t>
                </a:r>
                <a:r>
                  <a:rPr lang="en-US" sz="2200" spc="-60" dirty="0">
                    <a:solidFill>
                      <a:schemeClr val="tx1"/>
                    </a:solidFill>
                    <a:cs typeface="Tahoma"/>
                  </a:rPr>
                  <a:t>Pearson’s </a:t>
                </a:r>
                <a:r>
                  <a:rPr lang="en-US" sz="2200" spc="-55" dirty="0">
                    <a:solidFill>
                      <a:schemeClr val="tx1"/>
                    </a:solidFill>
                    <a:cs typeface="Tahoma"/>
                  </a:rPr>
                  <a:t>correlation </a:t>
                </a:r>
                <a:r>
                  <a:rPr lang="en-US" sz="2200" spc="-50" dirty="0">
                    <a:solidFill>
                      <a:schemeClr val="tx1"/>
                    </a:solidFill>
                    <a:cs typeface="Tahoma"/>
                  </a:rPr>
                  <a:t>coefficient </a:t>
                </a:r>
                <a:r>
                  <a:rPr lang="en-US" sz="2200" spc="-105" dirty="0">
                    <a:solidFill>
                      <a:schemeClr val="tx1"/>
                    </a:solidFill>
                    <a:cs typeface="Tahoma"/>
                  </a:rPr>
                  <a:t>between </a:t>
                </a:r>
                <a:r>
                  <a:rPr lang="en-US" sz="2200" spc="-85" dirty="0">
                    <a:solidFill>
                      <a:schemeClr val="tx1"/>
                    </a:solidFill>
                    <a:cs typeface="Tahoma"/>
                  </a:rPr>
                  <a:t>two </a:t>
                </a:r>
                <a:r>
                  <a:rPr lang="en-US" sz="2200" spc="-75" dirty="0">
                    <a:solidFill>
                      <a:schemeClr val="tx1"/>
                    </a:solidFill>
                    <a:cs typeface="Tahoma"/>
                  </a:rPr>
                  <a:t>variables </a:t>
                </a:r>
                <a:r>
                  <a:rPr lang="en-US" sz="2200" i="1" spc="170" dirty="0">
                    <a:solidFill>
                      <a:schemeClr val="tx1"/>
                    </a:solidFill>
                    <a:cs typeface="Trebuchet MS"/>
                  </a:rPr>
                  <a:t>X  </a:t>
                </a:r>
                <a:r>
                  <a:rPr lang="en-US" sz="2200" spc="-80" dirty="0">
                    <a:solidFill>
                      <a:schemeClr val="tx1"/>
                    </a:solidFill>
                    <a:cs typeface="Tahoma"/>
                  </a:rPr>
                  <a:t>and </a:t>
                </a:r>
                <a:r>
                  <a:rPr lang="en-US" sz="2200" i="1" spc="145" dirty="0">
                    <a:solidFill>
                      <a:schemeClr val="tx1"/>
                    </a:solidFill>
                    <a:cs typeface="Trebuchet MS"/>
                  </a:rPr>
                  <a:t>Y </a:t>
                </a:r>
                <a:r>
                  <a:rPr lang="en-US" sz="2200" spc="-50" dirty="0">
                    <a:solidFill>
                      <a:schemeClr val="tx1"/>
                    </a:solidFill>
                    <a:cs typeface="Tahoma"/>
                  </a:rPr>
                  <a:t>, </a:t>
                </a:r>
                <a:r>
                  <a:rPr lang="en-US" sz="2200" spc="-55" dirty="0">
                    <a:solidFill>
                      <a:schemeClr val="tx1"/>
                    </a:solidFill>
                    <a:cs typeface="Tahoma"/>
                  </a:rPr>
                  <a:t>is </a:t>
                </a:r>
                <a:r>
                  <a:rPr lang="en-US" sz="2200" spc="-80" dirty="0">
                    <a:solidFill>
                      <a:schemeClr val="tx1"/>
                    </a:solidFill>
                    <a:cs typeface="Tahoma"/>
                  </a:rPr>
                  <a:t>denoted </a:t>
                </a:r>
                <a:r>
                  <a:rPr lang="en-US" sz="2200" spc="-100" dirty="0">
                    <a:solidFill>
                      <a:schemeClr val="tx1"/>
                    </a:solidFill>
                    <a:cs typeface="Tahoma"/>
                  </a:rPr>
                  <a:t>by </a:t>
                </a:r>
                <a:r>
                  <a:rPr lang="en-US" sz="2200" i="1" spc="-140" dirty="0">
                    <a:solidFill>
                      <a:schemeClr val="tx1"/>
                    </a:solidFill>
                    <a:cs typeface="Trebuchet MS"/>
                  </a:rPr>
                  <a:t>r </a:t>
                </a:r>
                <a:r>
                  <a:rPr lang="en-US" sz="2200" spc="80" dirty="0">
                    <a:solidFill>
                      <a:schemeClr val="tx1"/>
                    </a:solidFill>
                    <a:cs typeface="Tahoma"/>
                  </a:rPr>
                  <a:t>(</a:t>
                </a:r>
                <a:r>
                  <a:rPr lang="en-US" sz="2200" i="1" spc="80" dirty="0">
                    <a:solidFill>
                      <a:schemeClr val="tx1"/>
                    </a:solidFill>
                    <a:cs typeface="Trebuchet MS"/>
                  </a:rPr>
                  <a:t>X</a:t>
                </a:r>
                <a:r>
                  <a:rPr lang="en-US" sz="2200" i="1" spc="80" dirty="0">
                    <a:solidFill>
                      <a:schemeClr val="tx1"/>
                    </a:solidFill>
                    <a:cs typeface="Verdana"/>
                  </a:rPr>
                  <a:t>, </a:t>
                </a:r>
                <a:r>
                  <a:rPr lang="en-US" sz="2200" i="1" spc="145" dirty="0">
                    <a:solidFill>
                      <a:schemeClr val="tx1"/>
                    </a:solidFill>
                    <a:cs typeface="Trebuchet MS"/>
                  </a:rPr>
                  <a:t>Y </a:t>
                </a:r>
                <a:r>
                  <a:rPr lang="en-US" sz="2200" spc="5" dirty="0">
                    <a:solidFill>
                      <a:schemeClr val="tx1"/>
                    </a:solidFill>
                    <a:cs typeface="Tahoma"/>
                  </a:rPr>
                  <a:t>) </a:t>
                </a:r>
                <a:r>
                  <a:rPr lang="en-US" sz="2200" spc="-85" dirty="0">
                    <a:solidFill>
                      <a:schemeClr val="tx1"/>
                    </a:solidFill>
                    <a:cs typeface="Tahoma"/>
                  </a:rPr>
                  <a:t>or </a:t>
                </a:r>
                <a:r>
                  <a:rPr lang="en-US" sz="2200" i="1" spc="-15" dirty="0" err="1">
                    <a:solidFill>
                      <a:schemeClr val="tx1"/>
                    </a:solidFill>
                    <a:cs typeface="Trebuchet MS"/>
                  </a:rPr>
                  <a:t>r</a:t>
                </a:r>
                <a:r>
                  <a:rPr lang="en-US" sz="2200" i="1" spc="-22" baseline="-12077" dirty="0" err="1">
                    <a:solidFill>
                      <a:schemeClr val="tx1"/>
                    </a:solidFill>
                    <a:cs typeface="Arial"/>
                  </a:rPr>
                  <a:t>XY</a:t>
                </a:r>
                <a:r>
                  <a:rPr lang="en-US" sz="2200" i="1" spc="-22" baseline="-12077" dirty="0">
                    <a:solidFill>
                      <a:schemeClr val="tx1"/>
                    </a:solidFill>
                    <a:cs typeface="Arial"/>
                  </a:rPr>
                  <a:t> </a:t>
                </a:r>
                <a:r>
                  <a:rPr lang="en-US" sz="2200" spc="-50" dirty="0">
                    <a:solidFill>
                      <a:schemeClr val="tx1"/>
                    </a:solidFill>
                    <a:cs typeface="Tahoma"/>
                  </a:rPr>
                  <a:t>, </a:t>
                </a:r>
                <a:r>
                  <a:rPr lang="en-US" sz="2200" spc="-55" dirty="0">
                    <a:solidFill>
                      <a:schemeClr val="tx1"/>
                    </a:solidFill>
                    <a:cs typeface="Tahoma"/>
                  </a:rPr>
                  <a:t>is </a:t>
                </a:r>
                <a:r>
                  <a:rPr lang="en-US" sz="2200" spc="-85" dirty="0">
                    <a:solidFill>
                      <a:schemeClr val="tx1"/>
                    </a:solidFill>
                    <a:cs typeface="Tahoma"/>
                  </a:rPr>
                  <a:t>a </a:t>
                </a:r>
                <a:r>
                  <a:rPr lang="en-US" sz="2200" spc="-100" dirty="0">
                    <a:solidFill>
                      <a:schemeClr val="tx1"/>
                    </a:solidFill>
                    <a:cs typeface="Tahoma"/>
                  </a:rPr>
                  <a:t>measure </a:t>
                </a:r>
                <a:r>
                  <a:rPr lang="en-US" sz="2200" spc="-55" dirty="0">
                    <a:solidFill>
                      <a:schemeClr val="tx1"/>
                    </a:solidFill>
                    <a:cs typeface="Tahoma"/>
                  </a:rPr>
                  <a:t>of </a:t>
                </a:r>
                <a:r>
                  <a:rPr lang="en-US" sz="2200" i="1" spc="-130" dirty="0">
                    <a:solidFill>
                      <a:schemeClr val="tx1"/>
                    </a:solidFill>
                    <a:uFill>
                      <a:solidFill>
                        <a:srgbClr val="0000FF"/>
                      </a:solidFill>
                    </a:uFill>
                    <a:cs typeface="Trebuchet MS"/>
                  </a:rPr>
                  <a:t>linear </a:t>
                </a:r>
                <a:r>
                  <a:rPr lang="en-US" sz="2200" i="1" spc="-130" dirty="0">
                    <a:solidFill>
                      <a:schemeClr val="tx1"/>
                    </a:solidFill>
                    <a:cs typeface="Trebuchet MS"/>
                  </a:rPr>
                  <a:t> </a:t>
                </a:r>
                <a:r>
                  <a:rPr lang="en-US" sz="2200" i="1" spc="-105" dirty="0">
                    <a:solidFill>
                      <a:schemeClr val="tx1"/>
                    </a:solidFill>
                    <a:uFill>
                      <a:solidFill>
                        <a:srgbClr val="0000FF"/>
                      </a:solidFill>
                    </a:uFill>
                    <a:cs typeface="Trebuchet MS"/>
                  </a:rPr>
                  <a:t>relationship</a:t>
                </a:r>
                <a:r>
                  <a:rPr lang="en-US" sz="2200" i="1" spc="-105" dirty="0">
                    <a:solidFill>
                      <a:schemeClr val="tx1"/>
                    </a:solidFill>
                    <a:cs typeface="Trebuchet MS"/>
                  </a:rPr>
                  <a:t> </a:t>
                </a:r>
                <a:r>
                  <a:rPr lang="en-US" sz="2200" spc="-105" dirty="0">
                    <a:solidFill>
                      <a:schemeClr val="tx1"/>
                    </a:solidFill>
                    <a:cs typeface="Tahoma"/>
                  </a:rPr>
                  <a:t>between </a:t>
                </a:r>
                <a:r>
                  <a:rPr lang="en-US" sz="2200" spc="-70" dirty="0">
                    <a:solidFill>
                      <a:schemeClr val="tx1"/>
                    </a:solidFill>
                    <a:cs typeface="Tahoma"/>
                  </a:rPr>
                  <a:t>them </a:t>
                </a:r>
                <a:r>
                  <a:rPr lang="en-US" sz="2200" spc="-80" dirty="0">
                    <a:solidFill>
                      <a:schemeClr val="tx1"/>
                    </a:solidFill>
                    <a:cs typeface="Tahoma"/>
                  </a:rPr>
                  <a:t>and </a:t>
                </a:r>
                <a:r>
                  <a:rPr lang="en-US" sz="2200" spc="-55" dirty="0">
                    <a:solidFill>
                      <a:schemeClr val="tx1"/>
                    </a:solidFill>
                    <a:cs typeface="Tahoma"/>
                  </a:rPr>
                  <a:t>is </a:t>
                </a:r>
                <a:r>
                  <a:rPr lang="en-US" sz="2200" spc="-80" dirty="0">
                    <a:solidFill>
                      <a:schemeClr val="tx1"/>
                    </a:solidFill>
                    <a:cs typeface="Tahoma"/>
                  </a:rPr>
                  <a:t>defined</a:t>
                </a:r>
                <a:r>
                  <a:rPr lang="en-US" sz="2200" spc="-225" dirty="0">
                    <a:solidFill>
                      <a:schemeClr val="tx1"/>
                    </a:solidFill>
                    <a:cs typeface="Tahoma"/>
                  </a:rPr>
                  <a:t> </a:t>
                </a:r>
                <a:r>
                  <a:rPr lang="en-US" sz="2200" spc="-110" dirty="0">
                    <a:solidFill>
                      <a:schemeClr val="tx1"/>
                    </a:solidFill>
                    <a:cs typeface="Tahoma"/>
                  </a:rPr>
                  <a:t>as:</a:t>
                </a:r>
                <a:endParaRPr lang="en-US" sz="2200" dirty="0">
                  <a:solidFill>
                    <a:schemeClr val="tx1"/>
                  </a:solidFill>
                  <a:cs typeface="Tahoma"/>
                </a:endParaRPr>
              </a:p>
              <a:p>
                <a:pPr marL="400050" lvl="1" indent="0">
                  <a:buNone/>
                </a:pPr>
                <a:r>
                  <a:rPr lang="en-US" sz="2200" i="1" spc="-140" dirty="0">
                    <a:solidFill>
                      <a:schemeClr val="tx1"/>
                    </a:solidFill>
                    <a:cs typeface="Trebuchet MS"/>
                  </a:rPr>
                  <a:t>r</a:t>
                </a:r>
                <a:r>
                  <a:rPr lang="en-US" sz="2200" i="1" spc="-340" dirty="0">
                    <a:solidFill>
                      <a:schemeClr val="tx1"/>
                    </a:solidFill>
                    <a:cs typeface="Trebuchet MS"/>
                  </a:rPr>
                  <a:t> </a:t>
                </a:r>
                <a:r>
                  <a:rPr lang="en-US" sz="2200" spc="80" dirty="0">
                    <a:solidFill>
                      <a:schemeClr val="tx1"/>
                    </a:solidFill>
                    <a:cs typeface="Tahoma"/>
                  </a:rPr>
                  <a:t>(</a:t>
                </a:r>
                <a:r>
                  <a:rPr lang="en-US" sz="2200" i="1" spc="80" dirty="0">
                    <a:solidFill>
                      <a:schemeClr val="tx1"/>
                    </a:solidFill>
                    <a:cs typeface="Trebuchet MS"/>
                  </a:rPr>
                  <a:t>X</a:t>
                </a:r>
                <a:r>
                  <a:rPr lang="en-US" sz="2200" i="1" spc="80" dirty="0">
                    <a:solidFill>
                      <a:schemeClr val="tx1"/>
                    </a:solidFill>
                    <a:cs typeface="Verdana"/>
                  </a:rPr>
                  <a:t>,</a:t>
                </a:r>
                <a:r>
                  <a:rPr lang="en-US" sz="2200" i="1" spc="-325" dirty="0">
                    <a:solidFill>
                      <a:schemeClr val="tx1"/>
                    </a:solidFill>
                    <a:cs typeface="Verdana"/>
                  </a:rPr>
                  <a:t> </a:t>
                </a:r>
                <a:r>
                  <a:rPr lang="en-US" sz="2200" i="1" spc="145" dirty="0">
                    <a:solidFill>
                      <a:schemeClr val="tx1"/>
                    </a:solidFill>
                    <a:cs typeface="Trebuchet MS"/>
                  </a:rPr>
                  <a:t>Y</a:t>
                </a:r>
                <a:r>
                  <a:rPr lang="en-US" sz="2200" i="1" spc="-235" dirty="0">
                    <a:solidFill>
                      <a:schemeClr val="tx1"/>
                    </a:solidFill>
                    <a:cs typeface="Trebuchet MS"/>
                  </a:rPr>
                  <a:t> </a:t>
                </a:r>
                <a:r>
                  <a:rPr lang="en-US" sz="2200" spc="5" dirty="0">
                    <a:solidFill>
                      <a:schemeClr val="tx1"/>
                    </a:solidFill>
                    <a:cs typeface="Tahoma"/>
                  </a:rPr>
                  <a:t>)</a:t>
                </a:r>
                <a:r>
                  <a:rPr lang="en-US" sz="2200" spc="-85" dirty="0">
                    <a:solidFill>
                      <a:schemeClr val="tx1"/>
                    </a:solidFill>
                    <a:cs typeface="Tahoma"/>
                  </a:rPr>
                  <a:t> </a:t>
                </a:r>
                <a:r>
                  <a:rPr lang="en-US" sz="2200" spc="75" dirty="0">
                    <a:solidFill>
                      <a:schemeClr val="tx1"/>
                    </a:solidFill>
                    <a:cs typeface="Tahoma"/>
                  </a:rPr>
                  <a:t>=</a:t>
                </a:r>
                <a14:m>
                  <m:oMath xmlns:m="http://schemas.openxmlformats.org/officeDocument/2006/math">
                    <m:f>
                      <m:fPr>
                        <m:ctrlPr>
                          <a:rPr lang="en-US" sz="2200" i="1">
                            <a:solidFill>
                              <a:schemeClr val="tx1"/>
                            </a:solidFill>
                            <a:latin typeface="Cambria Math" panose="02040503050406030204" pitchFamily="18" charset="0"/>
                          </a:rPr>
                        </m:ctrlPr>
                      </m:fPr>
                      <m:num>
                        <m:r>
                          <a:rPr lang="en-US" sz="2200" b="0" i="1" smtClean="0">
                            <a:solidFill>
                              <a:schemeClr val="tx1"/>
                            </a:solidFill>
                            <a:latin typeface="Cambria Math"/>
                          </a:rPr>
                          <m:t>𝐶𝑜𝑣</m:t>
                        </m:r>
                        <m:r>
                          <a:rPr lang="en-US" sz="2200" b="0" i="1" smtClean="0">
                            <a:solidFill>
                              <a:schemeClr val="tx1"/>
                            </a:solidFill>
                            <a:latin typeface="Cambria Math"/>
                          </a:rPr>
                          <m:t>(</m:t>
                        </m:r>
                        <m:r>
                          <a:rPr lang="en-US" sz="2200" b="0" i="1" smtClean="0">
                            <a:solidFill>
                              <a:schemeClr val="tx1"/>
                            </a:solidFill>
                            <a:latin typeface="Cambria Math"/>
                          </a:rPr>
                          <m:t>𝑥</m:t>
                        </m:r>
                        <m:r>
                          <a:rPr lang="en-US" sz="2200" b="0" i="1" smtClean="0">
                            <a:solidFill>
                              <a:schemeClr val="tx1"/>
                            </a:solidFill>
                            <a:latin typeface="Cambria Math"/>
                          </a:rPr>
                          <m:t>,</m:t>
                        </m:r>
                        <m:r>
                          <a:rPr lang="en-US" sz="2200" b="0" i="1" smtClean="0">
                            <a:solidFill>
                              <a:schemeClr val="tx1"/>
                            </a:solidFill>
                            <a:latin typeface="Cambria Math"/>
                          </a:rPr>
                          <m:t>𝑦</m:t>
                        </m:r>
                        <m:r>
                          <a:rPr lang="en-US" sz="2200" b="0" i="1" smtClean="0">
                            <a:solidFill>
                              <a:schemeClr val="tx1"/>
                            </a:solidFill>
                            <a:latin typeface="Cambria Math"/>
                          </a:rPr>
                          <m:t>)</m:t>
                        </m:r>
                      </m:num>
                      <m:den>
                        <m:r>
                          <m:rPr>
                            <m:nor/>
                          </m:rPr>
                          <a:rPr lang="el-GR" sz="2200" i="1" spc="-35" dirty="0">
                            <a:solidFill>
                              <a:schemeClr val="tx1"/>
                            </a:solidFill>
                            <a:cs typeface="Verdana"/>
                          </a:rPr>
                          <m:t>σ</m:t>
                        </m:r>
                        <m:r>
                          <m:rPr>
                            <m:nor/>
                          </m:rPr>
                          <a:rPr lang="en-US" sz="2200" i="1" spc="-52" baseline="-12077" dirty="0">
                            <a:solidFill>
                              <a:schemeClr val="tx1"/>
                            </a:solidFill>
                            <a:cs typeface="Arial"/>
                          </a:rPr>
                          <m:t>X</m:t>
                        </m:r>
                        <m:r>
                          <m:rPr>
                            <m:nor/>
                          </m:rPr>
                          <a:rPr lang="en-US" sz="2200" i="1" spc="-202" baseline="-12077" dirty="0">
                            <a:solidFill>
                              <a:schemeClr val="tx1"/>
                            </a:solidFill>
                            <a:cs typeface="Arial"/>
                          </a:rPr>
                          <m:t> </m:t>
                        </m:r>
                        <m:r>
                          <m:rPr>
                            <m:nor/>
                          </m:rPr>
                          <a:rPr lang="el-GR" sz="2200" i="1" spc="-35" dirty="0">
                            <a:solidFill>
                              <a:schemeClr val="tx1"/>
                            </a:solidFill>
                            <a:cs typeface="Verdana"/>
                          </a:rPr>
                          <m:t>σ</m:t>
                        </m:r>
                        <m:r>
                          <m:rPr>
                            <m:nor/>
                          </m:rPr>
                          <a:rPr lang="en-US" sz="2200" i="1" spc="-52" baseline="-12077" dirty="0">
                            <a:solidFill>
                              <a:schemeClr val="tx1"/>
                            </a:solidFill>
                            <a:cs typeface="Arial"/>
                          </a:rPr>
                          <m:t>Y</m:t>
                        </m:r>
                        <m:r>
                          <m:rPr>
                            <m:nor/>
                          </m:rPr>
                          <a:rPr lang="en-US" sz="2200" baseline="-12077" dirty="0">
                            <a:solidFill>
                              <a:schemeClr val="tx1"/>
                            </a:solidFill>
                            <a:cs typeface="Arial"/>
                          </a:rPr>
                          <m:t> </m:t>
                        </m:r>
                      </m:den>
                    </m:f>
                  </m:oMath>
                </a14:m>
                <a:endParaRPr lang="en-US" sz="2200" dirty="0">
                  <a:solidFill>
                    <a:schemeClr val="tx1"/>
                  </a:solidFill>
                </a:endParaRPr>
              </a:p>
              <a:p>
                <a:pPr marL="400050" lvl="1" indent="0">
                  <a:spcBef>
                    <a:spcPts val="125"/>
                  </a:spcBef>
                  <a:buNone/>
                </a:pPr>
                <a:r>
                  <a:rPr lang="en-US" sz="2200" spc="-105" dirty="0">
                    <a:solidFill>
                      <a:schemeClr val="tx1"/>
                    </a:solidFill>
                    <a:cs typeface="Tahoma"/>
                  </a:rPr>
                  <a:t>f </a:t>
                </a:r>
                <a:r>
                  <a:rPr lang="en-US" sz="2200" spc="-5" dirty="0">
                    <a:solidFill>
                      <a:schemeClr val="tx1"/>
                    </a:solidFill>
                    <a:cs typeface="Tahoma"/>
                  </a:rPr>
                  <a:t>(</a:t>
                </a:r>
                <a:r>
                  <a:rPr lang="en-US" sz="2200" i="1" spc="-5" dirty="0">
                    <a:solidFill>
                      <a:schemeClr val="tx1"/>
                    </a:solidFill>
                    <a:cs typeface="Trebuchet MS"/>
                  </a:rPr>
                  <a:t>x</a:t>
                </a:r>
                <a:r>
                  <a:rPr lang="en-US" sz="2200" i="1" spc="-7" baseline="-12077" dirty="0">
                    <a:solidFill>
                      <a:schemeClr val="tx1"/>
                    </a:solidFill>
                    <a:cs typeface="Arial"/>
                  </a:rPr>
                  <a:t>i</a:t>
                </a:r>
                <a:r>
                  <a:rPr lang="en-US" sz="2200" i="1" spc="-5" dirty="0">
                    <a:solidFill>
                      <a:schemeClr val="tx1"/>
                    </a:solidFill>
                    <a:cs typeface="Verdana"/>
                  </a:rPr>
                  <a:t>, </a:t>
                </a:r>
                <a:r>
                  <a:rPr lang="en-US" sz="2200" i="1" spc="-20" dirty="0" err="1">
                    <a:solidFill>
                      <a:schemeClr val="tx1"/>
                    </a:solidFill>
                    <a:cs typeface="Trebuchet MS"/>
                  </a:rPr>
                  <a:t>y</a:t>
                </a:r>
                <a:r>
                  <a:rPr lang="en-US" sz="2200" i="1" spc="-30" baseline="-12077" dirty="0" err="1">
                    <a:solidFill>
                      <a:schemeClr val="tx1"/>
                    </a:solidFill>
                    <a:cs typeface="Arial"/>
                  </a:rPr>
                  <a:t>i</a:t>
                </a:r>
                <a:r>
                  <a:rPr lang="en-US" sz="2200" i="1" spc="-30" baseline="-12077" dirty="0">
                    <a:solidFill>
                      <a:schemeClr val="tx1"/>
                    </a:solidFill>
                    <a:cs typeface="Arial"/>
                  </a:rPr>
                  <a:t> </a:t>
                </a:r>
                <a:r>
                  <a:rPr lang="en-US" sz="2200" spc="-65" dirty="0">
                    <a:solidFill>
                      <a:schemeClr val="tx1"/>
                    </a:solidFill>
                    <a:cs typeface="Tahoma"/>
                  </a:rPr>
                  <a:t>); </a:t>
                </a:r>
                <a:r>
                  <a:rPr lang="en-US" sz="2200" i="1" spc="-125" dirty="0">
                    <a:solidFill>
                      <a:schemeClr val="tx1"/>
                    </a:solidFill>
                    <a:cs typeface="Trebuchet MS"/>
                  </a:rPr>
                  <a:t>i </a:t>
                </a:r>
                <a:r>
                  <a:rPr lang="en-US" sz="2200" spc="75" dirty="0">
                    <a:solidFill>
                      <a:schemeClr val="tx1"/>
                    </a:solidFill>
                    <a:cs typeface="Tahoma"/>
                  </a:rPr>
                  <a:t>= </a:t>
                </a:r>
                <a:r>
                  <a:rPr lang="en-US" sz="2200" spc="-120" dirty="0">
                    <a:solidFill>
                      <a:schemeClr val="tx1"/>
                    </a:solidFill>
                    <a:cs typeface="Tahoma"/>
                  </a:rPr>
                  <a:t>1</a:t>
                </a:r>
                <a:r>
                  <a:rPr lang="en-US" sz="2200" i="1" spc="-120" dirty="0">
                    <a:solidFill>
                      <a:schemeClr val="tx1"/>
                    </a:solidFill>
                    <a:cs typeface="Verdana"/>
                  </a:rPr>
                  <a:t>, </a:t>
                </a:r>
                <a:r>
                  <a:rPr lang="en-US" sz="2200" spc="-120" dirty="0">
                    <a:solidFill>
                      <a:schemeClr val="tx1"/>
                    </a:solidFill>
                    <a:cs typeface="Tahoma"/>
                  </a:rPr>
                  <a:t>2</a:t>
                </a:r>
                <a:r>
                  <a:rPr lang="en-US" sz="2200" i="1" spc="-120" dirty="0">
                    <a:solidFill>
                      <a:schemeClr val="tx1"/>
                    </a:solidFill>
                    <a:cs typeface="Verdana"/>
                  </a:rPr>
                  <a:t>, </a:t>
                </a:r>
                <a:r>
                  <a:rPr lang="en-US" sz="2200" i="1" spc="-155" dirty="0">
                    <a:solidFill>
                      <a:schemeClr val="tx1"/>
                    </a:solidFill>
                    <a:cs typeface="Verdana"/>
                  </a:rPr>
                  <a:t>...,</a:t>
                </a:r>
                <a:r>
                  <a:rPr lang="en-US" sz="2200" i="1" spc="-509" dirty="0">
                    <a:solidFill>
                      <a:schemeClr val="tx1"/>
                    </a:solidFill>
                    <a:cs typeface="Verdana"/>
                  </a:rPr>
                  <a:t> </a:t>
                </a:r>
                <a:r>
                  <a:rPr lang="en-US" sz="2200" i="1" spc="-65" dirty="0">
                    <a:solidFill>
                      <a:schemeClr val="tx1"/>
                    </a:solidFill>
                    <a:cs typeface="Trebuchet MS"/>
                  </a:rPr>
                  <a:t>n </a:t>
                </a:r>
                <a:r>
                  <a:rPr lang="en-US" sz="2200" spc="-55" dirty="0">
                    <a:solidFill>
                      <a:schemeClr val="tx1"/>
                    </a:solidFill>
                    <a:cs typeface="Tahoma"/>
                  </a:rPr>
                  <a:t>is </a:t>
                </a:r>
                <a:r>
                  <a:rPr lang="en-US" sz="2200" spc="-65" dirty="0">
                    <a:solidFill>
                      <a:schemeClr val="tx1"/>
                    </a:solidFill>
                    <a:cs typeface="Tahoma"/>
                  </a:rPr>
                  <a:t>the </a:t>
                </a:r>
                <a:r>
                  <a:rPr lang="en-US" sz="2200" spc="-55" dirty="0">
                    <a:solidFill>
                      <a:schemeClr val="tx1"/>
                    </a:solidFill>
                    <a:cs typeface="Tahoma"/>
                  </a:rPr>
                  <a:t>bivariate </a:t>
                </a:r>
                <a:r>
                  <a:rPr lang="en-US" sz="2200" spc="-40" dirty="0">
                    <a:solidFill>
                      <a:schemeClr val="tx1"/>
                    </a:solidFill>
                    <a:cs typeface="Tahoma"/>
                  </a:rPr>
                  <a:t>distribution, </a:t>
                </a:r>
                <a:r>
                  <a:rPr lang="en-US" sz="2200" spc="-70" dirty="0">
                    <a:solidFill>
                      <a:schemeClr val="tx1"/>
                    </a:solidFill>
                    <a:cs typeface="Tahoma"/>
                  </a:rPr>
                  <a:t>then</a:t>
                </a:r>
                <a:endParaRPr lang="en-US" sz="2200" dirty="0">
                  <a:solidFill>
                    <a:schemeClr val="tx1"/>
                  </a:solidFill>
                  <a:cs typeface="Tahoma"/>
                </a:endParaRPr>
              </a:p>
              <a:p>
                <a:pPr marL="400050" lvl="1" indent="0">
                  <a:buNone/>
                </a:pPr>
                <a:r>
                  <a:rPr lang="en-US" sz="2200" i="1" spc="-30" dirty="0" err="1">
                    <a:solidFill>
                      <a:schemeClr val="tx1"/>
                    </a:solidFill>
                    <a:cs typeface="Trebuchet MS"/>
                  </a:rPr>
                  <a:t>Cov</a:t>
                </a:r>
                <a:r>
                  <a:rPr lang="en-US" sz="2200" i="1" spc="-330" dirty="0">
                    <a:solidFill>
                      <a:schemeClr val="tx1"/>
                    </a:solidFill>
                    <a:cs typeface="Trebuchet MS"/>
                  </a:rPr>
                  <a:t> </a:t>
                </a:r>
                <a:r>
                  <a:rPr lang="en-US" sz="2200" spc="80" dirty="0">
                    <a:solidFill>
                      <a:schemeClr val="tx1"/>
                    </a:solidFill>
                    <a:cs typeface="Tahoma"/>
                  </a:rPr>
                  <a:t>(</a:t>
                </a:r>
                <a:r>
                  <a:rPr lang="en-US" sz="2200" i="1" spc="80" dirty="0">
                    <a:solidFill>
                      <a:schemeClr val="tx1"/>
                    </a:solidFill>
                    <a:cs typeface="Trebuchet MS"/>
                  </a:rPr>
                  <a:t>X</a:t>
                </a:r>
                <a:r>
                  <a:rPr lang="en-US" sz="2200" i="1" spc="80" dirty="0">
                    <a:solidFill>
                      <a:schemeClr val="tx1"/>
                    </a:solidFill>
                    <a:cs typeface="Verdana"/>
                  </a:rPr>
                  <a:t>,</a:t>
                </a:r>
                <a:r>
                  <a:rPr lang="en-US" sz="2200" i="1" spc="-310" dirty="0">
                    <a:solidFill>
                      <a:schemeClr val="tx1"/>
                    </a:solidFill>
                    <a:cs typeface="Verdana"/>
                  </a:rPr>
                  <a:t> </a:t>
                </a:r>
                <a:r>
                  <a:rPr lang="en-US" sz="2200" i="1" spc="145" dirty="0">
                    <a:solidFill>
                      <a:schemeClr val="tx1"/>
                    </a:solidFill>
                    <a:cs typeface="Trebuchet MS"/>
                  </a:rPr>
                  <a:t>Y</a:t>
                </a:r>
                <a:r>
                  <a:rPr lang="en-US" sz="2200" i="1" spc="-220" dirty="0">
                    <a:solidFill>
                      <a:schemeClr val="tx1"/>
                    </a:solidFill>
                    <a:cs typeface="Trebuchet MS"/>
                  </a:rPr>
                  <a:t> </a:t>
                </a:r>
                <a:r>
                  <a:rPr lang="en-US" sz="2200" spc="5" dirty="0">
                    <a:solidFill>
                      <a:schemeClr val="tx1"/>
                    </a:solidFill>
                    <a:cs typeface="Tahoma"/>
                  </a:rPr>
                  <a:t>)</a:t>
                </a:r>
                <a:r>
                  <a:rPr lang="en-US" sz="2200" spc="-55" dirty="0">
                    <a:solidFill>
                      <a:schemeClr val="tx1"/>
                    </a:solidFill>
                    <a:cs typeface="Tahoma"/>
                  </a:rPr>
                  <a:t> </a:t>
                </a:r>
                <a:r>
                  <a:rPr lang="en-US" sz="2200" spc="75" dirty="0">
                    <a:solidFill>
                      <a:schemeClr val="tx1"/>
                    </a:solidFill>
                    <a:cs typeface="Tahoma"/>
                  </a:rPr>
                  <a:t>=</a:t>
                </a:r>
                <a:r>
                  <a:rPr lang="en-US" sz="2200" spc="-60" dirty="0">
                    <a:solidFill>
                      <a:schemeClr val="tx1"/>
                    </a:solidFill>
                    <a:cs typeface="Tahoma"/>
                  </a:rPr>
                  <a:t> </a:t>
                </a:r>
                <a:r>
                  <a:rPr lang="en-US" sz="2200" i="1" spc="95" dirty="0">
                    <a:solidFill>
                      <a:schemeClr val="tx1"/>
                    </a:solidFill>
                    <a:cs typeface="Trebuchet MS"/>
                  </a:rPr>
                  <a:t>E</a:t>
                </a:r>
                <a:r>
                  <a:rPr lang="en-US" sz="2200" i="1" spc="-305" dirty="0">
                    <a:solidFill>
                      <a:schemeClr val="tx1"/>
                    </a:solidFill>
                    <a:cs typeface="Trebuchet MS"/>
                  </a:rPr>
                  <a:t> </a:t>
                </a:r>
                <a:r>
                  <a:rPr lang="en-US" sz="2200" spc="105" dirty="0">
                    <a:solidFill>
                      <a:schemeClr val="tx1"/>
                    </a:solidFill>
                    <a:cs typeface="Tahoma"/>
                  </a:rPr>
                  <a:t>[</a:t>
                </a:r>
                <a:r>
                  <a:rPr lang="en-US" sz="2200" spc="105" dirty="0">
                    <a:solidFill>
                      <a:schemeClr val="tx1"/>
                    </a:solidFill>
                    <a:cs typeface="Lucida Sans Unicode"/>
                  </a:rPr>
                  <a:t>{</a:t>
                </a:r>
                <a:r>
                  <a:rPr lang="en-US" sz="2200" i="1" spc="105" dirty="0">
                    <a:solidFill>
                      <a:schemeClr val="tx1"/>
                    </a:solidFill>
                    <a:cs typeface="Trebuchet MS"/>
                  </a:rPr>
                  <a:t>X</a:t>
                </a:r>
                <a:r>
                  <a:rPr lang="en-US" sz="2200" i="1" spc="100" dirty="0">
                    <a:solidFill>
                      <a:schemeClr val="tx1"/>
                    </a:solidFill>
                    <a:cs typeface="Trebuchet MS"/>
                  </a:rPr>
                  <a:t> </a:t>
                </a:r>
                <a:r>
                  <a:rPr lang="en-US" sz="2200" spc="-15" dirty="0">
                    <a:solidFill>
                      <a:schemeClr val="tx1"/>
                    </a:solidFill>
                    <a:cs typeface="Lucida Sans Unicode"/>
                  </a:rPr>
                  <a:t>−</a:t>
                </a:r>
                <a:r>
                  <a:rPr lang="en-US" sz="2200" spc="-160" dirty="0">
                    <a:solidFill>
                      <a:schemeClr val="tx1"/>
                    </a:solidFill>
                    <a:cs typeface="Lucida Sans Unicode"/>
                  </a:rPr>
                  <a:t> </a:t>
                </a:r>
                <a:r>
                  <a:rPr lang="en-US" sz="2200" i="1" spc="95" dirty="0">
                    <a:solidFill>
                      <a:schemeClr val="tx1"/>
                    </a:solidFill>
                    <a:cs typeface="Trebuchet MS"/>
                  </a:rPr>
                  <a:t>E</a:t>
                </a:r>
                <a:r>
                  <a:rPr lang="en-US" sz="2200" i="1" spc="-305" dirty="0">
                    <a:solidFill>
                      <a:schemeClr val="tx1"/>
                    </a:solidFill>
                    <a:cs typeface="Trebuchet MS"/>
                  </a:rPr>
                  <a:t> </a:t>
                </a:r>
                <a:r>
                  <a:rPr lang="en-US" sz="2200" spc="85" dirty="0">
                    <a:solidFill>
                      <a:schemeClr val="tx1"/>
                    </a:solidFill>
                    <a:cs typeface="Tahoma"/>
                  </a:rPr>
                  <a:t>(</a:t>
                </a:r>
                <a:r>
                  <a:rPr lang="en-US" sz="2200" i="1" spc="85" dirty="0">
                    <a:solidFill>
                      <a:schemeClr val="tx1"/>
                    </a:solidFill>
                    <a:cs typeface="Trebuchet MS"/>
                  </a:rPr>
                  <a:t>X</a:t>
                </a:r>
                <a:r>
                  <a:rPr lang="en-US" sz="2200" i="1" spc="-285" dirty="0">
                    <a:solidFill>
                      <a:schemeClr val="tx1"/>
                    </a:solidFill>
                    <a:cs typeface="Trebuchet MS"/>
                  </a:rPr>
                  <a:t> </a:t>
                </a:r>
                <a:r>
                  <a:rPr lang="en-US" sz="2200" spc="190" dirty="0">
                    <a:solidFill>
                      <a:schemeClr val="tx1"/>
                    </a:solidFill>
                    <a:cs typeface="Tahoma"/>
                  </a:rPr>
                  <a:t>)</a:t>
                </a:r>
                <a:r>
                  <a:rPr lang="en-US" sz="2200" spc="190" dirty="0">
                    <a:solidFill>
                      <a:schemeClr val="tx1"/>
                    </a:solidFill>
                    <a:cs typeface="Lucida Sans Unicode"/>
                  </a:rPr>
                  <a:t>}{</a:t>
                </a:r>
                <a:r>
                  <a:rPr lang="en-US" sz="2200" i="1" spc="190" dirty="0">
                    <a:solidFill>
                      <a:schemeClr val="tx1"/>
                    </a:solidFill>
                    <a:cs typeface="Trebuchet MS"/>
                  </a:rPr>
                  <a:t>Y</a:t>
                </a:r>
                <a:r>
                  <a:rPr lang="en-US" sz="2200" i="1" spc="160" dirty="0">
                    <a:solidFill>
                      <a:schemeClr val="tx1"/>
                    </a:solidFill>
                    <a:cs typeface="Trebuchet MS"/>
                  </a:rPr>
                  <a:t> </a:t>
                </a:r>
                <a:r>
                  <a:rPr lang="en-US" sz="2200" spc="-15" dirty="0">
                    <a:solidFill>
                      <a:schemeClr val="tx1"/>
                    </a:solidFill>
                    <a:cs typeface="Lucida Sans Unicode"/>
                  </a:rPr>
                  <a:t>−</a:t>
                </a:r>
                <a:r>
                  <a:rPr lang="en-US" sz="2200" spc="-155" dirty="0">
                    <a:solidFill>
                      <a:schemeClr val="tx1"/>
                    </a:solidFill>
                    <a:cs typeface="Lucida Sans Unicode"/>
                  </a:rPr>
                  <a:t> </a:t>
                </a:r>
                <a:r>
                  <a:rPr lang="en-US" sz="2200" i="1" spc="95" dirty="0">
                    <a:solidFill>
                      <a:schemeClr val="tx1"/>
                    </a:solidFill>
                    <a:cs typeface="Trebuchet MS"/>
                  </a:rPr>
                  <a:t>E</a:t>
                </a:r>
                <a:r>
                  <a:rPr lang="en-US" sz="2200" i="1" spc="-305" dirty="0">
                    <a:solidFill>
                      <a:schemeClr val="tx1"/>
                    </a:solidFill>
                    <a:cs typeface="Trebuchet MS"/>
                  </a:rPr>
                  <a:t> </a:t>
                </a:r>
                <a:r>
                  <a:rPr lang="en-US" sz="2200" spc="75" dirty="0">
                    <a:solidFill>
                      <a:schemeClr val="tx1"/>
                    </a:solidFill>
                    <a:cs typeface="Tahoma"/>
                  </a:rPr>
                  <a:t>(</a:t>
                </a:r>
                <a:r>
                  <a:rPr lang="en-US" sz="2200" i="1" spc="75" dirty="0">
                    <a:solidFill>
                      <a:schemeClr val="tx1"/>
                    </a:solidFill>
                    <a:cs typeface="Trebuchet MS"/>
                  </a:rPr>
                  <a:t>Y</a:t>
                </a:r>
                <a:r>
                  <a:rPr lang="en-US" sz="2200" i="1" spc="-220" dirty="0">
                    <a:solidFill>
                      <a:schemeClr val="tx1"/>
                    </a:solidFill>
                    <a:cs typeface="Trebuchet MS"/>
                  </a:rPr>
                  <a:t> </a:t>
                </a:r>
                <a:r>
                  <a:rPr lang="en-US" sz="2200" spc="50" dirty="0">
                    <a:solidFill>
                      <a:schemeClr val="tx1"/>
                    </a:solidFill>
                    <a:cs typeface="Tahoma"/>
                  </a:rPr>
                  <a:t>)</a:t>
                </a:r>
                <a:r>
                  <a:rPr lang="en-US" sz="2200" spc="50" dirty="0">
                    <a:solidFill>
                      <a:schemeClr val="tx1"/>
                    </a:solidFill>
                    <a:cs typeface="Lucida Sans Unicode"/>
                  </a:rPr>
                  <a:t>}</a:t>
                </a:r>
                <a:r>
                  <a:rPr lang="en-US" sz="2200" spc="50" dirty="0">
                    <a:solidFill>
                      <a:schemeClr val="tx1"/>
                    </a:solidFill>
                    <a:cs typeface="Tahoma"/>
                  </a:rPr>
                  <a:t>]</a:t>
                </a:r>
                <a:endParaRPr lang="en-US" sz="2200" dirty="0">
                  <a:solidFill>
                    <a:schemeClr val="tx1"/>
                  </a:solidFill>
                  <a:cs typeface="Tahoma"/>
                </a:endParaRPr>
              </a:p>
              <a:p>
                <a:endParaRPr lang="en-US" sz="2200" dirty="0">
                  <a:solidFill>
                    <a:schemeClr val="tx1"/>
                  </a:solidFill>
                </a:endParaRPr>
              </a:p>
              <a:p>
                <a:endParaRPr lang="en-US" sz="2200" dirty="0">
                  <a:solidFill>
                    <a:schemeClr val="tx1"/>
                  </a:solidFill>
                  <a:cs typeface="Tahoma"/>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88216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Karl Pearson’s Co –Efficient Of Correlation(or Product Moment Correlation Co-efficient)</a:t>
                </a:r>
              </a:p>
              <a:p>
                <a:pPr marL="0" indent="0">
                  <a:buNone/>
                </a:pPr>
                <a:r>
                  <a:rPr lang="en-US" sz="2200" dirty="0"/>
                  <a:t>Correlation co-efficient between two variable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r>
                      <a:rPr lang="en-US" sz="2200" b="0" i="1" smtClean="0">
                        <a:latin typeface="Cambria Math"/>
                      </a:rPr>
                      <m:t>,</m:t>
                    </m:r>
                  </m:oMath>
                </a14:m>
                <a:r>
                  <a:rPr lang="en-US" sz="2200" dirty="0"/>
                  <a:t> usually denoted by </a:t>
                </a:r>
                <a14:m>
                  <m:oMath xmlns:m="http://schemas.openxmlformats.org/officeDocument/2006/math">
                    <m:r>
                      <a:rPr lang="en-US" sz="2200" b="0" i="1" smtClean="0">
                        <a:latin typeface="Cambria Math"/>
                      </a:rPr>
                      <m:t>𝑟</m:t>
                    </m:r>
                    <m:d>
                      <m:dPr>
                        <m:ctrlPr>
                          <a:rPr lang="en-US" sz="220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r>
                          <a:rPr lang="en-US" sz="2200" b="0" i="1" smtClean="0">
                            <a:latin typeface="Cambria Math"/>
                          </a:rPr>
                          <m:t>𝑦</m:t>
                        </m:r>
                      </m:e>
                    </m:d>
                    <m:r>
                      <a:rPr lang="en-US" sz="2200" b="0" i="1" smtClean="0">
                        <a:latin typeface="Cambria Math"/>
                      </a:rPr>
                      <m:t>𝑜𝑟</m:t>
                    </m:r>
                    <m:r>
                      <a:rPr lang="en-US" sz="2200" b="0" i="1" smtClean="0">
                        <a:latin typeface="Cambria Math"/>
                      </a:rPr>
                      <m:t> </m:t>
                    </m:r>
                    <m:sSub>
                      <m:sSubPr>
                        <m:ctrlPr>
                          <a:rPr lang="en-US" sz="220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𝑥𝑦</m:t>
                        </m:r>
                      </m:sub>
                    </m:sSub>
                  </m:oMath>
                </a14:m>
                <a:r>
                  <a:rPr lang="en-US" sz="2200" dirty="0"/>
                  <a:t> is a numerical measure of linear relationship between them and defined as</a:t>
                </a:r>
              </a:p>
              <a:p>
                <a:pPr marL="0" indent="0">
                  <a:buNone/>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𝑥𝑦</m:t>
                          </m:r>
                        </m:sub>
                      </m:sSub>
                      <m:r>
                        <a:rPr lang="en-US" sz="2200" b="0" i="1" smtClean="0">
                          <a:latin typeface="Cambria Math"/>
                        </a:rPr>
                        <m:t>=</m:t>
                      </m:r>
                      <m:f>
                        <m:fPr>
                          <m:ctrlPr>
                            <a:rPr lang="en-US" sz="2200" i="1" smtClean="0">
                              <a:latin typeface="Cambria Math" panose="02040503050406030204" pitchFamily="18" charset="0"/>
                            </a:rPr>
                          </m:ctrlPr>
                        </m:fPr>
                        <m:num>
                          <m:nary>
                            <m:naryPr>
                              <m:chr m:val="∑"/>
                              <m:subHide m:val="on"/>
                              <m:supHide m:val="on"/>
                              <m:ctrlPr>
                                <a:rPr lang="en-US" sz="2200" i="1" smtClean="0">
                                  <a:latin typeface="Cambria Math" panose="02040503050406030204" pitchFamily="18" charset="0"/>
                                </a:rPr>
                              </m:ctrlPr>
                            </m:naryPr>
                            <m:sub/>
                            <m:sup/>
                            <m:e>
                              <m:d>
                                <m:dPr>
                                  <m:ctrlPr>
                                    <a:rPr lang="en-US" sz="2200" i="1" smtClean="0">
                                      <a:latin typeface="Cambria Math" panose="02040503050406030204" pitchFamily="18" charset="0"/>
                                    </a:rPr>
                                  </m:ctrlPr>
                                </m:dPr>
                                <m:e>
                                  <m:sSub>
                                    <m:sSubPr>
                                      <m:ctrlPr>
                                        <a:rPr lang="en-US" sz="2200" i="1" smtClean="0">
                                          <a:latin typeface="Cambria Math" panose="02040503050406030204" pitchFamily="18" charset="0"/>
                                        </a:rPr>
                                      </m:ctrlPr>
                                    </m:sSubPr>
                                    <m:e>
                                      <m:r>
                                        <a:rPr lang="en-US" sz="2200" b="0" i="1" smtClean="0">
                                          <a:latin typeface="Cambria Math"/>
                                        </a:rPr>
                                        <m:t>𝑥</m:t>
                                      </m:r>
                                    </m:e>
                                    <m:sub>
                                      <m:r>
                                        <a:rPr lang="en-US" sz="2200" b="0" i="1" smtClean="0">
                                          <a:latin typeface="Cambria Math"/>
                                        </a:rPr>
                                        <m:t>𝑖</m:t>
                                      </m:r>
                                    </m:sub>
                                  </m:sSub>
                                  <m:r>
                                    <a:rPr lang="en-US" sz="2200" b="0" i="1" smtClean="0">
                                      <a:latin typeface="Cambria Math"/>
                                    </a:rPr>
                                    <m:t>−</m:t>
                                  </m:r>
                                  <m:acc>
                                    <m:accPr>
                                      <m:chr m:val="̅"/>
                                      <m:ctrlPr>
                                        <a:rPr lang="en-US" sz="2200" i="1" smtClean="0">
                                          <a:latin typeface="Cambria Math" panose="02040503050406030204" pitchFamily="18" charset="0"/>
                                        </a:rPr>
                                      </m:ctrlPr>
                                    </m:accPr>
                                    <m:e>
                                      <m:r>
                                        <a:rPr lang="en-US" sz="2200" b="0" i="1" smtClean="0">
                                          <a:latin typeface="Cambria Math"/>
                                        </a:rPr>
                                        <m:t>𝑥</m:t>
                                      </m:r>
                                    </m:e>
                                  </m:acc>
                                </m:e>
                              </m:d>
                              <m:d>
                                <m:dPr>
                                  <m:ctrlPr>
                                    <a:rPr lang="en-US" sz="2200" i="1" smtClean="0">
                                      <a:latin typeface="Cambria Math" panose="02040503050406030204" pitchFamily="18" charset="0"/>
                                    </a:rPr>
                                  </m:ctrlPr>
                                </m:dPr>
                                <m:e>
                                  <m:sSub>
                                    <m:sSubPr>
                                      <m:ctrlPr>
                                        <a:rPr lang="en-US" sz="2200" i="1" smtClean="0">
                                          <a:latin typeface="Cambria Math" panose="02040503050406030204" pitchFamily="18" charset="0"/>
                                        </a:rPr>
                                      </m:ctrlPr>
                                    </m:sSubPr>
                                    <m:e>
                                      <m:r>
                                        <a:rPr lang="en-US" sz="2200" b="0" i="1" smtClean="0">
                                          <a:latin typeface="Cambria Math"/>
                                        </a:rPr>
                                        <m:t>𝑦</m:t>
                                      </m:r>
                                    </m:e>
                                    <m:sub>
                                      <m:r>
                                        <a:rPr lang="en-US" sz="2200" b="0" i="1" smtClean="0">
                                          <a:latin typeface="Cambria Math"/>
                                        </a:rPr>
                                        <m:t>𝑖</m:t>
                                      </m:r>
                                    </m:sub>
                                  </m:sSub>
                                  <m:r>
                                    <a:rPr lang="en-US" sz="2200" b="0" i="1" smtClean="0">
                                      <a:latin typeface="Cambria Math"/>
                                    </a:rPr>
                                    <m:t>−</m:t>
                                  </m:r>
                                  <m:acc>
                                    <m:accPr>
                                      <m:chr m:val="̅"/>
                                      <m:ctrlPr>
                                        <a:rPr lang="en-US" sz="2200" i="1" smtClean="0">
                                          <a:latin typeface="Cambria Math" panose="02040503050406030204" pitchFamily="18" charset="0"/>
                                        </a:rPr>
                                      </m:ctrlPr>
                                    </m:accPr>
                                    <m:e>
                                      <m:r>
                                        <a:rPr lang="en-US" sz="2200" b="0" i="1" smtClean="0">
                                          <a:latin typeface="Cambria Math"/>
                                        </a:rPr>
                                        <m:t>𝑦</m:t>
                                      </m:r>
                                    </m:e>
                                  </m:acc>
                                </m:e>
                              </m:d>
                            </m:e>
                          </m:nary>
                        </m:num>
                        <m:den>
                          <m:rad>
                            <m:radPr>
                              <m:degHide m:val="on"/>
                              <m:ctrlPr>
                                <a:rPr lang="en-US" sz="2200" i="1" smtClean="0">
                                  <a:latin typeface="Cambria Math" panose="02040503050406030204" pitchFamily="18" charset="0"/>
                                </a:rPr>
                              </m:ctrlPr>
                            </m:radPr>
                            <m:deg/>
                            <m:e>
                              <m:nary>
                                <m:naryPr>
                                  <m:chr m:val="∑"/>
                                  <m:subHide m:val="on"/>
                                  <m:supHide m:val="on"/>
                                  <m:ctrlPr>
                                    <a:rPr lang="en-US" sz="2200" i="1" smtClean="0">
                                      <a:latin typeface="Cambria Math" panose="02040503050406030204" pitchFamily="18" charset="0"/>
                                    </a:rPr>
                                  </m:ctrlPr>
                                </m:naryPr>
                                <m:sub/>
                                <m:sup/>
                                <m:e>
                                  <m:sSup>
                                    <m:sSupPr>
                                      <m:ctrlPr>
                                        <a:rPr lang="en-US" sz="2200" i="1" smtClean="0">
                                          <a:latin typeface="Cambria Math" panose="02040503050406030204" pitchFamily="18" charset="0"/>
                                        </a:rPr>
                                      </m:ctrlPr>
                                    </m:sSupPr>
                                    <m:e>
                                      <m:d>
                                        <m:dPr>
                                          <m:ctrlPr>
                                            <a:rPr lang="en-US" sz="2200" i="1" smtClean="0">
                                              <a:latin typeface="Cambria Math" panose="02040503050406030204" pitchFamily="18" charset="0"/>
                                            </a:rPr>
                                          </m:ctrlPr>
                                        </m:dPr>
                                        <m:e>
                                          <m:sSub>
                                            <m:sSubPr>
                                              <m:ctrlPr>
                                                <a:rPr lang="en-US" sz="2200" i="1" smtClean="0">
                                                  <a:latin typeface="Cambria Math" panose="02040503050406030204" pitchFamily="18" charset="0"/>
                                                </a:rPr>
                                              </m:ctrlPr>
                                            </m:sSubPr>
                                            <m:e>
                                              <m:r>
                                                <a:rPr lang="en-US" sz="2200" b="0" i="1" smtClean="0">
                                                  <a:latin typeface="Cambria Math"/>
                                                </a:rPr>
                                                <m:t>𝑥</m:t>
                                              </m:r>
                                            </m:e>
                                            <m:sub>
                                              <m:r>
                                                <a:rPr lang="en-US" sz="2200" b="0" i="1" smtClean="0">
                                                  <a:latin typeface="Cambria Math"/>
                                                </a:rPr>
                                                <m:t>𝑖</m:t>
                                              </m:r>
                                            </m:sub>
                                          </m:sSub>
                                          <m:r>
                                            <a:rPr lang="en-US" sz="2200" b="0" i="1" smtClean="0">
                                              <a:latin typeface="Cambria Math"/>
                                            </a:rPr>
                                            <m:t>−</m:t>
                                          </m:r>
                                          <m:acc>
                                            <m:accPr>
                                              <m:chr m:val="̅"/>
                                              <m:ctrlPr>
                                                <a:rPr lang="en-US" sz="2200" i="1" smtClean="0">
                                                  <a:latin typeface="Cambria Math" panose="02040503050406030204" pitchFamily="18" charset="0"/>
                                                </a:rPr>
                                              </m:ctrlPr>
                                            </m:accPr>
                                            <m:e>
                                              <m:r>
                                                <a:rPr lang="en-US" sz="2200" b="0" i="1" smtClean="0">
                                                  <a:latin typeface="Cambria Math"/>
                                                </a:rPr>
                                                <m:t>𝑥</m:t>
                                              </m:r>
                                            </m:e>
                                          </m:acc>
                                        </m:e>
                                      </m:d>
                                    </m:e>
                                    <m:sup>
                                      <m:r>
                                        <a:rPr lang="en-US" sz="2200" b="0" i="1" smtClean="0">
                                          <a:latin typeface="Cambria Math"/>
                                        </a:rPr>
                                        <m:t>2</m:t>
                                      </m:r>
                                    </m:sup>
                                  </m:sSup>
                                  <m:sSup>
                                    <m:sSupPr>
                                      <m:ctrlPr>
                                        <a:rPr lang="en-US" sz="2200" i="1" smtClean="0">
                                          <a:latin typeface="Cambria Math" panose="02040503050406030204" pitchFamily="18" charset="0"/>
                                        </a:rPr>
                                      </m:ctrlPr>
                                    </m:sSupPr>
                                    <m:e>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 </m:t>
                                          </m:r>
                                        </m:e>
                                      </m:nary>
                                      <m:d>
                                        <m:dPr>
                                          <m:ctrlPr>
                                            <a:rPr lang="en-US" sz="2200" i="1" smtClean="0">
                                              <a:latin typeface="Cambria Math" panose="02040503050406030204" pitchFamily="18" charset="0"/>
                                            </a:rPr>
                                          </m:ctrlPr>
                                        </m:dPr>
                                        <m:e>
                                          <m:sSub>
                                            <m:sSubPr>
                                              <m:ctrlPr>
                                                <a:rPr lang="en-US" sz="2200" i="1" smtClean="0">
                                                  <a:latin typeface="Cambria Math" panose="02040503050406030204" pitchFamily="18" charset="0"/>
                                                </a:rPr>
                                              </m:ctrlPr>
                                            </m:sSubPr>
                                            <m:e>
                                              <m:r>
                                                <a:rPr lang="en-US" sz="2200" b="0" i="1" smtClean="0">
                                                  <a:latin typeface="Cambria Math"/>
                                                </a:rPr>
                                                <m:t>𝑦</m:t>
                                              </m:r>
                                            </m:e>
                                            <m:sub>
                                              <m:r>
                                                <a:rPr lang="en-US" sz="2200" b="0" i="1" smtClean="0">
                                                  <a:latin typeface="Cambria Math"/>
                                                </a:rPr>
                                                <m:t>𝑖</m:t>
                                              </m:r>
                                            </m:sub>
                                          </m:sSub>
                                          <m:r>
                                            <a:rPr lang="en-US" sz="2200" b="0" i="1" smtClean="0">
                                              <a:latin typeface="Cambria Math"/>
                                            </a:rPr>
                                            <m:t>−</m:t>
                                          </m:r>
                                          <m:acc>
                                            <m:accPr>
                                              <m:chr m:val="̅"/>
                                              <m:ctrlPr>
                                                <a:rPr lang="en-US" sz="2200" i="1" smtClean="0">
                                                  <a:latin typeface="Cambria Math" panose="02040503050406030204" pitchFamily="18" charset="0"/>
                                                </a:rPr>
                                              </m:ctrlPr>
                                            </m:accPr>
                                            <m:e>
                                              <m:r>
                                                <a:rPr lang="en-US" sz="2200" b="0" i="1" smtClean="0">
                                                  <a:latin typeface="Cambria Math"/>
                                                </a:rPr>
                                                <m:t>𝑦</m:t>
                                              </m:r>
                                            </m:e>
                                          </m:acc>
                                        </m:e>
                                      </m:d>
                                    </m:e>
                                    <m:sup>
                                      <m:r>
                                        <a:rPr lang="en-US" sz="2200" b="0" i="1" smtClean="0">
                                          <a:latin typeface="Cambria Math"/>
                                        </a:rPr>
                                        <m:t>2</m:t>
                                      </m:r>
                                    </m:sup>
                                  </m:sSup>
                                </m:e>
                              </m:nary>
                            </m:e>
                          </m:rad>
                        </m:den>
                      </m:f>
                    </m:oMath>
                  </m:oMathPara>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f>
                        <m:fPr>
                          <m:ctrlPr>
                            <a:rPr lang="en-US" sz="2200" i="1" smtClean="0">
                              <a:latin typeface="Cambria Math" panose="02040503050406030204" pitchFamily="18" charset="0"/>
                            </a:rPr>
                          </m:ctrlPr>
                        </m:fPr>
                        <m:num>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nary>
                            <m:naryPr>
                              <m:chr m:val="∑"/>
                              <m:subHide m:val="on"/>
                              <m:supHide m:val="on"/>
                              <m:ctrlPr>
                                <a:rPr lang="en-US" sz="2200" i="1" smtClean="0">
                                  <a:latin typeface="Cambria Math" panose="02040503050406030204" pitchFamily="18" charset="0"/>
                                </a:rPr>
                              </m:ctrlPr>
                            </m:naryPr>
                            <m:sub/>
                            <m:sup/>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a:latin typeface="Cambria Math"/>
                                        </a:rPr>
                                        <m:t>𝑥</m:t>
                                      </m:r>
                                    </m:e>
                                    <m:sub>
                                      <m:r>
                                        <a:rPr lang="en-US" sz="2200" b="0" i="1">
                                          <a:latin typeface="Cambria Math"/>
                                        </a:rPr>
                                        <m:t>𝑖</m:t>
                                      </m:r>
                                    </m:sub>
                                  </m:sSub>
                                  <m:r>
                                    <a:rPr lang="en-US" sz="2200" b="0" i="1">
                                      <a:latin typeface="Cambria Math"/>
                                    </a:rPr>
                                    <m:t>−</m:t>
                                  </m:r>
                                  <m:acc>
                                    <m:accPr>
                                      <m:chr m:val="̅"/>
                                      <m:ctrlPr>
                                        <a:rPr lang="en-US" sz="2200" i="1">
                                          <a:latin typeface="Cambria Math" panose="02040503050406030204" pitchFamily="18" charset="0"/>
                                        </a:rPr>
                                      </m:ctrlPr>
                                    </m:accPr>
                                    <m:e>
                                      <m:r>
                                        <a:rPr lang="en-US" sz="2200" b="0" i="1">
                                          <a:latin typeface="Cambria Math"/>
                                        </a:rPr>
                                        <m:t>𝑥</m:t>
                                      </m:r>
                                    </m:e>
                                  </m:acc>
                                </m:e>
                              </m:d>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a:latin typeface="Cambria Math"/>
                                        </a:rPr>
                                        <m:t>𝑦</m:t>
                                      </m:r>
                                    </m:e>
                                    <m:sub>
                                      <m:r>
                                        <a:rPr lang="en-US" sz="2200" b="0" i="1">
                                          <a:latin typeface="Cambria Math"/>
                                        </a:rPr>
                                        <m:t>𝑖</m:t>
                                      </m:r>
                                    </m:sub>
                                  </m:sSub>
                                  <m:r>
                                    <a:rPr lang="en-US" sz="2200" b="0" i="1">
                                      <a:latin typeface="Cambria Math"/>
                                    </a:rPr>
                                    <m:t>−</m:t>
                                  </m:r>
                                  <m:acc>
                                    <m:accPr>
                                      <m:chr m:val="̅"/>
                                      <m:ctrlPr>
                                        <a:rPr lang="en-US" sz="2200" i="1">
                                          <a:latin typeface="Cambria Math" panose="02040503050406030204" pitchFamily="18" charset="0"/>
                                        </a:rPr>
                                      </m:ctrlPr>
                                    </m:accPr>
                                    <m:e>
                                      <m:r>
                                        <a:rPr lang="en-US" sz="2200" b="0" i="1">
                                          <a:latin typeface="Cambria Math"/>
                                        </a:rPr>
                                        <m:t>𝑦</m:t>
                                      </m:r>
                                    </m:e>
                                  </m:acc>
                                </m:e>
                              </m:d>
                            </m:e>
                          </m:nary>
                        </m:num>
                        <m:den>
                          <m:rad>
                            <m:radPr>
                              <m:degHide m:val="on"/>
                              <m:ctrlPr>
                                <a:rPr lang="en-US" sz="2200" i="1" smtClean="0">
                                  <a:latin typeface="Cambria Math" panose="02040503050406030204" pitchFamily="18" charset="0"/>
                                </a:rPr>
                              </m:ctrlPr>
                            </m:radPr>
                            <m:deg/>
                            <m:e>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a:latin typeface="Cambria Math"/>
                                                </a:rPr>
                                                <m:t>𝑥</m:t>
                                              </m:r>
                                            </m:e>
                                            <m:sub>
                                              <m:r>
                                                <a:rPr lang="en-US" sz="2200" b="0" i="1">
                                                  <a:latin typeface="Cambria Math"/>
                                                </a:rPr>
                                                <m:t>𝑖</m:t>
                                              </m:r>
                                            </m:sub>
                                          </m:sSub>
                                          <m:r>
                                            <a:rPr lang="en-US" sz="2200" b="0" i="1">
                                              <a:latin typeface="Cambria Math"/>
                                            </a:rPr>
                                            <m:t>−</m:t>
                                          </m:r>
                                          <m:acc>
                                            <m:accPr>
                                              <m:chr m:val="̅"/>
                                              <m:ctrlPr>
                                                <a:rPr lang="en-US" sz="2200" i="1">
                                                  <a:latin typeface="Cambria Math" panose="02040503050406030204" pitchFamily="18" charset="0"/>
                                                </a:rPr>
                                              </m:ctrlPr>
                                            </m:accPr>
                                            <m:e>
                                              <m:r>
                                                <a:rPr lang="en-US" sz="2200" b="0" i="1">
                                                  <a:latin typeface="Cambria Math"/>
                                                </a:rPr>
                                                <m:t>𝑥</m:t>
                                              </m:r>
                                            </m:e>
                                          </m:acc>
                                        </m:e>
                                      </m:d>
                                    </m:e>
                                    <m:sup>
                                      <m:r>
                                        <a:rPr lang="en-US" sz="2200" b="0" i="1">
                                          <a:latin typeface="Cambria Math"/>
                                        </a:rPr>
                                        <m:t>2</m:t>
                                      </m:r>
                                    </m:sup>
                                  </m:sSup>
                                  <m:r>
                                    <a:rPr lang="en-US" sz="2200" b="0" i="1" smtClean="0">
                                      <a:latin typeface="Cambria Math"/>
                                    </a:rPr>
                                    <m:t>.</m:t>
                                  </m:r>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sSup>
                                    <m:sSupPr>
                                      <m:ctrlPr>
                                        <a:rPr lang="en-US" sz="2200" i="1">
                                          <a:latin typeface="Cambria Math" panose="02040503050406030204" pitchFamily="18" charset="0"/>
                                        </a:rPr>
                                      </m:ctrlPr>
                                    </m:sSupPr>
                                    <m:e>
                                      <m:nary>
                                        <m:naryPr>
                                          <m:chr m:val="∑"/>
                                          <m:subHide m:val="on"/>
                                          <m:supHide m:val="on"/>
                                          <m:ctrlPr>
                                            <a:rPr lang="en-US" sz="2200" i="1">
                                              <a:latin typeface="Cambria Math" panose="02040503050406030204" pitchFamily="18" charset="0"/>
                                            </a:rPr>
                                          </m:ctrlPr>
                                        </m:naryPr>
                                        <m:sub/>
                                        <m:sup/>
                                        <m:e>
                                          <m:r>
                                            <a:rPr lang="en-US" sz="2200" b="0" i="1">
                                              <a:latin typeface="Cambria Math"/>
                                            </a:rPr>
                                            <m:t> </m:t>
                                          </m:r>
                                        </m:e>
                                      </m:nary>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a:latin typeface="Cambria Math"/>
                                                </a:rPr>
                                                <m:t>𝑦</m:t>
                                              </m:r>
                                            </m:e>
                                            <m:sub>
                                              <m:r>
                                                <a:rPr lang="en-US" sz="2200" b="0" i="1">
                                                  <a:latin typeface="Cambria Math"/>
                                                </a:rPr>
                                                <m:t>𝑖</m:t>
                                              </m:r>
                                            </m:sub>
                                          </m:sSub>
                                          <m:r>
                                            <a:rPr lang="en-US" sz="2200" b="0" i="1">
                                              <a:latin typeface="Cambria Math"/>
                                            </a:rPr>
                                            <m:t>−</m:t>
                                          </m:r>
                                          <m:acc>
                                            <m:accPr>
                                              <m:chr m:val="̅"/>
                                              <m:ctrlPr>
                                                <a:rPr lang="en-US" sz="2200" i="1">
                                                  <a:latin typeface="Cambria Math" panose="02040503050406030204" pitchFamily="18" charset="0"/>
                                                </a:rPr>
                                              </m:ctrlPr>
                                            </m:accPr>
                                            <m:e>
                                              <m:r>
                                                <a:rPr lang="en-US" sz="2200" b="0" i="1">
                                                  <a:latin typeface="Cambria Math"/>
                                                </a:rPr>
                                                <m:t>𝑦</m:t>
                                              </m:r>
                                            </m:e>
                                          </m:acc>
                                        </m:e>
                                      </m:d>
                                    </m:e>
                                    <m:sup>
                                      <m:r>
                                        <a:rPr lang="en-US" sz="2200" b="0" i="1">
                                          <a:latin typeface="Cambria Math"/>
                                        </a:rPr>
                                        <m:t>2</m:t>
                                      </m:r>
                                    </m:sup>
                                  </m:sSup>
                                </m:e>
                              </m:nary>
                            </m:e>
                          </m:rad>
                        </m:den>
                      </m:f>
                    </m:oMath>
                  </m:oMathPara>
                </a14:m>
                <a:endParaRPr lang="en-US" sz="2200" i="1" dirty="0">
                  <a:latin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889"/>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7913057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817163"/>
                <a:ext cx="8229600" cy="5507436"/>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2200" b="0" i="1" smtClean="0">
                          <a:solidFill>
                            <a:schemeClr val="tx1"/>
                          </a:solidFill>
                          <a:latin typeface="Cambria Math"/>
                        </a:rPr>
                        <m:t>=</m:t>
                      </m:r>
                      <m:f>
                        <m:fPr>
                          <m:ctrlPr>
                            <a:rPr lang="en-US" sz="2200" i="1">
                              <a:solidFill>
                                <a:schemeClr val="tx1"/>
                              </a:solidFill>
                              <a:latin typeface="Cambria Math" panose="02040503050406030204" pitchFamily="18" charset="0"/>
                            </a:rPr>
                          </m:ctrlPr>
                        </m:fPr>
                        <m:num>
                          <m:f>
                            <m:fPr>
                              <m:ctrlPr>
                                <a:rPr lang="en-US" sz="2200" i="1">
                                  <a:solidFill>
                                    <a:schemeClr val="tx1"/>
                                  </a:solidFill>
                                  <a:latin typeface="Cambria Math" panose="02040503050406030204" pitchFamily="18" charset="0"/>
                                </a:rPr>
                              </m:ctrlPr>
                            </m:fPr>
                            <m:num>
                              <m:r>
                                <a:rPr lang="en-US" sz="2200" b="0" i="1">
                                  <a:solidFill>
                                    <a:schemeClr val="tx1"/>
                                  </a:solidFill>
                                  <a:latin typeface="Cambria Math"/>
                                </a:rPr>
                                <m:t>1</m:t>
                              </m:r>
                            </m:num>
                            <m:den>
                              <m:r>
                                <a:rPr lang="en-US" sz="2200" b="0" i="1">
                                  <a:solidFill>
                                    <a:schemeClr val="tx1"/>
                                  </a:solidFill>
                                  <a:latin typeface="Cambria Math"/>
                                </a:rPr>
                                <m:t>𝑛</m:t>
                              </m:r>
                            </m:den>
                          </m:f>
                          <m:nary>
                            <m:naryPr>
                              <m:chr m:val="∑"/>
                              <m:subHide m:val="on"/>
                              <m:supHide m:val="on"/>
                              <m:ctrlPr>
                                <a:rPr lang="en-US" sz="2200" i="1">
                                  <a:solidFill>
                                    <a:schemeClr val="tx1"/>
                                  </a:solidFill>
                                  <a:latin typeface="Cambria Math" panose="02040503050406030204" pitchFamily="18" charset="0"/>
                                </a:rPr>
                              </m:ctrlPr>
                            </m:naryPr>
                            <m:sub/>
                            <m:sup/>
                            <m:e>
                              <m:d>
                                <m:dPr>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rPr>
                                        <m:t>𝑥</m:t>
                                      </m:r>
                                    </m:e>
                                    <m:sub>
                                      <m:r>
                                        <a:rPr lang="en-US" sz="2200" b="0" i="1">
                                          <a:solidFill>
                                            <a:schemeClr val="tx1"/>
                                          </a:solidFill>
                                          <a:latin typeface="Cambria Math"/>
                                        </a:rPr>
                                        <m:t>𝑖</m:t>
                                      </m:r>
                                    </m:sub>
                                  </m:sSub>
                                  <m:r>
                                    <a:rPr lang="en-US" sz="2200" b="0" i="1">
                                      <a:solidFill>
                                        <a:schemeClr val="tx1"/>
                                      </a:solidFill>
                                      <a:latin typeface="Cambria Math"/>
                                    </a:rPr>
                                    <m:t>−</m:t>
                                  </m:r>
                                  <m:acc>
                                    <m:accPr>
                                      <m:chr m:val="̅"/>
                                      <m:ctrlPr>
                                        <a:rPr lang="en-US" sz="2200" i="1">
                                          <a:solidFill>
                                            <a:schemeClr val="tx1"/>
                                          </a:solidFill>
                                          <a:latin typeface="Cambria Math" panose="02040503050406030204" pitchFamily="18" charset="0"/>
                                        </a:rPr>
                                      </m:ctrlPr>
                                    </m:accPr>
                                    <m:e>
                                      <m:r>
                                        <a:rPr lang="en-US" sz="2200" b="0" i="1">
                                          <a:solidFill>
                                            <a:schemeClr val="tx1"/>
                                          </a:solidFill>
                                          <a:latin typeface="Cambria Math"/>
                                        </a:rPr>
                                        <m:t>𝑥</m:t>
                                      </m:r>
                                    </m:e>
                                  </m:acc>
                                </m:e>
                              </m:d>
                              <m:d>
                                <m:dPr>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rPr>
                                        <m:t>𝑦</m:t>
                                      </m:r>
                                    </m:e>
                                    <m:sub>
                                      <m:r>
                                        <a:rPr lang="en-US" sz="2200" b="0" i="1">
                                          <a:solidFill>
                                            <a:schemeClr val="tx1"/>
                                          </a:solidFill>
                                          <a:latin typeface="Cambria Math"/>
                                        </a:rPr>
                                        <m:t>𝑖</m:t>
                                      </m:r>
                                    </m:sub>
                                  </m:sSub>
                                  <m:r>
                                    <a:rPr lang="en-US" sz="2200" b="0" i="1">
                                      <a:solidFill>
                                        <a:schemeClr val="tx1"/>
                                      </a:solidFill>
                                      <a:latin typeface="Cambria Math"/>
                                    </a:rPr>
                                    <m:t>−</m:t>
                                  </m:r>
                                  <m:acc>
                                    <m:accPr>
                                      <m:chr m:val="̅"/>
                                      <m:ctrlPr>
                                        <a:rPr lang="en-US" sz="2200" i="1">
                                          <a:solidFill>
                                            <a:schemeClr val="tx1"/>
                                          </a:solidFill>
                                          <a:latin typeface="Cambria Math" panose="02040503050406030204" pitchFamily="18" charset="0"/>
                                        </a:rPr>
                                      </m:ctrlPr>
                                    </m:accPr>
                                    <m:e>
                                      <m:r>
                                        <a:rPr lang="en-US" sz="2200" b="0" i="1">
                                          <a:solidFill>
                                            <a:schemeClr val="tx1"/>
                                          </a:solidFill>
                                          <a:latin typeface="Cambria Math"/>
                                        </a:rPr>
                                        <m:t>𝑦</m:t>
                                      </m:r>
                                    </m:e>
                                  </m:acc>
                                </m:e>
                              </m:d>
                            </m:e>
                          </m:nary>
                        </m:num>
                        <m:den>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ea typeface="Cambria Math"/>
                                </a:rPr>
                                <m:t>𝜎</m:t>
                              </m:r>
                            </m:e>
                            <m:sub>
                              <m:r>
                                <a:rPr lang="en-US" sz="2200" b="0" i="1">
                                  <a:solidFill>
                                    <a:schemeClr val="tx1"/>
                                  </a:solidFill>
                                  <a:latin typeface="Cambria Math"/>
                                </a:rPr>
                                <m:t>𝑥</m:t>
                              </m:r>
                            </m:sub>
                          </m:sSub>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ea typeface="Cambria Math"/>
                                </a:rPr>
                                <m:t>𝜎</m:t>
                              </m:r>
                            </m:e>
                            <m:sub>
                              <m:r>
                                <a:rPr lang="en-US" sz="2200" b="0" i="1">
                                  <a:solidFill>
                                    <a:schemeClr val="tx1"/>
                                  </a:solidFill>
                                  <a:latin typeface="Cambria Math"/>
                                </a:rPr>
                                <m:t>𝑦</m:t>
                              </m:r>
                            </m:sub>
                          </m:sSub>
                        </m:den>
                      </m:f>
                    </m:oMath>
                  </m:oMathPara>
                </a14:m>
                <a:endParaRPr lang="en-US" sz="2200" dirty="0">
                  <a:solidFill>
                    <a:schemeClr val="tx1"/>
                  </a:solidFill>
                </a:endParaRPr>
              </a:p>
              <a:p>
                <a:pPr marL="0" indent="0">
                  <a:buNone/>
                </a:pPr>
                <a14:m>
                  <m:oMathPara xmlns:m="http://schemas.openxmlformats.org/officeDocument/2006/math">
                    <m:oMathParaPr>
                      <m:jc m:val="left"/>
                    </m:oMathParaPr>
                    <m:oMath xmlns:m="http://schemas.openxmlformats.org/officeDocument/2006/math">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rPr>
                            <m:t>𝑟</m:t>
                          </m:r>
                        </m:e>
                        <m:sub>
                          <m:r>
                            <a:rPr lang="en-US" sz="2200" b="0" i="1">
                              <a:solidFill>
                                <a:schemeClr val="tx1"/>
                              </a:solidFill>
                              <a:latin typeface="Cambria Math"/>
                            </a:rPr>
                            <m:t>𝑥𝑦</m:t>
                          </m:r>
                        </m:sub>
                      </m:sSub>
                      <m:r>
                        <a:rPr lang="en-US" sz="2200" b="0">
                          <a:solidFill>
                            <a:schemeClr val="tx1"/>
                          </a:solidFill>
                          <a:latin typeface="Cambria Math"/>
                        </a:rPr>
                        <m:t>=</m:t>
                      </m:r>
                      <m:f>
                        <m:fPr>
                          <m:ctrlPr>
                            <a:rPr lang="en-US" sz="2200" i="1">
                              <a:solidFill>
                                <a:schemeClr val="tx1"/>
                              </a:solidFill>
                              <a:latin typeface="Cambria Math" panose="02040503050406030204" pitchFamily="18" charset="0"/>
                            </a:rPr>
                          </m:ctrlPr>
                        </m:fPr>
                        <m:num>
                          <m:nary>
                            <m:naryPr>
                              <m:chr m:val="∑"/>
                              <m:subHide m:val="on"/>
                              <m:supHide m:val="on"/>
                              <m:ctrlPr>
                                <a:rPr lang="en-US" sz="2200" i="1">
                                  <a:solidFill>
                                    <a:schemeClr val="tx1"/>
                                  </a:solidFill>
                                  <a:latin typeface="Cambria Math" panose="02040503050406030204" pitchFamily="18" charset="0"/>
                                </a:rPr>
                              </m:ctrlPr>
                            </m:naryPr>
                            <m:sub/>
                            <m:sup/>
                            <m:e>
                              <m:d>
                                <m:dPr>
                                  <m:ctrlPr>
                                    <a:rPr lang="en-US" sz="2200" i="1">
                                      <a:solidFill>
                                        <a:schemeClr val="tx1"/>
                                      </a:solidFill>
                                      <a:latin typeface="Cambria Math" panose="02040503050406030204" pitchFamily="18" charset="0"/>
                                    </a:rPr>
                                  </m:ctrlPr>
                                </m:dPr>
                                <m:e>
                                  <m:r>
                                    <a:rPr lang="en-US" sz="2200" b="0" i="1">
                                      <a:solidFill>
                                        <a:schemeClr val="tx1"/>
                                      </a:solidFill>
                                      <a:latin typeface="Cambria Math"/>
                                    </a:rPr>
                                    <m:t>𝑥</m:t>
                                  </m:r>
                                  <m:r>
                                    <a:rPr lang="en-US" sz="2200" b="0" i="1">
                                      <a:solidFill>
                                        <a:schemeClr val="tx1"/>
                                      </a:solidFill>
                                      <a:latin typeface="Cambria Math"/>
                                    </a:rPr>
                                    <m:t>−</m:t>
                                  </m:r>
                                  <m:acc>
                                    <m:accPr>
                                      <m:chr m:val="̅"/>
                                      <m:ctrlPr>
                                        <a:rPr lang="en-US" sz="2200" i="1">
                                          <a:solidFill>
                                            <a:schemeClr val="tx1"/>
                                          </a:solidFill>
                                          <a:latin typeface="Cambria Math" panose="02040503050406030204" pitchFamily="18" charset="0"/>
                                        </a:rPr>
                                      </m:ctrlPr>
                                    </m:accPr>
                                    <m:e>
                                      <m:r>
                                        <a:rPr lang="en-US" sz="2200" b="0" i="1">
                                          <a:solidFill>
                                            <a:schemeClr val="tx1"/>
                                          </a:solidFill>
                                          <a:latin typeface="Cambria Math"/>
                                        </a:rPr>
                                        <m:t>𝑥</m:t>
                                      </m:r>
                                    </m:e>
                                  </m:acc>
                                </m:e>
                              </m:d>
                              <m:d>
                                <m:dPr>
                                  <m:ctrlPr>
                                    <a:rPr lang="en-US" sz="2200" i="1">
                                      <a:solidFill>
                                        <a:schemeClr val="tx1"/>
                                      </a:solidFill>
                                      <a:latin typeface="Cambria Math" panose="02040503050406030204" pitchFamily="18" charset="0"/>
                                    </a:rPr>
                                  </m:ctrlPr>
                                </m:dPr>
                                <m:e>
                                  <m:r>
                                    <a:rPr lang="en-US" sz="2200" b="0" i="1">
                                      <a:solidFill>
                                        <a:schemeClr val="tx1"/>
                                      </a:solidFill>
                                      <a:latin typeface="Cambria Math"/>
                                    </a:rPr>
                                    <m:t>𝑦</m:t>
                                  </m:r>
                                  <m:r>
                                    <a:rPr lang="en-US" sz="2200" b="0" i="1">
                                      <a:solidFill>
                                        <a:schemeClr val="tx1"/>
                                      </a:solidFill>
                                      <a:latin typeface="Cambria Math"/>
                                    </a:rPr>
                                    <m:t>−</m:t>
                                  </m:r>
                                  <m:acc>
                                    <m:accPr>
                                      <m:chr m:val="̅"/>
                                      <m:ctrlPr>
                                        <a:rPr lang="en-US" sz="2200" i="1">
                                          <a:solidFill>
                                            <a:schemeClr val="tx1"/>
                                          </a:solidFill>
                                          <a:latin typeface="Cambria Math" panose="02040503050406030204" pitchFamily="18" charset="0"/>
                                        </a:rPr>
                                      </m:ctrlPr>
                                    </m:accPr>
                                    <m:e>
                                      <m:r>
                                        <a:rPr lang="en-US" sz="2200" b="0" i="1">
                                          <a:solidFill>
                                            <a:schemeClr val="tx1"/>
                                          </a:solidFill>
                                          <a:latin typeface="Cambria Math"/>
                                        </a:rPr>
                                        <m:t>𝑦</m:t>
                                      </m:r>
                                    </m:e>
                                  </m:acc>
                                </m:e>
                              </m:d>
                            </m:e>
                          </m:nary>
                        </m:num>
                        <m:den>
                          <m:r>
                            <a:rPr lang="en-US" sz="2200" b="0" i="1">
                              <a:solidFill>
                                <a:schemeClr val="tx1"/>
                              </a:solidFill>
                              <a:latin typeface="Cambria Math"/>
                            </a:rPr>
                            <m:t>𝑛</m:t>
                          </m:r>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ea typeface="Cambria Math"/>
                                </a:rPr>
                                <m:t>𝜎</m:t>
                              </m:r>
                            </m:e>
                            <m:sub>
                              <m:r>
                                <a:rPr lang="en-US" sz="2200" b="0" i="1">
                                  <a:solidFill>
                                    <a:schemeClr val="tx1"/>
                                  </a:solidFill>
                                  <a:latin typeface="Cambria Math"/>
                                </a:rPr>
                                <m:t>𝑥</m:t>
                              </m:r>
                            </m:sub>
                          </m:sSub>
                          <m:sSub>
                            <m:sSubPr>
                              <m:ctrlPr>
                                <a:rPr lang="en-US" sz="2200" i="1">
                                  <a:solidFill>
                                    <a:schemeClr val="tx1"/>
                                  </a:solidFill>
                                  <a:latin typeface="Cambria Math" panose="02040503050406030204" pitchFamily="18" charset="0"/>
                                </a:rPr>
                              </m:ctrlPr>
                            </m:sSubPr>
                            <m:e>
                              <m:r>
                                <a:rPr lang="en-US" sz="2200" b="0" i="1">
                                  <a:solidFill>
                                    <a:schemeClr val="tx1"/>
                                  </a:solidFill>
                                  <a:latin typeface="Cambria Math"/>
                                  <a:ea typeface="Cambria Math"/>
                                </a:rPr>
                                <m:t>𝜎</m:t>
                              </m:r>
                            </m:e>
                            <m:sub>
                              <m:r>
                                <a:rPr lang="en-US" sz="2200" b="0" i="1">
                                  <a:solidFill>
                                    <a:schemeClr val="tx1"/>
                                  </a:solidFill>
                                  <a:latin typeface="Cambria Math"/>
                                </a:rPr>
                                <m:t>𝑦</m:t>
                              </m:r>
                            </m:sub>
                          </m:sSub>
                        </m:den>
                      </m:f>
                    </m:oMath>
                  </m:oMathPara>
                </a14:m>
                <a:endParaRPr lang="en-US" sz="2200" dirty="0">
                  <a:solidFill>
                    <a:schemeClr val="tx1"/>
                  </a:solidFill>
                </a:endParaRPr>
              </a:p>
              <a:p>
                <a:pPr marL="0" indent="0">
                  <a:buNone/>
                </a:pPr>
                <a:r>
                  <a:rPr lang="en-US" sz="2200" dirty="0">
                    <a:solidFill>
                      <a:schemeClr val="tx1"/>
                    </a:solidFill>
                  </a:rPr>
                  <a:t>Or </a:t>
                </a:r>
                <a14:m>
                  <m:oMath xmlns:m="http://schemas.openxmlformats.org/officeDocument/2006/math">
                    <m:r>
                      <a:rPr lang="en-US" sz="2200" b="0" i="1" smtClean="0">
                        <a:solidFill>
                          <a:schemeClr val="tx1"/>
                        </a:solidFill>
                        <a:latin typeface="Cambria Math"/>
                      </a:rPr>
                      <m:t>𝑟</m:t>
                    </m:r>
                    <m:d>
                      <m:dPr>
                        <m:ctrlPr>
                          <a:rPr lang="en-US" sz="2200" b="0" i="1" smtClean="0">
                            <a:solidFill>
                              <a:schemeClr val="tx1"/>
                            </a:solidFill>
                            <a:latin typeface="Cambria Math" panose="02040503050406030204" pitchFamily="18" charset="0"/>
                          </a:rPr>
                        </m:ctrlPr>
                      </m:dPr>
                      <m:e>
                        <m:r>
                          <a:rPr lang="en-US" sz="2200" b="0" i="1" smtClean="0">
                            <a:solidFill>
                              <a:schemeClr val="tx1"/>
                            </a:solidFill>
                            <a:latin typeface="Cambria Math"/>
                          </a:rPr>
                          <m:t>𝑥</m:t>
                        </m:r>
                        <m:r>
                          <a:rPr lang="en-US" sz="2200" b="0" i="1" smtClean="0">
                            <a:solidFill>
                              <a:schemeClr val="tx1"/>
                            </a:solidFill>
                            <a:latin typeface="Cambria Math"/>
                          </a:rPr>
                          <m:t>,</m:t>
                        </m:r>
                        <m:r>
                          <a:rPr lang="en-US" sz="2200" b="0" i="1" smtClean="0">
                            <a:solidFill>
                              <a:schemeClr val="tx1"/>
                            </a:solidFill>
                            <a:latin typeface="Cambria Math"/>
                          </a:rPr>
                          <m:t>𝑦</m:t>
                        </m:r>
                      </m:e>
                    </m:d>
                    <m:r>
                      <a:rPr lang="en-US" sz="2200" b="0" i="1" smtClean="0">
                        <a:solidFill>
                          <a:schemeClr val="tx1"/>
                        </a:solidFill>
                        <a:latin typeface="Cambria Math"/>
                      </a:rPr>
                      <m:t>=</m:t>
                    </m:r>
                    <m:f>
                      <m:fPr>
                        <m:ctrlPr>
                          <a:rPr lang="en-US" sz="2200" b="0" i="1" smtClean="0">
                            <a:solidFill>
                              <a:schemeClr val="tx1"/>
                            </a:solidFill>
                            <a:latin typeface="Cambria Math" panose="02040503050406030204" pitchFamily="18" charset="0"/>
                          </a:rPr>
                        </m:ctrlPr>
                      </m:fPr>
                      <m:num>
                        <m:r>
                          <a:rPr lang="en-US" sz="2200" b="0" i="1" smtClean="0">
                            <a:solidFill>
                              <a:schemeClr val="tx1"/>
                            </a:solidFill>
                            <a:latin typeface="Cambria Math"/>
                          </a:rPr>
                          <m:t>𝑛</m:t>
                        </m:r>
                        <m:nary>
                          <m:naryPr>
                            <m:chr m:val="∑"/>
                            <m:subHide m:val="on"/>
                            <m:supHide m:val="on"/>
                            <m:ctrlPr>
                              <a:rPr lang="en-US" sz="2200" b="0" i="1" smtClean="0">
                                <a:solidFill>
                                  <a:schemeClr val="tx1"/>
                                </a:solidFill>
                                <a:latin typeface="Cambria Math" panose="02040503050406030204" pitchFamily="18" charset="0"/>
                              </a:rPr>
                            </m:ctrlPr>
                          </m:naryPr>
                          <m:sub/>
                          <m:sup/>
                          <m:e>
                            <m:r>
                              <a:rPr lang="en-US" sz="2200" b="0" i="1" smtClean="0">
                                <a:solidFill>
                                  <a:schemeClr val="tx1"/>
                                </a:solidFill>
                                <a:latin typeface="Cambria Math"/>
                              </a:rPr>
                              <m:t>𝑥𝑦</m:t>
                            </m:r>
                          </m:e>
                        </m:nary>
                        <m:r>
                          <a:rPr lang="en-US" sz="2200" b="0" i="1" smtClean="0">
                            <a:solidFill>
                              <a:schemeClr val="tx1"/>
                            </a:solidFill>
                            <a:latin typeface="Cambria Math"/>
                          </a:rPr>
                          <m:t>−</m:t>
                        </m:r>
                        <m:nary>
                          <m:naryPr>
                            <m:chr m:val="∑"/>
                            <m:subHide m:val="on"/>
                            <m:supHide m:val="on"/>
                            <m:ctrlPr>
                              <a:rPr lang="en-US" sz="2200" b="0" i="1" smtClean="0">
                                <a:solidFill>
                                  <a:schemeClr val="tx1"/>
                                </a:solidFill>
                                <a:latin typeface="Cambria Math" panose="02040503050406030204" pitchFamily="18" charset="0"/>
                              </a:rPr>
                            </m:ctrlPr>
                          </m:naryPr>
                          <m:sub/>
                          <m:sup/>
                          <m:e>
                            <m:r>
                              <a:rPr lang="en-US" sz="2200" b="0" i="1" smtClean="0">
                                <a:solidFill>
                                  <a:schemeClr val="tx1"/>
                                </a:solidFill>
                                <a:latin typeface="Cambria Math"/>
                              </a:rPr>
                              <m:t>𝑥</m:t>
                            </m:r>
                          </m:e>
                        </m:nary>
                        <m:nary>
                          <m:naryPr>
                            <m:chr m:val="∑"/>
                            <m:subHide m:val="on"/>
                            <m:supHide m:val="on"/>
                            <m:ctrlPr>
                              <a:rPr lang="en-US" sz="2200" b="0" i="1" smtClean="0">
                                <a:solidFill>
                                  <a:schemeClr val="tx1"/>
                                </a:solidFill>
                                <a:latin typeface="Cambria Math" panose="02040503050406030204" pitchFamily="18" charset="0"/>
                              </a:rPr>
                            </m:ctrlPr>
                          </m:naryPr>
                          <m:sub/>
                          <m:sup/>
                          <m:e>
                            <m:r>
                              <a:rPr lang="en-US" sz="2200" b="0" i="1" smtClean="0">
                                <a:solidFill>
                                  <a:schemeClr val="tx1"/>
                                </a:solidFill>
                                <a:latin typeface="Cambria Math"/>
                              </a:rPr>
                              <m:t>𝑦</m:t>
                            </m:r>
                          </m:e>
                        </m:nary>
                      </m:num>
                      <m:den>
                        <m:rad>
                          <m:radPr>
                            <m:degHide m:val="on"/>
                            <m:ctrlPr>
                              <a:rPr lang="en-US" sz="2200" b="0" i="1" smtClean="0">
                                <a:solidFill>
                                  <a:schemeClr val="tx1"/>
                                </a:solidFill>
                                <a:latin typeface="Cambria Math" panose="02040503050406030204" pitchFamily="18" charset="0"/>
                              </a:rPr>
                            </m:ctrlPr>
                          </m:radPr>
                          <m:deg/>
                          <m:e>
                            <m:r>
                              <a:rPr lang="en-US" sz="2200" b="0" i="1" smtClean="0">
                                <a:solidFill>
                                  <a:schemeClr val="tx1"/>
                                </a:solidFill>
                                <a:latin typeface="Cambria Math"/>
                              </a:rPr>
                              <m:t>𝑛</m:t>
                            </m:r>
                            <m:nary>
                              <m:naryPr>
                                <m:chr m:val="∑"/>
                                <m:subHide m:val="on"/>
                                <m:supHide m:val="on"/>
                                <m:ctrlPr>
                                  <a:rPr lang="en-US" sz="2200" b="0" i="1" smtClean="0">
                                    <a:solidFill>
                                      <a:schemeClr val="tx1"/>
                                    </a:solidFill>
                                    <a:latin typeface="Cambria Math" panose="02040503050406030204" pitchFamily="18" charset="0"/>
                                  </a:rPr>
                                </m:ctrlPr>
                              </m:naryPr>
                              <m:sub/>
                              <m:sup/>
                              <m:e>
                                <m:sSup>
                                  <m:sSupPr>
                                    <m:ctrlPr>
                                      <a:rPr lang="en-US" sz="2200" b="0" i="1" smtClean="0">
                                        <a:solidFill>
                                          <a:schemeClr val="tx1"/>
                                        </a:solidFill>
                                        <a:latin typeface="Cambria Math" panose="02040503050406030204" pitchFamily="18" charset="0"/>
                                      </a:rPr>
                                    </m:ctrlPr>
                                  </m:sSupPr>
                                  <m:e>
                                    <m:r>
                                      <a:rPr lang="en-US" sz="2200" b="0" i="1" smtClean="0">
                                        <a:solidFill>
                                          <a:schemeClr val="tx1"/>
                                        </a:solidFill>
                                        <a:latin typeface="Cambria Math"/>
                                      </a:rPr>
                                      <m:t>𝑥</m:t>
                                    </m:r>
                                  </m:e>
                                  <m:sup>
                                    <m:r>
                                      <a:rPr lang="en-US" sz="2200" b="0" i="1" smtClean="0">
                                        <a:solidFill>
                                          <a:schemeClr val="tx1"/>
                                        </a:solidFill>
                                        <a:latin typeface="Cambria Math"/>
                                      </a:rPr>
                                      <m:t>2</m:t>
                                    </m:r>
                                  </m:sup>
                                </m:sSup>
                                <m:r>
                                  <a:rPr lang="en-US" sz="2200" b="0" i="1" smtClean="0">
                                    <a:solidFill>
                                      <a:schemeClr val="tx1"/>
                                    </a:solidFill>
                                    <a:latin typeface="Cambria Math"/>
                                  </a:rPr>
                                  <m:t>−</m:t>
                                </m:r>
                                <m:sSup>
                                  <m:sSupPr>
                                    <m:ctrlPr>
                                      <a:rPr lang="en-US" sz="2200" b="0" i="1" smtClean="0">
                                        <a:solidFill>
                                          <a:schemeClr val="tx1"/>
                                        </a:solidFill>
                                        <a:latin typeface="Cambria Math" panose="02040503050406030204" pitchFamily="18" charset="0"/>
                                      </a:rPr>
                                    </m:ctrlPr>
                                  </m:sSupPr>
                                  <m:e>
                                    <m:d>
                                      <m:dPr>
                                        <m:ctrlPr>
                                          <a:rPr lang="en-US" sz="2200" b="0" i="1" smtClean="0">
                                            <a:solidFill>
                                              <a:schemeClr val="tx1"/>
                                            </a:solidFill>
                                            <a:latin typeface="Cambria Math" panose="02040503050406030204" pitchFamily="18" charset="0"/>
                                          </a:rPr>
                                        </m:ctrlPr>
                                      </m:dPr>
                                      <m:e>
                                        <m:nary>
                                          <m:naryPr>
                                            <m:chr m:val="∑"/>
                                            <m:subHide m:val="on"/>
                                            <m:supHide m:val="on"/>
                                            <m:ctrlPr>
                                              <a:rPr lang="en-US" sz="2200" b="0" i="1" smtClean="0">
                                                <a:solidFill>
                                                  <a:schemeClr val="tx1"/>
                                                </a:solidFill>
                                                <a:latin typeface="Cambria Math" panose="02040503050406030204" pitchFamily="18" charset="0"/>
                                              </a:rPr>
                                            </m:ctrlPr>
                                          </m:naryPr>
                                          <m:sub/>
                                          <m:sup/>
                                          <m:e>
                                            <m:r>
                                              <a:rPr lang="en-US" sz="2200" b="0" i="1" smtClean="0">
                                                <a:solidFill>
                                                  <a:schemeClr val="tx1"/>
                                                </a:solidFill>
                                                <a:latin typeface="Cambria Math"/>
                                              </a:rPr>
                                              <m:t>𝑥</m:t>
                                            </m:r>
                                          </m:e>
                                        </m:nary>
                                      </m:e>
                                    </m:d>
                                  </m:e>
                                  <m:sup>
                                    <m:r>
                                      <a:rPr lang="en-US" sz="2200" b="0" i="1" smtClean="0">
                                        <a:solidFill>
                                          <a:schemeClr val="tx1"/>
                                        </a:solidFill>
                                        <a:latin typeface="Cambria Math"/>
                                      </a:rPr>
                                      <m:t>2</m:t>
                                    </m:r>
                                  </m:sup>
                                </m:sSup>
                              </m:e>
                            </m:nary>
                          </m:e>
                        </m:rad>
                        <m:rad>
                          <m:radPr>
                            <m:degHide m:val="on"/>
                            <m:ctrlPr>
                              <a:rPr lang="en-US" sz="2200" b="0" i="1" smtClean="0">
                                <a:solidFill>
                                  <a:schemeClr val="tx1"/>
                                </a:solidFill>
                                <a:latin typeface="Cambria Math" panose="02040503050406030204" pitchFamily="18" charset="0"/>
                              </a:rPr>
                            </m:ctrlPr>
                          </m:radPr>
                          <m:deg/>
                          <m:e>
                            <m:r>
                              <a:rPr lang="en-US" sz="2200" i="1">
                                <a:solidFill>
                                  <a:schemeClr val="tx1"/>
                                </a:solidFill>
                                <a:latin typeface="Cambria Math"/>
                              </a:rPr>
                              <m:t>𝑛</m:t>
                            </m:r>
                            <m:nary>
                              <m:naryPr>
                                <m:chr m:val="∑"/>
                                <m:subHide m:val="on"/>
                                <m:supHide m:val="on"/>
                                <m:ctrlPr>
                                  <a:rPr lang="en-US" sz="2200" i="1">
                                    <a:solidFill>
                                      <a:schemeClr val="tx1"/>
                                    </a:solidFill>
                                    <a:latin typeface="Cambria Math" panose="02040503050406030204" pitchFamily="18" charset="0"/>
                                  </a:rPr>
                                </m:ctrlPr>
                              </m:naryPr>
                              <m:sub/>
                              <m:sup/>
                              <m:e>
                                <m:sSup>
                                  <m:sSupPr>
                                    <m:ctrlPr>
                                      <a:rPr lang="en-US" sz="2200" i="1">
                                        <a:solidFill>
                                          <a:schemeClr val="tx1"/>
                                        </a:solidFill>
                                        <a:latin typeface="Cambria Math" panose="02040503050406030204" pitchFamily="18" charset="0"/>
                                      </a:rPr>
                                    </m:ctrlPr>
                                  </m:sSupPr>
                                  <m:e>
                                    <m:r>
                                      <a:rPr lang="en-US" sz="2200" b="0" i="1" smtClean="0">
                                        <a:solidFill>
                                          <a:schemeClr val="tx1"/>
                                        </a:solidFill>
                                        <a:latin typeface="Cambria Math"/>
                                      </a:rPr>
                                      <m:t>𝑦</m:t>
                                    </m:r>
                                  </m:e>
                                  <m:sup>
                                    <m:r>
                                      <a:rPr lang="en-US" sz="2200" b="0" i="1" smtClean="0">
                                        <a:solidFill>
                                          <a:schemeClr val="tx1"/>
                                        </a:solidFill>
                                        <a:latin typeface="Cambria Math"/>
                                      </a:rPr>
                                      <m:t>2</m:t>
                                    </m:r>
                                  </m:sup>
                                </m:sSup>
                                <m:r>
                                  <a:rPr lang="en-US" sz="2200" i="1">
                                    <a:solidFill>
                                      <a:schemeClr val="tx1"/>
                                    </a:solidFill>
                                    <a:latin typeface="Cambria Math"/>
                                  </a:rPr>
                                  <m:t>−</m:t>
                                </m:r>
                                <m:sSup>
                                  <m:sSupPr>
                                    <m:ctrlPr>
                                      <a:rPr lang="en-US" sz="2200" i="1">
                                        <a:solidFill>
                                          <a:schemeClr val="tx1"/>
                                        </a:solidFill>
                                        <a:latin typeface="Cambria Math" panose="02040503050406030204" pitchFamily="18" charset="0"/>
                                      </a:rPr>
                                    </m:ctrlPr>
                                  </m:sSupPr>
                                  <m:e>
                                    <m:d>
                                      <m:dPr>
                                        <m:ctrlPr>
                                          <a:rPr lang="en-US" sz="2200" i="1">
                                            <a:solidFill>
                                              <a:schemeClr val="tx1"/>
                                            </a:solidFill>
                                            <a:latin typeface="Cambria Math" panose="02040503050406030204" pitchFamily="18" charset="0"/>
                                          </a:rPr>
                                        </m:ctrlPr>
                                      </m:dPr>
                                      <m:e>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𝑦</m:t>
                                            </m:r>
                                          </m:e>
                                        </m:nary>
                                      </m:e>
                                    </m:d>
                                  </m:e>
                                  <m:sup>
                                    <m:r>
                                      <a:rPr lang="en-US" sz="2200" b="0" i="1" smtClean="0">
                                        <a:solidFill>
                                          <a:schemeClr val="tx1"/>
                                        </a:solidFill>
                                        <a:latin typeface="Cambria Math"/>
                                      </a:rPr>
                                      <m:t>2</m:t>
                                    </m:r>
                                  </m:sup>
                                </m:sSup>
                              </m:e>
                            </m:nary>
                          </m:e>
                        </m:rad>
                      </m:den>
                    </m:f>
                  </m:oMath>
                </a14:m>
                <a:r>
                  <a:rPr lang="en-US" sz="2200" dirty="0">
                    <a:solidFill>
                      <a:schemeClr val="tx1"/>
                    </a:solidFill>
                  </a:rPr>
                  <a:t> </a:t>
                </a:r>
              </a:p>
              <a:p>
                <a:pPr marL="0" indent="0">
                  <a:buNone/>
                </a:pPr>
                <a:r>
                  <a:rPr lang="en-US" sz="2200" dirty="0">
                    <a:solidFill>
                      <a:schemeClr val="tx1"/>
                    </a:solidFill>
                  </a:rPr>
                  <a:t>Here </a:t>
                </a:r>
                <a14:m>
                  <m:oMath xmlns:m="http://schemas.openxmlformats.org/officeDocument/2006/math">
                    <m:r>
                      <a:rPr lang="en-US" sz="2200" b="0" i="1" smtClean="0">
                        <a:solidFill>
                          <a:schemeClr val="tx1"/>
                        </a:solidFill>
                        <a:latin typeface="Cambria Math"/>
                      </a:rPr>
                      <m:t>𝑛</m:t>
                    </m:r>
                    <m:r>
                      <a:rPr lang="en-US" sz="2200" b="0" i="1" smtClean="0">
                        <a:solidFill>
                          <a:schemeClr val="tx1"/>
                        </a:solidFill>
                        <a:latin typeface="Cambria Math"/>
                      </a:rPr>
                      <m:t> </m:t>
                    </m:r>
                  </m:oMath>
                </a14:m>
                <a:r>
                  <a:rPr lang="en-US" sz="2200" dirty="0">
                    <a:solidFill>
                      <a:schemeClr val="tx1"/>
                    </a:solidFill>
                  </a:rPr>
                  <a:t>is the no. of pairs of values of </a:t>
                </a:r>
                <a14:m>
                  <m:oMath xmlns:m="http://schemas.openxmlformats.org/officeDocument/2006/math">
                    <m:r>
                      <a:rPr lang="en-US" sz="2200" b="0" i="1" smtClean="0">
                        <a:solidFill>
                          <a:schemeClr val="tx1"/>
                        </a:solidFill>
                        <a:latin typeface="Cambria Math"/>
                      </a:rPr>
                      <m:t>𝑥</m:t>
                    </m:r>
                    <m:r>
                      <a:rPr lang="en-US" sz="2200" b="0" i="1" smtClean="0">
                        <a:solidFill>
                          <a:schemeClr val="tx1"/>
                        </a:solidFill>
                        <a:latin typeface="Cambria Math"/>
                      </a:rPr>
                      <m:t> </m:t>
                    </m:r>
                    <m:r>
                      <a:rPr lang="en-US" sz="2200" b="0" i="1" smtClean="0">
                        <a:solidFill>
                          <a:schemeClr val="tx1"/>
                        </a:solidFill>
                        <a:latin typeface="Cambria Math"/>
                      </a:rPr>
                      <m:t>𝑎𝑛𝑑</m:t>
                    </m:r>
                    <m:r>
                      <a:rPr lang="en-US" sz="2200" b="0" i="1" smtClean="0">
                        <a:solidFill>
                          <a:schemeClr val="tx1"/>
                        </a:solidFill>
                        <a:latin typeface="Cambria Math"/>
                      </a:rPr>
                      <m:t> </m:t>
                    </m:r>
                    <m:r>
                      <a:rPr lang="en-US" sz="2200" b="0" i="1" smtClean="0">
                        <a:solidFill>
                          <a:schemeClr val="tx1"/>
                        </a:solidFill>
                        <a:latin typeface="Cambria Math"/>
                      </a:rPr>
                      <m:t>𝑦</m:t>
                    </m:r>
                    <m:r>
                      <a:rPr lang="en-US" sz="2200" b="0" i="1" smtClean="0">
                        <a:solidFill>
                          <a:schemeClr val="tx1"/>
                        </a:solidFill>
                        <a:latin typeface="Cambria Math"/>
                      </a:rPr>
                      <m:t>.</m:t>
                    </m:r>
                  </m:oMath>
                </a14:m>
                <a:endParaRPr lang="en-US" sz="2200" dirty="0">
                  <a:solidFill>
                    <a:schemeClr val="tx1"/>
                  </a:solidFill>
                </a:endParaRPr>
              </a:p>
              <a:p>
                <a:pPr marL="0" indent="0">
                  <a:buNone/>
                </a:pPr>
                <a:r>
                  <a:rPr lang="en-US" sz="2200" dirty="0">
                    <a:solidFill>
                      <a:schemeClr val="tx1"/>
                    </a:solidFill>
                  </a:rPr>
                  <a:t>Note: Correlation co efficient is independent of change of origin and scale.</a:t>
                </a:r>
              </a:p>
              <a:p>
                <a:pPr marL="0" indent="0">
                  <a:buNone/>
                </a:pPr>
                <a:r>
                  <a:rPr lang="en-US" sz="2200" dirty="0">
                    <a:solidFill>
                      <a:schemeClr val="tx1"/>
                    </a:solidFill>
                  </a:rPr>
                  <a:t>Let us define two new variables </a:t>
                </a:r>
                <a14:m>
                  <m:oMath xmlns:m="http://schemas.openxmlformats.org/officeDocument/2006/math">
                    <m:r>
                      <a:rPr lang="en-US" sz="2200" b="0" i="1" smtClean="0">
                        <a:solidFill>
                          <a:schemeClr val="tx1"/>
                        </a:solidFill>
                        <a:latin typeface="Cambria Math"/>
                      </a:rPr>
                      <m:t>𝑢</m:t>
                    </m:r>
                    <m:r>
                      <a:rPr lang="en-US" sz="2200" b="0" i="1" smtClean="0">
                        <a:solidFill>
                          <a:schemeClr val="tx1"/>
                        </a:solidFill>
                        <a:latin typeface="Cambria Math"/>
                      </a:rPr>
                      <m:t> </m:t>
                    </m:r>
                    <m:r>
                      <a:rPr lang="en-US" sz="2200" b="0" i="1" smtClean="0">
                        <a:solidFill>
                          <a:schemeClr val="tx1"/>
                        </a:solidFill>
                        <a:latin typeface="Cambria Math"/>
                      </a:rPr>
                      <m:t>𝑎𝑛𝑑</m:t>
                    </m:r>
                    <m:r>
                      <a:rPr lang="en-US" sz="2200" b="0" i="1" smtClean="0">
                        <a:solidFill>
                          <a:schemeClr val="tx1"/>
                        </a:solidFill>
                        <a:latin typeface="Cambria Math"/>
                      </a:rPr>
                      <m:t> </m:t>
                    </m:r>
                    <m:r>
                      <a:rPr lang="en-US" sz="2200" b="0" i="1" smtClean="0">
                        <a:solidFill>
                          <a:schemeClr val="tx1"/>
                        </a:solidFill>
                        <a:latin typeface="Cambria Math"/>
                      </a:rPr>
                      <m:t>𝑣</m:t>
                    </m:r>
                    <m:r>
                      <a:rPr lang="en-US" sz="2200" b="0" i="1" smtClean="0">
                        <a:solidFill>
                          <a:schemeClr val="tx1"/>
                        </a:solidFill>
                        <a:latin typeface="Cambria Math"/>
                      </a:rPr>
                      <m:t> </m:t>
                    </m:r>
                    <m:r>
                      <a:rPr lang="en-US" sz="2200" b="0" i="1" smtClean="0">
                        <a:solidFill>
                          <a:schemeClr val="tx1"/>
                        </a:solidFill>
                        <a:latin typeface="Cambria Math"/>
                      </a:rPr>
                      <m:t>𝑎𝑠</m:t>
                    </m:r>
                  </m:oMath>
                </a14:m>
                <a:endParaRPr lang="en-US" sz="2200" dirty="0">
                  <a:solidFill>
                    <a:schemeClr val="tx1"/>
                  </a:solidFill>
                </a:endParaRPr>
              </a:p>
              <a:p>
                <a:pPr marL="0" indent="0">
                  <a:buNone/>
                </a:pPr>
                <a14:m>
                  <m:oMath xmlns:m="http://schemas.openxmlformats.org/officeDocument/2006/math">
                    <m:r>
                      <a:rPr lang="en-US" sz="2200" b="0" i="1" smtClean="0">
                        <a:solidFill>
                          <a:schemeClr val="tx1"/>
                        </a:solidFill>
                        <a:latin typeface="Cambria Math"/>
                      </a:rPr>
                      <m:t>𝑢</m:t>
                    </m:r>
                    <m:r>
                      <a:rPr lang="en-US" sz="2200" b="0" i="1" smtClean="0">
                        <a:solidFill>
                          <a:schemeClr val="tx1"/>
                        </a:solidFill>
                        <a:latin typeface="Cambria Math"/>
                      </a:rPr>
                      <m:t>=</m:t>
                    </m:r>
                    <m:f>
                      <m:fPr>
                        <m:ctrlPr>
                          <a:rPr lang="en-US" sz="2200" b="0" i="1" smtClean="0">
                            <a:solidFill>
                              <a:schemeClr val="tx1"/>
                            </a:solidFill>
                            <a:latin typeface="Cambria Math" panose="02040503050406030204" pitchFamily="18" charset="0"/>
                          </a:rPr>
                        </m:ctrlPr>
                      </m:fPr>
                      <m:num>
                        <m:r>
                          <a:rPr lang="en-US" sz="2200" b="0" i="1" smtClean="0">
                            <a:solidFill>
                              <a:schemeClr val="tx1"/>
                            </a:solidFill>
                            <a:latin typeface="Cambria Math"/>
                          </a:rPr>
                          <m:t>𝑥</m:t>
                        </m:r>
                        <m:r>
                          <a:rPr lang="en-US" sz="2200" b="0" i="1" smtClean="0">
                            <a:solidFill>
                              <a:schemeClr val="tx1"/>
                            </a:solidFill>
                            <a:latin typeface="Cambria Math"/>
                          </a:rPr>
                          <m:t>−</m:t>
                        </m:r>
                        <m:r>
                          <a:rPr lang="en-US" sz="2200" b="0" i="1" smtClean="0">
                            <a:solidFill>
                              <a:schemeClr val="tx1"/>
                            </a:solidFill>
                            <a:latin typeface="Cambria Math"/>
                          </a:rPr>
                          <m:t>𝑎</m:t>
                        </m:r>
                      </m:num>
                      <m:den>
                        <m:r>
                          <a:rPr lang="en-US" sz="2200" b="0" i="1" smtClean="0">
                            <a:solidFill>
                              <a:schemeClr val="tx1"/>
                            </a:solidFill>
                            <a:latin typeface="Cambria Math"/>
                          </a:rPr>
                          <m:t>h</m:t>
                        </m:r>
                      </m:den>
                    </m:f>
                    <m:r>
                      <a:rPr lang="en-US" sz="2200" b="0" i="1" smtClean="0">
                        <a:solidFill>
                          <a:schemeClr val="tx1"/>
                        </a:solidFill>
                        <a:latin typeface="Cambria Math"/>
                      </a:rPr>
                      <m:t>,</m:t>
                    </m:r>
                    <m:r>
                      <a:rPr lang="en-US" sz="2200" b="0" i="1" smtClean="0">
                        <a:solidFill>
                          <a:schemeClr val="tx1"/>
                        </a:solidFill>
                        <a:latin typeface="Cambria Math"/>
                      </a:rPr>
                      <m:t>𝑣</m:t>
                    </m:r>
                    <m:r>
                      <a:rPr lang="en-US" sz="2200" b="0" i="1" smtClean="0">
                        <a:solidFill>
                          <a:schemeClr val="tx1"/>
                        </a:solidFill>
                        <a:latin typeface="Cambria Math"/>
                      </a:rPr>
                      <m:t>=</m:t>
                    </m:r>
                    <m:f>
                      <m:fPr>
                        <m:ctrlPr>
                          <a:rPr lang="en-US" sz="2200" b="0" i="1" smtClean="0">
                            <a:solidFill>
                              <a:schemeClr val="tx1"/>
                            </a:solidFill>
                            <a:latin typeface="Cambria Math" panose="02040503050406030204" pitchFamily="18" charset="0"/>
                          </a:rPr>
                        </m:ctrlPr>
                      </m:fPr>
                      <m:num>
                        <m:r>
                          <a:rPr lang="en-US" sz="2200" b="0" i="1" smtClean="0">
                            <a:solidFill>
                              <a:schemeClr val="tx1"/>
                            </a:solidFill>
                            <a:latin typeface="Cambria Math"/>
                          </a:rPr>
                          <m:t>𝑦</m:t>
                        </m:r>
                        <m:r>
                          <a:rPr lang="en-US" sz="2200" b="0" i="1" smtClean="0">
                            <a:solidFill>
                              <a:schemeClr val="tx1"/>
                            </a:solidFill>
                            <a:latin typeface="Cambria Math"/>
                          </a:rPr>
                          <m:t>−</m:t>
                        </m:r>
                        <m:r>
                          <a:rPr lang="en-US" sz="2200" b="0" i="1" smtClean="0">
                            <a:solidFill>
                              <a:schemeClr val="tx1"/>
                            </a:solidFill>
                            <a:latin typeface="Cambria Math"/>
                          </a:rPr>
                          <m:t>𝑏</m:t>
                        </m:r>
                      </m:num>
                      <m:den>
                        <m:r>
                          <a:rPr lang="en-US" sz="2200" b="0" i="1" smtClean="0">
                            <a:solidFill>
                              <a:schemeClr val="tx1"/>
                            </a:solidFill>
                            <a:latin typeface="Cambria Math"/>
                          </a:rPr>
                          <m:t>𝑘</m:t>
                        </m:r>
                      </m:den>
                    </m:f>
                    <m:r>
                      <a:rPr lang="en-US" sz="2200" b="0" i="1" smtClean="0">
                        <a:solidFill>
                          <a:schemeClr val="tx1"/>
                        </a:solidFill>
                        <a:latin typeface="Cambria Math"/>
                      </a:rPr>
                      <m:t> </m:t>
                    </m:r>
                  </m:oMath>
                </a14:m>
                <a:r>
                  <a:rPr lang="en-US" sz="2200" dirty="0">
                    <a:solidFill>
                      <a:schemeClr val="tx1"/>
                    </a:solidFill>
                  </a:rPr>
                  <a:t>where </a:t>
                </a:r>
                <a14:m>
                  <m:oMath xmlns:m="http://schemas.openxmlformats.org/officeDocument/2006/math">
                    <m:r>
                      <a:rPr lang="en-US" sz="2200" b="0" i="1" smtClean="0">
                        <a:solidFill>
                          <a:schemeClr val="tx1"/>
                        </a:solidFill>
                        <a:latin typeface="Cambria Math"/>
                      </a:rPr>
                      <m:t>𝑎</m:t>
                    </m:r>
                    <m:r>
                      <a:rPr lang="en-US" sz="2200" b="0" i="1" smtClean="0">
                        <a:solidFill>
                          <a:schemeClr val="tx1"/>
                        </a:solidFill>
                        <a:latin typeface="Cambria Math"/>
                      </a:rPr>
                      <m:t>,</m:t>
                    </m:r>
                    <m:r>
                      <a:rPr lang="en-US" sz="2200" b="0" i="1" smtClean="0">
                        <a:solidFill>
                          <a:schemeClr val="tx1"/>
                        </a:solidFill>
                        <a:latin typeface="Cambria Math"/>
                      </a:rPr>
                      <m:t>𝑏</m:t>
                    </m:r>
                    <m:r>
                      <a:rPr lang="en-US" sz="2200" b="0" i="1" smtClean="0">
                        <a:solidFill>
                          <a:schemeClr val="tx1"/>
                        </a:solidFill>
                        <a:latin typeface="Cambria Math"/>
                      </a:rPr>
                      <m:t>,</m:t>
                    </m:r>
                    <m:r>
                      <a:rPr lang="en-US" sz="2200" b="0" i="1" smtClean="0">
                        <a:solidFill>
                          <a:schemeClr val="tx1"/>
                        </a:solidFill>
                        <a:latin typeface="Cambria Math"/>
                      </a:rPr>
                      <m:t>h</m:t>
                    </m:r>
                    <m:r>
                      <a:rPr lang="en-US" sz="2200" b="0" i="1" smtClean="0">
                        <a:solidFill>
                          <a:schemeClr val="tx1"/>
                        </a:solidFill>
                        <a:latin typeface="Cambria Math"/>
                      </a:rPr>
                      <m:t>,</m:t>
                    </m:r>
                    <m:r>
                      <a:rPr lang="en-US" sz="2200" b="0" i="1" smtClean="0">
                        <a:solidFill>
                          <a:schemeClr val="tx1"/>
                        </a:solidFill>
                        <a:latin typeface="Cambria Math"/>
                      </a:rPr>
                      <m:t>𝑘</m:t>
                    </m:r>
                    <m:r>
                      <a:rPr lang="en-US" sz="2200" b="0" i="1" smtClean="0">
                        <a:solidFill>
                          <a:schemeClr val="tx1"/>
                        </a:solidFill>
                        <a:latin typeface="Cambria Math"/>
                      </a:rPr>
                      <m:t> </m:t>
                    </m:r>
                    <m:r>
                      <a:rPr lang="en-US" sz="2200" b="0" i="1" smtClean="0">
                        <a:solidFill>
                          <a:schemeClr val="tx1"/>
                        </a:solidFill>
                        <a:latin typeface="Cambria Math"/>
                      </a:rPr>
                      <m:t>𝑎𝑟𝑒</m:t>
                    </m:r>
                    <m:r>
                      <a:rPr lang="en-US" sz="2200" b="0" i="1" smtClean="0">
                        <a:solidFill>
                          <a:schemeClr val="tx1"/>
                        </a:solidFill>
                        <a:latin typeface="Cambria Math"/>
                      </a:rPr>
                      <m:t> </m:t>
                    </m:r>
                    <m:r>
                      <a:rPr lang="en-US" sz="2200" b="0" i="1" smtClean="0">
                        <a:solidFill>
                          <a:schemeClr val="tx1"/>
                        </a:solidFill>
                        <a:latin typeface="Cambria Math"/>
                      </a:rPr>
                      <m:t>𝑐𝑜𝑛𝑠𝑡𝑎𝑛𝑡</m:t>
                    </m:r>
                    <m:r>
                      <a:rPr lang="en-US" sz="2200" b="0" i="1" smtClean="0">
                        <a:solidFill>
                          <a:schemeClr val="tx1"/>
                        </a:solidFill>
                        <a:latin typeface="Cambria Math"/>
                      </a:rPr>
                      <m:t> </m:t>
                    </m:r>
                    <m:r>
                      <a:rPr lang="en-US" sz="2200" b="0" i="1" smtClean="0">
                        <a:solidFill>
                          <a:schemeClr val="tx1"/>
                        </a:solidFill>
                        <a:latin typeface="Cambria Math"/>
                      </a:rPr>
                      <m:t>𝑡h𝑒𝑛</m:t>
                    </m:r>
                    <m:r>
                      <a:rPr lang="en-US" sz="2200" b="0" i="1" smtClean="0">
                        <a:solidFill>
                          <a:schemeClr val="tx1"/>
                        </a:solidFill>
                        <a:latin typeface="Cambria Math"/>
                      </a:rPr>
                      <m:t> </m:t>
                    </m:r>
                    <m:sSub>
                      <m:sSubPr>
                        <m:ctrlPr>
                          <a:rPr lang="en-US" sz="2200" b="0" i="1" smtClean="0">
                            <a:solidFill>
                              <a:schemeClr val="tx1"/>
                            </a:solidFill>
                            <a:latin typeface="Cambria Math" panose="02040503050406030204" pitchFamily="18" charset="0"/>
                          </a:rPr>
                        </m:ctrlPr>
                      </m:sSubPr>
                      <m:e>
                        <m:r>
                          <a:rPr lang="en-US" sz="2200" b="0" i="1" smtClean="0">
                            <a:solidFill>
                              <a:schemeClr val="tx1"/>
                            </a:solidFill>
                            <a:latin typeface="Cambria Math"/>
                          </a:rPr>
                          <m:t>𝑟</m:t>
                        </m:r>
                      </m:e>
                      <m:sub>
                        <m:r>
                          <a:rPr lang="en-US" sz="2200" b="0" i="1" smtClean="0">
                            <a:solidFill>
                              <a:schemeClr val="tx1"/>
                            </a:solidFill>
                            <a:latin typeface="Cambria Math"/>
                          </a:rPr>
                          <m:t>𝑥𝑦</m:t>
                        </m:r>
                      </m:sub>
                    </m:sSub>
                    <m:r>
                      <a:rPr lang="en-US" sz="2200" b="0" i="1" smtClean="0">
                        <a:solidFill>
                          <a:schemeClr val="tx1"/>
                        </a:solidFill>
                        <a:latin typeface="Cambria Math"/>
                      </a:rPr>
                      <m:t>=</m:t>
                    </m:r>
                    <m:sSub>
                      <m:sSubPr>
                        <m:ctrlPr>
                          <a:rPr lang="en-US" sz="2200" b="0" i="1" smtClean="0">
                            <a:solidFill>
                              <a:schemeClr val="tx1"/>
                            </a:solidFill>
                            <a:latin typeface="Cambria Math" panose="02040503050406030204" pitchFamily="18" charset="0"/>
                          </a:rPr>
                        </m:ctrlPr>
                      </m:sSubPr>
                      <m:e>
                        <m:r>
                          <a:rPr lang="en-US" sz="2200" b="0" i="1" smtClean="0">
                            <a:solidFill>
                              <a:schemeClr val="tx1"/>
                            </a:solidFill>
                            <a:latin typeface="Cambria Math"/>
                          </a:rPr>
                          <m:t>𝑟</m:t>
                        </m:r>
                      </m:e>
                      <m:sub>
                        <m:r>
                          <a:rPr lang="en-US" sz="2200" b="0" i="1" smtClean="0">
                            <a:solidFill>
                              <a:schemeClr val="tx1"/>
                            </a:solidFill>
                            <a:latin typeface="Cambria Math"/>
                          </a:rPr>
                          <m:t>𝑢𝑣</m:t>
                        </m:r>
                      </m:sub>
                    </m:sSub>
                  </m:oMath>
                </a14:m>
                <a:endParaRPr lang="en-US" sz="2200" b="0" dirty="0">
                  <a:solidFill>
                    <a:schemeClr val="tx1"/>
                  </a:solidFill>
                </a:endParaRPr>
              </a:p>
              <a:p>
                <a:pPr marL="0" indent="0">
                  <a:buNone/>
                </a:pPr>
                <a:r>
                  <a:rPr lang="en-US" sz="2200" dirty="0">
                    <a:solidFill>
                      <a:schemeClr val="tx1"/>
                    </a:solidFill>
                  </a:rPr>
                  <a:t>Then </a:t>
                </a:r>
                <a14:m>
                  <m:oMath xmlns:m="http://schemas.openxmlformats.org/officeDocument/2006/math">
                    <m:r>
                      <a:rPr lang="en-US" sz="2200" b="0" i="1" smtClean="0">
                        <a:solidFill>
                          <a:schemeClr val="tx1"/>
                        </a:solidFill>
                        <a:latin typeface="Cambria Math"/>
                      </a:rPr>
                      <m:t>𝑟</m:t>
                    </m:r>
                    <m:d>
                      <m:dPr>
                        <m:ctrlPr>
                          <a:rPr lang="en-US" sz="2200" b="0" i="1" smtClean="0">
                            <a:solidFill>
                              <a:schemeClr val="tx1"/>
                            </a:solidFill>
                            <a:latin typeface="Cambria Math" panose="02040503050406030204" pitchFamily="18" charset="0"/>
                          </a:rPr>
                        </m:ctrlPr>
                      </m:dPr>
                      <m:e>
                        <m:r>
                          <a:rPr lang="en-US" sz="2200" b="0" i="1" smtClean="0">
                            <a:solidFill>
                              <a:schemeClr val="tx1"/>
                            </a:solidFill>
                            <a:latin typeface="Cambria Math"/>
                          </a:rPr>
                          <m:t>𝑢</m:t>
                        </m:r>
                        <m:r>
                          <a:rPr lang="en-US" sz="2200" b="0" i="1" smtClean="0">
                            <a:solidFill>
                              <a:schemeClr val="tx1"/>
                            </a:solidFill>
                            <a:latin typeface="Cambria Math"/>
                          </a:rPr>
                          <m:t>,</m:t>
                        </m:r>
                        <m:r>
                          <a:rPr lang="en-US" sz="2200" b="0" i="1" smtClean="0">
                            <a:solidFill>
                              <a:schemeClr val="tx1"/>
                            </a:solidFill>
                            <a:latin typeface="Cambria Math"/>
                          </a:rPr>
                          <m:t>𝑣</m:t>
                        </m:r>
                      </m:e>
                    </m:d>
                    <m:r>
                      <a:rPr lang="en-US" sz="2200" b="0" i="1" smtClean="0">
                        <a:solidFill>
                          <a:schemeClr val="tx1"/>
                        </a:solidFill>
                        <a:latin typeface="Cambria Math"/>
                      </a:rPr>
                      <m:t>= </m:t>
                    </m:r>
                  </m:oMath>
                </a14:m>
                <a:r>
                  <a:rPr lang="en-US" sz="2200" dirty="0">
                    <a:solidFill>
                      <a:schemeClr val="tx1"/>
                    </a:solidFill>
                  </a:rPr>
                  <a:t> </a:t>
                </a:r>
                <a14:m>
                  <m:oMath xmlns:m="http://schemas.openxmlformats.org/officeDocument/2006/math">
                    <m:f>
                      <m:fPr>
                        <m:ctrlPr>
                          <a:rPr lang="en-US" sz="2200" i="1">
                            <a:solidFill>
                              <a:schemeClr val="tx1"/>
                            </a:solidFill>
                            <a:latin typeface="Cambria Math" panose="02040503050406030204" pitchFamily="18" charset="0"/>
                          </a:rPr>
                        </m:ctrlPr>
                      </m:fPr>
                      <m:num>
                        <m:r>
                          <a:rPr lang="en-US" sz="2200" i="1">
                            <a:solidFill>
                              <a:schemeClr val="tx1"/>
                            </a:solidFill>
                            <a:latin typeface="Cambria Math"/>
                          </a:rPr>
                          <m:t>𝑛</m:t>
                        </m:r>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𝑢𝑣</m:t>
                            </m:r>
                          </m:e>
                        </m:nary>
                        <m:r>
                          <a:rPr lang="en-US" sz="2200" i="1">
                            <a:solidFill>
                              <a:schemeClr val="tx1"/>
                            </a:solidFill>
                            <a:latin typeface="Cambria Math"/>
                          </a:rPr>
                          <m:t>−</m:t>
                        </m:r>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𝑢</m:t>
                            </m:r>
                          </m:e>
                        </m:nary>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𝑣</m:t>
                            </m:r>
                          </m:e>
                        </m:nary>
                      </m:num>
                      <m:den>
                        <m:rad>
                          <m:radPr>
                            <m:degHide m:val="on"/>
                            <m:ctrlPr>
                              <a:rPr lang="en-US" sz="2200" i="1">
                                <a:solidFill>
                                  <a:schemeClr val="tx1"/>
                                </a:solidFill>
                                <a:latin typeface="Cambria Math" panose="02040503050406030204" pitchFamily="18" charset="0"/>
                              </a:rPr>
                            </m:ctrlPr>
                          </m:radPr>
                          <m:deg/>
                          <m:e>
                            <m:r>
                              <a:rPr lang="en-US" sz="2200" i="1">
                                <a:solidFill>
                                  <a:schemeClr val="tx1"/>
                                </a:solidFill>
                                <a:latin typeface="Cambria Math"/>
                              </a:rPr>
                              <m:t>𝑛</m:t>
                            </m:r>
                            <m:nary>
                              <m:naryPr>
                                <m:chr m:val="∑"/>
                                <m:subHide m:val="on"/>
                                <m:supHide m:val="on"/>
                                <m:ctrlPr>
                                  <a:rPr lang="en-US" sz="2200" i="1">
                                    <a:solidFill>
                                      <a:schemeClr val="tx1"/>
                                    </a:solidFill>
                                    <a:latin typeface="Cambria Math" panose="02040503050406030204" pitchFamily="18" charset="0"/>
                                  </a:rPr>
                                </m:ctrlPr>
                              </m:naryPr>
                              <m:sub/>
                              <m:sup/>
                              <m:e>
                                <m:sSup>
                                  <m:sSupPr>
                                    <m:ctrlPr>
                                      <a:rPr lang="en-US" sz="2200" i="1">
                                        <a:solidFill>
                                          <a:schemeClr val="tx1"/>
                                        </a:solidFill>
                                        <a:latin typeface="Cambria Math" panose="02040503050406030204" pitchFamily="18" charset="0"/>
                                      </a:rPr>
                                    </m:ctrlPr>
                                  </m:sSupPr>
                                  <m:e>
                                    <m:r>
                                      <a:rPr lang="en-US" sz="2200" b="0" i="1" smtClean="0">
                                        <a:solidFill>
                                          <a:schemeClr val="tx1"/>
                                        </a:solidFill>
                                        <a:latin typeface="Cambria Math"/>
                                      </a:rPr>
                                      <m:t>𝑢</m:t>
                                    </m:r>
                                  </m:e>
                                  <m:sup>
                                    <m:r>
                                      <a:rPr lang="en-US" sz="2200" i="1">
                                        <a:solidFill>
                                          <a:schemeClr val="tx1"/>
                                        </a:solidFill>
                                        <a:latin typeface="Cambria Math"/>
                                      </a:rPr>
                                      <m:t>2</m:t>
                                    </m:r>
                                  </m:sup>
                                </m:sSup>
                                <m:r>
                                  <a:rPr lang="en-US" sz="2200" i="1">
                                    <a:solidFill>
                                      <a:schemeClr val="tx1"/>
                                    </a:solidFill>
                                    <a:latin typeface="Cambria Math"/>
                                  </a:rPr>
                                  <m:t>−</m:t>
                                </m:r>
                                <m:sSup>
                                  <m:sSupPr>
                                    <m:ctrlPr>
                                      <a:rPr lang="en-US" sz="2200" i="1">
                                        <a:solidFill>
                                          <a:schemeClr val="tx1"/>
                                        </a:solidFill>
                                        <a:latin typeface="Cambria Math" panose="02040503050406030204" pitchFamily="18" charset="0"/>
                                      </a:rPr>
                                    </m:ctrlPr>
                                  </m:sSupPr>
                                  <m:e>
                                    <m:d>
                                      <m:dPr>
                                        <m:ctrlPr>
                                          <a:rPr lang="en-US" sz="2200" i="1">
                                            <a:solidFill>
                                              <a:schemeClr val="tx1"/>
                                            </a:solidFill>
                                            <a:latin typeface="Cambria Math" panose="02040503050406030204" pitchFamily="18" charset="0"/>
                                          </a:rPr>
                                        </m:ctrlPr>
                                      </m:dPr>
                                      <m:e>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𝑢</m:t>
                                            </m:r>
                                          </m:e>
                                        </m:nary>
                                      </m:e>
                                    </m:d>
                                  </m:e>
                                  <m:sup>
                                    <m:r>
                                      <a:rPr lang="en-US" sz="2200" i="1">
                                        <a:solidFill>
                                          <a:schemeClr val="tx1"/>
                                        </a:solidFill>
                                        <a:latin typeface="Cambria Math"/>
                                      </a:rPr>
                                      <m:t>2</m:t>
                                    </m:r>
                                  </m:sup>
                                </m:sSup>
                              </m:e>
                            </m:nary>
                          </m:e>
                        </m:rad>
                        <m:rad>
                          <m:radPr>
                            <m:degHide m:val="on"/>
                            <m:ctrlPr>
                              <a:rPr lang="en-US" sz="2200" i="1">
                                <a:solidFill>
                                  <a:schemeClr val="tx1"/>
                                </a:solidFill>
                                <a:latin typeface="Cambria Math" panose="02040503050406030204" pitchFamily="18" charset="0"/>
                              </a:rPr>
                            </m:ctrlPr>
                          </m:radPr>
                          <m:deg/>
                          <m:e>
                            <m:r>
                              <a:rPr lang="en-US" sz="2200" i="1">
                                <a:solidFill>
                                  <a:schemeClr val="tx1"/>
                                </a:solidFill>
                                <a:latin typeface="Cambria Math"/>
                              </a:rPr>
                              <m:t>𝑛</m:t>
                            </m:r>
                            <m:nary>
                              <m:naryPr>
                                <m:chr m:val="∑"/>
                                <m:subHide m:val="on"/>
                                <m:supHide m:val="on"/>
                                <m:ctrlPr>
                                  <a:rPr lang="en-US" sz="2200" i="1">
                                    <a:solidFill>
                                      <a:schemeClr val="tx1"/>
                                    </a:solidFill>
                                    <a:latin typeface="Cambria Math" panose="02040503050406030204" pitchFamily="18" charset="0"/>
                                  </a:rPr>
                                </m:ctrlPr>
                              </m:naryPr>
                              <m:sub/>
                              <m:sup/>
                              <m:e>
                                <m:sSup>
                                  <m:sSupPr>
                                    <m:ctrlPr>
                                      <a:rPr lang="en-US" sz="2200" i="1">
                                        <a:solidFill>
                                          <a:schemeClr val="tx1"/>
                                        </a:solidFill>
                                        <a:latin typeface="Cambria Math" panose="02040503050406030204" pitchFamily="18" charset="0"/>
                                      </a:rPr>
                                    </m:ctrlPr>
                                  </m:sSupPr>
                                  <m:e>
                                    <m:r>
                                      <a:rPr lang="en-US" sz="2200" b="0" i="1" smtClean="0">
                                        <a:solidFill>
                                          <a:schemeClr val="tx1"/>
                                        </a:solidFill>
                                        <a:latin typeface="Cambria Math"/>
                                      </a:rPr>
                                      <m:t>𝑣</m:t>
                                    </m:r>
                                  </m:e>
                                  <m:sup>
                                    <m:r>
                                      <a:rPr lang="en-US" sz="2200" i="1">
                                        <a:solidFill>
                                          <a:schemeClr val="tx1"/>
                                        </a:solidFill>
                                        <a:latin typeface="Cambria Math"/>
                                      </a:rPr>
                                      <m:t>2</m:t>
                                    </m:r>
                                  </m:sup>
                                </m:sSup>
                                <m:r>
                                  <a:rPr lang="en-US" sz="2200" i="1">
                                    <a:solidFill>
                                      <a:schemeClr val="tx1"/>
                                    </a:solidFill>
                                    <a:latin typeface="Cambria Math"/>
                                  </a:rPr>
                                  <m:t>−</m:t>
                                </m:r>
                                <m:sSup>
                                  <m:sSupPr>
                                    <m:ctrlPr>
                                      <a:rPr lang="en-US" sz="2200" i="1">
                                        <a:solidFill>
                                          <a:schemeClr val="tx1"/>
                                        </a:solidFill>
                                        <a:latin typeface="Cambria Math" panose="02040503050406030204" pitchFamily="18" charset="0"/>
                                      </a:rPr>
                                    </m:ctrlPr>
                                  </m:sSupPr>
                                  <m:e>
                                    <m:d>
                                      <m:dPr>
                                        <m:ctrlPr>
                                          <a:rPr lang="en-US" sz="2200" i="1">
                                            <a:solidFill>
                                              <a:schemeClr val="tx1"/>
                                            </a:solidFill>
                                            <a:latin typeface="Cambria Math" panose="02040503050406030204" pitchFamily="18" charset="0"/>
                                          </a:rPr>
                                        </m:ctrlPr>
                                      </m:dPr>
                                      <m:e>
                                        <m:nary>
                                          <m:naryPr>
                                            <m:chr m:val="∑"/>
                                            <m:subHide m:val="on"/>
                                            <m:supHide m:val="on"/>
                                            <m:ctrlPr>
                                              <a:rPr lang="en-US" sz="2200" i="1">
                                                <a:solidFill>
                                                  <a:schemeClr val="tx1"/>
                                                </a:solidFill>
                                                <a:latin typeface="Cambria Math" panose="02040503050406030204" pitchFamily="18" charset="0"/>
                                              </a:rPr>
                                            </m:ctrlPr>
                                          </m:naryPr>
                                          <m:sub/>
                                          <m:sup/>
                                          <m:e>
                                            <m:r>
                                              <a:rPr lang="en-US" sz="2200" b="0" i="1" smtClean="0">
                                                <a:solidFill>
                                                  <a:schemeClr val="tx1"/>
                                                </a:solidFill>
                                                <a:latin typeface="Cambria Math"/>
                                              </a:rPr>
                                              <m:t>𝑣</m:t>
                                            </m:r>
                                          </m:e>
                                        </m:nary>
                                      </m:e>
                                    </m:d>
                                  </m:e>
                                  <m:sup>
                                    <m:r>
                                      <a:rPr lang="en-US" sz="2200" i="1">
                                        <a:solidFill>
                                          <a:schemeClr val="tx1"/>
                                        </a:solidFill>
                                        <a:latin typeface="Cambria Math"/>
                                      </a:rPr>
                                      <m:t>2</m:t>
                                    </m:r>
                                  </m:sup>
                                </m:sSup>
                              </m:e>
                            </m:nary>
                          </m:e>
                        </m:rad>
                      </m:den>
                    </m:f>
                  </m:oMath>
                </a14:m>
                <a:endParaRPr lang="en-US" sz="22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817163"/>
                <a:ext cx="8229600" cy="5507436"/>
              </a:xfrm>
              <a:blipFill rotWithShape="1">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0479120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Q.Find the coefficient of correlation between the values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r>
                      <a:rPr lang="en-US" sz="2200" b="0" i="1" smtClean="0">
                        <a:latin typeface="Cambria Math"/>
                      </a:rPr>
                      <m:t>:</m:t>
                    </m:r>
                  </m:oMath>
                </a14:m>
                <a:endParaRPr lang="en-US" sz="2200" b="0" dirty="0"/>
              </a:p>
              <a:p>
                <a:endParaRPr lang="en-US" sz="2200" dirty="0"/>
              </a:p>
              <a:p>
                <a:endParaRPr lang="en-US" sz="2200" dirty="0"/>
              </a:p>
              <a:p>
                <a:pPr marL="0" indent="0">
                  <a:buNone/>
                </a:pPr>
                <a:r>
                  <a:rPr lang="en-US" sz="2200" dirty="0"/>
                  <a:t>Sol. Here </a:t>
                </a:r>
                <a14:m>
                  <m:oMath xmlns:m="http://schemas.openxmlformats.org/officeDocument/2006/math">
                    <m:r>
                      <a:rPr lang="en-US" sz="2200" b="0" i="1" smtClean="0">
                        <a:latin typeface="Cambria Math"/>
                      </a:rPr>
                      <m:t>𝑛</m:t>
                    </m:r>
                    <m:r>
                      <a:rPr lang="en-US" sz="2200" b="0" i="1" smtClean="0">
                        <a:latin typeface="Cambria Math"/>
                      </a:rPr>
                      <m:t>=6.</m:t>
                    </m:r>
                  </m:oMath>
                </a14:m>
                <a:r>
                  <a:rPr lang="en-US" sz="2200" dirty="0"/>
                  <a:t> The table is as follows.</a:t>
                </a:r>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07315350"/>
                  </p:ext>
                </p:extLst>
              </p:nvPr>
            </p:nvGraphicFramePr>
            <p:xfrm>
              <a:off x="1524000" y="1651000"/>
              <a:ext cx="3879274" cy="73660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tblGrid>
                  <a:tr h="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10</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17</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20</a:t>
                          </a:r>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07315350"/>
                  </p:ext>
                </p:extLst>
              </p:nvPr>
            </p:nvGraphicFramePr>
            <p:xfrm>
              <a:off x="1524000" y="1651000"/>
              <a:ext cx="3879274" cy="73660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tblGrid>
                  <a:tr h="365760">
                    <a:tc>
                      <a:txBody>
                        <a:bodyPr/>
                        <a:lstStyle/>
                        <a:p>
                          <a:endParaRPr lang="en-US"/>
                        </a:p>
                      </a:txBody>
                      <a:tcPr>
                        <a:blipFill>
                          <a:blip r:embed="rId3"/>
                          <a:stretch>
                            <a:fillRect l="-2198" t="-8197" r="-604396" b="-124590"/>
                          </a:stretch>
                        </a:blipFill>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10</a:t>
                          </a:r>
                        </a:p>
                      </a:txBody>
                      <a:tcPr/>
                    </a:tc>
                    <a:extLst>
                      <a:ext uri="{0D108BD9-81ED-4DB2-BD59-A6C34878D82A}">
                        <a16:rowId xmlns:a16="http://schemas.microsoft.com/office/drawing/2014/main" val="10000"/>
                      </a:ext>
                    </a:extLst>
                  </a:tr>
                  <a:tr h="370840">
                    <a:tc>
                      <a:txBody>
                        <a:bodyPr/>
                        <a:lstStyle/>
                        <a:p>
                          <a:endParaRPr lang="en-US"/>
                        </a:p>
                      </a:txBody>
                      <a:tcPr>
                        <a:blipFill>
                          <a:blip r:embed="rId3"/>
                          <a:stretch>
                            <a:fillRect l="-2198" t="-108197" r="-604396" b="-24590"/>
                          </a:stretch>
                        </a:blipFill>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17</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20</a:t>
                          </a: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636858584"/>
                  </p:ext>
                </p:extLst>
              </p:nvPr>
            </p:nvGraphicFramePr>
            <p:xfrm>
              <a:off x="1219200" y="2895600"/>
              <a:ext cx="6096000" cy="3322194"/>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16500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𝒙</m:t>
                                    </m:r>
                                  </m:e>
                                  <m:sup>
                                    <m:r>
                                      <a:rPr lang="en-US" b="1" i="1" smtClean="0">
                                        <a:latin typeface="Cambria Math"/>
                                      </a:rPr>
                                      <m:t>𝟐</m:t>
                                    </m:r>
                                  </m:sup>
                                </m:sSup>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𝒚</m:t>
                                    </m:r>
                                  </m:e>
                                  <m:sup>
                                    <m:r>
                                      <a:rPr lang="en-US" b="1" i="1" smtClean="0">
                                        <a:latin typeface="Cambria Math"/>
                                      </a:rPr>
                                      <m:t>𝟐</m:t>
                                    </m:r>
                                  </m:sup>
                                </m:sSup>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𝒙𝒚</m:t>
                                </m:r>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0"/>
                      </a:ext>
                    </a:extLst>
                  </a:tr>
                  <a:tr h="167291">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a:t>
                          </a:r>
                        </a:p>
                      </a:txBody>
                      <a:tcPr/>
                    </a:tc>
                    <a:extLst>
                      <a:ext uri="{0D108BD9-81ED-4DB2-BD59-A6C34878D82A}">
                        <a16:rowId xmlns:a16="http://schemas.microsoft.com/office/drawing/2014/main" val="10001"/>
                      </a:ext>
                    </a:extLst>
                  </a:tr>
                  <a:tr h="167291">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144</a:t>
                          </a:r>
                        </a:p>
                      </a:txBody>
                      <a:tcPr/>
                    </a:tc>
                    <a:tc>
                      <a:txBody>
                        <a:bodyPr/>
                        <a:lstStyle/>
                        <a:p>
                          <a:r>
                            <a:rPr lang="en-US" dirty="0">
                              <a:latin typeface="Times New Roman" panose="02020603050405020304" pitchFamily="18" charset="0"/>
                            </a:rPr>
                            <a:t>36</a:t>
                          </a:r>
                        </a:p>
                      </a:txBody>
                      <a:tcPr/>
                    </a:tc>
                    <a:extLst>
                      <a:ext uri="{0D108BD9-81ED-4DB2-BD59-A6C34878D82A}">
                        <a16:rowId xmlns:a16="http://schemas.microsoft.com/office/drawing/2014/main" val="10002"/>
                      </a:ext>
                    </a:extLst>
                  </a:tr>
                  <a:tr h="167291">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225</a:t>
                          </a:r>
                        </a:p>
                      </a:txBody>
                      <a:tcPr/>
                    </a:tc>
                    <a:tc>
                      <a:txBody>
                        <a:bodyPr/>
                        <a:lstStyle/>
                        <a:p>
                          <a:r>
                            <a:rPr lang="en-US" dirty="0">
                              <a:latin typeface="Times New Roman" panose="02020603050405020304" pitchFamily="18" charset="0"/>
                            </a:rPr>
                            <a:t>75</a:t>
                          </a:r>
                        </a:p>
                      </a:txBody>
                      <a:tcPr/>
                    </a:tc>
                    <a:extLst>
                      <a:ext uri="{0D108BD9-81ED-4DB2-BD59-A6C34878D82A}">
                        <a16:rowId xmlns:a16="http://schemas.microsoft.com/office/drawing/2014/main" val="10003"/>
                      </a:ext>
                    </a:extLst>
                  </a:tr>
                  <a:tr h="167291">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17</a:t>
                          </a:r>
                        </a:p>
                      </a:txBody>
                      <a:tcPr/>
                    </a:tc>
                    <a:tc>
                      <a:txBody>
                        <a:bodyPr/>
                        <a:lstStyle/>
                        <a:p>
                          <a:r>
                            <a:rPr lang="en-US" dirty="0">
                              <a:latin typeface="Times New Roman" panose="02020603050405020304" pitchFamily="18" charset="0"/>
                            </a:rPr>
                            <a:t>49</a:t>
                          </a:r>
                        </a:p>
                      </a:txBody>
                      <a:tcPr/>
                    </a:tc>
                    <a:tc>
                      <a:txBody>
                        <a:bodyPr/>
                        <a:lstStyle/>
                        <a:p>
                          <a:r>
                            <a:rPr lang="en-US" dirty="0">
                              <a:latin typeface="Times New Roman" panose="02020603050405020304" pitchFamily="18" charset="0"/>
                            </a:rPr>
                            <a:t>289</a:t>
                          </a:r>
                        </a:p>
                      </a:txBody>
                      <a:tcPr/>
                    </a:tc>
                    <a:tc>
                      <a:txBody>
                        <a:bodyPr/>
                        <a:lstStyle/>
                        <a:p>
                          <a:r>
                            <a:rPr lang="en-US" dirty="0">
                              <a:latin typeface="Times New Roman" panose="02020603050405020304" pitchFamily="18" charset="0"/>
                            </a:rPr>
                            <a:t>119</a:t>
                          </a:r>
                        </a:p>
                      </a:txBody>
                      <a:tcPr/>
                    </a:tc>
                    <a:extLst>
                      <a:ext uri="{0D108BD9-81ED-4DB2-BD59-A6C34878D82A}">
                        <a16:rowId xmlns:a16="http://schemas.microsoft.com/office/drawing/2014/main" val="10004"/>
                      </a:ext>
                    </a:extLst>
                  </a:tr>
                  <a:tr h="167291">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324</a:t>
                          </a:r>
                        </a:p>
                      </a:txBody>
                      <a:tcPr/>
                    </a:tc>
                    <a:tc>
                      <a:txBody>
                        <a:bodyPr/>
                        <a:lstStyle/>
                        <a:p>
                          <a:r>
                            <a:rPr lang="en-US" dirty="0">
                              <a:latin typeface="Times New Roman" panose="02020603050405020304" pitchFamily="18" charset="0"/>
                            </a:rPr>
                            <a:t>144</a:t>
                          </a:r>
                        </a:p>
                      </a:txBody>
                      <a:tcPr/>
                    </a:tc>
                    <a:extLst>
                      <a:ext uri="{0D108BD9-81ED-4DB2-BD59-A6C34878D82A}">
                        <a16:rowId xmlns:a16="http://schemas.microsoft.com/office/drawing/2014/main" val="10005"/>
                      </a:ext>
                    </a:extLst>
                  </a:tr>
                  <a:tr h="167291">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20</a:t>
                          </a:r>
                        </a:p>
                      </a:txBody>
                      <a:tcPr/>
                    </a:tc>
                    <a:tc>
                      <a:txBody>
                        <a:bodyPr/>
                        <a:lstStyle/>
                        <a:p>
                          <a:r>
                            <a:rPr lang="en-US" dirty="0">
                              <a:latin typeface="Times New Roman" panose="02020603050405020304" pitchFamily="18" charset="0"/>
                            </a:rPr>
                            <a:t>100</a:t>
                          </a:r>
                        </a:p>
                      </a:txBody>
                      <a:tcPr/>
                    </a:tc>
                    <a:tc>
                      <a:txBody>
                        <a:bodyPr/>
                        <a:lstStyle/>
                        <a:p>
                          <a:r>
                            <a:rPr lang="en-US" dirty="0">
                              <a:latin typeface="Times New Roman" panose="02020603050405020304" pitchFamily="18" charset="0"/>
                            </a:rPr>
                            <a:t>400</a:t>
                          </a:r>
                        </a:p>
                      </a:txBody>
                      <a:tcPr/>
                    </a:tc>
                    <a:tc>
                      <a:txBody>
                        <a:bodyPr/>
                        <a:lstStyle/>
                        <a:p>
                          <a:r>
                            <a:rPr lang="en-US" dirty="0">
                              <a:latin typeface="Times New Roman" panose="02020603050405020304" pitchFamily="18" charset="0"/>
                            </a:rPr>
                            <a:t>200</a:t>
                          </a:r>
                        </a:p>
                      </a:txBody>
                      <a:tcPr/>
                    </a:tc>
                    <a:extLst>
                      <a:ext uri="{0D108BD9-81ED-4DB2-BD59-A6C34878D82A}">
                        <a16:rowId xmlns:a16="http://schemas.microsoft.com/office/drawing/2014/main" val="10006"/>
                      </a:ext>
                    </a:extLst>
                  </a:tr>
                  <a:tr h="167291">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𝑥</m:t>
                                    </m:r>
                                    <m:r>
                                      <a:rPr lang="en-US" b="0" i="1" smtClean="0">
                                        <a:latin typeface="Cambria Math"/>
                                      </a:rPr>
                                      <m:t>=34</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𝑦</m:t>
                                    </m:r>
                                    <m:r>
                                      <a:rPr lang="en-US" b="0" i="1" smtClean="0">
                                        <a:latin typeface="Cambria Math"/>
                                      </a:rPr>
                                      <m:t>=90</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=248</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𝑦</m:t>
                                        </m:r>
                                      </m:e>
                                      <m:sup>
                                        <m:r>
                                          <a:rPr lang="en-US" b="0" i="1" smtClean="0">
                                            <a:latin typeface="Cambria Math"/>
                                          </a:rPr>
                                          <m:t>2</m:t>
                                        </m:r>
                                      </m:sup>
                                    </m:sSup>
                                    <m:r>
                                      <a:rPr lang="en-US" b="0" i="1" smtClean="0">
                                        <a:latin typeface="Cambria Math"/>
                                      </a:rPr>
                                      <m:t>=1446</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𝑥𝑦</m:t>
                                    </m:r>
                                    <m:r>
                                      <a:rPr lang="en-US" b="0" i="1" smtClean="0">
                                        <a:latin typeface="Cambria Math"/>
                                      </a:rPr>
                                      <m:t>=582</m:t>
                                    </m:r>
                                  </m:e>
                                </m:nary>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636858584"/>
                  </p:ext>
                </p:extLst>
              </p:nvPr>
            </p:nvGraphicFramePr>
            <p:xfrm>
              <a:off x="1219200" y="2895600"/>
              <a:ext cx="6096000" cy="3322194"/>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1920">
                    <a:tc>
                      <a:txBody>
                        <a:bodyPr/>
                        <a:lstStyle/>
                        <a:p>
                          <a:endParaRPr lang="en-US"/>
                        </a:p>
                      </a:txBody>
                      <a:tcPr>
                        <a:blipFill>
                          <a:blip r:embed="rId4"/>
                          <a:stretch>
                            <a:fillRect l="-1000" t="-3279" r="-402500" b="-798361"/>
                          </a:stretch>
                        </a:blipFill>
                      </a:tcPr>
                    </a:tc>
                    <a:tc>
                      <a:txBody>
                        <a:bodyPr/>
                        <a:lstStyle/>
                        <a:p>
                          <a:endParaRPr lang="en-US"/>
                        </a:p>
                      </a:txBody>
                      <a:tcPr>
                        <a:blipFill>
                          <a:blip r:embed="rId4"/>
                          <a:stretch>
                            <a:fillRect l="-101000" t="-3279" r="-302500" b="-798361"/>
                          </a:stretch>
                        </a:blipFill>
                      </a:tcPr>
                    </a:tc>
                    <a:tc>
                      <a:txBody>
                        <a:bodyPr/>
                        <a:lstStyle/>
                        <a:p>
                          <a:endParaRPr lang="en-US"/>
                        </a:p>
                      </a:txBody>
                      <a:tcPr>
                        <a:blipFill>
                          <a:blip r:embed="rId4"/>
                          <a:stretch>
                            <a:fillRect l="-201000" t="-3279" r="-202500" b="-798361"/>
                          </a:stretch>
                        </a:blipFill>
                      </a:tcPr>
                    </a:tc>
                    <a:tc>
                      <a:txBody>
                        <a:bodyPr/>
                        <a:lstStyle/>
                        <a:p>
                          <a:endParaRPr lang="en-US"/>
                        </a:p>
                      </a:txBody>
                      <a:tcPr>
                        <a:blipFill>
                          <a:blip r:embed="rId4"/>
                          <a:stretch>
                            <a:fillRect l="-301000" t="-3279" r="-102500" b="-798361"/>
                          </a:stretch>
                        </a:blipFill>
                      </a:tcPr>
                    </a:tc>
                    <a:tc>
                      <a:txBody>
                        <a:bodyPr/>
                        <a:lstStyle/>
                        <a:p>
                          <a:endParaRPr lang="en-US"/>
                        </a:p>
                      </a:txBody>
                      <a:tcPr>
                        <a:blipFill>
                          <a:blip r:embed="rId4"/>
                          <a:stretch>
                            <a:fillRect l="-401000" t="-3279" r="-2500" b="-798361"/>
                          </a:stretch>
                        </a:blipFill>
                      </a:tcPr>
                    </a:tc>
                    <a:extLst>
                      <a:ext uri="{0D108BD9-81ED-4DB2-BD59-A6C34878D82A}">
                        <a16:rowId xmlns:a16="http://schemas.microsoft.com/office/drawing/2014/main" val="10000"/>
                      </a:ext>
                    </a:extLst>
                  </a:tr>
                  <a:tr h="365760">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a:t>
                          </a:r>
                        </a:p>
                      </a:txBody>
                      <a:tcPr/>
                    </a:tc>
                    <a:extLst>
                      <a:ext uri="{0D108BD9-81ED-4DB2-BD59-A6C34878D82A}">
                        <a16:rowId xmlns:a16="http://schemas.microsoft.com/office/drawing/2014/main" val="10001"/>
                      </a:ext>
                    </a:extLst>
                  </a:tr>
                  <a:tr h="365760">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144</a:t>
                          </a:r>
                        </a:p>
                      </a:txBody>
                      <a:tcPr/>
                    </a:tc>
                    <a:tc>
                      <a:txBody>
                        <a:bodyPr/>
                        <a:lstStyle/>
                        <a:p>
                          <a:r>
                            <a:rPr lang="en-US" dirty="0">
                              <a:latin typeface="Times New Roman" panose="02020603050405020304" pitchFamily="18" charset="0"/>
                            </a:rPr>
                            <a:t>36</a:t>
                          </a:r>
                        </a:p>
                      </a:txBody>
                      <a:tcPr/>
                    </a:tc>
                    <a:extLst>
                      <a:ext uri="{0D108BD9-81ED-4DB2-BD59-A6C34878D82A}">
                        <a16:rowId xmlns:a16="http://schemas.microsoft.com/office/drawing/2014/main" val="10002"/>
                      </a:ext>
                    </a:extLst>
                  </a:tr>
                  <a:tr h="365760">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225</a:t>
                          </a:r>
                        </a:p>
                      </a:txBody>
                      <a:tcPr/>
                    </a:tc>
                    <a:tc>
                      <a:txBody>
                        <a:bodyPr/>
                        <a:lstStyle/>
                        <a:p>
                          <a:r>
                            <a:rPr lang="en-US" dirty="0">
                              <a:latin typeface="Times New Roman" panose="02020603050405020304" pitchFamily="18" charset="0"/>
                            </a:rPr>
                            <a:t>75</a:t>
                          </a:r>
                        </a:p>
                      </a:txBody>
                      <a:tcPr/>
                    </a:tc>
                    <a:extLst>
                      <a:ext uri="{0D108BD9-81ED-4DB2-BD59-A6C34878D82A}">
                        <a16:rowId xmlns:a16="http://schemas.microsoft.com/office/drawing/2014/main" val="10003"/>
                      </a:ext>
                    </a:extLst>
                  </a:tr>
                  <a:tr h="365760">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17</a:t>
                          </a:r>
                        </a:p>
                      </a:txBody>
                      <a:tcPr/>
                    </a:tc>
                    <a:tc>
                      <a:txBody>
                        <a:bodyPr/>
                        <a:lstStyle/>
                        <a:p>
                          <a:r>
                            <a:rPr lang="en-US" dirty="0">
                              <a:latin typeface="Times New Roman" panose="02020603050405020304" pitchFamily="18" charset="0"/>
                            </a:rPr>
                            <a:t>49</a:t>
                          </a:r>
                        </a:p>
                      </a:txBody>
                      <a:tcPr/>
                    </a:tc>
                    <a:tc>
                      <a:txBody>
                        <a:bodyPr/>
                        <a:lstStyle/>
                        <a:p>
                          <a:r>
                            <a:rPr lang="en-US" dirty="0">
                              <a:latin typeface="Times New Roman" panose="02020603050405020304" pitchFamily="18" charset="0"/>
                            </a:rPr>
                            <a:t>289</a:t>
                          </a:r>
                        </a:p>
                      </a:txBody>
                      <a:tcPr/>
                    </a:tc>
                    <a:tc>
                      <a:txBody>
                        <a:bodyPr/>
                        <a:lstStyle/>
                        <a:p>
                          <a:r>
                            <a:rPr lang="en-US" dirty="0">
                              <a:latin typeface="Times New Roman" panose="02020603050405020304" pitchFamily="18" charset="0"/>
                            </a:rPr>
                            <a:t>119</a:t>
                          </a:r>
                        </a:p>
                      </a:txBody>
                      <a:tcPr/>
                    </a:tc>
                    <a:extLst>
                      <a:ext uri="{0D108BD9-81ED-4DB2-BD59-A6C34878D82A}">
                        <a16:rowId xmlns:a16="http://schemas.microsoft.com/office/drawing/2014/main" val="10004"/>
                      </a:ext>
                    </a:extLst>
                  </a:tr>
                  <a:tr h="365760">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324</a:t>
                          </a:r>
                        </a:p>
                      </a:txBody>
                      <a:tcPr/>
                    </a:tc>
                    <a:tc>
                      <a:txBody>
                        <a:bodyPr/>
                        <a:lstStyle/>
                        <a:p>
                          <a:r>
                            <a:rPr lang="en-US" dirty="0">
                              <a:latin typeface="Times New Roman" panose="02020603050405020304" pitchFamily="18" charset="0"/>
                            </a:rPr>
                            <a:t>144</a:t>
                          </a:r>
                        </a:p>
                      </a:txBody>
                      <a:tcPr/>
                    </a:tc>
                    <a:extLst>
                      <a:ext uri="{0D108BD9-81ED-4DB2-BD59-A6C34878D82A}">
                        <a16:rowId xmlns:a16="http://schemas.microsoft.com/office/drawing/2014/main" val="10005"/>
                      </a:ext>
                    </a:extLst>
                  </a:tr>
                  <a:tr h="365760">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20</a:t>
                          </a:r>
                        </a:p>
                      </a:txBody>
                      <a:tcPr/>
                    </a:tc>
                    <a:tc>
                      <a:txBody>
                        <a:bodyPr/>
                        <a:lstStyle/>
                        <a:p>
                          <a:r>
                            <a:rPr lang="en-US" dirty="0">
                              <a:latin typeface="Times New Roman" panose="02020603050405020304" pitchFamily="18" charset="0"/>
                            </a:rPr>
                            <a:t>100</a:t>
                          </a:r>
                        </a:p>
                      </a:txBody>
                      <a:tcPr/>
                    </a:tc>
                    <a:tc>
                      <a:txBody>
                        <a:bodyPr/>
                        <a:lstStyle/>
                        <a:p>
                          <a:r>
                            <a:rPr lang="en-US" dirty="0">
                              <a:latin typeface="Times New Roman" panose="02020603050405020304" pitchFamily="18" charset="0"/>
                            </a:rPr>
                            <a:t>400</a:t>
                          </a:r>
                        </a:p>
                      </a:txBody>
                      <a:tcPr/>
                    </a:tc>
                    <a:tc>
                      <a:txBody>
                        <a:bodyPr/>
                        <a:lstStyle/>
                        <a:p>
                          <a:r>
                            <a:rPr lang="en-US" dirty="0">
                              <a:latin typeface="Times New Roman" panose="02020603050405020304" pitchFamily="18" charset="0"/>
                            </a:rPr>
                            <a:t>200</a:t>
                          </a:r>
                        </a:p>
                      </a:txBody>
                      <a:tcPr/>
                    </a:tc>
                    <a:extLst>
                      <a:ext uri="{0D108BD9-81ED-4DB2-BD59-A6C34878D82A}">
                        <a16:rowId xmlns:a16="http://schemas.microsoft.com/office/drawing/2014/main" val="10006"/>
                      </a:ext>
                    </a:extLst>
                  </a:tr>
                  <a:tr h="755714">
                    <a:tc>
                      <a:txBody>
                        <a:bodyPr/>
                        <a:lstStyle/>
                        <a:p>
                          <a:endParaRPr lang="en-US"/>
                        </a:p>
                      </a:txBody>
                      <a:tcPr>
                        <a:blipFill>
                          <a:blip r:embed="rId4"/>
                          <a:stretch>
                            <a:fillRect l="-1000" t="-341129" r="-402500" b="-2419"/>
                          </a:stretch>
                        </a:blipFill>
                      </a:tcPr>
                    </a:tc>
                    <a:tc>
                      <a:txBody>
                        <a:bodyPr/>
                        <a:lstStyle/>
                        <a:p>
                          <a:endParaRPr lang="en-US"/>
                        </a:p>
                      </a:txBody>
                      <a:tcPr>
                        <a:blipFill>
                          <a:blip r:embed="rId4"/>
                          <a:stretch>
                            <a:fillRect l="-101000" t="-341129" r="-302500" b="-2419"/>
                          </a:stretch>
                        </a:blipFill>
                      </a:tcPr>
                    </a:tc>
                    <a:tc>
                      <a:txBody>
                        <a:bodyPr/>
                        <a:lstStyle/>
                        <a:p>
                          <a:endParaRPr lang="en-US"/>
                        </a:p>
                      </a:txBody>
                      <a:tcPr>
                        <a:blipFill>
                          <a:blip r:embed="rId4"/>
                          <a:stretch>
                            <a:fillRect l="-201000" t="-341129" r="-202500" b="-2419"/>
                          </a:stretch>
                        </a:blipFill>
                      </a:tcPr>
                    </a:tc>
                    <a:tc>
                      <a:txBody>
                        <a:bodyPr/>
                        <a:lstStyle/>
                        <a:p>
                          <a:endParaRPr lang="en-US"/>
                        </a:p>
                      </a:txBody>
                      <a:tcPr>
                        <a:blipFill>
                          <a:blip r:embed="rId4"/>
                          <a:stretch>
                            <a:fillRect l="-301000" t="-341129" r="-102500" b="-2419"/>
                          </a:stretch>
                        </a:blipFill>
                      </a:tcPr>
                    </a:tc>
                    <a:tc>
                      <a:txBody>
                        <a:bodyPr/>
                        <a:lstStyle/>
                        <a:p>
                          <a:endParaRPr lang="en-US"/>
                        </a:p>
                      </a:txBody>
                      <a:tcPr>
                        <a:blipFill>
                          <a:blip r:embed="rId4"/>
                          <a:stretch>
                            <a:fillRect l="-401000" t="-341129" r="-2500" b="-2419"/>
                          </a:stretch>
                        </a:blipFill>
                      </a:tcPr>
                    </a:tc>
                    <a:extLst>
                      <a:ext uri="{0D108BD9-81ED-4DB2-BD59-A6C34878D82A}">
                        <a16:rowId xmlns:a16="http://schemas.microsoft.com/office/drawing/2014/main" val="10007"/>
                      </a:ext>
                    </a:extLst>
                  </a:tr>
                </a:tbl>
              </a:graphicData>
            </a:graphic>
          </p:graphicFrame>
        </mc:Fallback>
      </mc:AlternateContent>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82505414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Karl Pearson’s coefficient of correlation is given by</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𝑟</m:t>
                      </m:r>
                      <m:d>
                        <m:dPr>
                          <m:ctrlPr>
                            <a:rPr lang="en-US" sz="2200" i="1">
                              <a:latin typeface="Cambria Math" panose="02040503050406030204" pitchFamily="18" charset="0"/>
                            </a:rPr>
                          </m:ctrlPr>
                        </m:dPr>
                        <m:e>
                          <m:r>
                            <a:rPr lang="en-US" sz="2200" i="1">
                              <a:latin typeface="Cambria Math"/>
                            </a:rPr>
                            <m:t>𝑥</m:t>
                          </m:r>
                          <m:r>
                            <a:rPr lang="en-US" sz="2200" i="1">
                              <a:latin typeface="Cambria Math"/>
                            </a:rPr>
                            <m:t>,</m:t>
                          </m:r>
                          <m:r>
                            <a:rPr lang="en-US" sz="2200" i="1">
                              <a:latin typeface="Cambria Math"/>
                            </a:rPr>
                            <m:t>𝑦</m:t>
                          </m:r>
                        </m:e>
                      </m:d>
                      <m:r>
                        <a:rPr lang="en-US" sz="2200" i="1">
                          <a:latin typeface="Cambria Math"/>
                        </a:rPr>
                        <m:t>=</m:t>
                      </m:r>
                      <m:f>
                        <m:fPr>
                          <m:ctrlPr>
                            <a:rPr lang="en-US" sz="2200" i="1">
                              <a:latin typeface="Cambria Math" panose="02040503050406030204" pitchFamily="18" charset="0"/>
                            </a:rPr>
                          </m:ctrlPr>
                        </m:fPr>
                        <m:num>
                          <m:r>
                            <a:rPr lang="en-US" sz="2200" i="1">
                              <a:latin typeface="Cambria Math"/>
                            </a:rPr>
                            <m:t>𝑛</m:t>
                          </m:r>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num>
                        <m:den>
                          <m:rad>
                            <m:radPr>
                              <m:degHide m:val="on"/>
                              <m:ctrlPr>
                                <a:rPr lang="en-US" sz="2200" i="1">
                                  <a:latin typeface="Cambria Math" panose="02040503050406030204" pitchFamily="18" charset="0"/>
                                </a:rPr>
                              </m:ctrlPr>
                            </m:radPr>
                            <m:deg/>
                            <m:e>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e>
                                      </m:d>
                                    </m:e>
                                    <m:sup>
                                      <m:r>
                                        <a:rPr lang="en-US" sz="2200" i="1">
                                          <a:latin typeface="Cambria Math"/>
                                        </a:rPr>
                                        <m:t>2</m:t>
                                      </m:r>
                                    </m:sup>
                                  </m:sSup>
                                </m:e>
                              </m:nary>
                            </m:e>
                          </m:rad>
                          <m:rad>
                            <m:radPr>
                              <m:degHide m:val="on"/>
                              <m:ctrlPr>
                                <a:rPr lang="en-US" sz="2200" i="1">
                                  <a:latin typeface="Cambria Math" panose="02040503050406030204" pitchFamily="18" charset="0"/>
                                </a:rPr>
                              </m:ctrlPr>
                            </m:radPr>
                            <m:deg/>
                            <m:e>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𝑦</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e>
                                      </m:d>
                                    </m:e>
                                    <m:sup>
                                      <m:r>
                                        <a:rPr lang="en-US" sz="2200" i="1">
                                          <a:latin typeface="Cambria Math"/>
                                        </a:rPr>
                                        <m:t>2</m:t>
                                      </m:r>
                                    </m:sup>
                                  </m:sSup>
                                </m:e>
                              </m:nary>
                            </m:e>
                          </m:rad>
                        </m:den>
                      </m:f>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𝑟</m:t>
                      </m:r>
                      <m:d>
                        <m:dPr>
                          <m:ctrlPr>
                            <a:rPr lang="en-US" sz="2200" i="1">
                              <a:latin typeface="Cambria Math" panose="02040503050406030204" pitchFamily="18" charset="0"/>
                            </a:rPr>
                          </m:ctrlPr>
                        </m:dPr>
                        <m:e>
                          <m:r>
                            <a:rPr lang="en-US" sz="2200" i="1">
                              <a:latin typeface="Cambria Math"/>
                            </a:rPr>
                            <m:t>𝑥</m:t>
                          </m:r>
                          <m:r>
                            <a:rPr lang="en-US" sz="2200" i="1">
                              <a:latin typeface="Cambria Math"/>
                            </a:rPr>
                            <m:t>,</m:t>
                          </m:r>
                          <m:r>
                            <a:rPr lang="en-US" sz="2200" i="1">
                              <a:latin typeface="Cambria Math"/>
                            </a:rPr>
                            <m:t>𝑦</m:t>
                          </m:r>
                        </m:e>
                      </m:d>
                      <m:r>
                        <a:rPr lang="en-US" sz="2200" i="1">
                          <a:latin typeface="Cambria Math"/>
                        </a:rPr>
                        <m:t>=</m:t>
                      </m:r>
                      <m:f>
                        <m:fPr>
                          <m:ctrlPr>
                            <a:rPr lang="en-US" sz="2200" i="1" smtClean="0">
                              <a:latin typeface="Cambria Math" panose="02040503050406030204" pitchFamily="18" charset="0"/>
                            </a:rPr>
                          </m:ctrlPr>
                        </m:fPr>
                        <m:num>
                          <m:d>
                            <m:dPr>
                              <m:ctrlPr>
                                <a:rPr lang="en-US" sz="2200" i="1" smtClean="0">
                                  <a:latin typeface="Cambria Math" panose="02040503050406030204" pitchFamily="18" charset="0"/>
                                </a:rPr>
                              </m:ctrlPr>
                            </m:dPr>
                            <m:e>
                              <m:r>
                                <a:rPr lang="en-US" sz="2200" b="0" i="1" smtClean="0">
                                  <a:latin typeface="Cambria Math"/>
                                </a:rPr>
                                <m:t>6</m:t>
                              </m:r>
                              <m:r>
                                <a:rPr lang="en-US" sz="2200" b="0" i="1" smtClean="0">
                                  <a:latin typeface="Cambria Math"/>
                                  <a:ea typeface="Cambria Math"/>
                                </a:rPr>
                                <m:t>×</m:t>
                              </m:r>
                              <m:r>
                                <a:rPr lang="en-US" sz="2200" b="0" i="1" smtClean="0">
                                  <a:latin typeface="Cambria Math"/>
                                </a:rPr>
                                <m:t>582</m:t>
                              </m:r>
                            </m:e>
                          </m:d>
                          <m:r>
                            <a:rPr lang="en-US" sz="2200" b="0" i="1" smtClean="0">
                              <a:latin typeface="Cambria Math"/>
                            </a:rPr>
                            <m:t>−</m:t>
                          </m:r>
                          <m:d>
                            <m:dPr>
                              <m:ctrlPr>
                                <a:rPr lang="en-US" sz="2200" b="0" i="1" smtClean="0">
                                  <a:latin typeface="Cambria Math" panose="02040503050406030204" pitchFamily="18" charset="0"/>
                                </a:rPr>
                              </m:ctrlPr>
                            </m:dPr>
                            <m:e>
                              <m:r>
                                <a:rPr lang="en-US" sz="2200" b="0" i="1" smtClean="0">
                                  <a:latin typeface="Cambria Math"/>
                                </a:rPr>
                                <m:t>34</m:t>
                              </m:r>
                              <m:r>
                                <a:rPr lang="en-US" sz="2200" b="0" i="1" smtClean="0">
                                  <a:latin typeface="Cambria Math"/>
                                  <a:ea typeface="Cambria Math"/>
                                </a:rPr>
                                <m:t>×90</m:t>
                              </m:r>
                            </m:e>
                          </m:d>
                        </m:num>
                        <m:den>
                          <m:rad>
                            <m:radPr>
                              <m:degHide m:val="on"/>
                              <m:ctrlPr>
                                <a:rPr lang="en-US" sz="2200" i="1">
                                  <a:latin typeface="Cambria Math" panose="02040503050406030204" pitchFamily="18" charset="0"/>
                                </a:rPr>
                              </m:ctrlPr>
                            </m:radPr>
                            <m:deg/>
                            <m:e>
                              <m:d>
                                <m:dPr>
                                  <m:ctrlPr>
                                    <a:rPr lang="en-US" sz="2200" i="1" smtClean="0">
                                      <a:latin typeface="Cambria Math" panose="02040503050406030204" pitchFamily="18" charset="0"/>
                                    </a:rPr>
                                  </m:ctrlPr>
                                </m:dPr>
                                <m:e>
                                  <m:r>
                                    <a:rPr lang="en-US" sz="2200" b="0" i="1" smtClean="0">
                                      <a:latin typeface="Cambria Math"/>
                                    </a:rPr>
                                    <m:t>6</m:t>
                                  </m:r>
                                  <m:r>
                                    <a:rPr lang="en-US" sz="2200" b="0" i="1" smtClean="0">
                                      <a:latin typeface="Cambria Math"/>
                                      <a:ea typeface="Cambria Math"/>
                                    </a:rPr>
                                    <m:t>×248</m:t>
                                  </m:r>
                                </m:e>
                              </m:d>
                              <m:r>
                                <a:rPr lang="en-US" sz="2200" b="0" i="1" smtClean="0">
                                  <a:latin typeface="Cambria Math"/>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34</m:t>
                                      </m:r>
                                    </m:e>
                                  </m:d>
                                </m:e>
                                <m:sup>
                                  <m:r>
                                    <a:rPr lang="en-US" sz="2200" b="0" i="1" smtClean="0">
                                      <a:latin typeface="Cambria Math"/>
                                    </a:rPr>
                                    <m:t>2</m:t>
                                  </m:r>
                                </m:sup>
                              </m:sSup>
                            </m:e>
                          </m:rad>
                          <m:rad>
                            <m:radPr>
                              <m:degHide m:val="on"/>
                              <m:ctrlPr>
                                <a:rPr lang="en-US" sz="2200" i="1">
                                  <a:latin typeface="Cambria Math" panose="02040503050406030204" pitchFamily="18" charset="0"/>
                                </a:rPr>
                              </m:ctrlPr>
                            </m:radPr>
                            <m:deg/>
                            <m:e>
                              <m:d>
                                <m:dPr>
                                  <m:ctrlPr>
                                    <a:rPr lang="en-US" sz="2200" i="1" smtClean="0">
                                      <a:latin typeface="Cambria Math" panose="02040503050406030204" pitchFamily="18" charset="0"/>
                                    </a:rPr>
                                  </m:ctrlPr>
                                </m:dPr>
                                <m:e>
                                  <m:r>
                                    <a:rPr lang="en-US" sz="2200" b="0" i="1" smtClean="0">
                                      <a:latin typeface="Cambria Math"/>
                                    </a:rPr>
                                    <m:t>6</m:t>
                                  </m:r>
                                  <m:r>
                                    <a:rPr lang="en-US" sz="2200" b="0" i="1" smtClean="0">
                                      <a:latin typeface="Cambria Math"/>
                                      <a:ea typeface="Cambria Math"/>
                                    </a:rPr>
                                    <m:t>×1446</m:t>
                                  </m:r>
                                </m:e>
                              </m:d>
                              <m:r>
                                <a:rPr lang="en-US" sz="2200" b="0" i="1" smtClean="0">
                                  <a:latin typeface="Cambria Math"/>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90</m:t>
                                      </m:r>
                                    </m:e>
                                  </m:d>
                                </m:e>
                                <m:sup>
                                  <m:r>
                                    <a:rPr lang="en-US" sz="2200" b="0" i="1" smtClean="0">
                                      <a:latin typeface="Cambria Math"/>
                                    </a:rPr>
                                    <m:t>2</m:t>
                                  </m:r>
                                </m:sup>
                              </m:sSup>
                            </m:e>
                          </m:rad>
                        </m:den>
                      </m:f>
                      <m:r>
                        <a:rPr lang="en-US" sz="2200" b="0" i="0" smtClean="0">
                          <a:latin typeface="Cambria Math"/>
                        </a:rPr>
                        <m:t>=0.9879</m:t>
                      </m:r>
                    </m:oMath>
                  </m:oMathPara>
                </a14:m>
                <a:endParaRPr lang="en-US" sz="2200" dirty="0"/>
              </a:p>
              <a:p>
                <a:pPr marL="0" indent="0">
                  <a:buNone/>
                </a:pPr>
                <a:r>
                  <a:rPr lang="en-US" sz="2200" dirty="0"/>
                  <a:t>Q. Find the co-efficient of correlation for the following table:</a:t>
                </a:r>
              </a:p>
              <a:p>
                <a:endParaRPr lang="en-US" sz="2200" dirty="0"/>
              </a:p>
              <a:p>
                <a:endParaRPr lang="en-US" sz="2200" dirty="0"/>
              </a:p>
              <a:p>
                <a:endParaRPr lang="en-US" sz="2200" dirty="0"/>
              </a:p>
              <a:p>
                <a:pPr marL="0" indent="0">
                  <a:buNone/>
                </a:pPr>
                <a:r>
                  <a:rPr lang="en-US" sz="2200" dirty="0"/>
                  <a:t>Solution: Let </a:t>
                </a:r>
                <a14:m>
                  <m:oMath xmlns:m="http://schemas.openxmlformats.org/officeDocument/2006/math">
                    <m:r>
                      <a:rPr lang="en-US" sz="2200" b="0" i="1" smtClean="0">
                        <a:latin typeface="Cambria Math"/>
                      </a:rPr>
                      <m:t>𝑢</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𝑥</m:t>
                        </m:r>
                        <m:r>
                          <a:rPr lang="en-US" sz="2200" b="0" i="1" smtClean="0">
                            <a:latin typeface="Cambria Math"/>
                          </a:rPr>
                          <m:t>−22</m:t>
                        </m:r>
                      </m:num>
                      <m:den>
                        <m:r>
                          <a:rPr lang="en-US" sz="2200" b="0" i="1" smtClean="0">
                            <a:latin typeface="Cambria Math"/>
                          </a:rPr>
                          <m:t>4</m:t>
                        </m:r>
                      </m:den>
                    </m:f>
                    <m:r>
                      <a:rPr lang="en-US" sz="2200" b="0" i="1" smtClean="0">
                        <a:latin typeface="Cambria Math"/>
                      </a:rPr>
                      <m:t>,</m:t>
                    </m:r>
                    <m:r>
                      <a:rPr lang="en-US" sz="2200" b="0" i="1" smtClean="0">
                        <a:latin typeface="Cambria Math"/>
                      </a:rPr>
                      <m:t>𝑣</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𝑦</m:t>
                        </m:r>
                        <m:r>
                          <a:rPr lang="en-US" sz="2200" b="0" i="1" smtClean="0">
                            <a:latin typeface="Cambria Math"/>
                          </a:rPr>
                          <m:t>−24</m:t>
                        </m:r>
                      </m:num>
                      <m:den>
                        <m:r>
                          <a:rPr lang="en-US" sz="2200" b="0" i="1" smtClean="0">
                            <a:latin typeface="Cambria Math"/>
                          </a:rPr>
                          <m:t>6</m:t>
                        </m:r>
                      </m:den>
                    </m:f>
                  </m:oMath>
                </a14:m>
                <a:endParaRPr lang="en-US" sz="2200" dirty="0"/>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40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716615893"/>
                  </p:ext>
                </p:extLst>
              </p:nvPr>
            </p:nvGraphicFramePr>
            <p:xfrm>
              <a:off x="914400" y="3581400"/>
              <a:ext cx="6095999" cy="792480"/>
            </p:xfrm>
            <a:graphic>
              <a:graphicData uri="http://schemas.openxmlformats.org/drawingml/2006/table">
                <a:tbl>
                  <a:tblPr firstRow="1"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1" i="1" smtClean="0">
                                    <a:latin typeface="Cambria Math"/>
                                  </a:rPr>
                                  <m:t>𝒙</m:t>
                                </m:r>
                              </m:oMath>
                            </m:oMathPara>
                          </a14:m>
                          <a:endParaRPr lang="en-US" sz="2000" dirty="0">
                            <a:latin typeface="Times New Roman" panose="02020603050405020304" pitchFamily="18" charset="0"/>
                          </a:endParaRPr>
                        </a:p>
                      </a:txBody>
                      <a:tcPr/>
                    </a:tc>
                    <a:tc>
                      <a:txBody>
                        <a:bodyPr/>
                        <a:lstStyle/>
                        <a:p>
                          <a:r>
                            <a:rPr lang="en-US" sz="2000" dirty="0">
                              <a:latin typeface="Times New Roman" panose="02020603050405020304" pitchFamily="18" charset="0"/>
                            </a:rPr>
                            <a:t>10</a:t>
                          </a:r>
                        </a:p>
                      </a:txBody>
                      <a:tcPr/>
                    </a:tc>
                    <a:tc>
                      <a:txBody>
                        <a:bodyPr/>
                        <a:lstStyle/>
                        <a:p>
                          <a:r>
                            <a:rPr lang="en-US" sz="2000" dirty="0">
                              <a:latin typeface="Times New Roman" panose="02020603050405020304" pitchFamily="18" charset="0"/>
                            </a:rPr>
                            <a:t>14</a:t>
                          </a:r>
                        </a:p>
                      </a:txBody>
                      <a:tcPr/>
                    </a:tc>
                    <a:tc>
                      <a:txBody>
                        <a:bodyPr/>
                        <a:lstStyle/>
                        <a:p>
                          <a:r>
                            <a:rPr lang="en-US" sz="2000" dirty="0">
                              <a:latin typeface="Times New Roman" panose="02020603050405020304" pitchFamily="18" charset="0"/>
                            </a:rPr>
                            <a:t>18</a:t>
                          </a:r>
                        </a:p>
                      </a:txBody>
                      <a:tcPr/>
                    </a:tc>
                    <a:tc>
                      <a:txBody>
                        <a:bodyPr/>
                        <a:lstStyle/>
                        <a:p>
                          <a:r>
                            <a:rPr lang="en-US" sz="2000" dirty="0">
                              <a:latin typeface="Times New Roman" panose="02020603050405020304" pitchFamily="18" charset="0"/>
                            </a:rPr>
                            <a:t>22</a:t>
                          </a:r>
                        </a:p>
                      </a:txBody>
                      <a:tcPr/>
                    </a:tc>
                    <a:tc>
                      <a:txBody>
                        <a:bodyPr/>
                        <a:lstStyle/>
                        <a:p>
                          <a:r>
                            <a:rPr lang="en-US" sz="2000" dirty="0">
                              <a:latin typeface="Times New Roman" panose="02020603050405020304" pitchFamily="18" charset="0"/>
                            </a:rPr>
                            <a:t>26</a:t>
                          </a:r>
                        </a:p>
                      </a:txBody>
                      <a:tcPr/>
                    </a:tc>
                    <a:tc>
                      <a:txBody>
                        <a:bodyPr/>
                        <a:lstStyle/>
                        <a:p>
                          <a:r>
                            <a:rPr lang="en-US" sz="2000" dirty="0">
                              <a:latin typeface="Times New Roman" panose="02020603050405020304" pitchFamily="18" charset="0"/>
                            </a:rPr>
                            <a:t>30</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a:rPr>
                                  <m:t>𝑦</m:t>
                                </m:r>
                              </m:oMath>
                            </m:oMathPara>
                          </a14:m>
                          <a:endParaRPr lang="en-US" sz="2000" dirty="0">
                            <a:latin typeface="Times New Roman" panose="02020603050405020304" pitchFamily="18" charset="0"/>
                          </a:endParaRPr>
                        </a:p>
                      </a:txBody>
                      <a:tcPr/>
                    </a:tc>
                    <a:tc>
                      <a:txBody>
                        <a:bodyPr/>
                        <a:lstStyle/>
                        <a:p>
                          <a:r>
                            <a:rPr lang="en-US" sz="2000" dirty="0">
                              <a:latin typeface="Times New Roman" panose="02020603050405020304" pitchFamily="18" charset="0"/>
                            </a:rPr>
                            <a:t>18</a:t>
                          </a:r>
                        </a:p>
                      </a:txBody>
                      <a:tcPr/>
                    </a:tc>
                    <a:tc>
                      <a:txBody>
                        <a:bodyPr/>
                        <a:lstStyle/>
                        <a:p>
                          <a:r>
                            <a:rPr lang="en-US" sz="2000" dirty="0">
                              <a:latin typeface="Times New Roman" panose="02020603050405020304" pitchFamily="18" charset="0"/>
                            </a:rPr>
                            <a:t>12</a:t>
                          </a:r>
                        </a:p>
                      </a:txBody>
                      <a:tcPr/>
                    </a:tc>
                    <a:tc>
                      <a:txBody>
                        <a:bodyPr/>
                        <a:lstStyle/>
                        <a:p>
                          <a:r>
                            <a:rPr lang="en-US" sz="2000" dirty="0">
                              <a:latin typeface="Times New Roman" panose="02020603050405020304" pitchFamily="18" charset="0"/>
                            </a:rPr>
                            <a:t>24</a:t>
                          </a:r>
                        </a:p>
                      </a:txBody>
                      <a:tcPr/>
                    </a:tc>
                    <a:tc>
                      <a:txBody>
                        <a:bodyPr/>
                        <a:lstStyle/>
                        <a:p>
                          <a:r>
                            <a:rPr lang="en-US" sz="2000" dirty="0">
                              <a:latin typeface="Times New Roman" panose="02020603050405020304" pitchFamily="18" charset="0"/>
                            </a:rPr>
                            <a:t>6</a:t>
                          </a:r>
                        </a:p>
                      </a:txBody>
                      <a:tcPr/>
                    </a:tc>
                    <a:tc>
                      <a:txBody>
                        <a:bodyPr/>
                        <a:lstStyle/>
                        <a:p>
                          <a:r>
                            <a:rPr lang="en-US" sz="2000" dirty="0">
                              <a:latin typeface="Times New Roman" panose="02020603050405020304" pitchFamily="18" charset="0"/>
                            </a:rPr>
                            <a:t>30</a:t>
                          </a:r>
                        </a:p>
                      </a:txBody>
                      <a:tcPr/>
                    </a:tc>
                    <a:tc>
                      <a:txBody>
                        <a:bodyPr/>
                        <a:lstStyle/>
                        <a:p>
                          <a:r>
                            <a:rPr lang="en-US" sz="2000" dirty="0">
                              <a:latin typeface="Times New Roman" panose="02020603050405020304" pitchFamily="18" charset="0"/>
                            </a:rPr>
                            <a:t>36</a:t>
                          </a:r>
                        </a:p>
                      </a:txBody>
                      <a:tcPr/>
                    </a:tc>
                    <a:extLst>
                      <a:ext uri="{0D108BD9-81ED-4DB2-BD59-A6C34878D82A}">
                        <a16:rowId xmlns:a16="http://schemas.microsoft.com/office/drawing/2014/main" val="10001"/>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716615893"/>
                  </p:ext>
                </p:extLst>
              </p:nvPr>
            </p:nvGraphicFramePr>
            <p:xfrm>
              <a:off x="914400" y="3581400"/>
              <a:ext cx="6095999" cy="792480"/>
            </p:xfrm>
            <a:graphic>
              <a:graphicData uri="http://schemas.openxmlformats.org/drawingml/2006/table">
                <a:tbl>
                  <a:tblPr firstRow="1"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96240">
                    <a:tc>
                      <a:txBody>
                        <a:bodyPr/>
                        <a:lstStyle/>
                        <a:p>
                          <a:endParaRPr lang="en-US"/>
                        </a:p>
                      </a:txBody>
                      <a:tcPr>
                        <a:blipFill>
                          <a:blip r:embed="rId3"/>
                          <a:stretch>
                            <a:fillRect l="-1399" t="-7576" r="-602797" b="-124242"/>
                          </a:stretch>
                        </a:blipFill>
                      </a:tcPr>
                    </a:tc>
                    <a:tc>
                      <a:txBody>
                        <a:bodyPr/>
                        <a:lstStyle/>
                        <a:p>
                          <a:r>
                            <a:rPr lang="en-US" sz="2000" dirty="0">
                              <a:latin typeface="Times New Roman" panose="02020603050405020304" pitchFamily="18" charset="0"/>
                            </a:rPr>
                            <a:t>10</a:t>
                          </a:r>
                        </a:p>
                      </a:txBody>
                      <a:tcPr/>
                    </a:tc>
                    <a:tc>
                      <a:txBody>
                        <a:bodyPr/>
                        <a:lstStyle/>
                        <a:p>
                          <a:r>
                            <a:rPr lang="en-US" sz="2000" dirty="0">
                              <a:latin typeface="Times New Roman" panose="02020603050405020304" pitchFamily="18" charset="0"/>
                            </a:rPr>
                            <a:t>14</a:t>
                          </a:r>
                        </a:p>
                      </a:txBody>
                      <a:tcPr/>
                    </a:tc>
                    <a:tc>
                      <a:txBody>
                        <a:bodyPr/>
                        <a:lstStyle/>
                        <a:p>
                          <a:r>
                            <a:rPr lang="en-US" sz="2000" dirty="0">
                              <a:latin typeface="Times New Roman" panose="02020603050405020304" pitchFamily="18" charset="0"/>
                            </a:rPr>
                            <a:t>18</a:t>
                          </a:r>
                        </a:p>
                      </a:txBody>
                      <a:tcPr/>
                    </a:tc>
                    <a:tc>
                      <a:txBody>
                        <a:bodyPr/>
                        <a:lstStyle/>
                        <a:p>
                          <a:r>
                            <a:rPr lang="en-US" sz="2000" dirty="0">
                              <a:latin typeface="Times New Roman" panose="02020603050405020304" pitchFamily="18" charset="0"/>
                            </a:rPr>
                            <a:t>22</a:t>
                          </a:r>
                        </a:p>
                      </a:txBody>
                      <a:tcPr/>
                    </a:tc>
                    <a:tc>
                      <a:txBody>
                        <a:bodyPr/>
                        <a:lstStyle/>
                        <a:p>
                          <a:r>
                            <a:rPr lang="en-US" sz="2000" dirty="0">
                              <a:latin typeface="Times New Roman" panose="02020603050405020304" pitchFamily="18" charset="0"/>
                            </a:rPr>
                            <a:t>26</a:t>
                          </a:r>
                        </a:p>
                      </a:txBody>
                      <a:tcPr/>
                    </a:tc>
                    <a:tc>
                      <a:txBody>
                        <a:bodyPr/>
                        <a:lstStyle/>
                        <a:p>
                          <a:r>
                            <a:rPr lang="en-US" sz="2000" dirty="0">
                              <a:latin typeface="Times New Roman" panose="02020603050405020304" pitchFamily="18" charset="0"/>
                            </a:rPr>
                            <a:t>30</a:t>
                          </a:r>
                        </a:p>
                      </a:txBody>
                      <a:tcPr/>
                    </a:tc>
                    <a:extLst>
                      <a:ext uri="{0D108BD9-81ED-4DB2-BD59-A6C34878D82A}">
                        <a16:rowId xmlns:a16="http://schemas.microsoft.com/office/drawing/2014/main" val="10000"/>
                      </a:ext>
                    </a:extLst>
                  </a:tr>
                  <a:tr h="396240">
                    <a:tc>
                      <a:txBody>
                        <a:bodyPr/>
                        <a:lstStyle/>
                        <a:p>
                          <a:endParaRPr lang="en-US"/>
                        </a:p>
                      </a:txBody>
                      <a:tcPr>
                        <a:blipFill>
                          <a:blip r:embed="rId3"/>
                          <a:stretch>
                            <a:fillRect l="-1399" t="-109231" r="-602797" b="-26154"/>
                          </a:stretch>
                        </a:blipFill>
                      </a:tcPr>
                    </a:tc>
                    <a:tc>
                      <a:txBody>
                        <a:bodyPr/>
                        <a:lstStyle/>
                        <a:p>
                          <a:r>
                            <a:rPr lang="en-US" sz="2000" dirty="0">
                              <a:latin typeface="Times New Roman" panose="02020603050405020304" pitchFamily="18" charset="0"/>
                            </a:rPr>
                            <a:t>18</a:t>
                          </a:r>
                        </a:p>
                      </a:txBody>
                      <a:tcPr/>
                    </a:tc>
                    <a:tc>
                      <a:txBody>
                        <a:bodyPr/>
                        <a:lstStyle/>
                        <a:p>
                          <a:r>
                            <a:rPr lang="en-US" sz="2000" dirty="0">
                              <a:latin typeface="Times New Roman" panose="02020603050405020304" pitchFamily="18" charset="0"/>
                            </a:rPr>
                            <a:t>12</a:t>
                          </a:r>
                        </a:p>
                      </a:txBody>
                      <a:tcPr/>
                    </a:tc>
                    <a:tc>
                      <a:txBody>
                        <a:bodyPr/>
                        <a:lstStyle/>
                        <a:p>
                          <a:r>
                            <a:rPr lang="en-US" sz="2000" dirty="0">
                              <a:latin typeface="Times New Roman" panose="02020603050405020304" pitchFamily="18" charset="0"/>
                            </a:rPr>
                            <a:t>24</a:t>
                          </a:r>
                        </a:p>
                      </a:txBody>
                      <a:tcPr/>
                    </a:tc>
                    <a:tc>
                      <a:txBody>
                        <a:bodyPr/>
                        <a:lstStyle/>
                        <a:p>
                          <a:r>
                            <a:rPr lang="en-US" sz="2000" dirty="0">
                              <a:latin typeface="Times New Roman" panose="02020603050405020304" pitchFamily="18" charset="0"/>
                            </a:rPr>
                            <a:t>6</a:t>
                          </a:r>
                        </a:p>
                      </a:txBody>
                      <a:tcPr/>
                    </a:tc>
                    <a:tc>
                      <a:txBody>
                        <a:bodyPr/>
                        <a:lstStyle/>
                        <a:p>
                          <a:r>
                            <a:rPr lang="en-US" sz="2000" dirty="0">
                              <a:latin typeface="Times New Roman" panose="02020603050405020304" pitchFamily="18" charset="0"/>
                            </a:rPr>
                            <a:t>30</a:t>
                          </a:r>
                        </a:p>
                      </a:txBody>
                      <a:tcPr/>
                    </a:tc>
                    <a:tc>
                      <a:txBody>
                        <a:bodyPr/>
                        <a:lstStyle/>
                        <a:p>
                          <a:r>
                            <a:rPr lang="en-US" sz="2000" dirty="0">
                              <a:latin typeface="Times New Roman" panose="02020603050405020304" pitchFamily="18" charset="0"/>
                            </a:rPr>
                            <a:t>36</a:t>
                          </a:r>
                        </a:p>
                      </a:txBody>
                      <a:tcPr/>
                    </a:tc>
                    <a:extLst>
                      <a:ext uri="{0D108BD9-81ED-4DB2-BD59-A6C34878D82A}">
                        <a16:rowId xmlns:a16="http://schemas.microsoft.com/office/drawing/2014/main" val="10001"/>
                      </a:ext>
                    </a:extLst>
                  </a:tr>
                </a:tbl>
              </a:graphicData>
            </a:graphic>
          </p:graphicFrame>
        </mc:Fallback>
      </mc:AlternateContent>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963693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Content Placeholder 1"/>
              <p:cNvGraphicFramePr>
                <a:graphicFrameLocks noGrp="1"/>
              </p:cNvGraphicFramePr>
              <p:nvPr>
                <p:ph idx="1"/>
                <p:extLst>
                  <p:ext uri="{D42A27DB-BD31-4B8C-83A1-F6EECF244321}">
                    <p14:modId xmlns:p14="http://schemas.microsoft.com/office/powerpoint/2010/main" val="274212396"/>
                  </p:ext>
                </p:extLst>
              </p:nvPr>
            </p:nvGraphicFramePr>
            <p:xfrm>
              <a:off x="533400" y="1143000"/>
              <a:ext cx="8229599" cy="3352674"/>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599">
                      <a:extLst>
                        <a:ext uri="{9D8B030D-6E8A-4147-A177-3AD203B41FA5}">
                          <a16:colId xmlns:a16="http://schemas.microsoft.com/office/drawing/2014/main" val="20006"/>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𝒖</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𝒗</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𝒖</m:t>
                                    </m:r>
                                  </m:e>
                                  <m:sup>
                                    <m:r>
                                      <a:rPr lang="en-US" b="1" i="1" smtClean="0">
                                        <a:latin typeface="Cambria Math"/>
                                      </a:rPr>
                                      <m:t>𝟐</m:t>
                                    </m:r>
                                  </m:sup>
                                </m:sSup>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𝒗</m:t>
                                    </m:r>
                                  </m:e>
                                  <m:sup>
                                    <m:r>
                                      <a:rPr lang="en-US" b="1" i="1" smtClean="0">
                                        <a:latin typeface="Cambria Math"/>
                                      </a:rPr>
                                      <m:t>𝟐</m:t>
                                    </m:r>
                                  </m:sup>
                                </m:sSup>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𝒖𝒗</m:t>
                                </m:r>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14</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26</a:t>
                          </a:r>
                        </a:p>
                      </a:txBody>
                      <a:tcPr/>
                    </a:tc>
                    <a:tc>
                      <a:txBody>
                        <a:bodyPr/>
                        <a:lstStyle/>
                        <a:p>
                          <a:r>
                            <a:rPr lang="en-US" dirty="0">
                              <a:latin typeface="Times New Roman" panose="02020603050405020304" pitchFamily="18" charset="0"/>
                            </a:rPr>
                            <a:t>30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30</a:t>
                          </a:r>
                        </a:p>
                      </a:txBody>
                      <a:tcPr/>
                    </a:tc>
                    <a:tc>
                      <a:txBody>
                        <a:bodyPr/>
                        <a:lstStyle/>
                        <a:p>
                          <a:r>
                            <a:rPr lang="en-US" dirty="0">
                              <a:latin typeface="Times New Roman" panose="02020603050405020304" pitchFamily="18" charset="0"/>
                            </a:rPr>
                            <a:t>36</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6"/>
                      </a:ext>
                    </a:extLst>
                  </a:tr>
                  <a:tr h="370840">
                    <a:tc>
                      <a:txBody>
                        <a:bodyPr/>
                        <a:lstStyle/>
                        <a:p>
                          <a:r>
                            <a:rPr lang="en-US" dirty="0">
                              <a:latin typeface="Times New Roman" panose="02020603050405020304" pitchFamily="18" charset="0"/>
                            </a:rPr>
                            <a:t>Total</a:t>
                          </a:r>
                        </a:p>
                      </a:txBody>
                      <a:tcPr/>
                    </a:tc>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𝑢</m:t>
                                    </m:r>
                                  </m:e>
                                </m:nary>
                                <m:r>
                                  <a:rPr lang="en-US" b="0" i="1" smtClean="0">
                                    <a:latin typeface="Cambria Math"/>
                                  </a:rPr>
                                  <m:t>=−3</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𝑣</m:t>
                                    </m:r>
                                  </m:e>
                                </m:nary>
                                <m:r>
                                  <a:rPr lang="en-US" b="0" i="1" smtClean="0">
                                    <a:latin typeface="Cambria Math"/>
                                  </a:rPr>
                                  <m:t>=−3</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𝑢</m:t>
                                        </m:r>
                                      </m:e>
                                      <m:sup>
                                        <m:r>
                                          <a:rPr lang="en-US" b="0" i="1" smtClean="0">
                                            <a:latin typeface="Cambria Math"/>
                                          </a:rPr>
                                          <m:t>2</m:t>
                                        </m:r>
                                      </m:sup>
                                    </m:sSup>
                                    <m:r>
                                      <a:rPr lang="en-US" b="0" i="1" smtClean="0">
                                        <a:latin typeface="Cambria Math"/>
                                      </a:rPr>
                                      <m:t>=19</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𝑣</m:t>
                                        </m:r>
                                      </m:e>
                                      <m:sup>
                                        <m:r>
                                          <a:rPr lang="en-US" b="0" i="1" smtClean="0">
                                            <a:latin typeface="Cambria Math"/>
                                          </a:rPr>
                                          <m:t>2</m:t>
                                        </m:r>
                                      </m:sup>
                                    </m:sSup>
                                    <m:r>
                                      <a:rPr lang="en-US" b="0" i="1" smtClean="0">
                                        <a:latin typeface="Cambria Math"/>
                                      </a:rPr>
                                      <m:t>=19</m:t>
                                    </m:r>
                                  </m:e>
                                </m:nary>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a:rPr>
                                      <m:t>𝑢𝑣</m:t>
                                    </m:r>
                                  </m:e>
                                </m:nary>
                                <m:r>
                                  <a:rPr lang="en-US" b="0" i="1" smtClean="0">
                                    <a:latin typeface="Cambria Math"/>
                                  </a:rPr>
                                  <m:t>=12</m:t>
                                </m:r>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mc:Choice>
        <mc:Fallback xmlns="">
          <p:graphicFrame>
            <p:nvGraphicFramePr>
              <p:cNvPr id="2" name="Content Placeholder 1"/>
              <p:cNvGraphicFramePr>
                <a:graphicFrameLocks noGrp="1"/>
              </p:cNvGraphicFramePr>
              <p:nvPr>
                <p:ph idx="1"/>
                <p:extLst>
                  <p:ext uri="{D42A27DB-BD31-4B8C-83A1-F6EECF244321}">
                    <p14:modId xmlns:p14="http://schemas.microsoft.com/office/powerpoint/2010/main" val="274212396"/>
                  </p:ext>
                </p:extLst>
              </p:nvPr>
            </p:nvGraphicFramePr>
            <p:xfrm>
              <a:off x="533400" y="1143000"/>
              <a:ext cx="8229599" cy="3352674"/>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599">
                      <a:extLst>
                        <a:ext uri="{9D8B030D-6E8A-4147-A177-3AD203B41FA5}">
                          <a16:colId xmlns:a16="http://schemas.microsoft.com/office/drawing/2014/main" val="20006"/>
                        </a:ext>
                      </a:extLst>
                    </a:gridCol>
                  </a:tblGrid>
                  <a:tr h="371920">
                    <a:tc>
                      <a:txBody>
                        <a:bodyPr/>
                        <a:lstStyle/>
                        <a:p>
                          <a:endParaRPr lang="en-US"/>
                        </a:p>
                      </a:txBody>
                      <a:tcPr>
                        <a:blipFill>
                          <a:blip r:embed="rId2"/>
                          <a:stretch>
                            <a:fillRect l="-725" t="-1639" r="-881884" b="-806557"/>
                          </a:stretch>
                        </a:blipFill>
                      </a:tcPr>
                    </a:tc>
                    <a:tc>
                      <a:txBody>
                        <a:bodyPr/>
                        <a:lstStyle/>
                        <a:p>
                          <a:endParaRPr lang="en-US"/>
                        </a:p>
                      </a:txBody>
                      <a:tcPr>
                        <a:blipFill>
                          <a:blip r:embed="rId2"/>
                          <a:stretch>
                            <a:fillRect l="-159770" t="-1639" r="-1298851" b="-806557"/>
                          </a:stretch>
                        </a:blipFill>
                      </a:tcPr>
                    </a:tc>
                    <a:tc>
                      <a:txBody>
                        <a:bodyPr/>
                        <a:lstStyle/>
                        <a:p>
                          <a:endParaRPr lang="en-US"/>
                        </a:p>
                      </a:txBody>
                      <a:tcPr>
                        <a:blipFill>
                          <a:blip r:embed="rId2"/>
                          <a:stretch>
                            <a:fillRect l="-106103" t="-1639" r="-430516" b="-806557"/>
                          </a:stretch>
                        </a:blipFill>
                      </a:tcPr>
                    </a:tc>
                    <a:tc>
                      <a:txBody>
                        <a:bodyPr/>
                        <a:lstStyle/>
                        <a:p>
                          <a:endParaRPr lang="en-US"/>
                        </a:p>
                      </a:txBody>
                      <a:tcPr>
                        <a:blipFill>
                          <a:blip r:embed="rId2"/>
                          <a:stretch>
                            <a:fillRect l="-195111" t="-1639" r="-307556" b="-806557"/>
                          </a:stretch>
                        </a:blipFill>
                      </a:tcPr>
                    </a:tc>
                    <a:tc>
                      <a:txBody>
                        <a:bodyPr/>
                        <a:lstStyle/>
                        <a:p>
                          <a:endParaRPr lang="en-US"/>
                        </a:p>
                      </a:txBody>
                      <a:tcPr>
                        <a:blipFill>
                          <a:blip r:embed="rId2"/>
                          <a:stretch>
                            <a:fillRect l="-278992" t="-1639" r="-190756" b="-806557"/>
                          </a:stretch>
                        </a:blipFill>
                      </a:tcPr>
                    </a:tc>
                    <a:tc>
                      <a:txBody>
                        <a:bodyPr/>
                        <a:lstStyle/>
                        <a:p>
                          <a:endParaRPr lang="en-US"/>
                        </a:p>
                      </a:txBody>
                      <a:tcPr>
                        <a:blipFill>
                          <a:blip r:embed="rId2"/>
                          <a:stretch>
                            <a:fillRect l="-400889" t="-1639" r="-101778" b="-806557"/>
                          </a:stretch>
                        </a:blipFill>
                      </a:tcPr>
                    </a:tc>
                    <a:tc>
                      <a:txBody>
                        <a:bodyPr/>
                        <a:lstStyle/>
                        <a:p>
                          <a:endParaRPr lang="en-US"/>
                        </a:p>
                      </a:txBody>
                      <a:tcPr>
                        <a:blipFill>
                          <a:blip r:embed="rId2"/>
                          <a:stretch>
                            <a:fillRect l="-500889" t="-1639" r="-1778" b="-806557"/>
                          </a:stretch>
                        </a:blipFill>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14</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26</a:t>
                          </a:r>
                        </a:p>
                      </a:txBody>
                      <a:tcPr/>
                    </a:tc>
                    <a:tc>
                      <a:txBody>
                        <a:bodyPr/>
                        <a:lstStyle/>
                        <a:p>
                          <a:r>
                            <a:rPr lang="en-US" dirty="0">
                              <a:latin typeface="Times New Roman" panose="02020603050405020304" pitchFamily="18" charset="0"/>
                            </a:rPr>
                            <a:t>30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30</a:t>
                          </a:r>
                        </a:p>
                      </a:txBody>
                      <a:tcPr/>
                    </a:tc>
                    <a:tc>
                      <a:txBody>
                        <a:bodyPr/>
                        <a:lstStyle/>
                        <a:p>
                          <a:r>
                            <a:rPr lang="en-US" dirty="0">
                              <a:latin typeface="Times New Roman" panose="02020603050405020304" pitchFamily="18" charset="0"/>
                            </a:rPr>
                            <a:t>36</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6"/>
                      </a:ext>
                    </a:extLst>
                  </a:tr>
                  <a:tr h="755714">
                    <a:tc>
                      <a:txBody>
                        <a:bodyPr/>
                        <a:lstStyle/>
                        <a:p>
                          <a:r>
                            <a:rPr lang="en-US" dirty="0">
                              <a:latin typeface="Times New Roman" panose="02020603050405020304" pitchFamily="18" charset="0"/>
                            </a:rPr>
                            <a:t>Total</a:t>
                          </a:r>
                        </a:p>
                      </a:txBody>
                      <a:tcPr/>
                    </a:tc>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106103" t="-345161" r="-430516" b="-1613"/>
                          </a:stretch>
                        </a:blipFill>
                      </a:tcPr>
                    </a:tc>
                    <a:tc>
                      <a:txBody>
                        <a:bodyPr/>
                        <a:lstStyle/>
                        <a:p>
                          <a:endParaRPr lang="en-US"/>
                        </a:p>
                      </a:txBody>
                      <a:tcPr>
                        <a:blipFill>
                          <a:blip r:embed="rId2"/>
                          <a:stretch>
                            <a:fillRect l="-195111" t="-345161" r="-307556" b="-1613"/>
                          </a:stretch>
                        </a:blipFill>
                      </a:tcPr>
                    </a:tc>
                    <a:tc>
                      <a:txBody>
                        <a:bodyPr/>
                        <a:lstStyle/>
                        <a:p>
                          <a:endParaRPr lang="en-US"/>
                        </a:p>
                      </a:txBody>
                      <a:tcPr>
                        <a:blipFill>
                          <a:blip r:embed="rId2"/>
                          <a:stretch>
                            <a:fillRect l="-278992" t="-345161" r="-190756" b="-1613"/>
                          </a:stretch>
                        </a:blipFill>
                      </a:tcPr>
                    </a:tc>
                    <a:tc>
                      <a:txBody>
                        <a:bodyPr/>
                        <a:lstStyle/>
                        <a:p>
                          <a:endParaRPr lang="en-US"/>
                        </a:p>
                      </a:txBody>
                      <a:tcPr>
                        <a:blipFill>
                          <a:blip r:embed="rId2"/>
                          <a:stretch>
                            <a:fillRect l="-400889" t="-345161" r="-101778" b="-1613"/>
                          </a:stretch>
                        </a:blipFill>
                      </a:tcPr>
                    </a:tc>
                    <a:tc>
                      <a:txBody>
                        <a:bodyPr/>
                        <a:lstStyle/>
                        <a:p>
                          <a:endParaRPr lang="en-US"/>
                        </a:p>
                      </a:txBody>
                      <a:tcPr>
                        <a:blipFill>
                          <a:blip r:embed="rId2"/>
                          <a:stretch>
                            <a:fillRect l="-500889" t="-345161" r="-1778" b="-1613"/>
                          </a:stretch>
                        </a:blipFill>
                      </a:tcPr>
                    </a:tc>
                    <a:extLst>
                      <a:ext uri="{0D108BD9-81ED-4DB2-BD59-A6C34878D82A}">
                        <a16:rowId xmlns:a16="http://schemas.microsoft.com/office/drawing/2014/main" val="10007"/>
                      </a:ext>
                    </a:extLst>
                  </a:tr>
                </a:tbl>
              </a:graphicData>
            </a:graphic>
          </p:graphicFrame>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69489377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Hence,n=6,</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𝑢</m:t>
                        </m:r>
                      </m:e>
                    </m:acc>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𝑢</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6</m:t>
                            </m:r>
                          </m:den>
                        </m:f>
                        <m:d>
                          <m:dPr>
                            <m:ctrlPr>
                              <a:rPr lang="en-US" sz="2200" b="0" i="1" smtClean="0">
                                <a:latin typeface="Cambria Math" panose="02040503050406030204" pitchFamily="18" charset="0"/>
                              </a:rPr>
                            </m:ctrlPr>
                          </m:dPr>
                          <m:e>
                            <m:r>
                              <a:rPr lang="en-US" sz="2200" b="0" i="1" smtClean="0">
                                <a:latin typeface="Cambria Math"/>
                              </a:rPr>
                              <m:t>−3</m:t>
                            </m:r>
                          </m:e>
                        </m:d>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2</m:t>
                            </m:r>
                          </m:den>
                        </m:f>
                        <m:r>
                          <a:rPr lang="en-US" sz="2200" b="0" i="1" smtClean="0">
                            <a:latin typeface="Cambria Math"/>
                          </a:rPr>
                          <m:t>;</m:t>
                        </m:r>
                      </m:e>
                    </m:nary>
                    <m:acc>
                      <m:accPr>
                        <m:chr m:val="̅"/>
                        <m:ctrlPr>
                          <a:rPr lang="en-US" sz="2200" b="0" i="1" smtClean="0">
                            <a:latin typeface="Cambria Math" panose="02040503050406030204" pitchFamily="18" charset="0"/>
                          </a:rPr>
                        </m:ctrlPr>
                      </m:accPr>
                      <m:e>
                        <m:r>
                          <a:rPr lang="en-US" sz="2200" b="0" i="1" smtClean="0">
                            <a:latin typeface="Cambria Math"/>
                          </a:rPr>
                          <m:t>𝑣</m:t>
                        </m:r>
                      </m:e>
                    </m:acc>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𝑣</m:t>
                        </m:r>
                      </m:e>
                    </m:nary>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6</m:t>
                        </m:r>
                      </m:den>
                    </m:f>
                    <m:d>
                      <m:dPr>
                        <m:ctrlPr>
                          <a:rPr lang="en-US" sz="2200" b="0" i="1" smtClean="0">
                            <a:latin typeface="Cambria Math" panose="02040503050406030204" pitchFamily="18" charset="0"/>
                          </a:rPr>
                        </m:ctrlPr>
                      </m:dPr>
                      <m:e>
                        <m:r>
                          <a:rPr lang="en-US" sz="2200" b="0" i="1" smtClean="0">
                            <a:latin typeface="Cambria Math"/>
                          </a:rPr>
                          <m:t>−3</m:t>
                        </m:r>
                      </m:e>
                    </m:d>
                    <m:r>
                      <a:rPr lang="en-US" sz="2200" b="0" i="0" smtClean="0">
                        <a:latin typeface="Cambria Math"/>
                      </a:rPr>
                      <m:t>=−</m:t>
                    </m:r>
                    <m:f>
                      <m:fPr>
                        <m:ctrlPr>
                          <a:rPr lang="en-US" sz="2200" i="1" dirty="0" smtClean="0">
                            <a:latin typeface="Cambria Math" panose="02040503050406030204" pitchFamily="18" charset="0"/>
                          </a:rPr>
                        </m:ctrlPr>
                      </m:fPr>
                      <m:num>
                        <m:r>
                          <a:rPr lang="en-US" sz="2200" b="0" i="1" dirty="0" smtClean="0">
                            <a:latin typeface="Cambria Math"/>
                          </a:rPr>
                          <m:t>1</m:t>
                        </m:r>
                      </m:num>
                      <m:den>
                        <m:r>
                          <a:rPr lang="en-US" sz="2200" b="0" i="1" dirty="0" smtClean="0">
                            <a:latin typeface="Cambria Math"/>
                          </a:rPr>
                          <m:t>2</m:t>
                        </m:r>
                      </m:den>
                    </m:f>
                  </m:oMath>
                </a14:m>
                <a:endParaRPr lang="en-US" sz="2200" dirty="0"/>
              </a:p>
              <a:p>
                <a:pPr marL="0" indent="0">
                  <a:buNone/>
                </a:pPr>
                <a:r>
                  <a:rPr lang="en-US" sz="2200" dirty="0"/>
                  <a:t>Then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𝑢𝑣</m:t>
                        </m:r>
                      </m:sub>
                    </m:sSub>
                    <m:r>
                      <a:rPr lang="en-US" sz="2200" b="0" i="1" smtClean="0">
                        <a:latin typeface="Cambria Math"/>
                      </a:rPr>
                      <m:t>=</m:t>
                    </m:r>
                    <m:r>
                      <a:rPr lang="en-US" sz="2200" i="1">
                        <a:latin typeface="Cambria Math"/>
                      </a:rPr>
                      <m:t> </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𝑛</m:t>
                        </m:r>
                        <m:nary>
                          <m:naryPr>
                            <m:chr m:val="∑"/>
                            <m:subHide m:val="on"/>
                            <m:supHide m:val="on"/>
                            <m:ctrlPr>
                              <a:rPr lang="en-US" sz="2200" i="1">
                                <a:latin typeface="Cambria Math" panose="02040503050406030204" pitchFamily="18" charset="0"/>
                              </a:rPr>
                            </m:ctrlPr>
                          </m:naryPr>
                          <m:sub/>
                          <m:sup/>
                          <m:e>
                            <m:r>
                              <a:rPr lang="en-US" sz="2200" i="1">
                                <a:latin typeface="Cambria Math"/>
                              </a:rPr>
                              <m:t>𝑢𝑣</m:t>
                            </m:r>
                          </m:e>
                        </m:nary>
                        <m:r>
                          <a:rPr lang="en-US" sz="2200" i="1">
                            <a:latin typeface="Cambria Math"/>
                          </a:rPr>
                          <m:t>−</m:t>
                        </m:r>
                        <m:nary>
                          <m:naryPr>
                            <m:chr m:val="∑"/>
                            <m:subHide m:val="on"/>
                            <m:supHide m:val="on"/>
                            <m:ctrlPr>
                              <a:rPr lang="en-US" sz="2200" i="1">
                                <a:latin typeface="Cambria Math" panose="02040503050406030204" pitchFamily="18" charset="0"/>
                              </a:rPr>
                            </m:ctrlPr>
                          </m:naryPr>
                          <m:sub/>
                          <m:sup/>
                          <m:e>
                            <m:r>
                              <a:rPr lang="en-US" sz="2200" i="1">
                                <a:latin typeface="Cambria Math"/>
                              </a:rPr>
                              <m:t>𝑢</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𝑣</m:t>
                            </m:r>
                          </m:e>
                        </m:nary>
                      </m:num>
                      <m:den>
                        <m:rad>
                          <m:radPr>
                            <m:degHide m:val="on"/>
                            <m:ctrlPr>
                              <a:rPr lang="en-US" sz="2200" i="1">
                                <a:latin typeface="Cambria Math" panose="02040503050406030204" pitchFamily="18" charset="0"/>
                              </a:rPr>
                            </m:ctrlPr>
                          </m:radPr>
                          <m:deg/>
                          <m:e>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𝑢</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𝑢</m:t>
                                            </m:r>
                                          </m:e>
                                        </m:nary>
                                      </m:e>
                                    </m:d>
                                  </m:e>
                                  <m:sup>
                                    <m:r>
                                      <a:rPr lang="en-US" sz="2200" i="1">
                                        <a:latin typeface="Cambria Math"/>
                                      </a:rPr>
                                      <m:t>2</m:t>
                                    </m:r>
                                  </m:sup>
                                </m:sSup>
                              </m:e>
                            </m:nary>
                          </m:e>
                        </m:rad>
                        <m:rad>
                          <m:radPr>
                            <m:degHide m:val="on"/>
                            <m:ctrlPr>
                              <a:rPr lang="en-US" sz="2200" i="1">
                                <a:latin typeface="Cambria Math" panose="02040503050406030204" pitchFamily="18" charset="0"/>
                              </a:rPr>
                            </m:ctrlPr>
                          </m:radPr>
                          <m:deg/>
                          <m:e>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𝑣</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𝑣</m:t>
                                            </m:r>
                                          </m:e>
                                        </m:nary>
                                      </m:e>
                                    </m:d>
                                  </m:e>
                                  <m:sup>
                                    <m:r>
                                      <a:rPr lang="en-US" sz="2200" i="1">
                                        <a:latin typeface="Cambria Math"/>
                                      </a:rPr>
                                      <m:t>2</m:t>
                                    </m:r>
                                  </m:sup>
                                </m:sSup>
                              </m:e>
                            </m:nary>
                          </m:e>
                        </m:rad>
                      </m:den>
                    </m:f>
                  </m:oMath>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f>
                        <m:fPr>
                          <m:ctrlPr>
                            <a:rPr lang="en-US" sz="2200" b="0" i="1" smtClean="0">
                              <a:latin typeface="Cambria Math" panose="02040503050406030204" pitchFamily="18" charset="0"/>
                            </a:rPr>
                          </m:ctrlPr>
                        </m:fPr>
                        <m:num>
                          <m:d>
                            <m:dPr>
                              <m:ctrlPr>
                                <a:rPr lang="en-US" sz="2200" b="0" i="1" smtClean="0">
                                  <a:latin typeface="Cambria Math" panose="02040503050406030204" pitchFamily="18" charset="0"/>
                                </a:rPr>
                              </m:ctrlPr>
                            </m:dPr>
                            <m:e>
                              <m:r>
                                <a:rPr lang="en-US" sz="2200" b="0" i="1" smtClean="0">
                                  <a:latin typeface="Cambria Math"/>
                                </a:rPr>
                                <m:t>6</m:t>
                              </m:r>
                              <m:r>
                                <a:rPr lang="en-US" sz="2200" b="0" i="1" smtClean="0">
                                  <a:latin typeface="Cambria Math"/>
                                  <a:ea typeface="Cambria Math"/>
                                </a:rPr>
                                <m:t>×12</m:t>
                              </m:r>
                            </m:e>
                          </m:d>
                          <m:r>
                            <a:rPr lang="en-US" sz="2200" b="0" i="1" smtClean="0">
                              <a:latin typeface="Cambria Math"/>
                            </a:rPr>
                            <m:t>−</m:t>
                          </m:r>
                          <m:d>
                            <m:dPr>
                              <m:ctrlPr>
                                <a:rPr lang="en-US" sz="2200" b="0" i="1" smtClean="0">
                                  <a:latin typeface="Cambria Math" panose="02040503050406030204" pitchFamily="18" charset="0"/>
                                </a:rPr>
                              </m:ctrlPr>
                            </m:dPr>
                            <m:e>
                              <m:r>
                                <a:rPr lang="en-US" sz="2200" b="0" i="1" smtClean="0">
                                  <a:latin typeface="Cambria Math"/>
                                </a:rPr>
                                <m:t>−3</m:t>
                              </m:r>
                            </m:e>
                          </m:d>
                          <m:d>
                            <m:dPr>
                              <m:ctrlPr>
                                <a:rPr lang="en-US" sz="2200" b="0" i="1" smtClean="0">
                                  <a:latin typeface="Cambria Math" panose="02040503050406030204" pitchFamily="18" charset="0"/>
                                </a:rPr>
                              </m:ctrlPr>
                            </m:dPr>
                            <m:e>
                              <m:r>
                                <a:rPr lang="en-US" sz="2200" b="0" i="1" smtClean="0">
                                  <a:latin typeface="Cambria Math"/>
                                </a:rPr>
                                <m:t>−3</m:t>
                              </m:r>
                            </m:e>
                          </m:d>
                        </m:num>
                        <m:den>
                          <m:rad>
                            <m:radPr>
                              <m:degHide m:val="on"/>
                              <m:ctrlPr>
                                <a:rPr lang="en-US" sz="2200" b="0" i="1" smtClean="0">
                                  <a:latin typeface="Cambria Math" panose="02040503050406030204" pitchFamily="18" charset="0"/>
                                </a:rPr>
                              </m:ctrlPr>
                            </m:radPr>
                            <m:deg/>
                            <m:e>
                              <m:d>
                                <m:dPr>
                                  <m:ctrlPr>
                                    <a:rPr lang="en-US" sz="2200" b="0" i="1" smtClean="0">
                                      <a:latin typeface="Cambria Math" panose="02040503050406030204" pitchFamily="18" charset="0"/>
                                    </a:rPr>
                                  </m:ctrlPr>
                                </m:dPr>
                                <m:e>
                                  <m:r>
                                    <a:rPr lang="en-US" sz="2200" b="0" i="1" smtClean="0">
                                      <a:latin typeface="Cambria Math"/>
                                    </a:rPr>
                                    <m:t>6</m:t>
                                  </m:r>
                                  <m:r>
                                    <a:rPr lang="en-US" sz="2200" b="0" i="1" smtClean="0">
                                      <a:latin typeface="Cambria Math"/>
                                      <a:ea typeface="Cambria Math"/>
                                    </a:rPr>
                                    <m:t>×19</m:t>
                                  </m:r>
                                </m:e>
                              </m:d>
                              <m:r>
                                <a:rPr lang="en-US" sz="2200" b="0" i="1" smtClean="0">
                                  <a:latin typeface="Cambria Math"/>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−3</m:t>
                                      </m:r>
                                    </m:e>
                                  </m:d>
                                </m:e>
                                <m:sup>
                                  <m:r>
                                    <a:rPr lang="en-US" sz="2200" b="0" i="1" smtClean="0">
                                      <a:latin typeface="Cambria Math"/>
                                    </a:rPr>
                                    <m:t>2</m:t>
                                  </m:r>
                                </m:sup>
                              </m:sSup>
                            </m:e>
                          </m:rad>
                          <m:rad>
                            <m:radPr>
                              <m:degHide m:val="on"/>
                              <m:ctrlPr>
                                <a:rPr lang="en-US" sz="2200" b="0" i="1" smtClean="0">
                                  <a:latin typeface="Cambria Math" panose="02040503050406030204" pitchFamily="18" charset="0"/>
                                </a:rPr>
                              </m:ctrlPr>
                            </m:radPr>
                            <m:deg/>
                            <m:e>
                              <m:d>
                                <m:dPr>
                                  <m:ctrlPr>
                                    <a:rPr lang="en-US" sz="2200" b="0" i="1" smtClean="0">
                                      <a:latin typeface="Cambria Math" panose="02040503050406030204" pitchFamily="18" charset="0"/>
                                      <a:ea typeface="Cambria Math"/>
                                    </a:rPr>
                                  </m:ctrlPr>
                                </m:dPr>
                                <m:e>
                                  <m:r>
                                    <a:rPr lang="en-US" sz="2200" b="0" i="1" smtClean="0">
                                      <a:latin typeface="Cambria Math"/>
                                      <a:ea typeface="Cambria Math"/>
                                    </a:rPr>
                                    <m:t>6×19</m:t>
                                  </m:r>
                                </m:e>
                              </m:d>
                            </m:e>
                          </m:rad>
                          <m:r>
                            <a:rPr lang="en-US" sz="2200" b="0" i="1" smtClean="0">
                              <a:latin typeface="Cambria Math"/>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−3</m:t>
                                  </m:r>
                                </m:e>
                              </m:d>
                            </m:e>
                            <m:sup>
                              <m:r>
                                <a:rPr lang="en-US" sz="2200" b="0" i="1" smtClean="0">
                                  <a:latin typeface="Cambria Math"/>
                                </a:rPr>
                                <m:t>2</m:t>
                              </m:r>
                            </m:sup>
                          </m:sSup>
                        </m:den>
                      </m:f>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63</m:t>
                          </m:r>
                        </m:num>
                        <m:den>
                          <m:rad>
                            <m:radPr>
                              <m:degHide m:val="on"/>
                              <m:ctrlPr>
                                <a:rPr lang="en-US" sz="2200" b="0" i="1" smtClean="0">
                                  <a:latin typeface="Cambria Math" panose="02040503050406030204" pitchFamily="18" charset="0"/>
                                </a:rPr>
                              </m:ctrlPr>
                            </m:radPr>
                            <m:deg/>
                            <m:e>
                              <m:r>
                                <a:rPr lang="en-US" sz="2200" b="0" i="1" smtClean="0">
                                  <a:latin typeface="Cambria Math"/>
                                </a:rPr>
                                <m:t>105</m:t>
                              </m:r>
                            </m:e>
                          </m:rad>
                          <m:rad>
                            <m:radPr>
                              <m:degHide m:val="on"/>
                              <m:ctrlPr>
                                <a:rPr lang="en-US" sz="2200" b="0" i="1" smtClean="0">
                                  <a:latin typeface="Cambria Math" panose="02040503050406030204" pitchFamily="18" charset="0"/>
                                </a:rPr>
                              </m:ctrlPr>
                            </m:radPr>
                            <m:deg/>
                            <m:e>
                              <m:r>
                                <a:rPr lang="en-US" sz="2200" b="0" i="1" smtClean="0">
                                  <a:latin typeface="Cambria Math"/>
                                </a:rPr>
                                <m:t>105</m:t>
                              </m:r>
                            </m:e>
                          </m:rad>
                        </m:den>
                      </m:f>
                      <m:r>
                        <a:rPr lang="en-US" sz="2200" b="0" i="1" smtClean="0">
                          <a:latin typeface="Cambria Math"/>
                        </a:rPr>
                        <m:t>=0.6</m:t>
                      </m:r>
                    </m:oMath>
                  </m:oMathPara>
                </a14:m>
                <a:endParaRPr lang="en-US" sz="2200" dirty="0"/>
              </a:p>
              <a:p>
                <a:pPr>
                  <a:buFont typeface="Wingdings" pitchFamily="2" charset="2"/>
                  <a:buChar char="v"/>
                </a:pPr>
                <a:endParaRPr lang="en-US" sz="2200" b="1" dirty="0"/>
              </a:p>
              <a:p>
                <a:pPr>
                  <a:buFont typeface="Wingdings" pitchFamily="2" charset="2"/>
                  <a:buChar char="v"/>
                </a:pPr>
                <a:r>
                  <a:rPr lang="en-US" sz="2200" b="1" dirty="0"/>
                  <a:t>Calculation of co-efficient of correlation for a bivariate frequency distribution.</a:t>
                </a:r>
              </a:p>
              <a:p>
                <a:r>
                  <a:rPr lang="en-US" sz="2200" dirty="0"/>
                  <a:t>If the bivariate data on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r>
                      <a:rPr lang="en-US" sz="2200" b="0" i="1" smtClean="0">
                        <a:latin typeface="Cambria Math"/>
                      </a:rPr>
                      <m:t> </m:t>
                    </m:r>
                  </m:oMath>
                </a14:m>
                <a:r>
                  <a:rPr lang="en-US" sz="2200" dirty="0"/>
                  <a:t>is presented on a two way correlation table and </a:t>
                </a:r>
                <a14:m>
                  <m:oMath xmlns:m="http://schemas.openxmlformats.org/officeDocument/2006/math">
                    <m:r>
                      <a:rPr lang="en-US" sz="2200" b="0" i="1" smtClean="0">
                        <a:latin typeface="Cambria Math"/>
                      </a:rPr>
                      <m:t>𝑓</m:t>
                    </m:r>
                    <m:r>
                      <a:rPr lang="en-US" sz="2200" b="0" i="1" smtClean="0">
                        <a:latin typeface="Cambria Math"/>
                      </a:rPr>
                      <m:t> </m:t>
                    </m:r>
                  </m:oMath>
                </a14:m>
                <a:r>
                  <a:rPr lang="en-US" sz="2200" dirty="0"/>
                  <a:t>is the frequency of a particular rectangle </a:t>
                </a:r>
              </a:p>
              <a:p>
                <a:r>
                  <a:rPr lang="en-US" sz="2200" dirty="0"/>
                  <a:t>In the correlation table then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57139387"/>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𝑥𝑦</m:t>
                          </m:r>
                        </m:sub>
                      </m:sSub>
                      <m:r>
                        <a:rPr lang="en-US" sz="2200" b="0" i="1" smtClean="0">
                          <a:latin typeface="Cambria Math"/>
                        </a:rPr>
                        <m:t>=</m:t>
                      </m:r>
                      <m:f>
                        <m:fPr>
                          <m:ctrlPr>
                            <a:rPr lang="en-US" sz="2200" b="0" i="1" smtClean="0">
                              <a:latin typeface="Cambria Math" panose="02040503050406030204" pitchFamily="18" charset="0"/>
                            </a:rPr>
                          </m:ctrlPr>
                        </m:fPr>
                        <m:num>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𝑓𝑥𝑦</m:t>
                              </m:r>
                            </m:e>
                          </m:nary>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𝑓𝑥</m:t>
                              </m:r>
                            </m:e>
                          </m:nary>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𝑓𝑦</m:t>
                              </m:r>
                            </m:e>
                          </m:nary>
                        </m:num>
                        <m:den>
                          <m:rad>
                            <m:radPr>
                              <m:degHide m:val="on"/>
                              <m:ctrlPr>
                                <a:rPr lang="en-US" sz="2200" b="0" i="1" smtClean="0">
                                  <a:latin typeface="Cambria Math" panose="02040503050406030204" pitchFamily="18" charset="0"/>
                                </a:rPr>
                              </m:ctrlPr>
                            </m:radPr>
                            <m:deg/>
                            <m:e>
                              <m:nary>
                                <m:naryPr>
                                  <m:chr m:val="∑"/>
                                  <m:subHide m:val="on"/>
                                  <m:supHide m:val="on"/>
                                  <m:ctrlPr>
                                    <a:rPr lang="en-US" sz="2200" i="1">
                                      <a:latin typeface="Cambria Math" panose="02040503050406030204" pitchFamily="18" charset="0"/>
                                    </a:rPr>
                                  </m:ctrlPr>
                                </m:naryPr>
                                <m:sub/>
                                <m:sup/>
                                <m:e>
                                  <m:r>
                                    <a:rPr lang="en-US" sz="2200" b="0" i="1" smtClean="0">
                                      <a:latin typeface="Cambria Math"/>
                                    </a:rPr>
                                    <m:t>𝑓</m:t>
                                  </m:r>
                                  <m:sSup>
                                    <m:sSupPr>
                                      <m:ctrlPr>
                                        <a:rPr lang="en-US" sz="2200" i="1">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r>
                                    <a:rPr lang="en-US" sz="2200" i="1">
                                      <a:latin typeface="Cambria Math"/>
                                    </a:rPr>
                                    <m:t>−</m:t>
                                  </m:r>
                                  <m:f>
                                    <m:fPr>
                                      <m:ctrlPr>
                                        <a:rPr lang="en-US" sz="2200" i="1">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b="0" i="1" smtClean="0">
                                                  <a:latin typeface="Cambria Math"/>
                                                </a:rPr>
                                                <m:t>𝑓𝑥</m:t>
                                              </m:r>
                                            </m:e>
                                          </m:nary>
                                        </m:e>
                                      </m:d>
                                    </m:e>
                                    <m:sup>
                                      <m:r>
                                        <a:rPr lang="en-US" sz="2200" b="0" i="1" smtClean="0">
                                          <a:latin typeface="Cambria Math"/>
                                        </a:rPr>
                                        <m:t>2</m:t>
                                      </m:r>
                                    </m:sup>
                                  </m:sSup>
                                </m:e>
                              </m:nary>
                              <m:d>
                                <m:dPr>
                                  <m:begChr m:val="["/>
                                  <m:endChr m:val="]"/>
                                  <m:ctrlPr>
                                    <a:rPr lang="en-US" sz="2200" b="0" i="1" smtClean="0">
                                      <a:latin typeface="Cambria Math" panose="02040503050406030204" pitchFamily="18" charset="0"/>
                                    </a:rPr>
                                  </m:ctrlPr>
                                </m:dPr>
                                <m:e>
                                  <m:nary>
                                    <m:naryPr>
                                      <m:chr m:val="∑"/>
                                      <m:subHide m:val="on"/>
                                      <m:supHide m:val="on"/>
                                      <m:ctrlPr>
                                        <a:rPr lang="en-US" sz="2200" b="0" i="1" smtClean="0">
                                          <a:latin typeface="Cambria Math" panose="02040503050406030204" pitchFamily="18" charset="0"/>
                                        </a:rPr>
                                      </m:ctrlPr>
                                    </m:naryPr>
                                    <m:sub/>
                                    <m:sup/>
                                    <m:e>
                                      <m:sSup>
                                        <m:sSupPr>
                                          <m:ctrlPr>
                                            <a:rPr lang="en-US" sz="2200" b="0" i="1" smtClean="0">
                                              <a:latin typeface="Cambria Math" panose="02040503050406030204" pitchFamily="18" charset="0"/>
                                            </a:rPr>
                                          </m:ctrlPr>
                                        </m:sSupPr>
                                        <m:e>
                                          <m:r>
                                            <a:rPr lang="en-US" sz="2200" b="0" i="1" smtClean="0">
                                              <a:latin typeface="Cambria Math"/>
                                            </a:rPr>
                                            <m:t>𝑓𝑦</m:t>
                                          </m:r>
                                        </m:e>
                                        <m:sup>
                                          <m:r>
                                            <a:rPr lang="en-US" sz="2200" b="0" i="1" smtClean="0">
                                              <a:latin typeface="Cambria Math"/>
                                            </a:rPr>
                                            <m:t>2</m:t>
                                          </m:r>
                                        </m:sup>
                                      </m:sSup>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𝑛</m:t>
                                          </m:r>
                                        </m:den>
                                      </m:f>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𝑓𝑦</m:t>
                                                  </m:r>
                                                </m:e>
                                              </m:nary>
                                            </m:e>
                                          </m:d>
                                        </m:e>
                                        <m:sup>
                                          <m:r>
                                            <a:rPr lang="en-US" sz="2200" b="0" i="1" smtClean="0">
                                              <a:latin typeface="Cambria Math"/>
                                            </a:rPr>
                                            <m:t>2</m:t>
                                          </m:r>
                                        </m:sup>
                                      </m:sSup>
                                    </m:e>
                                  </m:nary>
                                </m:e>
                              </m:d>
                            </m:e>
                          </m:rad>
                          <m:r>
                            <a:rPr lang="en-US" sz="2200" b="0" i="1" smtClean="0">
                              <a:latin typeface="Cambria Math"/>
                            </a:rPr>
                            <m:t> </m:t>
                          </m:r>
                        </m:den>
                      </m:f>
                    </m:oMath>
                  </m:oMathPara>
                </a14:m>
                <a:endParaRPr lang="en-US" sz="2200" dirty="0"/>
              </a:p>
              <a:p>
                <a:pPr marL="0" indent="0">
                  <a:buNone/>
                </a:pPr>
                <a:r>
                  <a:rPr lang="en-US" sz="2200" dirty="0"/>
                  <a:t>Since change of origin and scale do not affect the co-efficient of correlation.</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𝑥𝑦</m:t>
                        </m:r>
                      </m:sub>
                    </m:sSub>
                    <m:r>
                      <a:rPr lang="en-US" sz="2200" b="0" i="1" smtClean="0">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𝑢𝑣</m:t>
                        </m:r>
                      </m:sub>
                    </m:sSub>
                    <m:r>
                      <a:rPr lang="en-US" sz="2200" b="0" i="1" smtClean="0">
                        <a:latin typeface="Cambria Math"/>
                      </a:rPr>
                      <m:t> </m:t>
                    </m:r>
                  </m:oMath>
                </a14:m>
                <a:r>
                  <a:rPr lang="en-US" sz="2200" dirty="0"/>
                  <a:t>where the new variables </a:t>
                </a:r>
                <a14:m>
                  <m:oMath xmlns:m="http://schemas.openxmlformats.org/officeDocument/2006/math">
                    <m:r>
                      <a:rPr lang="en-US" sz="2200" b="0" i="1" smtClean="0">
                        <a:latin typeface="Cambria Math"/>
                      </a:rPr>
                      <m:t>𝑢</m:t>
                    </m:r>
                    <m:r>
                      <a:rPr lang="en-US" sz="2200" b="0" i="1" smtClean="0">
                        <a:latin typeface="Cambria Math"/>
                      </a:rPr>
                      <m:t>,</m:t>
                    </m:r>
                    <m:r>
                      <a:rPr lang="en-US" sz="2200" b="0" i="1" smtClean="0">
                        <a:latin typeface="Cambria Math"/>
                      </a:rPr>
                      <m:t>𝑣</m:t>
                    </m:r>
                  </m:oMath>
                </a14:m>
                <a:r>
                  <a:rPr lang="en-US" sz="2200" dirty="0"/>
                  <a:t> are properly chosen.</a:t>
                </a:r>
              </a:p>
              <a:p>
                <a:pPr marL="0" indent="0">
                  <a:buNone/>
                </a:pPr>
                <a:r>
                  <a:rPr lang="en-US" sz="2200" b="1" dirty="0"/>
                  <a:t>Q. </a:t>
                </a:r>
                <a:r>
                  <a:rPr lang="en-US" sz="2200" dirty="0"/>
                  <a:t>The following table given according to age the frequency of marks obtained by 100 students is an intelligence test:</a:t>
                </a:r>
              </a:p>
              <a:p>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1937633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a:bodyPr>
              <a:lstStyle/>
              <a:p>
                <a:endParaRPr lang="en-US" sz="2200" b="1" dirty="0"/>
              </a:p>
              <a:p>
                <a:endParaRPr lang="en-US" sz="2200" b="1" dirty="0"/>
              </a:p>
              <a:p>
                <a:endParaRPr lang="en-US" sz="2200" b="1" dirty="0"/>
              </a:p>
              <a:p>
                <a:endParaRPr lang="en-US" sz="2200" b="1" dirty="0"/>
              </a:p>
              <a:p>
                <a:endParaRPr lang="en-US" sz="2200" b="1" dirty="0"/>
              </a:p>
              <a:p>
                <a:endParaRPr lang="en-US" sz="2200" b="1" dirty="0"/>
              </a:p>
              <a:p>
                <a:endParaRPr lang="en-US" sz="2200" b="1" dirty="0"/>
              </a:p>
              <a:p>
                <a:endParaRPr lang="en-US" sz="2200" b="1" dirty="0"/>
              </a:p>
              <a:p>
                <a:endParaRPr lang="en-US" sz="2200" b="1" dirty="0"/>
              </a:p>
              <a:p>
                <a:pPr marL="0" indent="0">
                  <a:buNone/>
                </a:pPr>
                <a:r>
                  <a:rPr lang="en-US" sz="2400" dirty="0"/>
                  <a:t>Calculate the coefficient of correlation between age and intelligence.</a:t>
                </a:r>
              </a:p>
              <a:p>
                <a:pPr marL="0" indent="0">
                  <a:buNone/>
                </a:pPr>
                <a:r>
                  <a:rPr lang="en-US" sz="2400" b="1" dirty="0"/>
                  <a:t>Solution: </a:t>
                </a:r>
                <a:r>
                  <a:rPr lang="en-US" sz="2400" dirty="0"/>
                  <a:t>Age and intelligence be denoted by </a:t>
                </a:r>
                <a14:m>
                  <m:oMath xmlns:m="http://schemas.openxmlformats.org/officeDocument/2006/math">
                    <m:r>
                      <a:rPr lang="en-US" sz="2400" i="1">
                        <a:latin typeface="Cambria Math"/>
                      </a:rPr>
                      <m:t>𝑥</m:t>
                    </m:r>
                    <m:r>
                      <a:rPr lang="en-US" sz="2400" i="1">
                        <a:latin typeface="Cambria Math"/>
                      </a:rPr>
                      <m:t> </m:t>
                    </m:r>
                    <m:r>
                      <a:rPr lang="en-US" sz="2400" i="1">
                        <a:latin typeface="Cambria Math"/>
                      </a:rPr>
                      <m:t>𝑎𝑛𝑑</m:t>
                    </m:r>
                    <m:r>
                      <a:rPr lang="en-US" sz="2400" i="1">
                        <a:latin typeface="Cambria Math"/>
                      </a:rPr>
                      <m:t> </m:t>
                    </m:r>
                    <m:r>
                      <a:rPr lang="en-US" sz="2400" i="1">
                        <a:latin typeface="Cambria Math"/>
                      </a:rPr>
                      <m:t>𝑦</m:t>
                    </m:r>
                  </m:oMath>
                </a14:m>
                <a:r>
                  <a:rPr lang="en-US" sz="2400" dirty="0"/>
                  <a:t> respectively</a:t>
                </a:r>
                <a:r>
                  <a:rPr lang="en-US" sz="2400" b="1" dirty="0"/>
                  <a:t>.</a:t>
                </a:r>
              </a:p>
              <a:p>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674" b="-161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025185616"/>
              </p:ext>
            </p:extLst>
          </p:nvPr>
        </p:nvGraphicFramePr>
        <p:xfrm>
          <a:off x="914400" y="1219200"/>
          <a:ext cx="6286500" cy="2926080"/>
        </p:xfrm>
        <a:graphic>
          <a:graphicData uri="http://schemas.openxmlformats.org/drawingml/2006/table">
            <a:tbl>
              <a:tblPr firstRow="1" bandRow="1">
                <a:tableStyleId>{5C22544A-7EE6-4342-B048-85BDC9FD1C3A}</a:tableStyleId>
              </a:tblPr>
              <a:tblGrid>
                <a:gridCol w="15621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54100">
                  <a:extLst>
                    <a:ext uri="{9D8B030D-6E8A-4147-A177-3AD203B41FA5}">
                      <a16:colId xmlns:a16="http://schemas.microsoft.com/office/drawing/2014/main" val="20005"/>
                    </a:ext>
                  </a:extLst>
                </a:gridCol>
              </a:tblGrid>
              <a:tr h="127357">
                <a:tc>
                  <a:txBody>
                    <a:bodyPr/>
                    <a:lstStyle/>
                    <a:p>
                      <a:r>
                        <a:rPr lang="en-US" dirty="0">
                          <a:latin typeface="Times New Roman" panose="02020603050405020304" pitchFamily="18" charset="0"/>
                        </a:rPr>
                        <a:t>Marks</a:t>
                      </a:r>
                    </a:p>
                  </a:txBody>
                  <a:tcPr>
                    <a:lnTlToBr w="12700" cap="flat" cmpd="sng" algn="ctr">
                      <a:solidFill>
                        <a:schemeClr val="tx1"/>
                      </a:solidFill>
                      <a:prstDash val="solid"/>
                      <a:round/>
                      <a:headEnd type="none" w="med" len="med"/>
                      <a:tailEnd type="none" w="med" len="med"/>
                    </a:lnTlToBr>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20</a:t>
                      </a:r>
                    </a:p>
                  </a:txBody>
                  <a:tcPr/>
                </a:tc>
                <a:tc>
                  <a:txBody>
                    <a:bodyPr/>
                    <a:lstStyle/>
                    <a:p>
                      <a:r>
                        <a:rPr lang="en-US" dirty="0">
                          <a:latin typeface="Times New Roman" panose="02020603050405020304" pitchFamily="18" charset="0"/>
                        </a:rPr>
                        <a:t>21</a:t>
                      </a:r>
                    </a:p>
                  </a:txBody>
                  <a:tcPr/>
                </a:tc>
                <a:tc>
                  <a:txBody>
                    <a:bodyPr/>
                    <a:lstStyle/>
                    <a:p>
                      <a:r>
                        <a:rPr lang="en-US" dirty="0">
                          <a:latin typeface="Times New Roman" panose="02020603050405020304" pitchFamily="18" charset="0"/>
                        </a:rPr>
                        <a:t>total</a:t>
                      </a:r>
                    </a:p>
                  </a:txBody>
                  <a:tcPr/>
                </a:tc>
                <a:extLst>
                  <a:ext uri="{0D108BD9-81ED-4DB2-BD59-A6C34878D82A}">
                    <a16:rowId xmlns:a16="http://schemas.microsoft.com/office/drawing/2014/main" val="10000"/>
                  </a:ext>
                </a:extLst>
              </a:tr>
              <a:tr h="129126">
                <a:tc>
                  <a:txBody>
                    <a:bodyPr/>
                    <a:lstStyle/>
                    <a:p>
                      <a:r>
                        <a:rPr lang="en-US" dirty="0">
                          <a:latin typeface="Times New Roman" panose="02020603050405020304" pitchFamily="18" charset="0"/>
                        </a:rPr>
                        <a:t>10-20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8</a:t>
                      </a:r>
                    </a:p>
                  </a:txBody>
                  <a:tcPr/>
                </a:tc>
                <a:extLst>
                  <a:ext uri="{0D108BD9-81ED-4DB2-BD59-A6C34878D82A}">
                    <a16:rowId xmlns:a16="http://schemas.microsoft.com/office/drawing/2014/main" val="10001"/>
                  </a:ext>
                </a:extLst>
              </a:tr>
              <a:tr h="129126">
                <a:tc>
                  <a:txBody>
                    <a:bodyPr/>
                    <a:lstStyle/>
                    <a:p>
                      <a:r>
                        <a:rPr lang="en-US" dirty="0">
                          <a:latin typeface="Times New Roman" panose="02020603050405020304" pitchFamily="18" charset="0"/>
                        </a:rPr>
                        <a:t>20-30</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19</a:t>
                      </a:r>
                    </a:p>
                  </a:txBody>
                  <a:tcPr/>
                </a:tc>
                <a:extLst>
                  <a:ext uri="{0D108BD9-81ED-4DB2-BD59-A6C34878D82A}">
                    <a16:rowId xmlns:a16="http://schemas.microsoft.com/office/drawing/2014/main" val="10002"/>
                  </a:ext>
                </a:extLst>
              </a:tr>
              <a:tr h="129126">
                <a:tc>
                  <a:txBody>
                    <a:bodyPr/>
                    <a:lstStyle/>
                    <a:p>
                      <a:r>
                        <a:rPr lang="en-US" dirty="0">
                          <a:latin typeface="Times New Roman" panose="02020603050405020304" pitchFamily="18" charset="0"/>
                        </a:rPr>
                        <a:t>30-40</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11</a:t>
                      </a:r>
                    </a:p>
                  </a:txBody>
                  <a:tcPr/>
                </a:tc>
                <a:tc>
                  <a:txBody>
                    <a:bodyPr/>
                    <a:lstStyle/>
                    <a:p>
                      <a:r>
                        <a:rPr lang="en-US" dirty="0">
                          <a:latin typeface="Times New Roman" panose="02020603050405020304" pitchFamily="18" charset="0"/>
                        </a:rPr>
                        <a:t>35</a:t>
                      </a:r>
                    </a:p>
                  </a:txBody>
                  <a:tcPr/>
                </a:tc>
                <a:extLst>
                  <a:ext uri="{0D108BD9-81ED-4DB2-BD59-A6C34878D82A}">
                    <a16:rowId xmlns:a16="http://schemas.microsoft.com/office/drawing/2014/main" val="10003"/>
                  </a:ext>
                </a:extLst>
              </a:tr>
              <a:tr h="129126">
                <a:tc>
                  <a:txBody>
                    <a:bodyPr/>
                    <a:lstStyle/>
                    <a:p>
                      <a:r>
                        <a:rPr lang="en-US" dirty="0">
                          <a:latin typeface="Times New Roman" panose="02020603050405020304" pitchFamily="18" charset="0"/>
                        </a:rPr>
                        <a:t>40-50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22</a:t>
                      </a:r>
                    </a:p>
                  </a:txBody>
                  <a:tcPr/>
                </a:tc>
                <a:extLst>
                  <a:ext uri="{0D108BD9-81ED-4DB2-BD59-A6C34878D82A}">
                    <a16:rowId xmlns:a16="http://schemas.microsoft.com/office/drawing/2014/main" val="10004"/>
                  </a:ext>
                </a:extLst>
              </a:tr>
              <a:tr h="129126">
                <a:tc>
                  <a:txBody>
                    <a:bodyPr/>
                    <a:lstStyle/>
                    <a:p>
                      <a:r>
                        <a:rPr lang="en-US" dirty="0">
                          <a:latin typeface="Times New Roman" panose="02020603050405020304" pitchFamily="18" charset="0"/>
                        </a:rPr>
                        <a:t>50-60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10</a:t>
                      </a:r>
                    </a:p>
                  </a:txBody>
                  <a:tcPr/>
                </a:tc>
                <a:extLst>
                  <a:ext uri="{0D108BD9-81ED-4DB2-BD59-A6C34878D82A}">
                    <a16:rowId xmlns:a16="http://schemas.microsoft.com/office/drawing/2014/main" val="10005"/>
                  </a:ext>
                </a:extLst>
              </a:tr>
              <a:tr h="129126">
                <a:tc>
                  <a:txBody>
                    <a:bodyPr/>
                    <a:lstStyle/>
                    <a:p>
                      <a:r>
                        <a:rPr lang="en-US" dirty="0">
                          <a:latin typeface="Times New Roman" panose="02020603050405020304" pitchFamily="18" charset="0"/>
                        </a:rPr>
                        <a:t>60-70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a:t>
                      </a:r>
                    </a:p>
                  </a:txBody>
                  <a:tcPr/>
                </a:tc>
                <a:extLst>
                  <a:ext uri="{0D108BD9-81ED-4DB2-BD59-A6C34878D82A}">
                    <a16:rowId xmlns:a16="http://schemas.microsoft.com/office/drawing/2014/main" val="10006"/>
                  </a:ext>
                </a:extLst>
              </a:tr>
              <a:tr h="129126">
                <a:tc>
                  <a:txBody>
                    <a:bodyPr/>
                    <a:lstStyle/>
                    <a:p>
                      <a:r>
                        <a:rPr lang="en-US" dirty="0">
                          <a:latin typeface="Times New Roman" panose="02020603050405020304" pitchFamily="18" charset="0"/>
                        </a:rPr>
                        <a:t>Total</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31</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100</a:t>
                      </a:r>
                    </a:p>
                  </a:txBody>
                  <a:tcPr/>
                </a:tc>
                <a:extLst>
                  <a:ext uri="{0D108BD9-81ED-4DB2-BD59-A6C34878D82A}">
                    <a16:rowId xmlns:a16="http://schemas.microsoft.com/office/drawing/2014/main" val="10007"/>
                  </a:ext>
                </a:extLst>
              </a:tr>
            </a:tbl>
          </a:graphicData>
        </a:graphic>
      </p:graphicFrame>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71619654"/>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611597449"/>
                  </p:ext>
                </p:extLst>
              </p:nvPr>
            </p:nvGraphicFramePr>
            <p:xfrm>
              <a:off x="381000" y="873442"/>
              <a:ext cx="8458200" cy="5027994"/>
            </p:xfrm>
            <a:graphic>
              <a:graphicData uri="http://schemas.openxmlformats.org/drawingml/2006/table">
                <a:tbl>
                  <a:tblPr firstRow="1" bandRow="1">
                    <a:tableStyleId>{5C22544A-7EE6-4342-B048-85BDC9FD1C3A}</a:tableStyleId>
                  </a:tblPr>
                  <a:tblGrid>
                    <a:gridCol w="83819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609601">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533400">
                      <a:extLst>
                        <a:ext uri="{9D8B030D-6E8A-4147-A177-3AD203B41FA5}">
                          <a16:colId xmlns:a16="http://schemas.microsoft.com/office/drawing/2014/main" val="20009"/>
                        </a:ext>
                      </a:extLst>
                    </a:gridCol>
                    <a:gridCol w="762000">
                      <a:extLst>
                        <a:ext uri="{9D8B030D-6E8A-4147-A177-3AD203B41FA5}">
                          <a16:colId xmlns:a16="http://schemas.microsoft.com/office/drawing/2014/main" val="20010"/>
                        </a:ext>
                      </a:extLst>
                    </a:gridCol>
                  </a:tblGrid>
                  <a:tr h="68580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𝑴𝒊𝒅</m:t>
                                </m:r>
                              </m:oMath>
                            </m:oMathPara>
                          </a14:m>
                          <a:endParaRPr lang="en-US" b="1" i="1" dirty="0">
                            <a:latin typeface="Cambria Math"/>
                          </a:endParaRPr>
                        </a:p>
                        <a:p>
                          <a:pPr/>
                          <a14:m>
                            <m:oMathPara xmlns:m="http://schemas.openxmlformats.org/officeDocument/2006/math">
                              <m:oMathParaPr>
                                <m:jc m:val="centerGroup"/>
                              </m:oMathParaPr>
                              <m:oMath xmlns:m="http://schemas.openxmlformats.org/officeDocument/2006/math">
                                <m:r>
                                  <a:rPr lang="en-US" b="1" i="1" smtClean="0">
                                    <a:latin typeface="Cambria Math"/>
                                  </a:rPr>
                                  <m:t>𝒗𝒂𝒍𝒖𝒆</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x</a:t>
                          </a:r>
                          <a14:m>
                            <m:oMath xmlns:m="http://schemas.openxmlformats.org/officeDocument/2006/math">
                              <m:r>
                                <a:rPr lang="en-US" i="1" smtClean="0">
                                  <a:latin typeface="Cambria Math"/>
                                  <a:ea typeface="Cambria Math"/>
                                </a:rPr>
                                <m:t>⟶</m:t>
                              </m:r>
                            </m:oMath>
                          </a14:m>
                          <a:endParaRPr lang="en-US" dirty="0"/>
                        </a:p>
                        <a:p>
                          <a:r>
                            <a:rPr lang="en-US" dirty="0"/>
                            <a:t>y</a:t>
                          </a:r>
                          <a14:m>
                            <m:oMath xmlns:m="http://schemas.openxmlformats.org/officeDocument/2006/math">
                              <m:r>
                                <a:rPr lang="en-US" i="1" smtClean="0">
                                  <a:latin typeface="Cambria Math"/>
                                  <a:ea typeface="Cambria Math"/>
                                </a:rPr>
                                <m:t>↓</m:t>
                              </m:r>
                            </m:oMath>
                          </a14:m>
                          <a:endParaRPr lang="en-US" dirty="0"/>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20</a:t>
                          </a:r>
                        </a:p>
                      </a:txBody>
                      <a:tcPr/>
                    </a:tc>
                    <a:tc>
                      <a:txBody>
                        <a:bodyPr/>
                        <a:lstStyle/>
                        <a:p>
                          <a:r>
                            <a:rPr lang="en-US" dirty="0">
                              <a:latin typeface="Times New Roman" panose="02020603050405020304" pitchFamily="18" charset="0"/>
                            </a:rPr>
                            <a:t>21</a:t>
                          </a: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𝒖</m:t>
                                </m:r>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𝒚</m:t>
                                    </m:r>
                                    <m:r>
                                      <a:rPr lang="en-US" b="1" i="1" smtClean="0">
                                        <a:latin typeface="Cambria Math"/>
                                      </a:rPr>
                                      <m:t>−</m:t>
                                    </m:r>
                                    <m:r>
                                      <a:rPr lang="en-US" b="1" i="1" smtClean="0">
                                        <a:latin typeface="Cambria Math"/>
                                      </a:rPr>
                                      <m:t>𝟒𝟓</m:t>
                                    </m:r>
                                  </m:num>
                                  <m:den>
                                    <m:r>
                                      <a:rPr lang="en-US" b="1" i="1" smtClean="0">
                                        <a:latin typeface="Cambria Math"/>
                                      </a:rPr>
                                      <m:t>𝟏𝟎</m:t>
                                    </m:r>
                                  </m:den>
                                </m:f>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𝒇𝒖</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f</a:t>
                          </a:r>
                          <a14:m>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𝒖</m:t>
                                  </m:r>
                                </m:e>
                                <m:sup>
                                  <m:r>
                                    <a:rPr lang="en-US" b="1" i="1" smtClean="0">
                                      <a:latin typeface="Cambria Math"/>
                                    </a:rPr>
                                    <m:t>𝟐</m:t>
                                  </m:r>
                                </m:sup>
                              </m:sSup>
                            </m:oMath>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𝒇𝒖𝒗</m:t>
                                </m:r>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10-20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72</a:t>
                          </a:r>
                        </a:p>
                      </a:txBody>
                      <a:tcPr/>
                    </a:tc>
                    <a:tc>
                      <a:txBody>
                        <a:bodyPr/>
                        <a:lstStyle/>
                        <a:p>
                          <a:r>
                            <a:rPr lang="en-US" dirty="0">
                              <a:latin typeface="Times New Roman" panose="02020603050405020304" pitchFamily="18" charset="0"/>
                            </a:rPr>
                            <a:t>30</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20-30</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-38</a:t>
                          </a:r>
                        </a:p>
                      </a:txBody>
                      <a:tcPr/>
                    </a:tc>
                    <a:tc>
                      <a:txBody>
                        <a:bodyPr/>
                        <a:lstStyle/>
                        <a:p>
                          <a:r>
                            <a:rPr lang="en-US" dirty="0">
                              <a:latin typeface="Times New Roman" panose="02020603050405020304" pitchFamily="18" charset="0"/>
                            </a:rPr>
                            <a:t>76</a:t>
                          </a:r>
                        </a:p>
                      </a:txBody>
                      <a:tcPr/>
                    </a:tc>
                    <a:tc>
                      <a:txBody>
                        <a:bodyPr/>
                        <a:lstStyle/>
                        <a:p>
                          <a:r>
                            <a:rPr lang="en-US" dirty="0">
                              <a:latin typeface="Times New Roman" panose="02020603050405020304" pitchFamily="18" charset="0"/>
                            </a:rPr>
                            <a:t>20</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30-40</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11</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40-50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50-60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65</a:t>
                          </a:r>
                        </a:p>
                      </a:txBody>
                      <a:tcPr/>
                    </a:tc>
                    <a:tc>
                      <a:txBody>
                        <a:bodyPr/>
                        <a:lstStyle/>
                        <a:p>
                          <a:r>
                            <a:rPr lang="en-US" dirty="0">
                              <a:latin typeface="Times New Roman" panose="02020603050405020304" pitchFamily="18" charset="0"/>
                            </a:rPr>
                            <a:t>60-70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-2</a:t>
                          </a:r>
                        </a:p>
                      </a:txBody>
                      <a:tcPr/>
                    </a:tc>
                    <a:extLst>
                      <a:ext uri="{0D108BD9-81ED-4DB2-BD59-A6C34878D82A}">
                        <a16:rowId xmlns:a16="http://schemas.microsoft.com/office/drawing/2014/main" val="10006"/>
                      </a:ext>
                    </a:extLst>
                  </a:tr>
                  <a:tr h="370840">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31</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100</a:t>
                          </a:r>
                        </a:p>
                      </a:txBody>
                      <a:tcPr/>
                    </a:tc>
                    <a:tc>
                      <a:txBody>
                        <a:bodyPr/>
                        <a:lstStyle/>
                        <a:p>
                          <a:r>
                            <a:rPr lang="en-US" dirty="0">
                              <a:latin typeface="Times New Roman" panose="02020603050405020304" pitchFamily="18" charset="0"/>
                            </a:rPr>
                            <a:t>total</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217</a:t>
                          </a:r>
                        </a:p>
                      </a:txBody>
                      <a:tcPr/>
                    </a:tc>
                    <a:tc>
                      <a:txBody>
                        <a:bodyPr/>
                        <a:lstStyle/>
                        <a:p>
                          <a:r>
                            <a:rPr lang="en-US" dirty="0">
                              <a:latin typeface="Times New Roman" panose="02020603050405020304" pitchFamily="18" charset="0"/>
                            </a:rPr>
                            <a:t>59</a:t>
                          </a:r>
                        </a:p>
                      </a:txBody>
                      <a:tcPr/>
                    </a:tc>
                    <a:extLst>
                      <a:ext uri="{0D108BD9-81ED-4DB2-BD59-A6C34878D82A}">
                        <a16:rowId xmlns:a16="http://schemas.microsoft.com/office/drawing/2014/main" val="10007"/>
                      </a:ext>
                    </a:extLst>
                  </a:tr>
                  <a:tr h="299720">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𝑣</m:t>
                                </m:r>
                                <m:r>
                                  <a:rPr lang="en-US" b="0" i="1" smtClean="0">
                                    <a:latin typeface="Cambria Math"/>
                                  </a:rPr>
                                  <m:t>=</m:t>
                                </m:r>
                                <m:r>
                                  <a:rPr lang="en-US" b="0" i="1" smtClean="0">
                                    <a:latin typeface="Cambria Math"/>
                                  </a:rPr>
                                  <m:t>𝑥</m:t>
                                </m:r>
                                <m:r>
                                  <a:rPr lang="en-US" b="0" i="1" smtClean="0">
                                    <a:latin typeface="Cambria Math"/>
                                  </a:rPr>
                                  <m:t>−20</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Total</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8"/>
                      </a:ext>
                    </a:extLst>
                  </a:tr>
                  <a:tr h="370840">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𝑓𝑣</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-38</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-32</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9"/>
                      </a:ext>
                    </a:extLst>
                  </a:tr>
                  <a:tr h="370840">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𝑓𝑣</m:t>
                                    </m:r>
                                  </m:e>
                                  <m:sup>
                                    <m:r>
                                      <a:rPr lang="en-US" b="0" i="1" smtClean="0">
                                        <a:latin typeface="Cambria Math"/>
                                      </a:rPr>
                                      <m:t>2</m:t>
                                    </m:r>
                                  </m:sup>
                                </m:sSup>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76</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126</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10"/>
                      </a:ext>
                    </a:extLst>
                  </a:tr>
                  <a:tr h="370840">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𝑓𝑢𝑣</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56</a:t>
                          </a:r>
                        </a:p>
                      </a:txBody>
                      <a:tcPr/>
                    </a:tc>
                    <a:tc>
                      <a:txBody>
                        <a:bodyPr/>
                        <a:lstStyle/>
                        <a:p>
                          <a:r>
                            <a:rPr lang="en-US" dirty="0">
                              <a:latin typeface="Times New Roman" panose="02020603050405020304" pitchFamily="18" charset="0"/>
                            </a:rPr>
                            <a:t>16</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-13</a:t>
                          </a:r>
                        </a:p>
                      </a:txBody>
                      <a:tcPr/>
                    </a:tc>
                    <a:tc>
                      <a:txBody>
                        <a:bodyPr/>
                        <a:lstStyle/>
                        <a:p>
                          <a:r>
                            <a:rPr lang="en-US" dirty="0">
                              <a:latin typeface="Times New Roman" panose="02020603050405020304" pitchFamily="18" charset="0"/>
                            </a:rPr>
                            <a:t>59</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1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611597449"/>
                  </p:ext>
                </p:extLst>
              </p:nvPr>
            </p:nvGraphicFramePr>
            <p:xfrm>
              <a:off x="381000" y="873442"/>
              <a:ext cx="8458200" cy="5027994"/>
            </p:xfrm>
            <a:graphic>
              <a:graphicData uri="http://schemas.openxmlformats.org/drawingml/2006/table">
                <a:tbl>
                  <a:tblPr firstRow="1" bandRow="1">
                    <a:tableStyleId>{5C22544A-7EE6-4342-B048-85BDC9FD1C3A}</a:tableStyleId>
                  </a:tblPr>
                  <a:tblGrid>
                    <a:gridCol w="83819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609601">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533400">
                      <a:extLst>
                        <a:ext uri="{9D8B030D-6E8A-4147-A177-3AD203B41FA5}">
                          <a16:colId xmlns:a16="http://schemas.microsoft.com/office/drawing/2014/main" val="20009"/>
                        </a:ext>
                      </a:extLst>
                    </a:gridCol>
                    <a:gridCol w="762000">
                      <a:extLst>
                        <a:ext uri="{9D8B030D-6E8A-4147-A177-3AD203B41FA5}">
                          <a16:colId xmlns:a16="http://schemas.microsoft.com/office/drawing/2014/main" val="20010"/>
                        </a:ext>
                      </a:extLst>
                    </a:gridCol>
                  </a:tblGrid>
                  <a:tr h="685800">
                    <a:tc>
                      <a:txBody>
                        <a:bodyPr/>
                        <a:lstStyle/>
                        <a:p>
                          <a:endParaRPr lang="en-US"/>
                        </a:p>
                      </a:txBody>
                      <a:tcPr>
                        <a:blipFill>
                          <a:blip r:embed="rId2"/>
                          <a:stretch>
                            <a:fillRect l="-725" t="-5310" r="-909420" b="-643363"/>
                          </a:stretch>
                        </a:blipFill>
                      </a:tcPr>
                    </a:tc>
                    <a:tc>
                      <a:txBody>
                        <a:bodyPr/>
                        <a:lstStyle/>
                        <a:p>
                          <a:endParaRPr lang="en-US"/>
                        </a:p>
                      </a:txBody>
                      <a:tcPr>
                        <a:blipFill>
                          <a:blip r:embed="rId2"/>
                          <a:stretch>
                            <a:fillRect l="-69500" t="-5310" r="-527500" b="-643363"/>
                          </a:stretch>
                        </a:blipFill>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20</a:t>
                          </a:r>
                        </a:p>
                      </a:txBody>
                      <a:tcPr/>
                    </a:tc>
                    <a:tc>
                      <a:txBody>
                        <a:bodyPr/>
                        <a:lstStyle/>
                        <a:p>
                          <a:r>
                            <a:rPr lang="en-US" dirty="0">
                              <a:latin typeface="Times New Roman" panose="02020603050405020304" pitchFamily="18" charset="0"/>
                            </a:rPr>
                            <a:t>21</a:t>
                          </a:r>
                        </a:p>
                      </a:txBody>
                      <a:tcPr/>
                    </a:tc>
                    <a:tc>
                      <a:txBody>
                        <a:bodyPr/>
                        <a:lstStyle/>
                        <a:p>
                          <a:endParaRPr lang="en-US"/>
                        </a:p>
                      </a:txBody>
                      <a:tcPr>
                        <a:blipFill>
                          <a:blip r:embed="rId2"/>
                          <a:stretch>
                            <a:fillRect l="-580800" t="-5310" r="-434400" b="-643363"/>
                          </a:stretch>
                        </a:blipFill>
                      </a:tcPr>
                    </a:tc>
                    <a:tc>
                      <a:txBody>
                        <a:bodyPr/>
                        <a:lstStyle/>
                        <a:p>
                          <a:endParaRPr lang="en-US"/>
                        </a:p>
                      </a:txBody>
                      <a:tcPr>
                        <a:blipFill>
                          <a:blip r:embed="rId2"/>
                          <a:stretch>
                            <a:fillRect l="-378222" t="-5310" r="-141333" b="-643363"/>
                          </a:stretch>
                        </a:blipFill>
                      </a:tcPr>
                    </a:tc>
                    <a:tc>
                      <a:txBody>
                        <a:bodyPr/>
                        <a:lstStyle/>
                        <a:p>
                          <a:endParaRPr lang="en-US"/>
                        </a:p>
                      </a:txBody>
                      <a:tcPr>
                        <a:blipFill>
                          <a:blip r:embed="rId2"/>
                          <a:stretch>
                            <a:fillRect l="-1076000" t="-5310" r="-218000" b="-643363"/>
                          </a:stretch>
                        </a:blipFill>
                      </a:tcPr>
                    </a:tc>
                    <a:tc>
                      <a:txBody>
                        <a:bodyPr/>
                        <a:lstStyle/>
                        <a:p>
                          <a:endParaRPr lang="en-US"/>
                        </a:p>
                      </a:txBody>
                      <a:tcPr>
                        <a:blipFill>
                          <a:blip r:embed="rId2"/>
                          <a:stretch>
                            <a:fillRect l="-1336364" t="-5310" r="-147727" b="-643363"/>
                          </a:stretch>
                        </a:blipFill>
                      </a:tcPr>
                    </a:tc>
                    <a:tc>
                      <a:txBody>
                        <a:bodyPr/>
                        <a:lstStyle/>
                        <a:p>
                          <a:endParaRPr lang="en-US"/>
                        </a:p>
                      </a:txBody>
                      <a:tcPr>
                        <a:blipFill>
                          <a:blip r:embed="rId2"/>
                          <a:stretch>
                            <a:fillRect l="-1011200" t="-5310" r="-4000" b="-643363"/>
                          </a:stretch>
                        </a:blipFill>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15</a:t>
                          </a:r>
                        </a:p>
                      </a:txBody>
                      <a:tcPr/>
                    </a:tc>
                    <a:tc>
                      <a:txBody>
                        <a:bodyPr/>
                        <a:lstStyle/>
                        <a:p>
                          <a:r>
                            <a:rPr lang="en-US" dirty="0">
                              <a:latin typeface="Times New Roman" panose="02020603050405020304" pitchFamily="18" charset="0"/>
                            </a:rPr>
                            <a:t>10-20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2</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72</a:t>
                          </a:r>
                        </a:p>
                      </a:txBody>
                      <a:tcPr/>
                    </a:tc>
                    <a:tc>
                      <a:txBody>
                        <a:bodyPr/>
                        <a:lstStyle/>
                        <a:p>
                          <a:r>
                            <a:rPr lang="en-US" dirty="0">
                              <a:latin typeface="Times New Roman" panose="02020603050405020304" pitchFamily="18" charset="0"/>
                            </a:rPr>
                            <a:t>30</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20-30</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-38</a:t>
                          </a:r>
                        </a:p>
                      </a:txBody>
                      <a:tcPr/>
                    </a:tc>
                    <a:tc>
                      <a:txBody>
                        <a:bodyPr/>
                        <a:lstStyle/>
                        <a:p>
                          <a:r>
                            <a:rPr lang="en-US" dirty="0">
                              <a:latin typeface="Times New Roman" panose="02020603050405020304" pitchFamily="18" charset="0"/>
                            </a:rPr>
                            <a:t>76</a:t>
                          </a:r>
                        </a:p>
                      </a:txBody>
                      <a:tcPr/>
                    </a:tc>
                    <a:tc>
                      <a:txBody>
                        <a:bodyPr/>
                        <a:lstStyle/>
                        <a:p>
                          <a:r>
                            <a:rPr lang="en-US" dirty="0">
                              <a:latin typeface="Times New Roman" panose="02020603050405020304" pitchFamily="18" charset="0"/>
                            </a:rPr>
                            <a:t>20</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30-40</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11</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40-50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50-60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65</a:t>
                          </a:r>
                        </a:p>
                      </a:txBody>
                      <a:tcPr/>
                    </a:tc>
                    <a:tc>
                      <a:txBody>
                        <a:bodyPr/>
                        <a:lstStyle/>
                        <a:p>
                          <a:r>
                            <a:rPr lang="en-US" dirty="0">
                              <a:latin typeface="Times New Roman" panose="02020603050405020304" pitchFamily="18" charset="0"/>
                            </a:rPr>
                            <a:t>60-70</a:t>
                          </a:r>
                        </a:p>
                      </a:txBody>
                      <a:tcPr/>
                    </a:tc>
                    <a:tc>
                      <a:txBody>
                        <a:bodyPr/>
                        <a:lstStyle/>
                        <a:p>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-2</a:t>
                          </a:r>
                        </a:p>
                      </a:txBody>
                      <a:tcPr/>
                    </a:tc>
                    <a:extLst>
                      <a:ext uri="{0D108BD9-81ED-4DB2-BD59-A6C34878D82A}">
                        <a16:rowId xmlns:a16="http://schemas.microsoft.com/office/drawing/2014/main" val="10006"/>
                      </a:ext>
                    </a:extLst>
                  </a:tr>
                  <a:tr h="370840">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69500" t="-793443" r="-527500" b="-493443"/>
                          </a:stretch>
                        </a:blipFill>
                      </a:tcPr>
                    </a:tc>
                    <a:tc>
                      <a:txBody>
                        <a:bodyPr/>
                        <a:lstStyle/>
                        <a:p>
                          <a:r>
                            <a:rPr lang="en-US" dirty="0">
                              <a:latin typeface="Times New Roman" panose="02020603050405020304" pitchFamily="18" charset="0"/>
                            </a:rPr>
                            <a:t>19</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31</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100</a:t>
                          </a:r>
                        </a:p>
                      </a:txBody>
                      <a:tcPr/>
                    </a:tc>
                    <a:tc>
                      <a:txBody>
                        <a:bodyPr/>
                        <a:lstStyle/>
                        <a:p>
                          <a:r>
                            <a:rPr lang="en-US" dirty="0">
                              <a:latin typeface="Times New Roman" panose="02020603050405020304" pitchFamily="18" charset="0"/>
                            </a:rPr>
                            <a:t>total</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217</a:t>
                          </a:r>
                        </a:p>
                      </a:txBody>
                      <a:tcPr/>
                    </a:tc>
                    <a:tc>
                      <a:txBody>
                        <a:bodyPr/>
                        <a:lstStyle/>
                        <a:p>
                          <a:r>
                            <a:rPr lang="en-US" dirty="0">
                              <a:latin typeface="Times New Roman" panose="02020603050405020304" pitchFamily="18" charset="0"/>
                            </a:rPr>
                            <a:t>59</a:t>
                          </a:r>
                        </a:p>
                      </a:txBody>
                      <a:tcPr/>
                    </a:tc>
                    <a:extLst>
                      <a:ext uri="{0D108BD9-81ED-4DB2-BD59-A6C34878D82A}">
                        <a16:rowId xmlns:a16="http://schemas.microsoft.com/office/drawing/2014/main" val="10007"/>
                      </a:ext>
                    </a:extLst>
                  </a:tr>
                  <a:tr h="633794">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69500" t="-524038" r="-527500" b="-189423"/>
                          </a:stretch>
                        </a:blipFill>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Total</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8"/>
                      </a:ext>
                    </a:extLst>
                  </a:tr>
                  <a:tr h="370840">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69500" t="-1063934" r="-527500" b="-222951"/>
                          </a:stretch>
                        </a:blipFill>
                      </a:tcPr>
                    </a:tc>
                    <a:tc>
                      <a:txBody>
                        <a:bodyPr/>
                        <a:lstStyle/>
                        <a:p>
                          <a:r>
                            <a:rPr lang="en-US" dirty="0">
                              <a:latin typeface="Times New Roman" panose="02020603050405020304" pitchFamily="18" charset="0"/>
                            </a:rPr>
                            <a:t>-38</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-32</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9"/>
                      </a:ext>
                    </a:extLst>
                  </a:tr>
                  <a:tr h="370840">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69500" t="-1163934" r="-527500" b="-122951"/>
                          </a:stretch>
                        </a:blipFill>
                      </a:tcPr>
                    </a:tc>
                    <a:tc>
                      <a:txBody>
                        <a:bodyPr/>
                        <a:lstStyle/>
                        <a:p>
                          <a:r>
                            <a:rPr lang="en-US" dirty="0">
                              <a:latin typeface="Times New Roman" panose="02020603050405020304" pitchFamily="18" charset="0"/>
                            </a:rPr>
                            <a:t>76</a:t>
                          </a:r>
                        </a:p>
                      </a:txBody>
                      <a:tcPr/>
                    </a:tc>
                    <a:tc>
                      <a:txBody>
                        <a:bodyPr/>
                        <a:lstStyle/>
                        <a:p>
                          <a:r>
                            <a:rPr lang="en-US" dirty="0">
                              <a:latin typeface="Times New Roman" panose="02020603050405020304" pitchFamily="18" charset="0"/>
                            </a:rPr>
                            <a:t>22</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28</a:t>
                          </a:r>
                        </a:p>
                      </a:txBody>
                      <a:tcPr/>
                    </a:tc>
                    <a:tc>
                      <a:txBody>
                        <a:bodyPr/>
                        <a:lstStyle/>
                        <a:p>
                          <a:r>
                            <a:rPr lang="en-US" dirty="0">
                              <a:latin typeface="Times New Roman" panose="02020603050405020304" pitchFamily="18" charset="0"/>
                            </a:rPr>
                            <a:t>126</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10"/>
                      </a:ext>
                    </a:extLst>
                  </a:tr>
                  <a:tr h="370840">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69500" t="-1263934" r="-527500" b="-22951"/>
                          </a:stretch>
                        </a:blipFill>
                      </a:tcPr>
                    </a:tc>
                    <a:tc>
                      <a:txBody>
                        <a:bodyPr/>
                        <a:lstStyle/>
                        <a:p>
                          <a:r>
                            <a:rPr lang="en-US" dirty="0">
                              <a:latin typeface="Times New Roman" panose="02020603050405020304" pitchFamily="18" charset="0"/>
                            </a:rPr>
                            <a:t>56</a:t>
                          </a:r>
                        </a:p>
                      </a:txBody>
                      <a:tcPr/>
                    </a:tc>
                    <a:tc>
                      <a:txBody>
                        <a:bodyPr/>
                        <a:lstStyle/>
                        <a:p>
                          <a:r>
                            <a:rPr lang="en-US" dirty="0">
                              <a:latin typeface="Times New Roman" panose="02020603050405020304" pitchFamily="18" charset="0"/>
                            </a:rPr>
                            <a:t>16</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-13</a:t>
                          </a:r>
                        </a:p>
                      </a:txBody>
                      <a:tcPr/>
                    </a:tc>
                    <a:tc>
                      <a:txBody>
                        <a:bodyPr/>
                        <a:lstStyle/>
                        <a:p>
                          <a:r>
                            <a:rPr lang="en-US" dirty="0">
                              <a:latin typeface="Times New Roman" panose="02020603050405020304" pitchFamily="18" charset="0"/>
                            </a:rPr>
                            <a:t>59</a:t>
                          </a: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11"/>
                      </a:ext>
                    </a:extLst>
                  </a:tr>
                </a:tbl>
              </a:graphicData>
            </a:graphic>
          </p:graphicFrame>
        </mc:Fallback>
      </mc:AlternateContent>
      <p:sp>
        <p:nvSpPr>
          <p:cNvPr id="11"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055845532"/>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Let us define two new variables </a:t>
                </a:r>
                <a14:m>
                  <m:oMath xmlns:m="http://schemas.openxmlformats.org/officeDocument/2006/math">
                    <m:r>
                      <a:rPr lang="en-US" sz="2200" b="0" i="1" smtClean="0">
                        <a:latin typeface="Cambria Math"/>
                      </a:rPr>
                      <m:t>𝑢</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𝑣</m:t>
                    </m:r>
                    <m:r>
                      <a:rPr lang="en-US" sz="2200" b="0" i="1" smtClean="0">
                        <a:latin typeface="Cambria Math"/>
                      </a:rPr>
                      <m:t> </m:t>
                    </m:r>
                    <m:r>
                      <a:rPr lang="en-US" sz="2200" b="0" i="1" smtClean="0">
                        <a:latin typeface="Cambria Math"/>
                      </a:rPr>
                      <m:t>𝑎𝑠</m:t>
                    </m:r>
                    <m:r>
                      <a:rPr lang="en-US" sz="2200" b="0" i="1" smtClean="0">
                        <a:latin typeface="Cambria Math"/>
                      </a:rPr>
                      <m:t> </m:t>
                    </m:r>
                    <m:r>
                      <a:rPr lang="en-US" sz="2200" b="0" i="1" smtClean="0">
                        <a:latin typeface="Cambria Math"/>
                      </a:rPr>
                      <m:t>𝑢</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𝑦</m:t>
                        </m:r>
                        <m:r>
                          <a:rPr lang="en-US" sz="2200" b="0" i="1" smtClean="0">
                            <a:latin typeface="Cambria Math"/>
                          </a:rPr>
                          <m:t>−45</m:t>
                        </m:r>
                      </m:num>
                      <m:den>
                        <m:r>
                          <a:rPr lang="en-US" sz="2200" b="0" i="1" smtClean="0">
                            <a:latin typeface="Cambria Math"/>
                          </a:rPr>
                          <m:t>10</m:t>
                        </m:r>
                      </m:den>
                    </m:f>
                    <m:r>
                      <a:rPr lang="en-US" sz="2200" b="0" i="1" smtClean="0">
                        <a:latin typeface="Cambria Math"/>
                      </a:rPr>
                      <m:t>,</m:t>
                    </m:r>
                    <m:r>
                      <a:rPr lang="en-US" sz="2200" b="0" i="1" smtClean="0">
                        <a:latin typeface="Cambria Math"/>
                      </a:rPr>
                      <m:t>𝑣</m:t>
                    </m:r>
                    <m:r>
                      <a:rPr lang="en-US" sz="2200" b="0" i="1" smtClean="0">
                        <a:latin typeface="Cambria Math"/>
                      </a:rPr>
                      <m:t>=</m:t>
                    </m:r>
                    <m:r>
                      <a:rPr lang="en-US" sz="2200" b="0" i="1" smtClean="0">
                        <a:latin typeface="Cambria Math"/>
                      </a:rPr>
                      <m:t>𝑥</m:t>
                    </m:r>
                    <m:r>
                      <a:rPr lang="en-US" sz="2200" b="0" i="1" smtClean="0">
                        <a:latin typeface="Cambria Math"/>
                      </a:rPr>
                      <m:t>−20</m:t>
                    </m:r>
                  </m:oMath>
                </a14:m>
                <a:endParaRPr lang="en-US" sz="2200" b="0" dirty="0"/>
              </a:p>
              <a:p>
                <a:pPr marL="0" indent="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𝑟</m:t>
                          </m:r>
                        </m:e>
                        <m:sub>
                          <m:r>
                            <a:rPr lang="en-US" sz="2200" i="1">
                              <a:latin typeface="Cambria Math"/>
                            </a:rPr>
                            <m:t>𝑥𝑦</m:t>
                          </m:r>
                        </m:sub>
                      </m:sSub>
                      <m:r>
                        <a:rPr lang="en-US" sz="2200" b="0" i="1" smtClean="0">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𝑟</m:t>
                          </m:r>
                        </m:e>
                        <m:sub>
                          <m:r>
                            <a:rPr lang="en-US" sz="2200" b="0" i="1" smtClean="0">
                              <a:latin typeface="Cambria Math"/>
                            </a:rPr>
                            <m:t>𝑢𝑣</m:t>
                          </m:r>
                        </m:sub>
                      </m:sSub>
                      <m:r>
                        <a:rPr lang="en-US" sz="2200" b="0" i="1" smtClean="0">
                          <a:latin typeface="Cambria Math"/>
                        </a:rPr>
                        <m:t>=</m:t>
                      </m:r>
                      <m:f>
                        <m:fPr>
                          <m:ctrlPr>
                            <a:rPr lang="en-US" sz="2200" i="1" smtClean="0">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r>
                                <a:rPr lang="en-US" sz="2200" i="1">
                                  <a:latin typeface="Cambria Math"/>
                                </a:rPr>
                                <m:t>𝑓</m:t>
                              </m:r>
                              <m:r>
                                <a:rPr lang="en-US" sz="2200" b="0" i="1" smtClean="0">
                                  <a:latin typeface="Cambria Math"/>
                                </a:rPr>
                                <m:t>𝑢𝑣</m:t>
                              </m:r>
                            </m:e>
                          </m:nary>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𝑛</m:t>
                              </m:r>
                            </m:den>
                          </m:f>
                          <m:nary>
                            <m:naryPr>
                              <m:chr m:val="∑"/>
                              <m:subHide m:val="on"/>
                              <m:supHide m:val="on"/>
                              <m:ctrlPr>
                                <a:rPr lang="en-US" sz="2200" i="1">
                                  <a:latin typeface="Cambria Math" panose="02040503050406030204" pitchFamily="18" charset="0"/>
                                </a:rPr>
                              </m:ctrlPr>
                            </m:naryPr>
                            <m:sub/>
                            <m:sup/>
                            <m:e>
                              <m:r>
                                <a:rPr lang="en-US" sz="2200" i="1">
                                  <a:latin typeface="Cambria Math"/>
                                </a:rPr>
                                <m:t>𝑓</m:t>
                              </m:r>
                              <m:r>
                                <a:rPr lang="en-US" sz="2200" b="0" i="1" smtClean="0">
                                  <a:latin typeface="Cambria Math"/>
                                </a:rPr>
                                <m:t>𝑢</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𝑓</m:t>
                              </m:r>
                              <m:r>
                                <a:rPr lang="en-US" sz="2200" b="0" i="1" smtClean="0">
                                  <a:latin typeface="Cambria Math"/>
                                </a:rPr>
                                <m:t>𝑣</m:t>
                              </m:r>
                            </m:e>
                          </m:nary>
                        </m:num>
                        <m:den>
                          <m:rad>
                            <m:radPr>
                              <m:degHide m:val="on"/>
                              <m:ctrlPr>
                                <a:rPr lang="en-US" sz="2200" i="1">
                                  <a:latin typeface="Cambria Math" panose="02040503050406030204" pitchFamily="18" charset="0"/>
                                </a:rPr>
                              </m:ctrlPr>
                            </m:radPr>
                            <m:deg/>
                            <m:e>
                              <m:nary>
                                <m:naryPr>
                                  <m:chr m:val="∑"/>
                                  <m:subHide m:val="on"/>
                                  <m:supHide m:val="on"/>
                                  <m:ctrlPr>
                                    <a:rPr lang="en-US" sz="2200" i="1">
                                      <a:latin typeface="Cambria Math" panose="02040503050406030204" pitchFamily="18" charset="0"/>
                                    </a:rPr>
                                  </m:ctrlPr>
                                </m:naryPr>
                                <m:sub/>
                                <m:sup/>
                                <m:e>
                                  <m:r>
                                    <a:rPr lang="en-US" sz="2200" i="1">
                                      <a:latin typeface="Cambria Math"/>
                                    </a:rPr>
                                    <m:t>𝑓</m:t>
                                  </m:r>
                                  <m:sSup>
                                    <m:sSupPr>
                                      <m:ctrlPr>
                                        <a:rPr lang="en-US" sz="2200" i="1">
                                          <a:latin typeface="Cambria Math" panose="02040503050406030204" pitchFamily="18" charset="0"/>
                                        </a:rPr>
                                      </m:ctrlPr>
                                    </m:sSupPr>
                                    <m:e>
                                      <m:r>
                                        <a:rPr lang="en-US" sz="2200" b="0" i="1" smtClean="0">
                                          <a:latin typeface="Cambria Math"/>
                                        </a:rPr>
                                        <m:t>𝑢</m:t>
                                      </m:r>
                                    </m:e>
                                    <m:sup>
                                      <m:r>
                                        <a:rPr lang="en-US" sz="2200" i="1">
                                          <a:latin typeface="Cambria Math"/>
                                        </a:rPr>
                                        <m:t>2</m:t>
                                      </m:r>
                                    </m:sup>
                                  </m:s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𝑛</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𝑓</m:t>
                                              </m:r>
                                              <m:r>
                                                <a:rPr lang="en-US" sz="2200" b="0" i="1" smtClean="0">
                                                  <a:latin typeface="Cambria Math"/>
                                                </a:rPr>
                                                <m:t>𝑢</m:t>
                                              </m:r>
                                            </m:e>
                                          </m:nary>
                                        </m:e>
                                      </m:d>
                                    </m:e>
                                    <m:sup>
                                      <m:r>
                                        <a:rPr lang="en-US" sz="2200" i="1">
                                          <a:latin typeface="Cambria Math"/>
                                        </a:rPr>
                                        <m:t>2</m:t>
                                      </m:r>
                                    </m:sup>
                                  </m:sSup>
                                </m:e>
                              </m:nary>
                              <m:d>
                                <m:dPr>
                                  <m:begChr m:val="["/>
                                  <m:endChr m:val="]"/>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𝑓</m:t>
                                          </m:r>
                                          <m:r>
                                            <a:rPr lang="en-US" sz="2200" b="0" i="1" smtClean="0">
                                              <a:latin typeface="Cambria Math"/>
                                            </a:rPr>
                                            <m:t>𝑣</m:t>
                                          </m:r>
                                        </m:e>
                                        <m:sup>
                                          <m:r>
                                            <a:rPr lang="en-US" sz="2200" i="1">
                                              <a:latin typeface="Cambria Math"/>
                                            </a:rPr>
                                            <m:t>2</m:t>
                                          </m:r>
                                        </m:sup>
                                      </m:s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𝑛</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𝑓</m:t>
                                                  </m:r>
                                                  <m:r>
                                                    <a:rPr lang="en-US" sz="2200" b="0" i="1" smtClean="0">
                                                      <a:latin typeface="Cambria Math"/>
                                                    </a:rPr>
                                                    <m:t>𝑣</m:t>
                                                  </m:r>
                                                </m:e>
                                              </m:nary>
                                            </m:e>
                                          </m:d>
                                        </m:e>
                                        <m:sup>
                                          <m:r>
                                            <a:rPr lang="en-US" sz="2200" i="1">
                                              <a:latin typeface="Cambria Math"/>
                                            </a:rPr>
                                            <m:t>2</m:t>
                                          </m:r>
                                        </m:sup>
                                      </m:sSup>
                                    </m:e>
                                  </m:nary>
                                </m:e>
                              </m:d>
                            </m:e>
                          </m:rad>
                          <m:r>
                            <a:rPr lang="en-US" sz="2200" i="1">
                              <a:latin typeface="Cambria Math"/>
                            </a:rPr>
                            <m:t> </m:t>
                          </m:r>
                        </m:den>
                      </m:f>
                    </m:oMath>
                  </m:oMathPara>
                </a14:m>
                <a:endParaRPr lang="en-US" sz="2200" b="0" dirty="0"/>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59−</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100</m:t>
                              </m:r>
                            </m:den>
                          </m:f>
                          <m:d>
                            <m:dPr>
                              <m:ctrlPr>
                                <a:rPr lang="en-US" sz="2200" b="0" i="1" smtClean="0">
                                  <a:latin typeface="Cambria Math" panose="02040503050406030204" pitchFamily="18" charset="0"/>
                                </a:rPr>
                              </m:ctrlPr>
                            </m:dPr>
                            <m:e>
                              <m:r>
                                <a:rPr lang="en-US" sz="2200" b="0" i="1" smtClean="0">
                                  <a:latin typeface="Cambria Math"/>
                                </a:rPr>
                                <m:t>−75</m:t>
                              </m:r>
                            </m:e>
                          </m:d>
                          <m:d>
                            <m:dPr>
                              <m:ctrlPr>
                                <a:rPr lang="en-US" sz="2200" b="0" i="1" smtClean="0">
                                  <a:latin typeface="Cambria Math" panose="02040503050406030204" pitchFamily="18" charset="0"/>
                                </a:rPr>
                              </m:ctrlPr>
                            </m:dPr>
                            <m:e>
                              <m:r>
                                <a:rPr lang="en-US" sz="2200" b="0" i="1" smtClean="0">
                                  <a:latin typeface="Cambria Math"/>
                                </a:rPr>
                                <m:t>−32</m:t>
                              </m:r>
                            </m:e>
                          </m:d>
                        </m:num>
                        <m:den>
                          <m:rad>
                            <m:radPr>
                              <m:degHide m:val="on"/>
                              <m:ctrlPr>
                                <a:rPr lang="en-US" sz="2200" b="0" i="1" smtClean="0">
                                  <a:latin typeface="Cambria Math" panose="02040503050406030204" pitchFamily="18" charset="0"/>
                                </a:rPr>
                              </m:ctrlPr>
                            </m:radPr>
                            <m:deg/>
                            <m:e>
                              <m:d>
                                <m:dPr>
                                  <m:begChr m:val="["/>
                                  <m:endChr m:val="]"/>
                                  <m:ctrlPr>
                                    <a:rPr lang="en-US" sz="2200" i="1">
                                      <a:latin typeface="Cambria Math" panose="02040503050406030204" pitchFamily="18" charset="0"/>
                                    </a:rPr>
                                  </m:ctrlPr>
                                </m:dPr>
                                <m:e>
                                  <m:r>
                                    <a:rPr lang="en-US" sz="2200" i="1">
                                      <a:latin typeface="Cambria Math"/>
                                    </a:rPr>
                                    <m:t>217−</m:t>
                                  </m:r>
                                  <m:f>
                                    <m:fPr>
                                      <m:ctrlPr>
                                        <a:rPr lang="en-US" sz="2200" i="1">
                                          <a:latin typeface="Cambria Math" panose="02040503050406030204" pitchFamily="18" charset="0"/>
                                        </a:rPr>
                                      </m:ctrlPr>
                                    </m:fPr>
                                    <m:num>
                                      <m:r>
                                        <a:rPr lang="en-US" sz="2200" b="0" i="1" smtClean="0">
                                          <a:latin typeface="Cambria Math"/>
                                        </a:rPr>
                                        <m:t>1</m:t>
                                      </m:r>
                                    </m:num>
                                    <m:den>
                                      <m:r>
                                        <a:rPr lang="en-US" sz="2200" b="0" i="1" smtClean="0">
                                          <a:latin typeface="Cambria Math"/>
                                        </a:rPr>
                                        <m:t>100</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b="0" i="1" smtClean="0">
                                              <a:latin typeface="Cambria Math"/>
                                            </a:rPr>
                                            <m:t>−75</m:t>
                                          </m:r>
                                        </m:e>
                                      </m:d>
                                    </m:e>
                                    <m:sup>
                                      <m:r>
                                        <a:rPr lang="en-US" sz="2200" b="0" i="1" smtClean="0">
                                          <a:latin typeface="Cambria Math"/>
                                        </a:rPr>
                                        <m:t>2</m:t>
                                      </m:r>
                                    </m:sup>
                                  </m:sSup>
                                </m:e>
                              </m:d>
                              <m:d>
                                <m:dPr>
                                  <m:begChr m:val="["/>
                                  <m:endChr m:val="]"/>
                                  <m:ctrlPr>
                                    <a:rPr lang="en-US" sz="2200" b="0" i="1" smtClean="0">
                                      <a:latin typeface="Cambria Math" panose="02040503050406030204" pitchFamily="18" charset="0"/>
                                    </a:rPr>
                                  </m:ctrlPr>
                                </m:dPr>
                                <m:e>
                                  <m:r>
                                    <a:rPr lang="en-US" sz="2200" b="0" i="1" smtClean="0">
                                      <a:latin typeface="Cambria Math"/>
                                    </a:rPr>
                                    <m:t>126−</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100</m:t>
                                      </m:r>
                                    </m:den>
                                  </m:f>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−32</m:t>
                                          </m:r>
                                        </m:e>
                                      </m:d>
                                    </m:e>
                                    <m:sup>
                                      <m:r>
                                        <a:rPr lang="en-US" sz="2200" b="0" i="1" smtClean="0">
                                          <a:latin typeface="Cambria Math"/>
                                        </a:rPr>
                                        <m:t>2</m:t>
                                      </m:r>
                                    </m:sup>
                                  </m:sSup>
                                </m:e>
                              </m:d>
                            </m:e>
                          </m:rad>
                        </m:den>
                      </m:f>
                      <m:r>
                        <a:rPr lang="en-US" sz="2200" b="0" i="0"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59−24</m:t>
                          </m:r>
                        </m:num>
                        <m:den>
                          <m:rad>
                            <m:radPr>
                              <m:degHide m:val="on"/>
                              <m:ctrlPr>
                                <a:rPr lang="en-US" sz="2200" b="0" i="1" smtClean="0">
                                  <a:latin typeface="Cambria Math" panose="02040503050406030204" pitchFamily="18" charset="0"/>
                                </a:rPr>
                              </m:ctrlPr>
                            </m:radPr>
                            <m:deg/>
                            <m:e>
                              <m:f>
                                <m:fPr>
                                  <m:ctrlPr>
                                    <a:rPr lang="en-US" sz="2200" b="0" i="1" smtClean="0">
                                      <a:latin typeface="Cambria Math" panose="02040503050406030204" pitchFamily="18" charset="0"/>
                                    </a:rPr>
                                  </m:ctrlPr>
                                </m:fPr>
                                <m:num>
                                  <m:r>
                                    <a:rPr lang="en-US" sz="2200" b="0" i="1" smtClean="0">
                                      <a:latin typeface="Cambria Math"/>
                                    </a:rPr>
                                    <m:t>643</m:t>
                                  </m:r>
                                </m:num>
                                <m:den>
                                  <m:r>
                                    <a:rPr lang="en-US" sz="2200" b="0" i="1" smtClean="0">
                                      <a:latin typeface="Cambria Math"/>
                                    </a:rPr>
                                    <m:t>4</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2894</m:t>
                                  </m:r>
                                </m:num>
                                <m:den>
                                  <m:r>
                                    <a:rPr lang="en-US" sz="2200" b="0" i="1" smtClean="0">
                                      <a:latin typeface="Cambria Math"/>
                                      <a:ea typeface="Cambria Math"/>
                                    </a:rPr>
                                    <m:t>25</m:t>
                                  </m:r>
                                </m:den>
                              </m:f>
                            </m:e>
                          </m:rad>
                        </m:den>
                      </m:f>
                      <m:r>
                        <a:rPr lang="en-US" sz="2200" b="0" i="0" smtClean="0">
                          <a:latin typeface="Cambria Math"/>
                        </a:rPr>
                        <m:t>=0.25</m:t>
                      </m:r>
                    </m:oMath>
                  </m:oMathPara>
                </a14:m>
                <a:endParaRPr lang="en-US" sz="2200" b="0" dirty="0"/>
              </a:p>
              <a:p>
                <a:pPr marL="0" indent="0">
                  <a:buNone/>
                </a:pPr>
                <a:endParaRPr lang="en-US" sz="2200" b="1"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2917055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RANK CORRELATION:</a:t>
                </a:r>
              </a:p>
              <a:p>
                <a:pPr marL="98425" marR="5080" indent="0">
                  <a:lnSpc>
                    <a:spcPct val="102200"/>
                  </a:lnSpc>
                  <a:spcBef>
                    <a:spcPts val="1110"/>
                  </a:spcBef>
                  <a:buNone/>
                </a:pPr>
                <a:r>
                  <a:rPr lang="en-US" sz="2200" spc="-60" dirty="0">
                    <a:cs typeface="Tahoma"/>
                  </a:rPr>
                  <a:t>Definition: Assuming </a:t>
                </a:r>
                <a:r>
                  <a:rPr lang="en-US" sz="2200" spc="-25" dirty="0">
                    <a:cs typeface="Tahoma"/>
                  </a:rPr>
                  <a:t>that </a:t>
                </a:r>
                <a:r>
                  <a:rPr lang="en-US" sz="2200" spc="-85" dirty="0">
                    <a:uFill>
                      <a:solidFill>
                        <a:srgbClr val="7F007F"/>
                      </a:solidFill>
                    </a:uFill>
                    <a:cs typeface="Tahoma"/>
                  </a:rPr>
                  <a:t>no two </a:t>
                </a:r>
                <a:r>
                  <a:rPr lang="en-US" sz="2200" spc="-55" dirty="0">
                    <a:uFill>
                      <a:solidFill>
                        <a:srgbClr val="7F007F"/>
                      </a:solidFill>
                    </a:uFill>
                    <a:cs typeface="Tahoma"/>
                  </a:rPr>
                  <a:t>individuals </a:t>
                </a:r>
                <a:r>
                  <a:rPr lang="en-US" sz="2200" spc="-110" dirty="0">
                    <a:uFill>
                      <a:solidFill>
                        <a:srgbClr val="7F007F"/>
                      </a:solidFill>
                    </a:uFill>
                    <a:cs typeface="Tahoma"/>
                  </a:rPr>
                  <a:t>are </a:t>
                </a:r>
                <a:r>
                  <a:rPr lang="en-US" sz="2200" spc="-80" dirty="0">
                    <a:uFill>
                      <a:solidFill>
                        <a:srgbClr val="7F007F"/>
                      </a:solidFill>
                    </a:uFill>
                    <a:cs typeface="Tahoma"/>
                  </a:rPr>
                  <a:t>bracketed equal </a:t>
                </a:r>
                <a:r>
                  <a:rPr lang="en-US" sz="2200" spc="-40" dirty="0">
                    <a:uFill>
                      <a:solidFill>
                        <a:srgbClr val="7F007F"/>
                      </a:solidFill>
                    </a:uFill>
                    <a:cs typeface="Tahoma"/>
                  </a:rPr>
                  <a:t>in </a:t>
                </a:r>
                <a:r>
                  <a:rPr lang="en-US" sz="2200" spc="-40" dirty="0">
                    <a:cs typeface="Tahoma"/>
                  </a:rPr>
                  <a:t> </a:t>
                </a:r>
                <a:r>
                  <a:rPr lang="en-US" sz="2200" spc="-65" dirty="0">
                    <a:uFill>
                      <a:solidFill>
                        <a:srgbClr val="7F007F"/>
                      </a:solidFill>
                    </a:uFill>
                    <a:cs typeface="Tahoma"/>
                  </a:rPr>
                  <a:t>either </a:t>
                </a:r>
                <a:r>
                  <a:rPr lang="en-US" sz="2200" spc="-45" dirty="0">
                    <a:uFill>
                      <a:solidFill>
                        <a:srgbClr val="7F007F"/>
                      </a:solidFill>
                    </a:uFill>
                    <a:cs typeface="Tahoma"/>
                  </a:rPr>
                  <a:t>classification,</a:t>
                </a:r>
                <a:r>
                  <a:rPr lang="en-US" sz="2200" spc="-45" dirty="0">
                    <a:cs typeface="Tahoma"/>
                  </a:rPr>
                  <a:t> </a:t>
                </a:r>
                <a:r>
                  <a:rPr lang="en-US" sz="2200" spc="-90" dirty="0">
                    <a:cs typeface="Tahoma"/>
                  </a:rPr>
                  <a:t>each </a:t>
                </a:r>
                <a:r>
                  <a:rPr lang="en-US" sz="2200" spc="-55" dirty="0">
                    <a:cs typeface="Tahoma"/>
                  </a:rPr>
                  <a:t>of </a:t>
                </a:r>
                <a:r>
                  <a:rPr lang="en-US" sz="2200" spc="-65" dirty="0">
                    <a:cs typeface="Tahoma"/>
                  </a:rPr>
                  <a:t>the </a:t>
                </a:r>
                <a:r>
                  <a:rPr lang="en-US" sz="2200" spc="-75" dirty="0">
                    <a:cs typeface="Tahoma"/>
                  </a:rPr>
                  <a:t>variables </a:t>
                </a:r>
                <a:r>
                  <a:rPr lang="en-US" sz="2200" i="1" spc="170" dirty="0">
                    <a:cs typeface="Trebuchet MS"/>
                  </a:rPr>
                  <a:t>X </a:t>
                </a:r>
                <a:r>
                  <a:rPr lang="en-US" sz="2200" spc="-80" dirty="0">
                    <a:cs typeface="Tahoma"/>
                  </a:rPr>
                  <a:t>and </a:t>
                </a:r>
                <a:r>
                  <a:rPr lang="en-US" sz="2200" i="1" spc="145" dirty="0">
                    <a:cs typeface="Trebuchet MS"/>
                  </a:rPr>
                  <a:t>Y </a:t>
                </a:r>
                <a:r>
                  <a:rPr lang="en-US" sz="2200" spc="-80" dirty="0">
                    <a:cs typeface="Tahoma"/>
                  </a:rPr>
                  <a:t>takes  </a:t>
                </a:r>
                <a:r>
                  <a:rPr lang="en-US" sz="2200" spc="-65" dirty="0">
                    <a:cs typeface="Tahoma"/>
                  </a:rPr>
                  <a:t>the </a:t>
                </a:r>
                <a:r>
                  <a:rPr lang="en-US" sz="2200" spc="-85" dirty="0">
                    <a:cs typeface="Tahoma"/>
                  </a:rPr>
                  <a:t>values </a:t>
                </a:r>
                <a:r>
                  <a:rPr lang="en-US" sz="2200" spc="-125" dirty="0">
                    <a:cs typeface="Tahoma"/>
                  </a:rPr>
                  <a:t>1</a:t>
                </a:r>
                <a:r>
                  <a:rPr lang="en-US" sz="2200" i="1" spc="-125" dirty="0">
                    <a:cs typeface="Verdana"/>
                  </a:rPr>
                  <a:t>, </a:t>
                </a:r>
                <a:r>
                  <a:rPr lang="en-US" sz="2200" spc="-120" dirty="0">
                    <a:cs typeface="Tahoma"/>
                  </a:rPr>
                  <a:t>2</a:t>
                </a:r>
                <a:r>
                  <a:rPr lang="en-US" sz="2200" i="1" spc="-120" dirty="0">
                    <a:cs typeface="Verdana"/>
                  </a:rPr>
                  <a:t>, </a:t>
                </a:r>
                <a:r>
                  <a:rPr lang="en-US" sz="2200" i="1" spc="-155" dirty="0">
                    <a:cs typeface="Verdana"/>
                  </a:rPr>
                  <a:t>...,</a:t>
                </a:r>
                <a:r>
                  <a:rPr lang="en-US" sz="2200" i="1" spc="-480" dirty="0">
                    <a:cs typeface="Verdana"/>
                  </a:rPr>
                  <a:t> </a:t>
                </a:r>
                <a:r>
                  <a:rPr lang="en-US" sz="2200" i="1" spc="-40" dirty="0">
                    <a:cs typeface="Trebuchet MS"/>
                  </a:rPr>
                  <a:t>n</a:t>
                </a:r>
                <a:r>
                  <a:rPr lang="en-US" sz="2200" spc="-40" dirty="0">
                    <a:cs typeface="Tahoma"/>
                  </a:rPr>
                  <a:t>.</a:t>
                </a:r>
                <a:endParaRPr lang="en-US" sz="2200" dirty="0">
                  <a:cs typeface="Tahoma"/>
                </a:endParaRPr>
              </a:p>
              <a:p>
                <a:pPr marL="98425" indent="0">
                  <a:lnSpc>
                    <a:spcPct val="100000"/>
                  </a:lnSpc>
                  <a:spcBef>
                    <a:spcPts val="1320"/>
                  </a:spcBef>
                  <a:buNone/>
                </a:pPr>
                <a:r>
                  <a:rPr lang="en-US" sz="2200" spc="-70" dirty="0">
                    <a:cs typeface="Tahoma"/>
                  </a:rPr>
                  <a:t>Hence, </a:t>
                </a:r>
                <a:r>
                  <a:rPr lang="en-US" sz="2200" spc="-65" dirty="0">
                    <a:cs typeface="Tahoma"/>
                  </a:rPr>
                  <a:t>the </a:t>
                </a:r>
                <a:r>
                  <a:rPr lang="en-US" sz="2200" spc="-60" dirty="0">
                    <a:cs typeface="Tahoma"/>
                  </a:rPr>
                  <a:t>rank </a:t>
                </a:r>
                <a:r>
                  <a:rPr lang="en-US" sz="2200" spc="-55" dirty="0">
                    <a:cs typeface="Tahoma"/>
                  </a:rPr>
                  <a:t>correlation </a:t>
                </a:r>
                <a:r>
                  <a:rPr lang="en-US" sz="2200" spc="-50" dirty="0">
                    <a:cs typeface="Tahoma"/>
                  </a:rPr>
                  <a:t>coefficient </a:t>
                </a:r>
                <a:r>
                  <a:rPr lang="en-US" sz="2200" spc="-105" dirty="0">
                    <a:cs typeface="Tahoma"/>
                  </a:rPr>
                  <a:t>between </a:t>
                </a:r>
                <a:r>
                  <a:rPr lang="en-US" sz="2200" i="1" spc="75" dirty="0">
                    <a:cs typeface="Trebuchet MS"/>
                  </a:rPr>
                  <a:t>A </a:t>
                </a:r>
                <a:r>
                  <a:rPr lang="en-US" sz="2200" spc="-80" dirty="0">
                    <a:cs typeface="Tahoma"/>
                  </a:rPr>
                  <a:t>and</a:t>
                </a:r>
                <a:r>
                  <a:rPr lang="en-US" sz="2200" spc="135" dirty="0">
                    <a:cs typeface="Tahoma"/>
                  </a:rPr>
                  <a:t> </a:t>
                </a:r>
                <a:r>
                  <a:rPr lang="en-US" sz="2200" i="1" spc="155" dirty="0" err="1">
                    <a:cs typeface="Trebuchet MS"/>
                  </a:rPr>
                  <a:t>B</a:t>
                </a:r>
                <a:r>
                  <a:rPr lang="en-US" sz="2200" spc="-55" dirty="0" err="1">
                    <a:cs typeface="Tahoma"/>
                  </a:rPr>
                  <a:t>is</a:t>
                </a:r>
                <a:r>
                  <a:rPr lang="en-US" sz="2200" spc="-55" dirty="0">
                    <a:cs typeface="Tahoma"/>
                  </a:rPr>
                  <a:t> </a:t>
                </a:r>
                <a:r>
                  <a:rPr lang="en-US" sz="2200" spc="-80" dirty="0">
                    <a:cs typeface="Tahoma"/>
                  </a:rPr>
                  <a:t>denoted </a:t>
                </a:r>
                <a:r>
                  <a:rPr lang="en-US" sz="2200" spc="-100" dirty="0">
                    <a:cs typeface="Tahoma"/>
                  </a:rPr>
                  <a:t>by r</a:t>
                </a:r>
                <a:r>
                  <a:rPr lang="en-US" sz="2200" spc="-120" dirty="0">
                    <a:cs typeface="Tahoma"/>
                  </a:rPr>
                  <a:t>, </a:t>
                </a:r>
                <a:r>
                  <a:rPr lang="en-US" sz="2200" spc="-80" dirty="0">
                    <a:cs typeface="Tahoma"/>
                  </a:rPr>
                  <a:t>and </a:t>
                </a:r>
                <a:r>
                  <a:rPr lang="en-US" sz="2200" spc="-55" dirty="0">
                    <a:cs typeface="Tahoma"/>
                  </a:rPr>
                  <a:t>is </a:t>
                </a:r>
                <a:r>
                  <a:rPr lang="en-US" sz="2200" spc="-80" dirty="0">
                    <a:cs typeface="Tahoma"/>
                  </a:rPr>
                  <a:t>given</a:t>
                </a:r>
                <a:r>
                  <a:rPr lang="en-US" sz="2200" spc="275" dirty="0">
                    <a:cs typeface="Tahoma"/>
                  </a:rPr>
                  <a:t> </a:t>
                </a:r>
                <a:r>
                  <a:rPr lang="en-US" sz="2200" spc="-110" dirty="0">
                    <a:cs typeface="Tahoma"/>
                  </a:rPr>
                  <a:t>as:</a:t>
                </a:r>
                <a:endParaRPr lang="en-US" sz="2200" dirty="0">
                  <a:cs typeface="Tahoma"/>
                </a:endParaRPr>
              </a:p>
              <a:p>
                <a:pPr marL="0" indent="0">
                  <a:buNone/>
                </a:pPr>
                <a:endParaRPr lang="en-US" sz="2200" b="1" i="1" dirty="0"/>
              </a:p>
              <a:p>
                <a:pPr marL="0" indent="0">
                  <a:buNone/>
                </a:pPr>
                <a14:m>
                  <m:oMathPara xmlns:m="http://schemas.openxmlformats.org/officeDocument/2006/math">
                    <m:oMathParaPr>
                      <m:jc m:val="centerGroup"/>
                    </m:oMathParaPr>
                    <m:oMath xmlns:m="http://schemas.openxmlformats.org/officeDocument/2006/math">
                      <m:r>
                        <a:rPr lang="en-US" sz="2200" b="1" i="1" smtClean="0">
                          <a:latin typeface="Cambria Math"/>
                        </a:rPr>
                        <m:t>𝒓</m:t>
                      </m:r>
                      <m:r>
                        <a:rPr lang="en-US" sz="2200" b="1" i="1" smtClean="0">
                          <a:latin typeface="Cambria Math"/>
                        </a:rPr>
                        <m:t>=</m:t>
                      </m:r>
                      <m:r>
                        <a:rPr lang="en-US" sz="2200" b="1" i="1" smtClean="0">
                          <a:latin typeface="Cambria Math"/>
                        </a:rPr>
                        <m:t>𝟏</m:t>
                      </m:r>
                      <m:r>
                        <a:rPr lang="en-US" sz="2200" b="1" i="1" smtClean="0">
                          <a:latin typeface="Cambria Math"/>
                        </a:rPr>
                        <m:t>−</m:t>
                      </m:r>
                      <m:d>
                        <m:dPr>
                          <m:begChr m:val="["/>
                          <m:endChr m:val="]"/>
                          <m:ctrlPr>
                            <a:rPr lang="en-US" sz="2200" b="1" i="1" smtClean="0">
                              <a:latin typeface="Cambria Math" panose="02040503050406030204" pitchFamily="18" charset="0"/>
                            </a:rPr>
                          </m:ctrlPr>
                        </m:dPr>
                        <m:e>
                          <m:f>
                            <m:fPr>
                              <m:ctrlPr>
                                <a:rPr lang="en-US" sz="2200" b="1" i="1" smtClean="0">
                                  <a:latin typeface="Cambria Math" panose="02040503050406030204" pitchFamily="18" charset="0"/>
                                </a:rPr>
                              </m:ctrlPr>
                            </m:fPr>
                            <m:num>
                              <m:r>
                                <a:rPr lang="en-US" sz="2200" b="1" i="1" smtClean="0">
                                  <a:latin typeface="Cambria Math"/>
                                </a:rPr>
                                <m:t>𝟔</m:t>
                              </m:r>
                              <m:nary>
                                <m:naryPr>
                                  <m:chr m:val="∑"/>
                                  <m:subHide m:val="on"/>
                                  <m:supHide m:val="on"/>
                                  <m:ctrlPr>
                                    <a:rPr lang="en-US" sz="2200" b="1" i="1" smtClean="0">
                                      <a:latin typeface="Cambria Math" panose="02040503050406030204" pitchFamily="18" charset="0"/>
                                    </a:rPr>
                                  </m:ctrlPr>
                                </m:naryPr>
                                <m:sub/>
                                <m:sup/>
                                <m:e>
                                  <m:sSup>
                                    <m:sSupPr>
                                      <m:ctrlPr>
                                        <a:rPr lang="en-US" sz="2200" b="1" i="1" smtClean="0">
                                          <a:latin typeface="Cambria Math" panose="02040503050406030204" pitchFamily="18" charset="0"/>
                                        </a:rPr>
                                      </m:ctrlPr>
                                    </m:sSupPr>
                                    <m:e>
                                      <m:sSub>
                                        <m:sSubPr>
                                          <m:ctrlPr>
                                            <a:rPr lang="en-US" sz="2200" b="1" i="1" smtClean="0">
                                              <a:latin typeface="Cambria Math" panose="02040503050406030204" pitchFamily="18" charset="0"/>
                                            </a:rPr>
                                          </m:ctrlPr>
                                        </m:sSubPr>
                                        <m:e>
                                          <m:r>
                                            <a:rPr lang="en-US" sz="2200" b="1" i="1" smtClean="0">
                                              <a:latin typeface="Cambria Math"/>
                                            </a:rPr>
                                            <m:t>𝑫</m:t>
                                          </m:r>
                                        </m:e>
                                        <m:sub>
                                          <m:r>
                                            <a:rPr lang="en-US" sz="2200" b="1" i="1" smtClean="0">
                                              <a:latin typeface="Cambria Math"/>
                                            </a:rPr>
                                            <m:t>𝒊</m:t>
                                          </m:r>
                                        </m:sub>
                                      </m:sSub>
                                    </m:e>
                                    <m:sup>
                                      <m:r>
                                        <a:rPr lang="en-US" sz="2200" b="1" i="1" smtClean="0">
                                          <a:latin typeface="Cambria Math"/>
                                        </a:rPr>
                                        <m:t>𝟐</m:t>
                                      </m:r>
                                    </m:sup>
                                  </m:sSup>
                                </m:e>
                              </m:nary>
                            </m:num>
                            <m:den>
                              <m:r>
                                <a:rPr lang="en-US" sz="2200" b="1" i="1" smtClean="0">
                                  <a:latin typeface="Cambria Math"/>
                                </a:rPr>
                                <m:t>𝒏</m:t>
                              </m:r>
                              <m:d>
                                <m:dPr>
                                  <m:ctrlPr>
                                    <a:rPr lang="en-US" sz="2200" b="1" i="1" smtClean="0">
                                      <a:latin typeface="Cambria Math" panose="02040503050406030204" pitchFamily="18" charset="0"/>
                                    </a:rPr>
                                  </m:ctrlPr>
                                </m:dPr>
                                <m:e>
                                  <m:sSup>
                                    <m:sSupPr>
                                      <m:ctrlPr>
                                        <a:rPr lang="en-US" sz="2200" b="1" i="1" smtClean="0">
                                          <a:latin typeface="Cambria Math" panose="02040503050406030204" pitchFamily="18" charset="0"/>
                                        </a:rPr>
                                      </m:ctrlPr>
                                    </m:sSupPr>
                                    <m:e>
                                      <m:r>
                                        <a:rPr lang="en-US" sz="2200" b="1" i="1" smtClean="0">
                                          <a:latin typeface="Cambria Math"/>
                                        </a:rPr>
                                        <m:t>𝒏</m:t>
                                      </m:r>
                                    </m:e>
                                    <m:sup>
                                      <m:r>
                                        <a:rPr lang="en-US" sz="2200" b="1" i="1" smtClean="0">
                                          <a:latin typeface="Cambria Math"/>
                                        </a:rPr>
                                        <m:t>𝟐</m:t>
                                      </m:r>
                                    </m:sup>
                                  </m:sSup>
                                  <m:r>
                                    <a:rPr lang="en-US" sz="2200" b="1" i="1" smtClean="0">
                                      <a:latin typeface="Cambria Math"/>
                                    </a:rPr>
                                    <m:t>−</m:t>
                                  </m:r>
                                  <m:r>
                                    <a:rPr lang="en-US" sz="2200" b="1" i="1" smtClean="0">
                                      <a:latin typeface="Cambria Math"/>
                                    </a:rPr>
                                    <m:t>𝟏</m:t>
                                  </m:r>
                                </m:e>
                              </m:d>
                            </m:den>
                          </m:f>
                        </m:e>
                      </m:d>
                    </m:oMath>
                  </m:oMathPara>
                </a14:m>
                <a:endParaRPr lang="en-US" sz="2200" b="1"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37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Rank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9359841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Question. Compute the rank correlation coefficient for the following data.</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b="1" dirty="0"/>
                  <a:t>Sol</a:t>
                </a:r>
                <a:r>
                  <a:rPr lang="en-US" sz="2200" dirty="0"/>
                  <a:t>. Here the ranks are given and </a:t>
                </a:r>
                <a14:m>
                  <m:oMath xmlns:m="http://schemas.openxmlformats.org/officeDocument/2006/math">
                    <m:r>
                      <a:rPr lang="en-US" sz="2200" i="1">
                        <a:latin typeface="Cambria Math"/>
                      </a:rPr>
                      <m:t>𝑛</m:t>
                    </m:r>
                    <m:r>
                      <a:rPr lang="en-US" sz="2200" i="1">
                        <a:latin typeface="Cambria Math"/>
                      </a:rPr>
                      <m:t>=10</m:t>
                    </m:r>
                  </m:oMath>
                </a14:m>
                <a:endParaRPr lang="en-US" sz="2200" dirty="0"/>
              </a:p>
              <a:p>
                <a:pPr marL="0" indent="0">
                  <a:buNone/>
                </a:pPr>
                <a:endParaRPr lang="en-US" sz="2200" dirty="0"/>
              </a:p>
              <a:p>
                <a:endParaRPr lang="en-US" sz="2200" b="1" dirty="0"/>
              </a:p>
              <a:p>
                <a:endParaRPr lang="en-US" sz="2200" b="1" dirty="0"/>
              </a:p>
              <a:p>
                <a:endParaRPr lang="en-US" sz="2200" b="1" dirty="0"/>
              </a:p>
              <a:p>
                <a:endParaRPr lang="en-US" sz="2200" b="1" dirty="0"/>
              </a:p>
              <a:p>
                <a:endParaRPr lang="en-US" sz="2200" b="1" dirty="0"/>
              </a:p>
              <a:p>
                <a:endParaRPr lang="en-US" sz="2200" b="1" dirty="0"/>
              </a:p>
              <a:p>
                <a:endParaRPr lang="en-US" sz="2200" b="1" dirty="0"/>
              </a:p>
              <a:p>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61725"/>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4257427652"/>
              </p:ext>
            </p:extLst>
          </p:nvPr>
        </p:nvGraphicFramePr>
        <p:xfrm>
          <a:off x="685800" y="2438400"/>
          <a:ext cx="7543801" cy="1651000"/>
        </p:xfrm>
        <a:graphic>
          <a:graphicData uri="http://schemas.openxmlformats.org/drawingml/2006/table">
            <a:tbl>
              <a:tblPr firstRow="1" bandRow="1">
                <a:tableStyleId>{5C22544A-7EE6-4342-B048-85BDC9FD1C3A}</a:tableStyleId>
              </a:tblPr>
              <a:tblGrid>
                <a:gridCol w="928212">
                  <a:extLst>
                    <a:ext uri="{9D8B030D-6E8A-4147-A177-3AD203B41FA5}">
                      <a16:colId xmlns:a16="http://schemas.microsoft.com/office/drawing/2014/main" val="20000"/>
                    </a:ext>
                  </a:extLst>
                </a:gridCol>
                <a:gridCol w="564832">
                  <a:extLst>
                    <a:ext uri="{9D8B030D-6E8A-4147-A177-3AD203B41FA5}">
                      <a16:colId xmlns:a16="http://schemas.microsoft.com/office/drawing/2014/main" val="20001"/>
                    </a:ext>
                  </a:extLst>
                </a:gridCol>
                <a:gridCol w="707231">
                  <a:extLst>
                    <a:ext uri="{9D8B030D-6E8A-4147-A177-3AD203B41FA5}">
                      <a16:colId xmlns:a16="http://schemas.microsoft.com/office/drawing/2014/main" val="20002"/>
                    </a:ext>
                  </a:extLst>
                </a:gridCol>
                <a:gridCol w="550069">
                  <a:extLst>
                    <a:ext uri="{9D8B030D-6E8A-4147-A177-3AD203B41FA5}">
                      <a16:colId xmlns:a16="http://schemas.microsoft.com/office/drawing/2014/main" val="20003"/>
                    </a:ext>
                  </a:extLst>
                </a:gridCol>
                <a:gridCol w="550069">
                  <a:extLst>
                    <a:ext uri="{9D8B030D-6E8A-4147-A177-3AD203B41FA5}">
                      <a16:colId xmlns:a16="http://schemas.microsoft.com/office/drawing/2014/main" val="20004"/>
                    </a:ext>
                  </a:extLst>
                </a:gridCol>
                <a:gridCol w="785813">
                  <a:extLst>
                    <a:ext uri="{9D8B030D-6E8A-4147-A177-3AD203B41FA5}">
                      <a16:colId xmlns:a16="http://schemas.microsoft.com/office/drawing/2014/main" val="20005"/>
                    </a:ext>
                  </a:extLst>
                </a:gridCol>
                <a:gridCol w="628650">
                  <a:extLst>
                    <a:ext uri="{9D8B030D-6E8A-4147-A177-3AD203B41FA5}">
                      <a16:colId xmlns:a16="http://schemas.microsoft.com/office/drawing/2014/main" val="20006"/>
                    </a:ext>
                  </a:extLst>
                </a:gridCol>
                <a:gridCol w="628650">
                  <a:extLst>
                    <a:ext uri="{9D8B030D-6E8A-4147-A177-3AD203B41FA5}">
                      <a16:colId xmlns:a16="http://schemas.microsoft.com/office/drawing/2014/main" val="20007"/>
                    </a:ext>
                  </a:extLst>
                </a:gridCol>
                <a:gridCol w="628650">
                  <a:extLst>
                    <a:ext uri="{9D8B030D-6E8A-4147-A177-3AD203B41FA5}">
                      <a16:colId xmlns:a16="http://schemas.microsoft.com/office/drawing/2014/main" val="20008"/>
                    </a:ext>
                  </a:extLst>
                </a:gridCol>
                <a:gridCol w="707231">
                  <a:extLst>
                    <a:ext uri="{9D8B030D-6E8A-4147-A177-3AD203B41FA5}">
                      <a16:colId xmlns:a16="http://schemas.microsoft.com/office/drawing/2014/main" val="20009"/>
                    </a:ext>
                  </a:extLst>
                </a:gridCol>
                <a:gridCol w="864394">
                  <a:extLst>
                    <a:ext uri="{9D8B030D-6E8A-4147-A177-3AD203B41FA5}">
                      <a16:colId xmlns:a16="http://schemas.microsoft.com/office/drawing/2014/main" val="20010"/>
                    </a:ext>
                  </a:extLst>
                </a:gridCol>
              </a:tblGrid>
              <a:tr h="370840">
                <a:tc>
                  <a:txBody>
                    <a:bodyPr/>
                    <a:lstStyle/>
                    <a:p>
                      <a:r>
                        <a:rPr lang="en-US" dirty="0">
                          <a:latin typeface="Times New Roman" panose="02020603050405020304" pitchFamily="18" charset="0"/>
                        </a:rPr>
                        <a:t>Person</a:t>
                      </a:r>
                    </a:p>
                  </a:txBody>
                  <a:tcPr/>
                </a:tc>
                <a:tc>
                  <a:txBody>
                    <a:bodyPr/>
                    <a:lstStyle/>
                    <a:p>
                      <a:r>
                        <a:rPr lang="en-US" dirty="0">
                          <a:latin typeface="Times New Roman" panose="02020603050405020304" pitchFamily="18" charset="0"/>
                        </a:rPr>
                        <a:t>A</a:t>
                      </a:r>
                    </a:p>
                  </a:txBody>
                  <a:tcPr/>
                </a:tc>
                <a:tc>
                  <a:txBody>
                    <a:bodyPr/>
                    <a:lstStyle/>
                    <a:p>
                      <a:r>
                        <a:rPr lang="en-US" dirty="0">
                          <a:latin typeface="Times New Roman" panose="02020603050405020304" pitchFamily="18" charset="0"/>
                        </a:rPr>
                        <a:t>B</a:t>
                      </a:r>
                    </a:p>
                  </a:txBody>
                  <a:tcPr/>
                </a:tc>
                <a:tc>
                  <a:txBody>
                    <a:bodyPr/>
                    <a:lstStyle/>
                    <a:p>
                      <a:r>
                        <a:rPr lang="en-US" dirty="0">
                          <a:latin typeface="Times New Roman" panose="02020603050405020304" pitchFamily="18" charset="0"/>
                        </a:rPr>
                        <a:t>C</a:t>
                      </a:r>
                    </a:p>
                  </a:txBody>
                  <a:tcPr/>
                </a:tc>
                <a:tc>
                  <a:txBody>
                    <a:bodyPr/>
                    <a:lstStyle/>
                    <a:p>
                      <a:r>
                        <a:rPr lang="en-US" dirty="0">
                          <a:latin typeface="Times New Roman" panose="02020603050405020304" pitchFamily="18" charset="0"/>
                        </a:rPr>
                        <a:t>D</a:t>
                      </a:r>
                    </a:p>
                  </a:txBody>
                  <a:tcPr/>
                </a:tc>
                <a:tc>
                  <a:txBody>
                    <a:bodyPr/>
                    <a:lstStyle/>
                    <a:p>
                      <a:r>
                        <a:rPr lang="en-US" dirty="0">
                          <a:latin typeface="Times New Roman" panose="02020603050405020304" pitchFamily="18" charset="0"/>
                        </a:rPr>
                        <a:t>E</a:t>
                      </a:r>
                    </a:p>
                  </a:txBody>
                  <a:tcPr/>
                </a:tc>
                <a:tc>
                  <a:txBody>
                    <a:bodyPr/>
                    <a:lstStyle/>
                    <a:p>
                      <a:r>
                        <a:rPr lang="en-US" dirty="0">
                          <a:latin typeface="Times New Roman" panose="02020603050405020304" pitchFamily="18" charset="0"/>
                        </a:rPr>
                        <a:t>F</a:t>
                      </a:r>
                    </a:p>
                  </a:txBody>
                  <a:tcPr/>
                </a:tc>
                <a:tc>
                  <a:txBody>
                    <a:bodyPr/>
                    <a:lstStyle/>
                    <a:p>
                      <a:r>
                        <a:rPr lang="en-US" dirty="0">
                          <a:latin typeface="Times New Roman" panose="02020603050405020304" pitchFamily="18" charset="0"/>
                        </a:rPr>
                        <a:t>G</a:t>
                      </a:r>
                    </a:p>
                  </a:txBody>
                  <a:tcPr/>
                </a:tc>
                <a:tc>
                  <a:txBody>
                    <a:bodyPr/>
                    <a:lstStyle/>
                    <a:p>
                      <a:r>
                        <a:rPr lang="en-US" dirty="0">
                          <a:latin typeface="Times New Roman" panose="02020603050405020304" pitchFamily="18" charset="0"/>
                        </a:rPr>
                        <a:t>H</a:t>
                      </a:r>
                    </a:p>
                  </a:txBody>
                  <a:tcPr/>
                </a:tc>
                <a:tc>
                  <a:txBody>
                    <a:bodyPr/>
                    <a:lstStyle/>
                    <a:p>
                      <a:r>
                        <a:rPr lang="en-US" dirty="0">
                          <a:latin typeface="Times New Roman" panose="02020603050405020304" pitchFamily="18" charset="0"/>
                        </a:rPr>
                        <a:t>I</a:t>
                      </a:r>
                    </a:p>
                  </a:txBody>
                  <a:tcPr/>
                </a:tc>
                <a:tc>
                  <a:txBody>
                    <a:bodyPr/>
                    <a:lstStyle/>
                    <a:p>
                      <a:r>
                        <a:rPr lang="en-US" dirty="0">
                          <a:latin typeface="Times New Roman" panose="02020603050405020304" pitchFamily="18" charset="0"/>
                        </a:rPr>
                        <a:t>J</a:t>
                      </a:r>
                    </a:p>
                  </a:txBody>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Rank in </a:t>
                      </a:r>
                      <a:r>
                        <a:rPr lang="en-US" dirty="0" err="1"/>
                        <a:t>maths</a:t>
                      </a:r>
                      <a:endParaRPr lang="en-US" dirty="0"/>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3</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cs typeface="Times New Roman" panose="02020603050405020304" pitchFamily="18" charset="0"/>
                        </a:rPr>
                        <a:t>Rank</a:t>
                      </a:r>
                      <a:r>
                        <a:rPr lang="en-US" baseline="0" dirty="0">
                          <a:latin typeface="Times New Roman" panose="02020603050405020304" pitchFamily="18" charset="0"/>
                          <a:cs typeface="Times New Roman" panose="02020603050405020304" pitchFamily="18" charset="0"/>
                        </a:rPr>
                        <a:t> in physics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10</a:t>
                      </a:r>
                    </a:p>
                  </a:txBody>
                  <a:tcPr/>
                </a:tc>
                <a:extLst>
                  <a:ext uri="{0D108BD9-81ED-4DB2-BD59-A6C34878D82A}">
                    <a16:rowId xmlns:a16="http://schemas.microsoft.com/office/drawing/2014/main" val="10002"/>
                  </a:ext>
                </a:extLst>
              </a:tr>
            </a:tbl>
          </a:graphicData>
        </a:graphic>
      </p:graphicFrame>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Rank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5961826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sz="20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255961434"/>
                  </p:ext>
                </p:extLst>
              </p:nvPr>
            </p:nvGraphicFramePr>
            <p:xfrm>
              <a:off x="533400" y="1143000"/>
              <a:ext cx="8458200" cy="4836034"/>
            </p:xfrm>
            <a:graphic>
              <a:graphicData uri="http://schemas.openxmlformats.org/drawingml/2006/table">
                <a:tbl>
                  <a:tblPr firstRow="1" bandRow="1">
                    <a:tableStyleId>{5C22544A-7EE6-4342-B048-85BDC9FD1C3A}</a:tableStyleId>
                  </a:tblPr>
                  <a:tblGrid>
                    <a:gridCol w="1520575">
                      <a:extLst>
                        <a:ext uri="{9D8B030D-6E8A-4147-A177-3AD203B41FA5}">
                          <a16:colId xmlns:a16="http://schemas.microsoft.com/office/drawing/2014/main" val="20000"/>
                        </a:ext>
                      </a:extLst>
                    </a:gridCol>
                    <a:gridCol w="1330504">
                      <a:extLst>
                        <a:ext uri="{9D8B030D-6E8A-4147-A177-3AD203B41FA5}">
                          <a16:colId xmlns:a16="http://schemas.microsoft.com/office/drawing/2014/main" val="20001"/>
                        </a:ext>
                      </a:extLst>
                    </a:gridCol>
                    <a:gridCol w="1587383">
                      <a:extLst>
                        <a:ext uri="{9D8B030D-6E8A-4147-A177-3AD203B41FA5}">
                          <a16:colId xmlns:a16="http://schemas.microsoft.com/office/drawing/2014/main" val="20002"/>
                        </a:ext>
                      </a:extLst>
                    </a:gridCol>
                    <a:gridCol w="2023983">
                      <a:extLst>
                        <a:ext uri="{9D8B030D-6E8A-4147-A177-3AD203B41FA5}">
                          <a16:colId xmlns:a16="http://schemas.microsoft.com/office/drawing/2014/main" val="20003"/>
                        </a:ext>
                      </a:extLst>
                    </a:gridCol>
                    <a:gridCol w="1995755">
                      <a:extLst>
                        <a:ext uri="{9D8B030D-6E8A-4147-A177-3AD203B41FA5}">
                          <a16:colId xmlns:a16="http://schemas.microsoft.com/office/drawing/2014/main" val="20004"/>
                        </a:ext>
                      </a:extLst>
                    </a:gridCol>
                  </a:tblGrid>
                  <a:tr h="370840">
                    <a:tc>
                      <a:txBody>
                        <a:bodyPr/>
                        <a:lstStyle/>
                        <a:p>
                          <a:r>
                            <a:rPr lang="en-US" dirty="0">
                              <a:latin typeface="Times New Roman" panose="02020603050405020304" pitchFamily="18" charset="0"/>
                            </a:rPr>
                            <a:t>Person</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1" i="1" smtClean="0">
                                        <a:latin typeface="Cambria Math"/>
                                      </a:rPr>
                                      <m:t>𝑹</m:t>
                                    </m:r>
                                  </m:e>
                                  <m:sub>
                                    <m:r>
                                      <a:rPr lang="en-US" b="1" i="1" smtClean="0">
                                        <a:latin typeface="Cambria Math"/>
                                      </a:rPr>
                                      <m:t>𝟏</m:t>
                                    </m:r>
                                  </m:sub>
                                </m:sSub>
                              </m:oMath>
                            </m:oMathPara>
                          </a14:m>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1" i="1" smtClean="0">
                                        <a:latin typeface="Cambria Math"/>
                                      </a:rPr>
                                      <m:t>𝑹</m:t>
                                    </m:r>
                                  </m:e>
                                  <m:sub>
                                    <m:r>
                                      <a:rPr lang="en-US" b="1" i="1" smtClean="0">
                                        <a:latin typeface="Cambria Math"/>
                                      </a:rPr>
                                      <m:t>𝟐</m:t>
                                    </m:r>
                                  </m:sub>
                                </m:sSub>
                              </m:oMath>
                            </m:oMathPara>
                          </a14:m>
                          <a:endParaRPr lang="en-US" dirty="0">
                            <a:latin typeface="Times New Roman" panose="02020603050405020304" pitchFamily="18" charset="0"/>
                          </a:endParaRPr>
                        </a:p>
                      </a:txBody>
                      <a:tcPr/>
                    </a:tc>
                    <a:tc>
                      <a:txBody>
                        <a:bodyPr/>
                        <a:lstStyle/>
                        <a:p>
                          <a:r>
                            <a:rPr lang="en-US" i="0" dirty="0">
                              <a:latin typeface="Times New Roman" panose="02020603050405020304" pitchFamily="18" charset="0"/>
                            </a:rPr>
                            <a:t>D=</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a:rPr>
                                    <m:t>𝑹</m:t>
                                  </m:r>
                                </m:e>
                                <m:sub>
                                  <m:r>
                                    <a:rPr lang="en-US" b="1" i="1" smtClean="0">
                                      <a:latin typeface="Cambria Math"/>
                                    </a:rPr>
                                    <m:t>𝟏</m:t>
                                  </m:r>
                                </m:sub>
                              </m:sSub>
                              <m:r>
                                <a:rPr lang="en-US" b="1" i="1" smtClean="0">
                                  <a:latin typeface="Cambria Math"/>
                                </a:rPr>
                                <m:t>−</m:t>
                              </m:r>
                              <m:sSub>
                                <m:sSubPr>
                                  <m:ctrlPr>
                                    <a:rPr lang="en-US" b="1" i="1" smtClean="0">
                                      <a:latin typeface="Cambria Math" panose="02040503050406030204" pitchFamily="18" charset="0"/>
                                    </a:rPr>
                                  </m:ctrlPr>
                                </m:sSubPr>
                                <m:e>
                                  <m:r>
                                    <a:rPr lang="en-US" b="1" i="1" smtClean="0">
                                      <a:latin typeface="Cambria Math"/>
                                    </a:rPr>
                                    <m:t>𝑹</m:t>
                                  </m:r>
                                </m:e>
                                <m:sub>
                                  <m:r>
                                    <a:rPr lang="en-US" b="1" i="1" smtClean="0">
                                      <a:latin typeface="Cambria Math"/>
                                    </a:rPr>
                                    <m:t>𝟐</m:t>
                                  </m:r>
                                </m:sub>
                              </m:sSub>
                            </m:oMath>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smtClean="0">
                                        <a:latin typeface="Cambria Math"/>
                                      </a:rPr>
                                      <m:t>𝑫</m:t>
                                    </m:r>
                                  </m:e>
                                  <m:sup>
                                    <m:r>
                                      <a:rPr lang="en-US" b="1" i="1" smtClean="0">
                                        <a:latin typeface="Cambria Math"/>
                                      </a:rPr>
                                      <m:t>𝟐</m:t>
                                    </m:r>
                                  </m:sup>
                                </m:sSup>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A</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B</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C</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D</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E</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F</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16</a:t>
                          </a:r>
                        </a:p>
                      </a:txBody>
                      <a:tcPr/>
                    </a:tc>
                    <a:extLst>
                      <a:ext uri="{0D108BD9-81ED-4DB2-BD59-A6C34878D82A}">
                        <a16:rowId xmlns:a16="http://schemas.microsoft.com/office/drawing/2014/main" val="10006"/>
                      </a:ext>
                    </a:extLst>
                  </a:tr>
                  <a:tr h="370840">
                    <a:tc>
                      <a:txBody>
                        <a:bodyPr/>
                        <a:lstStyle/>
                        <a:p>
                          <a:r>
                            <a:rPr lang="en-US" dirty="0">
                              <a:latin typeface="Times New Roman" panose="02020603050405020304" pitchFamily="18" charset="0"/>
                            </a:rPr>
                            <a:t>G</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7"/>
                      </a:ext>
                    </a:extLst>
                  </a:tr>
                  <a:tr h="370840">
                    <a:tc>
                      <a:txBody>
                        <a:bodyPr/>
                        <a:lstStyle/>
                        <a:p>
                          <a:r>
                            <a:rPr lang="en-US" dirty="0">
                              <a:latin typeface="Times New Roman" panose="02020603050405020304" pitchFamily="18" charset="0"/>
                            </a:rPr>
                            <a:t>H</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8"/>
                      </a:ext>
                    </a:extLst>
                  </a:tr>
                  <a:tr h="370840">
                    <a:tc>
                      <a:txBody>
                        <a:bodyPr/>
                        <a:lstStyle/>
                        <a:p>
                          <a:r>
                            <a:rPr lang="en-US" dirty="0">
                              <a:latin typeface="Times New Roman" panose="02020603050405020304" pitchFamily="18" charset="0"/>
                            </a:rPr>
                            <a:t>I</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9"/>
                      </a:ext>
                    </a:extLst>
                  </a:tr>
                  <a:tr h="370840">
                    <a:tc>
                      <a:txBody>
                        <a:bodyPr/>
                        <a:lstStyle/>
                        <a:p>
                          <a:r>
                            <a:rPr lang="en-US" dirty="0">
                              <a:latin typeface="Times New Roman" panose="02020603050405020304" pitchFamily="18" charset="0"/>
                            </a:rPr>
                            <a:t>J</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49</a:t>
                          </a:r>
                        </a:p>
                      </a:txBody>
                      <a:tcPr/>
                    </a:tc>
                    <a:extLst>
                      <a:ext uri="{0D108BD9-81ED-4DB2-BD59-A6C34878D82A}">
                        <a16:rowId xmlns:a16="http://schemas.microsoft.com/office/drawing/2014/main" val="10010"/>
                      </a:ext>
                    </a:extLst>
                  </a:tr>
                  <a:tr h="370840">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r>
                                          <a:rPr lang="en-US" b="0" i="1" smtClean="0">
                                            <a:latin typeface="Cambria Math"/>
                                          </a:rPr>
                                          <m:t>𝐷</m:t>
                                        </m:r>
                                      </m:e>
                                      <m:sup>
                                        <m:r>
                                          <a:rPr lang="en-US" b="0" i="1" smtClean="0">
                                            <a:latin typeface="Cambria Math"/>
                                          </a:rPr>
                                          <m:t>2</m:t>
                                        </m:r>
                                      </m:sup>
                                    </m:sSup>
                                    <m:r>
                                      <a:rPr lang="en-US" b="0" i="1" smtClean="0">
                                        <a:latin typeface="Cambria Math"/>
                                      </a:rPr>
                                      <m:t>=280</m:t>
                                    </m:r>
                                  </m:e>
                                </m:nary>
                              </m:oMath>
                            </m:oMathPara>
                          </a14:m>
                          <a:endParaRPr lang="en-US" dirty="0">
                            <a:latin typeface="Times New Roman" panose="02020603050405020304" pitchFamily="18" charset="0"/>
                          </a:endParaRPr>
                        </a:p>
                      </a:txBody>
                      <a:tcPr/>
                    </a:tc>
                    <a:extLst>
                      <a:ext uri="{0D108BD9-81ED-4DB2-BD59-A6C34878D82A}">
                        <a16:rowId xmlns:a16="http://schemas.microsoft.com/office/drawing/2014/main" val="1001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255961434"/>
                  </p:ext>
                </p:extLst>
              </p:nvPr>
            </p:nvGraphicFramePr>
            <p:xfrm>
              <a:off x="533400" y="1143000"/>
              <a:ext cx="8458200" cy="4836034"/>
            </p:xfrm>
            <a:graphic>
              <a:graphicData uri="http://schemas.openxmlformats.org/drawingml/2006/table">
                <a:tbl>
                  <a:tblPr firstRow="1" bandRow="1">
                    <a:tableStyleId>{5C22544A-7EE6-4342-B048-85BDC9FD1C3A}</a:tableStyleId>
                  </a:tblPr>
                  <a:tblGrid>
                    <a:gridCol w="1520575">
                      <a:extLst>
                        <a:ext uri="{9D8B030D-6E8A-4147-A177-3AD203B41FA5}">
                          <a16:colId xmlns:a16="http://schemas.microsoft.com/office/drawing/2014/main" val="20000"/>
                        </a:ext>
                      </a:extLst>
                    </a:gridCol>
                    <a:gridCol w="1330504">
                      <a:extLst>
                        <a:ext uri="{9D8B030D-6E8A-4147-A177-3AD203B41FA5}">
                          <a16:colId xmlns:a16="http://schemas.microsoft.com/office/drawing/2014/main" val="20001"/>
                        </a:ext>
                      </a:extLst>
                    </a:gridCol>
                    <a:gridCol w="1587383">
                      <a:extLst>
                        <a:ext uri="{9D8B030D-6E8A-4147-A177-3AD203B41FA5}">
                          <a16:colId xmlns:a16="http://schemas.microsoft.com/office/drawing/2014/main" val="20002"/>
                        </a:ext>
                      </a:extLst>
                    </a:gridCol>
                    <a:gridCol w="2023983">
                      <a:extLst>
                        <a:ext uri="{9D8B030D-6E8A-4147-A177-3AD203B41FA5}">
                          <a16:colId xmlns:a16="http://schemas.microsoft.com/office/drawing/2014/main" val="20003"/>
                        </a:ext>
                      </a:extLst>
                    </a:gridCol>
                    <a:gridCol w="1995755">
                      <a:extLst>
                        <a:ext uri="{9D8B030D-6E8A-4147-A177-3AD203B41FA5}">
                          <a16:colId xmlns:a16="http://schemas.microsoft.com/office/drawing/2014/main" val="20004"/>
                        </a:ext>
                      </a:extLst>
                    </a:gridCol>
                  </a:tblGrid>
                  <a:tr h="371920">
                    <a:tc>
                      <a:txBody>
                        <a:bodyPr/>
                        <a:lstStyle/>
                        <a:p>
                          <a:r>
                            <a:rPr lang="en-US" dirty="0">
                              <a:latin typeface="Times New Roman" panose="02020603050405020304" pitchFamily="18" charset="0"/>
                            </a:rPr>
                            <a:t>Person</a:t>
                          </a:r>
                        </a:p>
                      </a:txBody>
                      <a:tcPr/>
                    </a:tc>
                    <a:tc>
                      <a:txBody>
                        <a:bodyPr/>
                        <a:lstStyle/>
                        <a:p>
                          <a:endParaRPr lang="en-US"/>
                        </a:p>
                      </a:txBody>
                      <a:tcPr>
                        <a:blipFill>
                          <a:blip r:embed="rId2"/>
                          <a:stretch>
                            <a:fillRect l="-115138" t="-9836" r="-424312" b="-1204918"/>
                          </a:stretch>
                        </a:blipFill>
                      </a:tcPr>
                    </a:tc>
                    <a:tc>
                      <a:txBody>
                        <a:bodyPr/>
                        <a:lstStyle/>
                        <a:p>
                          <a:endParaRPr lang="en-US"/>
                        </a:p>
                      </a:txBody>
                      <a:tcPr>
                        <a:blipFill>
                          <a:blip r:embed="rId2"/>
                          <a:stretch>
                            <a:fillRect l="-180385" t="-9836" r="-255769" b="-1204918"/>
                          </a:stretch>
                        </a:blipFill>
                      </a:tcPr>
                    </a:tc>
                    <a:tc>
                      <a:txBody>
                        <a:bodyPr/>
                        <a:lstStyle/>
                        <a:p>
                          <a:endParaRPr lang="en-US"/>
                        </a:p>
                      </a:txBody>
                      <a:tcPr>
                        <a:blipFill>
                          <a:blip r:embed="rId2"/>
                          <a:stretch>
                            <a:fillRect l="-219578" t="-9836" r="-100301" b="-1204918"/>
                          </a:stretch>
                        </a:blipFill>
                      </a:tcPr>
                    </a:tc>
                    <a:tc>
                      <a:txBody>
                        <a:bodyPr/>
                        <a:lstStyle/>
                        <a:p>
                          <a:endParaRPr lang="en-US"/>
                        </a:p>
                      </a:txBody>
                      <a:tcPr>
                        <a:blipFill>
                          <a:blip r:embed="rId2"/>
                          <a:stretch>
                            <a:fillRect l="-323476" t="-9836" r="-1524" b="-1204918"/>
                          </a:stretch>
                        </a:blipFill>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A</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B</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rPr>
                            <a:t>C</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3"/>
                      </a:ext>
                    </a:extLst>
                  </a:tr>
                  <a:tr h="370840">
                    <a:tc>
                      <a:txBody>
                        <a:bodyPr/>
                        <a:lstStyle/>
                        <a:p>
                          <a:r>
                            <a:rPr lang="en-US" dirty="0">
                              <a:latin typeface="Times New Roman" panose="02020603050405020304" pitchFamily="18" charset="0"/>
                            </a:rPr>
                            <a:t>D</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extLst>
                      <a:ext uri="{0D108BD9-81ED-4DB2-BD59-A6C34878D82A}">
                        <a16:rowId xmlns:a16="http://schemas.microsoft.com/office/drawing/2014/main" val="10004"/>
                      </a:ext>
                    </a:extLst>
                  </a:tr>
                  <a:tr h="370840">
                    <a:tc>
                      <a:txBody>
                        <a:bodyPr/>
                        <a:lstStyle/>
                        <a:p>
                          <a:r>
                            <a:rPr lang="en-US" dirty="0">
                              <a:latin typeface="Times New Roman" panose="02020603050405020304" pitchFamily="18" charset="0"/>
                            </a:rPr>
                            <a:t>E</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5"/>
                      </a:ext>
                    </a:extLst>
                  </a:tr>
                  <a:tr h="370840">
                    <a:tc>
                      <a:txBody>
                        <a:bodyPr/>
                        <a:lstStyle/>
                        <a:p>
                          <a:r>
                            <a:rPr lang="en-US" dirty="0">
                              <a:latin typeface="Times New Roman" panose="02020603050405020304" pitchFamily="18" charset="0"/>
                            </a:rPr>
                            <a:t>F</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16</a:t>
                          </a:r>
                        </a:p>
                      </a:txBody>
                      <a:tcPr/>
                    </a:tc>
                    <a:extLst>
                      <a:ext uri="{0D108BD9-81ED-4DB2-BD59-A6C34878D82A}">
                        <a16:rowId xmlns:a16="http://schemas.microsoft.com/office/drawing/2014/main" val="10006"/>
                      </a:ext>
                    </a:extLst>
                  </a:tr>
                  <a:tr h="370840">
                    <a:tc>
                      <a:txBody>
                        <a:bodyPr/>
                        <a:lstStyle/>
                        <a:p>
                          <a:r>
                            <a:rPr lang="en-US" dirty="0">
                              <a:latin typeface="Times New Roman" panose="02020603050405020304" pitchFamily="18" charset="0"/>
                            </a:rPr>
                            <a:t>G</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9</a:t>
                          </a:r>
                        </a:p>
                      </a:txBody>
                      <a:tcPr/>
                    </a:tc>
                    <a:extLst>
                      <a:ext uri="{0D108BD9-81ED-4DB2-BD59-A6C34878D82A}">
                        <a16:rowId xmlns:a16="http://schemas.microsoft.com/office/drawing/2014/main" val="10007"/>
                      </a:ext>
                    </a:extLst>
                  </a:tr>
                  <a:tr h="370840">
                    <a:tc>
                      <a:txBody>
                        <a:bodyPr/>
                        <a:lstStyle/>
                        <a:p>
                          <a:r>
                            <a:rPr lang="en-US" dirty="0">
                              <a:latin typeface="Times New Roman" panose="02020603050405020304" pitchFamily="18" charset="0"/>
                            </a:rPr>
                            <a:t>H</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8"/>
                      </a:ext>
                    </a:extLst>
                  </a:tr>
                  <a:tr h="370840">
                    <a:tc>
                      <a:txBody>
                        <a:bodyPr/>
                        <a:lstStyle/>
                        <a:p>
                          <a:r>
                            <a:rPr lang="en-US" dirty="0">
                              <a:latin typeface="Times New Roman" panose="02020603050405020304" pitchFamily="18" charset="0"/>
                            </a:rPr>
                            <a:t>I</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9"/>
                      </a:ext>
                    </a:extLst>
                  </a:tr>
                  <a:tr h="370840">
                    <a:tc>
                      <a:txBody>
                        <a:bodyPr/>
                        <a:lstStyle/>
                        <a:p>
                          <a:r>
                            <a:rPr lang="en-US" dirty="0">
                              <a:latin typeface="Times New Roman" panose="02020603050405020304" pitchFamily="18" charset="0"/>
                            </a:rPr>
                            <a:t>J</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49</a:t>
                          </a:r>
                        </a:p>
                      </a:txBody>
                      <a:tcPr/>
                    </a:tc>
                    <a:extLst>
                      <a:ext uri="{0D108BD9-81ED-4DB2-BD59-A6C34878D82A}">
                        <a16:rowId xmlns:a16="http://schemas.microsoft.com/office/drawing/2014/main" val="10010"/>
                      </a:ext>
                    </a:extLst>
                  </a:tr>
                  <a:tr h="755714">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dirty="0">
                            <a:latin typeface="Times New Roman" panose="02020603050405020304" pitchFamily="18" charset="0"/>
                          </a:endParaRPr>
                        </a:p>
                      </a:txBody>
                      <a:tcPr/>
                    </a:tc>
                    <a:tc>
                      <a:txBody>
                        <a:bodyPr/>
                        <a:lstStyle/>
                        <a:p>
                          <a:endParaRPr lang="en-US"/>
                        </a:p>
                      </a:txBody>
                      <a:tcPr>
                        <a:blipFill>
                          <a:blip r:embed="rId2"/>
                          <a:stretch>
                            <a:fillRect l="-323476" t="-545161" r="-1524" b="-1613"/>
                          </a:stretch>
                        </a:blipFill>
                      </a:tcPr>
                    </a:tc>
                    <a:extLst>
                      <a:ext uri="{0D108BD9-81ED-4DB2-BD59-A6C34878D82A}">
                        <a16:rowId xmlns:a16="http://schemas.microsoft.com/office/drawing/2014/main" val="10011"/>
                      </a:ext>
                    </a:extLst>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Rank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914707873"/>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2200" b="0" i="1" smtClean="0">
                          <a:solidFill>
                            <a:schemeClr val="tx1"/>
                          </a:solidFill>
                          <a:latin typeface="Cambria Math"/>
                        </a:rPr>
                        <m:t>𝑟</m:t>
                      </m:r>
                      <m:r>
                        <a:rPr lang="en-US" sz="2200" b="0" i="1" smtClean="0">
                          <a:solidFill>
                            <a:schemeClr val="tx1"/>
                          </a:solidFill>
                          <a:latin typeface="Cambria Math"/>
                        </a:rPr>
                        <m:t>=1−</m:t>
                      </m:r>
                      <m:d>
                        <m:dPr>
                          <m:begChr m:val="["/>
                          <m:endChr m:val="]"/>
                          <m:ctrlPr>
                            <a:rPr lang="en-US" sz="2200" i="1" smtClean="0">
                              <a:solidFill>
                                <a:schemeClr val="tx1"/>
                              </a:solidFill>
                              <a:latin typeface="Cambria Math" panose="02040503050406030204" pitchFamily="18" charset="0"/>
                            </a:rPr>
                          </m:ctrlPr>
                        </m:dPr>
                        <m:e>
                          <m:f>
                            <m:fPr>
                              <m:ctrlPr>
                                <a:rPr lang="en-US" sz="2200" i="1" smtClean="0">
                                  <a:solidFill>
                                    <a:schemeClr val="tx1"/>
                                  </a:solidFill>
                                  <a:latin typeface="Cambria Math" panose="02040503050406030204" pitchFamily="18" charset="0"/>
                                </a:rPr>
                              </m:ctrlPr>
                            </m:fPr>
                            <m:num>
                              <m:r>
                                <a:rPr lang="en-US" sz="2200" b="0" i="1" smtClean="0">
                                  <a:solidFill>
                                    <a:schemeClr val="tx1"/>
                                  </a:solidFill>
                                  <a:latin typeface="Cambria Math"/>
                                </a:rPr>
                                <m:t>6</m:t>
                              </m:r>
                              <m:nary>
                                <m:naryPr>
                                  <m:chr m:val="∑"/>
                                  <m:subHide m:val="on"/>
                                  <m:supHide m:val="on"/>
                                  <m:ctrlPr>
                                    <a:rPr lang="en-US" sz="2200" i="1" smtClean="0">
                                      <a:solidFill>
                                        <a:schemeClr val="tx1"/>
                                      </a:solidFill>
                                      <a:latin typeface="Cambria Math" panose="02040503050406030204" pitchFamily="18" charset="0"/>
                                    </a:rPr>
                                  </m:ctrlPr>
                                </m:naryPr>
                                <m:sub/>
                                <m:sup/>
                                <m:e>
                                  <m:sSup>
                                    <m:sSupPr>
                                      <m:ctrlPr>
                                        <a:rPr lang="en-US" sz="2200" i="1" smtClean="0">
                                          <a:solidFill>
                                            <a:schemeClr val="tx1"/>
                                          </a:solidFill>
                                          <a:latin typeface="Cambria Math" panose="02040503050406030204" pitchFamily="18" charset="0"/>
                                        </a:rPr>
                                      </m:ctrlPr>
                                    </m:sSupPr>
                                    <m:e>
                                      <m:r>
                                        <a:rPr lang="en-US" sz="2200" b="0" i="1" smtClean="0">
                                          <a:solidFill>
                                            <a:schemeClr val="tx1"/>
                                          </a:solidFill>
                                          <a:latin typeface="Cambria Math"/>
                                        </a:rPr>
                                        <m:t>𝐷</m:t>
                                      </m:r>
                                    </m:e>
                                    <m:sup>
                                      <m:r>
                                        <a:rPr lang="en-US" sz="2200" b="0" i="1" smtClean="0">
                                          <a:solidFill>
                                            <a:schemeClr val="tx1"/>
                                          </a:solidFill>
                                          <a:latin typeface="Cambria Math"/>
                                        </a:rPr>
                                        <m:t>2</m:t>
                                      </m:r>
                                    </m:sup>
                                  </m:sSup>
                                </m:e>
                              </m:nary>
                            </m:num>
                            <m:den>
                              <m:r>
                                <a:rPr lang="en-US" sz="2200" b="0" i="1" smtClean="0">
                                  <a:solidFill>
                                    <a:schemeClr val="tx1"/>
                                  </a:solidFill>
                                  <a:latin typeface="Cambria Math"/>
                                </a:rPr>
                                <m:t>𝑛</m:t>
                              </m:r>
                              <m:d>
                                <m:dPr>
                                  <m:ctrlPr>
                                    <a:rPr lang="en-US" sz="2200" i="1" smtClean="0">
                                      <a:solidFill>
                                        <a:schemeClr val="tx1"/>
                                      </a:solidFill>
                                      <a:latin typeface="Cambria Math" panose="02040503050406030204" pitchFamily="18" charset="0"/>
                                    </a:rPr>
                                  </m:ctrlPr>
                                </m:dPr>
                                <m:e>
                                  <m:sSup>
                                    <m:sSupPr>
                                      <m:ctrlPr>
                                        <a:rPr lang="en-US" sz="2200" i="1" smtClean="0">
                                          <a:solidFill>
                                            <a:schemeClr val="tx1"/>
                                          </a:solidFill>
                                          <a:latin typeface="Cambria Math" panose="02040503050406030204" pitchFamily="18" charset="0"/>
                                        </a:rPr>
                                      </m:ctrlPr>
                                    </m:sSupPr>
                                    <m:e>
                                      <m:r>
                                        <a:rPr lang="en-US" sz="2200" b="0" i="1" smtClean="0">
                                          <a:solidFill>
                                            <a:schemeClr val="tx1"/>
                                          </a:solidFill>
                                          <a:latin typeface="Cambria Math"/>
                                        </a:rPr>
                                        <m:t>𝑛</m:t>
                                      </m:r>
                                    </m:e>
                                    <m:sup>
                                      <m:r>
                                        <a:rPr lang="en-US" sz="2200" b="0" i="1" smtClean="0">
                                          <a:solidFill>
                                            <a:schemeClr val="tx1"/>
                                          </a:solidFill>
                                          <a:latin typeface="Cambria Math"/>
                                        </a:rPr>
                                        <m:t>2</m:t>
                                      </m:r>
                                    </m:sup>
                                  </m:sSup>
                                  <m:r>
                                    <a:rPr lang="en-US" sz="2200" b="0" i="1" smtClean="0">
                                      <a:solidFill>
                                        <a:schemeClr val="tx1"/>
                                      </a:solidFill>
                                      <a:latin typeface="Cambria Math"/>
                                    </a:rPr>
                                    <m:t>−1</m:t>
                                  </m:r>
                                </m:e>
                              </m:d>
                            </m:den>
                          </m:f>
                        </m:e>
                      </m:d>
                      <m:r>
                        <a:rPr lang="en-US" sz="2200" b="0" i="1" smtClean="0">
                          <a:solidFill>
                            <a:schemeClr val="tx1"/>
                          </a:solidFill>
                          <a:latin typeface="Cambria Math"/>
                        </a:rPr>
                        <m:t>=1−</m:t>
                      </m:r>
                      <m:d>
                        <m:dPr>
                          <m:begChr m:val="["/>
                          <m:endChr m:val="]"/>
                          <m:ctrlPr>
                            <a:rPr lang="en-US" sz="2200" i="1" smtClean="0">
                              <a:solidFill>
                                <a:schemeClr val="tx1"/>
                              </a:solidFill>
                              <a:latin typeface="Cambria Math" panose="02040503050406030204" pitchFamily="18" charset="0"/>
                            </a:rPr>
                          </m:ctrlPr>
                        </m:dPr>
                        <m:e>
                          <m:f>
                            <m:fPr>
                              <m:ctrlPr>
                                <a:rPr lang="en-US" sz="2200" i="1" smtClean="0">
                                  <a:solidFill>
                                    <a:schemeClr val="tx1"/>
                                  </a:solidFill>
                                  <a:latin typeface="Cambria Math" panose="02040503050406030204" pitchFamily="18" charset="0"/>
                                </a:rPr>
                              </m:ctrlPr>
                            </m:fPr>
                            <m:num>
                              <m:r>
                                <a:rPr lang="en-US" sz="2200" b="0" i="1" smtClean="0">
                                  <a:solidFill>
                                    <a:schemeClr val="tx1"/>
                                  </a:solidFill>
                                  <a:latin typeface="Cambria Math"/>
                                </a:rPr>
                                <m:t>6</m:t>
                              </m:r>
                              <m:r>
                                <a:rPr lang="en-US" sz="2200" b="0" i="1" smtClean="0">
                                  <a:solidFill>
                                    <a:schemeClr val="tx1"/>
                                  </a:solidFill>
                                  <a:latin typeface="Cambria Math"/>
                                  <a:ea typeface="Cambria Math"/>
                                </a:rPr>
                                <m:t>×280</m:t>
                              </m:r>
                            </m:num>
                            <m:den>
                              <m:r>
                                <a:rPr lang="en-US" sz="2200" b="0" i="1" smtClean="0">
                                  <a:solidFill>
                                    <a:schemeClr val="tx1"/>
                                  </a:solidFill>
                                  <a:latin typeface="Cambria Math"/>
                                </a:rPr>
                                <m:t>10</m:t>
                              </m:r>
                              <m:d>
                                <m:dPr>
                                  <m:ctrlPr>
                                    <a:rPr lang="en-US" sz="2200" i="1" smtClean="0">
                                      <a:solidFill>
                                        <a:schemeClr val="tx1"/>
                                      </a:solidFill>
                                      <a:latin typeface="Cambria Math" panose="02040503050406030204" pitchFamily="18" charset="0"/>
                                    </a:rPr>
                                  </m:ctrlPr>
                                </m:dPr>
                                <m:e>
                                  <m:r>
                                    <a:rPr lang="en-US" sz="2200" b="0" i="1" smtClean="0">
                                      <a:solidFill>
                                        <a:schemeClr val="tx1"/>
                                      </a:solidFill>
                                      <a:latin typeface="Cambria Math"/>
                                    </a:rPr>
                                    <m:t>100−1</m:t>
                                  </m:r>
                                </m:e>
                              </m:d>
                            </m:den>
                          </m:f>
                        </m:e>
                      </m:d>
                      <m:r>
                        <a:rPr lang="en-US" sz="2200" b="0" i="1" smtClean="0">
                          <a:solidFill>
                            <a:schemeClr val="tx1"/>
                          </a:solidFill>
                          <a:latin typeface="Cambria Math"/>
                        </a:rPr>
                        <m:t>=1−1.697=−0.697</m:t>
                      </m:r>
                    </m:oMath>
                  </m:oMathPara>
                </a14:m>
                <a:endParaRPr lang="en-US" sz="2200" dirty="0">
                  <a:solidFill>
                    <a:schemeClr val="tx1"/>
                  </a:solidFill>
                </a:endParaRPr>
              </a:p>
              <a:p>
                <a:pPr marL="0" indent="0">
                  <a:buNone/>
                </a:pPr>
                <a:r>
                  <a:rPr lang="en-US" sz="2200" spc="-70" dirty="0">
                    <a:solidFill>
                      <a:schemeClr val="tx1"/>
                    </a:solidFill>
                    <a:cs typeface="Tahoma"/>
                  </a:rPr>
                  <a:t>Uses:</a:t>
                </a:r>
              </a:p>
              <a:p>
                <a:r>
                  <a:rPr lang="en-US" sz="2200" spc="-70" dirty="0">
                    <a:solidFill>
                      <a:schemeClr val="tx1"/>
                    </a:solidFill>
                    <a:cs typeface="Tahoma"/>
                  </a:rPr>
                  <a:t>It </a:t>
                </a:r>
                <a:r>
                  <a:rPr lang="en-US" sz="2200" spc="-55" dirty="0">
                    <a:solidFill>
                      <a:schemeClr val="tx1"/>
                    </a:solidFill>
                    <a:cs typeface="Tahoma"/>
                  </a:rPr>
                  <a:t>is </a:t>
                </a:r>
                <a:r>
                  <a:rPr lang="en-US" sz="2200" spc="-105" dirty="0">
                    <a:solidFill>
                      <a:schemeClr val="tx1"/>
                    </a:solidFill>
                    <a:cs typeface="Tahoma"/>
                  </a:rPr>
                  <a:t>used </a:t>
                </a:r>
                <a:r>
                  <a:rPr lang="en-US" sz="2200" spc="-65" dirty="0">
                    <a:solidFill>
                      <a:schemeClr val="tx1"/>
                    </a:solidFill>
                    <a:cs typeface="Tahoma"/>
                  </a:rPr>
                  <a:t>for </a:t>
                </a:r>
                <a:r>
                  <a:rPr lang="en-US" sz="2200" spc="-55" dirty="0">
                    <a:solidFill>
                      <a:schemeClr val="tx1"/>
                    </a:solidFill>
                    <a:cs typeface="Tahoma"/>
                  </a:rPr>
                  <a:t>finding correlation </a:t>
                </a:r>
                <a:r>
                  <a:rPr lang="en-US" sz="2200" spc="-50" dirty="0">
                    <a:solidFill>
                      <a:schemeClr val="tx1"/>
                    </a:solidFill>
                    <a:cs typeface="Tahoma"/>
                  </a:rPr>
                  <a:t>coefficient </a:t>
                </a:r>
                <a:r>
                  <a:rPr lang="en-US" sz="2200" spc="-10" dirty="0">
                    <a:solidFill>
                      <a:schemeClr val="tx1"/>
                    </a:solidFill>
                    <a:cs typeface="Tahoma"/>
                  </a:rPr>
                  <a:t>if </a:t>
                </a:r>
                <a:r>
                  <a:rPr lang="en-US" sz="2200" spc="-155" dirty="0">
                    <a:solidFill>
                      <a:schemeClr val="tx1"/>
                    </a:solidFill>
                    <a:cs typeface="Tahoma"/>
                  </a:rPr>
                  <a:t>we </a:t>
                </a:r>
                <a:r>
                  <a:rPr lang="en-US" sz="2200" spc="-110" dirty="0">
                    <a:solidFill>
                      <a:schemeClr val="tx1"/>
                    </a:solidFill>
                    <a:cs typeface="Tahoma"/>
                  </a:rPr>
                  <a:t>are  </a:t>
                </a:r>
                <a:r>
                  <a:rPr lang="en-US" sz="2200" spc="-70" dirty="0">
                    <a:solidFill>
                      <a:schemeClr val="tx1"/>
                    </a:solidFill>
                    <a:cs typeface="Tahoma"/>
                  </a:rPr>
                  <a:t>dealing </a:t>
                </a:r>
                <a:r>
                  <a:rPr lang="en-US" sz="2200" spc="-40" dirty="0">
                    <a:solidFill>
                      <a:schemeClr val="tx1"/>
                    </a:solidFill>
                    <a:cs typeface="Tahoma"/>
                  </a:rPr>
                  <a:t>with </a:t>
                </a:r>
                <a:r>
                  <a:rPr lang="en-US" sz="2200" spc="-40" dirty="0">
                    <a:solidFill>
                      <a:schemeClr val="tx1"/>
                    </a:solidFill>
                    <a:uFill>
                      <a:solidFill>
                        <a:srgbClr val="7F007F"/>
                      </a:solidFill>
                    </a:uFill>
                    <a:cs typeface="Tahoma"/>
                  </a:rPr>
                  <a:t>qualitative </a:t>
                </a:r>
                <a:r>
                  <a:rPr lang="en-US" sz="2200" spc="-55" dirty="0">
                    <a:solidFill>
                      <a:schemeClr val="tx1"/>
                    </a:solidFill>
                    <a:uFill>
                      <a:solidFill>
                        <a:srgbClr val="7F007F"/>
                      </a:solidFill>
                    </a:uFill>
                    <a:cs typeface="Tahoma"/>
                  </a:rPr>
                  <a:t>characteristics</a:t>
                </a:r>
                <a:r>
                  <a:rPr lang="en-US" sz="2200" spc="-55" dirty="0">
                    <a:solidFill>
                      <a:schemeClr val="tx1"/>
                    </a:solidFill>
                    <a:cs typeface="Tahoma"/>
                  </a:rPr>
                  <a:t> </a:t>
                </a:r>
                <a:r>
                  <a:rPr lang="en-US" sz="2200" spc="-65" dirty="0">
                    <a:solidFill>
                      <a:schemeClr val="tx1"/>
                    </a:solidFill>
                    <a:cs typeface="Tahoma"/>
                  </a:rPr>
                  <a:t>which </a:t>
                </a:r>
                <a:r>
                  <a:rPr lang="en-US" sz="2200" spc="-55" dirty="0">
                    <a:solidFill>
                      <a:schemeClr val="tx1"/>
                    </a:solidFill>
                    <a:cs typeface="Tahoma"/>
                  </a:rPr>
                  <a:t>cannot </a:t>
                </a:r>
                <a:r>
                  <a:rPr lang="en-US" sz="2200" spc="-90" dirty="0">
                    <a:solidFill>
                      <a:schemeClr val="tx1"/>
                    </a:solidFill>
                    <a:cs typeface="Tahoma"/>
                  </a:rPr>
                  <a:t>be  </a:t>
                </a:r>
                <a:r>
                  <a:rPr lang="en-US" sz="2200" spc="-100" dirty="0">
                    <a:solidFill>
                      <a:schemeClr val="tx1"/>
                    </a:solidFill>
                    <a:cs typeface="Tahoma"/>
                  </a:rPr>
                  <a:t>measured </a:t>
                </a:r>
                <a:r>
                  <a:rPr lang="en-US" sz="2200" spc="-45" dirty="0">
                    <a:solidFill>
                      <a:schemeClr val="tx1"/>
                    </a:solidFill>
                    <a:cs typeface="Tahoma"/>
                  </a:rPr>
                  <a:t>quantitatively </a:t>
                </a:r>
                <a:r>
                  <a:rPr lang="en-US" sz="2200" spc="-40" dirty="0">
                    <a:solidFill>
                      <a:schemeClr val="tx1"/>
                    </a:solidFill>
                    <a:cs typeface="Tahoma"/>
                  </a:rPr>
                  <a:t>but </a:t>
                </a:r>
                <a:r>
                  <a:rPr lang="en-US" sz="2200" spc="-70" dirty="0">
                    <a:solidFill>
                      <a:schemeClr val="tx1"/>
                    </a:solidFill>
                    <a:cs typeface="Tahoma"/>
                  </a:rPr>
                  <a:t>can </a:t>
                </a:r>
                <a:r>
                  <a:rPr lang="en-US" sz="2200" spc="-90" dirty="0">
                    <a:solidFill>
                      <a:schemeClr val="tx1"/>
                    </a:solidFill>
                    <a:cs typeface="Tahoma"/>
                  </a:rPr>
                  <a:t>be arranged</a:t>
                </a:r>
                <a:r>
                  <a:rPr lang="en-US" sz="2200" spc="120" dirty="0">
                    <a:solidFill>
                      <a:schemeClr val="tx1"/>
                    </a:solidFill>
                    <a:cs typeface="Tahoma"/>
                  </a:rPr>
                  <a:t> </a:t>
                </a:r>
                <a:r>
                  <a:rPr lang="en-US" sz="2200" spc="-70" dirty="0">
                    <a:solidFill>
                      <a:schemeClr val="tx1"/>
                    </a:solidFill>
                    <a:cs typeface="Tahoma"/>
                  </a:rPr>
                  <a:t>serially.</a:t>
                </a:r>
                <a:endParaRPr lang="en-US" sz="2200" dirty="0">
                  <a:solidFill>
                    <a:schemeClr val="tx1"/>
                  </a:solidFill>
                  <a:cs typeface="Tahoma"/>
                </a:endParaRPr>
              </a:p>
              <a:p>
                <a:r>
                  <a:rPr lang="en-US" sz="2200" spc="-70" dirty="0">
                    <a:solidFill>
                      <a:schemeClr val="tx1"/>
                    </a:solidFill>
                    <a:cs typeface="Tahoma"/>
                  </a:rPr>
                  <a:t>It</a:t>
                </a:r>
                <a:r>
                  <a:rPr lang="en-US" sz="2200" spc="25" dirty="0">
                    <a:solidFill>
                      <a:schemeClr val="tx1"/>
                    </a:solidFill>
                    <a:cs typeface="Tahoma"/>
                  </a:rPr>
                  <a:t> </a:t>
                </a:r>
                <a:r>
                  <a:rPr lang="en-US" sz="2200" spc="-70" dirty="0">
                    <a:solidFill>
                      <a:schemeClr val="tx1"/>
                    </a:solidFill>
                    <a:cs typeface="Tahoma"/>
                  </a:rPr>
                  <a:t>can</a:t>
                </a:r>
                <a:r>
                  <a:rPr lang="en-US" sz="2200" spc="30" dirty="0">
                    <a:solidFill>
                      <a:schemeClr val="tx1"/>
                    </a:solidFill>
                    <a:cs typeface="Tahoma"/>
                  </a:rPr>
                  <a:t> </a:t>
                </a:r>
                <a:r>
                  <a:rPr lang="en-US" sz="2200" spc="-70" dirty="0">
                    <a:solidFill>
                      <a:schemeClr val="tx1"/>
                    </a:solidFill>
                    <a:cs typeface="Tahoma"/>
                  </a:rPr>
                  <a:t>also</a:t>
                </a:r>
                <a:r>
                  <a:rPr lang="en-US" sz="2200" spc="30" dirty="0">
                    <a:solidFill>
                      <a:schemeClr val="tx1"/>
                    </a:solidFill>
                    <a:cs typeface="Tahoma"/>
                  </a:rPr>
                  <a:t> </a:t>
                </a:r>
                <a:r>
                  <a:rPr lang="en-US" sz="2200" spc="-90" dirty="0">
                    <a:solidFill>
                      <a:schemeClr val="tx1"/>
                    </a:solidFill>
                    <a:cs typeface="Tahoma"/>
                  </a:rPr>
                  <a:t>be</a:t>
                </a:r>
                <a:r>
                  <a:rPr lang="en-US" sz="2200" spc="30" dirty="0">
                    <a:solidFill>
                      <a:schemeClr val="tx1"/>
                    </a:solidFill>
                    <a:cs typeface="Tahoma"/>
                  </a:rPr>
                  <a:t> </a:t>
                </a:r>
                <a:r>
                  <a:rPr lang="en-US" sz="2200" spc="-105" dirty="0">
                    <a:solidFill>
                      <a:schemeClr val="tx1"/>
                    </a:solidFill>
                    <a:cs typeface="Tahoma"/>
                  </a:rPr>
                  <a:t>used</a:t>
                </a:r>
                <a:r>
                  <a:rPr lang="en-US" sz="2200" spc="30" dirty="0">
                    <a:solidFill>
                      <a:schemeClr val="tx1"/>
                    </a:solidFill>
                    <a:cs typeface="Tahoma"/>
                  </a:rPr>
                  <a:t> </a:t>
                </a:r>
                <a:r>
                  <a:rPr lang="en-US" sz="2200" spc="-105" dirty="0">
                    <a:solidFill>
                      <a:schemeClr val="tx1"/>
                    </a:solidFill>
                    <a:cs typeface="Tahoma"/>
                  </a:rPr>
                  <a:t>where</a:t>
                </a:r>
                <a:r>
                  <a:rPr lang="en-US" sz="2200" spc="30" dirty="0">
                    <a:solidFill>
                      <a:schemeClr val="tx1"/>
                    </a:solidFill>
                    <a:cs typeface="Tahoma"/>
                  </a:rPr>
                  <a:t> </a:t>
                </a:r>
                <a:r>
                  <a:rPr lang="en-US" sz="2200" spc="-40" dirty="0">
                    <a:solidFill>
                      <a:schemeClr val="tx1"/>
                    </a:solidFill>
                    <a:uFill>
                      <a:solidFill>
                        <a:srgbClr val="7F007F"/>
                      </a:solidFill>
                    </a:uFill>
                    <a:cs typeface="Tahoma"/>
                  </a:rPr>
                  <a:t>actual</a:t>
                </a:r>
                <a:r>
                  <a:rPr lang="en-US" sz="2200" spc="30" dirty="0">
                    <a:solidFill>
                      <a:schemeClr val="tx1"/>
                    </a:solidFill>
                    <a:uFill>
                      <a:solidFill>
                        <a:srgbClr val="7F007F"/>
                      </a:solidFill>
                    </a:uFill>
                    <a:cs typeface="Tahoma"/>
                  </a:rPr>
                  <a:t> </a:t>
                </a:r>
                <a:r>
                  <a:rPr lang="en-US" sz="2200" spc="-55" dirty="0">
                    <a:solidFill>
                      <a:schemeClr val="tx1"/>
                    </a:solidFill>
                    <a:uFill>
                      <a:solidFill>
                        <a:srgbClr val="7F007F"/>
                      </a:solidFill>
                    </a:uFill>
                    <a:cs typeface="Tahoma"/>
                  </a:rPr>
                  <a:t>data</a:t>
                </a:r>
                <a:r>
                  <a:rPr lang="en-US" sz="2200" spc="30" dirty="0">
                    <a:solidFill>
                      <a:schemeClr val="tx1"/>
                    </a:solidFill>
                    <a:cs typeface="Tahoma"/>
                  </a:rPr>
                  <a:t> </a:t>
                </a:r>
                <a:r>
                  <a:rPr lang="en-US" sz="2200" spc="-110" dirty="0">
                    <a:solidFill>
                      <a:schemeClr val="tx1"/>
                    </a:solidFill>
                    <a:cs typeface="Tahoma"/>
                  </a:rPr>
                  <a:t>are</a:t>
                </a:r>
                <a:r>
                  <a:rPr lang="en-US" sz="2200" spc="25" dirty="0">
                    <a:solidFill>
                      <a:schemeClr val="tx1"/>
                    </a:solidFill>
                    <a:cs typeface="Tahoma"/>
                  </a:rPr>
                  <a:t> </a:t>
                </a:r>
                <a:r>
                  <a:rPr lang="en-US" sz="2200" spc="-75" dirty="0">
                    <a:solidFill>
                      <a:schemeClr val="tx1"/>
                    </a:solidFill>
                    <a:cs typeface="Tahoma"/>
                  </a:rPr>
                  <a:t>given.</a:t>
                </a:r>
                <a:endParaRPr lang="en-US" sz="2200" dirty="0">
                  <a:solidFill>
                    <a:schemeClr val="tx1"/>
                  </a:solidFill>
                  <a:cs typeface="Tahoma"/>
                </a:endParaRPr>
              </a:p>
              <a:p>
                <a:r>
                  <a:rPr lang="en-US" sz="2200" spc="-130" dirty="0">
                    <a:solidFill>
                      <a:schemeClr val="tx1"/>
                    </a:solidFill>
                    <a:cs typeface="Tahoma"/>
                  </a:rPr>
                  <a:t>In </a:t>
                </a:r>
                <a:r>
                  <a:rPr lang="en-US" sz="2200" spc="-95" dirty="0">
                    <a:solidFill>
                      <a:schemeClr val="tx1"/>
                    </a:solidFill>
                    <a:cs typeface="Tahoma"/>
                  </a:rPr>
                  <a:t>case </a:t>
                </a:r>
                <a:r>
                  <a:rPr lang="en-US" sz="2200" spc="-55" dirty="0">
                    <a:solidFill>
                      <a:schemeClr val="tx1"/>
                    </a:solidFill>
                    <a:cs typeface="Tahoma"/>
                  </a:rPr>
                  <a:t>of </a:t>
                </a:r>
                <a:r>
                  <a:rPr lang="en-US" sz="2200" spc="-85" dirty="0">
                    <a:solidFill>
                      <a:schemeClr val="tx1"/>
                    </a:solidFill>
                    <a:uFill>
                      <a:solidFill>
                        <a:srgbClr val="7F007F"/>
                      </a:solidFill>
                    </a:uFill>
                    <a:cs typeface="Tahoma"/>
                  </a:rPr>
                  <a:t>extreme </a:t>
                </a:r>
                <a:r>
                  <a:rPr lang="en-US" sz="2200" spc="-70" dirty="0">
                    <a:solidFill>
                      <a:schemeClr val="tx1"/>
                    </a:solidFill>
                    <a:uFill>
                      <a:solidFill>
                        <a:srgbClr val="7F007F"/>
                      </a:solidFill>
                    </a:uFill>
                    <a:cs typeface="Tahoma"/>
                  </a:rPr>
                  <a:t>observations,</a:t>
                </a:r>
                <a:r>
                  <a:rPr lang="en-US" sz="2200" spc="-70" dirty="0">
                    <a:solidFill>
                      <a:schemeClr val="tx1"/>
                    </a:solidFill>
                    <a:cs typeface="Tahoma"/>
                  </a:rPr>
                  <a:t> </a:t>
                </a:r>
                <a:r>
                  <a:rPr lang="en-US" sz="2200" spc="-65" dirty="0">
                    <a:solidFill>
                      <a:schemeClr val="tx1"/>
                    </a:solidFill>
                    <a:cs typeface="Tahoma"/>
                  </a:rPr>
                  <a:t>Spearman’s formula </a:t>
                </a:r>
                <a:r>
                  <a:rPr lang="en-US" sz="2200" spc="-55" dirty="0">
                    <a:solidFill>
                      <a:schemeClr val="tx1"/>
                    </a:solidFill>
                    <a:cs typeface="Tahoma"/>
                  </a:rPr>
                  <a:t>is  </a:t>
                </a:r>
                <a:r>
                  <a:rPr lang="en-US" sz="2200" spc="-90" dirty="0">
                    <a:solidFill>
                      <a:schemeClr val="tx1"/>
                    </a:solidFill>
                    <a:cs typeface="Tahoma"/>
                  </a:rPr>
                  <a:t>preferred </a:t>
                </a:r>
                <a:r>
                  <a:rPr lang="en-US" sz="2200" spc="-20" dirty="0">
                    <a:solidFill>
                      <a:schemeClr val="tx1"/>
                    </a:solidFill>
                    <a:cs typeface="Tahoma"/>
                  </a:rPr>
                  <a:t>to </a:t>
                </a:r>
                <a:r>
                  <a:rPr lang="en-US" sz="2200" spc="-60" dirty="0">
                    <a:solidFill>
                      <a:schemeClr val="tx1"/>
                    </a:solidFill>
                    <a:cs typeface="Tahoma"/>
                  </a:rPr>
                  <a:t>Pearson’s</a:t>
                </a:r>
                <a:r>
                  <a:rPr lang="en-US" sz="2200" spc="200" dirty="0">
                    <a:solidFill>
                      <a:schemeClr val="tx1"/>
                    </a:solidFill>
                    <a:cs typeface="Tahoma"/>
                  </a:rPr>
                  <a:t> </a:t>
                </a:r>
                <a:r>
                  <a:rPr lang="en-US" sz="2200" spc="-65" dirty="0">
                    <a:solidFill>
                      <a:schemeClr val="tx1"/>
                    </a:solidFill>
                    <a:cs typeface="Tahoma"/>
                  </a:rPr>
                  <a:t>formula.</a:t>
                </a:r>
                <a:endParaRPr lang="en-US" sz="2200" dirty="0">
                  <a:solidFill>
                    <a:schemeClr val="tx1"/>
                  </a:solidFill>
                  <a:cs typeface="Tahoma"/>
                </a:endParaRPr>
              </a:p>
              <a:p>
                <a:pPr marL="0" indent="0">
                  <a:buNone/>
                </a:pPr>
                <a:r>
                  <a:rPr lang="en-US" sz="2200" spc="-60" dirty="0">
                    <a:cs typeface="Tahoma"/>
                  </a:rPr>
                  <a:t>Limitations:</a:t>
                </a:r>
              </a:p>
              <a:p>
                <a:r>
                  <a:rPr lang="en-US" sz="2200" spc="-70" dirty="0">
                    <a:solidFill>
                      <a:schemeClr val="tx1"/>
                    </a:solidFill>
                    <a:cs typeface="Tahoma"/>
                  </a:rPr>
                  <a:t>It </a:t>
                </a:r>
                <a:r>
                  <a:rPr lang="en-US" sz="2200" spc="-55" dirty="0">
                    <a:solidFill>
                      <a:schemeClr val="tx1"/>
                    </a:solidFill>
                    <a:cs typeface="Tahoma"/>
                  </a:rPr>
                  <a:t>is </a:t>
                </a:r>
                <a:r>
                  <a:rPr lang="en-US" sz="2200" spc="-45" dirty="0">
                    <a:solidFill>
                      <a:schemeClr val="tx1"/>
                    </a:solidFill>
                    <a:cs typeface="Tahoma"/>
                  </a:rPr>
                  <a:t>not </a:t>
                </a:r>
                <a:r>
                  <a:rPr lang="en-US" sz="2200" spc="-55" dirty="0">
                    <a:solidFill>
                      <a:schemeClr val="tx1"/>
                    </a:solidFill>
                    <a:cs typeface="Tahoma"/>
                  </a:rPr>
                  <a:t>applicable </a:t>
                </a:r>
                <a:r>
                  <a:rPr lang="en-US" sz="2200" spc="-40" dirty="0">
                    <a:solidFill>
                      <a:schemeClr val="tx1"/>
                    </a:solidFill>
                    <a:cs typeface="Tahoma"/>
                  </a:rPr>
                  <a:t>in </a:t>
                </a:r>
                <a:r>
                  <a:rPr lang="en-US" sz="2200" spc="-65" dirty="0">
                    <a:solidFill>
                      <a:schemeClr val="tx1"/>
                    </a:solidFill>
                    <a:cs typeface="Tahoma"/>
                  </a:rPr>
                  <a:t>the </a:t>
                </a:r>
                <a:r>
                  <a:rPr lang="en-US" sz="2200" spc="-95" dirty="0">
                    <a:solidFill>
                      <a:schemeClr val="tx1"/>
                    </a:solidFill>
                    <a:cs typeface="Tahoma"/>
                  </a:rPr>
                  <a:t>case </a:t>
                </a:r>
                <a:r>
                  <a:rPr lang="en-US" sz="2200" spc="-55" dirty="0">
                    <a:solidFill>
                      <a:schemeClr val="tx1"/>
                    </a:solidFill>
                    <a:cs typeface="Tahoma"/>
                  </a:rPr>
                  <a:t>of </a:t>
                </a:r>
                <a:r>
                  <a:rPr lang="en-US" sz="2200" spc="-55" dirty="0">
                    <a:solidFill>
                      <a:schemeClr val="tx1"/>
                    </a:solidFill>
                    <a:uFill>
                      <a:solidFill>
                        <a:srgbClr val="7F007F"/>
                      </a:solidFill>
                    </a:uFill>
                    <a:cs typeface="Tahoma"/>
                  </a:rPr>
                  <a:t>bivariate </a:t>
                </a:r>
                <a:r>
                  <a:rPr lang="en-US" sz="2200" spc="-80" dirty="0">
                    <a:solidFill>
                      <a:schemeClr val="tx1"/>
                    </a:solidFill>
                    <a:uFill>
                      <a:solidFill>
                        <a:srgbClr val="7F007F"/>
                      </a:solidFill>
                    </a:uFill>
                    <a:cs typeface="Tahoma"/>
                  </a:rPr>
                  <a:t>frequency </a:t>
                </a:r>
                <a:r>
                  <a:rPr lang="en-US" sz="2200" spc="-80" dirty="0">
                    <a:solidFill>
                      <a:schemeClr val="tx1"/>
                    </a:solidFill>
                    <a:cs typeface="Tahoma"/>
                  </a:rPr>
                  <a:t> </a:t>
                </a:r>
                <a:r>
                  <a:rPr lang="en-US" sz="2200" spc="-40" dirty="0">
                    <a:solidFill>
                      <a:schemeClr val="tx1"/>
                    </a:solidFill>
                    <a:uFill>
                      <a:solidFill>
                        <a:srgbClr val="7F007F"/>
                      </a:solidFill>
                    </a:uFill>
                    <a:cs typeface="Tahoma"/>
                  </a:rPr>
                  <a:t>distribution.</a:t>
                </a:r>
                <a:endParaRPr lang="en-US" sz="2200" dirty="0">
                  <a:solidFill>
                    <a:schemeClr val="tx1"/>
                  </a:solidFill>
                </a:endParaRPr>
              </a:p>
              <a:p>
                <a:endParaRPr lang="en-US" sz="2200" dirty="0">
                  <a:solidFill>
                    <a:schemeClr val="tx1"/>
                  </a:solidFill>
                </a:endParaRPr>
              </a:p>
              <a:p>
                <a:endParaRPr lang="en-US" sz="22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Rank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6078412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r>
                  <a:rPr lang="en-US" sz="2200" spc="-50" dirty="0">
                    <a:solidFill>
                      <a:schemeClr val="tx1"/>
                    </a:solidFill>
                    <a:cs typeface="Tahoma"/>
                  </a:rPr>
                  <a:t>For </a:t>
                </a:r>
                <a:r>
                  <a:rPr lang="en-US" sz="2200" i="1" spc="-65" dirty="0">
                    <a:solidFill>
                      <a:schemeClr val="tx1"/>
                    </a:solidFill>
                    <a:cs typeface="Trebuchet MS"/>
                  </a:rPr>
                  <a:t>n </a:t>
                </a:r>
                <a:r>
                  <a:rPr lang="en-US" sz="2200" i="1" spc="-80" dirty="0">
                    <a:solidFill>
                      <a:schemeClr val="tx1"/>
                    </a:solidFill>
                    <a:cs typeface="Verdana"/>
                  </a:rPr>
                  <a:t>&gt; </a:t>
                </a:r>
                <a:r>
                  <a:rPr lang="en-US" sz="2200" spc="-75" dirty="0">
                    <a:solidFill>
                      <a:schemeClr val="tx1"/>
                    </a:solidFill>
                    <a:cs typeface="Tahoma"/>
                  </a:rPr>
                  <a:t>30, </a:t>
                </a:r>
                <a:r>
                  <a:rPr lang="en-US" sz="2200" spc="-40" dirty="0">
                    <a:solidFill>
                      <a:schemeClr val="tx1"/>
                    </a:solidFill>
                    <a:cs typeface="Tahoma"/>
                  </a:rPr>
                  <a:t>this </a:t>
                </a:r>
                <a:r>
                  <a:rPr lang="en-US" sz="2200" spc="-65" dirty="0">
                    <a:solidFill>
                      <a:schemeClr val="tx1"/>
                    </a:solidFill>
                    <a:cs typeface="Tahoma"/>
                  </a:rPr>
                  <a:t>formula </a:t>
                </a:r>
                <a:r>
                  <a:rPr lang="en-US" sz="2200" spc="-70" dirty="0">
                    <a:solidFill>
                      <a:schemeClr val="tx1"/>
                    </a:solidFill>
                    <a:cs typeface="Tahoma"/>
                  </a:rPr>
                  <a:t>should </a:t>
                </a:r>
                <a:r>
                  <a:rPr lang="en-US" sz="2200" spc="-45" dirty="0">
                    <a:solidFill>
                      <a:schemeClr val="tx1"/>
                    </a:solidFill>
                    <a:cs typeface="Tahoma"/>
                  </a:rPr>
                  <a:t>not </a:t>
                </a:r>
                <a:r>
                  <a:rPr lang="en-US" sz="2200" spc="-90" dirty="0">
                    <a:solidFill>
                      <a:schemeClr val="tx1"/>
                    </a:solidFill>
                    <a:cs typeface="Tahoma"/>
                  </a:rPr>
                  <a:t>be </a:t>
                </a:r>
                <a:r>
                  <a:rPr lang="en-US" sz="2200" spc="-105" dirty="0">
                    <a:solidFill>
                      <a:schemeClr val="tx1"/>
                    </a:solidFill>
                    <a:cs typeface="Tahoma"/>
                  </a:rPr>
                  <a:t>used </a:t>
                </a:r>
                <a:r>
                  <a:rPr lang="en-US" sz="2200" spc="-90" dirty="0">
                    <a:solidFill>
                      <a:schemeClr val="tx1"/>
                    </a:solidFill>
                    <a:uFill>
                      <a:solidFill>
                        <a:srgbClr val="7F007F"/>
                      </a:solidFill>
                    </a:uFill>
                    <a:cs typeface="Tahoma"/>
                  </a:rPr>
                  <a:t>unless </a:t>
                </a:r>
                <a:r>
                  <a:rPr lang="en-US" sz="2200" spc="-65" dirty="0">
                    <a:solidFill>
                      <a:schemeClr val="tx1"/>
                    </a:solidFill>
                    <a:uFill>
                      <a:solidFill>
                        <a:srgbClr val="7F007F"/>
                      </a:solidFill>
                    </a:uFill>
                    <a:cs typeface="Tahoma"/>
                  </a:rPr>
                  <a:t>the </a:t>
                </a:r>
                <a:r>
                  <a:rPr lang="en-US" sz="2200" spc="-65" dirty="0">
                    <a:solidFill>
                      <a:schemeClr val="tx1"/>
                    </a:solidFill>
                    <a:cs typeface="Tahoma"/>
                  </a:rPr>
                  <a:t> </a:t>
                </a:r>
                <a:r>
                  <a:rPr lang="en-US" sz="2200" spc="-70" dirty="0">
                    <a:solidFill>
                      <a:schemeClr val="tx1"/>
                    </a:solidFill>
                    <a:uFill>
                      <a:solidFill>
                        <a:srgbClr val="7F007F"/>
                      </a:solidFill>
                    </a:uFill>
                    <a:cs typeface="Tahoma"/>
                  </a:rPr>
                  <a:t>ranks </a:t>
                </a:r>
                <a:r>
                  <a:rPr lang="en-US" sz="2200" spc="-110" dirty="0">
                    <a:solidFill>
                      <a:schemeClr val="tx1"/>
                    </a:solidFill>
                    <a:uFill>
                      <a:solidFill>
                        <a:srgbClr val="7F007F"/>
                      </a:solidFill>
                    </a:uFill>
                    <a:cs typeface="Tahoma"/>
                  </a:rPr>
                  <a:t>are </a:t>
                </a:r>
                <a:r>
                  <a:rPr lang="en-US" sz="2200" spc="-75" dirty="0">
                    <a:solidFill>
                      <a:schemeClr val="tx1"/>
                    </a:solidFill>
                    <a:uFill>
                      <a:solidFill>
                        <a:srgbClr val="7F007F"/>
                      </a:solidFill>
                    </a:uFill>
                    <a:cs typeface="Tahoma"/>
                  </a:rPr>
                  <a:t>given,</a:t>
                </a:r>
                <a:r>
                  <a:rPr lang="en-US" sz="2200" spc="-75" dirty="0">
                    <a:solidFill>
                      <a:schemeClr val="tx1"/>
                    </a:solidFill>
                    <a:cs typeface="Tahoma"/>
                  </a:rPr>
                  <a:t> since </a:t>
                </a:r>
                <a:r>
                  <a:rPr lang="en-US" sz="2200" spc="-40" dirty="0">
                    <a:solidFill>
                      <a:schemeClr val="tx1"/>
                    </a:solidFill>
                    <a:cs typeface="Tahoma"/>
                  </a:rPr>
                  <a:t>in </a:t>
                </a:r>
                <a:r>
                  <a:rPr lang="en-US" sz="2200" spc="-65" dirty="0">
                    <a:solidFill>
                      <a:schemeClr val="tx1"/>
                    </a:solidFill>
                    <a:cs typeface="Tahoma"/>
                  </a:rPr>
                  <a:t>the </a:t>
                </a:r>
                <a:r>
                  <a:rPr lang="en-US" sz="2200" spc="-60" dirty="0">
                    <a:solidFill>
                      <a:schemeClr val="tx1"/>
                    </a:solidFill>
                    <a:cs typeface="Tahoma"/>
                  </a:rPr>
                  <a:t>contrary </a:t>
                </a:r>
                <a:r>
                  <a:rPr lang="en-US" sz="2200" spc="-95" dirty="0">
                    <a:solidFill>
                      <a:schemeClr val="tx1"/>
                    </a:solidFill>
                    <a:cs typeface="Tahoma"/>
                  </a:rPr>
                  <a:t>case </a:t>
                </a:r>
                <a:r>
                  <a:rPr lang="en-US" sz="2200" spc="-65" dirty="0">
                    <a:solidFill>
                      <a:schemeClr val="tx1"/>
                    </a:solidFill>
                    <a:cs typeface="Tahoma"/>
                  </a:rPr>
                  <a:t>the </a:t>
                </a:r>
                <a:r>
                  <a:rPr lang="en-US" sz="2200" spc="-45" dirty="0">
                    <a:solidFill>
                      <a:schemeClr val="tx1"/>
                    </a:solidFill>
                    <a:cs typeface="Tahoma"/>
                  </a:rPr>
                  <a:t>calculations  </a:t>
                </a:r>
                <a:r>
                  <a:rPr lang="en-US" sz="2200" spc="-110" dirty="0">
                    <a:solidFill>
                      <a:schemeClr val="tx1"/>
                    </a:solidFill>
                    <a:cs typeface="Tahoma"/>
                  </a:rPr>
                  <a:t>are </a:t>
                </a:r>
                <a:r>
                  <a:rPr lang="en-US" sz="2200" spc="-50" dirty="0">
                    <a:solidFill>
                      <a:schemeClr val="tx1"/>
                    </a:solidFill>
                    <a:cs typeface="Tahoma"/>
                  </a:rPr>
                  <a:t>quite</a:t>
                </a:r>
                <a:r>
                  <a:rPr lang="en-US" sz="2200" spc="165" dirty="0">
                    <a:solidFill>
                      <a:schemeClr val="tx1"/>
                    </a:solidFill>
                    <a:cs typeface="Tahoma"/>
                  </a:rPr>
                  <a:t> </a:t>
                </a:r>
                <a:r>
                  <a:rPr lang="en-US" sz="2200" spc="-65" dirty="0">
                    <a:solidFill>
                      <a:schemeClr val="tx1"/>
                    </a:solidFill>
                    <a:cs typeface="Tahoma"/>
                  </a:rPr>
                  <a:t>time-consuming.</a:t>
                </a:r>
                <a:endParaRPr lang="en-US" sz="2200" dirty="0">
                  <a:solidFill>
                    <a:schemeClr val="tx1"/>
                  </a:solidFill>
                  <a:cs typeface="Tahoma"/>
                </a:endParaRPr>
              </a:p>
              <a:p>
                <a:pPr marL="0" marR="376555" indent="0">
                  <a:lnSpc>
                    <a:spcPct val="102200"/>
                  </a:lnSpc>
                  <a:spcBef>
                    <a:spcPts val="80"/>
                  </a:spcBef>
                  <a:buNone/>
                </a:pPr>
                <a:endParaRPr lang="en-US" sz="2200" b="1" dirty="0">
                  <a:solidFill>
                    <a:schemeClr val="tx1"/>
                  </a:solidFill>
                </a:endParaRPr>
              </a:p>
              <a:p>
                <a:pPr marL="0" marR="376555" indent="0">
                  <a:lnSpc>
                    <a:spcPct val="102200"/>
                  </a:lnSpc>
                  <a:spcBef>
                    <a:spcPts val="80"/>
                  </a:spcBef>
                  <a:buNone/>
                </a:pPr>
                <a:r>
                  <a:rPr lang="en-US" sz="2200" b="1" dirty="0">
                    <a:solidFill>
                      <a:schemeClr val="tx1"/>
                    </a:solidFill>
                  </a:rPr>
                  <a:t>TIED RANKS: </a:t>
                </a:r>
                <a:r>
                  <a:rPr lang="en-US" sz="2200" spc="-105" dirty="0">
                    <a:solidFill>
                      <a:schemeClr val="tx1"/>
                    </a:solidFill>
                    <a:cs typeface="Tahoma"/>
                  </a:rPr>
                  <a:t>If </a:t>
                </a:r>
                <a:r>
                  <a:rPr lang="en-US" sz="2200" spc="-110" dirty="0">
                    <a:solidFill>
                      <a:schemeClr val="tx1"/>
                    </a:solidFill>
                    <a:cs typeface="Tahoma"/>
                  </a:rPr>
                  <a:t>some </a:t>
                </a:r>
                <a:r>
                  <a:rPr lang="en-US" sz="2200" spc="-55" dirty="0">
                    <a:solidFill>
                      <a:schemeClr val="tx1"/>
                    </a:solidFill>
                    <a:cs typeface="Tahoma"/>
                  </a:rPr>
                  <a:t>of </a:t>
                </a:r>
                <a:r>
                  <a:rPr lang="en-US" sz="2200" spc="-65" dirty="0">
                    <a:solidFill>
                      <a:schemeClr val="tx1"/>
                    </a:solidFill>
                    <a:cs typeface="Tahoma"/>
                  </a:rPr>
                  <a:t>the </a:t>
                </a:r>
                <a:r>
                  <a:rPr lang="en-US" sz="2200" spc="-50" dirty="0">
                    <a:solidFill>
                      <a:schemeClr val="tx1"/>
                    </a:solidFill>
                    <a:cs typeface="Tahoma"/>
                  </a:rPr>
                  <a:t>individuals </a:t>
                </a:r>
                <a:r>
                  <a:rPr lang="en-US" sz="2200" spc="-85" dirty="0">
                    <a:solidFill>
                      <a:schemeClr val="tx1"/>
                    </a:solidFill>
                    <a:uFill>
                      <a:solidFill>
                        <a:srgbClr val="7F007F"/>
                      </a:solidFill>
                    </a:uFill>
                    <a:cs typeface="Tahoma"/>
                  </a:rPr>
                  <a:t>receive </a:t>
                </a:r>
                <a:r>
                  <a:rPr lang="en-US" sz="2200" spc="-65" dirty="0">
                    <a:solidFill>
                      <a:schemeClr val="tx1"/>
                    </a:solidFill>
                    <a:uFill>
                      <a:solidFill>
                        <a:srgbClr val="7F007F"/>
                      </a:solidFill>
                    </a:uFill>
                    <a:cs typeface="Tahoma"/>
                  </a:rPr>
                  <a:t>the </a:t>
                </a:r>
                <a:r>
                  <a:rPr lang="en-US" sz="2200" spc="-110" dirty="0">
                    <a:solidFill>
                      <a:schemeClr val="tx1"/>
                    </a:solidFill>
                    <a:uFill>
                      <a:solidFill>
                        <a:srgbClr val="7F007F"/>
                      </a:solidFill>
                    </a:uFill>
                    <a:cs typeface="Tahoma"/>
                  </a:rPr>
                  <a:t>same </a:t>
                </a:r>
                <a:r>
                  <a:rPr lang="en-US" sz="2200" spc="-60" dirty="0">
                    <a:solidFill>
                      <a:schemeClr val="tx1"/>
                    </a:solidFill>
                    <a:uFill>
                      <a:solidFill>
                        <a:srgbClr val="7F007F"/>
                      </a:solidFill>
                    </a:uFill>
                    <a:cs typeface="Tahoma"/>
                  </a:rPr>
                  <a:t>rank</a:t>
                </a:r>
                <a:r>
                  <a:rPr lang="en-US" sz="2200" spc="-60" dirty="0">
                    <a:solidFill>
                      <a:schemeClr val="tx1"/>
                    </a:solidFill>
                    <a:cs typeface="Tahoma"/>
                  </a:rPr>
                  <a:t> </a:t>
                </a:r>
                <a:r>
                  <a:rPr lang="en-US" sz="2200" spc="-40" dirty="0">
                    <a:solidFill>
                      <a:schemeClr val="tx1"/>
                    </a:solidFill>
                    <a:cs typeface="Tahoma"/>
                  </a:rPr>
                  <a:t>in </a:t>
                </a:r>
                <a:r>
                  <a:rPr lang="en-US" sz="2200" spc="-85" dirty="0">
                    <a:solidFill>
                      <a:schemeClr val="tx1"/>
                    </a:solidFill>
                    <a:cs typeface="Tahoma"/>
                  </a:rPr>
                  <a:t>a  </a:t>
                </a:r>
                <a:r>
                  <a:rPr lang="en-US" sz="2200" spc="-60" dirty="0">
                    <a:solidFill>
                      <a:schemeClr val="tx1"/>
                    </a:solidFill>
                    <a:cs typeface="Tahoma"/>
                  </a:rPr>
                  <a:t>ranking</a:t>
                </a:r>
                <a:r>
                  <a:rPr lang="en-US" sz="2200" spc="30" dirty="0">
                    <a:solidFill>
                      <a:schemeClr val="tx1"/>
                    </a:solidFill>
                    <a:cs typeface="Tahoma"/>
                  </a:rPr>
                  <a:t> </a:t>
                </a:r>
                <a:r>
                  <a:rPr lang="en-US" sz="2200" spc="-55" dirty="0">
                    <a:solidFill>
                      <a:schemeClr val="tx1"/>
                    </a:solidFill>
                    <a:cs typeface="Tahoma"/>
                  </a:rPr>
                  <a:t>of</a:t>
                </a:r>
                <a:r>
                  <a:rPr lang="en-US" sz="2200" spc="30" dirty="0">
                    <a:solidFill>
                      <a:schemeClr val="tx1"/>
                    </a:solidFill>
                    <a:cs typeface="Tahoma"/>
                  </a:rPr>
                  <a:t> </a:t>
                </a:r>
                <a:r>
                  <a:rPr lang="en-US" sz="2200" spc="-50" dirty="0">
                    <a:solidFill>
                      <a:schemeClr val="tx1"/>
                    </a:solidFill>
                    <a:cs typeface="Tahoma"/>
                  </a:rPr>
                  <a:t>merit,</a:t>
                </a:r>
                <a:r>
                  <a:rPr lang="en-US" sz="2200" spc="30" dirty="0">
                    <a:solidFill>
                      <a:schemeClr val="tx1"/>
                    </a:solidFill>
                    <a:cs typeface="Tahoma"/>
                  </a:rPr>
                  <a:t> </a:t>
                </a:r>
                <a:r>
                  <a:rPr lang="en-US" sz="2200" spc="-70" dirty="0">
                    <a:solidFill>
                      <a:schemeClr val="tx1"/>
                    </a:solidFill>
                    <a:cs typeface="Tahoma"/>
                  </a:rPr>
                  <a:t>they</a:t>
                </a:r>
                <a:r>
                  <a:rPr lang="en-US" sz="2200" spc="30" dirty="0">
                    <a:solidFill>
                      <a:schemeClr val="tx1"/>
                    </a:solidFill>
                    <a:cs typeface="Tahoma"/>
                  </a:rPr>
                  <a:t> </a:t>
                </a:r>
                <a:r>
                  <a:rPr lang="en-US" sz="2200" spc="-110" dirty="0">
                    <a:solidFill>
                      <a:schemeClr val="tx1"/>
                    </a:solidFill>
                    <a:cs typeface="Tahoma"/>
                  </a:rPr>
                  <a:t>are</a:t>
                </a:r>
                <a:r>
                  <a:rPr lang="en-US" sz="2200" spc="30" dirty="0">
                    <a:solidFill>
                      <a:schemeClr val="tx1"/>
                    </a:solidFill>
                    <a:cs typeface="Tahoma"/>
                  </a:rPr>
                  <a:t> </a:t>
                </a:r>
                <a:r>
                  <a:rPr lang="en-US" sz="2200" spc="-70" dirty="0">
                    <a:solidFill>
                      <a:schemeClr val="tx1"/>
                    </a:solidFill>
                    <a:cs typeface="Tahoma"/>
                  </a:rPr>
                  <a:t>said</a:t>
                </a:r>
                <a:r>
                  <a:rPr lang="en-US" sz="2200" spc="35" dirty="0">
                    <a:solidFill>
                      <a:schemeClr val="tx1"/>
                    </a:solidFill>
                    <a:cs typeface="Tahoma"/>
                  </a:rPr>
                  <a:t> </a:t>
                </a:r>
                <a:r>
                  <a:rPr lang="en-US" sz="2200" spc="-20" dirty="0">
                    <a:solidFill>
                      <a:schemeClr val="tx1"/>
                    </a:solidFill>
                    <a:cs typeface="Tahoma"/>
                  </a:rPr>
                  <a:t>to</a:t>
                </a:r>
                <a:r>
                  <a:rPr lang="en-US" sz="2200" spc="30" dirty="0">
                    <a:solidFill>
                      <a:schemeClr val="tx1"/>
                    </a:solidFill>
                    <a:cs typeface="Tahoma"/>
                  </a:rPr>
                  <a:t> </a:t>
                </a:r>
                <a:r>
                  <a:rPr lang="en-US" sz="2200" spc="-90" dirty="0">
                    <a:solidFill>
                      <a:schemeClr val="tx1"/>
                    </a:solidFill>
                    <a:cs typeface="Tahoma"/>
                  </a:rPr>
                  <a:t>be</a:t>
                </a:r>
                <a:r>
                  <a:rPr lang="en-US" sz="2200" spc="30" dirty="0">
                    <a:solidFill>
                      <a:schemeClr val="tx1"/>
                    </a:solidFill>
                    <a:cs typeface="Tahoma"/>
                  </a:rPr>
                  <a:t> </a:t>
                </a:r>
                <a:r>
                  <a:rPr lang="en-US" sz="2200" spc="-45" dirty="0">
                    <a:solidFill>
                      <a:schemeClr val="tx1"/>
                    </a:solidFill>
                    <a:cs typeface="Tahoma"/>
                  </a:rPr>
                  <a:t>tied.</a:t>
                </a:r>
                <a:endParaRPr lang="en-US" sz="2200" dirty="0">
                  <a:solidFill>
                    <a:schemeClr val="tx1"/>
                  </a:solidFill>
                  <a:cs typeface="Tahoma"/>
                </a:endParaRPr>
              </a:p>
              <a:p>
                <a:pPr marL="50800" marR="43180">
                  <a:lnSpc>
                    <a:spcPct val="102200"/>
                  </a:lnSpc>
                  <a:spcBef>
                    <a:spcPts val="1275"/>
                  </a:spcBef>
                </a:pPr>
                <a:r>
                  <a:rPr lang="en-US" sz="2200" spc="-15" dirty="0">
                    <a:solidFill>
                      <a:schemeClr val="tx1"/>
                    </a:solidFill>
                    <a:cs typeface="Tahoma"/>
                  </a:rPr>
                  <a:t>Let </a:t>
                </a:r>
                <a:r>
                  <a:rPr lang="en-US" sz="2200" spc="-100" dirty="0">
                    <a:solidFill>
                      <a:schemeClr val="tx1"/>
                    </a:solidFill>
                    <a:cs typeface="Tahoma"/>
                  </a:rPr>
                  <a:t>us </a:t>
                </a:r>
                <a:r>
                  <a:rPr lang="en-US" sz="2200" spc="-90" dirty="0">
                    <a:solidFill>
                      <a:schemeClr val="tx1"/>
                    </a:solidFill>
                    <a:cs typeface="Tahoma"/>
                  </a:rPr>
                  <a:t>suppose </a:t>
                </a:r>
                <a:r>
                  <a:rPr lang="en-US" sz="2200" spc="-25" dirty="0">
                    <a:solidFill>
                      <a:schemeClr val="tx1"/>
                    </a:solidFill>
                    <a:cs typeface="Tahoma"/>
                  </a:rPr>
                  <a:t>that </a:t>
                </a:r>
                <a:r>
                  <a:rPr lang="en-US" sz="2200" i="1" spc="-80" dirty="0">
                    <a:solidFill>
                      <a:schemeClr val="tx1"/>
                    </a:solidFill>
                    <a:cs typeface="Trebuchet MS"/>
                  </a:rPr>
                  <a:t>m </a:t>
                </a:r>
                <a:r>
                  <a:rPr lang="en-US" sz="2200" spc="-55" dirty="0">
                    <a:solidFill>
                      <a:schemeClr val="tx1"/>
                    </a:solidFill>
                    <a:cs typeface="Tahoma"/>
                  </a:rPr>
                  <a:t>of </a:t>
                </a:r>
                <a:r>
                  <a:rPr lang="en-US" sz="2200" spc="-65" dirty="0">
                    <a:solidFill>
                      <a:schemeClr val="tx1"/>
                    </a:solidFill>
                    <a:cs typeface="Tahoma"/>
                  </a:rPr>
                  <a:t>the </a:t>
                </a:r>
                <a:r>
                  <a:rPr lang="en-US" sz="2200" spc="-50" dirty="0">
                    <a:solidFill>
                      <a:schemeClr val="tx1"/>
                    </a:solidFill>
                    <a:cs typeface="Tahoma"/>
                  </a:rPr>
                  <a:t>individuals, </a:t>
                </a:r>
                <a:r>
                  <a:rPr lang="en-US" sz="2200" spc="-130" dirty="0">
                    <a:solidFill>
                      <a:schemeClr val="tx1"/>
                    </a:solidFill>
                    <a:cs typeface="Tahoma"/>
                  </a:rPr>
                  <a:t>say, </a:t>
                </a:r>
                <a:r>
                  <a:rPr lang="en-US" sz="2200" spc="-20" dirty="0">
                    <a:solidFill>
                      <a:schemeClr val="tx1"/>
                    </a:solidFill>
                    <a:cs typeface="Tahoma"/>
                  </a:rPr>
                  <a:t>(</a:t>
                </a:r>
                <a:r>
                  <a:rPr lang="en-US" sz="2200" i="1" spc="-20" dirty="0">
                    <a:solidFill>
                      <a:schemeClr val="tx1"/>
                    </a:solidFill>
                    <a:cs typeface="Trebuchet MS"/>
                  </a:rPr>
                  <a:t>k </a:t>
                </a:r>
                <a:r>
                  <a:rPr lang="en-US" sz="2200" spc="75" dirty="0">
                    <a:solidFill>
                      <a:schemeClr val="tx1"/>
                    </a:solidFill>
                    <a:cs typeface="Tahoma"/>
                  </a:rPr>
                  <a:t>+ </a:t>
                </a:r>
                <a:r>
                  <a:rPr lang="en-US" sz="2200" spc="-45" dirty="0">
                    <a:solidFill>
                      <a:schemeClr val="tx1"/>
                    </a:solidFill>
                    <a:cs typeface="Tahoma"/>
                  </a:rPr>
                  <a:t>1)</a:t>
                </a:r>
                <a:r>
                  <a:rPr lang="en-US" sz="2200" i="1" spc="-67" baseline="31400" dirty="0" err="1">
                    <a:solidFill>
                      <a:schemeClr val="tx1"/>
                    </a:solidFill>
                    <a:cs typeface="Lucida Sans"/>
                  </a:rPr>
                  <a:t>th</a:t>
                </a:r>
                <a:r>
                  <a:rPr lang="en-US" sz="2200" i="1" spc="-45" dirty="0">
                    <a:solidFill>
                      <a:schemeClr val="tx1"/>
                    </a:solidFill>
                    <a:cs typeface="Verdana"/>
                  </a:rPr>
                  <a:t>,  </a:t>
                </a:r>
                <a:r>
                  <a:rPr lang="en-US" sz="2200" spc="-20" dirty="0">
                    <a:solidFill>
                      <a:schemeClr val="tx1"/>
                    </a:solidFill>
                    <a:cs typeface="Tahoma"/>
                  </a:rPr>
                  <a:t>(</a:t>
                </a:r>
                <a:r>
                  <a:rPr lang="en-US" sz="2200" i="1" spc="-20" dirty="0">
                    <a:solidFill>
                      <a:schemeClr val="tx1"/>
                    </a:solidFill>
                    <a:cs typeface="Trebuchet MS"/>
                  </a:rPr>
                  <a:t>k</a:t>
                </a:r>
                <a:r>
                  <a:rPr lang="en-US" sz="2200" i="1" spc="10" dirty="0">
                    <a:solidFill>
                      <a:schemeClr val="tx1"/>
                    </a:solidFill>
                    <a:cs typeface="Trebuchet MS"/>
                  </a:rPr>
                  <a:t> </a:t>
                </a:r>
                <a:r>
                  <a:rPr lang="en-US" sz="2200" spc="75" dirty="0">
                    <a:solidFill>
                      <a:schemeClr val="tx1"/>
                    </a:solidFill>
                    <a:cs typeface="Tahoma"/>
                  </a:rPr>
                  <a:t>+</a:t>
                </a:r>
                <a:r>
                  <a:rPr lang="en-US" sz="2200" spc="-150" dirty="0">
                    <a:solidFill>
                      <a:schemeClr val="tx1"/>
                    </a:solidFill>
                    <a:cs typeface="Tahoma"/>
                  </a:rPr>
                  <a:t> </a:t>
                </a:r>
                <a:r>
                  <a:rPr lang="en-US" sz="2200" spc="-45" dirty="0">
                    <a:solidFill>
                      <a:schemeClr val="tx1"/>
                    </a:solidFill>
                    <a:cs typeface="Tahoma"/>
                  </a:rPr>
                  <a:t>2)</a:t>
                </a:r>
                <a:r>
                  <a:rPr lang="en-US" sz="2200" i="1" spc="-67" baseline="31400" dirty="0" err="1">
                    <a:solidFill>
                      <a:schemeClr val="tx1"/>
                    </a:solidFill>
                    <a:cs typeface="Lucida Sans"/>
                  </a:rPr>
                  <a:t>th</a:t>
                </a:r>
                <a:r>
                  <a:rPr lang="en-US" sz="2200" i="1" spc="-45" dirty="0">
                    <a:solidFill>
                      <a:schemeClr val="tx1"/>
                    </a:solidFill>
                    <a:cs typeface="Verdana"/>
                  </a:rPr>
                  <a:t>,</a:t>
                </a:r>
                <a:r>
                  <a:rPr lang="en-US" sz="2200" i="1" spc="-310" dirty="0">
                    <a:solidFill>
                      <a:schemeClr val="tx1"/>
                    </a:solidFill>
                    <a:cs typeface="Verdana"/>
                  </a:rPr>
                  <a:t> </a:t>
                </a:r>
                <a:r>
                  <a:rPr lang="en-US" sz="2200" i="1" spc="-155" dirty="0">
                    <a:solidFill>
                      <a:schemeClr val="tx1"/>
                    </a:solidFill>
                    <a:cs typeface="Verdana"/>
                  </a:rPr>
                  <a:t>...,</a:t>
                </a:r>
                <a:r>
                  <a:rPr lang="en-US" sz="2200" i="1" spc="-310" dirty="0">
                    <a:solidFill>
                      <a:schemeClr val="tx1"/>
                    </a:solidFill>
                    <a:cs typeface="Verdana"/>
                  </a:rPr>
                  <a:t> </a:t>
                </a:r>
                <a:r>
                  <a:rPr lang="en-US" sz="2200" spc="-20" dirty="0">
                    <a:solidFill>
                      <a:schemeClr val="tx1"/>
                    </a:solidFill>
                    <a:cs typeface="Tahoma"/>
                  </a:rPr>
                  <a:t>(</a:t>
                </a:r>
                <a:r>
                  <a:rPr lang="en-US" sz="2200" i="1" spc="-20" dirty="0">
                    <a:solidFill>
                      <a:schemeClr val="tx1"/>
                    </a:solidFill>
                    <a:cs typeface="Trebuchet MS"/>
                  </a:rPr>
                  <a:t>k</a:t>
                </a:r>
                <a:r>
                  <a:rPr lang="en-US" sz="2200" i="1" spc="15" dirty="0">
                    <a:solidFill>
                      <a:schemeClr val="tx1"/>
                    </a:solidFill>
                    <a:cs typeface="Trebuchet MS"/>
                  </a:rPr>
                  <a:t> </a:t>
                </a:r>
                <a:r>
                  <a:rPr lang="en-US" sz="2200" spc="75" dirty="0">
                    <a:solidFill>
                      <a:schemeClr val="tx1"/>
                    </a:solidFill>
                    <a:cs typeface="Tahoma"/>
                  </a:rPr>
                  <a:t>+</a:t>
                </a:r>
                <a:r>
                  <a:rPr lang="en-US" sz="2200" spc="-150" dirty="0">
                    <a:solidFill>
                      <a:schemeClr val="tx1"/>
                    </a:solidFill>
                    <a:cs typeface="Tahoma"/>
                  </a:rPr>
                  <a:t> </a:t>
                </a:r>
                <a:r>
                  <a:rPr lang="en-US" sz="2200" i="1" spc="-20" dirty="0">
                    <a:solidFill>
                      <a:schemeClr val="tx1"/>
                    </a:solidFill>
                    <a:cs typeface="Trebuchet MS"/>
                  </a:rPr>
                  <a:t>m</a:t>
                </a:r>
                <a:r>
                  <a:rPr lang="en-US" sz="2200" spc="-20" dirty="0">
                    <a:solidFill>
                      <a:schemeClr val="tx1"/>
                    </a:solidFill>
                    <a:cs typeface="Tahoma"/>
                  </a:rPr>
                  <a:t>)</a:t>
                </a:r>
                <a:r>
                  <a:rPr lang="en-US" sz="2200" i="1" spc="-30" baseline="31400" dirty="0" err="1">
                    <a:solidFill>
                      <a:schemeClr val="tx1"/>
                    </a:solidFill>
                    <a:cs typeface="Lucida Sans"/>
                  </a:rPr>
                  <a:t>th</a:t>
                </a:r>
                <a:r>
                  <a:rPr lang="en-US" sz="2200" spc="-20" dirty="0">
                    <a:solidFill>
                      <a:schemeClr val="tx1"/>
                    </a:solidFill>
                    <a:cs typeface="Tahoma"/>
                  </a:rPr>
                  <a:t>,</a:t>
                </a:r>
                <a:r>
                  <a:rPr lang="en-US" sz="2200" spc="30" dirty="0">
                    <a:solidFill>
                      <a:schemeClr val="tx1"/>
                    </a:solidFill>
                    <a:cs typeface="Tahoma"/>
                  </a:rPr>
                  <a:t> </a:t>
                </a:r>
                <a:r>
                  <a:rPr lang="en-US" sz="2200" spc="-110" dirty="0">
                    <a:solidFill>
                      <a:schemeClr val="tx1"/>
                    </a:solidFill>
                    <a:cs typeface="Tahoma"/>
                  </a:rPr>
                  <a:t>are</a:t>
                </a:r>
                <a:r>
                  <a:rPr lang="en-US" sz="2200" spc="30" dirty="0">
                    <a:solidFill>
                      <a:schemeClr val="tx1"/>
                    </a:solidFill>
                    <a:cs typeface="Tahoma"/>
                  </a:rPr>
                  <a:t> </a:t>
                </a:r>
                <a:r>
                  <a:rPr lang="en-US" sz="2200" spc="-45" dirty="0">
                    <a:solidFill>
                      <a:schemeClr val="tx1"/>
                    </a:solidFill>
                    <a:cs typeface="Tahoma"/>
                  </a:rPr>
                  <a:t>tied.</a:t>
                </a:r>
                <a:endParaRPr lang="en-US" sz="2200" dirty="0">
                  <a:solidFill>
                    <a:schemeClr val="tx1"/>
                  </a:solidFill>
                  <a:cs typeface="Tahoma"/>
                </a:endParaRPr>
              </a:p>
              <a:p>
                <a:pPr marL="50800" marR="267335">
                  <a:lnSpc>
                    <a:spcPct val="102200"/>
                  </a:lnSpc>
                  <a:spcBef>
                    <a:spcPts val="1280"/>
                  </a:spcBef>
                </a:pPr>
                <a:r>
                  <a:rPr lang="en-US" sz="2200" spc="-40" dirty="0">
                    <a:solidFill>
                      <a:schemeClr val="tx1"/>
                    </a:solidFill>
                    <a:cs typeface="Tahoma"/>
                  </a:rPr>
                  <a:t>Then </a:t>
                </a:r>
                <a:r>
                  <a:rPr lang="en-US" sz="2200" spc="-90" dirty="0">
                    <a:solidFill>
                      <a:schemeClr val="tx1"/>
                    </a:solidFill>
                    <a:cs typeface="Tahoma"/>
                  </a:rPr>
                  <a:t>each </a:t>
                </a:r>
                <a:r>
                  <a:rPr lang="en-US" sz="2200" spc="-55" dirty="0">
                    <a:solidFill>
                      <a:schemeClr val="tx1"/>
                    </a:solidFill>
                    <a:cs typeface="Tahoma"/>
                  </a:rPr>
                  <a:t>of </a:t>
                </a:r>
                <a:r>
                  <a:rPr lang="en-US" sz="2200" spc="-90" dirty="0">
                    <a:solidFill>
                      <a:schemeClr val="tx1"/>
                    </a:solidFill>
                    <a:cs typeface="Tahoma"/>
                  </a:rPr>
                  <a:t>these </a:t>
                </a:r>
                <a:r>
                  <a:rPr lang="en-US" sz="2200" i="1" spc="-80" dirty="0">
                    <a:solidFill>
                      <a:schemeClr val="tx1"/>
                    </a:solidFill>
                    <a:cs typeface="Trebuchet MS"/>
                  </a:rPr>
                  <a:t>m </a:t>
                </a:r>
                <a:r>
                  <a:rPr lang="en-US" sz="2200" spc="-50" dirty="0">
                    <a:solidFill>
                      <a:schemeClr val="tx1"/>
                    </a:solidFill>
                    <a:cs typeface="Tahoma"/>
                  </a:rPr>
                  <a:t>individuals </a:t>
                </a:r>
                <a:r>
                  <a:rPr lang="en-US" sz="2200" spc="-90" dirty="0">
                    <a:solidFill>
                      <a:schemeClr val="tx1"/>
                    </a:solidFill>
                    <a:uFill>
                      <a:solidFill>
                        <a:srgbClr val="7F007F"/>
                      </a:solidFill>
                    </a:uFill>
                    <a:cs typeface="Tahoma"/>
                  </a:rPr>
                  <a:t>assigned </a:t>
                </a:r>
                <a:r>
                  <a:rPr lang="en-US" sz="2200" spc="-85" dirty="0">
                    <a:solidFill>
                      <a:schemeClr val="tx1"/>
                    </a:solidFill>
                    <a:uFill>
                      <a:solidFill>
                        <a:srgbClr val="7F007F"/>
                      </a:solidFill>
                    </a:uFill>
                    <a:cs typeface="Tahoma"/>
                  </a:rPr>
                  <a:t>a </a:t>
                </a:r>
                <a:r>
                  <a:rPr lang="en-US" sz="2200" spc="-80" dirty="0">
                    <a:solidFill>
                      <a:schemeClr val="tx1"/>
                    </a:solidFill>
                    <a:uFill>
                      <a:solidFill>
                        <a:srgbClr val="7F007F"/>
                      </a:solidFill>
                    </a:uFill>
                    <a:cs typeface="Tahoma"/>
                  </a:rPr>
                  <a:t>common </a:t>
                </a:r>
                <a:r>
                  <a:rPr lang="en-US" sz="2200" spc="-80" dirty="0">
                    <a:solidFill>
                      <a:schemeClr val="tx1"/>
                    </a:solidFill>
                    <a:cs typeface="Tahoma"/>
                  </a:rPr>
                  <a:t> </a:t>
                </a:r>
                <a:r>
                  <a:rPr lang="en-US" sz="2200" spc="-60" dirty="0">
                    <a:solidFill>
                      <a:schemeClr val="tx1"/>
                    </a:solidFill>
                    <a:uFill>
                      <a:solidFill>
                        <a:srgbClr val="7F007F"/>
                      </a:solidFill>
                    </a:uFill>
                    <a:cs typeface="Tahoma"/>
                  </a:rPr>
                  <a:t>rank,</a:t>
                </a:r>
                <a:r>
                  <a:rPr lang="en-US" sz="2200" spc="-60" dirty="0">
                    <a:solidFill>
                      <a:schemeClr val="tx1"/>
                    </a:solidFill>
                    <a:cs typeface="Tahoma"/>
                  </a:rPr>
                  <a:t> </a:t>
                </a:r>
                <a:r>
                  <a:rPr lang="en-US" sz="2200" spc="-65" dirty="0">
                    <a:solidFill>
                      <a:schemeClr val="tx1"/>
                    </a:solidFill>
                    <a:cs typeface="Tahoma"/>
                  </a:rPr>
                  <a:t>which </a:t>
                </a:r>
                <a:r>
                  <a:rPr lang="en-US" sz="2200" spc="-55" dirty="0">
                    <a:solidFill>
                      <a:schemeClr val="tx1"/>
                    </a:solidFill>
                    <a:cs typeface="Tahoma"/>
                  </a:rPr>
                  <a:t>is </a:t>
                </a:r>
                <a:r>
                  <a:rPr lang="en-US" sz="2200" spc="-45" dirty="0">
                    <a:solidFill>
                      <a:schemeClr val="tx1"/>
                    </a:solidFill>
                    <a:cs typeface="Tahoma"/>
                  </a:rPr>
                  <a:t>arithmetic </a:t>
                </a:r>
                <a:r>
                  <a:rPr lang="en-US" sz="2200" spc="-105" dirty="0">
                    <a:solidFill>
                      <a:schemeClr val="tx1"/>
                    </a:solidFill>
                    <a:cs typeface="Tahoma"/>
                  </a:rPr>
                  <a:t>mean </a:t>
                </a:r>
                <a:r>
                  <a:rPr lang="en-US" sz="2200" spc="-55" dirty="0">
                    <a:solidFill>
                      <a:schemeClr val="tx1"/>
                    </a:solidFill>
                    <a:cs typeface="Tahoma"/>
                  </a:rPr>
                  <a:t>of </a:t>
                </a:r>
                <a:r>
                  <a:rPr lang="en-US" sz="2200" spc="-65" dirty="0">
                    <a:solidFill>
                      <a:schemeClr val="tx1"/>
                    </a:solidFill>
                    <a:cs typeface="Tahoma"/>
                  </a:rPr>
                  <a:t>the </a:t>
                </a:r>
                <a:r>
                  <a:rPr lang="en-US" sz="2200" spc="-70" dirty="0">
                    <a:solidFill>
                      <a:schemeClr val="tx1"/>
                    </a:solidFill>
                    <a:cs typeface="Tahoma"/>
                  </a:rPr>
                  <a:t>ranks</a:t>
                </a:r>
                <a:r>
                  <a:rPr lang="en-US" sz="2200" spc="55" dirty="0">
                    <a:solidFill>
                      <a:schemeClr val="tx1"/>
                    </a:solidFill>
                    <a:cs typeface="Tahoma"/>
                  </a:rPr>
                  <a:t> </a:t>
                </a:r>
                <a:r>
                  <a:rPr lang="en-US" sz="2200" i="1" spc="-40" dirty="0">
                    <a:solidFill>
                      <a:schemeClr val="tx1"/>
                    </a:solidFill>
                    <a:cs typeface="Trebuchet MS"/>
                  </a:rPr>
                  <a:t>k </a:t>
                </a:r>
                <a:r>
                  <a:rPr lang="en-US" sz="2200" spc="75" dirty="0">
                    <a:solidFill>
                      <a:schemeClr val="tx1"/>
                    </a:solidFill>
                    <a:cs typeface="Tahoma"/>
                  </a:rPr>
                  <a:t>+ </a:t>
                </a:r>
                <a:r>
                  <a:rPr lang="en-US" sz="2200" spc="-120" dirty="0">
                    <a:solidFill>
                      <a:schemeClr val="tx1"/>
                    </a:solidFill>
                    <a:cs typeface="Tahoma"/>
                  </a:rPr>
                  <a:t>1</a:t>
                </a:r>
                <a:r>
                  <a:rPr lang="en-US" sz="2200" i="1" spc="-120" dirty="0">
                    <a:solidFill>
                      <a:schemeClr val="tx1"/>
                    </a:solidFill>
                    <a:cs typeface="Verdana"/>
                  </a:rPr>
                  <a:t>,</a:t>
                </a:r>
                <a:r>
                  <a:rPr lang="en-US" sz="2200" dirty="0">
                    <a:cs typeface="Verdana"/>
                  </a:rPr>
                  <a:t> </a:t>
                </a:r>
                <a:r>
                  <a:rPr lang="en-US" sz="2200" i="1" spc="-40" dirty="0">
                    <a:solidFill>
                      <a:schemeClr val="tx1"/>
                    </a:solidFill>
                    <a:cs typeface="Trebuchet MS"/>
                  </a:rPr>
                  <a:t>k</a:t>
                </a:r>
                <a:r>
                  <a:rPr lang="en-US" sz="2200" i="1" spc="10" dirty="0">
                    <a:solidFill>
                      <a:schemeClr val="tx1"/>
                    </a:solidFill>
                    <a:cs typeface="Trebuchet MS"/>
                  </a:rPr>
                  <a:t> </a:t>
                </a:r>
                <a:r>
                  <a:rPr lang="en-US" sz="2200" spc="75" dirty="0">
                    <a:solidFill>
                      <a:schemeClr val="tx1"/>
                    </a:solidFill>
                    <a:cs typeface="Tahoma"/>
                  </a:rPr>
                  <a:t>+</a:t>
                </a:r>
                <a:r>
                  <a:rPr lang="en-US" sz="2200" spc="-150" dirty="0">
                    <a:solidFill>
                      <a:schemeClr val="tx1"/>
                    </a:solidFill>
                    <a:cs typeface="Tahoma"/>
                  </a:rPr>
                  <a:t> </a:t>
                </a:r>
                <a:r>
                  <a:rPr lang="en-US" sz="2200" spc="-120" dirty="0">
                    <a:solidFill>
                      <a:schemeClr val="tx1"/>
                    </a:solidFill>
                    <a:cs typeface="Tahoma"/>
                  </a:rPr>
                  <a:t>2</a:t>
                </a:r>
                <a:r>
                  <a:rPr lang="en-US" sz="2200" i="1" spc="-120" dirty="0">
                    <a:solidFill>
                      <a:schemeClr val="tx1"/>
                    </a:solidFill>
                    <a:cs typeface="Verdana"/>
                  </a:rPr>
                  <a:t>,</a:t>
                </a:r>
                <a:r>
                  <a:rPr lang="en-US" sz="2200" i="1" spc="-310" dirty="0">
                    <a:solidFill>
                      <a:schemeClr val="tx1"/>
                    </a:solidFill>
                    <a:cs typeface="Verdana"/>
                  </a:rPr>
                  <a:t> </a:t>
                </a:r>
                <a:r>
                  <a:rPr lang="en-US" sz="2200" i="1" spc="-155" dirty="0">
                    <a:solidFill>
                      <a:schemeClr val="tx1"/>
                    </a:solidFill>
                    <a:cs typeface="Verdana"/>
                  </a:rPr>
                  <a:t>...,</a:t>
                </a:r>
                <a:r>
                  <a:rPr lang="en-US" sz="2200" i="1" spc="-310" dirty="0">
                    <a:solidFill>
                      <a:schemeClr val="tx1"/>
                    </a:solidFill>
                    <a:cs typeface="Verdana"/>
                  </a:rPr>
                  <a:t> </a:t>
                </a:r>
                <a:r>
                  <a:rPr lang="en-US" sz="2200" i="1" spc="-40" dirty="0">
                    <a:solidFill>
                      <a:schemeClr val="tx1"/>
                    </a:solidFill>
                    <a:cs typeface="Trebuchet MS"/>
                  </a:rPr>
                  <a:t>k</a:t>
                </a:r>
                <a:r>
                  <a:rPr lang="en-US" sz="2200" i="1" spc="15" dirty="0">
                    <a:solidFill>
                      <a:schemeClr val="tx1"/>
                    </a:solidFill>
                    <a:cs typeface="Trebuchet MS"/>
                  </a:rPr>
                  <a:t> </a:t>
                </a:r>
                <a:r>
                  <a:rPr lang="en-US" sz="2200" spc="75" dirty="0">
                    <a:solidFill>
                      <a:schemeClr val="tx1"/>
                    </a:solidFill>
                    <a:cs typeface="Tahoma"/>
                  </a:rPr>
                  <a:t>+</a:t>
                </a:r>
                <a:r>
                  <a:rPr lang="en-US" sz="2200" spc="-155" dirty="0">
                    <a:solidFill>
                      <a:schemeClr val="tx1"/>
                    </a:solidFill>
                    <a:cs typeface="Tahoma"/>
                  </a:rPr>
                  <a:t> </a:t>
                </a:r>
                <a:r>
                  <a:rPr lang="en-US" sz="2200" i="1" spc="-45" dirty="0">
                    <a:solidFill>
                      <a:schemeClr val="tx1"/>
                    </a:solidFill>
                    <a:cs typeface="Trebuchet MS"/>
                  </a:rPr>
                  <a:t>m</a:t>
                </a:r>
                <a:r>
                  <a:rPr lang="en-US" sz="2200" spc="-45" dirty="0">
                    <a:solidFill>
                      <a:schemeClr val="tx1"/>
                    </a:solidFill>
                    <a:cs typeface="Tahoma"/>
                  </a:rPr>
                  <a:t>.</a:t>
                </a:r>
                <a:endParaRPr lang="en-US" sz="22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200" b="1" i="1" smtClean="0">
                          <a:solidFill>
                            <a:schemeClr val="tx1"/>
                          </a:solidFill>
                          <a:latin typeface="Cambria Math"/>
                        </a:rPr>
                        <m:t>𝒓</m:t>
                      </m:r>
                      <m:r>
                        <a:rPr lang="en-US" sz="2200" b="1" i="1" smtClean="0">
                          <a:solidFill>
                            <a:schemeClr val="tx1"/>
                          </a:solidFill>
                          <a:latin typeface="Cambria Math"/>
                        </a:rPr>
                        <m:t>=</m:t>
                      </m:r>
                      <m:r>
                        <a:rPr lang="en-US" sz="2200" b="1" i="1" smtClean="0">
                          <a:solidFill>
                            <a:schemeClr val="tx1"/>
                          </a:solidFill>
                          <a:latin typeface="Cambria Math"/>
                        </a:rPr>
                        <m:t>𝟏</m:t>
                      </m:r>
                      <m:r>
                        <a:rPr lang="en-US" sz="2200" b="1" i="1" smtClean="0">
                          <a:solidFill>
                            <a:schemeClr val="tx1"/>
                          </a:solidFill>
                          <a:latin typeface="Cambria Math"/>
                        </a:rPr>
                        <m:t>−</m:t>
                      </m:r>
                      <m:f>
                        <m:fPr>
                          <m:ctrlPr>
                            <a:rPr lang="en-US" sz="2200" b="1" i="1" smtClean="0">
                              <a:solidFill>
                                <a:schemeClr val="tx1"/>
                              </a:solidFill>
                              <a:latin typeface="Cambria Math" panose="02040503050406030204" pitchFamily="18" charset="0"/>
                            </a:rPr>
                          </m:ctrlPr>
                        </m:fPr>
                        <m:num>
                          <m:r>
                            <a:rPr lang="en-US" sz="2200" b="1" i="1" smtClean="0">
                              <a:solidFill>
                                <a:schemeClr val="tx1"/>
                              </a:solidFill>
                              <a:latin typeface="Cambria Math"/>
                            </a:rPr>
                            <m:t>𝟔</m:t>
                          </m:r>
                          <m:d>
                            <m:dPr>
                              <m:begChr m:val="{"/>
                              <m:endChr m:val="}"/>
                              <m:ctrlPr>
                                <a:rPr lang="en-US" sz="2200" b="1" i="1" smtClean="0">
                                  <a:solidFill>
                                    <a:schemeClr val="tx1"/>
                                  </a:solidFill>
                                  <a:latin typeface="Cambria Math" panose="02040503050406030204" pitchFamily="18" charset="0"/>
                                </a:rPr>
                              </m:ctrlPr>
                            </m:dPr>
                            <m:e>
                              <m:nary>
                                <m:naryPr>
                                  <m:chr m:val="∑"/>
                                  <m:subHide m:val="on"/>
                                  <m:supHide m:val="on"/>
                                  <m:ctrlPr>
                                    <a:rPr lang="en-US" sz="2200" b="1" i="1" smtClean="0">
                                      <a:solidFill>
                                        <a:schemeClr val="tx1"/>
                                      </a:solidFill>
                                      <a:latin typeface="Cambria Math" panose="02040503050406030204" pitchFamily="18" charset="0"/>
                                    </a:rPr>
                                  </m:ctrlPr>
                                </m:naryPr>
                                <m:sub/>
                                <m:sup/>
                                <m:e>
                                  <m:sSup>
                                    <m:sSupPr>
                                      <m:ctrlPr>
                                        <a:rPr lang="en-US" sz="2200" b="1" i="1" smtClean="0">
                                          <a:solidFill>
                                            <a:schemeClr val="tx1"/>
                                          </a:solidFill>
                                          <a:latin typeface="Cambria Math" panose="02040503050406030204" pitchFamily="18" charset="0"/>
                                        </a:rPr>
                                      </m:ctrlPr>
                                    </m:sSupPr>
                                    <m:e>
                                      <m:r>
                                        <a:rPr lang="en-US" sz="2200" b="1" i="1" smtClean="0">
                                          <a:solidFill>
                                            <a:schemeClr val="tx1"/>
                                          </a:solidFill>
                                          <a:latin typeface="Cambria Math"/>
                                        </a:rPr>
                                        <m:t>𝑫</m:t>
                                      </m:r>
                                    </m:e>
                                    <m:sup>
                                      <m:r>
                                        <a:rPr lang="en-US" sz="2200" b="1" i="1" smtClean="0">
                                          <a:solidFill>
                                            <a:schemeClr val="tx1"/>
                                          </a:solidFill>
                                          <a:latin typeface="Cambria Math"/>
                                        </a:rPr>
                                        <m:t>𝟐</m:t>
                                      </m:r>
                                    </m:sup>
                                  </m:sSup>
                                  <m:r>
                                    <a:rPr lang="en-US" sz="2200" b="1" i="1" smtClean="0">
                                      <a:solidFill>
                                        <a:schemeClr val="tx1"/>
                                      </a:solidFill>
                                      <a:latin typeface="Cambria Math"/>
                                    </a:rPr>
                                    <m:t>+</m:t>
                                  </m:r>
                                  <m:f>
                                    <m:fPr>
                                      <m:ctrlPr>
                                        <a:rPr lang="en-US" sz="2200" b="1" i="1" smtClean="0">
                                          <a:solidFill>
                                            <a:schemeClr val="tx1"/>
                                          </a:solidFill>
                                          <a:latin typeface="Cambria Math" panose="02040503050406030204" pitchFamily="18" charset="0"/>
                                        </a:rPr>
                                      </m:ctrlPr>
                                    </m:fPr>
                                    <m:num>
                                      <m:r>
                                        <a:rPr lang="en-US" sz="2200" b="1" i="1" smtClean="0">
                                          <a:solidFill>
                                            <a:schemeClr val="tx1"/>
                                          </a:solidFill>
                                          <a:latin typeface="Cambria Math"/>
                                        </a:rPr>
                                        <m:t>𝟏</m:t>
                                      </m:r>
                                    </m:num>
                                    <m:den>
                                      <m:r>
                                        <a:rPr lang="en-US" sz="2200" b="1" i="1" smtClean="0">
                                          <a:solidFill>
                                            <a:schemeClr val="tx1"/>
                                          </a:solidFill>
                                          <a:latin typeface="Cambria Math"/>
                                        </a:rPr>
                                        <m:t>𝟏𝟐</m:t>
                                      </m:r>
                                    </m:den>
                                  </m:f>
                                  <m:sSub>
                                    <m:sSubPr>
                                      <m:ctrlPr>
                                        <a:rPr lang="en-US" sz="2200" b="1" i="1" smtClean="0">
                                          <a:solidFill>
                                            <a:schemeClr val="tx1"/>
                                          </a:solidFill>
                                          <a:latin typeface="Cambria Math" panose="02040503050406030204" pitchFamily="18" charset="0"/>
                                        </a:rPr>
                                      </m:ctrlPr>
                                    </m:sSubPr>
                                    <m:e>
                                      <m:r>
                                        <a:rPr lang="en-US" sz="2200" b="1" i="1" smtClean="0">
                                          <a:solidFill>
                                            <a:schemeClr val="tx1"/>
                                          </a:solidFill>
                                          <a:latin typeface="Cambria Math"/>
                                        </a:rPr>
                                        <m:t>𝒎</m:t>
                                      </m:r>
                                    </m:e>
                                    <m:sub>
                                      <m:r>
                                        <a:rPr lang="en-US" sz="2200" b="1" i="1" smtClean="0">
                                          <a:solidFill>
                                            <a:schemeClr val="tx1"/>
                                          </a:solidFill>
                                          <a:latin typeface="Cambria Math"/>
                                        </a:rPr>
                                        <m:t>𝟏</m:t>
                                      </m:r>
                                    </m:sub>
                                  </m:sSub>
                                  <m:d>
                                    <m:dPr>
                                      <m:ctrlPr>
                                        <a:rPr lang="en-US" sz="2200" b="1" i="1" smtClean="0">
                                          <a:solidFill>
                                            <a:schemeClr val="tx1"/>
                                          </a:solidFill>
                                          <a:latin typeface="Cambria Math" panose="02040503050406030204" pitchFamily="18" charset="0"/>
                                        </a:rPr>
                                      </m:ctrlPr>
                                    </m:dPr>
                                    <m:e>
                                      <m:sSup>
                                        <m:sSupPr>
                                          <m:ctrlPr>
                                            <a:rPr lang="en-US" sz="2200" b="1" i="1" smtClean="0">
                                              <a:solidFill>
                                                <a:schemeClr val="tx1"/>
                                              </a:solidFill>
                                              <a:latin typeface="Cambria Math" panose="02040503050406030204" pitchFamily="18" charset="0"/>
                                            </a:rPr>
                                          </m:ctrlPr>
                                        </m:sSupPr>
                                        <m:e>
                                          <m:sSub>
                                            <m:sSubPr>
                                              <m:ctrlPr>
                                                <a:rPr lang="en-US" sz="2200" b="1" i="1" smtClean="0">
                                                  <a:solidFill>
                                                    <a:schemeClr val="tx1"/>
                                                  </a:solidFill>
                                                  <a:latin typeface="Cambria Math" panose="02040503050406030204" pitchFamily="18" charset="0"/>
                                                </a:rPr>
                                              </m:ctrlPr>
                                            </m:sSubPr>
                                            <m:e>
                                              <m:r>
                                                <a:rPr lang="en-US" sz="2200" b="1" i="1" smtClean="0">
                                                  <a:solidFill>
                                                    <a:schemeClr val="tx1"/>
                                                  </a:solidFill>
                                                  <a:latin typeface="Cambria Math"/>
                                                </a:rPr>
                                                <m:t>𝒎</m:t>
                                              </m:r>
                                            </m:e>
                                            <m:sub>
                                              <m:r>
                                                <a:rPr lang="en-US" sz="2200" b="1" i="1" smtClean="0">
                                                  <a:solidFill>
                                                    <a:schemeClr val="tx1"/>
                                                  </a:solidFill>
                                                  <a:latin typeface="Cambria Math"/>
                                                </a:rPr>
                                                <m:t>𝟏</m:t>
                                              </m:r>
                                            </m:sub>
                                          </m:sSub>
                                        </m:e>
                                        <m:sup>
                                          <m:r>
                                            <a:rPr lang="en-US" sz="2200" b="1" i="1" smtClean="0">
                                              <a:solidFill>
                                                <a:schemeClr val="tx1"/>
                                              </a:solidFill>
                                              <a:latin typeface="Cambria Math"/>
                                            </a:rPr>
                                            <m:t>𝟐</m:t>
                                          </m:r>
                                        </m:sup>
                                      </m:sSup>
                                      <m:r>
                                        <a:rPr lang="en-US" sz="2200" b="1" i="1" smtClean="0">
                                          <a:solidFill>
                                            <a:schemeClr val="tx1"/>
                                          </a:solidFill>
                                          <a:latin typeface="Cambria Math"/>
                                        </a:rPr>
                                        <m:t>−</m:t>
                                      </m:r>
                                      <m:r>
                                        <a:rPr lang="en-US" sz="2200" b="1" i="1" smtClean="0">
                                          <a:solidFill>
                                            <a:schemeClr val="tx1"/>
                                          </a:solidFill>
                                          <a:latin typeface="Cambria Math"/>
                                        </a:rPr>
                                        <m:t>𝟏</m:t>
                                      </m:r>
                                    </m:e>
                                  </m:d>
                                  <m:r>
                                    <a:rPr lang="en-US" sz="2200" b="1" i="1" smtClean="0">
                                      <a:solidFill>
                                        <a:schemeClr val="tx1"/>
                                      </a:solidFill>
                                      <a:latin typeface="Cambria Math"/>
                                    </a:rPr>
                                    <m:t>+</m:t>
                                  </m:r>
                                  <m:f>
                                    <m:fPr>
                                      <m:ctrlPr>
                                        <a:rPr lang="en-US" sz="2200" b="1" i="1" smtClean="0">
                                          <a:solidFill>
                                            <a:schemeClr val="tx1"/>
                                          </a:solidFill>
                                          <a:latin typeface="Cambria Math" panose="02040503050406030204" pitchFamily="18" charset="0"/>
                                        </a:rPr>
                                      </m:ctrlPr>
                                    </m:fPr>
                                    <m:num>
                                      <m:r>
                                        <a:rPr lang="en-US" sz="2200" b="1" i="1" smtClean="0">
                                          <a:solidFill>
                                            <a:schemeClr val="tx1"/>
                                          </a:solidFill>
                                          <a:latin typeface="Cambria Math"/>
                                        </a:rPr>
                                        <m:t>𝟏</m:t>
                                      </m:r>
                                    </m:num>
                                    <m:den>
                                      <m:r>
                                        <a:rPr lang="en-US" sz="2200" b="1" i="1" smtClean="0">
                                          <a:solidFill>
                                            <a:schemeClr val="tx1"/>
                                          </a:solidFill>
                                          <a:latin typeface="Cambria Math"/>
                                        </a:rPr>
                                        <m:t>𝟏𝟐</m:t>
                                      </m:r>
                                    </m:den>
                                  </m:f>
                                  <m:sSub>
                                    <m:sSubPr>
                                      <m:ctrlPr>
                                        <a:rPr lang="en-US" sz="2200" b="1" i="1" smtClean="0">
                                          <a:solidFill>
                                            <a:schemeClr val="tx1"/>
                                          </a:solidFill>
                                          <a:latin typeface="Cambria Math" panose="02040503050406030204" pitchFamily="18" charset="0"/>
                                        </a:rPr>
                                      </m:ctrlPr>
                                    </m:sSubPr>
                                    <m:e>
                                      <m:r>
                                        <a:rPr lang="en-US" sz="2200" b="1" i="1" smtClean="0">
                                          <a:solidFill>
                                            <a:schemeClr val="tx1"/>
                                          </a:solidFill>
                                          <a:latin typeface="Cambria Math"/>
                                        </a:rPr>
                                        <m:t>𝒎</m:t>
                                      </m:r>
                                    </m:e>
                                    <m:sub>
                                      <m:r>
                                        <a:rPr lang="en-US" sz="2200" b="1" i="1" smtClean="0">
                                          <a:solidFill>
                                            <a:schemeClr val="tx1"/>
                                          </a:solidFill>
                                          <a:latin typeface="Cambria Math"/>
                                        </a:rPr>
                                        <m:t>𝟐</m:t>
                                      </m:r>
                                    </m:sub>
                                  </m:sSub>
                                  <m:d>
                                    <m:dPr>
                                      <m:ctrlPr>
                                        <a:rPr lang="en-US" sz="2200" b="1" i="1" smtClean="0">
                                          <a:solidFill>
                                            <a:schemeClr val="tx1"/>
                                          </a:solidFill>
                                          <a:latin typeface="Cambria Math" panose="02040503050406030204" pitchFamily="18" charset="0"/>
                                        </a:rPr>
                                      </m:ctrlPr>
                                    </m:dPr>
                                    <m:e>
                                      <m:sSup>
                                        <m:sSupPr>
                                          <m:ctrlPr>
                                            <a:rPr lang="en-US" sz="2200" b="1" i="1" smtClean="0">
                                              <a:solidFill>
                                                <a:schemeClr val="tx1"/>
                                              </a:solidFill>
                                              <a:latin typeface="Cambria Math" panose="02040503050406030204" pitchFamily="18" charset="0"/>
                                            </a:rPr>
                                          </m:ctrlPr>
                                        </m:sSupPr>
                                        <m:e>
                                          <m:sSub>
                                            <m:sSubPr>
                                              <m:ctrlPr>
                                                <a:rPr lang="en-US" sz="2200" b="1" i="1" smtClean="0">
                                                  <a:solidFill>
                                                    <a:schemeClr val="tx1"/>
                                                  </a:solidFill>
                                                  <a:latin typeface="Cambria Math" panose="02040503050406030204" pitchFamily="18" charset="0"/>
                                                </a:rPr>
                                              </m:ctrlPr>
                                            </m:sSubPr>
                                            <m:e>
                                              <m:r>
                                                <a:rPr lang="en-US" sz="2200" b="1" i="1" smtClean="0">
                                                  <a:solidFill>
                                                    <a:schemeClr val="tx1"/>
                                                  </a:solidFill>
                                                  <a:latin typeface="Cambria Math"/>
                                                </a:rPr>
                                                <m:t>𝒎</m:t>
                                              </m:r>
                                            </m:e>
                                            <m:sub>
                                              <m:r>
                                                <a:rPr lang="en-US" sz="2200" b="1" i="1" smtClean="0">
                                                  <a:solidFill>
                                                    <a:schemeClr val="tx1"/>
                                                  </a:solidFill>
                                                  <a:latin typeface="Cambria Math"/>
                                                </a:rPr>
                                                <m:t>𝟐</m:t>
                                              </m:r>
                                            </m:sub>
                                          </m:sSub>
                                        </m:e>
                                        <m:sup>
                                          <m:r>
                                            <a:rPr lang="en-US" sz="2200" b="1" i="1" smtClean="0">
                                              <a:solidFill>
                                                <a:schemeClr val="tx1"/>
                                              </a:solidFill>
                                              <a:latin typeface="Cambria Math"/>
                                            </a:rPr>
                                            <m:t>𝟐</m:t>
                                          </m:r>
                                        </m:sup>
                                      </m:sSup>
                                      <m:r>
                                        <a:rPr lang="en-US" sz="2200" b="1" i="1" smtClean="0">
                                          <a:solidFill>
                                            <a:schemeClr val="tx1"/>
                                          </a:solidFill>
                                          <a:latin typeface="Cambria Math"/>
                                        </a:rPr>
                                        <m:t>−</m:t>
                                      </m:r>
                                      <m:r>
                                        <a:rPr lang="en-US" sz="2200" b="1" i="1" smtClean="0">
                                          <a:solidFill>
                                            <a:schemeClr val="tx1"/>
                                          </a:solidFill>
                                          <a:latin typeface="Cambria Math"/>
                                        </a:rPr>
                                        <m:t>𝟏</m:t>
                                      </m:r>
                                    </m:e>
                                  </m:d>
                                  <m:r>
                                    <a:rPr lang="en-US" sz="2200" b="1" i="1" smtClean="0">
                                      <a:solidFill>
                                        <a:schemeClr val="tx1"/>
                                      </a:solidFill>
                                      <a:latin typeface="Cambria Math"/>
                                    </a:rPr>
                                    <m:t>+…</m:t>
                                  </m:r>
                                </m:e>
                              </m:nary>
                            </m:e>
                          </m:d>
                        </m:num>
                        <m:den>
                          <m:r>
                            <a:rPr lang="en-US" sz="2200" b="1" i="1" smtClean="0">
                              <a:solidFill>
                                <a:schemeClr val="tx1"/>
                              </a:solidFill>
                              <a:latin typeface="Cambria Math"/>
                            </a:rPr>
                            <m:t>𝒏</m:t>
                          </m:r>
                          <m:d>
                            <m:dPr>
                              <m:ctrlPr>
                                <a:rPr lang="en-US" sz="2200" b="1" i="1" smtClean="0">
                                  <a:solidFill>
                                    <a:schemeClr val="tx1"/>
                                  </a:solidFill>
                                  <a:latin typeface="Cambria Math" panose="02040503050406030204" pitchFamily="18" charset="0"/>
                                </a:rPr>
                              </m:ctrlPr>
                            </m:dPr>
                            <m:e>
                              <m:sSup>
                                <m:sSupPr>
                                  <m:ctrlPr>
                                    <a:rPr lang="en-US" sz="2200" b="1" i="1" smtClean="0">
                                      <a:solidFill>
                                        <a:schemeClr val="tx1"/>
                                      </a:solidFill>
                                      <a:latin typeface="Cambria Math" panose="02040503050406030204" pitchFamily="18" charset="0"/>
                                    </a:rPr>
                                  </m:ctrlPr>
                                </m:sSupPr>
                                <m:e>
                                  <m:r>
                                    <a:rPr lang="en-US" sz="2200" b="1" i="1" smtClean="0">
                                      <a:solidFill>
                                        <a:schemeClr val="tx1"/>
                                      </a:solidFill>
                                      <a:latin typeface="Cambria Math"/>
                                    </a:rPr>
                                    <m:t>𝒏</m:t>
                                  </m:r>
                                </m:e>
                                <m:sup>
                                  <m:r>
                                    <a:rPr lang="en-US" sz="2200" b="1" i="1" smtClean="0">
                                      <a:solidFill>
                                        <a:schemeClr val="tx1"/>
                                      </a:solidFill>
                                      <a:latin typeface="Cambria Math"/>
                                    </a:rPr>
                                    <m:t>𝟐</m:t>
                                  </m:r>
                                </m:sup>
                              </m:sSup>
                              <m:r>
                                <a:rPr lang="en-US" sz="2200" b="1" i="1" smtClean="0">
                                  <a:solidFill>
                                    <a:schemeClr val="tx1"/>
                                  </a:solidFill>
                                  <a:latin typeface="Cambria Math"/>
                                </a:rPr>
                                <m:t>−</m:t>
                              </m:r>
                              <m:r>
                                <a:rPr lang="en-US" sz="2200" b="1" i="1" smtClean="0">
                                  <a:solidFill>
                                    <a:schemeClr val="tx1"/>
                                  </a:solidFill>
                                  <a:latin typeface="Cambria Math"/>
                                </a:rPr>
                                <m:t>𝟏</m:t>
                              </m:r>
                            </m:e>
                          </m:d>
                        </m:den>
                      </m:f>
                    </m:oMath>
                  </m:oMathPara>
                </a14:m>
                <a:endParaRPr lang="en-US" sz="2200" b="1" dirty="0">
                  <a:solidFill>
                    <a:schemeClr val="tx1"/>
                  </a:solidFill>
                </a:endParaRPr>
              </a:p>
              <a:p>
                <a:pPr marL="0" indent="0">
                  <a:buNone/>
                </a:pPr>
                <a:endParaRPr lang="en-US" sz="2200" b="1" dirty="0">
                  <a:solidFill>
                    <a:schemeClr val="tx1"/>
                  </a:solidFill>
                </a:endParaRPr>
              </a:p>
              <a:p>
                <a:endParaRPr lang="en-US" sz="2200" b="1" dirty="0">
                  <a:solidFill>
                    <a:schemeClr val="tx1"/>
                  </a:solidFill>
                </a:endParaRPr>
              </a:p>
              <a:p>
                <a:endParaRPr lang="en-US" sz="2200" b="1" dirty="0">
                  <a:solidFill>
                    <a:schemeClr val="tx1"/>
                  </a:solidFill>
                </a:endParaRPr>
              </a:p>
              <a:p>
                <a:endParaRPr lang="en-US" sz="22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 Tied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319432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solidFill>
                  <a:schemeClr val="tx1"/>
                </a:solidFill>
              </a:rPr>
              <a:t>Question:</a:t>
            </a:r>
            <a:r>
              <a:rPr lang="en-US" sz="2200" dirty="0">
                <a:solidFill>
                  <a:schemeClr val="tx1"/>
                </a:solidFill>
              </a:rPr>
              <a:t> Obtain the rank correlation co-efficient for the following data:</a:t>
            </a:r>
          </a:p>
          <a:p>
            <a:pPr marL="0" indent="0">
              <a:buNone/>
            </a:pPr>
            <a:endParaRPr lang="en-US" sz="2200" b="1" dirty="0">
              <a:solidFill>
                <a:schemeClr val="tx1"/>
              </a:solidFill>
            </a:endParaRPr>
          </a:p>
          <a:p>
            <a:pPr marL="0" indent="0">
              <a:buNone/>
            </a:pPr>
            <a:endParaRPr lang="en-US" sz="2200" b="1" dirty="0"/>
          </a:p>
          <a:p>
            <a:pPr marL="0" indent="0">
              <a:buNone/>
            </a:pPr>
            <a:endParaRPr lang="en-US" sz="2200" b="1" dirty="0">
              <a:solidFill>
                <a:schemeClr val="tx1"/>
              </a:solidFill>
            </a:endParaRPr>
          </a:p>
          <a:p>
            <a:pPr marL="0" indent="0">
              <a:buNone/>
            </a:pPr>
            <a:endParaRPr lang="en-US" sz="2200" b="1" dirty="0"/>
          </a:p>
          <a:p>
            <a:pPr marL="0" indent="0">
              <a:buNone/>
            </a:pPr>
            <a:r>
              <a:rPr lang="en-US" sz="2200" b="1" dirty="0"/>
              <a:t>Solution: </a:t>
            </a:r>
            <a:r>
              <a:rPr lang="en-US" sz="2200" dirty="0"/>
              <a:t>Here marks are given so write down the ranks</a:t>
            </a:r>
          </a:p>
          <a:p>
            <a:pPr marL="0" indent="0">
              <a:buNone/>
            </a:pPr>
            <a:endParaRPr lang="en-US" sz="2200" b="1" dirty="0">
              <a:solidFill>
                <a:schemeClr val="tx1"/>
              </a:solidFill>
            </a:endParaRPr>
          </a:p>
          <a:p>
            <a:endParaRPr lang="en-US" sz="2200" b="1" dirty="0">
              <a:solidFill>
                <a:schemeClr val="tx1"/>
              </a:solidFill>
            </a:endParaRPr>
          </a:p>
          <a:p>
            <a:endParaRPr lang="en-US" sz="2200" b="1" dirty="0">
              <a:solidFill>
                <a:schemeClr val="tx1"/>
              </a:solidFill>
            </a:endParaRPr>
          </a:p>
          <a:p>
            <a:endParaRPr lang="en-US" sz="2200" b="1" dirty="0">
              <a:solidFill>
                <a:schemeClr val="tx1"/>
              </a:solidFill>
            </a:endParaRPr>
          </a:p>
          <a:p>
            <a:endParaRPr lang="en-US" sz="2200" dirty="0">
              <a:solidFill>
                <a:schemeClr val="tx1"/>
              </a:solidFill>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09073687"/>
                  </p:ext>
                </p:extLst>
              </p:nvPr>
            </p:nvGraphicFramePr>
            <p:xfrm>
              <a:off x="1143000" y="2286000"/>
              <a:ext cx="5588000" cy="7366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tblGrid>
                  <a:tr h="1422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80</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40</a:t>
                          </a:r>
                        </a:p>
                      </a:txBody>
                      <a:tcPr/>
                    </a:tc>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62</a:t>
                          </a:r>
                        </a:p>
                      </a:txBody>
                      <a:tcPr/>
                    </a:tc>
                    <a:tc>
                      <a:txBody>
                        <a:bodyPr/>
                        <a:lstStyle/>
                        <a:p>
                          <a:r>
                            <a:rPr lang="en-US" dirty="0">
                              <a:latin typeface="Times New Roman" panose="02020603050405020304" pitchFamily="18" charset="0"/>
                            </a:rPr>
                            <a:t>58</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81</a:t>
                          </a:r>
                        </a:p>
                      </a:txBody>
                      <a:tcPr/>
                    </a:tc>
                    <a:tc>
                      <a:txBody>
                        <a:bodyPr/>
                        <a:lstStyle/>
                        <a:p>
                          <a:r>
                            <a:rPr lang="en-US" dirty="0">
                              <a:latin typeface="Times New Roman" panose="02020603050405020304" pitchFamily="18" charset="0"/>
                            </a:rPr>
                            <a:t>60</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48</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70</a:t>
                          </a:r>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09073687"/>
                  </p:ext>
                </p:extLst>
              </p:nvPr>
            </p:nvGraphicFramePr>
            <p:xfrm>
              <a:off x="1143000" y="2286000"/>
              <a:ext cx="5588000" cy="7366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tblGrid>
                  <a:tr h="365760">
                    <a:tc>
                      <a:txBody>
                        <a:bodyPr/>
                        <a:lstStyle/>
                        <a:p>
                          <a:endParaRPr lang="en-US"/>
                        </a:p>
                      </a:txBody>
                      <a:tcPr>
                        <a:blipFill>
                          <a:blip r:embed="rId2"/>
                          <a:stretch>
                            <a:fillRect l="-1205" t="-8333" r="-1010843" b="-126667"/>
                          </a:stretch>
                        </a:blipFill>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80</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40</a:t>
                          </a:r>
                        </a:p>
                      </a:txBody>
                      <a:tcPr/>
                    </a:tc>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64</a:t>
                          </a:r>
                        </a:p>
                      </a:txBody>
                      <a:tcPr/>
                    </a:tc>
                    <a:extLst>
                      <a:ext uri="{0D108BD9-81ED-4DB2-BD59-A6C34878D82A}">
                        <a16:rowId xmlns:a16="http://schemas.microsoft.com/office/drawing/2014/main" val="10000"/>
                      </a:ext>
                    </a:extLst>
                  </a:tr>
                  <a:tr h="370840">
                    <a:tc>
                      <a:txBody>
                        <a:bodyPr/>
                        <a:lstStyle/>
                        <a:p>
                          <a:endParaRPr lang="en-US"/>
                        </a:p>
                      </a:txBody>
                      <a:tcPr>
                        <a:blipFill>
                          <a:blip r:embed="rId2"/>
                          <a:stretch>
                            <a:fillRect l="-1205" t="-106557" r="-1010843" b="-24590"/>
                          </a:stretch>
                        </a:blipFill>
                      </a:tcPr>
                    </a:tc>
                    <a:tc>
                      <a:txBody>
                        <a:bodyPr/>
                        <a:lstStyle/>
                        <a:p>
                          <a:r>
                            <a:rPr lang="en-US" dirty="0">
                              <a:latin typeface="Times New Roman" panose="02020603050405020304" pitchFamily="18" charset="0"/>
                            </a:rPr>
                            <a:t>62</a:t>
                          </a:r>
                        </a:p>
                      </a:txBody>
                      <a:tcPr/>
                    </a:tc>
                    <a:tc>
                      <a:txBody>
                        <a:bodyPr/>
                        <a:lstStyle/>
                        <a:p>
                          <a:r>
                            <a:rPr lang="en-US" dirty="0">
                              <a:latin typeface="Times New Roman" panose="02020603050405020304" pitchFamily="18" charset="0"/>
                            </a:rPr>
                            <a:t>58</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81</a:t>
                          </a:r>
                        </a:p>
                      </a:txBody>
                      <a:tcPr/>
                    </a:tc>
                    <a:tc>
                      <a:txBody>
                        <a:bodyPr/>
                        <a:lstStyle/>
                        <a:p>
                          <a:r>
                            <a:rPr lang="en-US" dirty="0">
                              <a:latin typeface="Times New Roman" panose="02020603050405020304" pitchFamily="18" charset="0"/>
                            </a:rPr>
                            <a:t>60</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48</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70</a:t>
                          </a:r>
                        </a:p>
                      </a:txBody>
                      <a:tcPr/>
                    </a:tc>
                    <a:extLst>
                      <a:ext uri="{0D108BD9-81ED-4DB2-BD59-A6C34878D82A}">
                        <a16:rowId xmlns:a16="http://schemas.microsoft.com/office/drawing/2014/main" val="10001"/>
                      </a:ext>
                    </a:extLst>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 Tied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905275804"/>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pPr marL="0" indent="0">
              <a:buNone/>
            </a:pPr>
            <a:r>
              <a:rPr lang="en-US" sz="2000" dirty="0"/>
              <a:t>75</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75 2 times</a:t>
            </a:r>
          </a:p>
          <a:p>
            <a:pPr marL="0" indent="0">
              <a:buNone/>
            </a:pPr>
            <a:r>
              <a:rPr lang="en-US" sz="2000" dirty="0"/>
              <a:t>64 3 times </a:t>
            </a:r>
          </a:p>
          <a:p>
            <a:pPr marL="0" indent="0">
              <a:buNone/>
            </a:pPr>
            <a:r>
              <a:rPr lang="en-US" sz="2000" dirty="0"/>
              <a:t>68 2 times</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339980613"/>
                  </p:ext>
                </p:extLst>
              </p:nvPr>
            </p:nvGraphicFramePr>
            <p:xfrm>
              <a:off x="609600" y="1143000"/>
              <a:ext cx="7696200" cy="3037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762000">
                      <a:extLst>
                        <a:ext uri="{9D8B030D-6E8A-4147-A177-3AD203B41FA5}">
                          <a16:colId xmlns:a16="http://schemas.microsoft.com/office/drawing/2014/main" val="2001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𝑿</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80</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40</a:t>
                          </a:r>
                        </a:p>
                      </a:txBody>
                      <a:tcPr/>
                    </a:tc>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Total</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𝑌</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62</a:t>
                          </a:r>
                        </a:p>
                      </a:txBody>
                      <a:tcPr/>
                    </a:tc>
                    <a:tc>
                      <a:txBody>
                        <a:bodyPr/>
                        <a:lstStyle/>
                        <a:p>
                          <a:r>
                            <a:rPr lang="en-US" dirty="0">
                              <a:latin typeface="Times New Roman" panose="02020603050405020304" pitchFamily="18" charset="0"/>
                            </a:rPr>
                            <a:t>58</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81</a:t>
                          </a:r>
                        </a:p>
                      </a:txBody>
                      <a:tcPr/>
                    </a:tc>
                    <a:tc>
                      <a:txBody>
                        <a:bodyPr/>
                        <a:lstStyle/>
                        <a:p>
                          <a:r>
                            <a:rPr lang="en-US" dirty="0">
                              <a:latin typeface="Times New Roman" panose="02020603050405020304" pitchFamily="18" charset="0"/>
                            </a:rPr>
                            <a:t>60</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48</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70</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rPr>
                            <a:t>Ranks</a:t>
                          </a:r>
                          <a:r>
                            <a:rPr lang="en-US" baseline="0" dirty="0"/>
                            <a:t> in </a:t>
                          </a:r>
                          <a14:m>
                            <m:oMath xmlns:m="http://schemas.openxmlformats.org/officeDocument/2006/math">
                              <m:r>
                                <a:rPr lang="en-US" b="0" i="1" baseline="0" smtClean="0">
                                  <a:latin typeface="Cambria Math"/>
                                </a:rPr>
                                <m:t>𝑋</m:t>
                              </m:r>
                              <m:r>
                                <a:rPr lang="en-US" b="0" i="1" baseline="0" smtClean="0">
                                  <a:latin typeface="Cambria Math"/>
                                </a:rPr>
                                <m:t>(</m:t>
                              </m:r>
                              <m:r>
                                <a:rPr lang="en-US" b="0" i="1" baseline="0" smtClean="0">
                                  <a:latin typeface="Cambria Math"/>
                                </a:rPr>
                                <m:t>𝑥</m:t>
                              </m:r>
                              <m:r>
                                <a:rPr lang="en-US" b="0" i="1" baseline="0" smtClean="0">
                                  <a:latin typeface="Cambria Math"/>
                                </a:rPr>
                                <m:t>)</m:t>
                              </m:r>
                            </m:oMath>
                          </a14:m>
                          <a:endParaRPr lang="en-US" dirty="0"/>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rPr>
                            <a:t>Ranks</a:t>
                          </a:r>
                          <a:r>
                            <a:rPr lang="en-US" baseline="0" dirty="0"/>
                            <a:t> in </a:t>
                          </a:r>
                          <a14:m>
                            <m:oMath xmlns:m="http://schemas.openxmlformats.org/officeDocument/2006/math">
                              <m:r>
                                <m:rPr>
                                  <m:sty m:val="p"/>
                                </m:rPr>
                                <a:rPr lang="en-US" b="0" i="0" baseline="0" smtClean="0">
                                  <a:latin typeface="Cambria Math"/>
                                </a:rPr>
                                <m:t>Y</m:t>
                              </m:r>
                              <m:r>
                                <a:rPr lang="en-US" b="0" i="1" baseline="0" smtClean="0">
                                  <a:latin typeface="Cambria Math"/>
                                </a:rPr>
                                <m:t>(</m:t>
                              </m:r>
                              <m:r>
                                <a:rPr lang="en-US" b="0" i="1" baseline="0" smtClean="0">
                                  <a:latin typeface="Cambria Math"/>
                                </a:rPr>
                                <m:t>𝑦</m:t>
                              </m:r>
                              <m:r>
                                <a:rPr lang="en-US" b="0" i="1" baseline="0" smtClean="0">
                                  <a:latin typeface="Cambria Math"/>
                                </a:rPr>
                                <m:t>)</m:t>
                              </m:r>
                            </m:oMath>
                          </a14:m>
                          <a:endParaRPr lang="en-US" dirty="0"/>
                        </a:p>
                        <a:p>
                          <a:endParaRPr lang="en-US" dirty="0"/>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2</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𝐷</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𝐷</m:t>
                                    </m:r>
                                  </m:e>
                                  <m:sup>
                                    <m:r>
                                      <a:rPr lang="en-US" b="0" i="1" smtClean="0">
                                        <a:latin typeface="Cambria Math"/>
                                      </a:rPr>
                                      <m:t>2</m:t>
                                    </m:r>
                                  </m:sup>
                                </m:sSup>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16</a:t>
                          </a:r>
                        </a:p>
                      </a:txBody>
                      <a:tcPr/>
                    </a:tc>
                    <a:tc>
                      <a:txBody>
                        <a:bodyPr/>
                        <a:lstStyle/>
                        <a:p>
                          <a:r>
                            <a:rPr lang="en-US" dirty="0">
                              <a:latin typeface="Times New Roman" panose="02020603050405020304" pitchFamily="18" charset="0"/>
                            </a:rPr>
                            <a:t>72</a:t>
                          </a:r>
                        </a:p>
                      </a:txBody>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339980613"/>
                  </p:ext>
                </p:extLst>
              </p:nvPr>
            </p:nvGraphicFramePr>
            <p:xfrm>
              <a:off x="609600" y="1143000"/>
              <a:ext cx="7696200" cy="30378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762000">
                      <a:extLst>
                        <a:ext uri="{9D8B030D-6E8A-4147-A177-3AD203B41FA5}">
                          <a16:colId xmlns:a16="http://schemas.microsoft.com/office/drawing/2014/main" val="20011"/>
                        </a:ext>
                      </a:extLst>
                    </a:gridCol>
                  </a:tblGrid>
                  <a:tr h="370840">
                    <a:tc>
                      <a:txBody>
                        <a:bodyPr/>
                        <a:lstStyle/>
                        <a:p>
                          <a:endParaRPr lang="en-US"/>
                        </a:p>
                      </a:txBody>
                      <a:tcPr>
                        <a:blipFill>
                          <a:blip r:embed="rId2"/>
                          <a:stretch>
                            <a:fillRect l="-1000" t="-8197" r="-533500" b="-742623"/>
                          </a:stretch>
                        </a:blipFill>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80</a:t>
                          </a:r>
                        </a:p>
                      </a:txBody>
                      <a:tcPr/>
                    </a:tc>
                    <a:tc>
                      <a:txBody>
                        <a:bodyPr/>
                        <a:lstStyle/>
                        <a:p>
                          <a:r>
                            <a:rPr lang="en-US" dirty="0">
                              <a:latin typeface="Times New Roman" panose="02020603050405020304" pitchFamily="18" charset="0"/>
                            </a:rPr>
                            <a:t>75</a:t>
                          </a:r>
                        </a:p>
                      </a:txBody>
                      <a:tcPr/>
                    </a:tc>
                    <a:tc>
                      <a:txBody>
                        <a:bodyPr/>
                        <a:lstStyle/>
                        <a:p>
                          <a:r>
                            <a:rPr lang="en-US" dirty="0">
                              <a:latin typeface="Times New Roman" panose="02020603050405020304" pitchFamily="18" charset="0"/>
                            </a:rPr>
                            <a:t>40</a:t>
                          </a:r>
                        </a:p>
                      </a:txBody>
                      <a:tcPr/>
                    </a:tc>
                    <a:tc>
                      <a:txBody>
                        <a:bodyPr/>
                        <a:lstStyle/>
                        <a:p>
                          <a:r>
                            <a:rPr lang="en-US" dirty="0">
                              <a:latin typeface="Times New Roman" panose="02020603050405020304" pitchFamily="18" charset="0"/>
                            </a:rPr>
                            <a:t>55</a:t>
                          </a:r>
                        </a:p>
                      </a:txBody>
                      <a:tcPr/>
                    </a:tc>
                    <a:tc>
                      <a:txBody>
                        <a:bodyPr/>
                        <a:lstStyle/>
                        <a:p>
                          <a:r>
                            <a:rPr lang="en-US" dirty="0">
                              <a:latin typeface="Times New Roman" panose="02020603050405020304" pitchFamily="18" charset="0"/>
                            </a:rPr>
                            <a:t>64</a:t>
                          </a:r>
                        </a:p>
                      </a:txBody>
                      <a:tcPr/>
                    </a:tc>
                    <a:tc>
                      <a:txBody>
                        <a:bodyPr/>
                        <a:lstStyle/>
                        <a:p>
                          <a:r>
                            <a:rPr lang="en-US" dirty="0">
                              <a:latin typeface="Times New Roman" panose="02020603050405020304" pitchFamily="18" charset="0"/>
                            </a:rPr>
                            <a:t>Total</a:t>
                          </a:r>
                        </a:p>
                      </a:txBody>
                      <a:tcPr/>
                    </a:tc>
                    <a:extLst>
                      <a:ext uri="{0D108BD9-81ED-4DB2-BD59-A6C34878D82A}">
                        <a16:rowId xmlns:a16="http://schemas.microsoft.com/office/drawing/2014/main" val="10000"/>
                      </a:ext>
                    </a:extLst>
                  </a:tr>
                  <a:tr h="370840">
                    <a:tc>
                      <a:txBody>
                        <a:bodyPr/>
                        <a:lstStyle/>
                        <a:p>
                          <a:endParaRPr lang="en-US"/>
                        </a:p>
                      </a:txBody>
                      <a:tcPr>
                        <a:blipFill>
                          <a:blip r:embed="rId2"/>
                          <a:stretch>
                            <a:fillRect l="-1000" t="-108197" r="-533500" b="-642623"/>
                          </a:stretch>
                        </a:blipFill>
                      </a:tcPr>
                    </a:tc>
                    <a:tc>
                      <a:txBody>
                        <a:bodyPr/>
                        <a:lstStyle/>
                        <a:p>
                          <a:r>
                            <a:rPr lang="en-US" dirty="0">
                              <a:latin typeface="Times New Roman" panose="02020603050405020304" pitchFamily="18" charset="0"/>
                            </a:rPr>
                            <a:t>62</a:t>
                          </a:r>
                        </a:p>
                      </a:txBody>
                      <a:tcPr/>
                    </a:tc>
                    <a:tc>
                      <a:txBody>
                        <a:bodyPr/>
                        <a:lstStyle/>
                        <a:p>
                          <a:r>
                            <a:rPr lang="en-US" dirty="0">
                              <a:latin typeface="Times New Roman" panose="02020603050405020304" pitchFamily="18" charset="0"/>
                            </a:rPr>
                            <a:t>58</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45</a:t>
                          </a:r>
                        </a:p>
                      </a:txBody>
                      <a:tcPr/>
                    </a:tc>
                    <a:tc>
                      <a:txBody>
                        <a:bodyPr/>
                        <a:lstStyle/>
                        <a:p>
                          <a:r>
                            <a:rPr lang="en-US" dirty="0">
                              <a:latin typeface="Times New Roman" panose="02020603050405020304" pitchFamily="18" charset="0"/>
                            </a:rPr>
                            <a:t>81</a:t>
                          </a:r>
                        </a:p>
                      </a:txBody>
                      <a:tcPr/>
                    </a:tc>
                    <a:tc>
                      <a:txBody>
                        <a:bodyPr/>
                        <a:lstStyle/>
                        <a:p>
                          <a:r>
                            <a:rPr lang="en-US" dirty="0">
                              <a:latin typeface="Times New Roman" panose="02020603050405020304" pitchFamily="18" charset="0"/>
                            </a:rPr>
                            <a:t>60</a:t>
                          </a:r>
                        </a:p>
                      </a:txBody>
                      <a:tcPr/>
                    </a:tc>
                    <a:tc>
                      <a:txBody>
                        <a:bodyPr/>
                        <a:lstStyle/>
                        <a:p>
                          <a:r>
                            <a:rPr lang="en-US" dirty="0">
                              <a:latin typeface="Times New Roman" panose="02020603050405020304" pitchFamily="18" charset="0"/>
                            </a:rPr>
                            <a:t>68</a:t>
                          </a:r>
                        </a:p>
                      </a:txBody>
                      <a:tcPr/>
                    </a:tc>
                    <a:tc>
                      <a:txBody>
                        <a:bodyPr/>
                        <a:lstStyle/>
                        <a:p>
                          <a:r>
                            <a:rPr lang="en-US" dirty="0">
                              <a:latin typeface="Times New Roman" panose="02020603050405020304" pitchFamily="18" charset="0"/>
                            </a:rPr>
                            <a:t>48</a:t>
                          </a:r>
                        </a:p>
                      </a:txBody>
                      <a:tcPr/>
                    </a:tc>
                    <a:tc>
                      <a:txBody>
                        <a:bodyPr/>
                        <a:lstStyle/>
                        <a:p>
                          <a:r>
                            <a:rPr lang="en-US" dirty="0">
                              <a:latin typeface="Times New Roman" panose="02020603050405020304" pitchFamily="18" charset="0"/>
                            </a:rPr>
                            <a:t>50</a:t>
                          </a:r>
                        </a:p>
                      </a:txBody>
                      <a:tcPr/>
                    </a:tc>
                    <a:tc>
                      <a:txBody>
                        <a:bodyPr/>
                        <a:lstStyle/>
                        <a:p>
                          <a:r>
                            <a:rPr lang="en-US" dirty="0">
                              <a:latin typeface="Times New Roman" panose="02020603050405020304" pitchFamily="18" charset="0"/>
                            </a:rPr>
                            <a:t>70</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1"/>
                      </a:ext>
                    </a:extLst>
                  </a:tr>
                  <a:tr h="640080">
                    <a:tc>
                      <a:txBody>
                        <a:bodyPr/>
                        <a:lstStyle/>
                        <a:p>
                          <a:endParaRPr lang="en-US"/>
                        </a:p>
                      </a:txBody>
                      <a:tcPr>
                        <a:blipFill>
                          <a:blip r:embed="rId2"/>
                          <a:stretch>
                            <a:fillRect l="-1000" t="-120952" r="-533500" b="-273333"/>
                          </a:stretch>
                        </a:blipFill>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6</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2"/>
                      </a:ext>
                    </a:extLst>
                  </a:tr>
                  <a:tr h="914400">
                    <a:tc>
                      <a:txBody>
                        <a:bodyPr/>
                        <a:lstStyle/>
                        <a:p>
                          <a:endParaRPr lang="en-US"/>
                        </a:p>
                      </a:txBody>
                      <a:tcPr>
                        <a:blipFill>
                          <a:blip r:embed="rId2"/>
                          <a:stretch>
                            <a:fillRect l="-1000" t="-154667" r="-533500" b="-91333"/>
                          </a:stretch>
                        </a:blipFill>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7</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10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6</a:t>
                          </a:r>
                        </a:p>
                      </a:txBody>
                      <a:tcPr/>
                    </a:tc>
                    <a:tc>
                      <a:txBody>
                        <a:bodyPr/>
                        <a:lstStyle/>
                        <a:p>
                          <a:r>
                            <a:rPr lang="en-US" dirty="0">
                              <a:latin typeface="Times New Roman" panose="02020603050405020304" pitchFamily="18" charset="0"/>
                            </a:rPr>
                            <a:t>3.5</a:t>
                          </a:r>
                        </a:p>
                      </a:txBody>
                      <a:tcPr/>
                    </a:tc>
                    <a:tc>
                      <a:txBody>
                        <a:bodyPr/>
                        <a:lstStyle/>
                        <a:p>
                          <a:r>
                            <a:rPr lang="en-US" dirty="0">
                              <a:latin typeface="Times New Roman" panose="02020603050405020304" pitchFamily="18" charset="0"/>
                            </a:rPr>
                            <a:t>9</a:t>
                          </a:r>
                        </a:p>
                      </a:txBody>
                      <a:tcPr/>
                    </a:tc>
                    <a:tc>
                      <a:txBody>
                        <a:bodyPr/>
                        <a:lstStyle/>
                        <a:p>
                          <a:r>
                            <a:rPr lang="en-US" dirty="0">
                              <a:latin typeface="Times New Roman" panose="02020603050405020304" pitchFamily="18" charset="0"/>
                            </a:rPr>
                            <a:t>8</a:t>
                          </a:r>
                        </a:p>
                      </a:txBody>
                      <a:tcPr/>
                    </a:tc>
                    <a:tc>
                      <a:txBody>
                        <a:bodyPr/>
                        <a:lstStyle/>
                        <a:p>
                          <a:r>
                            <a:rPr lang="en-US" dirty="0">
                              <a:latin typeface="Times New Roman" panose="02020603050405020304" pitchFamily="18" charset="0"/>
                            </a:rPr>
                            <a:t>2</a:t>
                          </a:r>
                        </a:p>
                      </a:txBody>
                      <a:tcPr/>
                    </a:tc>
                    <a:tc>
                      <a:txBody>
                        <a:bodyPr/>
                        <a:lstStyle/>
                        <a:p>
                          <a:endParaRPr lang="en-US" dirty="0">
                            <a:latin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endParaRPr lang="en-US"/>
                        </a:p>
                      </a:txBody>
                      <a:tcPr>
                        <a:blipFill>
                          <a:blip r:embed="rId2"/>
                          <a:stretch>
                            <a:fillRect l="-1000" t="-626230" r="-533500" b="-124590"/>
                          </a:stretch>
                        </a:blipFill>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4</a:t>
                          </a:r>
                        </a:p>
                      </a:txBody>
                      <a:tcPr/>
                    </a:tc>
                    <a:tc>
                      <a:txBody>
                        <a:bodyPr/>
                        <a:lstStyle/>
                        <a:p>
                          <a:r>
                            <a:rPr lang="en-US" dirty="0">
                              <a:latin typeface="Times New Roman" panose="02020603050405020304" pitchFamily="18" charset="0"/>
                            </a:rPr>
                            <a:t>0</a:t>
                          </a:r>
                        </a:p>
                      </a:txBody>
                      <a:tcPr/>
                    </a:tc>
                    <a:extLst>
                      <a:ext uri="{0D108BD9-81ED-4DB2-BD59-A6C34878D82A}">
                        <a16:rowId xmlns:a16="http://schemas.microsoft.com/office/drawing/2014/main" val="10004"/>
                      </a:ext>
                    </a:extLst>
                  </a:tr>
                  <a:tr h="370840">
                    <a:tc>
                      <a:txBody>
                        <a:bodyPr/>
                        <a:lstStyle/>
                        <a:p>
                          <a:endParaRPr lang="en-US"/>
                        </a:p>
                      </a:txBody>
                      <a:tcPr>
                        <a:blipFill>
                          <a:blip r:embed="rId2"/>
                          <a:stretch>
                            <a:fillRect l="-1000" t="-726230" r="-533500" b="-24590"/>
                          </a:stretch>
                        </a:blipFill>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16</a:t>
                          </a:r>
                        </a:p>
                      </a:txBody>
                      <a:tcPr/>
                    </a:tc>
                    <a:tc>
                      <a:txBody>
                        <a:bodyPr/>
                        <a:lstStyle/>
                        <a:p>
                          <a:r>
                            <a:rPr lang="en-US" dirty="0">
                              <a:latin typeface="Times New Roman" panose="02020603050405020304" pitchFamily="18" charset="0"/>
                            </a:rPr>
                            <a:t>72</a:t>
                          </a:r>
                        </a:p>
                      </a:txBody>
                      <a:tcPr/>
                    </a:tc>
                    <a:extLst>
                      <a:ext uri="{0D108BD9-81ED-4DB2-BD59-A6C34878D82A}">
                        <a16:rowId xmlns:a16="http://schemas.microsoft.com/office/drawing/2014/main" val="10005"/>
                      </a:ext>
                    </a:extLst>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 Tied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695664081"/>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143000"/>
                <a:ext cx="8686800" cy="4525963"/>
              </a:xfrm>
            </p:spPr>
            <p:txBody>
              <a:bodyPr/>
              <a:lstStyle/>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𝑟</m:t>
                      </m:r>
                      <m:r>
                        <a:rPr lang="en-US" sz="2000" b="0" i="1" smtClean="0">
                          <a:latin typeface="Cambria Math"/>
                        </a:rPr>
                        <m:t>=1−</m:t>
                      </m:r>
                      <m:f>
                        <m:fPr>
                          <m:ctrlPr>
                            <a:rPr lang="en-US" sz="2000" i="1">
                              <a:latin typeface="Cambria Math" panose="02040503050406030204" pitchFamily="18" charset="0"/>
                            </a:rPr>
                          </m:ctrlPr>
                        </m:fPr>
                        <m:num>
                          <m:r>
                            <a:rPr lang="en-US" sz="2000" b="0" i="1">
                              <a:latin typeface="Cambria Math"/>
                            </a:rPr>
                            <m:t>6</m:t>
                          </m:r>
                          <m:d>
                            <m:dPr>
                              <m:begChr m:val="{"/>
                              <m:endChr m:val="}"/>
                              <m:ctrlPr>
                                <a:rPr lang="en-US" sz="2000" i="1">
                                  <a:latin typeface="Cambria Math" panose="02040503050406030204" pitchFamily="18" charset="0"/>
                                </a:rPr>
                              </m:ctrlPr>
                            </m:dPr>
                            <m:e>
                              <m:nary>
                                <m:naryPr>
                                  <m:chr m:val="∑"/>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r>
                                        <a:rPr lang="en-US" sz="2000" b="0" i="1">
                                          <a:latin typeface="Cambria Math"/>
                                        </a:rPr>
                                        <m:t>𝐷</m:t>
                                      </m:r>
                                    </m:e>
                                    <m:sup>
                                      <m:r>
                                        <a:rPr lang="en-US" sz="2000" b="0" i="1">
                                          <a:latin typeface="Cambria Math"/>
                                        </a:rPr>
                                        <m:t>2</m:t>
                                      </m:r>
                                    </m:sup>
                                  </m:sSup>
                                  <m:r>
                                    <a:rPr lang="en-US" sz="2000" b="0" i="1">
                                      <a:latin typeface="Cambria Math"/>
                                    </a:rPr>
                                    <m:t>+</m:t>
                                  </m:r>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12</m:t>
                                      </m:r>
                                    </m:den>
                                  </m:f>
                                  <m:sSub>
                                    <m:sSubPr>
                                      <m:ctrlPr>
                                        <a:rPr lang="en-US" sz="2000" i="1">
                                          <a:latin typeface="Cambria Math" panose="02040503050406030204" pitchFamily="18" charset="0"/>
                                        </a:rPr>
                                      </m:ctrlPr>
                                    </m:sSubPr>
                                    <m:e>
                                      <m:r>
                                        <a:rPr lang="en-US" sz="2000" b="0" i="1">
                                          <a:latin typeface="Cambria Math"/>
                                        </a:rPr>
                                        <m:t>𝑚</m:t>
                                      </m:r>
                                    </m:e>
                                    <m:sub>
                                      <m:r>
                                        <a:rPr lang="en-US" sz="2000" b="0" i="1">
                                          <a:latin typeface="Cambria Math"/>
                                        </a:rPr>
                                        <m:t>1</m:t>
                                      </m:r>
                                    </m:sub>
                                  </m:sSub>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b="0" i="1">
                                                  <a:latin typeface="Cambria Math"/>
                                                </a:rPr>
                                                <m:t>𝑚</m:t>
                                              </m:r>
                                            </m:e>
                                            <m:sub>
                                              <m:r>
                                                <a:rPr lang="en-US" sz="2000" b="0" i="1" smtClean="0">
                                                  <a:latin typeface="Cambria Math"/>
                                                </a:rPr>
                                                <m:t>1</m:t>
                                              </m:r>
                                            </m:sub>
                                          </m:sSub>
                                        </m:e>
                                        <m:sup>
                                          <m:r>
                                            <a:rPr lang="en-US" sz="2000" b="0" i="1">
                                              <a:latin typeface="Cambria Math"/>
                                            </a:rPr>
                                            <m:t>2</m:t>
                                          </m:r>
                                        </m:sup>
                                      </m:sSup>
                                      <m:r>
                                        <a:rPr lang="en-US" sz="2000" b="0" i="1">
                                          <a:latin typeface="Cambria Math"/>
                                        </a:rPr>
                                        <m:t>−1</m:t>
                                      </m:r>
                                    </m:e>
                                  </m:d>
                                  <m:r>
                                    <a:rPr lang="en-US" sz="2000" b="0" i="1">
                                      <a:latin typeface="Cambria Math"/>
                                    </a:rPr>
                                    <m:t>+</m:t>
                                  </m:r>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12</m:t>
                                      </m:r>
                                    </m:den>
                                  </m:f>
                                  <m:sSub>
                                    <m:sSubPr>
                                      <m:ctrlPr>
                                        <a:rPr lang="en-US" sz="2000" i="1">
                                          <a:latin typeface="Cambria Math" panose="02040503050406030204" pitchFamily="18" charset="0"/>
                                        </a:rPr>
                                      </m:ctrlPr>
                                    </m:sSubPr>
                                    <m:e>
                                      <m:r>
                                        <a:rPr lang="en-US" sz="2000" b="0" i="1">
                                          <a:latin typeface="Cambria Math"/>
                                        </a:rPr>
                                        <m:t>𝑚</m:t>
                                      </m:r>
                                    </m:e>
                                    <m:sub>
                                      <m:r>
                                        <a:rPr lang="en-US" sz="2000" b="0" i="1">
                                          <a:latin typeface="Cambria Math"/>
                                        </a:rPr>
                                        <m:t>2</m:t>
                                      </m:r>
                                    </m:sub>
                                  </m:sSub>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b="0" i="1">
                                                  <a:latin typeface="Cambria Math"/>
                                                </a:rPr>
                                                <m:t>𝑚</m:t>
                                              </m:r>
                                            </m:e>
                                            <m:sub>
                                              <m:r>
                                                <a:rPr lang="en-US" sz="2000" b="0" i="1">
                                                  <a:latin typeface="Cambria Math"/>
                                                </a:rPr>
                                                <m:t>2</m:t>
                                              </m:r>
                                            </m:sub>
                                          </m:sSub>
                                        </m:e>
                                        <m:sup>
                                          <m:r>
                                            <a:rPr lang="en-US" sz="2000" b="0" i="1">
                                              <a:latin typeface="Cambria Math"/>
                                            </a:rPr>
                                            <m:t>2</m:t>
                                          </m:r>
                                        </m:sup>
                                      </m:sSup>
                                      <m:r>
                                        <a:rPr lang="en-US" sz="2000" b="0" i="1">
                                          <a:latin typeface="Cambria Math"/>
                                        </a:rPr>
                                        <m:t>−1</m:t>
                                      </m:r>
                                    </m:e>
                                  </m:d>
                                  <m:r>
                                    <a:rPr lang="en-US" sz="2000" b="0" i="1">
                                      <a:latin typeface="Cambria Math"/>
                                    </a:rPr>
                                    <m:t>+</m:t>
                                  </m:r>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12</m:t>
                                      </m:r>
                                    </m:den>
                                  </m:f>
                                  <m:sSub>
                                    <m:sSubPr>
                                      <m:ctrlPr>
                                        <a:rPr lang="en-US" sz="2000" i="1">
                                          <a:latin typeface="Cambria Math" panose="02040503050406030204" pitchFamily="18" charset="0"/>
                                        </a:rPr>
                                      </m:ctrlPr>
                                    </m:sSubPr>
                                    <m:e>
                                      <m:r>
                                        <a:rPr lang="en-US" sz="2000" b="0" i="1">
                                          <a:latin typeface="Cambria Math"/>
                                        </a:rPr>
                                        <m:t>𝑚</m:t>
                                      </m:r>
                                    </m:e>
                                    <m:sub>
                                      <m:r>
                                        <a:rPr lang="en-US" sz="2000" b="0" i="1" smtClean="0">
                                          <a:latin typeface="Cambria Math"/>
                                        </a:rPr>
                                        <m:t>3</m:t>
                                      </m:r>
                                    </m:sub>
                                  </m:sSub>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b="0" i="1">
                                                  <a:latin typeface="Cambria Math"/>
                                                </a:rPr>
                                                <m:t>𝑚</m:t>
                                              </m:r>
                                            </m:e>
                                            <m:sub>
                                              <m:r>
                                                <a:rPr lang="en-US" sz="2000" b="0" i="1" smtClean="0">
                                                  <a:latin typeface="Cambria Math"/>
                                                </a:rPr>
                                                <m:t>3</m:t>
                                              </m:r>
                                            </m:sub>
                                          </m:sSub>
                                        </m:e>
                                        <m:sup>
                                          <m:r>
                                            <a:rPr lang="en-US" sz="2000" b="0" i="1">
                                              <a:latin typeface="Cambria Math"/>
                                            </a:rPr>
                                            <m:t>2</m:t>
                                          </m:r>
                                        </m:sup>
                                      </m:sSup>
                                      <m:r>
                                        <a:rPr lang="en-US" sz="2000" b="0" i="1">
                                          <a:latin typeface="Cambria Math"/>
                                        </a:rPr>
                                        <m:t>−1</m:t>
                                      </m:r>
                                    </m:e>
                                  </m:d>
                                </m:e>
                              </m:nary>
                            </m:e>
                          </m:d>
                        </m:num>
                        <m:den>
                          <m:r>
                            <a:rPr lang="en-US" sz="2000" b="0" i="1">
                              <a:latin typeface="Cambria Math"/>
                            </a:rPr>
                            <m:t>𝑛</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b="0" i="1">
                                      <a:latin typeface="Cambria Math"/>
                                    </a:rPr>
                                    <m:t>𝑛</m:t>
                                  </m:r>
                                </m:e>
                                <m:sup>
                                  <m:r>
                                    <a:rPr lang="en-US" sz="2000" b="0" i="1">
                                      <a:latin typeface="Cambria Math"/>
                                    </a:rPr>
                                    <m:t>2</m:t>
                                  </m:r>
                                </m:sup>
                              </m:sSup>
                              <m:r>
                                <a:rPr lang="en-US" sz="2000" b="0" i="1">
                                  <a:latin typeface="Cambria Math"/>
                                </a:rPr>
                                <m:t>−1</m:t>
                              </m:r>
                            </m:e>
                          </m:d>
                        </m:den>
                      </m:f>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m:t>
                      </m:r>
                      <m:r>
                        <a:rPr lang="en-US" sz="2000" b="0" i="1">
                          <a:latin typeface="Cambria Math"/>
                        </a:rPr>
                        <m:t>1−</m:t>
                      </m:r>
                      <m:f>
                        <m:fPr>
                          <m:ctrlPr>
                            <a:rPr lang="en-US" sz="2000" i="1">
                              <a:latin typeface="Cambria Math" panose="02040503050406030204" pitchFamily="18" charset="0"/>
                            </a:rPr>
                          </m:ctrlPr>
                        </m:fPr>
                        <m:num>
                          <m:r>
                            <a:rPr lang="en-US" sz="2000" b="0" i="1">
                              <a:latin typeface="Cambria Math"/>
                            </a:rPr>
                            <m:t>6</m:t>
                          </m:r>
                          <m:d>
                            <m:dPr>
                              <m:begChr m:val="{"/>
                              <m:endChr m:val="}"/>
                              <m:ctrlPr>
                                <a:rPr lang="en-US" sz="2000" i="1" smtClean="0">
                                  <a:latin typeface="Cambria Math" panose="02040503050406030204" pitchFamily="18" charset="0"/>
                                </a:rPr>
                              </m:ctrlPr>
                            </m:dPr>
                            <m:e>
                              <m:r>
                                <a:rPr lang="en-US" sz="2000" b="0" i="1" smtClean="0">
                                  <a:latin typeface="Cambria Math"/>
                                </a:rPr>
                                <m:t>72+</m:t>
                              </m:r>
                              <m:f>
                                <m:fPr>
                                  <m:ctrlPr>
                                    <a:rPr lang="en-US" sz="200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12</m:t>
                                  </m:r>
                                </m:den>
                              </m:f>
                              <m:r>
                                <a:rPr lang="en-US" sz="2000" b="0" i="1" smtClean="0">
                                  <a:latin typeface="Cambria Math"/>
                                </a:rPr>
                                <m:t>.2</m:t>
                              </m:r>
                              <m:d>
                                <m:dPr>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a:rPr>
                                        <m:t>2</m:t>
                                      </m:r>
                                    </m:e>
                                    <m:sup>
                                      <m:r>
                                        <a:rPr lang="en-US" sz="2000" b="0" i="1" smtClean="0">
                                          <a:latin typeface="Cambria Math"/>
                                        </a:rPr>
                                        <m:t>2</m:t>
                                      </m:r>
                                    </m:sup>
                                  </m:sSup>
                                  <m:r>
                                    <a:rPr lang="en-US" sz="2000" b="0" i="1" smtClean="0">
                                      <a:latin typeface="Cambria Math"/>
                                    </a:rPr>
                                    <m:t>−1</m:t>
                                  </m:r>
                                </m:e>
                              </m:d>
                              <m:r>
                                <a:rPr lang="en-US" sz="2000" b="0" i="1">
                                  <a:latin typeface="Cambria Math"/>
                                </a:rPr>
                                <m:t>+</m:t>
                              </m:r>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12</m:t>
                                  </m:r>
                                </m:den>
                              </m:f>
                              <m:r>
                                <a:rPr lang="en-US" sz="2000" b="0" i="1">
                                  <a:latin typeface="Cambria Math"/>
                                </a:rPr>
                                <m:t>.</m:t>
                              </m:r>
                              <m:r>
                                <a:rPr lang="en-US" sz="2000" b="0" i="1" smtClean="0">
                                  <a:latin typeface="Cambria Math"/>
                                </a:rPr>
                                <m:t>3</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b="0" i="1" smtClean="0">
                                          <a:latin typeface="Cambria Math"/>
                                        </a:rPr>
                                        <m:t>3</m:t>
                                      </m:r>
                                    </m:e>
                                    <m:sup>
                                      <m:r>
                                        <a:rPr lang="en-US" sz="2000" b="0" i="1">
                                          <a:latin typeface="Cambria Math"/>
                                        </a:rPr>
                                        <m:t>2</m:t>
                                      </m:r>
                                    </m:sup>
                                  </m:sSup>
                                  <m:r>
                                    <a:rPr lang="en-US" sz="2000" b="0" i="1">
                                      <a:latin typeface="Cambria Math"/>
                                    </a:rPr>
                                    <m:t>−1</m:t>
                                  </m:r>
                                </m:e>
                              </m:d>
                              <m:r>
                                <a:rPr lang="en-US" sz="2000" b="0" i="1">
                                  <a:latin typeface="Cambria Math"/>
                                </a:rPr>
                                <m:t>+</m:t>
                              </m:r>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12</m:t>
                                  </m:r>
                                </m:den>
                              </m:f>
                              <m:r>
                                <a:rPr lang="en-US" sz="2000" b="0" i="1">
                                  <a:latin typeface="Cambria Math"/>
                                </a:rPr>
                                <m:t>.2</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b="0" i="1">
                                          <a:latin typeface="Cambria Math"/>
                                        </a:rPr>
                                        <m:t>2</m:t>
                                      </m:r>
                                    </m:e>
                                    <m:sup>
                                      <m:r>
                                        <a:rPr lang="en-US" sz="2000" b="0" i="1">
                                          <a:latin typeface="Cambria Math"/>
                                        </a:rPr>
                                        <m:t>2</m:t>
                                      </m:r>
                                    </m:sup>
                                  </m:sSup>
                                  <m:r>
                                    <a:rPr lang="en-US" sz="2000" b="0" i="1">
                                      <a:latin typeface="Cambria Math"/>
                                    </a:rPr>
                                    <m:t>−1</m:t>
                                  </m:r>
                                </m:e>
                              </m:d>
                            </m:e>
                          </m:d>
                        </m:num>
                        <m:den>
                          <m:r>
                            <a:rPr lang="en-US" sz="2000" b="0" i="1" smtClean="0">
                              <a:latin typeface="Cambria Math"/>
                            </a:rPr>
                            <m:t>10</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b="0" i="1" smtClean="0">
                                      <a:latin typeface="Cambria Math"/>
                                    </a:rPr>
                                    <m:t>10</m:t>
                                  </m:r>
                                </m:e>
                                <m:sup>
                                  <m:r>
                                    <a:rPr lang="en-US" sz="2000" b="0" i="1">
                                      <a:latin typeface="Cambria Math"/>
                                    </a:rPr>
                                    <m:t>2</m:t>
                                  </m:r>
                                </m:sup>
                              </m:sSup>
                              <m:r>
                                <a:rPr lang="en-US" sz="2000" b="0" i="1">
                                  <a:latin typeface="Cambria Math"/>
                                </a:rPr>
                                <m:t>−1</m:t>
                              </m:r>
                            </m:e>
                          </m:d>
                        </m:den>
                      </m:f>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=1−</m:t>
                      </m:r>
                      <m:d>
                        <m:dPr>
                          <m:begChr m:val="{"/>
                          <m:endChr m:val="}"/>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a:rPr>
                                <m:t>6</m:t>
                              </m:r>
                              <m:r>
                                <a:rPr lang="en-US" sz="2000" b="0" i="1" smtClean="0">
                                  <a:latin typeface="Cambria Math"/>
                                  <a:ea typeface="Cambria Math"/>
                                </a:rPr>
                                <m:t>×75</m:t>
                              </m:r>
                            </m:num>
                            <m:den>
                              <m:r>
                                <a:rPr lang="en-US" sz="2000" b="0" i="1" smtClean="0">
                                  <a:latin typeface="Cambria Math"/>
                                </a:rPr>
                                <m:t>990</m:t>
                              </m:r>
                            </m:den>
                          </m:f>
                        </m:e>
                      </m:d>
                      <m:r>
                        <a:rPr lang="en-US" sz="2000" b="0" i="1" smtClean="0">
                          <a:latin typeface="Cambria Math"/>
                        </a:rPr>
                        <m:t>=</m:t>
                      </m:r>
                      <m:f>
                        <m:fPr>
                          <m:ctrlPr>
                            <a:rPr lang="en-US" sz="2000" i="1" smtClean="0">
                              <a:latin typeface="Cambria Math" panose="02040503050406030204" pitchFamily="18" charset="0"/>
                            </a:rPr>
                          </m:ctrlPr>
                        </m:fPr>
                        <m:num>
                          <m:r>
                            <a:rPr lang="en-US" sz="2000" b="0" i="1" smtClean="0">
                              <a:latin typeface="Cambria Math"/>
                            </a:rPr>
                            <m:t>6</m:t>
                          </m:r>
                        </m:num>
                        <m:den>
                          <m:r>
                            <a:rPr lang="en-US" sz="2000" b="0" i="1" smtClean="0">
                              <a:latin typeface="Cambria Math"/>
                            </a:rPr>
                            <m:t>11</m:t>
                          </m:r>
                        </m:den>
                      </m:f>
                      <m:r>
                        <a:rPr lang="en-US" sz="2000" b="0" i="1" smtClean="0">
                          <a:latin typeface="Cambria Math"/>
                        </a:rPr>
                        <m:t>=0.545</m:t>
                      </m:r>
                    </m:oMath>
                  </m:oMathPara>
                </a14:m>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143000"/>
                <a:ext cx="8686800" cy="4525963"/>
              </a:xfrm>
              <a:blipFill rotWithShape="1">
                <a:blip r:embed="rId2"/>
                <a:stretch>
                  <a:fillRect l="-91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 Tied Correlation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925850429"/>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4525963"/>
          </a:xfrm>
        </p:spPr>
        <p:txBody>
          <a:bodyPr>
            <a:normAutofit/>
          </a:bodyPr>
          <a:lstStyle/>
          <a:p>
            <a:pPr marL="0" lvl="0" indent="0">
              <a:buNone/>
            </a:pPr>
            <a:r>
              <a:rPr lang="en-US" dirty="0"/>
              <a:t>Q1. Find the rank correlation coefficient for the following data:</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Q2. Given the following pairs of values: </a:t>
            </a:r>
          </a:p>
          <a:p>
            <a:pPr marL="0" indent="0">
              <a:buNone/>
            </a:pPr>
            <a:endParaRPr lang="en-US" dirty="0"/>
          </a:p>
          <a:p>
            <a:pPr marL="0" indent="0">
              <a:buNone/>
            </a:pPr>
            <a:endParaRPr lang="en-US" dirty="0"/>
          </a:p>
          <a:p>
            <a:pPr marL="0" indent="0">
              <a:buNone/>
            </a:pPr>
            <a:endParaRPr lang="en-US" dirty="0"/>
          </a:p>
          <a:p>
            <a:pPr marL="0" indent="0">
              <a:buNone/>
            </a:pPr>
            <a:r>
              <a:rPr lang="en-US" dirty="0"/>
              <a:t>Do you think that there is any correlation between profits and capital employed? Is it positive or negative? Is it high or low?</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latin typeface="Times New Roman" panose="02020603050405020304" pitchFamily="18" charset="0"/>
              </a:rPr>
              <a:t>Daily Quiz</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4152397318"/>
                  </p:ext>
                </p:extLst>
              </p:nvPr>
            </p:nvGraphicFramePr>
            <p:xfrm>
              <a:off x="723900" y="1600200"/>
              <a:ext cx="7124698" cy="1143000"/>
            </p:xfrm>
            <a:graphic>
              <a:graphicData uri="http://schemas.openxmlformats.org/drawingml/2006/table">
                <a:tbl>
                  <a:tblPr firstRow="1" firstCol="1" bandRow="1">
                    <a:tableStyleId>{5C22544A-7EE6-4342-B048-85BDC9FD1C3A}</a:tableStyleId>
                  </a:tblPr>
                  <a:tblGrid>
                    <a:gridCol w="766407">
                      <a:extLst>
                        <a:ext uri="{9D8B030D-6E8A-4147-A177-3AD203B41FA5}">
                          <a16:colId xmlns:a16="http://schemas.microsoft.com/office/drawing/2014/main" val="20000"/>
                        </a:ext>
                      </a:extLst>
                    </a:gridCol>
                    <a:gridCol w="624658">
                      <a:extLst>
                        <a:ext uri="{9D8B030D-6E8A-4147-A177-3AD203B41FA5}">
                          <a16:colId xmlns:a16="http://schemas.microsoft.com/office/drawing/2014/main" val="20001"/>
                        </a:ext>
                      </a:extLst>
                    </a:gridCol>
                    <a:gridCol w="672708">
                      <a:extLst>
                        <a:ext uri="{9D8B030D-6E8A-4147-A177-3AD203B41FA5}">
                          <a16:colId xmlns:a16="http://schemas.microsoft.com/office/drawing/2014/main" val="20002"/>
                        </a:ext>
                      </a:extLst>
                    </a:gridCol>
                    <a:gridCol w="560991">
                      <a:extLst>
                        <a:ext uri="{9D8B030D-6E8A-4147-A177-3AD203B41FA5}">
                          <a16:colId xmlns:a16="http://schemas.microsoft.com/office/drawing/2014/main" val="20003"/>
                        </a:ext>
                      </a:extLst>
                    </a:gridCol>
                    <a:gridCol w="672708">
                      <a:extLst>
                        <a:ext uri="{9D8B030D-6E8A-4147-A177-3AD203B41FA5}">
                          <a16:colId xmlns:a16="http://schemas.microsoft.com/office/drawing/2014/main" val="20004"/>
                        </a:ext>
                      </a:extLst>
                    </a:gridCol>
                    <a:gridCol w="637871">
                      <a:extLst>
                        <a:ext uri="{9D8B030D-6E8A-4147-A177-3AD203B41FA5}">
                          <a16:colId xmlns:a16="http://schemas.microsoft.com/office/drawing/2014/main" val="20005"/>
                        </a:ext>
                      </a:extLst>
                    </a:gridCol>
                    <a:gridCol w="637871">
                      <a:extLst>
                        <a:ext uri="{9D8B030D-6E8A-4147-A177-3AD203B41FA5}">
                          <a16:colId xmlns:a16="http://schemas.microsoft.com/office/drawing/2014/main" val="20006"/>
                        </a:ext>
                      </a:extLst>
                    </a:gridCol>
                    <a:gridCol w="637871">
                      <a:extLst>
                        <a:ext uri="{9D8B030D-6E8A-4147-A177-3AD203B41FA5}">
                          <a16:colId xmlns:a16="http://schemas.microsoft.com/office/drawing/2014/main" val="20007"/>
                        </a:ext>
                      </a:extLst>
                    </a:gridCol>
                    <a:gridCol w="637871">
                      <a:extLst>
                        <a:ext uri="{9D8B030D-6E8A-4147-A177-3AD203B41FA5}">
                          <a16:colId xmlns:a16="http://schemas.microsoft.com/office/drawing/2014/main" val="20008"/>
                        </a:ext>
                      </a:extLst>
                    </a:gridCol>
                    <a:gridCol w="637871">
                      <a:extLst>
                        <a:ext uri="{9D8B030D-6E8A-4147-A177-3AD203B41FA5}">
                          <a16:colId xmlns:a16="http://schemas.microsoft.com/office/drawing/2014/main" val="20009"/>
                        </a:ext>
                      </a:extLst>
                    </a:gridCol>
                    <a:gridCol w="637871">
                      <a:extLst>
                        <a:ext uri="{9D8B030D-6E8A-4147-A177-3AD203B41FA5}">
                          <a16:colId xmlns:a16="http://schemas.microsoft.com/office/drawing/2014/main" val="20010"/>
                        </a:ext>
                      </a:extLst>
                    </a:gridCol>
                  </a:tblGrid>
                  <a:tr h="533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𝑥</m:t>
                                </m:r>
                              </m:oMath>
                            </m:oMathPara>
                          </a14:m>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23</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31</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33</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35</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36</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6096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𝑦</m:t>
                                </m:r>
                              </m:oMath>
                            </m:oMathPara>
                          </a14:m>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18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22</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21</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4152397318"/>
                  </p:ext>
                </p:extLst>
              </p:nvPr>
            </p:nvGraphicFramePr>
            <p:xfrm>
              <a:off x="723900" y="1600200"/>
              <a:ext cx="7124698" cy="1143000"/>
            </p:xfrm>
            <a:graphic>
              <a:graphicData uri="http://schemas.openxmlformats.org/drawingml/2006/table">
                <a:tbl>
                  <a:tblPr firstRow="1" firstCol="1" bandRow="1">
                    <a:tableStyleId>{5C22544A-7EE6-4342-B048-85BDC9FD1C3A}</a:tableStyleId>
                  </a:tblPr>
                  <a:tblGrid>
                    <a:gridCol w="766407">
                      <a:extLst>
                        <a:ext uri="{9D8B030D-6E8A-4147-A177-3AD203B41FA5}">
                          <a16:colId xmlns:a16="http://schemas.microsoft.com/office/drawing/2014/main" val="20000"/>
                        </a:ext>
                      </a:extLst>
                    </a:gridCol>
                    <a:gridCol w="624658">
                      <a:extLst>
                        <a:ext uri="{9D8B030D-6E8A-4147-A177-3AD203B41FA5}">
                          <a16:colId xmlns:a16="http://schemas.microsoft.com/office/drawing/2014/main" val="20001"/>
                        </a:ext>
                      </a:extLst>
                    </a:gridCol>
                    <a:gridCol w="672708">
                      <a:extLst>
                        <a:ext uri="{9D8B030D-6E8A-4147-A177-3AD203B41FA5}">
                          <a16:colId xmlns:a16="http://schemas.microsoft.com/office/drawing/2014/main" val="20002"/>
                        </a:ext>
                      </a:extLst>
                    </a:gridCol>
                    <a:gridCol w="560991">
                      <a:extLst>
                        <a:ext uri="{9D8B030D-6E8A-4147-A177-3AD203B41FA5}">
                          <a16:colId xmlns:a16="http://schemas.microsoft.com/office/drawing/2014/main" val="20003"/>
                        </a:ext>
                      </a:extLst>
                    </a:gridCol>
                    <a:gridCol w="672708">
                      <a:extLst>
                        <a:ext uri="{9D8B030D-6E8A-4147-A177-3AD203B41FA5}">
                          <a16:colId xmlns:a16="http://schemas.microsoft.com/office/drawing/2014/main" val="20004"/>
                        </a:ext>
                      </a:extLst>
                    </a:gridCol>
                    <a:gridCol w="637871">
                      <a:extLst>
                        <a:ext uri="{9D8B030D-6E8A-4147-A177-3AD203B41FA5}">
                          <a16:colId xmlns:a16="http://schemas.microsoft.com/office/drawing/2014/main" val="20005"/>
                        </a:ext>
                      </a:extLst>
                    </a:gridCol>
                    <a:gridCol w="637871">
                      <a:extLst>
                        <a:ext uri="{9D8B030D-6E8A-4147-A177-3AD203B41FA5}">
                          <a16:colId xmlns:a16="http://schemas.microsoft.com/office/drawing/2014/main" val="20006"/>
                        </a:ext>
                      </a:extLst>
                    </a:gridCol>
                    <a:gridCol w="637871">
                      <a:extLst>
                        <a:ext uri="{9D8B030D-6E8A-4147-A177-3AD203B41FA5}">
                          <a16:colId xmlns:a16="http://schemas.microsoft.com/office/drawing/2014/main" val="20007"/>
                        </a:ext>
                      </a:extLst>
                    </a:gridCol>
                    <a:gridCol w="637871">
                      <a:extLst>
                        <a:ext uri="{9D8B030D-6E8A-4147-A177-3AD203B41FA5}">
                          <a16:colId xmlns:a16="http://schemas.microsoft.com/office/drawing/2014/main" val="20008"/>
                        </a:ext>
                      </a:extLst>
                    </a:gridCol>
                    <a:gridCol w="637871">
                      <a:extLst>
                        <a:ext uri="{9D8B030D-6E8A-4147-A177-3AD203B41FA5}">
                          <a16:colId xmlns:a16="http://schemas.microsoft.com/office/drawing/2014/main" val="20009"/>
                        </a:ext>
                      </a:extLst>
                    </a:gridCol>
                    <a:gridCol w="637871">
                      <a:extLst>
                        <a:ext uri="{9D8B030D-6E8A-4147-A177-3AD203B41FA5}">
                          <a16:colId xmlns:a16="http://schemas.microsoft.com/office/drawing/2014/main" val="20010"/>
                        </a:ext>
                      </a:extLst>
                    </a:gridCol>
                  </a:tblGrid>
                  <a:tr h="533400">
                    <a:tc>
                      <a:txBody>
                        <a:bodyPr/>
                        <a:lstStyle/>
                        <a:p>
                          <a:endParaRPr lang="en-US"/>
                        </a:p>
                      </a:txBody>
                      <a:tcPr marL="68580" marR="68580" marT="0" marB="0">
                        <a:blipFill>
                          <a:blip r:embed="rId2"/>
                          <a:stretch>
                            <a:fillRect l="-794" t="-13636" r="-831746" b="-117045"/>
                          </a:stretch>
                        </a:blipFill>
                      </a:tcPr>
                    </a:tc>
                    <a:tc>
                      <a:txBody>
                        <a:bodyPr/>
                        <a:lstStyle/>
                        <a:p>
                          <a:pPr marL="0" marR="0" algn="ctr">
                            <a:spcBef>
                              <a:spcPts val="0"/>
                            </a:spcBef>
                            <a:spcAft>
                              <a:spcPts val="0"/>
                            </a:spcAft>
                          </a:pPr>
                          <a:r>
                            <a:rPr lang="en-US" sz="2000" dirty="0">
                              <a:effectLst/>
                              <a:latin typeface="Times New Roman" panose="02020603050405020304" pitchFamily="18" charset="0"/>
                            </a:rPr>
                            <a:t>23</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31</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33</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35</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36</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609600">
                    <a:tc>
                      <a:txBody>
                        <a:bodyPr/>
                        <a:lstStyle/>
                        <a:p>
                          <a:endParaRPr lang="en-US"/>
                        </a:p>
                      </a:txBody>
                      <a:tcPr marL="68580" marR="68580" marT="0" marB="0">
                        <a:blipFill>
                          <a:blip r:embed="rId2"/>
                          <a:stretch>
                            <a:fillRect l="-794" t="-100000" r="-831746" b="-3000"/>
                          </a:stretch>
                        </a:blipFill>
                      </a:tcPr>
                    </a:tc>
                    <a:tc>
                      <a:txBody>
                        <a:bodyPr/>
                        <a:lstStyle/>
                        <a:p>
                          <a:pPr marL="0" marR="0" algn="ctr">
                            <a:spcBef>
                              <a:spcPts val="0"/>
                            </a:spcBef>
                            <a:spcAft>
                              <a:spcPts val="0"/>
                            </a:spcAft>
                          </a:pPr>
                          <a:r>
                            <a:rPr lang="en-US" sz="2000" dirty="0">
                              <a:effectLst/>
                              <a:latin typeface="Times New Roman" panose="02020603050405020304" pitchFamily="18" charset="0"/>
                            </a:rPr>
                            <a:t>18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22</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21</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28</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spcBef>
                              <a:spcPts val="0"/>
                            </a:spcBef>
                            <a:spcAft>
                              <a:spcPts val="0"/>
                            </a:spcAft>
                          </a:pPr>
                          <a:r>
                            <a:rPr lang="en-US" sz="2000" dirty="0">
                              <a:effectLst/>
                              <a:latin typeface="Times New Roman" panose="02020603050405020304" pitchFamily="18" charset="0"/>
                            </a:rPr>
                            <a:t>29</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Fallback>
      </mc:AlternateContent>
      <p:graphicFrame>
        <p:nvGraphicFramePr>
          <p:cNvPr id="2" name="Table 1">
            <a:extLst>
              <a:ext uri="{FF2B5EF4-FFF2-40B4-BE49-F238E27FC236}">
                <a16:creationId xmlns:a16="http://schemas.microsoft.com/office/drawing/2014/main" id="{78384272-25BC-474B-9AC5-1C9850A4370F}"/>
              </a:ext>
            </a:extLst>
          </p:cNvPr>
          <p:cNvGraphicFramePr>
            <a:graphicFrameLocks noGrp="1"/>
          </p:cNvGraphicFramePr>
          <p:nvPr>
            <p:extLst>
              <p:ext uri="{D42A27DB-BD31-4B8C-83A1-F6EECF244321}">
                <p14:modId xmlns:p14="http://schemas.microsoft.com/office/powerpoint/2010/main" val="1792591200"/>
              </p:ext>
            </p:extLst>
          </p:nvPr>
        </p:nvGraphicFramePr>
        <p:xfrm>
          <a:off x="533395" y="3429000"/>
          <a:ext cx="7696205" cy="10109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300477017"/>
                    </a:ext>
                  </a:extLst>
                </a:gridCol>
                <a:gridCol w="457200">
                  <a:extLst>
                    <a:ext uri="{9D8B030D-6E8A-4147-A177-3AD203B41FA5}">
                      <a16:colId xmlns:a16="http://schemas.microsoft.com/office/drawing/2014/main" val="264655951"/>
                    </a:ext>
                  </a:extLst>
                </a:gridCol>
                <a:gridCol w="533400">
                  <a:extLst>
                    <a:ext uri="{9D8B030D-6E8A-4147-A177-3AD203B41FA5}">
                      <a16:colId xmlns:a16="http://schemas.microsoft.com/office/drawing/2014/main" val="118804318"/>
                    </a:ext>
                  </a:extLst>
                </a:gridCol>
                <a:gridCol w="533400">
                  <a:extLst>
                    <a:ext uri="{9D8B030D-6E8A-4147-A177-3AD203B41FA5}">
                      <a16:colId xmlns:a16="http://schemas.microsoft.com/office/drawing/2014/main" val="1442635218"/>
                    </a:ext>
                  </a:extLst>
                </a:gridCol>
                <a:gridCol w="533400">
                  <a:extLst>
                    <a:ext uri="{9D8B030D-6E8A-4147-A177-3AD203B41FA5}">
                      <a16:colId xmlns:a16="http://schemas.microsoft.com/office/drawing/2014/main" val="2409683497"/>
                    </a:ext>
                  </a:extLst>
                </a:gridCol>
                <a:gridCol w="609600">
                  <a:extLst>
                    <a:ext uri="{9D8B030D-6E8A-4147-A177-3AD203B41FA5}">
                      <a16:colId xmlns:a16="http://schemas.microsoft.com/office/drawing/2014/main" val="1523693373"/>
                    </a:ext>
                  </a:extLst>
                </a:gridCol>
                <a:gridCol w="457200">
                  <a:extLst>
                    <a:ext uri="{9D8B030D-6E8A-4147-A177-3AD203B41FA5}">
                      <a16:colId xmlns:a16="http://schemas.microsoft.com/office/drawing/2014/main" val="4052635866"/>
                    </a:ext>
                  </a:extLst>
                </a:gridCol>
                <a:gridCol w="609600">
                  <a:extLst>
                    <a:ext uri="{9D8B030D-6E8A-4147-A177-3AD203B41FA5}">
                      <a16:colId xmlns:a16="http://schemas.microsoft.com/office/drawing/2014/main" val="2202986638"/>
                    </a:ext>
                  </a:extLst>
                </a:gridCol>
                <a:gridCol w="533400">
                  <a:extLst>
                    <a:ext uri="{9D8B030D-6E8A-4147-A177-3AD203B41FA5}">
                      <a16:colId xmlns:a16="http://schemas.microsoft.com/office/drawing/2014/main" val="1713806412"/>
                    </a:ext>
                  </a:extLst>
                </a:gridCol>
                <a:gridCol w="457200">
                  <a:extLst>
                    <a:ext uri="{9D8B030D-6E8A-4147-A177-3AD203B41FA5}">
                      <a16:colId xmlns:a16="http://schemas.microsoft.com/office/drawing/2014/main" val="1929860912"/>
                    </a:ext>
                  </a:extLst>
                </a:gridCol>
                <a:gridCol w="533405">
                  <a:extLst>
                    <a:ext uri="{9D8B030D-6E8A-4147-A177-3AD203B41FA5}">
                      <a16:colId xmlns:a16="http://schemas.microsoft.com/office/drawing/2014/main" val="1571707638"/>
                    </a:ext>
                  </a:extLst>
                </a:gridCol>
              </a:tblGrid>
              <a:tr h="370840">
                <a:tc>
                  <a:txBody>
                    <a:bodyPr/>
                    <a:lstStyle/>
                    <a:p>
                      <a:r>
                        <a:rPr lang="en-US" sz="1800" dirty="0">
                          <a:latin typeface="Times New Roman" panose="02020603050405020304" pitchFamily="18" charset="0"/>
                          <a:cs typeface="Times New Roman" panose="02020603050405020304" pitchFamily="18" charset="0"/>
                        </a:rPr>
                        <a:t>Capital Employed (Rs. In Crore)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5</a:t>
                      </a:r>
                    </a:p>
                  </a:txBody>
                  <a:tcPr/>
                </a:tc>
                <a:tc>
                  <a:txBody>
                    <a:bodyPr/>
                    <a:lstStyle/>
                    <a:p>
                      <a:r>
                        <a:rPr lang="en-US" dirty="0">
                          <a:latin typeface="Times New Roman" panose="02020603050405020304" pitchFamily="18" charset="0"/>
                          <a:cs typeface="Times New Roman" panose="02020603050405020304" pitchFamily="18" charset="0"/>
                        </a:rPr>
                        <a:t>7</a:t>
                      </a:r>
                    </a:p>
                  </a:txBody>
                  <a:tcPr/>
                </a:tc>
                <a:tc>
                  <a:txBody>
                    <a:bodyPr/>
                    <a:lstStyle/>
                    <a:p>
                      <a:r>
                        <a:rPr lang="en-US" dirty="0">
                          <a:latin typeface="Times New Roman" panose="02020603050405020304" pitchFamily="18" charset="0"/>
                          <a:cs typeface="Times New Roman" panose="02020603050405020304" pitchFamily="18" charset="0"/>
                        </a:rPr>
                        <a:t>8</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3949970902"/>
                  </a:ext>
                </a:extLst>
              </a:tr>
              <a:tr h="370840">
                <a:tc>
                  <a:txBody>
                    <a:bodyPr/>
                    <a:lstStyle/>
                    <a:p>
                      <a:r>
                        <a:rPr lang="en-US" sz="1800" dirty="0">
                          <a:latin typeface="Times New Roman" panose="02020603050405020304" pitchFamily="18" charset="0"/>
                          <a:cs typeface="Times New Roman" panose="02020603050405020304" pitchFamily="18" charset="0"/>
                        </a:rPr>
                        <a:t>Profit (Rs. In Lakhs)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r>
                        <a:rPr lang="en-US" dirty="0">
                          <a:latin typeface="Times New Roman" panose="02020603050405020304" pitchFamily="18" charset="0"/>
                          <a:cs typeface="Times New Roman" panose="02020603050405020304" pitchFamily="18" charset="0"/>
                        </a:rPr>
                        <a:t>5</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7</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8</a:t>
                      </a:r>
                    </a:p>
                  </a:txBody>
                  <a:tcPr/>
                </a:tc>
                <a:tc>
                  <a:txBody>
                    <a:bodyPr/>
                    <a:lstStyle/>
                    <a:p>
                      <a:r>
                        <a:rPr lang="en-US" dirty="0">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12</a:t>
                      </a:r>
                    </a:p>
                  </a:txBody>
                  <a:tcPr/>
                </a:tc>
                <a:tc>
                  <a:txBody>
                    <a:bodyPr/>
                    <a:lstStyle/>
                    <a:p>
                      <a:r>
                        <a:rPr lang="en-US"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3405647084"/>
                  </a:ext>
                </a:extLst>
              </a:tr>
            </a:tbl>
          </a:graphicData>
        </a:graphic>
      </p:graphicFrame>
    </p:spTree>
    <p:extLst>
      <p:ext uri="{BB962C8B-B14F-4D97-AF65-F5344CB8AC3E}">
        <p14:creationId xmlns:p14="http://schemas.microsoft.com/office/powerpoint/2010/main" val="3563898432"/>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4525963"/>
          </a:xfrm>
        </p:spPr>
        <p:txBody>
          <a:bodyPr/>
          <a:lstStyle/>
          <a:p>
            <a:pPr>
              <a:buFont typeface="Wingdings" pitchFamily="2" charset="2"/>
              <a:buChar char="ü"/>
            </a:pPr>
            <a:r>
              <a:rPr lang="en-US" sz="2200" dirty="0"/>
              <a:t>Correlation</a:t>
            </a:r>
          </a:p>
          <a:p>
            <a:pPr>
              <a:buFont typeface="Wingdings" pitchFamily="2" charset="2"/>
              <a:buChar char="ü"/>
            </a:pPr>
            <a:r>
              <a:rPr lang="en-US" sz="2200" dirty="0"/>
              <a:t>Karl Pearson coefficient of correlation</a:t>
            </a:r>
          </a:p>
          <a:p>
            <a:pPr>
              <a:buFont typeface="Wingdings" pitchFamily="2" charset="2"/>
              <a:buChar char="ü"/>
            </a:pPr>
            <a:r>
              <a:rPr lang="en-US" sz="2200" dirty="0"/>
              <a:t>Rank Correlation</a:t>
            </a:r>
          </a:p>
          <a:p>
            <a:pPr>
              <a:buFont typeface="Wingdings" pitchFamily="2" charset="2"/>
              <a:buChar char="ü"/>
            </a:pPr>
            <a:r>
              <a:rPr lang="en-US" sz="2200" dirty="0"/>
              <a:t>Tied Rank</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latin typeface="Times New Roman" panose="02020603050405020304" pitchFamily="18" charset="0"/>
              </a:rPr>
              <a:t>Recap</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716969757"/>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Regression</a:t>
            </a:r>
          </a:p>
          <a:p>
            <a:r>
              <a:rPr lang="en-US" sz="2200" dirty="0"/>
              <a:t>Explanation of  the variation in  the dependent variable, based on the variation in independent variables and Predict the values of the dependent variable.</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Topic objectives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508454375"/>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a:buFont typeface="Wingdings" pitchFamily="2" charset="2"/>
                  <a:buChar char="q"/>
                </a:pPr>
                <a:r>
                  <a:rPr lang="en-US" sz="2200" b="1" dirty="0"/>
                  <a:t>REGRESSION ANALYSIS:</a:t>
                </a:r>
              </a:p>
              <a:p>
                <a:r>
                  <a:rPr lang="en-US" sz="2200" dirty="0"/>
                  <a:t>Regression measures the nature and extent of correlation .Regression is the estimation or prediction of unknown values of one variable from known values of another variable.</a:t>
                </a:r>
              </a:p>
              <a:p>
                <a:pPr marL="0" indent="0">
                  <a:buNone/>
                </a:pPr>
                <a:r>
                  <a:rPr lang="en-US" sz="2200" b="1" dirty="0"/>
                  <a:t>Difference between curve fitting and regression analysis: </a:t>
                </a:r>
                <a:r>
                  <a:rPr lang="en-US" sz="2200" dirty="0"/>
                  <a:t>The only fundamental difference, if any between problems of curve fitting and regression is that in regression, any of the variables may be considered as independent or dependent while in curve fitting, one variable cannot be dependent.</a:t>
                </a:r>
              </a:p>
              <a:p>
                <a:pPr marL="0" indent="0">
                  <a:buNone/>
                </a:pPr>
                <a:r>
                  <a:rPr lang="en-US" sz="2200" b="1" dirty="0"/>
                  <a:t>Curve of regression and regression equation:</a:t>
                </a:r>
              </a:p>
              <a:p>
                <a:r>
                  <a:rPr lang="en-US" sz="2200" b="1" dirty="0"/>
                  <a:t> </a:t>
                </a:r>
                <a:r>
                  <a:rPr lang="en-US" sz="2200" dirty="0"/>
                  <a:t>If two </a:t>
                </a:r>
                <a:r>
                  <a:rPr lang="en-US" sz="2200" dirty="0" err="1"/>
                  <a:t>variates</a:t>
                </a:r>
                <a:r>
                  <a:rPr lang="en-US" sz="2200" dirty="0"/>
                  <a:t>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oMath>
                </a14:m>
                <a:r>
                  <a:rPr lang="en-US" sz="2200" dirty="0"/>
                  <a:t> are correlated i.e., there exists an association or relationship between them, then the scatter diagram</a:t>
                </a: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11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141561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will be more or less concentrated round a curve. This curve is called the curve of regression and the relationship is said to be expressed by means of curvilinear regression.</a:t>
            </a:r>
          </a:p>
          <a:p>
            <a:r>
              <a:rPr lang="en-US" sz="2200" dirty="0"/>
              <a:t>The mathematical equation of the regression curve is called regression equation</a:t>
            </a:r>
            <a:r>
              <a:rPr lang="en-US" sz="2200" b="1" dirty="0"/>
              <a:t>.</a:t>
            </a:r>
          </a:p>
          <a:p>
            <a:pPr marL="0" indent="0">
              <a:buNone/>
            </a:pPr>
            <a:endParaRPr lang="en-US" sz="2200" b="1" dirty="0"/>
          </a:p>
          <a:p>
            <a:pPr marL="0" indent="0">
              <a:buNone/>
            </a:pPr>
            <a:r>
              <a:rPr lang="en-US" sz="2200" dirty="0"/>
              <a:t>Some following types of regression will discuss here:</a:t>
            </a:r>
          </a:p>
          <a:p>
            <a:pPr>
              <a:buFont typeface="Wingdings" pitchFamily="2" charset="2"/>
              <a:buChar char="Ø"/>
            </a:pPr>
            <a:r>
              <a:rPr lang="en-US" sz="2200" dirty="0"/>
              <a:t>Linear Regression</a:t>
            </a:r>
          </a:p>
          <a:p>
            <a:pPr>
              <a:buFont typeface="Wingdings" pitchFamily="2" charset="2"/>
              <a:buChar char="Ø"/>
            </a:pPr>
            <a:r>
              <a:rPr lang="en-US" sz="2200" dirty="0"/>
              <a:t>Non- linear Regression</a:t>
            </a:r>
          </a:p>
          <a:p>
            <a:pPr>
              <a:buFont typeface="Wingdings" pitchFamily="2" charset="2"/>
              <a:buChar char="Ø"/>
            </a:pPr>
            <a:r>
              <a:rPr lang="en-US" sz="2200" dirty="0"/>
              <a:t>Multiple linear Regression</a:t>
            </a:r>
          </a:p>
          <a:p>
            <a:endParaRPr lang="en-US" sz="2200" b="1"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9899699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buFont typeface="Wingdings" pitchFamily="2" charset="2"/>
              <a:buChar char="Ø"/>
            </a:pPr>
            <a:r>
              <a:rPr lang="en-US" sz="2200" b="1" dirty="0"/>
              <a:t>LINEAR REGRESSION</a:t>
            </a:r>
            <a:r>
              <a:rPr lang="en-US" sz="2200" dirty="0"/>
              <a:t>:</a:t>
            </a:r>
          </a:p>
          <a:p>
            <a:r>
              <a:rPr lang="en-US" sz="2200" dirty="0"/>
              <a:t> When the point of the scatter diagram concentrated round a straight line, the regression is called linear and this straight line is known as the line of regression.</a:t>
            </a:r>
          </a:p>
          <a:p>
            <a:r>
              <a:rPr lang="en-US" sz="2200" dirty="0"/>
              <a:t>Regression will be called non-linear if there exists a relationship other than a straight line between the variables under consideration.</a:t>
            </a:r>
          </a:p>
          <a:p>
            <a:pPr marL="0" indent="0">
              <a:buNone/>
            </a:pPr>
            <a:endParaRPr lang="en-US" sz="2200" b="1" dirty="0"/>
          </a:p>
          <a:p>
            <a:endParaRPr lang="en-US" sz="2200" b="1"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6198909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LINES OF REGRESSION: </a:t>
                </a:r>
                <a:r>
                  <a:rPr lang="en-US" sz="2200" dirty="0"/>
                  <a:t>A line of regression is the straight line which gives the best fit in the least square sense to the given frequency.</a:t>
                </a:r>
              </a:p>
              <a:p>
                <a:endParaRPr lang="en-US" sz="2200" dirty="0"/>
              </a:p>
              <a:p>
                <a:pPr marL="0" indent="0">
                  <a:buNone/>
                </a:pPr>
                <a:r>
                  <a:rPr lang="en-US" sz="2200" b="1" dirty="0"/>
                  <a:t>LINES OF REGRESSION: </a:t>
                </a:r>
              </a:p>
              <a:p>
                <a:pPr marL="0" indent="0">
                  <a:buNone/>
                </a:pPr>
                <a:r>
                  <a:rPr lang="en-US" sz="2200" dirty="0"/>
                  <a:t>Let </a:t>
                </a: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m:t>
                    </m:r>
                    <m:r>
                      <a:rPr lang="en-US" sz="2200" b="0" i="1" smtClean="0">
                        <a:latin typeface="Cambria Math"/>
                      </a:rPr>
                      <m:t>𝑏𝑥</m:t>
                    </m:r>
                  </m:oMath>
                </a14:m>
                <a:r>
                  <a:rPr lang="en-US" sz="2200" dirty="0"/>
                  <a:t> ----.(1) </a:t>
                </a:r>
              </a:p>
              <a:p>
                <a:pPr marL="0" indent="0">
                  <a:buNone/>
                </a:pPr>
                <a:r>
                  <a:rPr lang="en-US" sz="2200" dirty="0"/>
                  <a:t>be the equation of regression line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r>
                      <a:rPr lang="en-US" sz="2200" b="0" i="1" smtClean="0">
                        <a:latin typeface="Cambria Math"/>
                      </a:rPr>
                      <m:t>.</m:t>
                    </m:r>
                  </m:oMath>
                </a14:m>
                <a:endParaRPr lang="en-US" sz="2200" dirty="0"/>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𝑦</m:t>
                        </m:r>
                        <m:r>
                          <a:rPr lang="en-US" sz="2200" b="0" i="1" smtClean="0">
                            <a:latin typeface="Cambria Math"/>
                          </a:rPr>
                          <m:t>=</m:t>
                        </m:r>
                        <m:r>
                          <a:rPr lang="en-US" sz="2200" b="0" i="1" smtClean="0">
                            <a:latin typeface="Cambria Math"/>
                          </a:rPr>
                          <m:t>𝑛𝑎</m:t>
                        </m:r>
                        <m:r>
                          <a:rPr lang="en-US" sz="2200" b="0" i="1" smtClean="0">
                            <a:latin typeface="Cambria Math"/>
                          </a:rPr>
                          <m:t>+</m:t>
                        </m:r>
                        <m:r>
                          <a:rPr lang="en-US" sz="2200" b="0" i="1" smtClean="0">
                            <a:latin typeface="Cambria Math"/>
                          </a:rPr>
                          <m:t>𝑏</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r>
                              <a:rPr lang="en-US" sz="2200" b="0" i="1" smtClean="0">
                                <a:latin typeface="Cambria Math"/>
                              </a:rPr>
                              <m:t>…….</m:t>
                            </m:r>
                          </m:e>
                        </m:nary>
                      </m:e>
                    </m:nary>
                  </m:oMath>
                </a14:m>
                <a:r>
                  <a:rPr lang="en-US" sz="2200" dirty="0"/>
                  <a:t>(2)</a:t>
                </a:r>
              </a:p>
              <a:p>
                <a:pPr marL="0" indent="0">
                  <a:buNone/>
                </a:pP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r>
                          <a:rPr lang="en-US" sz="2200" b="0" i="1">
                            <a:latin typeface="Cambria Math"/>
                          </a:rPr>
                          <m:t>𝑦</m:t>
                        </m:r>
                        <m:r>
                          <a:rPr lang="en-US" sz="2200" b="0" i="1">
                            <a:latin typeface="Cambria Math"/>
                          </a:rPr>
                          <m:t>=</m:t>
                        </m:r>
                        <m:r>
                          <a:rPr lang="en-US" sz="2200" b="0" i="1">
                            <a:latin typeface="Cambria Math"/>
                          </a:rPr>
                          <m:t>𝑎</m:t>
                        </m:r>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𝑥</m:t>
                            </m:r>
                          </m:e>
                        </m:nary>
                        <m:r>
                          <a:rPr lang="en-US" sz="2200" b="0" i="1">
                            <a:latin typeface="Cambria Math"/>
                          </a:rPr>
                          <m:t>+</m:t>
                        </m:r>
                        <m:r>
                          <a:rPr lang="en-US" sz="2200" b="0" i="1">
                            <a:latin typeface="Cambria Math"/>
                          </a:rPr>
                          <m:t>𝑏</m:t>
                        </m:r>
                        <m:nary>
                          <m:naryPr>
                            <m:chr m:val="∑"/>
                            <m:subHide m:val="on"/>
                            <m:supHide m:val="on"/>
                            <m:ctrlPr>
                              <a:rPr lang="en-US" sz="2200" i="1" smtClean="0">
                                <a:latin typeface="Cambria Math" panose="02040503050406030204" pitchFamily="18" charset="0"/>
                              </a:rPr>
                            </m:ctrlPr>
                          </m:naryPr>
                          <m:sub/>
                          <m:sup/>
                          <m:e>
                            <m:sSup>
                              <m:sSupPr>
                                <m:ctrlPr>
                                  <a:rPr lang="en-US" sz="2200" i="1" smtClean="0">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r>
                              <a:rPr lang="en-US" sz="2200" b="0" i="1">
                                <a:latin typeface="Cambria Math"/>
                              </a:rPr>
                              <m:t>…….</m:t>
                            </m:r>
                          </m:e>
                        </m:nary>
                      </m:e>
                    </m:nary>
                  </m:oMath>
                </a14:m>
                <a:r>
                  <a:rPr lang="en-US" sz="2200" dirty="0"/>
                  <a:t>(3)</a:t>
                </a:r>
              </a:p>
              <a:p>
                <a:pPr marL="0" indent="0">
                  <a:buNone/>
                </a:pPr>
                <a:r>
                  <a:rPr lang="en-US" sz="2200" dirty="0"/>
                  <a:t>Solving (2) and (3) for  ‘</a:t>
                </a:r>
                <a14:m>
                  <m:oMath xmlns:m="http://schemas.openxmlformats.org/officeDocument/2006/math">
                    <m:r>
                      <a:rPr lang="en-US" sz="2200" i="1">
                        <a:latin typeface="Cambria Math"/>
                      </a:rPr>
                      <m:t>𝑎</m:t>
                    </m:r>
                  </m:oMath>
                </a14:m>
                <a:r>
                  <a:rPr lang="en-US" sz="2200" dirty="0"/>
                  <a:t>’ and ‘</a:t>
                </a:r>
                <a14:m>
                  <m:oMath xmlns:m="http://schemas.openxmlformats.org/officeDocument/2006/math">
                    <m:r>
                      <a:rPr lang="en-US" sz="2200" i="1">
                        <a:latin typeface="Cambria Math"/>
                      </a:rPr>
                      <m:t>𝑏</m:t>
                    </m:r>
                  </m:oMath>
                </a14:m>
                <a:r>
                  <a:rPr lang="en-US" sz="2200" dirty="0"/>
                  <a:t>’ we get.</a:t>
                </a:r>
              </a:p>
              <a:p>
                <a:pPr marL="0" indent="0">
                  <a:buNone/>
                </a:pPr>
                <a14:m>
                  <m:oMath xmlns:m="http://schemas.openxmlformats.org/officeDocument/2006/math">
                    <m:r>
                      <a:rPr lang="en-US" sz="2200" i="1">
                        <a:latin typeface="Cambria Math"/>
                      </a:rPr>
                      <m:t>𝑏</m:t>
                    </m:r>
                    <m:r>
                      <a:rPr lang="en-US" sz="2200" i="1">
                        <a:latin typeface="Cambria Math"/>
                      </a:rPr>
                      <m:t>=</m:t>
                    </m:r>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b="0" i="1" smtClean="0">
                                <a:latin typeface="Cambria Math"/>
                              </a:rPr>
                              <m:t>𝑛</m:t>
                            </m:r>
                          </m:den>
                        </m:f>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num>
                      <m:den>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𝑛</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e>
                                </m:d>
                              </m:e>
                              <m:sup>
                                <m:r>
                                  <a:rPr lang="en-US" sz="2200" i="1">
                                    <a:latin typeface="Cambria Math"/>
                                  </a:rPr>
                                  <m:t>2</m:t>
                                </m:r>
                              </m:sup>
                            </m:sSup>
                          </m:e>
                        </m:nary>
                      </m:den>
                    </m:f>
                    <m:r>
                      <a:rPr lang="en-US" sz="2200">
                        <a:latin typeface="Cambria Math"/>
                      </a:rPr>
                      <m:t>=</m:t>
                    </m:r>
                    <m:f>
                      <m:fPr>
                        <m:ctrlPr>
                          <a:rPr lang="en-US" sz="2200" i="1">
                            <a:latin typeface="Cambria Math" panose="02040503050406030204" pitchFamily="18" charset="0"/>
                          </a:rPr>
                        </m:ctrlPr>
                      </m:fPr>
                      <m:num>
                        <m:r>
                          <a:rPr lang="en-US" sz="2200" i="1">
                            <a:latin typeface="Cambria Math"/>
                          </a:rPr>
                          <m:t>𝑛</m:t>
                        </m:r>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num>
                      <m:den>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e>
                                </m:d>
                              </m:e>
                              <m:sup>
                                <m:r>
                                  <a:rPr lang="en-US" sz="2200" i="1">
                                    <a:latin typeface="Cambria Math"/>
                                  </a:rPr>
                                  <m:t>2</m:t>
                                </m:r>
                              </m:sup>
                            </m:sSup>
                          </m:e>
                        </m:nary>
                      </m:den>
                    </m:f>
                  </m:oMath>
                </a14:m>
                <a:r>
                  <a:rPr lang="en-US" sz="2200" dirty="0"/>
                  <a:t>…..(4)</a:t>
                </a:r>
              </a:p>
              <a:p>
                <a:endParaRPr lang="en-US" sz="2200" b="1" dirty="0"/>
              </a:p>
              <a:p>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5185" t="-809" b="-1913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11"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5255484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 xmlns:m="http://schemas.openxmlformats.org/officeDocument/2006/math">
                    <m:r>
                      <a:rPr lang="en-US" sz="2200" i="1" smtClean="0">
                        <a:latin typeface="Cambria Math"/>
                      </a:rPr>
                      <m:t>𝑎</m:t>
                    </m:r>
                    <m:r>
                      <a:rPr lang="en-US" sz="2200" i="1" smtClean="0">
                        <a:latin typeface="Cambria Math"/>
                      </a:rPr>
                      <m:t>=</m:t>
                    </m:r>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num>
                      <m:den>
                        <m:r>
                          <a:rPr lang="en-US" sz="2200" i="1">
                            <a:latin typeface="Cambria Math"/>
                          </a:rPr>
                          <m:t>𝑛</m:t>
                        </m:r>
                      </m:den>
                    </m:f>
                    <m:r>
                      <a:rPr lang="en-US" sz="2200" i="1">
                        <a:latin typeface="Cambria Math"/>
                      </a:rPr>
                      <m:t>−</m:t>
                    </m:r>
                    <m:r>
                      <a:rPr lang="en-US" sz="2200" i="1">
                        <a:latin typeface="Cambria Math"/>
                      </a:rPr>
                      <m:t>𝑏</m:t>
                    </m:r>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um>
                      <m:den>
                        <m:r>
                          <a:rPr lang="en-US" sz="2200" i="1">
                            <a:latin typeface="Cambria Math"/>
                          </a:rPr>
                          <m:t>𝑛</m:t>
                        </m:r>
                      </m:den>
                    </m:f>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𝑦</m:t>
                        </m:r>
                      </m:e>
                    </m:acc>
                    <m:r>
                      <a:rPr lang="en-US" sz="2200" i="1">
                        <a:latin typeface="Cambria Math"/>
                      </a:rPr>
                      <m:t>−</m:t>
                    </m:r>
                    <m:r>
                      <a:rPr lang="en-US" sz="2200" i="1">
                        <a:latin typeface="Cambria Math"/>
                      </a:rPr>
                      <m:t>𝑏</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oMath>
                </a14:m>
                <a:r>
                  <a:rPr lang="en-US" sz="2200" dirty="0"/>
                  <a:t>(5)</a:t>
                </a:r>
              </a:p>
              <a:p>
                <a:pPr marL="0" indent="0">
                  <a:buNone/>
                </a:pPr>
                <a:r>
                  <a:rPr lang="en-US" sz="2200" dirty="0" err="1"/>
                  <a:t>Eqt</a:t>
                </a:r>
                <a:r>
                  <a:rPr lang="en-US" sz="2200" dirty="0"/>
                  <a:t>.(5) given </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m:t>
                    </m:r>
                    <m:r>
                      <a:rPr lang="en-US" sz="2200" b="0" i="1" smtClean="0">
                        <a:latin typeface="Cambria Math"/>
                      </a:rPr>
                      <m:t>𝑎</m:t>
                    </m:r>
                    <m:r>
                      <a:rPr lang="en-US" sz="2200" b="0" i="1" smtClean="0">
                        <a:latin typeface="Cambria Math"/>
                      </a:rPr>
                      <m:t>+</m:t>
                    </m:r>
                    <m:r>
                      <a:rPr lang="en-US" sz="2200" b="0" i="1" smtClean="0">
                        <a:latin typeface="Cambria Math"/>
                      </a:rPr>
                      <m:t>𝑏</m:t>
                    </m:r>
                    <m:acc>
                      <m:accPr>
                        <m:chr m:val="̅"/>
                        <m:ctrlPr>
                          <a:rPr lang="en-US" sz="2200" b="0" i="1" smtClean="0">
                            <a:latin typeface="Cambria Math" panose="02040503050406030204" pitchFamily="18" charset="0"/>
                          </a:rPr>
                        </m:ctrlPr>
                      </m:accPr>
                      <m:e>
                        <m:r>
                          <a:rPr lang="en-US" sz="2200" b="0" i="1" smtClean="0">
                            <a:latin typeface="Cambria Math"/>
                          </a:rPr>
                          <m:t>𝑥</m:t>
                        </m:r>
                      </m:e>
                    </m:acc>
                  </m:oMath>
                </a14:m>
                <a:endParaRPr lang="en-US" sz="2200" dirty="0"/>
              </a:p>
              <a:p>
                <a:pPr marL="0" indent="0">
                  <a:buNone/>
                </a:pPr>
                <a:r>
                  <a:rPr lang="en-US" sz="2200" dirty="0"/>
                  <a:t>Hence </a:t>
                </a: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m:t>
                    </m:r>
                    <m:r>
                      <a:rPr lang="en-US" sz="2200" b="0" i="1" smtClean="0">
                        <a:latin typeface="Cambria Math"/>
                      </a:rPr>
                      <m:t>𝑏𝑥</m:t>
                    </m:r>
                    <m:r>
                      <a:rPr lang="en-US" sz="2200" b="0" i="1" smtClean="0">
                        <a:latin typeface="Cambria Math"/>
                      </a:rPr>
                      <m:t> </m:t>
                    </m:r>
                  </m:oMath>
                </a14:m>
                <a:r>
                  <a:rPr lang="en-US" sz="2200" dirty="0"/>
                  <a:t>line passes through point</a:t>
                </a:r>
                <a14:m>
                  <m:oMath xmlns:m="http://schemas.openxmlformats.org/officeDocument/2006/math">
                    <m:d>
                      <m:dPr>
                        <m:ctrlPr>
                          <a:rPr lang="en-US" sz="2200" i="1" smtClean="0">
                            <a:latin typeface="Cambria Math" panose="02040503050406030204" pitchFamily="18" charset="0"/>
                          </a:rPr>
                        </m:ctrlPr>
                      </m:dPr>
                      <m:e>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e>
                    </m:d>
                  </m:oMath>
                </a14:m>
                <a:endParaRPr lang="en-US" sz="2200" dirty="0"/>
              </a:p>
              <a:p>
                <a:pPr marL="0" indent="0">
                  <a:buNone/>
                </a:pPr>
                <a:r>
                  <a:rPr lang="en-US" sz="2200" dirty="0"/>
                  <a:t>Putting </a:t>
                </a:r>
                <a14:m>
                  <m:oMath xmlns:m="http://schemas.openxmlformats.org/officeDocument/2006/math">
                    <m:r>
                      <a:rPr lang="en-US" sz="2200" b="0" i="1" smtClean="0">
                        <a:latin typeface="Cambria Math"/>
                      </a:rPr>
                      <m:t>𝑎</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m:t>
                    </m:r>
                    <m:r>
                      <a:rPr lang="en-US" sz="2200" b="0" i="1" smtClean="0">
                        <a:latin typeface="Cambria Math"/>
                      </a:rPr>
                      <m:t>𝑏</m:t>
                    </m:r>
                    <m:acc>
                      <m:accPr>
                        <m:chr m:val="̅"/>
                        <m:ctrlPr>
                          <a:rPr lang="en-US" sz="2200" b="0" i="1" smtClean="0">
                            <a:latin typeface="Cambria Math" panose="02040503050406030204" pitchFamily="18" charset="0"/>
                          </a:rPr>
                        </m:ctrlPr>
                      </m:accPr>
                      <m:e>
                        <m:r>
                          <a:rPr lang="en-US" sz="2200" b="0" i="1" smtClean="0">
                            <a:latin typeface="Cambria Math"/>
                          </a:rPr>
                          <m:t>𝑥</m:t>
                        </m:r>
                      </m:e>
                    </m:acc>
                  </m:oMath>
                </a14:m>
                <a:r>
                  <a:rPr lang="en-US" sz="2200" dirty="0"/>
                  <a:t>  in equation </a:t>
                </a:r>
                <a14:m>
                  <m:oMath xmlns:m="http://schemas.openxmlformats.org/officeDocument/2006/math">
                    <m:r>
                      <a:rPr lang="en-US" sz="2200" i="1">
                        <a:latin typeface="Cambria Math"/>
                      </a:rPr>
                      <m:t>𝑦</m:t>
                    </m:r>
                    <m:r>
                      <a:rPr lang="en-US" sz="2200" i="1">
                        <a:latin typeface="Cambria Math"/>
                      </a:rPr>
                      <m:t>=</m:t>
                    </m:r>
                    <m:r>
                      <a:rPr lang="en-US" sz="2200" i="1">
                        <a:latin typeface="Cambria Math"/>
                      </a:rPr>
                      <m:t>𝑎</m:t>
                    </m:r>
                    <m:r>
                      <a:rPr lang="en-US" sz="2200" i="1">
                        <a:latin typeface="Cambria Math"/>
                      </a:rPr>
                      <m:t>+</m:t>
                    </m:r>
                    <m:r>
                      <a:rPr lang="en-US" sz="2200" i="1">
                        <a:latin typeface="Cambria Math"/>
                      </a:rPr>
                      <m:t>𝑏𝑥</m:t>
                    </m:r>
                    <m:r>
                      <a:rPr lang="en-US" sz="2200" i="1">
                        <a:latin typeface="Cambria Math"/>
                      </a:rPr>
                      <m:t> </m:t>
                    </m:r>
                  </m:oMath>
                </a14:m>
                <a:r>
                  <a:rPr lang="en-US" sz="2200" dirty="0"/>
                  <a:t>,we get</a:t>
                </a:r>
              </a:p>
              <a:p>
                <a:pPr marL="0" indent="0">
                  <a:buNone/>
                </a:pPr>
                <a14:m>
                  <m:oMath xmlns:m="http://schemas.openxmlformats.org/officeDocument/2006/math">
                    <m:r>
                      <a:rPr lang="en-US" sz="2200" b="0" i="1" smtClean="0">
                        <a:latin typeface="Cambria Math"/>
                      </a:rPr>
                      <m:t>𝑦</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m:t>
                    </m:r>
                    <m:r>
                      <a:rPr lang="en-US" sz="2200" b="0" i="1" smtClean="0">
                        <a:latin typeface="Cambria Math"/>
                      </a:rPr>
                      <m:t>𝑏</m:t>
                    </m:r>
                    <m:d>
                      <m:dPr>
                        <m:ctrlPr>
                          <a:rPr lang="en-US" sz="2200" b="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e>
                    </m:d>
                  </m:oMath>
                </a14:m>
                <a:r>
                  <a:rPr lang="en-US" sz="2200" dirty="0"/>
                  <a:t>………(6)</a:t>
                </a:r>
              </a:p>
              <a:p>
                <a:pPr marL="0" indent="0">
                  <a:buNone/>
                </a:pPr>
                <a:r>
                  <a:rPr lang="en-US" sz="2200" dirty="0" err="1"/>
                  <a:t>Eqt</a:t>
                </a:r>
                <a:r>
                  <a:rPr lang="en-US" sz="2200" dirty="0"/>
                  <a:t>.(6) is called regression line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sSup>
                      <m:sSupPr>
                        <m:ctrlPr>
                          <a:rPr lang="en-US" sz="2200" b="0" i="1" smtClean="0">
                            <a:latin typeface="Cambria Math" panose="02040503050406030204" pitchFamily="18" charset="0"/>
                          </a:rPr>
                        </m:ctrlPr>
                      </m:sSupPr>
                      <m:e>
                        <m:r>
                          <a:rPr lang="en-US" sz="2200" b="0" i="1" smtClean="0">
                            <a:latin typeface="Cambria Math"/>
                          </a:rPr>
                          <m:t>.</m:t>
                        </m:r>
                      </m:e>
                      <m:sup>
                        <m:r>
                          <a:rPr lang="en-US" sz="2200" b="0" i="1" smtClean="0">
                            <a:latin typeface="Cambria Math"/>
                          </a:rPr>
                          <m:t>′</m:t>
                        </m:r>
                      </m:sup>
                    </m:sSup>
                    <m:r>
                      <a:rPr lang="en-US" sz="2200" b="0" i="1" smtClean="0">
                        <a:latin typeface="Cambria Math"/>
                      </a:rPr>
                      <m:t>𝑏</m:t>
                    </m:r>
                    <m:r>
                      <a:rPr lang="en-US" sz="2200" b="0" i="1" smtClean="0">
                        <a:latin typeface="Cambria Math"/>
                      </a:rPr>
                      <m:t>′</m:t>
                    </m:r>
                  </m:oMath>
                </a14:m>
                <a:r>
                  <a:rPr lang="en-US" sz="2200" dirty="0"/>
                  <a:t> is called the regression coefficient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oMath>
                </a14:m>
                <a:r>
                  <a:rPr lang="en-US" sz="2200" dirty="0"/>
                  <a:t> and is usually denoted by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𝑦𝑥</m:t>
                        </m:r>
                        <m:r>
                          <a:rPr lang="en-US" sz="2200" b="0" i="1" smtClean="0">
                            <a:latin typeface="Cambria Math"/>
                          </a:rPr>
                          <m:t>.</m:t>
                        </m:r>
                      </m:sub>
                    </m:sSub>
                  </m:oMath>
                </a14:m>
                <a:endParaRPr lang="en-US" sz="2200" dirty="0"/>
              </a:p>
              <a:p>
                <a:pPr marL="0" indent="0">
                  <a:buNone/>
                </a:pPr>
                <a14:m>
                  <m:oMathPara xmlns:m="http://schemas.openxmlformats.org/officeDocument/2006/math">
                    <m:oMathParaPr>
                      <m:jc m:val="centerGroup"/>
                    </m:oMathParaPr>
                    <m:oMath xmlns:m="http://schemas.openxmlformats.org/officeDocument/2006/math">
                      <m:r>
                        <a:rPr lang="en-US" sz="2200" i="1">
                          <a:latin typeface="Cambria Math"/>
                        </a:rPr>
                        <m:t>𝑦</m:t>
                      </m:r>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𝑦</m:t>
                          </m:r>
                        </m:e>
                      </m:acc>
                      <m:r>
                        <a:rPr lang="en-US" sz="2200" i="1">
                          <a:latin typeface="Cambria Math"/>
                        </a:rPr>
                        <m:t>=</m:t>
                      </m:r>
                      <m:sSub>
                        <m:sSubPr>
                          <m:ctrlPr>
                            <a:rPr lang="en-US" sz="220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𝑦𝑥</m:t>
                          </m:r>
                        </m:sub>
                      </m:sSub>
                      <m:d>
                        <m:dPr>
                          <m:ctrlPr>
                            <a:rPr lang="en-US" sz="2200" i="1" smtClean="0">
                              <a:latin typeface="Cambria Math" panose="02040503050406030204" pitchFamily="18" charset="0"/>
                            </a:rPr>
                          </m:ctrlPr>
                        </m:dPr>
                        <m:e>
                          <m:r>
                            <a:rPr lang="en-US" sz="2200" i="1">
                              <a:latin typeface="Cambria Math"/>
                            </a:rPr>
                            <m:t>𝑥</m:t>
                          </m:r>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e>
                      </m:d>
                    </m:oMath>
                  </m:oMathPara>
                </a14:m>
                <a:endParaRPr lang="en-US" sz="2200" dirty="0"/>
              </a:p>
              <a:p>
                <a:pPr marL="0" indent="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𝑏</m:t>
                          </m:r>
                        </m:e>
                        <m:sub>
                          <m:r>
                            <a:rPr lang="en-US" sz="2200" i="1">
                              <a:latin typeface="Cambria Math"/>
                            </a:rPr>
                            <m:t>𝑦</m:t>
                          </m:r>
                          <m:r>
                            <a:rPr lang="en-US" sz="2200" b="0" i="1" smtClean="0">
                              <a:latin typeface="Cambria Math"/>
                            </a:rPr>
                            <m:t>𝑥</m:t>
                          </m:r>
                        </m:sub>
                      </m:sSub>
                      <m:r>
                        <a:rPr lang="en-US" sz="2200" i="1">
                          <a:latin typeface="Cambria Math"/>
                        </a:rPr>
                        <m:t>=</m:t>
                      </m:r>
                      <m:r>
                        <a:rPr lang="en-US" sz="2200" i="1">
                          <a:latin typeface="Cambria Math"/>
                        </a:rPr>
                        <m:t>𝑟</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b="0" i="1" smtClean="0">
                                  <a:latin typeface="Cambria Math"/>
                                  <a:ea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b="0" i="1" smtClean="0">
                                  <a:latin typeface="Cambria Math"/>
                                  <a:ea typeface="Cambria Math"/>
                                </a:rPr>
                                <m:t>𝑥</m:t>
                              </m:r>
                            </m:sub>
                          </m:sSub>
                        </m:den>
                      </m:f>
                    </m:oMath>
                  </m:oMathPara>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11" name="Title 1"/>
          <p:cNvSpPr txBox="1">
            <a:spLocks/>
          </p:cNvSpPr>
          <p:nvPr/>
        </p:nvSpPr>
        <p:spPr>
          <a:xfrm>
            <a:off x="1371600" y="-2245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915865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817164"/>
                <a:ext cx="8229600" cy="5278836"/>
              </a:xfrm>
            </p:spPr>
            <p:txBody>
              <a:bodyPr>
                <a:noAutofit/>
              </a:bodyPr>
              <a:lstStyle/>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a:rPr>
                        <m:t>𝑥</m:t>
                      </m:r>
                      <m:r>
                        <a:rPr lang="en-US" sz="2200" b="0" i="1" smtClean="0">
                          <a:latin typeface="Cambria Math"/>
                        </a:rPr>
                        <m:t>=</m:t>
                      </m:r>
                      <m:r>
                        <a:rPr lang="en-US" sz="2200" b="0" i="1" smtClean="0">
                          <a:latin typeface="Cambria Math"/>
                        </a:rPr>
                        <m:t>𝑎</m:t>
                      </m:r>
                      <m:r>
                        <a:rPr lang="en-US" sz="2200" b="0" i="1" smtClean="0">
                          <a:latin typeface="Cambria Math"/>
                        </a:rPr>
                        <m:t>+</m:t>
                      </m:r>
                      <m:r>
                        <a:rPr lang="en-US" sz="2200" b="0" i="1" smtClean="0">
                          <a:latin typeface="Cambria Math"/>
                        </a:rPr>
                        <m:t>𝑏𝑦</m:t>
                      </m:r>
                    </m:oMath>
                  </m:oMathPara>
                </a14:m>
                <a:endParaRPr lang="en-US" sz="2200" b="0" dirty="0"/>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𝑥𝑦</m:t>
                          </m:r>
                        </m:sub>
                      </m:sSub>
                      <m:d>
                        <m:dPr>
                          <m:ctrlPr>
                            <a:rPr lang="en-US" sz="2200" b="0" i="1" smtClean="0">
                              <a:latin typeface="Cambria Math" panose="02040503050406030204" pitchFamily="18" charset="0"/>
                            </a:rPr>
                          </m:ctrlPr>
                        </m:dPr>
                        <m:e>
                          <m:r>
                            <a:rPr lang="en-US" sz="2200" b="0" i="1" smtClean="0">
                              <a:latin typeface="Cambria Math"/>
                            </a:rPr>
                            <m:t>𝑦</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e>
                      </m:d>
                    </m:oMath>
                  </m:oMathPara>
                </a14:m>
                <a:endParaRPr lang="en-US" sz="2200" b="0" dirty="0"/>
              </a:p>
              <a:p>
                <a:pPr marL="0" indent="0">
                  <a:buNone/>
                </a:pPr>
                <a:r>
                  <a:rPr lang="en-US" sz="2200" dirty="0"/>
                  <a:t>Where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𝑏</m:t>
                        </m:r>
                      </m:e>
                      <m:sub>
                        <m:r>
                          <a:rPr lang="en-US" sz="2200" i="1">
                            <a:latin typeface="Cambria Math"/>
                          </a:rPr>
                          <m:t>𝑥𝑦</m:t>
                        </m:r>
                      </m:sub>
                    </m:sSub>
                  </m:oMath>
                </a14:m>
                <a:r>
                  <a:rPr lang="en-US" sz="2200" dirty="0"/>
                  <a:t> is the regression coefficient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𝑦</m:t>
                    </m:r>
                    <m:r>
                      <a:rPr lang="en-US" sz="2200" b="0" i="1" smtClean="0">
                        <a:latin typeface="Cambria Math"/>
                      </a:rPr>
                      <m:t> </m:t>
                    </m:r>
                  </m:oMath>
                </a14:m>
                <a:r>
                  <a:rPr lang="en-US" sz="2200" dirty="0"/>
                  <a:t>and is given by</a:t>
                </a:r>
              </a:p>
              <a:p>
                <a:pPr marL="0" indent="0">
                  <a:buNone/>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𝑥𝑦</m:t>
                          </m:r>
                        </m:sub>
                      </m:sSub>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𝑛</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𝑥𝑦</m:t>
                              </m:r>
                            </m:e>
                          </m:nary>
                          <m:r>
                            <a:rPr lang="en-US" sz="2200" b="0" i="1" smtClean="0">
                              <a:latin typeface="Cambria Math"/>
                            </a:rPr>
                            <m:t>−</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𝑥</m:t>
                              </m:r>
                            </m:e>
                          </m:nary>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𝑦</m:t>
                              </m:r>
                            </m:e>
                          </m:nary>
                        </m:num>
                        <m:den>
                          <m:r>
                            <a:rPr lang="en-US" sz="2200" b="0" i="1" smtClean="0">
                              <a:latin typeface="Cambria Math"/>
                            </a:rPr>
                            <m:t>𝑛</m:t>
                          </m:r>
                          <m:nary>
                            <m:naryPr>
                              <m:chr m:val="∑"/>
                              <m:subHide m:val="on"/>
                              <m:supHide m:val="on"/>
                              <m:ctrlPr>
                                <a:rPr lang="en-US" sz="2200" b="0" i="1" smtClean="0">
                                  <a:latin typeface="Cambria Math" panose="02040503050406030204" pitchFamily="18" charset="0"/>
                                </a:rPr>
                              </m:ctrlPr>
                            </m:naryPr>
                            <m:sub/>
                            <m:sup/>
                            <m:e>
                              <m:sSup>
                                <m:sSupPr>
                                  <m:ctrlPr>
                                    <a:rPr lang="en-US" sz="2200" b="0" i="1" smtClean="0">
                                      <a:latin typeface="Cambria Math" panose="02040503050406030204" pitchFamily="18" charset="0"/>
                                    </a:rPr>
                                  </m:ctrlPr>
                                </m:sSupPr>
                                <m:e>
                                  <m:r>
                                    <a:rPr lang="en-US" sz="2200" b="0" i="1" smtClean="0">
                                      <a:latin typeface="Cambria Math"/>
                                    </a:rPr>
                                    <m:t>𝑦</m:t>
                                  </m:r>
                                </m:e>
                                <m:sup>
                                  <m:r>
                                    <a:rPr lang="en-US" sz="2200" b="0" i="1" smtClean="0">
                                      <a:latin typeface="Cambria Math"/>
                                    </a:rPr>
                                    <m:t>2</m:t>
                                  </m:r>
                                </m:sup>
                              </m:sSup>
                              <m:r>
                                <a:rPr lang="en-US" sz="2200" b="0" i="1" smtClean="0">
                                  <a:latin typeface="Cambria Math"/>
                                </a:rPr>
                                <m:t>−</m:t>
                              </m:r>
                            </m:e>
                          </m:nary>
                          <m:sSup>
                            <m:sSupPr>
                              <m:ctrlPr>
                                <a:rPr lang="en-US" sz="2200" b="0" i="1" smtClean="0">
                                  <a:latin typeface="Cambria Math" panose="02040503050406030204" pitchFamily="18" charset="0"/>
                                </a:rPr>
                              </m:ctrlPr>
                            </m:sSupPr>
                            <m:e>
                              <m:r>
                                <a:rPr lang="en-US" sz="2200" b="0" i="1" smtClean="0">
                                  <a:latin typeface="Cambria Math"/>
                                </a:rPr>
                                <m:t>(</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𝑦</m:t>
                                  </m:r>
                                </m:e>
                              </m:nary>
                              <m:r>
                                <a:rPr lang="en-US" sz="2200" b="0" i="1" smtClean="0">
                                  <a:latin typeface="Cambria Math"/>
                                </a:rPr>
                                <m:t>)</m:t>
                              </m:r>
                            </m:e>
                            <m:sup>
                              <m:r>
                                <a:rPr lang="en-US" sz="2200" b="0" i="1" smtClean="0">
                                  <a:latin typeface="Cambria Math"/>
                                </a:rPr>
                                <m:t>2</m:t>
                              </m:r>
                            </m:sup>
                          </m:sSup>
                        </m:den>
                      </m:f>
                    </m:oMath>
                  </m:oMathPara>
                </a14:m>
                <a:endParaRPr lang="en-US" sz="2200" dirty="0"/>
              </a:p>
              <a:p>
                <a:pPr marL="0" indent="0">
                  <a:buNone/>
                </a:pPr>
                <a:r>
                  <a:rPr lang="en-US" sz="2200" dirty="0"/>
                  <a:t>Or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𝑏</m:t>
                        </m:r>
                      </m:e>
                      <m:sub>
                        <m:r>
                          <a:rPr lang="en-US" sz="2200" i="1">
                            <a:latin typeface="Cambria Math"/>
                          </a:rPr>
                          <m:t>𝑥𝑦</m:t>
                        </m:r>
                      </m:sub>
                    </m:sSub>
                    <m:r>
                      <a:rPr lang="en-US" sz="2200" i="1">
                        <a:latin typeface="Cambria Math"/>
                      </a:rPr>
                      <m:t>=</m:t>
                    </m:r>
                    <m:r>
                      <a:rPr lang="en-US" sz="2200" b="0" i="1" smtClean="0">
                        <a:latin typeface="Cambria Math"/>
                      </a:rPr>
                      <m:t>𝑟</m:t>
                    </m:r>
                    <m:f>
                      <m:fPr>
                        <m:ctrlPr>
                          <a:rPr lang="en-US" sz="2200" i="1" smtClean="0">
                            <a:latin typeface="Cambria Math" panose="02040503050406030204" pitchFamily="18" charset="0"/>
                          </a:rPr>
                        </m:ctrlPr>
                      </m:fPr>
                      <m:num>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𝑥</m:t>
                            </m:r>
                          </m:sub>
                        </m:sSub>
                      </m:num>
                      <m:den>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𝑦</m:t>
                            </m:r>
                          </m:sub>
                        </m:sSub>
                      </m:den>
                    </m:f>
                  </m:oMath>
                </a14:m>
                <a:r>
                  <a:rPr lang="en-US" sz="2200" dirty="0"/>
                  <a:t>     where the terms have their usual meanings.</a:t>
                </a:r>
              </a:p>
              <a:p>
                <a:pPr marL="0" indent="0">
                  <a:buNone/>
                </a:pPr>
                <a:r>
                  <a:rPr lang="en-US" sz="2200" b="1" dirty="0"/>
                  <a:t>USE OF REGRESSION ANALYSIS:</a:t>
                </a:r>
              </a:p>
              <a:p>
                <a:pPr marL="0" indent="0">
                  <a:buNone/>
                </a:pPr>
                <a:r>
                  <a:rPr lang="en-US" sz="2200" dirty="0"/>
                  <a:t>A) In the field of a business this tool of statistical analysis is widely used .Businessmen are interested in predicting future production,</a:t>
                </a:r>
              </a:p>
              <a:p>
                <a:pPr marL="0" indent="0">
                  <a:buNone/>
                </a:pPr>
                <a:r>
                  <a:rPr lang="en-US" sz="2200" dirty="0"/>
                  <a:t>Consumption ,investment, prices, profits and sales etc.</a:t>
                </a:r>
              </a:p>
              <a:p>
                <a:pPr marL="0" indent="0">
                  <a:buNone/>
                </a:pPr>
                <a:r>
                  <a:rPr lang="en-US" sz="2200" dirty="0"/>
                  <a:t>B) In the field of economic planning and sociological studies, projections of population birth rates ,death and other similar variables are of great use.   </a:t>
                </a:r>
              </a:p>
              <a:p>
                <a:endParaRPr lang="en-US" sz="2200" b="1" dirty="0"/>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817164"/>
                <a:ext cx="8229600" cy="5278836"/>
              </a:xfrm>
              <a:blipFill rotWithShape="1">
                <a:blip r:embed="rId2"/>
                <a:stretch>
                  <a:fillRect l="-963" t="-693" r="-593" b="-1547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11"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129468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Where </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 </m:t>
                    </m:r>
                    <m:r>
                      <a:rPr lang="en-US" sz="2200" b="0" i="1" smtClean="0">
                        <a:latin typeface="Cambria Math"/>
                      </a:rPr>
                      <m:t>𝑎𝑛𝑑</m:t>
                    </m:r>
                    <m:r>
                      <a:rPr lang="en-US" sz="2200" b="0" i="1" smtClean="0">
                        <a:latin typeface="Cambria Math"/>
                      </a:rPr>
                      <m:t> </m:t>
                    </m:r>
                    <m:acc>
                      <m:accPr>
                        <m:chr m:val="̅"/>
                        <m:ctrlPr>
                          <a:rPr lang="en-US" sz="2200" b="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 </m:t>
                    </m:r>
                  </m:oMath>
                </a14:m>
                <a:r>
                  <a:rPr lang="en-US" sz="2200" dirty="0"/>
                  <a:t>are mean values while</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𝑦𝑥</m:t>
                          </m:r>
                        </m:sub>
                      </m:sSub>
                      <m:r>
                        <a:rPr lang="en-US" sz="2200" b="0" i="1" smtClean="0">
                          <a:latin typeface="Cambria Math"/>
                        </a:rPr>
                        <m:t>=</m:t>
                      </m:r>
                      <m:f>
                        <m:fPr>
                          <m:ctrlPr>
                            <a:rPr lang="en-US" sz="2200" i="1">
                              <a:latin typeface="Cambria Math" panose="02040503050406030204" pitchFamily="18" charset="0"/>
                            </a:rPr>
                          </m:ctrlPr>
                        </m:fPr>
                        <m:num>
                          <m:r>
                            <a:rPr lang="en-US" sz="2200" i="1">
                              <a:latin typeface="Cambria Math"/>
                            </a:rPr>
                            <m:t>𝑛</m:t>
                          </m:r>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num>
                        <m:den>
                          <m:r>
                            <a:rPr lang="en-US" sz="2200" i="1">
                              <a:latin typeface="Cambria Math"/>
                            </a:rPr>
                            <m:t>𝑛</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e>
                                  </m:d>
                                </m:e>
                                <m:sup>
                                  <m:r>
                                    <a:rPr lang="en-US" sz="2200" i="1">
                                      <a:latin typeface="Cambria Math"/>
                                    </a:rPr>
                                    <m:t>2</m:t>
                                  </m:r>
                                </m:sup>
                              </m:sSup>
                            </m:e>
                          </m:nary>
                        </m:den>
                      </m:f>
                    </m:oMath>
                  </m:oMathPara>
                </a14:m>
                <a:endParaRPr lang="en-US" sz="2200" dirty="0"/>
              </a:p>
              <a:p>
                <a:pPr marL="0" indent="0">
                  <a:buNone/>
                </a:pPr>
                <a:r>
                  <a:rPr lang="en-US" sz="2200" dirty="0"/>
                  <a:t>In </a:t>
                </a:r>
                <a:r>
                  <a:rPr lang="en-US" sz="2200" dirty="0" err="1"/>
                  <a:t>eqt</a:t>
                </a:r>
                <a:r>
                  <a:rPr lang="en-US" sz="2200" dirty="0"/>
                  <a:t>.(3),shifting the origin to</a:t>
                </a:r>
                <a14:m>
                  <m:oMath xmlns:m="http://schemas.openxmlformats.org/officeDocument/2006/math">
                    <m:d>
                      <m:dPr>
                        <m:ctrlPr>
                          <a:rPr lang="en-US" sz="2200" i="1" smtClean="0">
                            <a:latin typeface="Cambria Math" panose="02040503050406030204" pitchFamily="18" charset="0"/>
                          </a:rPr>
                        </m:ctrlPr>
                      </m:dPr>
                      <m:e>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acc>
                          <m:accPr>
                            <m:chr m:val="̅"/>
                            <m:ctrlPr>
                              <a:rPr lang="en-US" sz="2200" i="1" smtClean="0">
                                <a:latin typeface="Cambria Math" panose="02040503050406030204" pitchFamily="18" charset="0"/>
                              </a:rPr>
                            </m:ctrlPr>
                          </m:accPr>
                          <m:e>
                            <m:r>
                              <a:rPr lang="en-US" sz="2200" b="0" i="1" smtClean="0">
                                <a:latin typeface="Cambria Math"/>
                              </a:rPr>
                              <m:t>𝑦</m:t>
                            </m:r>
                          </m:e>
                        </m:acc>
                      </m:e>
                    </m:d>
                  </m:oMath>
                </a14:m>
                <a:r>
                  <a:rPr lang="en-US" sz="2200" dirty="0"/>
                  <a:t>, we get</a:t>
                </a:r>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smtClean="0">
                              <a:latin typeface="Cambria Math" panose="02040503050406030204" pitchFamily="18" charset="0"/>
                            </a:rPr>
                          </m:ctrlPr>
                        </m:naryPr>
                        <m:sub/>
                        <m:sup/>
                        <m:e>
                          <m:d>
                            <m:dPr>
                              <m:ctrlPr>
                                <a:rPr lang="en-US" sz="220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e>
                          </m:d>
                          <m:d>
                            <m:dPr>
                              <m:ctrlPr>
                                <a:rPr lang="en-US" sz="2200" i="1" smtClean="0">
                                  <a:latin typeface="Cambria Math" panose="02040503050406030204" pitchFamily="18" charset="0"/>
                                </a:rPr>
                              </m:ctrlPr>
                            </m:dPr>
                            <m:e>
                              <m:r>
                                <a:rPr lang="en-US" sz="2200" b="0" i="1" smtClean="0">
                                  <a:latin typeface="Cambria Math"/>
                                </a:rPr>
                                <m:t>𝑦</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e>
                          </m:d>
                          <m:r>
                            <a:rPr lang="en-US" sz="2200" b="0" i="1" smtClean="0">
                              <a:latin typeface="Cambria Math"/>
                            </a:rPr>
                            <m:t>=</m:t>
                          </m:r>
                          <m:r>
                            <a:rPr lang="en-US" sz="2200" b="0" i="1" smtClean="0">
                              <a:latin typeface="Cambria Math"/>
                            </a:rPr>
                            <m:t>𝑎</m:t>
                          </m:r>
                          <m:nary>
                            <m:naryPr>
                              <m:chr m:val="∑"/>
                              <m:subHide m:val="on"/>
                              <m:supHide m:val="on"/>
                              <m:ctrlPr>
                                <a:rPr lang="en-US" sz="2200" b="0" i="1" smtClean="0">
                                  <a:latin typeface="Cambria Math" panose="02040503050406030204" pitchFamily="18" charset="0"/>
                                </a:rPr>
                              </m:ctrlPr>
                            </m:naryPr>
                            <m:sub/>
                            <m:sup/>
                            <m:e>
                              <m:d>
                                <m:dPr>
                                  <m:ctrlPr>
                                    <a:rPr lang="en-US" sz="2200" b="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e>
                              </m:d>
                              <m:r>
                                <a:rPr lang="en-US" sz="2200" b="0" i="1" smtClean="0">
                                  <a:latin typeface="Cambria Math"/>
                                </a:rPr>
                                <m:t>+</m:t>
                              </m:r>
                              <m:r>
                                <a:rPr lang="en-US" sz="2200" b="0" i="1" smtClean="0">
                                  <a:latin typeface="Cambria Math"/>
                                </a:rPr>
                                <m:t>𝑏</m:t>
                              </m:r>
                              <m:nary>
                                <m:naryPr>
                                  <m:chr m:val="∑"/>
                                  <m:subHide m:val="on"/>
                                  <m:supHide m:val="on"/>
                                  <m:ctrlPr>
                                    <a:rPr lang="en-US" sz="2200" b="0" i="1" smtClean="0">
                                      <a:latin typeface="Cambria Math" panose="02040503050406030204" pitchFamily="18" charset="0"/>
                                    </a:rPr>
                                  </m:ctrlPr>
                                </m:naryPr>
                                <m:sub/>
                                <m:sup/>
                                <m:e>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e>
                                      </m:d>
                                    </m:e>
                                    <m:sup>
                                      <m:r>
                                        <a:rPr lang="en-US" sz="2200" b="0" i="1" smtClean="0">
                                          <a:latin typeface="Cambria Math"/>
                                        </a:rPr>
                                        <m:t>2</m:t>
                                      </m:r>
                                    </m:sup>
                                  </m:sSup>
                                </m:e>
                              </m:nary>
                            </m:e>
                          </m:nary>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𝑛𝑟</m:t>
                      </m:r>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𝜎</m:t>
                          </m:r>
                        </m:e>
                        <m:sub>
                          <m:r>
                            <a:rPr lang="en-US" sz="2200" b="0" i="1" smtClean="0">
                              <a:latin typeface="Cambria Math"/>
                              <a:ea typeface="Cambria Math"/>
                            </a:rPr>
                            <m:t>𝑥</m:t>
                          </m:r>
                        </m:sub>
                      </m:sSub>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𝜎</m:t>
                          </m:r>
                        </m:e>
                        <m:sub>
                          <m:r>
                            <a:rPr lang="en-US" sz="2200" b="0" i="1" smtClean="0">
                              <a:latin typeface="Cambria Math"/>
                              <a:ea typeface="Cambria Math"/>
                            </a:rPr>
                            <m:t>𝑦</m:t>
                          </m:r>
                        </m:sub>
                      </m:sSub>
                      <m:r>
                        <a:rPr lang="en-US" sz="2200" b="0" i="1" smtClean="0">
                          <a:latin typeface="Cambria Math"/>
                          <a:ea typeface="Cambria Math"/>
                        </a:rPr>
                        <m:t>=</m:t>
                      </m:r>
                      <m:r>
                        <a:rPr lang="en-US" sz="2200" b="0" i="1" smtClean="0">
                          <a:latin typeface="Cambria Math"/>
                          <a:ea typeface="Cambria Math"/>
                        </a:rPr>
                        <m:t>𝑎</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0</m:t>
                          </m:r>
                        </m:e>
                      </m:d>
                      <m:r>
                        <a:rPr lang="en-US" sz="2200" b="0" i="1" smtClean="0">
                          <a:latin typeface="Cambria Math"/>
                          <a:ea typeface="Cambria Math"/>
                        </a:rPr>
                        <m:t>+</m:t>
                      </m:r>
                      <m:r>
                        <a:rPr lang="en-US" sz="2200" b="0" i="1" smtClean="0">
                          <a:latin typeface="Cambria Math"/>
                          <a:ea typeface="Cambria Math"/>
                        </a:rPr>
                        <m:t>𝑏𝑛</m:t>
                      </m:r>
                      <m:sSup>
                        <m:sSupPr>
                          <m:ctrlPr>
                            <a:rPr lang="en-US" sz="2200" b="0" i="1" smtClean="0">
                              <a:latin typeface="Cambria Math" panose="02040503050406030204" pitchFamily="18" charset="0"/>
                              <a:ea typeface="Cambria Math"/>
                            </a:rPr>
                          </m:ctrlPr>
                        </m:sSupPr>
                        <m:e>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𝜎</m:t>
                              </m:r>
                            </m:e>
                            <m:sub>
                              <m:r>
                                <a:rPr lang="en-US" sz="2200" b="0" i="1" smtClean="0">
                                  <a:latin typeface="Cambria Math"/>
                                  <a:ea typeface="Cambria Math"/>
                                </a:rPr>
                                <m:t>𝑥</m:t>
                              </m:r>
                            </m:sub>
                          </m:sSub>
                        </m:e>
                        <m:sup>
                          <m:r>
                            <a:rPr lang="en-US" sz="2200" b="0" i="1" smtClean="0">
                              <a:latin typeface="Cambria Math"/>
                              <a:ea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𝑏</m:t>
                      </m:r>
                      <m:r>
                        <a:rPr lang="en-US" sz="2200" b="0" i="1" smtClean="0">
                          <a:latin typeface="Cambria Math"/>
                          <a:ea typeface="Cambria Math"/>
                        </a:rPr>
                        <m:t>=</m:t>
                      </m:r>
                      <m:r>
                        <a:rPr lang="en-US" sz="2200" b="0" i="1" smtClean="0">
                          <a:latin typeface="Cambria Math"/>
                          <a:ea typeface="Cambria Math"/>
                        </a:rPr>
                        <m:t>𝑟</m:t>
                      </m:r>
                      <m:f>
                        <m:fPr>
                          <m:ctrlPr>
                            <a:rPr lang="en-US" sz="2200" b="0" i="1" smtClean="0">
                              <a:latin typeface="Cambria Math" panose="02040503050406030204" pitchFamily="18" charset="0"/>
                              <a:ea typeface="Cambria Math"/>
                            </a:rPr>
                          </m:ctrlPr>
                        </m:fPr>
                        <m:num>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𝜎</m:t>
                              </m:r>
                            </m:e>
                            <m:sub>
                              <m:r>
                                <a:rPr lang="en-US" sz="2200" b="0" i="1" smtClean="0">
                                  <a:latin typeface="Cambria Math"/>
                                  <a:ea typeface="Cambria Math"/>
                                </a:rPr>
                                <m:t>𝑦</m:t>
                              </m:r>
                            </m:sub>
                          </m:sSub>
                        </m:num>
                        <m:den>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𝜎</m:t>
                              </m:r>
                            </m:e>
                            <m:sub>
                              <m:r>
                                <a:rPr lang="en-US" sz="2200" b="0" i="1" smtClean="0">
                                  <a:latin typeface="Cambria Math"/>
                                  <a:ea typeface="Cambria Math"/>
                                </a:rPr>
                                <m:t>𝑥</m:t>
                              </m:r>
                            </m:sub>
                          </m:sSub>
                        </m:den>
                      </m:f>
                    </m:oMath>
                  </m:oMathPara>
                </a14:m>
                <a:endParaRPr lang="en-US" sz="2200" dirty="0"/>
              </a:p>
              <a:p>
                <a:pPr marL="0" indent="0">
                  <a:buNone/>
                </a:pPr>
                <a:r>
                  <a:rPr lang="en-US" sz="2200" dirty="0"/>
                  <a:t>Where </a:t>
                </a:r>
                <a14:m>
                  <m:oMath xmlns:m="http://schemas.openxmlformats.org/officeDocument/2006/math">
                    <m:r>
                      <a:rPr lang="en-US" sz="2200" b="0" i="1" smtClean="0">
                        <a:latin typeface="Cambria Math"/>
                      </a:rPr>
                      <m:t>𝑟</m:t>
                    </m:r>
                    <m:r>
                      <a:rPr lang="en-US" sz="2200" b="0" i="1" smtClean="0">
                        <a:latin typeface="Cambria Math"/>
                      </a:rPr>
                      <m:t> </m:t>
                    </m:r>
                  </m:oMath>
                </a14:m>
                <a:r>
                  <a:rPr lang="en-US" sz="2200" dirty="0"/>
                  <a:t>is the coefficient of correlation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sSub>
                      <m:sSubPr>
                        <m:ctrlPr>
                          <a:rPr lang="en-US" sz="2200" i="1">
                            <a:latin typeface="Cambria Math" panose="02040503050406030204" pitchFamily="18" charset="0"/>
                            <a:ea typeface="Cambria Math"/>
                          </a:rPr>
                        </m:ctrlPr>
                      </m:sSubPr>
                      <m:e>
                        <m:r>
                          <a:rPr lang="en-US" sz="2200" b="0" i="1" smtClean="0">
                            <a:latin typeface="Cambria Math"/>
                            <a:ea typeface="Cambria Math"/>
                          </a:rPr>
                          <m:t>𝑎𝑛𝑑</m:t>
                        </m:r>
                        <m:r>
                          <a:rPr lang="en-US" sz="2200" b="0" i="1" smtClean="0">
                            <a:latin typeface="Cambria Math"/>
                            <a:ea typeface="Cambria Math"/>
                          </a:rPr>
                          <m:t> </m:t>
                        </m:r>
                        <m:r>
                          <a:rPr lang="en-US" sz="2200" i="1">
                            <a:latin typeface="Cambria Math"/>
                            <a:ea typeface="Cambria Math"/>
                          </a:rPr>
                          <m:t>𝜎</m:t>
                        </m:r>
                      </m:e>
                      <m:sub>
                        <m:r>
                          <a:rPr lang="en-US" sz="2200" i="1">
                            <a:latin typeface="Cambria Math"/>
                            <a:ea typeface="Cambria Math"/>
                          </a:rPr>
                          <m:t>𝑦</m:t>
                        </m:r>
                      </m:sub>
                    </m:sSub>
                  </m:oMath>
                </a14:m>
                <a:r>
                  <a:rPr lang="en-US" sz="2200" dirty="0"/>
                  <a:t> are the standard deviations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oMath>
                </a14:m>
                <a:r>
                  <a:rPr lang="en-US" sz="2200" dirty="0"/>
                  <a:t> series respectively.</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256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11"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Linear Regression</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8391721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Properties of Regression Coefficients:</a:t>
                </a:r>
              </a:p>
              <a:p>
                <a:pPr marL="0" indent="0">
                  <a:buNone/>
                </a:pPr>
                <a:r>
                  <a:rPr lang="en-US" sz="2200" b="1" dirty="0"/>
                  <a:t>Property 1.</a:t>
                </a:r>
                <a:r>
                  <a:rPr lang="en-US" sz="2200" dirty="0"/>
                  <a:t> Correlation coefficient is the geometric mean between the regression coefficients.</a:t>
                </a:r>
              </a:p>
              <a:p>
                <a:pPr marL="0" indent="0">
                  <a:buNone/>
                </a:pPr>
                <a:r>
                  <a:rPr lang="en-US" sz="2200" b="1" dirty="0"/>
                  <a:t>Proof :</a:t>
                </a:r>
                <a:r>
                  <a:rPr lang="en-US" sz="2200" dirty="0"/>
                  <a:t>The coefficients of regression are </a:t>
                </a:r>
                <a14:m>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a:rPr>
                          <m:t>𝑟</m:t>
                        </m:r>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𝑦</m:t>
                            </m:r>
                          </m:sub>
                        </m:sSub>
                      </m:num>
                      <m:den>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𝑥</m:t>
                            </m:r>
                          </m:sub>
                        </m:sSub>
                      </m:den>
                    </m:f>
                  </m:oMath>
                </a14:m>
                <a:r>
                  <a:rPr lang="en-US" sz="2200" dirty="0"/>
                  <a:t> and </a:t>
                </a:r>
                <a14:m>
                  <m:oMath xmlns:m="http://schemas.openxmlformats.org/officeDocument/2006/math">
                    <m:f>
                      <m:fPr>
                        <m:ctrlPr>
                          <a:rPr lang="en-US" sz="2200" i="1" smtClean="0">
                            <a:latin typeface="Cambria Math" panose="02040503050406030204" pitchFamily="18" charset="0"/>
                          </a:rPr>
                        </m:ctrlPr>
                      </m:fPr>
                      <m:num>
                        <m:sSub>
                          <m:sSubPr>
                            <m:ctrlPr>
                              <a:rPr lang="en-US" sz="2200" i="1" smtClean="0">
                                <a:latin typeface="Cambria Math" panose="02040503050406030204" pitchFamily="18" charset="0"/>
                              </a:rPr>
                            </m:ctrlPr>
                          </m:sSubPr>
                          <m:e>
                            <m:r>
                              <a:rPr lang="en-US" sz="2200" b="0" i="1" smtClean="0">
                                <a:latin typeface="Cambria Math"/>
                              </a:rPr>
                              <m:t>𝑟</m:t>
                            </m:r>
                            <m:r>
                              <a:rPr lang="en-US" sz="2200" i="1" smtClean="0">
                                <a:latin typeface="Cambria Math"/>
                                <a:ea typeface="Cambria Math"/>
                              </a:rPr>
                              <m:t>𝜎</m:t>
                            </m:r>
                          </m:e>
                          <m:sub>
                            <m:r>
                              <a:rPr lang="en-US" sz="2200" b="0" i="1" smtClean="0">
                                <a:latin typeface="Cambria Math"/>
                              </a:rPr>
                              <m:t>𝑥</m:t>
                            </m:r>
                          </m:sub>
                        </m:sSub>
                      </m:num>
                      <m:den>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𝑦</m:t>
                            </m:r>
                          </m:sub>
                        </m:sSub>
                      </m:den>
                    </m:f>
                  </m:oMath>
                </a14:m>
                <a:r>
                  <a:rPr lang="en-US" sz="2200" dirty="0"/>
                  <a:t>.</a:t>
                </a:r>
              </a:p>
              <a:p>
                <a:pPr marL="0" indent="0">
                  <a:buNone/>
                </a:pPr>
                <a:r>
                  <a:rPr lang="en-US" sz="2200" dirty="0"/>
                  <a:t>G.M. between them=</a:t>
                </a:r>
                <a14:m>
                  <m:oMath xmlns:m="http://schemas.openxmlformats.org/officeDocument/2006/math">
                    <m:rad>
                      <m:radPr>
                        <m:degHide m:val="on"/>
                        <m:ctrlPr>
                          <a:rPr lang="en-US" sz="2200" i="1" smtClean="0">
                            <a:latin typeface="Cambria Math" panose="02040503050406030204" pitchFamily="18" charset="0"/>
                          </a:rPr>
                        </m:ctrlPr>
                      </m:radPr>
                      <m:deg/>
                      <m:e>
                        <m:f>
                          <m:fPr>
                            <m:ctrlPr>
                              <a:rPr lang="en-US" sz="2200" i="1">
                                <a:latin typeface="Cambria Math" panose="02040503050406030204" pitchFamily="18" charset="0"/>
                              </a:rPr>
                            </m:ctrlPr>
                          </m:fPr>
                          <m:num>
                            <m:r>
                              <a:rPr lang="en-US" sz="2200" i="1">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r>
                          <a:rPr lang="en-US" sz="2200" i="1" smtClean="0">
                            <a:latin typeface="Cambria Math"/>
                            <a:ea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𝑟</m:t>
                                </m:r>
                                <m:r>
                                  <a:rPr lang="en-US" sz="2200" i="1">
                                    <a:latin typeface="Cambria Math"/>
                                    <a:ea typeface="Cambria Math"/>
                                  </a:rPr>
                                  <m:t>𝜎</m:t>
                                </m:r>
                              </m:e>
                              <m:sub>
                                <m:r>
                                  <a:rPr lang="en-US" sz="2200" i="1">
                                    <a:latin typeface="Cambria Math"/>
                                  </a:rPr>
                                  <m:t>𝑥</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den>
                        </m:f>
                        <m:r>
                          <a:rPr lang="en-US" sz="2200" b="0" i="1" smtClean="0">
                            <a:latin typeface="Cambria Math"/>
                          </a:rPr>
                          <m:t>=</m:t>
                        </m:r>
                      </m:e>
                    </m:rad>
                    <m:rad>
                      <m:radPr>
                        <m:degHide m:val="on"/>
                        <m:ctrlPr>
                          <a:rPr lang="en-US" sz="2200" i="1" smtClean="0">
                            <a:latin typeface="Cambria Math" panose="02040503050406030204" pitchFamily="18" charset="0"/>
                          </a:rPr>
                        </m:ctrlPr>
                      </m:radPr>
                      <m:deg/>
                      <m:e>
                        <m:sSup>
                          <m:sSupPr>
                            <m:ctrlPr>
                              <a:rPr lang="en-US" sz="2200" i="1" smtClean="0">
                                <a:latin typeface="Cambria Math" panose="02040503050406030204" pitchFamily="18" charset="0"/>
                              </a:rPr>
                            </m:ctrlPr>
                          </m:sSupPr>
                          <m:e>
                            <m:r>
                              <a:rPr lang="en-US" sz="2200" b="0" i="1" smtClean="0">
                                <a:latin typeface="Cambria Math"/>
                              </a:rPr>
                              <m:t>𝑟</m:t>
                            </m:r>
                          </m:e>
                          <m:sup>
                            <m:r>
                              <a:rPr lang="en-US" sz="2200" b="0" i="1" smtClean="0">
                                <a:latin typeface="Cambria Math"/>
                              </a:rPr>
                              <m:t>2</m:t>
                            </m:r>
                          </m:sup>
                        </m:sSup>
                      </m:e>
                    </m:rad>
                    <m:r>
                      <a:rPr lang="en-US" sz="2200" b="0" i="0" smtClean="0">
                        <a:latin typeface="Cambria Math"/>
                      </a:rPr>
                      <m:t>=</m:t>
                    </m:r>
                    <m:r>
                      <m:rPr>
                        <m:sty m:val="p"/>
                      </m:rPr>
                      <a:rPr lang="en-US" sz="2200" b="0" i="0" smtClean="0">
                        <a:latin typeface="Cambria Math"/>
                      </a:rPr>
                      <m:t>r</m:t>
                    </m:r>
                    <m:r>
                      <a:rPr lang="en-US" sz="2200" b="0" i="0" smtClean="0">
                        <a:latin typeface="Cambria Math"/>
                      </a:rPr>
                      <m:t>=</m:t>
                    </m:r>
                  </m:oMath>
                </a14:m>
                <a:r>
                  <a:rPr lang="en-US" sz="2200" dirty="0"/>
                  <a:t>coefficient of correlation.</a:t>
                </a:r>
              </a:p>
              <a:p>
                <a:pPr marL="0" indent="0">
                  <a:buNone/>
                </a:pPr>
                <a:r>
                  <a:rPr lang="en-US" sz="2200" b="1" dirty="0"/>
                  <a:t>Property 2.</a:t>
                </a:r>
                <a:r>
                  <a:rPr lang="en-US" sz="2200" dirty="0"/>
                  <a:t>If one of the regression coefficients is greater than unity, the other must be less than </a:t>
                </a:r>
                <a:r>
                  <a:rPr lang="en-US" sz="2200" dirty="0" err="1"/>
                  <a:t>Moduley</a:t>
                </a:r>
                <a:r>
                  <a:rPr lang="en-US" sz="2200" dirty="0"/>
                  <a:t>.</a:t>
                </a:r>
              </a:p>
              <a:p>
                <a:pPr marL="0" indent="0">
                  <a:buNone/>
                </a:pPr>
                <a:r>
                  <a:rPr lang="en-US" sz="2200" b="1" dirty="0"/>
                  <a:t>Proof.</a:t>
                </a:r>
                <a:r>
                  <a:rPr lang="en-US" sz="2200" dirty="0"/>
                  <a:t> The two regression coefficients are </a:t>
                </a:r>
                <a14:m>
                  <m:oMath xmlns:m="http://schemas.openxmlformats.org/officeDocument/2006/math">
                    <m:sSub>
                      <m:sSubPr>
                        <m:ctrlPr>
                          <a:rPr lang="en-US" sz="2200" i="1" smtClean="0">
                            <a:latin typeface="Cambria Math" panose="02040503050406030204" pitchFamily="18" charset="0"/>
                            <a:ea typeface="Cambria Math"/>
                          </a:rPr>
                        </m:ctrlPr>
                      </m:sSubPr>
                      <m:e>
                        <m:r>
                          <a:rPr lang="en-US" sz="2200" b="0" i="1" smtClean="0">
                            <a:latin typeface="Cambria Math"/>
                            <a:ea typeface="Cambria Math"/>
                          </a:rPr>
                          <m:t>𝑏</m:t>
                        </m:r>
                      </m:e>
                      <m:sub>
                        <m:r>
                          <a:rPr lang="en-US" sz="2200" b="0" i="1" smtClean="0">
                            <a:latin typeface="Cambria Math"/>
                            <a:ea typeface="Cambria Math"/>
                          </a:rPr>
                          <m:t>𝑦𝑥</m:t>
                        </m:r>
                      </m:sub>
                    </m:sSub>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𝑟</m:t>
                        </m:r>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den>
                    </m:f>
                  </m:oMath>
                </a14:m>
                <a:r>
                  <a:rPr lang="en-US" sz="2200" dirty="0"/>
                  <a:t> and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m:t>
                        </m:r>
                        <m:r>
                          <a:rPr lang="en-US" sz="2200" b="0" i="1" smtClean="0">
                            <a:latin typeface="Cambria Math"/>
                            <a:ea typeface="Cambria Math"/>
                          </a:rPr>
                          <m:t>𝑦</m:t>
                        </m:r>
                      </m:sub>
                    </m:sSub>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𝑟</m:t>
                        </m:r>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𝑥</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𝑦</m:t>
                            </m:r>
                          </m:sub>
                        </m:sSub>
                      </m:den>
                    </m:f>
                  </m:oMath>
                </a14:m>
                <a:r>
                  <a:rPr lang="en-US" sz="22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59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5116246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648200"/>
              </a:xfrm>
            </p:spPr>
            <p:txBody>
              <a:bodyPr>
                <a:noAutofit/>
              </a:bodyPr>
              <a:lstStyle/>
              <a:p>
                <a:pPr marL="0" indent="0">
                  <a:buNone/>
                </a:pPr>
                <a:r>
                  <a:rPr lang="en-US" sz="2200" dirty="0"/>
                  <a:t>Let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r>
                      <a:rPr lang="en-US" sz="2200" i="1">
                        <a:latin typeface="Cambria Math"/>
                        <a:ea typeface="Cambria Math"/>
                      </a:rPr>
                      <m:t>&gt;</m:t>
                    </m:r>
                  </m:oMath>
                </a14:m>
                <a:r>
                  <a:rPr lang="en-US" sz="2200" dirty="0"/>
                  <a:t>1,then </a:t>
                </a:r>
                <a14:m>
                  <m:oMath xmlns:m="http://schemas.openxmlformats.org/officeDocument/2006/math">
                    <m:f>
                      <m:fPr>
                        <m:ctrlPr>
                          <a:rPr lang="en-US" sz="2200" i="1">
                            <a:latin typeface="Cambria Math" panose="02040503050406030204" pitchFamily="18" charset="0"/>
                          </a:rPr>
                        </m:ctrlPr>
                      </m:fPr>
                      <m:num>
                        <m:r>
                          <a:rPr lang="en-US" sz="2200" i="1">
                            <a:latin typeface="Cambria Math"/>
                          </a:rPr>
                          <m:t>1</m:t>
                        </m:r>
                      </m:num>
                      <m:den>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den>
                    </m:f>
                    <m:r>
                      <a:rPr lang="en-US" sz="2200" i="1">
                        <a:latin typeface="Cambria Math"/>
                        <a:ea typeface="Cambria Math"/>
                      </a:rPr>
                      <m:t>&lt;1</m:t>
                    </m:r>
                  </m:oMath>
                </a14:m>
                <a:endParaRPr lang="en-US" sz="2200" dirty="0"/>
              </a:p>
              <a:p>
                <a:pPr marL="0" indent="0">
                  <a:buNone/>
                </a:pPr>
                <a:r>
                  <a:rPr lang="en-US" sz="2200" dirty="0"/>
                  <a:t>Since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oMath>
                </a14:m>
                <a:r>
                  <a:rPr lang="en-US" sz="2200" dirty="0">
                    <a:ea typeface="Cambria Math"/>
                  </a:rPr>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r>
                      <a:rPr lang="en-US" sz="2200" i="1" smtClean="0">
                        <a:latin typeface="Cambria Math"/>
                        <a:ea typeface="Cambria Math"/>
                      </a:rPr>
                      <m:t>=</m:t>
                    </m:r>
                    <m:sSup>
                      <m:sSupPr>
                        <m:ctrlPr>
                          <a:rPr lang="en-US" sz="2200" i="1" smtClean="0">
                            <a:latin typeface="Cambria Math" panose="02040503050406030204" pitchFamily="18" charset="0"/>
                            <a:ea typeface="Cambria Math"/>
                          </a:rPr>
                        </m:ctrlPr>
                      </m:sSupPr>
                      <m:e>
                        <m:r>
                          <a:rPr lang="en-US" sz="2200" i="1">
                            <a:latin typeface="Cambria Math"/>
                            <a:ea typeface="Cambria Math"/>
                          </a:rPr>
                          <m:t>𝑟</m:t>
                        </m:r>
                      </m:e>
                      <m:sup>
                        <m:r>
                          <a:rPr lang="en-US" sz="2200" i="1">
                            <a:latin typeface="Cambria Math"/>
                            <a:ea typeface="Cambria Math"/>
                          </a:rPr>
                          <m:t>2</m:t>
                        </m:r>
                      </m:sup>
                    </m:sSup>
                    <m:r>
                      <a:rPr lang="en-US" sz="2200" i="1">
                        <a:latin typeface="Cambria Math"/>
                        <a:ea typeface="Cambria Math"/>
                      </a:rPr>
                      <m:t>≤1</m:t>
                    </m:r>
                  </m:oMath>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rPr>
                            <m:t>1</m:t>
                          </m:r>
                        </m:num>
                        <m:den>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den>
                      </m:f>
                      <m:r>
                        <a:rPr lang="en-US" sz="2200" i="1" smtClean="0">
                          <a:latin typeface="Cambria Math"/>
                          <a:ea typeface="Cambria Math"/>
                        </a:rPr>
                        <m:t>&lt;1</m:t>
                      </m:r>
                    </m:oMath>
                  </m:oMathPara>
                </a14:m>
                <a:endParaRPr lang="en-US" sz="2200" dirty="0"/>
              </a:p>
              <a:p>
                <a:pPr marL="0" indent="0">
                  <a:buNone/>
                </a:pPr>
                <a:r>
                  <a:rPr lang="en-US" sz="2200" dirty="0"/>
                  <a:t>Similarly if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r>
                      <a:rPr lang="en-US" sz="2200" i="1">
                        <a:latin typeface="Cambria Math"/>
                        <a:ea typeface="Cambria Math"/>
                      </a:rPr>
                      <m:t>&gt;1, </m:t>
                    </m:r>
                    <m:r>
                      <a:rPr lang="en-US" sz="2200" i="1">
                        <a:latin typeface="Cambria Math"/>
                        <a:ea typeface="Cambria Math"/>
                      </a:rPr>
                      <m:t>𝑡h𝑒𝑛</m:t>
                    </m:r>
                    <m:r>
                      <a:rPr lang="en-US" sz="2200" i="1">
                        <a:latin typeface="Cambria Math"/>
                        <a:ea typeface="Cambria Math"/>
                      </a:rPr>
                      <m:t> </m:t>
                    </m:r>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r>
                      <a:rPr lang="en-US" sz="2200" i="1">
                        <a:latin typeface="Cambria Math"/>
                        <a:ea typeface="Cambria Math"/>
                      </a:rPr>
                      <m:t>&lt;1.</m:t>
                    </m:r>
                  </m:oMath>
                </a14:m>
                <a:endParaRPr lang="en-US" sz="2200" dirty="0"/>
              </a:p>
              <a:p>
                <a:pPr marL="0" indent="0">
                  <a:buNone/>
                </a:pPr>
                <a:r>
                  <a:rPr lang="en-US" sz="2200" b="1" dirty="0"/>
                  <a:t>Property 3.</a:t>
                </a:r>
                <a:r>
                  <a:rPr lang="en-US" sz="2200" dirty="0"/>
                  <a:t>Airthmetic mean of regression coefficient is greater than the Correlation coefficient.</a:t>
                </a:r>
              </a:p>
              <a:p>
                <a:pPr marL="0" indent="0">
                  <a:buNone/>
                </a:pPr>
                <a:r>
                  <a:rPr lang="en-US" sz="2200" b="1" dirty="0"/>
                  <a:t>Proof.</a:t>
                </a:r>
                <a:r>
                  <a:rPr lang="en-US" sz="2200" dirty="0"/>
                  <a:t> We have to prove that</a:t>
                </a:r>
              </a:p>
              <a:p>
                <a:pPr marL="0" indent="0">
                  <a:buNone/>
                </a:pPr>
                <a14:m>
                  <m:oMathPara xmlns:m="http://schemas.openxmlformats.org/officeDocument/2006/math">
                    <m:oMathParaPr>
                      <m:jc m:val="left"/>
                    </m:oMathParaPr>
                    <m:oMath xmlns:m="http://schemas.openxmlformats.org/officeDocument/2006/math">
                      <m:f>
                        <m:fPr>
                          <m:ctrlPr>
                            <a:rPr lang="en-US" sz="2200" i="1" smtClean="0">
                              <a:latin typeface="Cambria Math" panose="02040503050406030204" pitchFamily="18" charset="0"/>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r>
                            <m:rPr>
                              <m:nor/>
                            </m:rPr>
                            <a:rPr lang="en-US" sz="2200" b="0" i="0" smtClean="0">
                              <a:latin typeface="Cambria Math"/>
                              <a:ea typeface="Cambria Math"/>
                            </a:rPr>
                            <m:t>+</m:t>
                          </m:r>
                          <m:r>
                            <m:rPr>
                              <m:nor/>
                            </m:rPr>
                            <a:rPr lang="en-US" sz="2200" dirty="0">
                              <a:ea typeface="Cambria Math"/>
                            </a:rPr>
                            <m:t> </m:t>
                          </m:r>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num>
                        <m:den>
                          <m:r>
                            <a:rPr lang="en-US" sz="2200" b="0" i="1" smtClean="0">
                              <a:latin typeface="Cambria Math"/>
                            </a:rPr>
                            <m:t>2</m:t>
                          </m:r>
                        </m:den>
                      </m:f>
                      <m:r>
                        <a:rPr lang="en-US" sz="2200" i="1" smtClean="0">
                          <a:latin typeface="Cambria Math"/>
                          <a:ea typeface="Cambria Math"/>
                        </a:rPr>
                        <m:t>&gt;</m:t>
                      </m:r>
                      <m:r>
                        <a:rPr lang="en-US" sz="2200" b="0" i="1" smtClean="0">
                          <a:latin typeface="Cambria Math"/>
                          <a:ea typeface="Cambria Math"/>
                        </a:rPr>
                        <m:t>𝑟</m:t>
                      </m:r>
                    </m:oMath>
                  </m:oMathPara>
                </a14:m>
                <a:endParaRPr lang="en-US" sz="2200" b="0" dirty="0">
                  <a:ea typeface="Cambria Math"/>
                </a:endParaRPr>
              </a:p>
              <a:p>
                <a:pPr marL="0" indent="0">
                  <a:buNone/>
                </a:pPr>
                <a:r>
                  <a:rPr lang="en-US" sz="2200" dirty="0"/>
                  <a:t>r</a:t>
                </a:r>
                <a14:m>
                  <m:oMath xmlns:m="http://schemas.openxmlformats.org/officeDocument/2006/math">
                    <m:f>
                      <m:fPr>
                        <m:ctrlPr>
                          <a:rPr lang="en-US" sz="2200" i="1">
                            <a:latin typeface="Cambria Math" panose="02040503050406030204" pitchFamily="18" charset="0"/>
                          </a:rPr>
                        </m:ctrlPr>
                      </m:fPr>
                      <m:num>
                        <m:sSub>
                          <m:sSubPr>
                            <m:ctrlPr>
                              <a:rPr lang="en-US" sz="2200" i="1" smtClean="0">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oMath>
                </a14:m>
                <a:r>
                  <a:rPr lang="en-US" sz="2200" dirty="0"/>
                  <a:t> + r</a:t>
                </a:r>
                <a14:m>
                  <m:oMath xmlns:m="http://schemas.openxmlformats.org/officeDocument/2006/math">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den>
                    </m:f>
                    <m:r>
                      <a:rPr lang="en-US" sz="2200" i="1" smtClean="0">
                        <a:latin typeface="Cambria Math"/>
                        <a:ea typeface="Cambria Math"/>
                      </a:rPr>
                      <m:t>&gt;</m:t>
                    </m:r>
                    <m:r>
                      <a:rPr lang="en-US" sz="2200" b="0" i="1" smtClean="0">
                        <a:latin typeface="Cambria Math"/>
                        <a:ea typeface="Cambria Math"/>
                      </a:rPr>
                      <m:t>2</m:t>
                    </m:r>
                    <m:r>
                      <a:rPr lang="en-US" sz="2200" b="0" i="1" smtClean="0">
                        <a:latin typeface="Cambria Math"/>
                        <a:ea typeface="Cambria Math"/>
                      </a:rPr>
                      <m:t>𝑟</m:t>
                    </m:r>
                  </m:oMath>
                </a14:m>
                <a:endParaRPr lang="en-US" sz="2200" dirty="0"/>
              </a:p>
              <a:p>
                <a:pPr marL="0" indent="0">
                  <a:buNone/>
                </a:pPr>
                <a:endParaRPr lang="en-US" sz="2200" b="0" dirty="0">
                  <a:ea typeface="Cambria Math"/>
                </a:endParaRPr>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648200"/>
              </a:xfrm>
              <a:blipFill rotWithShape="1">
                <a:blip r:embed="rId2"/>
                <a:stretch>
                  <a:fillRect l="-963" b="-1994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11"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0758747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e>
                        <m:sup>
                          <m:r>
                            <a:rPr lang="en-US" sz="2200" b="0" i="1" smtClean="0">
                              <a:latin typeface="Cambria Math"/>
                            </a:rPr>
                            <m:t>2</m:t>
                          </m:r>
                        </m:sup>
                      </m:sSup>
                      <m:r>
                        <a:rPr lang="en-US" sz="2200" b="0" i="1" smtClean="0">
                          <a:latin typeface="Cambria Math"/>
                        </a:rPr>
                        <m:t>+</m:t>
                      </m:r>
                      <m:sSup>
                        <m:sSupPr>
                          <m:ctrlPr>
                            <a:rPr lang="en-US" sz="2200" b="0" i="1" smtClean="0">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b="0" i="1" smtClean="0">
                              <a:latin typeface="Cambria Math"/>
                            </a:rPr>
                            <m:t>2</m:t>
                          </m:r>
                        </m:sup>
                      </m:sSup>
                      <m:r>
                        <a:rPr lang="en-US" sz="2200" b="0" i="1" smtClean="0">
                          <a:latin typeface="Cambria Math"/>
                          <a:ea typeface="Cambria Math"/>
                        </a:rPr>
                        <m:t>&gt;2</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oMath>
                  </m:oMathPara>
                </a14:m>
                <a:endParaRPr lang="en-US" sz="2200" dirty="0"/>
              </a:p>
              <a:p>
                <a:pPr marL="0" indent="0">
                  <a:buNone/>
                </a:pPr>
                <a14:m>
                  <m:oMath xmlns:m="http://schemas.openxmlformats.org/officeDocument/2006/math">
                    <m:sSup>
                      <m:sSupPr>
                        <m:ctrlPr>
                          <a:rPr lang="en-US" sz="2200" i="1" smtClean="0">
                            <a:latin typeface="Cambria Math" panose="02040503050406030204" pitchFamily="18" charset="0"/>
                          </a:rPr>
                        </m:ctrlPr>
                      </m:sSupPr>
                      <m:e>
                        <m:d>
                          <m:dPr>
                            <m:ctrlPr>
                              <a:rPr lang="en-US" sz="2200" i="1" smtClean="0">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r>
                              <a:rPr lang="en-US" sz="2200" b="0" i="1" smtClean="0">
                                <a:latin typeface="Cambria Math"/>
                              </a:rPr>
                              <m:t>−</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d>
                      </m:e>
                      <m:sup>
                        <m:r>
                          <a:rPr lang="en-US" sz="2200" b="0" i="1" smtClean="0">
                            <a:latin typeface="Cambria Math"/>
                          </a:rPr>
                          <m:t>2</m:t>
                        </m:r>
                      </m:sup>
                    </m:sSup>
                    <m:r>
                      <a:rPr lang="en-US" sz="2200" i="1" smtClean="0">
                        <a:latin typeface="Cambria Math"/>
                        <a:ea typeface="Cambria Math"/>
                      </a:rPr>
                      <m:t>&gt;</m:t>
                    </m:r>
                    <m:r>
                      <a:rPr lang="en-US" sz="2200" b="0" i="1" smtClean="0">
                        <a:latin typeface="Cambria Math"/>
                        <a:ea typeface="Cambria Math"/>
                      </a:rPr>
                      <m:t>0</m:t>
                    </m:r>
                  </m:oMath>
                </a14:m>
                <a:r>
                  <a:rPr lang="en-US" sz="2200" dirty="0"/>
                  <a:t> which is true.</a:t>
                </a:r>
              </a:p>
              <a:p>
                <a:pPr marL="0" indent="0">
                  <a:buNone/>
                </a:pPr>
                <a:r>
                  <a:rPr lang="en-US" sz="2200" b="1" dirty="0"/>
                  <a:t>Property 4:</a:t>
                </a:r>
                <a:r>
                  <a:rPr lang="en-US" sz="2200" dirty="0"/>
                  <a:t>Regression coefficients are independent of the origin but not of scale.</a:t>
                </a:r>
              </a:p>
              <a:p>
                <a:pPr marL="0" indent="0">
                  <a:buNone/>
                </a:pPr>
                <a:r>
                  <a:rPr lang="en-US" sz="2200" b="1" dirty="0"/>
                  <a:t>Proof.</a:t>
                </a:r>
                <a:r>
                  <a:rPr lang="en-US" sz="2200" dirty="0"/>
                  <a:t> Let </a:t>
                </a:r>
                <a14:m>
                  <m:oMath xmlns:m="http://schemas.openxmlformats.org/officeDocument/2006/math">
                    <m:r>
                      <a:rPr lang="en-US" sz="2200" b="0" i="1" smtClean="0">
                        <a:latin typeface="Cambria Math"/>
                      </a:rPr>
                      <m:t>𝑢</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𝑥</m:t>
                        </m:r>
                        <m:r>
                          <a:rPr lang="en-US" sz="2200" b="0" i="1" smtClean="0">
                            <a:latin typeface="Cambria Math"/>
                          </a:rPr>
                          <m:t>−</m:t>
                        </m:r>
                        <m:r>
                          <a:rPr lang="en-US" sz="2200" b="0" i="1" smtClean="0">
                            <a:latin typeface="Cambria Math"/>
                          </a:rPr>
                          <m:t>𝑎</m:t>
                        </m:r>
                      </m:num>
                      <m:den>
                        <m:r>
                          <a:rPr lang="en-US" sz="2200" b="0" i="1" smtClean="0">
                            <a:latin typeface="Cambria Math"/>
                          </a:rPr>
                          <m:t>h</m:t>
                        </m:r>
                      </m:den>
                    </m:f>
                    <m:r>
                      <a:rPr lang="en-US" sz="2200" b="0" i="1" smtClean="0">
                        <a:latin typeface="Cambria Math"/>
                      </a:rPr>
                      <m:t>,</m:t>
                    </m:r>
                    <m:r>
                      <a:rPr lang="en-US" sz="2200" b="0" i="1" smtClean="0">
                        <a:latin typeface="Cambria Math"/>
                      </a:rPr>
                      <m:t>𝑣</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𝑦</m:t>
                        </m:r>
                        <m:r>
                          <a:rPr lang="en-US" sz="2200" b="0" i="1" smtClean="0">
                            <a:latin typeface="Cambria Math"/>
                          </a:rPr>
                          <m:t>−</m:t>
                        </m:r>
                        <m:r>
                          <a:rPr lang="en-US" sz="2200" b="0" i="1" smtClean="0">
                            <a:latin typeface="Cambria Math"/>
                          </a:rPr>
                          <m:t>𝑏</m:t>
                        </m:r>
                      </m:num>
                      <m:den>
                        <m:r>
                          <a:rPr lang="en-US" sz="2200" b="0" i="1" smtClean="0">
                            <a:latin typeface="Cambria Math"/>
                          </a:rPr>
                          <m:t>𝑘</m:t>
                        </m:r>
                      </m:den>
                    </m:f>
                    <m:r>
                      <a:rPr lang="en-US" sz="2200" b="0" i="1" smtClean="0">
                        <a:latin typeface="Cambria Math"/>
                      </a:rPr>
                      <m:t>,</m:t>
                    </m:r>
                    <m:r>
                      <m:rPr>
                        <m:sty m:val="p"/>
                      </m:rPr>
                      <a:rPr lang="en-US" sz="2200" b="0" i="0" smtClean="0">
                        <a:latin typeface="Cambria Math"/>
                      </a:rPr>
                      <m:t>where</m:t>
                    </m:r>
                    <m:r>
                      <a:rPr lang="en-US" sz="2200" b="0" i="0" smtClean="0">
                        <a:latin typeface="Cambria Math"/>
                      </a:rPr>
                      <m:t> </m:t>
                    </m:r>
                    <m:r>
                      <m:rPr>
                        <m:sty m:val="p"/>
                      </m:rPr>
                      <a:rPr lang="en-US" sz="2200" b="0" i="0" smtClean="0">
                        <a:latin typeface="Cambria Math"/>
                      </a:rPr>
                      <m:t>a</m:t>
                    </m:r>
                    <m:r>
                      <a:rPr lang="en-US" sz="2200" b="0" i="0" smtClean="0">
                        <a:latin typeface="Cambria Math"/>
                      </a:rPr>
                      <m:t>,</m:t>
                    </m:r>
                    <m:r>
                      <m:rPr>
                        <m:sty m:val="p"/>
                      </m:rPr>
                      <a:rPr lang="en-US" sz="2200" b="0" i="0" smtClean="0">
                        <a:latin typeface="Cambria Math"/>
                      </a:rPr>
                      <m:t>b</m:t>
                    </m:r>
                    <m:r>
                      <a:rPr lang="en-US" sz="2200" b="0" i="0" smtClean="0">
                        <a:latin typeface="Cambria Math"/>
                      </a:rPr>
                      <m:t>,</m:t>
                    </m:r>
                    <m:r>
                      <m:rPr>
                        <m:sty m:val="p"/>
                      </m:rPr>
                      <a:rPr lang="en-US" sz="2200" b="0" i="0" smtClean="0">
                        <a:latin typeface="Cambria Math"/>
                      </a:rPr>
                      <m:t>h</m:t>
                    </m:r>
                    <m:r>
                      <a:rPr lang="en-US" sz="2200" b="0" i="0" smtClean="0">
                        <a:latin typeface="Cambria Math"/>
                      </a:rPr>
                      <m:t> </m:t>
                    </m:r>
                    <m:r>
                      <m:rPr>
                        <m:sty m:val="p"/>
                      </m:rPr>
                      <a:rPr lang="en-US" sz="2200" b="0" i="0" smtClean="0">
                        <a:latin typeface="Cambria Math"/>
                      </a:rPr>
                      <m:t>and</m:t>
                    </m:r>
                    <m:r>
                      <a:rPr lang="en-US" sz="2200" b="0" i="0" smtClean="0">
                        <a:latin typeface="Cambria Math"/>
                      </a:rPr>
                      <m:t> </m:t>
                    </m:r>
                    <m:r>
                      <m:rPr>
                        <m:sty m:val="p"/>
                      </m:rPr>
                      <a:rPr lang="en-US" sz="2200" b="0" i="0" smtClean="0">
                        <a:latin typeface="Cambria Math"/>
                      </a:rPr>
                      <m:t>k</m:t>
                    </m:r>
                    <m:r>
                      <a:rPr lang="en-US" sz="2200" b="0" i="0" smtClean="0">
                        <a:latin typeface="Cambria Math"/>
                      </a:rPr>
                      <m:t> </m:t>
                    </m:r>
                    <m:r>
                      <m:rPr>
                        <m:sty m:val="p"/>
                      </m:rPr>
                      <a:rPr lang="en-US" sz="2200" b="0" i="0" smtClean="0">
                        <a:latin typeface="Cambria Math"/>
                      </a:rPr>
                      <m:t>are</m:t>
                    </m:r>
                    <m:r>
                      <a:rPr lang="en-US" sz="2200" b="0" i="0" smtClean="0">
                        <a:latin typeface="Cambria Math"/>
                      </a:rPr>
                      <m:t> </m:t>
                    </m:r>
                    <m:r>
                      <m:rPr>
                        <m:sty m:val="p"/>
                      </m:rPr>
                      <a:rPr lang="en-US" sz="2200" b="0" i="0" smtClean="0">
                        <a:latin typeface="Cambria Math"/>
                      </a:rPr>
                      <m:t>constants</m:t>
                    </m:r>
                  </m:oMath>
                </a14:m>
                <a:endParaRPr lang="en-US" sz="2200" b="0" i="0" dirty="0">
                  <a:latin typeface="Cambria Math"/>
                </a:endParaRPr>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ea typeface="Cambria Math"/>
                            </a:rPr>
                          </m:ctrlPr>
                        </m:sSubPr>
                        <m:e>
                          <m:r>
                            <m:rPr>
                              <m:sty m:val="p"/>
                            </m:rPr>
                            <a:rPr lang="en-US" sz="2200" b="0" i="0">
                              <a:latin typeface="Cambria Math"/>
                              <a:ea typeface="Cambria Math"/>
                            </a:rPr>
                            <m:t>b</m:t>
                          </m:r>
                        </m:e>
                        <m:sub>
                          <m:r>
                            <m:rPr>
                              <m:sty m:val="p"/>
                            </m:rPr>
                            <a:rPr lang="en-US" sz="2200" b="0" i="0">
                              <a:latin typeface="Cambria Math"/>
                              <a:ea typeface="Cambria Math"/>
                            </a:rPr>
                            <m:t>yx</m:t>
                          </m:r>
                        </m:sub>
                      </m:sSub>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𝑟</m:t>
                          </m:r>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den>
                      </m:f>
                      <m:r>
                        <a:rPr lang="en-US" sz="2200">
                          <a:latin typeface="Cambria Math"/>
                          <a:ea typeface="Cambria Math"/>
                        </a:rPr>
                        <m:t>=</m:t>
                      </m:r>
                      <m:r>
                        <m:rPr>
                          <m:sty m:val="p"/>
                        </m:rPr>
                        <a:rPr lang="en-US" sz="2200">
                          <a:latin typeface="Cambria Math"/>
                          <a:ea typeface="Cambria Math"/>
                        </a:rPr>
                        <m:t>r</m:t>
                      </m:r>
                      <m:r>
                        <a:rPr lang="en-US" sz="2200">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𝑘</m:t>
                          </m:r>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𝑣</m:t>
                              </m:r>
                            </m:sub>
                          </m:sSub>
                        </m:num>
                        <m:den>
                          <m:r>
                            <a:rPr lang="en-US" sz="2200" i="1">
                              <a:latin typeface="Cambria Math"/>
                              <a:ea typeface="Cambria Math"/>
                            </a:rPr>
                            <m:t>h</m:t>
                          </m:r>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𝑢</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𝑘</m:t>
                          </m:r>
                        </m:num>
                        <m:den>
                          <m:r>
                            <a:rPr lang="en-US" sz="2200" i="1">
                              <a:latin typeface="Cambria Math"/>
                              <a:ea typeface="Cambria Math"/>
                            </a:rPr>
                            <m:t>h</m:t>
                          </m:r>
                        </m:den>
                      </m:f>
                      <m:d>
                        <m:dPr>
                          <m:ctrlPr>
                            <a:rPr lang="en-US" sz="2200" i="1">
                              <a:latin typeface="Cambria Math" panose="02040503050406030204" pitchFamily="18" charset="0"/>
                              <a:ea typeface="Cambria Math"/>
                            </a:rPr>
                          </m:ctrlPr>
                        </m:dPr>
                        <m:e>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𝑟</m:t>
                                  </m:r>
                                  <m:r>
                                    <a:rPr lang="en-US" sz="2200" i="1">
                                      <a:latin typeface="Cambria Math"/>
                                      <a:ea typeface="Cambria Math"/>
                                    </a:rPr>
                                    <m:t>𝜎</m:t>
                                  </m:r>
                                </m:e>
                                <m:sub>
                                  <m:r>
                                    <a:rPr lang="en-US" sz="2200" i="1">
                                      <a:latin typeface="Cambria Math"/>
                                      <a:ea typeface="Cambria Math"/>
                                    </a:rPr>
                                    <m:t>𝑣</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𝑢</m:t>
                                  </m:r>
                                </m:sub>
                              </m:sSub>
                            </m:den>
                          </m:f>
                        </m:e>
                      </m:d>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𝑘</m:t>
                          </m:r>
                        </m:num>
                        <m:den>
                          <m:r>
                            <a:rPr lang="en-US" sz="2200" i="1">
                              <a:latin typeface="Cambria Math"/>
                              <a:ea typeface="Cambria Math"/>
                            </a:rPr>
                            <m:t>h</m:t>
                          </m:r>
                        </m:den>
                      </m:f>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𝑣𝑢</m:t>
                          </m:r>
                        </m:sub>
                      </m:sSub>
                    </m:oMath>
                  </m:oMathPara>
                </a14:m>
                <a:endParaRPr lang="en-US" sz="2200" dirty="0"/>
              </a:p>
              <a:p>
                <a:pPr marL="0" indent="0">
                  <a:buNone/>
                </a:pPr>
                <a:r>
                  <a:rPr lang="en-US" sz="2200" dirty="0"/>
                  <a:t>Similarly,</a:t>
                </a:r>
                <a:r>
                  <a:rPr lang="en-US" sz="2200" dirty="0">
                    <a:ea typeface="Cambria Math"/>
                  </a:rPr>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h</m:t>
                        </m:r>
                      </m:num>
                      <m:den>
                        <m:r>
                          <a:rPr lang="en-US" sz="2200" i="1">
                            <a:latin typeface="Cambria Math"/>
                            <a:ea typeface="Cambria Math"/>
                          </a:rPr>
                          <m:t>𝑘</m:t>
                        </m:r>
                      </m:den>
                    </m:f>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𝑢𝑣</m:t>
                        </m:r>
                      </m:sub>
                    </m:sSub>
                  </m:oMath>
                </a14:m>
                <a:r>
                  <a:rPr lang="en-US" sz="2200" dirty="0"/>
                  <a:t> ,</a:t>
                </a:r>
                <a:r>
                  <a:rPr lang="en-US" sz="2200" dirty="0">
                    <a:ea typeface="Cambria Math"/>
                  </a:rPr>
                  <a:t> </a:t>
                </a:r>
                <a:endParaRPr lang="en-US" sz="2200" dirty="0"/>
              </a:p>
              <a:p>
                <a:pPr marL="0" indent="0">
                  <a:buNone/>
                </a:pPr>
                <a:r>
                  <a:rPr lang="en-US" sz="2200" dirty="0"/>
                  <a:t>Thus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oMath>
                </a14:m>
                <a:r>
                  <a:rPr lang="en-US" sz="2200" dirty="0"/>
                  <a:t> and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oMath>
                </a14:m>
                <a:r>
                  <a:rPr lang="en-US" sz="2200" dirty="0"/>
                  <a:t> are both independent of a and b but not of </a:t>
                </a:r>
                <a14:m>
                  <m:oMath xmlns:m="http://schemas.openxmlformats.org/officeDocument/2006/math">
                    <m:r>
                      <a:rPr lang="en-US" sz="2200" i="1">
                        <a:latin typeface="Cambria Math"/>
                      </a:rPr>
                      <m:t>h</m:t>
                    </m:r>
                    <m:r>
                      <a:rPr lang="en-US" sz="2200" i="1">
                        <a:latin typeface="Cambria Math"/>
                      </a:rPr>
                      <m:t> </m:t>
                    </m:r>
                    <m:r>
                      <a:rPr lang="en-US" sz="2200" i="1">
                        <a:latin typeface="Cambria Math"/>
                      </a:rPr>
                      <m:t>𝑎𝑛𝑑</m:t>
                    </m:r>
                    <m:r>
                      <a:rPr lang="en-US" sz="2200" i="1">
                        <a:latin typeface="Cambria Math"/>
                      </a:rPr>
                      <m:t> </m:t>
                    </m:r>
                    <m:r>
                      <a:rPr lang="en-US" sz="2200" i="1">
                        <a:latin typeface="Cambria Math"/>
                      </a:rPr>
                      <m:t>𝑘</m:t>
                    </m:r>
                    <m:r>
                      <a:rPr lang="en-US" sz="2200" i="1">
                        <a:latin typeface="Cambria Math"/>
                      </a:rPr>
                      <m:t>.</m:t>
                    </m:r>
                  </m:oMath>
                </a14:m>
                <a:endParaRPr lang="en-US" sz="2200" dirty="0"/>
              </a:p>
              <a:p>
                <a:pPr marL="0" indent="0">
                  <a:buNone/>
                </a:pPr>
                <a:endParaRPr lang="en-US" sz="2200" dirty="0"/>
              </a:p>
              <a:p>
                <a:endParaRPr lang="en-US" sz="2200" b="0" dirty="0">
                  <a:ea typeface="Cambria Math"/>
                </a:endParaRPr>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539" r="-519" b="-1954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anose="02020603050405020304" pitchFamily="18" charset="0"/>
              </a:rPr>
              <a:t> </a:t>
            </a:r>
            <a:r>
              <a:rPr lang="en-US" sz="2400" b="1" dirty="0">
                <a:latin typeface="Times New Roman" panose="02020603050405020304" pitchFamily="18" charset="0"/>
              </a:rPr>
              <a:t>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775366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Property 5:</a:t>
                </a:r>
                <a:r>
                  <a:rPr lang="en-US" sz="2200" dirty="0"/>
                  <a:t>The correlation coefficient and the two regression coefficient have same sign.</a:t>
                </a:r>
              </a:p>
              <a:p>
                <a:pPr marL="0" indent="0">
                  <a:buNone/>
                </a:pPr>
                <a:r>
                  <a:rPr lang="en-US" sz="2200" b="1" dirty="0"/>
                  <a:t>Proof:</a:t>
                </a:r>
                <a:r>
                  <a:rPr lang="en-US" sz="2200" dirty="0"/>
                  <a:t> Regression coefficient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r>
                      <a:rPr lang="en-US" sz="2200" b="0" i="1" smtClean="0">
                        <a:latin typeface="Cambria Math"/>
                      </a:rPr>
                      <m:t>=</m:t>
                    </m:r>
                  </m:oMath>
                </a14:m>
                <a:r>
                  <a:rPr lang="en-US" sz="2200" dirty="0"/>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r>
                      <a:rPr lang="en-US" sz="2200" i="1">
                        <a:latin typeface="Cambria Math"/>
                        <a:ea typeface="Cambria Math"/>
                      </a:rPr>
                      <m:t>=</m:t>
                    </m:r>
                    <m:r>
                      <a:rPr lang="en-US" sz="2200" b="0" i="1" smtClean="0">
                        <a:latin typeface="Cambria Math"/>
                        <a:ea typeface="Cambria Math"/>
                      </a:rPr>
                      <m:t>𝑟</m:t>
                    </m:r>
                    <m:f>
                      <m:fPr>
                        <m:ctrlPr>
                          <a:rPr lang="en-US" sz="2200" i="1">
                            <a:latin typeface="Cambria Math" panose="02040503050406030204" pitchFamily="18" charset="0"/>
                            <a:ea typeface="Cambria Math"/>
                          </a:rPr>
                        </m:ctrlPr>
                      </m:fPr>
                      <m:num>
                        <m:sSub>
                          <m:sSubPr>
                            <m:ctrlPr>
                              <a:rPr lang="en-US" sz="2200" i="1" smtClean="0">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den>
                    </m:f>
                  </m:oMath>
                </a14:m>
                <a:endParaRPr lang="en-US" sz="2200" dirty="0"/>
              </a:p>
              <a:p>
                <a:pPr marL="0" indent="0">
                  <a:buNone/>
                </a:pPr>
                <a:r>
                  <a:rPr lang="en-US" sz="2200" dirty="0"/>
                  <a:t>Regression coefficient of </a:t>
                </a:r>
                <a14:m>
                  <m:oMath xmlns:m="http://schemas.openxmlformats.org/officeDocument/2006/math">
                    <m:r>
                      <m:rPr>
                        <m:sty m:val="p"/>
                      </m:rPr>
                      <a:rPr lang="en-US" sz="2200" b="0" i="0" smtClean="0">
                        <a:latin typeface="Cambria Math"/>
                      </a:rPr>
                      <m:t>x</m:t>
                    </m:r>
                    <m:r>
                      <a:rPr lang="en-US" sz="2200" i="1">
                        <a:latin typeface="Cambria Math"/>
                      </a:rPr>
                      <m:t> </m:t>
                    </m:r>
                    <m:r>
                      <a:rPr lang="en-US" sz="2200" i="1">
                        <a:latin typeface="Cambria Math"/>
                      </a:rPr>
                      <m:t>𝑜𝑛</m:t>
                    </m:r>
                    <m:r>
                      <a:rPr lang="en-US" sz="2200" i="1">
                        <a:latin typeface="Cambria Math"/>
                      </a:rPr>
                      <m:t> </m:t>
                    </m:r>
                    <m:r>
                      <a:rPr lang="en-US" sz="2200" b="0" i="1" smtClean="0">
                        <a:latin typeface="Cambria Math"/>
                      </a:rPr>
                      <m:t>𝑦</m:t>
                    </m:r>
                    <m:r>
                      <a:rPr lang="en-US" sz="2200" i="1">
                        <a:latin typeface="Cambria Math"/>
                      </a:rPr>
                      <m:t>=</m:t>
                    </m:r>
                  </m:oMath>
                </a14:m>
                <a:r>
                  <a:rPr lang="en-US" sz="2200" dirty="0"/>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m:t>
                        </m:r>
                        <m:r>
                          <a:rPr lang="en-US" sz="2200" b="0" i="1" smtClean="0">
                            <a:latin typeface="Cambria Math"/>
                            <a:ea typeface="Cambria Math"/>
                          </a:rPr>
                          <m:t>𝑦</m:t>
                        </m:r>
                      </m:sub>
                    </m:sSub>
                    <m:r>
                      <a:rPr lang="en-US" sz="2200" i="1">
                        <a:latin typeface="Cambria Math"/>
                        <a:ea typeface="Cambria Math"/>
                      </a:rPr>
                      <m:t>=</m:t>
                    </m:r>
                    <m:r>
                      <a:rPr lang="en-US" sz="2200" i="1">
                        <a:latin typeface="Cambria Math"/>
                        <a:ea typeface="Cambria Math"/>
                      </a:rPr>
                      <m:t>𝑟</m:t>
                    </m:r>
                  </m:oMath>
                </a14:m>
                <a:endParaRPr lang="en-US" sz="2200" i="1" dirty="0">
                  <a:latin typeface="Cambria Math"/>
                  <a:ea typeface="Cambria Math"/>
                </a:endParaRPr>
              </a:p>
              <a:p>
                <a:pPr marL="0" indent="0">
                  <a:buNone/>
                </a:pPr>
                <a14:m>
                  <m:oMathPara xmlns:m="http://schemas.openxmlformats.org/officeDocument/2006/math">
                    <m:oMathParaPr>
                      <m:jc m:val="centerGroup"/>
                    </m:oMathParaPr>
                    <m:oMath xmlns:m="http://schemas.openxmlformats.org/officeDocument/2006/math">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𝑥</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𝑦</m:t>
                              </m:r>
                            </m:sub>
                          </m:sSub>
                        </m:den>
                      </m:f>
                    </m:oMath>
                  </m:oMathPara>
                </a14:m>
                <a:endParaRPr lang="en-US" sz="2200" dirty="0"/>
              </a:p>
              <a:p>
                <a:pPr marL="0" indent="0">
                  <a:buNone/>
                </a:pPr>
                <a:r>
                  <a:rPr lang="en-US" sz="2200" dirty="0"/>
                  <a:t>Since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oMath>
                </a14:m>
                <a:r>
                  <a:rPr lang="en-US" sz="2200" dirty="0"/>
                  <a:t> and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oMath>
                </a14:m>
                <a:r>
                  <a:rPr lang="en-US" sz="2200" dirty="0"/>
                  <a:t> are both positive;</a:t>
                </a:r>
                <a:r>
                  <a:rPr lang="en-US" sz="2200" dirty="0">
                    <a:ea typeface="Cambria Math"/>
                  </a:rPr>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𝑦𝑥</m:t>
                        </m:r>
                      </m:sub>
                    </m:sSub>
                    <m:r>
                      <a:rPr lang="en-US" sz="2200" b="0" i="0" smtClean="0">
                        <a:latin typeface="Cambria Math"/>
                        <a:ea typeface="Cambria Math"/>
                      </a:rPr>
                      <m:t>,</m:t>
                    </m:r>
                  </m:oMath>
                </a14:m>
                <a:r>
                  <a:rPr lang="en-US" sz="2200" dirty="0"/>
                  <a:t> </a:t>
                </a: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𝑏</m:t>
                        </m:r>
                      </m:e>
                      <m:sub>
                        <m:r>
                          <a:rPr lang="en-US" sz="2200" i="1">
                            <a:latin typeface="Cambria Math"/>
                            <a:ea typeface="Cambria Math"/>
                          </a:rPr>
                          <m:t>𝑥𝑦</m:t>
                        </m:r>
                      </m:sub>
                    </m:sSub>
                  </m:oMath>
                </a14:m>
                <a:r>
                  <a:rPr lang="en-US" sz="2200" dirty="0"/>
                  <a:t>  and </a:t>
                </a:r>
                <a14:m>
                  <m:oMath xmlns:m="http://schemas.openxmlformats.org/officeDocument/2006/math">
                    <m:r>
                      <a:rPr lang="en-US" sz="2200" b="0" i="1" smtClean="0">
                        <a:latin typeface="Cambria Math"/>
                      </a:rPr>
                      <m:t>𝑟</m:t>
                    </m:r>
                  </m:oMath>
                </a14:m>
                <a:r>
                  <a:rPr lang="en-US" sz="2200" dirty="0"/>
                  <a:t> have same sign.</a:t>
                </a:r>
              </a:p>
              <a:p>
                <a:pPr marL="0" indent="0">
                  <a:buNone/>
                </a:pPr>
                <a:endParaRPr lang="en-US" sz="2200" b="1" dirty="0"/>
              </a:p>
              <a:p>
                <a:r>
                  <a:rPr lang="en-US" sz="2200" b="1" dirty="0"/>
                  <a:t>Angle Between Two Lines of Regression:</a:t>
                </a:r>
              </a:p>
              <a:p>
                <a:pPr marL="0" indent="0">
                  <a:buNone/>
                </a:pPr>
                <a:r>
                  <a:rPr lang="en-US" sz="2200" dirty="0"/>
                  <a:t>If </a:t>
                </a:r>
                <a14:m>
                  <m:oMath xmlns:m="http://schemas.openxmlformats.org/officeDocument/2006/math">
                    <m:r>
                      <a:rPr lang="en-US" sz="2200" i="1">
                        <a:latin typeface="Cambria Math"/>
                        <a:ea typeface="Cambria Math"/>
                      </a:rPr>
                      <m:t>𝜃</m:t>
                    </m:r>
                    <m:r>
                      <a:rPr lang="en-US" sz="2200" i="1">
                        <a:latin typeface="Cambria Math"/>
                        <a:ea typeface="Cambria Math"/>
                      </a:rPr>
                      <m:t> </m:t>
                    </m:r>
                  </m:oMath>
                </a14:m>
                <a:r>
                  <a:rPr lang="en-US" sz="2200" dirty="0"/>
                  <a:t>is the acute angle between the two regression lines in the case of two variables </a:t>
                </a:r>
                <a14:m>
                  <m:oMath xmlns:m="http://schemas.openxmlformats.org/officeDocument/2006/math">
                    <m:r>
                      <a:rPr lang="en-US" sz="2200" i="1">
                        <a:latin typeface="Cambria Math"/>
                      </a:rPr>
                      <m:t>𝑥</m:t>
                    </m:r>
                    <m:r>
                      <a:rPr lang="en-US" sz="2200" i="1">
                        <a:latin typeface="Cambria Math"/>
                      </a:rPr>
                      <m:t> </m:t>
                    </m:r>
                    <m:r>
                      <a:rPr lang="en-US" sz="2200" i="1">
                        <a:latin typeface="Cambria Math"/>
                      </a:rPr>
                      <m:t>𝑎𝑛𝑑</m:t>
                    </m:r>
                    <m:r>
                      <a:rPr lang="en-US" sz="2200" i="1">
                        <a:latin typeface="Cambria Math"/>
                      </a:rPr>
                      <m:t> </m:t>
                    </m:r>
                    <m:r>
                      <a:rPr lang="en-US" sz="2200" i="1">
                        <a:latin typeface="Cambria Math"/>
                      </a:rPr>
                      <m:t>𝑦</m:t>
                    </m:r>
                  </m:oMath>
                </a14:m>
                <a:r>
                  <a:rPr lang="en-US" sz="2200" dirty="0"/>
                  <a:t> ,show that</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b="-1078"/>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989974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 xmlns:m="http://schemas.openxmlformats.org/officeDocument/2006/math">
                    <m:r>
                      <a:rPr lang="en-US" sz="2200" b="0" i="1" smtClean="0">
                        <a:latin typeface="Cambria Math"/>
                      </a:rPr>
                      <m:t>𝑡𝑎𝑛</m:t>
                    </m:r>
                    <m:r>
                      <a:rPr lang="en-US" sz="2200" b="0" i="1" smtClean="0">
                        <a:latin typeface="Cambria Math"/>
                        <a:ea typeface="Cambria Math"/>
                      </a:rPr>
                      <m:t>𝜃</m:t>
                    </m:r>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𝑟</m:t>
                            </m:r>
                          </m:e>
                          <m:sup>
                            <m:r>
                              <a:rPr lang="en-US" sz="2200" b="0" i="1" smtClean="0">
                                <a:latin typeface="Cambria Math"/>
                                <a:ea typeface="Cambria Math"/>
                              </a:rPr>
                              <m:t>2</m:t>
                            </m:r>
                          </m:sup>
                        </m:sSup>
                      </m:num>
                      <m:den>
                        <m:r>
                          <a:rPr lang="en-US" sz="2200" b="0" i="1" smtClean="0">
                            <a:latin typeface="Cambria Math"/>
                            <a:ea typeface="Cambria Math"/>
                          </a:rPr>
                          <m:t>𝑟</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p>
                          <m:sSupPr>
                            <m:ctrlPr>
                              <a:rPr lang="en-US" sz="2200" b="0" i="1" smtClean="0">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e>
                          <m:sup>
                            <m:r>
                              <a:rPr lang="en-US" sz="2200" b="0" i="1" smtClean="0">
                                <a:latin typeface="Cambria Math"/>
                                <a:ea typeface="Cambria Math"/>
                              </a:rPr>
                              <m:t>2</m:t>
                            </m:r>
                          </m:sup>
                        </m:sSup>
                        <m:r>
                          <a:rPr lang="en-US" sz="2200" b="0" i="1" smtClean="0">
                            <a:latin typeface="Cambria Math"/>
                            <a:ea typeface="Cambria Math"/>
                          </a:rPr>
                          <m:t>+</m:t>
                        </m:r>
                        <m:sSup>
                          <m:sSupPr>
                            <m:ctrlPr>
                              <a:rPr lang="en-US" sz="2200" b="0" i="1" smtClean="0">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b="0" i="1" smtClean="0">
                                <a:latin typeface="Cambria Math"/>
                                <a:ea typeface="Cambria Math"/>
                              </a:rPr>
                              <m:t>2</m:t>
                            </m:r>
                          </m:sup>
                        </m:sSup>
                      </m:den>
                    </m:f>
                    <m:r>
                      <a:rPr lang="en-US" sz="2200" b="0" i="1" smtClean="0">
                        <a:latin typeface="Cambria Math"/>
                        <a:ea typeface="Cambria Math"/>
                      </a:rPr>
                      <m:t>,</m:t>
                    </m:r>
                  </m:oMath>
                </a14:m>
                <a:r>
                  <a:rPr lang="en-US" sz="2200" dirty="0"/>
                  <a:t> where </a:t>
                </a:r>
                <a14:m>
                  <m:oMath xmlns:m="http://schemas.openxmlformats.org/officeDocument/2006/math">
                    <m:r>
                      <a:rPr lang="en-US" sz="2200" b="0" i="1" smtClean="0">
                        <a:latin typeface="Cambria Math"/>
                      </a:rPr>
                      <m:t>𝑟</m:t>
                    </m:r>
                    <m:r>
                      <a:rPr lang="en-US" sz="2200" b="0" i="1" smtClean="0">
                        <a:latin typeface="Cambria Math"/>
                      </a:rPr>
                      <m:t>,</m:t>
                    </m:r>
                  </m:oMath>
                </a14:m>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r>
                          <a:rPr lang="en-US" sz="2200" b="0" i="1" smtClean="0">
                            <a:latin typeface="Cambria Math"/>
                          </a:rPr>
                          <m:t>,</m:t>
                        </m:r>
                      </m:sub>
                    </m:sSub>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oMath>
                </a14:m>
                <a:r>
                  <a:rPr lang="en-US" sz="2200" dirty="0"/>
                  <a:t> have their usual meanings.</a:t>
                </a:r>
              </a:p>
              <a:p>
                <a:pPr marL="0" indent="0">
                  <a:buNone/>
                </a:pPr>
                <a:r>
                  <a:rPr lang="en-US" sz="2200" dirty="0"/>
                  <a:t>Explain the significance of the formula where </a:t>
                </a:r>
                <a14:m>
                  <m:oMath xmlns:m="http://schemas.openxmlformats.org/officeDocument/2006/math">
                    <m:r>
                      <a:rPr lang="en-US" sz="2200" b="0" i="1" smtClean="0">
                        <a:latin typeface="Cambria Math"/>
                      </a:rPr>
                      <m:t>𝑟</m:t>
                    </m:r>
                    <m:r>
                      <a:rPr lang="en-US" sz="2200" b="0" i="1" smtClean="0">
                        <a:latin typeface="Cambria Math"/>
                      </a:rPr>
                      <m:t>=0 </m:t>
                    </m:r>
                    <m:r>
                      <a:rPr lang="en-US" sz="2200" b="0" i="1" smtClean="0">
                        <a:latin typeface="Cambria Math"/>
                      </a:rPr>
                      <m:t>𝑎𝑛𝑑</m:t>
                    </m:r>
                    <m:r>
                      <a:rPr lang="en-US" sz="2200" b="0" i="1" smtClean="0">
                        <a:latin typeface="Cambria Math"/>
                      </a:rPr>
                      <m:t> </m:t>
                    </m:r>
                    <m:r>
                      <a:rPr lang="en-US" sz="2200" b="0" i="1" smtClean="0">
                        <a:latin typeface="Cambria Math"/>
                      </a:rPr>
                      <m:t>𝑟</m:t>
                    </m:r>
                    <m:r>
                      <a:rPr lang="en-US" sz="2200" b="0" i="1" smtClean="0">
                        <a:latin typeface="Cambria Math"/>
                      </a:rPr>
                      <m:t>=±1</m:t>
                    </m:r>
                  </m:oMath>
                </a14:m>
                <a:endParaRPr lang="en-US" sz="2200" dirty="0"/>
              </a:p>
              <a:p>
                <a:pPr marL="0" indent="0">
                  <a:buNone/>
                </a:pPr>
                <a:r>
                  <a:rPr lang="en-US" sz="2200" b="1" dirty="0"/>
                  <a:t>Proof: </a:t>
                </a:r>
                <a:r>
                  <a:rPr lang="en-US" sz="2200" dirty="0"/>
                  <a:t>Equations to the lines of regression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𝑥</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𝑦</m:t>
                    </m:r>
                    <m:r>
                      <a:rPr lang="en-US" sz="2200" b="0" i="1" smtClean="0">
                        <a:latin typeface="Cambria Math"/>
                      </a:rPr>
                      <m:t> </m:t>
                    </m:r>
                    <m:r>
                      <a:rPr lang="en-US" sz="2200" b="0" i="1" smtClean="0">
                        <a:latin typeface="Cambria Math"/>
                      </a:rPr>
                      <m:t>𝑎𝑟𝑒</m:t>
                    </m:r>
                  </m:oMath>
                </a14:m>
                <a:endParaRPr lang="en-US" sz="2200" dirty="0"/>
              </a:p>
              <a:p>
                <a:pPr marL="0" indent="0">
                  <a:buNone/>
                </a:pPr>
                <a14:m>
                  <m:oMath xmlns:m="http://schemas.openxmlformats.org/officeDocument/2006/math">
                    <m:r>
                      <a:rPr lang="en-US" sz="2200" b="0" i="1" smtClean="0">
                        <a:latin typeface="Cambria Math"/>
                      </a:rPr>
                      <m:t>𝑦</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oMath>
                </a14:m>
                <a:r>
                  <a:rPr lang="en-US" sz="2200" dirty="0"/>
                  <a:t> </a:t>
                </a:r>
                <a14:m>
                  <m:oMath xmlns:m="http://schemas.openxmlformats.org/officeDocument/2006/math">
                    <m:d>
                      <m:dPr>
                        <m:ctrlPr>
                          <a:rPr lang="en-US" sz="2200" i="1" dirty="0" smtClean="0">
                            <a:latin typeface="Cambria Math" panose="02040503050406030204" pitchFamily="18" charset="0"/>
                          </a:rPr>
                        </m:ctrlPr>
                      </m:dPr>
                      <m:e>
                        <m:r>
                          <a:rPr lang="en-US" sz="2200" b="0" i="1" dirty="0" smtClean="0">
                            <a:latin typeface="Cambria Math"/>
                          </a:rPr>
                          <m:t>𝑥</m:t>
                        </m:r>
                        <m:r>
                          <a:rPr lang="en-US" sz="2200" b="0" i="1" dirty="0" smtClean="0">
                            <a:latin typeface="Cambria Math"/>
                          </a:rPr>
                          <m:t>−</m:t>
                        </m:r>
                        <m:acc>
                          <m:accPr>
                            <m:chr m:val="̅"/>
                            <m:ctrlPr>
                              <a:rPr lang="en-US" sz="2200" b="0" i="1" dirty="0" smtClean="0">
                                <a:latin typeface="Cambria Math" panose="02040503050406030204" pitchFamily="18" charset="0"/>
                              </a:rPr>
                            </m:ctrlPr>
                          </m:accPr>
                          <m:e>
                            <m:r>
                              <a:rPr lang="en-US" sz="2200" b="0" i="1" dirty="0" smtClean="0">
                                <a:latin typeface="Cambria Math"/>
                              </a:rPr>
                              <m:t>𝑥</m:t>
                            </m:r>
                          </m:e>
                        </m:acc>
                      </m:e>
                    </m:d>
                  </m:oMath>
                </a14:m>
                <a:r>
                  <a:rPr lang="en-US" sz="2200" dirty="0"/>
                  <a:t> and (</a:t>
                </a:r>
                <a14:m>
                  <m:oMath xmlns:m="http://schemas.openxmlformats.org/officeDocument/2006/math">
                    <m:r>
                      <a:rPr lang="en-US" sz="2200" i="1" dirty="0">
                        <a:latin typeface="Cambria Math"/>
                      </a:rPr>
                      <m:t>𝑥</m:t>
                    </m:r>
                    <m:r>
                      <a:rPr lang="en-US" sz="2200" i="1" dirty="0">
                        <a:latin typeface="Cambria Math"/>
                      </a:rPr>
                      <m:t>−</m:t>
                    </m:r>
                    <m:acc>
                      <m:accPr>
                        <m:chr m:val="̅"/>
                        <m:ctrlPr>
                          <a:rPr lang="en-US" sz="2200" i="1" dirty="0">
                            <a:latin typeface="Cambria Math" panose="02040503050406030204" pitchFamily="18" charset="0"/>
                          </a:rPr>
                        </m:ctrlPr>
                      </m:accPr>
                      <m:e>
                        <m:r>
                          <a:rPr lang="en-US" sz="2200" i="1" dirty="0">
                            <a:latin typeface="Cambria Math"/>
                          </a:rPr>
                          <m:t>𝑥</m:t>
                        </m:r>
                      </m:e>
                    </m:acc>
                  </m:oMath>
                </a14:m>
                <a:r>
                  <a:rPr lang="en-US" sz="2200" dirty="0"/>
                  <a:t>)= </a:t>
                </a:r>
                <a14:m>
                  <m:oMath xmlns:m="http://schemas.openxmlformats.org/officeDocument/2006/math">
                    <m:f>
                      <m:fPr>
                        <m:ctrlPr>
                          <a:rPr lang="en-US" sz="2200" i="1" smtClean="0">
                            <a:latin typeface="Cambria Math" panose="02040503050406030204" pitchFamily="18" charset="0"/>
                          </a:rPr>
                        </m:ctrlPr>
                      </m:fPr>
                      <m:num>
                        <m:sSub>
                          <m:sSubPr>
                            <m:ctrlPr>
                              <a:rPr lang="en-US" sz="2200" i="1" smtClean="0">
                                <a:latin typeface="Cambria Math" panose="02040503050406030204" pitchFamily="18" charset="0"/>
                              </a:rPr>
                            </m:ctrlPr>
                          </m:sSubPr>
                          <m:e>
                            <m:r>
                              <a:rPr lang="en-US" sz="2200" i="1">
                                <a:latin typeface="Cambria Math"/>
                              </a:rPr>
                              <m:t>𝑟</m:t>
                            </m:r>
                            <m:r>
                              <a:rPr lang="en-US" sz="2200" i="1" smtClean="0">
                                <a:latin typeface="Cambria Math"/>
                                <a:ea typeface="Cambria Math"/>
                              </a:rPr>
                              <m:t>𝜎</m:t>
                            </m:r>
                          </m:e>
                          <m:sub>
                            <m:r>
                              <a:rPr lang="en-US" sz="2200" i="1">
                                <a:latin typeface="Cambria Math"/>
                              </a:rPr>
                              <m:t>𝑥</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den>
                    </m:f>
                    <m:r>
                      <a:rPr lang="en-US" sz="2200" b="0" i="1" smtClean="0">
                        <a:latin typeface="Cambria Math"/>
                      </a:rPr>
                      <m:t>(</m:t>
                    </m:r>
                    <m:r>
                      <a:rPr lang="en-US" sz="2200" i="1">
                        <a:latin typeface="Cambria Math"/>
                      </a:rPr>
                      <m:t>𝑦</m:t>
                    </m:r>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𝑦</m:t>
                        </m:r>
                        <m:r>
                          <a:rPr lang="en-US" sz="2200" b="0" i="1" smtClean="0">
                            <a:latin typeface="Cambria Math"/>
                          </a:rPr>
                          <m:t>)</m:t>
                        </m:r>
                      </m:e>
                    </m:acc>
                  </m:oMath>
                </a14:m>
                <a:r>
                  <a:rPr lang="en-US" sz="2200" dirty="0"/>
                  <a:t> </a:t>
                </a:r>
              </a:p>
              <a:p>
                <a:pPr marL="0" indent="0">
                  <a:buNone/>
                </a:pPr>
                <a:r>
                  <a:rPr lang="en-US" sz="2200" dirty="0"/>
                  <a:t>The slopes are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𝑚</m:t>
                        </m:r>
                      </m:e>
                      <m:sub>
                        <m:r>
                          <a:rPr lang="en-US" sz="2200" b="0" i="1" smtClean="0">
                            <a:latin typeface="Cambria Math"/>
                          </a:rPr>
                          <m:t>1</m:t>
                        </m:r>
                      </m:sub>
                    </m:sSub>
                    <m:r>
                      <a:rPr lang="en-US" sz="2200" b="0" i="1" smtClean="0">
                        <a:latin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oMath>
                </a14:m>
                <a:r>
                  <a:rPr lang="en-US" sz="2200" dirty="0"/>
                  <a:t> and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𝑚</m:t>
                        </m:r>
                      </m:e>
                      <m:sub>
                        <m:r>
                          <a:rPr lang="en-US" sz="2200" b="0" i="1" smtClean="0">
                            <a:latin typeface="Cambria Math"/>
                          </a:rPr>
                          <m:t>2</m:t>
                        </m:r>
                      </m:sub>
                    </m:sSub>
                    <m:r>
                      <a:rPr lang="en-US" sz="2200" b="0" i="1" smtClean="0">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r>
                          <a:rPr lang="en-US" sz="2200" b="0" i="1" smtClean="0">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oMath>
                </a14:m>
                <a:endParaRPr lang="en-US" sz="2200" dirty="0"/>
              </a:p>
              <a:p>
                <a:pPr marL="0" indent="0">
                  <a:buNone/>
                </a:pPr>
                <a:r>
                  <a:rPr lang="en-US" sz="2200" dirty="0"/>
                  <a:t>tan</a:t>
                </a:r>
                <a14:m>
                  <m:oMath xmlns:m="http://schemas.openxmlformats.org/officeDocument/2006/math">
                    <m:r>
                      <a:rPr lang="en-US" sz="2200" i="1" smtClean="0">
                        <a:latin typeface="Cambria Math"/>
                        <a:ea typeface="Cambria Math"/>
                      </a:rPr>
                      <m:t>𝜃</m:t>
                    </m:r>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sSub>
                          <m:sSubPr>
                            <m:ctrlPr>
                              <a:rPr lang="en-US" sz="2200" i="1">
                                <a:latin typeface="Cambria Math" panose="02040503050406030204" pitchFamily="18" charset="0"/>
                              </a:rPr>
                            </m:ctrlPr>
                          </m:sSubPr>
                          <m:e>
                            <m:r>
                              <a:rPr lang="en-US" sz="2200" i="1">
                                <a:latin typeface="Cambria Math"/>
                              </a:rPr>
                              <m:t>𝑚</m:t>
                            </m:r>
                          </m:e>
                          <m:sub>
                            <m:r>
                              <a:rPr lang="en-US" sz="2200" i="1">
                                <a:latin typeface="Cambria Math"/>
                              </a:rPr>
                              <m:t>2</m:t>
                            </m:r>
                          </m:sub>
                        </m:sSub>
                        <m:r>
                          <a:rPr lang="en-US" sz="2200" b="0" i="1" smtClean="0">
                            <a:latin typeface="Cambria Math"/>
                          </a:rPr>
                          <m:t>−</m:t>
                        </m:r>
                        <m:sSub>
                          <m:sSubPr>
                            <m:ctrlPr>
                              <a:rPr lang="en-US" sz="2200" i="1">
                                <a:latin typeface="Cambria Math" panose="02040503050406030204" pitchFamily="18" charset="0"/>
                              </a:rPr>
                            </m:ctrlPr>
                          </m:sSubPr>
                          <m:e>
                            <m:r>
                              <a:rPr lang="en-US" sz="2200" i="1">
                                <a:latin typeface="Cambria Math"/>
                              </a:rPr>
                              <m:t>𝑚</m:t>
                            </m:r>
                          </m:e>
                          <m:sub>
                            <m:r>
                              <a:rPr lang="en-US" sz="2200" i="1">
                                <a:latin typeface="Cambria Math"/>
                              </a:rPr>
                              <m:t>1</m:t>
                            </m:r>
                          </m:sub>
                        </m:sSub>
                      </m:num>
                      <m:den>
                        <m:r>
                          <a:rPr lang="en-US" sz="2200" b="0" i="1" smtClean="0">
                            <a:latin typeface="Cambria Math"/>
                            <a:ea typeface="Cambria Math"/>
                          </a:rPr>
                          <m:t>1+</m:t>
                        </m:r>
                        <m:sSub>
                          <m:sSubPr>
                            <m:ctrlPr>
                              <a:rPr lang="en-US" sz="2200" i="1">
                                <a:latin typeface="Cambria Math" panose="02040503050406030204" pitchFamily="18" charset="0"/>
                              </a:rPr>
                            </m:ctrlPr>
                          </m:sSubPr>
                          <m:e>
                            <m:r>
                              <a:rPr lang="en-US" sz="2200" i="1">
                                <a:latin typeface="Cambria Math"/>
                              </a:rPr>
                              <m:t>𝑚</m:t>
                            </m:r>
                          </m:e>
                          <m:sub>
                            <m:r>
                              <a:rPr lang="en-US" sz="2200" i="1">
                                <a:latin typeface="Cambria Math"/>
                              </a:rPr>
                              <m:t>2</m:t>
                            </m:r>
                          </m:sub>
                        </m:sSub>
                        <m:sSub>
                          <m:sSubPr>
                            <m:ctrlPr>
                              <a:rPr lang="en-US" sz="2200" i="1">
                                <a:latin typeface="Cambria Math" panose="02040503050406030204" pitchFamily="18" charset="0"/>
                              </a:rPr>
                            </m:ctrlPr>
                          </m:sSubPr>
                          <m:e>
                            <m:r>
                              <a:rPr lang="en-US" sz="2200" i="1">
                                <a:latin typeface="Cambria Math"/>
                              </a:rPr>
                              <m:t>𝑚</m:t>
                            </m:r>
                          </m:e>
                          <m:sub>
                            <m:r>
                              <a:rPr lang="en-US" sz="2200" i="1">
                                <a:latin typeface="Cambria Math"/>
                              </a:rPr>
                              <m:t>1</m:t>
                            </m:r>
                          </m:sub>
                        </m:sSub>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r>
                              <a:rPr lang="en-US" sz="2200" b="0" i="1" smtClean="0">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r>
                          <a:rPr lang="en-US" sz="2200" b="0" i="1" smtClean="0">
                            <a:latin typeface="Cambria Math"/>
                          </a:rPr>
                          <m:t>−</m:t>
                        </m:r>
                        <m:f>
                          <m:fPr>
                            <m:ctrlPr>
                              <a:rPr lang="en-US" sz="2200" i="1">
                                <a:latin typeface="Cambria Math" panose="02040503050406030204" pitchFamily="18" charset="0"/>
                              </a:rPr>
                            </m:ctrlPr>
                          </m:fPr>
                          <m:num>
                            <m:r>
                              <a:rPr lang="en-US" sz="2200" i="1">
                                <a:latin typeface="Cambria Math"/>
                              </a:rPr>
                              <m:t>𝑟</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den>
                        </m:f>
                      </m:num>
                      <m:den>
                        <m:r>
                          <a:rPr lang="en-US" sz="2200" b="0" i="1" smtClean="0">
                            <a:latin typeface="Cambria Math"/>
                            <a:ea typeface="Cambria Math"/>
                          </a:rPr>
                          <m:t>1+</m:t>
                        </m:r>
                        <m:f>
                          <m:fPr>
                            <m:ctrlPr>
                              <a:rPr lang="en-US" sz="2200" i="1">
                                <a:latin typeface="Cambria Math" panose="02040503050406030204" pitchFamily="18" charset="0"/>
                              </a:rPr>
                            </m:ctrlPr>
                          </m:fPr>
                          <m:num>
                            <m:sSup>
                              <m:sSupPr>
                                <m:ctrlPr>
                                  <a:rPr lang="en-US" sz="2200" i="1" smtClean="0">
                                    <a:latin typeface="Cambria Math" panose="02040503050406030204" pitchFamily="18" charset="0"/>
                                  </a:rPr>
                                </m:ctrlPr>
                              </m:sSupPr>
                              <m:e>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𝑦</m:t>
                                    </m:r>
                                  </m:sub>
                                </m:sSub>
                              </m:e>
                              <m:sup>
                                <m:r>
                                  <a:rPr lang="en-US" sz="2200" b="0" i="1" smtClean="0">
                                    <a:latin typeface="Cambria Math"/>
                                  </a:rPr>
                                  <m:t>2</m:t>
                                </m:r>
                              </m:sup>
                            </m:sSup>
                          </m:num>
                          <m:den>
                            <m:sSup>
                              <m:sSupPr>
                                <m:ctrlPr>
                                  <a:rPr lang="en-US" sz="2200" i="1" smtClean="0">
                                    <a:latin typeface="Cambria Math" panose="02040503050406030204" pitchFamily="18" charset="0"/>
                                  </a:rPr>
                                </m:ctrlPr>
                              </m:sSupPr>
                              <m:e>
                                <m:sSub>
                                  <m:sSubPr>
                                    <m:ctrlPr>
                                      <a:rPr lang="en-US" sz="2200" i="1" smtClean="0">
                                        <a:latin typeface="Cambria Math" panose="02040503050406030204" pitchFamily="18" charset="0"/>
                                      </a:rPr>
                                    </m:ctrlPr>
                                  </m:sSubPr>
                                  <m:e>
                                    <m:r>
                                      <a:rPr lang="en-US" sz="2200" i="1" smtClean="0">
                                        <a:latin typeface="Cambria Math"/>
                                        <a:ea typeface="Cambria Math"/>
                                      </a:rPr>
                                      <m:t>𝜎</m:t>
                                    </m:r>
                                  </m:e>
                                  <m:sub>
                                    <m:r>
                                      <a:rPr lang="en-US" sz="2200" b="0" i="1" smtClean="0">
                                        <a:latin typeface="Cambria Math"/>
                                      </a:rPr>
                                      <m:t>𝑥</m:t>
                                    </m:r>
                                  </m:sub>
                                </m:sSub>
                              </m:e>
                              <m:sup>
                                <m:r>
                                  <a:rPr lang="en-US" sz="2200" b="0" i="1" smtClean="0">
                                    <a:latin typeface="Cambria Math"/>
                                  </a:rPr>
                                  <m:t>2</m:t>
                                </m:r>
                              </m:sup>
                            </m:sSup>
                          </m:den>
                        </m:f>
                      </m:den>
                    </m:f>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8259563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𝑟</m:t>
                              </m:r>
                            </m:e>
                            <m:sup>
                              <m:r>
                                <a:rPr lang="en-US" sz="2200" b="0" i="1" smtClean="0">
                                  <a:latin typeface="Cambria Math"/>
                                  <a:ea typeface="Cambria Math"/>
                                </a:rPr>
                                <m:t>2</m:t>
                              </m:r>
                            </m:sup>
                          </m:sSup>
                        </m:num>
                        <m:den>
                          <m:r>
                            <a:rPr lang="en-US" sz="2200" b="0" i="1" smtClean="0">
                              <a:latin typeface="Cambria Math"/>
                              <a:ea typeface="Cambria Math"/>
                            </a:rPr>
                            <m:t>𝑟</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b>
                            <m:sSubPr>
                              <m:ctrlPr>
                                <a:rPr lang="en-US" sz="2200" i="1">
                                  <a:latin typeface="Cambria Math" panose="02040503050406030204" pitchFamily="18" charset="0"/>
                                </a:rPr>
                              </m:ctrlPr>
                            </m:sSubPr>
                            <m:e>
                              <m:r>
                                <a:rPr lang="en-US" sz="2200" i="1">
                                  <a:latin typeface="Cambria Math"/>
                                  <a:ea typeface="Cambria Math"/>
                                </a:rPr>
                                <m:t>𝜎</m:t>
                              </m:r>
                            </m:e>
                            <m:sub>
                              <m:r>
                                <a:rPr lang="en-US" sz="2200" b="0" i="1" smtClean="0">
                                  <a:latin typeface="Cambria Math"/>
                                  <a:ea typeface="Cambria Math"/>
                                </a:rPr>
                                <m:t>𝑥</m:t>
                              </m:r>
                            </m:sub>
                          </m:sSub>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sSup>
                            <m:sSupPr>
                              <m:ctrlPr>
                                <a:rPr lang="en-US" sz="2200" b="0" i="1" smtClean="0">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e>
                            <m:sup>
                              <m:r>
                                <a:rPr lang="en-US" sz="2200" b="0" i="1" smtClean="0">
                                  <a:latin typeface="Cambria Math"/>
                                  <a:ea typeface="Cambria Math"/>
                                </a:rPr>
                                <m:t>2</m:t>
                              </m:r>
                            </m:sup>
                          </m:sSup>
                        </m:num>
                        <m:den>
                          <m:sSup>
                            <m:sSupPr>
                              <m:ctrlPr>
                                <a:rPr lang="en-US" sz="2200" b="0" i="1" smtClean="0">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e>
                            <m:sup>
                              <m:r>
                                <a:rPr lang="en-US" sz="2200" b="0" i="1" smtClean="0">
                                  <a:latin typeface="Cambria Math"/>
                                  <a:ea typeface="Cambria Math"/>
                                </a:rPr>
                                <m:t>2</m:t>
                              </m:r>
                            </m:sup>
                          </m:sSup>
                          <m:r>
                            <a:rPr lang="en-US" sz="2200" b="0" i="1" smtClean="0">
                              <a:latin typeface="Cambria Math"/>
                              <a:ea typeface="Cambria Math"/>
                            </a:rPr>
                            <m:t>+</m:t>
                          </m:r>
                          <m:sSup>
                            <m:sSupPr>
                              <m:ctrlPr>
                                <a:rPr lang="en-US" sz="2200" b="0" i="1" smtClean="0">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b="0" i="1" smtClean="0">
                                  <a:latin typeface="Cambria Math"/>
                                  <a:ea typeface="Cambria Math"/>
                                </a:rPr>
                                <m:t>2</m:t>
                              </m:r>
                            </m:sup>
                          </m:sSup>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𝑟</m:t>
                              </m:r>
                            </m:e>
                            <m:sup>
                              <m:r>
                                <a:rPr lang="en-US" sz="2200" b="0" i="1" smtClean="0">
                                  <a:latin typeface="Cambria Math"/>
                                  <a:ea typeface="Cambria Math"/>
                                </a:rPr>
                                <m:t>2</m:t>
                              </m:r>
                            </m:sup>
                          </m:sSup>
                        </m:num>
                        <m:den>
                          <m:r>
                            <a:rPr lang="en-US" sz="2200" b="0" i="1" smtClean="0">
                              <a:latin typeface="Cambria Math"/>
                              <a:ea typeface="Cambria Math"/>
                            </a:rPr>
                            <m:t>𝑟</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p>
                            <m:sSupPr>
                              <m:ctrlPr>
                                <a:rPr lang="en-US" sz="2200" i="1">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e>
                            <m:sup>
                              <m:r>
                                <a:rPr lang="en-US" sz="2200" i="1">
                                  <a:latin typeface="Cambria Math"/>
                                  <a:ea typeface="Cambria Math"/>
                                </a:rPr>
                                <m:t>2</m:t>
                              </m:r>
                            </m:sup>
                          </m:sSup>
                          <m:r>
                            <a:rPr lang="en-US" sz="2200" i="1">
                              <a:latin typeface="Cambria Math"/>
                              <a:ea typeface="Cambria Math"/>
                            </a:rPr>
                            <m:t>+</m:t>
                          </m:r>
                          <m:sSup>
                            <m:sSupPr>
                              <m:ctrlPr>
                                <a:rPr lang="en-US" sz="2200" i="1">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i="1">
                                  <a:latin typeface="Cambria Math"/>
                                  <a:ea typeface="Cambria Math"/>
                                </a:rPr>
                                <m:t>2</m:t>
                              </m:r>
                            </m:sup>
                          </m:sSup>
                        </m:den>
                      </m:f>
                    </m:oMath>
                  </m:oMathPara>
                </a14:m>
                <a:endParaRPr lang="en-US" sz="2200" dirty="0"/>
              </a:p>
              <a:p>
                <a:pPr marL="0" indent="0">
                  <a:buNone/>
                </a:pPr>
                <a:r>
                  <a:rPr lang="en-US" sz="2200" dirty="0"/>
                  <a:t>Since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a:rPr>
                          <m:t>𝑟</m:t>
                        </m:r>
                      </m:e>
                      <m:sup>
                        <m:r>
                          <a:rPr lang="en-US" sz="2200" b="0" i="1" smtClean="0">
                            <a:latin typeface="Cambria Math"/>
                          </a:rPr>
                          <m:t>2</m:t>
                        </m:r>
                      </m:sup>
                    </m:sSup>
                    <m:r>
                      <a:rPr lang="en-US" sz="2200" i="1" smtClean="0">
                        <a:latin typeface="Cambria Math"/>
                        <a:ea typeface="Cambria Math"/>
                      </a:rPr>
                      <m:t>≤</m:t>
                    </m:r>
                    <m:r>
                      <a:rPr lang="en-US" sz="2200" b="0" i="1" smtClean="0">
                        <a:latin typeface="Cambria Math"/>
                        <a:ea typeface="Cambria Math"/>
                      </a:rPr>
                      <m:t>1</m:t>
                    </m:r>
                  </m:oMath>
                </a14:m>
                <a:r>
                  <a:rPr lang="en-US" sz="2200" dirty="0"/>
                  <a:t> 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sSub>
                      <m:sSubPr>
                        <m:ctrlPr>
                          <a:rPr lang="en-US" sz="2200" i="1">
                            <a:latin typeface="Cambria Math" panose="02040503050406030204" pitchFamily="18" charset="0"/>
                          </a:rPr>
                        </m:ctrlPr>
                      </m:sSubPr>
                      <m:e>
                        <m:r>
                          <a:rPr lang="en-US" sz="2200" b="0" i="1" smtClean="0">
                            <a:latin typeface="Cambria Math"/>
                          </a:rPr>
                          <m:t>,</m:t>
                        </m:r>
                        <m:r>
                          <a:rPr lang="en-US" sz="2200" i="1">
                            <a:latin typeface="Cambria Math"/>
                            <a:ea typeface="Cambria Math"/>
                          </a:rPr>
                          <m:t>𝜎</m:t>
                        </m:r>
                      </m:e>
                      <m:sub>
                        <m:r>
                          <a:rPr lang="en-US" sz="2200" i="1">
                            <a:latin typeface="Cambria Math"/>
                          </a:rPr>
                          <m:t>𝑦</m:t>
                        </m:r>
                      </m:sub>
                    </m:sSub>
                    <m:r>
                      <a:rPr lang="en-US" sz="2200" b="0" i="1" smtClean="0">
                        <a:latin typeface="Cambria Math"/>
                      </a:rPr>
                      <m:t>  </m:t>
                    </m:r>
                  </m:oMath>
                </a14:m>
                <a:r>
                  <a:rPr lang="en-US" sz="2200" b="0" dirty="0"/>
                  <a:t>are positive.</a:t>
                </a:r>
              </a:p>
              <a:p>
                <a:pPr marL="0" indent="0">
                  <a:buNone/>
                </a:pPr>
                <a:r>
                  <a:rPr lang="en-US" sz="2200" dirty="0"/>
                  <a:t>tan</a:t>
                </a:r>
                <a14:m>
                  <m:oMath xmlns:m="http://schemas.openxmlformats.org/officeDocument/2006/math">
                    <m:r>
                      <a:rPr lang="en-US" sz="2200" i="1">
                        <a:latin typeface="Cambria Math"/>
                        <a:ea typeface="Cambria Math"/>
                      </a:rPr>
                      <m:t>𝜃</m:t>
                    </m:r>
                    <m:r>
                      <a:rPr lang="en-US" sz="2200" b="0" i="0" smtClean="0">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sSup>
                          <m:sSupPr>
                            <m:ctrlPr>
                              <a:rPr lang="en-US" sz="2200" i="1">
                                <a:latin typeface="Cambria Math" panose="02040503050406030204" pitchFamily="18" charset="0"/>
                                <a:ea typeface="Cambria Math"/>
                              </a:rPr>
                            </m:ctrlPr>
                          </m:sSupPr>
                          <m:e>
                            <m:r>
                              <a:rPr lang="en-US" sz="2200" i="1">
                                <a:latin typeface="Cambria Math"/>
                                <a:ea typeface="Cambria Math"/>
                              </a:rPr>
                              <m:t>𝑟</m:t>
                            </m:r>
                          </m:e>
                          <m:sup>
                            <m:r>
                              <a:rPr lang="en-US" sz="2200" i="1">
                                <a:latin typeface="Cambria Math"/>
                                <a:ea typeface="Cambria Math"/>
                              </a:rPr>
                              <m:t>2</m:t>
                            </m:r>
                          </m:sup>
                        </m:sSup>
                      </m:num>
                      <m:den>
                        <m:r>
                          <a:rPr lang="en-US" sz="2200" i="1">
                            <a:latin typeface="Cambria Math"/>
                            <a:ea typeface="Cambria Math"/>
                          </a:rPr>
                          <m:t>𝑟</m:t>
                        </m:r>
                      </m:den>
                    </m:f>
                    <m:r>
                      <a:rPr lang="en-US" sz="2200" i="1">
                        <a:latin typeface="Cambria Math"/>
                        <a:ea typeface="Cambria Math"/>
                      </a:rPr>
                      <m:t>.</m:t>
                    </m:r>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num>
                      <m:den>
                        <m:sSup>
                          <m:sSupPr>
                            <m:ctrlPr>
                              <a:rPr lang="en-US" sz="2200" i="1">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𝑥</m:t>
                                </m:r>
                              </m:sub>
                            </m:sSub>
                          </m:e>
                          <m:sup>
                            <m:r>
                              <a:rPr lang="en-US" sz="2200" i="1">
                                <a:latin typeface="Cambria Math"/>
                                <a:ea typeface="Cambria Math"/>
                              </a:rPr>
                              <m:t>2</m:t>
                            </m:r>
                          </m:sup>
                        </m:sSup>
                        <m:r>
                          <a:rPr lang="en-US" sz="2200" i="1">
                            <a:latin typeface="Cambria Math"/>
                            <a:ea typeface="Cambria Math"/>
                          </a:rPr>
                          <m:t>+</m:t>
                        </m:r>
                        <m:sSup>
                          <m:sSupPr>
                            <m:ctrlPr>
                              <a:rPr lang="en-US" sz="2200" i="1">
                                <a:latin typeface="Cambria Math" panose="02040503050406030204" pitchFamily="18" charset="0"/>
                                <a:ea typeface="Cambria Math"/>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i="1">
                                <a:latin typeface="Cambria Math"/>
                                <a:ea typeface="Cambria Math"/>
                              </a:rPr>
                              <m:t>2</m:t>
                            </m:r>
                          </m:sup>
                        </m:sSup>
                      </m:den>
                    </m:f>
                  </m:oMath>
                </a14:m>
                <a:r>
                  <a:rPr lang="en-US" sz="2200" b="0" dirty="0"/>
                  <a:t>   Where </a:t>
                </a:r>
                <a14:m>
                  <m:oMath xmlns:m="http://schemas.openxmlformats.org/officeDocument/2006/math">
                    <m:r>
                      <a:rPr lang="en-US" sz="2200" b="0" i="1" smtClean="0">
                        <a:latin typeface="Cambria Math"/>
                      </a:rPr>
                      <m:t>𝑟</m:t>
                    </m:r>
                    <m:r>
                      <a:rPr lang="en-US" sz="2200" b="0" i="1" smtClean="0">
                        <a:latin typeface="Cambria Math"/>
                      </a:rPr>
                      <m:t>=0,</m:t>
                    </m:r>
                    <m:r>
                      <a:rPr lang="en-US" sz="2200" b="0" i="1" smtClean="0">
                        <a:latin typeface="Cambria Math"/>
                        <a:ea typeface="Cambria Math"/>
                      </a:rPr>
                      <m:t>𝜃</m:t>
                    </m:r>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𝜋</m:t>
                        </m:r>
                      </m:num>
                      <m:den>
                        <m:r>
                          <a:rPr lang="en-US" sz="2200" b="0" i="1" smtClean="0">
                            <a:latin typeface="Cambria Math"/>
                            <a:ea typeface="Cambria Math"/>
                          </a:rPr>
                          <m:t>2</m:t>
                        </m:r>
                      </m:den>
                    </m:f>
                  </m:oMath>
                </a14:m>
                <a:r>
                  <a:rPr lang="en-US" sz="2200" b="0" dirty="0"/>
                  <a:t> the two lines of regression are </a:t>
                </a:r>
                <a:r>
                  <a:rPr lang="en-US" sz="2200" dirty="0"/>
                  <a:t>Perpendicular to each other. Hence the estimated value of </a:t>
                </a:r>
                <a14:m>
                  <m:oMath xmlns:m="http://schemas.openxmlformats.org/officeDocument/2006/math">
                    <m:r>
                      <a:rPr lang="en-US" sz="2200" b="0" i="1" smtClean="0">
                        <a:latin typeface="Cambria Math"/>
                      </a:rPr>
                      <m:t>𝑦</m:t>
                    </m:r>
                  </m:oMath>
                </a14:m>
                <a:r>
                  <a:rPr lang="en-US" sz="2200" b="0" dirty="0"/>
                  <a:t> is the same for all values of </a:t>
                </a:r>
                <a14:m>
                  <m:oMath xmlns:m="http://schemas.openxmlformats.org/officeDocument/2006/math">
                    <m:r>
                      <a:rPr lang="en-US" sz="2200" b="0" i="1" smtClean="0">
                        <a:latin typeface="Cambria Math"/>
                      </a:rPr>
                      <m:t>𝑥</m:t>
                    </m:r>
                    <m:r>
                      <a:rPr lang="en-US" sz="2200" b="0" i="1" smtClean="0">
                        <a:latin typeface="Cambria Math"/>
                      </a:rPr>
                      <m:t> </m:t>
                    </m:r>
                  </m:oMath>
                </a14:m>
                <a:r>
                  <a:rPr lang="en-US" sz="2200" b="0" dirty="0"/>
                  <a:t>and vice versa.</a:t>
                </a:r>
              </a:p>
              <a:p>
                <a:pPr marL="0" indent="0">
                  <a:buNone/>
                </a:pPr>
                <a:r>
                  <a:rPr lang="en-US" sz="2200" dirty="0"/>
                  <a:t>When </a:t>
                </a:r>
                <a14:m>
                  <m:oMath xmlns:m="http://schemas.openxmlformats.org/officeDocument/2006/math">
                    <m:r>
                      <a:rPr lang="en-US" sz="2200" b="0" i="1" smtClean="0">
                        <a:latin typeface="Cambria Math"/>
                      </a:rPr>
                      <m:t>𝑟</m:t>
                    </m:r>
                    <m:r>
                      <a:rPr lang="en-US" sz="2200" b="0" i="1" smtClean="0">
                        <a:latin typeface="Cambria Math"/>
                      </a:rPr>
                      <m:t>=±1,</m:t>
                    </m:r>
                    <m:r>
                      <a:rPr lang="en-US" sz="2200" b="0" i="1" smtClean="0">
                        <a:latin typeface="Cambria Math"/>
                        <a:ea typeface="Cambria Math"/>
                      </a:rPr>
                      <m:t>𝑡𝑎𝑛</m:t>
                    </m:r>
                    <m:r>
                      <a:rPr lang="en-US" sz="2200" b="0" i="1" smtClean="0">
                        <a:latin typeface="Cambria Math"/>
                        <a:ea typeface="Cambria Math"/>
                      </a:rPr>
                      <m:t>𝜃</m:t>
                    </m:r>
                    <m:r>
                      <a:rPr lang="en-US" sz="2200" b="0" i="1" smtClean="0">
                        <a:latin typeface="Cambria Math"/>
                        <a:ea typeface="Cambria Math"/>
                      </a:rPr>
                      <m:t>=0</m:t>
                    </m:r>
                  </m:oMath>
                </a14:m>
                <a:r>
                  <a:rPr lang="en-US" sz="2200" b="0" dirty="0"/>
                  <a:t> so that </a:t>
                </a:r>
                <a14:m>
                  <m:oMath xmlns:m="http://schemas.openxmlformats.org/officeDocument/2006/math">
                    <m:r>
                      <a:rPr lang="en-US" sz="2200" b="0" i="1" smtClean="0">
                        <a:latin typeface="Cambria Math"/>
                        <a:ea typeface="Cambria Math"/>
                      </a:rPr>
                      <m:t>𝜃</m:t>
                    </m:r>
                    <m:r>
                      <a:rPr lang="en-US" sz="2200" b="0" i="1" smtClean="0">
                        <a:latin typeface="Cambria Math"/>
                        <a:ea typeface="Cambria Math"/>
                      </a:rPr>
                      <m:t>=0 </m:t>
                    </m:r>
                    <m:r>
                      <a:rPr lang="en-US" sz="2200" b="0" i="1" smtClean="0">
                        <a:latin typeface="Cambria Math"/>
                        <a:ea typeface="Cambria Math"/>
                      </a:rPr>
                      <m:t>𝑜𝑟</m:t>
                    </m:r>
                    <m:r>
                      <a:rPr lang="en-US" sz="2200" b="0" i="1" smtClean="0">
                        <a:latin typeface="Cambria Math"/>
                        <a:ea typeface="Cambria Math"/>
                      </a:rPr>
                      <m:t> </m:t>
                    </m:r>
                    <m:r>
                      <a:rPr lang="en-US" sz="2200" b="0" i="1" smtClean="0">
                        <a:latin typeface="Cambria Math"/>
                        <a:ea typeface="Cambria Math"/>
                      </a:rPr>
                      <m:t>𝜋</m:t>
                    </m:r>
                  </m:oMath>
                </a14:m>
                <a:endParaRPr lang="en-US" sz="2200" b="0" dirty="0">
                  <a:ea typeface="Cambria Math"/>
                </a:endParaRPr>
              </a:p>
              <a:p>
                <a:pPr marL="0" indent="0">
                  <a:buNone/>
                </a:pPr>
                <a:r>
                  <a:rPr lang="en-US" sz="2200" b="0" dirty="0"/>
                  <a:t>Hence the lines of regression coincide and there is perfect correlation between the two </a:t>
                </a:r>
                <a:r>
                  <a:rPr lang="en-US" sz="2200" b="0" dirty="0" err="1"/>
                  <a:t>variates</a:t>
                </a:r>
                <a:r>
                  <a:rPr lang="en-US" sz="2200" b="0" dirty="0"/>
                  <a:t>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r>
                      <a:rPr lang="en-US" sz="2200" b="0" i="1" smtClean="0">
                        <a:latin typeface="Cambria Math"/>
                      </a:rPr>
                      <m:t>.</m:t>
                    </m:r>
                  </m:oMath>
                </a14:m>
                <a:endParaRPr lang="en-US" sz="2200" b="0" dirty="0"/>
              </a:p>
              <a:p>
                <a:pPr marL="0" indent="0">
                  <a:buNone/>
                </a:pPr>
                <a:endParaRPr lang="en-US" sz="2200" b="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r="-222" b="-485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Regression Analysis Properties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9901771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Q. </a:t>
                </a:r>
                <a:r>
                  <a:rPr lang="en-US" sz="2200" dirty="0"/>
                  <a:t>The equation of two regression lines, obtained in a correlation </a:t>
                </a:r>
              </a:p>
              <a:p>
                <a:pPr marL="0" indent="0">
                  <a:buNone/>
                </a:pPr>
                <a:r>
                  <a:rPr lang="en-US" sz="2200" dirty="0"/>
                  <a:t>analysis of 60 observations are:</a:t>
                </a:r>
              </a:p>
              <a:p>
                <a:pPr marL="0" indent="0">
                  <a:buNone/>
                </a:pPr>
                <a14:m>
                  <m:oMath xmlns:m="http://schemas.openxmlformats.org/officeDocument/2006/math">
                    <m:r>
                      <a:rPr lang="en-US" sz="2200" b="0" i="1" smtClean="0">
                        <a:latin typeface="Cambria Math"/>
                      </a:rPr>
                      <m:t>5</m:t>
                    </m:r>
                    <m:r>
                      <a:rPr lang="en-US" sz="2200" b="0" i="1" smtClean="0">
                        <a:latin typeface="Cambria Math"/>
                      </a:rPr>
                      <m:t>𝑥</m:t>
                    </m:r>
                    <m:r>
                      <a:rPr lang="en-US" sz="2200" b="0" i="1" smtClean="0">
                        <a:latin typeface="Cambria Math"/>
                      </a:rPr>
                      <m:t>=6</m:t>
                    </m:r>
                    <m:r>
                      <a:rPr lang="en-US" sz="2200" b="0" i="1" smtClean="0">
                        <a:latin typeface="Cambria Math"/>
                      </a:rPr>
                      <m:t>𝑦</m:t>
                    </m:r>
                    <m:r>
                      <a:rPr lang="en-US" sz="2200" b="0" i="1" smtClean="0">
                        <a:latin typeface="Cambria Math"/>
                      </a:rPr>
                      <m:t>+24 </m:t>
                    </m:r>
                    <m:r>
                      <a:rPr lang="en-US" sz="2200" b="0" i="1" smtClean="0">
                        <a:latin typeface="Cambria Math"/>
                      </a:rPr>
                      <m:t>𝑎𝑛𝑑</m:t>
                    </m:r>
                    <m:r>
                      <a:rPr lang="en-US" sz="2200" b="0" i="1" smtClean="0">
                        <a:latin typeface="Cambria Math"/>
                      </a:rPr>
                      <m:t> 1000</m:t>
                    </m:r>
                    <m:r>
                      <a:rPr lang="en-US" sz="2200" b="0" i="1" smtClean="0">
                        <a:latin typeface="Cambria Math"/>
                      </a:rPr>
                      <m:t>𝑦</m:t>
                    </m:r>
                    <m:r>
                      <a:rPr lang="en-US" sz="2200" b="0" i="1" smtClean="0">
                        <a:latin typeface="Cambria Math"/>
                      </a:rPr>
                      <m:t>=768</m:t>
                    </m:r>
                    <m:r>
                      <a:rPr lang="en-US" sz="2200" b="0" i="1" smtClean="0">
                        <a:latin typeface="Cambria Math"/>
                      </a:rPr>
                      <m:t>𝑥</m:t>
                    </m:r>
                    <m:r>
                      <a:rPr lang="en-US" sz="2200" b="0" i="1" smtClean="0">
                        <a:latin typeface="Cambria Math"/>
                      </a:rPr>
                      <m:t>−3608.</m:t>
                    </m:r>
                  </m:oMath>
                </a14:m>
                <a:r>
                  <a:rPr lang="en-US" sz="2200" dirty="0"/>
                  <a:t>What is the correlation </a:t>
                </a:r>
              </a:p>
              <a:p>
                <a:pPr marL="0" indent="0">
                  <a:buNone/>
                </a:pPr>
                <a:r>
                  <a:rPr lang="en-US" sz="2200" dirty="0"/>
                  <a:t>Coefficient ?Show that the ratio of coefficient of variability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𝑡𝑜</m:t>
                    </m:r>
                    <m:r>
                      <a:rPr lang="en-US" sz="2200" b="0" i="1" smtClean="0">
                        <a:latin typeface="Cambria Math"/>
                      </a:rPr>
                      <m:t> </m:t>
                    </m:r>
                    <m:r>
                      <a:rPr lang="en-US" sz="2200" b="0" i="1" smtClean="0">
                        <a:latin typeface="Cambria Math"/>
                      </a:rPr>
                      <m:t>𝑡h𝑎𝑡</m:t>
                    </m:r>
                    <m:r>
                      <a:rPr lang="en-US" sz="2200" b="0" i="1" smtClean="0">
                        <a:latin typeface="Cambria Math"/>
                      </a:rPr>
                      <m:t> </m:t>
                    </m:r>
                    <m:r>
                      <a:rPr lang="en-US" sz="2200" b="0" i="1" smtClean="0">
                        <a:latin typeface="Cambria Math"/>
                      </a:rPr>
                      <m:t>𝑜𝑓</m:t>
                    </m:r>
                    <m:r>
                      <a:rPr lang="en-US" sz="2200" b="0" i="1" smtClean="0">
                        <a:latin typeface="Cambria Math"/>
                      </a:rPr>
                      <m:t> </m:t>
                    </m:r>
                    <m:r>
                      <a:rPr lang="en-US" sz="2200" b="0" i="1" smtClean="0">
                        <a:latin typeface="Cambria Math"/>
                      </a:rPr>
                      <m:t>𝑦</m:t>
                    </m:r>
                  </m:oMath>
                </a14:m>
                <a:r>
                  <a:rPr lang="en-US" sz="2200" dirty="0"/>
                  <a:t> is </a:t>
                </a:r>
                <a14:m>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a:rPr>
                          <m:t>5</m:t>
                        </m:r>
                      </m:num>
                      <m:den>
                        <m:r>
                          <a:rPr lang="en-US" sz="2200" b="0" i="1" smtClean="0">
                            <a:latin typeface="Cambria Math"/>
                          </a:rPr>
                          <m:t>24</m:t>
                        </m:r>
                      </m:den>
                    </m:f>
                    <m:r>
                      <a:rPr lang="en-US" sz="2200" b="0" i="1" smtClean="0">
                        <a:latin typeface="Cambria Math"/>
                      </a:rPr>
                      <m:t>.</m:t>
                    </m:r>
                  </m:oMath>
                </a14:m>
                <a:r>
                  <a:rPr lang="en-US" sz="2200" dirty="0"/>
                  <a:t>What is the ratio of variance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𝑎𝑛𝑑</m:t>
                    </m:r>
                    <m:r>
                      <a:rPr lang="en-US" sz="2200" b="0" i="1" smtClean="0">
                        <a:latin typeface="Cambria Math"/>
                      </a:rPr>
                      <m:t> </m:t>
                    </m:r>
                    <m:r>
                      <a:rPr lang="en-US" sz="2200" b="0" i="1" smtClean="0">
                        <a:latin typeface="Cambria Math"/>
                      </a:rPr>
                      <m:t>𝑦</m:t>
                    </m:r>
                    <m:r>
                      <a:rPr lang="en-US" sz="2200" b="0" i="1" smtClean="0">
                        <a:latin typeface="Cambria Math"/>
                      </a:rPr>
                      <m:t>?</m:t>
                    </m:r>
                  </m:oMath>
                </a14:m>
                <a:endParaRPr lang="en-US" sz="2200" dirty="0"/>
              </a:p>
              <a:p>
                <a:pPr marL="0" indent="0">
                  <a:buNone/>
                </a:pPr>
                <a:r>
                  <a:rPr lang="en-US" sz="2200" b="1" dirty="0"/>
                  <a:t>Solution: </a:t>
                </a:r>
                <a:r>
                  <a:rPr lang="en-US" sz="2200" dirty="0"/>
                  <a:t>Regression line of </a:t>
                </a:r>
                <a14:m>
                  <m:oMath xmlns:m="http://schemas.openxmlformats.org/officeDocument/2006/math">
                    <m:r>
                      <a:rPr lang="en-US" sz="2200" b="0" i="1" smtClean="0">
                        <a:latin typeface="Cambria Math"/>
                      </a:rPr>
                      <m:t>𝑥</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𝑦</m:t>
                    </m:r>
                    <m:r>
                      <a:rPr lang="en-US" sz="2200" b="0" i="1" smtClean="0">
                        <a:latin typeface="Cambria Math"/>
                      </a:rPr>
                      <m:t> </m:t>
                    </m:r>
                    <m:r>
                      <a:rPr lang="en-US" sz="2200" b="0" i="1" smtClean="0">
                        <a:latin typeface="Cambria Math"/>
                      </a:rPr>
                      <m:t>𝑖𝑠</m:t>
                    </m:r>
                  </m:oMath>
                </a14:m>
                <a:r>
                  <a:rPr lang="en-US" sz="2200" dirty="0"/>
                  <a:t> </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5</m:t>
                      </m:r>
                      <m:r>
                        <a:rPr lang="en-US" sz="2200" i="1">
                          <a:latin typeface="Cambria Math"/>
                        </a:rPr>
                        <m:t>𝑥</m:t>
                      </m:r>
                      <m:r>
                        <a:rPr lang="en-US" sz="2200" i="1">
                          <a:latin typeface="Cambria Math"/>
                        </a:rPr>
                        <m:t>=6</m:t>
                      </m:r>
                      <m:r>
                        <a:rPr lang="en-US" sz="2200" i="1">
                          <a:latin typeface="Cambria Math"/>
                        </a:rPr>
                        <m:t>𝑦</m:t>
                      </m:r>
                      <m:r>
                        <a:rPr lang="en-US" sz="2200" i="1">
                          <a:latin typeface="Cambria Math"/>
                        </a:rPr>
                        <m:t>+24</m:t>
                      </m:r>
                    </m:oMath>
                  </m:oMathPara>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𝑥</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6</m:t>
                          </m:r>
                        </m:num>
                        <m:den>
                          <m:r>
                            <a:rPr lang="en-US" sz="2200" b="0" i="1" smtClean="0">
                              <a:latin typeface="Cambria Math"/>
                            </a:rPr>
                            <m:t>5</m:t>
                          </m:r>
                        </m:den>
                      </m:f>
                      <m:r>
                        <a:rPr lang="en-US" sz="2200" b="0" i="1" smtClean="0">
                          <a:latin typeface="Cambria Math"/>
                        </a:rPr>
                        <m:t>𝑦</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24</m:t>
                          </m:r>
                        </m:num>
                        <m:den>
                          <m:r>
                            <a:rPr lang="en-US" sz="2200" b="0" i="1" smtClean="0">
                              <a:latin typeface="Cambria Math"/>
                            </a:rPr>
                            <m:t>5</m:t>
                          </m:r>
                        </m:den>
                      </m:f>
                    </m:oMath>
                  </m:oMathPara>
                </a14:m>
                <a:endParaRPr lang="en-US" sz="2200" b="0" i="1" dirty="0">
                  <a:latin typeface="Cambria Math"/>
                </a:endParaRPr>
              </a:p>
              <a:p>
                <a:pPr marL="0" indent="0">
                  <a:buNone/>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𝑥𝑦</m:t>
                          </m:r>
                        </m:sub>
                      </m:sSub>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6</m:t>
                          </m:r>
                        </m:num>
                        <m:den>
                          <m:r>
                            <a:rPr lang="en-US" sz="2200" b="0" i="1" smtClean="0">
                              <a:latin typeface="Cambria Math"/>
                            </a:rPr>
                            <m:t>5</m:t>
                          </m:r>
                        </m:den>
                      </m:f>
                    </m:oMath>
                  </m:oMathPara>
                </a14:m>
                <a:endParaRPr lang="en-US" sz="2200" dirty="0"/>
              </a:p>
              <a:p>
                <a:pPr marL="0" indent="0">
                  <a:buNone/>
                </a:pPr>
                <a:r>
                  <a:rPr lang="en-US" sz="2200" dirty="0"/>
                  <a:t>Regression line of </a:t>
                </a:r>
                <a14:m>
                  <m:oMath xmlns:m="http://schemas.openxmlformats.org/officeDocument/2006/math">
                    <m:r>
                      <a:rPr lang="en-US" sz="2200" b="0" i="1" smtClean="0">
                        <a:latin typeface="Cambria Math"/>
                      </a:rPr>
                      <m:t>𝑦</m:t>
                    </m:r>
                    <m:r>
                      <a:rPr lang="en-US" sz="2200" b="0" i="1" smtClean="0">
                        <a:latin typeface="Cambria Math"/>
                      </a:rPr>
                      <m:t> </m:t>
                    </m:r>
                    <m:r>
                      <a:rPr lang="en-US" sz="2200" b="0" i="1" smtClean="0">
                        <a:latin typeface="Cambria Math"/>
                      </a:rPr>
                      <m:t>𝑜𝑛</m:t>
                    </m:r>
                    <m:r>
                      <a:rPr lang="en-US" sz="2200" b="0" i="1" smtClean="0">
                        <a:latin typeface="Cambria Math"/>
                      </a:rPr>
                      <m:t> </m:t>
                    </m:r>
                    <m:r>
                      <a:rPr lang="en-US" sz="2200" b="0" i="1" smtClean="0">
                        <a:latin typeface="Cambria Math"/>
                      </a:rPr>
                      <m:t>𝑥</m:t>
                    </m:r>
                    <m:r>
                      <a:rPr lang="en-US" sz="2200" b="0" i="1" smtClean="0">
                        <a:latin typeface="Cambria Math"/>
                      </a:rPr>
                      <m:t> </m:t>
                    </m:r>
                    <m:r>
                      <a:rPr lang="en-US" sz="2200" b="0" i="1" smtClean="0">
                        <a:latin typeface="Cambria Math"/>
                      </a:rPr>
                      <m:t>𝑖𝑠</m:t>
                    </m:r>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229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951251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1000</m:t>
                      </m:r>
                      <m:r>
                        <a:rPr lang="en-US" sz="2200" b="0" i="1" smtClean="0">
                          <a:latin typeface="Cambria Math"/>
                        </a:rPr>
                        <m:t>𝑦</m:t>
                      </m:r>
                      <m:r>
                        <a:rPr lang="en-US" sz="2200" b="0" i="1" smtClean="0">
                          <a:latin typeface="Cambria Math"/>
                        </a:rPr>
                        <m:t>=768</m:t>
                      </m:r>
                      <m:r>
                        <a:rPr lang="en-US" sz="2200" b="0" i="1" smtClean="0">
                          <a:latin typeface="Cambria Math"/>
                        </a:rPr>
                        <m:t>𝑥</m:t>
                      </m:r>
                      <m:r>
                        <a:rPr lang="en-US" sz="2200" b="0" i="1" smtClean="0">
                          <a:latin typeface="Cambria Math"/>
                        </a:rPr>
                        <m:t>−3608</m:t>
                      </m:r>
                    </m:oMath>
                  </m:oMathPara>
                </a14:m>
                <a:endParaRPr lang="en-US" sz="2200" b="0" i="1"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𝑦</m:t>
                      </m:r>
                      <m:r>
                        <a:rPr lang="en-US" sz="2200" b="0" i="1" smtClean="0">
                          <a:latin typeface="Cambria Math"/>
                        </a:rPr>
                        <m:t>=0.768</m:t>
                      </m:r>
                      <m:r>
                        <a:rPr lang="en-US" sz="2200" b="0" i="1" smtClean="0">
                          <a:latin typeface="Cambria Math"/>
                        </a:rPr>
                        <m:t>𝑥</m:t>
                      </m:r>
                      <m:r>
                        <a:rPr lang="en-US" sz="2200" b="0" i="1" smtClean="0">
                          <a:latin typeface="Cambria Math"/>
                        </a:rPr>
                        <m:t>−3.608</m:t>
                      </m:r>
                    </m:oMath>
                  </m:oMathPara>
                </a14:m>
                <a:endParaRPr lang="en-US" sz="2200" b="0" i="1"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𝑏</m:t>
                          </m:r>
                        </m:e>
                        <m:sub>
                          <m:r>
                            <a:rPr lang="en-US" sz="2200" i="1">
                              <a:latin typeface="Cambria Math"/>
                            </a:rPr>
                            <m:t>𝑦</m:t>
                          </m:r>
                          <m:r>
                            <a:rPr lang="en-US" sz="2200" b="0" i="1" smtClean="0">
                              <a:latin typeface="Cambria Math"/>
                            </a:rPr>
                            <m:t>𝑥</m:t>
                          </m:r>
                        </m:sub>
                      </m:sSub>
                      <m:r>
                        <a:rPr lang="en-US" sz="2200" b="0" i="1" smtClean="0">
                          <a:latin typeface="Cambria Math"/>
                        </a:rPr>
                        <m:t>=0.768</m:t>
                      </m:r>
                    </m:oMath>
                  </m:oMathPara>
                </a14:m>
                <a:endParaRPr lang="en-US" sz="2200" b="0" dirty="0"/>
              </a:p>
              <a:p>
                <a:pPr marL="0" indent="0">
                  <a:buNone/>
                </a:pPr>
                <a14:m>
                  <m:oMath xmlns:m="http://schemas.openxmlformats.org/officeDocument/2006/math">
                    <m:r>
                      <a:rPr lang="en-US" sz="2200" i="1">
                        <a:latin typeface="Cambria Math"/>
                        <a:ea typeface="Cambria Math"/>
                      </a:rPr>
                      <m:t>𝑟</m:t>
                    </m:r>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den>
                    </m:f>
                  </m:oMath>
                </a14:m>
                <a:r>
                  <a:rPr lang="en-US" sz="2200" b="0" dirty="0"/>
                  <a:t>=</a:t>
                </a:r>
                <a14:m>
                  <m:oMath xmlns:m="http://schemas.openxmlformats.org/officeDocument/2006/math">
                    <m:f>
                      <m:fPr>
                        <m:ctrlPr>
                          <a:rPr lang="en-US" sz="2200" b="0" i="1" dirty="0" smtClean="0">
                            <a:latin typeface="Cambria Math" panose="02040503050406030204" pitchFamily="18" charset="0"/>
                          </a:rPr>
                        </m:ctrlPr>
                      </m:fPr>
                      <m:num>
                        <m:r>
                          <a:rPr lang="en-US" sz="2200" b="0" i="1" dirty="0" smtClean="0">
                            <a:latin typeface="Cambria Math"/>
                          </a:rPr>
                          <m:t>6</m:t>
                        </m:r>
                      </m:num>
                      <m:den>
                        <m:r>
                          <a:rPr lang="en-US" sz="2200" b="0" i="1" dirty="0" smtClean="0">
                            <a:latin typeface="Cambria Math"/>
                          </a:rPr>
                          <m:t>5</m:t>
                        </m:r>
                      </m:den>
                    </m:f>
                  </m:oMath>
                </a14:m>
                <a:r>
                  <a:rPr lang="en-US" sz="2200" b="0" dirty="0"/>
                  <a:t>……..(3)</a:t>
                </a:r>
              </a:p>
              <a:p>
                <a:pPr marL="0" indent="0">
                  <a:buNone/>
                </a:pPr>
                <a14:m>
                  <m:oMath xmlns:m="http://schemas.openxmlformats.org/officeDocument/2006/math">
                    <m:r>
                      <a:rPr lang="en-US" sz="2200" i="1">
                        <a:latin typeface="Cambria Math"/>
                        <a:ea typeface="Cambria Math"/>
                      </a:rPr>
                      <m:t>𝑟</m:t>
                    </m:r>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𝑦</m:t>
                            </m:r>
                          </m:sub>
                        </m:sSub>
                      </m:num>
                      <m:den>
                        <m:sSub>
                          <m:sSubPr>
                            <m:ctrlPr>
                              <a:rPr lang="en-US" sz="2200" i="1" smtClean="0">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𝑥</m:t>
                            </m:r>
                          </m:sub>
                        </m:sSub>
                      </m:den>
                    </m:f>
                  </m:oMath>
                </a14:m>
                <a:r>
                  <a:rPr lang="en-US" sz="2200" dirty="0"/>
                  <a:t>=0.768….(4)</a:t>
                </a:r>
              </a:p>
              <a:p>
                <a:pPr marL="0" indent="0">
                  <a:buNone/>
                </a:pPr>
                <a:r>
                  <a:rPr lang="en-US" sz="2200" dirty="0"/>
                  <a:t>Multiply equations(3) and (4) we get </a:t>
                </a:r>
              </a:p>
              <a:p>
                <a:pPr marL="0" indent="0">
                  <a:buNone/>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a:rPr>
                            <m:t>𝑟</m:t>
                          </m:r>
                        </m:e>
                        <m:sup>
                          <m:r>
                            <a:rPr lang="en-US" sz="2200" b="0" i="1" smtClean="0">
                              <a:latin typeface="Cambria Math"/>
                            </a:rPr>
                            <m:t>2</m:t>
                          </m:r>
                        </m:sup>
                      </m:sSup>
                      <m:r>
                        <a:rPr lang="en-US" sz="2200" b="0" i="1" smtClean="0">
                          <a:latin typeface="Cambria Math"/>
                        </a:rPr>
                        <m:t>=0.9216</m:t>
                      </m:r>
                      <m:r>
                        <a:rPr lang="en-US" sz="2200" b="0" i="1" smtClean="0">
                          <a:latin typeface="Cambria Math" panose="02040503050406030204" pitchFamily="18" charset="0"/>
                          <a:ea typeface="Cambria Math"/>
                        </a:rPr>
                        <m:t>⇒</m:t>
                      </m:r>
                      <m:r>
                        <a:rPr lang="en-US" sz="2200" b="0" i="1" smtClean="0">
                          <a:latin typeface="Cambria Math"/>
                          <a:ea typeface="Cambria Math"/>
                        </a:rPr>
                        <m:t>𝑟</m:t>
                      </m:r>
                      <m:r>
                        <a:rPr lang="en-US" sz="2200" b="0" i="1" smtClean="0">
                          <a:latin typeface="Cambria Math"/>
                          <a:ea typeface="Cambria Math"/>
                        </a:rPr>
                        <m:t>=0.96</m:t>
                      </m:r>
                    </m:oMath>
                  </m:oMathPara>
                </a14:m>
                <a:endParaRPr lang="en-US" sz="2200" dirty="0"/>
              </a:p>
              <a:p>
                <a:pPr marL="0" indent="0">
                  <a:buNone/>
                </a:pPr>
                <a:r>
                  <a:rPr lang="en-US" sz="2200" dirty="0"/>
                  <a:t>Dividing (3) by (4) we get</a:t>
                </a:r>
              </a:p>
              <a:p>
                <a:pPr marL="0" indent="0">
                  <a:buNone/>
                </a:pPr>
                <a14:m>
                  <m:oMathPara xmlns:m="http://schemas.openxmlformats.org/officeDocument/2006/math">
                    <m:oMathParaPr>
                      <m:jc m:val="left"/>
                    </m:oMathParaPr>
                    <m:oMath xmlns:m="http://schemas.openxmlformats.org/officeDocument/2006/math">
                      <m:f>
                        <m:fPr>
                          <m:ctrlPr>
                            <a:rPr lang="en-US" sz="2200" i="1" smtClean="0">
                              <a:latin typeface="Cambria Math" panose="02040503050406030204" pitchFamily="18" charset="0"/>
                            </a:rPr>
                          </m:ctrlPr>
                        </m:fPr>
                        <m:num>
                          <m:sSup>
                            <m:sSupPr>
                              <m:ctrlPr>
                                <a:rPr lang="en-US" sz="2200" i="1">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𝑥</m:t>
                                  </m:r>
                                </m:sub>
                              </m:sSub>
                            </m:e>
                            <m:sup>
                              <m:r>
                                <a:rPr lang="en-US" sz="2200" i="1">
                                  <a:latin typeface="Cambria Math"/>
                                </a:rPr>
                                <m:t>2</m:t>
                              </m:r>
                            </m:sup>
                          </m:sSup>
                        </m:num>
                        <m:den>
                          <m:sSup>
                            <m:sSupPr>
                              <m:ctrlPr>
                                <a:rPr lang="en-US" sz="2200" i="1">
                                  <a:latin typeface="Cambria Math" panose="02040503050406030204" pitchFamily="18" charset="0"/>
                                </a:rPr>
                              </m:ctrlPr>
                            </m:sSupPr>
                            <m:e>
                              <m:sSub>
                                <m:sSubPr>
                                  <m:ctrlPr>
                                    <a:rPr lang="en-US" sz="2200" i="1" smtClean="0">
                                      <a:latin typeface="Cambria Math" panose="02040503050406030204" pitchFamily="18" charset="0"/>
                                    </a:rPr>
                                  </m:ctrlPr>
                                </m:sSubPr>
                                <m:e>
                                  <m:r>
                                    <a:rPr lang="en-US" sz="2200" i="1">
                                      <a:latin typeface="Cambria Math"/>
                                      <a:ea typeface="Cambria Math"/>
                                    </a:rPr>
                                    <m:t>𝜎</m:t>
                                  </m:r>
                                </m:e>
                                <m:sub>
                                  <m:r>
                                    <a:rPr lang="en-US" sz="2200" i="1">
                                      <a:latin typeface="Cambria Math"/>
                                    </a:rPr>
                                    <m:t>𝑦</m:t>
                                  </m:r>
                                </m:sub>
                              </m:sSub>
                            </m:e>
                            <m:sup>
                              <m:r>
                                <a:rPr lang="en-US" sz="2200" i="1">
                                  <a:latin typeface="Cambria Math"/>
                                </a:rPr>
                                <m:t>2</m:t>
                              </m:r>
                            </m:sup>
                          </m:sSup>
                        </m:den>
                      </m:f>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6</m:t>
                          </m:r>
                        </m:num>
                        <m:den>
                          <m:r>
                            <a:rPr lang="en-US" sz="2200" b="0" i="1" smtClean="0">
                              <a:latin typeface="Cambria Math"/>
                            </a:rPr>
                            <m:t>5</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0.768</m:t>
                          </m:r>
                        </m:den>
                      </m:f>
                      <m:r>
                        <a:rPr lang="en-US" sz="2200" b="0" i="1" smtClean="0">
                          <a:latin typeface="Cambria Math"/>
                          <a:ea typeface="Cambria Math"/>
                        </a:rPr>
                        <m:t>=1.5625</m:t>
                      </m:r>
                    </m:oMath>
                  </m:oMathPara>
                </a14:m>
                <a:endParaRPr lang="en-US" sz="2200" dirty="0"/>
              </a:p>
              <a:p>
                <a:pPr marL="0" indent="0">
                  <a:buNone/>
                </a:pPr>
                <a:endParaRPr lang="en-US" sz="2200" dirty="0"/>
              </a:p>
              <a:p>
                <a:pPr marL="0" indent="0">
                  <a:buNone/>
                </a:pPr>
                <a:endParaRPr lang="en-US" sz="2200" b="0" dirty="0"/>
              </a:p>
              <a:p>
                <a:pPr marL="0" indent="0">
                  <a:buNone/>
                </a:pPr>
                <a:endParaRPr lang="en-US" sz="2200" b="0" dirty="0"/>
              </a:p>
              <a:p>
                <a:pPr marL="0" indent="0">
                  <a:buNone/>
                </a:pPr>
                <a:endParaRPr lang="en-US" sz="2200" b="0" dirty="0"/>
              </a:p>
              <a:p>
                <a:pPr marL="0" indent="0">
                  <a:buNone/>
                </a:pPr>
                <a:endParaRPr lang="en-US" sz="2200"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4575754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Taking square root, we get</a:t>
                </a:r>
              </a:p>
              <a:p>
                <a:pPr marL="0" indent="0">
                  <a:buNone/>
                </a:pPr>
                <a14:m>
                  <m:oMath xmlns:m="http://schemas.openxmlformats.org/officeDocument/2006/math">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den>
                    </m:f>
                  </m:oMath>
                </a14:m>
                <a:r>
                  <a:rPr lang="en-US" sz="2200" dirty="0"/>
                  <a:t>=</a:t>
                </a:r>
                <a14:m>
                  <m:oMath xmlns:m="http://schemas.openxmlformats.org/officeDocument/2006/math">
                    <m:r>
                      <a:rPr lang="en-US" sz="2200" b="0" i="0" dirty="0" smtClean="0">
                        <a:latin typeface="Cambria Math"/>
                      </a:rPr>
                      <m:t>1</m:t>
                    </m:r>
                    <m:r>
                      <a:rPr lang="en-US" sz="2200" b="0" i="1" dirty="0" smtClean="0">
                        <a:latin typeface="Cambria Math"/>
                      </a:rPr>
                      <m:t>.25=</m:t>
                    </m:r>
                    <m:f>
                      <m:fPr>
                        <m:ctrlPr>
                          <a:rPr lang="en-US" sz="2200" i="1" dirty="0">
                            <a:latin typeface="Cambria Math" panose="02040503050406030204" pitchFamily="18" charset="0"/>
                          </a:rPr>
                        </m:ctrlPr>
                      </m:fPr>
                      <m:num>
                        <m:r>
                          <a:rPr lang="en-US" sz="2200" b="0" i="1" dirty="0" smtClean="0">
                            <a:latin typeface="Cambria Math"/>
                          </a:rPr>
                          <m:t>5</m:t>
                        </m:r>
                      </m:num>
                      <m:den>
                        <m:r>
                          <a:rPr lang="en-US" sz="2200" b="0" i="1" dirty="0" smtClean="0">
                            <a:latin typeface="Cambria Math"/>
                          </a:rPr>
                          <m:t>4</m:t>
                        </m:r>
                      </m:den>
                    </m:f>
                  </m:oMath>
                </a14:m>
                <a:endParaRPr lang="en-US" sz="2200" dirty="0"/>
              </a:p>
              <a:p>
                <a:pPr marL="0" indent="0">
                  <a:buNone/>
                </a:pPr>
                <a:r>
                  <a:rPr lang="en-US" sz="2200" dirty="0"/>
                  <a:t>Since the regression lines pass through the point(</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r>
                      <a:rPr lang="en-US" sz="2200" b="0" i="1" smtClean="0">
                        <a:latin typeface="Cambria Math"/>
                      </a:rPr>
                      <m:t>)</m:t>
                    </m:r>
                  </m:oMath>
                </a14:m>
                <a:r>
                  <a:rPr lang="en-US" sz="2200" dirty="0"/>
                  <a:t> we have</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5</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=6</m:t>
                      </m:r>
                      <m:acc>
                        <m:accPr>
                          <m:chr m:val="̅"/>
                          <m:ctrlPr>
                            <a:rPr lang="en-US" sz="2200" i="1">
                              <a:latin typeface="Cambria Math" panose="02040503050406030204" pitchFamily="18" charset="0"/>
                            </a:rPr>
                          </m:ctrlPr>
                        </m:accPr>
                        <m:e>
                          <m:r>
                            <a:rPr lang="en-US" sz="2200" i="1">
                              <a:latin typeface="Cambria Math"/>
                            </a:rPr>
                            <m:t>𝑦</m:t>
                          </m:r>
                        </m:e>
                      </m:acc>
                      <m:r>
                        <a:rPr lang="en-US" sz="2200" i="1">
                          <a:latin typeface="Cambria Math"/>
                        </a:rPr>
                        <m:t>+24</m:t>
                      </m:r>
                    </m:oMath>
                  </m:oMathPara>
                </a14:m>
                <a:endParaRPr lang="en-US" sz="2200" dirty="0"/>
              </a:p>
              <a:p>
                <a:pPr marL="0" indent="0">
                  <a:buNone/>
                </a:pPr>
                <a:r>
                  <a:rPr lang="en-US" sz="2200" dirty="0"/>
                  <a:t>1000</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𝑦</m:t>
                        </m:r>
                      </m:e>
                    </m:acc>
                    <m:r>
                      <a:rPr lang="en-US" sz="2200" b="0" i="1" smtClean="0">
                        <a:latin typeface="Cambria Math"/>
                      </a:rPr>
                      <m:t>=768</m:t>
                    </m:r>
                    <m:acc>
                      <m:accPr>
                        <m:chr m:val="̅"/>
                        <m:ctrlPr>
                          <a:rPr lang="en-US" sz="2200" i="1">
                            <a:latin typeface="Cambria Math" panose="02040503050406030204" pitchFamily="18" charset="0"/>
                          </a:rPr>
                        </m:ctrlPr>
                      </m:accPr>
                      <m:e>
                        <m:r>
                          <a:rPr lang="en-US" sz="2200" i="1">
                            <a:latin typeface="Cambria Math"/>
                          </a:rPr>
                          <m:t>𝑥</m:t>
                        </m:r>
                      </m:e>
                    </m:acc>
                    <m:r>
                      <a:rPr lang="en-US" sz="2200" b="0" i="1" smtClean="0">
                        <a:latin typeface="Cambria Math"/>
                      </a:rPr>
                      <m:t>−3608</m:t>
                    </m:r>
                  </m:oMath>
                </a14:m>
                <a:endParaRPr lang="en-US" sz="2200" dirty="0"/>
              </a:p>
              <a:p>
                <a:pPr marL="0" indent="0">
                  <a:buNone/>
                </a:pPr>
                <a:r>
                  <a:rPr lang="en-US" sz="2200" dirty="0"/>
                  <a:t>Solving the above equation </a:t>
                </a:r>
                <a14:m>
                  <m:oMath xmlns:m="http://schemas.openxmlformats.org/officeDocument/2006/math">
                    <m:acc>
                      <m:accPr>
                        <m:chr m:val="̅"/>
                        <m:ctrlPr>
                          <a:rPr lang="en-US" sz="2200" i="1" smtClean="0">
                            <a:latin typeface="Cambria Math" panose="02040503050406030204" pitchFamily="18" charset="0"/>
                          </a:rPr>
                        </m:ctrlPr>
                      </m:accPr>
                      <m:e>
                        <m:r>
                          <a:rPr lang="en-US" sz="2200" i="1">
                            <a:latin typeface="Cambria Math"/>
                          </a:rPr>
                          <m:t>𝑥</m:t>
                        </m:r>
                      </m:e>
                    </m:acc>
                    <m:r>
                      <a:rPr lang="en-US" sz="2200" b="0" i="1" smtClean="0">
                        <a:latin typeface="Cambria Math"/>
                      </a:rPr>
                      <m:t>𝑎𝑛𝑑</m:t>
                    </m:r>
                    <m:acc>
                      <m:accPr>
                        <m:chr m:val="̅"/>
                        <m:ctrlPr>
                          <a:rPr lang="en-US" sz="2200" i="1">
                            <a:latin typeface="Cambria Math" panose="02040503050406030204" pitchFamily="18" charset="0"/>
                          </a:rPr>
                        </m:ctrlPr>
                      </m:accPr>
                      <m:e>
                        <m:r>
                          <a:rPr lang="en-US" sz="2200" i="1">
                            <a:latin typeface="Cambria Math"/>
                          </a:rPr>
                          <m:t>𝑦</m:t>
                        </m:r>
                      </m:e>
                    </m:acc>
                  </m:oMath>
                </a14:m>
                <a:r>
                  <a:rPr lang="en-US" sz="2200" dirty="0"/>
                  <a:t> ,we get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oMath>
                </a14:m>
                <a:r>
                  <a:rPr lang="en-US" sz="2200" dirty="0"/>
                  <a:t>=6,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𝑦</m:t>
                        </m:r>
                      </m:e>
                    </m:acc>
                  </m:oMath>
                </a14:m>
                <a:r>
                  <a:rPr lang="en-US" sz="2200" dirty="0"/>
                  <a:t> =1</a:t>
                </a:r>
              </a:p>
              <a:p>
                <a:pPr marL="0" indent="0">
                  <a:buNone/>
                </a:pPr>
                <a:r>
                  <a:rPr lang="en-US" sz="2200" dirty="0"/>
                  <a:t>Coefficient of variability of </a:t>
                </a:r>
                <a14:m>
                  <m:oMath xmlns:m="http://schemas.openxmlformats.org/officeDocument/2006/math">
                    <m:r>
                      <a:rPr lang="en-US" sz="2200" b="0" i="1" smtClean="0">
                        <a:latin typeface="Cambria Math"/>
                      </a:rPr>
                      <m:t>𝑥</m:t>
                    </m:r>
                    <m:r>
                      <a:rPr lang="en-US" sz="2200" b="0" i="1" smtClean="0">
                        <a:latin typeface="Cambria Math"/>
                      </a:rPr>
                      <m:t>=</m:t>
                    </m:r>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num>
                      <m:den>
                        <m:acc>
                          <m:accPr>
                            <m:chr m:val="̅"/>
                            <m:ctrlPr>
                              <a:rPr lang="en-US" sz="2200" i="1">
                                <a:latin typeface="Cambria Math" panose="02040503050406030204" pitchFamily="18" charset="0"/>
                              </a:rPr>
                            </m:ctrlPr>
                          </m:accPr>
                          <m:e>
                            <m:r>
                              <a:rPr lang="en-US" sz="2200" i="1">
                                <a:latin typeface="Cambria Math"/>
                              </a:rPr>
                              <m:t>𝑥</m:t>
                            </m:r>
                          </m:e>
                        </m:acc>
                      </m:den>
                    </m:f>
                  </m:oMath>
                </a14:m>
                <a:endParaRPr lang="en-US" sz="2200" dirty="0"/>
              </a:p>
              <a:p>
                <a:pPr marL="0" indent="0">
                  <a:buNone/>
                </a:pPr>
                <a:r>
                  <a:rPr lang="en-US" sz="2200" dirty="0"/>
                  <a:t>Coefficient of variability of </a:t>
                </a:r>
                <a14:m>
                  <m:oMath xmlns:m="http://schemas.openxmlformats.org/officeDocument/2006/math">
                    <m:r>
                      <m:rPr>
                        <m:sty m:val="p"/>
                      </m:rPr>
                      <a:rPr lang="en-US" sz="2200" b="0" i="0" smtClean="0">
                        <a:latin typeface="Cambria Math"/>
                      </a:rPr>
                      <m:t>y</m:t>
                    </m:r>
                    <m:r>
                      <a:rPr lang="en-US" sz="2200" i="1">
                        <a:latin typeface="Cambria Math"/>
                      </a:rPr>
                      <m:t>=</m:t>
                    </m:r>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b="0" i="1" smtClean="0">
                                <a:latin typeface="Cambria Math"/>
                                <a:ea typeface="Cambria Math"/>
                              </a:rPr>
                              <m:t>𝑦</m:t>
                            </m:r>
                          </m:sub>
                        </m:sSub>
                      </m:num>
                      <m:den>
                        <m:acc>
                          <m:accPr>
                            <m:chr m:val="̅"/>
                            <m:ctrlPr>
                              <a:rPr lang="en-US" sz="2200" i="1">
                                <a:latin typeface="Cambria Math" panose="02040503050406030204" pitchFamily="18" charset="0"/>
                              </a:rPr>
                            </m:ctrlPr>
                          </m:accPr>
                          <m:e>
                            <m:r>
                              <a:rPr lang="en-US" sz="2200" b="0" i="1" smtClean="0">
                                <a:latin typeface="Cambria Math"/>
                              </a:rPr>
                              <m:t>𝑦</m:t>
                            </m:r>
                          </m:e>
                        </m:acc>
                      </m:den>
                    </m:f>
                  </m:oMath>
                </a14:m>
                <a:endParaRPr lang="en-US" sz="2200" dirty="0"/>
              </a:p>
              <a:p>
                <a:pPr marL="0" indent="0">
                  <a:buNone/>
                </a:pPr>
                <a:r>
                  <a:rPr lang="en-US" sz="2200" dirty="0"/>
                  <a:t>Required ratio=</a:t>
                </a:r>
                <a14:m>
                  <m:oMath xmlns:m="http://schemas.openxmlformats.org/officeDocument/2006/math">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num>
                      <m:den>
                        <m:acc>
                          <m:accPr>
                            <m:chr m:val="̅"/>
                            <m:ctrlPr>
                              <a:rPr lang="en-US" sz="2200" i="1">
                                <a:latin typeface="Cambria Math" panose="02040503050406030204" pitchFamily="18" charset="0"/>
                              </a:rPr>
                            </m:ctrlPr>
                          </m:accPr>
                          <m:e>
                            <m:r>
                              <a:rPr lang="en-US" sz="2200" i="1">
                                <a:latin typeface="Cambria Math"/>
                              </a:rPr>
                              <m:t>𝑥</m:t>
                            </m:r>
                          </m:e>
                        </m:acc>
                      </m:den>
                    </m:f>
                    <m:r>
                      <a:rPr lang="en-US" sz="2200" i="1" smtClean="0">
                        <a:latin typeface="Cambria Math"/>
                        <a:ea typeface="Cambria Math"/>
                      </a:rPr>
                      <m:t>×</m:t>
                    </m:r>
                  </m:oMath>
                </a14:m>
                <a:r>
                  <a:rPr lang="en-US" sz="2200" dirty="0"/>
                  <a:t> </a:t>
                </a:r>
                <a14:m>
                  <m:oMath xmlns:m="http://schemas.openxmlformats.org/officeDocument/2006/math">
                    <m:f>
                      <m:fPr>
                        <m:ctrlPr>
                          <a:rPr lang="en-US" sz="2200" i="1">
                            <a:latin typeface="Cambria Math" panose="02040503050406030204" pitchFamily="18" charset="0"/>
                            <a:ea typeface="Cambria Math"/>
                          </a:rPr>
                        </m:ctrlPr>
                      </m:fPr>
                      <m:num>
                        <m:acc>
                          <m:accPr>
                            <m:chr m:val="̅"/>
                            <m:ctrlPr>
                              <a:rPr lang="en-US" sz="2200" i="1">
                                <a:latin typeface="Cambria Math" panose="02040503050406030204" pitchFamily="18" charset="0"/>
                              </a:rPr>
                            </m:ctrlPr>
                          </m:accPr>
                          <m:e>
                            <m:r>
                              <a:rPr lang="en-US" sz="2200" i="1">
                                <a:latin typeface="Cambria Math"/>
                              </a:rPr>
                              <m:t>𝑦</m:t>
                            </m:r>
                          </m:e>
                        </m:acc>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den>
                    </m:f>
                    <m:r>
                      <a:rPr lang="en-US" sz="2200" b="0" i="1" smtClean="0">
                        <a:latin typeface="Cambria Math"/>
                      </a:rPr>
                      <m:t>=</m:t>
                    </m:r>
                    <m:f>
                      <m:fPr>
                        <m:ctrlPr>
                          <a:rPr lang="en-US" sz="2200" b="0" i="1" smtClean="0">
                            <a:latin typeface="Cambria Math" panose="02040503050406030204" pitchFamily="18" charset="0"/>
                          </a:rPr>
                        </m:ctrlPr>
                      </m:fPr>
                      <m:num>
                        <m:acc>
                          <m:accPr>
                            <m:chr m:val="̅"/>
                            <m:ctrlPr>
                              <a:rPr lang="en-US" sz="2200" b="0" i="1" smtClean="0">
                                <a:latin typeface="Cambria Math" panose="02040503050406030204" pitchFamily="18" charset="0"/>
                                <a:ea typeface="Cambria Math"/>
                              </a:rPr>
                            </m:ctrlPr>
                          </m:accPr>
                          <m:e>
                            <m:r>
                              <a:rPr lang="en-US" sz="2200" b="0" i="1" smtClean="0">
                                <a:latin typeface="Cambria Math"/>
                                <a:ea typeface="Cambria Math"/>
                              </a:rPr>
                              <m:t>𝑦</m:t>
                            </m:r>
                          </m:e>
                        </m:acc>
                      </m:num>
                      <m:den>
                        <m:acc>
                          <m:accPr>
                            <m:chr m:val="̅"/>
                            <m:ctrlPr>
                              <a:rPr lang="en-US" sz="2200" b="0" i="1" smtClean="0">
                                <a:latin typeface="Cambria Math" panose="02040503050406030204" pitchFamily="18" charset="0"/>
                                <a:ea typeface="Cambria Math"/>
                              </a:rPr>
                            </m:ctrlPr>
                          </m:accPr>
                          <m:e>
                            <m:r>
                              <a:rPr lang="en-US" sz="2200" b="0" i="1" smtClean="0">
                                <a:latin typeface="Cambria Math"/>
                                <a:ea typeface="Cambria Math"/>
                              </a:rPr>
                              <m:t>𝑥</m:t>
                            </m:r>
                          </m:e>
                        </m:acc>
                      </m:den>
                    </m:f>
                    <m:d>
                      <m:dPr>
                        <m:ctrlPr>
                          <a:rPr lang="en-US" sz="2200" b="0" i="1" smtClean="0">
                            <a:latin typeface="Cambria Math" panose="02040503050406030204" pitchFamily="18" charset="0"/>
                          </a:rPr>
                        </m:ctrlPr>
                      </m:dPr>
                      <m:e>
                        <m:f>
                          <m:fPr>
                            <m:ctrlPr>
                              <a:rPr lang="en-US" sz="2200" i="1">
                                <a:latin typeface="Cambria Math" panose="02040503050406030204" pitchFamily="18" charset="0"/>
                                <a:ea typeface="Cambria Math"/>
                              </a:rPr>
                            </m:ctrlPr>
                          </m:fPr>
                          <m:num>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𝑥</m:t>
                                </m:r>
                              </m:sub>
                            </m:sSub>
                          </m:num>
                          <m:den>
                            <m:sSub>
                              <m:sSubPr>
                                <m:ctrlPr>
                                  <a:rPr lang="en-US" sz="2200" i="1">
                                    <a:latin typeface="Cambria Math" panose="02040503050406030204" pitchFamily="18" charset="0"/>
                                    <a:ea typeface="Cambria Math"/>
                                  </a:rPr>
                                </m:ctrlPr>
                              </m:sSubPr>
                              <m:e>
                                <m:r>
                                  <a:rPr lang="en-US" sz="2200" i="1">
                                    <a:latin typeface="Cambria Math"/>
                                    <a:ea typeface="Cambria Math"/>
                                  </a:rPr>
                                  <m:t>𝜎</m:t>
                                </m:r>
                              </m:e>
                              <m:sub>
                                <m:r>
                                  <a:rPr lang="en-US" sz="2200" i="1">
                                    <a:latin typeface="Cambria Math"/>
                                    <a:ea typeface="Cambria Math"/>
                                  </a:rPr>
                                  <m:t>𝑦</m:t>
                                </m:r>
                              </m:sub>
                            </m:sSub>
                          </m:den>
                        </m:f>
                      </m:e>
                    </m:d>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6</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5</m:t>
                        </m:r>
                      </m:num>
                      <m:den>
                        <m:r>
                          <a:rPr lang="en-US" sz="2200" b="0" i="1" smtClean="0">
                            <a:latin typeface="Cambria Math"/>
                            <a:ea typeface="Cambria Math"/>
                          </a:rPr>
                          <m:t>4</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5</m:t>
                        </m:r>
                      </m:num>
                      <m:den>
                        <m:r>
                          <a:rPr lang="en-US" sz="2200" b="0" i="1" smtClean="0">
                            <a:latin typeface="Cambria Math"/>
                            <a:ea typeface="Cambria Math"/>
                          </a:rPr>
                          <m:t>24</m:t>
                        </m:r>
                      </m:den>
                    </m:f>
                  </m:oMath>
                </a14:m>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3706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2552046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Ø"/>
                </a:pPr>
                <a:r>
                  <a:rPr lang="en-US" sz="2200" b="1" dirty="0"/>
                  <a:t>Non-linear Regression:</a:t>
                </a:r>
              </a:p>
              <a:p>
                <a:pPr marL="0" indent="0">
                  <a:buNone/>
                </a:pPr>
                <a:r>
                  <a:rPr lang="en-US" sz="2200" dirty="0"/>
                  <a:t>Let </a:t>
                </a: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.1+</m:t>
                    </m:r>
                    <m:r>
                      <a:rPr lang="en-US" sz="2200" b="0" i="1" smtClean="0">
                        <a:latin typeface="Cambria Math"/>
                      </a:rPr>
                      <m:t>𝑏𝑥</m:t>
                    </m:r>
                    <m:r>
                      <a:rPr lang="en-US" sz="2200" b="0" i="1" smtClean="0">
                        <a:latin typeface="Cambria Math"/>
                      </a:rPr>
                      <m:t>+</m:t>
                    </m:r>
                    <m:r>
                      <a:rPr lang="en-US" sz="2200" b="0" i="1" smtClean="0">
                        <a:latin typeface="Cambria Math"/>
                      </a:rPr>
                      <m:t>𝑐</m:t>
                    </m:r>
                    <m:sSup>
                      <m:sSupPr>
                        <m:ctrlPr>
                          <a:rPr lang="en-US" sz="2200" i="1" smtClean="0">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oMath>
                </a14:m>
                <a:endParaRPr lang="en-US" sz="2200" dirty="0"/>
              </a:p>
              <a:p>
                <a:pPr marL="0" indent="0">
                  <a:buNone/>
                </a:pPr>
                <a:r>
                  <a:rPr lang="en-US" sz="2200" dirty="0"/>
                  <a:t>Be a second degree parabolic curve of regression of </a:t>
                </a:r>
                <a14:m>
                  <m:oMath xmlns:m="http://schemas.openxmlformats.org/officeDocument/2006/math">
                    <m:r>
                      <a:rPr lang="en-US" sz="2200" b="0" i="1" smtClean="0">
                        <a:latin typeface="Cambria Math"/>
                      </a:rPr>
                      <m:t>𝑦</m:t>
                    </m:r>
                  </m:oMath>
                </a14:m>
                <a:r>
                  <a:rPr lang="en-US" sz="2200" dirty="0"/>
                  <a:t> on </a:t>
                </a:r>
                <a14:m>
                  <m:oMath xmlns:m="http://schemas.openxmlformats.org/officeDocument/2006/math">
                    <m:r>
                      <a:rPr lang="en-US" sz="2200" b="0" i="1" smtClean="0">
                        <a:latin typeface="Cambria Math"/>
                      </a:rPr>
                      <m:t>𝑥</m:t>
                    </m:r>
                    <m:r>
                      <a:rPr lang="en-US" sz="2200" b="0" i="1" smtClean="0">
                        <a:latin typeface="Cambria Math"/>
                      </a:rPr>
                      <m:t>.</m:t>
                    </m:r>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ea typeface="Cambria Math"/>
                        </a:rPr>
                        <m:t>⇒</m:t>
                      </m:r>
                      <m:nary>
                        <m:naryPr>
                          <m:chr m:val="∑"/>
                          <m:subHide m:val="on"/>
                          <m:supHide m:val="on"/>
                          <m:ctrlPr>
                            <a:rPr lang="en-US" sz="2200" i="1" smtClean="0">
                              <a:latin typeface="Cambria Math" panose="02040503050406030204" pitchFamily="18" charset="0"/>
                              <a:ea typeface="Cambria Math"/>
                            </a:rPr>
                          </m:ctrlPr>
                        </m:naryPr>
                        <m:sub/>
                        <m:sup/>
                        <m:e>
                          <m:r>
                            <a:rPr lang="en-US" sz="2200" b="0" i="1" smtClean="0">
                              <a:latin typeface="Cambria Math"/>
                              <a:ea typeface="Cambria Math"/>
                            </a:rPr>
                            <m:t>𝑦</m:t>
                          </m:r>
                        </m:e>
                      </m:nary>
                      <m:r>
                        <a:rPr lang="en-US" sz="2200" b="0" i="1" smtClean="0">
                          <a:latin typeface="Cambria Math"/>
                          <a:ea typeface="Cambria Math"/>
                        </a:rPr>
                        <m:t>=</m:t>
                      </m:r>
                      <m:r>
                        <a:rPr lang="en-US" sz="2200" b="0" i="1" smtClean="0">
                          <a:latin typeface="Cambria Math"/>
                          <a:ea typeface="Cambria Math"/>
                        </a:rPr>
                        <m:t>𝑛𝑎</m:t>
                      </m:r>
                      <m:r>
                        <a:rPr lang="en-US" sz="2200" b="0" i="1" smtClean="0">
                          <a:latin typeface="Cambria Math"/>
                          <a:ea typeface="Cambria Math"/>
                        </a:rPr>
                        <m:t>+</m:t>
                      </m:r>
                      <m:r>
                        <a:rPr lang="en-US" sz="2200" b="0" i="1" smtClean="0">
                          <a:latin typeface="Cambria Math"/>
                          <a:ea typeface="Cambria Math"/>
                        </a:rPr>
                        <m:t>𝑏</m:t>
                      </m:r>
                      <m:nary>
                        <m:naryPr>
                          <m:chr m:val="∑"/>
                          <m:subHide m:val="on"/>
                          <m:supHide m:val="on"/>
                          <m:ctrlPr>
                            <a:rPr lang="en-US" sz="2200" i="1" smtClean="0">
                              <a:latin typeface="Cambria Math" panose="02040503050406030204" pitchFamily="18" charset="0"/>
                              <a:ea typeface="Cambria Math"/>
                            </a:rPr>
                          </m:ctrlPr>
                        </m:naryPr>
                        <m:sub/>
                        <m:sup/>
                        <m:e>
                          <m:r>
                            <a:rPr lang="en-US" sz="2200" b="0" i="1" smtClean="0">
                              <a:latin typeface="Cambria Math"/>
                              <a:ea typeface="Cambria Math"/>
                            </a:rPr>
                            <m:t>𝑥</m:t>
                          </m:r>
                          <m:r>
                            <a:rPr lang="en-US" sz="2200" b="0" i="1" smtClean="0">
                              <a:latin typeface="Cambria Math"/>
                              <a:ea typeface="Cambria Math"/>
                            </a:rPr>
                            <m:t>+</m:t>
                          </m:r>
                          <m:r>
                            <a:rPr lang="en-US" sz="2200" b="0" i="1" smtClean="0">
                              <a:latin typeface="Cambria Math"/>
                              <a:ea typeface="Cambria Math"/>
                            </a:rPr>
                            <m:t>𝑐</m:t>
                          </m:r>
                          <m:nary>
                            <m:naryPr>
                              <m:chr m:val="∑"/>
                              <m:subHide m:val="on"/>
                              <m:supHide m:val="on"/>
                              <m:ctrlPr>
                                <a:rPr lang="en-US" sz="2200" i="1" smtClean="0">
                                  <a:latin typeface="Cambria Math" panose="02040503050406030204" pitchFamily="18" charset="0"/>
                                  <a:ea typeface="Cambria Math"/>
                                </a:rPr>
                              </m:ctrlPr>
                            </m:naryPr>
                            <m:sub/>
                            <m:sup/>
                            <m:e>
                              <m:sSup>
                                <m:sSupPr>
                                  <m:ctrlPr>
                                    <a:rPr lang="en-US" sz="2200" i="1" smtClean="0">
                                      <a:latin typeface="Cambria Math" panose="02040503050406030204" pitchFamily="18" charset="0"/>
                                      <a:ea typeface="Cambria Math"/>
                                    </a:rPr>
                                  </m:ctrlPr>
                                </m:sSupPr>
                                <m:e>
                                  <m:r>
                                    <a:rPr lang="en-US" sz="2200" b="0" i="1" smtClean="0">
                                      <a:latin typeface="Cambria Math"/>
                                      <a:ea typeface="Cambria Math"/>
                                    </a:rPr>
                                    <m:t>𝑥</m:t>
                                  </m:r>
                                </m:e>
                                <m:sup>
                                  <m:r>
                                    <a:rPr lang="en-US" sz="2200" b="0" i="1" smtClean="0">
                                      <a:latin typeface="Cambria Math"/>
                                      <a:ea typeface="Cambria Math"/>
                                    </a:rPr>
                                    <m:t>2</m:t>
                                  </m:r>
                                </m:sup>
                              </m:sSup>
                            </m:e>
                          </m:nary>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a:latin typeface="Cambria Math"/>
                          <a:ea typeface="Cambria Math"/>
                        </a:rPr>
                        <m:t>⇒</m:t>
                      </m:r>
                      <m:nary>
                        <m:naryPr>
                          <m:chr m:val="∑"/>
                          <m:subHide m:val="on"/>
                          <m:supHide m:val="on"/>
                          <m:ctrlPr>
                            <a:rPr lang="en-US" sz="2200" i="1">
                              <a:latin typeface="Cambria Math" panose="02040503050406030204" pitchFamily="18" charset="0"/>
                              <a:ea typeface="Cambria Math"/>
                            </a:rPr>
                          </m:ctrlPr>
                        </m:naryPr>
                        <m:sub/>
                        <m:sup/>
                        <m:e>
                          <m:r>
                            <a:rPr lang="en-US" sz="2200" b="0" i="1">
                              <a:latin typeface="Cambria Math"/>
                              <a:ea typeface="Cambria Math"/>
                            </a:rPr>
                            <m:t>𝑥𝑦</m:t>
                          </m:r>
                        </m:e>
                      </m:nary>
                      <m:r>
                        <a:rPr lang="en-US" sz="2200" b="0" i="1">
                          <a:latin typeface="Cambria Math"/>
                          <a:ea typeface="Cambria Math"/>
                        </a:rPr>
                        <m:t>=</m:t>
                      </m:r>
                      <m:r>
                        <a:rPr lang="en-US" sz="2200" b="0" i="1">
                          <a:latin typeface="Cambria Math"/>
                          <a:ea typeface="Cambria Math"/>
                        </a:rPr>
                        <m:t>𝑎</m:t>
                      </m:r>
                      <m:nary>
                        <m:naryPr>
                          <m:chr m:val="∑"/>
                          <m:subHide m:val="on"/>
                          <m:supHide m:val="on"/>
                          <m:ctrlPr>
                            <a:rPr lang="en-US" sz="2200" i="1">
                              <a:latin typeface="Cambria Math" panose="02040503050406030204" pitchFamily="18" charset="0"/>
                              <a:ea typeface="Cambria Math"/>
                            </a:rPr>
                          </m:ctrlPr>
                        </m:naryPr>
                        <m:sub/>
                        <m:sup/>
                        <m:e>
                          <m:r>
                            <a:rPr lang="en-US" sz="2200" b="0" i="1">
                              <a:latin typeface="Cambria Math"/>
                              <a:ea typeface="Cambria Math"/>
                            </a:rPr>
                            <m:t>𝑥</m:t>
                          </m:r>
                          <m:r>
                            <a:rPr lang="en-US" sz="2200" b="0" i="1">
                              <a:latin typeface="Cambria Math"/>
                              <a:ea typeface="Cambria Math"/>
                            </a:rPr>
                            <m:t>+</m:t>
                          </m:r>
                          <m:r>
                            <a:rPr lang="en-US" sz="2200" b="0" i="1">
                              <a:latin typeface="Cambria Math"/>
                              <a:ea typeface="Cambria Math"/>
                            </a:rPr>
                            <m:t>𝑏</m:t>
                          </m:r>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2</m:t>
                                  </m:r>
                                </m:sup>
                              </m:sSup>
                            </m:e>
                          </m:nary>
                          <m:r>
                            <a:rPr lang="en-US" sz="2200" b="0" i="1">
                              <a:latin typeface="Cambria Math"/>
                              <a:ea typeface="Cambria Math"/>
                            </a:rPr>
                            <m:t>+</m:t>
                          </m:r>
                          <m:r>
                            <a:rPr lang="en-US" sz="2200" b="0" i="1">
                              <a:latin typeface="Cambria Math"/>
                              <a:ea typeface="Cambria Math"/>
                            </a:rPr>
                            <m:t>𝑐</m:t>
                          </m:r>
                        </m:e>
                      </m:nary>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3</m:t>
                              </m:r>
                            </m:sup>
                          </m:sSup>
                        </m:e>
                      </m:nary>
                    </m:oMath>
                  </m:oMathPara>
                </a14:m>
                <a:endParaRPr lang="en-US" sz="2200" i="1" dirty="0">
                  <a:latin typeface="Cambria Math"/>
                  <a:ea typeface="Cambria Math"/>
                </a:endParaRPr>
              </a:p>
              <a:p>
                <a:pPr marL="0" indent="0">
                  <a:buNone/>
                </a:pPr>
                <a14:m>
                  <m:oMathPara xmlns:m="http://schemas.openxmlformats.org/officeDocument/2006/math">
                    <m:oMathParaPr>
                      <m:jc m:val="left"/>
                    </m:oMathParaPr>
                    <m:oMath xmlns:m="http://schemas.openxmlformats.org/officeDocument/2006/math">
                      <m:r>
                        <a:rPr lang="en-US" sz="2200" b="0" i="1">
                          <a:latin typeface="Cambria Math"/>
                          <a:ea typeface="Cambria Math"/>
                        </a:rPr>
                        <m:t>⇒</m:t>
                      </m:r>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2</m:t>
                              </m:r>
                            </m:sup>
                          </m:sSup>
                          <m:r>
                            <a:rPr lang="en-US" sz="2200" b="0" i="1">
                              <a:latin typeface="Cambria Math"/>
                              <a:ea typeface="Cambria Math"/>
                            </a:rPr>
                            <m:t>𝑦</m:t>
                          </m:r>
                        </m:e>
                      </m:nary>
                      <m:r>
                        <a:rPr lang="en-US" sz="2200" b="0" i="1">
                          <a:latin typeface="Cambria Math"/>
                          <a:ea typeface="Cambria Math"/>
                        </a:rPr>
                        <m:t>=</m:t>
                      </m:r>
                      <m:r>
                        <a:rPr lang="en-US" sz="2200" b="0" i="1">
                          <a:latin typeface="Cambria Math"/>
                          <a:ea typeface="Cambria Math"/>
                        </a:rPr>
                        <m:t>𝑎</m:t>
                      </m:r>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2</m:t>
                              </m:r>
                            </m:sup>
                          </m:sSup>
                          <m:r>
                            <a:rPr lang="en-US" sz="2200" b="0" i="1">
                              <a:latin typeface="Cambria Math"/>
                              <a:ea typeface="Cambria Math"/>
                            </a:rPr>
                            <m:t>+</m:t>
                          </m:r>
                          <m:r>
                            <a:rPr lang="en-US" sz="2200" b="0" i="1">
                              <a:latin typeface="Cambria Math"/>
                              <a:ea typeface="Cambria Math"/>
                            </a:rPr>
                            <m:t>𝑏</m:t>
                          </m:r>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3</m:t>
                                  </m:r>
                                </m:sup>
                              </m:sSup>
                            </m:e>
                          </m:nary>
                          <m:r>
                            <a:rPr lang="en-US" sz="2200" b="0" i="1">
                              <a:latin typeface="Cambria Math"/>
                              <a:ea typeface="Cambria Math"/>
                            </a:rPr>
                            <m:t>+</m:t>
                          </m:r>
                          <m:r>
                            <a:rPr lang="en-US" sz="2200" b="0" i="1">
                              <a:latin typeface="Cambria Math"/>
                              <a:ea typeface="Cambria Math"/>
                            </a:rPr>
                            <m:t>𝑐</m:t>
                          </m:r>
                        </m:e>
                      </m:nary>
                      <m:nary>
                        <m:naryPr>
                          <m:chr m:val="∑"/>
                          <m:subHide m:val="on"/>
                          <m:supHide m:val="on"/>
                          <m:ctrlPr>
                            <a:rPr lang="en-US" sz="2200" i="1">
                              <a:latin typeface="Cambria Math" panose="02040503050406030204" pitchFamily="18" charset="0"/>
                              <a:ea typeface="Cambria Math"/>
                            </a:rPr>
                          </m:ctrlPr>
                        </m:naryPr>
                        <m:sub/>
                        <m:sup/>
                        <m:e>
                          <m:sSup>
                            <m:sSupPr>
                              <m:ctrlPr>
                                <a:rPr lang="en-US" sz="2200" i="1">
                                  <a:latin typeface="Cambria Math" panose="02040503050406030204" pitchFamily="18" charset="0"/>
                                  <a:ea typeface="Cambria Math"/>
                                </a:rPr>
                              </m:ctrlPr>
                            </m:sSupPr>
                            <m:e>
                              <m:r>
                                <a:rPr lang="en-US" sz="2200" b="0" i="1">
                                  <a:latin typeface="Cambria Math"/>
                                  <a:ea typeface="Cambria Math"/>
                                </a:rPr>
                                <m:t>𝑥</m:t>
                              </m:r>
                            </m:e>
                            <m:sup>
                              <m:r>
                                <a:rPr lang="en-US" sz="2200" b="0" i="1">
                                  <a:latin typeface="Cambria Math"/>
                                  <a:ea typeface="Cambria Math"/>
                                </a:rPr>
                                <m:t>4</m:t>
                              </m:r>
                            </m:sup>
                          </m:sSup>
                        </m:e>
                      </m:nary>
                    </m:oMath>
                  </m:oMathPara>
                </a14:m>
                <a:endParaRPr lang="en-US" sz="2200" dirty="0"/>
              </a:p>
              <a:p>
                <a:pPr marL="0" indent="0">
                  <a:buNone/>
                </a:pPr>
                <a:endParaRPr lang="en-US" sz="2200" dirty="0"/>
              </a:p>
              <a:p>
                <a:pPr marL="0" indent="0">
                  <a:buNone/>
                </a:pPr>
                <a:endParaRPr lang="en-US" sz="22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Non-Linear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10568328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00600"/>
              </a:xfrm>
            </p:spPr>
            <p:txBody>
              <a:bodyPr>
                <a:noAutofit/>
              </a:bodyPr>
              <a:lstStyle/>
              <a:p>
                <a:pPr>
                  <a:buFont typeface="Wingdings" pitchFamily="2" charset="2"/>
                  <a:buChar char="Ø"/>
                </a:pPr>
                <a:r>
                  <a:rPr lang="en-US" sz="2200" b="1" dirty="0"/>
                  <a:t>Multiple Linear Regression:</a:t>
                </a:r>
              </a:p>
              <a:p>
                <a:pPr marL="0" indent="0">
                  <a:buNone/>
                </a:pPr>
                <a:r>
                  <a:rPr lang="en-US" sz="2200" dirty="0"/>
                  <a:t>Where the dependent variable is a function of two or more linear or non linear independent variables. consider such a linear function as </a:t>
                </a:r>
                <a14:m>
                  <m:oMath xmlns:m="http://schemas.openxmlformats.org/officeDocument/2006/math">
                    <m:r>
                      <a:rPr lang="en-US" sz="2200" b="0" i="1" smtClean="0">
                        <a:latin typeface="Cambria Math"/>
                      </a:rPr>
                      <m:t>𝑦</m:t>
                    </m:r>
                    <m:r>
                      <a:rPr lang="en-US" sz="2200" b="0" i="1" smtClean="0">
                        <a:latin typeface="Cambria Math"/>
                      </a:rPr>
                      <m:t>=</m:t>
                    </m:r>
                    <m:r>
                      <a:rPr lang="en-US" sz="2200" b="0" i="1" smtClean="0">
                        <a:latin typeface="Cambria Math"/>
                      </a:rPr>
                      <m:t>𝑎</m:t>
                    </m:r>
                    <m:r>
                      <a:rPr lang="en-US" sz="2200" b="0" i="1" smtClean="0">
                        <a:latin typeface="Cambria Math"/>
                      </a:rPr>
                      <m:t>+</m:t>
                    </m:r>
                    <m:r>
                      <a:rPr lang="en-US" sz="2200" b="0" i="1" smtClean="0">
                        <a:latin typeface="Cambria Math"/>
                      </a:rPr>
                      <m:t>𝑏𝑥</m:t>
                    </m:r>
                    <m:r>
                      <a:rPr lang="en-US" sz="2200" b="0" i="1" smtClean="0">
                        <a:latin typeface="Cambria Math"/>
                      </a:rPr>
                      <m:t>+</m:t>
                    </m:r>
                    <m:r>
                      <a:rPr lang="en-US" sz="2200" b="0" i="1" smtClean="0">
                        <a:latin typeface="Cambria Math"/>
                      </a:rPr>
                      <m:t>𝑐𝑧</m:t>
                    </m:r>
                  </m:oMath>
                </a14:m>
                <a:endParaRPr lang="en-US" sz="2200" b="0" dirty="0"/>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smtClean="0">
                              <a:latin typeface="Cambria Math" panose="02040503050406030204" pitchFamily="18" charset="0"/>
                            </a:rPr>
                          </m:ctrlPr>
                        </m:naryPr>
                        <m:sub/>
                        <m:sup/>
                        <m:e>
                          <m:r>
                            <a:rPr lang="en-US" sz="2200" b="0" i="1" smtClean="0">
                              <a:latin typeface="Cambria Math"/>
                            </a:rPr>
                            <m:t>𝑦</m:t>
                          </m:r>
                        </m:e>
                      </m:nary>
                      <m:r>
                        <a:rPr lang="en-US" sz="2200" b="0" i="1" smtClean="0">
                          <a:latin typeface="Cambria Math"/>
                        </a:rPr>
                        <m:t>=</m:t>
                      </m:r>
                      <m:r>
                        <a:rPr lang="en-US" sz="2200" b="0" i="1" smtClean="0">
                          <a:latin typeface="Cambria Math"/>
                        </a:rPr>
                        <m:t>𝑚𝑎</m:t>
                      </m:r>
                      <m:r>
                        <a:rPr lang="en-US" sz="2200" b="0" i="1" smtClean="0">
                          <a:latin typeface="Cambria Math"/>
                        </a:rPr>
                        <m:t>+</m:t>
                      </m:r>
                      <m:r>
                        <a:rPr lang="en-US" sz="2200" b="0" i="1" smtClean="0">
                          <a:latin typeface="Cambria Math"/>
                        </a:rPr>
                        <m:t>𝑏</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𝑥</m:t>
                          </m:r>
                        </m:e>
                      </m:nary>
                      <m:r>
                        <a:rPr lang="en-US" sz="2200" b="0" i="1" smtClean="0">
                          <a:latin typeface="Cambria Math"/>
                        </a:rPr>
                        <m:t>+</m:t>
                      </m:r>
                      <m:r>
                        <a:rPr lang="en-US" sz="2200" b="0" i="1" smtClean="0">
                          <a:latin typeface="Cambria Math"/>
                        </a:rPr>
                        <m:t>𝑐</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a:rPr>
                            <m:t>𝑧</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r>
                        <a:rPr lang="en-US" sz="2200" i="1">
                          <a:latin typeface="Cambria Math"/>
                        </a:rPr>
                        <m:t>𝑎</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r>
                        <a:rPr lang="en-US" sz="2200" i="1">
                          <a:latin typeface="Cambria Math"/>
                        </a:rPr>
                        <m:t>+</m:t>
                      </m:r>
                      <m:r>
                        <a:rPr lang="en-US" sz="2200" i="1">
                          <a:latin typeface="Cambria Math"/>
                        </a:rPr>
                        <m:t>𝑏</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e>
                      </m:nary>
                      <m:r>
                        <a:rPr lang="en-US" sz="2200" i="1">
                          <a:latin typeface="Cambria Math"/>
                        </a:rPr>
                        <m:t>+</m:t>
                      </m:r>
                      <m:r>
                        <a:rPr lang="en-US" sz="2200" i="1">
                          <a:latin typeface="Cambria Math"/>
                        </a:rPr>
                        <m:t>𝑐</m:t>
                      </m:r>
                      <m:nary>
                        <m:naryPr>
                          <m:chr m:val="∑"/>
                          <m:subHide m:val="on"/>
                          <m:supHide m:val="on"/>
                          <m:ctrlPr>
                            <a:rPr lang="en-US" sz="2200" i="1">
                              <a:latin typeface="Cambria Math" panose="02040503050406030204" pitchFamily="18" charset="0"/>
                            </a:rPr>
                          </m:ctrlPr>
                        </m:naryPr>
                        <m:sub/>
                        <m:sup/>
                        <m:e>
                          <m:r>
                            <a:rPr lang="en-US" sz="2200" i="1">
                              <a:latin typeface="Cambria Math"/>
                            </a:rPr>
                            <m:t>𝑥𝑧</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a:latin typeface="Cambria Math" panose="02040503050406030204" pitchFamily="18" charset="0"/>
                            </a:rPr>
                          </m:ctrlPr>
                        </m:naryPr>
                        <m:sub/>
                        <m:sup/>
                        <m:e>
                          <m:r>
                            <a:rPr lang="en-US" sz="2200" i="1">
                              <a:latin typeface="Cambria Math"/>
                            </a:rPr>
                            <m:t>𝑦𝑧</m:t>
                          </m:r>
                        </m:e>
                      </m:nary>
                      <m:r>
                        <a:rPr lang="en-US" sz="2200" i="1">
                          <a:latin typeface="Cambria Math"/>
                        </a:rPr>
                        <m:t>=</m:t>
                      </m:r>
                      <m:r>
                        <a:rPr lang="en-US" sz="2200" i="1">
                          <a:latin typeface="Cambria Math"/>
                        </a:rPr>
                        <m:t>𝑎</m:t>
                      </m:r>
                      <m:nary>
                        <m:naryPr>
                          <m:chr m:val="∑"/>
                          <m:subHide m:val="on"/>
                          <m:supHide m:val="on"/>
                          <m:ctrlPr>
                            <a:rPr lang="en-US" sz="2200" i="1">
                              <a:latin typeface="Cambria Math" panose="02040503050406030204" pitchFamily="18" charset="0"/>
                            </a:rPr>
                          </m:ctrlPr>
                        </m:naryPr>
                        <m:sub/>
                        <m:sup/>
                        <m:e>
                          <m:r>
                            <a:rPr lang="en-US" sz="2200" i="1">
                              <a:latin typeface="Cambria Math"/>
                            </a:rPr>
                            <m:t>𝑧</m:t>
                          </m:r>
                        </m:e>
                      </m:nary>
                      <m:r>
                        <a:rPr lang="en-US" sz="2200" i="1">
                          <a:latin typeface="Cambria Math"/>
                        </a:rPr>
                        <m:t>+</m:t>
                      </m:r>
                      <m:r>
                        <a:rPr lang="en-US" sz="2200" i="1">
                          <a:latin typeface="Cambria Math"/>
                        </a:rPr>
                        <m:t>𝑏</m:t>
                      </m:r>
                      <m:nary>
                        <m:naryPr>
                          <m:chr m:val="∑"/>
                          <m:subHide m:val="on"/>
                          <m:supHide m:val="on"/>
                          <m:ctrlPr>
                            <a:rPr lang="en-US" sz="2200" i="1">
                              <a:latin typeface="Cambria Math" panose="02040503050406030204" pitchFamily="18" charset="0"/>
                            </a:rPr>
                          </m:ctrlPr>
                        </m:naryPr>
                        <m:sub/>
                        <m:sup/>
                        <m:e>
                          <m:r>
                            <a:rPr lang="en-US" sz="2200" i="1">
                              <a:latin typeface="Cambria Math"/>
                            </a:rPr>
                            <m:t>𝑥𝑧</m:t>
                          </m:r>
                        </m:e>
                      </m:nary>
                      <m:r>
                        <a:rPr lang="en-US" sz="2200" i="1">
                          <a:latin typeface="Cambria Math"/>
                        </a:rPr>
                        <m:t>+</m:t>
                      </m:r>
                      <m:r>
                        <a:rPr lang="en-US" sz="2200" i="1">
                          <a:latin typeface="Cambria Math"/>
                        </a:rPr>
                        <m:t>𝑐</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e>
                      </m:nary>
                    </m:oMath>
                  </m:oMathPara>
                </a14:m>
                <a:endParaRPr lang="en-US" sz="2200" dirty="0"/>
              </a:p>
              <a:p>
                <a:pPr marL="0" indent="0">
                  <a:buNone/>
                </a:pPr>
                <a:r>
                  <a:rPr lang="en-US" sz="2200" dirty="0"/>
                  <a:t>Solving the above equations we get values of  </a:t>
                </a:r>
                <a14:m>
                  <m:oMath xmlns:m="http://schemas.openxmlformats.org/officeDocument/2006/math">
                    <m:r>
                      <a:rPr lang="en-US" sz="2200" i="1">
                        <a:latin typeface="Cambria Math"/>
                      </a:rPr>
                      <m:t>𝑎</m:t>
                    </m:r>
                    <m:r>
                      <a:rPr lang="en-US" sz="2200" i="1">
                        <a:latin typeface="Cambria Math"/>
                      </a:rPr>
                      <m:t>,</m:t>
                    </m:r>
                    <m:r>
                      <a:rPr lang="en-US" sz="2200" i="1">
                        <a:latin typeface="Cambria Math"/>
                      </a:rPr>
                      <m:t>𝑏</m:t>
                    </m:r>
                    <m:r>
                      <a:rPr lang="en-US" sz="2200" i="1">
                        <a:latin typeface="Cambria Math"/>
                      </a:rPr>
                      <m:t> </m:t>
                    </m:r>
                    <m:r>
                      <a:rPr lang="en-US" sz="2200" i="1">
                        <a:latin typeface="Cambria Math"/>
                      </a:rPr>
                      <m:t>𝑎𝑛𝑑</m:t>
                    </m:r>
                    <m:r>
                      <a:rPr lang="en-US" sz="2200" i="1">
                        <a:latin typeface="Cambria Math"/>
                      </a:rPr>
                      <m:t> </m:t>
                    </m:r>
                    <m:r>
                      <a:rPr lang="en-US" sz="2200" i="1">
                        <a:latin typeface="Cambria Math"/>
                      </a:rPr>
                      <m:t>𝑐</m:t>
                    </m:r>
                    <m:r>
                      <a:rPr lang="en-US" sz="2200" i="1">
                        <a:latin typeface="Cambria Math"/>
                      </a:rPr>
                      <m:t> </m:t>
                    </m:r>
                  </m:oMath>
                </a14:m>
                <a:r>
                  <a:rPr lang="en-US" sz="2200" dirty="0"/>
                  <a:t>then we get linear function </a:t>
                </a:r>
                <a14:m>
                  <m:oMath xmlns:m="http://schemas.openxmlformats.org/officeDocument/2006/math">
                    <m:r>
                      <a:rPr lang="en-US" sz="2200" i="1">
                        <a:latin typeface="Cambria Math"/>
                      </a:rPr>
                      <m:t>𝑦</m:t>
                    </m:r>
                    <m:r>
                      <a:rPr lang="en-US" sz="2200" i="1">
                        <a:latin typeface="Cambria Math"/>
                      </a:rPr>
                      <m:t>=</m:t>
                    </m:r>
                    <m:r>
                      <a:rPr lang="en-US" sz="2200" i="1">
                        <a:latin typeface="Cambria Math"/>
                      </a:rPr>
                      <m:t>𝑎</m:t>
                    </m:r>
                    <m:r>
                      <a:rPr lang="en-US" sz="2200" i="1">
                        <a:latin typeface="Cambria Math"/>
                      </a:rPr>
                      <m:t>+</m:t>
                    </m:r>
                    <m:r>
                      <a:rPr lang="en-US" sz="2200" i="1">
                        <a:latin typeface="Cambria Math"/>
                      </a:rPr>
                      <m:t>𝑏𝑥</m:t>
                    </m:r>
                    <m:r>
                      <a:rPr lang="en-US" sz="2200" i="1">
                        <a:latin typeface="Cambria Math"/>
                      </a:rPr>
                      <m:t>+</m:t>
                    </m:r>
                    <m:r>
                      <a:rPr lang="en-US" sz="2200" i="1">
                        <a:latin typeface="Cambria Math"/>
                      </a:rPr>
                      <m:t>𝑐𝑧</m:t>
                    </m:r>
                  </m:oMath>
                </a14:m>
                <a:r>
                  <a:rPr lang="en-US" sz="2200" dirty="0"/>
                  <a:t> is called the regression plan.</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00600"/>
              </a:xfrm>
              <a:blipFill>
                <a:blip r:embed="rId2"/>
                <a:stretch>
                  <a:fillRect l="-963" t="-889" r="-1556"/>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Multiple Linear Regression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2591861077"/>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953000"/>
              </a:xfrm>
            </p:spPr>
            <p:txBody>
              <a:bodyPr>
                <a:noAutofit/>
              </a:bodyPr>
              <a:lstStyle/>
              <a:p>
                <a:pPr marL="0" indent="0">
                  <a:buNone/>
                </a:pPr>
                <a:r>
                  <a:rPr lang="en-US" sz="2200" b="1" dirty="0"/>
                  <a:t>Q.</a:t>
                </a:r>
                <a:r>
                  <a:rPr lang="en-US" sz="2200" dirty="0"/>
                  <a:t> Obtain a regression plane by using multiple linear regression </a:t>
                </a:r>
              </a:p>
              <a:p>
                <a:pPr marL="0" indent="0">
                  <a:buNone/>
                </a:pPr>
                <a:r>
                  <a:rPr lang="en-US" sz="2200" dirty="0"/>
                  <a:t>To fit the data given below.</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Sol. Let </a:t>
                </a:r>
                <a14:m>
                  <m:oMath xmlns:m="http://schemas.openxmlformats.org/officeDocument/2006/math">
                    <m:r>
                      <a:rPr lang="en-US" sz="2200" i="1">
                        <a:latin typeface="Cambria Math"/>
                      </a:rPr>
                      <m:t>𝑦</m:t>
                    </m:r>
                    <m:r>
                      <a:rPr lang="en-US" sz="2200" i="1">
                        <a:latin typeface="Cambria Math"/>
                      </a:rPr>
                      <m:t>=</m:t>
                    </m:r>
                    <m:r>
                      <a:rPr lang="en-US" sz="2200" i="1">
                        <a:latin typeface="Cambria Math"/>
                      </a:rPr>
                      <m:t>𝑎</m:t>
                    </m:r>
                    <m:r>
                      <a:rPr lang="en-US" sz="2200" i="1">
                        <a:latin typeface="Cambria Math"/>
                      </a:rPr>
                      <m:t>+</m:t>
                    </m:r>
                    <m:r>
                      <a:rPr lang="en-US" sz="2200" i="1">
                        <a:latin typeface="Cambria Math"/>
                      </a:rPr>
                      <m:t>𝑏𝑥</m:t>
                    </m:r>
                    <m:r>
                      <a:rPr lang="en-US" sz="2200" i="1">
                        <a:latin typeface="Cambria Math"/>
                      </a:rPr>
                      <m:t>+</m:t>
                    </m:r>
                    <m:r>
                      <a:rPr lang="en-US" sz="2200" i="1">
                        <a:latin typeface="Cambria Math"/>
                      </a:rPr>
                      <m:t>𝑐𝑧</m:t>
                    </m:r>
                    <m:r>
                      <a:rPr lang="en-US" sz="2200" i="1">
                        <a:latin typeface="Cambria Math"/>
                      </a:rPr>
                      <m:t> </m:t>
                    </m:r>
                    <m:r>
                      <a:rPr lang="en-US" sz="2200" i="1">
                        <a:latin typeface="Cambria Math"/>
                      </a:rPr>
                      <m:t>𝑏𝑒</m:t>
                    </m:r>
                    <m:r>
                      <a:rPr lang="en-US" sz="2200" i="1">
                        <a:latin typeface="Cambria Math"/>
                      </a:rPr>
                      <m:t> </m:t>
                    </m:r>
                    <m:r>
                      <a:rPr lang="en-US" sz="2200" i="1">
                        <a:latin typeface="Cambria Math"/>
                      </a:rPr>
                      <m:t>𝑡h𝑒</m:t>
                    </m:r>
                    <m:r>
                      <a:rPr lang="en-US" sz="2200" i="1">
                        <a:latin typeface="Cambria Math"/>
                      </a:rPr>
                      <m:t> </m:t>
                    </m:r>
                    <m:r>
                      <a:rPr lang="en-US" sz="2200" i="1">
                        <a:latin typeface="Cambria Math"/>
                      </a:rPr>
                      <m:t>𝑟𝑒𝑞𝑢𝑖𝑟𝑒𝑑</m:t>
                    </m:r>
                    <m:r>
                      <a:rPr lang="en-US" sz="2200" i="1">
                        <a:latin typeface="Cambria Math"/>
                      </a:rPr>
                      <m:t> </m:t>
                    </m:r>
                    <m:r>
                      <a:rPr lang="en-US" sz="2200" i="1">
                        <a:latin typeface="Cambria Math"/>
                      </a:rPr>
                      <m:t>𝑟𝑒𝑔𝑟𝑒𝑠𝑠𝑖𝑜𝑛</m:t>
                    </m:r>
                    <m:r>
                      <a:rPr lang="en-US" sz="2200" i="1">
                        <a:latin typeface="Cambria Math"/>
                      </a:rPr>
                      <m:t> </m:t>
                    </m:r>
                    <m:r>
                      <a:rPr lang="en-US" sz="2200" i="1">
                        <a:latin typeface="Cambria Math"/>
                      </a:rPr>
                      <m:t>𝑝𝑙𝑎𝑛𝑒</m:t>
                    </m:r>
                    <m:r>
                      <a:rPr lang="en-US" sz="2200" i="1">
                        <a:latin typeface="Cambria Math"/>
                      </a:rPr>
                      <m:t> </m:t>
                    </m:r>
                    <m:r>
                      <a:rPr lang="en-US" sz="2200" i="1">
                        <a:latin typeface="Cambria Math"/>
                      </a:rPr>
                      <m:t>𝑤h𝑒𝑟𝑒</m:t>
                    </m:r>
                  </m:oMath>
                </a14:m>
                <a:endParaRPr lang="en-US" sz="2200" dirty="0"/>
              </a:p>
              <a:p>
                <a:pPr marL="0" indent="0">
                  <a:buNone/>
                </a:pPr>
                <a14:m>
                  <m:oMath xmlns:m="http://schemas.openxmlformats.org/officeDocument/2006/math">
                    <m:r>
                      <a:rPr lang="en-US" sz="2200" i="1">
                        <a:latin typeface="Cambria Math"/>
                      </a:rPr>
                      <m:t>𝑎</m:t>
                    </m:r>
                    <m:r>
                      <a:rPr lang="en-US" sz="2200" i="1">
                        <a:latin typeface="Cambria Math"/>
                      </a:rPr>
                      <m:t>,</m:t>
                    </m:r>
                    <m:r>
                      <a:rPr lang="en-US" sz="2200" i="1">
                        <a:latin typeface="Cambria Math"/>
                      </a:rPr>
                      <m:t>𝑏</m:t>
                    </m:r>
                    <m:r>
                      <a:rPr lang="en-US" sz="2200" i="1">
                        <a:latin typeface="Cambria Math"/>
                      </a:rPr>
                      <m:t>,</m:t>
                    </m:r>
                    <m:r>
                      <a:rPr lang="en-US" sz="2200" i="1">
                        <a:latin typeface="Cambria Math"/>
                      </a:rPr>
                      <m:t>𝑐</m:t>
                    </m:r>
                    <m:r>
                      <a:rPr lang="en-US" sz="2200" i="1">
                        <a:latin typeface="Cambria Math"/>
                      </a:rPr>
                      <m:t> </m:t>
                    </m:r>
                    <m:r>
                      <a:rPr lang="en-US" sz="2200" i="1">
                        <a:latin typeface="Cambria Math"/>
                      </a:rPr>
                      <m:t>𝑎𝑟𝑒</m:t>
                    </m:r>
                    <m:r>
                      <a:rPr lang="en-US" sz="2200" i="1">
                        <a:latin typeface="Cambria Math"/>
                      </a:rPr>
                      <m:t> </m:t>
                    </m:r>
                    <m:r>
                      <a:rPr lang="en-US" sz="2200" i="1">
                        <a:latin typeface="Cambria Math"/>
                      </a:rPr>
                      <m:t>𝑡h𝑒</m:t>
                    </m:r>
                    <m:r>
                      <a:rPr lang="en-US" sz="2200" i="1">
                        <a:latin typeface="Cambria Math"/>
                      </a:rPr>
                      <m:t> </m:t>
                    </m:r>
                    <m:r>
                      <a:rPr lang="en-US" sz="2200" i="1">
                        <a:latin typeface="Cambria Math"/>
                      </a:rPr>
                      <m:t>𝑐𝑜𝑛𝑠𝑡𝑎𝑛𝑡𝑠</m:t>
                    </m:r>
                    <m:r>
                      <a:rPr lang="en-US" sz="2200" i="1">
                        <a:latin typeface="Cambria Math"/>
                      </a:rPr>
                      <m:t> </m:t>
                    </m:r>
                    <m:r>
                      <a:rPr lang="en-US" sz="2200" i="1">
                        <a:latin typeface="Cambria Math"/>
                      </a:rPr>
                      <m:t>𝑡𝑜</m:t>
                    </m:r>
                  </m:oMath>
                </a14:m>
                <a:r>
                  <a:rPr lang="en-US" sz="2200" dirty="0"/>
                  <a:t> be determined by following equations.</a:t>
                </a:r>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a:latin typeface="Cambria Math" panose="02040503050406030204" pitchFamily="18" charset="0"/>
                            </a:rPr>
                          </m:ctrlPr>
                        </m:naryPr>
                        <m:sub/>
                        <m:sup/>
                        <m:e>
                          <m:r>
                            <a:rPr lang="en-US" sz="2200" i="1">
                              <a:latin typeface="Cambria Math"/>
                            </a:rPr>
                            <m:t>𝑦</m:t>
                          </m:r>
                        </m:e>
                      </m:nary>
                      <m:r>
                        <a:rPr lang="en-US" sz="2200" i="1">
                          <a:latin typeface="Cambria Math"/>
                        </a:rPr>
                        <m:t>=</m:t>
                      </m:r>
                      <m:r>
                        <a:rPr lang="en-US" sz="2200" i="1">
                          <a:latin typeface="Cambria Math"/>
                        </a:rPr>
                        <m:t>𝑚𝑎</m:t>
                      </m:r>
                      <m:r>
                        <a:rPr lang="en-US" sz="2200" i="1">
                          <a:latin typeface="Cambria Math"/>
                        </a:rPr>
                        <m:t>+</m:t>
                      </m:r>
                      <m:r>
                        <a:rPr lang="en-US" sz="2200" i="1">
                          <a:latin typeface="Cambria Math"/>
                        </a:rPr>
                        <m:t>𝑏</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r>
                        <a:rPr lang="en-US" sz="2200" i="1">
                          <a:latin typeface="Cambria Math"/>
                        </a:rPr>
                        <m:t>+</m:t>
                      </m:r>
                      <m:r>
                        <a:rPr lang="en-US" sz="2200" i="1">
                          <a:latin typeface="Cambria Math"/>
                        </a:rPr>
                        <m:t>𝑐</m:t>
                      </m:r>
                      <m:nary>
                        <m:naryPr>
                          <m:chr m:val="∑"/>
                          <m:subHide m:val="on"/>
                          <m:supHide m:val="on"/>
                          <m:ctrlPr>
                            <a:rPr lang="en-US" sz="2200" i="1">
                              <a:latin typeface="Cambria Math" panose="02040503050406030204" pitchFamily="18" charset="0"/>
                            </a:rPr>
                          </m:ctrlPr>
                        </m:naryPr>
                        <m:sub/>
                        <m:sup/>
                        <m:e>
                          <m:r>
                            <a:rPr lang="en-US" sz="2200" i="1">
                              <a:latin typeface="Cambria Math"/>
                            </a:rPr>
                            <m:t>𝑧</m:t>
                          </m:r>
                        </m:e>
                      </m:nary>
                    </m:oMath>
                  </m:oMathPara>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a:latin typeface="Cambria Math" panose="02040503050406030204" pitchFamily="18" charset="0"/>
                            </a:rPr>
                          </m:ctrlPr>
                        </m:naryPr>
                        <m:sub/>
                        <m:sup/>
                        <m:e>
                          <m:r>
                            <a:rPr lang="en-US" sz="2200" i="1">
                              <a:latin typeface="Cambria Math"/>
                            </a:rPr>
                            <m:t>𝑥𝑦</m:t>
                          </m:r>
                        </m:e>
                      </m:nary>
                      <m:r>
                        <a:rPr lang="en-US" sz="2200" i="1">
                          <a:latin typeface="Cambria Math"/>
                        </a:rPr>
                        <m:t>=</m:t>
                      </m:r>
                      <m:r>
                        <a:rPr lang="en-US" sz="2200" i="1">
                          <a:latin typeface="Cambria Math"/>
                        </a:rPr>
                        <m:t>𝑎</m:t>
                      </m:r>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r>
                        <a:rPr lang="en-US" sz="2200" i="1">
                          <a:latin typeface="Cambria Math"/>
                        </a:rPr>
                        <m:t>+</m:t>
                      </m:r>
                      <m:r>
                        <a:rPr lang="en-US" sz="2200" i="1">
                          <a:latin typeface="Cambria Math"/>
                        </a:rPr>
                        <m:t>𝑏</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e>
                      </m:nary>
                      <m:r>
                        <a:rPr lang="en-US" sz="2200" i="1">
                          <a:latin typeface="Cambria Math"/>
                        </a:rPr>
                        <m:t>+</m:t>
                      </m:r>
                      <m:r>
                        <a:rPr lang="en-US" sz="2200" i="1">
                          <a:latin typeface="Cambria Math"/>
                        </a:rPr>
                        <m:t>𝑐</m:t>
                      </m:r>
                      <m:nary>
                        <m:naryPr>
                          <m:chr m:val="∑"/>
                          <m:subHide m:val="on"/>
                          <m:supHide m:val="on"/>
                          <m:ctrlPr>
                            <a:rPr lang="en-US" sz="2200" i="1">
                              <a:latin typeface="Cambria Math" panose="02040503050406030204" pitchFamily="18" charset="0"/>
                            </a:rPr>
                          </m:ctrlPr>
                        </m:naryPr>
                        <m:sub/>
                        <m:sup/>
                        <m:e>
                          <m:r>
                            <a:rPr lang="en-US" sz="2200" i="1">
                              <a:latin typeface="Cambria Math"/>
                            </a:rPr>
                            <m:t>𝑥𝑧</m:t>
                          </m:r>
                        </m:e>
                      </m:nary>
                    </m:oMath>
                  </m:oMathPara>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953000"/>
              </a:xfrm>
              <a:blipFill rotWithShape="1">
                <a:blip r:embed="rId2"/>
                <a:stretch>
                  <a:fillRect l="-963" t="-739" b="-8744"/>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82743008"/>
                  </p:ext>
                </p:extLst>
              </p:nvPr>
            </p:nvGraphicFramePr>
            <p:xfrm>
              <a:off x="914400" y="220980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30</a:t>
                          </a:r>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82743008"/>
                  </p:ext>
                </p:extLst>
              </p:nvPr>
            </p:nvGraphicFramePr>
            <p:xfrm>
              <a:off x="914400" y="220980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endParaRPr lang="en-US"/>
                        </a:p>
                      </a:txBody>
                      <a:tcPr>
                        <a:blipFill>
                          <a:blip r:embed="rId3"/>
                          <a:stretch>
                            <a:fillRect l="-1000" t="-8065" r="-402500" b="-120968"/>
                          </a:stretch>
                        </a:blipFill>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tc>
                      <a:txBody>
                        <a:bodyPr/>
                        <a:lstStyle/>
                        <a:p>
                          <a:r>
                            <a:rPr lang="en-US" dirty="0">
                              <a:latin typeface="Times New Roman" panose="02020603050405020304" pitchFamily="18" charset="0"/>
                            </a:rPr>
                            <a:t>4</a:t>
                          </a:r>
                        </a:p>
                      </a:txBody>
                      <a:tcPr/>
                    </a:tc>
                    <a:extLst>
                      <a:ext uri="{0D108BD9-81ED-4DB2-BD59-A6C34878D82A}">
                        <a16:rowId xmlns:a16="http://schemas.microsoft.com/office/drawing/2014/main" val="10000"/>
                      </a:ext>
                    </a:extLst>
                  </a:tr>
                  <a:tr h="370840">
                    <a:tc>
                      <a:txBody>
                        <a:bodyPr/>
                        <a:lstStyle/>
                        <a:p>
                          <a:endParaRPr lang="en-US"/>
                        </a:p>
                      </a:txBody>
                      <a:tcPr>
                        <a:blipFill>
                          <a:blip r:embed="rId3"/>
                          <a:stretch>
                            <a:fillRect l="-1000" t="-109836" r="-402500" b="-22951"/>
                          </a:stretch>
                        </a:blipFill>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18</a:t>
                          </a:r>
                        </a:p>
                      </a:txBody>
                      <a:tcPr/>
                    </a:tc>
                    <a:tc>
                      <a:txBody>
                        <a:bodyPr/>
                        <a:lstStyle/>
                        <a:p>
                          <a:r>
                            <a:rPr lang="en-US" dirty="0">
                              <a:latin typeface="Times New Roman" panose="02020603050405020304" pitchFamily="18" charset="0"/>
                            </a:rPr>
                            <a:t>24</a:t>
                          </a:r>
                        </a:p>
                      </a:txBody>
                      <a:tcPr/>
                    </a:tc>
                    <a:tc>
                      <a:txBody>
                        <a:bodyPr/>
                        <a:lstStyle/>
                        <a:p>
                          <a:r>
                            <a:rPr lang="en-US" dirty="0">
                              <a:latin typeface="Times New Roman" panose="02020603050405020304" pitchFamily="18" charset="0"/>
                            </a:rPr>
                            <a:t>30</a:t>
                          </a:r>
                        </a:p>
                      </a:txBody>
                      <a:tcPr/>
                    </a:tc>
                    <a:extLst>
                      <a:ext uri="{0D108BD9-81ED-4DB2-BD59-A6C34878D82A}">
                        <a16:rowId xmlns:a16="http://schemas.microsoft.com/office/drawing/2014/main" val="10001"/>
                      </a:ext>
                    </a:extLst>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anose="02020603050405020304" pitchFamily="18" charset="0"/>
              </a:rPr>
              <a:t> </a:t>
            </a:r>
            <a:r>
              <a:rPr lang="en-US" sz="2400" b="1" dirty="0">
                <a:latin typeface="Times New Roman" panose="02020603050405020304" pitchFamily="18" charset="0"/>
              </a:rPr>
              <a:t>Multiple Linear Regression(CO2)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887149371"/>
                  </p:ext>
                </p:extLst>
              </p:nvPr>
            </p:nvGraphicFramePr>
            <p:xfrm>
              <a:off x="914400" y="2971800"/>
              <a:ext cx="6248400" cy="365760"/>
            </p:xfrm>
            <a:graphic>
              <a:graphicData uri="http://schemas.openxmlformats.org/drawingml/2006/table">
                <a:tbl>
                  <a:tblPr firstRow="1" bandRow="1">
                    <a:tableStyleId>{5C22544A-7EE6-4342-B048-85BDC9FD1C3A}</a:tableStyleId>
                  </a:tblPr>
                  <a:tblGrid>
                    <a:gridCol w="1249680">
                      <a:extLst>
                        <a:ext uri="{9D8B030D-6E8A-4147-A177-3AD203B41FA5}">
                          <a16:colId xmlns:a16="http://schemas.microsoft.com/office/drawing/2014/main" val="20000"/>
                        </a:ext>
                      </a:extLst>
                    </a:gridCol>
                    <a:gridCol w="1249680">
                      <a:extLst>
                        <a:ext uri="{9D8B030D-6E8A-4147-A177-3AD203B41FA5}">
                          <a16:colId xmlns:a16="http://schemas.microsoft.com/office/drawing/2014/main" val="20001"/>
                        </a:ext>
                      </a:extLst>
                    </a:gridCol>
                    <a:gridCol w="1249680">
                      <a:extLst>
                        <a:ext uri="{9D8B030D-6E8A-4147-A177-3AD203B41FA5}">
                          <a16:colId xmlns:a16="http://schemas.microsoft.com/office/drawing/2014/main" val="20002"/>
                        </a:ext>
                      </a:extLst>
                    </a:gridCol>
                    <a:gridCol w="1249680">
                      <a:extLst>
                        <a:ext uri="{9D8B030D-6E8A-4147-A177-3AD203B41FA5}">
                          <a16:colId xmlns:a16="http://schemas.microsoft.com/office/drawing/2014/main" val="20003"/>
                        </a:ext>
                      </a:extLst>
                    </a:gridCol>
                    <a:gridCol w="1249680">
                      <a:extLst>
                        <a:ext uri="{9D8B030D-6E8A-4147-A177-3AD203B41FA5}">
                          <a16:colId xmlns:a16="http://schemas.microsoft.com/office/drawing/2014/main" val="20004"/>
                        </a:ext>
                      </a:extLst>
                    </a:gridCol>
                  </a:tblGrid>
                  <a:tr h="1422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𝑧</m:t>
                                </m:r>
                              </m:oMath>
                            </m:oMathPara>
                          </a14:m>
                          <a:endParaRPr lang="en-US" dirty="0">
                            <a:latin typeface="Times New Roman" panose="02020603050405020304" pitchFamily="18" charset="0"/>
                          </a:endParaRPr>
                        </a:p>
                      </a:txBody>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extLst>
                      <a:ext uri="{0D108BD9-81ED-4DB2-BD59-A6C34878D82A}">
                        <a16:rowId xmlns:a16="http://schemas.microsoft.com/office/drawing/2014/main" val="10000"/>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887149371"/>
                  </p:ext>
                </p:extLst>
              </p:nvPr>
            </p:nvGraphicFramePr>
            <p:xfrm>
              <a:off x="914400" y="2971800"/>
              <a:ext cx="6248400" cy="365760"/>
            </p:xfrm>
            <a:graphic>
              <a:graphicData uri="http://schemas.openxmlformats.org/drawingml/2006/table">
                <a:tbl>
                  <a:tblPr firstRow="1" bandRow="1">
                    <a:tableStyleId>{5C22544A-7EE6-4342-B048-85BDC9FD1C3A}</a:tableStyleId>
                  </a:tblPr>
                  <a:tblGrid>
                    <a:gridCol w="1249680">
                      <a:extLst>
                        <a:ext uri="{9D8B030D-6E8A-4147-A177-3AD203B41FA5}">
                          <a16:colId xmlns:a16="http://schemas.microsoft.com/office/drawing/2014/main" val="20000"/>
                        </a:ext>
                      </a:extLst>
                    </a:gridCol>
                    <a:gridCol w="1249680">
                      <a:extLst>
                        <a:ext uri="{9D8B030D-6E8A-4147-A177-3AD203B41FA5}">
                          <a16:colId xmlns:a16="http://schemas.microsoft.com/office/drawing/2014/main" val="20001"/>
                        </a:ext>
                      </a:extLst>
                    </a:gridCol>
                    <a:gridCol w="1249680">
                      <a:extLst>
                        <a:ext uri="{9D8B030D-6E8A-4147-A177-3AD203B41FA5}">
                          <a16:colId xmlns:a16="http://schemas.microsoft.com/office/drawing/2014/main" val="20002"/>
                        </a:ext>
                      </a:extLst>
                    </a:gridCol>
                    <a:gridCol w="1249680">
                      <a:extLst>
                        <a:ext uri="{9D8B030D-6E8A-4147-A177-3AD203B41FA5}">
                          <a16:colId xmlns:a16="http://schemas.microsoft.com/office/drawing/2014/main" val="20003"/>
                        </a:ext>
                      </a:extLst>
                    </a:gridCol>
                    <a:gridCol w="1249680">
                      <a:extLst>
                        <a:ext uri="{9D8B030D-6E8A-4147-A177-3AD203B41FA5}">
                          <a16:colId xmlns:a16="http://schemas.microsoft.com/office/drawing/2014/main" val="20004"/>
                        </a:ext>
                      </a:extLst>
                    </a:gridCol>
                  </a:tblGrid>
                  <a:tr h="365760">
                    <a:tc>
                      <a:txBody>
                        <a:bodyPr/>
                        <a:lstStyle/>
                        <a:p>
                          <a:endParaRPr lang="en-US"/>
                        </a:p>
                      </a:txBody>
                      <a:tcPr>
                        <a:blipFill>
                          <a:blip r:embed="rId4"/>
                          <a:stretch>
                            <a:fillRect l="-976" t="-8197" r="-402439" b="-24590"/>
                          </a:stretch>
                        </a:blipFill>
                      </a:tcPr>
                    </a:tc>
                    <a:tc>
                      <a:txBody>
                        <a:bodyPr/>
                        <a:lstStyle/>
                        <a:p>
                          <a:r>
                            <a:rPr lang="en-US" dirty="0">
                              <a:latin typeface="Times New Roman" panose="02020603050405020304" pitchFamily="18" charset="0"/>
                            </a:rPr>
                            <a:t>0</a:t>
                          </a:r>
                        </a:p>
                      </a:txBody>
                      <a:tcPr/>
                    </a:tc>
                    <a:tc>
                      <a:txBody>
                        <a:bodyPr/>
                        <a:lstStyle/>
                        <a:p>
                          <a:r>
                            <a:rPr lang="en-US" dirty="0">
                              <a:latin typeface="Times New Roman" panose="02020603050405020304" pitchFamily="18" charset="0"/>
                            </a:rPr>
                            <a:t>1</a:t>
                          </a:r>
                        </a:p>
                      </a:txBody>
                      <a:tcPr/>
                    </a:tc>
                    <a:tc>
                      <a:txBody>
                        <a:bodyPr/>
                        <a:lstStyle/>
                        <a:p>
                          <a:r>
                            <a:rPr lang="en-US" dirty="0">
                              <a:latin typeface="Times New Roman" panose="02020603050405020304" pitchFamily="18" charset="0"/>
                            </a:rPr>
                            <a:t>2</a:t>
                          </a:r>
                        </a:p>
                      </a:txBody>
                      <a:tcPr/>
                    </a:tc>
                    <a:tc>
                      <a:txBody>
                        <a:bodyPr/>
                        <a:lstStyle/>
                        <a:p>
                          <a:r>
                            <a:rPr lang="en-US" dirty="0">
                              <a:latin typeface="Times New Roman" panose="02020603050405020304" pitchFamily="18" charset="0"/>
                            </a:rPr>
                            <a:t>3</a:t>
                          </a:r>
                        </a:p>
                      </a:txBody>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32319538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Para xmlns:m="http://schemas.openxmlformats.org/officeDocument/2006/math">
                    <m:oMathParaPr>
                      <m:jc m:val="left"/>
                    </m:oMathParaPr>
                    <m:oMath xmlns:m="http://schemas.openxmlformats.org/officeDocument/2006/math">
                      <m:nary>
                        <m:naryPr>
                          <m:chr m:val="∑"/>
                          <m:subHide m:val="on"/>
                          <m:supHide m:val="on"/>
                          <m:ctrlPr>
                            <a:rPr lang="en-US" sz="2200" i="1">
                              <a:latin typeface="Cambria Math" panose="02040503050406030204" pitchFamily="18" charset="0"/>
                            </a:rPr>
                          </m:ctrlPr>
                        </m:naryPr>
                        <m:sub/>
                        <m:sup/>
                        <m:e>
                          <m:r>
                            <a:rPr lang="en-US" sz="2200" i="1">
                              <a:latin typeface="Cambria Math"/>
                            </a:rPr>
                            <m:t>𝑦𝑧</m:t>
                          </m:r>
                        </m:e>
                      </m:nary>
                      <m:r>
                        <a:rPr lang="en-US" sz="2200" i="1">
                          <a:latin typeface="Cambria Math"/>
                        </a:rPr>
                        <m:t>=</m:t>
                      </m:r>
                      <m:r>
                        <a:rPr lang="en-US" sz="2200" i="1">
                          <a:latin typeface="Cambria Math"/>
                        </a:rPr>
                        <m:t>𝑎</m:t>
                      </m:r>
                      <m:nary>
                        <m:naryPr>
                          <m:chr m:val="∑"/>
                          <m:subHide m:val="on"/>
                          <m:supHide m:val="on"/>
                          <m:ctrlPr>
                            <a:rPr lang="en-US" sz="2200" i="1">
                              <a:latin typeface="Cambria Math" panose="02040503050406030204" pitchFamily="18" charset="0"/>
                            </a:rPr>
                          </m:ctrlPr>
                        </m:naryPr>
                        <m:sub/>
                        <m:sup/>
                        <m:e>
                          <m:r>
                            <a:rPr lang="en-US" sz="2200" i="1">
                              <a:latin typeface="Cambria Math"/>
                            </a:rPr>
                            <m:t>𝑧</m:t>
                          </m:r>
                        </m:e>
                      </m:nary>
                      <m:r>
                        <a:rPr lang="en-US" sz="2200" i="1">
                          <a:latin typeface="Cambria Math"/>
                        </a:rPr>
                        <m:t>+</m:t>
                      </m:r>
                      <m:r>
                        <a:rPr lang="en-US" sz="2200" i="1">
                          <a:latin typeface="Cambria Math"/>
                        </a:rPr>
                        <m:t>𝑏</m:t>
                      </m:r>
                      <m:nary>
                        <m:naryPr>
                          <m:chr m:val="∑"/>
                          <m:subHide m:val="on"/>
                          <m:supHide m:val="on"/>
                          <m:ctrlPr>
                            <a:rPr lang="en-US" sz="2200" i="1">
                              <a:latin typeface="Cambria Math" panose="02040503050406030204" pitchFamily="18" charset="0"/>
                            </a:rPr>
                          </m:ctrlPr>
                        </m:naryPr>
                        <m:sub/>
                        <m:sup/>
                        <m:e>
                          <m:r>
                            <a:rPr lang="en-US" sz="2200" i="1">
                              <a:latin typeface="Cambria Math"/>
                            </a:rPr>
                            <m:t>𝑥𝑧</m:t>
                          </m:r>
                        </m:e>
                      </m:nary>
                      <m:r>
                        <a:rPr lang="en-US" sz="2200" i="1">
                          <a:latin typeface="Cambria Math"/>
                        </a:rPr>
                        <m:t>+</m:t>
                      </m:r>
                      <m:r>
                        <a:rPr lang="en-US" sz="2200" i="1">
                          <a:latin typeface="Cambria Math"/>
                        </a:rPr>
                        <m:t>𝑐</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e>
                      </m:nary>
                    </m:oMath>
                  </m:oMathPara>
                </a14:m>
                <a:endParaRPr lang="en-US" sz="2200" dirty="0"/>
              </a:p>
              <a:p>
                <a:pPr marL="0" indent="0">
                  <a:buNone/>
                </a:pPr>
                <a:r>
                  <a:rPr lang="en-US" sz="2200" dirty="0"/>
                  <a:t>Here </a:t>
                </a:r>
                <a14:m>
                  <m:oMath xmlns:m="http://schemas.openxmlformats.org/officeDocument/2006/math">
                    <m:r>
                      <a:rPr lang="en-US" sz="2200" b="0" i="1" smtClean="0">
                        <a:latin typeface="Cambria Math"/>
                      </a:rPr>
                      <m:t>𝑚</m:t>
                    </m:r>
                    <m:r>
                      <a:rPr lang="en-US" sz="2200" b="0" i="1" smtClean="0">
                        <a:latin typeface="Cambria Math"/>
                      </a:rPr>
                      <m:t>=4</m:t>
                    </m:r>
                  </m:oMath>
                </a14:m>
                <a:r>
                  <a:rPr lang="en-US" sz="2200" dirty="0"/>
                  <a:t> Substitution yields,</a:t>
                </a:r>
              </a:p>
              <a:p>
                <a:pPr marL="0" indent="0">
                  <a:buNone/>
                </a:pPr>
                <a:r>
                  <a:rPr lang="en-US" sz="2200" dirty="0"/>
                  <a:t>84=</a:t>
                </a:r>
                <a14:m>
                  <m:oMath xmlns:m="http://schemas.openxmlformats.org/officeDocument/2006/math">
                    <m:r>
                      <a:rPr lang="en-US" sz="2200" i="1">
                        <a:latin typeface="Cambria Math"/>
                      </a:rPr>
                      <m:t>4</m:t>
                    </m:r>
                    <m:r>
                      <a:rPr lang="en-US" sz="2200" i="1">
                        <a:latin typeface="Cambria Math"/>
                      </a:rPr>
                      <m:t>𝑎</m:t>
                    </m:r>
                    <m:r>
                      <a:rPr lang="en-US" sz="2200" i="1">
                        <a:latin typeface="Cambria Math"/>
                      </a:rPr>
                      <m:t>+10</m:t>
                    </m:r>
                    <m:r>
                      <a:rPr lang="en-US" sz="2200" i="1">
                        <a:latin typeface="Cambria Math"/>
                      </a:rPr>
                      <m:t>𝑏</m:t>
                    </m:r>
                    <m:r>
                      <a:rPr lang="en-US" sz="2200" i="1">
                        <a:latin typeface="Cambria Math"/>
                      </a:rPr>
                      <m:t>+6</m:t>
                    </m:r>
                    <m:r>
                      <a:rPr lang="en-US" sz="2200" i="1">
                        <a:latin typeface="Cambria Math"/>
                      </a:rPr>
                      <m:t>𝑐</m:t>
                    </m:r>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240=10</m:t>
                      </m:r>
                      <m:r>
                        <a:rPr lang="en-US" sz="2200" i="1">
                          <a:latin typeface="Cambria Math"/>
                        </a:rPr>
                        <m:t>𝑎</m:t>
                      </m:r>
                      <m:r>
                        <a:rPr lang="en-US" sz="2200" i="1">
                          <a:latin typeface="Cambria Math"/>
                        </a:rPr>
                        <m:t>+30</m:t>
                      </m:r>
                      <m:r>
                        <a:rPr lang="en-US" sz="2200" i="1">
                          <a:latin typeface="Cambria Math"/>
                        </a:rPr>
                        <m:t>𝑏</m:t>
                      </m:r>
                      <m:r>
                        <a:rPr lang="en-US" sz="2200" i="1">
                          <a:latin typeface="Cambria Math"/>
                        </a:rPr>
                        <m:t>+20</m:t>
                      </m:r>
                      <m:r>
                        <a:rPr lang="en-US" sz="2200" i="1">
                          <a:latin typeface="Cambria Math"/>
                        </a:rPr>
                        <m:t>𝑐</m:t>
                      </m:r>
                    </m:oMath>
                  </m:oMathPara>
                </a14:m>
                <a:endParaRPr lang="en-US" sz="2200" dirty="0"/>
              </a:p>
              <a:p>
                <a:pPr marL="0" indent="0">
                  <a:buNone/>
                </a:pPr>
                <a:r>
                  <a:rPr lang="en-US" sz="2200" dirty="0"/>
                  <a:t>156=6a+20b+14c</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𝑎</m:t>
                      </m:r>
                      <m:r>
                        <a:rPr lang="en-US" sz="2200" i="1">
                          <a:latin typeface="Cambria Math"/>
                        </a:rPr>
                        <m:t>=10,</m:t>
                      </m:r>
                      <m:r>
                        <a:rPr lang="en-US" sz="2200" i="1">
                          <a:latin typeface="Cambria Math"/>
                        </a:rPr>
                        <m:t>𝑏</m:t>
                      </m:r>
                      <m:r>
                        <a:rPr lang="en-US" sz="2200" i="1">
                          <a:latin typeface="Cambria Math"/>
                        </a:rPr>
                        <m:t>=2,</m:t>
                      </m:r>
                      <m:r>
                        <a:rPr lang="en-US" sz="2200" i="1">
                          <a:latin typeface="Cambria Math"/>
                        </a:rPr>
                        <m:t>𝑐</m:t>
                      </m:r>
                      <m:r>
                        <a:rPr lang="en-US" sz="2200" i="1">
                          <a:latin typeface="Cambria Math"/>
                        </a:rPr>
                        <m:t>=4</m:t>
                      </m:r>
                    </m:oMath>
                  </m:oMathPara>
                </a14:m>
                <a:endParaRPr lang="en-US" sz="2200" dirty="0"/>
              </a:p>
              <a:p>
                <a:pPr marL="0" indent="0">
                  <a:buNone/>
                </a:pPr>
                <a:r>
                  <a:rPr lang="en-US" sz="2200" dirty="0"/>
                  <a:t>Hence the required regression plane is</a:t>
                </a:r>
              </a:p>
              <a:p>
                <a:pPr marL="0" indent="0">
                  <a:buNone/>
                </a:pPr>
                <a:r>
                  <a:rPr lang="en-US" sz="2200" dirty="0"/>
                  <a:t> </a:t>
                </a:r>
                <a14:m>
                  <m:oMath xmlns:m="http://schemas.openxmlformats.org/officeDocument/2006/math">
                    <m:r>
                      <a:rPr lang="en-US" sz="2200" i="1">
                        <a:latin typeface="Cambria Math"/>
                      </a:rPr>
                      <m:t>𝑦</m:t>
                    </m:r>
                    <m:r>
                      <a:rPr lang="en-US" sz="2200" i="1">
                        <a:latin typeface="Cambria Math"/>
                      </a:rPr>
                      <m:t>=10+2</m:t>
                    </m:r>
                    <m:r>
                      <a:rPr lang="en-US" sz="2200" i="1">
                        <a:latin typeface="Cambria Math"/>
                      </a:rPr>
                      <m:t>𝑥</m:t>
                    </m:r>
                    <m:r>
                      <a:rPr lang="en-US" sz="2200" i="1">
                        <a:latin typeface="Cambria Math"/>
                      </a:rPr>
                      <m:t>+4</m:t>
                    </m:r>
                    <m:r>
                      <a:rPr lang="en-US" sz="2200" i="1">
                        <a:latin typeface="Cambria Math"/>
                      </a:rPr>
                      <m:t>𝑧</m:t>
                    </m:r>
                  </m:oMath>
                </a14:m>
                <a:endParaRPr lang="en-US" sz="2200" dirty="0"/>
              </a:p>
              <a:p>
                <a:pPr marL="0" indent="0">
                  <a:buNone/>
                </a:pPr>
                <a:endParaRPr lang="en-US" sz="2200" dirty="0"/>
              </a:p>
              <a:p>
                <a:pPr marL="0" indent="0">
                  <a:buNone/>
                </a:pPr>
                <a:endParaRPr lang="en-US" sz="2200" dirty="0"/>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b="-849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rPr>
              <a:t> Multiple Linear Regression(CO2)</a:t>
            </a:r>
          </a:p>
        </p:txBody>
      </p:sp>
    </p:spTree>
    <p:extLst>
      <p:ext uri="{BB962C8B-B14F-4D97-AF65-F5344CB8AC3E}">
        <p14:creationId xmlns:p14="http://schemas.microsoft.com/office/powerpoint/2010/main" val="12082562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Content Placeholder 1">
                <a:extLst>
                  <a:ext uri="{FF2B5EF4-FFF2-40B4-BE49-F238E27FC236}">
                    <a16:creationId xmlns:a16="http://schemas.microsoft.com/office/drawing/2014/main" id="{D1A3DEF3-61F5-4C4C-89C1-0DC932EE470A}"/>
                  </a:ext>
                </a:extLst>
              </p:cNvPr>
              <p:cNvGraphicFramePr>
                <a:graphicFrameLocks noGrp="1"/>
              </p:cNvGraphicFramePr>
              <p:nvPr>
                <p:ph idx="1"/>
                <p:extLst>
                  <p:ext uri="{D42A27DB-BD31-4B8C-83A1-F6EECF244321}">
                    <p14:modId xmlns:p14="http://schemas.microsoft.com/office/powerpoint/2010/main" val="1146517851"/>
                  </p:ext>
                </p:extLst>
              </p:nvPr>
            </p:nvGraphicFramePr>
            <p:xfrm>
              <a:off x="533400" y="1143000"/>
              <a:ext cx="8229600" cy="2885314"/>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1737055100"/>
                        </a:ext>
                      </a:extLst>
                    </a:gridCol>
                    <a:gridCol w="1028700">
                      <a:extLst>
                        <a:ext uri="{9D8B030D-6E8A-4147-A177-3AD203B41FA5}">
                          <a16:colId xmlns:a16="http://schemas.microsoft.com/office/drawing/2014/main" val="4270679469"/>
                        </a:ext>
                      </a:extLst>
                    </a:gridCol>
                    <a:gridCol w="1028700">
                      <a:extLst>
                        <a:ext uri="{9D8B030D-6E8A-4147-A177-3AD203B41FA5}">
                          <a16:colId xmlns:a16="http://schemas.microsoft.com/office/drawing/2014/main" val="1652293314"/>
                        </a:ext>
                      </a:extLst>
                    </a:gridCol>
                    <a:gridCol w="1028700">
                      <a:extLst>
                        <a:ext uri="{9D8B030D-6E8A-4147-A177-3AD203B41FA5}">
                          <a16:colId xmlns:a16="http://schemas.microsoft.com/office/drawing/2014/main" val="928271182"/>
                        </a:ext>
                      </a:extLst>
                    </a:gridCol>
                    <a:gridCol w="1028700">
                      <a:extLst>
                        <a:ext uri="{9D8B030D-6E8A-4147-A177-3AD203B41FA5}">
                          <a16:colId xmlns:a16="http://schemas.microsoft.com/office/drawing/2014/main" val="22974285"/>
                        </a:ext>
                      </a:extLst>
                    </a:gridCol>
                    <a:gridCol w="1028700">
                      <a:extLst>
                        <a:ext uri="{9D8B030D-6E8A-4147-A177-3AD203B41FA5}">
                          <a16:colId xmlns:a16="http://schemas.microsoft.com/office/drawing/2014/main" val="115657256"/>
                        </a:ext>
                      </a:extLst>
                    </a:gridCol>
                    <a:gridCol w="1028700">
                      <a:extLst>
                        <a:ext uri="{9D8B030D-6E8A-4147-A177-3AD203B41FA5}">
                          <a16:colId xmlns:a16="http://schemas.microsoft.com/office/drawing/2014/main" val="2771997454"/>
                        </a:ext>
                      </a:extLst>
                    </a:gridCol>
                    <a:gridCol w="1028700">
                      <a:extLst>
                        <a:ext uri="{9D8B030D-6E8A-4147-A177-3AD203B41FA5}">
                          <a16:colId xmlns:a16="http://schemas.microsoft.com/office/drawing/2014/main" val="3549643978"/>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𝒛</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𝒙</m:t>
                                    </m:r>
                                  </m:e>
                                  <m:sup>
                                    <m:r>
                                      <a:rPr lang="en-US" b="1" i="1" dirty="0" smtClean="0">
                                        <a:latin typeface="Cambria Math" panose="02040503050406030204" pitchFamily="18" charset="0"/>
                                      </a:rPr>
                                      <m:t>𝟐</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𝒛</m:t>
                                    </m:r>
                                  </m:e>
                                  <m:sup>
                                    <m:r>
                                      <a:rPr lang="en-US" b="1" i="1" dirty="0" smtClean="0">
                                        <a:latin typeface="Cambria Math" panose="02040503050406030204" pitchFamily="18" charset="0"/>
                                      </a:rPr>
                                      <m:t>𝟐</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𝒙𝒚</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𝒛𝒙</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𝒚𝒛</m:t>
                                </m:r>
                              </m:oMath>
                            </m:oMathPara>
                          </a14:m>
                          <a:endParaRPr lang="en-US" dirty="0"/>
                        </a:p>
                      </a:txBody>
                      <a:tcPr/>
                    </a:tc>
                    <a:extLst>
                      <a:ext uri="{0D108BD9-81ED-4DB2-BD59-A6C34878D82A}">
                        <a16:rowId xmlns:a16="http://schemas.microsoft.com/office/drawing/2014/main" val="3715307361"/>
                      </a:ext>
                    </a:extLst>
                  </a:tr>
                  <a:tr h="370840">
                    <a:tc>
                      <a:txBody>
                        <a:bodyPr/>
                        <a:lstStyle/>
                        <a:p>
                          <a:r>
                            <a:rPr lang="en-US" dirty="0"/>
                            <a:t>1</a:t>
                          </a:r>
                        </a:p>
                      </a:txBody>
                      <a:tcPr/>
                    </a:tc>
                    <a:tc>
                      <a:txBody>
                        <a:bodyPr/>
                        <a:lstStyle/>
                        <a:p>
                          <a:r>
                            <a:rPr lang="en-US" dirty="0"/>
                            <a:t>0</a:t>
                          </a:r>
                        </a:p>
                      </a:txBody>
                      <a:tcPr/>
                    </a:tc>
                    <a:tc>
                      <a:txBody>
                        <a:bodyPr/>
                        <a:lstStyle/>
                        <a:p>
                          <a:r>
                            <a:rPr lang="en-US" dirty="0"/>
                            <a:t>12</a:t>
                          </a:r>
                        </a:p>
                      </a:txBody>
                      <a:tcPr/>
                    </a:tc>
                    <a:tc>
                      <a:txBody>
                        <a:bodyPr/>
                        <a:lstStyle/>
                        <a:p>
                          <a:r>
                            <a:rPr lang="en-US" dirty="0"/>
                            <a:t>1</a:t>
                          </a:r>
                        </a:p>
                      </a:txBody>
                      <a:tcPr/>
                    </a:tc>
                    <a:tc>
                      <a:txBody>
                        <a:bodyPr/>
                        <a:lstStyle/>
                        <a:p>
                          <a:r>
                            <a:rPr lang="en-US" dirty="0"/>
                            <a:t>0</a:t>
                          </a:r>
                        </a:p>
                      </a:txBody>
                      <a:tcPr/>
                    </a:tc>
                    <a:tc>
                      <a:txBody>
                        <a:bodyPr/>
                        <a:lstStyle/>
                        <a:p>
                          <a:r>
                            <a:rPr lang="en-US" dirty="0"/>
                            <a:t>12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84858078"/>
                      </a:ext>
                    </a:extLst>
                  </a:tr>
                  <a:tr h="370840">
                    <a:tc>
                      <a:txBody>
                        <a:bodyPr/>
                        <a:lstStyle/>
                        <a:p>
                          <a:r>
                            <a:rPr lang="en-US" dirty="0"/>
                            <a:t>2</a:t>
                          </a:r>
                        </a:p>
                      </a:txBody>
                      <a:tcPr/>
                    </a:tc>
                    <a:tc>
                      <a:txBody>
                        <a:bodyPr/>
                        <a:lstStyle/>
                        <a:p>
                          <a:r>
                            <a:rPr lang="en-US" dirty="0"/>
                            <a:t>1</a:t>
                          </a:r>
                        </a:p>
                      </a:txBody>
                      <a:tcPr/>
                    </a:tc>
                    <a:tc>
                      <a:txBody>
                        <a:bodyPr/>
                        <a:lstStyle/>
                        <a:p>
                          <a:r>
                            <a:rPr lang="en-US" dirty="0"/>
                            <a:t>18</a:t>
                          </a:r>
                        </a:p>
                      </a:txBody>
                      <a:tcPr/>
                    </a:tc>
                    <a:tc>
                      <a:txBody>
                        <a:bodyPr/>
                        <a:lstStyle/>
                        <a:p>
                          <a:r>
                            <a:rPr lang="en-US" dirty="0"/>
                            <a:t>4</a:t>
                          </a:r>
                        </a:p>
                      </a:txBody>
                      <a:tcPr/>
                    </a:tc>
                    <a:tc>
                      <a:txBody>
                        <a:bodyPr/>
                        <a:lstStyle/>
                        <a:p>
                          <a:r>
                            <a:rPr lang="en-US" dirty="0"/>
                            <a:t>1</a:t>
                          </a:r>
                        </a:p>
                      </a:txBody>
                      <a:tcPr/>
                    </a:tc>
                    <a:tc>
                      <a:txBody>
                        <a:bodyPr/>
                        <a:lstStyle/>
                        <a:p>
                          <a:r>
                            <a:rPr lang="en-US" dirty="0"/>
                            <a:t>36</a:t>
                          </a:r>
                        </a:p>
                      </a:txBody>
                      <a:tcPr/>
                    </a:tc>
                    <a:tc>
                      <a:txBody>
                        <a:bodyPr/>
                        <a:lstStyle/>
                        <a:p>
                          <a:r>
                            <a:rPr lang="en-US" dirty="0"/>
                            <a:t>2</a:t>
                          </a:r>
                        </a:p>
                      </a:txBody>
                      <a:tcPr/>
                    </a:tc>
                    <a:tc>
                      <a:txBody>
                        <a:bodyPr/>
                        <a:lstStyle/>
                        <a:p>
                          <a:r>
                            <a:rPr lang="en-US" dirty="0"/>
                            <a:t>18</a:t>
                          </a:r>
                        </a:p>
                      </a:txBody>
                      <a:tcPr/>
                    </a:tc>
                    <a:extLst>
                      <a:ext uri="{0D108BD9-81ED-4DB2-BD59-A6C34878D82A}">
                        <a16:rowId xmlns:a16="http://schemas.microsoft.com/office/drawing/2014/main" val="2726772393"/>
                      </a:ext>
                    </a:extLst>
                  </a:tr>
                  <a:tr h="370840">
                    <a:tc>
                      <a:txBody>
                        <a:bodyPr/>
                        <a:lstStyle/>
                        <a:p>
                          <a:r>
                            <a:rPr lang="en-US" dirty="0"/>
                            <a:t>3</a:t>
                          </a:r>
                        </a:p>
                      </a:txBody>
                      <a:tcPr/>
                    </a:tc>
                    <a:tc>
                      <a:txBody>
                        <a:bodyPr/>
                        <a:lstStyle/>
                        <a:p>
                          <a:r>
                            <a:rPr lang="en-US" dirty="0"/>
                            <a:t>2</a:t>
                          </a:r>
                        </a:p>
                      </a:txBody>
                      <a:tcPr/>
                    </a:tc>
                    <a:tc>
                      <a:txBody>
                        <a:bodyPr/>
                        <a:lstStyle/>
                        <a:p>
                          <a:r>
                            <a:rPr lang="en-US" dirty="0"/>
                            <a:t>24</a:t>
                          </a:r>
                        </a:p>
                      </a:txBody>
                      <a:tcPr/>
                    </a:tc>
                    <a:tc>
                      <a:txBody>
                        <a:bodyPr/>
                        <a:lstStyle/>
                        <a:p>
                          <a:r>
                            <a:rPr lang="en-US" dirty="0"/>
                            <a:t>9</a:t>
                          </a:r>
                        </a:p>
                      </a:txBody>
                      <a:tcPr/>
                    </a:tc>
                    <a:tc>
                      <a:txBody>
                        <a:bodyPr/>
                        <a:lstStyle/>
                        <a:p>
                          <a:r>
                            <a:rPr lang="en-US" dirty="0"/>
                            <a:t>4</a:t>
                          </a:r>
                        </a:p>
                      </a:txBody>
                      <a:tcPr/>
                    </a:tc>
                    <a:tc>
                      <a:txBody>
                        <a:bodyPr/>
                        <a:lstStyle/>
                        <a:p>
                          <a:r>
                            <a:rPr lang="en-US" dirty="0"/>
                            <a:t>72</a:t>
                          </a:r>
                        </a:p>
                      </a:txBody>
                      <a:tcPr/>
                    </a:tc>
                    <a:tc>
                      <a:txBody>
                        <a:bodyPr/>
                        <a:lstStyle/>
                        <a:p>
                          <a:r>
                            <a:rPr lang="en-US" dirty="0"/>
                            <a:t>6</a:t>
                          </a:r>
                        </a:p>
                      </a:txBody>
                      <a:tcPr/>
                    </a:tc>
                    <a:tc>
                      <a:txBody>
                        <a:bodyPr/>
                        <a:lstStyle/>
                        <a:p>
                          <a:r>
                            <a:rPr lang="en-US" dirty="0"/>
                            <a:t>48</a:t>
                          </a:r>
                        </a:p>
                      </a:txBody>
                      <a:tcPr/>
                    </a:tc>
                    <a:extLst>
                      <a:ext uri="{0D108BD9-81ED-4DB2-BD59-A6C34878D82A}">
                        <a16:rowId xmlns:a16="http://schemas.microsoft.com/office/drawing/2014/main" val="2611492811"/>
                      </a:ext>
                    </a:extLst>
                  </a:tr>
                  <a:tr h="370840">
                    <a:tc>
                      <a:txBody>
                        <a:bodyPr/>
                        <a:lstStyle/>
                        <a:p>
                          <a:r>
                            <a:rPr lang="en-US" dirty="0"/>
                            <a:t>4</a:t>
                          </a:r>
                        </a:p>
                      </a:txBody>
                      <a:tcPr/>
                    </a:tc>
                    <a:tc>
                      <a:txBody>
                        <a:bodyPr/>
                        <a:lstStyle/>
                        <a:p>
                          <a:r>
                            <a:rPr lang="en-US" dirty="0"/>
                            <a:t>3</a:t>
                          </a:r>
                        </a:p>
                      </a:txBody>
                      <a:tcPr/>
                    </a:tc>
                    <a:tc>
                      <a:txBody>
                        <a:bodyPr/>
                        <a:lstStyle/>
                        <a:p>
                          <a:r>
                            <a:rPr lang="en-US" dirty="0"/>
                            <a:t>30</a:t>
                          </a:r>
                        </a:p>
                      </a:txBody>
                      <a:tcPr/>
                    </a:tc>
                    <a:tc>
                      <a:txBody>
                        <a:bodyPr/>
                        <a:lstStyle/>
                        <a:p>
                          <a:r>
                            <a:rPr lang="en-US" dirty="0"/>
                            <a:t>16</a:t>
                          </a:r>
                        </a:p>
                      </a:txBody>
                      <a:tcPr/>
                    </a:tc>
                    <a:tc>
                      <a:txBody>
                        <a:bodyPr/>
                        <a:lstStyle/>
                        <a:p>
                          <a:r>
                            <a:rPr lang="en-US" dirty="0"/>
                            <a:t>9</a:t>
                          </a:r>
                        </a:p>
                      </a:txBody>
                      <a:tcPr/>
                    </a:tc>
                    <a:tc>
                      <a:txBody>
                        <a:bodyPr/>
                        <a:lstStyle/>
                        <a:p>
                          <a:r>
                            <a:rPr lang="en-US" dirty="0"/>
                            <a:t>120</a:t>
                          </a:r>
                        </a:p>
                      </a:txBody>
                      <a:tcPr/>
                    </a:tc>
                    <a:tc>
                      <a:txBody>
                        <a:bodyPr/>
                        <a:lstStyle/>
                        <a:p>
                          <a:r>
                            <a:rPr lang="en-US" dirty="0"/>
                            <a:t>12</a:t>
                          </a:r>
                        </a:p>
                      </a:txBody>
                      <a:tcPr/>
                    </a:tc>
                    <a:tc>
                      <a:txBody>
                        <a:bodyPr/>
                        <a:lstStyle/>
                        <a:p>
                          <a:r>
                            <a:rPr lang="en-US" dirty="0"/>
                            <a:t>90</a:t>
                          </a:r>
                        </a:p>
                      </a:txBody>
                      <a:tcPr/>
                    </a:tc>
                    <a:extLst>
                      <a:ext uri="{0D108BD9-81ED-4DB2-BD59-A6C34878D82A}">
                        <a16:rowId xmlns:a16="http://schemas.microsoft.com/office/drawing/2014/main" val="765973354"/>
                      </a:ext>
                    </a:extLst>
                  </a:tr>
                  <a:tr h="370840">
                    <a:tc>
                      <a:txBody>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m:t>
                                    </m:r>
                                    <m:r>
                                      <a:rPr lang="en-US" b="0" i="1" smtClean="0">
                                        <a:latin typeface="Cambria Math" panose="02040503050406030204" pitchFamily="18" charset="0"/>
                                      </a:rPr>
                                      <m:t>=</m:t>
                                    </m:r>
                                  </m:e>
                                </m:nary>
                                <m:r>
                                  <a:rPr lang="en-US" b="0" i="1" smtClean="0">
                                    <a:latin typeface="Cambria Math" panose="02040503050406030204" pitchFamily="18" charset="0"/>
                                  </a:rPr>
                                  <m:t>=10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𝑧</m:t>
                                    </m:r>
                                    <m:r>
                                      <a:rPr lang="en-US" b="0" i="1" smtClean="0">
                                        <a:latin typeface="Cambria Math" panose="02040503050406030204" pitchFamily="18" charset="0"/>
                                      </a:rPr>
                                      <m:t>=</m:t>
                                    </m:r>
                                  </m:e>
                                </m:nary>
                                <m:r>
                                  <a:rPr lang="en-US" b="0" i="1" smtClean="0">
                                    <a:latin typeface="Cambria Math" panose="02040503050406030204" pitchFamily="18" charset="0"/>
                                  </a:rPr>
                                  <m:t>=6</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𝑦</m:t>
                                    </m:r>
                                    <m:r>
                                      <a:rPr lang="en-US" b="0" i="1" smtClean="0">
                                        <a:latin typeface="Cambria Math" panose="02040503050406030204" pitchFamily="18" charset="0"/>
                                      </a:rPr>
                                      <m:t>=</m:t>
                                    </m:r>
                                  </m:e>
                                </m:nary>
                                <m:r>
                                  <a:rPr lang="en-US" b="0" i="1" smtClean="0">
                                    <a:latin typeface="Cambria Math" panose="02040503050406030204" pitchFamily="18" charset="0"/>
                                  </a:rPr>
                                  <m:t>=84</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𝒙</m:t>
                                        </m:r>
                                      </m:e>
                                      <m:sup>
                                        <m:r>
                                          <a:rPr lang="en-US" b="1" i="1" dirty="0" smtClean="0">
                                            <a:latin typeface="Cambria Math" panose="02040503050406030204" pitchFamily="18" charset="0"/>
                                          </a:rPr>
                                          <m:t>𝟐</m:t>
                                        </m:r>
                                      </m:sup>
                                    </m:sSup>
                                    <m:r>
                                      <m:rPr>
                                        <m:nor/>
                                      </m:rPr>
                                      <a:rPr lang="en-US" dirty="0"/>
                                      <m:t> </m:t>
                                    </m:r>
                                  </m:e>
                                </m:nary>
                                <m:r>
                                  <a:rPr lang="en-US" b="0" i="1" smtClean="0">
                                    <a:latin typeface="Cambria Math" panose="02040503050406030204" pitchFamily="18" charset="0"/>
                                  </a:rPr>
                                  <m:t>=30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𝒛</m:t>
                                        </m:r>
                                      </m:e>
                                      <m:sup>
                                        <m:r>
                                          <a:rPr lang="en-US" b="1" i="1" dirty="0" smtClean="0">
                                            <a:latin typeface="Cambria Math" panose="02040503050406030204" pitchFamily="18" charset="0"/>
                                          </a:rPr>
                                          <m:t>𝟐</m:t>
                                        </m:r>
                                      </m:sup>
                                    </m:sSup>
                                    <m:r>
                                      <m:rPr>
                                        <m:nor/>
                                      </m:rPr>
                                      <a:rPr lang="en-US" dirty="0"/>
                                      <m:t> </m:t>
                                    </m:r>
                                  </m:e>
                                </m:nary>
                                <m:r>
                                  <a:rPr lang="en-US" b="0" i="1" smtClean="0">
                                    <a:latin typeface="Cambria Math" panose="02040503050406030204" pitchFamily="18" charset="0"/>
                                  </a:rPr>
                                  <m:t>=14</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1" i="1" dirty="0" smtClean="0">
                                        <a:latin typeface="Cambria Math" panose="02040503050406030204" pitchFamily="18" charset="0"/>
                                      </a:rPr>
                                      <m:t>𝒙𝒚</m:t>
                                    </m:r>
                                    <m:r>
                                      <m:rPr>
                                        <m:nor/>
                                      </m:rPr>
                                      <a:rPr lang="en-US" dirty="0"/>
                                      <m:t> </m:t>
                                    </m:r>
                                  </m:e>
                                </m:nary>
                                <m:r>
                                  <a:rPr lang="en-US" b="0" i="1" smtClean="0">
                                    <a:latin typeface="Cambria Math" panose="02040503050406030204" pitchFamily="18" charset="0"/>
                                  </a:rPr>
                                  <m:t>=240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1" i="1" dirty="0" smtClean="0">
                                        <a:latin typeface="Cambria Math" panose="02040503050406030204" pitchFamily="18" charset="0"/>
                                      </a:rPr>
                                      <m:t>𝒛𝒙</m:t>
                                    </m:r>
                                    <m:r>
                                      <m:rPr>
                                        <m:nor/>
                                      </m:rPr>
                                      <a:rPr lang="en-US" dirty="0"/>
                                      <m:t> </m:t>
                                    </m:r>
                                  </m:e>
                                </m:nary>
                                <m:r>
                                  <a:rPr lang="en-US" b="0" i="1" smtClean="0">
                                    <a:latin typeface="Cambria Math" panose="02040503050406030204" pitchFamily="18" charset="0"/>
                                  </a:rPr>
                                  <m:t>=20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1" i="1" dirty="0" smtClean="0">
                                        <a:latin typeface="Cambria Math" panose="02040503050406030204" pitchFamily="18" charset="0"/>
                                      </a:rPr>
                                      <m:t>𝒚𝒛</m:t>
                                    </m:r>
                                  </m:e>
                                </m:nary>
                                <m:r>
                                  <a:rPr lang="en-US" b="0" i="1" smtClean="0">
                                    <a:latin typeface="Cambria Math" panose="02040503050406030204" pitchFamily="18" charset="0"/>
                                  </a:rPr>
                                  <m:t>=156</m:t>
                                </m:r>
                              </m:oMath>
                            </m:oMathPara>
                          </a14:m>
                          <a:endParaRPr lang="en-US" dirty="0"/>
                        </a:p>
                      </a:txBody>
                      <a:tcPr/>
                    </a:tc>
                    <a:extLst>
                      <a:ext uri="{0D108BD9-81ED-4DB2-BD59-A6C34878D82A}">
                        <a16:rowId xmlns:a16="http://schemas.microsoft.com/office/drawing/2014/main" val="127997026"/>
                      </a:ext>
                    </a:extLst>
                  </a:tr>
                </a:tbl>
              </a:graphicData>
            </a:graphic>
          </p:graphicFrame>
        </mc:Choice>
        <mc:Fallback xmlns="">
          <p:graphicFrame>
            <p:nvGraphicFramePr>
              <p:cNvPr id="2" name="Content Placeholder 1">
                <a:extLst>
                  <a:ext uri="{FF2B5EF4-FFF2-40B4-BE49-F238E27FC236}">
                    <a16:creationId xmlns:a16="http://schemas.microsoft.com/office/drawing/2014/main" id="{D1A3DEF3-61F5-4C4C-89C1-0DC932EE470A}"/>
                  </a:ext>
                </a:extLst>
              </p:cNvPr>
              <p:cNvGraphicFramePr>
                <a:graphicFrameLocks noGrp="1"/>
              </p:cNvGraphicFramePr>
              <p:nvPr>
                <p:ph idx="1"/>
                <p:extLst>
                  <p:ext uri="{D42A27DB-BD31-4B8C-83A1-F6EECF244321}">
                    <p14:modId xmlns:p14="http://schemas.microsoft.com/office/powerpoint/2010/main" val="1146517851"/>
                  </p:ext>
                </p:extLst>
              </p:nvPr>
            </p:nvGraphicFramePr>
            <p:xfrm>
              <a:off x="533400" y="1143000"/>
              <a:ext cx="8229600" cy="2885314"/>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1737055100"/>
                        </a:ext>
                      </a:extLst>
                    </a:gridCol>
                    <a:gridCol w="1028700">
                      <a:extLst>
                        <a:ext uri="{9D8B030D-6E8A-4147-A177-3AD203B41FA5}">
                          <a16:colId xmlns:a16="http://schemas.microsoft.com/office/drawing/2014/main" val="4270679469"/>
                        </a:ext>
                      </a:extLst>
                    </a:gridCol>
                    <a:gridCol w="1028700">
                      <a:extLst>
                        <a:ext uri="{9D8B030D-6E8A-4147-A177-3AD203B41FA5}">
                          <a16:colId xmlns:a16="http://schemas.microsoft.com/office/drawing/2014/main" val="1652293314"/>
                        </a:ext>
                      </a:extLst>
                    </a:gridCol>
                    <a:gridCol w="1028700">
                      <a:extLst>
                        <a:ext uri="{9D8B030D-6E8A-4147-A177-3AD203B41FA5}">
                          <a16:colId xmlns:a16="http://schemas.microsoft.com/office/drawing/2014/main" val="928271182"/>
                        </a:ext>
                      </a:extLst>
                    </a:gridCol>
                    <a:gridCol w="1028700">
                      <a:extLst>
                        <a:ext uri="{9D8B030D-6E8A-4147-A177-3AD203B41FA5}">
                          <a16:colId xmlns:a16="http://schemas.microsoft.com/office/drawing/2014/main" val="22974285"/>
                        </a:ext>
                      </a:extLst>
                    </a:gridCol>
                    <a:gridCol w="1028700">
                      <a:extLst>
                        <a:ext uri="{9D8B030D-6E8A-4147-A177-3AD203B41FA5}">
                          <a16:colId xmlns:a16="http://schemas.microsoft.com/office/drawing/2014/main" val="115657256"/>
                        </a:ext>
                      </a:extLst>
                    </a:gridCol>
                    <a:gridCol w="1028700">
                      <a:extLst>
                        <a:ext uri="{9D8B030D-6E8A-4147-A177-3AD203B41FA5}">
                          <a16:colId xmlns:a16="http://schemas.microsoft.com/office/drawing/2014/main" val="2771997454"/>
                        </a:ext>
                      </a:extLst>
                    </a:gridCol>
                    <a:gridCol w="1028700">
                      <a:extLst>
                        <a:ext uri="{9D8B030D-6E8A-4147-A177-3AD203B41FA5}">
                          <a16:colId xmlns:a16="http://schemas.microsoft.com/office/drawing/2014/main" val="3549643978"/>
                        </a:ext>
                      </a:extLst>
                    </a:gridCol>
                  </a:tblGrid>
                  <a:tr h="371920">
                    <a:tc>
                      <a:txBody>
                        <a:bodyPr/>
                        <a:lstStyle/>
                        <a:p>
                          <a:endParaRPr lang="en-US"/>
                        </a:p>
                      </a:txBody>
                      <a:tcPr>
                        <a:blipFill>
                          <a:blip r:embed="rId2"/>
                          <a:stretch>
                            <a:fillRect l="-592" t="-1639" r="-701775" b="-680328"/>
                          </a:stretch>
                        </a:blipFill>
                      </a:tcPr>
                    </a:tc>
                    <a:tc>
                      <a:txBody>
                        <a:bodyPr/>
                        <a:lstStyle/>
                        <a:p>
                          <a:endParaRPr lang="en-US"/>
                        </a:p>
                      </a:txBody>
                      <a:tcPr>
                        <a:blipFill>
                          <a:blip r:embed="rId2"/>
                          <a:stretch>
                            <a:fillRect l="-100592" t="-1639" r="-601775" b="-680328"/>
                          </a:stretch>
                        </a:blipFill>
                      </a:tcPr>
                    </a:tc>
                    <a:tc>
                      <a:txBody>
                        <a:bodyPr/>
                        <a:lstStyle/>
                        <a:p>
                          <a:endParaRPr lang="en-US"/>
                        </a:p>
                      </a:txBody>
                      <a:tcPr>
                        <a:blipFill>
                          <a:blip r:embed="rId2"/>
                          <a:stretch>
                            <a:fillRect l="-200592" t="-1639" r="-501775" b="-680328"/>
                          </a:stretch>
                        </a:blipFill>
                      </a:tcPr>
                    </a:tc>
                    <a:tc>
                      <a:txBody>
                        <a:bodyPr/>
                        <a:lstStyle/>
                        <a:p>
                          <a:endParaRPr lang="en-US"/>
                        </a:p>
                      </a:txBody>
                      <a:tcPr>
                        <a:blipFill>
                          <a:blip r:embed="rId2"/>
                          <a:stretch>
                            <a:fillRect l="-300592" t="-1639" r="-401775" b="-680328"/>
                          </a:stretch>
                        </a:blipFill>
                      </a:tcPr>
                    </a:tc>
                    <a:tc>
                      <a:txBody>
                        <a:bodyPr/>
                        <a:lstStyle/>
                        <a:p>
                          <a:endParaRPr lang="en-US"/>
                        </a:p>
                      </a:txBody>
                      <a:tcPr>
                        <a:blipFill>
                          <a:blip r:embed="rId2"/>
                          <a:stretch>
                            <a:fillRect l="-402976" t="-1639" r="-304167" b="-680328"/>
                          </a:stretch>
                        </a:blipFill>
                      </a:tcPr>
                    </a:tc>
                    <a:tc>
                      <a:txBody>
                        <a:bodyPr/>
                        <a:lstStyle/>
                        <a:p>
                          <a:endParaRPr lang="en-US"/>
                        </a:p>
                      </a:txBody>
                      <a:tcPr>
                        <a:blipFill>
                          <a:blip r:embed="rId2"/>
                          <a:stretch>
                            <a:fillRect l="-500000" t="-1639" r="-202367" b="-680328"/>
                          </a:stretch>
                        </a:blipFill>
                      </a:tcPr>
                    </a:tc>
                    <a:tc>
                      <a:txBody>
                        <a:bodyPr/>
                        <a:lstStyle/>
                        <a:p>
                          <a:endParaRPr lang="en-US"/>
                        </a:p>
                      </a:txBody>
                      <a:tcPr>
                        <a:blipFill>
                          <a:blip r:embed="rId2"/>
                          <a:stretch>
                            <a:fillRect l="-600000" t="-1639" r="-102367" b="-680328"/>
                          </a:stretch>
                        </a:blipFill>
                      </a:tcPr>
                    </a:tc>
                    <a:tc>
                      <a:txBody>
                        <a:bodyPr/>
                        <a:lstStyle/>
                        <a:p>
                          <a:endParaRPr lang="en-US"/>
                        </a:p>
                      </a:txBody>
                      <a:tcPr>
                        <a:blipFill>
                          <a:blip r:embed="rId2"/>
                          <a:stretch>
                            <a:fillRect l="-700000" t="-1639" r="-2367" b="-680328"/>
                          </a:stretch>
                        </a:blipFill>
                      </a:tcPr>
                    </a:tc>
                    <a:extLst>
                      <a:ext uri="{0D108BD9-81ED-4DB2-BD59-A6C34878D82A}">
                        <a16:rowId xmlns:a16="http://schemas.microsoft.com/office/drawing/2014/main" val="3715307361"/>
                      </a:ext>
                    </a:extLst>
                  </a:tr>
                  <a:tr h="370840">
                    <a:tc>
                      <a:txBody>
                        <a:bodyPr/>
                        <a:lstStyle/>
                        <a:p>
                          <a:r>
                            <a:rPr lang="en-US" dirty="0"/>
                            <a:t>1</a:t>
                          </a:r>
                        </a:p>
                      </a:txBody>
                      <a:tcPr/>
                    </a:tc>
                    <a:tc>
                      <a:txBody>
                        <a:bodyPr/>
                        <a:lstStyle/>
                        <a:p>
                          <a:r>
                            <a:rPr lang="en-US" dirty="0"/>
                            <a:t>0</a:t>
                          </a:r>
                        </a:p>
                      </a:txBody>
                      <a:tcPr/>
                    </a:tc>
                    <a:tc>
                      <a:txBody>
                        <a:bodyPr/>
                        <a:lstStyle/>
                        <a:p>
                          <a:r>
                            <a:rPr lang="en-US" dirty="0"/>
                            <a:t>12</a:t>
                          </a:r>
                        </a:p>
                      </a:txBody>
                      <a:tcPr/>
                    </a:tc>
                    <a:tc>
                      <a:txBody>
                        <a:bodyPr/>
                        <a:lstStyle/>
                        <a:p>
                          <a:r>
                            <a:rPr lang="en-US" dirty="0"/>
                            <a:t>1</a:t>
                          </a:r>
                        </a:p>
                      </a:txBody>
                      <a:tcPr/>
                    </a:tc>
                    <a:tc>
                      <a:txBody>
                        <a:bodyPr/>
                        <a:lstStyle/>
                        <a:p>
                          <a:r>
                            <a:rPr lang="en-US" dirty="0"/>
                            <a:t>0</a:t>
                          </a:r>
                        </a:p>
                      </a:txBody>
                      <a:tcPr/>
                    </a:tc>
                    <a:tc>
                      <a:txBody>
                        <a:bodyPr/>
                        <a:lstStyle/>
                        <a:p>
                          <a:r>
                            <a:rPr lang="en-US" dirty="0"/>
                            <a:t>12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84858078"/>
                      </a:ext>
                    </a:extLst>
                  </a:tr>
                  <a:tr h="370840">
                    <a:tc>
                      <a:txBody>
                        <a:bodyPr/>
                        <a:lstStyle/>
                        <a:p>
                          <a:r>
                            <a:rPr lang="en-US" dirty="0"/>
                            <a:t>2</a:t>
                          </a:r>
                        </a:p>
                      </a:txBody>
                      <a:tcPr/>
                    </a:tc>
                    <a:tc>
                      <a:txBody>
                        <a:bodyPr/>
                        <a:lstStyle/>
                        <a:p>
                          <a:r>
                            <a:rPr lang="en-US" dirty="0"/>
                            <a:t>1</a:t>
                          </a:r>
                        </a:p>
                      </a:txBody>
                      <a:tcPr/>
                    </a:tc>
                    <a:tc>
                      <a:txBody>
                        <a:bodyPr/>
                        <a:lstStyle/>
                        <a:p>
                          <a:r>
                            <a:rPr lang="en-US" dirty="0"/>
                            <a:t>18</a:t>
                          </a:r>
                        </a:p>
                      </a:txBody>
                      <a:tcPr/>
                    </a:tc>
                    <a:tc>
                      <a:txBody>
                        <a:bodyPr/>
                        <a:lstStyle/>
                        <a:p>
                          <a:r>
                            <a:rPr lang="en-US" dirty="0"/>
                            <a:t>4</a:t>
                          </a:r>
                        </a:p>
                      </a:txBody>
                      <a:tcPr/>
                    </a:tc>
                    <a:tc>
                      <a:txBody>
                        <a:bodyPr/>
                        <a:lstStyle/>
                        <a:p>
                          <a:r>
                            <a:rPr lang="en-US" dirty="0"/>
                            <a:t>1</a:t>
                          </a:r>
                        </a:p>
                      </a:txBody>
                      <a:tcPr/>
                    </a:tc>
                    <a:tc>
                      <a:txBody>
                        <a:bodyPr/>
                        <a:lstStyle/>
                        <a:p>
                          <a:r>
                            <a:rPr lang="en-US" dirty="0"/>
                            <a:t>36</a:t>
                          </a:r>
                        </a:p>
                      </a:txBody>
                      <a:tcPr/>
                    </a:tc>
                    <a:tc>
                      <a:txBody>
                        <a:bodyPr/>
                        <a:lstStyle/>
                        <a:p>
                          <a:r>
                            <a:rPr lang="en-US" dirty="0"/>
                            <a:t>2</a:t>
                          </a:r>
                        </a:p>
                      </a:txBody>
                      <a:tcPr/>
                    </a:tc>
                    <a:tc>
                      <a:txBody>
                        <a:bodyPr/>
                        <a:lstStyle/>
                        <a:p>
                          <a:r>
                            <a:rPr lang="en-US" dirty="0"/>
                            <a:t>18</a:t>
                          </a:r>
                        </a:p>
                      </a:txBody>
                      <a:tcPr/>
                    </a:tc>
                    <a:extLst>
                      <a:ext uri="{0D108BD9-81ED-4DB2-BD59-A6C34878D82A}">
                        <a16:rowId xmlns:a16="http://schemas.microsoft.com/office/drawing/2014/main" val="2726772393"/>
                      </a:ext>
                    </a:extLst>
                  </a:tr>
                  <a:tr h="370840">
                    <a:tc>
                      <a:txBody>
                        <a:bodyPr/>
                        <a:lstStyle/>
                        <a:p>
                          <a:r>
                            <a:rPr lang="en-US" dirty="0"/>
                            <a:t>3</a:t>
                          </a:r>
                        </a:p>
                      </a:txBody>
                      <a:tcPr/>
                    </a:tc>
                    <a:tc>
                      <a:txBody>
                        <a:bodyPr/>
                        <a:lstStyle/>
                        <a:p>
                          <a:r>
                            <a:rPr lang="en-US" dirty="0"/>
                            <a:t>2</a:t>
                          </a:r>
                        </a:p>
                      </a:txBody>
                      <a:tcPr/>
                    </a:tc>
                    <a:tc>
                      <a:txBody>
                        <a:bodyPr/>
                        <a:lstStyle/>
                        <a:p>
                          <a:r>
                            <a:rPr lang="en-US" dirty="0"/>
                            <a:t>24</a:t>
                          </a:r>
                        </a:p>
                      </a:txBody>
                      <a:tcPr/>
                    </a:tc>
                    <a:tc>
                      <a:txBody>
                        <a:bodyPr/>
                        <a:lstStyle/>
                        <a:p>
                          <a:r>
                            <a:rPr lang="en-US" dirty="0"/>
                            <a:t>9</a:t>
                          </a:r>
                        </a:p>
                      </a:txBody>
                      <a:tcPr/>
                    </a:tc>
                    <a:tc>
                      <a:txBody>
                        <a:bodyPr/>
                        <a:lstStyle/>
                        <a:p>
                          <a:r>
                            <a:rPr lang="en-US" dirty="0"/>
                            <a:t>4</a:t>
                          </a:r>
                        </a:p>
                      </a:txBody>
                      <a:tcPr/>
                    </a:tc>
                    <a:tc>
                      <a:txBody>
                        <a:bodyPr/>
                        <a:lstStyle/>
                        <a:p>
                          <a:r>
                            <a:rPr lang="en-US" dirty="0"/>
                            <a:t>72</a:t>
                          </a:r>
                        </a:p>
                      </a:txBody>
                      <a:tcPr/>
                    </a:tc>
                    <a:tc>
                      <a:txBody>
                        <a:bodyPr/>
                        <a:lstStyle/>
                        <a:p>
                          <a:r>
                            <a:rPr lang="en-US" dirty="0"/>
                            <a:t>6</a:t>
                          </a:r>
                        </a:p>
                      </a:txBody>
                      <a:tcPr/>
                    </a:tc>
                    <a:tc>
                      <a:txBody>
                        <a:bodyPr/>
                        <a:lstStyle/>
                        <a:p>
                          <a:r>
                            <a:rPr lang="en-US" dirty="0"/>
                            <a:t>48</a:t>
                          </a:r>
                        </a:p>
                      </a:txBody>
                      <a:tcPr/>
                    </a:tc>
                    <a:extLst>
                      <a:ext uri="{0D108BD9-81ED-4DB2-BD59-A6C34878D82A}">
                        <a16:rowId xmlns:a16="http://schemas.microsoft.com/office/drawing/2014/main" val="2611492811"/>
                      </a:ext>
                    </a:extLst>
                  </a:tr>
                  <a:tr h="370840">
                    <a:tc>
                      <a:txBody>
                        <a:bodyPr/>
                        <a:lstStyle/>
                        <a:p>
                          <a:r>
                            <a:rPr lang="en-US" dirty="0"/>
                            <a:t>4</a:t>
                          </a:r>
                        </a:p>
                      </a:txBody>
                      <a:tcPr/>
                    </a:tc>
                    <a:tc>
                      <a:txBody>
                        <a:bodyPr/>
                        <a:lstStyle/>
                        <a:p>
                          <a:r>
                            <a:rPr lang="en-US" dirty="0"/>
                            <a:t>3</a:t>
                          </a:r>
                        </a:p>
                      </a:txBody>
                      <a:tcPr/>
                    </a:tc>
                    <a:tc>
                      <a:txBody>
                        <a:bodyPr/>
                        <a:lstStyle/>
                        <a:p>
                          <a:r>
                            <a:rPr lang="en-US" dirty="0"/>
                            <a:t>30</a:t>
                          </a:r>
                        </a:p>
                      </a:txBody>
                      <a:tcPr/>
                    </a:tc>
                    <a:tc>
                      <a:txBody>
                        <a:bodyPr/>
                        <a:lstStyle/>
                        <a:p>
                          <a:r>
                            <a:rPr lang="en-US" dirty="0"/>
                            <a:t>16</a:t>
                          </a:r>
                        </a:p>
                      </a:txBody>
                      <a:tcPr/>
                    </a:tc>
                    <a:tc>
                      <a:txBody>
                        <a:bodyPr/>
                        <a:lstStyle/>
                        <a:p>
                          <a:r>
                            <a:rPr lang="en-US" dirty="0"/>
                            <a:t>9</a:t>
                          </a:r>
                        </a:p>
                      </a:txBody>
                      <a:tcPr/>
                    </a:tc>
                    <a:tc>
                      <a:txBody>
                        <a:bodyPr/>
                        <a:lstStyle/>
                        <a:p>
                          <a:r>
                            <a:rPr lang="en-US" dirty="0"/>
                            <a:t>120</a:t>
                          </a:r>
                        </a:p>
                      </a:txBody>
                      <a:tcPr/>
                    </a:tc>
                    <a:tc>
                      <a:txBody>
                        <a:bodyPr/>
                        <a:lstStyle/>
                        <a:p>
                          <a:r>
                            <a:rPr lang="en-US" dirty="0"/>
                            <a:t>12</a:t>
                          </a:r>
                        </a:p>
                      </a:txBody>
                      <a:tcPr/>
                    </a:tc>
                    <a:tc>
                      <a:txBody>
                        <a:bodyPr/>
                        <a:lstStyle/>
                        <a:p>
                          <a:r>
                            <a:rPr lang="en-US" dirty="0"/>
                            <a:t>90</a:t>
                          </a:r>
                        </a:p>
                      </a:txBody>
                      <a:tcPr/>
                    </a:tc>
                    <a:extLst>
                      <a:ext uri="{0D108BD9-81ED-4DB2-BD59-A6C34878D82A}">
                        <a16:rowId xmlns:a16="http://schemas.microsoft.com/office/drawing/2014/main" val="765973354"/>
                      </a:ext>
                    </a:extLst>
                  </a:tr>
                  <a:tr h="1030034">
                    <a:tc>
                      <a:txBody>
                        <a:bodyPr/>
                        <a:lstStyle/>
                        <a:p>
                          <a:endParaRPr lang="en-US"/>
                        </a:p>
                      </a:txBody>
                      <a:tcPr>
                        <a:blipFill>
                          <a:blip r:embed="rId2"/>
                          <a:stretch>
                            <a:fillRect l="-592" t="-181065" r="-701775" b="-1183"/>
                          </a:stretch>
                        </a:blipFill>
                      </a:tcPr>
                    </a:tc>
                    <a:tc>
                      <a:txBody>
                        <a:bodyPr/>
                        <a:lstStyle/>
                        <a:p>
                          <a:endParaRPr lang="en-US"/>
                        </a:p>
                      </a:txBody>
                      <a:tcPr>
                        <a:blipFill>
                          <a:blip r:embed="rId2"/>
                          <a:stretch>
                            <a:fillRect l="-100592" t="-181065" r="-601775" b="-1183"/>
                          </a:stretch>
                        </a:blipFill>
                      </a:tcPr>
                    </a:tc>
                    <a:tc>
                      <a:txBody>
                        <a:bodyPr/>
                        <a:lstStyle/>
                        <a:p>
                          <a:endParaRPr lang="en-US"/>
                        </a:p>
                      </a:txBody>
                      <a:tcPr>
                        <a:blipFill>
                          <a:blip r:embed="rId2"/>
                          <a:stretch>
                            <a:fillRect l="-200592" t="-181065" r="-501775" b="-1183"/>
                          </a:stretch>
                        </a:blipFill>
                      </a:tcPr>
                    </a:tc>
                    <a:tc>
                      <a:txBody>
                        <a:bodyPr/>
                        <a:lstStyle/>
                        <a:p>
                          <a:endParaRPr lang="en-US"/>
                        </a:p>
                      </a:txBody>
                      <a:tcPr>
                        <a:blipFill>
                          <a:blip r:embed="rId2"/>
                          <a:stretch>
                            <a:fillRect l="-300592" t="-181065" r="-401775" b="-1183"/>
                          </a:stretch>
                        </a:blipFill>
                      </a:tcPr>
                    </a:tc>
                    <a:tc>
                      <a:txBody>
                        <a:bodyPr/>
                        <a:lstStyle/>
                        <a:p>
                          <a:endParaRPr lang="en-US"/>
                        </a:p>
                      </a:txBody>
                      <a:tcPr>
                        <a:blipFill>
                          <a:blip r:embed="rId2"/>
                          <a:stretch>
                            <a:fillRect l="-402976" t="-181065" r="-304167" b="-1183"/>
                          </a:stretch>
                        </a:blipFill>
                      </a:tcPr>
                    </a:tc>
                    <a:tc>
                      <a:txBody>
                        <a:bodyPr/>
                        <a:lstStyle/>
                        <a:p>
                          <a:endParaRPr lang="en-US"/>
                        </a:p>
                      </a:txBody>
                      <a:tcPr>
                        <a:blipFill>
                          <a:blip r:embed="rId2"/>
                          <a:stretch>
                            <a:fillRect l="-500000" t="-181065" r="-202367" b="-1183"/>
                          </a:stretch>
                        </a:blipFill>
                      </a:tcPr>
                    </a:tc>
                    <a:tc>
                      <a:txBody>
                        <a:bodyPr/>
                        <a:lstStyle/>
                        <a:p>
                          <a:endParaRPr lang="en-US"/>
                        </a:p>
                      </a:txBody>
                      <a:tcPr>
                        <a:blipFill>
                          <a:blip r:embed="rId2"/>
                          <a:stretch>
                            <a:fillRect l="-600000" t="-181065" r="-102367" b="-1183"/>
                          </a:stretch>
                        </a:blipFill>
                      </a:tcPr>
                    </a:tc>
                    <a:tc>
                      <a:txBody>
                        <a:bodyPr/>
                        <a:lstStyle/>
                        <a:p>
                          <a:endParaRPr lang="en-US"/>
                        </a:p>
                      </a:txBody>
                      <a:tcPr>
                        <a:blipFill>
                          <a:blip r:embed="rId2"/>
                          <a:stretch>
                            <a:fillRect l="-700000" t="-181065" r="-2367" b="-1183"/>
                          </a:stretch>
                        </a:blipFill>
                      </a:tcPr>
                    </a:tc>
                    <a:extLst>
                      <a:ext uri="{0D108BD9-81ED-4DB2-BD59-A6C34878D82A}">
                        <a16:rowId xmlns:a16="http://schemas.microsoft.com/office/drawing/2014/main" val="127997026"/>
                      </a:ext>
                    </a:extLst>
                  </a:tr>
                </a:tbl>
              </a:graphicData>
            </a:graphic>
          </p:graphicFrame>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anose="02020603050405020304" pitchFamily="18" charset="0"/>
              </a:rPr>
              <a:t> </a:t>
            </a:r>
            <a:r>
              <a:rPr lang="en-US" sz="2400" b="1" dirty="0">
                <a:latin typeface="Times New Roman" panose="02020603050405020304" pitchFamily="18" charset="0"/>
              </a:rPr>
              <a:t>Multiple</a:t>
            </a:r>
            <a:r>
              <a:rPr lang="en-US" sz="3000" b="1" dirty="0">
                <a:latin typeface="Times New Roman" panose="02020603050405020304" pitchFamily="18" charset="0"/>
              </a:rPr>
              <a:t> </a:t>
            </a:r>
            <a:r>
              <a:rPr lang="en-US" sz="2400" b="1" dirty="0">
                <a:latin typeface="Times New Roman" panose="02020603050405020304" pitchFamily="18" charset="0"/>
              </a:rPr>
              <a:t>Linear Regression (CO2)</a:t>
            </a:r>
          </a:p>
        </p:txBody>
      </p:sp>
    </p:spTree>
    <p:extLst>
      <p:ext uri="{BB962C8B-B14F-4D97-AF65-F5344CB8AC3E}">
        <p14:creationId xmlns:p14="http://schemas.microsoft.com/office/powerpoint/2010/main" val="1183506300"/>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dirty="0"/>
                  <a:t>Q1 Two lines of regression are given by   </a:t>
                </a:r>
                <a14:m>
                  <m:oMath xmlns:m="http://schemas.openxmlformats.org/officeDocument/2006/math">
                    <m:r>
                      <a:rPr lang="en-US" i="1">
                        <a:latin typeface="Cambria Math"/>
                      </a:rPr>
                      <m:t>7</m:t>
                    </m:r>
                    <m:r>
                      <a:rPr lang="en-US" i="1">
                        <a:latin typeface="Cambria Math"/>
                      </a:rPr>
                      <m:t>𝑥</m:t>
                    </m:r>
                    <m:r>
                      <a:rPr lang="en-US" i="1">
                        <a:latin typeface="Cambria Math"/>
                      </a:rPr>
                      <m:t>−16</m:t>
                    </m:r>
                    <m:r>
                      <a:rPr lang="en-US" i="1">
                        <a:latin typeface="Cambria Math"/>
                      </a:rPr>
                      <m:t>𝑦</m:t>
                    </m:r>
                    <m:r>
                      <a:rPr lang="en-US" i="1">
                        <a:latin typeface="Cambria Math"/>
                      </a:rPr>
                      <m:t>+9=0 </m:t>
                    </m:r>
                  </m:oMath>
                </a14:m>
                <a:r>
                  <a:rPr lang="en-US" dirty="0"/>
                  <a:t>and </a:t>
                </a:r>
                <a14:m>
                  <m:oMath xmlns:m="http://schemas.openxmlformats.org/officeDocument/2006/math">
                    <m:r>
                      <a:rPr lang="en-US" i="1">
                        <a:latin typeface="Cambria Math"/>
                      </a:rPr>
                      <m:t>−4</m:t>
                    </m:r>
                    <m:r>
                      <a:rPr lang="en-US" i="1">
                        <a:latin typeface="Cambria Math"/>
                      </a:rPr>
                      <m:t>𝑥</m:t>
                    </m:r>
                    <m:r>
                      <a:rPr lang="en-US" i="1">
                        <a:latin typeface="Cambria Math"/>
                      </a:rPr>
                      <m:t>+5</m:t>
                    </m:r>
                    <m:r>
                      <a:rPr lang="en-US" i="1">
                        <a:latin typeface="Cambria Math"/>
                      </a:rPr>
                      <m:t>𝑦</m:t>
                    </m:r>
                    <m:r>
                      <a:rPr lang="en-US" i="1">
                        <a:latin typeface="Cambria Math"/>
                      </a:rPr>
                      <m:t>−3=0</m:t>
                    </m:r>
                  </m:oMath>
                </a14:m>
                <a:r>
                  <a:rPr lang="en-US" dirty="0"/>
                  <a:t> and </a:t>
                </a:r>
                <a14:m>
                  <m:oMath xmlns:m="http://schemas.openxmlformats.org/officeDocument/2006/math">
                    <m:r>
                      <a:rPr lang="en-US" i="1">
                        <a:latin typeface="Cambria Math"/>
                      </a:rPr>
                      <m:t>𝑣𝑎𝑟</m:t>
                    </m:r>
                    <m:r>
                      <a:rPr lang="en-US" i="1">
                        <a:latin typeface="Cambria Math"/>
                      </a:rPr>
                      <m:t>(</m:t>
                    </m:r>
                    <m:r>
                      <a:rPr lang="en-US" i="1">
                        <a:latin typeface="Cambria Math"/>
                      </a:rPr>
                      <m:t>𝑥</m:t>
                    </m:r>
                    <m:r>
                      <a:rPr lang="en-US" i="1">
                        <a:latin typeface="Cambria Math"/>
                      </a:rPr>
                      <m:t>)</m:t>
                    </m:r>
                  </m:oMath>
                </a14:m>
                <a:r>
                  <a:rPr lang="en-US" dirty="0"/>
                  <a:t>=16.Calculate</a:t>
                </a:r>
              </a:p>
              <a:p>
                <a:pPr marL="514350" lvl="0" indent="-514350">
                  <a:buAutoNum type="romanLcParenBoth"/>
                </a:pPr>
                <a:r>
                  <a:rPr lang="en-US" dirty="0"/>
                  <a:t>the mean of </a:t>
                </a:r>
                <a14:m>
                  <m:oMath xmlns:m="http://schemas.openxmlformats.org/officeDocument/2006/math">
                    <m:r>
                      <a:rPr lang="en-US" i="1">
                        <a:latin typeface="Cambria Math"/>
                      </a:rPr>
                      <m:t>𝑥</m:t>
                    </m:r>
                  </m:oMath>
                </a14:m>
                <a:r>
                  <a:rPr lang="en-US" dirty="0"/>
                  <a:t> and </a:t>
                </a:r>
                <a14:m>
                  <m:oMath xmlns:m="http://schemas.openxmlformats.org/officeDocument/2006/math">
                    <m:r>
                      <a:rPr lang="en-US" i="1">
                        <a:latin typeface="Cambria Math"/>
                      </a:rPr>
                      <m:t>𝑦</m:t>
                    </m:r>
                  </m:oMath>
                </a14:m>
                <a:r>
                  <a:rPr lang="en-US" dirty="0"/>
                  <a:t>  </a:t>
                </a:r>
              </a:p>
              <a:p>
                <a:pPr marL="514350" lvl="0" indent="-514350">
                  <a:buAutoNum type="romanLcParenBoth"/>
                </a:pPr>
                <a:r>
                  <a:rPr lang="en-US" dirty="0"/>
                  <a:t>variance of </a:t>
                </a:r>
                <a14:m>
                  <m:oMath xmlns:m="http://schemas.openxmlformats.org/officeDocument/2006/math">
                    <m:r>
                      <a:rPr lang="en-US" i="1">
                        <a:latin typeface="Cambria Math"/>
                      </a:rPr>
                      <m:t>𝑦</m:t>
                    </m:r>
                  </m:oMath>
                </a14:m>
                <a:r>
                  <a:rPr lang="en-US" i="1" dirty="0"/>
                  <a:t> </a:t>
                </a:r>
              </a:p>
              <a:p>
                <a:pPr marL="514350" lvl="0" indent="-514350">
                  <a:buAutoNum type="romanLcParenBoth"/>
                </a:pPr>
                <a:r>
                  <a:rPr lang="en-US" dirty="0"/>
                  <a:t>The correlation coefficient.</a:t>
                </a:r>
              </a:p>
              <a:p>
                <a:pPr marL="0" lvl="0" indent="0">
                  <a:buNone/>
                </a:pPr>
                <a:r>
                  <a:rPr lang="en-US" dirty="0"/>
                  <a:t>Q2 Find the two regression equation of X on Y and Y on X from the following data: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59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Daily Quiz</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graphicFrame>
        <p:nvGraphicFramePr>
          <p:cNvPr id="2" name="Table 1">
            <a:extLst>
              <a:ext uri="{FF2B5EF4-FFF2-40B4-BE49-F238E27FC236}">
                <a16:creationId xmlns:a16="http://schemas.microsoft.com/office/drawing/2014/main" id="{C5E36806-FAFC-4A76-9DC4-97E12F67702E}"/>
              </a:ext>
            </a:extLst>
          </p:cNvPr>
          <p:cNvGraphicFramePr>
            <a:graphicFrameLocks noGrp="1"/>
          </p:cNvGraphicFramePr>
          <p:nvPr>
            <p:extLst>
              <p:ext uri="{D42A27DB-BD31-4B8C-83A1-F6EECF244321}">
                <p14:modId xmlns:p14="http://schemas.microsoft.com/office/powerpoint/2010/main" val="1216407476"/>
              </p:ext>
            </p:extLst>
          </p:nvPr>
        </p:nvGraphicFramePr>
        <p:xfrm>
          <a:off x="1524000" y="3581400"/>
          <a:ext cx="6095997" cy="792480"/>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2881598671"/>
                    </a:ext>
                  </a:extLst>
                </a:gridCol>
                <a:gridCol w="677333">
                  <a:extLst>
                    <a:ext uri="{9D8B030D-6E8A-4147-A177-3AD203B41FA5}">
                      <a16:colId xmlns:a16="http://schemas.microsoft.com/office/drawing/2014/main" val="2077751061"/>
                    </a:ext>
                  </a:extLst>
                </a:gridCol>
                <a:gridCol w="677333">
                  <a:extLst>
                    <a:ext uri="{9D8B030D-6E8A-4147-A177-3AD203B41FA5}">
                      <a16:colId xmlns:a16="http://schemas.microsoft.com/office/drawing/2014/main" val="2165990519"/>
                    </a:ext>
                  </a:extLst>
                </a:gridCol>
                <a:gridCol w="677333">
                  <a:extLst>
                    <a:ext uri="{9D8B030D-6E8A-4147-A177-3AD203B41FA5}">
                      <a16:colId xmlns:a16="http://schemas.microsoft.com/office/drawing/2014/main" val="4187668602"/>
                    </a:ext>
                  </a:extLst>
                </a:gridCol>
                <a:gridCol w="677333">
                  <a:extLst>
                    <a:ext uri="{9D8B030D-6E8A-4147-A177-3AD203B41FA5}">
                      <a16:colId xmlns:a16="http://schemas.microsoft.com/office/drawing/2014/main" val="2508308840"/>
                    </a:ext>
                  </a:extLst>
                </a:gridCol>
                <a:gridCol w="677333">
                  <a:extLst>
                    <a:ext uri="{9D8B030D-6E8A-4147-A177-3AD203B41FA5}">
                      <a16:colId xmlns:a16="http://schemas.microsoft.com/office/drawing/2014/main" val="1435032417"/>
                    </a:ext>
                  </a:extLst>
                </a:gridCol>
                <a:gridCol w="677333">
                  <a:extLst>
                    <a:ext uri="{9D8B030D-6E8A-4147-A177-3AD203B41FA5}">
                      <a16:colId xmlns:a16="http://schemas.microsoft.com/office/drawing/2014/main" val="329004818"/>
                    </a:ext>
                  </a:extLst>
                </a:gridCol>
                <a:gridCol w="677333">
                  <a:extLst>
                    <a:ext uri="{9D8B030D-6E8A-4147-A177-3AD203B41FA5}">
                      <a16:colId xmlns:a16="http://schemas.microsoft.com/office/drawing/2014/main" val="3220682570"/>
                    </a:ext>
                  </a:extLst>
                </a:gridCol>
                <a:gridCol w="677333">
                  <a:extLst>
                    <a:ext uri="{9D8B030D-6E8A-4147-A177-3AD203B41FA5}">
                      <a16:colId xmlns:a16="http://schemas.microsoft.com/office/drawing/2014/main" val="853048669"/>
                    </a:ext>
                  </a:extLst>
                </a:gridCol>
              </a:tblGrid>
              <a:tr h="370840">
                <a:tc>
                  <a:txBody>
                    <a:bodyPr/>
                    <a:lstStyle/>
                    <a:p>
                      <a:r>
                        <a:rPr lang="en-US" sz="2000" dirty="0">
                          <a:latin typeface="Times New Roman" panose="02020603050405020304" pitchFamily="18" charset="0"/>
                          <a:cs typeface="Times New Roman" panose="02020603050405020304" pitchFamily="18" charset="0"/>
                        </a:rPr>
                        <a:t>X:</a:t>
                      </a:r>
                    </a:p>
                  </a:txBody>
                  <a:tcPr/>
                </a:tc>
                <a:tc>
                  <a:txBody>
                    <a:bodyPr/>
                    <a:lstStyle/>
                    <a:p>
                      <a:r>
                        <a:rPr lang="en-US" sz="2000" dirty="0">
                          <a:latin typeface="Times New Roman" panose="02020603050405020304" pitchFamily="18" charset="0"/>
                          <a:cs typeface="Times New Roman" panose="02020603050405020304" pitchFamily="18" charset="0"/>
                        </a:rPr>
                        <a:t>10</a:t>
                      </a:r>
                    </a:p>
                  </a:txBody>
                  <a:tcPr/>
                </a:tc>
                <a:tc>
                  <a:txBody>
                    <a:bodyPr/>
                    <a:lstStyle/>
                    <a:p>
                      <a:r>
                        <a:rPr lang="en-US" sz="2000" dirty="0">
                          <a:latin typeface="Times New Roman" panose="02020603050405020304" pitchFamily="18" charset="0"/>
                          <a:cs typeface="Times New Roman" panose="02020603050405020304" pitchFamily="18" charset="0"/>
                        </a:rPr>
                        <a:t>12</a:t>
                      </a:r>
                    </a:p>
                  </a:txBody>
                  <a:tcPr/>
                </a:tc>
                <a:tc>
                  <a:txBody>
                    <a:bodyPr/>
                    <a:lstStyle/>
                    <a:p>
                      <a:r>
                        <a:rPr lang="en-US" sz="2000" dirty="0">
                          <a:latin typeface="Times New Roman" panose="02020603050405020304" pitchFamily="18" charset="0"/>
                          <a:cs typeface="Times New Roman" panose="02020603050405020304" pitchFamily="18" charset="0"/>
                        </a:rPr>
                        <a:t>16</a:t>
                      </a:r>
                    </a:p>
                  </a:txBody>
                  <a:tcPr/>
                </a:tc>
                <a:tc>
                  <a:txBody>
                    <a:bodyPr/>
                    <a:lstStyle/>
                    <a:p>
                      <a:r>
                        <a:rPr lang="en-US" sz="2000" dirty="0">
                          <a:latin typeface="Times New Roman" panose="02020603050405020304" pitchFamily="18" charset="0"/>
                          <a:cs typeface="Times New Roman" panose="02020603050405020304" pitchFamily="18" charset="0"/>
                        </a:rPr>
                        <a:t>11</a:t>
                      </a:r>
                    </a:p>
                  </a:txBody>
                  <a:tcPr/>
                </a:tc>
                <a:tc>
                  <a:txBody>
                    <a:bodyPr/>
                    <a:lstStyle/>
                    <a:p>
                      <a:r>
                        <a:rPr lang="en-US" sz="2000" dirty="0">
                          <a:latin typeface="Times New Roman" panose="02020603050405020304" pitchFamily="18" charset="0"/>
                          <a:cs typeface="Times New Roman" panose="02020603050405020304" pitchFamily="18" charset="0"/>
                        </a:rPr>
                        <a:t>15</a:t>
                      </a:r>
                    </a:p>
                  </a:txBody>
                  <a:tcPr/>
                </a:tc>
                <a:tc>
                  <a:txBody>
                    <a:bodyPr/>
                    <a:lstStyle/>
                    <a:p>
                      <a:r>
                        <a:rPr lang="en-US" sz="2000" dirty="0">
                          <a:latin typeface="Times New Roman" panose="02020603050405020304" pitchFamily="18" charset="0"/>
                          <a:cs typeface="Times New Roman" panose="02020603050405020304" pitchFamily="18" charset="0"/>
                        </a:rPr>
                        <a:t>14</a:t>
                      </a:r>
                    </a:p>
                  </a:txBody>
                  <a:tcPr/>
                </a:tc>
                <a:tc>
                  <a:txBody>
                    <a:bodyPr/>
                    <a:lstStyle/>
                    <a:p>
                      <a:r>
                        <a:rPr lang="en-US" sz="2000" dirty="0">
                          <a:latin typeface="Times New Roman" panose="02020603050405020304" pitchFamily="18" charset="0"/>
                          <a:cs typeface="Times New Roman" panose="02020603050405020304" pitchFamily="18" charset="0"/>
                        </a:rPr>
                        <a:t>20</a:t>
                      </a:r>
                    </a:p>
                  </a:txBody>
                  <a:tcPr/>
                </a:tc>
                <a:tc>
                  <a:txBody>
                    <a:bodyPr/>
                    <a:lstStyle/>
                    <a:p>
                      <a:r>
                        <a:rPr lang="en-US" sz="2000" dirty="0">
                          <a:latin typeface="Times New Roman" panose="02020603050405020304" pitchFamily="18" charset="0"/>
                          <a:cs typeface="Times New Roman" panose="02020603050405020304" pitchFamily="18" charset="0"/>
                        </a:rPr>
                        <a:t>22</a:t>
                      </a:r>
                    </a:p>
                  </a:txBody>
                  <a:tcPr/>
                </a:tc>
                <a:extLst>
                  <a:ext uri="{0D108BD9-81ED-4DB2-BD59-A6C34878D82A}">
                    <a16:rowId xmlns:a16="http://schemas.microsoft.com/office/drawing/2014/main" val="3767141282"/>
                  </a:ext>
                </a:extLst>
              </a:tr>
              <a:tr h="370840">
                <a:tc>
                  <a:txBody>
                    <a:bodyPr/>
                    <a:lstStyle/>
                    <a:p>
                      <a:r>
                        <a:rPr lang="en-US" sz="2000" dirty="0">
                          <a:latin typeface="Times New Roman" panose="02020603050405020304" pitchFamily="18" charset="0"/>
                          <a:cs typeface="Times New Roman" panose="02020603050405020304" pitchFamily="18" charset="0"/>
                        </a:rPr>
                        <a:t>Y:</a:t>
                      </a:r>
                    </a:p>
                  </a:txBody>
                  <a:tcPr/>
                </a:tc>
                <a:tc>
                  <a:txBody>
                    <a:bodyPr/>
                    <a:lstStyle/>
                    <a:p>
                      <a:r>
                        <a:rPr lang="en-US" sz="2000" dirty="0">
                          <a:latin typeface="Times New Roman" panose="02020603050405020304" pitchFamily="18" charset="0"/>
                          <a:cs typeface="Times New Roman" panose="02020603050405020304" pitchFamily="18" charset="0"/>
                        </a:rPr>
                        <a:t>15</a:t>
                      </a:r>
                    </a:p>
                  </a:txBody>
                  <a:tcPr/>
                </a:tc>
                <a:tc>
                  <a:txBody>
                    <a:bodyPr/>
                    <a:lstStyle/>
                    <a:p>
                      <a:r>
                        <a:rPr lang="en-US" sz="2000" dirty="0">
                          <a:latin typeface="Times New Roman" panose="02020603050405020304" pitchFamily="18" charset="0"/>
                          <a:cs typeface="Times New Roman" panose="02020603050405020304" pitchFamily="18" charset="0"/>
                        </a:rPr>
                        <a:t>18</a:t>
                      </a:r>
                    </a:p>
                  </a:txBody>
                  <a:tcPr/>
                </a:tc>
                <a:tc>
                  <a:txBody>
                    <a:bodyPr/>
                    <a:lstStyle/>
                    <a:p>
                      <a:r>
                        <a:rPr lang="en-US" sz="2000" dirty="0">
                          <a:latin typeface="Times New Roman" panose="02020603050405020304" pitchFamily="18" charset="0"/>
                          <a:cs typeface="Times New Roman" panose="02020603050405020304" pitchFamily="18" charset="0"/>
                        </a:rPr>
                        <a:t>23</a:t>
                      </a:r>
                    </a:p>
                  </a:txBody>
                  <a:tcPr/>
                </a:tc>
                <a:tc>
                  <a:txBody>
                    <a:bodyPr/>
                    <a:lstStyle/>
                    <a:p>
                      <a:r>
                        <a:rPr lang="en-US" sz="2000" dirty="0">
                          <a:latin typeface="Times New Roman" panose="02020603050405020304" pitchFamily="18" charset="0"/>
                          <a:cs typeface="Times New Roman" panose="02020603050405020304" pitchFamily="18" charset="0"/>
                        </a:rPr>
                        <a:t>14</a:t>
                      </a:r>
                    </a:p>
                  </a:txBody>
                  <a:tcPr/>
                </a:tc>
                <a:tc>
                  <a:txBody>
                    <a:bodyPr/>
                    <a:lstStyle/>
                    <a:p>
                      <a:r>
                        <a:rPr lang="en-US" sz="2000" dirty="0">
                          <a:latin typeface="Times New Roman" panose="02020603050405020304" pitchFamily="18" charset="0"/>
                          <a:cs typeface="Times New Roman" panose="02020603050405020304" pitchFamily="18" charset="0"/>
                        </a:rPr>
                        <a:t>20</a:t>
                      </a:r>
                    </a:p>
                  </a:txBody>
                  <a:tcPr/>
                </a:tc>
                <a:tc>
                  <a:txBody>
                    <a:bodyPr/>
                    <a:lstStyle/>
                    <a:p>
                      <a:r>
                        <a:rPr lang="en-US" sz="2000" dirty="0">
                          <a:latin typeface="Times New Roman" panose="02020603050405020304" pitchFamily="18" charset="0"/>
                          <a:cs typeface="Times New Roman" panose="02020603050405020304" pitchFamily="18" charset="0"/>
                        </a:rPr>
                        <a:t>17</a:t>
                      </a:r>
                    </a:p>
                  </a:txBody>
                  <a:tcPr/>
                </a:tc>
                <a:tc>
                  <a:txBody>
                    <a:bodyPr/>
                    <a:lstStyle/>
                    <a:p>
                      <a:r>
                        <a:rPr lang="en-US" sz="2000" dirty="0">
                          <a:latin typeface="Times New Roman" panose="02020603050405020304" pitchFamily="18" charset="0"/>
                          <a:cs typeface="Times New Roman" panose="02020603050405020304" pitchFamily="18" charset="0"/>
                        </a:rPr>
                        <a:t>25</a:t>
                      </a:r>
                    </a:p>
                  </a:txBody>
                  <a:tcPr/>
                </a:tc>
                <a:tc>
                  <a:txBody>
                    <a:bodyPr/>
                    <a:lstStyle/>
                    <a:p>
                      <a:r>
                        <a:rPr lang="en-US" sz="2000" dirty="0">
                          <a:latin typeface="Times New Roman" panose="02020603050405020304" pitchFamily="18" charset="0"/>
                          <a:cs typeface="Times New Roman" panose="02020603050405020304" pitchFamily="18" charset="0"/>
                        </a:rPr>
                        <a:t>28</a:t>
                      </a:r>
                    </a:p>
                  </a:txBody>
                  <a:tcPr/>
                </a:tc>
                <a:extLst>
                  <a:ext uri="{0D108BD9-81ED-4DB2-BD59-A6C34878D82A}">
                    <a16:rowId xmlns:a16="http://schemas.microsoft.com/office/drawing/2014/main" val="2211043656"/>
                  </a:ext>
                </a:extLst>
              </a:tr>
            </a:tbl>
          </a:graphicData>
        </a:graphic>
      </p:graphicFrame>
    </p:spTree>
    <p:extLst>
      <p:ext uri="{BB962C8B-B14F-4D97-AF65-F5344CB8AC3E}">
        <p14:creationId xmlns:p14="http://schemas.microsoft.com/office/powerpoint/2010/main" val="1850424487"/>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Q1. Fit a straight line trend by the method of least square  to the following data:</a:t>
            </a:r>
          </a:p>
          <a:p>
            <a:pPr marL="0" indent="0">
              <a:buNone/>
            </a:pPr>
            <a:endParaRPr lang="en-US" sz="2200" dirty="0"/>
          </a:p>
          <a:p>
            <a:pPr marL="0" indent="0">
              <a:buNone/>
            </a:pPr>
            <a:endParaRPr lang="en-US" sz="2200" dirty="0"/>
          </a:p>
          <a:p>
            <a:pPr marL="0" lvl="0" indent="0">
              <a:buNone/>
            </a:pPr>
            <a:r>
              <a:rPr lang="en-US" sz="2200" dirty="0"/>
              <a:t>Q2. </a:t>
            </a:r>
            <a:r>
              <a:rPr lang="en-US" sz="2400" dirty="0"/>
              <a:t>From the following data calculate Karl Pearson's coefficient of skewness</a:t>
            </a:r>
          </a:p>
          <a:p>
            <a:pPr marL="0" lvl="0" indent="0">
              <a:buNone/>
            </a:pPr>
            <a:endParaRPr lang="en-US" sz="2400" dirty="0"/>
          </a:p>
          <a:p>
            <a:pPr marL="0" indent="0">
              <a:buNone/>
            </a:pPr>
            <a:endParaRPr lang="en-US" sz="2200" dirty="0"/>
          </a:p>
          <a:p>
            <a:pPr marL="0" lv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Weekly Assignment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4067952015"/>
              </p:ext>
            </p:extLst>
          </p:nvPr>
        </p:nvGraphicFramePr>
        <p:xfrm>
          <a:off x="762000" y="1905000"/>
          <a:ext cx="7391400" cy="644780"/>
        </p:xfrm>
        <a:graphic>
          <a:graphicData uri="http://schemas.openxmlformats.org/drawingml/2006/table">
            <a:tbl>
              <a:tblPr firstRow="1" firstCol="1" bandRow="1">
                <a:tableStyleId>{5C22544A-7EE6-4342-B048-85BDC9FD1C3A}</a:tableStyleId>
              </a:tblPr>
              <a:tblGrid>
                <a:gridCol w="1346952">
                  <a:extLst>
                    <a:ext uri="{9D8B030D-6E8A-4147-A177-3AD203B41FA5}">
                      <a16:colId xmlns:a16="http://schemas.microsoft.com/office/drawing/2014/main" val="20000"/>
                    </a:ext>
                  </a:extLst>
                </a:gridCol>
                <a:gridCol w="824073">
                  <a:extLst>
                    <a:ext uri="{9D8B030D-6E8A-4147-A177-3AD203B41FA5}">
                      <a16:colId xmlns:a16="http://schemas.microsoft.com/office/drawing/2014/main" val="20001"/>
                    </a:ext>
                  </a:extLst>
                </a:gridCol>
                <a:gridCol w="1044823">
                  <a:extLst>
                    <a:ext uri="{9D8B030D-6E8A-4147-A177-3AD203B41FA5}">
                      <a16:colId xmlns:a16="http://schemas.microsoft.com/office/drawing/2014/main" val="20002"/>
                    </a:ext>
                  </a:extLst>
                </a:gridCol>
                <a:gridCol w="1043888">
                  <a:extLst>
                    <a:ext uri="{9D8B030D-6E8A-4147-A177-3AD203B41FA5}">
                      <a16:colId xmlns:a16="http://schemas.microsoft.com/office/drawing/2014/main" val="20003"/>
                    </a:ext>
                  </a:extLst>
                </a:gridCol>
                <a:gridCol w="1043888">
                  <a:extLst>
                    <a:ext uri="{9D8B030D-6E8A-4147-A177-3AD203B41FA5}">
                      <a16:colId xmlns:a16="http://schemas.microsoft.com/office/drawing/2014/main" val="20004"/>
                    </a:ext>
                  </a:extLst>
                </a:gridCol>
                <a:gridCol w="1043888">
                  <a:extLst>
                    <a:ext uri="{9D8B030D-6E8A-4147-A177-3AD203B41FA5}">
                      <a16:colId xmlns:a16="http://schemas.microsoft.com/office/drawing/2014/main" val="20005"/>
                    </a:ext>
                  </a:extLst>
                </a:gridCol>
                <a:gridCol w="1043888">
                  <a:extLst>
                    <a:ext uri="{9D8B030D-6E8A-4147-A177-3AD203B41FA5}">
                      <a16:colId xmlns:a16="http://schemas.microsoft.com/office/drawing/2014/main" val="20006"/>
                    </a:ext>
                  </a:extLst>
                </a:gridCol>
              </a:tblGrid>
              <a:tr h="239395">
                <a:tc>
                  <a:txBody>
                    <a:bodyPr/>
                    <a:lstStyle/>
                    <a:p>
                      <a:pPr marL="0" marR="0">
                        <a:lnSpc>
                          <a:spcPct val="115000"/>
                        </a:lnSpc>
                        <a:spcBef>
                          <a:spcPts val="0"/>
                        </a:spcBef>
                        <a:spcAft>
                          <a:spcPts val="0"/>
                        </a:spcAft>
                      </a:pPr>
                      <a:r>
                        <a:rPr lang="en-US" sz="2000" dirty="0">
                          <a:effectLst/>
                          <a:latin typeface="Times New Roman" panose="02020603050405020304" pitchFamily="18" charset="0"/>
                        </a:rPr>
                        <a:t>        Year</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1979</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1980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1981</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1982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1983</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1984</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0"/>
                  </a:ext>
                </a:extLst>
              </a:tr>
              <a:tr h="62230">
                <a:tc>
                  <a:txBody>
                    <a:bodyPr/>
                    <a:lstStyle/>
                    <a:p>
                      <a:pPr marL="0" marR="0">
                        <a:lnSpc>
                          <a:spcPct val="115000"/>
                        </a:lnSpc>
                        <a:spcBef>
                          <a:spcPts val="0"/>
                        </a:spcBef>
                        <a:spcAft>
                          <a:spcPts val="0"/>
                        </a:spcAft>
                      </a:pPr>
                      <a:r>
                        <a:rPr lang="en-US" sz="2000" dirty="0">
                          <a:effectLst/>
                          <a:latin typeface="Times New Roman" panose="02020603050405020304" pitchFamily="18" charset="0"/>
                        </a:rPr>
                        <a:t>Production</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5</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7</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9</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17</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634738003"/>
              </p:ext>
            </p:extLst>
          </p:nvPr>
        </p:nvGraphicFramePr>
        <p:xfrm>
          <a:off x="762000" y="3505200"/>
          <a:ext cx="7391400" cy="726822"/>
        </p:xfrm>
        <a:graphic>
          <a:graphicData uri="http://schemas.openxmlformats.org/drawingml/2006/table">
            <a:tbl>
              <a:tblPr firstRow="1" firstCol="1" bandRow="1">
                <a:tableStyleId>{5C22544A-7EE6-4342-B048-85BDC9FD1C3A}</a:tableStyleId>
              </a:tblPr>
              <a:tblGrid>
                <a:gridCol w="20574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tblGrid>
              <a:tr h="363411">
                <a:tc>
                  <a:txBody>
                    <a:bodyPr/>
                    <a:lstStyle/>
                    <a:p>
                      <a:pPr marL="0" marR="0">
                        <a:lnSpc>
                          <a:spcPct val="115000"/>
                        </a:lnSpc>
                        <a:spcBef>
                          <a:spcPts val="0"/>
                        </a:spcBef>
                        <a:spcAft>
                          <a:spcPts val="0"/>
                        </a:spcAft>
                      </a:pPr>
                      <a:r>
                        <a:rPr lang="en-US" sz="2000" dirty="0">
                          <a:effectLst/>
                          <a:latin typeface="Times New Roman" panose="02020603050405020304" pitchFamily="18" charset="0"/>
                        </a:rPr>
                        <a:t>Marks Less than</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30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40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50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60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70</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0"/>
                  </a:ext>
                </a:extLst>
              </a:tr>
              <a:tr h="363411">
                <a:tc>
                  <a:txBody>
                    <a:bodyPr/>
                    <a:lstStyle/>
                    <a:p>
                      <a:pPr marL="0" marR="0">
                        <a:lnSpc>
                          <a:spcPct val="115000"/>
                        </a:lnSpc>
                        <a:spcBef>
                          <a:spcPts val="0"/>
                        </a:spcBef>
                        <a:spcAft>
                          <a:spcPts val="0"/>
                        </a:spcAft>
                      </a:pPr>
                      <a:r>
                        <a:rPr lang="en-US" sz="2000" dirty="0">
                          <a:effectLst/>
                          <a:latin typeface="Times New Roman" panose="02020603050405020304" pitchFamily="18" charset="0"/>
                        </a:rPr>
                        <a:t>No. of students</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30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60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110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150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180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200</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05562240"/>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dirty="0"/>
              <a:t>Q3. Write regression equations of </a:t>
            </a:r>
            <a:r>
              <a:rPr lang="en-US" i="1" dirty="0"/>
              <a:t>X </a:t>
            </a:r>
            <a:r>
              <a:rPr lang="en-US" dirty="0"/>
              <a:t>on </a:t>
            </a:r>
            <a:r>
              <a:rPr lang="en-US" i="1" dirty="0"/>
              <a:t>Y </a:t>
            </a:r>
            <a:r>
              <a:rPr lang="en-US" dirty="0"/>
              <a:t>and of </a:t>
            </a:r>
            <a:r>
              <a:rPr lang="en-US" i="1" dirty="0"/>
              <a:t>Y </a:t>
            </a:r>
            <a:r>
              <a:rPr lang="en-US" dirty="0"/>
              <a:t>on </a:t>
            </a:r>
            <a:r>
              <a:rPr lang="en-US" i="1" dirty="0"/>
              <a:t>X </a:t>
            </a:r>
            <a:r>
              <a:rPr lang="en-US" dirty="0"/>
              <a:t>for the following data -</a:t>
            </a:r>
          </a:p>
          <a:p>
            <a:pPr marL="0" lvl="0" indent="0">
              <a:buNone/>
            </a:pPr>
            <a:endParaRPr lang="en-US" sz="2200" dirty="0"/>
          </a:p>
          <a:p>
            <a:pPr marL="0" lvl="0" indent="0">
              <a:buNone/>
            </a:pPr>
            <a:endParaRPr lang="en-US" sz="2200" dirty="0"/>
          </a:p>
          <a:p>
            <a:pPr marL="0" indent="0">
              <a:buNone/>
            </a:pPr>
            <a:r>
              <a:rPr lang="en-US" sz="2200" dirty="0"/>
              <a:t>Q4. </a:t>
            </a:r>
            <a:r>
              <a:rPr lang="en-US" sz="2400" dirty="0"/>
              <a:t>Fit a straight line trend by the method of least squares to the following data: -</a:t>
            </a:r>
          </a:p>
          <a:p>
            <a:pPr marL="0" lv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Weekly Assignment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graphicFrame>
        <p:nvGraphicFramePr>
          <p:cNvPr id="13" name="Table 12"/>
          <p:cNvGraphicFramePr>
            <a:graphicFrameLocks noGrp="1"/>
          </p:cNvGraphicFramePr>
          <p:nvPr>
            <p:extLst>
              <p:ext uri="{D42A27DB-BD31-4B8C-83A1-F6EECF244321}">
                <p14:modId xmlns:p14="http://schemas.microsoft.com/office/powerpoint/2010/main" val="96145617"/>
              </p:ext>
            </p:extLst>
          </p:nvPr>
        </p:nvGraphicFramePr>
        <p:xfrm>
          <a:off x="1362075" y="1600200"/>
          <a:ext cx="5495925" cy="644780"/>
        </p:xfrm>
        <a:graphic>
          <a:graphicData uri="http://schemas.openxmlformats.org/drawingml/2006/table">
            <a:tbl>
              <a:tblPr firstRow="1" firstCol="1" bandRow="1">
                <a:tableStyleId>{5C22544A-7EE6-4342-B048-85BDC9FD1C3A}</a:tableStyleId>
              </a:tblPr>
              <a:tblGrid>
                <a:gridCol w="1166495">
                  <a:extLst>
                    <a:ext uri="{9D8B030D-6E8A-4147-A177-3AD203B41FA5}">
                      <a16:colId xmlns:a16="http://schemas.microsoft.com/office/drawing/2014/main" val="20000"/>
                    </a:ext>
                  </a:extLst>
                </a:gridCol>
                <a:gridCol w="713740">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3605">
                  <a:extLst>
                    <a:ext uri="{9D8B030D-6E8A-4147-A177-3AD203B41FA5}">
                      <a16:colId xmlns:a16="http://schemas.microsoft.com/office/drawing/2014/main" val="20003"/>
                    </a:ext>
                  </a:extLst>
                </a:gridCol>
                <a:gridCol w="903605">
                  <a:extLst>
                    <a:ext uri="{9D8B030D-6E8A-4147-A177-3AD203B41FA5}">
                      <a16:colId xmlns:a16="http://schemas.microsoft.com/office/drawing/2014/main" val="20004"/>
                    </a:ext>
                  </a:extLst>
                </a:gridCol>
                <a:gridCol w="903605">
                  <a:extLst>
                    <a:ext uri="{9D8B030D-6E8A-4147-A177-3AD203B41FA5}">
                      <a16:colId xmlns:a16="http://schemas.microsoft.com/office/drawing/2014/main" val="20005"/>
                    </a:ext>
                  </a:extLst>
                </a:gridCol>
              </a:tblGrid>
              <a:tr h="213995">
                <a:tc>
                  <a:txBody>
                    <a:bodyPr/>
                    <a:lstStyle/>
                    <a:p>
                      <a:pPr marL="0" marR="0">
                        <a:lnSpc>
                          <a:spcPct val="115000"/>
                        </a:lnSpc>
                        <a:spcBef>
                          <a:spcPts val="0"/>
                        </a:spcBef>
                        <a:spcAft>
                          <a:spcPts val="0"/>
                        </a:spcAft>
                      </a:pPr>
                      <a:r>
                        <a:rPr lang="en-US" sz="2000" dirty="0">
                          <a:effectLst/>
                          <a:latin typeface="Times New Roman" panose="02020603050405020304" pitchFamily="18" charset="0"/>
                        </a:rPr>
                        <a:t>X</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3</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4</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5</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0"/>
                  </a:ext>
                </a:extLst>
              </a:tr>
              <a:tr h="55880">
                <a:tc>
                  <a:txBody>
                    <a:bodyPr/>
                    <a:lstStyle/>
                    <a:p>
                      <a:pPr marL="0" marR="0">
                        <a:lnSpc>
                          <a:spcPct val="115000"/>
                        </a:lnSpc>
                        <a:spcBef>
                          <a:spcPts val="0"/>
                        </a:spcBef>
                        <a:spcAft>
                          <a:spcPts val="0"/>
                        </a:spcAft>
                      </a:pPr>
                      <a:r>
                        <a:rPr lang="en-US" sz="2000" dirty="0">
                          <a:effectLst/>
                          <a:latin typeface="Times New Roman" panose="02020603050405020304" pitchFamily="18" charset="0"/>
                        </a:rPr>
                        <a:t>Y</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4</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5</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3</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6</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910976266"/>
              </p:ext>
            </p:extLst>
          </p:nvPr>
        </p:nvGraphicFramePr>
        <p:xfrm>
          <a:off x="990597" y="3271900"/>
          <a:ext cx="6781803" cy="99530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838203">
                  <a:extLst>
                    <a:ext uri="{9D8B030D-6E8A-4147-A177-3AD203B41FA5}">
                      <a16:colId xmlns:a16="http://schemas.microsoft.com/office/drawing/2014/main" val="20006"/>
                    </a:ext>
                  </a:extLst>
                </a:gridCol>
              </a:tblGrid>
              <a:tr h="0">
                <a:tc>
                  <a:txBody>
                    <a:bodyPr/>
                    <a:lstStyle/>
                    <a:p>
                      <a:pPr marL="0" marR="0">
                        <a:lnSpc>
                          <a:spcPct val="115000"/>
                        </a:lnSpc>
                        <a:spcBef>
                          <a:spcPts val="0"/>
                        </a:spcBef>
                        <a:spcAft>
                          <a:spcPts val="0"/>
                        </a:spcAft>
                      </a:pPr>
                      <a:r>
                        <a:rPr lang="en-US" sz="2000" dirty="0">
                          <a:effectLst/>
                          <a:latin typeface="Times New Roman" panose="02020603050405020304" pitchFamily="18" charset="0"/>
                        </a:rPr>
                        <a:t>Year</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2013</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2014</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2015</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2016</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2017</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2000" dirty="0">
                          <a:effectLst/>
                          <a:latin typeface="Times New Roman" panose="02020603050405020304" pitchFamily="18" charset="0"/>
                        </a:rPr>
                        <a:t>Sales of T.V. sets (in 1000)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7</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10</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12</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14</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17</a:t>
                      </a:r>
                      <a:endParaRPr lang="en-US" sz="2000" dirty="0">
                        <a:effectLst/>
                        <a:latin typeface="Times New Roman" panose="0202060305040502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latin typeface="Times New Roman" panose="02020603050405020304" pitchFamily="18" charset="0"/>
                        </a:rPr>
                        <a:t>24</a:t>
                      </a:r>
                      <a:endParaRPr lang="en-US" sz="2000" dirty="0">
                        <a:effectLst/>
                        <a:latin typeface="Times New Roman" panose="02020603050405020304" pitchFamily="18" charset="0"/>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16711532"/>
      </p:ext>
    </p:ext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76800"/>
              </a:xfrm>
            </p:spPr>
            <p:txBody>
              <a:bodyPr>
                <a:noAutofit/>
              </a:bodyPr>
              <a:lstStyle/>
              <a:p>
                <a:pPr marL="0" lvl="0" indent="0">
                  <a:buNone/>
                </a:pPr>
                <a:r>
                  <a:rPr lang="en-US" sz="2200" dirty="0"/>
                  <a:t>Q1. Which one is true</a:t>
                </a:r>
              </a:p>
              <a:p>
                <a:pPr marL="571500" lvl="0" indent="-571500">
                  <a:buFont typeface="+mj-lt"/>
                  <a:buAutoNum type="romanLcPeriod"/>
                </a:pPr>
                <a:r>
                  <a:rPr lang="en-US" sz="2200" dirty="0"/>
                  <a:t>Correlation helps to determine the validity of a  test.</a:t>
                </a:r>
              </a:p>
              <a:p>
                <a:pPr marL="571500" lvl="0" indent="-571500">
                  <a:buFont typeface="+mj-lt"/>
                  <a:buAutoNum type="romanLcPeriod"/>
                </a:pPr>
                <a:r>
                  <a:rPr lang="en-US" sz="2200" dirty="0"/>
                  <a:t>Correlation helps to determine the reliability of a  test.</a:t>
                </a:r>
              </a:p>
              <a:p>
                <a:pPr marL="571500" lvl="0" indent="-571500">
                  <a:buFont typeface="+mj-lt"/>
                  <a:buAutoNum type="romanLcPeriod"/>
                </a:pPr>
                <a:r>
                  <a:rPr lang="en-US" sz="2200" dirty="0"/>
                  <a:t>Correlation indicates the nature of the relationship  between two variables.</a:t>
                </a:r>
              </a:p>
              <a:p>
                <a:pPr marL="571500" lvl="0" indent="-571500">
                  <a:buFont typeface="+mj-lt"/>
                  <a:buAutoNum type="romanLcPeriod"/>
                </a:pPr>
                <a:r>
                  <a:rPr lang="en-US" sz="2200" dirty="0"/>
                  <a:t>All of the above</a:t>
                </a:r>
              </a:p>
              <a:p>
                <a:pPr marL="0" lvl="0" indent="0">
                  <a:buNone/>
                </a:pPr>
                <a:r>
                  <a:rPr lang="en-US" sz="2200" dirty="0"/>
                  <a:t>Q2. Which one is true</a:t>
                </a:r>
              </a:p>
              <a:p>
                <a:pPr marL="571500" lvl="0" indent="-571500">
                  <a:buFont typeface="+mj-lt"/>
                  <a:buAutoNum type="romanLcPeriod"/>
                </a:pPr>
                <a14:m>
                  <m:oMath xmlns:m="http://schemas.openxmlformats.org/officeDocument/2006/math">
                    <m:r>
                      <a:rPr lang="en-US" sz="2200" b="0" i="1">
                        <a:latin typeface="Cambria Math"/>
                      </a:rPr>
                      <m:t>𝐼𝑓</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𝑥𝑦</m:t>
                        </m:r>
                      </m:sub>
                    </m:sSub>
                    <m:r>
                      <a:rPr lang="en-US" sz="2200" b="0" i="1">
                        <a:latin typeface="Cambria Math"/>
                      </a:rPr>
                      <m:t>&gt;1, </m:t>
                    </m:r>
                    <m:r>
                      <a:rPr lang="en-US" sz="2200" b="0" i="1">
                        <a:latin typeface="Cambria Math"/>
                      </a:rPr>
                      <m:t>𝑡h𝑒𝑛</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𝑦𝑥</m:t>
                        </m:r>
                      </m:sub>
                    </m:sSub>
                    <m:r>
                      <a:rPr lang="en-US" sz="2200" b="0" i="1">
                        <a:latin typeface="Cambria Math"/>
                      </a:rPr>
                      <m:t>&lt;1.</m:t>
                    </m:r>
                  </m:oMath>
                </a14:m>
                <a:endParaRPr lang="en-US" sz="2200" dirty="0"/>
              </a:p>
              <a:p>
                <a:pPr marL="571500" lvl="0" indent="-571500">
                  <a:buFont typeface="+mj-lt"/>
                  <a:buAutoNum type="romanLcPeriod"/>
                </a:pPr>
                <a14:m>
                  <m:oMath xmlns:m="http://schemas.openxmlformats.org/officeDocument/2006/math">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𝑦𝑥</m:t>
                            </m:r>
                          </m:sub>
                        </m:sSub>
                        <m:r>
                          <a:rPr lang="en-US" sz="2200" b="0">
                            <a:latin typeface="Cambria Math"/>
                          </a:rPr>
                          <m:t>+</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𝑥𝑦</m:t>
                            </m:r>
                          </m:sub>
                        </m:sSub>
                      </m:num>
                      <m:den>
                        <m:r>
                          <a:rPr lang="en-US" sz="2200" b="0" i="1">
                            <a:latin typeface="Cambria Math"/>
                          </a:rPr>
                          <m:t>2</m:t>
                        </m:r>
                      </m:den>
                    </m:f>
                    <m:r>
                      <a:rPr lang="en-US" sz="2200" b="0" i="1">
                        <a:latin typeface="Cambria Math"/>
                      </a:rPr>
                      <m:t>&gt;</m:t>
                    </m:r>
                    <m:r>
                      <a:rPr lang="en-US" sz="2200" b="0" i="1">
                        <a:latin typeface="Cambria Math"/>
                      </a:rPr>
                      <m:t>𝑟</m:t>
                    </m:r>
                  </m:oMath>
                </a14:m>
                <a:endParaRPr lang="en-US" sz="2200" dirty="0"/>
              </a:p>
              <a:p>
                <a:pPr marL="571500" lvl="0" indent="-571500">
                  <a:buFont typeface="+mj-lt"/>
                  <a:buAutoNum type="romanLcPeriod"/>
                </a:pPr>
                <a14:m>
                  <m:oMath xmlns:m="http://schemas.openxmlformats.org/officeDocument/2006/math">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𝑦𝑥</m:t>
                            </m:r>
                          </m:sub>
                        </m:sSub>
                        <m:r>
                          <a:rPr lang="en-US" sz="2200" b="0">
                            <a:latin typeface="Cambria Math"/>
                          </a:rPr>
                          <m:t>+</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𝑥𝑦</m:t>
                            </m:r>
                          </m:sub>
                        </m:sSub>
                      </m:num>
                      <m:den>
                        <m:r>
                          <a:rPr lang="en-US" sz="2200" b="0" i="1">
                            <a:latin typeface="Cambria Math"/>
                          </a:rPr>
                          <m:t>4</m:t>
                        </m:r>
                      </m:den>
                    </m:f>
                    <m:r>
                      <a:rPr lang="en-US" sz="2200" b="0" i="1">
                        <a:latin typeface="Cambria Math"/>
                      </a:rPr>
                      <m:t>&gt;2</m:t>
                    </m:r>
                    <m:r>
                      <a:rPr lang="en-US" sz="2200" b="0" i="1">
                        <a:latin typeface="Cambria Math"/>
                      </a:rPr>
                      <m:t>𝑟</m:t>
                    </m:r>
                  </m:oMath>
                </a14:m>
                <a:endParaRPr lang="en-US" sz="2200" dirty="0"/>
              </a:p>
              <a:p>
                <a:pPr marL="571500" lvl="0" indent="-571500">
                  <a:buFont typeface="+mj-lt"/>
                  <a:buAutoNum type="romanLcPeriod"/>
                </a:pPr>
                <a14:m>
                  <m:oMath xmlns:m="http://schemas.openxmlformats.org/officeDocument/2006/math">
                    <m:r>
                      <a:rPr lang="en-US" sz="2200" b="0" i="1">
                        <a:latin typeface="Cambria Math"/>
                      </a:rPr>
                      <m:t>𝐼𝑓</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𝑦𝑥</m:t>
                        </m:r>
                      </m:sub>
                    </m:sSub>
                    <m:r>
                      <a:rPr lang="en-US" sz="2200" b="0" i="1">
                        <a:latin typeface="Cambria Math"/>
                      </a:rPr>
                      <m:t>&gt;1, </m:t>
                    </m:r>
                    <m:r>
                      <a:rPr lang="en-US" sz="2200" b="0" i="1">
                        <a:latin typeface="Cambria Math"/>
                      </a:rPr>
                      <m:t>𝑡h𝑒𝑛</m:t>
                    </m:r>
                    <m:r>
                      <a:rPr lang="en-US" sz="2200" b="0" i="1">
                        <a:latin typeface="Cambria Math"/>
                      </a:rPr>
                      <m:t> </m:t>
                    </m:r>
                    <m:sSub>
                      <m:sSubPr>
                        <m:ctrlPr>
                          <a:rPr lang="en-US" sz="2200" i="1">
                            <a:latin typeface="Cambria Math" panose="02040503050406030204" pitchFamily="18" charset="0"/>
                          </a:rPr>
                        </m:ctrlPr>
                      </m:sSubPr>
                      <m:e>
                        <m:r>
                          <a:rPr lang="en-US" sz="2200" b="0" i="1">
                            <a:latin typeface="Cambria Math"/>
                          </a:rPr>
                          <m:t>𝑏</m:t>
                        </m:r>
                      </m:e>
                      <m:sub>
                        <m:r>
                          <a:rPr lang="en-US" sz="2200" b="0" i="1">
                            <a:latin typeface="Cambria Math"/>
                          </a:rPr>
                          <m:t>𝑥𝑦</m:t>
                        </m:r>
                      </m:sub>
                    </m:sSub>
                    <m:r>
                      <a:rPr lang="en-US" sz="2200" b="0" i="1">
                        <a:latin typeface="Cambria Math"/>
                      </a:rPr>
                      <m:t>&lt;1.</m:t>
                    </m:r>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76800"/>
              </a:xfrm>
              <a:blipFill>
                <a:blip r:embed="rId2"/>
                <a:stretch>
                  <a:fillRect l="-963" t="-875" b="-100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MCQ (CO2)</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Q3. Sum of squares of items 2430, mean is 7 N=12, find the variance. </a:t>
            </a:r>
          </a:p>
          <a:p>
            <a:pPr marL="571500" lvl="0" indent="-571500">
              <a:buFont typeface="+mj-lt"/>
              <a:buAutoNum type="romanLcPeriod"/>
            </a:pPr>
            <a:r>
              <a:rPr lang="en-US" sz="2200" dirty="0"/>
              <a:t>176.5</a:t>
            </a:r>
          </a:p>
          <a:p>
            <a:pPr marL="571500" lvl="0" indent="-571500">
              <a:buFont typeface="+mj-lt"/>
              <a:buAutoNum type="romanLcPeriod"/>
            </a:pPr>
            <a:r>
              <a:rPr lang="en-US" sz="2200" dirty="0"/>
              <a:t>12.38</a:t>
            </a:r>
          </a:p>
          <a:p>
            <a:pPr marL="571500" lvl="0" indent="-571500">
              <a:buFont typeface="+mj-lt"/>
              <a:buAutoNum type="romanLcPeriod"/>
            </a:pPr>
            <a:r>
              <a:rPr lang="en-US" sz="2200" dirty="0"/>
              <a:t>153.26</a:t>
            </a:r>
          </a:p>
          <a:p>
            <a:pPr marL="571500" lvl="0" indent="-571500">
              <a:buFont typeface="+mj-lt"/>
              <a:buAutoNum type="romanLcPeriod"/>
            </a:pPr>
            <a:r>
              <a:rPr lang="en-US" sz="2200" dirty="0"/>
              <a:t>14</a:t>
            </a:r>
          </a:p>
          <a:p>
            <a:pPr marL="0" indent="0">
              <a:buNone/>
            </a:pPr>
            <a:r>
              <a:rPr lang="en-US" sz="2200" dirty="0"/>
              <a:t>Q4. Calculate the standard variation of the following </a:t>
            </a:r>
          </a:p>
          <a:p>
            <a:pPr marL="0" indent="0">
              <a:buNone/>
            </a:pPr>
            <a:r>
              <a:rPr lang="en-US" sz="2200" dirty="0"/>
              <a:t>9, 8, 6,5,8,6</a:t>
            </a:r>
          </a:p>
          <a:p>
            <a:pPr marL="571500" lvl="0" indent="-571500">
              <a:buFont typeface="+mj-lt"/>
              <a:buAutoNum type="romanLcPeriod"/>
            </a:pPr>
            <a:r>
              <a:rPr lang="en-US" sz="2200" dirty="0"/>
              <a:t>2</a:t>
            </a:r>
          </a:p>
          <a:p>
            <a:pPr marL="571500" lvl="0" indent="-571500">
              <a:buFont typeface="+mj-lt"/>
              <a:buAutoNum type="romanLcPeriod"/>
            </a:pPr>
            <a:r>
              <a:rPr lang="en-US" sz="2200" dirty="0"/>
              <a:t>3</a:t>
            </a:r>
          </a:p>
          <a:p>
            <a:pPr marL="571500" lvl="0" indent="-571500">
              <a:buFont typeface="+mj-lt"/>
              <a:buAutoNum type="romanLcPeriod"/>
            </a:pPr>
            <a:r>
              <a:rPr lang="en-US" sz="2200" dirty="0"/>
              <a:t>1.414</a:t>
            </a:r>
          </a:p>
          <a:p>
            <a:pPr marL="571500" lvl="0" indent="-571500">
              <a:buFont typeface="+mj-lt"/>
              <a:buAutoNum type="romanLcPeriod"/>
            </a:pPr>
            <a:r>
              <a:rPr lang="en-US" sz="2200" dirty="0"/>
              <a:t>2.414</a:t>
            </a:r>
          </a:p>
          <a:p>
            <a:pPr marL="0" indent="0">
              <a:buNone/>
            </a:pPr>
            <a:endParaRPr lang="en-US" sz="2200" dirty="0"/>
          </a:p>
        </p:txBody>
      </p:sp>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MCQ</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200841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81600"/>
          </a:xfrm>
        </p:spPr>
        <p:txBody>
          <a:bodyPr>
            <a:normAutofit lnSpcReduction="10000"/>
          </a:bodyPr>
          <a:lstStyle/>
          <a:p>
            <a:pPr marL="0" indent="0">
              <a:buNone/>
            </a:pPr>
            <a:r>
              <a:rPr lang="en-US" sz="2200" dirty="0"/>
              <a:t>Q 1 An in complete distribution  is given below:</a:t>
            </a:r>
          </a:p>
          <a:p>
            <a:pPr marL="0" indent="0">
              <a:buNone/>
            </a:pPr>
            <a:endParaRPr lang="en-US" sz="2200" dirty="0"/>
          </a:p>
          <a:p>
            <a:pPr marL="0" indent="0">
              <a:buNone/>
            </a:pPr>
            <a:endParaRPr lang="en-US" sz="2200" dirty="0"/>
          </a:p>
          <a:p>
            <a:pPr marL="0" indent="0">
              <a:buNone/>
            </a:pPr>
            <a:r>
              <a:rPr lang="en-US" sz="2200" dirty="0"/>
              <a:t>Given that median value is 46 and N=229</a:t>
            </a:r>
          </a:p>
          <a:p>
            <a:pPr marL="514350" indent="-514350">
              <a:buFont typeface="+mj-lt"/>
              <a:buAutoNum type="romanLcPeriod"/>
            </a:pPr>
            <a:r>
              <a:rPr lang="en-US" sz="2200" dirty="0"/>
              <a:t>X</a:t>
            </a:r>
          </a:p>
          <a:p>
            <a:pPr marL="514350" indent="-514350">
              <a:buFont typeface="+mj-lt"/>
              <a:buAutoNum type="romanLcPeriod"/>
            </a:pPr>
            <a:r>
              <a:rPr lang="en-US" sz="2200" dirty="0"/>
              <a:t>Y</a:t>
            </a:r>
          </a:p>
          <a:p>
            <a:pPr marL="514350" indent="-514350">
              <a:buFont typeface="+mj-lt"/>
              <a:buAutoNum type="romanLcPeriod"/>
            </a:pPr>
            <a:r>
              <a:rPr lang="en-US" sz="2200" dirty="0"/>
              <a:t>Mean</a:t>
            </a:r>
          </a:p>
          <a:p>
            <a:pPr marL="514350" indent="-514350">
              <a:buFont typeface="+mj-lt"/>
              <a:buAutoNum type="romanLcPeriod"/>
            </a:pPr>
            <a:r>
              <a:rPr lang="en-US" sz="2200" dirty="0"/>
              <a:t>Mode</a:t>
            </a:r>
          </a:p>
          <a:p>
            <a:pPr marL="0" indent="0">
              <a:buNone/>
            </a:pPr>
            <a:r>
              <a:rPr lang="en-US" sz="2200" dirty="0"/>
              <a:t>Pick the correct option from glossary</a:t>
            </a:r>
          </a:p>
          <a:p>
            <a:pPr marL="457200" indent="-457200">
              <a:buFont typeface="+mj-lt"/>
              <a:buAutoNum type="alphaLcPeriod"/>
            </a:pPr>
            <a:r>
              <a:rPr lang="en-US" sz="2200" dirty="0"/>
              <a:t>45.82</a:t>
            </a:r>
          </a:p>
          <a:p>
            <a:pPr marL="457200" indent="-457200">
              <a:buFont typeface="+mj-lt"/>
              <a:buAutoNum type="alphaLcPeriod"/>
            </a:pPr>
            <a:r>
              <a:rPr lang="en-US" sz="2200" dirty="0"/>
              <a:t>33.5</a:t>
            </a:r>
          </a:p>
          <a:p>
            <a:pPr marL="457200" indent="-457200">
              <a:buFont typeface="+mj-lt"/>
              <a:buAutoNum type="alphaLcPeriod"/>
            </a:pPr>
            <a:r>
              <a:rPr lang="en-US" sz="2200" dirty="0"/>
              <a:t>46.07</a:t>
            </a:r>
          </a:p>
          <a:p>
            <a:pPr marL="457200" indent="-457200">
              <a:buFont typeface="+mj-lt"/>
              <a:buAutoNum type="alphaLcPeriod"/>
            </a:pPr>
            <a:r>
              <a:rPr lang="en-US" sz="2200" dirty="0"/>
              <a:t>45</a:t>
            </a:r>
          </a:p>
        </p:txBody>
      </p:sp>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Glossary </a:t>
            </a:r>
            <a:r>
              <a:rPr lang="en-US" sz="2400" b="1" dirty="0">
                <a:latin typeface="Times New Roman" panose="02020603050405020304" pitchFamily="18" charset="0"/>
              </a:rPr>
              <a:t>(CO2)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3464396321"/>
              </p:ext>
            </p:extLst>
          </p:nvPr>
        </p:nvGraphicFramePr>
        <p:xfrm>
          <a:off x="762000" y="1524000"/>
          <a:ext cx="6096000" cy="7416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r>
                        <a:rPr lang="en-US" dirty="0">
                          <a:latin typeface="Times New Roman" panose="02020603050405020304" pitchFamily="18" charset="0"/>
                        </a:rPr>
                        <a:t>x</a:t>
                      </a:r>
                    </a:p>
                  </a:txBody>
                  <a:tcPr/>
                </a:tc>
                <a:tc>
                  <a:txBody>
                    <a:bodyPr/>
                    <a:lstStyle/>
                    <a:p>
                      <a:r>
                        <a:rPr lang="en-US" dirty="0">
                          <a:latin typeface="Times New Roman" panose="02020603050405020304" pitchFamily="18" charset="0"/>
                        </a:rPr>
                        <a:t>10-20</a:t>
                      </a:r>
                    </a:p>
                  </a:txBody>
                  <a:tcPr/>
                </a:tc>
                <a:tc>
                  <a:txBody>
                    <a:bodyPr/>
                    <a:lstStyle/>
                    <a:p>
                      <a:r>
                        <a:rPr lang="en-US" dirty="0">
                          <a:latin typeface="Times New Roman" panose="02020603050405020304" pitchFamily="18" charset="0"/>
                        </a:rPr>
                        <a:t>20-30</a:t>
                      </a:r>
                    </a:p>
                  </a:txBody>
                  <a:tcPr/>
                </a:tc>
                <a:tc>
                  <a:txBody>
                    <a:bodyPr/>
                    <a:lstStyle/>
                    <a:p>
                      <a:r>
                        <a:rPr lang="en-US" dirty="0">
                          <a:latin typeface="Times New Roman" panose="02020603050405020304" pitchFamily="18" charset="0"/>
                        </a:rPr>
                        <a:t>30-40</a:t>
                      </a:r>
                    </a:p>
                  </a:txBody>
                  <a:tcPr/>
                </a:tc>
                <a:tc>
                  <a:txBody>
                    <a:bodyPr/>
                    <a:lstStyle/>
                    <a:p>
                      <a:r>
                        <a:rPr lang="en-US" dirty="0">
                          <a:latin typeface="Times New Roman" panose="02020603050405020304" pitchFamily="18" charset="0"/>
                        </a:rPr>
                        <a:t>40-50</a:t>
                      </a:r>
                    </a:p>
                  </a:txBody>
                  <a:tcPr/>
                </a:tc>
                <a:tc>
                  <a:txBody>
                    <a:bodyPr/>
                    <a:lstStyle/>
                    <a:p>
                      <a:r>
                        <a:rPr lang="en-US" dirty="0">
                          <a:latin typeface="Times New Roman" panose="02020603050405020304" pitchFamily="18" charset="0"/>
                        </a:rPr>
                        <a:t>50-60</a:t>
                      </a:r>
                    </a:p>
                  </a:txBody>
                  <a:tcPr/>
                </a:tc>
                <a:tc>
                  <a:txBody>
                    <a:bodyPr/>
                    <a:lstStyle/>
                    <a:p>
                      <a:r>
                        <a:rPr lang="en-US" dirty="0">
                          <a:latin typeface="Times New Roman" panose="02020603050405020304" pitchFamily="18" charset="0"/>
                        </a:rPr>
                        <a:t>60-70</a:t>
                      </a:r>
                    </a:p>
                  </a:txBody>
                  <a:tcPr/>
                </a:tc>
                <a:tc>
                  <a:txBody>
                    <a:bodyPr/>
                    <a:lstStyle/>
                    <a:p>
                      <a:r>
                        <a:rPr lang="en-US" dirty="0">
                          <a:latin typeface="Times New Roman" panose="02020603050405020304" pitchFamily="18" charset="0"/>
                        </a:rPr>
                        <a:t>70-80</a:t>
                      </a:r>
                    </a:p>
                  </a:txBody>
                  <a:tcP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rPr>
                        <a:t>f</a:t>
                      </a:r>
                    </a:p>
                  </a:txBody>
                  <a:tcPr/>
                </a:tc>
                <a:tc>
                  <a:txBody>
                    <a:bodyPr/>
                    <a:lstStyle/>
                    <a:p>
                      <a:r>
                        <a:rPr lang="en-US" dirty="0">
                          <a:latin typeface="Times New Roman" panose="02020603050405020304" pitchFamily="18" charset="0"/>
                        </a:rPr>
                        <a:t>12</a:t>
                      </a:r>
                    </a:p>
                  </a:txBody>
                  <a:tcPr/>
                </a:tc>
                <a:tc>
                  <a:txBody>
                    <a:bodyPr/>
                    <a:lstStyle/>
                    <a:p>
                      <a:r>
                        <a:rPr lang="en-US" dirty="0">
                          <a:latin typeface="Times New Roman" panose="02020603050405020304" pitchFamily="18" charset="0"/>
                        </a:rPr>
                        <a:t>30</a:t>
                      </a:r>
                    </a:p>
                  </a:txBody>
                  <a:tcPr/>
                </a:tc>
                <a:tc>
                  <a:txBody>
                    <a:bodyPr/>
                    <a:lstStyle/>
                    <a:p>
                      <a:r>
                        <a:rPr lang="en-US" dirty="0">
                          <a:latin typeface="Times New Roman" panose="02020603050405020304" pitchFamily="18" charset="0"/>
                        </a:rPr>
                        <a:t>X</a:t>
                      </a:r>
                    </a:p>
                  </a:txBody>
                  <a:tcPr/>
                </a:tc>
                <a:tc>
                  <a:txBody>
                    <a:bodyPr/>
                    <a:lstStyle/>
                    <a:p>
                      <a:r>
                        <a:rPr lang="en-US" dirty="0">
                          <a:latin typeface="Times New Roman" panose="02020603050405020304" pitchFamily="18" charset="0"/>
                        </a:rPr>
                        <a:t>65</a:t>
                      </a:r>
                    </a:p>
                  </a:txBody>
                  <a:tcPr/>
                </a:tc>
                <a:tc>
                  <a:txBody>
                    <a:bodyPr/>
                    <a:lstStyle/>
                    <a:p>
                      <a:r>
                        <a:rPr lang="en-US" dirty="0">
                          <a:latin typeface="Times New Roman" panose="02020603050405020304" pitchFamily="18" charset="0"/>
                        </a:rPr>
                        <a:t>Y</a:t>
                      </a:r>
                    </a:p>
                  </a:txBody>
                  <a:tcPr/>
                </a:tc>
                <a:tc>
                  <a:txBody>
                    <a:bodyPr/>
                    <a:lstStyle/>
                    <a:p>
                      <a:r>
                        <a:rPr lang="en-US" dirty="0">
                          <a:latin typeface="Times New Roman" panose="02020603050405020304" pitchFamily="18" charset="0"/>
                        </a:rPr>
                        <a:t>25</a:t>
                      </a:r>
                    </a:p>
                  </a:txBody>
                  <a:tcPr/>
                </a:tc>
                <a:tc>
                  <a:txBody>
                    <a:bodyPr/>
                    <a:lstStyle/>
                    <a:p>
                      <a:r>
                        <a:rPr lang="en-US" dirty="0">
                          <a:latin typeface="Times New Roman" panose="02020603050405020304" pitchFamily="18" charset="0"/>
                        </a:rPr>
                        <a:t>18</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901055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Q2. For the following:</a:t>
                </a:r>
              </a:p>
              <a:p>
                <a:pPr marL="514350" indent="-514350">
                  <a:buFont typeface="+mj-lt"/>
                  <a:buAutoNum type="romanLcPeriod"/>
                </a:pPr>
                <a:r>
                  <a:rPr lang="en-US" sz="2200" dirty="0"/>
                  <a:t>Equation of line y on x</a:t>
                </a:r>
              </a:p>
              <a:p>
                <a:pPr marL="514350" indent="-514350">
                  <a:buFont typeface="+mj-lt"/>
                  <a:buAutoNum type="romanLcPeriod"/>
                </a:pPr>
                <a:r>
                  <a:rPr lang="en-US" sz="2200" dirty="0"/>
                  <a:t>Regression coefficient x on y</a:t>
                </a:r>
              </a:p>
              <a:p>
                <a:pPr marL="514350" indent="-514350">
                  <a:buFont typeface="+mj-lt"/>
                  <a:buAutoNum type="romanLcPeriod"/>
                </a:pPr>
                <a:r>
                  <a:rPr lang="en-US" sz="2200" dirty="0"/>
                  <a:t>Correlation coefficient </a:t>
                </a:r>
              </a:p>
              <a:p>
                <a:pPr marL="514350" indent="-514350">
                  <a:buFont typeface="+mj-lt"/>
                  <a:buAutoNum type="romanLcPeriod"/>
                </a:pPr>
                <a:r>
                  <a:rPr lang="en-US" sz="2200" dirty="0"/>
                  <a:t> Equation of line x on y</a:t>
                </a:r>
              </a:p>
              <a:p>
                <a:pPr marL="0" indent="0">
                  <a:buNone/>
                </a:pPr>
                <a:r>
                  <a:rPr lang="en-US" sz="2200" dirty="0"/>
                  <a:t>Pick the correct option from glossary</a:t>
                </a:r>
              </a:p>
              <a:p>
                <a:pPr marL="457200" indent="-457200">
                  <a:buFont typeface="+mj-lt"/>
                  <a:buAutoNum type="alphaLcPeriod"/>
                </a:pPr>
                <a14:m>
                  <m:oMath xmlns:m="http://schemas.openxmlformats.org/officeDocument/2006/math">
                    <m:d>
                      <m:dPr>
                        <m:ctrlPr>
                          <a:rPr lang="en-US" sz="2200" i="1" smtClean="0">
                            <a:latin typeface="Cambria Math" panose="02040503050406030204" pitchFamily="18" charset="0"/>
                          </a:rPr>
                        </m:ctrlPr>
                      </m:dPr>
                      <m:e>
                        <m:r>
                          <a:rPr lang="en-US" sz="2200" b="0" i="1" smtClean="0">
                            <a:latin typeface="Cambria Math"/>
                          </a:rPr>
                          <m:t>𝑥</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𝑥</m:t>
                            </m:r>
                          </m:e>
                        </m:acc>
                      </m:e>
                    </m:d>
                    <m:r>
                      <a:rPr lang="en-US" sz="2200" b="0" i="1" smtClean="0">
                        <a:latin typeface="Cambria Math"/>
                      </a:rPr>
                      <m:t>=</m:t>
                    </m:r>
                    <m:sSub>
                      <m:sSubPr>
                        <m:ctrlPr>
                          <a:rPr lang="en-US" sz="2200" b="0" i="1" smtClean="0">
                            <a:latin typeface="Cambria Math" panose="02040503050406030204" pitchFamily="18" charset="0"/>
                          </a:rPr>
                        </m:ctrlPr>
                      </m:sSubPr>
                      <m:e>
                        <m:r>
                          <a:rPr lang="en-US" sz="2200" b="0" i="1" smtClean="0">
                            <a:latin typeface="Cambria Math"/>
                          </a:rPr>
                          <m:t>𝑏</m:t>
                        </m:r>
                      </m:e>
                      <m:sub>
                        <m:r>
                          <a:rPr lang="en-US" sz="2200" b="0" i="1" smtClean="0">
                            <a:latin typeface="Cambria Math"/>
                          </a:rPr>
                          <m:t>𝑥𝑦</m:t>
                        </m:r>
                      </m:sub>
                    </m:sSub>
                    <m:d>
                      <m:dPr>
                        <m:ctrlPr>
                          <a:rPr lang="en-US" sz="2200" b="0" i="1" smtClean="0">
                            <a:latin typeface="Cambria Math" panose="02040503050406030204" pitchFamily="18" charset="0"/>
                          </a:rPr>
                        </m:ctrlPr>
                      </m:dPr>
                      <m:e>
                        <m:r>
                          <a:rPr lang="en-US" sz="2200" b="0" i="1" smtClean="0">
                            <a:latin typeface="Cambria Math"/>
                          </a:rPr>
                          <m:t>𝑦</m:t>
                        </m:r>
                        <m:r>
                          <a:rPr lang="en-US" sz="2200" b="0" i="1" smtClean="0">
                            <a:latin typeface="Cambria Math"/>
                          </a:rPr>
                          <m:t>−</m:t>
                        </m:r>
                        <m:acc>
                          <m:accPr>
                            <m:chr m:val="̅"/>
                            <m:ctrlPr>
                              <a:rPr lang="en-US" sz="2200" b="0" i="1" smtClean="0">
                                <a:latin typeface="Cambria Math" panose="02040503050406030204" pitchFamily="18" charset="0"/>
                              </a:rPr>
                            </m:ctrlPr>
                          </m:accPr>
                          <m:e>
                            <m:r>
                              <a:rPr lang="en-US" sz="2200" b="0" i="1" smtClean="0">
                                <a:latin typeface="Cambria Math"/>
                              </a:rPr>
                              <m:t>𝑦</m:t>
                            </m:r>
                          </m:e>
                        </m:acc>
                      </m:e>
                    </m:d>
                  </m:oMath>
                </a14:m>
                <a:endParaRPr lang="en-US" sz="2200" dirty="0"/>
              </a:p>
              <a:p>
                <a:pPr marL="457200" indent="-457200">
                  <a:buFont typeface="+mj-lt"/>
                  <a:buAutoNum type="alphaLcPeriod"/>
                </a:pPr>
                <a:r>
                  <a:rPr lang="en-US" sz="2200" dirty="0"/>
                  <a:t>r(</a:t>
                </a:r>
                <a:r>
                  <a:rPr lang="en-US" sz="2200" dirty="0" err="1"/>
                  <a:t>x,y</a:t>
                </a:r>
                <a:r>
                  <a:rPr lang="en-US" sz="2200" dirty="0"/>
                  <a:t>)</a:t>
                </a:r>
              </a:p>
              <a:p>
                <a:pPr marL="457200" indent="-457200">
                  <a:buFont typeface="+mj-lt"/>
                  <a:buAutoNum type="alphaLcPeriod"/>
                </a:pPr>
                <a14:m>
                  <m:oMath xmlns:m="http://schemas.openxmlformats.org/officeDocument/2006/math">
                    <m:d>
                      <m:dPr>
                        <m:ctrlPr>
                          <a:rPr lang="en-US" sz="2200" i="1">
                            <a:latin typeface="Cambria Math" panose="02040503050406030204" pitchFamily="18" charset="0"/>
                          </a:rPr>
                        </m:ctrlPr>
                      </m:dPr>
                      <m:e>
                        <m:r>
                          <a:rPr lang="en-US" sz="2200" i="1">
                            <a:latin typeface="Cambria Math"/>
                          </a:rPr>
                          <m:t>𝑦</m:t>
                        </m:r>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𝑦</m:t>
                            </m:r>
                          </m:e>
                        </m:acc>
                      </m:e>
                    </m:d>
                    <m:r>
                      <a:rPr lang="en-US" sz="2200" b="0" i="1" smtClean="0">
                        <a:latin typeface="Cambria Math"/>
                      </a:rPr>
                      <m:t>=</m:t>
                    </m:r>
                    <m:sSub>
                      <m:sSubPr>
                        <m:ctrlPr>
                          <a:rPr lang="en-US" sz="2200" i="1">
                            <a:latin typeface="Cambria Math" panose="02040503050406030204" pitchFamily="18" charset="0"/>
                          </a:rPr>
                        </m:ctrlPr>
                      </m:sSubPr>
                      <m:e>
                        <m:r>
                          <a:rPr lang="en-US" sz="2200" i="1">
                            <a:latin typeface="Cambria Math"/>
                          </a:rPr>
                          <m:t>𝑏</m:t>
                        </m:r>
                      </m:e>
                      <m:sub>
                        <m:r>
                          <a:rPr lang="en-US" sz="2200" i="1">
                            <a:latin typeface="Cambria Math"/>
                          </a:rPr>
                          <m:t>𝑦𝑥</m:t>
                        </m:r>
                      </m:sub>
                    </m:sSub>
                    <m:d>
                      <m:dPr>
                        <m:ctrlPr>
                          <a:rPr lang="en-US" sz="2200" i="1">
                            <a:latin typeface="Cambria Math" panose="02040503050406030204" pitchFamily="18" charset="0"/>
                          </a:rPr>
                        </m:ctrlPr>
                      </m:dPr>
                      <m:e>
                        <m:r>
                          <a:rPr lang="en-US" sz="2200" i="1">
                            <a:latin typeface="Cambria Math"/>
                          </a:rPr>
                          <m:t>𝑥</m:t>
                        </m:r>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e>
                    </m:d>
                  </m:oMath>
                </a14:m>
                <a:endParaRPr lang="en-US" sz="2200" dirty="0"/>
              </a:p>
              <a:p>
                <a:pPr marL="457200" indent="-457200">
                  <a:buFont typeface="+mj-lt"/>
                  <a:buAutoNum type="alphaLcPeriod"/>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𝑏</m:t>
                        </m:r>
                      </m:e>
                      <m:sub>
                        <m:r>
                          <a:rPr lang="en-US" sz="2200" b="0" i="1" smtClean="0">
                            <a:latin typeface="Cambria Math"/>
                          </a:rPr>
                          <m:t>𝑥</m:t>
                        </m:r>
                        <m:r>
                          <a:rPr lang="en-US" sz="2200" i="1">
                            <a:latin typeface="Cambria Math"/>
                          </a:rPr>
                          <m:t>𝑦</m:t>
                        </m:r>
                      </m:sub>
                    </m:sSub>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Glossary (CO2)</a:t>
            </a:r>
          </a:p>
        </p:txBody>
      </p:sp>
    </p:spTree>
    <p:extLst>
      <p:ext uri="{BB962C8B-B14F-4D97-AF65-F5344CB8AC3E}">
        <p14:creationId xmlns:p14="http://schemas.microsoft.com/office/powerpoint/2010/main" val="1506140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Question Papers</a:t>
            </a:r>
            <a:r>
              <a:rPr lang="en-US" sz="2400" b="1" dirty="0">
                <a:latin typeface="Times New Roman" panose="02020603050405020304" pitchFamily="18" charset="0"/>
              </a:rPr>
              <a:t>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DB46EDC8-9A19-4821-9AA0-545F66EE0A52}"/>
              </a:ext>
            </a:extLst>
          </p:cNvPr>
          <p:cNvSpPr>
            <a:spLocks noGrp="1"/>
          </p:cNvSpPr>
          <p:nvPr>
            <p:ph idx="1"/>
          </p:nvPr>
        </p:nvSpPr>
        <p:spPr>
          <a:xfrm>
            <a:off x="457200" y="1169482"/>
            <a:ext cx="8229600" cy="4519036"/>
          </a:xfrm>
        </p:spPr>
        <p:txBody>
          <a:bodyPr>
            <a:normAutofit/>
          </a:bodyPr>
          <a:lstStyle/>
          <a:p>
            <a:pPr marL="0" indent="0">
              <a:buNone/>
            </a:pPr>
            <a:r>
              <a:rPr lang="en-US" sz="2000" dirty="0">
                <a:hlinkClick r:id="rId2"/>
              </a:rPr>
              <a:t>First Sessional Set-1 (CSE,IT,CS,ECE,IOT).docx</a:t>
            </a:r>
            <a:endParaRPr lang="en-US" sz="2000" dirty="0"/>
          </a:p>
          <a:p>
            <a:pPr marL="0" indent="0">
              <a:buNone/>
            </a:pPr>
            <a:r>
              <a:rPr lang="en-US" sz="2000" dirty="0">
                <a:hlinkClick r:id="rId3"/>
              </a:rPr>
              <a:t>Second Sessional Set-2 (CSE,IT,CS,ECE,IOT).docx</a:t>
            </a:r>
            <a:endParaRPr lang="en-US" sz="2000" dirty="0"/>
          </a:p>
          <a:p>
            <a:pPr marL="0" indent="0">
              <a:buNone/>
            </a:pPr>
            <a:r>
              <a:rPr lang="en-IN" sz="2000" dirty="0">
                <a:hlinkClick r:id="rId4"/>
              </a:rPr>
              <a:t>Maths IV PUT.docx</a:t>
            </a:r>
            <a:endParaRPr lang="en-IN" sz="2000" dirty="0"/>
          </a:p>
          <a:p>
            <a:pPr marL="0" indent="0">
              <a:buNone/>
            </a:pPr>
            <a:r>
              <a:rPr lang="en-IN" sz="2000" dirty="0">
                <a:hlinkClick r:id="rId5"/>
              </a:rPr>
              <a:t>Maths IV final paper_2022.pdf</a:t>
            </a:r>
            <a:endParaRPr lang="en-IN" sz="2000" dirty="0"/>
          </a:p>
        </p:txBody>
      </p:sp>
    </p:spTree>
    <p:extLst>
      <p:ext uri="{BB962C8B-B14F-4D97-AF65-F5344CB8AC3E}">
        <p14:creationId xmlns:p14="http://schemas.microsoft.com/office/powerpoint/2010/main" val="2163336516"/>
      </p:ext>
    </p:ext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953000"/>
              </a:xfrm>
            </p:spPr>
            <p:txBody>
              <a:bodyPr>
                <a:noAutofit/>
              </a:bodyPr>
              <a:lstStyle/>
              <a:p>
                <a:pPr marL="0" lvl="0" indent="0">
                  <a:buNone/>
                </a:pPr>
                <a:r>
                  <a:rPr lang="en-US" sz="2000" dirty="0"/>
                  <a:t>Q1 Obtain normal equation by method of least square to the curve </a:t>
                </a:r>
                <a14:m>
                  <m:oMath xmlns:m="http://schemas.openxmlformats.org/officeDocument/2006/math">
                    <m:r>
                      <a:rPr lang="en-US" sz="2000" i="1">
                        <a:latin typeface="Cambria Math"/>
                      </a:rPr>
                      <m:t>𝑦</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𝑐</m:t>
                        </m:r>
                      </m:e>
                      <m:sub>
                        <m:r>
                          <a:rPr lang="en-US" sz="2000" i="1">
                            <a:latin typeface="Cambria Math"/>
                          </a:rPr>
                          <m:t>0</m:t>
                        </m:r>
                      </m:sub>
                    </m:sSub>
                    <m:r>
                      <a:rPr lang="en-US" sz="2000" i="1">
                        <a:latin typeface="Cambria Math"/>
                      </a:rPr>
                      <m:t>𝑥</m:t>
                    </m:r>
                    <m:r>
                      <a:rPr lang="en-US" sz="2000" i="1">
                        <a:latin typeface="Cambria Math"/>
                      </a:rPr>
                      <m:t>+</m:t>
                    </m:r>
                    <m:f>
                      <m:fPr>
                        <m:ctrlPr>
                          <a:rPr lang="en-US" sz="2000" i="1">
                            <a:latin typeface="Cambria Math" panose="02040503050406030204" pitchFamily="18" charset="0"/>
                          </a:rPr>
                        </m:ctrlPr>
                      </m:fPr>
                      <m:num>
                        <m:r>
                          <a:rPr lang="en-US" sz="2000" i="1">
                            <a:latin typeface="Cambria Math"/>
                          </a:rPr>
                          <m:t> </m:t>
                        </m:r>
                        <m:sSub>
                          <m:sSubPr>
                            <m:ctrlPr>
                              <a:rPr lang="en-US" sz="2000" i="1">
                                <a:latin typeface="Cambria Math" panose="02040503050406030204" pitchFamily="18" charset="0"/>
                              </a:rPr>
                            </m:ctrlPr>
                          </m:sSubPr>
                          <m:e>
                            <m:r>
                              <a:rPr lang="en-US" sz="2000" i="1">
                                <a:latin typeface="Cambria Math"/>
                              </a:rPr>
                              <m:t>𝑐</m:t>
                            </m:r>
                          </m:e>
                          <m:sub>
                            <m:r>
                              <a:rPr lang="en-US" sz="2000" i="1">
                                <a:latin typeface="Cambria Math"/>
                              </a:rPr>
                              <m:t>1</m:t>
                            </m:r>
                          </m:sub>
                        </m:sSub>
                      </m:num>
                      <m:den>
                        <m:rad>
                          <m:radPr>
                            <m:degHide m:val="on"/>
                            <m:ctrlPr>
                              <a:rPr lang="en-US" sz="2000" i="1">
                                <a:latin typeface="Cambria Math" panose="02040503050406030204" pitchFamily="18" charset="0"/>
                              </a:rPr>
                            </m:ctrlPr>
                          </m:radPr>
                          <m:deg/>
                          <m:e>
                            <m:r>
                              <a:rPr lang="en-US" sz="2000" i="1">
                                <a:latin typeface="Cambria Math"/>
                              </a:rPr>
                              <m:t>𝑥</m:t>
                            </m:r>
                          </m:e>
                        </m:rad>
                      </m:den>
                    </m:f>
                    <m:r>
                      <a:rPr lang="en-US" sz="2000" i="1">
                        <a:latin typeface="Cambria Math"/>
                      </a:rPr>
                      <m:t> </m:t>
                    </m:r>
                  </m:oMath>
                </a14:m>
                <a:r>
                  <a:rPr lang="en-US" sz="2000" dirty="0"/>
                  <a:t>.Fit it to the following data:</a:t>
                </a:r>
              </a:p>
              <a:p>
                <a:pPr marL="0" lvl="0" indent="0">
                  <a:buNone/>
                </a:pPr>
                <a:endParaRPr lang="en-US" sz="2000" dirty="0"/>
              </a:p>
              <a:p>
                <a:pPr marL="0" lvl="0" indent="0">
                  <a:buNone/>
                </a:pPr>
                <a:endParaRPr lang="en-US" sz="2000" dirty="0"/>
              </a:p>
              <a:p>
                <a:pPr marL="0" indent="0">
                  <a:buNone/>
                </a:pPr>
                <a:r>
                  <a:rPr lang="en-US" sz="2000" dirty="0"/>
                  <a:t>Q2. Find the multiple linear regressions of </a:t>
                </a:r>
                <a14:m>
                  <m:oMath xmlns:m="http://schemas.openxmlformats.org/officeDocument/2006/math">
                    <m:r>
                      <a:rPr lang="en-US" sz="2000" i="1">
                        <a:latin typeface="Cambria Math"/>
                      </a:rPr>
                      <m:t>𝑥</m:t>
                    </m:r>
                  </m:oMath>
                </a14:m>
                <a:r>
                  <a:rPr lang="en-US" sz="2000" dirty="0"/>
                  <a:t> on </a:t>
                </a:r>
                <a14:m>
                  <m:oMath xmlns:m="http://schemas.openxmlformats.org/officeDocument/2006/math">
                    <m:r>
                      <a:rPr lang="en-US" sz="2000" i="1">
                        <a:latin typeface="Cambria Math"/>
                      </a:rPr>
                      <m:t>𝑦</m:t>
                    </m:r>
                  </m:oMath>
                </a14:m>
                <a:r>
                  <a:rPr lang="en-US" sz="2000" dirty="0"/>
                  <a:t> and </a:t>
                </a:r>
                <a14:m>
                  <m:oMath xmlns:m="http://schemas.openxmlformats.org/officeDocument/2006/math">
                    <m:r>
                      <a:rPr lang="en-US" sz="2000" i="1">
                        <a:latin typeface="Cambria Math"/>
                      </a:rPr>
                      <m:t>𝑧</m:t>
                    </m:r>
                  </m:oMath>
                </a14:m>
                <a:r>
                  <a:rPr lang="en-US" sz="2000" dirty="0"/>
                  <a:t> from the data relating to three variables:</a:t>
                </a:r>
              </a:p>
              <a:p>
                <a:pPr marL="0" indent="0">
                  <a:buNone/>
                </a:pPr>
                <a:endParaRPr lang="en-US" sz="2000" dirty="0"/>
              </a:p>
              <a:p>
                <a:pPr marL="0" indent="0">
                  <a:buNone/>
                </a:pPr>
                <a:endParaRPr lang="en-US" sz="2000" dirty="0"/>
              </a:p>
              <a:p>
                <a:pPr marL="0" lvl="0" indent="0">
                  <a:buNone/>
                </a:pPr>
                <a:r>
                  <a:rPr lang="en-US" sz="2000" dirty="0"/>
                  <a:t>Q3. If </a:t>
                </a:r>
                <a14:m>
                  <m:oMath xmlns:m="http://schemas.openxmlformats.org/officeDocument/2006/math">
                    <m:r>
                      <a:rPr lang="en-US" sz="2000" i="1">
                        <a:latin typeface="Cambria Math"/>
                      </a:rPr>
                      <m:t>𝜃</m:t>
                    </m:r>
                  </m:oMath>
                </a14:m>
                <a:r>
                  <a:rPr lang="en-US" sz="2000" dirty="0"/>
                  <a:t> is the angle between the two line of </a:t>
                </a:r>
                <a:r>
                  <a:rPr lang="en-US" sz="2000" dirty="0" err="1"/>
                  <a:t>regression.then</a:t>
                </a:r>
                <a:r>
                  <a:rPr lang="en-US" sz="2000" dirty="0"/>
                  <a:t> express </a:t>
                </a:r>
                <a14:m>
                  <m:oMath xmlns:m="http://schemas.openxmlformats.org/officeDocument/2006/math">
                    <m:func>
                      <m:funcPr>
                        <m:ctrlPr>
                          <a:rPr lang="en-US" sz="2000" i="1">
                            <a:latin typeface="Cambria Math" panose="02040503050406030204" pitchFamily="18" charset="0"/>
                          </a:rPr>
                        </m:ctrlPr>
                      </m:funcPr>
                      <m:fName>
                        <m:r>
                          <m:rPr>
                            <m:sty m:val="p"/>
                          </m:rPr>
                          <a:rPr lang="en-US" sz="2000">
                            <a:latin typeface="Cambria Math"/>
                          </a:rPr>
                          <m:t>tan</m:t>
                        </m:r>
                      </m:fName>
                      <m:e>
                        <m:r>
                          <a:rPr lang="en-US" sz="2000" i="1">
                            <a:latin typeface="Cambria Math"/>
                          </a:rPr>
                          <m:t>𝜃</m:t>
                        </m:r>
                      </m:e>
                    </m:func>
                  </m:oMath>
                </a14:m>
                <a:r>
                  <a:rPr lang="en-US" sz="2000" dirty="0"/>
                  <a:t> in terms of correlation coefficient</a:t>
                </a:r>
                <a14:m>
                  <m:oMath xmlns:m="http://schemas.openxmlformats.org/officeDocument/2006/math">
                    <m:r>
                      <a:rPr lang="en-US" sz="2000" i="1">
                        <a:latin typeface="Cambria Math"/>
                      </a:rPr>
                      <m:t>(</m:t>
                    </m:r>
                    <m:r>
                      <a:rPr lang="en-US" sz="2000" i="1">
                        <a:latin typeface="Cambria Math"/>
                      </a:rPr>
                      <m:t>𝑟</m:t>
                    </m:r>
                    <m:r>
                      <a:rPr lang="en-US" sz="2000" i="1">
                        <a:latin typeface="Cambria Math"/>
                      </a:rPr>
                      <m:t>)</m:t>
                    </m:r>
                  </m:oMath>
                </a14:m>
                <a:r>
                  <a:rPr lang="en-US" sz="2000" dirty="0"/>
                  <a:t>. Explain the significance when </a:t>
                </a:r>
                <a14:m>
                  <m:oMath xmlns:m="http://schemas.openxmlformats.org/officeDocument/2006/math">
                    <m:r>
                      <a:rPr lang="en-US" sz="2000" i="1">
                        <a:latin typeface="Cambria Math"/>
                      </a:rPr>
                      <m:t> </m:t>
                    </m:r>
                    <m:r>
                      <a:rPr lang="en-US" sz="2000" i="1">
                        <a:latin typeface="Cambria Math"/>
                      </a:rPr>
                      <m:t>𝑟</m:t>
                    </m:r>
                    <m:r>
                      <a:rPr lang="en-US" sz="2000" i="1">
                        <a:latin typeface="Cambria Math"/>
                      </a:rPr>
                      <m:t>=0</m:t>
                    </m:r>
                  </m:oMath>
                </a14:m>
                <a:r>
                  <a:rPr lang="en-US" sz="2000" dirty="0"/>
                  <a:t> and </a:t>
                </a:r>
                <a14:m>
                  <m:oMath xmlns:m="http://schemas.openxmlformats.org/officeDocument/2006/math">
                    <m:r>
                      <a:rPr lang="en-US" sz="2000" i="1">
                        <a:latin typeface="Cambria Math"/>
                      </a:rPr>
                      <m:t>𝑟</m:t>
                    </m:r>
                    <m:r>
                      <a:rPr lang="en-US" sz="2000" i="1">
                        <a:latin typeface="Cambria Math"/>
                      </a:rPr>
                      <m:t>=±1.</m:t>
                    </m:r>
                  </m:oMath>
                </a14:m>
                <a:endParaRPr lang="en-US" sz="2000" dirty="0"/>
              </a:p>
              <a:p>
                <a:pPr marL="0" indent="0">
                  <a:buNone/>
                </a:pPr>
                <a:r>
                  <a:rPr lang="en-US" sz="2000" dirty="0"/>
                  <a:t> Q4. Two lines of regression are given by   </a:t>
                </a:r>
                <a14:m>
                  <m:oMath xmlns:m="http://schemas.openxmlformats.org/officeDocument/2006/math">
                    <m:r>
                      <a:rPr lang="en-US" sz="2000" i="1">
                        <a:latin typeface="Cambria Math"/>
                      </a:rPr>
                      <m:t>7</m:t>
                    </m:r>
                    <m:r>
                      <a:rPr lang="en-US" sz="2000" i="1">
                        <a:latin typeface="Cambria Math"/>
                      </a:rPr>
                      <m:t>𝑥</m:t>
                    </m:r>
                    <m:r>
                      <a:rPr lang="en-US" sz="2000" i="1">
                        <a:latin typeface="Cambria Math"/>
                      </a:rPr>
                      <m:t>−16</m:t>
                    </m:r>
                    <m:r>
                      <a:rPr lang="en-US" sz="2000" i="1">
                        <a:latin typeface="Cambria Math"/>
                      </a:rPr>
                      <m:t>𝑦</m:t>
                    </m:r>
                    <m:r>
                      <a:rPr lang="en-US" sz="2000" i="1">
                        <a:latin typeface="Cambria Math"/>
                      </a:rPr>
                      <m:t>+9=0 </m:t>
                    </m:r>
                  </m:oMath>
                </a14:m>
                <a:r>
                  <a:rPr lang="en-US" sz="2000" dirty="0"/>
                  <a:t>and </a:t>
                </a:r>
                <a14:m>
                  <m:oMath xmlns:m="http://schemas.openxmlformats.org/officeDocument/2006/math">
                    <m:r>
                      <a:rPr lang="en-US" sz="2000" i="1">
                        <a:latin typeface="Cambria Math"/>
                      </a:rPr>
                      <m:t>−4</m:t>
                    </m:r>
                    <m:r>
                      <a:rPr lang="en-US" sz="2000" i="1">
                        <a:latin typeface="Cambria Math"/>
                      </a:rPr>
                      <m:t>𝑥</m:t>
                    </m:r>
                    <m:r>
                      <a:rPr lang="en-US" sz="2000" i="1">
                        <a:latin typeface="Cambria Math"/>
                      </a:rPr>
                      <m:t>+5</m:t>
                    </m:r>
                    <m:r>
                      <a:rPr lang="en-US" sz="2000" i="1">
                        <a:latin typeface="Cambria Math"/>
                      </a:rPr>
                      <m:t>𝑦</m:t>
                    </m:r>
                    <m:r>
                      <a:rPr lang="en-US" sz="2000" i="1">
                        <a:latin typeface="Cambria Math"/>
                      </a:rPr>
                      <m:t>−3=0</m:t>
                    </m:r>
                  </m:oMath>
                </a14:m>
                <a:r>
                  <a:rPr lang="en-US" sz="2000" dirty="0"/>
                  <a:t> and </a:t>
                </a:r>
                <a14:m>
                  <m:oMath xmlns:m="http://schemas.openxmlformats.org/officeDocument/2006/math">
                    <m:r>
                      <a:rPr lang="en-US" sz="2000" i="1">
                        <a:latin typeface="Cambria Math"/>
                      </a:rPr>
                      <m:t>𝑣𝑎𝑟</m:t>
                    </m:r>
                    <m:r>
                      <a:rPr lang="en-US" sz="2000" i="1">
                        <a:latin typeface="Cambria Math"/>
                      </a:rPr>
                      <m:t>(</m:t>
                    </m:r>
                    <m:r>
                      <a:rPr lang="en-US" sz="2000" i="1">
                        <a:latin typeface="Cambria Math"/>
                      </a:rPr>
                      <m:t>𝑥</m:t>
                    </m:r>
                    <m:r>
                      <a:rPr lang="en-US" sz="2000" i="1">
                        <a:latin typeface="Cambria Math"/>
                      </a:rPr>
                      <m:t>)</m:t>
                    </m:r>
                  </m:oMath>
                </a14:m>
                <a:r>
                  <a:rPr lang="en-US" sz="2000" dirty="0"/>
                  <a:t>=16.Calculate-(i) the mean of </a:t>
                </a:r>
                <a14:m>
                  <m:oMath xmlns:m="http://schemas.openxmlformats.org/officeDocument/2006/math">
                    <m:r>
                      <a:rPr lang="en-US" sz="2000" i="1">
                        <a:latin typeface="Cambria Math"/>
                      </a:rPr>
                      <m:t>𝑥</m:t>
                    </m:r>
                  </m:oMath>
                </a14:m>
                <a:r>
                  <a:rPr lang="en-US" sz="2000" dirty="0"/>
                  <a:t> and </a:t>
                </a:r>
                <a14:m>
                  <m:oMath xmlns:m="http://schemas.openxmlformats.org/officeDocument/2006/math">
                    <m:r>
                      <a:rPr lang="en-US" sz="2000" i="1">
                        <a:latin typeface="Cambria Math"/>
                      </a:rPr>
                      <m:t>𝑦</m:t>
                    </m:r>
                  </m:oMath>
                </a14:m>
                <a:r>
                  <a:rPr lang="en-US" sz="2000" dirty="0"/>
                  <a:t>  (ii) S.D. of </a:t>
                </a:r>
                <a14:m>
                  <m:oMath xmlns:m="http://schemas.openxmlformats.org/officeDocument/2006/math">
                    <m:r>
                      <a:rPr lang="en-US" sz="2000" i="1">
                        <a:latin typeface="Cambria Math"/>
                      </a:rPr>
                      <m:t>𝑦</m:t>
                    </m:r>
                  </m:oMath>
                </a14:m>
                <a:r>
                  <a:rPr lang="en-US" sz="2000" i="1" dirty="0"/>
                  <a:t> </a:t>
                </a:r>
                <a:r>
                  <a:rPr lang="en-US" sz="2000" dirty="0"/>
                  <a:t>(iii) the correlation coefficient.</a:t>
                </a:r>
              </a:p>
              <a:p>
                <a:r>
                  <a:rPr lang="en-US" sz="2000" dirty="0"/>
                  <a:t>						</a:t>
                </a:r>
              </a:p>
              <a:p>
                <a:pPr marL="0" indent="0">
                  <a:buNone/>
                </a:pPr>
                <a:endParaRPr lang="en-US" sz="2000" dirty="0"/>
              </a:p>
              <a:p>
                <a:pPr marL="0" lvl="0" indent="0">
                  <a:buNone/>
                </a:pPr>
                <a:endParaRPr lang="en-US" sz="20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953000"/>
              </a:xfrm>
              <a:blipFill rotWithShape="1">
                <a:blip r:embed="rId2"/>
                <a:stretch>
                  <a:fillRect l="-815" t="-616" r="-1259" b="-3091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209800" y="6356350"/>
            <a:ext cx="5562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Expected Questions for University Exam (CO2)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73131066"/>
                  </p:ext>
                </p:extLst>
              </p:nvPr>
            </p:nvGraphicFramePr>
            <p:xfrm>
              <a:off x="609600" y="2057400"/>
              <a:ext cx="4503420" cy="490728"/>
            </p:xfrm>
            <a:graphic>
              <a:graphicData uri="http://schemas.openxmlformats.org/drawingml/2006/table">
                <a:tbl>
                  <a:tblPr firstRow="1" firstCol="1" bandRow="1">
                    <a:tableStyleId>{5C22544A-7EE6-4342-B048-85BDC9FD1C3A}</a:tableStyleId>
                  </a:tblPr>
                  <a:tblGrid>
                    <a:gridCol w="1045845">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gridCol w="571500">
                      <a:extLst>
                        <a:ext uri="{9D8B030D-6E8A-4147-A177-3AD203B41FA5}">
                          <a16:colId xmlns:a16="http://schemas.microsoft.com/office/drawing/2014/main" val="20006"/>
                        </a:ext>
                      </a:extLst>
                    </a:gridCol>
                  </a:tblGrid>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𝑥</m:t>
                                </m:r>
                              </m:oMath>
                            </m:oMathPara>
                          </a14:m>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0.2</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0.4</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0.5</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2</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𝑦</m:t>
                                </m:r>
                              </m:oMath>
                            </m:oMathPara>
                          </a14:m>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21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11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6</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5</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6</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73131066"/>
                  </p:ext>
                </p:extLst>
              </p:nvPr>
            </p:nvGraphicFramePr>
            <p:xfrm>
              <a:off x="609600" y="2057400"/>
              <a:ext cx="4503420" cy="490728"/>
            </p:xfrm>
            <a:graphic>
              <a:graphicData uri="http://schemas.openxmlformats.org/drawingml/2006/table">
                <a:tbl>
                  <a:tblPr firstRow="1" firstCol="1" bandRow="1">
                    <a:tableStyleId>{5C22544A-7EE6-4342-B048-85BDC9FD1C3A}</a:tableStyleId>
                  </a:tblPr>
                  <a:tblGrid>
                    <a:gridCol w="1045845">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gridCol w="571500">
                      <a:extLst>
                        <a:ext uri="{9D8B030D-6E8A-4147-A177-3AD203B41FA5}">
                          <a16:colId xmlns:a16="http://schemas.microsoft.com/office/drawing/2014/main" val="20006"/>
                        </a:ext>
                      </a:extLst>
                    </a:gridCol>
                  </a:tblGrid>
                  <a:tr h="245364">
                    <a:tc>
                      <a:txBody>
                        <a:bodyPr/>
                        <a:lstStyle/>
                        <a:p>
                          <a:endParaRPr lang="en-US"/>
                        </a:p>
                      </a:txBody>
                      <a:tcPr marL="68580" marR="68580" marT="0" marB="0">
                        <a:blipFill>
                          <a:blip r:embed="rId3"/>
                          <a:stretch>
                            <a:fillRect l="-1163" t="-17073" r="-331977" b="-134146"/>
                          </a:stretch>
                        </a:blipFill>
                      </a:tcPr>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0.2</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0.4</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0.5</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2</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245364">
                    <a:tc>
                      <a:txBody>
                        <a:bodyPr/>
                        <a:lstStyle/>
                        <a:p>
                          <a:endParaRPr lang="en-US"/>
                        </a:p>
                      </a:txBody>
                      <a:tcPr marL="68580" marR="68580" marT="0" marB="0">
                        <a:blipFill>
                          <a:blip r:embed="rId3"/>
                          <a:stretch>
                            <a:fillRect l="-1163" t="-120000" r="-331977" b="-37500"/>
                          </a:stretch>
                        </a:blipFill>
                      </a:tcPr>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21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11</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6</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5</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l">
                            <a:lnSpc>
                              <a:spcPct val="115000"/>
                            </a:lnSpc>
                            <a:spcBef>
                              <a:spcPts val="0"/>
                            </a:spcBef>
                            <a:spcAft>
                              <a:spcPts val="0"/>
                            </a:spcAft>
                          </a:pPr>
                          <a:r>
                            <a:rPr lang="en-US" sz="1400" dirty="0">
                              <a:effectLst/>
                              <a:latin typeface="Times New Roman" panose="02020603050405020304" pitchFamily="18" charset="0"/>
                            </a:rPr>
                            <a:t>6</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112036920"/>
                  </p:ext>
                </p:extLst>
              </p:nvPr>
            </p:nvGraphicFramePr>
            <p:xfrm>
              <a:off x="685800" y="3352800"/>
              <a:ext cx="2755900" cy="640080"/>
            </p:xfrm>
            <a:graphic>
              <a:graphicData uri="http://schemas.openxmlformats.org/drawingml/2006/table">
                <a:tbl>
                  <a:tblPr firstRow="1" firstCol="1" bandRow="1">
                    <a:tableStyleId>{5C22544A-7EE6-4342-B048-85BDC9FD1C3A}</a:tableStyleId>
                  </a:tblPr>
                  <a:tblGrid>
                    <a:gridCol w="640715">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471170">
                      <a:extLst>
                        <a:ext uri="{9D8B030D-6E8A-4147-A177-3AD203B41FA5}">
                          <a16:colId xmlns:a16="http://schemas.microsoft.com/office/drawing/2014/main" val="20003"/>
                        </a:ext>
                      </a:extLst>
                    </a:gridCol>
                    <a:gridCol w="551815">
                      <a:extLst>
                        <a:ext uri="{9D8B030D-6E8A-4147-A177-3AD203B41FA5}">
                          <a16:colId xmlns:a16="http://schemas.microsoft.com/office/drawing/2014/main" val="20004"/>
                        </a:ext>
                      </a:extLst>
                    </a:gridCol>
                  </a:tblGrid>
                  <a:tr h="199390">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𝑥</m:t>
                                </m:r>
                              </m:oMath>
                            </m:oMathPara>
                          </a14:m>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12</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20</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0"/>
                      </a:ext>
                    </a:extLst>
                  </a:tr>
                  <a:tr h="161290">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𝑦</m:t>
                                </m:r>
                              </m:oMath>
                            </m:oMathPara>
                          </a14:m>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4</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9</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12</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1"/>
                      </a:ext>
                    </a:extLst>
                  </a:tr>
                  <a:tr h="161290">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𝑧</m:t>
                                </m:r>
                              </m:oMath>
                            </m:oMathPara>
                          </a14:m>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2</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5</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8</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2"/>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112036920"/>
                  </p:ext>
                </p:extLst>
              </p:nvPr>
            </p:nvGraphicFramePr>
            <p:xfrm>
              <a:off x="685800" y="3352800"/>
              <a:ext cx="2755900" cy="640080"/>
            </p:xfrm>
            <a:graphic>
              <a:graphicData uri="http://schemas.openxmlformats.org/drawingml/2006/table">
                <a:tbl>
                  <a:tblPr firstRow="1" firstCol="1" bandRow="1">
                    <a:tableStyleId>{5C22544A-7EE6-4342-B048-85BDC9FD1C3A}</a:tableStyleId>
                  </a:tblPr>
                  <a:tblGrid>
                    <a:gridCol w="640715">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471170">
                      <a:extLst>
                        <a:ext uri="{9D8B030D-6E8A-4147-A177-3AD203B41FA5}">
                          <a16:colId xmlns:a16="http://schemas.microsoft.com/office/drawing/2014/main" val="20003"/>
                        </a:ext>
                      </a:extLst>
                    </a:gridCol>
                    <a:gridCol w="551815">
                      <a:extLst>
                        <a:ext uri="{9D8B030D-6E8A-4147-A177-3AD203B41FA5}">
                          <a16:colId xmlns:a16="http://schemas.microsoft.com/office/drawing/2014/main" val="20004"/>
                        </a:ext>
                      </a:extLst>
                    </a:gridCol>
                  </a:tblGrid>
                  <a:tr h="213360">
                    <a:tc>
                      <a:txBody>
                        <a:bodyPr/>
                        <a:lstStyle/>
                        <a:p>
                          <a:endParaRPr lang="en-US"/>
                        </a:p>
                      </a:txBody>
                      <a:tcPr marL="68580" marR="68580" marT="0" marB="0">
                        <a:blipFill>
                          <a:blip r:embed="rId4"/>
                          <a:stretch>
                            <a:fillRect l="-952" t="-25714" r="-335238" b="-251429"/>
                          </a:stretch>
                        </a:blipFill>
                      </a:tcPr>
                    </a:tc>
                    <a:tc>
                      <a:txBody>
                        <a:bodyPr/>
                        <a:lstStyle/>
                        <a:p>
                          <a:pPr marL="0" marR="0" algn="l">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12</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20</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0"/>
                      </a:ext>
                    </a:extLst>
                  </a:tr>
                  <a:tr h="213360">
                    <a:tc>
                      <a:txBody>
                        <a:bodyPr/>
                        <a:lstStyle/>
                        <a:p>
                          <a:endParaRPr lang="en-US"/>
                        </a:p>
                      </a:txBody>
                      <a:tcPr marL="68580" marR="68580" marT="0" marB="0">
                        <a:blipFill>
                          <a:blip r:embed="rId4"/>
                          <a:stretch>
                            <a:fillRect l="-952" t="-125714" r="-335238" b="-151429"/>
                          </a:stretch>
                        </a:blipFill>
                      </a:tcPr>
                    </a:tc>
                    <a:tc>
                      <a:txBody>
                        <a:bodyPr/>
                        <a:lstStyle/>
                        <a:p>
                          <a:pPr marL="0" marR="0" algn="l">
                            <a:spcBef>
                              <a:spcPts val="0"/>
                            </a:spcBef>
                            <a:spcAft>
                              <a:spcPts val="0"/>
                            </a:spcAft>
                          </a:pPr>
                          <a:r>
                            <a:rPr lang="en-US" sz="1400" dirty="0">
                              <a:effectLst/>
                              <a:latin typeface="Times New Roman" panose="02020603050405020304" pitchFamily="18" charset="0"/>
                            </a:rPr>
                            <a:t>4</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7</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9</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12</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1"/>
                      </a:ext>
                    </a:extLst>
                  </a:tr>
                  <a:tr h="213360">
                    <a:tc>
                      <a:txBody>
                        <a:bodyPr/>
                        <a:lstStyle/>
                        <a:p>
                          <a:endParaRPr lang="en-US"/>
                        </a:p>
                      </a:txBody>
                      <a:tcPr marL="68580" marR="68580" marT="0" marB="0">
                        <a:blipFill>
                          <a:blip r:embed="rId4"/>
                          <a:stretch>
                            <a:fillRect l="-952" t="-225714" r="-335238" b="-51429"/>
                          </a:stretch>
                        </a:blipFill>
                      </a:tcPr>
                    </a:tc>
                    <a:tc>
                      <a:txBody>
                        <a:bodyPr/>
                        <a:lstStyle/>
                        <a:p>
                          <a:pPr marL="0" marR="0" algn="l">
                            <a:spcBef>
                              <a:spcPts val="0"/>
                            </a:spcBef>
                            <a:spcAft>
                              <a:spcPts val="0"/>
                            </a:spcAft>
                          </a:pPr>
                          <a:r>
                            <a:rPr lang="en-US" sz="1400" dirty="0">
                              <a:effectLst/>
                              <a:latin typeface="Times New Roman" panose="02020603050405020304" pitchFamily="18" charset="0"/>
                            </a:rPr>
                            <a:t>1</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2</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5</a:t>
                          </a:r>
                          <a:endParaRPr lang="en-US" sz="1100" dirty="0">
                            <a:effectLst/>
                            <a:latin typeface="Times New Roman" panose="02020603050405020304" pitchFamily="18" charset="0"/>
                            <a:ea typeface="Times New Roman"/>
                            <a:cs typeface="Mangal"/>
                          </a:endParaRPr>
                        </a:p>
                      </a:txBody>
                      <a:tcPr marL="68580" marR="68580" marT="0" marB="0"/>
                    </a:tc>
                    <a:tc>
                      <a:txBody>
                        <a:bodyPr/>
                        <a:lstStyle/>
                        <a:p>
                          <a:pPr marL="0" marR="0" algn="l">
                            <a:spcBef>
                              <a:spcPts val="0"/>
                            </a:spcBef>
                            <a:spcAft>
                              <a:spcPts val="0"/>
                            </a:spcAft>
                          </a:pPr>
                          <a:r>
                            <a:rPr lang="en-US" sz="1400" dirty="0">
                              <a:effectLst/>
                              <a:latin typeface="Times New Roman" panose="02020603050405020304" pitchFamily="18" charset="0"/>
                            </a:rPr>
                            <a:t>8</a:t>
                          </a:r>
                          <a:endParaRPr lang="en-US" sz="1100" dirty="0">
                            <a:effectLst/>
                            <a:latin typeface="Times New Roman" panose="02020603050405020304" pitchFamily="18" charset="0"/>
                            <a:ea typeface="Times New Roman"/>
                            <a:cs typeface="Mangal"/>
                          </a:endParaRPr>
                        </a:p>
                      </a:txBody>
                      <a:tcPr marL="68580" marR="68580" marT="0" marB="0"/>
                    </a:tc>
                    <a:extLst>
                      <a:ext uri="{0D108BD9-81ED-4DB2-BD59-A6C34878D82A}">
                        <a16:rowId xmlns:a16="http://schemas.microsoft.com/office/drawing/2014/main" val="10002"/>
                      </a:ext>
                    </a:extLst>
                  </a:tr>
                </a:tbl>
              </a:graphicData>
            </a:graphic>
          </p:graphicFrame>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Autofit/>
          </a:bodyPr>
          <a:lstStyle/>
          <a:p>
            <a:pPr marL="0" lvl="0" indent="0">
              <a:buNone/>
            </a:pPr>
            <a:r>
              <a:rPr lang="en-US" sz="2200" dirty="0">
                <a:latin typeface="Times New Roman" pitchFamily="18" charset="0"/>
                <a:cs typeface="Times New Roman" pitchFamily="18" charset="0"/>
              </a:rPr>
              <a:t>Q5 An incomplete distribution of families according to their expenditure per week is given below. The median and mode for the distribution are </a:t>
            </a:r>
            <a:r>
              <a:rPr lang="en-US" sz="2200" dirty="0" err="1">
                <a:latin typeface="Times New Roman" pitchFamily="18" charset="0"/>
                <a:cs typeface="Times New Roman" pitchFamily="18" charset="0"/>
              </a:rPr>
              <a:t>Rs</a:t>
            </a:r>
            <a:r>
              <a:rPr lang="en-US" sz="2200" dirty="0">
                <a:latin typeface="Times New Roman" pitchFamily="18" charset="0"/>
                <a:cs typeface="Times New Roman" pitchFamily="18" charset="0"/>
              </a:rPr>
              <a:t> 25 and </a:t>
            </a:r>
            <a:r>
              <a:rPr lang="en-US" sz="2200" dirty="0" err="1">
                <a:latin typeface="Times New Roman" pitchFamily="18" charset="0"/>
                <a:cs typeface="Times New Roman" pitchFamily="18" charset="0"/>
              </a:rPr>
              <a:t>Rs</a:t>
            </a:r>
            <a:r>
              <a:rPr lang="en-US" sz="2200" dirty="0">
                <a:latin typeface="Times New Roman" pitchFamily="18" charset="0"/>
                <a:cs typeface="Times New Roman" pitchFamily="18" charset="0"/>
              </a:rPr>
              <a:t> 24 respectively. Calculate the missing frequencies.</a:t>
            </a:r>
          </a:p>
          <a:p>
            <a:pPr marL="0" lv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Q6. The first four moments of a distribution about 2 are 1,2.5,5.5 and 16 </a:t>
            </a:r>
            <a:r>
              <a:rPr lang="en-US" sz="2200" dirty="0" err="1">
                <a:latin typeface="Times New Roman" pitchFamily="18" charset="0"/>
                <a:cs typeface="Times New Roman" pitchFamily="18" charset="0"/>
              </a:rPr>
              <a:t>resp.Calculate</a:t>
            </a:r>
            <a:r>
              <a:rPr lang="en-US" sz="2200" dirty="0">
                <a:latin typeface="Times New Roman" pitchFamily="18" charset="0"/>
                <a:cs typeface="Times New Roman" pitchFamily="18" charset="0"/>
              </a:rPr>
              <a:t> the four moments about mean and  about the origin.				                        </a:t>
            </a:r>
          </a:p>
          <a:p>
            <a:pPr marL="0" lv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						</a:t>
            </a:r>
          </a:p>
          <a:p>
            <a:pPr mar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endParaRPr lang="en-US" sz="22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209800" y="6356350"/>
            <a:ext cx="5562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Expected Questions for University Exam (CO2)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958543698"/>
              </p:ext>
            </p:extLst>
          </p:nvPr>
        </p:nvGraphicFramePr>
        <p:xfrm>
          <a:off x="609600" y="2743200"/>
          <a:ext cx="4457700" cy="451486"/>
        </p:xfrm>
        <a:graphic>
          <a:graphicData uri="http://schemas.openxmlformats.org/drawingml/2006/table">
            <a:tbl>
              <a:tblPr firstRow="1" firstCol="1" bandRow="1">
                <a:tableStyleId>{5C22544A-7EE6-4342-B048-85BDC9FD1C3A}</a:tableStyleId>
              </a:tblPr>
              <a:tblGrid>
                <a:gridCol w="1293495">
                  <a:extLst>
                    <a:ext uri="{9D8B030D-6E8A-4147-A177-3AD203B41FA5}">
                      <a16:colId xmlns:a16="http://schemas.microsoft.com/office/drawing/2014/main" val="20000"/>
                    </a:ext>
                  </a:extLst>
                </a:gridCol>
                <a:gridCol w="649605">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28650">
                  <a:extLst>
                    <a:ext uri="{9D8B030D-6E8A-4147-A177-3AD203B41FA5}">
                      <a16:colId xmlns:a16="http://schemas.microsoft.com/office/drawing/2014/main" val="20005"/>
                    </a:ext>
                  </a:extLst>
                </a:gridCol>
              </a:tblGrid>
              <a:tr h="0">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Expenditure</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0-10</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10-20</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20-30</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30-40</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40-50</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No. of families</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14</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27</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a:t>
                      </a:r>
                      <a:endParaRPr lang="en-US" sz="11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1400" dirty="0">
                          <a:effectLst/>
                          <a:latin typeface="Times New Roman" panose="02020603050405020304" pitchFamily="18" charset="0"/>
                        </a:rPr>
                        <a:t>15</a:t>
                      </a:r>
                      <a:endParaRPr lang="en-US" sz="11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971936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181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3688"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Recap </a:t>
            </a:r>
            <a:r>
              <a:rPr lang="en-US" sz="2400" b="1" dirty="0">
                <a:latin typeface="Times New Roman" panose="02020603050405020304" pitchFamily="18" charset="0"/>
              </a:rPr>
              <a:t>(CO2)</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endParaRPr>
          </a:p>
        </p:txBody>
      </p:sp>
      <p:sp>
        <p:nvSpPr>
          <p:cNvPr id="2" name="Rectangle 1"/>
          <p:cNvSpPr/>
          <p:nvPr/>
        </p:nvSpPr>
        <p:spPr>
          <a:xfrm>
            <a:off x="990600" y="889844"/>
            <a:ext cx="5867400" cy="3477875"/>
          </a:xfrm>
          <a:prstGeom prst="rect">
            <a:avLst/>
          </a:prstGeom>
        </p:spPr>
        <p:txBody>
          <a:bodyPr wrap="square">
            <a:spAutoFit/>
          </a:bodyPr>
          <a:lstStyle/>
          <a:p>
            <a:r>
              <a:rPr lang="en-US" sz="2200" dirty="0">
                <a:latin typeface="Times New Roman" pitchFamily="18" charset="0"/>
                <a:cs typeface="Times New Roman" pitchFamily="18" charset="0"/>
              </a:rPr>
              <a:t>We discussed the following topics:</a:t>
            </a:r>
          </a:p>
          <a:p>
            <a:pPr marL="285750" indent="-285750">
              <a:buFont typeface="Wingdings" pitchFamily="2" charset="2"/>
              <a:buChar char="ü"/>
            </a:pPr>
            <a:r>
              <a:rPr lang="en-US" sz="2200" dirty="0">
                <a:latin typeface="Times New Roman" pitchFamily="18" charset="0"/>
                <a:cs typeface="Times New Roman" pitchFamily="18" charset="0"/>
              </a:rPr>
              <a:t>Measures of central tendency – mean, median, mode</a:t>
            </a:r>
          </a:p>
          <a:p>
            <a:pPr marL="285750" indent="-285750">
              <a:buFont typeface="Wingdings" pitchFamily="2" charset="2"/>
              <a:buChar char="ü"/>
            </a:pPr>
            <a:r>
              <a:rPr lang="en-US" sz="2200" dirty="0">
                <a:latin typeface="Times New Roman" pitchFamily="18" charset="0"/>
                <a:cs typeface="Times New Roman" pitchFamily="18" charset="0"/>
              </a:rPr>
              <a:t>Moment</a:t>
            </a:r>
          </a:p>
          <a:p>
            <a:pPr marL="285750" indent="-285750">
              <a:buFont typeface="Wingdings" pitchFamily="2" charset="2"/>
              <a:buChar char="ü"/>
            </a:pPr>
            <a:r>
              <a:rPr lang="en-US" sz="2200" dirty="0">
                <a:latin typeface="Times New Roman" pitchFamily="18" charset="0"/>
                <a:cs typeface="Times New Roman" pitchFamily="18" charset="0"/>
              </a:rPr>
              <a:t>Skewness</a:t>
            </a:r>
          </a:p>
          <a:p>
            <a:pPr marL="285750" indent="-285750">
              <a:buFont typeface="Wingdings" pitchFamily="2" charset="2"/>
              <a:buChar char="ü"/>
            </a:pPr>
            <a:r>
              <a:rPr lang="en-US" sz="2200" dirty="0">
                <a:latin typeface="Times New Roman" pitchFamily="18" charset="0"/>
                <a:cs typeface="Times New Roman" pitchFamily="18" charset="0"/>
              </a:rPr>
              <a:t>Kurtosis</a:t>
            </a:r>
          </a:p>
          <a:p>
            <a:pPr marL="285750" indent="-285750">
              <a:buFont typeface="Wingdings" pitchFamily="2" charset="2"/>
              <a:buChar char="ü"/>
            </a:pPr>
            <a:r>
              <a:rPr lang="en-US" sz="2200" dirty="0">
                <a:latin typeface="Times New Roman" pitchFamily="18" charset="0"/>
                <a:cs typeface="Times New Roman" pitchFamily="18" charset="0"/>
              </a:rPr>
              <a:t>Curve fitting</a:t>
            </a:r>
          </a:p>
          <a:p>
            <a:pPr marL="285750" indent="-285750">
              <a:buFont typeface="Wingdings" pitchFamily="2" charset="2"/>
              <a:buChar char="ü"/>
            </a:pPr>
            <a:r>
              <a:rPr lang="en-US" sz="2200" dirty="0">
                <a:latin typeface="Times New Roman" pitchFamily="18" charset="0"/>
                <a:cs typeface="Times New Roman" pitchFamily="18" charset="0"/>
              </a:rPr>
              <a:t>Least squares principles of curve fitting</a:t>
            </a:r>
          </a:p>
          <a:p>
            <a:pPr marL="285750" indent="-285750">
              <a:buFont typeface="Wingdings" pitchFamily="2" charset="2"/>
              <a:buChar char="ü"/>
            </a:pPr>
            <a:r>
              <a:rPr lang="en-US" sz="2200" dirty="0">
                <a:latin typeface="Times New Roman" pitchFamily="18" charset="0"/>
                <a:cs typeface="Times New Roman" pitchFamily="18" charset="0"/>
              </a:rPr>
              <a:t>Correlation</a:t>
            </a:r>
          </a:p>
          <a:p>
            <a:pPr marL="285750" indent="-285750">
              <a:buFont typeface="Wingdings" pitchFamily="2" charset="2"/>
              <a:buChar char="ü"/>
            </a:pPr>
            <a:r>
              <a:rPr lang="en-US" sz="2200" dirty="0">
                <a:latin typeface="Times New Roman" pitchFamily="18" charset="0"/>
                <a:cs typeface="Times New Roman" pitchFamily="18" charset="0"/>
              </a:rPr>
              <a:t>Regression analysis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8" name="Title 1"/>
          <p:cNvSpPr txBox="1">
            <a:spLocks noGrp="1"/>
          </p:cNvSpPr>
          <p:nvPr>
            <p:ph type="title"/>
          </p:nvPr>
        </p:nvSpPr>
        <p:spPr>
          <a:xfrm>
            <a:off x="1541172" y="0"/>
            <a:ext cx="7602828"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 2 </a:t>
            </a:r>
            <a:endParaRPr lang="en-US" dirty="0"/>
          </a:p>
        </p:txBody>
      </p:sp>
      <p:pic>
        <p:nvPicPr>
          <p:cNvPr id="5" name="Picture 4">
            <a:extLst>
              <a:ext uri="{FF2B5EF4-FFF2-40B4-BE49-F238E27FC236}">
                <a16:creationId xmlns:a16="http://schemas.microsoft.com/office/drawing/2014/main" id="{646F58D2-FE5A-4B9D-95BE-B3F46D1A6E8F}"/>
              </a:ext>
            </a:extLst>
          </p:cNvPr>
          <p:cNvPicPr>
            <a:picLocks noChangeAspect="1"/>
          </p:cNvPicPr>
          <p:nvPr/>
        </p:nvPicPr>
        <p:blipFill>
          <a:blip r:embed="rId2"/>
          <a:stretch>
            <a:fillRect/>
          </a:stretch>
        </p:blipFill>
        <p:spPr>
          <a:xfrm>
            <a:off x="990600" y="1066800"/>
            <a:ext cx="7391400" cy="3439005"/>
          </a:xfrm>
          <a:prstGeom prst="rect">
            <a:avLst/>
          </a:prstGeom>
        </p:spPr>
      </p:pic>
      <p:pic>
        <p:nvPicPr>
          <p:cNvPr id="9" name="Picture 8">
            <a:extLst>
              <a:ext uri="{FF2B5EF4-FFF2-40B4-BE49-F238E27FC236}">
                <a16:creationId xmlns:a16="http://schemas.microsoft.com/office/drawing/2014/main" id="{63B7C3C7-EEE8-484B-8808-0C230C658C04}"/>
              </a:ext>
            </a:extLst>
          </p:cNvPr>
          <p:cNvPicPr>
            <a:picLocks noChangeAspect="1"/>
          </p:cNvPicPr>
          <p:nvPr/>
        </p:nvPicPr>
        <p:blipFill>
          <a:blip r:embed="rId3"/>
          <a:stretch>
            <a:fillRect/>
          </a:stretch>
        </p:blipFill>
        <p:spPr>
          <a:xfrm>
            <a:off x="1066800" y="4571787"/>
            <a:ext cx="7086600" cy="1600413"/>
          </a:xfrm>
          <a:prstGeom prst="rect">
            <a:avLst/>
          </a:prstGeom>
        </p:spPr>
      </p:pic>
    </p:spTree>
    <p:extLst>
      <p:ext uri="{BB962C8B-B14F-4D97-AF65-F5344CB8AC3E}">
        <p14:creationId xmlns:p14="http://schemas.microsoft.com/office/powerpoint/2010/main" val="39069846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8" name="Title 1"/>
          <p:cNvSpPr txBox="1">
            <a:spLocks noGrp="1"/>
          </p:cNvSpPr>
          <p:nvPr>
            <p:ph type="title"/>
          </p:nvPr>
        </p:nvSpPr>
        <p:spPr>
          <a:xfrm>
            <a:off x="1660124" y="2146"/>
            <a:ext cx="7483875" cy="72969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 2 </a:t>
            </a:r>
            <a:endParaRPr lang="en-US" dirty="0"/>
          </a:p>
        </p:txBody>
      </p:sp>
      <p:pic>
        <p:nvPicPr>
          <p:cNvPr id="5" name="Picture 4">
            <a:extLst>
              <a:ext uri="{FF2B5EF4-FFF2-40B4-BE49-F238E27FC236}">
                <a16:creationId xmlns:a16="http://schemas.microsoft.com/office/drawing/2014/main" id="{48C27AB1-F9E3-45D0-9B82-3FEBFB8F6E3C}"/>
              </a:ext>
            </a:extLst>
          </p:cNvPr>
          <p:cNvPicPr>
            <a:picLocks noChangeAspect="1"/>
          </p:cNvPicPr>
          <p:nvPr/>
        </p:nvPicPr>
        <p:blipFill>
          <a:blip r:embed="rId2"/>
          <a:stretch>
            <a:fillRect/>
          </a:stretch>
        </p:blipFill>
        <p:spPr>
          <a:xfrm>
            <a:off x="685800" y="990600"/>
            <a:ext cx="7772399" cy="2724530"/>
          </a:xfrm>
          <a:prstGeom prst="rect">
            <a:avLst/>
          </a:prstGeom>
        </p:spPr>
      </p:pic>
      <p:pic>
        <p:nvPicPr>
          <p:cNvPr id="7" name="Picture 6">
            <a:extLst>
              <a:ext uri="{FF2B5EF4-FFF2-40B4-BE49-F238E27FC236}">
                <a16:creationId xmlns:a16="http://schemas.microsoft.com/office/drawing/2014/main" id="{C6082FAB-7B07-4090-AB4F-2DD8E04EA8EE}"/>
              </a:ext>
            </a:extLst>
          </p:cNvPr>
          <p:cNvPicPr>
            <a:picLocks noChangeAspect="1"/>
          </p:cNvPicPr>
          <p:nvPr/>
        </p:nvPicPr>
        <p:blipFill>
          <a:blip r:embed="rId3"/>
          <a:stretch>
            <a:fillRect/>
          </a:stretch>
        </p:blipFill>
        <p:spPr>
          <a:xfrm>
            <a:off x="914401" y="3943167"/>
            <a:ext cx="7543798" cy="1771833"/>
          </a:xfrm>
          <a:prstGeom prst="rect">
            <a:avLst/>
          </a:prstGeom>
        </p:spPr>
      </p:pic>
    </p:spTree>
    <p:extLst>
      <p:ext uri="{BB962C8B-B14F-4D97-AF65-F5344CB8AC3E}">
        <p14:creationId xmlns:p14="http://schemas.microsoft.com/office/powerpoint/2010/main" val="8394113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8" name="Title 1"/>
          <p:cNvSpPr txBox="1">
            <a:spLocks noGrp="1"/>
          </p:cNvSpPr>
          <p:nvPr>
            <p:ph type="title"/>
          </p:nvPr>
        </p:nvSpPr>
        <p:spPr>
          <a:xfrm>
            <a:off x="1676400" y="19318"/>
            <a:ext cx="74676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Picture 6">
            <a:extLst>
              <a:ext uri="{FF2B5EF4-FFF2-40B4-BE49-F238E27FC236}">
                <a16:creationId xmlns:a16="http://schemas.microsoft.com/office/drawing/2014/main" id="{AB35E215-ED8A-4CC4-80E8-8EC554551789}"/>
              </a:ext>
            </a:extLst>
          </p:cNvPr>
          <p:cNvPicPr>
            <a:picLocks noChangeAspect="1"/>
          </p:cNvPicPr>
          <p:nvPr/>
        </p:nvPicPr>
        <p:blipFill>
          <a:blip r:embed="rId2"/>
          <a:stretch>
            <a:fillRect/>
          </a:stretch>
        </p:blipFill>
        <p:spPr>
          <a:xfrm>
            <a:off x="914400" y="990601"/>
            <a:ext cx="7467600" cy="3657600"/>
          </a:xfrm>
          <a:prstGeom prst="rect">
            <a:avLst/>
          </a:prstGeom>
        </p:spPr>
      </p:pic>
      <p:pic>
        <p:nvPicPr>
          <p:cNvPr id="9" name="Picture 8">
            <a:extLst>
              <a:ext uri="{FF2B5EF4-FFF2-40B4-BE49-F238E27FC236}">
                <a16:creationId xmlns:a16="http://schemas.microsoft.com/office/drawing/2014/main" id="{0572AA7D-5000-48F6-9C93-35CAD33ED94D}"/>
              </a:ext>
            </a:extLst>
          </p:cNvPr>
          <p:cNvPicPr>
            <a:picLocks noChangeAspect="1"/>
          </p:cNvPicPr>
          <p:nvPr/>
        </p:nvPicPr>
        <p:blipFill>
          <a:blip r:embed="rId3"/>
          <a:stretch>
            <a:fillRect/>
          </a:stretch>
        </p:blipFill>
        <p:spPr>
          <a:xfrm>
            <a:off x="914400" y="5019504"/>
            <a:ext cx="7467600" cy="1228896"/>
          </a:xfrm>
          <a:prstGeom prst="rect">
            <a:avLst/>
          </a:prstGeom>
        </p:spPr>
      </p:pic>
    </p:spTree>
    <p:extLst>
      <p:ext uri="{BB962C8B-B14F-4D97-AF65-F5344CB8AC3E}">
        <p14:creationId xmlns:p14="http://schemas.microsoft.com/office/powerpoint/2010/main" val="36884812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8" name="Title 1"/>
          <p:cNvSpPr txBox="1">
            <a:spLocks noGrp="1"/>
          </p:cNvSpPr>
          <p:nvPr>
            <p:ph type="title"/>
          </p:nvPr>
        </p:nvSpPr>
        <p:spPr>
          <a:xfrm>
            <a:off x="1598026" y="22538"/>
            <a:ext cx="7545974"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Picture 6">
            <a:extLst>
              <a:ext uri="{FF2B5EF4-FFF2-40B4-BE49-F238E27FC236}">
                <a16:creationId xmlns:a16="http://schemas.microsoft.com/office/drawing/2014/main" id="{5E47A160-07D5-4957-8FAD-5D6674051540}"/>
              </a:ext>
            </a:extLst>
          </p:cNvPr>
          <p:cNvPicPr>
            <a:picLocks noChangeAspect="1"/>
          </p:cNvPicPr>
          <p:nvPr/>
        </p:nvPicPr>
        <p:blipFill>
          <a:blip r:embed="rId2"/>
          <a:stretch>
            <a:fillRect/>
          </a:stretch>
        </p:blipFill>
        <p:spPr>
          <a:xfrm>
            <a:off x="1542627" y="1404655"/>
            <a:ext cx="6058746" cy="4048690"/>
          </a:xfrm>
          <a:prstGeom prst="rect">
            <a:avLst/>
          </a:prstGeom>
        </p:spPr>
      </p:pic>
    </p:spTree>
    <p:extLst>
      <p:ext uri="{BB962C8B-B14F-4D97-AF65-F5344CB8AC3E}">
        <p14:creationId xmlns:p14="http://schemas.microsoft.com/office/powerpoint/2010/main" val="36368044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8" name="Title 1"/>
          <p:cNvSpPr txBox="1">
            <a:spLocks noGrp="1"/>
          </p:cNvSpPr>
          <p:nvPr>
            <p:ph type="title"/>
          </p:nvPr>
        </p:nvSpPr>
        <p:spPr>
          <a:xfrm>
            <a:off x="1828800" y="-19318"/>
            <a:ext cx="7315200" cy="7035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Picture 6">
            <a:extLst>
              <a:ext uri="{FF2B5EF4-FFF2-40B4-BE49-F238E27FC236}">
                <a16:creationId xmlns:a16="http://schemas.microsoft.com/office/drawing/2014/main" id="{81588560-69CA-4A34-96DC-55776ED079B2}"/>
              </a:ext>
            </a:extLst>
          </p:cNvPr>
          <p:cNvPicPr>
            <a:picLocks noChangeAspect="1"/>
          </p:cNvPicPr>
          <p:nvPr/>
        </p:nvPicPr>
        <p:blipFill>
          <a:blip r:embed="rId2"/>
          <a:stretch>
            <a:fillRect/>
          </a:stretch>
        </p:blipFill>
        <p:spPr>
          <a:xfrm>
            <a:off x="762000" y="1295400"/>
            <a:ext cx="7852365" cy="4329345"/>
          </a:xfrm>
          <a:prstGeom prst="rect">
            <a:avLst/>
          </a:prstGeom>
        </p:spPr>
      </p:pic>
    </p:spTree>
    <p:extLst>
      <p:ext uri="{BB962C8B-B14F-4D97-AF65-F5344CB8AC3E}">
        <p14:creationId xmlns:p14="http://schemas.microsoft.com/office/powerpoint/2010/main" val="2587925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8" name="Title 1"/>
          <p:cNvSpPr txBox="1">
            <a:spLocks noGrp="1"/>
          </p:cNvSpPr>
          <p:nvPr>
            <p:ph type="title"/>
          </p:nvPr>
        </p:nvSpPr>
        <p:spPr>
          <a:xfrm>
            <a:off x="1752600" y="0"/>
            <a:ext cx="7391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Content Placeholder 6">
            <a:extLst>
              <a:ext uri="{FF2B5EF4-FFF2-40B4-BE49-F238E27FC236}">
                <a16:creationId xmlns:a16="http://schemas.microsoft.com/office/drawing/2014/main" id="{71EF8110-EA64-49B4-A6AB-920EC6589C3C}"/>
              </a:ext>
            </a:extLst>
          </p:cNvPr>
          <p:cNvPicPr>
            <a:picLocks noGrp="1" noChangeAspect="1"/>
          </p:cNvPicPr>
          <p:nvPr>
            <p:ph idx="1"/>
          </p:nvPr>
        </p:nvPicPr>
        <p:blipFill>
          <a:blip r:embed="rId2"/>
          <a:stretch>
            <a:fillRect/>
          </a:stretch>
        </p:blipFill>
        <p:spPr>
          <a:xfrm>
            <a:off x="1066800" y="1143000"/>
            <a:ext cx="7391400" cy="4724400"/>
          </a:xfrm>
          <a:prstGeom prst="rect">
            <a:avLst/>
          </a:prstGeom>
        </p:spPr>
      </p:pic>
    </p:spTree>
    <p:extLst>
      <p:ext uri="{BB962C8B-B14F-4D97-AF65-F5344CB8AC3E}">
        <p14:creationId xmlns:p14="http://schemas.microsoft.com/office/powerpoint/2010/main" val="3841168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8" name="Title 1"/>
          <p:cNvSpPr txBox="1">
            <a:spLocks noGrp="1"/>
          </p:cNvSpPr>
          <p:nvPr>
            <p:ph type="title"/>
          </p:nvPr>
        </p:nvSpPr>
        <p:spPr>
          <a:xfrm>
            <a:off x="1752600" y="0"/>
            <a:ext cx="7391400" cy="6453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sp>
        <p:nvSpPr>
          <p:cNvPr id="5" name="Content Placeholder 4">
            <a:extLst>
              <a:ext uri="{FF2B5EF4-FFF2-40B4-BE49-F238E27FC236}">
                <a16:creationId xmlns:a16="http://schemas.microsoft.com/office/drawing/2014/main" id="{765AD767-036F-4E5A-B917-5F3EAAD990A2}"/>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AEDC727-2A68-45FF-B890-0AC0D195970B}"/>
              </a:ext>
            </a:extLst>
          </p:cNvPr>
          <p:cNvPicPr>
            <a:picLocks noChangeAspect="1"/>
          </p:cNvPicPr>
          <p:nvPr/>
        </p:nvPicPr>
        <p:blipFill>
          <a:blip r:embed="rId2"/>
          <a:stretch>
            <a:fillRect/>
          </a:stretch>
        </p:blipFill>
        <p:spPr>
          <a:xfrm>
            <a:off x="457199" y="1143000"/>
            <a:ext cx="8229600" cy="4724400"/>
          </a:xfrm>
          <a:prstGeom prst="rect">
            <a:avLst/>
          </a:prstGeom>
        </p:spPr>
      </p:pic>
    </p:spTree>
    <p:extLst>
      <p:ext uri="{BB962C8B-B14F-4D97-AF65-F5344CB8AC3E}">
        <p14:creationId xmlns:p14="http://schemas.microsoft.com/office/powerpoint/2010/main" val="15637584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8" name="Title 1"/>
          <p:cNvSpPr txBox="1">
            <a:spLocks noGrp="1"/>
          </p:cNvSpPr>
          <p:nvPr>
            <p:ph type="title"/>
          </p:nvPr>
        </p:nvSpPr>
        <p:spPr>
          <a:xfrm>
            <a:off x="1905000" y="19318"/>
            <a:ext cx="7239000" cy="66648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sp>
        <p:nvSpPr>
          <p:cNvPr id="5" name="Content Placeholder 4">
            <a:extLst>
              <a:ext uri="{FF2B5EF4-FFF2-40B4-BE49-F238E27FC236}">
                <a16:creationId xmlns:a16="http://schemas.microsoft.com/office/drawing/2014/main" id="{0917DDCA-7CF9-4099-AEEC-F65AA6AD9E0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6A2A8AD-4128-4D79-9298-D7BA2FB110CB}"/>
              </a:ext>
            </a:extLst>
          </p:cNvPr>
          <p:cNvPicPr>
            <a:picLocks noChangeAspect="1"/>
          </p:cNvPicPr>
          <p:nvPr/>
        </p:nvPicPr>
        <p:blipFill>
          <a:blip r:embed="rId2"/>
          <a:stretch>
            <a:fillRect/>
          </a:stretch>
        </p:blipFill>
        <p:spPr>
          <a:xfrm>
            <a:off x="782276" y="1219199"/>
            <a:ext cx="7523524" cy="4800601"/>
          </a:xfrm>
          <a:prstGeom prst="rect">
            <a:avLst/>
          </a:prstGeom>
        </p:spPr>
      </p:pic>
    </p:spTree>
    <p:extLst>
      <p:ext uri="{BB962C8B-B14F-4D97-AF65-F5344CB8AC3E}">
        <p14:creationId xmlns:p14="http://schemas.microsoft.com/office/powerpoint/2010/main" val="38371356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8" name="Title 1"/>
          <p:cNvSpPr txBox="1">
            <a:spLocks noGrp="1"/>
          </p:cNvSpPr>
          <p:nvPr>
            <p:ph type="title"/>
          </p:nvPr>
        </p:nvSpPr>
        <p:spPr>
          <a:xfrm>
            <a:off x="1600200" y="33270"/>
            <a:ext cx="7543800" cy="77511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US"/>
              <a:t>Dr. Lokesh Chaudhary    Statistics and Probability    Module 2 </a:t>
            </a:r>
            <a:endParaRPr lang="en-US" dirty="0"/>
          </a:p>
        </p:txBody>
      </p:sp>
      <p:pic>
        <p:nvPicPr>
          <p:cNvPr id="4" name="Picture 3">
            <a:extLst>
              <a:ext uri="{FF2B5EF4-FFF2-40B4-BE49-F238E27FC236}">
                <a16:creationId xmlns:a16="http://schemas.microsoft.com/office/drawing/2014/main" id="{0CB8F498-20C3-45C8-B977-F3CD49EF044B}"/>
              </a:ext>
            </a:extLst>
          </p:cNvPr>
          <p:cNvPicPr>
            <a:picLocks noChangeAspect="1"/>
          </p:cNvPicPr>
          <p:nvPr/>
        </p:nvPicPr>
        <p:blipFill>
          <a:blip r:embed="rId2"/>
          <a:stretch>
            <a:fillRect/>
          </a:stretch>
        </p:blipFill>
        <p:spPr>
          <a:xfrm>
            <a:off x="838200" y="1676400"/>
            <a:ext cx="7391400" cy="4038600"/>
          </a:xfrm>
          <a:prstGeom prst="rect">
            <a:avLst/>
          </a:prstGeom>
        </p:spPr>
      </p:pic>
    </p:spTree>
    <p:extLst>
      <p:ext uri="{BB962C8B-B14F-4D97-AF65-F5344CB8AC3E}">
        <p14:creationId xmlns:p14="http://schemas.microsoft.com/office/powerpoint/2010/main" val="25441077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8" name="Title 1"/>
          <p:cNvSpPr txBox="1">
            <a:spLocks noGrp="1"/>
          </p:cNvSpPr>
          <p:nvPr>
            <p:ph type="title"/>
          </p:nvPr>
        </p:nvSpPr>
        <p:spPr>
          <a:xfrm>
            <a:off x="1905000" y="0"/>
            <a:ext cx="72390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Picture 6">
            <a:extLst>
              <a:ext uri="{FF2B5EF4-FFF2-40B4-BE49-F238E27FC236}">
                <a16:creationId xmlns:a16="http://schemas.microsoft.com/office/drawing/2014/main" id="{FDCE1061-A8CE-4196-B58E-A5D41EDDE513}"/>
              </a:ext>
            </a:extLst>
          </p:cNvPr>
          <p:cNvPicPr>
            <a:picLocks noChangeAspect="1"/>
          </p:cNvPicPr>
          <p:nvPr/>
        </p:nvPicPr>
        <p:blipFill>
          <a:blip r:embed="rId2"/>
          <a:stretch>
            <a:fillRect/>
          </a:stretch>
        </p:blipFill>
        <p:spPr>
          <a:xfrm>
            <a:off x="1075468" y="1143000"/>
            <a:ext cx="7239000" cy="4495800"/>
          </a:xfrm>
          <a:prstGeom prst="rect">
            <a:avLst/>
          </a:prstGeom>
        </p:spPr>
      </p:pic>
    </p:spTree>
    <p:extLst>
      <p:ext uri="{BB962C8B-B14F-4D97-AF65-F5344CB8AC3E}">
        <p14:creationId xmlns:p14="http://schemas.microsoft.com/office/powerpoint/2010/main" val="3640224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8" name="Title 1"/>
          <p:cNvSpPr txBox="1">
            <a:spLocks noGrp="1"/>
          </p:cNvSpPr>
          <p:nvPr>
            <p:ph type="title"/>
          </p:nvPr>
        </p:nvSpPr>
        <p:spPr>
          <a:xfrm>
            <a:off x="1691828" y="6439"/>
            <a:ext cx="7452172" cy="75556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r>
              <a:rPr lang="en-US" dirty="0"/>
              <a:t> (CO2)</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2 </a:t>
            </a:r>
            <a:endParaRPr lang="en-US" dirty="0"/>
          </a:p>
        </p:txBody>
      </p:sp>
      <p:pic>
        <p:nvPicPr>
          <p:cNvPr id="7" name="Picture 6">
            <a:extLst>
              <a:ext uri="{FF2B5EF4-FFF2-40B4-BE49-F238E27FC236}">
                <a16:creationId xmlns:a16="http://schemas.microsoft.com/office/drawing/2014/main" id="{E750AE95-E9F7-4917-B995-BD6C038A75EE}"/>
              </a:ext>
            </a:extLst>
          </p:cNvPr>
          <p:cNvPicPr>
            <a:picLocks noChangeAspect="1"/>
          </p:cNvPicPr>
          <p:nvPr/>
        </p:nvPicPr>
        <p:blipFill>
          <a:blip r:embed="rId2"/>
          <a:stretch>
            <a:fillRect/>
          </a:stretch>
        </p:blipFill>
        <p:spPr>
          <a:xfrm>
            <a:off x="777428" y="1314154"/>
            <a:ext cx="7452172" cy="4553245"/>
          </a:xfrm>
          <a:prstGeom prst="rect">
            <a:avLst/>
          </a:prstGeom>
        </p:spPr>
      </p:pic>
    </p:spTree>
    <p:extLst>
      <p:ext uri="{BB962C8B-B14F-4D97-AF65-F5344CB8AC3E}">
        <p14:creationId xmlns:p14="http://schemas.microsoft.com/office/powerpoint/2010/main" val="20268537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33400" y="1143000"/>
            <a:ext cx="8229600" cy="5102935"/>
          </a:xfrm>
          <a:prstGeom prst="rect">
            <a:avLst/>
          </a:prstGeom>
          <a:noFill/>
        </p:spPr>
        <p:txBody>
          <a:bodyPr wrap="square" lIns="91440" tIns="45720" rIns="91440" bIns="45720">
            <a:spAutoFit/>
          </a:bodyPr>
          <a:lstStyle/>
          <a:p>
            <a:pPr marL="0" lvl="0" indent="0" algn="ctr">
              <a:buNone/>
            </a:pPr>
            <a:r>
              <a:rPr lang="en-US" sz="2200" b="1" u="sng" dirty="0">
                <a:latin typeface="Times New Roman" pitchFamily="18" charset="0"/>
                <a:cs typeface="Times New Roman" pitchFamily="18" charset="0"/>
              </a:rPr>
              <a:t>Text Books</a:t>
            </a:r>
          </a:p>
          <a:p>
            <a:pPr lvl="0"/>
            <a:r>
              <a:rPr lang="en-US" sz="2200" dirty="0"/>
              <a:t>N. P. Bali: A Textbook of Engineering Mathematics-IV, University Science Press.</a:t>
            </a:r>
          </a:p>
          <a:p>
            <a:pPr marL="0" lvl="0" indent="0">
              <a:buNone/>
            </a:pPr>
            <a:endParaRPr lang="en-US" sz="2200" dirty="0"/>
          </a:p>
          <a:p>
            <a:pPr lvl="0"/>
            <a:r>
              <a:rPr lang="en-US" sz="2200" dirty="0"/>
              <a:t>H. K. </a:t>
            </a:r>
            <a:r>
              <a:rPr lang="en-US" sz="2200" dirty="0" err="1"/>
              <a:t>Dass</a:t>
            </a:r>
            <a:r>
              <a:rPr lang="en-US" sz="2200" dirty="0"/>
              <a:t>: Introduction to Engineering Mathematics, S. Chand.</a:t>
            </a:r>
            <a:endParaRPr lang="en-US" sz="2200" dirty="0">
              <a:latin typeface="Times New Roman" pitchFamily="18" charset="0"/>
              <a:cs typeface="Times New Roman" pitchFamily="18" charset="0"/>
            </a:endParaRP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S. Ross: A First Course in Probability, 6th Ed., Pearson Education India, 2002.</a:t>
            </a: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W. Feller, An Introduction to Probability Theory and its Applications, Vol. 1, 3rd Ed., Wiley, 1968.</a:t>
            </a:r>
          </a:p>
          <a:p>
            <a:pPr lvl="0" algn="just"/>
            <a:endParaRPr lang="en-US" sz="2200" dirty="0">
              <a:latin typeface="Times New Roman" pitchFamily="18" charset="0"/>
              <a:cs typeface="Times New Roman" pitchFamily="18" charset="0"/>
            </a:endParaRPr>
          </a:p>
          <a:p>
            <a:pPr>
              <a:buNone/>
            </a:pPr>
            <a:r>
              <a:rPr lang="en-US" sz="2200" dirty="0">
                <a:latin typeface="Times New Roman" pitchFamily="18" charset="0"/>
                <a:cs typeface="Times New Roman" pitchFamily="18" charset="0"/>
              </a:rPr>
              <a:t> </a:t>
            </a:r>
          </a:p>
        </p:txBody>
      </p:sp>
      <p:sp>
        <p:nvSpPr>
          <p:cNvPr id="5" name="Footer Placeholder 4"/>
          <p:cNvSpPr>
            <a:spLocks noGrp="1"/>
          </p:cNvSpPr>
          <p:nvPr>
            <p:ph type="ftr" sz="quarter" idx="11"/>
          </p:nvPr>
        </p:nvSpPr>
        <p:spPr>
          <a:xfrm>
            <a:off x="2209800" y="6356350"/>
            <a:ext cx="5562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References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40714656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33400" y="1143000"/>
            <a:ext cx="8229600" cy="5035225"/>
          </a:xfrm>
          <a:prstGeom prst="rect">
            <a:avLst/>
          </a:prstGeom>
          <a:noFill/>
        </p:spPr>
        <p:txBody>
          <a:bodyPr wrap="square" lIns="91440" tIns="45720" rIns="91440" bIns="45720">
            <a:spAutoFit/>
          </a:bodyPr>
          <a:lstStyle/>
          <a:p>
            <a:pPr algn="ctr">
              <a:buNone/>
            </a:pPr>
            <a:r>
              <a:rPr lang="en-US" sz="2200" b="1" u="sng" dirty="0">
                <a:latin typeface="Times New Roman" pitchFamily="18" charset="0"/>
                <a:cs typeface="Times New Roman" pitchFamily="18" charset="0"/>
              </a:rPr>
              <a:t>Reference Books</a:t>
            </a:r>
            <a:endParaRPr lang="en-US" sz="2200" u="sng" dirty="0">
              <a:latin typeface="Times New Roman" pitchFamily="18" charset="0"/>
              <a:cs typeface="Times New Roman" pitchFamily="18" charset="0"/>
            </a:endParaRPr>
          </a:p>
          <a:p>
            <a:r>
              <a:rPr lang="en-US" sz="2200" dirty="0"/>
              <a:t>P. G. </a:t>
            </a:r>
            <a:r>
              <a:rPr lang="en-US" sz="2200" dirty="0" err="1"/>
              <a:t>Hoel</a:t>
            </a:r>
            <a:r>
              <a:rPr lang="en-US" sz="2200" dirty="0"/>
              <a:t>, S. C. Port and C. J. Stone, Introduction to Probability Theory, Universal Book Stall, 2003(Reprint).</a:t>
            </a:r>
            <a:endParaRPr lang="en-US" sz="2200" dirty="0">
              <a:latin typeface="Times New Roman" pitchFamily="18" charset="0"/>
              <a:cs typeface="Times New Roman" pitchFamily="18" charset="0"/>
            </a:endParaRP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R.K. Jain and S.R.K. </a:t>
            </a:r>
            <a:r>
              <a:rPr lang="en-US" sz="2200" dirty="0" err="1">
                <a:latin typeface="Times New Roman" pitchFamily="18" charset="0"/>
                <a:cs typeface="Times New Roman" pitchFamily="18" charset="0"/>
              </a:rPr>
              <a:t>Iyenger</a:t>
            </a:r>
            <a:r>
              <a:rPr lang="en-US" sz="2200" dirty="0">
                <a:latin typeface="Times New Roman" pitchFamily="18" charset="0"/>
                <a:cs typeface="Times New Roman" pitchFamily="18" charset="0"/>
              </a:rPr>
              <a:t>: Advance Engineering Mathematics; </a:t>
            </a:r>
            <a:r>
              <a:rPr lang="en-US" sz="2200" dirty="0" err="1">
                <a:latin typeface="Times New Roman" pitchFamily="18" charset="0"/>
                <a:cs typeface="Times New Roman" pitchFamily="18" charset="0"/>
              </a:rPr>
              <a:t>Narosa</a:t>
            </a:r>
            <a:r>
              <a:rPr lang="en-US" sz="2200" dirty="0">
                <a:latin typeface="Times New Roman" pitchFamily="18" charset="0"/>
                <a:cs typeface="Times New Roman" pitchFamily="18" charset="0"/>
              </a:rPr>
              <a:t> Publishing House, New Delhi.</a:t>
            </a: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J.N. </a:t>
            </a:r>
            <a:r>
              <a:rPr lang="en-US" sz="2200" dirty="0" err="1">
                <a:latin typeface="Times New Roman" pitchFamily="18" charset="0"/>
                <a:cs typeface="Times New Roman" pitchFamily="18" charset="0"/>
              </a:rPr>
              <a:t>Kapur</a:t>
            </a:r>
            <a:r>
              <a:rPr lang="en-US" sz="2200" dirty="0">
                <a:latin typeface="Times New Roman" pitchFamily="18" charset="0"/>
                <a:cs typeface="Times New Roman" pitchFamily="18" charset="0"/>
              </a:rPr>
              <a:t>: Mathematical Statistics; S. Chand &amp; Sons Company Limited, New Delhi.</a:t>
            </a:r>
          </a:p>
          <a:p>
            <a:pPr lvl="0"/>
            <a:endParaRPr lang="en-US" sz="2200" dirty="0">
              <a:latin typeface="Times New Roman" pitchFamily="18" charset="0"/>
              <a:cs typeface="Times New Roman" pitchFamily="18" charset="0"/>
            </a:endParaRPr>
          </a:p>
          <a:p>
            <a:pPr lvl="0"/>
            <a:r>
              <a:rPr lang="en-US" sz="2200" dirty="0" err="1">
                <a:latin typeface="Times New Roman" pitchFamily="18" charset="0"/>
                <a:cs typeface="Times New Roman" pitchFamily="18" charset="0"/>
              </a:rPr>
              <a:t>D.N.Elhance,V</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Elhance</a:t>
            </a:r>
            <a:r>
              <a:rPr lang="en-US" sz="2200" dirty="0">
                <a:latin typeface="Times New Roman" pitchFamily="18" charset="0"/>
                <a:cs typeface="Times New Roman" pitchFamily="18" charset="0"/>
              </a:rPr>
              <a:t> &amp; B.M. </a:t>
            </a:r>
            <a:r>
              <a:rPr lang="en-US" sz="2200" dirty="0" err="1">
                <a:latin typeface="Times New Roman" pitchFamily="18" charset="0"/>
                <a:cs typeface="Times New Roman" pitchFamily="18" charset="0"/>
              </a:rPr>
              <a:t>Aggarwal</a:t>
            </a:r>
            <a:r>
              <a:rPr lang="en-US" sz="2200" dirty="0">
                <a:latin typeface="Times New Roman" pitchFamily="18" charset="0"/>
                <a:cs typeface="Times New Roman" pitchFamily="18" charset="0"/>
              </a:rPr>
              <a:t>: Fundamentals of Statistics; </a:t>
            </a:r>
            <a:r>
              <a:rPr lang="en-US" sz="2200" dirty="0" err="1">
                <a:latin typeface="Times New Roman" pitchFamily="18" charset="0"/>
                <a:cs typeface="Times New Roman" pitchFamily="18" charset="0"/>
              </a:rPr>
              <a:t>Kitab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Mahal</a:t>
            </a:r>
            <a:r>
              <a:rPr lang="en-US" sz="2200" dirty="0">
                <a:latin typeface="Times New Roman" pitchFamily="18" charset="0"/>
                <a:cs typeface="Times New Roman" pitchFamily="18" charset="0"/>
              </a:rPr>
              <a:t> Distributers, New Delhi.</a:t>
            </a:r>
          </a:p>
          <a:p>
            <a:pPr lvl="0" algn="just">
              <a:buNone/>
            </a:pP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209800" y="6356350"/>
            <a:ext cx="5562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References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spTree>
    <p:extLst>
      <p:ext uri="{BB962C8B-B14F-4D97-AF65-F5344CB8AC3E}">
        <p14:creationId xmlns:p14="http://schemas.microsoft.com/office/powerpoint/2010/main" val="31776557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209800" y="6356350"/>
            <a:ext cx="5562600" cy="365125"/>
          </a:xfrm>
        </p:spPr>
        <p:txBody>
          <a:bodyPr/>
          <a:lstStyle/>
          <a:p>
            <a:r>
              <a:rPr lang="en-US"/>
              <a:t>Dr. Lokesh Chaudhary    Statistics and Probability    Module 2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9" name="Content Placeholder 8"/>
          <p:cNvSpPr>
            <a:spLocks noGrp="1"/>
          </p:cNvSpPr>
          <p:nvPr>
            <p:ph idx="1"/>
          </p:nvPr>
        </p:nvSpPr>
        <p:spPr>
          <a:xfrm>
            <a:off x="2745692" y="1143000"/>
            <a:ext cx="3805016" cy="1107996"/>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pic>
        <p:nvPicPr>
          <p:cNvPr id="3" name="Picture 2" descr="A logo for a company&#10;&#10;Description automatically generated">
            <a:extLst>
              <a:ext uri="{FF2B5EF4-FFF2-40B4-BE49-F238E27FC236}">
                <a16:creationId xmlns:a16="http://schemas.microsoft.com/office/drawing/2014/main" id="{DFC934B5-DC77-C588-BC40-03DF38B55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7762" y="2438400"/>
            <a:ext cx="6848475" cy="3276600"/>
          </a:xfrm>
          <a:prstGeom prst="rect">
            <a:avLst/>
          </a:prstGeom>
        </p:spPr>
      </p:pic>
    </p:spTree>
    <p:extLst>
      <p:ext uri="{BB962C8B-B14F-4D97-AF65-F5344CB8AC3E}">
        <p14:creationId xmlns:p14="http://schemas.microsoft.com/office/powerpoint/2010/main" val="2614504104"/>
      </p:ext>
    </p:extLst>
  </p:cSld>
  <p:clrMapOvr>
    <a:masterClrMapping/>
  </p:clrMapOvr>
  <p:transition spd="slow">
    <p:push dir="u"/>
  </p:transition>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00000"/>
      </a:dk2>
      <a:lt2>
        <a:srgbClr val="EEECE1"/>
      </a:lt2>
      <a:accent1>
        <a:srgbClr val="FF0000"/>
      </a:accent1>
      <a:accent2>
        <a:srgbClr val="FF0000"/>
      </a:accent2>
      <a:accent3>
        <a:srgbClr val="FF0000"/>
      </a:accent3>
      <a:accent4>
        <a:srgbClr val="FF0000"/>
      </a:accent4>
      <a:accent5>
        <a:srgbClr val="FF0000"/>
      </a:accent5>
      <a:accent6>
        <a:srgbClr val="FF0000"/>
      </a:accent6>
      <a:hlink>
        <a:srgbClr val="0000FF"/>
      </a:hlink>
      <a:folHlink>
        <a:srgbClr val="0000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5F5D2497114C46BF668ACF705D6D91" ma:contentTypeVersion="6" ma:contentTypeDescription="Create a new document." ma:contentTypeScope="" ma:versionID="e1d907458d78491f7eb7a4723304f702">
  <xsd:schema xmlns:xsd="http://www.w3.org/2001/XMLSchema" xmlns:xs="http://www.w3.org/2001/XMLSchema" xmlns:p="http://schemas.microsoft.com/office/2006/metadata/properties" xmlns:ns2="1272c761-4f4b-4b2f-848f-3595bd28f94f" xmlns:ns3="ade6cbf7-db5e-4e10-bca8-d98d5ec0529f" targetNamespace="http://schemas.microsoft.com/office/2006/metadata/properties" ma:root="true" ma:fieldsID="7c2f0fa6a83d8244edb5e790f580adc2" ns2:_="" ns3:_="">
    <xsd:import namespace="1272c761-4f4b-4b2f-848f-3595bd28f94f"/>
    <xsd:import namespace="ade6cbf7-db5e-4e10-bca8-d98d5ec052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72c761-4f4b-4b2f-848f-3595bd28f9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e6cbf7-db5e-4e10-bca8-d98d5ec0529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BB91B8-0FB3-4275-8DD3-0B929DA4986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243C0A8-2775-4EF1-94AF-9D2C2050DC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72c761-4f4b-4b2f-848f-3595bd28f94f"/>
    <ds:schemaRef ds:uri="ade6cbf7-db5e-4e10-bca8-d98d5ec052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7CA4D7-3648-4A15-88A2-BD87D9309E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7400</TotalTime>
  <Words>7173</Words>
  <Application>Microsoft Office PowerPoint</Application>
  <PresentationFormat>On-screen Show (4:3)</PresentationFormat>
  <Paragraphs>1614</Paragraphs>
  <Slides>91</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91</vt:i4>
      </vt:variant>
    </vt:vector>
  </HeadingPairs>
  <TitlesOfParts>
    <vt:vector size="104" baseType="lpstr">
      <vt:lpstr>PMingLiU</vt:lpstr>
      <vt:lpstr>Arial</vt:lpstr>
      <vt:lpstr>Calibri</vt:lpstr>
      <vt:lpstr>Cambria Math</vt:lpstr>
      <vt:lpstr>Georgia</vt:lpstr>
      <vt:lpstr>Lucida Sans</vt:lpstr>
      <vt:lpstr>Lucida Sans Unicode</vt:lpstr>
      <vt:lpstr>Tahoma</vt:lpstr>
      <vt:lpstr>Times New Roman</vt:lpstr>
      <vt:lpstr>Trebuchet MS</vt:lpstr>
      <vt:lpstr>Verdana</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End Semester Question Paper (CO2)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Dr Lokesh Chaudhary</cp:lastModifiedBy>
  <cp:revision>169</cp:revision>
  <dcterms:created xsi:type="dcterms:W3CDTF">2006-08-16T00:00:00Z</dcterms:created>
  <dcterms:modified xsi:type="dcterms:W3CDTF">2025-07-28T04:16:16Z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0x010100465F5D2497114C46BF668ACF705D6D91</vt:lpwstr>
  </property>
</Properties>
</file>