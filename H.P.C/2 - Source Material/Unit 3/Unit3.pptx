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90"/>
  </p:notesMasterIdLst>
  <p:sldIdLst>
    <p:sldId id="373" r:id="rId2"/>
    <p:sldId id="589" r:id="rId3"/>
    <p:sldId id="1414" r:id="rId4"/>
    <p:sldId id="278" r:id="rId5"/>
    <p:sldId id="279" r:id="rId6"/>
    <p:sldId id="1415" r:id="rId7"/>
    <p:sldId id="1402" r:id="rId8"/>
    <p:sldId id="399" r:id="rId9"/>
    <p:sldId id="398" r:id="rId10"/>
    <p:sldId id="400" r:id="rId11"/>
    <p:sldId id="401" r:id="rId12"/>
    <p:sldId id="408" r:id="rId13"/>
    <p:sldId id="1416" r:id="rId14"/>
    <p:sldId id="1417" r:id="rId15"/>
    <p:sldId id="1418" r:id="rId16"/>
    <p:sldId id="1408" r:id="rId17"/>
    <p:sldId id="1409" r:id="rId18"/>
    <p:sldId id="1419" r:id="rId19"/>
    <p:sldId id="1420" r:id="rId20"/>
    <p:sldId id="1406" r:id="rId21"/>
    <p:sldId id="380" r:id="rId22"/>
    <p:sldId id="259" r:id="rId23"/>
    <p:sldId id="455" r:id="rId24"/>
    <p:sldId id="457" r:id="rId25"/>
    <p:sldId id="459" r:id="rId26"/>
    <p:sldId id="458" r:id="rId27"/>
    <p:sldId id="456" r:id="rId28"/>
    <p:sldId id="460" r:id="rId29"/>
    <p:sldId id="461" r:id="rId30"/>
    <p:sldId id="462" r:id="rId31"/>
    <p:sldId id="463" r:id="rId32"/>
    <p:sldId id="464" r:id="rId33"/>
    <p:sldId id="465" r:id="rId34"/>
    <p:sldId id="466" r:id="rId35"/>
    <p:sldId id="467" r:id="rId36"/>
    <p:sldId id="468" r:id="rId37"/>
    <p:sldId id="469" r:id="rId38"/>
    <p:sldId id="470" r:id="rId39"/>
    <p:sldId id="471" r:id="rId40"/>
    <p:sldId id="472" r:id="rId41"/>
    <p:sldId id="541" r:id="rId42"/>
    <p:sldId id="473" r:id="rId43"/>
    <p:sldId id="475" r:id="rId44"/>
    <p:sldId id="476" r:id="rId45"/>
    <p:sldId id="477" r:id="rId46"/>
    <p:sldId id="478" r:id="rId47"/>
    <p:sldId id="479" r:id="rId48"/>
    <p:sldId id="480" r:id="rId49"/>
    <p:sldId id="481" r:id="rId50"/>
    <p:sldId id="482" r:id="rId51"/>
    <p:sldId id="483" r:id="rId52"/>
    <p:sldId id="484" r:id="rId53"/>
    <p:sldId id="485" r:id="rId54"/>
    <p:sldId id="487" r:id="rId55"/>
    <p:sldId id="488" r:id="rId56"/>
    <p:sldId id="489" r:id="rId57"/>
    <p:sldId id="490" r:id="rId58"/>
    <p:sldId id="491" r:id="rId59"/>
    <p:sldId id="492" r:id="rId60"/>
    <p:sldId id="493" r:id="rId61"/>
    <p:sldId id="494" r:id="rId62"/>
    <p:sldId id="495" r:id="rId63"/>
    <p:sldId id="496" r:id="rId64"/>
    <p:sldId id="497" r:id="rId65"/>
    <p:sldId id="498" r:id="rId66"/>
    <p:sldId id="499" r:id="rId67"/>
    <p:sldId id="500" r:id="rId68"/>
    <p:sldId id="501" r:id="rId69"/>
    <p:sldId id="502" r:id="rId70"/>
    <p:sldId id="503" r:id="rId71"/>
    <p:sldId id="504" r:id="rId72"/>
    <p:sldId id="505" r:id="rId73"/>
    <p:sldId id="506" r:id="rId74"/>
    <p:sldId id="507" r:id="rId75"/>
    <p:sldId id="542" r:id="rId76"/>
    <p:sldId id="508" r:id="rId77"/>
    <p:sldId id="509" r:id="rId78"/>
    <p:sldId id="510" r:id="rId79"/>
    <p:sldId id="511" r:id="rId80"/>
    <p:sldId id="512" r:id="rId81"/>
    <p:sldId id="403" r:id="rId82"/>
    <p:sldId id="413" r:id="rId83"/>
    <p:sldId id="382" r:id="rId84"/>
    <p:sldId id="407" r:id="rId85"/>
    <p:sldId id="405" r:id="rId86"/>
    <p:sldId id="406" r:id="rId87"/>
    <p:sldId id="440" r:id="rId88"/>
    <p:sldId id="381" r:id="rId89"/>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0449" autoAdjust="0"/>
    <p:restoredTop sz="94660"/>
  </p:normalViewPr>
  <p:slideViewPr>
    <p:cSldViewPr>
      <p:cViewPr varScale="1">
        <p:scale>
          <a:sx n="78" d="100"/>
          <a:sy n="78" d="100"/>
        </p:scale>
        <p:origin x="1834" y="67"/>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notesMaster" Target="notesMasters/notesMaster1.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viewProps" Target="viewProps.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A8EDD347-E84C-4DE1-B05A-57DD3CFD2779}" type="datetimeFigureOut">
              <a:rPr lang="en-US" smtClean="0"/>
              <a:pPr/>
              <a:t>21-Jul-25</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947AD8FC-0AFC-4B57-9194-49A50038C8E4}"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635F52E-BA8C-4FAB-BCFA-C67A14D9CE22}"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56700019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635F52E-BA8C-4FAB-BCFA-C67A14D9CE22}" type="slidenum">
              <a:rPr lang="en-US" smtClean="0"/>
              <a:pPr/>
              <a:t>2</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42425D3-3439-404A-93A1-697D43ECE8AA}" type="slidenum">
              <a:rPr lang="en-IN" smtClean="0"/>
              <a:pPr/>
              <a:t>3</a:t>
            </a:fld>
            <a:endParaRPr lang="en-IN"/>
          </a:p>
        </p:txBody>
      </p:sp>
    </p:spTree>
    <p:extLst>
      <p:ext uri="{BB962C8B-B14F-4D97-AF65-F5344CB8AC3E}">
        <p14:creationId xmlns:p14="http://schemas.microsoft.com/office/powerpoint/2010/main" val="51480152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635F52E-BA8C-4FAB-BCFA-C67A14D9CE22}" type="slidenum">
              <a:rPr lang="en-US" smtClean="0"/>
              <a:pPr/>
              <a:t>9</a:t>
            </a:fld>
            <a:endParaRPr lang="en-US"/>
          </a:p>
        </p:txBody>
      </p:sp>
    </p:spTree>
    <p:extLst>
      <p:ext uri="{BB962C8B-B14F-4D97-AF65-F5344CB8AC3E}">
        <p14:creationId xmlns:p14="http://schemas.microsoft.com/office/powerpoint/2010/main" val="279101372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67BD567D-3165-4011-83B0-09EFA9F7DF83}" type="datetime1">
              <a:rPr lang="en-IN" smtClean="0"/>
              <a:t>21-07-2025</a:t>
            </a:fld>
            <a:endParaRPr lang="en-US"/>
          </a:p>
        </p:txBody>
      </p:sp>
      <p:sp>
        <p:nvSpPr>
          <p:cNvPr id="5" name="Footer Placeholder 4"/>
          <p:cNvSpPr>
            <a:spLocks noGrp="1"/>
          </p:cNvSpPr>
          <p:nvPr>
            <p:ph type="ftr" sz="quarter" idx="11"/>
          </p:nvPr>
        </p:nvSpPr>
        <p:spPr/>
        <p:txBody>
          <a:bodyPr/>
          <a:lstStyle/>
          <a:p>
            <a:r>
              <a:rPr lang="en-US"/>
              <a:t>Ms. Purnima Pal      High Performance Computing             Unit III     </a:t>
            </a:r>
          </a:p>
        </p:txBody>
      </p:sp>
      <p:sp>
        <p:nvSpPr>
          <p:cNvPr id="6" name="Slide Number Placeholder 5"/>
          <p:cNvSpPr>
            <a:spLocks noGrp="1"/>
          </p:cNvSpPr>
          <p:nvPr>
            <p:ph type="sldNum" sz="quarter" idx="12"/>
          </p:nvPr>
        </p:nvSpPr>
        <p:spPr/>
        <p:txBody>
          <a:bodyPr/>
          <a:lstStyle/>
          <a:p>
            <a:fld id="{AE566132-A42B-4D26-9C08-B059D352BBB6}"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431EEAB-9522-49AC-AAF2-B48F62D6AE82}" type="datetime1">
              <a:rPr lang="en-IN" smtClean="0"/>
              <a:t>21-07-2025</a:t>
            </a:fld>
            <a:endParaRPr lang="en-US" dirty="0"/>
          </a:p>
        </p:txBody>
      </p:sp>
      <p:sp>
        <p:nvSpPr>
          <p:cNvPr id="5" name="Footer Placeholder 4"/>
          <p:cNvSpPr>
            <a:spLocks noGrp="1"/>
          </p:cNvSpPr>
          <p:nvPr>
            <p:ph type="ftr" sz="quarter" idx="11"/>
          </p:nvPr>
        </p:nvSpPr>
        <p:spPr/>
        <p:txBody>
          <a:bodyPr/>
          <a:lstStyle/>
          <a:p>
            <a:r>
              <a:rPr lang="en-US"/>
              <a:t>Ms. Purnima Pal      High Performance Computing             Unit III     </a:t>
            </a:r>
            <a:endParaRPr lang="en-US" dirty="0"/>
          </a:p>
        </p:txBody>
      </p:sp>
      <p:sp>
        <p:nvSpPr>
          <p:cNvPr id="6" name="Slide Number Placeholder 5"/>
          <p:cNvSpPr>
            <a:spLocks noGrp="1"/>
          </p:cNvSpPr>
          <p:nvPr>
            <p:ph type="sldNum" sz="quarter" idx="12"/>
          </p:nvPr>
        </p:nvSpPr>
        <p:spPr/>
        <p:txBody>
          <a:bodyPr/>
          <a:lstStyle/>
          <a:p>
            <a:fld id="{AE566132-A42B-4D26-9C08-B059D352BBB6}"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F169ED2-1E95-47D2-93AE-2E62961F8F90}" type="datetime1">
              <a:rPr lang="en-IN" smtClean="0"/>
              <a:t>21-07-2025</a:t>
            </a:fld>
            <a:endParaRPr lang="en-US"/>
          </a:p>
        </p:txBody>
      </p:sp>
      <p:sp>
        <p:nvSpPr>
          <p:cNvPr id="5" name="Footer Placeholder 4"/>
          <p:cNvSpPr>
            <a:spLocks noGrp="1"/>
          </p:cNvSpPr>
          <p:nvPr>
            <p:ph type="ftr" sz="quarter" idx="11"/>
          </p:nvPr>
        </p:nvSpPr>
        <p:spPr/>
        <p:txBody>
          <a:bodyPr/>
          <a:lstStyle/>
          <a:p>
            <a:r>
              <a:rPr lang="en-US"/>
              <a:t>Ms. Purnima Pal      High Performance Computing             Unit III     </a:t>
            </a:r>
          </a:p>
        </p:txBody>
      </p:sp>
      <p:sp>
        <p:nvSpPr>
          <p:cNvPr id="6" name="Slide Number Placeholder 5"/>
          <p:cNvSpPr>
            <a:spLocks noGrp="1"/>
          </p:cNvSpPr>
          <p:nvPr>
            <p:ph type="sldNum" sz="quarter" idx="12"/>
          </p:nvPr>
        </p:nvSpPr>
        <p:spPr/>
        <p:txBody>
          <a:bodyPr/>
          <a:lstStyle/>
          <a:p>
            <a:fld id="{AE566132-A42B-4D26-9C08-B059D352BBB6}"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384A787D-739F-42B4-8D07-E6F76D104F08}" type="datetime1">
              <a:rPr lang="en-IN" smtClean="0"/>
              <a:t>21-07-2025</a:t>
            </a:fld>
            <a:endParaRPr lang="en-US"/>
          </a:p>
        </p:txBody>
      </p:sp>
      <p:sp>
        <p:nvSpPr>
          <p:cNvPr id="6" name="Footer Placeholder 5"/>
          <p:cNvSpPr>
            <a:spLocks noGrp="1"/>
          </p:cNvSpPr>
          <p:nvPr>
            <p:ph type="ftr" sz="quarter" idx="11"/>
          </p:nvPr>
        </p:nvSpPr>
        <p:spPr/>
        <p:txBody>
          <a:bodyPr/>
          <a:lstStyle/>
          <a:p>
            <a:r>
              <a:rPr lang="en-US"/>
              <a:t>Ms. Purnima Pal      High Performance Computing             Unit III     </a:t>
            </a:r>
          </a:p>
        </p:txBody>
      </p:sp>
      <p:sp>
        <p:nvSpPr>
          <p:cNvPr id="7" name="Slide Number Placeholder 6"/>
          <p:cNvSpPr>
            <a:spLocks noGrp="1"/>
          </p:cNvSpPr>
          <p:nvPr>
            <p:ph type="sldNum" sz="quarter" idx="12"/>
          </p:nvPr>
        </p:nvSpPr>
        <p:spPr/>
        <p:txBody>
          <a:bodyPr/>
          <a:lstStyle/>
          <a:p>
            <a:fld id="{AE566132-A42B-4D26-9C08-B059D352BBB6}"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BE10AA62-32A6-42B4-A2AE-DFD713699CB6}" type="datetime1">
              <a:rPr lang="en-IN" smtClean="0"/>
              <a:t>21-07-2025</a:t>
            </a:fld>
            <a:endParaRPr lang="en-US"/>
          </a:p>
        </p:txBody>
      </p:sp>
      <p:sp>
        <p:nvSpPr>
          <p:cNvPr id="8" name="Footer Placeholder 7"/>
          <p:cNvSpPr>
            <a:spLocks noGrp="1"/>
          </p:cNvSpPr>
          <p:nvPr>
            <p:ph type="ftr" sz="quarter" idx="11"/>
          </p:nvPr>
        </p:nvSpPr>
        <p:spPr/>
        <p:txBody>
          <a:bodyPr/>
          <a:lstStyle/>
          <a:p>
            <a:r>
              <a:rPr lang="en-US"/>
              <a:t>Ms. Purnima Pal      High Performance Computing             Unit III     </a:t>
            </a:r>
          </a:p>
        </p:txBody>
      </p:sp>
      <p:sp>
        <p:nvSpPr>
          <p:cNvPr id="9" name="Slide Number Placeholder 8"/>
          <p:cNvSpPr>
            <a:spLocks noGrp="1"/>
          </p:cNvSpPr>
          <p:nvPr>
            <p:ph type="sldNum" sz="quarter" idx="12"/>
          </p:nvPr>
        </p:nvSpPr>
        <p:spPr/>
        <p:txBody>
          <a:bodyPr/>
          <a:lstStyle/>
          <a:p>
            <a:fld id="{AE566132-A42B-4D26-9C08-B059D352BBB6}"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F1158540-FB2F-43EA-AB01-11A2D2D25D4C}" type="datetime1">
              <a:rPr lang="en-IN" smtClean="0"/>
              <a:t>21-07-2025</a:t>
            </a:fld>
            <a:endParaRPr lang="en-US"/>
          </a:p>
        </p:txBody>
      </p:sp>
      <p:sp>
        <p:nvSpPr>
          <p:cNvPr id="4" name="Footer Placeholder 3"/>
          <p:cNvSpPr>
            <a:spLocks noGrp="1"/>
          </p:cNvSpPr>
          <p:nvPr>
            <p:ph type="ftr" sz="quarter" idx="11"/>
          </p:nvPr>
        </p:nvSpPr>
        <p:spPr/>
        <p:txBody>
          <a:bodyPr/>
          <a:lstStyle/>
          <a:p>
            <a:r>
              <a:rPr lang="en-US"/>
              <a:t>Ms. Purnima Pal      High Performance Computing             Unit III     </a:t>
            </a:r>
          </a:p>
        </p:txBody>
      </p:sp>
      <p:sp>
        <p:nvSpPr>
          <p:cNvPr id="5" name="Slide Number Placeholder 4"/>
          <p:cNvSpPr>
            <a:spLocks noGrp="1"/>
          </p:cNvSpPr>
          <p:nvPr>
            <p:ph type="sldNum" sz="quarter" idx="12"/>
          </p:nvPr>
        </p:nvSpPr>
        <p:spPr/>
        <p:txBody>
          <a:bodyPr/>
          <a:lstStyle/>
          <a:p>
            <a:fld id="{AE566132-A42B-4D26-9C08-B059D352BBB6}"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6FB4678-15CD-4846-A1D8-64D94F75A45A}" type="datetime1">
              <a:rPr lang="en-IN" smtClean="0"/>
              <a:t>21-07-2025</a:t>
            </a:fld>
            <a:endParaRPr lang="en-US"/>
          </a:p>
        </p:txBody>
      </p:sp>
      <p:sp>
        <p:nvSpPr>
          <p:cNvPr id="3" name="Footer Placeholder 2"/>
          <p:cNvSpPr>
            <a:spLocks noGrp="1"/>
          </p:cNvSpPr>
          <p:nvPr>
            <p:ph type="ftr" sz="quarter" idx="11"/>
          </p:nvPr>
        </p:nvSpPr>
        <p:spPr/>
        <p:txBody>
          <a:bodyPr/>
          <a:lstStyle/>
          <a:p>
            <a:r>
              <a:rPr lang="en-US"/>
              <a:t>Ms. Purnima Pal      High Performance Computing             Unit III     </a:t>
            </a:r>
          </a:p>
        </p:txBody>
      </p:sp>
      <p:sp>
        <p:nvSpPr>
          <p:cNvPr id="4" name="Slide Number Placeholder 3"/>
          <p:cNvSpPr>
            <a:spLocks noGrp="1"/>
          </p:cNvSpPr>
          <p:nvPr>
            <p:ph type="sldNum" sz="quarter" idx="12"/>
          </p:nvPr>
        </p:nvSpPr>
        <p:spPr/>
        <p:txBody>
          <a:bodyPr/>
          <a:lstStyle/>
          <a:p>
            <a:fld id="{AE566132-A42B-4D26-9C08-B059D352BBB6}"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28197B9-463A-4C3E-86C0-A493D25F2275}" type="datetime1">
              <a:rPr lang="en-IN" smtClean="0"/>
              <a:t>21-07-2025</a:t>
            </a:fld>
            <a:endParaRPr lang="en-US"/>
          </a:p>
        </p:txBody>
      </p:sp>
      <p:sp>
        <p:nvSpPr>
          <p:cNvPr id="6" name="Footer Placeholder 5"/>
          <p:cNvSpPr>
            <a:spLocks noGrp="1"/>
          </p:cNvSpPr>
          <p:nvPr>
            <p:ph type="ftr" sz="quarter" idx="11"/>
          </p:nvPr>
        </p:nvSpPr>
        <p:spPr/>
        <p:txBody>
          <a:bodyPr/>
          <a:lstStyle/>
          <a:p>
            <a:r>
              <a:rPr lang="en-US"/>
              <a:t>Ms. Purnima Pal      High Performance Computing             Unit III     </a:t>
            </a:r>
          </a:p>
        </p:txBody>
      </p:sp>
      <p:sp>
        <p:nvSpPr>
          <p:cNvPr id="7" name="Slide Number Placeholder 6"/>
          <p:cNvSpPr>
            <a:spLocks noGrp="1"/>
          </p:cNvSpPr>
          <p:nvPr>
            <p:ph type="sldNum" sz="quarter" idx="12"/>
          </p:nvPr>
        </p:nvSpPr>
        <p:spPr/>
        <p:txBody>
          <a:bodyPr/>
          <a:lstStyle/>
          <a:p>
            <a:fld id="{AE566132-A42B-4D26-9C08-B059D352BBB6}"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D0D9AC8C-DB72-42D5-A165-AD4D953E4D20}" type="datetime1">
              <a:rPr lang="en-IN" smtClean="0"/>
              <a:t>21-07-2025</a:t>
            </a:fld>
            <a:endParaRPr lang="en-US"/>
          </a:p>
        </p:txBody>
      </p:sp>
      <p:sp>
        <p:nvSpPr>
          <p:cNvPr id="6" name="Footer Placeholder 5"/>
          <p:cNvSpPr>
            <a:spLocks noGrp="1"/>
          </p:cNvSpPr>
          <p:nvPr>
            <p:ph type="ftr" sz="quarter" idx="11"/>
          </p:nvPr>
        </p:nvSpPr>
        <p:spPr/>
        <p:txBody>
          <a:bodyPr/>
          <a:lstStyle/>
          <a:p>
            <a:r>
              <a:rPr lang="en-US"/>
              <a:t>Ms. Purnima Pal      High Performance Computing             Unit III     </a:t>
            </a:r>
          </a:p>
        </p:txBody>
      </p:sp>
      <p:sp>
        <p:nvSpPr>
          <p:cNvPr id="7" name="Slide Number Placeholder 6"/>
          <p:cNvSpPr>
            <a:spLocks noGrp="1"/>
          </p:cNvSpPr>
          <p:nvPr>
            <p:ph type="sldNum" sz="quarter" idx="12"/>
          </p:nvPr>
        </p:nvSpPr>
        <p:spPr/>
        <p:txBody>
          <a:bodyPr/>
          <a:lstStyle/>
          <a:p>
            <a:fld id="{AE566132-A42B-4D26-9C08-B059D352BBB6}"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D0D5786-12D5-4F1B-8DD2-E0BCCEA390A7}" type="datetime1">
              <a:rPr lang="en-IN" smtClean="0"/>
              <a:t>21-07-2025</a:t>
            </a:fld>
            <a:endParaRPr lang="en-US"/>
          </a:p>
        </p:txBody>
      </p:sp>
      <p:sp>
        <p:nvSpPr>
          <p:cNvPr id="5" name="Footer Placeholder 4"/>
          <p:cNvSpPr>
            <a:spLocks noGrp="1"/>
          </p:cNvSpPr>
          <p:nvPr>
            <p:ph type="ftr" sz="quarter" idx="11"/>
          </p:nvPr>
        </p:nvSpPr>
        <p:spPr/>
        <p:txBody>
          <a:bodyPr/>
          <a:lstStyle/>
          <a:p>
            <a:r>
              <a:rPr lang="en-US"/>
              <a:t>Ms. Purnima Pal      High Performance Computing             Unit III     </a:t>
            </a:r>
          </a:p>
        </p:txBody>
      </p:sp>
      <p:sp>
        <p:nvSpPr>
          <p:cNvPr id="6" name="Slide Number Placeholder 5"/>
          <p:cNvSpPr>
            <a:spLocks noGrp="1"/>
          </p:cNvSpPr>
          <p:nvPr>
            <p:ph type="sldNum" sz="quarter" idx="12"/>
          </p:nvPr>
        </p:nvSpPr>
        <p:spPr/>
        <p:txBody>
          <a:bodyPr/>
          <a:lstStyle/>
          <a:p>
            <a:fld id="{AE566132-A42B-4D26-9C08-B059D352BBB6}"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FFBAD38-1886-4B1B-B766-928E6BC1C4F3}" type="datetime1">
              <a:rPr lang="en-IN" smtClean="0"/>
              <a:t>21-07-2025</a:t>
            </a:fld>
            <a:endParaRPr lang="en-US"/>
          </a:p>
        </p:txBody>
      </p:sp>
      <p:sp>
        <p:nvSpPr>
          <p:cNvPr id="5" name="Footer Placeholder 4"/>
          <p:cNvSpPr>
            <a:spLocks noGrp="1"/>
          </p:cNvSpPr>
          <p:nvPr>
            <p:ph type="ftr" sz="quarter" idx="11"/>
          </p:nvPr>
        </p:nvSpPr>
        <p:spPr/>
        <p:txBody>
          <a:bodyPr/>
          <a:lstStyle/>
          <a:p>
            <a:r>
              <a:rPr lang="en-US"/>
              <a:t>Ms. Purnima Pal      High Performance Computing             Unit III     </a:t>
            </a:r>
          </a:p>
        </p:txBody>
      </p:sp>
      <p:sp>
        <p:nvSpPr>
          <p:cNvPr id="6" name="Slide Number Placeholder 5"/>
          <p:cNvSpPr>
            <a:spLocks noGrp="1"/>
          </p:cNvSpPr>
          <p:nvPr>
            <p:ph type="sldNum" sz="quarter" idx="12"/>
          </p:nvPr>
        </p:nvSpPr>
        <p:spPr/>
        <p:txBody>
          <a:bodyPr/>
          <a:lstStyle/>
          <a:p>
            <a:fld id="{AE566132-A42B-4D26-9C08-B059D352BBB6}"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DB8E390-F077-42BC-A77A-9ED05D7DBF17}" type="datetime1">
              <a:rPr lang="en-IN" smtClean="0"/>
              <a:t>21-07-2025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Ms. Purnima Pal      High Performance Computing             Unit III     </a:t>
            </a: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E566132-A42B-4D26-9C08-B059D352BBB6}" type="slidenum">
              <a:rPr lang="en-US" smtClean="0"/>
              <a:pPr/>
              <a:t>‹#›</a:t>
            </a:fld>
            <a:endParaRPr lang="en-US"/>
          </a:p>
        </p:txBody>
      </p:sp>
      <p:pic>
        <p:nvPicPr>
          <p:cNvPr id="7" name="Picture 6" descr="A black and red logo&#10;&#10;Description automatically generated">
            <a:extLst>
              <a:ext uri="{FF2B5EF4-FFF2-40B4-BE49-F238E27FC236}">
                <a16:creationId xmlns:a16="http://schemas.microsoft.com/office/drawing/2014/main" id="{A0309466-8D94-E96D-EB57-075A1EA9C3E8}"/>
              </a:ext>
            </a:extLst>
          </p:cNvPr>
          <p:cNvPicPr>
            <a:picLocks noChangeAspect="1"/>
          </p:cNvPicPr>
          <p:nvPr userDrawn="1"/>
        </p:nvPicPr>
        <p:blipFill>
          <a:blip r:embed="rId13" cstate="print">
            <a:extLst>
              <a:ext uri="{28A0092B-C50C-407E-A947-70E740481C1C}">
                <a14:useLocalDpi xmlns:a14="http://schemas.microsoft.com/office/drawing/2010/main" val="0"/>
              </a:ext>
            </a:extLst>
          </a:blip>
          <a:stretch>
            <a:fillRect/>
          </a:stretch>
        </p:blipFill>
        <p:spPr>
          <a:xfrm>
            <a:off x="8138" y="-6486"/>
            <a:ext cx="1121546" cy="774573"/>
          </a:xfrm>
          <a:prstGeom prst="rect">
            <a:avLst/>
          </a:prstGeom>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png"/><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png"/><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7.xml"/><Relationship Id="rId5" Type="http://schemas.openxmlformats.org/officeDocument/2006/relationships/image" Target="../media/image2.png"/><Relationship Id="rId4" Type="http://schemas.openxmlformats.org/officeDocument/2006/relationships/image" Target="../media/image8.png"/></Relationships>
</file>

<file path=ppt/slides/_rels/slide1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2.png"/><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1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1460938" y="1066800"/>
            <a:ext cx="7149662" cy="1035050"/>
          </a:xfrm>
          <a:ln>
            <a:solidFill>
              <a:srgbClr val="C00000"/>
            </a:solidFill>
          </a:ln>
        </p:spPr>
        <p:style>
          <a:lnRef idx="2">
            <a:schemeClr val="accent5"/>
          </a:lnRef>
          <a:fillRef idx="1">
            <a:schemeClr val="lt1"/>
          </a:fillRef>
          <a:effectRef idx="0">
            <a:schemeClr val="accent5"/>
          </a:effectRef>
          <a:fontRef idx="minor">
            <a:schemeClr val="dk1"/>
          </a:fontRef>
        </p:style>
        <p:txBody>
          <a:bodyPr>
            <a:normAutofit/>
          </a:bodyPr>
          <a:lstStyle/>
          <a:p>
            <a:pPr lvl="0">
              <a:defRPr/>
            </a:pPr>
            <a:r>
              <a:rPr lang="en-IN" sz="2800" b="1" dirty="0">
                <a:effectLst/>
                <a:latin typeface="Times New Roman" panose="02020603050405020304" pitchFamily="18" charset="0"/>
                <a:ea typeface="Times New Roman" panose="02020603050405020304" pitchFamily="18" charset="0"/>
              </a:rPr>
              <a:t>Distributed Memory </a:t>
            </a:r>
            <a:endParaRPr lang="en-US" sz="2800" dirty="0">
              <a:solidFill>
                <a:schemeClr val="tx1"/>
              </a:solidFill>
            </a:endParaRPr>
          </a:p>
        </p:txBody>
      </p:sp>
      <p:sp>
        <p:nvSpPr>
          <p:cNvPr id="6" name="Subtitle 2"/>
          <p:cNvSpPr txBox="1">
            <a:spLocks/>
          </p:cNvSpPr>
          <p:nvPr/>
        </p:nvSpPr>
        <p:spPr>
          <a:xfrm>
            <a:off x="5791200" y="3962400"/>
            <a:ext cx="3048000" cy="1752600"/>
          </a:xfrm>
          <a:prstGeom prst="rect">
            <a:avLst/>
          </a:prstGeom>
          <a:ln>
            <a:solidFill>
              <a:srgbClr val="C00000"/>
            </a:solidFill>
          </a:ln>
        </p:spPr>
        <p:style>
          <a:lnRef idx="2">
            <a:schemeClr val="accent5"/>
          </a:lnRef>
          <a:fillRef idx="1">
            <a:schemeClr val="lt1"/>
          </a:fillRef>
          <a:effectRef idx="0">
            <a:schemeClr val="accent5"/>
          </a:effectRef>
          <a:fontRef idx="minor">
            <a:schemeClr val="dk1"/>
          </a:fontRef>
        </p:style>
        <p:txBody>
          <a:bodyPr vert="horz" lIns="91440" tIns="45720" rIns="91440" bIns="45720" rtlCol="0">
            <a:normAutofit/>
          </a:bodyPr>
          <a:lstStyle/>
          <a:p>
            <a:pPr algn="ctr">
              <a:spcBef>
                <a:spcPct val="20000"/>
              </a:spcBef>
              <a:defRPr/>
            </a:pPr>
            <a:r>
              <a:rPr lang="en-US" sz="2400" dirty="0">
                <a:solidFill>
                  <a:prstClr val="black"/>
                </a:solidFill>
                <a:latin typeface="Calibri"/>
              </a:rPr>
              <a:t>Ms. </a:t>
            </a:r>
            <a:r>
              <a:rPr lang="en-US" sz="2400" dirty="0">
                <a:solidFill>
                  <a:schemeClr val="tx1"/>
                </a:solidFill>
              </a:rPr>
              <a:t>Purnima Pal</a:t>
            </a:r>
          </a:p>
          <a:p>
            <a:pPr marL="0" marR="0" lvl="0" indent="0" algn="ctr"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2400" b="0" i="0" u="none" strike="noStrike" kern="1200" cap="none" spc="0" normalizeH="0" baseline="0" noProof="0" dirty="0">
                <a:ln>
                  <a:noFill/>
                </a:ln>
                <a:solidFill>
                  <a:prstClr val="black"/>
                </a:solidFill>
                <a:effectLst/>
                <a:uLnTx/>
                <a:uFillTx/>
                <a:latin typeface="Calibri"/>
                <a:ea typeface="+mn-ea"/>
                <a:cs typeface="+mn-cs"/>
              </a:rPr>
              <a:t>Assistant  Professor</a:t>
            </a:r>
          </a:p>
          <a:p>
            <a:pPr marL="0" marR="0" lvl="0" indent="0" algn="ctr"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2400" b="0" i="0" u="none" strike="noStrike" kern="1200" cap="none" spc="0" normalizeH="0" baseline="0" noProof="0" dirty="0">
                <a:ln>
                  <a:noFill/>
                </a:ln>
                <a:solidFill>
                  <a:prstClr val="black"/>
                </a:solidFill>
                <a:effectLst/>
                <a:uLnTx/>
                <a:uFillTx/>
                <a:latin typeface="Calibri"/>
                <a:ea typeface="+mn-ea"/>
                <a:cs typeface="+mn-cs"/>
              </a:rPr>
              <a:t>Department of CSE-AIML</a:t>
            </a:r>
          </a:p>
        </p:txBody>
      </p:sp>
      <p:sp>
        <p:nvSpPr>
          <p:cNvPr id="10" name="Slide Number Placeholder 9"/>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6F15528-21DE-4FAA-801E-634DDDAF4B2B}"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sp>
        <p:nvSpPr>
          <p:cNvPr id="12" name="Subtitle 2"/>
          <p:cNvSpPr txBox="1">
            <a:spLocks/>
          </p:cNvSpPr>
          <p:nvPr/>
        </p:nvSpPr>
        <p:spPr>
          <a:xfrm>
            <a:off x="152400" y="2971800"/>
            <a:ext cx="2057400" cy="533400"/>
          </a:xfrm>
          <a:prstGeom prst="rect">
            <a:avLst/>
          </a:prstGeom>
          <a:ln>
            <a:solidFill>
              <a:srgbClr val="C00000"/>
            </a:solidFill>
          </a:ln>
        </p:spPr>
        <p:style>
          <a:lnRef idx="2">
            <a:schemeClr val="accent5"/>
          </a:lnRef>
          <a:fillRef idx="1">
            <a:schemeClr val="lt1"/>
          </a:fillRef>
          <a:effectRef idx="0">
            <a:schemeClr val="accent5"/>
          </a:effectRef>
          <a:fontRef idx="minor">
            <a:schemeClr val="dk1"/>
          </a:fontRef>
        </p:style>
        <p:txBody>
          <a:bodyPr vert="horz" lIns="91440" tIns="45720" rIns="91440" bIns="45720" rtlCol="0">
            <a:normAutofit/>
          </a:bodyPr>
          <a:lstStyle/>
          <a:p>
            <a:pPr marL="0" marR="0" lvl="0" indent="0" algn="ctr"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2500" b="0" i="0" u="none" strike="noStrike" kern="1200" cap="none" spc="0" normalizeH="0" baseline="0" noProof="0" dirty="0">
                <a:ln>
                  <a:noFill/>
                </a:ln>
                <a:solidFill>
                  <a:prstClr val="black"/>
                </a:solidFill>
                <a:effectLst/>
                <a:uLnTx/>
                <a:uFillTx/>
                <a:latin typeface="Calibri"/>
                <a:ea typeface="+mn-ea"/>
                <a:cs typeface="+mn-cs"/>
              </a:rPr>
              <a:t>Unit: III</a:t>
            </a:r>
          </a:p>
        </p:txBody>
      </p:sp>
      <p:sp>
        <p:nvSpPr>
          <p:cNvPr id="13" name="Footer Placeholder 12"/>
          <p:cNvSpPr>
            <a:spLocks noGrp="1"/>
          </p:cNvSpPr>
          <p:nvPr>
            <p:ph type="ftr" sz="quarter" idx="11"/>
          </p:nvPr>
        </p:nvSpPr>
        <p:spPr>
          <a:xfrm>
            <a:off x="1600200" y="6391453"/>
            <a:ext cx="5443163" cy="365125"/>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tint val="75000"/>
                  </a:prstClr>
                </a:solidFill>
                <a:effectLst/>
                <a:uLnTx/>
                <a:uFillTx/>
                <a:latin typeface="Calibri"/>
                <a:ea typeface="+mn-ea"/>
                <a:cs typeface="+mn-cs"/>
              </a:rPr>
              <a:t>Ms. Purnima Pal      High Performance Computing             Unit III     </a:t>
            </a:r>
          </a:p>
        </p:txBody>
      </p:sp>
      <p:sp>
        <p:nvSpPr>
          <p:cNvPr id="14" name="Subtitle 2"/>
          <p:cNvSpPr txBox="1">
            <a:spLocks/>
          </p:cNvSpPr>
          <p:nvPr/>
        </p:nvSpPr>
        <p:spPr>
          <a:xfrm>
            <a:off x="228600" y="3810000"/>
            <a:ext cx="4191000" cy="838200"/>
          </a:xfrm>
          <a:prstGeom prst="rect">
            <a:avLst/>
          </a:prstGeom>
          <a:ln>
            <a:solidFill>
              <a:srgbClr val="C00000"/>
            </a:solidFill>
          </a:ln>
        </p:spPr>
        <p:style>
          <a:lnRef idx="2">
            <a:schemeClr val="accent5"/>
          </a:lnRef>
          <a:fillRef idx="1">
            <a:schemeClr val="lt1"/>
          </a:fillRef>
          <a:effectRef idx="0">
            <a:schemeClr val="accent5"/>
          </a:effectRef>
          <a:fontRef idx="minor">
            <a:schemeClr val="dk1"/>
          </a:fontRef>
        </p:style>
        <p:txBody>
          <a:bodyPr vert="horz" lIns="91440" tIns="45720" rIns="91440" bIns="45720" rtlCol="0">
            <a:noAutofit/>
          </a:bodyPr>
          <a:lstStyle/>
          <a:p>
            <a:pPr lvl="0" algn="ctr">
              <a:spcBef>
                <a:spcPct val="20000"/>
              </a:spcBef>
              <a:defRPr/>
            </a:pPr>
            <a:r>
              <a:rPr lang="en-IN" sz="2400" dirty="0">
                <a:solidFill>
                  <a:schemeClr val="tx1"/>
                </a:solidFill>
              </a:rPr>
              <a:t>High Performance Computing </a:t>
            </a:r>
          </a:p>
          <a:p>
            <a:pPr lvl="0" algn="ctr">
              <a:spcBef>
                <a:spcPct val="20000"/>
              </a:spcBef>
              <a:defRPr/>
            </a:pPr>
            <a:endParaRPr kumimoji="0" lang="en-US" sz="2400" b="0" i="0" u="none" strike="noStrike" kern="1200" cap="none" spc="0" normalizeH="0" baseline="0" noProof="0" dirty="0">
              <a:ln>
                <a:noFill/>
              </a:ln>
              <a:solidFill>
                <a:prstClr val="black"/>
              </a:solidFill>
              <a:effectLst/>
              <a:uLnTx/>
              <a:uFillTx/>
              <a:latin typeface="Calibri"/>
              <a:ea typeface="+mn-ea"/>
              <a:cs typeface="+mn-cs"/>
            </a:endParaRPr>
          </a:p>
        </p:txBody>
      </p:sp>
      <p:sp>
        <p:nvSpPr>
          <p:cNvPr id="15" name="Subtitle 2"/>
          <p:cNvSpPr txBox="1">
            <a:spLocks/>
          </p:cNvSpPr>
          <p:nvPr/>
        </p:nvSpPr>
        <p:spPr>
          <a:xfrm>
            <a:off x="152400" y="4876800"/>
            <a:ext cx="4191000" cy="838200"/>
          </a:xfrm>
          <a:prstGeom prst="rect">
            <a:avLst/>
          </a:prstGeom>
          <a:ln>
            <a:solidFill>
              <a:srgbClr val="C00000"/>
            </a:solidFill>
          </a:ln>
        </p:spPr>
        <p:style>
          <a:lnRef idx="2">
            <a:schemeClr val="accent5"/>
          </a:lnRef>
          <a:fillRef idx="1">
            <a:schemeClr val="lt1"/>
          </a:fillRef>
          <a:effectRef idx="0">
            <a:schemeClr val="accent5"/>
          </a:effectRef>
          <a:fontRef idx="minor">
            <a:schemeClr val="dk1"/>
          </a:fontRef>
        </p:style>
        <p:txBody>
          <a:bodyPr vert="horz" lIns="91440" tIns="45720" rIns="91440" bIns="45720" rtlCol="0">
            <a:normAutofit/>
          </a:bodyPr>
          <a:lstStyle/>
          <a:p>
            <a:pPr marL="0" marR="0" lvl="0" indent="0" algn="ctr" defTabSz="914400" rtl="0" eaLnBrk="1" fontAlgn="auto" latinLnBrk="0" hangingPunct="1">
              <a:lnSpc>
                <a:spcPct val="100000"/>
              </a:lnSpc>
              <a:spcBef>
                <a:spcPct val="20000"/>
              </a:spcBef>
              <a:spcAft>
                <a:spcPts val="0"/>
              </a:spcAft>
              <a:buClrTx/>
              <a:buSzTx/>
              <a:buFont typeface="Arial" pitchFamily="34" charset="0"/>
              <a:buNone/>
              <a:tabLst/>
              <a:defRPr/>
            </a:pPr>
            <a:br>
              <a:rPr kumimoji="0" lang="en-US" sz="2000" b="0" i="0" u="none" strike="noStrike" kern="1200" cap="none" spc="0" normalizeH="0" baseline="0" noProof="0" dirty="0">
                <a:ln>
                  <a:noFill/>
                </a:ln>
                <a:solidFill>
                  <a:prstClr val="black"/>
                </a:solidFill>
                <a:effectLst/>
                <a:uLnTx/>
                <a:uFillTx/>
                <a:latin typeface="Calibri"/>
                <a:ea typeface="+mn-ea"/>
                <a:cs typeface="+mn-cs"/>
              </a:rPr>
            </a:br>
            <a:r>
              <a:rPr kumimoji="0" lang="en-US" sz="2400" b="0" i="0" u="none" strike="noStrike" kern="1200" cap="none" spc="0" normalizeH="0" baseline="0" noProof="0" dirty="0">
                <a:ln>
                  <a:noFill/>
                </a:ln>
                <a:solidFill>
                  <a:prstClr val="black"/>
                </a:solidFill>
                <a:effectLst/>
                <a:uLnTx/>
                <a:uFillTx/>
                <a:latin typeface="Calibri"/>
                <a:ea typeface="+mn-ea"/>
                <a:cs typeface="+mn-cs"/>
              </a:rPr>
              <a:t>( B Tech 3</a:t>
            </a:r>
            <a:r>
              <a:rPr lang="en-US" sz="2400" baseline="30000" dirty="0" err="1">
                <a:solidFill>
                  <a:prstClr val="black"/>
                </a:solidFill>
                <a:latin typeface="Calibri"/>
              </a:rPr>
              <a:t>rd</a:t>
            </a:r>
            <a:r>
              <a:rPr kumimoji="0" lang="en-US" sz="2400" b="0" i="0" u="none" strike="noStrike" kern="1200" cap="none" spc="0" normalizeH="0" baseline="0" noProof="0" dirty="0">
                <a:ln>
                  <a:noFill/>
                </a:ln>
                <a:solidFill>
                  <a:prstClr val="black"/>
                </a:solidFill>
                <a:effectLst/>
                <a:uLnTx/>
                <a:uFillTx/>
                <a:latin typeface="Calibri"/>
                <a:ea typeface="+mn-ea"/>
                <a:cs typeface="+mn-cs"/>
              </a:rPr>
              <a:t> Sem)</a:t>
            </a:r>
          </a:p>
        </p:txBody>
      </p:sp>
      <p:sp>
        <p:nvSpPr>
          <p:cNvPr id="4" name="Date Placeholder 3"/>
          <p:cNvSpPr>
            <a:spLocks noGrp="1"/>
          </p:cNvSpPr>
          <p:nvPr>
            <p:ph type="dt" sz="half" idx="10"/>
          </p:nvPr>
        </p:nvSpPr>
        <p:spPr/>
        <p:txBody>
          <a:bodyPr/>
          <a:lstStyle/>
          <a:p>
            <a:fld id="{DB4FF2A6-7A74-4316-A4F6-15E4ADD05ABC}" type="datetime1">
              <a:rPr lang="en-IN" smtClean="0"/>
              <a:t>21-07-2025</a:t>
            </a:fld>
            <a:endParaRPr lang="en-US"/>
          </a:p>
        </p:txBody>
      </p:sp>
      <p:sp>
        <p:nvSpPr>
          <p:cNvPr id="2" name="Title 1">
            <a:extLst>
              <a:ext uri="{FF2B5EF4-FFF2-40B4-BE49-F238E27FC236}">
                <a16:creationId xmlns:a16="http://schemas.microsoft.com/office/drawing/2014/main" id="{89288EAD-4349-72EB-3563-3C584CB9E934}"/>
              </a:ext>
            </a:extLst>
          </p:cNvPr>
          <p:cNvSpPr>
            <a:spLocks noGrp="1"/>
          </p:cNvSpPr>
          <p:nvPr>
            <p:ph type="ctrTitle"/>
          </p:nvPr>
        </p:nvSpPr>
        <p:spPr>
          <a:xfrm>
            <a:off x="1163858" y="0"/>
            <a:ext cx="7980142" cy="890103"/>
          </a:xfr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a:noAutofit/>
          </a:bodyPr>
          <a:lstStyle/>
          <a:p>
            <a:r>
              <a:rPr lang="en-US" sz="2400" dirty="0"/>
              <a:t>Noida Institute of Engineering and Technology, Greater Noida</a:t>
            </a:r>
          </a:p>
        </p:txBody>
      </p:sp>
    </p:spTree>
    <p:extLst>
      <p:ext uri="{BB962C8B-B14F-4D97-AF65-F5344CB8AC3E}">
        <p14:creationId xmlns:p14="http://schemas.microsoft.com/office/powerpoint/2010/main" val="392832687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Date Placeholder 5"/>
          <p:cNvSpPr>
            <a:spLocks noGrp="1"/>
          </p:cNvSpPr>
          <p:nvPr>
            <p:ph type="dt" sz="half" idx="10"/>
          </p:nvPr>
        </p:nvSpPr>
        <p:spPr/>
        <p:txBody>
          <a:bodyPr/>
          <a:lstStyle/>
          <a:p>
            <a:fld id="{F2929FFE-E613-46D4-B948-7987C1F8B049}" type="datetime1">
              <a:rPr lang="en-IN" smtClean="0"/>
              <a:t>21-07-2025</a:t>
            </a:fld>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2</a:t>
            </a:fld>
            <a:endParaRPr lang="en-US"/>
          </a:p>
        </p:txBody>
      </p:sp>
      <p:sp>
        <p:nvSpPr>
          <p:cNvPr id="8" name="Title 1"/>
          <p:cNvSpPr txBox="1">
            <a:spLocks/>
          </p:cNvSpPr>
          <p:nvPr/>
        </p:nvSpPr>
        <p:spPr>
          <a:xfrm>
            <a:off x="1470526" y="2881"/>
            <a:ext cx="7673474" cy="771514"/>
          </a:xfrm>
          <a:prstGeom prst="rect">
            <a:avLst/>
          </a:prstGeom>
          <a:gradFill flip="none" rotWithShape="1">
            <a:gsLst>
              <a:gs pos="0">
                <a:srgbClr val="FF7979">
                  <a:tint val="66000"/>
                  <a:satMod val="160000"/>
                </a:srgbClr>
              </a:gs>
              <a:gs pos="50000">
                <a:srgbClr val="FF7979">
                  <a:tint val="44500"/>
                  <a:satMod val="160000"/>
                </a:srgbClr>
              </a:gs>
              <a:gs pos="100000">
                <a:srgbClr val="FF7979">
                  <a:tint val="23500"/>
                  <a:satMod val="160000"/>
                </a:srgbClr>
              </a:gs>
            </a:gsLst>
            <a:lin ang="810000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marR="0" indent="0" algn="ctr" fontAlgn="auto">
              <a:lnSpc>
                <a:spcPct val="100000"/>
              </a:lnSpc>
              <a:spcBef>
                <a:spcPct val="0"/>
              </a:spcBef>
              <a:spcAft>
                <a:spcPts val="0"/>
              </a:spcAft>
              <a:buClrTx/>
              <a:buSzTx/>
              <a:buFontTx/>
              <a:buNone/>
              <a:tabLst/>
              <a:defRPr/>
            </a:pPr>
            <a:r>
              <a:rPr lang="en-US" sz="2400" b="1" dirty="0">
                <a:solidFill>
                  <a:schemeClr val="tx1"/>
                </a:solidFill>
                <a:latin typeface="Times New Roman" panose="02020603050405020304" pitchFamily="18" charset="0"/>
                <a:cs typeface="Times New Roman" panose="02020603050405020304" pitchFamily="18" charset="0"/>
              </a:rPr>
              <a:t>Faculty Profile</a:t>
            </a:r>
          </a:p>
        </p:txBody>
      </p:sp>
      <p:sp>
        <p:nvSpPr>
          <p:cNvPr id="11" name="Footer Placeholder 4"/>
          <p:cNvSpPr>
            <a:spLocks noGrp="1"/>
          </p:cNvSpPr>
          <p:nvPr>
            <p:ph type="ftr" sz="quarter" idx="11"/>
          </p:nvPr>
        </p:nvSpPr>
        <p:spPr>
          <a:xfrm>
            <a:off x="2514600" y="6356350"/>
            <a:ext cx="5029200" cy="365125"/>
          </a:xfrm>
        </p:spPr>
        <p:txBody>
          <a:bodyPr/>
          <a:lstStyle/>
          <a:p>
            <a:r>
              <a:rPr lang="en-US"/>
              <a:t>Ms. Purnima Pal      High Performance Computing             Unit III     </a:t>
            </a:r>
            <a:endParaRPr lang="en-US" dirty="0"/>
          </a:p>
        </p:txBody>
      </p:sp>
      <p:sp>
        <p:nvSpPr>
          <p:cNvPr id="10" name="TextBox 9"/>
          <p:cNvSpPr txBox="1"/>
          <p:nvPr/>
        </p:nvSpPr>
        <p:spPr>
          <a:xfrm>
            <a:off x="762000" y="1447800"/>
            <a:ext cx="5970240" cy="2862322"/>
          </a:xfrm>
          <a:prstGeom prst="rect">
            <a:avLst/>
          </a:prstGeom>
          <a:noFill/>
        </p:spPr>
        <p:txBody>
          <a:bodyPr wrap="square" rtlCol="0">
            <a:spAutoFit/>
          </a:bodyPr>
          <a:lstStyle/>
          <a:p>
            <a:pPr algn="just"/>
            <a:r>
              <a:rPr lang="en-US" b="1" dirty="0">
                <a:latin typeface="Times New Roman" pitchFamily="18" charset="0"/>
                <a:cs typeface="Times New Roman" pitchFamily="18" charset="0"/>
              </a:rPr>
              <a:t>FACULTY PROFILE</a:t>
            </a:r>
          </a:p>
          <a:p>
            <a:pPr algn="just"/>
            <a:endParaRPr lang="en-US" dirty="0">
              <a:latin typeface="Times New Roman" pitchFamily="18" charset="0"/>
              <a:cs typeface="Times New Roman" pitchFamily="18" charset="0"/>
            </a:endParaRPr>
          </a:p>
          <a:p>
            <a:pPr algn="just"/>
            <a:r>
              <a:rPr lang="en-US" b="1" dirty="0">
                <a:latin typeface="Times New Roman" pitchFamily="18" charset="0"/>
                <a:cs typeface="Times New Roman" pitchFamily="18" charset="0"/>
              </a:rPr>
              <a:t>Name of Faculty: Ms. Purnima Pal</a:t>
            </a:r>
            <a:endParaRPr lang="en-US" dirty="0">
              <a:latin typeface="Times New Roman" pitchFamily="18" charset="0"/>
              <a:cs typeface="Times New Roman" pitchFamily="18" charset="0"/>
            </a:endParaRPr>
          </a:p>
          <a:p>
            <a:pPr algn="just"/>
            <a:r>
              <a:rPr lang="en-US" b="1" dirty="0">
                <a:latin typeface="Times New Roman" pitchFamily="18" charset="0"/>
                <a:cs typeface="Times New Roman" pitchFamily="18" charset="0"/>
              </a:rPr>
              <a:t>Designation &amp; Department: </a:t>
            </a:r>
            <a:r>
              <a:rPr lang="en-US" dirty="0" err="1">
                <a:latin typeface="Times New Roman" pitchFamily="18" charset="0"/>
                <a:cs typeface="Times New Roman" pitchFamily="18" charset="0"/>
              </a:rPr>
              <a:t>Assisstant</a:t>
            </a:r>
            <a:r>
              <a:rPr lang="en-US" dirty="0">
                <a:latin typeface="Times New Roman" pitchFamily="18" charset="0"/>
                <a:cs typeface="Times New Roman" pitchFamily="18" charset="0"/>
              </a:rPr>
              <a:t> Professor , CSE-AIML Dept.</a:t>
            </a:r>
          </a:p>
          <a:p>
            <a:pPr algn="just"/>
            <a:endParaRPr lang="en-US" dirty="0">
              <a:latin typeface="Times New Roman" pitchFamily="18" charset="0"/>
              <a:cs typeface="Times New Roman" pitchFamily="18" charset="0"/>
            </a:endParaRPr>
          </a:p>
          <a:p>
            <a:pPr algn="just"/>
            <a:r>
              <a:rPr lang="en-US" b="1" dirty="0">
                <a:latin typeface="Times New Roman" pitchFamily="18" charset="0"/>
                <a:cs typeface="Times New Roman" pitchFamily="18" charset="0"/>
              </a:rPr>
              <a:t>Qualification: </a:t>
            </a:r>
            <a:r>
              <a:rPr lang="en-US" dirty="0" err="1">
                <a:latin typeface="Times New Roman" pitchFamily="18" charset="0"/>
                <a:cs typeface="Times New Roman" pitchFamily="18" charset="0"/>
              </a:rPr>
              <a:t>B.Tech</a:t>
            </a:r>
            <a:r>
              <a:rPr lang="en-US" dirty="0">
                <a:latin typeface="Times New Roman" pitchFamily="18" charset="0"/>
                <a:cs typeface="Times New Roman" pitchFamily="18" charset="0"/>
              </a:rPr>
              <a:t> , MTech &amp; Pursuing PhD </a:t>
            </a:r>
          </a:p>
          <a:p>
            <a:pPr algn="just"/>
            <a:endParaRPr lang="en-US" dirty="0">
              <a:latin typeface="Times New Roman" pitchFamily="18" charset="0"/>
              <a:cs typeface="Times New Roman" pitchFamily="18" charset="0"/>
            </a:endParaRPr>
          </a:p>
          <a:p>
            <a:pPr algn="just"/>
            <a:r>
              <a:rPr lang="en-US" b="1" dirty="0">
                <a:latin typeface="Times New Roman" pitchFamily="18" charset="0"/>
                <a:cs typeface="Times New Roman" pitchFamily="18" charset="0"/>
              </a:rPr>
              <a:t>Experience: </a:t>
            </a:r>
            <a:r>
              <a:rPr lang="en-US" dirty="0">
                <a:latin typeface="Times New Roman" pitchFamily="18" charset="0"/>
                <a:cs typeface="Times New Roman" pitchFamily="18" charset="0"/>
              </a:rPr>
              <a:t>Have 6 years experience of Teaching subjects such as, DLD and software Engineering.</a:t>
            </a:r>
            <a:endParaRPr lang="en-US" dirty="0"/>
          </a:p>
        </p:txBody>
      </p:sp>
      <p:pic>
        <p:nvPicPr>
          <p:cNvPr id="2" name="Picture 1" descr="A screenshot of a computer&#10;&#10;Description automatically generated">
            <a:extLst>
              <a:ext uri="{FF2B5EF4-FFF2-40B4-BE49-F238E27FC236}">
                <a16:creationId xmlns:a16="http://schemas.microsoft.com/office/drawing/2014/main" id="{5FFFC0F2-F883-F9A6-8BB4-D7C4500CEFB3}"/>
              </a:ext>
            </a:extLst>
          </p:cNvPr>
          <p:cNvPicPr>
            <a:picLocks noChangeAspect="1"/>
          </p:cNvPicPr>
          <p:nvPr/>
        </p:nvPicPr>
        <p:blipFill rotWithShape="1">
          <a:blip r:embed="rId3"/>
          <a:srcRect l="26091" t="36058" r="24385" b="26405"/>
          <a:stretch/>
        </p:blipFill>
        <p:spPr bwMode="auto">
          <a:xfrm>
            <a:off x="0" y="7233"/>
            <a:ext cx="1749346" cy="745127"/>
          </a:xfrm>
          <a:prstGeom prst="rect">
            <a:avLst/>
          </a:prstGeom>
          <a:ln>
            <a:noFill/>
          </a:ln>
          <a:extLst>
            <a:ext uri="{53640926-AAD7-44D8-BBD7-CCE9431645EC}">
              <a14:shadowObscured xmlns:a14="http://schemas.microsoft.com/office/drawing/2010/main"/>
            </a:ext>
          </a:extLst>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p:cNvSpPr>
            <a:spLocks noGrp="1"/>
          </p:cNvSpPr>
          <p:nvPr>
            <p:ph type="sldNum" sz="quarter" idx="12"/>
          </p:nvPr>
        </p:nvSpPr>
        <p:spPr/>
        <p:txBody>
          <a:bodyPr/>
          <a:lstStyle/>
          <a:p>
            <a:fld id="{B6F15528-21DE-4FAA-801E-634DDDAF4B2B}" type="slidenum">
              <a:rPr lang="en-US" smtClean="0">
                <a:solidFill>
                  <a:schemeClr val="tx1"/>
                </a:solidFill>
              </a:rPr>
              <a:pPr/>
              <a:t>3</a:t>
            </a:fld>
            <a:endParaRPr lang="en-US" dirty="0">
              <a:solidFill>
                <a:schemeClr val="tx1"/>
              </a:solidFill>
            </a:endParaRPr>
          </a:p>
        </p:txBody>
      </p:sp>
      <p:sp>
        <p:nvSpPr>
          <p:cNvPr id="9" name="Content Placeholder 5">
            <a:extLst>
              <a:ext uri="{FF2B5EF4-FFF2-40B4-BE49-F238E27FC236}">
                <a16:creationId xmlns:a16="http://schemas.microsoft.com/office/drawing/2014/main" id="{691A3D75-66A7-49DC-9380-D7B99BBAFBF5}"/>
              </a:ext>
            </a:extLst>
          </p:cNvPr>
          <p:cNvSpPr txBox="1">
            <a:spLocks/>
          </p:cNvSpPr>
          <p:nvPr/>
        </p:nvSpPr>
        <p:spPr>
          <a:xfrm>
            <a:off x="2051720" y="1168126"/>
            <a:ext cx="6181632" cy="3417130"/>
          </a:xfrm>
          <a:prstGeom prst="rect">
            <a:avLst/>
          </a:prstGeom>
        </p:spPr>
        <p:txBody>
          <a:bodyPr>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2400" dirty="0"/>
              <a:t>B.Tech. (Computer Science CS)  </a:t>
            </a:r>
          </a:p>
          <a:p>
            <a:r>
              <a:rPr lang="en-IN" sz="2400" dirty="0"/>
              <a:t>Core subject</a:t>
            </a:r>
          </a:p>
          <a:p>
            <a:r>
              <a:rPr lang="en-IN" sz="2400" dirty="0"/>
              <a:t>3rd SEMESTER </a:t>
            </a:r>
            <a:endParaRPr lang="en-US" sz="2400" dirty="0"/>
          </a:p>
          <a:p>
            <a:pPr marL="0" indent="0">
              <a:buNone/>
            </a:pPr>
            <a:r>
              <a:rPr lang="en-US" sz="2400" b="1" dirty="0"/>
              <a:t>                  </a:t>
            </a:r>
          </a:p>
          <a:p>
            <a:pPr marL="0" indent="0" algn="ctr">
              <a:lnSpc>
                <a:spcPct val="115000"/>
              </a:lnSpc>
              <a:spcBef>
                <a:spcPts val="0"/>
              </a:spcBef>
              <a:spcAft>
                <a:spcPts val="750"/>
              </a:spcAft>
              <a:buNone/>
            </a:pPr>
            <a:r>
              <a:rPr lang="en-US" sz="2400" b="1" dirty="0">
                <a:latin typeface="Times New Roman" panose="02020603050405020304" pitchFamily="18" charset="0"/>
                <a:cs typeface="Times New Roman" panose="02020603050405020304" pitchFamily="18" charset="0"/>
              </a:rPr>
              <a:t>PREDICTIVE ANALYTICS</a:t>
            </a:r>
          </a:p>
          <a:p>
            <a:pPr marL="0" indent="0" algn="ctr">
              <a:lnSpc>
                <a:spcPct val="115000"/>
              </a:lnSpc>
              <a:spcBef>
                <a:spcPts val="0"/>
              </a:spcBef>
              <a:spcAft>
                <a:spcPts val="750"/>
              </a:spcAft>
              <a:buNone/>
            </a:pPr>
            <a:endParaRPr lang="en-US" sz="2400" b="1" spc="4" dirty="0">
              <a:solidFill>
                <a:srgbClr val="000000"/>
              </a:solidFill>
              <a:latin typeface="Times New Roman" panose="02020603050405020304" pitchFamily="18" charset="0"/>
              <a:ea typeface="Times New Roman" panose="02020603050405020304" pitchFamily="18" charset="0"/>
            </a:endParaRPr>
          </a:p>
          <a:p>
            <a:pPr marL="0" indent="0" algn="ctr">
              <a:lnSpc>
                <a:spcPct val="115000"/>
              </a:lnSpc>
              <a:spcBef>
                <a:spcPts val="0"/>
              </a:spcBef>
              <a:spcAft>
                <a:spcPts val="750"/>
              </a:spcAft>
              <a:buNone/>
            </a:pPr>
            <a:endParaRPr lang="en-US" sz="2400" dirty="0"/>
          </a:p>
        </p:txBody>
      </p:sp>
      <p:sp>
        <p:nvSpPr>
          <p:cNvPr id="3" name="Date Placeholder 2"/>
          <p:cNvSpPr>
            <a:spLocks noGrp="1"/>
          </p:cNvSpPr>
          <p:nvPr>
            <p:ph type="dt" sz="half" idx="10"/>
          </p:nvPr>
        </p:nvSpPr>
        <p:spPr/>
        <p:txBody>
          <a:bodyPr/>
          <a:lstStyle/>
          <a:p>
            <a:fld id="{69DC61E2-DB3D-41B8-9F24-5B9CB0641E56}" type="datetime1">
              <a:rPr lang="en-IN" smtClean="0">
                <a:solidFill>
                  <a:schemeClr val="tx1"/>
                </a:solidFill>
              </a:rPr>
              <a:t>21-07-2025</a:t>
            </a:fld>
            <a:endParaRPr lang="en-US" dirty="0">
              <a:solidFill>
                <a:schemeClr val="tx1"/>
              </a:solidFill>
            </a:endParaRPr>
          </a:p>
        </p:txBody>
      </p:sp>
      <p:sp>
        <p:nvSpPr>
          <p:cNvPr id="10" name="Footer Placeholder 4"/>
          <p:cNvSpPr>
            <a:spLocks noGrp="1"/>
          </p:cNvSpPr>
          <p:nvPr>
            <p:ph type="ftr" sz="quarter" idx="11"/>
          </p:nvPr>
        </p:nvSpPr>
        <p:spPr>
          <a:xfrm>
            <a:off x="2411759" y="6447631"/>
            <a:ext cx="4889585" cy="273844"/>
          </a:xfrm>
        </p:spPr>
        <p:txBody>
          <a:bodyPr/>
          <a:lstStyle/>
          <a:p>
            <a:r>
              <a:rPr lang="en-US">
                <a:solidFill>
                  <a:schemeClr val="tx1"/>
                </a:solidFill>
              </a:rPr>
              <a:t>Ms. Purnima Pal      High Performance Computing             Unit III     </a:t>
            </a:r>
            <a:endParaRPr lang="en-US" dirty="0">
              <a:solidFill>
                <a:schemeClr val="tx1"/>
              </a:solidFill>
            </a:endParaRPr>
          </a:p>
        </p:txBody>
      </p:sp>
      <p:pic>
        <p:nvPicPr>
          <p:cNvPr id="13" name="Picture 12">
            <a:extLst>
              <a:ext uri="{FF2B5EF4-FFF2-40B4-BE49-F238E27FC236}">
                <a16:creationId xmlns:a16="http://schemas.microsoft.com/office/drawing/2014/main" id="{78E91FED-0861-4262-B4A8-84819F01761F}"/>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7504" y="31340"/>
            <a:ext cx="1162829" cy="805372"/>
          </a:xfrm>
          <a:prstGeom prst="rect">
            <a:avLst/>
          </a:prstGeom>
        </p:spPr>
      </p:pic>
      <p:sp>
        <p:nvSpPr>
          <p:cNvPr id="14" name="Title 1">
            <a:extLst>
              <a:ext uri="{FF2B5EF4-FFF2-40B4-BE49-F238E27FC236}">
                <a16:creationId xmlns:a16="http://schemas.microsoft.com/office/drawing/2014/main" id="{D2283B93-54FE-41F0-81CE-7D376FC42D7B}"/>
              </a:ext>
            </a:extLst>
          </p:cNvPr>
          <p:cNvSpPr txBox="1">
            <a:spLocks/>
          </p:cNvSpPr>
          <p:nvPr/>
        </p:nvSpPr>
        <p:spPr>
          <a:xfrm>
            <a:off x="1642210" y="0"/>
            <a:ext cx="7501789" cy="692696"/>
          </a:xfrm>
          <a:prstGeom prst="rect">
            <a:avLst/>
          </a:prstGeom>
          <a:solidFill>
            <a:srgbClr val="FF9C9C"/>
          </a:solidFill>
        </p:spPr>
        <p:style>
          <a:lnRef idx="1">
            <a:schemeClr val="accent5"/>
          </a:lnRef>
          <a:fillRef idx="2">
            <a:schemeClr val="accent5"/>
          </a:fillRef>
          <a:effectRef idx="1">
            <a:schemeClr val="accent5"/>
          </a:effectRef>
          <a:fontRef idx="minor">
            <a:schemeClr val="dk1"/>
          </a:fontRef>
        </p:style>
        <p:txBody>
          <a:bodyPr vert="horz" lIns="68580" tIns="34290" rIns="68580" bIns="34290" rtlCol="0" anchor="ctr">
            <a:noAutofit/>
          </a:bodyPr>
          <a:lstStyle/>
          <a:p>
            <a:pPr marL="8547" algn="ctr">
              <a:spcBef>
                <a:spcPts val="68"/>
              </a:spcBef>
            </a:pPr>
            <a:r>
              <a:rPr lang="en-IN" sz="3000" dirty="0"/>
              <a:t>Evaluation Scheme</a:t>
            </a:r>
          </a:p>
        </p:txBody>
      </p:sp>
      <p:pic>
        <p:nvPicPr>
          <p:cNvPr id="2" name="Picture 1" descr="A screenshot of a computer&#10;&#10;Description automatically generated">
            <a:extLst>
              <a:ext uri="{FF2B5EF4-FFF2-40B4-BE49-F238E27FC236}">
                <a16:creationId xmlns:a16="http://schemas.microsoft.com/office/drawing/2014/main" id="{F963A7B9-FE64-192C-CDCC-1DA2205F74B6}"/>
              </a:ext>
            </a:extLst>
          </p:cNvPr>
          <p:cNvPicPr>
            <a:picLocks noChangeAspect="1"/>
          </p:cNvPicPr>
          <p:nvPr/>
        </p:nvPicPr>
        <p:blipFill rotWithShape="1">
          <a:blip r:embed="rId4"/>
          <a:srcRect l="26091" t="36058" r="24385" b="26405"/>
          <a:stretch/>
        </p:blipFill>
        <p:spPr bwMode="auto">
          <a:xfrm>
            <a:off x="0" y="7233"/>
            <a:ext cx="1749346" cy="745127"/>
          </a:xfrm>
          <a:prstGeom prst="rect">
            <a:avLst/>
          </a:prstGeom>
          <a:ln>
            <a:noFill/>
          </a:ln>
          <a:extLst>
            <a:ext uri="{53640926-AAD7-44D8-BBD7-CCE9431645EC}">
              <a14:shadowObscured xmlns:a14="http://schemas.microsoft.com/office/drawing/2010/main"/>
            </a:ext>
          </a:extLst>
        </p:spPr>
      </p:pic>
      <p:pic>
        <p:nvPicPr>
          <p:cNvPr id="5" name="Picture 4" descr="A grid of letters and numbers&#10;&#10;AI-generated content may be incorrect.">
            <a:extLst>
              <a:ext uri="{FF2B5EF4-FFF2-40B4-BE49-F238E27FC236}">
                <a16:creationId xmlns:a16="http://schemas.microsoft.com/office/drawing/2014/main" id="{B2BEA6E4-390A-1F2E-0CA3-9DB04A93A839}"/>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295142" y="3460869"/>
            <a:ext cx="3797138" cy="1339956"/>
          </a:xfrm>
          <a:prstGeom prst="rect">
            <a:avLst/>
          </a:prstGeom>
        </p:spPr>
      </p:pic>
    </p:spTree>
    <p:extLst>
      <p:ext uri="{BB962C8B-B14F-4D97-AF65-F5344CB8AC3E}">
        <p14:creationId xmlns:p14="http://schemas.microsoft.com/office/powerpoint/2010/main" val="135144791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1DD317BC-2C2F-49E4-9BC9-20E296486D8C}" type="datetime1">
              <a:rPr lang="en-IN" smtClean="0">
                <a:solidFill>
                  <a:prstClr val="black">
                    <a:tint val="75000"/>
                  </a:prstClr>
                </a:solidFill>
              </a:rPr>
              <a:t>21-07-2025</a:t>
            </a:fld>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solidFill>
                  <a:prstClr val="black">
                    <a:tint val="75000"/>
                  </a:prstClr>
                </a:solidFill>
              </a:rPr>
              <a:pPr/>
              <a:t>4</a:t>
            </a:fld>
            <a:endParaRPr lang="en-US" dirty="0">
              <a:solidFill>
                <a:prstClr val="black">
                  <a:tint val="75000"/>
                </a:prstClr>
              </a:solidFill>
            </a:endParaRPr>
          </a:p>
        </p:txBody>
      </p:sp>
      <p:pic>
        <p:nvPicPr>
          <p:cNvPr id="8" name="Picture 2">
            <a:extLst>
              <a:ext uri="{FF2B5EF4-FFF2-40B4-BE49-F238E27FC236}">
                <a16:creationId xmlns:a16="http://schemas.microsoft.com/office/drawing/2014/main" id="{187C76CF-34CE-16BE-85C7-ED82CC21D636}"/>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p:blipFill>
        <p:spPr bwMode="auto">
          <a:xfrm>
            <a:off x="0" y="-1"/>
            <a:ext cx="1335878" cy="783037"/>
          </a:xfrm>
          <a:prstGeom prst="rect">
            <a:avLst/>
          </a:prstGeom>
          <a:noFill/>
        </p:spPr>
      </p:pic>
      <p:sp>
        <p:nvSpPr>
          <p:cNvPr id="10" name="Title 1">
            <a:extLst>
              <a:ext uri="{FF2B5EF4-FFF2-40B4-BE49-F238E27FC236}">
                <a16:creationId xmlns:a16="http://schemas.microsoft.com/office/drawing/2014/main" id="{3DB9AC42-345F-9F12-8EC7-C98722D7E435}"/>
              </a:ext>
            </a:extLst>
          </p:cNvPr>
          <p:cNvSpPr txBox="1">
            <a:spLocks/>
          </p:cNvSpPr>
          <p:nvPr/>
        </p:nvSpPr>
        <p:spPr>
          <a:xfrm>
            <a:off x="1676400" y="0"/>
            <a:ext cx="7467600" cy="685800"/>
          </a:xfrm>
          <a:prstGeom prst="rect">
            <a:avLst/>
          </a:prstGeom>
          <a:solidFill>
            <a:srgbClr val="FF9C9C"/>
          </a:solidFill>
        </p:spPr>
        <p:style>
          <a:lnRef idx="1">
            <a:schemeClr val="accent5"/>
          </a:lnRef>
          <a:fillRef idx="2">
            <a:schemeClr val="accent5"/>
          </a:fillRef>
          <a:effectRef idx="1">
            <a:schemeClr val="accent5"/>
          </a:effectRef>
          <a:fontRef idx="minor">
            <a:schemeClr val="dk1"/>
          </a:fontRef>
        </p:style>
        <p:txBody>
          <a:bodyPr vert="horz" lIns="68580" tIns="34290" rIns="68580" bIns="34290" rtlCol="0" anchor="ctr">
            <a:noAutofit/>
          </a:bodyPr>
          <a:lstStyle/>
          <a:p>
            <a:pPr algn="ctr">
              <a:spcBef>
                <a:spcPct val="0"/>
              </a:spcBef>
              <a:defRPr/>
            </a:pPr>
            <a:r>
              <a:rPr lang="en-US" sz="3000" dirty="0">
                <a:solidFill>
                  <a:prstClr val="black"/>
                </a:solidFill>
              </a:rPr>
              <a:t>Course Contents / Syllabus</a:t>
            </a:r>
          </a:p>
        </p:txBody>
      </p:sp>
      <p:pic>
        <p:nvPicPr>
          <p:cNvPr id="3" name="Picture 2" descr="A screenshot of a computer&#10;&#10;Description automatically generated">
            <a:extLst>
              <a:ext uri="{FF2B5EF4-FFF2-40B4-BE49-F238E27FC236}">
                <a16:creationId xmlns:a16="http://schemas.microsoft.com/office/drawing/2014/main" id="{9018D53C-FC47-AC51-C5D4-4D49C08DEC7B}"/>
              </a:ext>
            </a:extLst>
          </p:cNvPr>
          <p:cNvPicPr>
            <a:picLocks noChangeAspect="1"/>
          </p:cNvPicPr>
          <p:nvPr/>
        </p:nvPicPr>
        <p:blipFill rotWithShape="1">
          <a:blip r:embed="rId3"/>
          <a:srcRect l="26091" t="36058" r="24385" b="26405"/>
          <a:stretch/>
        </p:blipFill>
        <p:spPr bwMode="auto">
          <a:xfrm>
            <a:off x="0" y="7233"/>
            <a:ext cx="1749346" cy="745127"/>
          </a:xfrm>
          <a:prstGeom prst="rect">
            <a:avLst/>
          </a:prstGeom>
          <a:ln>
            <a:noFill/>
          </a:ln>
          <a:extLst>
            <a:ext uri="{53640926-AAD7-44D8-BBD7-CCE9431645EC}">
              <a14:shadowObscured xmlns:a14="http://schemas.microsoft.com/office/drawing/2010/main"/>
            </a:ext>
          </a:extLst>
        </p:spPr>
      </p:pic>
      <p:pic>
        <p:nvPicPr>
          <p:cNvPr id="7" name="Picture 6" descr="A computer information sheet with text&#10;&#10;AI-generated content may be incorrect.">
            <a:extLst>
              <a:ext uri="{FF2B5EF4-FFF2-40B4-BE49-F238E27FC236}">
                <a16:creationId xmlns:a16="http://schemas.microsoft.com/office/drawing/2014/main" id="{7395C909-8437-E538-C3CF-244C68D90F6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9242" y="928255"/>
            <a:ext cx="8983921" cy="5525331"/>
          </a:xfrm>
          <a:prstGeom prst="rect">
            <a:avLst/>
          </a:prstGeom>
        </p:spPr>
      </p:pic>
      <p:sp>
        <p:nvSpPr>
          <p:cNvPr id="2" name="Footer Placeholder 1">
            <a:extLst>
              <a:ext uri="{FF2B5EF4-FFF2-40B4-BE49-F238E27FC236}">
                <a16:creationId xmlns:a16="http://schemas.microsoft.com/office/drawing/2014/main" id="{55CCBB57-F08E-6A5A-A772-B91EB8BFCE6C}"/>
              </a:ext>
            </a:extLst>
          </p:cNvPr>
          <p:cNvSpPr>
            <a:spLocks noGrp="1"/>
          </p:cNvSpPr>
          <p:nvPr>
            <p:ph type="ftr" sz="quarter" idx="11"/>
          </p:nvPr>
        </p:nvSpPr>
        <p:spPr>
          <a:xfrm>
            <a:off x="2078182" y="6356350"/>
            <a:ext cx="5638800" cy="365125"/>
          </a:xfrm>
        </p:spPr>
        <p:txBody>
          <a:bodyPr/>
          <a:lstStyle/>
          <a:p>
            <a:r>
              <a:rPr lang="en-US"/>
              <a:t>Ms. Purnima Pal      High Performance Computing             Unit III     </a:t>
            </a:r>
            <a:endParaRPr lang="en-US" dirty="0"/>
          </a:p>
        </p:txBody>
      </p:sp>
    </p:spTree>
    <p:extLst>
      <p:ext uri="{BB962C8B-B14F-4D97-AF65-F5344CB8AC3E}">
        <p14:creationId xmlns:p14="http://schemas.microsoft.com/office/powerpoint/2010/main" val="162761796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4E8D8031-D5F9-4FA5-8E4E-5B5A2A5BC88A}" type="datetime1">
              <a:rPr lang="en-IN" smtClean="0">
                <a:solidFill>
                  <a:prstClr val="black">
                    <a:tint val="75000"/>
                  </a:prstClr>
                </a:solidFill>
              </a:rPr>
              <a:t>21-07-2025</a:t>
            </a:fld>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solidFill>
                  <a:prstClr val="black">
                    <a:tint val="75000"/>
                  </a:prstClr>
                </a:solidFill>
              </a:rPr>
              <a:pPr/>
              <a:t>5</a:t>
            </a:fld>
            <a:endParaRPr lang="en-US" dirty="0">
              <a:solidFill>
                <a:prstClr val="black">
                  <a:tint val="75000"/>
                </a:prstClr>
              </a:solidFill>
            </a:endParaRPr>
          </a:p>
        </p:txBody>
      </p:sp>
      <p:pic>
        <p:nvPicPr>
          <p:cNvPr id="8" name="Picture 2">
            <a:extLst>
              <a:ext uri="{FF2B5EF4-FFF2-40B4-BE49-F238E27FC236}">
                <a16:creationId xmlns:a16="http://schemas.microsoft.com/office/drawing/2014/main" id="{6484CE1B-D87C-C450-4B78-1A37F7424A2F}"/>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p:blipFill>
        <p:spPr bwMode="auto">
          <a:xfrm>
            <a:off x="0" y="-1"/>
            <a:ext cx="1335878" cy="783037"/>
          </a:xfrm>
          <a:prstGeom prst="rect">
            <a:avLst/>
          </a:prstGeom>
          <a:noFill/>
        </p:spPr>
      </p:pic>
      <p:sp>
        <p:nvSpPr>
          <p:cNvPr id="10" name="Title 1">
            <a:extLst>
              <a:ext uri="{FF2B5EF4-FFF2-40B4-BE49-F238E27FC236}">
                <a16:creationId xmlns:a16="http://schemas.microsoft.com/office/drawing/2014/main" id="{4348C115-F338-5A19-6880-728A2BC1501B}"/>
              </a:ext>
            </a:extLst>
          </p:cNvPr>
          <p:cNvSpPr txBox="1">
            <a:spLocks/>
          </p:cNvSpPr>
          <p:nvPr/>
        </p:nvSpPr>
        <p:spPr>
          <a:xfrm>
            <a:off x="1676400" y="0"/>
            <a:ext cx="7467600" cy="685800"/>
          </a:xfrm>
          <a:prstGeom prst="rect">
            <a:avLst/>
          </a:prstGeom>
          <a:solidFill>
            <a:srgbClr val="FF9C9C"/>
          </a:solidFill>
        </p:spPr>
        <p:style>
          <a:lnRef idx="1">
            <a:schemeClr val="accent5"/>
          </a:lnRef>
          <a:fillRef idx="2">
            <a:schemeClr val="accent5"/>
          </a:fillRef>
          <a:effectRef idx="1">
            <a:schemeClr val="accent5"/>
          </a:effectRef>
          <a:fontRef idx="minor">
            <a:schemeClr val="dk1"/>
          </a:fontRef>
        </p:style>
        <p:txBody>
          <a:bodyPr vert="horz" lIns="68580" tIns="34290" rIns="68580" bIns="34290" rtlCol="0" anchor="ctr">
            <a:noAutofit/>
          </a:bodyPr>
          <a:lstStyle/>
          <a:p>
            <a:pPr algn="ctr"/>
            <a:r>
              <a:rPr lang="en-IN" sz="2800" dirty="0"/>
              <a:t>Book Title/ External Links as per Syllabus</a:t>
            </a:r>
          </a:p>
        </p:txBody>
      </p:sp>
      <p:pic>
        <p:nvPicPr>
          <p:cNvPr id="5" name="Picture 4" descr="A screenshot of a computer&#10;&#10;Description automatically generated">
            <a:extLst>
              <a:ext uri="{FF2B5EF4-FFF2-40B4-BE49-F238E27FC236}">
                <a16:creationId xmlns:a16="http://schemas.microsoft.com/office/drawing/2014/main" id="{262BF54C-0D71-19C9-A24B-3D410842D6E0}"/>
              </a:ext>
            </a:extLst>
          </p:cNvPr>
          <p:cNvPicPr>
            <a:picLocks noChangeAspect="1"/>
          </p:cNvPicPr>
          <p:nvPr/>
        </p:nvPicPr>
        <p:blipFill rotWithShape="1">
          <a:blip r:embed="rId3"/>
          <a:srcRect l="26091" t="36058" r="24385" b="26405"/>
          <a:stretch/>
        </p:blipFill>
        <p:spPr bwMode="auto">
          <a:xfrm>
            <a:off x="0" y="7233"/>
            <a:ext cx="1749346" cy="745127"/>
          </a:xfrm>
          <a:prstGeom prst="rect">
            <a:avLst/>
          </a:prstGeom>
          <a:ln>
            <a:noFill/>
          </a:ln>
          <a:extLst>
            <a:ext uri="{53640926-AAD7-44D8-BBD7-CCE9431645EC}">
              <a14:shadowObscured xmlns:a14="http://schemas.microsoft.com/office/drawing/2010/main"/>
            </a:ext>
          </a:extLst>
        </p:spPr>
      </p:pic>
      <p:pic>
        <p:nvPicPr>
          <p:cNvPr id="9" name="Picture 8" descr="A screenshot of a computer&#10;&#10;AI-generated content may be incorrect.">
            <a:extLst>
              <a:ext uri="{FF2B5EF4-FFF2-40B4-BE49-F238E27FC236}">
                <a16:creationId xmlns:a16="http://schemas.microsoft.com/office/drawing/2014/main" id="{1504538E-3196-FB94-CFBF-8A80B135385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0836" y="900728"/>
            <a:ext cx="8728363" cy="5424946"/>
          </a:xfrm>
          <a:prstGeom prst="rect">
            <a:avLst/>
          </a:prstGeom>
        </p:spPr>
      </p:pic>
      <p:sp>
        <p:nvSpPr>
          <p:cNvPr id="2" name="Footer Placeholder 1">
            <a:extLst>
              <a:ext uri="{FF2B5EF4-FFF2-40B4-BE49-F238E27FC236}">
                <a16:creationId xmlns:a16="http://schemas.microsoft.com/office/drawing/2014/main" id="{BE435D3C-BFAE-3675-B8BE-A3AD113917E8}"/>
              </a:ext>
            </a:extLst>
          </p:cNvPr>
          <p:cNvSpPr>
            <a:spLocks noGrp="1"/>
          </p:cNvSpPr>
          <p:nvPr>
            <p:ph type="ftr" sz="quarter" idx="11"/>
          </p:nvPr>
        </p:nvSpPr>
        <p:spPr>
          <a:xfrm>
            <a:off x="1676400" y="6356350"/>
            <a:ext cx="6206836" cy="365125"/>
          </a:xfrm>
        </p:spPr>
        <p:txBody>
          <a:bodyPr/>
          <a:lstStyle/>
          <a:p>
            <a:r>
              <a:rPr lang="en-US"/>
              <a:t>Ms. Purnima Pal      High Performance Computing             Unit III     </a:t>
            </a:r>
            <a:endParaRPr lang="en-US" dirty="0"/>
          </a:p>
        </p:txBody>
      </p:sp>
    </p:spTree>
    <p:extLst>
      <p:ext uri="{BB962C8B-B14F-4D97-AF65-F5344CB8AC3E}">
        <p14:creationId xmlns:p14="http://schemas.microsoft.com/office/powerpoint/2010/main" val="35792330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pPr defTabSz="685800">
              <a:defRPr/>
            </a:pPr>
            <a:fld id="{D9EA02C2-8589-488A-AB3C-3BA8AA5190F2}" type="datetime1">
              <a:rPr lang="en-IN" sz="900" smtClean="0">
                <a:solidFill>
                  <a:prstClr val="black">
                    <a:tint val="75000"/>
                  </a:prstClr>
                </a:solidFill>
                <a:latin typeface="Calibri"/>
              </a:rPr>
              <a:t>21-07-2025</a:t>
            </a:fld>
            <a:endParaRPr lang="en-US" sz="900">
              <a:solidFill>
                <a:prstClr val="black">
                  <a:tint val="75000"/>
                </a:prstClr>
              </a:solidFill>
              <a:latin typeface="Calibri"/>
            </a:endParaRPr>
          </a:p>
        </p:txBody>
      </p:sp>
      <p:sp>
        <p:nvSpPr>
          <p:cNvPr id="6" name="Slide Number Placeholder 5"/>
          <p:cNvSpPr>
            <a:spLocks noGrp="1"/>
          </p:cNvSpPr>
          <p:nvPr>
            <p:ph type="sldNum" sz="quarter" idx="12"/>
          </p:nvPr>
        </p:nvSpPr>
        <p:spPr/>
        <p:txBody>
          <a:bodyPr/>
          <a:lstStyle/>
          <a:p>
            <a:pPr defTabSz="685800">
              <a:defRPr/>
            </a:pPr>
            <a:fld id="{B6F15528-21DE-4FAA-801E-634DDDAF4B2B}" type="slidenum">
              <a:rPr lang="en-US" sz="900">
                <a:solidFill>
                  <a:prstClr val="black">
                    <a:tint val="75000"/>
                  </a:prstClr>
                </a:solidFill>
                <a:latin typeface="Calibri"/>
              </a:rPr>
              <a:pPr defTabSz="685800">
                <a:defRPr/>
              </a:pPr>
              <a:t>6</a:t>
            </a:fld>
            <a:endParaRPr lang="en-US" sz="900">
              <a:solidFill>
                <a:prstClr val="black">
                  <a:tint val="75000"/>
                </a:prstClr>
              </a:solidFill>
              <a:latin typeface="Calibri"/>
            </a:endParaRPr>
          </a:p>
        </p:txBody>
      </p:sp>
      <p:sp>
        <p:nvSpPr>
          <p:cNvPr id="7" name="Title 1"/>
          <p:cNvSpPr txBox="1">
            <a:spLocks/>
          </p:cNvSpPr>
          <p:nvPr/>
        </p:nvSpPr>
        <p:spPr>
          <a:xfrm>
            <a:off x="1649896" y="8591"/>
            <a:ext cx="7494104" cy="685800"/>
          </a:xfrm>
          <a:prstGeom prst="rect">
            <a:avLst/>
          </a:prstGeom>
          <a:solidFill>
            <a:srgbClr val="FF9C9C"/>
          </a:solidFill>
        </p:spPr>
        <p:style>
          <a:lnRef idx="1">
            <a:schemeClr val="accent5"/>
          </a:lnRef>
          <a:fillRef idx="2">
            <a:schemeClr val="accent5"/>
          </a:fillRef>
          <a:effectRef idx="1">
            <a:schemeClr val="accent5"/>
          </a:effectRef>
          <a:fontRef idx="minor">
            <a:schemeClr val="dk1"/>
          </a:fontRef>
        </p:style>
        <p:txBody>
          <a:bodyPr vert="horz" lIns="68580" tIns="34290" rIns="68580" bIns="34290" rtlCol="0" anchor="ctr">
            <a:noAutofit/>
          </a:bodyPr>
          <a:lstStyle/>
          <a:p>
            <a:pPr algn="ctr" defTabSz="685800">
              <a:spcBef>
                <a:spcPct val="0"/>
              </a:spcBef>
              <a:defRPr/>
            </a:pPr>
            <a:r>
              <a:rPr lang="en-US" sz="3000" b="1" dirty="0">
                <a:solidFill>
                  <a:prstClr val="black"/>
                </a:solidFill>
                <a:latin typeface="Calibri"/>
              </a:rPr>
              <a:t>Branch wise Applications</a:t>
            </a:r>
          </a:p>
        </p:txBody>
      </p:sp>
      <p:sp>
        <p:nvSpPr>
          <p:cNvPr id="2" name="Footer Placeholder 1">
            <a:extLst>
              <a:ext uri="{FF2B5EF4-FFF2-40B4-BE49-F238E27FC236}">
                <a16:creationId xmlns:a16="http://schemas.microsoft.com/office/drawing/2014/main" id="{F70E247F-F21E-4820-A9EC-E0DDDBEFB4F8}"/>
              </a:ext>
            </a:extLst>
          </p:cNvPr>
          <p:cNvSpPr>
            <a:spLocks noGrp="1"/>
          </p:cNvSpPr>
          <p:nvPr>
            <p:ph type="ftr" sz="quarter" idx="11"/>
          </p:nvPr>
        </p:nvSpPr>
        <p:spPr>
          <a:xfrm>
            <a:off x="1384299" y="6356350"/>
            <a:ext cx="6665191" cy="365125"/>
          </a:xfrm>
        </p:spPr>
        <p:txBody>
          <a:bodyPr/>
          <a:lstStyle/>
          <a:p>
            <a:r>
              <a:rPr lang="en-US"/>
              <a:t>Ms. Purnima Pal      High Performance Computing             Unit III     </a:t>
            </a:r>
            <a:endParaRPr lang="en-US" dirty="0"/>
          </a:p>
        </p:txBody>
      </p:sp>
      <p:sp>
        <p:nvSpPr>
          <p:cNvPr id="8" name="Content Placeholder 7">
            <a:extLst>
              <a:ext uri="{FF2B5EF4-FFF2-40B4-BE49-F238E27FC236}">
                <a16:creationId xmlns:a16="http://schemas.microsoft.com/office/drawing/2014/main" id="{D455D4FD-79DE-564F-9587-50D0944AFBA6}"/>
              </a:ext>
            </a:extLst>
          </p:cNvPr>
          <p:cNvSpPr>
            <a:spLocks noGrp="1"/>
          </p:cNvSpPr>
          <p:nvPr>
            <p:ph idx="1"/>
          </p:nvPr>
        </p:nvSpPr>
        <p:spPr>
          <a:xfrm>
            <a:off x="240632" y="785352"/>
            <a:ext cx="8662736" cy="5603990"/>
          </a:xfrm>
        </p:spPr>
        <p:txBody>
          <a:bodyPr>
            <a:normAutofit fontScale="85000" lnSpcReduction="10000"/>
          </a:bodyPr>
          <a:lstStyle/>
          <a:p>
            <a:pPr algn="just"/>
            <a:r>
              <a:rPr lang="en-IN" sz="2000" dirty="0"/>
              <a:t>Computer science encompasses a diverse array of specialized fields that address modern technological challenges and innovations. </a:t>
            </a:r>
            <a:r>
              <a:rPr lang="en-IN" sz="2000" b="1" dirty="0"/>
              <a:t>Artificial Intelligence (AI) &amp; Machine Learning (ML)</a:t>
            </a:r>
            <a:r>
              <a:rPr lang="en-IN" sz="2000" dirty="0"/>
              <a:t> empower systems to perceive, learn, and make decisions—from voice assistants and medical diagnostic tools to autonomous vehicles . </a:t>
            </a:r>
            <a:r>
              <a:rPr lang="en-IN" sz="2000" b="1" dirty="0"/>
              <a:t>Data Science &amp; Big Data</a:t>
            </a:r>
            <a:r>
              <a:rPr lang="en-IN" sz="2000" dirty="0"/>
              <a:t> blend statistics, data </a:t>
            </a:r>
            <a:r>
              <a:rPr lang="en-IN" sz="2000" dirty="0" err="1"/>
              <a:t>modeling</a:t>
            </a:r>
            <a:r>
              <a:rPr lang="en-IN" sz="2000" dirty="0"/>
              <a:t>, and programming to uncover insights for business intelligence, fraud detection, and predictive analytics. </a:t>
            </a:r>
            <a:r>
              <a:rPr lang="en-IN" sz="2000" b="1" dirty="0"/>
              <a:t>Software Engineering</a:t>
            </a:r>
            <a:r>
              <a:rPr lang="en-IN" sz="2000" dirty="0"/>
              <a:t> focuses on the full lifecycle of building robust applications—from mobile and web platforms to enterprise and industrial systems . In </a:t>
            </a:r>
            <a:r>
              <a:rPr lang="en-IN" sz="2000" b="1" dirty="0"/>
              <a:t>Cybersecurity &amp; Cryptography</a:t>
            </a:r>
            <a:r>
              <a:rPr lang="en-IN" sz="2000" dirty="0"/>
              <a:t>, specialists design secure protocols and systems to protect networks, financial infrastructure, and sensitive personal data. </a:t>
            </a:r>
            <a:r>
              <a:rPr lang="en-IN" sz="2000" b="1" dirty="0"/>
              <a:t>Cloud Computing &amp; DevOps</a:t>
            </a:r>
            <a:r>
              <a:rPr lang="en-IN" sz="2000" dirty="0"/>
              <a:t> enable scalable on-demand services, powering online gaming, streaming, and enterprise applications with automated deployment pipelines . Fields like </a:t>
            </a:r>
            <a:r>
              <a:rPr lang="en-IN" sz="2000" b="1" dirty="0"/>
              <a:t>Computer Graphics &amp; Visualization</a:t>
            </a:r>
            <a:r>
              <a:rPr lang="en-IN" sz="2000" dirty="0"/>
              <a:t>, </a:t>
            </a:r>
            <a:r>
              <a:rPr lang="en-IN" sz="2000" b="1" dirty="0"/>
              <a:t>Computer Vision</a:t>
            </a:r>
            <a:r>
              <a:rPr lang="en-IN" sz="2000" dirty="0"/>
              <a:t>, and </a:t>
            </a:r>
            <a:r>
              <a:rPr lang="en-IN" sz="2000" b="1" dirty="0"/>
              <a:t>HCI</a:t>
            </a:r>
            <a:r>
              <a:rPr lang="en-IN" sz="2000" dirty="0"/>
              <a:t> focus on visual, interactive, and user-centric computing, driving VR/AR, gaming, medical imaging, and intuitive interfaces. </a:t>
            </a:r>
            <a:r>
              <a:rPr lang="en-IN" sz="2000" b="1" dirty="0"/>
              <a:t>Algorithms &amp; Data Structures</a:t>
            </a:r>
            <a:r>
              <a:rPr lang="en-IN" sz="2000" dirty="0"/>
              <a:t> form the theoretical backbone, optimizing search, encryption, and data retrieval while informing compiler and database design. At the hardware level, </a:t>
            </a:r>
            <a:r>
              <a:rPr lang="en-IN" sz="2000" b="1" dirty="0"/>
              <a:t>Computer Architecture &amp; Embedded Systems</a:t>
            </a:r>
            <a:r>
              <a:rPr lang="en-IN" sz="2000" dirty="0"/>
              <a:t> support IoT, smart devices, and robotics through efficient design of processors and sensors . </a:t>
            </a:r>
            <a:r>
              <a:rPr lang="en-IN" sz="2000" b="1" dirty="0"/>
              <a:t>Blockchain &amp; Distributed Systems</a:t>
            </a:r>
            <a:r>
              <a:rPr lang="en-IN" sz="2000" dirty="0"/>
              <a:t> revolutionize secure, decentralized applications in finance and supply chains. Emerging areas like </a:t>
            </a:r>
            <a:r>
              <a:rPr lang="en-IN" sz="2000" b="1" dirty="0"/>
              <a:t>Quantum Computing</a:t>
            </a:r>
            <a:r>
              <a:rPr lang="en-IN" sz="2000" dirty="0"/>
              <a:t> and </a:t>
            </a:r>
            <a:r>
              <a:rPr lang="en-IN" sz="2000" b="1" dirty="0"/>
              <a:t>Neuromorphic/Biological Computing</a:t>
            </a:r>
            <a:r>
              <a:rPr lang="en-IN" sz="2000" dirty="0"/>
              <a:t> promise breakthroughs in simulation, optimization, and ultra-efficient intelligent systems—whether using qubits to accelerate drug discovery or neuronal circuits to mimic brain-like computation .</a:t>
            </a:r>
            <a:endParaRPr lang="en-US" sz="2000" dirty="0">
              <a:solidFill>
                <a:srgbClr val="181818"/>
              </a:solidFill>
            </a:endParaRPr>
          </a:p>
        </p:txBody>
      </p:sp>
      <p:pic>
        <p:nvPicPr>
          <p:cNvPr id="9" name="Picture 8">
            <a:extLst>
              <a:ext uri="{FF2B5EF4-FFF2-40B4-BE49-F238E27FC236}">
                <a16:creationId xmlns:a16="http://schemas.microsoft.com/office/drawing/2014/main" id="{1A8C513B-AE17-1B4D-948D-037A94802E81}"/>
              </a:ext>
            </a:extLst>
          </p:cNvPr>
          <p:cNvPicPr>
            <a:picLocks noChangeAspect="1"/>
          </p:cNvPicPr>
          <p:nvPr/>
        </p:nvPicPr>
        <p:blipFill>
          <a:blip r:embed="rId2"/>
          <a:stretch>
            <a:fillRect/>
          </a:stretch>
        </p:blipFill>
        <p:spPr>
          <a:xfrm>
            <a:off x="0" y="-27448"/>
            <a:ext cx="1384300" cy="812800"/>
          </a:xfrm>
          <a:prstGeom prst="rect">
            <a:avLst/>
          </a:prstGeom>
        </p:spPr>
      </p:pic>
      <p:pic>
        <p:nvPicPr>
          <p:cNvPr id="3" name="Picture 2" descr="A screenshot of a computer&#10;&#10;Description automatically generated">
            <a:extLst>
              <a:ext uri="{FF2B5EF4-FFF2-40B4-BE49-F238E27FC236}">
                <a16:creationId xmlns:a16="http://schemas.microsoft.com/office/drawing/2014/main" id="{801AC5A2-96E9-6386-1B40-A2EFBB5D1658}"/>
              </a:ext>
            </a:extLst>
          </p:cNvPr>
          <p:cNvPicPr>
            <a:picLocks noChangeAspect="1"/>
          </p:cNvPicPr>
          <p:nvPr/>
        </p:nvPicPr>
        <p:blipFill rotWithShape="1">
          <a:blip r:embed="rId3"/>
          <a:srcRect l="26091" t="36058" r="24385" b="26405"/>
          <a:stretch/>
        </p:blipFill>
        <p:spPr bwMode="auto">
          <a:xfrm>
            <a:off x="0" y="7233"/>
            <a:ext cx="1749346" cy="745127"/>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102510577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pPr defTabSz="685800">
              <a:defRPr/>
            </a:pPr>
            <a:fld id="{7A7D731D-3072-4366-AE7E-86A3445B223C}" type="datetime1">
              <a:rPr lang="en-IN" sz="900" smtClean="0">
                <a:solidFill>
                  <a:prstClr val="black">
                    <a:tint val="75000"/>
                  </a:prstClr>
                </a:solidFill>
                <a:latin typeface="Calibri"/>
              </a:rPr>
              <a:t>21-07-2025</a:t>
            </a:fld>
            <a:endParaRPr lang="en-US" sz="900">
              <a:solidFill>
                <a:prstClr val="black">
                  <a:tint val="75000"/>
                </a:prstClr>
              </a:solidFill>
              <a:latin typeface="Calibri"/>
            </a:endParaRPr>
          </a:p>
        </p:txBody>
      </p:sp>
      <p:sp>
        <p:nvSpPr>
          <p:cNvPr id="6" name="Slide Number Placeholder 5"/>
          <p:cNvSpPr>
            <a:spLocks noGrp="1"/>
          </p:cNvSpPr>
          <p:nvPr>
            <p:ph type="sldNum" sz="quarter" idx="12"/>
          </p:nvPr>
        </p:nvSpPr>
        <p:spPr/>
        <p:txBody>
          <a:bodyPr/>
          <a:lstStyle/>
          <a:p>
            <a:pPr defTabSz="685800">
              <a:defRPr/>
            </a:pPr>
            <a:fld id="{B6F15528-21DE-4FAA-801E-634DDDAF4B2B}" type="slidenum">
              <a:rPr lang="en-US" sz="900">
                <a:solidFill>
                  <a:prstClr val="black">
                    <a:tint val="75000"/>
                  </a:prstClr>
                </a:solidFill>
                <a:latin typeface="Calibri"/>
              </a:rPr>
              <a:pPr defTabSz="685800">
                <a:defRPr/>
              </a:pPr>
              <a:t>7</a:t>
            </a:fld>
            <a:endParaRPr lang="en-US" sz="900">
              <a:solidFill>
                <a:prstClr val="black">
                  <a:tint val="75000"/>
                </a:prstClr>
              </a:solidFill>
              <a:latin typeface="Calibri"/>
            </a:endParaRPr>
          </a:p>
        </p:txBody>
      </p:sp>
      <p:sp>
        <p:nvSpPr>
          <p:cNvPr id="7" name="Title 1"/>
          <p:cNvSpPr txBox="1">
            <a:spLocks/>
          </p:cNvSpPr>
          <p:nvPr/>
        </p:nvSpPr>
        <p:spPr>
          <a:xfrm>
            <a:off x="1649896" y="8591"/>
            <a:ext cx="7494104" cy="685800"/>
          </a:xfrm>
          <a:prstGeom prst="rect">
            <a:avLst/>
          </a:prstGeom>
          <a:solidFill>
            <a:srgbClr val="FF9C9C"/>
          </a:solidFill>
        </p:spPr>
        <p:style>
          <a:lnRef idx="1">
            <a:schemeClr val="accent5"/>
          </a:lnRef>
          <a:fillRef idx="2">
            <a:schemeClr val="accent5"/>
          </a:fillRef>
          <a:effectRef idx="1">
            <a:schemeClr val="accent5"/>
          </a:effectRef>
          <a:fontRef idx="minor">
            <a:schemeClr val="dk1"/>
          </a:fontRef>
        </p:style>
        <p:txBody>
          <a:bodyPr vert="horz" lIns="68580" tIns="34290" rIns="68580" bIns="34290" rtlCol="0" anchor="ctr">
            <a:noAutofit/>
          </a:bodyPr>
          <a:lstStyle/>
          <a:p>
            <a:pPr algn="ctr" defTabSz="685800">
              <a:spcBef>
                <a:spcPct val="0"/>
              </a:spcBef>
              <a:defRPr/>
            </a:pPr>
            <a:r>
              <a:rPr lang="en-US" sz="3000" b="1" dirty="0">
                <a:solidFill>
                  <a:prstClr val="black"/>
                </a:solidFill>
                <a:latin typeface="Calibri"/>
              </a:rPr>
              <a:t>Branch wise Applications</a:t>
            </a:r>
          </a:p>
        </p:txBody>
      </p:sp>
      <p:sp>
        <p:nvSpPr>
          <p:cNvPr id="2" name="Footer Placeholder 1">
            <a:extLst>
              <a:ext uri="{FF2B5EF4-FFF2-40B4-BE49-F238E27FC236}">
                <a16:creationId xmlns:a16="http://schemas.microsoft.com/office/drawing/2014/main" id="{F70E247F-F21E-4820-A9EC-E0DDDBEFB4F8}"/>
              </a:ext>
            </a:extLst>
          </p:cNvPr>
          <p:cNvSpPr>
            <a:spLocks noGrp="1"/>
          </p:cNvSpPr>
          <p:nvPr>
            <p:ph type="ftr" sz="quarter" idx="11"/>
          </p:nvPr>
        </p:nvSpPr>
        <p:spPr>
          <a:xfrm>
            <a:off x="1384299" y="6356350"/>
            <a:ext cx="6665191" cy="365125"/>
          </a:xfrm>
        </p:spPr>
        <p:txBody>
          <a:bodyPr/>
          <a:lstStyle/>
          <a:p>
            <a:r>
              <a:rPr lang="en-US"/>
              <a:t>Ms. Purnima Pal      High Performance Computing             Unit III     </a:t>
            </a:r>
            <a:endParaRPr lang="en-US" dirty="0"/>
          </a:p>
        </p:txBody>
      </p:sp>
      <p:sp>
        <p:nvSpPr>
          <p:cNvPr id="8" name="Content Placeholder 7">
            <a:extLst>
              <a:ext uri="{FF2B5EF4-FFF2-40B4-BE49-F238E27FC236}">
                <a16:creationId xmlns:a16="http://schemas.microsoft.com/office/drawing/2014/main" id="{D455D4FD-79DE-564F-9587-50D0944AFBA6}"/>
              </a:ext>
            </a:extLst>
          </p:cNvPr>
          <p:cNvSpPr>
            <a:spLocks noGrp="1"/>
          </p:cNvSpPr>
          <p:nvPr>
            <p:ph idx="1"/>
          </p:nvPr>
        </p:nvSpPr>
        <p:spPr>
          <a:xfrm>
            <a:off x="240632" y="785352"/>
            <a:ext cx="8662736" cy="5603990"/>
          </a:xfrm>
        </p:spPr>
        <p:txBody>
          <a:bodyPr>
            <a:normAutofit fontScale="85000" lnSpcReduction="10000"/>
          </a:bodyPr>
          <a:lstStyle/>
          <a:p>
            <a:pPr algn="just"/>
            <a:r>
              <a:rPr lang="en-IN" sz="2000" dirty="0"/>
              <a:t>Computer science encompasses a diverse array of specialized fields that address modern technological challenges and innovations. </a:t>
            </a:r>
            <a:r>
              <a:rPr lang="en-IN" sz="2000" b="1" dirty="0"/>
              <a:t>Artificial Intelligence (AI) &amp; Machine Learning (ML)</a:t>
            </a:r>
            <a:r>
              <a:rPr lang="en-IN" sz="2000" dirty="0"/>
              <a:t> empower systems to perceive, learn, and make decisions—from voice assistants and medical diagnostic tools to autonomous vehicles . </a:t>
            </a:r>
            <a:r>
              <a:rPr lang="en-IN" sz="2000" b="1" dirty="0"/>
              <a:t>Data Science &amp; Big Data</a:t>
            </a:r>
            <a:r>
              <a:rPr lang="en-IN" sz="2000" dirty="0"/>
              <a:t> blend statistics, data </a:t>
            </a:r>
            <a:r>
              <a:rPr lang="en-IN" sz="2000" dirty="0" err="1"/>
              <a:t>modeling</a:t>
            </a:r>
            <a:r>
              <a:rPr lang="en-IN" sz="2000" dirty="0"/>
              <a:t>, and programming to uncover insights for business intelligence, fraud detection, and predictive analytics. </a:t>
            </a:r>
            <a:r>
              <a:rPr lang="en-IN" sz="2000" b="1" dirty="0"/>
              <a:t>Software Engineering</a:t>
            </a:r>
            <a:r>
              <a:rPr lang="en-IN" sz="2000" dirty="0"/>
              <a:t> focuses on the full lifecycle of building robust applications—from mobile and web platforms to enterprise and industrial systems . In </a:t>
            </a:r>
            <a:r>
              <a:rPr lang="en-IN" sz="2000" b="1" dirty="0"/>
              <a:t>Cybersecurity &amp; Cryptography</a:t>
            </a:r>
            <a:r>
              <a:rPr lang="en-IN" sz="2000" dirty="0"/>
              <a:t>, specialists design secure protocols and systems to protect networks, financial infrastructure, and sensitive personal data. </a:t>
            </a:r>
            <a:r>
              <a:rPr lang="en-IN" sz="2000" b="1" dirty="0"/>
              <a:t>Cloud Computing &amp; DevOps</a:t>
            </a:r>
            <a:r>
              <a:rPr lang="en-IN" sz="2000" dirty="0"/>
              <a:t> enable scalable on-demand services, powering online gaming, streaming, and enterprise applications with automated deployment pipelines . Fields like </a:t>
            </a:r>
            <a:r>
              <a:rPr lang="en-IN" sz="2000" b="1" dirty="0"/>
              <a:t>Computer Graphics &amp; Visualization</a:t>
            </a:r>
            <a:r>
              <a:rPr lang="en-IN" sz="2000" dirty="0"/>
              <a:t>, </a:t>
            </a:r>
            <a:r>
              <a:rPr lang="en-IN" sz="2000" b="1" dirty="0"/>
              <a:t>Computer Vision</a:t>
            </a:r>
            <a:r>
              <a:rPr lang="en-IN" sz="2000" dirty="0"/>
              <a:t>, and </a:t>
            </a:r>
            <a:r>
              <a:rPr lang="en-IN" sz="2000" b="1" dirty="0"/>
              <a:t>HCI</a:t>
            </a:r>
            <a:r>
              <a:rPr lang="en-IN" sz="2000" dirty="0"/>
              <a:t> focus on visual, interactive, and user-centric computing, driving VR/AR, gaming, medical imaging, and intuitive interfaces. </a:t>
            </a:r>
            <a:r>
              <a:rPr lang="en-IN" sz="2000" b="1" dirty="0"/>
              <a:t>Algorithms &amp; Data Structures</a:t>
            </a:r>
            <a:r>
              <a:rPr lang="en-IN" sz="2000" dirty="0"/>
              <a:t> form the theoretical backbone, optimizing search, encryption, and data retrieval while informing compiler and database design. At the hardware level, </a:t>
            </a:r>
            <a:r>
              <a:rPr lang="en-IN" sz="2000" b="1" dirty="0"/>
              <a:t>Computer Architecture &amp; Embedded Systems</a:t>
            </a:r>
            <a:r>
              <a:rPr lang="en-IN" sz="2000" dirty="0"/>
              <a:t> support IoT, smart devices, and robotics through efficient design of processors and sensors . </a:t>
            </a:r>
            <a:r>
              <a:rPr lang="en-IN" sz="2000" b="1" dirty="0"/>
              <a:t>Blockchain &amp; Distributed Systems</a:t>
            </a:r>
            <a:r>
              <a:rPr lang="en-IN" sz="2000" dirty="0"/>
              <a:t> revolutionize secure, decentralized applications in finance and supply chains. Emerging areas like </a:t>
            </a:r>
            <a:r>
              <a:rPr lang="en-IN" sz="2000" b="1" dirty="0"/>
              <a:t>Quantum Computing</a:t>
            </a:r>
            <a:r>
              <a:rPr lang="en-IN" sz="2000" dirty="0"/>
              <a:t> and </a:t>
            </a:r>
            <a:r>
              <a:rPr lang="en-IN" sz="2000" b="1" dirty="0"/>
              <a:t>Neuromorphic/Biological Computing</a:t>
            </a:r>
            <a:r>
              <a:rPr lang="en-IN" sz="2000" dirty="0"/>
              <a:t> promise breakthroughs in simulation, optimization, and ultra-efficient intelligent systems—whether using qubits to accelerate drug discovery or neuronal circuits to mimic brain-like computation .</a:t>
            </a:r>
            <a:endParaRPr lang="en-US" sz="2000" dirty="0">
              <a:solidFill>
                <a:srgbClr val="181818"/>
              </a:solidFill>
            </a:endParaRPr>
          </a:p>
        </p:txBody>
      </p:sp>
      <p:pic>
        <p:nvPicPr>
          <p:cNvPr id="9" name="Picture 8">
            <a:extLst>
              <a:ext uri="{FF2B5EF4-FFF2-40B4-BE49-F238E27FC236}">
                <a16:creationId xmlns:a16="http://schemas.microsoft.com/office/drawing/2014/main" id="{1A8C513B-AE17-1B4D-948D-037A94802E81}"/>
              </a:ext>
            </a:extLst>
          </p:cNvPr>
          <p:cNvPicPr>
            <a:picLocks noChangeAspect="1"/>
          </p:cNvPicPr>
          <p:nvPr/>
        </p:nvPicPr>
        <p:blipFill>
          <a:blip r:embed="rId2"/>
          <a:stretch>
            <a:fillRect/>
          </a:stretch>
        </p:blipFill>
        <p:spPr>
          <a:xfrm>
            <a:off x="0" y="-27448"/>
            <a:ext cx="1384300" cy="812800"/>
          </a:xfrm>
          <a:prstGeom prst="rect">
            <a:avLst/>
          </a:prstGeom>
        </p:spPr>
      </p:pic>
      <p:pic>
        <p:nvPicPr>
          <p:cNvPr id="3" name="Picture 2" descr="A screenshot of a computer&#10;&#10;Description automatically generated">
            <a:extLst>
              <a:ext uri="{FF2B5EF4-FFF2-40B4-BE49-F238E27FC236}">
                <a16:creationId xmlns:a16="http://schemas.microsoft.com/office/drawing/2014/main" id="{801AC5A2-96E9-6386-1B40-A2EFBB5D1658}"/>
              </a:ext>
            </a:extLst>
          </p:cNvPr>
          <p:cNvPicPr>
            <a:picLocks noChangeAspect="1"/>
          </p:cNvPicPr>
          <p:nvPr/>
        </p:nvPicPr>
        <p:blipFill rotWithShape="1">
          <a:blip r:embed="rId3"/>
          <a:srcRect l="26091" t="36058" r="24385" b="26405"/>
          <a:stretch/>
        </p:blipFill>
        <p:spPr bwMode="auto">
          <a:xfrm>
            <a:off x="0" y="7233"/>
            <a:ext cx="1749346" cy="745127"/>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280080487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5AD91278-F7CB-427F-80A9-A038926300FF}" type="datetime1">
              <a:rPr lang="en-IN" smtClean="0"/>
              <a:t>21-07-2025</a:t>
            </a:fld>
            <a:endParaRPr lang="en-US" dirty="0"/>
          </a:p>
        </p:txBody>
      </p:sp>
      <p:sp>
        <p:nvSpPr>
          <p:cNvPr id="5" name="Footer Placeholder 4"/>
          <p:cNvSpPr>
            <a:spLocks noGrp="1"/>
          </p:cNvSpPr>
          <p:nvPr>
            <p:ph type="ftr" sz="quarter" idx="11"/>
          </p:nvPr>
        </p:nvSpPr>
        <p:spPr>
          <a:xfrm>
            <a:off x="2514600" y="6356350"/>
            <a:ext cx="5029200" cy="365125"/>
          </a:xfrm>
        </p:spPr>
        <p:txBody>
          <a:bodyPr/>
          <a:lstStyle/>
          <a:p>
            <a:r>
              <a:rPr lang="en-US"/>
              <a:t>Ms. Purnima Pal      High Performance Computing             Unit III     </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8</a:t>
            </a:fld>
            <a:endParaRPr lang="en-US"/>
          </a:p>
        </p:txBody>
      </p:sp>
      <p:sp>
        <p:nvSpPr>
          <p:cNvPr id="7" name="Title 1"/>
          <p:cNvSpPr txBox="1">
            <a:spLocks/>
          </p:cNvSpPr>
          <p:nvPr/>
        </p:nvSpPr>
        <p:spPr>
          <a:xfrm>
            <a:off x="1371600" y="0"/>
            <a:ext cx="7772400" cy="685799"/>
          </a:xfrm>
          <a:prstGeom prst="rect">
            <a:avLst/>
          </a:prstGeom>
          <a:solidFill>
            <a:schemeClr val="accent2"/>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400" b="1" i="0" u="none" strike="noStrike" kern="1200" cap="none" spc="0" normalizeH="0" baseline="0" noProof="0" dirty="0">
                <a:ln>
                  <a:noFill/>
                </a:ln>
                <a:solidFill>
                  <a:schemeClr val="dk1"/>
                </a:solidFill>
                <a:effectLst/>
                <a:uLnTx/>
                <a:uFillTx/>
                <a:latin typeface="+mn-lt"/>
                <a:ea typeface="+mn-ea"/>
                <a:cs typeface="+mn-cs"/>
              </a:rPr>
              <a:t>Course</a:t>
            </a:r>
            <a:r>
              <a:rPr kumimoji="0" lang="en-US" sz="2400" b="1" i="0" u="none" strike="noStrike" kern="1200" cap="none" spc="0" normalizeH="0" noProof="0" dirty="0">
                <a:ln>
                  <a:noFill/>
                </a:ln>
                <a:solidFill>
                  <a:schemeClr val="dk1"/>
                </a:solidFill>
                <a:effectLst/>
                <a:uLnTx/>
                <a:uFillTx/>
                <a:latin typeface="+mn-lt"/>
                <a:ea typeface="+mn-ea"/>
                <a:cs typeface="+mn-cs"/>
              </a:rPr>
              <a:t> Outcome</a:t>
            </a:r>
            <a:endParaRPr kumimoji="0" lang="en-US" sz="2400" b="1" i="0" u="none" strike="noStrike" kern="1200" cap="none" spc="0" normalizeH="0" baseline="0" noProof="0" dirty="0">
              <a:ln>
                <a:noFill/>
              </a:ln>
              <a:solidFill>
                <a:schemeClr val="dk1"/>
              </a:solidFill>
              <a:effectLst/>
              <a:uLnTx/>
              <a:uFillTx/>
              <a:latin typeface="+mn-lt"/>
              <a:ea typeface="+mn-ea"/>
              <a:cs typeface="+mn-cs"/>
            </a:endParaRPr>
          </a:p>
        </p:txBody>
      </p:sp>
      <p:sp>
        <p:nvSpPr>
          <p:cNvPr id="10" name="Content Placeholder 9"/>
          <p:cNvSpPr>
            <a:spLocks noGrp="1"/>
          </p:cNvSpPr>
          <p:nvPr>
            <p:ph idx="1"/>
          </p:nvPr>
        </p:nvSpPr>
        <p:spPr>
          <a:xfrm>
            <a:off x="457200" y="1143000"/>
            <a:ext cx="8229600" cy="609599"/>
          </a:xfrm>
        </p:spPr>
        <p:txBody>
          <a:bodyPr>
            <a:normAutofit/>
          </a:bodyPr>
          <a:lstStyle/>
          <a:p>
            <a:pPr marL="0" indent="0" algn="just">
              <a:buNone/>
            </a:pPr>
            <a:r>
              <a:rPr lang="en-IN" sz="2200" dirty="0"/>
              <a:t>At the end of the Course, the student will be able</a:t>
            </a:r>
          </a:p>
        </p:txBody>
      </p:sp>
      <p:sp>
        <p:nvSpPr>
          <p:cNvPr id="2" name="Title 1">
            <a:extLst>
              <a:ext uri="{FF2B5EF4-FFF2-40B4-BE49-F238E27FC236}">
                <a16:creationId xmlns:a16="http://schemas.microsoft.com/office/drawing/2014/main" id="{A11FC7E1-9C03-10B0-F592-27D3921083B2}"/>
              </a:ext>
            </a:extLst>
          </p:cNvPr>
          <p:cNvSpPr txBox="1">
            <a:spLocks/>
          </p:cNvSpPr>
          <p:nvPr/>
        </p:nvSpPr>
        <p:spPr>
          <a:xfrm>
            <a:off x="1267729" y="0"/>
            <a:ext cx="7876271"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r>
              <a:rPr lang="en-US" sz="2400" b="1" dirty="0"/>
              <a:t>Course Outcomes</a:t>
            </a:r>
          </a:p>
        </p:txBody>
      </p:sp>
      <p:pic>
        <p:nvPicPr>
          <p:cNvPr id="9" name="Picture 8">
            <a:extLst>
              <a:ext uri="{FF2B5EF4-FFF2-40B4-BE49-F238E27FC236}">
                <a16:creationId xmlns:a16="http://schemas.microsoft.com/office/drawing/2014/main" id="{FF5429EC-9750-AD37-CC19-1E6884BD3059}"/>
              </a:ext>
            </a:extLst>
          </p:cNvPr>
          <p:cNvPicPr>
            <a:picLocks noChangeAspect="1"/>
          </p:cNvPicPr>
          <p:nvPr/>
        </p:nvPicPr>
        <p:blipFill>
          <a:blip r:embed="rId2"/>
          <a:stretch>
            <a:fillRect/>
          </a:stretch>
        </p:blipFill>
        <p:spPr>
          <a:xfrm>
            <a:off x="400996" y="2209800"/>
            <a:ext cx="8114669" cy="1519002"/>
          </a:xfrm>
          <a:prstGeom prst="rect">
            <a:avLst/>
          </a:prstGeom>
        </p:spPr>
      </p:pic>
    </p:spTree>
    <p:extLst>
      <p:ext uri="{BB962C8B-B14F-4D97-AF65-F5344CB8AC3E}">
        <p14:creationId xmlns:p14="http://schemas.microsoft.com/office/powerpoint/2010/main" val="50022317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81000" y="1371600"/>
            <a:ext cx="8458200" cy="4724400"/>
          </a:xfrm>
        </p:spPr>
        <p:txBody>
          <a:bodyPr>
            <a:normAutofit/>
          </a:bodyPr>
          <a:lstStyle/>
          <a:p>
            <a:pPr lvl="0" algn="just"/>
            <a:r>
              <a:rPr lang="en-IN" sz="1800" dirty="0">
                <a:effectLst/>
                <a:latin typeface="Times New Roman" panose="02020603050405020304" pitchFamily="18" charset="0"/>
                <a:ea typeface="Calibri" panose="020F0502020204030204" pitchFamily="34" charset="0"/>
              </a:rPr>
              <a:t>Implement distributed memory techniques and message passing for parallel algorithm design.</a:t>
            </a:r>
            <a:endParaRPr lang="en-IN" sz="1800" dirty="0"/>
          </a:p>
        </p:txBody>
      </p:sp>
      <p:sp>
        <p:nvSpPr>
          <p:cNvPr id="6" name="Date Placeholder 5"/>
          <p:cNvSpPr>
            <a:spLocks noGrp="1"/>
          </p:cNvSpPr>
          <p:nvPr>
            <p:ph type="dt" sz="half" idx="10"/>
          </p:nvPr>
        </p:nvSpPr>
        <p:spPr/>
        <p:txBody>
          <a:bodyPr/>
          <a:lstStyle/>
          <a:p>
            <a:fld id="{DC17640E-D8AC-447F-99AB-C8346DF8D4CB}" type="datetime1">
              <a:rPr lang="en-IN" smtClean="0"/>
              <a:t>21-07-2025</a:t>
            </a:fld>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9</a:t>
            </a:fld>
            <a:endParaRPr lang="en-US"/>
          </a:p>
        </p:txBody>
      </p:sp>
      <p:sp>
        <p:nvSpPr>
          <p:cNvPr id="10" name="Footer Placeholder 9"/>
          <p:cNvSpPr>
            <a:spLocks noGrp="1"/>
          </p:cNvSpPr>
          <p:nvPr>
            <p:ph type="ftr" sz="quarter" idx="11"/>
          </p:nvPr>
        </p:nvSpPr>
        <p:spPr>
          <a:xfrm>
            <a:off x="2514600" y="6356350"/>
            <a:ext cx="5029200" cy="365125"/>
          </a:xfrm>
        </p:spPr>
        <p:txBody>
          <a:bodyPr/>
          <a:lstStyle/>
          <a:p>
            <a:r>
              <a:rPr lang="en-US"/>
              <a:t>Ms. Purnima Pal      High Performance Computing             Unit III     </a:t>
            </a:r>
            <a:endParaRPr lang="en-US" dirty="0"/>
          </a:p>
        </p:txBody>
      </p:sp>
      <p:sp>
        <p:nvSpPr>
          <p:cNvPr id="2" name="Title 1">
            <a:extLst>
              <a:ext uri="{FF2B5EF4-FFF2-40B4-BE49-F238E27FC236}">
                <a16:creationId xmlns:a16="http://schemas.microsoft.com/office/drawing/2014/main" id="{DF92462B-D71C-A62B-9F8B-6D8110F68120}"/>
              </a:ext>
            </a:extLst>
          </p:cNvPr>
          <p:cNvSpPr txBox="1">
            <a:spLocks/>
          </p:cNvSpPr>
          <p:nvPr/>
        </p:nvSpPr>
        <p:spPr>
          <a:xfrm>
            <a:off x="1163858" y="-4877"/>
            <a:ext cx="7980142" cy="890103"/>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r>
              <a:rPr lang="en-US" sz="2400" b="1" dirty="0"/>
              <a:t>Course Objective(Module -3)</a:t>
            </a:r>
          </a:p>
        </p:txBody>
      </p:sp>
    </p:spTree>
    <p:extLst>
      <p:ext uri="{BB962C8B-B14F-4D97-AF65-F5344CB8AC3E}">
        <p14:creationId xmlns:p14="http://schemas.microsoft.com/office/powerpoint/2010/main" val="230290492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CB30C208-EB56-4687-9F39-18E089DFB01D}" type="datetime1">
              <a:rPr lang="en-IN" smtClean="0"/>
              <a:t>21-07-2025</a:t>
            </a:fld>
            <a:endParaRPr lang="en-US"/>
          </a:p>
        </p:txBody>
      </p:sp>
      <p:sp>
        <p:nvSpPr>
          <p:cNvPr id="5" name="Footer Placeholder 4"/>
          <p:cNvSpPr>
            <a:spLocks noGrp="1"/>
          </p:cNvSpPr>
          <p:nvPr>
            <p:ph type="ftr" sz="quarter" idx="11"/>
          </p:nvPr>
        </p:nvSpPr>
        <p:spPr>
          <a:xfrm>
            <a:off x="2514600" y="6356350"/>
            <a:ext cx="5029200" cy="365125"/>
          </a:xfrm>
        </p:spPr>
        <p:txBody>
          <a:bodyPr/>
          <a:lstStyle/>
          <a:p>
            <a:r>
              <a:rPr lang="en-US"/>
              <a:t>Ms. Purnima Pal      High Performance Computing             Unit III     </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10</a:t>
            </a:fld>
            <a:endParaRPr lang="en-US"/>
          </a:p>
        </p:txBody>
      </p:sp>
      <p:sp>
        <p:nvSpPr>
          <p:cNvPr id="7" name="Title 1"/>
          <p:cNvSpPr txBox="1">
            <a:spLocks/>
          </p:cNvSpPr>
          <p:nvPr/>
        </p:nvSpPr>
        <p:spPr>
          <a:xfrm>
            <a:off x="1371600" y="0"/>
            <a:ext cx="7772400" cy="685799"/>
          </a:xfrm>
          <a:prstGeom prst="rect">
            <a:avLst/>
          </a:prstGeom>
          <a:solidFill>
            <a:schemeClr val="accent2"/>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400" b="1" i="0" u="none" strike="noStrike" kern="1200" cap="none" spc="0" normalizeH="0" baseline="0" noProof="0" dirty="0">
                <a:ln>
                  <a:noFill/>
                </a:ln>
                <a:solidFill>
                  <a:schemeClr val="dk1"/>
                </a:solidFill>
                <a:effectLst/>
                <a:uLnTx/>
                <a:uFillTx/>
                <a:latin typeface="+mn-lt"/>
                <a:ea typeface="+mn-ea"/>
                <a:cs typeface="+mn-cs"/>
              </a:rPr>
              <a:t>CO-PO Mapping</a:t>
            </a:r>
          </a:p>
        </p:txBody>
      </p:sp>
      <p:sp>
        <p:nvSpPr>
          <p:cNvPr id="9" name="Rectangle 1">
            <a:extLst>
              <a:ext uri="{FF2B5EF4-FFF2-40B4-BE49-F238E27FC236}">
                <a16:creationId xmlns:a16="http://schemas.microsoft.com/office/drawing/2014/main" id="{14071140-551B-4E51-A134-31A277FE296E}"/>
              </a:ext>
            </a:extLst>
          </p:cNvPr>
          <p:cNvSpPr>
            <a:spLocks noChangeArrowheads="1"/>
          </p:cNvSpPr>
          <p:nvPr/>
        </p:nvSpPr>
        <p:spPr bwMode="auto">
          <a:xfrm>
            <a:off x="304800" y="1133092"/>
            <a:ext cx="8305800"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CO-PO Correlation Matrices</a:t>
            </a:r>
            <a:endParaRPr kumimoji="0" lang="en-US" altLang="en-US"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Correlation levels are taken 1, 2 and 3 as defined below:</a:t>
            </a:r>
            <a:endParaRPr kumimoji="0" lang="en-US" altLang="en-US"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1: </a:t>
            </a:r>
            <a:r>
              <a:rPr kumimoji="0" lang="en-US" altLang="en-US" b="0" i="0" u="none" strike="noStrike" cap="none" normalizeH="0" baseline="0" dirty="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Slight (Low)</a:t>
            </a:r>
            <a:r>
              <a:rPr kumimoji="0" lang="en-US" altLang="en-US" b="1" i="0" u="none" strike="noStrike" cap="none" normalizeH="0" baseline="0" dirty="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	2: </a:t>
            </a:r>
            <a:r>
              <a:rPr kumimoji="0" lang="en-US" altLang="en-US" b="0" i="0" u="none" strike="noStrike" cap="none" normalizeH="0" baseline="0" dirty="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Moderate (Medium)</a:t>
            </a:r>
            <a:r>
              <a:rPr kumimoji="0" lang="en-US" altLang="en-US" b="1" i="0" u="none" strike="noStrike" cap="none" normalizeH="0" baseline="0" dirty="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	3: </a:t>
            </a:r>
            <a:r>
              <a:rPr kumimoji="0" lang="en-US" altLang="en-US" b="0" i="0" u="none" strike="noStrike" cap="none" normalizeH="0" baseline="0" dirty="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Substantial (High)</a:t>
            </a:r>
            <a:r>
              <a:rPr kumimoji="0" lang="en-US" altLang="en-US" b="1" i="0" u="none" strike="noStrike" cap="none" normalizeH="0" baseline="0" dirty="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 </a:t>
            </a:r>
            <a:endParaRPr kumimoji="0" lang="en-US" altLang="en-US" b="0" i="0" u="none" strike="noStrike" cap="none" normalizeH="0" baseline="0" dirty="0">
              <a:ln>
                <a:noFill/>
              </a:ln>
              <a:solidFill>
                <a:schemeClr val="tx1"/>
              </a:solidFill>
              <a:effectLst/>
            </a:endParaRPr>
          </a:p>
        </p:txBody>
      </p:sp>
      <p:sp>
        <p:nvSpPr>
          <p:cNvPr id="2" name="Title 1">
            <a:extLst>
              <a:ext uri="{FF2B5EF4-FFF2-40B4-BE49-F238E27FC236}">
                <a16:creationId xmlns:a16="http://schemas.microsoft.com/office/drawing/2014/main" id="{794752FD-4826-0D18-9ED2-CF44D64503E4}"/>
              </a:ext>
            </a:extLst>
          </p:cNvPr>
          <p:cNvSpPr txBox="1">
            <a:spLocks/>
          </p:cNvSpPr>
          <p:nvPr/>
        </p:nvSpPr>
        <p:spPr>
          <a:xfrm>
            <a:off x="1267729" y="0"/>
            <a:ext cx="7876271"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r>
              <a:rPr lang="en-US" sz="2400" b="1" dirty="0"/>
              <a:t>CO-PO Mapping</a:t>
            </a:r>
          </a:p>
        </p:txBody>
      </p:sp>
      <p:pic>
        <p:nvPicPr>
          <p:cNvPr id="10" name="Picture 9">
            <a:extLst>
              <a:ext uri="{FF2B5EF4-FFF2-40B4-BE49-F238E27FC236}">
                <a16:creationId xmlns:a16="http://schemas.microsoft.com/office/drawing/2014/main" id="{430BF350-0BB2-840C-991F-4C265C319D63}"/>
              </a:ext>
            </a:extLst>
          </p:cNvPr>
          <p:cNvPicPr>
            <a:picLocks noChangeAspect="1"/>
          </p:cNvPicPr>
          <p:nvPr/>
        </p:nvPicPr>
        <p:blipFill>
          <a:blip r:embed="rId2"/>
          <a:stretch>
            <a:fillRect/>
          </a:stretch>
        </p:blipFill>
        <p:spPr>
          <a:xfrm>
            <a:off x="608942" y="2722174"/>
            <a:ext cx="7537092" cy="1986042"/>
          </a:xfrm>
          <a:prstGeom prst="rect">
            <a:avLst/>
          </a:prstGeom>
        </p:spPr>
      </p:pic>
    </p:spTree>
    <p:extLst>
      <p:ext uri="{BB962C8B-B14F-4D97-AF65-F5344CB8AC3E}">
        <p14:creationId xmlns:p14="http://schemas.microsoft.com/office/powerpoint/2010/main" val="199527998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5AA6B45E-60F4-4C09-B76E-97BE4919A475}" type="datetime1">
              <a:rPr lang="en-IN" smtClean="0"/>
              <a:t>21-07-2025</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11</a:t>
            </a:fld>
            <a:endParaRPr lang="en-US"/>
          </a:p>
        </p:txBody>
      </p:sp>
      <p:sp>
        <p:nvSpPr>
          <p:cNvPr id="19458" name="Rectangle 2"/>
          <p:cNvSpPr>
            <a:spLocks noChangeArrowheads="1"/>
          </p:cNvSpPr>
          <p:nvPr/>
        </p:nvSpPr>
        <p:spPr bwMode="auto">
          <a:xfrm>
            <a:off x="914400" y="5696480"/>
            <a:ext cx="7772400" cy="369332"/>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tab pos="1304925" algn="ctr"/>
              </a:tabLst>
            </a:pPr>
            <a:r>
              <a:rPr kumimoji="0" lang="en-US" b="0" i="0" u="none" strike="noStrike" cap="none" normalizeH="0" baseline="0" dirty="0">
                <a:ln>
                  <a:noFill/>
                </a:ln>
                <a:solidFill>
                  <a:schemeClr val="tx1"/>
                </a:solidFill>
                <a:effectLst/>
                <a:latin typeface="Calibri (Body)"/>
                <a:ea typeface="Times New Roman" pitchFamily="18" charset="0"/>
                <a:cs typeface="Mangal" pitchFamily="18" charset="0"/>
              </a:rPr>
              <a:t>          *3= High               	*2= Medium		*1=Low</a:t>
            </a:r>
            <a:endParaRPr kumimoji="0" lang="en-US" b="0" i="0" u="none" strike="noStrike" cap="none" normalizeH="0" baseline="0" dirty="0">
              <a:ln>
                <a:noFill/>
              </a:ln>
              <a:solidFill>
                <a:schemeClr val="tx1"/>
              </a:solidFill>
              <a:effectLst/>
              <a:latin typeface="Calibri (Body)"/>
              <a:cs typeface="Arial" pitchFamily="34" charset="0"/>
            </a:endParaRPr>
          </a:p>
        </p:txBody>
      </p:sp>
      <p:sp>
        <p:nvSpPr>
          <p:cNvPr id="19461" name="Rectangle 5"/>
          <p:cNvSpPr>
            <a:spLocks noChangeArrowheads="1"/>
          </p:cNvSpPr>
          <p:nvPr/>
        </p:nvSpPr>
        <p:spPr bwMode="auto">
          <a:xfrm>
            <a:off x="428596" y="1285860"/>
            <a:ext cx="7786742" cy="384721"/>
          </a:xfrm>
          <a:prstGeom prst="rect">
            <a:avLst/>
          </a:prstGeom>
          <a:noFill/>
          <a:ln w="9525">
            <a:noFill/>
            <a:miter lim="800000"/>
            <a:headEnd/>
            <a:tailEnd/>
          </a:ln>
          <a:effectLst/>
        </p:spPr>
        <p:txBody>
          <a:bodyPr vert="horz" wrap="square" lIns="274551" tIns="45720" rIns="91440" bIns="0" numCol="1" anchor="ctr" anchorCtr="0" compatLnSpc="1">
            <a:prstTxWarp prst="textNoShape">
              <a:avLst/>
            </a:prstTxWarp>
            <a:spAutoFit/>
          </a:bodyPr>
          <a:lstStyle/>
          <a:p>
            <a:r>
              <a:rPr lang="en-US" sz="2200" b="1" dirty="0"/>
              <a:t>Program Specific Outcomes and Course Outcomes Mapping </a:t>
            </a:r>
            <a:endParaRPr kumimoji="0" lang="en-US" sz="2200" b="1" i="0" u="none" strike="noStrike" cap="none" normalizeH="0" baseline="0" dirty="0">
              <a:ln>
                <a:noFill/>
              </a:ln>
              <a:solidFill>
                <a:schemeClr val="tx1"/>
              </a:solidFill>
              <a:effectLst/>
              <a:latin typeface="Arial" pitchFamily="34" charset="0"/>
              <a:cs typeface="Arial" pitchFamily="34" charset="0"/>
            </a:endParaRPr>
          </a:p>
        </p:txBody>
      </p:sp>
      <p:sp>
        <p:nvSpPr>
          <p:cNvPr id="10" name="Footer Placeholder 4"/>
          <p:cNvSpPr>
            <a:spLocks noGrp="1"/>
          </p:cNvSpPr>
          <p:nvPr>
            <p:ph type="ftr" sz="quarter" idx="11"/>
          </p:nvPr>
        </p:nvSpPr>
        <p:spPr>
          <a:xfrm>
            <a:off x="2514600" y="6356350"/>
            <a:ext cx="5029200" cy="365125"/>
          </a:xfrm>
        </p:spPr>
        <p:txBody>
          <a:bodyPr/>
          <a:lstStyle/>
          <a:p>
            <a:r>
              <a:rPr lang="en-US"/>
              <a:t>Ms. Purnima Pal      High Performance Computing             Unit III     </a:t>
            </a:r>
            <a:endParaRPr lang="en-US" dirty="0"/>
          </a:p>
        </p:txBody>
      </p:sp>
      <p:sp>
        <p:nvSpPr>
          <p:cNvPr id="2" name="Title 1">
            <a:extLst>
              <a:ext uri="{FF2B5EF4-FFF2-40B4-BE49-F238E27FC236}">
                <a16:creationId xmlns:a16="http://schemas.microsoft.com/office/drawing/2014/main" id="{1AC4031E-F60E-F9A5-F845-3FE22D680AB7}"/>
              </a:ext>
            </a:extLst>
          </p:cNvPr>
          <p:cNvSpPr txBox="1">
            <a:spLocks/>
          </p:cNvSpPr>
          <p:nvPr/>
        </p:nvSpPr>
        <p:spPr>
          <a:xfrm>
            <a:off x="1267729" y="0"/>
            <a:ext cx="7876271"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endParaRPr kumimoji="0" lang="en-US" sz="2400" b="1" i="0" u="none" strike="noStrike" kern="1200" cap="none" spc="0" normalizeH="0" baseline="0" noProof="0" dirty="0">
              <a:ln>
                <a:noFill/>
              </a:ln>
              <a:solidFill>
                <a:schemeClr val="dk1"/>
              </a:solidFill>
              <a:effectLst/>
              <a:uLnTx/>
              <a:uFillTx/>
              <a:latin typeface="+mn-lt"/>
              <a:ea typeface="+mn-ea"/>
              <a:cs typeface="+mn-cs"/>
            </a:endParaRPr>
          </a:p>
          <a:p>
            <a:r>
              <a:rPr kumimoji="0" lang="en-US" sz="2400" b="1" i="0" u="none" strike="noStrike" kern="1200" cap="none" spc="0" normalizeH="0" baseline="0" noProof="0" dirty="0">
                <a:ln>
                  <a:noFill/>
                </a:ln>
                <a:solidFill>
                  <a:schemeClr val="dk1"/>
                </a:solidFill>
                <a:effectLst/>
                <a:uLnTx/>
                <a:uFillTx/>
                <a:latin typeface="+mn-lt"/>
                <a:ea typeface="+mn-ea"/>
                <a:cs typeface="+mn-cs"/>
              </a:rPr>
              <a:t>CO-PO and PSO Mapping</a:t>
            </a:r>
          </a:p>
          <a:p>
            <a:endParaRPr lang="en-US" sz="2400" b="1" dirty="0"/>
          </a:p>
        </p:txBody>
      </p:sp>
      <p:graphicFrame>
        <p:nvGraphicFramePr>
          <p:cNvPr id="3" name="Table 2">
            <a:extLst>
              <a:ext uri="{FF2B5EF4-FFF2-40B4-BE49-F238E27FC236}">
                <a16:creationId xmlns:a16="http://schemas.microsoft.com/office/drawing/2014/main" id="{EB0584BA-C0CA-8EF4-B6EB-BF587757367E}"/>
              </a:ext>
            </a:extLst>
          </p:cNvPr>
          <p:cNvGraphicFramePr>
            <a:graphicFrameLocks noGrp="1"/>
          </p:cNvGraphicFramePr>
          <p:nvPr>
            <p:extLst>
              <p:ext uri="{D42A27DB-BD31-4B8C-83A1-F6EECF244321}">
                <p14:modId xmlns:p14="http://schemas.microsoft.com/office/powerpoint/2010/main" val="3307912406"/>
              </p:ext>
            </p:extLst>
          </p:nvPr>
        </p:nvGraphicFramePr>
        <p:xfrm>
          <a:off x="1371600" y="2209801"/>
          <a:ext cx="6477000" cy="2947459"/>
        </p:xfrm>
        <a:graphic>
          <a:graphicData uri="http://schemas.openxmlformats.org/drawingml/2006/table">
            <a:tbl>
              <a:tblPr firstRow="1" firstCol="1" lastRow="1" lastCol="1" bandRow="1" bandCol="1">
                <a:tableStyleId>{5C22544A-7EE6-4342-B048-85BDC9FD1C3A}</a:tableStyleId>
              </a:tblPr>
              <a:tblGrid>
                <a:gridCol w="1848599">
                  <a:extLst>
                    <a:ext uri="{9D8B030D-6E8A-4147-A177-3AD203B41FA5}">
                      <a16:colId xmlns:a16="http://schemas.microsoft.com/office/drawing/2014/main" val="3793380864"/>
                    </a:ext>
                  </a:extLst>
                </a:gridCol>
                <a:gridCol w="1087682">
                  <a:extLst>
                    <a:ext uri="{9D8B030D-6E8A-4147-A177-3AD203B41FA5}">
                      <a16:colId xmlns:a16="http://schemas.microsoft.com/office/drawing/2014/main" val="3317898124"/>
                    </a:ext>
                  </a:extLst>
                </a:gridCol>
                <a:gridCol w="1086915">
                  <a:extLst>
                    <a:ext uri="{9D8B030D-6E8A-4147-A177-3AD203B41FA5}">
                      <a16:colId xmlns:a16="http://schemas.microsoft.com/office/drawing/2014/main" val="1616342871"/>
                    </a:ext>
                  </a:extLst>
                </a:gridCol>
                <a:gridCol w="1040124">
                  <a:extLst>
                    <a:ext uri="{9D8B030D-6E8A-4147-A177-3AD203B41FA5}">
                      <a16:colId xmlns:a16="http://schemas.microsoft.com/office/drawing/2014/main" val="745435436"/>
                    </a:ext>
                  </a:extLst>
                </a:gridCol>
                <a:gridCol w="1413680">
                  <a:extLst>
                    <a:ext uri="{9D8B030D-6E8A-4147-A177-3AD203B41FA5}">
                      <a16:colId xmlns:a16="http://schemas.microsoft.com/office/drawing/2014/main" val="2626192609"/>
                    </a:ext>
                  </a:extLst>
                </a:gridCol>
              </a:tblGrid>
              <a:tr h="422589">
                <a:tc>
                  <a:txBody>
                    <a:bodyPr/>
                    <a:lstStyle/>
                    <a:p>
                      <a:pPr algn="l">
                        <a:lnSpc>
                          <a:spcPct val="107000"/>
                        </a:lnSpc>
                      </a:pPr>
                      <a:r>
                        <a:rPr lang="en-IN" sz="1200">
                          <a:effectLst/>
                        </a:rPr>
                        <a:t> </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solidFill>
                      <a:schemeClr val="accent2">
                        <a:lumMod val="40000"/>
                        <a:lumOff val="60000"/>
                      </a:schemeClr>
                    </a:solidFill>
                  </a:tcPr>
                </a:tc>
                <a:tc>
                  <a:txBody>
                    <a:bodyPr/>
                    <a:lstStyle/>
                    <a:p>
                      <a:pPr marL="67945" algn="l">
                        <a:lnSpc>
                          <a:spcPct val="107000"/>
                        </a:lnSpc>
                        <a:spcBef>
                          <a:spcPts val="5"/>
                        </a:spcBef>
                      </a:pPr>
                      <a:r>
                        <a:rPr lang="en-IN" sz="1200" spc="-20">
                          <a:solidFill>
                            <a:schemeClr val="tx1"/>
                          </a:solidFill>
                          <a:effectLst/>
                        </a:rPr>
                        <a:t>PSO1</a:t>
                      </a:r>
                      <a:endParaRPr lang="en-IN" sz="12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solidFill>
                      <a:schemeClr val="accent2">
                        <a:lumMod val="40000"/>
                        <a:lumOff val="60000"/>
                      </a:schemeClr>
                    </a:solidFill>
                  </a:tcPr>
                </a:tc>
                <a:tc>
                  <a:txBody>
                    <a:bodyPr/>
                    <a:lstStyle/>
                    <a:p>
                      <a:pPr marL="68580" algn="l">
                        <a:lnSpc>
                          <a:spcPct val="107000"/>
                        </a:lnSpc>
                        <a:spcBef>
                          <a:spcPts val="5"/>
                        </a:spcBef>
                      </a:pPr>
                      <a:r>
                        <a:rPr lang="en-IN" sz="1200" spc="-20">
                          <a:solidFill>
                            <a:schemeClr val="tx1"/>
                          </a:solidFill>
                          <a:effectLst/>
                        </a:rPr>
                        <a:t>PSO2</a:t>
                      </a:r>
                      <a:endParaRPr lang="en-IN" sz="12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solidFill>
                      <a:schemeClr val="accent2">
                        <a:lumMod val="40000"/>
                        <a:lumOff val="60000"/>
                      </a:schemeClr>
                    </a:solidFill>
                  </a:tcPr>
                </a:tc>
                <a:tc>
                  <a:txBody>
                    <a:bodyPr/>
                    <a:lstStyle/>
                    <a:p>
                      <a:pPr marL="68580" algn="l">
                        <a:lnSpc>
                          <a:spcPct val="107000"/>
                        </a:lnSpc>
                        <a:spcBef>
                          <a:spcPts val="5"/>
                        </a:spcBef>
                      </a:pPr>
                      <a:r>
                        <a:rPr lang="en-IN" sz="1200" spc="-20">
                          <a:solidFill>
                            <a:schemeClr val="tx1"/>
                          </a:solidFill>
                          <a:effectLst/>
                        </a:rPr>
                        <a:t>PSO3</a:t>
                      </a:r>
                      <a:endParaRPr lang="en-IN" sz="12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solidFill>
                      <a:schemeClr val="accent2">
                        <a:lumMod val="40000"/>
                        <a:lumOff val="60000"/>
                      </a:schemeClr>
                    </a:solidFill>
                  </a:tcPr>
                </a:tc>
                <a:tc>
                  <a:txBody>
                    <a:bodyPr/>
                    <a:lstStyle/>
                    <a:p>
                      <a:pPr marL="67945" algn="l">
                        <a:lnSpc>
                          <a:spcPct val="107000"/>
                        </a:lnSpc>
                        <a:spcBef>
                          <a:spcPts val="5"/>
                        </a:spcBef>
                      </a:pPr>
                      <a:r>
                        <a:rPr lang="en-IN" sz="1200" spc="-20" dirty="0">
                          <a:solidFill>
                            <a:schemeClr val="tx1"/>
                          </a:solidFill>
                          <a:effectLst/>
                        </a:rPr>
                        <a:t>PSO4</a:t>
                      </a:r>
                      <a:endParaRPr lang="en-IN" sz="12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solidFill>
                      <a:schemeClr val="accent2">
                        <a:lumMod val="40000"/>
                        <a:lumOff val="60000"/>
                      </a:schemeClr>
                    </a:solidFill>
                  </a:tcPr>
                </a:tc>
                <a:extLst>
                  <a:ext uri="{0D108BD9-81ED-4DB2-BD59-A6C34878D82A}">
                    <a16:rowId xmlns:a16="http://schemas.microsoft.com/office/drawing/2014/main" val="1472312382"/>
                  </a:ext>
                </a:extLst>
              </a:tr>
              <a:tr h="422589">
                <a:tc>
                  <a:txBody>
                    <a:bodyPr/>
                    <a:lstStyle/>
                    <a:p>
                      <a:pPr marL="67945" algn="l">
                        <a:lnSpc>
                          <a:spcPct val="107000"/>
                        </a:lnSpc>
                      </a:pPr>
                      <a:r>
                        <a:rPr lang="en-IN" sz="1200" spc="-10" dirty="0">
                          <a:solidFill>
                            <a:schemeClr val="tx1"/>
                          </a:solidFill>
                          <a:effectLst/>
                        </a:rPr>
                        <a:t>Module 1</a:t>
                      </a:r>
                      <a:endParaRPr lang="en-IN" sz="12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solidFill>
                      <a:schemeClr val="accent2">
                        <a:lumMod val="40000"/>
                        <a:lumOff val="60000"/>
                      </a:schemeClr>
                    </a:solidFill>
                  </a:tcPr>
                </a:tc>
                <a:tc>
                  <a:txBody>
                    <a:bodyPr/>
                    <a:lstStyle/>
                    <a:p>
                      <a:pPr marL="67945" algn="l">
                        <a:lnSpc>
                          <a:spcPts val="1250"/>
                        </a:lnSpc>
                      </a:pPr>
                      <a:r>
                        <a:rPr lang="en-IN" sz="1200" spc="-50">
                          <a:effectLst/>
                        </a:rPr>
                        <a:t>3</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solidFill>
                      <a:schemeClr val="accent2">
                        <a:lumMod val="40000"/>
                        <a:lumOff val="60000"/>
                      </a:schemeClr>
                    </a:solidFill>
                  </a:tcPr>
                </a:tc>
                <a:tc>
                  <a:txBody>
                    <a:bodyPr/>
                    <a:lstStyle/>
                    <a:p>
                      <a:pPr marL="68580" algn="l">
                        <a:lnSpc>
                          <a:spcPts val="1250"/>
                        </a:lnSpc>
                      </a:pPr>
                      <a:r>
                        <a:rPr lang="en-IN" sz="1200" spc="-50" dirty="0">
                          <a:effectLst/>
                        </a:rPr>
                        <a:t>3</a:t>
                      </a:r>
                      <a:endParaRPr lang="en-IN" sz="12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solidFill>
                      <a:schemeClr val="accent2">
                        <a:lumMod val="40000"/>
                        <a:lumOff val="60000"/>
                      </a:schemeClr>
                    </a:solidFill>
                  </a:tcPr>
                </a:tc>
                <a:tc>
                  <a:txBody>
                    <a:bodyPr/>
                    <a:lstStyle/>
                    <a:p>
                      <a:pPr marL="68580" algn="l">
                        <a:lnSpc>
                          <a:spcPts val="1250"/>
                        </a:lnSpc>
                      </a:pPr>
                      <a:r>
                        <a:rPr lang="en-IN" sz="1200" spc="-50">
                          <a:effectLst/>
                        </a:rPr>
                        <a:t>3</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solidFill>
                      <a:schemeClr val="accent2">
                        <a:lumMod val="40000"/>
                        <a:lumOff val="60000"/>
                      </a:schemeClr>
                    </a:solidFill>
                  </a:tcPr>
                </a:tc>
                <a:tc>
                  <a:txBody>
                    <a:bodyPr/>
                    <a:lstStyle/>
                    <a:p>
                      <a:pPr marL="67945" algn="l">
                        <a:lnSpc>
                          <a:spcPts val="1250"/>
                        </a:lnSpc>
                      </a:pPr>
                      <a:r>
                        <a:rPr lang="en-IN" sz="1200" spc="-50">
                          <a:solidFill>
                            <a:schemeClr val="tx1"/>
                          </a:solidFill>
                          <a:effectLst/>
                        </a:rPr>
                        <a:t>3</a:t>
                      </a:r>
                      <a:endParaRPr lang="en-IN" sz="12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solidFill>
                      <a:schemeClr val="accent2">
                        <a:lumMod val="40000"/>
                        <a:lumOff val="60000"/>
                      </a:schemeClr>
                    </a:solidFill>
                  </a:tcPr>
                </a:tc>
                <a:extLst>
                  <a:ext uri="{0D108BD9-81ED-4DB2-BD59-A6C34878D82A}">
                    <a16:rowId xmlns:a16="http://schemas.microsoft.com/office/drawing/2014/main" val="3481885535"/>
                  </a:ext>
                </a:extLst>
              </a:tr>
              <a:tr h="422589">
                <a:tc>
                  <a:txBody>
                    <a:bodyPr/>
                    <a:lstStyle/>
                    <a:p>
                      <a:pPr marL="67945" algn="l">
                        <a:lnSpc>
                          <a:spcPct val="107000"/>
                        </a:lnSpc>
                      </a:pPr>
                      <a:r>
                        <a:rPr lang="en-IN" sz="1200" spc="-10" dirty="0">
                          <a:solidFill>
                            <a:schemeClr val="tx1"/>
                          </a:solidFill>
                          <a:effectLst/>
                        </a:rPr>
                        <a:t>Module 2</a:t>
                      </a:r>
                      <a:endParaRPr lang="en-IN" sz="12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solidFill>
                      <a:schemeClr val="accent2">
                        <a:lumMod val="40000"/>
                        <a:lumOff val="60000"/>
                      </a:schemeClr>
                    </a:solidFill>
                  </a:tcPr>
                </a:tc>
                <a:tc>
                  <a:txBody>
                    <a:bodyPr/>
                    <a:lstStyle/>
                    <a:p>
                      <a:pPr marL="67945" algn="l">
                        <a:lnSpc>
                          <a:spcPts val="1250"/>
                        </a:lnSpc>
                      </a:pPr>
                      <a:r>
                        <a:rPr lang="en-IN" sz="1200" spc="-50">
                          <a:effectLst/>
                        </a:rPr>
                        <a:t>3</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solidFill>
                      <a:schemeClr val="accent2">
                        <a:lumMod val="40000"/>
                        <a:lumOff val="60000"/>
                      </a:schemeClr>
                    </a:solidFill>
                  </a:tcPr>
                </a:tc>
                <a:tc>
                  <a:txBody>
                    <a:bodyPr/>
                    <a:lstStyle/>
                    <a:p>
                      <a:pPr marL="68580" algn="l">
                        <a:lnSpc>
                          <a:spcPts val="1250"/>
                        </a:lnSpc>
                      </a:pPr>
                      <a:r>
                        <a:rPr lang="en-IN" sz="1200" spc="-50">
                          <a:effectLst/>
                        </a:rPr>
                        <a:t>3</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solidFill>
                      <a:schemeClr val="accent2">
                        <a:lumMod val="40000"/>
                        <a:lumOff val="60000"/>
                      </a:schemeClr>
                    </a:solidFill>
                  </a:tcPr>
                </a:tc>
                <a:tc>
                  <a:txBody>
                    <a:bodyPr/>
                    <a:lstStyle/>
                    <a:p>
                      <a:pPr marL="68580" algn="l">
                        <a:lnSpc>
                          <a:spcPts val="1250"/>
                        </a:lnSpc>
                      </a:pPr>
                      <a:r>
                        <a:rPr lang="en-IN" sz="1200" spc="-50" dirty="0">
                          <a:effectLst/>
                        </a:rPr>
                        <a:t>3</a:t>
                      </a:r>
                      <a:endParaRPr lang="en-IN" sz="12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solidFill>
                      <a:schemeClr val="accent2">
                        <a:lumMod val="40000"/>
                        <a:lumOff val="60000"/>
                      </a:schemeClr>
                    </a:solidFill>
                  </a:tcPr>
                </a:tc>
                <a:tc>
                  <a:txBody>
                    <a:bodyPr/>
                    <a:lstStyle/>
                    <a:p>
                      <a:pPr marL="67945" algn="l">
                        <a:lnSpc>
                          <a:spcPts val="1250"/>
                        </a:lnSpc>
                      </a:pPr>
                      <a:r>
                        <a:rPr lang="en-IN" sz="1200" spc="-50">
                          <a:solidFill>
                            <a:schemeClr val="tx1"/>
                          </a:solidFill>
                          <a:effectLst/>
                        </a:rPr>
                        <a:t>3</a:t>
                      </a:r>
                      <a:endParaRPr lang="en-IN" sz="12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solidFill>
                      <a:schemeClr val="accent2">
                        <a:lumMod val="40000"/>
                        <a:lumOff val="60000"/>
                      </a:schemeClr>
                    </a:solidFill>
                  </a:tcPr>
                </a:tc>
                <a:extLst>
                  <a:ext uri="{0D108BD9-81ED-4DB2-BD59-A6C34878D82A}">
                    <a16:rowId xmlns:a16="http://schemas.microsoft.com/office/drawing/2014/main" val="588457185"/>
                  </a:ext>
                </a:extLst>
              </a:tr>
              <a:tr h="422589">
                <a:tc>
                  <a:txBody>
                    <a:bodyPr/>
                    <a:lstStyle/>
                    <a:p>
                      <a:pPr marL="67945" algn="l">
                        <a:lnSpc>
                          <a:spcPct val="107000"/>
                        </a:lnSpc>
                      </a:pPr>
                      <a:r>
                        <a:rPr lang="en-IN" sz="1200" spc="-10" dirty="0">
                          <a:solidFill>
                            <a:schemeClr val="tx1"/>
                          </a:solidFill>
                          <a:effectLst/>
                        </a:rPr>
                        <a:t>Module 3</a:t>
                      </a:r>
                      <a:endParaRPr lang="en-IN" sz="12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solidFill>
                      <a:schemeClr val="accent2">
                        <a:lumMod val="40000"/>
                        <a:lumOff val="60000"/>
                      </a:schemeClr>
                    </a:solidFill>
                  </a:tcPr>
                </a:tc>
                <a:tc>
                  <a:txBody>
                    <a:bodyPr/>
                    <a:lstStyle/>
                    <a:p>
                      <a:pPr marL="67945" algn="l">
                        <a:lnSpc>
                          <a:spcPts val="1250"/>
                        </a:lnSpc>
                      </a:pPr>
                      <a:r>
                        <a:rPr lang="en-IN" sz="1200" spc="-50">
                          <a:effectLst/>
                        </a:rPr>
                        <a:t>2</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solidFill>
                      <a:schemeClr val="accent2">
                        <a:lumMod val="40000"/>
                        <a:lumOff val="60000"/>
                      </a:schemeClr>
                    </a:solidFill>
                  </a:tcPr>
                </a:tc>
                <a:tc>
                  <a:txBody>
                    <a:bodyPr/>
                    <a:lstStyle/>
                    <a:p>
                      <a:pPr marL="68580" algn="l">
                        <a:lnSpc>
                          <a:spcPts val="1250"/>
                        </a:lnSpc>
                      </a:pPr>
                      <a:r>
                        <a:rPr lang="en-IN" sz="1200" spc="-50">
                          <a:effectLst/>
                        </a:rPr>
                        <a:t>2</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solidFill>
                      <a:schemeClr val="accent2">
                        <a:lumMod val="40000"/>
                        <a:lumOff val="60000"/>
                      </a:schemeClr>
                    </a:solidFill>
                  </a:tcPr>
                </a:tc>
                <a:tc>
                  <a:txBody>
                    <a:bodyPr/>
                    <a:lstStyle/>
                    <a:p>
                      <a:pPr marL="68580" algn="l">
                        <a:lnSpc>
                          <a:spcPts val="1250"/>
                        </a:lnSpc>
                      </a:pPr>
                      <a:r>
                        <a:rPr lang="en-IN" sz="1200" spc="-50">
                          <a:effectLst/>
                        </a:rPr>
                        <a:t>2</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solidFill>
                      <a:schemeClr val="accent2">
                        <a:lumMod val="40000"/>
                        <a:lumOff val="60000"/>
                      </a:schemeClr>
                    </a:solidFill>
                  </a:tcPr>
                </a:tc>
                <a:tc>
                  <a:txBody>
                    <a:bodyPr/>
                    <a:lstStyle/>
                    <a:p>
                      <a:pPr marL="67945" algn="l">
                        <a:lnSpc>
                          <a:spcPts val="1250"/>
                        </a:lnSpc>
                      </a:pPr>
                      <a:r>
                        <a:rPr lang="en-IN" sz="1200" spc="-50">
                          <a:solidFill>
                            <a:schemeClr val="tx1"/>
                          </a:solidFill>
                          <a:effectLst/>
                        </a:rPr>
                        <a:t>2</a:t>
                      </a:r>
                      <a:endParaRPr lang="en-IN" sz="12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solidFill>
                      <a:schemeClr val="accent2">
                        <a:lumMod val="40000"/>
                        <a:lumOff val="60000"/>
                      </a:schemeClr>
                    </a:solidFill>
                  </a:tcPr>
                </a:tc>
                <a:extLst>
                  <a:ext uri="{0D108BD9-81ED-4DB2-BD59-A6C34878D82A}">
                    <a16:rowId xmlns:a16="http://schemas.microsoft.com/office/drawing/2014/main" val="466660633"/>
                  </a:ext>
                </a:extLst>
              </a:tr>
              <a:tr h="421257">
                <a:tc>
                  <a:txBody>
                    <a:bodyPr/>
                    <a:lstStyle/>
                    <a:p>
                      <a:pPr marL="67945" algn="l">
                        <a:lnSpc>
                          <a:spcPct val="107000"/>
                        </a:lnSpc>
                      </a:pPr>
                      <a:r>
                        <a:rPr lang="en-IN" sz="1200" spc="-10" dirty="0">
                          <a:solidFill>
                            <a:schemeClr val="tx1"/>
                          </a:solidFill>
                          <a:effectLst/>
                        </a:rPr>
                        <a:t>Module 4</a:t>
                      </a:r>
                      <a:endParaRPr lang="en-IN" sz="12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solidFill>
                      <a:schemeClr val="accent2">
                        <a:lumMod val="40000"/>
                        <a:lumOff val="60000"/>
                      </a:schemeClr>
                    </a:solidFill>
                  </a:tcPr>
                </a:tc>
                <a:tc>
                  <a:txBody>
                    <a:bodyPr/>
                    <a:lstStyle/>
                    <a:p>
                      <a:pPr marL="67945" algn="l">
                        <a:lnSpc>
                          <a:spcPts val="1250"/>
                        </a:lnSpc>
                      </a:pPr>
                      <a:r>
                        <a:rPr lang="en-IN" sz="1200" spc="-50">
                          <a:effectLst/>
                        </a:rPr>
                        <a:t>3</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solidFill>
                      <a:schemeClr val="accent2">
                        <a:lumMod val="40000"/>
                        <a:lumOff val="60000"/>
                      </a:schemeClr>
                    </a:solidFill>
                  </a:tcPr>
                </a:tc>
                <a:tc>
                  <a:txBody>
                    <a:bodyPr/>
                    <a:lstStyle/>
                    <a:p>
                      <a:pPr marL="68580" algn="l">
                        <a:lnSpc>
                          <a:spcPts val="1250"/>
                        </a:lnSpc>
                      </a:pPr>
                      <a:r>
                        <a:rPr lang="en-IN" sz="1200" spc="-50">
                          <a:effectLst/>
                        </a:rPr>
                        <a:t>3</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solidFill>
                      <a:schemeClr val="accent2">
                        <a:lumMod val="40000"/>
                        <a:lumOff val="60000"/>
                      </a:schemeClr>
                    </a:solidFill>
                  </a:tcPr>
                </a:tc>
                <a:tc>
                  <a:txBody>
                    <a:bodyPr/>
                    <a:lstStyle/>
                    <a:p>
                      <a:pPr marL="68580" algn="l">
                        <a:lnSpc>
                          <a:spcPts val="1250"/>
                        </a:lnSpc>
                      </a:pPr>
                      <a:r>
                        <a:rPr lang="en-IN" sz="1200" spc="-50">
                          <a:effectLst/>
                        </a:rPr>
                        <a:t>3</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solidFill>
                      <a:schemeClr val="accent2">
                        <a:lumMod val="40000"/>
                        <a:lumOff val="60000"/>
                      </a:schemeClr>
                    </a:solidFill>
                  </a:tcPr>
                </a:tc>
                <a:tc>
                  <a:txBody>
                    <a:bodyPr/>
                    <a:lstStyle/>
                    <a:p>
                      <a:pPr marL="67945" algn="l">
                        <a:lnSpc>
                          <a:spcPts val="1250"/>
                        </a:lnSpc>
                      </a:pPr>
                      <a:r>
                        <a:rPr lang="en-IN" sz="1200" spc="-50">
                          <a:solidFill>
                            <a:schemeClr val="tx1"/>
                          </a:solidFill>
                          <a:effectLst/>
                        </a:rPr>
                        <a:t>3</a:t>
                      </a:r>
                      <a:endParaRPr lang="en-IN" sz="12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solidFill>
                      <a:schemeClr val="accent2">
                        <a:lumMod val="40000"/>
                        <a:lumOff val="60000"/>
                      </a:schemeClr>
                    </a:solidFill>
                  </a:tcPr>
                </a:tc>
                <a:extLst>
                  <a:ext uri="{0D108BD9-81ED-4DB2-BD59-A6C34878D82A}">
                    <a16:rowId xmlns:a16="http://schemas.microsoft.com/office/drawing/2014/main" val="3708369854"/>
                  </a:ext>
                </a:extLst>
              </a:tr>
              <a:tr h="423922">
                <a:tc>
                  <a:txBody>
                    <a:bodyPr/>
                    <a:lstStyle/>
                    <a:p>
                      <a:pPr marL="67945" algn="l">
                        <a:lnSpc>
                          <a:spcPct val="107000"/>
                        </a:lnSpc>
                        <a:spcBef>
                          <a:spcPts val="5"/>
                        </a:spcBef>
                      </a:pPr>
                      <a:r>
                        <a:rPr lang="en-IN" sz="1200" spc="-10" dirty="0">
                          <a:solidFill>
                            <a:schemeClr val="tx1"/>
                          </a:solidFill>
                          <a:effectLst/>
                        </a:rPr>
                        <a:t>Module 5</a:t>
                      </a:r>
                      <a:endParaRPr lang="en-IN" sz="12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solidFill>
                      <a:schemeClr val="accent2">
                        <a:lumMod val="40000"/>
                        <a:lumOff val="60000"/>
                      </a:schemeClr>
                    </a:solidFill>
                  </a:tcPr>
                </a:tc>
                <a:tc>
                  <a:txBody>
                    <a:bodyPr/>
                    <a:lstStyle/>
                    <a:p>
                      <a:pPr marL="67945" algn="l">
                        <a:lnSpc>
                          <a:spcPts val="1260"/>
                        </a:lnSpc>
                      </a:pPr>
                      <a:r>
                        <a:rPr lang="en-IN" sz="1200" spc="-50">
                          <a:effectLst/>
                        </a:rPr>
                        <a:t>2</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solidFill>
                      <a:schemeClr val="accent2">
                        <a:lumMod val="40000"/>
                        <a:lumOff val="60000"/>
                      </a:schemeClr>
                    </a:solidFill>
                  </a:tcPr>
                </a:tc>
                <a:tc>
                  <a:txBody>
                    <a:bodyPr/>
                    <a:lstStyle/>
                    <a:p>
                      <a:pPr marL="68580" algn="l">
                        <a:lnSpc>
                          <a:spcPts val="1260"/>
                        </a:lnSpc>
                      </a:pPr>
                      <a:r>
                        <a:rPr lang="en-IN" sz="1200" spc="-50">
                          <a:effectLst/>
                        </a:rPr>
                        <a:t>2</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solidFill>
                      <a:schemeClr val="accent2">
                        <a:lumMod val="40000"/>
                        <a:lumOff val="60000"/>
                      </a:schemeClr>
                    </a:solidFill>
                  </a:tcPr>
                </a:tc>
                <a:tc>
                  <a:txBody>
                    <a:bodyPr/>
                    <a:lstStyle/>
                    <a:p>
                      <a:pPr marL="68580" algn="l">
                        <a:lnSpc>
                          <a:spcPts val="1260"/>
                        </a:lnSpc>
                      </a:pPr>
                      <a:r>
                        <a:rPr lang="en-IN" sz="1200" spc="-50">
                          <a:effectLst/>
                        </a:rPr>
                        <a:t>2</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solidFill>
                      <a:schemeClr val="accent2">
                        <a:lumMod val="40000"/>
                        <a:lumOff val="60000"/>
                      </a:schemeClr>
                    </a:solidFill>
                  </a:tcPr>
                </a:tc>
                <a:tc>
                  <a:txBody>
                    <a:bodyPr/>
                    <a:lstStyle/>
                    <a:p>
                      <a:pPr marL="67945" algn="l">
                        <a:lnSpc>
                          <a:spcPts val="1260"/>
                        </a:lnSpc>
                      </a:pPr>
                      <a:r>
                        <a:rPr lang="en-IN" sz="1200" spc="-50" dirty="0">
                          <a:solidFill>
                            <a:schemeClr val="tx1"/>
                          </a:solidFill>
                          <a:effectLst/>
                        </a:rPr>
                        <a:t>2</a:t>
                      </a:r>
                      <a:endParaRPr lang="en-IN" sz="12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solidFill>
                      <a:schemeClr val="accent2">
                        <a:lumMod val="40000"/>
                        <a:lumOff val="60000"/>
                      </a:schemeClr>
                    </a:solidFill>
                  </a:tcPr>
                </a:tc>
                <a:extLst>
                  <a:ext uri="{0D108BD9-81ED-4DB2-BD59-A6C34878D82A}">
                    <a16:rowId xmlns:a16="http://schemas.microsoft.com/office/drawing/2014/main" val="1767459379"/>
                  </a:ext>
                </a:extLst>
              </a:tr>
              <a:tr h="411924">
                <a:tc>
                  <a:txBody>
                    <a:bodyPr/>
                    <a:lstStyle/>
                    <a:p>
                      <a:pPr marL="67945" algn="l">
                        <a:lnSpc>
                          <a:spcPct val="107000"/>
                        </a:lnSpc>
                      </a:pPr>
                      <a:r>
                        <a:rPr lang="en-IN" sz="1200" spc="-10" dirty="0">
                          <a:solidFill>
                            <a:schemeClr val="tx1"/>
                          </a:solidFill>
                          <a:effectLst/>
                        </a:rPr>
                        <a:t>Average</a:t>
                      </a:r>
                      <a:endParaRPr lang="en-IN" sz="12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solidFill>
                      <a:schemeClr val="accent2">
                        <a:lumMod val="40000"/>
                        <a:lumOff val="60000"/>
                      </a:schemeClr>
                    </a:solidFill>
                  </a:tcPr>
                </a:tc>
                <a:tc>
                  <a:txBody>
                    <a:bodyPr/>
                    <a:lstStyle/>
                    <a:p>
                      <a:pPr marL="67945" algn="l">
                        <a:lnSpc>
                          <a:spcPct val="107000"/>
                        </a:lnSpc>
                      </a:pPr>
                      <a:r>
                        <a:rPr lang="en-IN" sz="1200" spc="-25">
                          <a:solidFill>
                            <a:schemeClr val="tx1"/>
                          </a:solidFill>
                          <a:effectLst/>
                        </a:rPr>
                        <a:t>2.6</a:t>
                      </a:r>
                      <a:endParaRPr lang="en-IN" sz="12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solidFill>
                      <a:schemeClr val="accent2">
                        <a:lumMod val="40000"/>
                        <a:lumOff val="60000"/>
                      </a:schemeClr>
                    </a:solidFill>
                  </a:tcPr>
                </a:tc>
                <a:tc>
                  <a:txBody>
                    <a:bodyPr/>
                    <a:lstStyle/>
                    <a:p>
                      <a:pPr marL="68580" algn="l">
                        <a:lnSpc>
                          <a:spcPct val="107000"/>
                        </a:lnSpc>
                      </a:pPr>
                      <a:r>
                        <a:rPr lang="en-IN" sz="1200" spc="-25">
                          <a:solidFill>
                            <a:schemeClr val="tx1"/>
                          </a:solidFill>
                          <a:effectLst/>
                        </a:rPr>
                        <a:t>2.6</a:t>
                      </a:r>
                      <a:endParaRPr lang="en-IN" sz="12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solidFill>
                      <a:schemeClr val="accent2">
                        <a:lumMod val="40000"/>
                        <a:lumOff val="60000"/>
                      </a:schemeClr>
                    </a:solidFill>
                  </a:tcPr>
                </a:tc>
                <a:tc>
                  <a:txBody>
                    <a:bodyPr/>
                    <a:lstStyle/>
                    <a:p>
                      <a:pPr marL="68580" algn="l">
                        <a:lnSpc>
                          <a:spcPct val="107000"/>
                        </a:lnSpc>
                      </a:pPr>
                      <a:r>
                        <a:rPr lang="en-IN" sz="1200" spc="-25">
                          <a:solidFill>
                            <a:schemeClr val="tx1"/>
                          </a:solidFill>
                          <a:effectLst/>
                        </a:rPr>
                        <a:t>2.6</a:t>
                      </a:r>
                      <a:endParaRPr lang="en-IN" sz="12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solidFill>
                      <a:schemeClr val="accent2">
                        <a:lumMod val="40000"/>
                        <a:lumOff val="60000"/>
                      </a:schemeClr>
                    </a:solidFill>
                  </a:tcPr>
                </a:tc>
                <a:tc>
                  <a:txBody>
                    <a:bodyPr/>
                    <a:lstStyle/>
                    <a:p>
                      <a:pPr marL="67945" algn="l">
                        <a:lnSpc>
                          <a:spcPct val="107000"/>
                        </a:lnSpc>
                      </a:pPr>
                      <a:r>
                        <a:rPr lang="en-IN" sz="1200" spc="-25" dirty="0">
                          <a:solidFill>
                            <a:schemeClr val="tx1"/>
                          </a:solidFill>
                          <a:effectLst/>
                        </a:rPr>
                        <a:t>2.6</a:t>
                      </a:r>
                      <a:endParaRPr lang="en-IN" sz="12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solidFill>
                      <a:schemeClr val="accent2">
                        <a:lumMod val="40000"/>
                        <a:lumOff val="60000"/>
                      </a:schemeClr>
                    </a:solidFill>
                  </a:tcPr>
                </a:tc>
                <a:extLst>
                  <a:ext uri="{0D108BD9-81ED-4DB2-BD59-A6C34878D82A}">
                    <a16:rowId xmlns:a16="http://schemas.microsoft.com/office/drawing/2014/main" val="70327492"/>
                  </a:ext>
                </a:extLst>
              </a:tr>
            </a:tbl>
          </a:graphicData>
        </a:graphic>
      </p:graphicFrame>
    </p:spTree>
    <p:extLst>
      <p:ext uri="{BB962C8B-B14F-4D97-AF65-F5344CB8AC3E}">
        <p14:creationId xmlns:p14="http://schemas.microsoft.com/office/powerpoint/2010/main" val="29432341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9461">
                                            <p:txEl>
                                              <p:pRg st="0" end="0"/>
                                            </p:txEl>
                                          </p:spTgt>
                                        </p:tgtEl>
                                        <p:attrNameLst>
                                          <p:attrName>style.visibility</p:attrName>
                                        </p:attrNameLst>
                                      </p:cBhvr>
                                      <p:to>
                                        <p:strVal val="visible"/>
                                      </p:to>
                                    </p:set>
                                    <p:animEffect transition="in" filter="blinds(horizontal)">
                                      <p:cBhvr>
                                        <p:cTn id="7" dur="500"/>
                                        <p:tgtEl>
                                          <p:spTgt spid="1946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19458">
                                            <p:txEl>
                                              <p:pRg st="0" end="0"/>
                                            </p:txEl>
                                          </p:spTgt>
                                        </p:tgtEl>
                                        <p:attrNameLst>
                                          <p:attrName>style.visibility</p:attrName>
                                        </p:attrNameLst>
                                      </p:cBhvr>
                                      <p:to>
                                        <p:strVal val="visible"/>
                                      </p:to>
                                    </p:set>
                                    <p:animEffect transition="in" filter="blinds(horizontal)">
                                      <p:cBhvr>
                                        <p:cTn id="12" dur="500"/>
                                        <p:tgtEl>
                                          <p:spTgt spid="19458">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9EA23AC9-CA84-411D-815F-589437787853}" type="datetime1">
              <a:rPr lang="en-IN" smtClean="0"/>
              <a:t>21-07-2025</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12</a:t>
            </a:fld>
            <a:endParaRPr lang="en-US"/>
          </a:p>
        </p:txBody>
      </p:sp>
      <p:sp>
        <p:nvSpPr>
          <p:cNvPr id="10" name="Footer Placeholder 4"/>
          <p:cNvSpPr>
            <a:spLocks noGrp="1"/>
          </p:cNvSpPr>
          <p:nvPr>
            <p:ph type="ftr" sz="quarter" idx="11"/>
          </p:nvPr>
        </p:nvSpPr>
        <p:spPr>
          <a:xfrm>
            <a:off x="2514600" y="6356350"/>
            <a:ext cx="5029200" cy="365125"/>
          </a:xfrm>
        </p:spPr>
        <p:txBody>
          <a:bodyPr/>
          <a:lstStyle/>
          <a:p>
            <a:r>
              <a:rPr lang="en-US"/>
              <a:t>Ms. Purnima Pal      High Performance Computing             Unit III     </a:t>
            </a:r>
            <a:endParaRPr lang="en-US" dirty="0"/>
          </a:p>
        </p:txBody>
      </p:sp>
      <p:sp>
        <p:nvSpPr>
          <p:cNvPr id="5" name="Title 1">
            <a:extLst>
              <a:ext uri="{FF2B5EF4-FFF2-40B4-BE49-F238E27FC236}">
                <a16:creationId xmlns:a16="http://schemas.microsoft.com/office/drawing/2014/main" id="{F3E72976-368D-3EF1-329E-88B72C7B77F9}"/>
              </a:ext>
            </a:extLst>
          </p:cNvPr>
          <p:cNvSpPr txBox="1">
            <a:spLocks/>
          </p:cNvSpPr>
          <p:nvPr/>
        </p:nvSpPr>
        <p:spPr>
          <a:xfrm>
            <a:off x="1243376" y="0"/>
            <a:ext cx="7876271"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endParaRPr kumimoji="0" lang="en-US" sz="2400" b="1" i="0" u="none" strike="noStrike" kern="1200" cap="none" spc="0" normalizeH="0" baseline="0" noProof="0" dirty="0">
              <a:ln>
                <a:noFill/>
              </a:ln>
              <a:solidFill>
                <a:schemeClr val="dk1"/>
              </a:solidFill>
              <a:effectLst/>
              <a:uLnTx/>
              <a:uFillTx/>
              <a:latin typeface="+mn-lt"/>
              <a:ea typeface="+mn-ea"/>
              <a:cs typeface="+mn-cs"/>
            </a:endParaRPr>
          </a:p>
          <a:p>
            <a:r>
              <a:rPr kumimoji="0" lang="en-US" sz="2400" b="1" i="0" u="none" strike="noStrike" kern="1200" cap="none" spc="0" normalizeH="0" baseline="0" noProof="0" dirty="0">
                <a:ln>
                  <a:noFill/>
                </a:ln>
                <a:solidFill>
                  <a:schemeClr val="dk1"/>
                </a:solidFill>
                <a:effectLst/>
                <a:uLnTx/>
                <a:uFillTx/>
                <a:latin typeface="+mn-lt"/>
                <a:ea typeface="+mn-ea"/>
                <a:cs typeface="+mn-cs"/>
              </a:rPr>
              <a:t>Topic mapping with CO</a:t>
            </a:r>
          </a:p>
          <a:p>
            <a:endParaRPr lang="en-US" sz="2400" b="1" dirty="0"/>
          </a:p>
        </p:txBody>
      </p:sp>
      <p:graphicFrame>
        <p:nvGraphicFramePr>
          <p:cNvPr id="3" name="Table 2">
            <a:extLst>
              <a:ext uri="{FF2B5EF4-FFF2-40B4-BE49-F238E27FC236}">
                <a16:creationId xmlns:a16="http://schemas.microsoft.com/office/drawing/2014/main" id="{23E2D13C-5E0F-3DAC-B4AD-44EA1307C575}"/>
              </a:ext>
            </a:extLst>
          </p:cNvPr>
          <p:cNvGraphicFramePr>
            <a:graphicFrameLocks noGrp="1"/>
          </p:cNvGraphicFramePr>
          <p:nvPr>
            <p:extLst>
              <p:ext uri="{D42A27DB-BD31-4B8C-83A1-F6EECF244321}">
                <p14:modId xmlns:p14="http://schemas.microsoft.com/office/powerpoint/2010/main" val="1205777718"/>
              </p:ext>
            </p:extLst>
          </p:nvPr>
        </p:nvGraphicFramePr>
        <p:xfrm>
          <a:off x="1066800" y="1371601"/>
          <a:ext cx="6819900" cy="4502479"/>
        </p:xfrm>
        <a:graphic>
          <a:graphicData uri="http://schemas.openxmlformats.org/drawingml/2006/table">
            <a:tbl>
              <a:tblPr>
                <a:tableStyleId>{93296810-A885-4BE3-A3E7-6D5BEEA58F35}</a:tableStyleId>
              </a:tblPr>
              <a:tblGrid>
                <a:gridCol w="5607473">
                  <a:extLst>
                    <a:ext uri="{9D8B030D-6E8A-4147-A177-3AD203B41FA5}">
                      <a16:colId xmlns:a16="http://schemas.microsoft.com/office/drawing/2014/main" val="3419382783"/>
                    </a:ext>
                  </a:extLst>
                </a:gridCol>
                <a:gridCol w="1212427">
                  <a:extLst>
                    <a:ext uri="{9D8B030D-6E8A-4147-A177-3AD203B41FA5}">
                      <a16:colId xmlns:a16="http://schemas.microsoft.com/office/drawing/2014/main" val="182359618"/>
                    </a:ext>
                  </a:extLst>
                </a:gridCol>
              </a:tblGrid>
              <a:tr h="281463">
                <a:tc>
                  <a:txBody>
                    <a:bodyPr/>
                    <a:lstStyle/>
                    <a:p>
                      <a:pPr algn="ctr" fontAlgn="b"/>
                      <a:r>
                        <a:rPr lang="en-US" sz="1800" b="1" u="none" strike="noStrike">
                          <a:effectLst/>
                        </a:rPr>
                        <a:t>Topic</a:t>
                      </a:r>
                      <a:endParaRPr lang="en-US" sz="1800" b="1" i="0" u="none" strike="noStrike">
                        <a:solidFill>
                          <a:srgbClr val="000000"/>
                        </a:solidFill>
                        <a:effectLst/>
                        <a:latin typeface="Calibri" panose="020F0502020204030204" pitchFamily="34" charset="0"/>
                      </a:endParaRP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800" b="1" u="none" strike="noStrike" dirty="0">
                          <a:effectLst/>
                        </a:rPr>
                        <a:t>CO</a:t>
                      </a:r>
                      <a:endParaRPr lang="en-US" sz="1800" b="1" i="0" u="none" strike="noStrike" dirty="0">
                        <a:solidFill>
                          <a:srgbClr val="000000"/>
                        </a:solidFill>
                        <a:effectLst/>
                        <a:latin typeface="Calibri" panose="020F0502020204030204" pitchFamily="34" charset="0"/>
                      </a:endParaRP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18349377"/>
                  </a:ext>
                </a:extLst>
              </a:tr>
              <a:tr h="555319">
                <a:tc>
                  <a:txBody>
                    <a:bodyPr/>
                    <a:lstStyle/>
                    <a:p>
                      <a:pPr algn="ctr" fontAlgn="b"/>
                      <a:r>
                        <a:rPr lang="en-US" sz="1800" u="none" strike="noStrike" dirty="0">
                          <a:effectLst/>
                        </a:rPr>
                        <a:t>Distributed memory and Message passing networks</a:t>
                      </a:r>
                      <a:endParaRPr lang="en-US" sz="1800" b="0" i="0" u="none" strike="noStrike" dirty="0">
                        <a:solidFill>
                          <a:srgbClr val="000000"/>
                        </a:solidFill>
                        <a:effectLst/>
                        <a:latin typeface="Calibri" panose="020F0502020204030204" pitchFamily="34" charset="0"/>
                      </a:endParaRP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800" u="none" strike="noStrike">
                          <a:effectLst/>
                        </a:rPr>
                        <a:t>CO3</a:t>
                      </a:r>
                      <a:endParaRPr lang="en-US" sz="1800" b="0" i="0" u="none" strike="noStrike">
                        <a:solidFill>
                          <a:srgbClr val="000000"/>
                        </a:solidFill>
                        <a:effectLst/>
                        <a:latin typeface="Calibri" panose="020F0502020204030204" pitchFamily="34" charset="0"/>
                      </a:endParaRP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80236479"/>
                  </a:ext>
                </a:extLst>
              </a:tr>
              <a:tr h="281463">
                <a:tc>
                  <a:txBody>
                    <a:bodyPr/>
                    <a:lstStyle/>
                    <a:p>
                      <a:pPr algn="ctr" fontAlgn="b"/>
                      <a:r>
                        <a:rPr lang="en-US" sz="1800" u="none" strike="noStrike">
                          <a:effectLst/>
                        </a:rPr>
                        <a:t>Broadcast</a:t>
                      </a:r>
                      <a:endParaRPr lang="en-US" sz="1800" b="0" i="0" u="none" strike="noStrike">
                        <a:solidFill>
                          <a:srgbClr val="000000"/>
                        </a:solidFill>
                        <a:effectLst/>
                        <a:latin typeface="Calibri" panose="020F0502020204030204" pitchFamily="34" charset="0"/>
                      </a:endParaRP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800" u="none" strike="noStrike" dirty="0">
                          <a:effectLst/>
                        </a:rPr>
                        <a:t>CO3</a:t>
                      </a:r>
                      <a:endParaRPr lang="en-US" sz="1800" b="0" i="0" u="none" strike="noStrike" dirty="0">
                        <a:solidFill>
                          <a:srgbClr val="000000"/>
                        </a:solidFill>
                        <a:effectLst/>
                        <a:latin typeface="Calibri" panose="020F0502020204030204" pitchFamily="34" charset="0"/>
                      </a:endParaRP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04766163"/>
                  </a:ext>
                </a:extLst>
              </a:tr>
              <a:tr h="281463">
                <a:tc>
                  <a:txBody>
                    <a:bodyPr/>
                    <a:lstStyle/>
                    <a:p>
                      <a:pPr algn="ctr" fontAlgn="b"/>
                      <a:r>
                        <a:rPr lang="en-US" sz="1800" u="none" strike="noStrike" dirty="0">
                          <a:effectLst/>
                        </a:rPr>
                        <a:t>Reduction</a:t>
                      </a:r>
                      <a:endParaRPr lang="en-US" sz="1800" b="0" i="0" u="none" strike="noStrike" dirty="0">
                        <a:solidFill>
                          <a:srgbClr val="000000"/>
                        </a:solidFill>
                        <a:effectLst/>
                        <a:latin typeface="Calibri" panose="020F0502020204030204" pitchFamily="34" charset="0"/>
                      </a:endParaRP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800" u="none" strike="noStrike">
                          <a:effectLst/>
                        </a:rPr>
                        <a:t>CO3</a:t>
                      </a:r>
                      <a:endParaRPr lang="en-US" sz="1800" b="0" i="0" u="none" strike="noStrike">
                        <a:solidFill>
                          <a:srgbClr val="000000"/>
                        </a:solidFill>
                        <a:effectLst/>
                        <a:latin typeface="Calibri" panose="020F0502020204030204" pitchFamily="34" charset="0"/>
                      </a:endParaRP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77687333"/>
                  </a:ext>
                </a:extLst>
              </a:tr>
              <a:tr h="281463">
                <a:tc>
                  <a:txBody>
                    <a:bodyPr/>
                    <a:lstStyle/>
                    <a:p>
                      <a:pPr algn="ctr" fontAlgn="b"/>
                      <a:r>
                        <a:rPr lang="en-US" sz="1800" u="none" strike="noStrike">
                          <a:effectLst/>
                        </a:rPr>
                        <a:t>Parallel Prefix Sum</a:t>
                      </a:r>
                      <a:endParaRPr lang="en-US" sz="1800" b="0" i="0" u="none" strike="noStrike">
                        <a:solidFill>
                          <a:srgbClr val="000000"/>
                        </a:solidFill>
                        <a:effectLst/>
                        <a:latin typeface="Calibri" panose="020F0502020204030204" pitchFamily="34" charset="0"/>
                      </a:endParaRP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800" u="none" strike="noStrike">
                          <a:effectLst/>
                        </a:rPr>
                        <a:t>CO3</a:t>
                      </a:r>
                      <a:endParaRPr lang="en-US" sz="1800" b="0" i="0" u="none" strike="noStrike">
                        <a:solidFill>
                          <a:srgbClr val="000000"/>
                        </a:solidFill>
                        <a:effectLst/>
                        <a:latin typeface="Calibri" panose="020F0502020204030204" pitchFamily="34" charset="0"/>
                      </a:endParaRP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17722159"/>
                  </a:ext>
                </a:extLst>
              </a:tr>
              <a:tr h="281463">
                <a:tc>
                  <a:txBody>
                    <a:bodyPr/>
                    <a:lstStyle/>
                    <a:p>
                      <a:pPr algn="ctr" fontAlgn="b"/>
                      <a:r>
                        <a:rPr lang="en-US" sz="1800" u="none" strike="noStrike">
                          <a:effectLst/>
                        </a:rPr>
                        <a:t>Scatter</a:t>
                      </a:r>
                      <a:endParaRPr lang="en-US" sz="1800" b="0" i="0" u="none" strike="noStrike">
                        <a:solidFill>
                          <a:srgbClr val="000000"/>
                        </a:solidFill>
                        <a:effectLst/>
                        <a:latin typeface="Calibri" panose="020F0502020204030204" pitchFamily="34" charset="0"/>
                      </a:endParaRP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800" u="none" strike="noStrike" dirty="0">
                          <a:effectLst/>
                        </a:rPr>
                        <a:t>CO3</a:t>
                      </a:r>
                      <a:endParaRPr lang="en-US" sz="1800" b="0" i="0" u="none" strike="noStrike" dirty="0">
                        <a:solidFill>
                          <a:srgbClr val="000000"/>
                        </a:solidFill>
                        <a:effectLst/>
                        <a:latin typeface="Calibri" panose="020F0502020204030204" pitchFamily="34" charset="0"/>
                      </a:endParaRP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83670255"/>
                  </a:ext>
                </a:extLst>
              </a:tr>
              <a:tr h="281463">
                <a:tc>
                  <a:txBody>
                    <a:bodyPr/>
                    <a:lstStyle/>
                    <a:p>
                      <a:pPr algn="ctr" fontAlgn="b"/>
                      <a:r>
                        <a:rPr lang="en-US" sz="1800" u="none" strike="noStrike" dirty="0">
                          <a:effectLst/>
                        </a:rPr>
                        <a:t>Gather</a:t>
                      </a:r>
                      <a:endParaRPr lang="en-US" sz="1800" b="0" i="0" u="none" strike="noStrike" dirty="0">
                        <a:solidFill>
                          <a:srgbClr val="000000"/>
                        </a:solidFill>
                        <a:effectLst/>
                        <a:latin typeface="Calibri" panose="020F0502020204030204" pitchFamily="34" charset="0"/>
                      </a:endParaRP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800" u="none" strike="noStrike">
                          <a:effectLst/>
                        </a:rPr>
                        <a:t>CO3</a:t>
                      </a:r>
                      <a:endParaRPr lang="en-US" sz="1800" b="0" i="0" u="none" strike="noStrike">
                        <a:solidFill>
                          <a:srgbClr val="000000"/>
                        </a:solidFill>
                        <a:effectLst/>
                        <a:latin typeface="Calibri" panose="020F0502020204030204" pitchFamily="34" charset="0"/>
                      </a:endParaRP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641033224"/>
                  </a:ext>
                </a:extLst>
              </a:tr>
              <a:tr h="281463">
                <a:tc>
                  <a:txBody>
                    <a:bodyPr/>
                    <a:lstStyle/>
                    <a:p>
                      <a:pPr algn="ctr" fontAlgn="b"/>
                      <a:r>
                        <a:rPr lang="en-US" sz="1800" u="none" strike="noStrike" dirty="0">
                          <a:effectLst/>
                        </a:rPr>
                        <a:t>Network topologies for parallel computing</a:t>
                      </a:r>
                      <a:endParaRPr lang="en-US" sz="1800" b="0" i="0" u="none" strike="noStrike" dirty="0">
                        <a:solidFill>
                          <a:srgbClr val="000000"/>
                        </a:solidFill>
                        <a:effectLst/>
                        <a:latin typeface="Calibri" panose="020F0502020204030204" pitchFamily="34" charset="0"/>
                      </a:endParaRP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800" u="none" strike="noStrike">
                          <a:effectLst/>
                        </a:rPr>
                        <a:t>CO2</a:t>
                      </a:r>
                      <a:endParaRPr lang="en-US" sz="1800" b="0" i="0" u="none" strike="noStrike">
                        <a:solidFill>
                          <a:srgbClr val="000000"/>
                        </a:solidFill>
                        <a:effectLst/>
                        <a:latin typeface="Calibri" panose="020F0502020204030204" pitchFamily="34" charset="0"/>
                      </a:endParaRP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67044545"/>
                  </a:ext>
                </a:extLst>
              </a:tr>
              <a:tr h="281463">
                <a:tc>
                  <a:txBody>
                    <a:bodyPr/>
                    <a:lstStyle/>
                    <a:p>
                      <a:pPr algn="ctr" fontAlgn="b"/>
                      <a:r>
                        <a:rPr lang="en-US" sz="1800" u="none" strike="noStrike">
                          <a:effectLst/>
                        </a:rPr>
                        <a:t>Network optimization</a:t>
                      </a:r>
                      <a:endParaRPr lang="en-US" sz="1800" b="0" i="0" u="none" strike="noStrike">
                        <a:solidFill>
                          <a:srgbClr val="000000"/>
                        </a:solidFill>
                        <a:effectLst/>
                        <a:latin typeface="Calibri" panose="020F0502020204030204" pitchFamily="34" charset="0"/>
                      </a:endParaRP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800" u="none" strike="noStrike">
                          <a:effectLst/>
                        </a:rPr>
                        <a:t>CO2</a:t>
                      </a:r>
                      <a:endParaRPr lang="en-US" sz="1800" b="0" i="0" u="none" strike="noStrike">
                        <a:solidFill>
                          <a:srgbClr val="000000"/>
                        </a:solidFill>
                        <a:effectLst/>
                        <a:latin typeface="Calibri" panose="020F0502020204030204" pitchFamily="34" charset="0"/>
                      </a:endParaRP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90853374"/>
                  </a:ext>
                </a:extLst>
              </a:tr>
              <a:tr h="281463">
                <a:tc>
                  <a:txBody>
                    <a:bodyPr/>
                    <a:lstStyle/>
                    <a:p>
                      <a:pPr algn="ctr" fontAlgn="b"/>
                      <a:r>
                        <a:rPr lang="en-US" sz="1800" u="none" strike="noStrike">
                          <a:effectLst/>
                        </a:rPr>
                        <a:t>Distributed BFS</a:t>
                      </a:r>
                      <a:endParaRPr lang="en-US" sz="1800" b="0" i="0" u="none" strike="noStrike">
                        <a:solidFill>
                          <a:srgbClr val="000000"/>
                        </a:solidFill>
                        <a:effectLst/>
                        <a:latin typeface="Calibri" panose="020F0502020204030204" pitchFamily="34" charset="0"/>
                      </a:endParaRP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800" u="none" strike="noStrike" dirty="0">
                          <a:effectLst/>
                        </a:rPr>
                        <a:t>CO3</a:t>
                      </a:r>
                      <a:endParaRPr lang="en-US" sz="1800" b="0" i="0" u="none" strike="noStrike" dirty="0">
                        <a:solidFill>
                          <a:srgbClr val="000000"/>
                        </a:solidFill>
                        <a:effectLst/>
                        <a:latin typeface="Calibri" panose="020F0502020204030204" pitchFamily="34" charset="0"/>
                      </a:endParaRP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40558239"/>
                  </a:ext>
                </a:extLst>
              </a:tr>
              <a:tr h="281463">
                <a:tc>
                  <a:txBody>
                    <a:bodyPr/>
                    <a:lstStyle/>
                    <a:p>
                      <a:pPr algn="ctr" fontAlgn="b"/>
                      <a:r>
                        <a:rPr lang="en-US" sz="1800" u="none" strike="noStrike">
                          <a:effectLst/>
                        </a:rPr>
                        <a:t>Graphs and adjacency matrix</a:t>
                      </a:r>
                      <a:endParaRPr lang="en-US" sz="1800" b="0" i="0" u="none" strike="noStrike">
                        <a:solidFill>
                          <a:srgbClr val="000000"/>
                        </a:solidFill>
                        <a:effectLst/>
                        <a:latin typeface="Calibri" panose="020F0502020204030204" pitchFamily="34" charset="0"/>
                      </a:endParaRP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800" u="none" strike="noStrike">
                          <a:effectLst/>
                        </a:rPr>
                        <a:t>CO2</a:t>
                      </a:r>
                      <a:endParaRPr lang="en-US" sz="1800" b="0" i="0" u="none" strike="noStrike">
                        <a:solidFill>
                          <a:srgbClr val="000000"/>
                        </a:solidFill>
                        <a:effectLst/>
                        <a:latin typeface="Calibri" panose="020F0502020204030204" pitchFamily="34" charset="0"/>
                      </a:endParaRP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35595100"/>
                  </a:ext>
                </a:extLst>
              </a:tr>
              <a:tr h="281463">
                <a:tc>
                  <a:txBody>
                    <a:bodyPr/>
                    <a:lstStyle/>
                    <a:p>
                      <a:pPr algn="ctr" fontAlgn="b"/>
                      <a:r>
                        <a:rPr lang="en-US" sz="1800" u="none" strike="noStrike">
                          <a:effectLst/>
                        </a:rPr>
                        <a:t>Matrix based BFS</a:t>
                      </a:r>
                      <a:endParaRPr lang="en-US" sz="1800" b="0" i="0" u="none" strike="noStrike">
                        <a:solidFill>
                          <a:srgbClr val="000000"/>
                        </a:solidFill>
                        <a:effectLst/>
                        <a:latin typeface="Calibri" panose="020F0502020204030204" pitchFamily="34" charset="0"/>
                      </a:endParaRP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800" u="none" strike="noStrike" dirty="0">
                          <a:effectLst/>
                        </a:rPr>
                        <a:t>CO3</a:t>
                      </a:r>
                      <a:endParaRPr lang="en-US" sz="1800" b="0" i="0" u="none" strike="noStrike" dirty="0">
                        <a:solidFill>
                          <a:srgbClr val="000000"/>
                        </a:solidFill>
                        <a:effectLst/>
                        <a:latin typeface="Calibri" panose="020F0502020204030204" pitchFamily="34" charset="0"/>
                      </a:endParaRP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51018313"/>
                  </a:ext>
                </a:extLst>
              </a:tr>
              <a:tr h="281463">
                <a:tc>
                  <a:txBody>
                    <a:bodyPr/>
                    <a:lstStyle/>
                    <a:p>
                      <a:pPr algn="ctr" fontAlgn="b"/>
                      <a:r>
                        <a:rPr lang="en-US" sz="1800" u="none" strike="noStrike">
                          <a:effectLst/>
                        </a:rPr>
                        <a:t>CUDA programming</a:t>
                      </a:r>
                      <a:endParaRPr lang="en-US" sz="1800" b="0" i="0" u="none" strike="noStrike">
                        <a:solidFill>
                          <a:srgbClr val="000000"/>
                        </a:solidFill>
                        <a:effectLst/>
                        <a:latin typeface="Calibri" panose="020F0502020204030204" pitchFamily="34" charset="0"/>
                      </a:endParaRP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800" u="none" strike="noStrike" dirty="0">
                          <a:effectLst/>
                        </a:rPr>
                        <a:t>CO2</a:t>
                      </a:r>
                      <a:endParaRPr lang="en-US" sz="1800" b="0" i="0" u="none" strike="noStrike" dirty="0">
                        <a:solidFill>
                          <a:srgbClr val="000000"/>
                        </a:solidFill>
                        <a:effectLst/>
                        <a:latin typeface="Calibri" panose="020F0502020204030204" pitchFamily="34" charset="0"/>
                      </a:endParaRP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12742216"/>
                  </a:ext>
                </a:extLst>
              </a:tr>
              <a:tr h="281463">
                <a:tc>
                  <a:txBody>
                    <a:bodyPr/>
                    <a:lstStyle/>
                    <a:p>
                      <a:pPr algn="ctr" fontAlgn="b"/>
                      <a:r>
                        <a:rPr lang="en-US" sz="1800" u="none" strike="noStrike">
                          <a:effectLst/>
                        </a:rPr>
                        <a:t>Parallel matrix operations</a:t>
                      </a:r>
                      <a:endParaRPr lang="en-US" sz="1800" b="0" i="0" u="none" strike="noStrike">
                        <a:solidFill>
                          <a:srgbClr val="000000"/>
                        </a:solidFill>
                        <a:effectLst/>
                        <a:latin typeface="Calibri" panose="020F0502020204030204" pitchFamily="34" charset="0"/>
                      </a:endParaRP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800" u="none" strike="noStrike" dirty="0">
                          <a:effectLst/>
                        </a:rPr>
                        <a:t>CO3</a:t>
                      </a:r>
                      <a:endParaRPr lang="en-US" sz="1800" b="0" i="0" u="none" strike="noStrike" dirty="0">
                        <a:solidFill>
                          <a:srgbClr val="000000"/>
                        </a:solidFill>
                        <a:effectLst/>
                        <a:latin typeface="Calibri" panose="020F0502020204030204" pitchFamily="34" charset="0"/>
                      </a:endParaRP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62439088"/>
                  </a:ext>
                </a:extLst>
              </a:tr>
              <a:tr h="281463">
                <a:tc>
                  <a:txBody>
                    <a:bodyPr/>
                    <a:lstStyle/>
                    <a:p>
                      <a:pPr algn="ctr" fontAlgn="b"/>
                      <a:r>
                        <a:rPr lang="en-US" sz="1800" u="none" strike="noStrike">
                          <a:effectLst/>
                        </a:rPr>
                        <a:t>Sparse vs Dense matrices</a:t>
                      </a:r>
                      <a:endParaRPr lang="en-US" sz="1800" b="0" i="0" u="none" strike="noStrike">
                        <a:solidFill>
                          <a:srgbClr val="000000"/>
                        </a:solidFill>
                        <a:effectLst/>
                        <a:latin typeface="Calibri" panose="020F0502020204030204" pitchFamily="34" charset="0"/>
                      </a:endParaRP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800" u="none" strike="noStrike" dirty="0">
                          <a:effectLst/>
                        </a:rPr>
                        <a:t>CO2</a:t>
                      </a:r>
                      <a:endParaRPr lang="en-US" sz="1800" b="0" i="0" u="none" strike="noStrike" dirty="0">
                        <a:solidFill>
                          <a:srgbClr val="000000"/>
                        </a:solidFill>
                        <a:effectLst/>
                        <a:latin typeface="Calibri" panose="020F0502020204030204" pitchFamily="34" charset="0"/>
                      </a:endParaRP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686180471"/>
                  </a:ext>
                </a:extLst>
              </a:tr>
            </a:tbl>
          </a:graphicData>
        </a:graphic>
      </p:graphicFrame>
    </p:spTree>
    <p:extLst>
      <p:ext uri="{BB962C8B-B14F-4D97-AF65-F5344CB8AC3E}">
        <p14:creationId xmlns:p14="http://schemas.microsoft.com/office/powerpoint/2010/main" val="106597484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3FA9079-40A6-3586-0188-BE197C216826}"/>
              </a:ext>
            </a:extLst>
          </p:cNvPr>
          <p:cNvSpPr>
            <a:spLocks noGrp="1"/>
          </p:cNvSpPr>
          <p:nvPr>
            <p:ph type="dt" sz="half" idx="10"/>
          </p:nvPr>
        </p:nvSpPr>
        <p:spPr/>
        <p:txBody>
          <a:bodyPr/>
          <a:lstStyle/>
          <a:p>
            <a:fld id="{B4FF3268-0085-429E-834D-9B4AA199D254}" type="datetime1">
              <a:rPr lang="en-IN" smtClean="0"/>
              <a:t>21-07-2025</a:t>
            </a:fld>
            <a:endParaRPr lang="en-US" dirty="0"/>
          </a:p>
        </p:txBody>
      </p:sp>
      <p:sp>
        <p:nvSpPr>
          <p:cNvPr id="3" name="Footer Placeholder 2">
            <a:extLst>
              <a:ext uri="{FF2B5EF4-FFF2-40B4-BE49-F238E27FC236}">
                <a16:creationId xmlns:a16="http://schemas.microsoft.com/office/drawing/2014/main" id="{FEDA6916-D751-108B-462E-31B950E5DA5B}"/>
              </a:ext>
            </a:extLst>
          </p:cNvPr>
          <p:cNvSpPr>
            <a:spLocks noGrp="1"/>
          </p:cNvSpPr>
          <p:nvPr>
            <p:ph type="ftr" sz="quarter" idx="11"/>
          </p:nvPr>
        </p:nvSpPr>
        <p:spPr>
          <a:xfrm>
            <a:off x="1620982" y="6356350"/>
            <a:ext cx="6054436" cy="365125"/>
          </a:xfrm>
        </p:spPr>
        <p:txBody>
          <a:bodyPr/>
          <a:lstStyle/>
          <a:p>
            <a:r>
              <a:rPr lang="en-US"/>
              <a:t>Ms. Purnima Pal      High Performance Computing             Unit III     </a:t>
            </a:r>
            <a:endParaRPr lang="en-US" dirty="0"/>
          </a:p>
        </p:txBody>
      </p:sp>
      <p:sp>
        <p:nvSpPr>
          <p:cNvPr id="4" name="Slide Number Placeholder 3">
            <a:extLst>
              <a:ext uri="{FF2B5EF4-FFF2-40B4-BE49-F238E27FC236}">
                <a16:creationId xmlns:a16="http://schemas.microsoft.com/office/drawing/2014/main" id="{6B86181E-91DF-5F84-0C89-326B8EE19F76}"/>
              </a:ext>
            </a:extLst>
          </p:cNvPr>
          <p:cNvSpPr>
            <a:spLocks noGrp="1"/>
          </p:cNvSpPr>
          <p:nvPr>
            <p:ph type="sldNum" sz="quarter" idx="12"/>
          </p:nvPr>
        </p:nvSpPr>
        <p:spPr/>
        <p:txBody>
          <a:bodyPr/>
          <a:lstStyle/>
          <a:p>
            <a:fld id="{B6F15528-21DE-4FAA-801E-634DDDAF4B2B}" type="slidenum">
              <a:rPr lang="en-US" smtClean="0"/>
              <a:pPr/>
              <a:t>13</a:t>
            </a:fld>
            <a:endParaRPr lang="en-US" dirty="0"/>
          </a:p>
        </p:txBody>
      </p:sp>
      <p:sp>
        <p:nvSpPr>
          <p:cNvPr id="5" name="Title 1">
            <a:extLst>
              <a:ext uri="{FF2B5EF4-FFF2-40B4-BE49-F238E27FC236}">
                <a16:creationId xmlns:a16="http://schemas.microsoft.com/office/drawing/2014/main" id="{C06D7BF1-4137-89EF-0144-98006280540C}"/>
              </a:ext>
            </a:extLst>
          </p:cNvPr>
          <p:cNvSpPr txBox="1">
            <a:spLocks/>
          </p:cNvSpPr>
          <p:nvPr/>
        </p:nvSpPr>
        <p:spPr>
          <a:xfrm>
            <a:off x="1269157" y="0"/>
            <a:ext cx="7874843" cy="726498"/>
          </a:xfrm>
          <a:prstGeom prst="rect">
            <a:avLst/>
          </a:prstGeom>
          <a:solidFill>
            <a:srgbClr val="FF9C9C"/>
          </a:solidFill>
        </p:spPr>
        <p:style>
          <a:lnRef idx="1">
            <a:schemeClr val="accent5"/>
          </a:lnRef>
          <a:fillRef idx="2">
            <a:schemeClr val="accent5"/>
          </a:fillRef>
          <a:effectRef idx="1">
            <a:schemeClr val="accent5"/>
          </a:effectRef>
          <a:fontRef idx="minor">
            <a:schemeClr val="dk1"/>
          </a:fontRef>
        </p:style>
        <p:txBody>
          <a:bodyPr vert="horz" lIns="68580" tIns="34290" rIns="68580" bIns="34290" rtlCol="0" anchor="ctr">
            <a:noAutofit/>
          </a:bodyPr>
          <a:lstStyle/>
          <a:p>
            <a:pPr algn="ctr">
              <a:spcBef>
                <a:spcPct val="0"/>
              </a:spcBef>
              <a:defRPr/>
            </a:pPr>
            <a:r>
              <a:rPr lang="en-US" sz="3000" b="1" dirty="0">
                <a:solidFill>
                  <a:schemeClr val="tx1"/>
                </a:solidFill>
              </a:rPr>
              <a:t>Program Specific Outcomes (PSOs)</a:t>
            </a:r>
          </a:p>
        </p:txBody>
      </p:sp>
      <p:sp>
        <p:nvSpPr>
          <p:cNvPr id="7" name="TextBox 6">
            <a:extLst>
              <a:ext uri="{FF2B5EF4-FFF2-40B4-BE49-F238E27FC236}">
                <a16:creationId xmlns:a16="http://schemas.microsoft.com/office/drawing/2014/main" id="{DDBF29FD-3724-9CD2-F159-8A84D7FE960A}"/>
              </a:ext>
            </a:extLst>
          </p:cNvPr>
          <p:cNvSpPr txBox="1"/>
          <p:nvPr/>
        </p:nvSpPr>
        <p:spPr>
          <a:xfrm>
            <a:off x="304800" y="1154811"/>
            <a:ext cx="8598568" cy="4154984"/>
          </a:xfrm>
          <a:prstGeom prst="rect">
            <a:avLst/>
          </a:prstGeom>
          <a:noFill/>
        </p:spPr>
        <p:txBody>
          <a:bodyPr wrap="square">
            <a:spAutoFit/>
          </a:bodyPr>
          <a:lstStyle/>
          <a:p>
            <a:pPr algn="just"/>
            <a:r>
              <a:rPr lang="en-US" sz="2400" b="1" dirty="0"/>
              <a:t>PSO’s</a:t>
            </a:r>
          </a:p>
          <a:p>
            <a:pPr algn="just"/>
            <a:r>
              <a:rPr lang="en-US" sz="2400" b="1" dirty="0"/>
              <a:t>At the end of the program, the student will be able to-</a:t>
            </a:r>
          </a:p>
          <a:p>
            <a:pPr algn="just"/>
            <a:endParaRPr lang="en-US" sz="2400" dirty="0"/>
          </a:p>
          <a:p>
            <a:pPr algn="just"/>
            <a:r>
              <a:rPr lang="en-US" sz="2400" dirty="0"/>
              <a:t>PSO 1: Apply suitable techniques, modern tools to solve complex engineering problems in the field of computer science.</a:t>
            </a:r>
          </a:p>
          <a:p>
            <a:pPr algn="just"/>
            <a:endParaRPr lang="en-US" sz="2400" dirty="0"/>
          </a:p>
          <a:p>
            <a:pPr algn="just"/>
            <a:r>
              <a:rPr lang="en-US" sz="2400" dirty="0"/>
              <a:t>PSO  2: Design and optimize, ethical and innovative solutions for the betterment of the society.</a:t>
            </a:r>
          </a:p>
          <a:p>
            <a:pPr algn="just"/>
            <a:endParaRPr lang="en-US" sz="2400" dirty="0"/>
          </a:p>
          <a:p>
            <a:pPr algn="just"/>
            <a:r>
              <a:rPr lang="en-US" sz="2400" dirty="0"/>
              <a:t>PSO  3: Work as an individual or lead in a team with good communication and engage in life-long learning.</a:t>
            </a:r>
          </a:p>
        </p:txBody>
      </p:sp>
      <p:pic>
        <p:nvPicPr>
          <p:cNvPr id="6" name="Picture 5" descr="A screenshot of a computer&#10;&#10;Description automatically generated">
            <a:extLst>
              <a:ext uri="{FF2B5EF4-FFF2-40B4-BE49-F238E27FC236}">
                <a16:creationId xmlns:a16="http://schemas.microsoft.com/office/drawing/2014/main" id="{7A23A25C-20DC-E8DE-668D-B66285AB9408}"/>
              </a:ext>
            </a:extLst>
          </p:cNvPr>
          <p:cNvPicPr>
            <a:picLocks noChangeAspect="1"/>
          </p:cNvPicPr>
          <p:nvPr/>
        </p:nvPicPr>
        <p:blipFill rotWithShape="1">
          <a:blip r:embed="rId2"/>
          <a:srcRect l="26091" t="36058" r="24385" b="26405"/>
          <a:stretch/>
        </p:blipFill>
        <p:spPr bwMode="auto">
          <a:xfrm>
            <a:off x="0" y="7233"/>
            <a:ext cx="1749346" cy="745127"/>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220339616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7BB6C61-91CA-5C97-BF6C-A2F759E3FFD4}"/>
              </a:ext>
            </a:extLst>
          </p:cNvPr>
          <p:cNvSpPr>
            <a:spLocks noGrp="1"/>
          </p:cNvSpPr>
          <p:nvPr>
            <p:ph type="dt" sz="half" idx="10"/>
          </p:nvPr>
        </p:nvSpPr>
        <p:spPr/>
        <p:txBody>
          <a:bodyPr/>
          <a:lstStyle/>
          <a:p>
            <a:fld id="{2623E08A-B1F1-4D0C-A269-4B2BACA19659}" type="datetime1">
              <a:rPr lang="en-IN" smtClean="0"/>
              <a:t>21-07-2025</a:t>
            </a:fld>
            <a:endParaRPr lang="en-US" dirty="0"/>
          </a:p>
        </p:txBody>
      </p:sp>
      <p:sp>
        <p:nvSpPr>
          <p:cNvPr id="3" name="Footer Placeholder 2">
            <a:extLst>
              <a:ext uri="{FF2B5EF4-FFF2-40B4-BE49-F238E27FC236}">
                <a16:creationId xmlns:a16="http://schemas.microsoft.com/office/drawing/2014/main" id="{7C46F3BD-666D-31B3-AEEE-489188667CA5}"/>
              </a:ext>
            </a:extLst>
          </p:cNvPr>
          <p:cNvSpPr>
            <a:spLocks noGrp="1"/>
          </p:cNvSpPr>
          <p:nvPr>
            <p:ph type="ftr" sz="quarter" idx="11"/>
          </p:nvPr>
        </p:nvSpPr>
        <p:spPr>
          <a:xfrm>
            <a:off x="1269157" y="6356350"/>
            <a:ext cx="6517098" cy="365125"/>
          </a:xfrm>
        </p:spPr>
        <p:txBody>
          <a:bodyPr/>
          <a:lstStyle/>
          <a:p>
            <a:r>
              <a:rPr lang="en-US"/>
              <a:t>Ms. Purnima Pal      High Performance Computing             Unit III     </a:t>
            </a:r>
            <a:endParaRPr lang="en-US" dirty="0"/>
          </a:p>
        </p:txBody>
      </p:sp>
      <p:sp>
        <p:nvSpPr>
          <p:cNvPr id="4" name="Slide Number Placeholder 3">
            <a:extLst>
              <a:ext uri="{FF2B5EF4-FFF2-40B4-BE49-F238E27FC236}">
                <a16:creationId xmlns:a16="http://schemas.microsoft.com/office/drawing/2014/main" id="{00A02CB5-74C0-0FE6-0AD9-DA57CFF54618}"/>
              </a:ext>
            </a:extLst>
          </p:cNvPr>
          <p:cNvSpPr>
            <a:spLocks noGrp="1"/>
          </p:cNvSpPr>
          <p:nvPr>
            <p:ph type="sldNum" sz="quarter" idx="12"/>
          </p:nvPr>
        </p:nvSpPr>
        <p:spPr/>
        <p:txBody>
          <a:bodyPr/>
          <a:lstStyle/>
          <a:p>
            <a:fld id="{B6F15528-21DE-4FAA-801E-634DDDAF4B2B}" type="slidenum">
              <a:rPr lang="en-US" smtClean="0"/>
              <a:pPr/>
              <a:t>14</a:t>
            </a:fld>
            <a:endParaRPr lang="en-US" dirty="0"/>
          </a:p>
        </p:txBody>
      </p:sp>
      <p:sp>
        <p:nvSpPr>
          <p:cNvPr id="5" name="Title 1">
            <a:extLst>
              <a:ext uri="{FF2B5EF4-FFF2-40B4-BE49-F238E27FC236}">
                <a16:creationId xmlns:a16="http://schemas.microsoft.com/office/drawing/2014/main" id="{5A4ACA45-F6D7-97A7-7BE0-E4E3138AA839}"/>
              </a:ext>
            </a:extLst>
          </p:cNvPr>
          <p:cNvSpPr txBox="1">
            <a:spLocks/>
          </p:cNvSpPr>
          <p:nvPr/>
        </p:nvSpPr>
        <p:spPr>
          <a:xfrm>
            <a:off x="1269157" y="0"/>
            <a:ext cx="7874843" cy="726498"/>
          </a:xfrm>
          <a:prstGeom prst="rect">
            <a:avLst/>
          </a:prstGeom>
          <a:solidFill>
            <a:srgbClr val="FF9C9C"/>
          </a:solidFill>
        </p:spPr>
        <p:style>
          <a:lnRef idx="1">
            <a:schemeClr val="accent5"/>
          </a:lnRef>
          <a:fillRef idx="2">
            <a:schemeClr val="accent5"/>
          </a:fillRef>
          <a:effectRef idx="1">
            <a:schemeClr val="accent5"/>
          </a:effectRef>
          <a:fontRef idx="minor">
            <a:schemeClr val="dk1"/>
          </a:fontRef>
        </p:style>
        <p:txBody>
          <a:bodyPr vert="horz" lIns="68580" tIns="34290" rIns="68580" bIns="34290" rtlCol="0" anchor="ctr">
            <a:noAutofit/>
          </a:bodyPr>
          <a:lstStyle/>
          <a:p>
            <a:pPr algn="ctr">
              <a:spcBef>
                <a:spcPct val="0"/>
              </a:spcBef>
              <a:defRPr/>
            </a:pPr>
            <a:r>
              <a:rPr lang="en-US" sz="3000" b="1" dirty="0">
                <a:solidFill>
                  <a:schemeClr val="tx1"/>
                </a:solidFill>
              </a:rPr>
              <a:t>COs and PSOs Mapping</a:t>
            </a:r>
          </a:p>
        </p:txBody>
      </p:sp>
      <p:pic>
        <p:nvPicPr>
          <p:cNvPr id="7" name="Picture 6" descr="A screenshot of a computer&#10;&#10;Description automatically generated">
            <a:extLst>
              <a:ext uri="{FF2B5EF4-FFF2-40B4-BE49-F238E27FC236}">
                <a16:creationId xmlns:a16="http://schemas.microsoft.com/office/drawing/2014/main" id="{7C4B3D58-D5ED-5399-4C63-8D1BD234EA20}"/>
              </a:ext>
            </a:extLst>
          </p:cNvPr>
          <p:cNvPicPr>
            <a:picLocks noChangeAspect="1"/>
          </p:cNvPicPr>
          <p:nvPr/>
        </p:nvPicPr>
        <p:blipFill rotWithShape="1">
          <a:blip r:embed="rId2"/>
          <a:srcRect l="26091" t="36058" r="24385" b="26405"/>
          <a:stretch/>
        </p:blipFill>
        <p:spPr bwMode="auto">
          <a:xfrm>
            <a:off x="0" y="7233"/>
            <a:ext cx="1749346" cy="745127"/>
          </a:xfrm>
          <a:prstGeom prst="rect">
            <a:avLst/>
          </a:prstGeom>
          <a:ln>
            <a:noFill/>
          </a:ln>
          <a:extLst>
            <a:ext uri="{53640926-AAD7-44D8-BBD7-CCE9431645EC}">
              <a14:shadowObscured xmlns:a14="http://schemas.microsoft.com/office/drawing/2010/main"/>
            </a:ext>
          </a:extLst>
        </p:spPr>
      </p:pic>
      <p:pic>
        <p:nvPicPr>
          <p:cNvPr id="10" name="Picture 9" descr="A screen shot of a computer&#10;&#10;AI-generated content may be incorrect.">
            <a:extLst>
              <a:ext uri="{FF2B5EF4-FFF2-40B4-BE49-F238E27FC236}">
                <a16:creationId xmlns:a16="http://schemas.microsoft.com/office/drawing/2014/main" id="{C84DB365-4DE3-DDE4-BB96-BF03766A6CEF}"/>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884219" y="-177451"/>
            <a:ext cx="11518200" cy="5400614"/>
          </a:xfrm>
          <a:prstGeom prst="rect">
            <a:avLst/>
          </a:prstGeom>
        </p:spPr>
      </p:pic>
    </p:spTree>
    <p:extLst>
      <p:ext uri="{BB962C8B-B14F-4D97-AF65-F5344CB8AC3E}">
        <p14:creationId xmlns:p14="http://schemas.microsoft.com/office/powerpoint/2010/main" val="245491933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645CACD-9C91-ACF6-026F-5A94C8D8A20B}"/>
              </a:ext>
            </a:extLst>
          </p:cNvPr>
          <p:cNvSpPr>
            <a:spLocks noGrp="1"/>
          </p:cNvSpPr>
          <p:nvPr>
            <p:ph type="dt" sz="half" idx="10"/>
          </p:nvPr>
        </p:nvSpPr>
        <p:spPr/>
        <p:txBody>
          <a:bodyPr/>
          <a:lstStyle/>
          <a:p>
            <a:fld id="{DE0E19FC-DBF7-4AF6-834C-DE7D71F62397}" type="datetime1">
              <a:rPr lang="en-IN" smtClean="0"/>
              <a:t>21-07-2025</a:t>
            </a:fld>
            <a:endParaRPr lang="en-US" dirty="0"/>
          </a:p>
        </p:txBody>
      </p:sp>
      <p:sp>
        <p:nvSpPr>
          <p:cNvPr id="3" name="Footer Placeholder 2">
            <a:extLst>
              <a:ext uri="{FF2B5EF4-FFF2-40B4-BE49-F238E27FC236}">
                <a16:creationId xmlns:a16="http://schemas.microsoft.com/office/drawing/2014/main" id="{437EAE90-4B54-7D00-B5D3-DD086F9E1FEC}"/>
              </a:ext>
            </a:extLst>
          </p:cNvPr>
          <p:cNvSpPr>
            <a:spLocks noGrp="1"/>
          </p:cNvSpPr>
          <p:nvPr>
            <p:ph type="ftr" sz="quarter" idx="11"/>
          </p:nvPr>
        </p:nvSpPr>
        <p:spPr>
          <a:xfrm>
            <a:off x="1607127" y="6356350"/>
            <a:ext cx="6068291" cy="365125"/>
          </a:xfrm>
        </p:spPr>
        <p:txBody>
          <a:bodyPr/>
          <a:lstStyle/>
          <a:p>
            <a:r>
              <a:rPr lang="en-US"/>
              <a:t>Ms. Purnima Pal      High Performance Computing             Unit III     </a:t>
            </a:r>
            <a:endParaRPr lang="en-US" dirty="0"/>
          </a:p>
        </p:txBody>
      </p:sp>
      <p:sp>
        <p:nvSpPr>
          <p:cNvPr id="4" name="Slide Number Placeholder 3">
            <a:extLst>
              <a:ext uri="{FF2B5EF4-FFF2-40B4-BE49-F238E27FC236}">
                <a16:creationId xmlns:a16="http://schemas.microsoft.com/office/drawing/2014/main" id="{AB60056D-397E-F9D7-CEE4-CEBAEAD06731}"/>
              </a:ext>
            </a:extLst>
          </p:cNvPr>
          <p:cNvSpPr>
            <a:spLocks noGrp="1"/>
          </p:cNvSpPr>
          <p:nvPr>
            <p:ph type="sldNum" sz="quarter" idx="12"/>
          </p:nvPr>
        </p:nvSpPr>
        <p:spPr/>
        <p:txBody>
          <a:bodyPr/>
          <a:lstStyle/>
          <a:p>
            <a:fld id="{B6F15528-21DE-4FAA-801E-634DDDAF4B2B}" type="slidenum">
              <a:rPr lang="en-US" smtClean="0"/>
              <a:pPr/>
              <a:t>15</a:t>
            </a:fld>
            <a:endParaRPr lang="en-US" dirty="0"/>
          </a:p>
        </p:txBody>
      </p:sp>
      <p:sp>
        <p:nvSpPr>
          <p:cNvPr id="5" name="Title 1">
            <a:extLst>
              <a:ext uri="{FF2B5EF4-FFF2-40B4-BE49-F238E27FC236}">
                <a16:creationId xmlns:a16="http://schemas.microsoft.com/office/drawing/2014/main" id="{02FE6854-561F-A9CD-BF70-B7CF5891E02A}"/>
              </a:ext>
            </a:extLst>
          </p:cNvPr>
          <p:cNvSpPr txBox="1">
            <a:spLocks/>
          </p:cNvSpPr>
          <p:nvPr/>
        </p:nvSpPr>
        <p:spPr>
          <a:xfrm>
            <a:off x="1269157" y="0"/>
            <a:ext cx="7874843" cy="726498"/>
          </a:xfrm>
          <a:prstGeom prst="rect">
            <a:avLst/>
          </a:prstGeom>
          <a:solidFill>
            <a:srgbClr val="FF9C9C"/>
          </a:solidFill>
        </p:spPr>
        <p:style>
          <a:lnRef idx="1">
            <a:schemeClr val="accent5"/>
          </a:lnRef>
          <a:fillRef idx="2">
            <a:schemeClr val="accent5"/>
          </a:fillRef>
          <a:effectRef idx="1">
            <a:schemeClr val="accent5"/>
          </a:effectRef>
          <a:fontRef idx="minor">
            <a:schemeClr val="dk1"/>
          </a:fontRef>
        </p:style>
        <p:txBody>
          <a:bodyPr vert="horz" lIns="68580" tIns="34290" rIns="68580" bIns="34290" rtlCol="0" anchor="ctr">
            <a:noAutofit/>
          </a:bodyPr>
          <a:lstStyle/>
          <a:p>
            <a:pPr algn="ctr">
              <a:spcBef>
                <a:spcPct val="0"/>
              </a:spcBef>
              <a:defRPr/>
            </a:pPr>
            <a:r>
              <a:rPr lang="en-US" sz="3000" b="1" dirty="0">
                <a:solidFill>
                  <a:schemeClr val="tx1"/>
                </a:solidFill>
              </a:rPr>
              <a:t>Program Educational Objectives (PEOs)</a:t>
            </a:r>
          </a:p>
        </p:txBody>
      </p:sp>
      <p:sp>
        <p:nvSpPr>
          <p:cNvPr id="7" name="TextBox 6">
            <a:extLst>
              <a:ext uri="{FF2B5EF4-FFF2-40B4-BE49-F238E27FC236}">
                <a16:creationId xmlns:a16="http://schemas.microsoft.com/office/drawing/2014/main" id="{E08303F5-8983-81C9-1E53-8FF3E5AA3D3C}"/>
              </a:ext>
            </a:extLst>
          </p:cNvPr>
          <p:cNvSpPr txBox="1"/>
          <p:nvPr/>
        </p:nvSpPr>
        <p:spPr>
          <a:xfrm>
            <a:off x="457200" y="1293310"/>
            <a:ext cx="8229600" cy="3139321"/>
          </a:xfrm>
          <a:prstGeom prst="rect">
            <a:avLst/>
          </a:prstGeom>
          <a:noFill/>
        </p:spPr>
        <p:txBody>
          <a:bodyPr wrap="square">
            <a:spAutoFit/>
          </a:bodyPr>
          <a:lstStyle/>
          <a:p>
            <a:pPr algn="just"/>
            <a:r>
              <a:rPr lang="en-US" b="1" dirty="0"/>
              <a:t>PEO’s</a:t>
            </a:r>
          </a:p>
          <a:p>
            <a:pPr algn="just"/>
            <a:r>
              <a:rPr lang="en-US" b="1" dirty="0"/>
              <a:t> The graduates of </a:t>
            </a:r>
            <a:r>
              <a:rPr lang="en-US" b="1" dirty="0" err="1"/>
              <a:t>B.Tech</a:t>
            </a:r>
            <a:r>
              <a:rPr lang="en-US" b="1" dirty="0"/>
              <a:t> Computer Science program will-</a:t>
            </a:r>
          </a:p>
          <a:p>
            <a:pPr algn="just"/>
            <a:endParaRPr lang="en-US" dirty="0"/>
          </a:p>
          <a:p>
            <a:pPr algn="just"/>
            <a:r>
              <a:rPr lang="en-US" b="1" dirty="0"/>
              <a:t>PEO1:</a:t>
            </a:r>
            <a:r>
              <a:rPr lang="en-US" dirty="0"/>
              <a:t> Have successful careers in the field of Computer Science and pursue higher education.</a:t>
            </a:r>
          </a:p>
          <a:p>
            <a:pPr algn="just"/>
            <a:endParaRPr lang="en-US" dirty="0"/>
          </a:p>
          <a:p>
            <a:pPr algn="just"/>
            <a:r>
              <a:rPr lang="en-US" b="1" dirty="0"/>
              <a:t>PEO2:</a:t>
            </a:r>
            <a:r>
              <a:rPr lang="en-US" dirty="0"/>
              <a:t> Engage in research and provide innovative solution to real world problems of the society with ethical responsibilities.</a:t>
            </a:r>
          </a:p>
          <a:p>
            <a:pPr algn="just"/>
            <a:endParaRPr lang="en-US" dirty="0"/>
          </a:p>
          <a:p>
            <a:pPr algn="just"/>
            <a:r>
              <a:rPr lang="en-US" b="1" dirty="0"/>
              <a:t>PEO3:</a:t>
            </a:r>
            <a:r>
              <a:rPr lang="en-US" dirty="0"/>
              <a:t> Demonstrate effective communication, work as an individual or as a team and engage in life-long learning.</a:t>
            </a:r>
          </a:p>
        </p:txBody>
      </p:sp>
      <p:pic>
        <p:nvPicPr>
          <p:cNvPr id="6" name="Picture 5" descr="A screenshot of a computer&#10;&#10;Description automatically generated">
            <a:extLst>
              <a:ext uri="{FF2B5EF4-FFF2-40B4-BE49-F238E27FC236}">
                <a16:creationId xmlns:a16="http://schemas.microsoft.com/office/drawing/2014/main" id="{B793C3A5-21F9-1ED2-109F-9393E32FF032}"/>
              </a:ext>
            </a:extLst>
          </p:cNvPr>
          <p:cNvPicPr>
            <a:picLocks noChangeAspect="1"/>
          </p:cNvPicPr>
          <p:nvPr/>
        </p:nvPicPr>
        <p:blipFill rotWithShape="1">
          <a:blip r:embed="rId2"/>
          <a:srcRect l="26091" t="36058" r="24385" b="26405"/>
          <a:stretch/>
        </p:blipFill>
        <p:spPr bwMode="auto">
          <a:xfrm>
            <a:off x="0" y="7233"/>
            <a:ext cx="1749346" cy="745127"/>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309087340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B6F15528-21DE-4FAA-801E-634DDDAF4B2B}" type="slidenum">
              <a:rPr lang="en-US" smtClean="0">
                <a:solidFill>
                  <a:schemeClr val="tx1"/>
                </a:solidFill>
              </a:rPr>
              <a:pPr/>
              <a:t>16</a:t>
            </a:fld>
            <a:endParaRPr lang="en-US" dirty="0">
              <a:solidFill>
                <a:schemeClr val="tx1"/>
              </a:solidFill>
            </a:endParaRPr>
          </a:p>
        </p:txBody>
      </p:sp>
      <p:sp>
        <p:nvSpPr>
          <p:cNvPr id="5" name="Title 1"/>
          <p:cNvSpPr txBox="1">
            <a:spLocks/>
          </p:cNvSpPr>
          <p:nvPr/>
        </p:nvSpPr>
        <p:spPr>
          <a:xfrm>
            <a:off x="1269157" y="0"/>
            <a:ext cx="7874843" cy="726498"/>
          </a:xfrm>
          <a:prstGeom prst="rect">
            <a:avLst/>
          </a:prstGeom>
          <a:solidFill>
            <a:srgbClr val="FF9C9C"/>
          </a:solidFill>
        </p:spPr>
        <p:style>
          <a:lnRef idx="1">
            <a:schemeClr val="accent5"/>
          </a:lnRef>
          <a:fillRef idx="2">
            <a:schemeClr val="accent5"/>
          </a:fillRef>
          <a:effectRef idx="1">
            <a:schemeClr val="accent5"/>
          </a:effectRef>
          <a:fontRef idx="minor">
            <a:schemeClr val="dk1"/>
          </a:fontRef>
        </p:style>
        <p:txBody>
          <a:bodyPr vert="horz" lIns="68580" tIns="34290" rIns="68580" bIns="34290" rtlCol="0" anchor="ctr">
            <a:noAutofit/>
          </a:bodyPr>
          <a:lstStyle/>
          <a:p>
            <a:pPr algn="ctr">
              <a:spcBef>
                <a:spcPct val="0"/>
              </a:spcBef>
              <a:defRPr/>
            </a:pPr>
            <a:r>
              <a:rPr lang="en-US" sz="3000" dirty="0">
                <a:solidFill>
                  <a:schemeClr val="tx1"/>
                </a:solidFill>
              </a:rPr>
              <a:t>Question Paper Template</a:t>
            </a:r>
          </a:p>
        </p:txBody>
      </p:sp>
      <p:pic>
        <p:nvPicPr>
          <p:cNvPr id="2050"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04532" y="983395"/>
            <a:ext cx="6850601" cy="37662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Rectangle 5"/>
          <p:cNvSpPr/>
          <p:nvPr/>
        </p:nvSpPr>
        <p:spPr>
          <a:xfrm>
            <a:off x="804532" y="1716618"/>
            <a:ext cx="6880572" cy="369332"/>
          </a:xfrm>
          <a:prstGeom prst="rect">
            <a:avLst/>
          </a:prstGeom>
        </p:spPr>
        <p:txBody>
          <a:bodyPr wrap="square">
            <a:spAutoFit/>
          </a:bodyPr>
          <a:lstStyle/>
          <a:p>
            <a:pPr algn="just"/>
            <a:r>
              <a:rPr lang="en-US" b="1" dirty="0">
                <a:solidFill>
                  <a:srgbClr val="000000"/>
                </a:solidFill>
              </a:rPr>
              <a:t>	</a:t>
            </a:r>
          </a:p>
        </p:txBody>
      </p:sp>
      <p:sp>
        <p:nvSpPr>
          <p:cNvPr id="2" name="Date Placeholder 1"/>
          <p:cNvSpPr>
            <a:spLocks noGrp="1"/>
          </p:cNvSpPr>
          <p:nvPr>
            <p:ph type="dt" sz="half" idx="10"/>
          </p:nvPr>
        </p:nvSpPr>
        <p:spPr/>
        <p:txBody>
          <a:bodyPr/>
          <a:lstStyle/>
          <a:p>
            <a:fld id="{49FD4D0D-E962-411E-8E4F-22A6F099CE6C}" type="datetime1">
              <a:rPr lang="en-IN" smtClean="0">
                <a:solidFill>
                  <a:schemeClr val="tx1"/>
                </a:solidFill>
              </a:rPr>
              <a:t>21-07-2025</a:t>
            </a:fld>
            <a:endParaRPr lang="en-US" dirty="0">
              <a:solidFill>
                <a:schemeClr val="tx1"/>
              </a:solidFill>
            </a:endParaRPr>
          </a:p>
        </p:txBody>
      </p:sp>
      <p:pic>
        <p:nvPicPr>
          <p:cNvPr id="7" name="Picture 6">
            <a:extLst>
              <a:ext uri="{FF2B5EF4-FFF2-40B4-BE49-F238E27FC236}">
                <a16:creationId xmlns:a16="http://schemas.microsoft.com/office/drawing/2014/main" id="{205EA77E-DEF1-B545-8A3A-F076C4FAE629}"/>
              </a:ext>
            </a:extLst>
          </p:cNvPr>
          <p:cNvPicPr>
            <a:picLocks noChangeAspect="1"/>
          </p:cNvPicPr>
          <p:nvPr/>
        </p:nvPicPr>
        <p:blipFill>
          <a:blip r:embed="rId3"/>
          <a:stretch>
            <a:fillRect/>
          </a:stretch>
        </p:blipFill>
        <p:spPr>
          <a:xfrm>
            <a:off x="933450" y="844550"/>
            <a:ext cx="7277100" cy="5168900"/>
          </a:xfrm>
          <a:prstGeom prst="rect">
            <a:avLst/>
          </a:prstGeom>
        </p:spPr>
      </p:pic>
      <p:pic>
        <p:nvPicPr>
          <p:cNvPr id="9" name="Picture 8">
            <a:extLst>
              <a:ext uri="{FF2B5EF4-FFF2-40B4-BE49-F238E27FC236}">
                <a16:creationId xmlns:a16="http://schemas.microsoft.com/office/drawing/2014/main" id="{62829486-2894-F343-8A4B-BCB5011C169E}"/>
              </a:ext>
            </a:extLst>
          </p:cNvPr>
          <p:cNvPicPr>
            <a:picLocks noChangeAspect="1"/>
          </p:cNvPicPr>
          <p:nvPr/>
        </p:nvPicPr>
        <p:blipFill>
          <a:blip r:embed="rId4"/>
          <a:stretch>
            <a:fillRect/>
          </a:stretch>
        </p:blipFill>
        <p:spPr>
          <a:xfrm>
            <a:off x="0" y="-27448"/>
            <a:ext cx="1384300" cy="812800"/>
          </a:xfrm>
          <a:prstGeom prst="rect">
            <a:avLst/>
          </a:prstGeom>
        </p:spPr>
      </p:pic>
      <p:pic>
        <p:nvPicPr>
          <p:cNvPr id="3" name="Picture 2" descr="A screenshot of a computer&#10;&#10;Description automatically generated">
            <a:extLst>
              <a:ext uri="{FF2B5EF4-FFF2-40B4-BE49-F238E27FC236}">
                <a16:creationId xmlns:a16="http://schemas.microsoft.com/office/drawing/2014/main" id="{525FFF94-968F-D9D0-8267-66BF05779FA6}"/>
              </a:ext>
            </a:extLst>
          </p:cNvPr>
          <p:cNvPicPr>
            <a:picLocks noChangeAspect="1"/>
          </p:cNvPicPr>
          <p:nvPr/>
        </p:nvPicPr>
        <p:blipFill rotWithShape="1">
          <a:blip r:embed="rId5"/>
          <a:srcRect l="26091" t="36058" r="24385" b="26405"/>
          <a:stretch/>
        </p:blipFill>
        <p:spPr bwMode="auto">
          <a:xfrm>
            <a:off x="0" y="7233"/>
            <a:ext cx="1749346" cy="745127"/>
          </a:xfrm>
          <a:prstGeom prst="rect">
            <a:avLst/>
          </a:prstGeom>
          <a:ln>
            <a:noFill/>
          </a:ln>
          <a:extLst>
            <a:ext uri="{53640926-AAD7-44D8-BBD7-CCE9431645EC}">
              <a14:shadowObscured xmlns:a14="http://schemas.microsoft.com/office/drawing/2010/main"/>
            </a:ext>
          </a:extLst>
        </p:spPr>
      </p:pic>
      <p:sp>
        <p:nvSpPr>
          <p:cNvPr id="10" name="Footer Placeholder 2">
            <a:extLst>
              <a:ext uri="{FF2B5EF4-FFF2-40B4-BE49-F238E27FC236}">
                <a16:creationId xmlns:a16="http://schemas.microsoft.com/office/drawing/2014/main" id="{DA762C34-8A23-618E-7FF0-94EF7B31F406}"/>
              </a:ext>
            </a:extLst>
          </p:cNvPr>
          <p:cNvSpPr>
            <a:spLocks noGrp="1"/>
          </p:cNvSpPr>
          <p:nvPr>
            <p:ph type="ftr" sz="quarter" idx="11"/>
          </p:nvPr>
        </p:nvSpPr>
        <p:spPr>
          <a:xfrm>
            <a:off x="1607127" y="6356350"/>
            <a:ext cx="6068291" cy="365125"/>
          </a:xfrm>
        </p:spPr>
        <p:txBody>
          <a:bodyPr/>
          <a:lstStyle/>
          <a:p>
            <a:r>
              <a:rPr lang="en-US"/>
              <a:t>Ms. Purnima Pal      High Performance Computing             Unit III     </a:t>
            </a:r>
            <a:endParaRPr lang="en-US" dirty="0"/>
          </a:p>
        </p:txBody>
      </p:sp>
    </p:spTree>
    <p:extLst>
      <p:ext uri="{BB962C8B-B14F-4D97-AF65-F5344CB8AC3E}">
        <p14:creationId xmlns:p14="http://schemas.microsoft.com/office/powerpoint/2010/main" val="28175966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B6F15528-21DE-4FAA-801E-634DDDAF4B2B}" type="slidenum">
              <a:rPr lang="en-US" smtClean="0">
                <a:solidFill>
                  <a:schemeClr val="tx1"/>
                </a:solidFill>
              </a:rPr>
              <a:pPr/>
              <a:t>17</a:t>
            </a:fld>
            <a:endParaRPr lang="en-US" dirty="0">
              <a:solidFill>
                <a:schemeClr val="tx1"/>
              </a:solidFill>
            </a:endParaRPr>
          </a:p>
        </p:txBody>
      </p:sp>
      <p:sp>
        <p:nvSpPr>
          <p:cNvPr id="5" name="Title 1"/>
          <p:cNvSpPr txBox="1">
            <a:spLocks/>
          </p:cNvSpPr>
          <p:nvPr/>
        </p:nvSpPr>
        <p:spPr>
          <a:xfrm>
            <a:off x="1269157" y="0"/>
            <a:ext cx="7874843" cy="726498"/>
          </a:xfrm>
          <a:prstGeom prst="rect">
            <a:avLst/>
          </a:prstGeom>
          <a:solidFill>
            <a:srgbClr val="FF9C9C"/>
          </a:solidFill>
        </p:spPr>
        <p:style>
          <a:lnRef idx="1">
            <a:schemeClr val="accent5"/>
          </a:lnRef>
          <a:fillRef idx="2">
            <a:schemeClr val="accent5"/>
          </a:fillRef>
          <a:effectRef idx="1">
            <a:schemeClr val="accent5"/>
          </a:effectRef>
          <a:fontRef idx="minor">
            <a:schemeClr val="dk1"/>
          </a:fontRef>
        </p:style>
        <p:txBody>
          <a:bodyPr vert="horz" lIns="68580" tIns="34290" rIns="68580" bIns="34290" rtlCol="0" anchor="ctr">
            <a:noAutofit/>
          </a:bodyPr>
          <a:lstStyle/>
          <a:p>
            <a:pPr algn="ctr">
              <a:spcBef>
                <a:spcPct val="0"/>
              </a:spcBef>
              <a:defRPr/>
            </a:pPr>
            <a:endParaRPr lang="en-US" sz="3000" dirty="0">
              <a:solidFill>
                <a:schemeClr val="tx1"/>
              </a:solidFill>
            </a:endParaRPr>
          </a:p>
          <a:p>
            <a:pPr algn="ctr">
              <a:spcBef>
                <a:spcPct val="0"/>
              </a:spcBef>
              <a:defRPr/>
            </a:pPr>
            <a:r>
              <a:rPr lang="en-US" sz="3000" dirty="0">
                <a:solidFill>
                  <a:schemeClr val="tx1"/>
                </a:solidFill>
              </a:rPr>
              <a:t>Question Paper Template</a:t>
            </a:r>
          </a:p>
          <a:p>
            <a:pPr algn="ctr">
              <a:spcBef>
                <a:spcPct val="0"/>
              </a:spcBef>
              <a:defRPr/>
            </a:pPr>
            <a:endParaRPr lang="en-US" sz="3000" dirty="0">
              <a:solidFill>
                <a:schemeClr val="tx1"/>
              </a:solidFill>
            </a:endParaRPr>
          </a:p>
        </p:txBody>
      </p:sp>
      <p:pic>
        <p:nvPicPr>
          <p:cNvPr id="2050"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04532" y="983395"/>
            <a:ext cx="6850601" cy="37662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Rectangle 5"/>
          <p:cNvSpPr/>
          <p:nvPr/>
        </p:nvSpPr>
        <p:spPr>
          <a:xfrm>
            <a:off x="804532" y="1716618"/>
            <a:ext cx="6880572" cy="369332"/>
          </a:xfrm>
          <a:prstGeom prst="rect">
            <a:avLst/>
          </a:prstGeom>
        </p:spPr>
        <p:txBody>
          <a:bodyPr wrap="square">
            <a:spAutoFit/>
          </a:bodyPr>
          <a:lstStyle/>
          <a:p>
            <a:pPr algn="just"/>
            <a:r>
              <a:rPr lang="en-US" b="1" dirty="0">
                <a:solidFill>
                  <a:srgbClr val="000000"/>
                </a:solidFill>
              </a:rPr>
              <a:t>	</a:t>
            </a:r>
          </a:p>
        </p:txBody>
      </p:sp>
      <p:sp>
        <p:nvSpPr>
          <p:cNvPr id="2" name="Date Placeholder 1"/>
          <p:cNvSpPr>
            <a:spLocks noGrp="1"/>
          </p:cNvSpPr>
          <p:nvPr>
            <p:ph type="dt" sz="half" idx="10"/>
          </p:nvPr>
        </p:nvSpPr>
        <p:spPr/>
        <p:txBody>
          <a:bodyPr/>
          <a:lstStyle/>
          <a:p>
            <a:fld id="{F9E16D0E-C0CD-4D63-84E3-16B902FFADC1}" type="datetime1">
              <a:rPr lang="en-IN" smtClean="0">
                <a:solidFill>
                  <a:schemeClr val="tx1"/>
                </a:solidFill>
              </a:rPr>
              <a:t>21-07-2025</a:t>
            </a:fld>
            <a:endParaRPr lang="en-US" dirty="0">
              <a:solidFill>
                <a:schemeClr val="tx1"/>
              </a:solidFill>
            </a:endParaRPr>
          </a:p>
        </p:txBody>
      </p:sp>
      <p:sp>
        <p:nvSpPr>
          <p:cNvPr id="11" name="Footer Placeholder 10">
            <a:extLst>
              <a:ext uri="{FF2B5EF4-FFF2-40B4-BE49-F238E27FC236}">
                <a16:creationId xmlns:a16="http://schemas.microsoft.com/office/drawing/2014/main" id="{36A70B1D-918E-44EC-9C09-C68DF7FA411C}"/>
              </a:ext>
            </a:extLst>
          </p:cNvPr>
          <p:cNvSpPr>
            <a:spLocks noGrp="1"/>
          </p:cNvSpPr>
          <p:nvPr>
            <p:ph type="ftr" sz="quarter" idx="11"/>
          </p:nvPr>
        </p:nvSpPr>
        <p:spPr>
          <a:xfrm>
            <a:off x="1482435" y="6356350"/>
            <a:ext cx="6172697" cy="365125"/>
          </a:xfrm>
        </p:spPr>
        <p:txBody>
          <a:bodyPr/>
          <a:lstStyle/>
          <a:p>
            <a:r>
              <a:rPr lang="en-US"/>
              <a:t>Ms. Purnima Pal      High Performance Computing             Unit III     </a:t>
            </a:r>
            <a:endParaRPr lang="en-US" dirty="0"/>
          </a:p>
        </p:txBody>
      </p:sp>
      <p:graphicFrame>
        <p:nvGraphicFramePr>
          <p:cNvPr id="3" name="Table 2">
            <a:extLst>
              <a:ext uri="{FF2B5EF4-FFF2-40B4-BE49-F238E27FC236}">
                <a16:creationId xmlns:a16="http://schemas.microsoft.com/office/drawing/2014/main" id="{DDD6825B-064F-084A-91C0-2417B0843538}"/>
              </a:ext>
            </a:extLst>
          </p:cNvPr>
          <p:cNvGraphicFramePr>
            <a:graphicFrameLocks noGrp="1"/>
          </p:cNvGraphicFramePr>
          <p:nvPr/>
        </p:nvGraphicFramePr>
        <p:xfrm>
          <a:off x="1269156" y="838200"/>
          <a:ext cx="7189045" cy="5500583"/>
        </p:xfrm>
        <a:graphic>
          <a:graphicData uri="http://schemas.openxmlformats.org/drawingml/2006/table">
            <a:tbl>
              <a:tblPr firstRow="1" firstCol="1" bandRow="1">
                <a:tableStyleId>{5C22544A-7EE6-4342-B048-85BDC9FD1C3A}</a:tableStyleId>
              </a:tblPr>
              <a:tblGrid>
                <a:gridCol w="369667">
                  <a:extLst>
                    <a:ext uri="{9D8B030D-6E8A-4147-A177-3AD203B41FA5}">
                      <a16:colId xmlns:a16="http://schemas.microsoft.com/office/drawing/2014/main" val="3904463951"/>
                    </a:ext>
                  </a:extLst>
                </a:gridCol>
                <a:gridCol w="467848">
                  <a:extLst>
                    <a:ext uri="{9D8B030D-6E8A-4147-A177-3AD203B41FA5}">
                      <a16:colId xmlns:a16="http://schemas.microsoft.com/office/drawing/2014/main" val="382194311"/>
                    </a:ext>
                  </a:extLst>
                </a:gridCol>
                <a:gridCol w="4990158">
                  <a:extLst>
                    <a:ext uri="{9D8B030D-6E8A-4147-A177-3AD203B41FA5}">
                      <a16:colId xmlns:a16="http://schemas.microsoft.com/office/drawing/2014/main" val="2326716346"/>
                    </a:ext>
                  </a:extLst>
                </a:gridCol>
                <a:gridCol w="795341">
                  <a:extLst>
                    <a:ext uri="{9D8B030D-6E8A-4147-A177-3AD203B41FA5}">
                      <a16:colId xmlns:a16="http://schemas.microsoft.com/office/drawing/2014/main" val="780519470"/>
                    </a:ext>
                  </a:extLst>
                </a:gridCol>
                <a:gridCol w="566031">
                  <a:extLst>
                    <a:ext uri="{9D8B030D-6E8A-4147-A177-3AD203B41FA5}">
                      <a16:colId xmlns:a16="http://schemas.microsoft.com/office/drawing/2014/main" val="746072801"/>
                    </a:ext>
                  </a:extLst>
                </a:gridCol>
              </a:tblGrid>
              <a:tr h="91536">
                <a:tc>
                  <a:txBody>
                    <a:bodyPr/>
                    <a:lstStyle/>
                    <a:p>
                      <a:pPr algn="l">
                        <a:lnSpc>
                          <a:spcPct val="115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15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ctr">
                        <a:lnSpc>
                          <a:spcPct val="115000"/>
                        </a:lnSpc>
                        <a:spcAft>
                          <a:spcPts val="800"/>
                        </a:spcAft>
                      </a:pPr>
                      <a:r>
                        <a:rPr lang="en-IN" sz="500" u="sng">
                          <a:effectLst/>
                        </a:rPr>
                        <a:t>SECTION – A</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ctr">
                        <a:lnSpc>
                          <a:spcPct val="115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ctr">
                        <a:lnSpc>
                          <a:spcPct val="115000"/>
                        </a:lnSpc>
                        <a:spcAft>
                          <a:spcPts val="800"/>
                        </a:spcAft>
                      </a:pPr>
                      <a:r>
                        <a:rPr lang="en-IN" sz="500">
                          <a:effectLst/>
                        </a:rPr>
                        <a:t>CO</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extLst>
                  <a:ext uri="{0D108BD9-81ED-4DB2-BD59-A6C34878D82A}">
                    <a16:rowId xmlns:a16="http://schemas.microsoft.com/office/drawing/2014/main" val="3036238230"/>
                  </a:ext>
                </a:extLst>
              </a:tr>
              <a:tr h="91536">
                <a:tc>
                  <a:txBody>
                    <a:bodyPr/>
                    <a:lstStyle/>
                    <a:p>
                      <a:pPr algn="l">
                        <a:lnSpc>
                          <a:spcPct val="115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15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ctr">
                        <a:lnSpc>
                          <a:spcPct val="115000"/>
                        </a:lnSpc>
                        <a:spcAft>
                          <a:spcPts val="800"/>
                        </a:spcAft>
                      </a:pPr>
                      <a:r>
                        <a:rPr lang="en-IN" sz="500" u="none" strike="noStrike">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ctr">
                        <a:lnSpc>
                          <a:spcPct val="115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ctr">
                        <a:lnSpc>
                          <a:spcPct val="115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extLst>
                  <a:ext uri="{0D108BD9-81ED-4DB2-BD59-A6C34878D82A}">
                    <a16:rowId xmlns:a16="http://schemas.microsoft.com/office/drawing/2014/main" val="841590961"/>
                  </a:ext>
                </a:extLst>
              </a:tr>
              <a:tr h="173825">
                <a:tc>
                  <a:txBody>
                    <a:bodyPr/>
                    <a:lstStyle/>
                    <a:p>
                      <a:pPr marL="342900" lvl="0" indent="-342900" algn="l">
                        <a:lnSpc>
                          <a:spcPct val="115000"/>
                        </a:lnSpc>
                        <a:spcAft>
                          <a:spcPts val="800"/>
                        </a:spcAft>
                        <a:buFont typeface="+mj-lt"/>
                        <a:buAutoNum type="arabicPeriod"/>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gridSpan="2">
                  <a:txBody>
                    <a:bodyPr/>
                    <a:lstStyle/>
                    <a:p>
                      <a:pPr algn="just">
                        <a:lnSpc>
                          <a:spcPct val="115000"/>
                        </a:lnSpc>
                        <a:spcAft>
                          <a:spcPts val="800"/>
                        </a:spcAft>
                      </a:pPr>
                      <a:r>
                        <a:rPr lang="en-IN" sz="500">
                          <a:effectLst/>
                        </a:rPr>
                        <a:t>Attempt all parts-</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hMerge="1">
                  <a:txBody>
                    <a:bodyPr/>
                    <a:lstStyle/>
                    <a:p>
                      <a:endParaRPr lang="en-US"/>
                    </a:p>
                  </a:txBody>
                  <a:tcPr/>
                </a:tc>
                <a:tc>
                  <a:txBody>
                    <a:bodyPr/>
                    <a:lstStyle/>
                    <a:p>
                      <a:pPr algn="l">
                        <a:lnSpc>
                          <a:spcPct val="115000"/>
                        </a:lnSpc>
                        <a:spcAft>
                          <a:spcPts val="800"/>
                        </a:spcAft>
                      </a:pPr>
                      <a:r>
                        <a:rPr lang="en-IN" sz="500">
                          <a:effectLst/>
                        </a:rPr>
                        <a:t>[10×1=10]</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15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extLst>
                  <a:ext uri="{0D108BD9-81ED-4DB2-BD59-A6C34878D82A}">
                    <a16:rowId xmlns:a16="http://schemas.microsoft.com/office/drawing/2014/main" val="1769288129"/>
                  </a:ext>
                </a:extLst>
              </a:tr>
              <a:tr h="91536">
                <a:tc>
                  <a:txBody>
                    <a:bodyPr/>
                    <a:lstStyle/>
                    <a:p>
                      <a:pPr algn="l">
                        <a:lnSpc>
                          <a:spcPct val="115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07000"/>
                        </a:lnSpc>
                        <a:spcAft>
                          <a:spcPts val="800"/>
                        </a:spcAft>
                      </a:pPr>
                      <a:r>
                        <a:rPr lang="en-IN" sz="500">
                          <a:effectLst/>
                        </a:rPr>
                        <a:t>1-a.</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07000"/>
                        </a:lnSpc>
                        <a:spcAft>
                          <a:spcPts val="800"/>
                        </a:spcAft>
                      </a:pPr>
                      <a:r>
                        <a:rPr lang="en-IN" sz="500" u="sng">
                          <a:effectLst/>
                        </a:rPr>
                        <a:t>Question-  </a:t>
                      </a: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ctr">
                        <a:lnSpc>
                          <a:spcPct val="107000"/>
                        </a:lnSpc>
                        <a:spcAft>
                          <a:spcPts val="800"/>
                        </a:spcAft>
                      </a:pPr>
                      <a:r>
                        <a:rPr lang="en-IN" sz="500">
                          <a:effectLst/>
                        </a:rPr>
                        <a:t>(1)</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07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extLst>
                  <a:ext uri="{0D108BD9-81ED-4DB2-BD59-A6C34878D82A}">
                    <a16:rowId xmlns:a16="http://schemas.microsoft.com/office/drawing/2014/main" val="1258300151"/>
                  </a:ext>
                </a:extLst>
              </a:tr>
              <a:tr h="91536">
                <a:tc>
                  <a:txBody>
                    <a:bodyPr/>
                    <a:lstStyle/>
                    <a:p>
                      <a:pPr algn="l">
                        <a:lnSpc>
                          <a:spcPct val="115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07000"/>
                        </a:lnSpc>
                        <a:spcAft>
                          <a:spcPts val="800"/>
                        </a:spcAft>
                      </a:pPr>
                      <a:r>
                        <a:rPr lang="en-IN" sz="500">
                          <a:effectLst/>
                        </a:rPr>
                        <a:t>1-b.</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07000"/>
                        </a:lnSpc>
                        <a:spcAft>
                          <a:spcPts val="800"/>
                        </a:spcAft>
                      </a:pPr>
                      <a:r>
                        <a:rPr lang="en-IN" sz="500" u="sng">
                          <a:effectLst/>
                        </a:rPr>
                        <a:t>Question-  </a:t>
                      </a: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ctr">
                        <a:lnSpc>
                          <a:spcPct val="107000"/>
                        </a:lnSpc>
                        <a:spcAft>
                          <a:spcPts val="800"/>
                        </a:spcAft>
                      </a:pPr>
                      <a:r>
                        <a:rPr lang="en-IN" sz="500">
                          <a:effectLst/>
                        </a:rPr>
                        <a:t>(1)</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07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extLst>
                  <a:ext uri="{0D108BD9-81ED-4DB2-BD59-A6C34878D82A}">
                    <a16:rowId xmlns:a16="http://schemas.microsoft.com/office/drawing/2014/main" val="223507231"/>
                  </a:ext>
                </a:extLst>
              </a:tr>
              <a:tr h="91536">
                <a:tc>
                  <a:txBody>
                    <a:bodyPr/>
                    <a:lstStyle/>
                    <a:p>
                      <a:pPr algn="l">
                        <a:lnSpc>
                          <a:spcPct val="115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07000"/>
                        </a:lnSpc>
                        <a:spcAft>
                          <a:spcPts val="800"/>
                        </a:spcAft>
                      </a:pPr>
                      <a:r>
                        <a:rPr lang="en-IN" sz="500">
                          <a:effectLst/>
                        </a:rPr>
                        <a:t>1-c.</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07000"/>
                        </a:lnSpc>
                        <a:spcAft>
                          <a:spcPts val="800"/>
                        </a:spcAft>
                      </a:pPr>
                      <a:r>
                        <a:rPr lang="en-IN" sz="500" u="sng">
                          <a:effectLst/>
                        </a:rPr>
                        <a:t>Question-  </a:t>
                      </a: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ctr">
                        <a:lnSpc>
                          <a:spcPct val="107000"/>
                        </a:lnSpc>
                        <a:spcAft>
                          <a:spcPts val="800"/>
                        </a:spcAft>
                      </a:pPr>
                      <a:r>
                        <a:rPr lang="en-IN" sz="500">
                          <a:effectLst/>
                        </a:rPr>
                        <a:t>(1)</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07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extLst>
                  <a:ext uri="{0D108BD9-81ED-4DB2-BD59-A6C34878D82A}">
                    <a16:rowId xmlns:a16="http://schemas.microsoft.com/office/drawing/2014/main" val="687040617"/>
                  </a:ext>
                </a:extLst>
              </a:tr>
              <a:tr h="91536">
                <a:tc>
                  <a:txBody>
                    <a:bodyPr/>
                    <a:lstStyle/>
                    <a:p>
                      <a:pPr algn="l">
                        <a:lnSpc>
                          <a:spcPct val="115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07000"/>
                        </a:lnSpc>
                        <a:spcAft>
                          <a:spcPts val="800"/>
                        </a:spcAft>
                      </a:pPr>
                      <a:r>
                        <a:rPr lang="en-IN" sz="500">
                          <a:effectLst/>
                        </a:rPr>
                        <a:t>1-d.</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07000"/>
                        </a:lnSpc>
                        <a:spcAft>
                          <a:spcPts val="800"/>
                        </a:spcAft>
                      </a:pPr>
                      <a:r>
                        <a:rPr lang="en-IN" sz="500" u="sng">
                          <a:effectLst/>
                        </a:rPr>
                        <a:t>Question-  </a:t>
                      </a: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ctr">
                        <a:lnSpc>
                          <a:spcPct val="107000"/>
                        </a:lnSpc>
                        <a:spcAft>
                          <a:spcPts val="800"/>
                        </a:spcAft>
                      </a:pPr>
                      <a:r>
                        <a:rPr lang="en-IN" sz="500">
                          <a:effectLst/>
                        </a:rPr>
                        <a:t>(1)</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07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extLst>
                  <a:ext uri="{0D108BD9-81ED-4DB2-BD59-A6C34878D82A}">
                    <a16:rowId xmlns:a16="http://schemas.microsoft.com/office/drawing/2014/main" val="1087945242"/>
                  </a:ext>
                </a:extLst>
              </a:tr>
              <a:tr h="91536">
                <a:tc>
                  <a:txBody>
                    <a:bodyPr/>
                    <a:lstStyle/>
                    <a:p>
                      <a:pPr algn="l">
                        <a:lnSpc>
                          <a:spcPct val="115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07000"/>
                        </a:lnSpc>
                        <a:spcAft>
                          <a:spcPts val="800"/>
                        </a:spcAft>
                      </a:pPr>
                      <a:r>
                        <a:rPr lang="en-IN" sz="500">
                          <a:effectLst/>
                        </a:rPr>
                        <a:t>1-e.</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07000"/>
                        </a:lnSpc>
                        <a:spcAft>
                          <a:spcPts val="800"/>
                        </a:spcAft>
                      </a:pPr>
                      <a:r>
                        <a:rPr lang="en-IN" sz="500" u="sng">
                          <a:effectLst/>
                        </a:rPr>
                        <a:t>Question-  </a:t>
                      </a: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ctr">
                        <a:lnSpc>
                          <a:spcPct val="107000"/>
                        </a:lnSpc>
                        <a:spcAft>
                          <a:spcPts val="800"/>
                        </a:spcAft>
                      </a:pPr>
                      <a:r>
                        <a:rPr lang="en-IN" sz="500">
                          <a:effectLst/>
                        </a:rPr>
                        <a:t>(1)</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07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extLst>
                  <a:ext uri="{0D108BD9-81ED-4DB2-BD59-A6C34878D82A}">
                    <a16:rowId xmlns:a16="http://schemas.microsoft.com/office/drawing/2014/main" val="1408743519"/>
                  </a:ext>
                </a:extLst>
              </a:tr>
              <a:tr h="91536">
                <a:tc>
                  <a:txBody>
                    <a:bodyPr/>
                    <a:lstStyle/>
                    <a:p>
                      <a:pPr algn="l">
                        <a:lnSpc>
                          <a:spcPct val="115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07000"/>
                        </a:lnSpc>
                        <a:spcAft>
                          <a:spcPts val="800"/>
                        </a:spcAft>
                      </a:pPr>
                      <a:r>
                        <a:rPr lang="en-IN" sz="500">
                          <a:effectLst/>
                        </a:rPr>
                        <a:t>1-f.</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07000"/>
                        </a:lnSpc>
                        <a:spcAft>
                          <a:spcPts val="800"/>
                        </a:spcAft>
                      </a:pPr>
                      <a:r>
                        <a:rPr lang="en-IN" sz="500" u="sng">
                          <a:effectLst/>
                        </a:rPr>
                        <a:t>Question-  </a:t>
                      </a: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ctr">
                        <a:lnSpc>
                          <a:spcPct val="107000"/>
                        </a:lnSpc>
                        <a:spcAft>
                          <a:spcPts val="800"/>
                        </a:spcAft>
                      </a:pPr>
                      <a:r>
                        <a:rPr lang="en-IN" sz="500">
                          <a:effectLst/>
                        </a:rPr>
                        <a:t>(1)</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07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extLst>
                  <a:ext uri="{0D108BD9-81ED-4DB2-BD59-A6C34878D82A}">
                    <a16:rowId xmlns:a16="http://schemas.microsoft.com/office/drawing/2014/main" val="117469021"/>
                  </a:ext>
                </a:extLst>
              </a:tr>
              <a:tr h="91536">
                <a:tc>
                  <a:txBody>
                    <a:bodyPr/>
                    <a:lstStyle/>
                    <a:p>
                      <a:pPr algn="l">
                        <a:lnSpc>
                          <a:spcPct val="115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07000"/>
                        </a:lnSpc>
                        <a:spcAft>
                          <a:spcPts val="800"/>
                        </a:spcAft>
                      </a:pPr>
                      <a:r>
                        <a:rPr lang="en-IN" sz="500">
                          <a:effectLst/>
                        </a:rPr>
                        <a:t>1-g.</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07000"/>
                        </a:lnSpc>
                        <a:spcAft>
                          <a:spcPts val="800"/>
                        </a:spcAft>
                      </a:pPr>
                      <a:r>
                        <a:rPr lang="en-IN" sz="500" u="sng">
                          <a:effectLst/>
                        </a:rPr>
                        <a:t>Question-  </a:t>
                      </a: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ctr">
                        <a:lnSpc>
                          <a:spcPct val="107000"/>
                        </a:lnSpc>
                        <a:spcAft>
                          <a:spcPts val="800"/>
                        </a:spcAft>
                      </a:pPr>
                      <a:r>
                        <a:rPr lang="en-IN" sz="500">
                          <a:effectLst/>
                        </a:rPr>
                        <a:t>(1)</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07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extLst>
                  <a:ext uri="{0D108BD9-81ED-4DB2-BD59-A6C34878D82A}">
                    <a16:rowId xmlns:a16="http://schemas.microsoft.com/office/drawing/2014/main" val="3758553973"/>
                  </a:ext>
                </a:extLst>
              </a:tr>
              <a:tr h="91536">
                <a:tc>
                  <a:txBody>
                    <a:bodyPr/>
                    <a:lstStyle/>
                    <a:p>
                      <a:pPr algn="l">
                        <a:lnSpc>
                          <a:spcPct val="115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07000"/>
                        </a:lnSpc>
                        <a:spcAft>
                          <a:spcPts val="800"/>
                        </a:spcAft>
                      </a:pPr>
                      <a:r>
                        <a:rPr lang="en-IN" sz="500">
                          <a:effectLst/>
                        </a:rPr>
                        <a:t>1-h.</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07000"/>
                        </a:lnSpc>
                        <a:spcAft>
                          <a:spcPts val="800"/>
                        </a:spcAft>
                      </a:pPr>
                      <a:r>
                        <a:rPr lang="en-IN" sz="500" u="sng">
                          <a:effectLst/>
                        </a:rPr>
                        <a:t>Question-  </a:t>
                      </a: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ctr">
                        <a:lnSpc>
                          <a:spcPct val="107000"/>
                        </a:lnSpc>
                        <a:spcAft>
                          <a:spcPts val="800"/>
                        </a:spcAft>
                      </a:pPr>
                      <a:r>
                        <a:rPr lang="en-IN" sz="500">
                          <a:effectLst/>
                        </a:rPr>
                        <a:t>(1)</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07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extLst>
                  <a:ext uri="{0D108BD9-81ED-4DB2-BD59-A6C34878D82A}">
                    <a16:rowId xmlns:a16="http://schemas.microsoft.com/office/drawing/2014/main" val="3436984638"/>
                  </a:ext>
                </a:extLst>
              </a:tr>
              <a:tr h="91536">
                <a:tc>
                  <a:txBody>
                    <a:bodyPr/>
                    <a:lstStyle/>
                    <a:p>
                      <a:pPr algn="l">
                        <a:lnSpc>
                          <a:spcPct val="115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07000"/>
                        </a:lnSpc>
                        <a:spcAft>
                          <a:spcPts val="800"/>
                        </a:spcAft>
                      </a:pPr>
                      <a:r>
                        <a:rPr lang="en-IN" sz="500">
                          <a:effectLst/>
                        </a:rPr>
                        <a:t>1-i.</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07000"/>
                        </a:lnSpc>
                        <a:spcAft>
                          <a:spcPts val="800"/>
                        </a:spcAft>
                      </a:pPr>
                      <a:r>
                        <a:rPr lang="en-IN" sz="500" u="sng">
                          <a:effectLst/>
                        </a:rPr>
                        <a:t>Question-  </a:t>
                      </a: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ctr">
                        <a:lnSpc>
                          <a:spcPct val="107000"/>
                        </a:lnSpc>
                        <a:spcAft>
                          <a:spcPts val="800"/>
                        </a:spcAft>
                      </a:pPr>
                      <a:r>
                        <a:rPr lang="en-IN" sz="500">
                          <a:effectLst/>
                        </a:rPr>
                        <a:t>(1)</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07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extLst>
                  <a:ext uri="{0D108BD9-81ED-4DB2-BD59-A6C34878D82A}">
                    <a16:rowId xmlns:a16="http://schemas.microsoft.com/office/drawing/2014/main" val="505079802"/>
                  </a:ext>
                </a:extLst>
              </a:tr>
              <a:tr h="91536">
                <a:tc>
                  <a:txBody>
                    <a:bodyPr/>
                    <a:lstStyle/>
                    <a:p>
                      <a:pPr algn="l">
                        <a:lnSpc>
                          <a:spcPct val="115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07000"/>
                        </a:lnSpc>
                        <a:spcAft>
                          <a:spcPts val="800"/>
                        </a:spcAft>
                      </a:pPr>
                      <a:r>
                        <a:rPr lang="en-IN" sz="500">
                          <a:effectLst/>
                        </a:rPr>
                        <a:t>1-j.</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07000"/>
                        </a:lnSpc>
                        <a:spcAft>
                          <a:spcPts val="800"/>
                        </a:spcAft>
                      </a:pPr>
                      <a:r>
                        <a:rPr lang="en-IN" sz="500" u="sng">
                          <a:effectLst/>
                        </a:rPr>
                        <a:t>Question-  </a:t>
                      </a: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ctr">
                        <a:lnSpc>
                          <a:spcPct val="107000"/>
                        </a:lnSpc>
                        <a:spcAft>
                          <a:spcPts val="800"/>
                        </a:spcAft>
                      </a:pPr>
                      <a:r>
                        <a:rPr lang="en-IN" sz="500">
                          <a:effectLst/>
                        </a:rPr>
                        <a:t>(1)</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07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extLst>
                  <a:ext uri="{0D108BD9-81ED-4DB2-BD59-A6C34878D82A}">
                    <a16:rowId xmlns:a16="http://schemas.microsoft.com/office/drawing/2014/main" val="1062598415"/>
                  </a:ext>
                </a:extLst>
              </a:tr>
              <a:tr h="91536">
                <a:tc>
                  <a:txBody>
                    <a:bodyPr/>
                    <a:lstStyle/>
                    <a:p>
                      <a:pPr algn="l">
                        <a:lnSpc>
                          <a:spcPct val="115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07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07000"/>
                        </a:lnSpc>
                        <a:spcAft>
                          <a:spcPts val="800"/>
                        </a:spcAft>
                      </a:pPr>
                      <a:r>
                        <a:rPr lang="en-IN" sz="500">
                          <a:effectLst/>
                          <a:highlight>
                            <a:srgbClr val="FFFF00"/>
                          </a:highligh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07000"/>
                        </a:lnSpc>
                        <a:spcAft>
                          <a:spcPts val="800"/>
                        </a:spcAft>
                      </a:pPr>
                      <a:r>
                        <a:rPr lang="en-IN" sz="500">
                          <a:effectLst/>
                          <a:highlight>
                            <a:srgbClr val="FFFF00"/>
                          </a:highligh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07000"/>
                        </a:lnSpc>
                        <a:spcAft>
                          <a:spcPts val="800"/>
                        </a:spcAft>
                      </a:pPr>
                      <a:r>
                        <a:rPr lang="en-IN" sz="500">
                          <a:effectLst/>
                          <a:highlight>
                            <a:srgbClr val="FFFF00"/>
                          </a:highligh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extLst>
                  <a:ext uri="{0D108BD9-81ED-4DB2-BD59-A6C34878D82A}">
                    <a16:rowId xmlns:a16="http://schemas.microsoft.com/office/drawing/2014/main" val="655283994"/>
                  </a:ext>
                </a:extLst>
              </a:tr>
              <a:tr h="91536">
                <a:tc>
                  <a:txBody>
                    <a:bodyPr/>
                    <a:lstStyle/>
                    <a:p>
                      <a:pPr algn="l">
                        <a:lnSpc>
                          <a:spcPct val="115000"/>
                        </a:lnSpc>
                        <a:spcAft>
                          <a:spcPts val="800"/>
                        </a:spcAft>
                      </a:pPr>
                      <a:r>
                        <a:rPr lang="en-IN" sz="500">
                          <a:effectLst/>
                        </a:rPr>
                        <a:t>2.</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gridSpan="2">
                  <a:txBody>
                    <a:bodyPr/>
                    <a:lstStyle/>
                    <a:p>
                      <a:pPr algn="just">
                        <a:lnSpc>
                          <a:spcPct val="107000"/>
                        </a:lnSpc>
                        <a:spcAft>
                          <a:spcPts val="800"/>
                        </a:spcAft>
                      </a:pPr>
                      <a:r>
                        <a:rPr lang="en-IN" sz="500">
                          <a:effectLst/>
                        </a:rPr>
                        <a:t>Attempt all parts-</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hMerge="1">
                  <a:txBody>
                    <a:bodyPr/>
                    <a:lstStyle/>
                    <a:p>
                      <a:endParaRPr lang="en-US"/>
                    </a:p>
                  </a:txBody>
                  <a:tcPr/>
                </a:tc>
                <a:tc>
                  <a:txBody>
                    <a:bodyPr/>
                    <a:lstStyle/>
                    <a:p>
                      <a:pPr algn="l">
                        <a:lnSpc>
                          <a:spcPct val="107000"/>
                        </a:lnSpc>
                        <a:spcAft>
                          <a:spcPts val="800"/>
                        </a:spcAft>
                      </a:pPr>
                      <a:r>
                        <a:rPr lang="en-IN" sz="500">
                          <a:effectLst/>
                        </a:rPr>
                        <a:t>[5×2=10]</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ctr">
                        <a:lnSpc>
                          <a:spcPct val="107000"/>
                        </a:lnSpc>
                        <a:spcAft>
                          <a:spcPts val="800"/>
                        </a:spcAft>
                      </a:pPr>
                      <a:r>
                        <a:rPr lang="en-IN" sz="500">
                          <a:effectLst/>
                        </a:rPr>
                        <a:t>CO</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extLst>
                  <a:ext uri="{0D108BD9-81ED-4DB2-BD59-A6C34878D82A}">
                    <a16:rowId xmlns:a16="http://schemas.microsoft.com/office/drawing/2014/main" val="1490317903"/>
                  </a:ext>
                </a:extLst>
              </a:tr>
              <a:tr h="91536">
                <a:tc>
                  <a:txBody>
                    <a:bodyPr/>
                    <a:lstStyle/>
                    <a:p>
                      <a:pPr algn="l">
                        <a:lnSpc>
                          <a:spcPct val="115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gridSpan="2">
                  <a:txBody>
                    <a:bodyPr/>
                    <a:lstStyle/>
                    <a:p>
                      <a:pPr algn="just">
                        <a:lnSpc>
                          <a:spcPct val="107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hMerge="1">
                  <a:txBody>
                    <a:bodyPr/>
                    <a:lstStyle/>
                    <a:p>
                      <a:endParaRPr lang="en-US"/>
                    </a:p>
                  </a:txBody>
                  <a:tcPr/>
                </a:tc>
                <a:tc>
                  <a:txBody>
                    <a:bodyPr/>
                    <a:lstStyle/>
                    <a:p>
                      <a:pPr algn="l">
                        <a:lnSpc>
                          <a:spcPct val="107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07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extLst>
                  <a:ext uri="{0D108BD9-81ED-4DB2-BD59-A6C34878D82A}">
                    <a16:rowId xmlns:a16="http://schemas.microsoft.com/office/drawing/2014/main" val="3988422504"/>
                  </a:ext>
                </a:extLst>
              </a:tr>
              <a:tr h="91536">
                <a:tc>
                  <a:txBody>
                    <a:bodyPr/>
                    <a:lstStyle/>
                    <a:p>
                      <a:pPr algn="l">
                        <a:lnSpc>
                          <a:spcPct val="115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07000"/>
                        </a:lnSpc>
                        <a:spcAft>
                          <a:spcPts val="800"/>
                        </a:spcAft>
                      </a:pPr>
                      <a:r>
                        <a:rPr lang="en-IN" sz="500">
                          <a:effectLst/>
                        </a:rPr>
                        <a:t>2-a.</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07000"/>
                        </a:lnSpc>
                        <a:spcAft>
                          <a:spcPts val="800"/>
                        </a:spcAft>
                      </a:pPr>
                      <a:r>
                        <a:rPr lang="en-IN" sz="500" u="sng">
                          <a:effectLst/>
                        </a:rPr>
                        <a:t>Question-  </a:t>
                      </a: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ctr">
                        <a:lnSpc>
                          <a:spcPct val="107000"/>
                        </a:lnSpc>
                        <a:spcAft>
                          <a:spcPts val="800"/>
                        </a:spcAft>
                      </a:pPr>
                      <a:r>
                        <a:rPr lang="en-IN" sz="500">
                          <a:effectLst/>
                        </a:rPr>
                        <a:t>(2)</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07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extLst>
                  <a:ext uri="{0D108BD9-81ED-4DB2-BD59-A6C34878D82A}">
                    <a16:rowId xmlns:a16="http://schemas.microsoft.com/office/drawing/2014/main" val="2641147784"/>
                  </a:ext>
                </a:extLst>
              </a:tr>
              <a:tr h="91536">
                <a:tc>
                  <a:txBody>
                    <a:bodyPr/>
                    <a:lstStyle/>
                    <a:p>
                      <a:pPr algn="l">
                        <a:lnSpc>
                          <a:spcPct val="115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07000"/>
                        </a:lnSpc>
                        <a:spcAft>
                          <a:spcPts val="800"/>
                        </a:spcAft>
                      </a:pPr>
                      <a:r>
                        <a:rPr lang="en-IN" sz="500">
                          <a:effectLst/>
                        </a:rPr>
                        <a:t>2-b.</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07000"/>
                        </a:lnSpc>
                        <a:spcAft>
                          <a:spcPts val="800"/>
                        </a:spcAft>
                      </a:pPr>
                      <a:r>
                        <a:rPr lang="en-IN" sz="500" u="sng">
                          <a:effectLst/>
                        </a:rPr>
                        <a:t>Question-  </a:t>
                      </a: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ctr">
                        <a:lnSpc>
                          <a:spcPct val="107000"/>
                        </a:lnSpc>
                        <a:spcAft>
                          <a:spcPts val="800"/>
                        </a:spcAft>
                      </a:pPr>
                      <a:r>
                        <a:rPr lang="en-IN" sz="500">
                          <a:effectLst/>
                        </a:rPr>
                        <a:t>(2)</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07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extLst>
                  <a:ext uri="{0D108BD9-81ED-4DB2-BD59-A6C34878D82A}">
                    <a16:rowId xmlns:a16="http://schemas.microsoft.com/office/drawing/2014/main" val="2680833595"/>
                  </a:ext>
                </a:extLst>
              </a:tr>
              <a:tr h="91536">
                <a:tc>
                  <a:txBody>
                    <a:bodyPr/>
                    <a:lstStyle/>
                    <a:p>
                      <a:pPr algn="l">
                        <a:lnSpc>
                          <a:spcPct val="115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07000"/>
                        </a:lnSpc>
                        <a:spcAft>
                          <a:spcPts val="800"/>
                        </a:spcAft>
                      </a:pPr>
                      <a:r>
                        <a:rPr lang="en-IN" sz="500">
                          <a:effectLst/>
                        </a:rPr>
                        <a:t>2-c.</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07000"/>
                        </a:lnSpc>
                        <a:spcAft>
                          <a:spcPts val="800"/>
                        </a:spcAft>
                      </a:pPr>
                      <a:r>
                        <a:rPr lang="en-IN" sz="500" u="sng">
                          <a:effectLst/>
                        </a:rPr>
                        <a:t>Question-  </a:t>
                      </a: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ctr">
                        <a:lnSpc>
                          <a:spcPct val="107000"/>
                        </a:lnSpc>
                        <a:spcAft>
                          <a:spcPts val="800"/>
                        </a:spcAft>
                      </a:pPr>
                      <a:r>
                        <a:rPr lang="en-IN" sz="500">
                          <a:effectLst/>
                        </a:rPr>
                        <a:t>(2)</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07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extLst>
                  <a:ext uri="{0D108BD9-81ED-4DB2-BD59-A6C34878D82A}">
                    <a16:rowId xmlns:a16="http://schemas.microsoft.com/office/drawing/2014/main" val="1808092534"/>
                  </a:ext>
                </a:extLst>
              </a:tr>
              <a:tr h="91536">
                <a:tc>
                  <a:txBody>
                    <a:bodyPr/>
                    <a:lstStyle/>
                    <a:p>
                      <a:pPr algn="l">
                        <a:lnSpc>
                          <a:spcPct val="115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07000"/>
                        </a:lnSpc>
                        <a:spcAft>
                          <a:spcPts val="800"/>
                        </a:spcAft>
                      </a:pPr>
                      <a:r>
                        <a:rPr lang="en-IN" sz="500">
                          <a:effectLst/>
                        </a:rPr>
                        <a:t>2-d.</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07000"/>
                        </a:lnSpc>
                        <a:spcAft>
                          <a:spcPts val="800"/>
                        </a:spcAft>
                      </a:pPr>
                      <a:r>
                        <a:rPr lang="en-IN" sz="500" u="sng">
                          <a:effectLst/>
                        </a:rPr>
                        <a:t>Question-  </a:t>
                      </a: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ctr">
                        <a:lnSpc>
                          <a:spcPct val="107000"/>
                        </a:lnSpc>
                        <a:spcAft>
                          <a:spcPts val="800"/>
                        </a:spcAft>
                      </a:pPr>
                      <a:r>
                        <a:rPr lang="en-IN" sz="500">
                          <a:effectLst/>
                        </a:rPr>
                        <a:t>(2)</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07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extLst>
                  <a:ext uri="{0D108BD9-81ED-4DB2-BD59-A6C34878D82A}">
                    <a16:rowId xmlns:a16="http://schemas.microsoft.com/office/drawing/2014/main" val="2349543288"/>
                  </a:ext>
                </a:extLst>
              </a:tr>
              <a:tr h="91536">
                <a:tc>
                  <a:txBody>
                    <a:bodyPr/>
                    <a:lstStyle/>
                    <a:p>
                      <a:pPr algn="l">
                        <a:lnSpc>
                          <a:spcPct val="115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07000"/>
                        </a:lnSpc>
                        <a:spcAft>
                          <a:spcPts val="800"/>
                        </a:spcAft>
                      </a:pPr>
                      <a:r>
                        <a:rPr lang="en-IN" sz="500">
                          <a:effectLst/>
                        </a:rPr>
                        <a:t>2-e.</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07000"/>
                        </a:lnSpc>
                        <a:spcAft>
                          <a:spcPts val="800"/>
                        </a:spcAft>
                      </a:pPr>
                      <a:r>
                        <a:rPr lang="en-IN" sz="500" u="sng">
                          <a:effectLst/>
                        </a:rPr>
                        <a:t>Question-  </a:t>
                      </a: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ctr">
                        <a:lnSpc>
                          <a:spcPct val="107000"/>
                        </a:lnSpc>
                        <a:spcAft>
                          <a:spcPts val="800"/>
                        </a:spcAft>
                      </a:pPr>
                      <a:r>
                        <a:rPr lang="en-IN" sz="500">
                          <a:effectLst/>
                        </a:rPr>
                        <a:t>(2)</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07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extLst>
                  <a:ext uri="{0D108BD9-81ED-4DB2-BD59-A6C34878D82A}">
                    <a16:rowId xmlns:a16="http://schemas.microsoft.com/office/drawing/2014/main" val="975796281"/>
                  </a:ext>
                </a:extLst>
              </a:tr>
              <a:tr h="91536">
                <a:tc>
                  <a:txBody>
                    <a:bodyPr/>
                    <a:lstStyle/>
                    <a:p>
                      <a:pPr algn="l">
                        <a:lnSpc>
                          <a:spcPct val="115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marL="471805" algn="l">
                        <a:lnSpc>
                          <a:spcPct val="107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07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07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07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extLst>
                  <a:ext uri="{0D108BD9-81ED-4DB2-BD59-A6C34878D82A}">
                    <a16:rowId xmlns:a16="http://schemas.microsoft.com/office/drawing/2014/main" val="105930127"/>
                  </a:ext>
                </a:extLst>
              </a:tr>
              <a:tr h="301525">
                <a:tc>
                  <a:txBody>
                    <a:bodyPr/>
                    <a:lstStyle/>
                    <a:p>
                      <a:pPr algn="l">
                        <a:lnSpc>
                          <a:spcPct val="115000"/>
                        </a:lnSpc>
                        <a:spcAft>
                          <a:spcPts val="800"/>
                        </a:spcAft>
                      </a:pPr>
                      <a:r>
                        <a:rPr lang="en-IN" sz="500">
                          <a:effectLst/>
                        </a:rPr>
                        <a:t> </a:t>
                      </a:r>
                      <a:endParaRPr lang="en-IN" sz="400">
                        <a:effectLst/>
                      </a:endParaRPr>
                    </a:p>
                    <a:p>
                      <a:pPr algn="l">
                        <a:lnSpc>
                          <a:spcPct val="115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marL="471805" algn="l">
                        <a:lnSpc>
                          <a:spcPct val="107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07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07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07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extLst>
                  <a:ext uri="{0D108BD9-81ED-4DB2-BD59-A6C34878D82A}">
                    <a16:rowId xmlns:a16="http://schemas.microsoft.com/office/drawing/2014/main" val="2332122905"/>
                  </a:ext>
                </a:extLst>
              </a:tr>
              <a:tr h="91536">
                <a:tc gridSpan="3">
                  <a:txBody>
                    <a:bodyPr/>
                    <a:lstStyle/>
                    <a:p>
                      <a:pPr algn="ctr">
                        <a:lnSpc>
                          <a:spcPct val="115000"/>
                        </a:lnSpc>
                        <a:spcAft>
                          <a:spcPts val="800"/>
                        </a:spcAft>
                      </a:pPr>
                      <a:r>
                        <a:rPr lang="en-IN" sz="500" u="sng">
                          <a:effectLst/>
                        </a:rPr>
                        <a:t>SECTION – B</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hMerge="1">
                  <a:txBody>
                    <a:bodyPr/>
                    <a:lstStyle/>
                    <a:p>
                      <a:endParaRPr lang="en-US"/>
                    </a:p>
                  </a:txBody>
                  <a:tcPr/>
                </a:tc>
                <a:tc hMerge="1">
                  <a:txBody>
                    <a:bodyPr/>
                    <a:lstStyle/>
                    <a:p>
                      <a:endParaRPr lang="en-US"/>
                    </a:p>
                  </a:txBody>
                  <a:tcPr/>
                </a:tc>
                <a:tc>
                  <a:txBody>
                    <a:bodyPr/>
                    <a:lstStyle/>
                    <a:p>
                      <a:pPr algn="l">
                        <a:lnSpc>
                          <a:spcPct val="115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ctr">
                        <a:lnSpc>
                          <a:spcPct val="115000"/>
                        </a:lnSpc>
                        <a:spcAft>
                          <a:spcPts val="800"/>
                        </a:spcAft>
                      </a:pPr>
                      <a:r>
                        <a:rPr lang="en-IN" sz="500">
                          <a:effectLst/>
                        </a:rPr>
                        <a:t>CO</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extLst>
                  <a:ext uri="{0D108BD9-81ED-4DB2-BD59-A6C34878D82A}">
                    <a16:rowId xmlns:a16="http://schemas.microsoft.com/office/drawing/2014/main" val="1840196487"/>
                  </a:ext>
                </a:extLst>
              </a:tr>
              <a:tr h="91536">
                <a:tc gridSpan="3">
                  <a:txBody>
                    <a:bodyPr/>
                    <a:lstStyle/>
                    <a:p>
                      <a:pPr algn="ctr">
                        <a:lnSpc>
                          <a:spcPct val="115000"/>
                        </a:lnSpc>
                        <a:spcAft>
                          <a:spcPts val="800"/>
                        </a:spcAft>
                      </a:pPr>
                      <a:r>
                        <a:rPr lang="en-IN" sz="500" u="none" strike="noStrike">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hMerge="1">
                  <a:txBody>
                    <a:bodyPr/>
                    <a:lstStyle/>
                    <a:p>
                      <a:endParaRPr lang="en-US"/>
                    </a:p>
                  </a:txBody>
                  <a:tcPr/>
                </a:tc>
                <a:tc hMerge="1">
                  <a:txBody>
                    <a:bodyPr/>
                    <a:lstStyle/>
                    <a:p>
                      <a:endParaRPr lang="en-US"/>
                    </a:p>
                  </a:txBody>
                  <a:tcPr/>
                </a:tc>
                <a:tc>
                  <a:txBody>
                    <a:bodyPr/>
                    <a:lstStyle/>
                    <a:p>
                      <a:pPr algn="l">
                        <a:lnSpc>
                          <a:spcPct val="115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15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extLst>
                  <a:ext uri="{0D108BD9-81ED-4DB2-BD59-A6C34878D82A}">
                    <a16:rowId xmlns:a16="http://schemas.microsoft.com/office/drawing/2014/main" val="1510015063"/>
                  </a:ext>
                </a:extLst>
              </a:tr>
              <a:tr h="91536">
                <a:tc>
                  <a:txBody>
                    <a:bodyPr/>
                    <a:lstStyle/>
                    <a:p>
                      <a:pPr algn="l">
                        <a:lnSpc>
                          <a:spcPct val="115000"/>
                        </a:lnSpc>
                        <a:spcAft>
                          <a:spcPts val="800"/>
                        </a:spcAft>
                      </a:pPr>
                      <a:r>
                        <a:rPr lang="en-IN" sz="500">
                          <a:effectLst/>
                        </a:rPr>
                        <a:t>3.</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gridSpan="2">
                  <a:txBody>
                    <a:bodyPr/>
                    <a:lstStyle/>
                    <a:p>
                      <a:pPr algn="l">
                        <a:lnSpc>
                          <a:spcPct val="115000"/>
                        </a:lnSpc>
                        <a:spcAft>
                          <a:spcPts val="800"/>
                        </a:spcAft>
                      </a:pPr>
                      <a:r>
                        <a:rPr lang="en-IN" sz="500">
                          <a:effectLst/>
                        </a:rPr>
                        <a:t>Answer any </a:t>
                      </a:r>
                      <a:r>
                        <a:rPr lang="en-IN" sz="500" u="sng">
                          <a:effectLst/>
                        </a:rPr>
                        <a:t>five </a:t>
                      </a:r>
                      <a:r>
                        <a:rPr lang="en-IN" sz="500">
                          <a:effectLst/>
                        </a:rPr>
                        <a:t>of the following-</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hMerge="1">
                  <a:txBody>
                    <a:bodyPr/>
                    <a:lstStyle/>
                    <a:p>
                      <a:endParaRPr lang="en-US"/>
                    </a:p>
                  </a:txBody>
                  <a:tcPr/>
                </a:tc>
                <a:tc>
                  <a:txBody>
                    <a:bodyPr/>
                    <a:lstStyle/>
                    <a:p>
                      <a:pPr algn="l">
                        <a:lnSpc>
                          <a:spcPct val="115000"/>
                        </a:lnSpc>
                        <a:spcAft>
                          <a:spcPts val="800"/>
                        </a:spcAft>
                      </a:pPr>
                      <a:r>
                        <a:rPr lang="en-IN" sz="500">
                          <a:effectLst/>
                        </a:rPr>
                        <a:t>[5×6=30]</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15000"/>
                        </a:lnSpc>
                        <a:spcAft>
                          <a:spcPts val="800"/>
                        </a:spcAft>
                      </a:pPr>
                      <a:r>
                        <a:rPr lang="en-IN" sz="500">
                          <a:effectLst/>
                          <a:highlight>
                            <a:srgbClr val="FFFF00"/>
                          </a:highligh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extLst>
                  <a:ext uri="{0D108BD9-81ED-4DB2-BD59-A6C34878D82A}">
                    <a16:rowId xmlns:a16="http://schemas.microsoft.com/office/drawing/2014/main" val="3449683749"/>
                  </a:ext>
                </a:extLst>
              </a:tr>
              <a:tr h="91536">
                <a:tc>
                  <a:txBody>
                    <a:bodyPr/>
                    <a:lstStyle/>
                    <a:p>
                      <a:pPr marL="457200" algn="l">
                        <a:lnSpc>
                          <a:spcPct val="115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07000"/>
                        </a:lnSpc>
                        <a:spcAft>
                          <a:spcPts val="800"/>
                        </a:spcAft>
                      </a:pPr>
                      <a:r>
                        <a:rPr lang="en-IN" sz="500">
                          <a:effectLst/>
                        </a:rPr>
                        <a:t>3-a.</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15000"/>
                        </a:lnSpc>
                        <a:spcAft>
                          <a:spcPts val="800"/>
                        </a:spcAft>
                      </a:pPr>
                      <a:r>
                        <a:rPr lang="en-IN" sz="500" u="sng">
                          <a:effectLst/>
                        </a:rPr>
                        <a:t>Question-  </a:t>
                      </a: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ctr">
                        <a:lnSpc>
                          <a:spcPct val="115000"/>
                        </a:lnSpc>
                        <a:spcAft>
                          <a:spcPts val="800"/>
                        </a:spcAft>
                      </a:pPr>
                      <a:r>
                        <a:rPr lang="en-IN" sz="500">
                          <a:effectLst/>
                        </a:rPr>
                        <a:t>(6)</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15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extLst>
                  <a:ext uri="{0D108BD9-81ED-4DB2-BD59-A6C34878D82A}">
                    <a16:rowId xmlns:a16="http://schemas.microsoft.com/office/drawing/2014/main" val="1384649017"/>
                  </a:ext>
                </a:extLst>
              </a:tr>
              <a:tr h="91536">
                <a:tc>
                  <a:txBody>
                    <a:bodyPr/>
                    <a:lstStyle/>
                    <a:p>
                      <a:pPr marL="457200" algn="l">
                        <a:lnSpc>
                          <a:spcPct val="115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07000"/>
                        </a:lnSpc>
                        <a:spcAft>
                          <a:spcPts val="800"/>
                        </a:spcAft>
                      </a:pPr>
                      <a:r>
                        <a:rPr lang="en-IN" sz="500">
                          <a:effectLst/>
                        </a:rPr>
                        <a:t>3-b.</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15000"/>
                        </a:lnSpc>
                        <a:spcAft>
                          <a:spcPts val="800"/>
                        </a:spcAft>
                      </a:pPr>
                      <a:r>
                        <a:rPr lang="en-IN" sz="500" u="sng">
                          <a:effectLst/>
                        </a:rPr>
                        <a:t>Question-  </a:t>
                      </a: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ctr">
                        <a:lnSpc>
                          <a:spcPct val="115000"/>
                        </a:lnSpc>
                        <a:spcAft>
                          <a:spcPts val="800"/>
                        </a:spcAft>
                      </a:pPr>
                      <a:r>
                        <a:rPr lang="en-IN" sz="500">
                          <a:effectLst/>
                        </a:rPr>
                        <a:t>(6)</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15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extLst>
                  <a:ext uri="{0D108BD9-81ED-4DB2-BD59-A6C34878D82A}">
                    <a16:rowId xmlns:a16="http://schemas.microsoft.com/office/drawing/2014/main" val="1597268442"/>
                  </a:ext>
                </a:extLst>
              </a:tr>
              <a:tr h="91536">
                <a:tc>
                  <a:txBody>
                    <a:bodyPr/>
                    <a:lstStyle/>
                    <a:p>
                      <a:pPr marL="457200" algn="l">
                        <a:lnSpc>
                          <a:spcPct val="115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07000"/>
                        </a:lnSpc>
                        <a:spcAft>
                          <a:spcPts val="800"/>
                        </a:spcAft>
                      </a:pPr>
                      <a:r>
                        <a:rPr lang="en-IN" sz="500">
                          <a:effectLst/>
                        </a:rPr>
                        <a:t>3-c.</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15000"/>
                        </a:lnSpc>
                        <a:spcAft>
                          <a:spcPts val="800"/>
                        </a:spcAft>
                      </a:pPr>
                      <a:r>
                        <a:rPr lang="en-IN" sz="500" u="sng">
                          <a:effectLst/>
                        </a:rPr>
                        <a:t>Question-  </a:t>
                      </a: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ctr">
                        <a:lnSpc>
                          <a:spcPct val="115000"/>
                        </a:lnSpc>
                        <a:spcAft>
                          <a:spcPts val="800"/>
                        </a:spcAft>
                      </a:pPr>
                      <a:r>
                        <a:rPr lang="en-IN" sz="500">
                          <a:effectLst/>
                        </a:rPr>
                        <a:t>(6)</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15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extLst>
                  <a:ext uri="{0D108BD9-81ED-4DB2-BD59-A6C34878D82A}">
                    <a16:rowId xmlns:a16="http://schemas.microsoft.com/office/drawing/2014/main" val="283279152"/>
                  </a:ext>
                </a:extLst>
              </a:tr>
              <a:tr h="91536">
                <a:tc>
                  <a:txBody>
                    <a:bodyPr/>
                    <a:lstStyle/>
                    <a:p>
                      <a:pPr marL="457200" algn="l">
                        <a:lnSpc>
                          <a:spcPct val="115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07000"/>
                        </a:lnSpc>
                        <a:spcAft>
                          <a:spcPts val="800"/>
                        </a:spcAft>
                      </a:pPr>
                      <a:r>
                        <a:rPr lang="en-IN" sz="500">
                          <a:effectLst/>
                        </a:rPr>
                        <a:t>3-d.</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15000"/>
                        </a:lnSpc>
                        <a:spcAft>
                          <a:spcPts val="800"/>
                        </a:spcAft>
                      </a:pPr>
                      <a:r>
                        <a:rPr lang="en-IN" sz="500" u="sng">
                          <a:effectLst/>
                        </a:rPr>
                        <a:t>Question-  </a:t>
                      </a: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ctr">
                        <a:lnSpc>
                          <a:spcPct val="115000"/>
                        </a:lnSpc>
                        <a:spcAft>
                          <a:spcPts val="800"/>
                        </a:spcAft>
                      </a:pPr>
                      <a:r>
                        <a:rPr lang="en-IN" sz="500">
                          <a:effectLst/>
                        </a:rPr>
                        <a:t>(6)</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15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extLst>
                  <a:ext uri="{0D108BD9-81ED-4DB2-BD59-A6C34878D82A}">
                    <a16:rowId xmlns:a16="http://schemas.microsoft.com/office/drawing/2014/main" val="560087403"/>
                  </a:ext>
                </a:extLst>
              </a:tr>
              <a:tr h="91536">
                <a:tc>
                  <a:txBody>
                    <a:bodyPr/>
                    <a:lstStyle/>
                    <a:p>
                      <a:pPr marL="457200" algn="l">
                        <a:lnSpc>
                          <a:spcPct val="115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07000"/>
                        </a:lnSpc>
                        <a:spcAft>
                          <a:spcPts val="800"/>
                        </a:spcAft>
                      </a:pPr>
                      <a:r>
                        <a:rPr lang="en-IN" sz="500">
                          <a:effectLst/>
                        </a:rPr>
                        <a:t>3-e.</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15000"/>
                        </a:lnSpc>
                        <a:spcAft>
                          <a:spcPts val="800"/>
                        </a:spcAft>
                      </a:pPr>
                      <a:r>
                        <a:rPr lang="en-IN" sz="500" u="sng">
                          <a:effectLst/>
                        </a:rPr>
                        <a:t>Question-  </a:t>
                      </a: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ctr">
                        <a:lnSpc>
                          <a:spcPct val="115000"/>
                        </a:lnSpc>
                        <a:spcAft>
                          <a:spcPts val="800"/>
                        </a:spcAft>
                      </a:pPr>
                      <a:r>
                        <a:rPr lang="en-IN" sz="500">
                          <a:effectLst/>
                        </a:rPr>
                        <a:t>(6)</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15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extLst>
                  <a:ext uri="{0D108BD9-81ED-4DB2-BD59-A6C34878D82A}">
                    <a16:rowId xmlns:a16="http://schemas.microsoft.com/office/drawing/2014/main" val="1126491731"/>
                  </a:ext>
                </a:extLst>
              </a:tr>
              <a:tr h="91536">
                <a:tc>
                  <a:txBody>
                    <a:bodyPr/>
                    <a:lstStyle/>
                    <a:p>
                      <a:pPr marL="457200" algn="l">
                        <a:lnSpc>
                          <a:spcPct val="115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15000"/>
                        </a:lnSpc>
                        <a:spcAft>
                          <a:spcPts val="800"/>
                        </a:spcAft>
                      </a:pPr>
                      <a:r>
                        <a:rPr lang="en-IN" sz="500">
                          <a:effectLst/>
                        </a:rPr>
                        <a:t>3-f.</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15000"/>
                        </a:lnSpc>
                        <a:spcAft>
                          <a:spcPts val="800"/>
                        </a:spcAft>
                      </a:pPr>
                      <a:r>
                        <a:rPr lang="en-IN" sz="500" u="sng">
                          <a:effectLst/>
                        </a:rPr>
                        <a:t>Question-  </a:t>
                      </a: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ctr">
                        <a:lnSpc>
                          <a:spcPct val="115000"/>
                        </a:lnSpc>
                        <a:spcAft>
                          <a:spcPts val="800"/>
                        </a:spcAft>
                      </a:pPr>
                      <a:r>
                        <a:rPr lang="en-IN" sz="500">
                          <a:effectLst/>
                        </a:rPr>
                        <a:t>(6)</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15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extLst>
                  <a:ext uri="{0D108BD9-81ED-4DB2-BD59-A6C34878D82A}">
                    <a16:rowId xmlns:a16="http://schemas.microsoft.com/office/drawing/2014/main" val="2528500548"/>
                  </a:ext>
                </a:extLst>
              </a:tr>
              <a:tr h="91536">
                <a:tc>
                  <a:txBody>
                    <a:bodyPr/>
                    <a:lstStyle/>
                    <a:p>
                      <a:pPr marL="457200" algn="l">
                        <a:lnSpc>
                          <a:spcPct val="115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15000"/>
                        </a:lnSpc>
                        <a:spcAft>
                          <a:spcPts val="800"/>
                        </a:spcAft>
                      </a:pPr>
                      <a:r>
                        <a:rPr lang="en-IN" sz="500">
                          <a:effectLst/>
                        </a:rPr>
                        <a:t>3-g.</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15000"/>
                        </a:lnSpc>
                        <a:spcAft>
                          <a:spcPts val="800"/>
                        </a:spcAft>
                      </a:pPr>
                      <a:r>
                        <a:rPr lang="en-IN" sz="500" u="sng">
                          <a:effectLst/>
                        </a:rPr>
                        <a:t>Question-  </a:t>
                      </a: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ctr">
                        <a:lnSpc>
                          <a:spcPct val="115000"/>
                        </a:lnSpc>
                        <a:spcAft>
                          <a:spcPts val="800"/>
                        </a:spcAft>
                      </a:pPr>
                      <a:r>
                        <a:rPr lang="en-IN" sz="500">
                          <a:effectLst/>
                        </a:rPr>
                        <a:t>(6)</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15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extLst>
                  <a:ext uri="{0D108BD9-81ED-4DB2-BD59-A6C34878D82A}">
                    <a16:rowId xmlns:a16="http://schemas.microsoft.com/office/drawing/2014/main" val="612423086"/>
                  </a:ext>
                </a:extLst>
              </a:tr>
              <a:tr h="91536">
                <a:tc gridSpan="3">
                  <a:txBody>
                    <a:bodyPr/>
                    <a:lstStyle/>
                    <a:p>
                      <a:pPr algn="ctr">
                        <a:lnSpc>
                          <a:spcPct val="115000"/>
                        </a:lnSpc>
                        <a:spcAft>
                          <a:spcPts val="800"/>
                        </a:spcAft>
                      </a:pPr>
                      <a:r>
                        <a:rPr lang="en-IN" sz="500" u="sng">
                          <a:effectLst/>
                        </a:rPr>
                        <a:t>SECTION – C</a:t>
                      </a: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hMerge="1">
                  <a:txBody>
                    <a:bodyPr/>
                    <a:lstStyle/>
                    <a:p>
                      <a:endParaRPr lang="en-US"/>
                    </a:p>
                  </a:txBody>
                  <a:tcPr/>
                </a:tc>
                <a:tc hMerge="1">
                  <a:txBody>
                    <a:bodyPr/>
                    <a:lstStyle/>
                    <a:p>
                      <a:endParaRPr lang="en-US"/>
                    </a:p>
                  </a:txBody>
                  <a:tcPr/>
                </a:tc>
                <a:tc>
                  <a:txBody>
                    <a:bodyPr/>
                    <a:lstStyle/>
                    <a:p>
                      <a:pPr algn="l">
                        <a:lnSpc>
                          <a:spcPct val="115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ctr">
                        <a:lnSpc>
                          <a:spcPct val="115000"/>
                        </a:lnSpc>
                        <a:spcAft>
                          <a:spcPts val="800"/>
                        </a:spcAft>
                      </a:pPr>
                      <a:r>
                        <a:rPr lang="en-IN" sz="500">
                          <a:effectLst/>
                        </a:rPr>
                        <a:t>CO</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extLst>
                  <a:ext uri="{0D108BD9-81ED-4DB2-BD59-A6C34878D82A}">
                    <a16:rowId xmlns:a16="http://schemas.microsoft.com/office/drawing/2014/main" val="2788619013"/>
                  </a:ext>
                </a:extLst>
              </a:tr>
              <a:tr h="91536">
                <a:tc gridSpan="3">
                  <a:txBody>
                    <a:bodyPr/>
                    <a:lstStyle/>
                    <a:p>
                      <a:pPr algn="ctr">
                        <a:lnSpc>
                          <a:spcPct val="115000"/>
                        </a:lnSpc>
                        <a:spcAft>
                          <a:spcPts val="800"/>
                        </a:spcAft>
                      </a:pPr>
                      <a:r>
                        <a:rPr lang="en-IN" sz="500" u="none" strike="noStrike">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hMerge="1">
                  <a:txBody>
                    <a:bodyPr/>
                    <a:lstStyle/>
                    <a:p>
                      <a:endParaRPr lang="en-US"/>
                    </a:p>
                  </a:txBody>
                  <a:tcPr/>
                </a:tc>
                <a:tc hMerge="1">
                  <a:txBody>
                    <a:bodyPr/>
                    <a:lstStyle/>
                    <a:p>
                      <a:endParaRPr lang="en-US"/>
                    </a:p>
                  </a:txBody>
                  <a:tcPr/>
                </a:tc>
                <a:tc>
                  <a:txBody>
                    <a:bodyPr/>
                    <a:lstStyle/>
                    <a:p>
                      <a:pPr algn="l">
                        <a:lnSpc>
                          <a:spcPct val="115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15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extLst>
                  <a:ext uri="{0D108BD9-81ED-4DB2-BD59-A6C34878D82A}">
                    <a16:rowId xmlns:a16="http://schemas.microsoft.com/office/drawing/2014/main" val="3277044899"/>
                  </a:ext>
                </a:extLst>
              </a:tr>
              <a:tr h="173825">
                <a:tc>
                  <a:txBody>
                    <a:bodyPr/>
                    <a:lstStyle/>
                    <a:p>
                      <a:pPr algn="l">
                        <a:lnSpc>
                          <a:spcPct val="115000"/>
                        </a:lnSpc>
                        <a:spcAft>
                          <a:spcPts val="800"/>
                        </a:spcAft>
                      </a:pPr>
                      <a:r>
                        <a:rPr lang="en-IN" sz="500">
                          <a:effectLst/>
                        </a:rPr>
                        <a:t>4</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gridSpan="2">
                  <a:txBody>
                    <a:bodyPr/>
                    <a:lstStyle/>
                    <a:p>
                      <a:pPr algn="l">
                        <a:lnSpc>
                          <a:spcPct val="115000"/>
                        </a:lnSpc>
                        <a:spcAft>
                          <a:spcPts val="800"/>
                        </a:spcAft>
                      </a:pPr>
                      <a:r>
                        <a:rPr lang="en-IN" sz="500">
                          <a:effectLst/>
                        </a:rPr>
                        <a:t>Answer any</a:t>
                      </a:r>
                      <a:r>
                        <a:rPr lang="en-IN" sz="500" u="sng">
                          <a:effectLst/>
                        </a:rPr>
                        <a:t> one</a:t>
                      </a:r>
                      <a:r>
                        <a:rPr lang="en-IN" sz="500">
                          <a:effectLst/>
                        </a:rPr>
                        <a:t> of the following-</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hMerge="1">
                  <a:txBody>
                    <a:bodyPr/>
                    <a:lstStyle/>
                    <a:p>
                      <a:endParaRPr lang="en-US"/>
                    </a:p>
                  </a:txBody>
                  <a:tcPr/>
                </a:tc>
                <a:tc>
                  <a:txBody>
                    <a:bodyPr/>
                    <a:lstStyle/>
                    <a:p>
                      <a:pPr algn="l">
                        <a:lnSpc>
                          <a:spcPct val="115000"/>
                        </a:lnSpc>
                        <a:spcAft>
                          <a:spcPts val="800"/>
                        </a:spcAft>
                      </a:pPr>
                      <a:r>
                        <a:rPr lang="en-IN" sz="500">
                          <a:effectLst/>
                        </a:rPr>
                        <a:t>[5×10=50]</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15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extLst>
                  <a:ext uri="{0D108BD9-81ED-4DB2-BD59-A6C34878D82A}">
                    <a16:rowId xmlns:a16="http://schemas.microsoft.com/office/drawing/2014/main" val="825557719"/>
                  </a:ext>
                </a:extLst>
              </a:tr>
              <a:tr h="91536">
                <a:tc>
                  <a:txBody>
                    <a:bodyPr/>
                    <a:lstStyle/>
                    <a:p>
                      <a:pPr algn="l">
                        <a:lnSpc>
                          <a:spcPct val="115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15000"/>
                        </a:lnSpc>
                        <a:spcAft>
                          <a:spcPts val="800"/>
                        </a:spcAft>
                      </a:pPr>
                      <a:r>
                        <a:rPr lang="en-IN" sz="500">
                          <a:effectLst/>
                        </a:rPr>
                        <a:t>4-a.</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15000"/>
                        </a:lnSpc>
                        <a:spcAft>
                          <a:spcPts val="800"/>
                        </a:spcAft>
                      </a:pPr>
                      <a:r>
                        <a:rPr lang="en-IN" sz="500" u="sng">
                          <a:effectLst/>
                        </a:rPr>
                        <a:t>Question-  </a:t>
                      </a: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ctr">
                        <a:lnSpc>
                          <a:spcPct val="115000"/>
                        </a:lnSpc>
                        <a:spcAft>
                          <a:spcPts val="800"/>
                        </a:spcAft>
                      </a:pPr>
                      <a:r>
                        <a:rPr lang="en-IN" sz="500">
                          <a:effectLst/>
                        </a:rPr>
                        <a:t>(10)</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15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extLst>
                  <a:ext uri="{0D108BD9-81ED-4DB2-BD59-A6C34878D82A}">
                    <a16:rowId xmlns:a16="http://schemas.microsoft.com/office/drawing/2014/main" val="3027138055"/>
                  </a:ext>
                </a:extLst>
              </a:tr>
              <a:tr h="91536">
                <a:tc>
                  <a:txBody>
                    <a:bodyPr/>
                    <a:lstStyle/>
                    <a:p>
                      <a:pPr algn="l">
                        <a:lnSpc>
                          <a:spcPct val="115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15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ctr">
                        <a:lnSpc>
                          <a:spcPct val="115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ctr">
                        <a:lnSpc>
                          <a:spcPct val="115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15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extLst>
                  <a:ext uri="{0D108BD9-81ED-4DB2-BD59-A6C34878D82A}">
                    <a16:rowId xmlns:a16="http://schemas.microsoft.com/office/drawing/2014/main" val="1609414542"/>
                  </a:ext>
                </a:extLst>
              </a:tr>
              <a:tr h="91536">
                <a:tc>
                  <a:txBody>
                    <a:bodyPr/>
                    <a:lstStyle/>
                    <a:p>
                      <a:pPr algn="l">
                        <a:lnSpc>
                          <a:spcPct val="115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15000"/>
                        </a:lnSpc>
                        <a:spcAft>
                          <a:spcPts val="800"/>
                        </a:spcAft>
                      </a:pPr>
                      <a:r>
                        <a:rPr lang="en-IN" sz="500">
                          <a:effectLst/>
                        </a:rPr>
                        <a:t>4-b.</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15000"/>
                        </a:lnSpc>
                        <a:spcAft>
                          <a:spcPts val="800"/>
                        </a:spcAft>
                      </a:pPr>
                      <a:r>
                        <a:rPr lang="en-IN" sz="500" u="sng">
                          <a:effectLst/>
                        </a:rPr>
                        <a:t>Question-  </a:t>
                      </a: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ctr">
                        <a:lnSpc>
                          <a:spcPct val="115000"/>
                        </a:lnSpc>
                        <a:spcAft>
                          <a:spcPts val="800"/>
                        </a:spcAft>
                      </a:pPr>
                      <a:r>
                        <a:rPr lang="en-IN" sz="500">
                          <a:effectLst/>
                        </a:rPr>
                        <a:t>(10)</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15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extLst>
                  <a:ext uri="{0D108BD9-81ED-4DB2-BD59-A6C34878D82A}">
                    <a16:rowId xmlns:a16="http://schemas.microsoft.com/office/drawing/2014/main" val="3989911954"/>
                  </a:ext>
                </a:extLst>
              </a:tr>
              <a:tr h="91536">
                <a:tc>
                  <a:txBody>
                    <a:bodyPr/>
                    <a:lstStyle/>
                    <a:p>
                      <a:pPr algn="l">
                        <a:lnSpc>
                          <a:spcPct val="115000"/>
                        </a:lnSpc>
                        <a:spcAft>
                          <a:spcPts val="800"/>
                        </a:spcAft>
                      </a:pPr>
                      <a:r>
                        <a:rPr lang="en-IN" sz="500">
                          <a:effectLst/>
                        </a:rPr>
                        <a:t>5.</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gridSpan="2">
                  <a:txBody>
                    <a:bodyPr/>
                    <a:lstStyle/>
                    <a:p>
                      <a:pPr algn="l">
                        <a:lnSpc>
                          <a:spcPct val="115000"/>
                        </a:lnSpc>
                        <a:spcAft>
                          <a:spcPts val="800"/>
                        </a:spcAft>
                      </a:pPr>
                      <a:r>
                        <a:rPr lang="en-IN" sz="500">
                          <a:effectLst/>
                        </a:rPr>
                        <a:t>Answer any one of the following-</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hMerge="1">
                  <a:txBody>
                    <a:bodyPr/>
                    <a:lstStyle/>
                    <a:p>
                      <a:endParaRPr lang="en-US"/>
                    </a:p>
                  </a:txBody>
                  <a:tcPr/>
                </a:tc>
                <a:tc>
                  <a:txBody>
                    <a:bodyPr/>
                    <a:lstStyle/>
                    <a:p>
                      <a:pPr algn="ctr">
                        <a:lnSpc>
                          <a:spcPct val="115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15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extLst>
                  <a:ext uri="{0D108BD9-81ED-4DB2-BD59-A6C34878D82A}">
                    <a16:rowId xmlns:a16="http://schemas.microsoft.com/office/drawing/2014/main" val="2059451213"/>
                  </a:ext>
                </a:extLst>
              </a:tr>
              <a:tr h="91536">
                <a:tc>
                  <a:txBody>
                    <a:bodyPr/>
                    <a:lstStyle/>
                    <a:p>
                      <a:pPr algn="l">
                        <a:lnSpc>
                          <a:spcPct val="115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15000"/>
                        </a:lnSpc>
                        <a:spcAft>
                          <a:spcPts val="800"/>
                        </a:spcAft>
                      </a:pPr>
                      <a:r>
                        <a:rPr lang="en-IN" sz="500">
                          <a:effectLst/>
                        </a:rPr>
                        <a:t>5-a.</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15000"/>
                        </a:lnSpc>
                        <a:spcAft>
                          <a:spcPts val="800"/>
                        </a:spcAft>
                      </a:pPr>
                      <a:r>
                        <a:rPr lang="en-IN" sz="500" u="sng">
                          <a:effectLst/>
                        </a:rPr>
                        <a:t>Question-  </a:t>
                      </a: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ctr">
                        <a:lnSpc>
                          <a:spcPct val="115000"/>
                        </a:lnSpc>
                        <a:spcAft>
                          <a:spcPts val="800"/>
                        </a:spcAft>
                      </a:pPr>
                      <a:r>
                        <a:rPr lang="en-IN" sz="500">
                          <a:effectLst/>
                        </a:rPr>
                        <a:t>(10)</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15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extLst>
                  <a:ext uri="{0D108BD9-81ED-4DB2-BD59-A6C34878D82A}">
                    <a16:rowId xmlns:a16="http://schemas.microsoft.com/office/drawing/2014/main" val="2693254999"/>
                  </a:ext>
                </a:extLst>
              </a:tr>
              <a:tr h="91536">
                <a:tc>
                  <a:txBody>
                    <a:bodyPr/>
                    <a:lstStyle/>
                    <a:p>
                      <a:pPr algn="l">
                        <a:lnSpc>
                          <a:spcPct val="115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15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ctr">
                        <a:lnSpc>
                          <a:spcPct val="115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ctr">
                        <a:lnSpc>
                          <a:spcPct val="115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15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extLst>
                  <a:ext uri="{0D108BD9-81ED-4DB2-BD59-A6C34878D82A}">
                    <a16:rowId xmlns:a16="http://schemas.microsoft.com/office/drawing/2014/main" val="1987967880"/>
                  </a:ext>
                </a:extLst>
              </a:tr>
              <a:tr h="91536">
                <a:tc>
                  <a:txBody>
                    <a:bodyPr/>
                    <a:lstStyle/>
                    <a:p>
                      <a:pPr algn="l">
                        <a:lnSpc>
                          <a:spcPct val="115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15000"/>
                        </a:lnSpc>
                        <a:spcAft>
                          <a:spcPts val="800"/>
                        </a:spcAft>
                      </a:pPr>
                      <a:r>
                        <a:rPr lang="en-IN" sz="500">
                          <a:effectLst/>
                        </a:rPr>
                        <a:t>5-b.</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15000"/>
                        </a:lnSpc>
                        <a:spcAft>
                          <a:spcPts val="800"/>
                        </a:spcAft>
                      </a:pPr>
                      <a:r>
                        <a:rPr lang="en-IN" sz="500" u="sng">
                          <a:effectLst/>
                        </a:rPr>
                        <a:t>Question-  </a:t>
                      </a: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ctr">
                        <a:lnSpc>
                          <a:spcPct val="115000"/>
                        </a:lnSpc>
                        <a:spcAft>
                          <a:spcPts val="800"/>
                        </a:spcAft>
                      </a:pPr>
                      <a:r>
                        <a:rPr lang="en-IN" sz="500">
                          <a:effectLst/>
                        </a:rPr>
                        <a:t>(10)</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15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extLst>
                  <a:ext uri="{0D108BD9-81ED-4DB2-BD59-A6C34878D82A}">
                    <a16:rowId xmlns:a16="http://schemas.microsoft.com/office/drawing/2014/main" val="3015798895"/>
                  </a:ext>
                </a:extLst>
              </a:tr>
              <a:tr h="91536">
                <a:tc>
                  <a:txBody>
                    <a:bodyPr/>
                    <a:lstStyle/>
                    <a:p>
                      <a:pPr algn="l">
                        <a:lnSpc>
                          <a:spcPct val="115000"/>
                        </a:lnSpc>
                        <a:spcAft>
                          <a:spcPts val="800"/>
                        </a:spcAft>
                      </a:pPr>
                      <a:r>
                        <a:rPr lang="en-IN" sz="500">
                          <a:effectLst/>
                        </a:rPr>
                        <a:t>6.</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gridSpan="2">
                  <a:txBody>
                    <a:bodyPr/>
                    <a:lstStyle/>
                    <a:p>
                      <a:pPr algn="l">
                        <a:lnSpc>
                          <a:spcPct val="115000"/>
                        </a:lnSpc>
                        <a:spcAft>
                          <a:spcPts val="800"/>
                        </a:spcAft>
                      </a:pPr>
                      <a:r>
                        <a:rPr lang="en-IN" sz="500">
                          <a:effectLst/>
                        </a:rPr>
                        <a:t>Answer any one of the following-</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hMerge="1">
                  <a:txBody>
                    <a:bodyPr/>
                    <a:lstStyle/>
                    <a:p>
                      <a:endParaRPr lang="en-US"/>
                    </a:p>
                  </a:txBody>
                  <a:tcPr/>
                </a:tc>
                <a:tc>
                  <a:txBody>
                    <a:bodyPr/>
                    <a:lstStyle/>
                    <a:p>
                      <a:pPr algn="ctr">
                        <a:lnSpc>
                          <a:spcPct val="115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15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extLst>
                  <a:ext uri="{0D108BD9-81ED-4DB2-BD59-A6C34878D82A}">
                    <a16:rowId xmlns:a16="http://schemas.microsoft.com/office/drawing/2014/main" val="2314150741"/>
                  </a:ext>
                </a:extLst>
              </a:tr>
              <a:tr h="91536">
                <a:tc>
                  <a:txBody>
                    <a:bodyPr/>
                    <a:lstStyle/>
                    <a:p>
                      <a:pPr algn="l">
                        <a:lnSpc>
                          <a:spcPct val="115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15000"/>
                        </a:lnSpc>
                        <a:spcAft>
                          <a:spcPts val="800"/>
                        </a:spcAft>
                      </a:pPr>
                      <a:r>
                        <a:rPr lang="en-IN" sz="500">
                          <a:effectLst/>
                        </a:rPr>
                        <a:t>6-a.</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15000"/>
                        </a:lnSpc>
                        <a:spcAft>
                          <a:spcPts val="800"/>
                        </a:spcAft>
                      </a:pPr>
                      <a:r>
                        <a:rPr lang="en-IN" sz="500" u="sng">
                          <a:effectLst/>
                        </a:rPr>
                        <a:t>Question-  </a:t>
                      </a: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ctr">
                        <a:lnSpc>
                          <a:spcPct val="115000"/>
                        </a:lnSpc>
                        <a:spcAft>
                          <a:spcPts val="800"/>
                        </a:spcAft>
                      </a:pPr>
                      <a:r>
                        <a:rPr lang="en-IN" sz="500">
                          <a:effectLst/>
                        </a:rPr>
                        <a:t>(10)</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15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extLst>
                  <a:ext uri="{0D108BD9-81ED-4DB2-BD59-A6C34878D82A}">
                    <a16:rowId xmlns:a16="http://schemas.microsoft.com/office/drawing/2014/main" val="2042784850"/>
                  </a:ext>
                </a:extLst>
              </a:tr>
              <a:tr h="91536">
                <a:tc>
                  <a:txBody>
                    <a:bodyPr/>
                    <a:lstStyle/>
                    <a:p>
                      <a:pPr algn="l">
                        <a:lnSpc>
                          <a:spcPct val="115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15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ctr">
                        <a:lnSpc>
                          <a:spcPct val="115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ctr">
                        <a:lnSpc>
                          <a:spcPct val="115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15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extLst>
                  <a:ext uri="{0D108BD9-81ED-4DB2-BD59-A6C34878D82A}">
                    <a16:rowId xmlns:a16="http://schemas.microsoft.com/office/drawing/2014/main" val="1608084643"/>
                  </a:ext>
                </a:extLst>
              </a:tr>
              <a:tr h="91536">
                <a:tc>
                  <a:txBody>
                    <a:bodyPr/>
                    <a:lstStyle/>
                    <a:p>
                      <a:pPr algn="l">
                        <a:lnSpc>
                          <a:spcPct val="115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15000"/>
                        </a:lnSpc>
                        <a:spcAft>
                          <a:spcPts val="800"/>
                        </a:spcAft>
                      </a:pPr>
                      <a:r>
                        <a:rPr lang="en-IN" sz="500">
                          <a:effectLst/>
                        </a:rPr>
                        <a:t>6-b.</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15000"/>
                        </a:lnSpc>
                        <a:spcAft>
                          <a:spcPts val="800"/>
                        </a:spcAft>
                      </a:pPr>
                      <a:r>
                        <a:rPr lang="en-IN" sz="500" u="sng">
                          <a:effectLst/>
                        </a:rPr>
                        <a:t>Question-  </a:t>
                      </a: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ctr">
                        <a:lnSpc>
                          <a:spcPct val="115000"/>
                        </a:lnSpc>
                        <a:spcAft>
                          <a:spcPts val="800"/>
                        </a:spcAft>
                      </a:pPr>
                      <a:r>
                        <a:rPr lang="en-IN" sz="500">
                          <a:effectLst/>
                        </a:rPr>
                        <a:t>(10)</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15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extLst>
                  <a:ext uri="{0D108BD9-81ED-4DB2-BD59-A6C34878D82A}">
                    <a16:rowId xmlns:a16="http://schemas.microsoft.com/office/drawing/2014/main" val="3417109019"/>
                  </a:ext>
                </a:extLst>
              </a:tr>
              <a:tr h="91536">
                <a:tc>
                  <a:txBody>
                    <a:bodyPr/>
                    <a:lstStyle/>
                    <a:p>
                      <a:pPr algn="l">
                        <a:lnSpc>
                          <a:spcPct val="115000"/>
                        </a:lnSpc>
                        <a:spcAft>
                          <a:spcPts val="800"/>
                        </a:spcAft>
                      </a:pPr>
                      <a:r>
                        <a:rPr lang="en-IN" sz="500">
                          <a:effectLst/>
                        </a:rPr>
                        <a:t>7.</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gridSpan="2">
                  <a:txBody>
                    <a:bodyPr/>
                    <a:lstStyle/>
                    <a:p>
                      <a:pPr algn="l">
                        <a:lnSpc>
                          <a:spcPct val="115000"/>
                        </a:lnSpc>
                        <a:spcAft>
                          <a:spcPts val="800"/>
                        </a:spcAft>
                      </a:pPr>
                      <a:r>
                        <a:rPr lang="en-IN" sz="500">
                          <a:effectLst/>
                        </a:rPr>
                        <a:t>Answer any one of the following-</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hMerge="1">
                  <a:txBody>
                    <a:bodyPr/>
                    <a:lstStyle/>
                    <a:p>
                      <a:endParaRPr lang="en-US"/>
                    </a:p>
                  </a:txBody>
                  <a:tcPr/>
                </a:tc>
                <a:tc>
                  <a:txBody>
                    <a:bodyPr/>
                    <a:lstStyle/>
                    <a:p>
                      <a:pPr algn="ctr">
                        <a:lnSpc>
                          <a:spcPct val="115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15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extLst>
                  <a:ext uri="{0D108BD9-81ED-4DB2-BD59-A6C34878D82A}">
                    <a16:rowId xmlns:a16="http://schemas.microsoft.com/office/drawing/2014/main" val="1911055239"/>
                  </a:ext>
                </a:extLst>
              </a:tr>
              <a:tr h="91536">
                <a:tc>
                  <a:txBody>
                    <a:bodyPr/>
                    <a:lstStyle/>
                    <a:p>
                      <a:pPr algn="l">
                        <a:lnSpc>
                          <a:spcPct val="115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15000"/>
                        </a:lnSpc>
                        <a:spcAft>
                          <a:spcPts val="800"/>
                        </a:spcAft>
                      </a:pPr>
                      <a:r>
                        <a:rPr lang="en-IN" sz="500">
                          <a:effectLst/>
                        </a:rPr>
                        <a:t>7-a.</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15000"/>
                        </a:lnSpc>
                        <a:spcAft>
                          <a:spcPts val="800"/>
                        </a:spcAft>
                      </a:pPr>
                      <a:r>
                        <a:rPr lang="en-IN" sz="500" u="sng">
                          <a:effectLst/>
                        </a:rPr>
                        <a:t>Question-  </a:t>
                      </a: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ctr">
                        <a:lnSpc>
                          <a:spcPct val="115000"/>
                        </a:lnSpc>
                        <a:spcAft>
                          <a:spcPts val="800"/>
                        </a:spcAft>
                      </a:pPr>
                      <a:r>
                        <a:rPr lang="en-IN" sz="500">
                          <a:effectLst/>
                        </a:rPr>
                        <a:t>(10)</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15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extLst>
                  <a:ext uri="{0D108BD9-81ED-4DB2-BD59-A6C34878D82A}">
                    <a16:rowId xmlns:a16="http://schemas.microsoft.com/office/drawing/2014/main" val="1514489501"/>
                  </a:ext>
                </a:extLst>
              </a:tr>
              <a:tr h="91536">
                <a:tc>
                  <a:txBody>
                    <a:bodyPr/>
                    <a:lstStyle/>
                    <a:p>
                      <a:pPr algn="l">
                        <a:lnSpc>
                          <a:spcPct val="115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15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ctr">
                        <a:lnSpc>
                          <a:spcPct val="115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ctr">
                        <a:lnSpc>
                          <a:spcPct val="115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15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extLst>
                  <a:ext uri="{0D108BD9-81ED-4DB2-BD59-A6C34878D82A}">
                    <a16:rowId xmlns:a16="http://schemas.microsoft.com/office/drawing/2014/main" val="1639320861"/>
                  </a:ext>
                </a:extLst>
              </a:tr>
              <a:tr h="91536">
                <a:tc>
                  <a:txBody>
                    <a:bodyPr/>
                    <a:lstStyle/>
                    <a:p>
                      <a:pPr algn="l">
                        <a:lnSpc>
                          <a:spcPct val="115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15000"/>
                        </a:lnSpc>
                        <a:spcAft>
                          <a:spcPts val="800"/>
                        </a:spcAft>
                      </a:pPr>
                      <a:r>
                        <a:rPr lang="en-IN" sz="500">
                          <a:effectLst/>
                        </a:rPr>
                        <a:t>7-b.</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15000"/>
                        </a:lnSpc>
                        <a:spcAft>
                          <a:spcPts val="800"/>
                        </a:spcAft>
                      </a:pPr>
                      <a:r>
                        <a:rPr lang="en-IN" sz="500" u="sng">
                          <a:effectLst/>
                        </a:rPr>
                        <a:t>Question-  </a:t>
                      </a: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ctr">
                        <a:lnSpc>
                          <a:spcPct val="115000"/>
                        </a:lnSpc>
                        <a:spcAft>
                          <a:spcPts val="800"/>
                        </a:spcAft>
                      </a:pPr>
                      <a:r>
                        <a:rPr lang="en-IN" sz="500">
                          <a:effectLst/>
                        </a:rPr>
                        <a:t>(10)</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15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extLst>
                  <a:ext uri="{0D108BD9-81ED-4DB2-BD59-A6C34878D82A}">
                    <a16:rowId xmlns:a16="http://schemas.microsoft.com/office/drawing/2014/main" val="646566941"/>
                  </a:ext>
                </a:extLst>
              </a:tr>
              <a:tr h="91536">
                <a:tc>
                  <a:txBody>
                    <a:bodyPr/>
                    <a:lstStyle/>
                    <a:p>
                      <a:pPr algn="l">
                        <a:lnSpc>
                          <a:spcPct val="115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15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15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ctr">
                        <a:lnSpc>
                          <a:spcPct val="115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15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extLst>
                  <a:ext uri="{0D108BD9-81ED-4DB2-BD59-A6C34878D82A}">
                    <a16:rowId xmlns:a16="http://schemas.microsoft.com/office/drawing/2014/main" val="3843233770"/>
                  </a:ext>
                </a:extLst>
              </a:tr>
              <a:tr h="91536">
                <a:tc>
                  <a:txBody>
                    <a:bodyPr/>
                    <a:lstStyle/>
                    <a:p>
                      <a:pPr algn="l">
                        <a:lnSpc>
                          <a:spcPct val="115000"/>
                        </a:lnSpc>
                        <a:spcAft>
                          <a:spcPts val="800"/>
                        </a:spcAft>
                      </a:pPr>
                      <a:r>
                        <a:rPr lang="en-IN" sz="500">
                          <a:effectLst/>
                        </a:rPr>
                        <a:t>8.</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gridSpan="2">
                  <a:txBody>
                    <a:bodyPr/>
                    <a:lstStyle/>
                    <a:p>
                      <a:pPr algn="l">
                        <a:lnSpc>
                          <a:spcPct val="115000"/>
                        </a:lnSpc>
                        <a:spcAft>
                          <a:spcPts val="800"/>
                        </a:spcAft>
                      </a:pPr>
                      <a:r>
                        <a:rPr lang="en-IN" sz="500">
                          <a:effectLst/>
                        </a:rPr>
                        <a:t>Answer any one of the following-</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hMerge="1">
                  <a:txBody>
                    <a:bodyPr/>
                    <a:lstStyle/>
                    <a:p>
                      <a:endParaRPr lang="en-US"/>
                    </a:p>
                  </a:txBody>
                  <a:tcPr/>
                </a:tc>
                <a:tc>
                  <a:txBody>
                    <a:bodyPr/>
                    <a:lstStyle/>
                    <a:p>
                      <a:pPr algn="ctr">
                        <a:lnSpc>
                          <a:spcPct val="115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15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extLst>
                  <a:ext uri="{0D108BD9-81ED-4DB2-BD59-A6C34878D82A}">
                    <a16:rowId xmlns:a16="http://schemas.microsoft.com/office/drawing/2014/main" val="4152808183"/>
                  </a:ext>
                </a:extLst>
              </a:tr>
              <a:tr h="91536">
                <a:tc>
                  <a:txBody>
                    <a:bodyPr/>
                    <a:lstStyle/>
                    <a:p>
                      <a:pPr algn="l">
                        <a:lnSpc>
                          <a:spcPct val="115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15000"/>
                        </a:lnSpc>
                        <a:spcAft>
                          <a:spcPts val="800"/>
                        </a:spcAft>
                      </a:pPr>
                      <a:r>
                        <a:rPr lang="en-IN" sz="500">
                          <a:effectLst/>
                        </a:rPr>
                        <a:t>8-a.</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15000"/>
                        </a:lnSpc>
                        <a:spcAft>
                          <a:spcPts val="800"/>
                        </a:spcAft>
                      </a:pPr>
                      <a:r>
                        <a:rPr lang="en-IN" sz="500" u="sng">
                          <a:effectLst/>
                        </a:rPr>
                        <a:t>Question-  </a:t>
                      </a: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ctr">
                        <a:lnSpc>
                          <a:spcPct val="115000"/>
                        </a:lnSpc>
                        <a:spcAft>
                          <a:spcPts val="800"/>
                        </a:spcAft>
                      </a:pPr>
                      <a:r>
                        <a:rPr lang="en-IN" sz="500">
                          <a:effectLst/>
                        </a:rPr>
                        <a:t>(10)</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15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extLst>
                  <a:ext uri="{0D108BD9-81ED-4DB2-BD59-A6C34878D82A}">
                    <a16:rowId xmlns:a16="http://schemas.microsoft.com/office/drawing/2014/main" val="907290766"/>
                  </a:ext>
                </a:extLst>
              </a:tr>
              <a:tr h="91536">
                <a:tc>
                  <a:txBody>
                    <a:bodyPr/>
                    <a:lstStyle/>
                    <a:p>
                      <a:pPr algn="l">
                        <a:lnSpc>
                          <a:spcPct val="115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15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ctr">
                        <a:lnSpc>
                          <a:spcPct val="115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ctr">
                        <a:lnSpc>
                          <a:spcPct val="115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15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extLst>
                  <a:ext uri="{0D108BD9-81ED-4DB2-BD59-A6C34878D82A}">
                    <a16:rowId xmlns:a16="http://schemas.microsoft.com/office/drawing/2014/main" val="4029224358"/>
                  </a:ext>
                </a:extLst>
              </a:tr>
              <a:tr h="91536">
                <a:tc>
                  <a:txBody>
                    <a:bodyPr/>
                    <a:lstStyle/>
                    <a:p>
                      <a:pPr algn="l">
                        <a:lnSpc>
                          <a:spcPct val="115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15000"/>
                        </a:lnSpc>
                        <a:spcAft>
                          <a:spcPts val="800"/>
                        </a:spcAft>
                      </a:pPr>
                      <a:r>
                        <a:rPr lang="en-IN" sz="500">
                          <a:effectLst/>
                        </a:rPr>
                        <a:t>8-b.</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15000"/>
                        </a:lnSpc>
                        <a:spcAft>
                          <a:spcPts val="800"/>
                        </a:spcAft>
                      </a:pPr>
                      <a:r>
                        <a:rPr lang="en-IN" sz="500" u="sng">
                          <a:effectLst/>
                        </a:rPr>
                        <a:t>Question-  </a:t>
                      </a: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ctr">
                        <a:lnSpc>
                          <a:spcPct val="115000"/>
                        </a:lnSpc>
                        <a:spcAft>
                          <a:spcPts val="800"/>
                        </a:spcAft>
                      </a:pPr>
                      <a:r>
                        <a:rPr lang="en-IN" sz="500">
                          <a:effectLst/>
                        </a:rPr>
                        <a:t>(10)</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15000"/>
                        </a:lnSpc>
                        <a:spcAft>
                          <a:spcPts val="800"/>
                        </a:spcAft>
                      </a:pPr>
                      <a:r>
                        <a:rPr lang="en-IN" sz="500" dirty="0">
                          <a:effectLst/>
                        </a:rPr>
                        <a:t> </a:t>
                      </a:r>
                      <a:endParaRPr lang="en-IN" sz="400" dirty="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extLst>
                  <a:ext uri="{0D108BD9-81ED-4DB2-BD59-A6C34878D82A}">
                    <a16:rowId xmlns:a16="http://schemas.microsoft.com/office/drawing/2014/main" val="1577907657"/>
                  </a:ext>
                </a:extLst>
              </a:tr>
            </a:tbl>
          </a:graphicData>
        </a:graphic>
      </p:graphicFrame>
      <p:pic>
        <p:nvPicPr>
          <p:cNvPr id="9" name="Picture 8">
            <a:extLst>
              <a:ext uri="{FF2B5EF4-FFF2-40B4-BE49-F238E27FC236}">
                <a16:creationId xmlns:a16="http://schemas.microsoft.com/office/drawing/2014/main" id="{D7FF1400-E667-CB49-9A29-B7225C044D28}"/>
              </a:ext>
            </a:extLst>
          </p:cNvPr>
          <p:cNvPicPr>
            <a:picLocks noChangeAspect="1"/>
          </p:cNvPicPr>
          <p:nvPr/>
        </p:nvPicPr>
        <p:blipFill>
          <a:blip r:embed="rId3"/>
          <a:stretch>
            <a:fillRect/>
          </a:stretch>
        </p:blipFill>
        <p:spPr>
          <a:xfrm>
            <a:off x="0" y="-27448"/>
            <a:ext cx="1384300" cy="812800"/>
          </a:xfrm>
          <a:prstGeom prst="rect">
            <a:avLst/>
          </a:prstGeom>
        </p:spPr>
      </p:pic>
      <p:pic>
        <p:nvPicPr>
          <p:cNvPr id="8" name="Picture 7" descr="A screenshot of a computer&#10;&#10;Description automatically generated">
            <a:extLst>
              <a:ext uri="{FF2B5EF4-FFF2-40B4-BE49-F238E27FC236}">
                <a16:creationId xmlns:a16="http://schemas.microsoft.com/office/drawing/2014/main" id="{EB4652BB-A74F-6414-13C1-37B83FD97AD2}"/>
              </a:ext>
            </a:extLst>
          </p:cNvPr>
          <p:cNvPicPr>
            <a:picLocks noChangeAspect="1"/>
          </p:cNvPicPr>
          <p:nvPr/>
        </p:nvPicPr>
        <p:blipFill rotWithShape="1">
          <a:blip r:embed="rId4"/>
          <a:srcRect l="26091" t="36058" r="24385" b="26405"/>
          <a:stretch/>
        </p:blipFill>
        <p:spPr bwMode="auto">
          <a:xfrm>
            <a:off x="0" y="7233"/>
            <a:ext cx="1749346" cy="745127"/>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399543531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Content Placeholder 2">
            <a:extLst>
              <a:ext uri="{FF2B5EF4-FFF2-40B4-BE49-F238E27FC236}">
                <a16:creationId xmlns:a16="http://schemas.microsoft.com/office/drawing/2014/main" id="{AA8E83D7-607A-4080-925F-87D94BD4206E}"/>
              </a:ext>
            </a:extLst>
          </p:cNvPr>
          <p:cNvSpPr txBox="1">
            <a:spLocks noGrp="1"/>
          </p:cNvSpPr>
          <p:nvPr>
            <p:ph idx="1"/>
          </p:nvPr>
        </p:nvSpPr>
        <p:spPr>
          <a:xfrm>
            <a:off x="533400" y="1214438"/>
            <a:ext cx="8001000" cy="4729162"/>
          </a:xfrm>
        </p:spPr>
        <p:txBody>
          <a:bodyPr>
            <a:normAutofit/>
          </a:bodyPr>
          <a:lstStyle/>
          <a:p>
            <a:pPr algn="just">
              <a:spcBef>
                <a:spcPct val="0"/>
              </a:spcBef>
              <a:spcAft>
                <a:spcPct val="0"/>
              </a:spcAft>
              <a:buClr>
                <a:srgbClr val="000000"/>
              </a:buClr>
              <a:buFont typeface="Arial" panose="020B0604020202020204" pitchFamily="34" charset="0"/>
              <a:buNone/>
            </a:pPr>
            <a:r>
              <a:rPr lang="en-IN" altLang="en-US" sz="2000" dirty="0">
                <a:latin typeface="Times New Roman" panose="02020603050405020304" pitchFamily="18" charset="0"/>
                <a:cs typeface="Times New Roman" panose="02020603050405020304" pitchFamily="18" charset="0"/>
              </a:rPr>
              <a:t>Subject Result: NA</a:t>
            </a:r>
          </a:p>
          <a:p>
            <a:pPr algn="just">
              <a:spcBef>
                <a:spcPct val="0"/>
              </a:spcBef>
              <a:spcAft>
                <a:spcPct val="0"/>
              </a:spcAft>
              <a:buClr>
                <a:srgbClr val="000000"/>
              </a:buClr>
              <a:buFont typeface="Arial" panose="020B0604020202020204" pitchFamily="34" charset="0"/>
              <a:buNone/>
            </a:pPr>
            <a:endParaRPr lang="en-IN" altLang="en-US" sz="2000" dirty="0">
              <a:latin typeface="Times New Roman" panose="02020603050405020304" pitchFamily="18" charset="0"/>
              <a:cs typeface="Times New Roman" panose="02020603050405020304" pitchFamily="18" charset="0"/>
            </a:endParaRPr>
          </a:p>
          <a:p>
            <a:pPr algn="just">
              <a:spcBef>
                <a:spcPct val="0"/>
              </a:spcBef>
              <a:spcAft>
                <a:spcPct val="0"/>
              </a:spcAft>
              <a:buClr>
                <a:srgbClr val="000000"/>
              </a:buClr>
              <a:buFont typeface="Arial" panose="020B0604020202020204" pitchFamily="34" charset="0"/>
              <a:buNone/>
            </a:pPr>
            <a:r>
              <a:rPr lang="en-IN" altLang="en-US" sz="2000" dirty="0">
                <a:latin typeface="Times New Roman" panose="02020603050405020304" pitchFamily="18" charset="0"/>
                <a:cs typeface="Times New Roman" panose="02020603050405020304" pitchFamily="18" charset="0"/>
              </a:rPr>
              <a:t>Department Result: NA</a:t>
            </a:r>
          </a:p>
          <a:p>
            <a:pPr algn="just">
              <a:spcBef>
                <a:spcPct val="0"/>
              </a:spcBef>
              <a:spcAft>
                <a:spcPct val="0"/>
              </a:spcAft>
              <a:buClr>
                <a:srgbClr val="000000"/>
              </a:buClr>
              <a:buFont typeface="Arial" panose="020B0604020202020204" pitchFamily="34" charset="0"/>
              <a:buNone/>
            </a:pPr>
            <a:endParaRPr lang="en-IN" altLang="en-US" sz="2000" dirty="0">
              <a:latin typeface="Times New Roman" panose="02020603050405020304" pitchFamily="18" charset="0"/>
              <a:cs typeface="Times New Roman" panose="02020603050405020304" pitchFamily="18" charset="0"/>
            </a:endParaRPr>
          </a:p>
          <a:p>
            <a:pPr algn="just">
              <a:spcBef>
                <a:spcPct val="0"/>
              </a:spcBef>
              <a:spcAft>
                <a:spcPct val="0"/>
              </a:spcAft>
              <a:buClr>
                <a:srgbClr val="000000"/>
              </a:buClr>
              <a:buFont typeface="Arial" panose="020B0604020202020204" pitchFamily="34" charset="0"/>
              <a:buNone/>
            </a:pPr>
            <a:r>
              <a:rPr lang="en-IN" altLang="en-US" sz="2000" dirty="0">
                <a:latin typeface="Times New Roman" panose="02020603050405020304" pitchFamily="18" charset="0"/>
                <a:cs typeface="Times New Roman" panose="02020603050405020304" pitchFamily="18" charset="0"/>
              </a:rPr>
              <a:t>Faculty-Wise Result: NA</a:t>
            </a:r>
          </a:p>
          <a:p>
            <a:pPr algn="just">
              <a:spcBef>
                <a:spcPct val="0"/>
              </a:spcBef>
              <a:spcAft>
                <a:spcPct val="0"/>
              </a:spcAft>
              <a:buClr>
                <a:srgbClr val="000000"/>
              </a:buClr>
              <a:buFont typeface="Arial" panose="020B0604020202020204" pitchFamily="34" charset="0"/>
              <a:buNone/>
            </a:pPr>
            <a:endParaRPr lang="en-IN" altLang="en-US" sz="3200" dirty="0">
              <a:latin typeface="Times New Roman" panose="02020603050405020304" pitchFamily="18" charset="0"/>
              <a:cs typeface="Times New Roman" panose="02020603050405020304" pitchFamily="18" charset="0"/>
            </a:endParaRPr>
          </a:p>
        </p:txBody>
      </p:sp>
      <p:sp>
        <p:nvSpPr>
          <p:cNvPr id="7" name="Title 1">
            <a:extLst>
              <a:ext uri="{FF2B5EF4-FFF2-40B4-BE49-F238E27FC236}">
                <a16:creationId xmlns:a16="http://schemas.microsoft.com/office/drawing/2014/main" id="{6C269D1B-1C71-46D4-97DD-E9E98F1F98FA}"/>
              </a:ext>
            </a:extLst>
          </p:cNvPr>
          <p:cNvSpPr txBox="1">
            <a:spLocks noGrp="1"/>
          </p:cNvSpPr>
          <p:nvPr>
            <p:ph type="title"/>
          </p:nvPr>
        </p:nvSpPr>
        <p:spPr>
          <a:xfrm>
            <a:off x="1545615" y="1"/>
            <a:ext cx="7598385" cy="692726"/>
          </a:xfrm>
          <a:gradFill flip="none" rotWithShape="1">
            <a:gsLst>
              <a:gs pos="0">
                <a:srgbClr val="FF8585">
                  <a:tint val="66000"/>
                  <a:satMod val="160000"/>
                </a:srgbClr>
              </a:gs>
              <a:gs pos="50000">
                <a:srgbClr val="FF8585">
                  <a:tint val="44500"/>
                  <a:satMod val="160000"/>
                </a:srgbClr>
              </a:gs>
              <a:gs pos="100000">
                <a:srgbClr val="FF8585">
                  <a:tint val="23500"/>
                  <a:satMod val="160000"/>
                </a:srgbClr>
              </a:gs>
            </a:gsLst>
            <a:lin ang="5400000" scaled="1"/>
            <a:tileRect/>
          </a:gradFill>
        </p:spPr>
        <p:style>
          <a:lnRef idx="1">
            <a:schemeClr val="accent5"/>
          </a:lnRef>
          <a:fillRef idx="2">
            <a:schemeClr val="accent5"/>
          </a:fillRef>
          <a:effectRef idx="1">
            <a:schemeClr val="accent5"/>
          </a:effectRef>
          <a:fontRef idx="minor">
            <a:schemeClr val="dk1"/>
          </a:fontRef>
        </p:style>
        <p:txBody>
          <a:bodyPr lIns="91440" tIns="45720" rIns="91440" bIns="45720" rtlCol="0">
            <a:normAutofit/>
          </a:bodyPr>
          <a:lstStyle/>
          <a:p>
            <a:pPr eaLnBrk="1" fontAlgn="auto" hangingPunct="1">
              <a:spcBef>
                <a:spcPct val="0"/>
              </a:spcBef>
              <a:buClrTx/>
              <a:buSzTx/>
              <a:buFontTx/>
              <a:buNone/>
              <a:defRPr/>
            </a:pPr>
            <a:r>
              <a:rPr lang="en-US" sz="2400" kern="1200" dirty="0">
                <a:latin typeface="Times New Roman" pitchFamily="18" charset="0"/>
                <a:cs typeface="Times New Roman" pitchFamily="18" charset="0"/>
                <a:sym typeface="Arial" charset="0"/>
              </a:rPr>
              <a:t>Result Analysis</a:t>
            </a:r>
          </a:p>
        </p:txBody>
      </p:sp>
      <p:sp>
        <p:nvSpPr>
          <p:cNvPr id="52229" name="Footer Placeholder 4">
            <a:extLst>
              <a:ext uri="{FF2B5EF4-FFF2-40B4-BE49-F238E27FC236}">
                <a16:creationId xmlns:a16="http://schemas.microsoft.com/office/drawing/2014/main" id="{D13FEE09-441B-4F95-96A6-91181D72A552}"/>
              </a:ext>
            </a:extLst>
          </p:cNvPr>
          <p:cNvSpPr>
            <a:spLocks noGrp="1"/>
          </p:cNvSpPr>
          <p:nvPr>
            <p:ph type="ftr" sz="quarter" idx="12"/>
          </p:nvPr>
        </p:nvSpPr>
        <p:spPr>
          <a:xfrm>
            <a:off x="2514600" y="6356350"/>
            <a:ext cx="5369768" cy="316621"/>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algn="l" eaLnBrk="1" hangingPunct="1">
              <a:buFont typeface="Arial" panose="020B0604020202020204" pitchFamily="34" charset="0"/>
              <a:buNone/>
            </a:pPr>
            <a:r>
              <a:rPr lang="en-US" altLang="en-US" sz="1200">
                <a:solidFill>
                  <a:srgbClr val="888888"/>
                </a:solidFill>
                <a:latin typeface="Calibri" panose="020F0502020204030204" pitchFamily="34" charset="0"/>
                <a:sym typeface="Calibri" panose="020F0502020204030204" pitchFamily="34" charset="0"/>
              </a:rPr>
              <a:t>Ms. Purnima Pal      High Performance Computing             Unit III     </a:t>
            </a:r>
            <a:endParaRPr lang="en-US" altLang="en-US" sz="1200" dirty="0">
              <a:solidFill>
                <a:srgbClr val="888888"/>
              </a:solidFill>
              <a:latin typeface="Calibri" panose="020F0502020204030204" pitchFamily="34" charset="0"/>
              <a:sym typeface="Calibri" panose="020F0502020204030204" pitchFamily="34" charset="0"/>
            </a:endParaRPr>
          </a:p>
        </p:txBody>
      </p:sp>
      <p:sp>
        <p:nvSpPr>
          <p:cNvPr id="52230" name="Slide Number Placeholder 8">
            <a:extLst>
              <a:ext uri="{FF2B5EF4-FFF2-40B4-BE49-F238E27FC236}">
                <a16:creationId xmlns:a16="http://schemas.microsoft.com/office/drawing/2014/main" id="{D79C5C8A-AFC2-4C7D-99A7-FECD9C2BCD46}"/>
              </a:ext>
            </a:extLst>
          </p:cNvPr>
          <p:cNvSpPr>
            <a:spLocks noGrp="1"/>
          </p:cNvSpPr>
          <p:nvPr>
            <p:ph type="sldNum" sz="quarter" idx="4294967295"/>
          </p:nvPr>
        </p:nvSpPr>
        <p:spPr bwMode="auto">
          <a:xfrm>
            <a:off x="7239000" y="6320008"/>
            <a:ext cx="1651782" cy="365125"/>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5" tIns="45700" rIns="91425" bIns="45700" numCol="1" anchor="ctr" anchorCtr="0" compatLnSpc="1">
            <a:prstTxWarp prst="textNoShape">
              <a:avLst/>
            </a:prstTxWarp>
          </a:bodyPr>
          <a:lstStyle>
            <a:defPPr>
              <a:defRPr lang="en-US"/>
            </a:defPPr>
            <a:lvl1pPr algn="r" rtl="0" fontAlgn="base">
              <a:spcBef>
                <a:spcPct val="0"/>
              </a:spcBef>
              <a:spcAft>
                <a:spcPct val="0"/>
              </a:spcAft>
              <a:buClr>
                <a:srgbClr val="000000"/>
              </a:buClr>
              <a:buFont typeface="Arial" panose="020B0604020202020204" pitchFamily="34" charset="0"/>
              <a:buNone/>
              <a:defRPr sz="1200" kern="1200">
                <a:solidFill>
                  <a:srgbClr val="888888"/>
                </a:solidFill>
                <a:latin typeface="Calibri" panose="020F0502020204030204" pitchFamily="34" charset="0"/>
                <a:ea typeface="+mn-ea"/>
                <a:cs typeface="Arial" panose="020B0604020202020204" pitchFamily="34" charset="0"/>
                <a:sym typeface="Calibri" panose="020F0502020204030204" pitchFamily="34" charset="0"/>
              </a:defRPr>
            </a:lvl1pPr>
            <a:lvl2pPr marL="457200" algn="l" rtl="0" fontAlgn="base">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2pPr>
            <a:lvl3pPr marL="914400" algn="l" rtl="0" fontAlgn="base">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3pPr>
            <a:lvl4pPr marL="1371600" algn="l" rtl="0" fontAlgn="base">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4pPr>
            <a:lvl5pPr marL="1828800" algn="l" rtl="0" fontAlgn="base">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5pPr>
            <a:lvl6pPr marL="22860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6pPr>
            <a:lvl7pPr marL="27432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7pPr>
            <a:lvl8pPr marL="32004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8pPr>
            <a:lvl9pPr marL="36576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9pPr>
          </a:lstStyle>
          <a:p>
            <a:pPr eaLnBrk="1" hangingPunct="1"/>
            <a:fld id="{E22F518A-4755-4E63-80FF-93C53BC9E5C8}" type="slidenum">
              <a:rPr lang="en-US" altLang="en-US" smtClean="0"/>
              <a:pPr eaLnBrk="1" hangingPunct="1"/>
              <a:t>18</a:t>
            </a:fld>
            <a:endParaRPr lang="en-US" altLang="en-US" sz="1200">
              <a:solidFill>
                <a:srgbClr val="888888"/>
              </a:solidFill>
              <a:latin typeface="Calibri" panose="020F0502020204030204" pitchFamily="34" charset="0"/>
              <a:sym typeface="Calibri" panose="020F0502020204030204" pitchFamily="34" charset="0"/>
            </a:endParaRPr>
          </a:p>
        </p:txBody>
      </p:sp>
      <p:sp>
        <p:nvSpPr>
          <p:cNvPr id="52231" name="Date Placeholder 7">
            <a:extLst>
              <a:ext uri="{FF2B5EF4-FFF2-40B4-BE49-F238E27FC236}">
                <a16:creationId xmlns:a16="http://schemas.microsoft.com/office/drawing/2014/main" id="{C9161480-6915-48B2-AA7C-B24B1C3239FE}"/>
              </a:ext>
            </a:extLst>
          </p:cNvPr>
          <p:cNvSpPr>
            <a:spLocks noGrp="1"/>
          </p:cNvSpPr>
          <p:nvPr>
            <p:ph type="dt" sz="quarter" idx="11"/>
          </p:nvPr>
        </p:nvSpPr>
        <p:spPr>
          <a:xfrm>
            <a:off x="402615" y="6271504"/>
            <a:ext cx="1143000" cy="401467"/>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eaLnBrk="1" hangingPunct="1">
              <a:buFont typeface="Arial" panose="020B0604020202020204" pitchFamily="34" charset="0"/>
              <a:buNone/>
            </a:pPr>
            <a:fld id="{85920785-D376-4CFC-A96F-9245BDE38071}" type="datetime1">
              <a:rPr lang="en-IN" altLang="en-US" sz="1200" smtClean="0">
                <a:solidFill>
                  <a:srgbClr val="888888"/>
                </a:solidFill>
                <a:latin typeface="Calibri" panose="020F0502020204030204" pitchFamily="34" charset="0"/>
                <a:sym typeface="Calibri" panose="020F0502020204030204" pitchFamily="34" charset="0"/>
              </a:rPr>
              <a:t>21-07-2025</a:t>
            </a:fld>
            <a:endParaRPr lang="en-US" altLang="en-US" sz="1200" dirty="0">
              <a:solidFill>
                <a:srgbClr val="888888"/>
              </a:solidFill>
              <a:latin typeface="Calibri" panose="020F0502020204030204" pitchFamily="34" charset="0"/>
              <a:sym typeface="Calibri" panose="020F0502020204030204" pitchFamily="34" charset="0"/>
            </a:endParaRPr>
          </a:p>
        </p:txBody>
      </p:sp>
      <p:pic>
        <p:nvPicPr>
          <p:cNvPr id="2" name="Picture 1" descr="A screenshot of a computer&#10;&#10;Description automatically generated">
            <a:extLst>
              <a:ext uri="{FF2B5EF4-FFF2-40B4-BE49-F238E27FC236}">
                <a16:creationId xmlns:a16="http://schemas.microsoft.com/office/drawing/2014/main" id="{5B034CE9-575A-B278-CEEB-141C68A8670E}"/>
              </a:ext>
            </a:extLst>
          </p:cNvPr>
          <p:cNvPicPr>
            <a:picLocks noChangeAspect="1"/>
          </p:cNvPicPr>
          <p:nvPr/>
        </p:nvPicPr>
        <p:blipFill rotWithShape="1">
          <a:blip r:embed="rId2"/>
          <a:srcRect l="26091" t="36058" r="24385" b="26405"/>
          <a:stretch/>
        </p:blipFill>
        <p:spPr bwMode="auto">
          <a:xfrm>
            <a:off x="0" y="7233"/>
            <a:ext cx="1749346" cy="745127"/>
          </a:xfrm>
          <a:prstGeom prst="rect">
            <a:avLst/>
          </a:prstGeom>
          <a:ln>
            <a:noFill/>
          </a:ln>
          <a:extLst>
            <a:ext uri="{53640926-AAD7-44D8-BBD7-CCE9431645EC}">
              <a14:shadowObscured xmlns:a14="http://schemas.microsoft.com/office/drawing/2010/main"/>
            </a:ext>
          </a:extLst>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1143000"/>
            <a:ext cx="8229600" cy="4525963"/>
          </a:xfrm>
        </p:spPr>
        <p:txBody>
          <a:bodyPr>
            <a:normAutofit/>
          </a:bodyPr>
          <a:lstStyle/>
          <a:p>
            <a:pPr algn="just"/>
            <a:r>
              <a:rPr lang="en-US" sz="2200" dirty="0"/>
              <a:t>Basic Programming Skills: Proficiency in C/C++ with good understanding of arrays, loops, functions, and pointers.</a:t>
            </a:r>
          </a:p>
          <a:p>
            <a:pPr algn="just"/>
            <a:r>
              <a:rPr lang="en-US" sz="2200" dirty="0"/>
              <a:t>Data Structures &amp; Algorithms: Knowledge of matrices, graphs (especially BFS), and operations like traversal and adjacency matrix representation.</a:t>
            </a:r>
          </a:p>
          <a:p>
            <a:pPr algn="just"/>
            <a:r>
              <a:rPr lang="en-US" sz="2200" dirty="0"/>
              <a:t>Computer Architecture &amp; OS Concepts: Familiarity with processor architecture, memory hierarchy, and concepts like processes, threads, and inter-process communication.</a:t>
            </a:r>
          </a:p>
        </p:txBody>
      </p:sp>
      <p:sp>
        <p:nvSpPr>
          <p:cNvPr id="4" name="Date Placeholder 3"/>
          <p:cNvSpPr>
            <a:spLocks noGrp="1"/>
          </p:cNvSpPr>
          <p:nvPr>
            <p:ph type="dt" sz="half" idx="10"/>
          </p:nvPr>
        </p:nvSpPr>
        <p:spPr/>
        <p:txBody>
          <a:bodyPr/>
          <a:lstStyle/>
          <a:p>
            <a:fld id="{97F394A9-5018-4095-A891-20CC559BCFCB}" type="datetime1">
              <a:rPr lang="en-IN" smtClean="0"/>
              <a:t>21-07-2025</a:t>
            </a:fld>
            <a:endParaRPr lang="en-US"/>
          </a:p>
        </p:txBody>
      </p:sp>
      <p:sp>
        <p:nvSpPr>
          <p:cNvPr id="5" name="Footer Placeholder 4"/>
          <p:cNvSpPr>
            <a:spLocks noGrp="1"/>
          </p:cNvSpPr>
          <p:nvPr>
            <p:ph type="ftr" sz="quarter" idx="11"/>
          </p:nvPr>
        </p:nvSpPr>
        <p:spPr>
          <a:xfrm>
            <a:off x="2514600" y="6356350"/>
            <a:ext cx="5029200" cy="365125"/>
          </a:xfrm>
        </p:spPr>
        <p:txBody>
          <a:bodyPr/>
          <a:lstStyle/>
          <a:p>
            <a:r>
              <a:rPr lang="en-US"/>
              <a:t>Ms. Purnima Pal      High Performance Computing             Unit III     </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19</a:t>
            </a:fld>
            <a:endParaRPr lang="en-US"/>
          </a:p>
        </p:txBody>
      </p:sp>
      <p:sp>
        <p:nvSpPr>
          <p:cNvPr id="7" name="Title 1"/>
          <p:cNvSpPr txBox="1">
            <a:spLocks/>
          </p:cNvSpPr>
          <p:nvPr/>
        </p:nvSpPr>
        <p:spPr>
          <a:xfrm>
            <a:off x="1371600" y="-12569"/>
            <a:ext cx="7772400" cy="685799"/>
          </a:xfrm>
          <a:prstGeom prst="rect">
            <a:avLst/>
          </a:prstGeom>
          <a:solidFill>
            <a:schemeClr val="accent2"/>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marR="0" lvl="0" indent="0" algn="ctr" fontAlgn="auto">
              <a:lnSpc>
                <a:spcPct val="100000"/>
              </a:lnSpc>
              <a:spcBef>
                <a:spcPct val="0"/>
              </a:spcBef>
              <a:spcAft>
                <a:spcPts val="0"/>
              </a:spcAft>
              <a:buClrTx/>
              <a:buSzTx/>
              <a:buFontTx/>
              <a:buNone/>
              <a:tabLst/>
              <a:defRPr kumimoji="0" sz="2400" b="0" i="0" u="none" strike="noStrike" cap="none" spc="0" normalizeH="0" baseline="0">
                <a:ln>
                  <a:noFill/>
                </a:ln>
                <a:effectLst/>
                <a:uLnTx/>
                <a:uFillTx/>
              </a:defRPr>
            </a:lvl1pPr>
          </a:lstStyle>
          <a:p>
            <a:endParaRPr lang="en-US" b="1" dirty="0"/>
          </a:p>
        </p:txBody>
      </p:sp>
      <p:sp>
        <p:nvSpPr>
          <p:cNvPr id="9" name="Title 1">
            <a:extLst>
              <a:ext uri="{FF2B5EF4-FFF2-40B4-BE49-F238E27FC236}">
                <a16:creationId xmlns:a16="http://schemas.microsoft.com/office/drawing/2014/main" id="{619AD7CB-12F9-2E6C-0EE1-031003F0E200}"/>
              </a:ext>
            </a:extLst>
          </p:cNvPr>
          <p:cNvSpPr txBox="1">
            <a:spLocks/>
          </p:cNvSpPr>
          <p:nvPr/>
        </p:nvSpPr>
        <p:spPr>
          <a:xfrm>
            <a:off x="1267729" y="0"/>
            <a:ext cx="7876271"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endParaRPr kumimoji="0" lang="en-US" sz="2400" b="1" i="0" u="none" strike="noStrike" kern="1200" cap="none" spc="0" normalizeH="0" baseline="0" noProof="0" dirty="0">
              <a:ln>
                <a:noFill/>
              </a:ln>
              <a:solidFill>
                <a:schemeClr val="dk1"/>
              </a:solidFill>
              <a:effectLst/>
              <a:uLnTx/>
              <a:uFillTx/>
              <a:latin typeface="+mn-lt"/>
              <a:ea typeface="+mn-ea"/>
              <a:cs typeface="+mn-cs"/>
            </a:endParaRPr>
          </a:p>
          <a:p>
            <a:r>
              <a:rPr lang="en-US" sz="2400" b="1" dirty="0"/>
              <a:t>Prerequisite and Recap</a:t>
            </a:r>
          </a:p>
          <a:p>
            <a:endParaRPr lang="en-US" sz="2400" b="1" dirty="0"/>
          </a:p>
        </p:txBody>
      </p:sp>
    </p:spTree>
    <p:extLst>
      <p:ext uri="{BB962C8B-B14F-4D97-AF65-F5344CB8AC3E}">
        <p14:creationId xmlns:p14="http://schemas.microsoft.com/office/powerpoint/2010/main" val="254252194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a:prstGeom prst="rect">
            <a:avLst/>
          </a:prstGeom>
        </p:spPr>
        <p:txBody>
          <a:bodyPr/>
          <a:lstStyle/>
          <a:p>
            <a:fld id="{1F2C3A01-0399-4BCF-8C63-3443EFD44FBF}" type="datetime1">
              <a:rPr lang="en-IN" smtClean="0"/>
              <a:t>21-07-2025</a:t>
            </a:fld>
            <a:endParaRPr lang="en-US"/>
          </a:p>
        </p:txBody>
      </p:sp>
      <p:sp>
        <p:nvSpPr>
          <p:cNvPr id="6" name="Slide Number Placeholder 5"/>
          <p:cNvSpPr>
            <a:spLocks noGrp="1"/>
          </p:cNvSpPr>
          <p:nvPr>
            <p:ph type="sldNum" sz="quarter" idx="12"/>
          </p:nvPr>
        </p:nvSpPr>
        <p:spPr>
          <a:prstGeom prst="rect">
            <a:avLst/>
          </a:prstGeom>
        </p:spPr>
        <p:txBody>
          <a:bodyPr/>
          <a:lstStyle/>
          <a:p>
            <a:fld id="{B6F15528-21DE-4FAA-801E-634DDDAF4B2B}" type="slidenum">
              <a:rPr lang="en-US" smtClean="0"/>
              <a:pPr/>
              <a:t>20</a:t>
            </a:fld>
            <a:endParaRPr lang="en-US"/>
          </a:p>
        </p:txBody>
      </p:sp>
      <p:sp>
        <p:nvSpPr>
          <p:cNvPr id="9" name="Title 1">
            <a:extLst>
              <a:ext uri="{FF2B5EF4-FFF2-40B4-BE49-F238E27FC236}">
                <a16:creationId xmlns:a16="http://schemas.microsoft.com/office/drawing/2014/main" id="{343CFCBF-680E-4B0C-8602-86D30BF2D33A}"/>
              </a:ext>
            </a:extLst>
          </p:cNvPr>
          <p:cNvSpPr txBox="1">
            <a:spLocks/>
          </p:cNvSpPr>
          <p:nvPr/>
        </p:nvSpPr>
        <p:spPr>
          <a:xfrm>
            <a:off x="1353671" y="0"/>
            <a:ext cx="7772400" cy="685799"/>
          </a:xfrm>
          <a:prstGeom prst="rect">
            <a:avLst/>
          </a:prstGeom>
          <a:solidFill>
            <a:srgbClr val="FF9C9C"/>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400" b="1" i="0" u="none" strike="noStrike" kern="1200" cap="none" spc="0" normalizeH="0" baseline="0" noProof="0" dirty="0">
                <a:ln>
                  <a:noFill/>
                </a:ln>
                <a:solidFill>
                  <a:schemeClr val="dk1"/>
                </a:solidFill>
                <a:effectLst/>
                <a:uLnTx/>
                <a:uFillTx/>
                <a:latin typeface="+mn-lt"/>
                <a:ea typeface="+mn-ea"/>
                <a:cs typeface="+mn-cs"/>
              </a:rPr>
              <a:t>Brief Intro of Subject with video</a:t>
            </a:r>
          </a:p>
        </p:txBody>
      </p:sp>
      <p:sp>
        <p:nvSpPr>
          <p:cNvPr id="2" name="Footer Placeholder 1">
            <a:extLst>
              <a:ext uri="{FF2B5EF4-FFF2-40B4-BE49-F238E27FC236}">
                <a16:creationId xmlns:a16="http://schemas.microsoft.com/office/drawing/2014/main" id="{FA0F986C-77C1-4559-A1AE-E9EEAA72C6CE}"/>
              </a:ext>
            </a:extLst>
          </p:cNvPr>
          <p:cNvSpPr>
            <a:spLocks noGrp="1"/>
          </p:cNvSpPr>
          <p:nvPr>
            <p:ph type="ftr" sz="quarter" idx="11"/>
          </p:nvPr>
        </p:nvSpPr>
        <p:spPr>
          <a:xfrm>
            <a:off x="1579417" y="6356350"/>
            <a:ext cx="6359237" cy="365125"/>
          </a:xfrm>
        </p:spPr>
        <p:txBody>
          <a:bodyPr/>
          <a:lstStyle/>
          <a:p>
            <a:r>
              <a:rPr lang="en-US"/>
              <a:t>Ms. Purnima Pal      High Performance Computing             Unit III     </a:t>
            </a:r>
            <a:endParaRPr lang="en-US" dirty="0"/>
          </a:p>
        </p:txBody>
      </p:sp>
      <p:sp>
        <p:nvSpPr>
          <p:cNvPr id="7" name="Content Placeholder 6">
            <a:extLst>
              <a:ext uri="{FF2B5EF4-FFF2-40B4-BE49-F238E27FC236}">
                <a16:creationId xmlns:a16="http://schemas.microsoft.com/office/drawing/2014/main" id="{EF632368-14F3-4F48-B212-F99EBC3ED043}"/>
              </a:ext>
            </a:extLst>
          </p:cNvPr>
          <p:cNvSpPr>
            <a:spLocks noGrp="1"/>
          </p:cNvSpPr>
          <p:nvPr>
            <p:ph idx="1"/>
          </p:nvPr>
        </p:nvSpPr>
        <p:spPr>
          <a:xfrm>
            <a:off x="-13133" y="930442"/>
            <a:ext cx="9139204" cy="5096285"/>
          </a:xfrm>
        </p:spPr>
        <p:txBody>
          <a:bodyPr>
            <a:normAutofit fontScale="92500" lnSpcReduction="20000"/>
          </a:bodyPr>
          <a:lstStyle/>
          <a:p>
            <a:r>
              <a:rPr lang="en-US" sz="2200" dirty="0">
                <a:latin typeface="Times New Roman" panose="02020603050405020304" pitchFamily="18" charset="0"/>
                <a:cs typeface="Times New Roman" panose="02020603050405020304" pitchFamily="18" charset="0"/>
              </a:rPr>
              <a:t>High Performance Computing (HPC) focuses on solving complex computational problems using parallel and distributed computing technologies. In today’s era of large-scale data and simulation-driven systems, HPC enables faster processing and analysis by harnessing the power of modern hardware and software tools like multi-core processors, clusters, grids, and even quantum systems.</a:t>
            </a:r>
          </a:p>
          <a:p>
            <a:r>
              <a:rPr lang="en-US" sz="2200" dirty="0">
                <a:latin typeface="Times New Roman" panose="02020603050405020304" pitchFamily="18" charset="0"/>
                <a:cs typeface="Times New Roman" panose="02020603050405020304" pitchFamily="18" charset="0"/>
              </a:rPr>
              <a:t>Students learn:</a:t>
            </a:r>
          </a:p>
          <a:p>
            <a:r>
              <a:rPr lang="en-US" sz="2200" dirty="0">
                <a:latin typeface="Times New Roman" panose="02020603050405020304" pitchFamily="18" charset="0"/>
                <a:cs typeface="Times New Roman" panose="02020603050405020304" pitchFamily="18" charset="0"/>
              </a:rPr>
              <a:t>Core concepts of parallelism</a:t>
            </a:r>
          </a:p>
          <a:p>
            <a:r>
              <a:rPr lang="en-US" sz="2200" dirty="0">
                <a:latin typeface="Times New Roman" panose="02020603050405020304" pitchFamily="18" charset="0"/>
                <a:cs typeface="Times New Roman" panose="02020603050405020304" pitchFamily="18" charset="0"/>
              </a:rPr>
              <a:t>Architectural models like SIMD, MIMD</a:t>
            </a:r>
          </a:p>
          <a:p>
            <a:r>
              <a:rPr lang="en-US" sz="2200" dirty="0">
                <a:latin typeface="Times New Roman" panose="02020603050405020304" pitchFamily="18" charset="0"/>
                <a:cs typeface="Times New Roman" panose="02020603050405020304" pitchFamily="18" charset="0"/>
              </a:rPr>
              <a:t>Programming using OpenMP and MPI</a:t>
            </a:r>
          </a:p>
          <a:p>
            <a:r>
              <a:rPr lang="en-US" sz="2200" dirty="0">
                <a:latin typeface="Times New Roman" panose="02020603050405020304" pitchFamily="18" charset="0"/>
                <a:cs typeface="Times New Roman" panose="02020603050405020304" pitchFamily="18" charset="0"/>
              </a:rPr>
              <a:t>Fault-tolerant mechanisms in cluster systems</a:t>
            </a:r>
          </a:p>
          <a:p>
            <a:r>
              <a:rPr lang="en-US" sz="2200" dirty="0">
                <a:latin typeface="Times New Roman" panose="02020603050405020304" pitchFamily="18" charset="0"/>
                <a:cs typeface="Times New Roman" panose="02020603050405020304" pitchFamily="18" charset="0"/>
              </a:rPr>
              <a:t>This course builds the foundation to design, implement, and analyze performance-driven software and systems used in scientific research, machine learning, big data, etc.</a:t>
            </a:r>
          </a:p>
          <a:p>
            <a:r>
              <a:rPr lang="en-US" sz="2200" dirty="0">
                <a:latin typeface="Times New Roman" panose="02020603050405020304" pitchFamily="18" charset="0"/>
                <a:cs typeface="Times New Roman" panose="02020603050405020304" pitchFamily="18" charset="0"/>
              </a:rPr>
              <a:t>Topic-wise Video Lectures (YouTube/NPTEL)</a:t>
            </a:r>
          </a:p>
          <a:p>
            <a:pPr marR="0">
              <a:spcAft>
                <a:spcPts val="0"/>
              </a:spcAft>
            </a:pPr>
            <a:r>
              <a:rPr lang="en-US" sz="2200" dirty="0">
                <a:latin typeface="Times New Roman" panose="02020603050405020304" pitchFamily="18" charset="0"/>
                <a:cs typeface="Times New Roman" panose="02020603050405020304" pitchFamily="18" charset="0"/>
              </a:rPr>
              <a:t>Unit 3 </a:t>
            </a:r>
            <a:r>
              <a:rPr lang="en-US" sz="2200" dirty="0" err="1">
                <a:latin typeface="Times New Roman" panose="02020603050405020304" pitchFamily="18" charset="0"/>
                <a:cs typeface="Times New Roman" panose="02020603050405020304" pitchFamily="18" charset="0"/>
              </a:rPr>
              <a:t>Disttibuted</a:t>
            </a:r>
            <a:r>
              <a:rPr lang="en-US" sz="2200" dirty="0">
                <a:latin typeface="Times New Roman" panose="02020603050405020304" pitchFamily="18" charset="0"/>
                <a:cs typeface="Times New Roman" panose="02020603050405020304" pitchFamily="18" charset="0"/>
              </a:rPr>
              <a:t> Memory: </a:t>
            </a:r>
            <a:r>
              <a:rPr lang="en-IN" sz="2200" dirty="0">
                <a:latin typeface="Times New Roman" panose="02020603050405020304" pitchFamily="18" charset="0"/>
                <a:cs typeface="Times New Roman" panose="02020603050405020304" pitchFamily="18" charset="0"/>
              </a:rPr>
              <a:t>https://www.youtube.com/watch?v=gE8KgD9D69k</a:t>
            </a:r>
            <a:endParaRPr lang="en-US" sz="2200" dirty="0">
              <a:latin typeface="Times New Roman" panose="02020603050405020304" pitchFamily="18" charset="0"/>
              <a:cs typeface="Times New Roman" panose="02020603050405020304" pitchFamily="18" charset="0"/>
            </a:endParaRPr>
          </a:p>
          <a:p>
            <a:pPr marL="0" indent="0">
              <a:buNone/>
            </a:pPr>
            <a:r>
              <a:rPr lang="en-US" dirty="0">
                <a:latin typeface="+mj-lt"/>
              </a:rPr>
              <a:t> </a:t>
            </a:r>
          </a:p>
          <a:p>
            <a:endParaRPr lang="en-US" dirty="0">
              <a:latin typeface="+mj-lt"/>
            </a:endParaRPr>
          </a:p>
        </p:txBody>
      </p:sp>
      <p:pic>
        <p:nvPicPr>
          <p:cNvPr id="8" name="Picture 7">
            <a:extLst>
              <a:ext uri="{FF2B5EF4-FFF2-40B4-BE49-F238E27FC236}">
                <a16:creationId xmlns:a16="http://schemas.microsoft.com/office/drawing/2014/main" id="{660A703F-3E80-1C4A-9962-E0A24FD1E0B0}"/>
              </a:ext>
            </a:extLst>
          </p:cNvPr>
          <p:cNvPicPr>
            <a:picLocks noChangeAspect="1"/>
          </p:cNvPicPr>
          <p:nvPr/>
        </p:nvPicPr>
        <p:blipFill>
          <a:blip r:embed="rId2"/>
          <a:stretch>
            <a:fillRect/>
          </a:stretch>
        </p:blipFill>
        <p:spPr>
          <a:xfrm>
            <a:off x="0" y="-27448"/>
            <a:ext cx="1384300" cy="812800"/>
          </a:xfrm>
          <a:prstGeom prst="rect">
            <a:avLst/>
          </a:prstGeom>
        </p:spPr>
      </p:pic>
      <p:pic>
        <p:nvPicPr>
          <p:cNvPr id="3" name="Picture 2" descr="A screenshot of a computer&#10;&#10;Description automatically generated">
            <a:extLst>
              <a:ext uri="{FF2B5EF4-FFF2-40B4-BE49-F238E27FC236}">
                <a16:creationId xmlns:a16="http://schemas.microsoft.com/office/drawing/2014/main" id="{AAB39E09-33E0-981D-1850-378A2ED73F05}"/>
              </a:ext>
            </a:extLst>
          </p:cNvPr>
          <p:cNvPicPr>
            <a:picLocks noChangeAspect="1"/>
          </p:cNvPicPr>
          <p:nvPr/>
        </p:nvPicPr>
        <p:blipFill rotWithShape="1">
          <a:blip r:embed="rId3"/>
          <a:srcRect l="26091" t="36058" r="24385" b="26405"/>
          <a:stretch/>
        </p:blipFill>
        <p:spPr bwMode="auto">
          <a:xfrm>
            <a:off x="0" y="7233"/>
            <a:ext cx="1749346" cy="745127"/>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286183200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 y="1219200"/>
            <a:ext cx="8839200" cy="5486400"/>
          </a:xfrm>
        </p:spPr>
        <p:txBody>
          <a:bodyPr>
            <a:normAutofit/>
          </a:bodyPr>
          <a:lstStyle/>
          <a:p>
            <a:r>
              <a:rPr lang="en-US" sz="1800" dirty="0">
                <a:latin typeface="Times New Roman" panose="02020603050405020304" pitchFamily="18" charset="0"/>
                <a:cs typeface="Times New Roman" panose="02020603050405020304" pitchFamily="18" charset="0"/>
              </a:rPr>
              <a:t>Distributed memory refers to a type of computer architecture where each processor (or computing node) has its own private memory. Unlike shared memory systems, where all processors access a common memory space, in distributed memory systems, no processor can directly access the memory of another processor.</a:t>
            </a:r>
          </a:p>
          <a:p>
            <a:r>
              <a:rPr lang="en-US" sz="1800" dirty="0">
                <a:latin typeface="Times New Roman" panose="02020603050405020304" pitchFamily="18" charset="0"/>
                <a:cs typeface="Times New Roman" panose="02020603050405020304" pitchFamily="18" charset="0"/>
              </a:rPr>
              <a:t>In distributed memory systems, each processor has its own local memory. Processors communicate by passing messages over a network. This is common in clusters of machines.</a:t>
            </a:r>
          </a:p>
          <a:p>
            <a:r>
              <a:rPr lang="en-US" sz="1800" dirty="0">
                <a:latin typeface="Times New Roman" panose="02020603050405020304" pitchFamily="18" charset="0"/>
                <a:cs typeface="Times New Roman" panose="02020603050405020304" pitchFamily="18" charset="0"/>
              </a:rPr>
              <a:t>How It Works: Each node (or processor) works independently and stores its own data locally. If a node needs data stored in another node’s memory, it cannot access it directly — instead, it must explicitly communicate with that node using a communication protocol (like MPI).</a:t>
            </a:r>
          </a:p>
          <a:p>
            <a:r>
              <a:rPr lang="en-US" sz="1800" dirty="0">
                <a:latin typeface="Times New Roman" panose="02020603050405020304" pitchFamily="18" charset="0"/>
                <a:cs typeface="Times New Roman" panose="02020603050405020304" pitchFamily="18" charset="0"/>
              </a:rPr>
              <a:t>Advantages:</a:t>
            </a:r>
          </a:p>
          <a:p>
            <a:r>
              <a:rPr lang="en-US" sz="1800" dirty="0">
                <a:latin typeface="Times New Roman" panose="02020603050405020304" pitchFamily="18" charset="0"/>
                <a:cs typeface="Times New Roman" panose="02020603050405020304" pitchFamily="18" charset="0"/>
              </a:rPr>
              <a:t>Scalability: Systems can be scaled easily by adding more nodes.</a:t>
            </a:r>
          </a:p>
          <a:p>
            <a:r>
              <a:rPr lang="en-US" sz="1800" dirty="0">
                <a:latin typeface="Times New Roman" panose="02020603050405020304" pitchFamily="18" charset="0"/>
                <a:cs typeface="Times New Roman" panose="02020603050405020304" pitchFamily="18" charset="0"/>
              </a:rPr>
              <a:t>Reduced Memory Bottlenecks: Since each processor accesses its own memory, there's less contention.</a:t>
            </a:r>
          </a:p>
          <a:p>
            <a:r>
              <a:rPr lang="en-US" sz="1800" dirty="0">
                <a:latin typeface="Times New Roman" panose="02020603050405020304" pitchFamily="18" charset="0"/>
                <a:cs typeface="Times New Roman" panose="02020603050405020304" pitchFamily="18" charset="0"/>
              </a:rPr>
              <a:t>High Bandwidth: Local memory access is faster, enabling high-speed computations.</a:t>
            </a:r>
          </a:p>
        </p:txBody>
      </p:sp>
      <p:sp>
        <p:nvSpPr>
          <p:cNvPr id="2" name="Date Placeholder 1"/>
          <p:cNvSpPr>
            <a:spLocks noGrp="1"/>
          </p:cNvSpPr>
          <p:nvPr>
            <p:ph type="dt" sz="half" idx="10"/>
          </p:nvPr>
        </p:nvSpPr>
        <p:spPr/>
        <p:txBody>
          <a:bodyPr/>
          <a:lstStyle/>
          <a:p>
            <a:fld id="{0264F37B-2945-474C-AECE-28668ED5F36A}" type="datetime1">
              <a:rPr lang="en-IN" smtClean="0"/>
              <a:t>21-07-2025</a:t>
            </a:fld>
            <a:endParaRPr lang="en-US"/>
          </a:p>
        </p:txBody>
      </p:sp>
      <p:sp>
        <p:nvSpPr>
          <p:cNvPr id="6" name="Footer Placeholder 5"/>
          <p:cNvSpPr>
            <a:spLocks noGrp="1"/>
          </p:cNvSpPr>
          <p:nvPr>
            <p:ph type="ftr" sz="quarter" idx="11"/>
          </p:nvPr>
        </p:nvSpPr>
        <p:spPr/>
        <p:txBody>
          <a:bodyPr/>
          <a:lstStyle/>
          <a:p>
            <a:r>
              <a:rPr lang="en-US"/>
              <a:t>Ms. Purnima Pal      High Performance Computing             Unit III     </a:t>
            </a:r>
          </a:p>
        </p:txBody>
      </p:sp>
      <p:sp>
        <p:nvSpPr>
          <p:cNvPr id="7" name="Slide Number Placeholder 6"/>
          <p:cNvSpPr>
            <a:spLocks noGrp="1"/>
          </p:cNvSpPr>
          <p:nvPr>
            <p:ph type="sldNum" sz="quarter" idx="12"/>
          </p:nvPr>
        </p:nvSpPr>
        <p:spPr/>
        <p:txBody>
          <a:bodyPr/>
          <a:lstStyle/>
          <a:p>
            <a:fld id="{AE566132-A42B-4D26-9C08-B059D352BBB6}" type="slidenum">
              <a:rPr lang="en-US" smtClean="0"/>
              <a:pPr/>
              <a:t>21</a:t>
            </a:fld>
            <a:endParaRPr lang="en-US"/>
          </a:p>
        </p:txBody>
      </p:sp>
      <p:sp>
        <p:nvSpPr>
          <p:cNvPr id="8" name="Title 1">
            <a:extLst>
              <a:ext uri="{FF2B5EF4-FFF2-40B4-BE49-F238E27FC236}">
                <a16:creationId xmlns:a16="http://schemas.microsoft.com/office/drawing/2014/main" id="{947AAC49-10FE-228B-BB99-7BE81E06D319}"/>
              </a:ext>
            </a:extLst>
          </p:cNvPr>
          <p:cNvSpPr txBox="1">
            <a:spLocks/>
          </p:cNvSpPr>
          <p:nvPr/>
        </p:nvSpPr>
        <p:spPr>
          <a:xfrm>
            <a:off x="1259088" y="0"/>
            <a:ext cx="7876271"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r>
              <a:rPr kumimoji="0" lang="en-US" sz="2400" b="1" i="0" u="none" strike="noStrike" kern="1200" cap="none" spc="0" normalizeH="0" baseline="0" noProof="0" dirty="0">
                <a:ln>
                  <a:noFill/>
                </a:ln>
                <a:solidFill>
                  <a:schemeClr val="dk1"/>
                </a:solidFill>
                <a:effectLst/>
                <a:uLnTx/>
                <a:uFillTx/>
                <a:latin typeface="+mn-lt"/>
                <a:ea typeface="+mn-ea"/>
                <a:cs typeface="+mn-cs"/>
              </a:rPr>
              <a:t>Distributed memory </a:t>
            </a:r>
            <a:endParaRPr lang="en-US" sz="2400" b="1" dirty="0"/>
          </a:p>
        </p:txBody>
      </p:sp>
    </p:spTree>
    <p:extLst>
      <p:ext uri="{BB962C8B-B14F-4D97-AF65-F5344CB8AC3E}">
        <p14:creationId xmlns:p14="http://schemas.microsoft.com/office/powerpoint/2010/main" val="211885484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 y="1219199"/>
            <a:ext cx="8839200" cy="4800601"/>
          </a:xfrm>
        </p:spPr>
        <p:txBody>
          <a:bodyPr>
            <a:normAutofit/>
          </a:bodyPr>
          <a:lstStyle/>
          <a:p>
            <a:r>
              <a:rPr lang="en-US" altLang="en-US" sz="2000" dirty="0">
                <a:latin typeface="Times New Roman" panose="02020603050405020304" pitchFamily="18" charset="0"/>
                <a:cs typeface="Times New Roman" panose="02020603050405020304" pitchFamily="18" charset="0"/>
              </a:rPr>
              <a:t>Message passing is a communication model used in distributed memory systems where processes exchange information by sending and receiving messages. Since there’s no shared memory, this model is essential for cooperation among distributed processes. </a:t>
            </a:r>
          </a:p>
          <a:p>
            <a:r>
              <a:rPr lang="en-US" altLang="en-US" sz="2000" dirty="0">
                <a:latin typeface="Times New Roman" panose="02020603050405020304" pitchFamily="18" charset="0"/>
                <a:cs typeface="Times New Roman" panose="02020603050405020304" pitchFamily="18" charset="0"/>
              </a:rPr>
              <a:t>Each process in a message-passing system:</a:t>
            </a:r>
          </a:p>
          <a:p>
            <a:r>
              <a:rPr lang="en-US" altLang="en-US" sz="2000" dirty="0">
                <a:latin typeface="Times New Roman" panose="02020603050405020304" pitchFamily="18" charset="0"/>
                <a:cs typeface="Times New Roman" panose="02020603050405020304" pitchFamily="18" charset="0"/>
              </a:rPr>
              <a:t>Manages its own local state and execution context.</a:t>
            </a:r>
          </a:p>
          <a:p>
            <a:r>
              <a:rPr lang="en-US" altLang="en-US" sz="2000" dirty="0">
                <a:latin typeface="Times New Roman" panose="02020603050405020304" pitchFamily="18" charset="0"/>
                <a:cs typeface="Times New Roman" panose="02020603050405020304" pitchFamily="18" charset="0"/>
              </a:rPr>
              <a:t>Communicates using a message-passing interface (such as MPI).- Message Passing Interface (MPI) is a standard model for programming distributed memory systems. It allows processes to exchange data through messages, supporting operations like send/receive and collective communications.</a:t>
            </a:r>
          </a:p>
          <a:p>
            <a:r>
              <a:rPr lang="en-US" altLang="en-US" sz="2000" dirty="0">
                <a:latin typeface="Times New Roman" panose="02020603050405020304" pitchFamily="18" charset="0"/>
                <a:cs typeface="Times New Roman" panose="02020603050405020304" pitchFamily="18" charset="0"/>
              </a:rPr>
              <a:t>Does not share variables with other processes — all data is transferred via messages.</a:t>
            </a:r>
            <a:br>
              <a:rPr lang="en-US" altLang="en-US" sz="2000" dirty="0">
                <a:latin typeface="Times New Roman" panose="02020603050405020304" pitchFamily="18" charset="0"/>
                <a:cs typeface="Times New Roman" panose="02020603050405020304" pitchFamily="18" charset="0"/>
              </a:rPr>
            </a:br>
            <a:endParaRPr lang="en-US" altLang="en-US" sz="2000" dirty="0">
              <a:latin typeface="Times New Roman" panose="02020603050405020304" pitchFamily="18" charset="0"/>
              <a:cs typeface="Times New Roman" panose="02020603050405020304" pitchFamily="18" charset="0"/>
            </a:endParaRPr>
          </a:p>
          <a:p>
            <a:pPr marL="0" indent="0">
              <a:buNone/>
            </a:pPr>
            <a:endParaRPr lang="en-US" altLang="en-US" sz="2000" dirty="0">
              <a:latin typeface="Times New Roman" panose="02020603050405020304" pitchFamily="18" charset="0"/>
              <a:cs typeface="Times New Roman" panose="02020603050405020304" pitchFamily="18" charset="0"/>
            </a:endParaRPr>
          </a:p>
        </p:txBody>
      </p:sp>
      <p:sp>
        <p:nvSpPr>
          <p:cNvPr id="4" name="Title 1"/>
          <p:cNvSpPr txBox="1">
            <a:spLocks/>
          </p:cNvSpPr>
          <p:nvPr/>
        </p:nvSpPr>
        <p:spPr>
          <a:xfrm>
            <a:off x="1300506" y="0"/>
            <a:ext cx="7810500" cy="685799"/>
          </a:xfrm>
          <a:prstGeom prst="rect">
            <a:avLst/>
          </a:prstGeom>
          <a:solidFill>
            <a:schemeClr val="accent2"/>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r>
              <a:rPr lang="en-US" sz="2400" b="1" dirty="0"/>
              <a:t>Software Design</a:t>
            </a:r>
          </a:p>
        </p:txBody>
      </p:sp>
      <p:sp>
        <p:nvSpPr>
          <p:cNvPr id="2" name="Date Placeholder 1"/>
          <p:cNvSpPr>
            <a:spLocks noGrp="1"/>
          </p:cNvSpPr>
          <p:nvPr>
            <p:ph type="dt" sz="half" idx="10"/>
          </p:nvPr>
        </p:nvSpPr>
        <p:spPr/>
        <p:txBody>
          <a:bodyPr/>
          <a:lstStyle/>
          <a:p>
            <a:fld id="{4B245292-66A4-432D-B907-DDFC4FA5086B}" type="datetime1">
              <a:rPr lang="en-IN" smtClean="0"/>
              <a:t>21-07-2025</a:t>
            </a:fld>
            <a:endParaRPr lang="en-US"/>
          </a:p>
        </p:txBody>
      </p:sp>
      <p:sp>
        <p:nvSpPr>
          <p:cNvPr id="6" name="Footer Placeholder 5"/>
          <p:cNvSpPr>
            <a:spLocks noGrp="1"/>
          </p:cNvSpPr>
          <p:nvPr>
            <p:ph type="ftr" sz="quarter" idx="11"/>
          </p:nvPr>
        </p:nvSpPr>
        <p:spPr>
          <a:xfrm>
            <a:off x="2209800" y="6356350"/>
            <a:ext cx="5029200" cy="365125"/>
          </a:xfrm>
        </p:spPr>
        <p:txBody>
          <a:bodyPr/>
          <a:lstStyle/>
          <a:p>
            <a:r>
              <a:rPr lang="en-US"/>
              <a:t>Ms. Purnima Pal      High Performance Computing             Unit III     </a:t>
            </a:r>
            <a:endParaRPr lang="en-US" dirty="0"/>
          </a:p>
        </p:txBody>
      </p:sp>
      <p:sp>
        <p:nvSpPr>
          <p:cNvPr id="7" name="Slide Number Placeholder 6"/>
          <p:cNvSpPr>
            <a:spLocks noGrp="1"/>
          </p:cNvSpPr>
          <p:nvPr>
            <p:ph type="sldNum" sz="quarter" idx="12"/>
          </p:nvPr>
        </p:nvSpPr>
        <p:spPr/>
        <p:txBody>
          <a:bodyPr/>
          <a:lstStyle/>
          <a:p>
            <a:fld id="{AE566132-A42B-4D26-9C08-B059D352BBB6}" type="slidenum">
              <a:rPr lang="en-US" smtClean="0"/>
              <a:pPr/>
              <a:t>22</a:t>
            </a:fld>
            <a:endParaRPr lang="en-US"/>
          </a:p>
        </p:txBody>
      </p:sp>
      <p:sp>
        <p:nvSpPr>
          <p:cNvPr id="5" name="Title 1">
            <a:extLst>
              <a:ext uri="{FF2B5EF4-FFF2-40B4-BE49-F238E27FC236}">
                <a16:creationId xmlns:a16="http://schemas.microsoft.com/office/drawing/2014/main" id="{74C97CF1-3A45-326E-4C1F-9015608E62E8}"/>
              </a:ext>
            </a:extLst>
          </p:cNvPr>
          <p:cNvSpPr txBox="1">
            <a:spLocks/>
          </p:cNvSpPr>
          <p:nvPr/>
        </p:nvSpPr>
        <p:spPr>
          <a:xfrm>
            <a:off x="1259088" y="0"/>
            <a:ext cx="7876271"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r>
              <a:rPr kumimoji="0" lang="en-US" sz="2400" b="1" i="0" u="none" strike="noStrike" kern="1200" cap="none" spc="0" normalizeH="0" baseline="0" noProof="0" dirty="0">
                <a:ln>
                  <a:noFill/>
                </a:ln>
                <a:solidFill>
                  <a:schemeClr val="dk1"/>
                </a:solidFill>
                <a:effectLst/>
                <a:uLnTx/>
                <a:uFillTx/>
                <a:latin typeface="+mn-lt"/>
                <a:ea typeface="+mn-ea"/>
                <a:cs typeface="+mn-cs"/>
              </a:rPr>
              <a:t>Message passing networks</a:t>
            </a:r>
            <a:endParaRPr lang="en-US" sz="2400" b="1"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Content Placeholder 7">
            <a:extLst>
              <a:ext uri="{FF2B5EF4-FFF2-40B4-BE49-F238E27FC236}">
                <a16:creationId xmlns:a16="http://schemas.microsoft.com/office/drawing/2014/main" id="{3A99CAE9-8E08-2892-E0BF-E1CD72C8C6B5}"/>
              </a:ext>
            </a:extLst>
          </p:cNvPr>
          <p:cNvGraphicFramePr>
            <a:graphicFrameLocks noGrp="1"/>
          </p:cNvGraphicFramePr>
          <p:nvPr>
            <p:ph idx="1"/>
            <p:extLst>
              <p:ext uri="{D42A27DB-BD31-4B8C-83A1-F6EECF244321}">
                <p14:modId xmlns:p14="http://schemas.microsoft.com/office/powerpoint/2010/main" val="137770289"/>
              </p:ext>
            </p:extLst>
          </p:nvPr>
        </p:nvGraphicFramePr>
        <p:xfrm>
          <a:off x="1259088" y="1219200"/>
          <a:ext cx="7315200" cy="4840193"/>
        </p:xfrm>
        <a:graphic>
          <a:graphicData uri="http://schemas.openxmlformats.org/drawingml/2006/table">
            <a:tbl>
              <a:tblPr>
                <a:tableStyleId>{93296810-A885-4BE3-A3E7-6D5BEEA58F35}</a:tableStyleId>
              </a:tblPr>
              <a:tblGrid>
                <a:gridCol w="3325091">
                  <a:extLst>
                    <a:ext uri="{9D8B030D-6E8A-4147-A177-3AD203B41FA5}">
                      <a16:colId xmlns:a16="http://schemas.microsoft.com/office/drawing/2014/main" val="2923700125"/>
                    </a:ext>
                  </a:extLst>
                </a:gridCol>
                <a:gridCol w="3990109">
                  <a:extLst>
                    <a:ext uri="{9D8B030D-6E8A-4147-A177-3AD203B41FA5}">
                      <a16:colId xmlns:a16="http://schemas.microsoft.com/office/drawing/2014/main" val="857353503"/>
                    </a:ext>
                  </a:extLst>
                </a:gridCol>
              </a:tblGrid>
              <a:tr h="185871">
                <a:tc>
                  <a:txBody>
                    <a:bodyPr/>
                    <a:lstStyle/>
                    <a:p>
                      <a:pPr algn="l" fontAlgn="b"/>
                      <a:r>
                        <a:rPr lang="en-US" sz="1600" b="1" u="none" strike="noStrike">
                          <a:effectLst/>
                        </a:rPr>
                        <a:t>Distributed Memory</a:t>
                      </a:r>
                      <a:endParaRPr lang="en-US" sz="1600" b="1" i="0" u="none" strike="noStrike">
                        <a:solidFill>
                          <a:srgbClr val="000000"/>
                        </a:solidFill>
                        <a:effectLst/>
                        <a:latin typeface="Times New Roman" panose="02020603050405020304" pitchFamily="18" charset="0"/>
                        <a:cs typeface="Times New Roman" panose="02020603050405020304" pitchFamily="18" charset="0"/>
                      </a:endParaRPr>
                    </a:p>
                  </a:txBody>
                  <a:tcPr marL="6409" marR="6409" marT="6409"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600" b="1" u="none" strike="noStrike" dirty="0">
                          <a:effectLst/>
                        </a:rPr>
                        <a:t>Message Passing Networks</a:t>
                      </a:r>
                      <a:endParaRPr lang="en-US" sz="16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6409" marR="6409" marT="6409"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71360509"/>
                  </a:ext>
                </a:extLst>
              </a:tr>
              <a:tr h="769121">
                <a:tc>
                  <a:txBody>
                    <a:bodyPr/>
                    <a:lstStyle/>
                    <a:p>
                      <a:pPr algn="l" fontAlgn="b"/>
                      <a:r>
                        <a:rPr lang="en-US" sz="1600" u="none" strike="noStrike" dirty="0">
                          <a:effectLst/>
                        </a:rPr>
                        <a:t>A computer architecture where each processor has its own local memory.</a:t>
                      </a:r>
                      <a:endParaRPr lang="en-US" sz="16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6409" marR="6409" marT="6409"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600" u="none" strike="noStrike">
                          <a:effectLst/>
                        </a:rPr>
                        <a:t>A communication model where processes exchange data via messages.</a:t>
                      </a:r>
                      <a:endParaRPr lang="en-US" sz="1600" b="0" i="0" u="none" strike="noStrike">
                        <a:solidFill>
                          <a:srgbClr val="000000"/>
                        </a:solidFill>
                        <a:effectLst/>
                        <a:latin typeface="Times New Roman" panose="02020603050405020304" pitchFamily="18" charset="0"/>
                        <a:cs typeface="Times New Roman" panose="02020603050405020304" pitchFamily="18" charset="0"/>
                      </a:endParaRPr>
                    </a:p>
                  </a:txBody>
                  <a:tcPr marL="6409" marR="6409" marT="6409"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33464181"/>
                  </a:ext>
                </a:extLst>
              </a:tr>
              <a:tr h="192280">
                <a:tc>
                  <a:txBody>
                    <a:bodyPr/>
                    <a:lstStyle/>
                    <a:p>
                      <a:pPr algn="l" fontAlgn="b"/>
                      <a:r>
                        <a:rPr lang="en-US" sz="1600" u="none" strike="noStrike">
                          <a:effectLst/>
                        </a:rPr>
                        <a:t>Hardware architecture</a:t>
                      </a:r>
                      <a:endParaRPr lang="en-US" sz="1600" b="0" i="0" u="none" strike="noStrike">
                        <a:solidFill>
                          <a:srgbClr val="000000"/>
                        </a:solidFill>
                        <a:effectLst/>
                        <a:latin typeface="Times New Roman" panose="02020603050405020304" pitchFamily="18" charset="0"/>
                        <a:cs typeface="Times New Roman" panose="02020603050405020304" pitchFamily="18" charset="0"/>
                      </a:endParaRPr>
                    </a:p>
                  </a:txBody>
                  <a:tcPr marL="6409" marR="6409" marT="6409"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600" u="none" strike="noStrike">
                          <a:effectLst/>
                        </a:rPr>
                        <a:t>Software/communication model</a:t>
                      </a:r>
                      <a:endParaRPr lang="en-US" sz="1600" b="0" i="0" u="none" strike="noStrike">
                        <a:solidFill>
                          <a:srgbClr val="000000"/>
                        </a:solidFill>
                        <a:effectLst/>
                        <a:latin typeface="Times New Roman" panose="02020603050405020304" pitchFamily="18" charset="0"/>
                        <a:cs typeface="Times New Roman" panose="02020603050405020304" pitchFamily="18" charset="0"/>
                      </a:endParaRPr>
                    </a:p>
                  </a:txBody>
                  <a:tcPr marL="6409" marR="6409" marT="6409"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06726762"/>
                  </a:ext>
                </a:extLst>
              </a:tr>
              <a:tr h="576841">
                <a:tc>
                  <a:txBody>
                    <a:bodyPr/>
                    <a:lstStyle/>
                    <a:p>
                      <a:pPr algn="l" fontAlgn="b"/>
                      <a:r>
                        <a:rPr lang="en-US" sz="1600" u="none" strike="noStrike">
                          <a:effectLst/>
                        </a:rPr>
                        <a:t>No shared memory; memory is local to each processor.</a:t>
                      </a:r>
                      <a:endParaRPr lang="en-US" sz="1600" b="0" i="0" u="none" strike="noStrike">
                        <a:solidFill>
                          <a:srgbClr val="000000"/>
                        </a:solidFill>
                        <a:effectLst/>
                        <a:latin typeface="Times New Roman" panose="02020603050405020304" pitchFamily="18" charset="0"/>
                        <a:cs typeface="Times New Roman" panose="02020603050405020304" pitchFamily="18" charset="0"/>
                      </a:endParaRPr>
                    </a:p>
                  </a:txBody>
                  <a:tcPr marL="6409" marR="6409" marT="6409"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600" u="none" strike="noStrike">
                          <a:effectLst/>
                        </a:rPr>
                        <a:t>No shared memory; communication happens through message exchange.</a:t>
                      </a:r>
                      <a:endParaRPr lang="en-US" sz="1600" b="0" i="0" u="none" strike="noStrike">
                        <a:solidFill>
                          <a:srgbClr val="000000"/>
                        </a:solidFill>
                        <a:effectLst/>
                        <a:latin typeface="Times New Roman" panose="02020603050405020304" pitchFamily="18" charset="0"/>
                        <a:cs typeface="Times New Roman" panose="02020603050405020304" pitchFamily="18" charset="0"/>
                      </a:endParaRPr>
                    </a:p>
                  </a:txBody>
                  <a:tcPr marL="6409" marR="6409" marT="6409"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609583639"/>
                  </a:ext>
                </a:extLst>
              </a:tr>
              <a:tr h="576841">
                <a:tc>
                  <a:txBody>
                    <a:bodyPr/>
                    <a:lstStyle/>
                    <a:p>
                      <a:pPr algn="l" fontAlgn="b"/>
                      <a:r>
                        <a:rPr lang="en-US" sz="1600" u="none" strike="noStrike">
                          <a:effectLst/>
                        </a:rPr>
                        <a:t>To physically separate memory for scalability and parallelism.</a:t>
                      </a:r>
                      <a:endParaRPr lang="en-US" sz="1600" b="0" i="0" u="none" strike="noStrike">
                        <a:solidFill>
                          <a:srgbClr val="000000"/>
                        </a:solidFill>
                        <a:effectLst/>
                        <a:latin typeface="Times New Roman" panose="02020603050405020304" pitchFamily="18" charset="0"/>
                        <a:cs typeface="Times New Roman" panose="02020603050405020304" pitchFamily="18" charset="0"/>
                      </a:endParaRPr>
                    </a:p>
                  </a:txBody>
                  <a:tcPr marL="6409" marR="6409" marT="6409"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600" u="none" strike="noStrike">
                          <a:effectLst/>
                        </a:rPr>
                        <a:t>To enable cooperation and data exchange in distributed systems.</a:t>
                      </a:r>
                      <a:endParaRPr lang="en-US" sz="1600" b="0" i="0" u="none" strike="noStrike">
                        <a:solidFill>
                          <a:srgbClr val="000000"/>
                        </a:solidFill>
                        <a:effectLst/>
                        <a:latin typeface="Times New Roman" panose="02020603050405020304" pitchFamily="18" charset="0"/>
                        <a:cs typeface="Times New Roman" panose="02020603050405020304" pitchFamily="18" charset="0"/>
                      </a:endParaRPr>
                    </a:p>
                  </a:txBody>
                  <a:tcPr marL="6409" marR="6409" marT="6409"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98191674"/>
                  </a:ext>
                </a:extLst>
              </a:tr>
              <a:tr h="769121">
                <a:tc>
                  <a:txBody>
                    <a:bodyPr/>
                    <a:lstStyle/>
                    <a:p>
                      <a:pPr algn="l" fontAlgn="b"/>
                      <a:r>
                        <a:rPr lang="en-US" sz="1600" u="none" strike="noStrike">
                          <a:effectLst/>
                        </a:rPr>
                        <a:t>Requires message passing for data exchange between processors.</a:t>
                      </a:r>
                      <a:endParaRPr lang="en-US" sz="1600" b="0" i="0" u="none" strike="noStrike">
                        <a:solidFill>
                          <a:srgbClr val="000000"/>
                        </a:solidFill>
                        <a:effectLst/>
                        <a:latin typeface="Times New Roman" panose="02020603050405020304" pitchFamily="18" charset="0"/>
                        <a:cs typeface="Times New Roman" panose="02020603050405020304" pitchFamily="18" charset="0"/>
                      </a:endParaRPr>
                    </a:p>
                  </a:txBody>
                  <a:tcPr marL="6409" marR="6409" marT="6409"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600" u="none" strike="noStrike" dirty="0">
                          <a:effectLst/>
                        </a:rPr>
                        <a:t>Implements the actual communication (send/receive) between processes.</a:t>
                      </a:r>
                      <a:endParaRPr lang="en-US" sz="16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6409" marR="6409" marT="6409"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71527380"/>
                  </a:ext>
                </a:extLst>
              </a:tr>
              <a:tr h="576841">
                <a:tc>
                  <a:txBody>
                    <a:bodyPr/>
                    <a:lstStyle/>
                    <a:p>
                      <a:pPr algn="l" fontAlgn="b"/>
                      <a:r>
                        <a:rPr lang="en-US" sz="1600" u="none" strike="noStrike">
                          <a:effectLst/>
                        </a:rPr>
                        <a:t>Cluster computing, supercomputers with local node memory</a:t>
                      </a:r>
                      <a:endParaRPr lang="en-US" sz="1600" b="0" i="0" u="none" strike="noStrike">
                        <a:solidFill>
                          <a:srgbClr val="000000"/>
                        </a:solidFill>
                        <a:effectLst/>
                        <a:latin typeface="Times New Roman" panose="02020603050405020304" pitchFamily="18" charset="0"/>
                        <a:cs typeface="Times New Roman" panose="02020603050405020304" pitchFamily="18" charset="0"/>
                      </a:endParaRPr>
                    </a:p>
                  </a:txBody>
                  <a:tcPr marL="6409" marR="6409" marT="6409"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600" u="none" strike="noStrike" dirty="0">
                          <a:effectLst/>
                        </a:rPr>
                        <a:t>MPI (Message Passing Interface), PVM, sockets</a:t>
                      </a:r>
                      <a:endParaRPr lang="en-US" sz="16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6409" marR="6409" marT="6409"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99664035"/>
                  </a:ext>
                </a:extLst>
              </a:tr>
              <a:tr h="576841">
                <a:tc>
                  <a:txBody>
                    <a:bodyPr/>
                    <a:lstStyle/>
                    <a:p>
                      <a:pPr algn="l" fontAlgn="b"/>
                      <a:r>
                        <a:rPr lang="en-US" sz="1600" u="none" strike="noStrike">
                          <a:effectLst/>
                        </a:rPr>
                        <a:t>Deals with how memory is structured in a system</a:t>
                      </a:r>
                      <a:endParaRPr lang="en-US" sz="1600" b="0" i="0" u="none" strike="noStrike">
                        <a:solidFill>
                          <a:srgbClr val="000000"/>
                        </a:solidFill>
                        <a:effectLst/>
                        <a:latin typeface="Times New Roman" panose="02020603050405020304" pitchFamily="18" charset="0"/>
                        <a:cs typeface="Times New Roman" panose="02020603050405020304" pitchFamily="18" charset="0"/>
                      </a:endParaRPr>
                    </a:p>
                  </a:txBody>
                  <a:tcPr marL="6409" marR="6409" marT="6409"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600" u="none" strike="noStrike">
                          <a:effectLst/>
                        </a:rPr>
                        <a:t>Deals with how data is communicated between processes</a:t>
                      </a:r>
                      <a:endParaRPr lang="en-US" sz="1600" b="0" i="0" u="none" strike="noStrike">
                        <a:solidFill>
                          <a:srgbClr val="000000"/>
                        </a:solidFill>
                        <a:effectLst/>
                        <a:latin typeface="Times New Roman" panose="02020603050405020304" pitchFamily="18" charset="0"/>
                        <a:cs typeface="Times New Roman" panose="02020603050405020304" pitchFamily="18" charset="0"/>
                      </a:endParaRPr>
                    </a:p>
                  </a:txBody>
                  <a:tcPr marL="6409" marR="6409" marT="6409"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5873158"/>
                  </a:ext>
                </a:extLst>
              </a:tr>
              <a:tr h="0">
                <a:tc>
                  <a:txBody>
                    <a:bodyPr/>
                    <a:lstStyle/>
                    <a:p>
                      <a:pPr algn="l" fontAlgn="b"/>
                      <a:r>
                        <a:rPr lang="en-US" sz="1600" u="none" strike="noStrike">
                          <a:effectLst/>
                        </a:rPr>
                        <a:t>Used in systems needing scalability and high performance</a:t>
                      </a:r>
                      <a:endParaRPr lang="en-US" sz="1600" b="0" i="0" u="none" strike="noStrike">
                        <a:solidFill>
                          <a:srgbClr val="000000"/>
                        </a:solidFill>
                        <a:effectLst/>
                        <a:latin typeface="Times New Roman" panose="02020603050405020304" pitchFamily="18" charset="0"/>
                        <a:cs typeface="Times New Roman" panose="02020603050405020304" pitchFamily="18" charset="0"/>
                      </a:endParaRPr>
                    </a:p>
                  </a:txBody>
                  <a:tcPr marL="6409" marR="6409" marT="6409"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600" u="none" strike="noStrike" dirty="0">
                          <a:effectLst/>
                        </a:rPr>
                        <a:t>Used in programming such systems for coordination and data exchange </a:t>
                      </a:r>
                      <a:endParaRPr lang="en-US" sz="16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6409" marR="6409" marT="6409"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00111597"/>
                  </a:ext>
                </a:extLst>
              </a:tr>
            </a:tbl>
          </a:graphicData>
        </a:graphic>
      </p:graphicFrame>
      <p:sp>
        <p:nvSpPr>
          <p:cNvPr id="4" name="Title 1"/>
          <p:cNvSpPr txBox="1">
            <a:spLocks/>
          </p:cNvSpPr>
          <p:nvPr/>
        </p:nvSpPr>
        <p:spPr>
          <a:xfrm>
            <a:off x="1300506" y="0"/>
            <a:ext cx="7810500" cy="685799"/>
          </a:xfrm>
          <a:prstGeom prst="rect">
            <a:avLst/>
          </a:prstGeom>
          <a:solidFill>
            <a:schemeClr val="accent2"/>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r>
              <a:rPr lang="en-US" sz="2400" b="1" dirty="0"/>
              <a:t>Software Design</a:t>
            </a:r>
          </a:p>
        </p:txBody>
      </p:sp>
      <p:sp>
        <p:nvSpPr>
          <p:cNvPr id="2" name="Date Placeholder 1"/>
          <p:cNvSpPr>
            <a:spLocks noGrp="1"/>
          </p:cNvSpPr>
          <p:nvPr>
            <p:ph type="dt" sz="half" idx="10"/>
          </p:nvPr>
        </p:nvSpPr>
        <p:spPr/>
        <p:txBody>
          <a:bodyPr/>
          <a:lstStyle/>
          <a:p>
            <a:fld id="{409F58E2-4502-4ACA-A725-AF0A786EFF52}" type="datetime1">
              <a:rPr lang="en-IN" smtClean="0"/>
              <a:t>21-07-2025</a:t>
            </a:fld>
            <a:endParaRPr lang="en-US"/>
          </a:p>
        </p:txBody>
      </p:sp>
      <p:sp>
        <p:nvSpPr>
          <p:cNvPr id="6" name="Footer Placeholder 5"/>
          <p:cNvSpPr>
            <a:spLocks noGrp="1"/>
          </p:cNvSpPr>
          <p:nvPr>
            <p:ph type="ftr" sz="quarter" idx="11"/>
          </p:nvPr>
        </p:nvSpPr>
        <p:spPr>
          <a:xfrm>
            <a:off x="2209800" y="6356350"/>
            <a:ext cx="5029200" cy="365125"/>
          </a:xfrm>
        </p:spPr>
        <p:txBody>
          <a:bodyPr/>
          <a:lstStyle/>
          <a:p>
            <a:r>
              <a:rPr lang="en-US"/>
              <a:t>Ms. Purnima Pal      High Performance Computing             Unit III     </a:t>
            </a:r>
            <a:endParaRPr lang="en-US" dirty="0"/>
          </a:p>
        </p:txBody>
      </p:sp>
      <p:sp>
        <p:nvSpPr>
          <p:cNvPr id="7" name="Slide Number Placeholder 6"/>
          <p:cNvSpPr>
            <a:spLocks noGrp="1"/>
          </p:cNvSpPr>
          <p:nvPr>
            <p:ph type="sldNum" sz="quarter" idx="12"/>
          </p:nvPr>
        </p:nvSpPr>
        <p:spPr/>
        <p:txBody>
          <a:bodyPr/>
          <a:lstStyle/>
          <a:p>
            <a:fld id="{AE566132-A42B-4D26-9C08-B059D352BBB6}" type="slidenum">
              <a:rPr lang="en-US" smtClean="0"/>
              <a:pPr/>
              <a:t>23</a:t>
            </a:fld>
            <a:endParaRPr lang="en-US"/>
          </a:p>
        </p:txBody>
      </p:sp>
      <p:sp>
        <p:nvSpPr>
          <p:cNvPr id="5" name="Title 1">
            <a:extLst>
              <a:ext uri="{FF2B5EF4-FFF2-40B4-BE49-F238E27FC236}">
                <a16:creationId xmlns:a16="http://schemas.microsoft.com/office/drawing/2014/main" id="{74C97CF1-3A45-326E-4C1F-9015608E62E8}"/>
              </a:ext>
            </a:extLst>
          </p:cNvPr>
          <p:cNvSpPr txBox="1">
            <a:spLocks/>
          </p:cNvSpPr>
          <p:nvPr/>
        </p:nvSpPr>
        <p:spPr>
          <a:xfrm>
            <a:off x="1259088" y="0"/>
            <a:ext cx="7876271"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r>
              <a:rPr kumimoji="0" lang="en-US" sz="2400" b="1" i="0" u="none" strike="noStrike" kern="1200" cap="none" spc="0" normalizeH="0" baseline="0" noProof="0" dirty="0">
                <a:ln>
                  <a:noFill/>
                </a:ln>
                <a:solidFill>
                  <a:schemeClr val="dk1"/>
                </a:solidFill>
                <a:effectLst/>
                <a:uLnTx/>
                <a:uFillTx/>
                <a:latin typeface="+mn-lt"/>
                <a:ea typeface="+mn-ea"/>
                <a:cs typeface="+mn-cs"/>
              </a:rPr>
              <a:t>Distributed memory </a:t>
            </a:r>
            <a:r>
              <a:rPr lang="en-US" sz="2400" b="1" dirty="0"/>
              <a:t>Vs </a:t>
            </a:r>
            <a:r>
              <a:rPr kumimoji="0" lang="en-US" sz="2400" b="1" i="0" u="none" strike="noStrike" kern="1200" cap="none" spc="0" normalizeH="0" baseline="0" noProof="0" dirty="0">
                <a:ln>
                  <a:noFill/>
                </a:ln>
                <a:solidFill>
                  <a:schemeClr val="dk1"/>
                </a:solidFill>
                <a:effectLst/>
                <a:uLnTx/>
                <a:uFillTx/>
                <a:latin typeface="+mn-lt"/>
                <a:ea typeface="+mn-ea"/>
                <a:cs typeface="+mn-cs"/>
              </a:rPr>
              <a:t>Message passing networks, </a:t>
            </a:r>
            <a:endParaRPr lang="en-US" sz="2400" b="1" dirty="0"/>
          </a:p>
        </p:txBody>
      </p:sp>
    </p:spTree>
    <p:extLst>
      <p:ext uri="{BB962C8B-B14F-4D97-AF65-F5344CB8AC3E}">
        <p14:creationId xmlns:p14="http://schemas.microsoft.com/office/powerpoint/2010/main" val="88653888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a:spLocks/>
          </p:cNvSpPr>
          <p:nvPr/>
        </p:nvSpPr>
        <p:spPr>
          <a:xfrm>
            <a:off x="1300506" y="0"/>
            <a:ext cx="7810500" cy="685799"/>
          </a:xfrm>
          <a:prstGeom prst="rect">
            <a:avLst/>
          </a:prstGeom>
          <a:solidFill>
            <a:schemeClr val="accent2"/>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r>
              <a:rPr lang="en-US" sz="2400" b="1" dirty="0"/>
              <a:t>Software Design</a:t>
            </a:r>
          </a:p>
        </p:txBody>
      </p:sp>
      <p:sp>
        <p:nvSpPr>
          <p:cNvPr id="2" name="Date Placeholder 1"/>
          <p:cNvSpPr>
            <a:spLocks noGrp="1"/>
          </p:cNvSpPr>
          <p:nvPr>
            <p:ph type="dt" sz="half" idx="10"/>
          </p:nvPr>
        </p:nvSpPr>
        <p:spPr/>
        <p:txBody>
          <a:bodyPr/>
          <a:lstStyle/>
          <a:p>
            <a:fld id="{AB2B8AD6-F487-49BD-B07D-0BF817C46BD2}" type="datetime1">
              <a:rPr lang="en-IN" smtClean="0"/>
              <a:t>21-07-2025</a:t>
            </a:fld>
            <a:endParaRPr lang="en-US"/>
          </a:p>
        </p:txBody>
      </p:sp>
      <p:sp>
        <p:nvSpPr>
          <p:cNvPr id="6" name="Footer Placeholder 5"/>
          <p:cNvSpPr>
            <a:spLocks noGrp="1"/>
          </p:cNvSpPr>
          <p:nvPr>
            <p:ph type="ftr" sz="quarter" idx="11"/>
          </p:nvPr>
        </p:nvSpPr>
        <p:spPr>
          <a:xfrm>
            <a:off x="2209800" y="6356350"/>
            <a:ext cx="5029200" cy="365125"/>
          </a:xfrm>
        </p:spPr>
        <p:txBody>
          <a:bodyPr/>
          <a:lstStyle/>
          <a:p>
            <a:r>
              <a:rPr lang="en-US"/>
              <a:t>Ms. Purnima Pal      High Performance Computing             Unit III     </a:t>
            </a:r>
            <a:endParaRPr lang="en-US" dirty="0"/>
          </a:p>
        </p:txBody>
      </p:sp>
      <p:sp>
        <p:nvSpPr>
          <p:cNvPr id="7" name="Slide Number Placeholder 6"/>
          <p:cNvSpPr>
            <a:spLocks noGrp="1"/>
          </p:cNvSpPr>
          <p:nvPr>
            <p:ph type="sldNum" sz="quarter" idx="12"/>
          </p:nvPr>
        </p:nvSpPr>
        <p:spPr/>
        <p:txBody>
          <a:bodyPr/>
          <a:lstStyle/>
          <a:p>
            <a:fld id="{AE566132-A42B-4D26-9C08-B059D352BBB6}" type="slidenum">
              <a:rPr lang="en-US" smtClean="0"/>
              <a:pPr/>
              <a:t>24</a:t>
            </a:fld>
            <a:endParaRPr lang="en-US"/>
          </a:p>
        </p:txBody>
      </p:sp>
      <p:sp>
        <p:nvSpPr>
          <p:cNvPr id="5" name="Title 1">
            <a:extLst>
              <a:ext uri="{FF2B5EF4-FFF2-40B4-BE49-F238E27FC236}">
                <a16:creationId xmlns:a16="http://schemas.microsoft.com/office/drawing/2014/main" id="{74C97CF1-3A45-326E-4C1F-9015608E62E8}"/>
              </a:ext>
            </a:extLst>
          </p:cNvPr>
          <p:cNvSpPr txBox="1">
            <a:spLocks/>
          </p:cNvSpPr>
          <p:nvPr/>
        </p:nvSpPr>
        <p:spPr>
          <a:xfrm>
            <a:off x="1259088" y="0"/>
            <a:ext cx="7876271"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r>
              <a:rPr lang="en-US" sz="2400" b="1" dirty="0"/>
              <a:t>Broadcast in Distributed Systems</a:t>
            </a:r>
          </a:p>
        </p:txBody>
      </p:sp>
      <p:sp>
        <p:nvSpPr>
          <p:cNvPr id="9" name="Content Placeholder 8">
            <a:extLst>
              <a:ext uri="{FF2B5EF4-FFF2-40B4-BE49-F238E27FC236}">
                <a16:creationId xmlns:a16="http://schemas.microsoft.com/office/drawing/2014/main" id="{D6AFE47B-73F8-D123-148D-DFDD304BF0C9}"/>
              </a:ext>
            </a:extLst>
          </p:cNvPr>
          <p:cNvSpPr>
            <a:spLocks noGrp="1"/>
          </p:cNvSpPr>
          <p:nvPr>
            <p:ph idx="1"/>
          </p:nvPr>
        </p:nvSpPr>
        <p:spPr>
          <a:xfrm>
            <a:off x="457200" y="1600200"/>
            <a:ext cx="4495800" cy="4525963"/>
          </a:xfrm>
        </p:spPr>
        <p:txBody>
          <a:bodyPr>
            <a:normAutofit fontScale="62500" lnSpcReduction="20000"/>
          </a:bodyPr>
          <a:lstStyle/>
          <a:p>
            <a:r>
              <a:rPr lang="en-US" dirty="0">
                <a:latin typeface="Times New Roman" panose="02020603050405020304" pitchFamily="18" charset="0"/>
                <a:cs typeface="Times New Roman" panose="02020603050405020304" pitchFamily="18" charset="0"/>
              </a:rPr>
              <a:t>In distributed systems, broadcast refers to a communication method where a single message is sent from one node to all other nodes in the system. This is crucial for various tasks like disseminating information, coordinating actions, and maintaining consistency across multiple machines. There are different types of broadcast, each with varying guarantees about message delivery and ordering. </a:t>
            </a:r>
          </a:p>
          <a:p>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The Purpose of Broadcast is used to efficiently distribute data or control messages to all participants in a distributed system. </a:t>
            </a:r>
          </a:p>
          <a:p>
            <a:r>
              <a:rPr lang="en-US" dirty="0">
                <a:latin typeface="Times New Roman" panose="02020603050405020304" pitchFamily="18" charset="0"/>
                <a:cs typeface="Times New Roman" panose="02020603050405020304" pitchFamily="18" charset="0"/>
              </a:rPr>
              <a:t> </a:t>
            </a:r>
          </a:p>
          <a:p>
            <a:pPr marL="0" indent="0">
              <a:buNone/>
            </a:pPr>
            <a:endParaRPr lang="en-US" dirty="0"/>
          </a:p>
        </p:txBody>
      </p:sp>
      <p:pic>
        <p:nvPicPr>
          <p:cNvPr id="8" name="Picture 7">
            <a:extLst>
              <a:ext uri="{FF2B5EF4-FFF2-40B4-BE49-F238E27FC236}">
                <a16:creationId xmlns:a16="http://schemas.microsoft.com/office/drawing/2014/main" id="{6C62E498-FD63-3904-E6D9-C2845290F810}"/>
              </a:ext>
            </a:extLst>
          </p:cNvPr>
          <p:cNvPicPr>
            <a:picLocks noChangeAspect="1"/>
          </p:cNvPicPr>
          <p:nvPr/>
        </p:nvPicPr>
        <p:blipFill>
          <a:blip r:embed="rId2"/>
          <a:stretch>
            <a:fillRect/>
          </a:stretch>
        </p:blipFill>
        <p:spPr>
          <a:xfrm>
            <a:off x="5486400" y="2209800"/>
            <a:ext cx="2933954" cy="2857748"/>
          </a:xfrm>
          <a:prstGeom prst="rect">
            <a:avLst/>
          </a:prstGeom>
        </p:spPr>
      </p:pic>
    </p:spTree>
    <p:extLst>
      <p:ext uri="{BB962C8B-B14F-4D97-AF65-F5344CB8AC3E}">
        <p14:creationId xmlns:p14="http://schemas.microsoft.com/office/powerpoint/2010/main" val="52706752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a:spLocks/>
          </p:cNvSpPr>
          <p:nvPr/>
        </p:nvSpPr>
        <p:spPr>
          <a:xfrm>
            <a:off x="1300506" y="0"/>
            <a:ext cx="7810500" cy="685799"/>
          </a:xfrm>
          <a:prstGeom prst="rect">
            <a:avLst/>
          </a:prstGeom>
          <a:solidFill>
            <a:schemeClr val="accent2"/>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r>
              <a:rPr lang="en-US" sz="2400" b="1" dirty="0"/>
              <a:t>Software Design</a:t>
            </a:r>
          </a:p>
        </p:txBody>
      </p:sp>
      <p:sp>
        <p:nvSpPr>
          <p:cNvPr id="2" name="Date Placeholder 1"/>
          <p:cNvSpPr>
            <a:spLocks noGrp="1"/>
          </p:cNvSpPr>
          <p:nvPr>
            <p:ph type="dt" sz="half" idx="10"/>
          </p:nvPr>
        </p:nvSpPr>
        <p:spPr/>
        <p:txBody>
          <a:bodyPr/>
          <a:lstStyle/>
          <a:p>
            <a:fld id="{14AC9EA7-26CA-4F6B-B940-CF1256CB88F6}" type="datetime1">
              <a:rPr lang="en-IN" smtClean="0"/>
              <a:t>21-07-2025</a:t>
            </a:fld>
            <a:endParaRPr lang="en-US"/>
          </a:p>
        </p:txBody>
      </p:sp>
      <p:sp>
        <p:nvSpPr>
          <p:cNvPr id="6" name="Footer Placeholder 5"/>
          <p:cNvSpPr>
            <a:spLocks noGrp="1"/>
          </p:cNvSpPr>
          <p:nvPr>
            <p:ph type="ftr" sz="quarter" idx="11"/>
          </p:nvPr>
        </p:nvSpPr>
        <p:spPr>
          <a:xfrm>
            <a:off x="2209800" y="6356350"/>
            <a:ext cx="5029200" cy="365125"/>
          </a:xfrm>
        </p:spPr>
        <p:txBody>
          <a:bodyPr/>
          <a:lstStyle/>
          <a:p>
            <a:r>
              <a:rPr lang="en-US"/>
              <a:t>Ms. Purnima Pal      High Performance Computing             Unit III     </a:t>
            </a:r>
            <a:endParaRPr lang="en-US" dirty="0"/>
          </a:p>
        </p:txBody>
      </p:sp>
      <p:sp>
        <p:nvSpPr>
          <p:cNvPr id="7" name="Slide Number Placeholder 6"/>
          <p:cNvSpPr>
            <a:spLocks noGrp="1"/>
          </p:cNvSpPr>
          <p:nvPr>
            <p:ph type="sldNum" sz="quarter" idx="12"/>
          </p:nvPr>
        </p:nvSpPr>
        <p:spPr/>
        <p:txBody>
          <a:bodyPr/>
          <a:lstStyle/>
          <a:p>
            <a:fld id="{AE566132-A42B-4D26-9C08-B059D352BBB6}" type="slidenum">
              <a:rPr lang="en-US" smtClean="0"/>
              <a:pPr/>
              <a:t>25</a:t>
            </a:fld>
            <a:endParaRPr lang="en-US"/>
          </a:p>
        </p:txBody>
      </p:sp>
      <p:sp>
        <p:nvSpPr>
          <p:cNvPr id="5" name="Title 1">
            <a:extLst>
              <a:ext uri="{FF2B5EF4-FFF2-40B4-BE49-F238E27FC236}">
                <a16:creationId xmlns:a16="http://schemas.microsoft.com/office/drawing/2014/main" id="{74C97CF1-3A45-326E-4C1F-9015608E62E8}"/>
              </a:ext>
            </a:extLst>
          </p:cNvPr>
          <p:cNvSpPr txBox="1">
            <a:spLocks/>
          </p:cNvSpPr>
          <p:nvPr/>
        </p:nvSpPr>
        <p:spPr>
          <a:xfrm>
            <a:off x="1259088" y="0"/>
            <a:ext cx="7876271"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r>
              <a:rPr lang="en-US" sz="2400" b="1" dirty="0"/>
              <a:t>Type of Broadcast</a:t>
            </a:r>
          </a:p>
        </p:txBody>
      </p:sp>
      <p:sp>
        <p:nvSpPr>
          <p:cNvPr id="9" name="Content Placeholder 8">
            <a:extLst>
              <a:ext uri="{FF2B5EF4-FFF2-40B4-BE49-F238E27FC236}">
                <a16:creationId xmlns:a16="http://schemas.microsoft.com/office/drawing/2014/main" id="{D6AFE47B-73F8-D123-148D-DFDD304BF0C9}"/>
              </a:ext>
            </a:extLst>
          </p:cNvPr>
          <p:cNvSpPr>
            <a:spLocks noGrp="1"/>
          </p:cNvSpPr>
          <p:nvPr>
            <p:ph idx="1"/>
          </p:nvPr>
        </p:nvSpPr>
        <p:spPr/>
        <p:txBody>
          <a:bodyPr>
            <a:normAutofit fontScale="77500" lnSpcReduction="20000"/>
          </a:bodyPr>
          <a:lstStyle/>
          <a:p>
            <a:r>
              <a:rPr lang="en-US" sz="2900" dirty="0">
                <a:latin typeface="Times New Roman" panose="02020603050405020304" pitchFamily="18" charset="0"/>
                <a:cs typeface="Times New Roman" panose="02020603050405020304" pitchFamily="18" charset="0"/>
              </a:rPr>
              <a:t>Types: Broadcast can be categorized based on the guarantees it provides:</a:t>
            </a:r>
          </a:p>
          <a:p>
            <a:endParaRPr lang="en-US" sz="2900" dirty="0">
              <a:latin typeface="Times New Roman" panose="02020603050405020304" pitchFamily="18" charset="0"/>
              <a:cs typeface="Times New Roman" panose="02020603050405020304" pitchFamily="18" charset="0"/>
            </a:endParaRPr>
          </a:p>
          <a:p>
            <a:r>
              <a:rPr lang="en-US" sz="2900" dirty="0">
                <a:latin typeface="Times New Roman" panose="02020603050405020304" pitchFamily="18" charset="0"/>
                <a:cs typeface="Times New Roman" panose="02020603050405020304" pitchFamily="18" charset="0"/>
              </a:rPr>
              <a:t>Best-effort broadcast: A message is sent to all nodes, but delivery is not guaranteed. </a:t>
            </a:r>
          </a:p>
          <a:p>
            <a:r>
              <a:rPr lang="en-US" sz="2900" dirty="0">
                <a:latin typeface="Times New Roman" panose="02020603050405020304" pitchFamily="18" charset="0"/>
                <a:cs typeface="Times New Roman" panose="02020603050405020304" pitchFamily="18" charset="0"/>
              </a:rPr>
              <a:t>Reliable broadcast: Ensures that all correct nodes receive the message. </a:t>
            </a:r>
          </a:p>
          <a:p>
            <a:r>
              <a:rPr lang="en-US" sz="2900" dirty="0">
                <a:latin typeface="Times New Roman" panose="02020603050405020304" pitchFamily="18" charset="0"/>
                <a:cs typeface="Times New Roman" panose="02020603050405020304" pitchFamily="18" charset="0"/>
              </a:rPr>
              <a:t>Atomic broadcast: Guarantees that either all correct nodes receive the message, or none do, and that they all receive it in the same order. </a:t>
            </a:r>
          </a:p>
          <a:p>
            <a:r>
              <a:rPr lang="en-US" sz="2900" dirty="0">
                <a:latin typeface="Times New Roman" panose="02020603050405020304" pitchFamily="18" charset="0"/>
                <a:cs typeface="Times New Roman" panose="02020603050405020304" pitchFamily="18" charset="0"/>
              </a:rPr>
              <a:t>Causal broadcast: Delivers messages in a causal order, preserving the order of events. </a:t>
            </a:r>
          </a:p>
          <a:p>
            <a:r>
              <a:rPr lang="en-US" sz="2900" dirty="0">
                <a:latin typeface="Times New Roman" panose="02020603050405020304" pitchFamily="18" charset="0"/>
                <a:cs typeface="Times New Roman" panose="02020603050405020304" pitchFamily="18" charset="0"/>
              </a:rPr>
              <a:t>Total order broadcast: Ensures that all nodes deliver messages in the same total order. </a:t>
            </a:r>
          </a:p>
          <a:p>
            <a:endParaRPr lang="en-US" dirty="0"/>
          </a:p>
        </p:txBody>
      </p:sp>
    </p:spTree>
    <p:extLst>
      <p:ext uri="{BB962C8B-B14F-4D97-AF65-F5344CB8AC3E}">
        <p14:creationId xmlns:p14="http://schemas.microsoft.com/office/powerpoint/2010/main" val="41530438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a:spLocks/>
          </p:cNvSpPr>
          <p:nvPr/>
        </p:nvSpPr>
        <p:spPr>
          <a:xfrm>
            <a:off x="1300506" y="0"/>
            <a:ext cx="7810500" cy="685799"/>
          </a:xfrm>
          <a:prstGeom prst="rect">
            <a:avLst/>
          </a:prstGeom>
          <a:solidFill>
            <a:schemeClr val="accent2"/>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r>
              <a:rPr lang="en-US" sz="2400" b="1" dirty="0"/>
              <a:t>Software Design</a:t>
            </a:r>
          </a:p>
        </p:txBody>
      </p:sp>
      <p:sp>
        <p:nvSpPr>
          <p:cNvPr id="2" name="Date Placeholder 1"/>
          <p:cNvSpPr>
            <a:spLocks noGrp="1"/>
          </p:cNvSpPr>
          <p:nvPr>
            <p:ph type="dt" sz="half" idx="10"/>
          </p:nvPr>
        </p:nvSpPr>
        <p:spPr/>
        <p:txBody>
          <a:bodyPr/>
          <a:lstStyle/>
          <a:p>
            <a:fld id="{8F24B537-3981-4849-9CB3-EF1F3DEC5114}" type="datetime1">
              <a:rPr lang="en-IN" smtClean="0"/>
              <a:t>21-07-2025</a:t>
            </a:fld>
            <a:endParaRPr lang="en-US"/>
          </a:p>
        </p:txBody>
      </p:sp>
      <p:sp>
        <p:nvSpPr>
          <p:cNvPr id="6" name="Footer Placeholder 5"/>
          <p:cNvSpPr>
            <a:spLocks noGrp="1"/>
          </p:cNvSpPr>
          <p:nvPr>
            <p:ph type="ftr" sz="quarter" idx="11"/>
          </p:nvPr>
        </p:nvSpPr>
        <p:spPr>
          <a:xfrm>
            <a:off x="2209800" y="6356350"/>
            <a:ext cx="5029200" cy="365125"/>
          </a:xfrm>
        </p:spPr>
        <p:txBody>
          <a:bodyPr/>
          <a:lstStyle/>
          <a:p>
            <a:r>
              <a:rPr lang="en-US"/>
              <a:t>Ms. Purnima Pal      High Performance Computing             Unit III     </a:t>
            </a:r>
            <a:endParaRPr lang="en-US" dirty="0"/>
          </a:p>
        </p:txBody>
      </p:sp>
      <p:sp>
        <p:nvSpPr>
          <p:cNvPr id="7" name="Slide Number Placeholder 6"/>
          <p:cNvSpPr>
            <a:spLocks noGrp="1"/>
          </p:cNvSpPr>
          <p:nvPr>
            <p:ph type="sldNum" sz="quarter" idx="12"/>
          </p:nvPr>
        </p:nvSpPr>
        <p:spPr/>
        <p:txBody>
          <a:bodyPr/>
          <a:lstStyle/>
          <a:p>
            <a:fld id="{AE566132-A42B-4D26-9C08-B059D352BBB6}" type="slidenum">
              <a:rPr lang="en-US" smtClean="0"/>
              <a:pPr/>
              <a:t>26</a:t>
            </a:fld>
            <a:endParaRPr lang="en-US"/>
          </a:p>
        </p:txBody>
      </p:sp>
      <p:sp>
        <p:nvSpPr>
          <p:cNvPr id="5" name="Title 1">
            <a:extLst>
              <a:ext uri="{FF2B5EF4-FFF2-40B4-BE49-F238E27FC236}">
                <a16:creationId xmlns:a16="http://schemas.microsoft.com/office/drawing/2014/main" id="{74C97CF1-3A45-326E-4C1F-9015608E62E8}"/>
              </a:ext>
            </a:extLst>
          </p:cNvPr>
          <p:cNvSpPr txBox="1">
            <a:spLocks/>
          </p:cNvSpPr>
          <p:nvPr/>
        </p:nvSpPr>
        <p:spPr>
          <a:xfrm>
            <a:off x="1259088" y="0"/>
            <a:ext cx="7876271"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r>
              <a:rPr lang="en-US" sz="1600" dirty="0"/>
              <a:t>Applications of Broadcast</a:t>
            </a:r>
          </a:p>
        </p:txBody>
      </p:sp>
      <p:sp>
        <p:nvSpPr>
          <p:cNvPr id="9" name="Content Placeholder 8">
            <a:extLst>
              <a:ext uri="{FF2B5EF4-FFF2-40B4-BE49-F238E27FC236}">
                <a16:creationId xmlns:a16="http://schemas.microsoft.com/office/drawing/2014/main" id="{D6AFE47B-73F8-D123-148D-DFDD304BF0C9}"/>
              </a:ext>
            </a:extLst>
          </p:cNvPr>
          <p:cNvSpPr>
            <a:spLocks noGrp="1"/>
          </p:cNvSpPr>
          <p:nvPr>
            <p:ph idx="1"/>
          </p:nvPr>
        </p:nvSpPr>
        <p:spPr/>
        <p:txBody>
          <a:bodyPr>
            <a:normAutofit/>
          </a:bodyPr>
          <a:lstStyle/>
          <a:p>
            <a:r>
              <a:rPr lang="en-US" sz="2000" dirty="0">
                <a:latin typeface="Times New Roman" panose="02020603050405020304" pitchFamily="18" charset="0"/>
                <a:cs typeface="Times New Roman" panose="02020603050405020304" pitchFamily="18" charset="0"/>
              </a:rPr>
              <a:t>Coordination: Broadcast is used to synchronize nodes and coordinate actions in distributed algorithms. </a:t>
            </a:r>
          </a:p>
          <a:p>
            <a:r>
              <a:rPr lang="en-US" sz="2000" dirty="0">
                <a:latin typeface="Times New Roman" panose="02020603050405020304" pitchFamily="18" charset="0"/>
                <a:cs typeface="Times New Roman" panose="02020603050405020304" pitchFamily="18" charset="0"/>
              </a:rPr>
              <a:t>Consistency: It helps maintain data consistency across multiple nodes by ensuring everyone receives updates. </a:t>
            </a:r>
          </a:p>
          <a:p>
            <a:r>
              <a:rPr lang="en-US" sz="2000" dirty="0">
                <a:latin typeface="Times New Roman" panose="02020603050405020304" pitchFamily="18" charset="0"/>
                <a:cs typeface="Times New Roman" panose="02020603050405020304" pitchFamily="18" charset="0"/>
              </a:rPr>
              <a:t>Fault Tolerance: Reliable and atomic broadcast protocols are essential for building fault-tolerant systems. </a:t>
            </a:r>
          </a:p>
          <a:p>
            <a:r>
              <a:rPr lang="en-US" sz="2000" dirty="0">
                <a:latin typeface="Times New Roman" panose="02020603050405020304" pitchFamily="18" charset="0"/>
                <a:cs typeface="Times New Roman" panose="02020603050405020304" pitchFamily="18" charset="0"/>
              </a:rPr>
              <a:t>Data Distribution: Broadcast can be used to distribute data to all nodes in a system efficiently. </a:t>
            </a:r>
          </a:p>
          <a:p>
            <a:pPr>
              <a:buFont typeface="Wingdings" panose="05000000000000000000" pitchFamily="2" charset="2"/>
              <a:buChar char="Ø"/>
            </a:pPr>
            <a:endParaRPr lang="en-US" sz="2400" dirty="0"/>
          </a:p>
        </p:txBody>
      </p:sp>
    </p:spTree>
    <p:extLst>
      <p:ext uri="{BB962C8B-B14F-4D97-AF65-F5344CB8AC3E}">
        <p14:creationId xmlns:p14="http://schemas.microsoft.com/office/powerpoint/2010/main" val="188585553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a:spLocks/>
          </p:cNvSpPr>
          <p:nvPr/>
        </p:nvSpPr>
        <p:spPr>
          <a:xfrm>
            <a:off x="1300506" y="0"/>
            <a:ext cx="7810500" cy="685799"/>
          </a:xfrm>
          <a:prstGeom prst="rect">
            <a:avLst/>
          </a:prstGeom>
          <a:solidFill>
            <a:schemeClr val="accent2"/>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r>
              <a:rPr lang="en-US" sz="2400" b="1" dirty="0"/>
              <a:t>Software Design</a:t>
            </a:r>
          </a:p>
        </p:txBody>
      </p:sp>
      <p:sp>
        <p:nvSpPr>
          <p:cNvPr id="2" name="Date Placeholder 1"/>
          <p:cNvSpPr>
            <a:spLocks noGrp="1"/>
          </p:cNvSpPr>
          <p:nvPr>
            <p:ph type="dt" sz="half" idx="10"/>
          </p:nvPr>
        </p:nvSpPr>
        <p:spPr/>
        <p:txBody>
          <a:bodyPr/>
          <a:lstStyle/>
          <a:p>
            <a:fld id="{D8BCDE85-90AD-43AB-AE8F-48CFE785DB39}" type="datetime1">
              <a:rPr lang="en-IN" smtClean="0"/>
              <a:t>21-07-2025</a:t>
            </a:fld>
            <a:endParaRPr lang="en-US"/>
          </a:p>
        </p:txBody>
      </p:sp>
      <p:sp>
        <p:nvSpPr>
          <p:cNvPr id="6" name="Footer Placeholder 5"/>
          <p:cNvSpPr>
            <a:spLocks noGrp="1"/>
          </p:cNvSpPr>
          <p:nvPr>
            <p:ph type="ftr" sz="quarter" idx="11"/>
          </p:nvPr>
        </p:nvSpPr>
        <p:spPr>
          <a:xfrm>
            <a:off x="2209800" y="6356350"/>
            <a:ext cx="5029200" cy="365125"/>
          </a:xfrm>
        </p:spPr>
        <p:txBody>
          <a:bodyPr/>
          <a:lstStyle/>
          <a:p>
            <a:r>
              <a:rPr lang="en-US"/>
              <a:t>Ms. Purnima Pal      High Performance Computing             Unit III     </a:t>
            </a:r>
            <a:endParaRPr lang="en-US" dirty="0"/>
          </a:p>
        </p:txBody>
      </p:sp>
      <p:sp>
        <p:nvSpPr>
          <p:cNvPr id="7" name="Slide Number Placeholder 6"/>
          <p:cNvSpPr>
            <a:spLocks noGrp="1"/>
          </p:cNvSpPr>
          <p:nvPr>
            <p:ph type="sldNum" sz="quarter" idx="12"/>
          </p:nvPr>
        </p:nvSpPr>
        <p:spPr/>
        <p:txBody>
          <a:bodyPr/>
          <a:lstStyle/>
          <a:p>
            <a:fld id="{AE566132-A42B-4D26-9C08-B059D352BBB6}" type="slidenum">
              <a:rPr lang="en-US" smtClean="0"/>
              <a:pPr/>
              <a:t>27</a:t>
            </a:fld>
            <a:endParaRPr lang="en-US"/>
          </a:p>
        </p:txBody>
      </p:sp>
      <p:sp>
        <p:nvSpPr>
          <p:cNvPr id="5" name="Title 1">
            <a:extLst>
              <a:ext uri="{FF2B5EF4-FFF2-40B4-BE49-F238E27FC236}">
                <a16:creationId xmlns:a16="http://schemas.microsoft.com/office/drawing/2014/main" id="{74C97CF1-3A45-326E-4C1F-9015608E62E8}"/>
              </a:ext>
            </a:extLst>
          </p:cNvPr>
          <p:cNvSpPr txBox="1">
            <a:spLocks/>
          </p:cNvSpPr>
          <p:nvPr/>
        </p:nvSpPr>
        <p:spPr>
          <a:xfrm>
            <a:off x="1293813" y="0"/>
            <a:ext cx="7876271"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r>
              <a:rPr lang="en-US" sz="2400" b="1" dirty="0"/>
              <a:t>Reduction</a:t>
            </a:r>
          </a:p>
        </p:txBody>
      </p:sp>
      <p:sp>
        <p:nvSpPr>
          <p:cNvPr id="9" name="Content Placeholder 8">
            <a:extLst>
              <a:ext uri="{FF2B5EF4-FFF2-40B4-BE49-F238E27FC236}">
                <a16:creationId xmlns:a16="http://schemas.microsoft.com/office/drawing/2014/main" id="{D6AFE47B-73F8-D123-148D-DFDD304BF0C9}"/>
              </a:ext>
            </a:extLst>
          </p:cNvPr>
          <p:cNvSpPr>
            <a:spLocks noGrp="1"/>
          </p:cNvSpPr>
          <p:nvPr>
            <p:ph idx="1"/>
          </p:nvPr>
        </p:nvSpPr>
        <p:spPr>
          <a:xfrm>
            <a:off x="457200" y="1219200"/>
            <a:ext cx="8229600" cy="4906963"/>
          </a:xfrm>
        </p:spPr>
        <p:txBody>
          <a:bodyPr>
            <a:normAutofit fontScale="40000" lnSpcReduction="20000"/>
          </a:bodyPr>
          <a:lstStyle/>
          <a:p>
            <a:r>
              <a:rPr lang="en-US" sz="5000" dirty="0">
                <a:latin typeface="Times New Roman" panose="02020603050405020304" pitchFamily="18" charset="0"/>
                <a:cs typeface="Times New Roman" panose="02020603050405020304" pitchFamily="18" charset="0"/>
              </a:rPr>
              <a:t>In distributed memory systems, a reduction operation is used to combine data from multiple processing units into a single result. This is often necessary in parallel computing where different parts of a calculation are performed on separate processors, and the final result requires aggregating the individual outputs. Common examples include summing a list of numbers, finding the minimum or maximum value, or performing a logical AND/OR operation across distributed data. </a:t>
            </a:r>
          </a:p>
          <a:p>
            <a:pPr marL="0" indent="0">
              <a:buNone/>
            </a:pPr>
            <a:r>
              <a:rPr lang="en-US" b="1" dirty="0"/>
              <a:t>How Reduction Works in Distributed Memory:</a:t>
            </a:r>
          </a:p>
          <a:p>
            <a:r>
              <a:rPr lang="en-US" dirty="0"/>
              <a:t>1. Data Distribution:</a:t>
            </a:r>
          </a:p>
          <a:p>
            <a:r>
              <a:rPr lang="en-US" dirty="0"/>
              <a:t>The </a:t>
            </a:r>
            <a:r>
              <a:rPr lang="en-US" sz="4200" dirty="0">
                <a:latin typeface="Times New Roman" panose="02020603050405020304" pitchFamily="18" charset="0"/>
                <a:cs typeface="Times New Roman" panose="02020603050405020304" pitchFamily="18" charset="0"/>
              </a:rPr>
              <a:t>initial dataset is divided and distributed across multiple processors, each with its own local memory. </a:t>
            </a:r>
          </a:p>
          <a:p>
            <a:r>
              <a:rPr lang="en-US" sz="4200" dirty="0">
                <a:latin typeface="Times New Roman" panose="02020603050405020304" pitchFamily="18" charset="0"/>
                <a:cs typeface="Times New Roman" panose="02020603050405020304" pitchFamily="18" charset="0"/>
              </a:rPr>
              <a:t>2. Local Computations:</a:t>
            </a:r>
          </a:p>
          <a:p>
            <a:r>
              <a:rPr lang="en-US" sz="4200" dirty="0">
                <a:latin typeface="Times New Roman" panose="02020603050405020304" pitchFamily="18" charset="0"/>
                <a:cs typeface="Times New Roman" panose="02020603050405020304" pitchFamily="18" charset="0"/>
              </a:rPr>
              <a:t>Each processor performs the desired operation on its local subset of the data, producing a partial result. </a:t>
            </a:r>
          </a:p>
          <a:p>
            <a:r>
              <a:rPr lang="en-US" sz="4200" dirty="0">
                <a:latin typeface="Times New Roman" panose="02020603050405020304" pitchFamily="18" charset="0"/>
                <a:cs typeface="Times New Roman" panose="02020603050405020304" pitchFamily="18" charset="0"/>
              </a:rPr>
              <a:t>3. Reduction Phase:</a:t>
            </a:r>
          </a:p>
          <a:p>
            <a:r>
              <a:rPr lang="en-US" sz="4200" dirty="0">
                <a:latin typeface="Times New Roman" panose="02020603050405020304" pitchFamily="18" charset="0"/>
                <a:cs typeface="Times New Roman" panose="02020603050405020304" pitchFamily="18" charset="0"/>
              </a:rPr>
              <a:t>The processors then participate in a reduction operation, where they exchange and combine their partial results to arrive at the final, global result. </a:t>
            </a:r>
          </a:p>
          <a:p>
            <a:r>
              <a:rPr lang="en-US" sz="4200" dirty="0">
                <a:latin typeface="Times New Roman" panose="02020603050405020304" pitchFamily="18" charset="0"/>
                <a:cs typeface="Times New Roman" panose="02020603050405020304" pitchFamily="18" charset="0"/>
              </a:rPr>
              <a:t>4. Result Distribution:</a:t>
            </a:r>
          </a:p>
          <a:p>
            <a:r>
              <a:rPr lang="en-US" sz="4200" dirty="0">
                <a:latin typeface="Times New Roman" panose="02020603050405020304" pitchFamily="18" charset="0"/>
                <a:cs typeface="Times New Roman" panose="02020603050405020304" pitchFamily="18" charset="0"/>
              </a:rPr>
              <a:t>The final result may then be distributed back to all or some of the processors, or it may only be needed by a single process. </a:t>
            </a:r>
          </a:p>
        </p:txBody>
      </p:sp>
    </p:spTree>
    <p:extLst>
      <p:ext uri="{BB962C8B-B14F-4D97-AF65-F5344CB8AC3E}">
        <p14:creationId xmlns:p14="http://schemas.microsoft.com/office/powerpoint/2010/main" val="293839243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a:spLocks/>
          </p:cNvSpPr>
          <p:nvPr/>
        </p:nvSpPr>
        <p:spPr>
          <a:xfrm>
            <a:off x="1300506" y="0"/>
            <a:ext cx="7810500" cy="685799"/>
          </a:xfrm>
          <a:prstGeom prst="rect">
            <a:avLst/>
          </a:prstGeom>
          <a:solidFill>
            <a:schemeClr val="accent2"/>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r>
              <a:rPr lang="en-US" sz="2400" b="1" dirty="0"/>
              <a:t>Software Design</a:t>
            </a:r>
          </a:p>
        </p:txBody>
      </p:sp>
      <p:sp>
        <p:nvSpPr>
          <p:cNvPr id="2" name="Date Placeholder 1"/>
          <p:cNvSpPr>
            <a:spLocks noGrp="1"/>
          </p:cNvSpPr>
          <p:nvPr>
            <p:ph type="dt" sz="half" idx="10"/>
          </p:nvPr>
        </p:nvSpPr>
        <p:spPr/>
        <p:txBody>
          <a:bodyPr/>
          <a:lstStyle/>
          <a:p>
            <a:fld id="{4BAF0D9A-05BD-4D5A-8DEC-531B0101D449}" type="datetime1">
              <a:rPr lang="en-IN" smtClean="0"/>
              <a:t>21-07-2025</a:t>
            </a:fld>
            <a:endParaRPr lang="en-US"/>
          </a:p>
        </p:txBody>
      </p:sp>
      <p:sp>
        <p:nvSpPr>
          <p:cNvPr id="6" name="Footer Placeholder 5"/>
          <p:cNvSpPr>
            <a:spLocks noGrp="1"/>
          </p:cNvSpPr>
          <p:nvPr>
            <p:ph type="ftr" sz="quarter" idx="11"/>
          </p:nvPr>
        </p:nvSpPr>
        <p:spPr>
          <a:xfrm>
            <a:off x="2209800" y="6356350"/>
            <a:ext cx="5029200" cy="365125"/>
          </a:xfrm>
        </p:spPr>
        <p:txBody>
          <a:bodyPr/>
          <a:lstStyle/>
          <a:p>
            <a:r>
              <a:rPr lang="en-US"/>
              <a:t>Ms. Purnima Pal      High Performance Computing             Unit III     </a:t>
            </a:r>
            <a:endParaRPr lang="en-US" dirty="0"/>
          </a:p>
        </p:txBody>
      </p:sp>
      <p:sp>
        <p:nvSpPr>
          <p:cNvPr id="7" name="Slide Number Placeholder 6"/>
          <p:cNvSpPr>
            <a:spLocks noGrp="1"/>
          </p:cNvSpPr>
          <p:nvPr>
            <p:ph type="sldNum" sz="quarter" idx="12"/>
          </p:nvPr>
        </p:nvSpPr>
        <p:spPr/>
        <p:txBody>
          <a:bodyPr/>
          <a:lstStyle/>
          <a:p>
            <a:fld id="{AE566132-A42B-4D26-9C08-B059D352BBB6}" type="slidenum">
              <a:rPr lang="en-US" smtClean="0"/>
              <a:pPr/>
              <a:t>28</a:t>
            </a:fld>
            <a:endParaRPr lang="en-US"/>
          </a:p>
        </p:txBody>
      </p:sp>
      <p:sp>
        <p:nvSpPr>
          <p:cNvPr id="5" name="Title 1">
            <a:extLst>
              <a:ext uri="{FF2B5EF4-FFF2-40B4-BE49-F238E27FC236}">
                <a16:creationId xmlns:a16="http://schemas.microsoft.com/office/drawing/2014/main" id="{74C97CF1-3A45-326E-4C1F-9015608E62E8}"/>
              </a:ext>
            </a:extLst>
          </p:cNvPr>
          <p:cNvSpPr txBox="1">
            <a:spLocks/>
          </p:cNvSpPr>
          <p:nvPr/>
        </p:nvSpPr>
        <p:spPr>
          <a:xfrm>
            <a:off x="1293812" y="0"/>
            <a:ext cx="7876271"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r>
              <a:rPr lang="en-US" sz="2400" b="1" dirty="0"/>
              <a:t>Prefix Sum</a:t>
            </a:r>
          </a:p>
        </p:txBody>
      </p:sp>
      <p:sp>
        <p:nvSpPr>
          <p:cNvPr id="9" name="Content Placeholder 8">
            <a:extLst>
              <a:ext uri="{FF2B5EF4-FFF2-40B4-BE49-F238E27FC236}">
                <a16:creationId xmlns:a16="http://schemas.microsoft.com/office/drawing/2014/main" id="{D6AFE47B-73F8-D123-148D-DFDD304BF0C9}"/>
              </a:ext>
            </a:extLst>
          </p:cNvPr>
          <p:cNvSpPr>
            <a:spLocks noGrp="1"/>
          </p:cNvSpPr>
          <p:nvPr>
            <p:ph idx="1"/>
          </p:nvPr>
        </p:nvSpPr>
        <p:spPr>
          <a:xfrm>
            <a:off x="457200" y="914400"/>
            <a:ext cx="4876800" cy="5211763"/>
          </a:xfrm>
        </p:spPr>
        <p:txBody>
          <a:bodyPr>
            <a:normAutofit/>
          </a:bodyPr>
          <a:lstStyle/>
          <a:p>
            <a:r>
              <a:rPr lang="en-US" sz="1800" dirty="0">
                <a:latin typeface="Times New Roman" panose="02020603050405020304" pitchFamily="18" charset="0"/>
                <a:cs typeface="Times New Roman" panose="02020603050405020304" pitchFamily="18" charset="0"/>
              </a:rPr>
              <a:t>Prefix sum is the cumulative sum of all the previous occurred elements with the current element.</a:t>
            </a:r>
          </a:p>
          <a:p>
            <a:r>
              <a:rPr lang="en-US" sz="1800" dirty="0">
                <a:latin typeface="Times New Roman" panose="02020603050405020304" pitchFamily="18" charset="0"/>
                <a:cs typeface="Times New Roman" panose="02020603050405020304" pitchFamily="18" charset="0"/>
              </a:rPr>
              <a:t>Given,</a:t>
            </a:r>
          </a:p>
          <a:p>
            <a:r>
              <a:rPr lang="en-US" sz="1800" dirty="0">
                <a:latin typeface="Times New Roman" panose="02020603050405020304" pitchFamily="18" charset="0"/>
                <a:cs typeface="Times New Roman" panose="02020603050405020304" pitchFamily="18" charset="0"/>
              </a:rPr>
              <a:t>An array A: [2, 3, 7, 5],</a:t>
            </a:r>
          </a:p>
          <a:p>
            <a:r>
              <a:rPr lang="en-US" sz="1800" dirty="0">
                <a:latin typeface="Times New Roman" panose="02020603050405020304" pitchFamily="18" charset="0"/>
                <a:cs typeface="Times New Roman" panose="02020603050405020304" pitchFamily="18" charset="0"/>
              </a:rPr>
              <a:t>Now, let’s try to find the prefix sum of A.</a:t>
            </a:r>
          </a:p>
          <a:p>
            <a:r>
              <a:rPr lang="en-US" sz="1800" dirty="0">
                <a:latin typeface="Times New Roman" panose="02020603050405020304" pitchFamily="18" charset="0"/>
                <a:cs typeface="Times New Roman" panose="02020603050405020304" pitchFamily="18" charset="0"/>
              </a:rPr>
              <a:t>Let’s define the output array as P.</a:t>
            </a: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Array P for each index contains sum of all the previously occurred elements. We can use a loop where we add the previous element to the current element throughout the array.</a:t>
            </a:r>
          </a:p>
          <a:p>
            <a:endParaRPr lang="en-US" sz="1800" dirty="0"/>
          </a:p>
        </p:txBody>
      </p:sp>
      <p:pic>
        <p:nvPicPr>
          <p:cNvPr id="8" name="Picture 7">
            <a:extLst>
              <a:ext uri="{FF2B5EF4-FFF2-40B4-BE49-F238E27FC236}">
                <a16:creationId xmlns:a16="http://schemas.microsoft.com/office/drawing/2014/main" id="{EEAC875B-C530-62A4-67C4-815CA07C2162}"/>
              </a:ext>
            </a:extLst>
          </p:cNvPr>
          <p:cNvPicPr>
            <a:picLocks noChangeAspect="1"/>
          </p:cNvPicPr>
          <p:nvPr/>
        </p:nvPicPr>
        <p:blipFill>
          <a:blip r:embed="rId2"/>
          <a:stretch>
            <a:fillRect/>
          </a:stretch>
        </p:blipFill>
        <p:spPr>
          <a:xfrm>
            <a:off x="5865431" y="2209800"/>
            <a:ext cx="2845483" cy="2004652"/>
          </a:xfrm>
          <a:prstGeom prst="rect">
            <a:avLst/>
          </a:prstGeom>
        </p:spPr>
      </p:pic>
    </p:spTree>
    <p:extLst>
      <p:ext uri="{BB962C8B-B14F-4D97-AF65-F5344CB8AC3E}">
        <p14:creationId xmlns:p14="http://schemas.microsoft.com/office/powerpoint/2010/main" val="33952987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a:spLocks/>
          </p:cNvSpPr>
          <p:nvPr/>
        </p:nvSpPr>
        <p:spPr>
          <a:xfrm>
            <a:off x="1300506" y="0"/>
            <a:ext cx="7810500" cy="685799"/>
          </a:xfrm>
          <a:prstGeom prst="rect">
            <a:avLst/>
          </a:prstGeom>
          <a:solidFill>
            <a:schemeClr val="accent2"/>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r>
              <a:rPr lang="en-US" sz="2400" b="1" dirty="0"/>
              <a:t>Software Design</a:t>
            </a:r>
          </a:p>
        </p:txBody>
      </p:sp>
      <p:sp>
        <p:nvSpPr>
          <p:cNvPr id="2" name="Date Placeholder 1"/>
          <p:cNvSpPr>
            <a:spLocks noGrp="1"/>
          </p:cNvSpPr>
          <p:nvPr>
            <p:ph type="dt" sz="half" idx="10"/>
          </p:nvPr>
        </p:nvSpPr>
        <p:spPr/>
        <p:txBody>
          <a:bodyPr/>
          <a:lstStyle/>
          <a:p>
            <a:fld id="{D98F2A19-3B3A-483F-B49F-F3B6C57E8E02}" type="datetime1">
              <a:rPr lang="en-IN" smtClean="0"/>
              <a:t>21-07-2025</a:t>
            </a:fld>
            <a:endParaRPr lang="en-US"/>
          </a:p>
        </p:txBody>
      </p:sp>
      <p:sp>
        <p:nvSpPr>
          <p:cNvPr id="6" name="Footer Placeholder 5"/>
          <p:cNvSpPr>
            <a:spLocks noGrp="1"/>
          </p:cNvSpPr>
          <p:nvPr>
            <p:ph type="ftr" sz="quarter" idx="11"/>
          </p:nvPr>
        </p:nvSpPr>
        <p:spPr>
          <a:xfrm>
            <a:off x="2209800" y="6356350"/>
            <a:ext cx="5029200" cy="365125"/>
          </a:xfrm>
        </p:spPr>
        <p:txBody>
          <a:bodyPr/>
          <a:lstStyle/>
          <a:p>
            <a:r>
              <a:rPr lang="en-US"/>
              <a:t>Ms. Purnima Pal      High Performance Computing             Unit III     </a:t>
            </a:r>
            <a:endParaRPr lang="en-US" dirty="0"/>
          </a:p>
        </p:txBody>
      </p:sp>
      <p:sp>
        <p:nvSpPr>
          <p:cNvPr id="7" name="Slide Number Placeholder 6"/>
          <p:cNvSpPr>
            <a:spLocks noGrp="1"/>
          </p:cNvSpPr>
          <p:nvPr>
            <p:ph type="sldNum" sz="quarter" idx="12"/>
          </p:nvPr>
        </p:nvSpPr>
        <p:spPr/>
        <p:txBody>
          <a:bodyPr/>
          <a:lstStyle/>
          <a:p>
            <a:fld id="{AE566132-A42B-4D26-9C08-B059D352BBB6}" type="slidenum">
              <a:rPr lang="en-US" smtClean="0"/>
              <a:pPr/>
              <a:t>29</a:t>
            </a:fld>
            <a:endParaRPr lang="en-US"/>
          </a:p>
        </p:txBody>
      </p:sp>
      <p:sp>
        <p:nvSpPr>
          <p:cNvPr id="5" name="Title 1">
            <a:extLst>
              <a:ext uri="{FF2B5EF4-FFF2-40B4-BE49-F238E27FC236}">
                <a16:creationId xmlns:a16="http://schemas.microsoft.com/office/drawing/2014/main" id="{74C97CF1-3A45-326E-4C1F-9015608E62E8}"/>
              </a:ext>
            </a:extLst>
          </p:cNvPr>
          <p:cNvSpPr txBox="1">
            <a:spLocks/>
          </p:cNvSpPr>
          <p:nvPr/>
        </p:nvSpPr>
        <p:spPr>
          <a:xfrm>
            <a:off x="1293812" y="0"/>
            <a:ext cx="7876271"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r>
              <a:rPr lang="en-US" sz="2400" b="1"/>
              <a:t>Prefix Sum</a:t>
            </a:r>
            <a:endParaRPr lang="en-US" sz="2400" b="1" dirty="0"/>
          </a:p>
        </p:txBody>
      </p:sp>
      <p:sp>
        <p:nvSpPr>
          <p:cNvPr id="3" name="Rectangle 1">
            <a:extLst>
              <a:ext uri="{FF2B5EF4-FFF2-40B4-BE49-F238E27FC236}">
                <a16:creationId xmlns:a16="http://schemas.microsoft.com/office/drawing/2014/main" id="{D4027807-1060-AEDE-6FB7-0517F967268F}"/>
              </a:ext>
            </a:extLst>
          </p:cNvPr>
          <p:cNvSpPr>
            <a:spLocks noGrp="1" noChangeArrowheads="1"/>
          </p:cNvSpPr>
          <p:nvPr>
            <p:ph idx="1"/>
          </p:nvPr>
        </p:nvSpPr>
        <p:spPr bwMode="auto">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500" b="0" i="0" u="none" strike="noStrike" cap="none" normalizeH="0" baseline="0" dirty="0">
                <a:ln>
                  <a:noFill/>
                </a:ln>
                <a:solidFill>
                  <a:srgbClr val="242424"/>
                </a:solidFill>
                <a:effectLst/>
                <a:latin typeface="source-serif-pro"/>
              </a:rPr>
              <a:t> pseudo-code for the given:</a:t>
            </a:r>
            <a:endParaRPr kumimoji="0" lang="en-US" altLang="en-US" sz="6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500" b="0" i="1" u="none" strike="noStrike" cap="none" normalizeH="0" baseline="0" dirty="0">
                <a:ln>
                  <a:noFill/>
                </a:ln>
                <a:solidFill>
                  <a:srgbClr val="242424"/>
                </a:solidFill>
                <a:effectLst/>
                <a:latin typeface="source-serif-pro"/>
              </a:rPr>
              <a:t>// We define an array A</a:t>
            </a:r>
            <a:br>
              <a:rPr kumimoji="0" lang="en-US" altLang="en-US" sz="1500" b="0" i="0" u="none" strike="noStrike" cap="none" normalizeH="0" baseline="0" dirty="0">
                <a:ln>
                  <a:noFill/>
                </a:ln>
                <a:solidFill>
                  <a:srgbClr val="242424"/>
                </a:solidFill>
                <a:effectLst/>
                <a:latin typeface="source-serif-pro"/>
              </a:rPr>
            </a:br>
            <a:r>
              <a:rPr kumimoji="0" lang="en-US" altLang="en-US" sz="1500" b="1" i="0" u="none" strike="noStrike" cap="none" normalizeH="0" baseline="0" dirty="0" err="1">
                <a:ln>
                  <a:noFill/>
                </a:ln>
                <a:solidFill>
                  <a:srgbClr val="242424"/>
                </a:solidFill>
                <a:effectLst/>
                <a:latin typeface="source-serif-pro"/>
              </a:rPr>
              <a:t>A</a:t>
            </a:r>
            <a:r>
              <a:rPr kumimoji="0" lang="en-US" altLang="en-US" sz="1500" b="1" i="0" u="none" strike="noStrike" cap="none" normalizeH="0" baseline="0" dirty="0">
                <a:ln>
                  <a:noFill/>
                </a:ln>
                <a:solidFill>
                  <a:srgbClr val="242424"/>
                </a:solidFill>
                <a:effectLst/>
                <a:latin typeface="source-serif-pro"/>
              </a:rPr>
              <a:t> = [2, 3, 7, 5]</a:t>
            </a:r>
            <a:br>
              <a:rPr kumimoji="0" lang="en-US" altLang="en-US" sz="1500" b="0" i="0" u="none" strike="noStrike" cap="none" normalizeH="0" baseline="0" dirty="0">
                <a:ln>
                  <a:noFill/>
                </a:ln>
                <a:solidFill>
                  <a:srgbClr val="242424"/>
                </a:solidFill>
                <a:effectLst/>
                <a:latin typeface="source-serif-pro"/>
              </a:rPr>
            </a:br>
            <a:r>
              <a:rPr kumimoji="0" lang="en-US" altLang="en-US" sz="1500" b="1" i="0" u="none" strike="noStrike" cap="none" normalizeH="0" baseline="0" dirty="0">
                <a:ln>
                  <a:noFill/>
                </a:ln>
                <a:solidFill>
                  <a:srgbClr val="242424"/>
                </a:solidFill>
                <a:effectLst/>
                <a:latin typeface="source-serif-pro"/>
              </a:rPr>
              <a:t>P = </a:t>
            </a:r>
            <a:r>
              <a:rPr kumimoji="0" lang="en-US" altLang="en-US" sz="1500" b="1" i="0" u="none" strike="noStrike" cap="none" normalizeH="0" baseline="0" dirty="0" err="1">
                <a:ln>
                  <a:noFill/>
                </a:ln>
                <a:solidFill>
                  <a:srgbClr val="242424"/>
                </a:solidFill>
                <a:effectLst/>
                <a:latin typeface="source-serif-pro"/>
              </a:rPr>
              <a:t>A.copy</a:t>
            </a:r>
            <a:r>
              <a:rPr kumimoji="0" lang="en-US" altLang="en-US" sz="1500" b="1" i="0" u="none" strike="noStrike" cap="none" normalizeH="0" baseline="0" dirty="0">
                <a:ln>
                  <a:noFill/>
                </a:ln>
                <a:solidFill>
                  <a:srgbClr val="242424"/>
                </a:solidFill>
                <a:effectLst/>
                <a:latin typeface="source-serif-pro"/>
              </a:rPr>
              <a:t>()</a:t>
            </a:r>
            <a:r>
              <a:rPr kumimoji="0" lang="en-US" altLang="en-US" sz="1500" b="0" i="0" u="none" strike="noStrike" cap="none" normalizeH="0" baseline="0" dirty="0">
                <a:ln>
                  <a:noFill/>
                </a:ln>
                <a:solidFill>
                  <a:srgbClr val="242424"/>
                </a:solidFill>
                <a:effectLst/>
                <a:latin typeface="source-serif-pro"/>
              </a:rPr>
              <a:t> </a:t>
            </a:r>
            <a:r>
              <a:rPr kumimoji="0" lang="en-US" altLang="en-US" sz="1500" b="0" i="1" u="none" strike="noStrike" cap="none" normalizeH="0" baseline="0" dirty="0">
                <a:ln>
                  <a:noFill/>
                </a:ln>
                <a:solidFill>
                  <a:srgbClr val="242424"/>
                </a:solidFill>
                <a:effectLst/>
                <a:latin typeface="source-serif-pro"/>
              </a:rPr>
              <a:t>// P is a copy of elements of A</a:t>
            </a:r>
            <a:br>
              <a:rPr kumimoji="0" lang="en-US" altLang="en-US" sz="1500" b="0" i="0" u="none" strike="noStrike" cap="none" normalizeH="0" baseline="0" dirty="0">
                <a:ln>
                  <a:noFill/>
                </a:ln>
                <a:solidFill>
                  <a:srgbClr val="242424"/>
                </a:solidFill>
                <a:effectLst/>
                <a:latin typeface="source-serif-pro"/>
              </a:rPr>
            </a:br>
            <a:r>
              <a:rPr kumimoji="0" lang="en-US" altLang="en-US" sz="1500" b="0" i="1" u="none" strike="noStrike" cap="none" normalizeH="0" baseline="0" dirty="0">
                <a:ln>
                  <a:noFill/>
                </a:ln>
                <a:solidFill>
                  <a:srgbClr val="242424"/>
                </a:solidFill>
                <a:effectLst/>
                <a:latin typeface="source-serif-pro"/>
              </a:rPr>
              <a:t>// We use a loop to iterate through the array P and add the previous element to the current one</a:t>
            </a:r>
            <a:br>
              <a:rPr kumimoji="0" lang="en-US" altLang="en-US" sz="1500" b="0" i="0" u="none" strike="noStrike" cap="none" normalizeH="0" baseline="0" dirty="0">
                <a:ln>
                  <a:noFill/>
                </a:ln>
                <a:solidFill>
                  <a:srgbClr val="242424"/>
                </a:solidFill>
                <a:effectLst/>
                <a:latin typeface="source-serif-pro"/>
              </a:rPr>
            </a:br>
            <a:r>
              <a:rPr kumimoji="0" lang="en-US" altLang="en-US" sz="1500" b="1" i="0" u="none" strike="noStrike" cap="none" normalizeH="0" baseline="0" dirty="0">
                <a:ln>
                  <a:noFill/>
                </a:ln>
                <a:solidFill>
                  <a:srgbClr val="242424"/>
                </a:solidFill>
                <a:effectLst/>
                <a:latin typeface="source-serif-pro"/>
              </a:rPr>
              <a:t>for(int </a:t>
            </a:r>
            <a:r>
              <a:rPr kumimoji="0" lang="en-US" altLang="en-US" sz="1500" b="1" i="0" u="none" strike="noStrike" cap="none" normalizeH="0" baseline="0" dirty="0" err="1">
                <a:ln>
                  <a:noFill/>
                </a:ln>
                <a:solidFill>
                  <a:srgbClr val="242424"/>
                </a:solidFill>
                <a:effectLst/>
                <a:latin typeface="source-serif-pro"/>
              </a:rPr>
              <a:t>i</a:t>
            </a:r>
            <a:r>
              <a:rPr kumimoji="0" lang="en-US" altLang="en-US" sz="1500" b="1" i="0" u="none" strike="noStrike" cap="none" normalizeH="0" baseline="0" dirty="0">
                <a:ln>
                  <a:noFill/>
                </a:ln>
                <a:solidFill>
                  <a:srgbClr val="242424"/>
                </a:solidFill>
                <a:effectLst/>
                <a:latin typeface="source-serif-pro"/>
              </a:rPr>
              <a:t>=1; </a:t>
            </a:r>
            <a:r>
              <a:rPr kumimoji="0" lang="en-US" altLang="en-US" sz="1500" b="1" i="0" u="none" strike="noStrike" cap="none" normalizeH="0" baseline="0" dirty="0" err="1">
                <a:ln>
                  <a:noFill/>
                </a:ln>
                <a:solidFill>
                  <a:srgbClr val="242424"/>
                </a:solidFill>
                <a:effectLst/>
                <a:latin typeface="source-serif-pro"/>
              </a:rPr>
              <a:t>i</a:t>
            </a:r>
            <a:r>
              <a:rPr kumimoji="0" lang="en-US" altLang="en-US" sz="1500" b="1" i="0" u="none" strike="noStrike" cap="none" normalizeH="0" baseline="0" dirty="0">
                <a:ln>
                  <a:noFill/>
                </a:ln>
                <a:solidFill>
                  <a:srgbClr val="242424"/>
                </a:solidFill>
                <a:effectLst/>
                <a:latin typeface="source-serif-pro"/>
              </a:rPr>
              <a:t>&lt;</a:t>
            </a:r>
            <a:r>
              <a:rPr kumimoji="0" lang="en-US" altLang="en-US" sz="1500" b="1" i="0" u="none" strike="noStrike" cap="none" normalizeH="0" baseline="0" dirty="0" err="1">
                <a:ln>
                  <a:noFill/>
                </a:ln>
                <a:solidFill>
                  <a:srgbClr val="242424"/>
                </a:solidFill>
                <a:effectLst/>
                <a:latin typeface="source-serif-pro"/>
              </a:rPr>
              <a:t>P.length</a:t>
            </a:r>
            <a:r>
              <a:rPr kumimoji="0" lang="en-US" altLang="en-US" sz="1500" b="1" i="0" u="none" strike="noStrike" cap="none" normalizeH="0" baseline="0" dirty="0">
                <a:ln>
                  <a:noFill/>
                </a:ln>
                <a:solidFill>
                  <a:srgbClr val="242424"/>
                </a:solidFill>
                <a:effectLst/>
                <a:latin typeface="source-serif-pro"/>
              </a:rPr>
              <a:t>(); </a:t>
            </a:r>
            <a:r>
              <a:rPr kumimoji="0" lang="en-US" altLang="en-US" sz="1500" b="1" i="0" u="none" strike="noStrike" cap="none" normalizeH="0" baseline="0" dirty="0" err="1">
                <a:ln>
                  <a:noFill/>
                </a:ln>
                <a:solidFill>
                  <a:srgbClr val="242424"/>
                </a:solidFill>
                <a:effectLst/>
                <a:latin typeface="source-serif-pro"/>
              </a:rPr>
              <a:t>i</a:t>
            </a:r>
            <a:r>
              <a:rPr kumimoji="0" lang="en-US" altLang="en-US" sz="1500" b="1" i="0" u="none" strike="noStrike" cap="none" normalizeH="0" baseline="0" dirty="0">
                <a:ln>
                  <a:noFill/>
                </a:ln>
                <a:solidFill>
                  <a:srgbClr val="242424"/>
                </a:solidFill>
                <a:effectLst/>
                <a:latin typeface="source-serif-pro"/>
              </a:rPr>
              <a:t>++){</a:t>
            </a:r>
            <a:br>
              <a:rPr kumimoji="0" lang="en-US" altLang="en-US" sz="1500" b="1" i="0" u="none" strike="noStrike" cap="none" normalizeH="0" baseline="0" dirty="0">
                <a:ln>
                  <a:noFill/>
                </a:ln>
                <a:solidFill>
                  <a:srgbClr val="242424"/>
                </a:solidFill>
                <a:effectLst/>
                <a:latin typeface="source-serif-pro"/>
              </a:rPr>
            </a:br>
            <a:r>
              <a:rPr kumimoji="0" lang="en-US" altLang="en-US" sz="1500" b="1" i="0" u="none" strike="noStrike" cap="none" normalizeH="0" baseline="0" dirty="0">
                <a:ln>
                  <a:noFill/>
                </a:ln>
                <a:solidFill>
                  <a:srgbClr val="242424"/>
                </a:solidFill>
                <a:effectLst/>
                <a:latin typeface="source-serif-pro"/>
              </a:rPr>
              <a:t>P[</a:t>
            </a:r>
            <a:r>
              <a:rPr kumimoji="0" lang="en-US" altLang="en-US" sz="1500" b="1" i="0" u="none" strike="noStrike" cap="none" normalizeH="0" baseline="0" dirty="0" err="1">
                <a:ln>
                  <a:noFill/>
                </a:ln>
                <a:solidFill>
                  <a:srgbClr val="242424"/>
                </a:solidFill>
                <a:effectLst/>
                <a:latin typeface="source-serif-pro"/>
              </a:rPr>
              <a:t>i</a:t>
            </a:r>
            <a:r>
              <a:rPr kumimoji="0" lang="en-US" altLang="en-US" sz="1500" b="1" i="0" u="none" strike="noStrike" cap="none" normalizeH="0" baseline="0" dirty="0">
                <a:ln>
                  <a:noFill/>
                </a:ln>
                <a:solidFill>
                  <a:srgbClr val="242424"/>
                </a:solidFill>
                <a:effectLst/>
                <a:latin typeface="source-serif-pro"/>
              </a:rPr>
              <a:t>] = P[</a:t>
            </a:r>
            <a:r>
              <a:rPr kumimoji="0" lang="en-US" altLang="en-US" sz="1500" b="1" i="0" u="none" strike="noStrike" cap="none" normalizeH="0" baseline="0" dirty="0" err="1">
                <a:ln>
                  <a:noFill/>
                </a:ln>
                <a:solidFill>
                  <a:srgbClr val="242424"/>
                </a:solidFill>
                <a:effectLst/>
                <a:latin typeface="source-serif-pro"/>
              </a:rPr>
              <a:t>i</a:t>
            </a:r>
            <a:r>
              <a:rPr kumimoji="0" lang="en-US" altLang="en-US" sz="1500" b="1" i="0" u="none" strike="noStrike" cap="none" normalizeH="0" baseline="0" dirty="0">
                <a:ln>
                  <a:noFill/>
                </a:ln>
                <a:solidFill>
                  <a:srgbClr val="242424"/>
                </a:solidFill>
                <a:effectLst/>
                <a:latin typeface="source-serif-pro"/>
              </a:rPr>
              <a:t>] + P[i-1]</a:t>
            </a:r>
            <a:br>
              <a:rPr kumimoji="0" lang="en-US" altLang="en-US" sz="1500" b="1" i="0" u="none" strike="noStrike" cap="none" normalizeH="0" baseline="0" dirty="0">
                <a:ln>
                  <a:noFill/>
                </a:ln>
                <a:solidFill>
                  <a:srgbClr val="242424"/>
                </a:solidFill>
                <a:effectLst/>
                <a:latin typeface="source-serif-pro"/>
              </a:rPr>
            </a:br>
            <a:r>
              <a:rPr kumimoji="0" lang="en-US" altLang="en-US" sz="1500" b="1" i="0" u="none" strike="noStrike" cap="none" normalizeH="0" baseline="0" dirty="0">
                <a:ln>
                  <a:noFill/>
                </a:ln>
                <a:solidFill>
                  <a:srgbClr val="242424"/>
                </a:solidFill>
                <a:effectLst/>
                <a:latin typeface="source-serif-pro"/>
              </a:rPr>
              <a:t>}</a:t>
            </a:r>
            <a:endParaRPr kumimoji="0" lang="en-US" altLang="en-US" sz="6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500" b="0" i="0" u="none" strike="noStrike" cap="none" normalizeH="0" baseline="0" dirty="0">
                <a:ln>
                  <a:noFill/>
                </a:ln>
                <a:solidFill>
                  <a:srgbClr val="242424"/>
                </a:solidFill>
                <a:effectLst/>
                <a:latin typeface="source-serif-pro"/>
              </a:rPr>
              <a:t>So,</a:t>
            </a:r>
            <a:endParaRPr kumimoji="0" lang="en-US" altLang="en-US" sz="6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500" b="1" i="0" u="none" strike="noStrike" cap="none" normalizeH="0" baseline="0" dirty="0">
                <a:ln>
                  <a:noFill/>
                </a:ln>
                <a:solidFill>
                  <a:srgbClr val="242424"/>
                </a:solidFill>
                <a:effectLst/>
                <a:latin typeface="source-serif-pro"/>
              </a:rPr>
              <a:t>P[0] = A[0],</a:t>
            </a:r>
            <a:br>
              <a:rPr kumimoji="0" lang="en-US" altLang="en-US" sz="1500" b="1" i="0" u="none" strike="noStrike" cap="none" normalizeH="0" baseline="0" dirty="0">
                <a:ln>
                  <a:noFill/>
                </a:ln>
                <a:solidFill>
                  <a:srgbClr val="242424"/>
                </a:solidFill>
                <a:effectLst/>
                <a:latin typeface="source-serif-pro"/>
              </a:rPr>
            </a:br>
            <a:r>
              <a:rPr kumimoji="0" lang="en-US" altLang="en-US" sz="1500" b="1" i="0" u="none" strike="noStrike" cap="none" normalizeH="0" baseline="0" dirty="0">
                <a:ln>
                  <a:noFill/>
                </a:ln>
                <a:solidFill>
                  <a:srgbClr val="242424"/>
                </a:solidFill>
                <a:effectLst/>
                <a:latin typeface="source-serif-pro"/>
              </a:rPr>
              <a:t>P[1] = A[0] + A[1],</a:t>
            </a:r>
            <a:br>
              <a:rPr kumimoji="0" lang="en-US" altLang="en-US" sz="1500" b="1" i="0" u="none" strike="noStrike" cap="none" normalizeH="0" baseline="0" dirty="0">
                <a:ln>
                  <a:noFill/>
                </a:ln>
                <a:solidFill>
                  <a:srgbClr val="242424"/>
                </a:solidFill>
                <a:effectLst/>
                <a:latin typeface="source-serif-pro"/>
              </a:rPr>
            </a:br>
            <a:r>
              <a:rPr kumimoji="0" lang="en-US" altLang="en-US" sz="1500" b="1" i="0" u="none" strike="noStrike" cap="none" normalizeH="0" baseline="0" dirty="0">
                <a:ln>
                  <a:noFill/>
                </a:ln>
                <a:solidFill>
                  <a:srgbClr val="242424"/>
                </a:solidFill>
                <a:effectLst/>
                <a:latin typeface="source-serif-pro"/>
              </a:rPr>
              <a:t>P[2] = A[0] + A[1] + A[2],</a:t>
            </a:r>
            <a:br>
              <a:rPr kumimoji="0" lang="en-US" altLang="en-US" sz="1500" b="1" i="0" u="none" strike="noStrike" cap="none" normalizeH="0" baseline="0" dirty="0">
                <a:ln>
                  <a:noFill/>
                </a:ln>
                <a:solidFill>
                  <a:srgbClr val="242424"/>
                </a:solidFill>
                <a:effectLst/>
                <a:latin typeface="source-serif-pro"/>
              </a:rPr>
            </a:br>
            <a:r>
              <a:rPr kumimoji="0" lang="en-US" altLang="en-US" sz="1500" b="1" i="0" u="none" strike="noStrike" cap="none" normalizeH="0" baseline="0" dirty="0">
                <a:ln>
                  <a:noFill/>
                </a:ln>
                <a:solidFill>
                  <a:srgbClr val="242424"/>
                </a:solidFill>
                <a:effectLst/>
                <a:latin typeface="source-serif-pro"/>
              </a:rPr>
              <a:t>P[3] = A[0] + A[1] + A[2] + A[3]</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15904377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a:spLocks/>
          </p:cNvSpPr>
          <p:nvPr/>
        </p:nvSpPr>
        <p:spPr>
          <a:xfrm>
            <a:off x="1300506" y="0"/>
            <a:ext cx="7810500" cy="685799"/>
          </a:xfrm>
          <a:prstGeom prst="rect">
            <a:avLst/>
          </a:prstGeom>
          <a:solidFill>
            <a:schemeClr val="accent2"/>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r>
              <a:rPr lang="en-US" sz="2400" b="1" dirty="0"/>
              <a:t>Software Design</a:t>
            </a:r>
          </a:p>
        </p:txBody>
      </p:sp>
      <p:sp>
        <p:nvSpPr>
          <p:cNvPr id="2" name="Date Placeholder 1"/>
          <p:cNvSpPr>
            <a:spLocks noGrp="1"/>
          </p:cNvSpPr>
          <p:nvPr>
            <p:ph type="dt" sz="half" idx="10"/>
          </p:nvPr>
        </p:nvSpPr>
        <p:spPr/>
        <p:txBody>
          <a:bodyPr/>
          <a:lstStyle/>
          <a:p>
            <a:fld id="{9AE0364F-E7E0-48FF-9FDA-3B0866D0D15F}" type="datetime1">
              <a:rPr lang="en-IN" smtClean="0"/>
              <a:t>21-07-2025</a:t>
            </a:fld>
            <a:endParaRPr lang="en-US"/>
          </a:p>
        </p:txBody>
      </p:sp>
      <p:sp>
        <p:nvSpPr>
          <p:cNvPr id="6" name="Footer Placeholder 5"/>
          <p:cNvSpPr>
            <a:spLocks noGrp="1"/>
          </p:cNvSpPr>
          <p:nvPr>
            <p:ph type="ftr" sz="quarter" idx="11"/>
          </p:nvPr>
        </p:nvSpPr>
        <p:spPr>
          <a:xfrm>
            <a:off x="2209800" y="6356350"/>
            <a:ext cx="5029200" cy="365125"/>
          </a:xfrm>
        </p:spPr>
        <p:txBody>
          <a:bodyPr/>
          <a:lstStyle/>
          <a:p>
            <a:r>
              <a:rPr lang="en-US"/>
              <a:t>Ms. Purnima Pal      High Performance Computing             Unit III     </a:t>
            </a:r>
            <a:endParaRPr lang="en-US" dirty="0"/>
          </a:p>
        </p:txBody>
      </p:sp>
      <p:sp>
        <p:nvSpPr>
          <p:cNvPr id="7" name="Slide Number Placeholder 6"/>
          <p:cNvSpPr>
            <a:spLocks noGrp="1"/>
          </p:cNvSpPr>
          <p:nvPr>
            <p:ph type="sldNum" sz="quarter" idx="12"/>
          </p:nvPr>
        </p:nvSpPr>
        <p:spPr/>
        <p:txBody>
          <a:bodyPr/>
          <a:lstStyle/>
          <a:p>
            <a:fld id="{AE566132-A42B-4D26-9C08-B059D352BBB6}" type="slidenum">
              <a:rPr lang="en-US" smtClean="0"/>
              <a:pPr/>
              <a:t>30</a:t>
            </a:fld>
            <a:endParaRPr lang="en-US"/>
          </a:p>
        </p:txBody>
      </p:sp>
      <p:sp>
        <p:nvSpPr>
          <p:cNvPr id="5" name="Title 1">
            <a:extLst>
              <a:ext uri="{FF2B5EF4-FFF2-40B4-BE49-F238E27FC236}">
                <a16:creationId xmlns:a16="http://schemas.microsoft.com/office/drawing/2014/main" id="{74C97CF1-3A45-326E-4C1F-9015608E62E8}"/>
              </a:ext>
            </a:extLst>
          </p:cNvPr>
          <p:cNvSpPr txBox="1">
            <a:spLocks/>
          </p:cNvSpPr>
          <p:nvPr/>
        </p:nvSpPr>
        <p:spPr>
          <a:xfrm>
            <a:off x="1293812" y="0"/>
            <a:ext cx="7876271"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r>
              <a:rPr lang="en-US" sz="2400" b="1"/>
              <a:t>Prefix Sum</a:t>
            </a:r>
            <a:endParaRPr lang="en-US" sz="2400" b="1" dirty="0"/>
          </a:p>
        </p:txBody>
      </p:sp>
      <p:sp>
        <p:nvSpPr>
          <p:cNvPr id="9" name="Content Placeholder 8">
            <a:extLst>
              <a:ext uri="{FF2B5EF4-FFF2-40B4-BE49-F238E27FC236}">
                <a16:creationId xmlns:a16="http://schemas.microsoft.com/office/drawing/2014/main" id="{D6AFE47B-73F8-D123-148D-DFDD304BF0C9}"/>
              </a:ext>
            </a:extLst>
          </p:cNvPr>
          <p:cNvSpPr>
            <a:spLocks noGrp="1"/>
          </p:cNvSpPr>
          <p:nvPr>
            <p:ph idx="1"/>
          </p:nvPr>
        </p:nvSpPr>
        <p:spPr/>
        <p:txBody>
          <a:bodyPr>
            <a:normAutofit/>
          </a:bodyPr>
          <a:lstStyle/>
          <a:p>
            <a:r>
              <a:rPr lang="en-US" sz="1800" dirty="0"/>
              <a:t>Therefore,</a:t>
            </a:r>
          </a:p>
          <a:p>
            <a:endParaRPr lang="en-US" sz="1800" dirty="0"/>
          </a:p>
          <a:p>
            <a:r>
              <a:rPr lang="en-US" sz="1800" dirty="0"/>
              <a:t>P[0] = 2, // The first element is 2, so, P[0] = 2</a:t>
            </a:r>
          </a:p>
          <a:p>
            <a:r>
              <a:rPr lang="en-US" sz="1800" dirty="0"/>
              <a:t>P[1] = 2 + 3 = 5, //The second element is 1, so, P[1] = 2 + 3; which adds up to 5 and replaces the original position in the array</a:t>
            </a:r>
          </a:p>
          <a:p>
            <a:r>
              <a:rPr lang="en-US" sz="1800" dirty="0"/>
              <a:t>P[2] = 5 + 7= 12, //The third element is 7, and the sum of first two elements is stored in P[1] but the first two are stored in P[1], so P[2] = P[2] + P[1] = 7 + 5; so, not P[2] is updated to 12</a:t>
            </a:r>
          </a:p>
          <a:p>
            <a:r>
              <a:rPr lang="en-US" sz="1800" dirty="0"/>
              <a:t>P[3] = 12 + 5 = 17 //The fourth element is 5, and the sum of first three elements is stored in P[2] but the first three are already stored in P[2], so P[3] = P[3] + P[2] = 5 + 12; so, not P[3] is updated to 17</a:t>
            </a:r>
          </a:p>
          <a:p>
            <a:endParaRPr lang="en-US" sz="1800" dirty="0"/>
          </a:p>
          <a:p>
            <a:r>
              <a:rPr lang="en-US" sz="1800" dirty="0"/>
              <a:t>Hence, the new, updated array is [2, 5, 12, 17].</a:t>
            </a:r>
          </a:p>
        </p:txBody>
      </p:sp>
    </p:spTree>
    <p:extLst>
      <p:ext uri="{BB962C8B-B14F-4D97-AF65-F5344CB8AC3E}">
        <p14:creationId xmlns:p14="http://schemas.microsoft.com/office/powerpoint/2010/main" val="4560528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a:spLocks/>
          </p:cNvSpPr>
          <p:nvPr/>
        </p:nvSpPr>
        <p:spPr>
          <a:xfrm>
            <a:off x="1300506" y="0"/>
            <a:ext cx="7810500" cy="685799"/>
          </a:xfrm>
          <a:prstGeom prst="rect">
            <a:avLst/>
          </a:prstGeom>
          <a:solidFill>
            <a:schemeClr val="accent2"/>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r>
              <a:rPr lang="en-US" sz="2400" b="1" dirty="0"/>
              <a:t>Software Design</a:t>
            </a:r>
          </a:p>
        </p:txBody>
      </p:sp>
      <p:sp>
        <p:nvSpPr>
          <p:cNvPr id="2" name="Date Placeholder 1"/>
          <p:cNvSpPr>
            <a:spLocks noGrp="1"/>
          </p:cNvSpPr>
          <p:nvPr>
            <p:ph type="dt" sz="half" idx="10"/>
          </p:nvPr>
        </p:nvSpPr>
        <p:spPr/>
        <p:txBody>
          <a:bodyPr/>
          <a:lstStyle/>
          <a:p>
            <a:fld id="{0FA56992-97D5-4771-82E8-17039396CF03}" type="datetime1">
              <a:rPr lang="en-IN" smtClean="0"/>
              <a:t>21-07-2025</a:t>
            </a:fld>
            <a:endParaRPr lang="en-US"/>
          </a:p>
        </p:txBody>
      </p:sp>
      <p:sp>
        <p:nvSpPr>
          <p:cNvPr id="6" name="Footer Placeholder 5"/>
          <p:cNvSpPr>
            <a:spLocks noGrp="1"/>
          </p:cNvSpPr>
          <p:nvPr>
            <p:ph type="ftr" sz="quarter" idx="11"/>
          </p:nvPr>
        </p:nvSpPr>
        <p:spPr>
          <a:xfrm>
            <a:off x="2209800" y="6356350"/>
            <a:ext cx="5029200" cy="365125"/>
          </a:xfrm>
        </p:spPr>
        <p:txBody>
          <a:bodyPr/>
          <a:lstStyle/>
          <a:p>
            <a:r>
              <a:rPr lang="en-US"/>
              <a:t>Ms. Purnima Pal      High Performance Computing             Unit III     </a:t>
            </a:r>
            <a:endParaRPr lang="en-US" dirty="0"/>
          </a:p>
        </p:txBody>
      </p:sp>
      <p:sp>
        <p:nvSpPr>
          <p:cNvPr id="7" name="Slide Number Placeholder 6"/>
          <p:cNvSpPr>
            <a:spLocks noGrp="1"/>
          </p:cNvSpPr>
          <p:nvPr>
            <p:ph type="sldNum" sz="quarter" idx="12"/>
          </p:nvPr>
        </p:nvSpPr>
        <p:spPr/>
        <p:txBody>
          <a:bodyPr/>
          <a:lstStyle/>
          <a:p>
            <a:fld id="{AE566132-A42B-4D26-9C08-B059D352BBB6}" type="slidenum">
              <a:rPr lang="en-US" smtClean="0"/>
              <a:pPr/>
              <a:t>31</a:t>
            </a:fld>
            <a:endParaRPr lang="en-US"/>
          </a:p>
        </p:txBody>
      </p:sp>
      <p:sp>
        <p:nvSpPr>
          <p:cNvPr id="5" name="Title 1">
            <a:extLst>
              <a:ext uri="{FF2B5EF4-FFF2-40B4-BE49-F238E27FC236}">
                <a16:creationId xmlns:a16="http://schemas.microsoft.com/office/drawing/2014/main" id="{74C97CF1-3A45-326E-4C1F-9015608E62E8}"/>
              </a:ext>
            </a:extLst>
          </p:cNvPr>
          <p:cNvSpPr txBox="1">
            <a:spLocks/>
          </p:cNvSpPr>
          <p:nvPr/>
        </p:nvSpPr>
        <p:spPr>
          <a:xfrm>
            <a:off x="1259088" y="0"/>
            <a:ext cx="7876271"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r>
              <a:rPr lang="en-US" sz="2400" b="1"/>
              <a:t>Parallel Prefix Sum Algorithm</a:t>
            </a:r>
            <a:endParaRPr lang="en-US" sz="2400" b="1" dirty="0"/>
          </a:p>
        </p:txBody>
      </p:sp>
      <p:sp>
        <p:nvSpPr>
          <p:cNvPr id="9" name="Content Placeholder 8">
            <a:extLst>
              <a:ext uri="{FF2B5EF4-FFF2-40B4-BE49-F238E27FC236}">
                <a16:creationId xmlns:a16="http://schemas.microsoft.com/office/drawing/2014/main" id="{D6AFE47B-73F8-D123-148D-DFDD304BF0C9}"/>
              </a:ext>
            </a:extLst>
          </p:cNvPr>
          <p:cNvSpPr>
            <a:spLocks noGrp="1"/>
          </p:cNvSpPr>
          <p:nvPr>
            <p:ph idx="1"/>
          </p:nvPr>
        </p:nvSpPr>
        <p:spPr>
          <a:xfrm>
            <a:off x="227635" y="869738"/>
            <a:ext cx="4572000" cy="4525963"/>
          </a:xfrm>
        </p:spPr>
        <p:txBody>
          <a:bodyPr>
            <a:normAutofit/>
          </a:bodyPr>
          <a:lstStyle/>
          <a:p>
            <a:r>
              <a:rPr lang="en-US" sz="1800" dirty="0"/>
              <a:t>Here, in pairs of two, every element is added and then stored on to the latter one of the two taken. Then the header is moved on and now, every second elements are added on gaps of two from the original array that was changed. Then the header is moved and added on gaps of three. This computation is performed log2n number of times; where;</a:t>
            </a:r>
          </a:p>
          <a:p>
            <a:r>
              <a:rPr lang="en-US" sz="1800" dirty="0"/>
              <a:t>n = number of elements in the array</a:t>
            </a:r>
          </a:p>
        </p:txBody>
      </p:sp>
      <p:pic>
        <p:nvPicPr>
          <p:cNvPr id="11" name="Picture 10">
            <a:extLst>
              <a:ext uri="{FF2B5EF4-FFF2-40B4-BE49-F238E27FC236}">
                <a16:creationId xmlns:a16="http://schemas.microsoft.com/office/drawing/2014/main" id="{09568B3A-2DEE-9E2A-2CE6-F0DE81B8D1F2}"/>
              </a:ext>
            </a:extLst>
          </p:cNvPr>
          <p:cNvPicPr>
            <a:picLocks noChangeAspect="1"/>
          </p:cNvPicPr>
          <p:nvPr/>
        </p:nvPicPr>
        <p:blipFill>
          <a:blip r:embed="rId2"/>
          <a:stretch>
            <a:fillRect/>
          </a:stretch>
        </p:blipFill>
        <p:spPr>
          <a:xfrm>
            <a:off x="4799634" y="1981200"/>
            <a:ext cx="4301725" cy="2453853"/>
          </a:xfrm>
          <a:prstGeom prst="rect">
            <a:avLst/>
          </a:prstGeom>
        </p:spPr>
      </p:pic>
    </p:spTree>
    <p:extLst>
      <p:ext uri="{BB962C8B-B14F-4D97-AF65-F5344CB8AC3E}">
        <p14:creationId xmlns:p14="http://schemas.microsoft.com/office/powerpoint/2010/main" val="403557863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a:spLocks/>
          </p:cNvSpPr>
          <p:nvPr/>
        </p:nvSpPr>
        <p:spPr>
          <a:xfrm>
            <a:off x="1300506" y="0"/>
            <a:ext cx="7810500" cy="685799"/>
          </a:xfrm>
          <a:prstGeom prst="rect">
            <a:avLst/>
          </a:prstGeom>
          <a:solidFill>
            <a:schemeClr val="accent2"/>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r>
              <a:rPr lang="en-US" sz="2400" b="1" dirty="0"/>
              <a:t>Software Design</a:t>
            </a:r>
          </a:p>
        </p:txBody>
      </p:sp>
      <p:sp>
        <p:nvSpPr>
          <p:cNvPr id="2" name="Date Placeholder 1"/>
          <p:cNvSpPr>
            <a:spLocks noGrp="1"/>
          </p:cNvSpPr>
          <p:nvPr>
            <p:ph type="dt" sz="half" idx="10"/>
          </p:nvPr>
        </p:nvSpPr>
        <p:spPr/>
        <p:txBody>
          <a:bodyPr/>
          <a:lstStyle/>
          <a:p>
            <a:fld id="{DD4DBFA8-6381-418F-BAA5-38EC0C60D7F1}" type="datetime1">
              <a:rPr lang="en-IN" smtClean="0"/>
              <a:t>21-07-2025</a:t>
            </a:fld>
            <a:endParaRPr lang="en-US"/>
          </a:p>
        </p:txBody>
      </p:sp>
      <p:sp>
        <p:nvSpPr>
          <p:cNvPr id="6" name="Footer Placeholder 5"/>
          <p:cNvSpPr>
            <a:spLocks noGrp="1"/>
          </p:cNvSpPr>
          <p:nvPr>
            <p:ph type="ftr" sz="quarter" idx="11"/>
          </p:nvPr>
        </p:nvSpPr>
        <p:spPr>
          <a:xfrm>
            <a:off x="2209800" y="6356350"/>
            <a:ext cx="5029200" cy="365125"/>
          </a:xfrm>
        </p:spPr>
        <p:txBody>
          <a:bodyPr/>
          <a:lstStyle/>
          <a:p>
            <a:r>
              <a:rPr lang="en-US"/>
              <a:t>Ms. Purnima Pal      High Performance Computing             Unit III     </a:t>
            </a:r>
            <a:endParaRPr lang="en-US" dirty="0"/>
          </a:p>
        </p:txBody>
      </p:sp>
      <p:sp>
        <p:nvSpPr>
          <p:cNvPr id="7" name="Slide Number Placeholder 6"/>
          <p:cNvSpPr>
            <a:spLocks noGrp="1"/>
          </p:cNvSpPr>
          <p:nvPr>
            <p:ph type="sldNum" sz="quarter" idx="12"/>
          </p:nvPr>
        </p:nvSpPr>
        <p:spPr/>
        <p:txBody>
          <a:bodyPr/>
          <a:lstStyle/>
          <a:p>
            <a:fld id="{AE566132-A42B-4D26-9C08-B059D352BBB6}" type="slidenum">
              <a:rPr lang="en-US" smtClean="0"/>
              <a:pPr/>
              <a:t>32</a:t>
            </a:fld>
            <a:endParaRPr lang="en-US"/>
          </a:p>
        </p:txBody>
      </p:sp>
      <p:sp>
        <p:nvSpPr>
          <p:cNvPr id="5" name="Title 1">
            <a:extLst>
              <a:ext uri="{FF2B5EF4-FFF2-40B4-BE49-F238E27FC236}">
                <a16:creationId xmlns:a16="http://schemas.microsoft.com/office/drawing/2014/main" id="{74C97CF1-3A45-326E-4C1F-9015608E62E8}"/>
              </a:ext>
            </a:extLst>
          </p:cNvPr>
          <p:cNvSpPr txBox="1">
            <a:spLocks/>
          </p:cNvSpPr>
          <p:nvPr/>
        </p:nvSpPr>
        <p:spPr>
          <a:xfrm>
            <a:off x="1300506" y="0"/>
            <a:ext cx="7876271"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r>
              <a:rPr lang="en-US" sz="2400" b="1" dirty="0"/>
              <a:t>Scatter</a:t>
            </a:r>
          </a:p>
        </p:txBody>
      </p:sp>
      <p:sp>
        <p:nvSpPr>
          <p:cNvPr id="9" name="Content Placeholder 8">
            <a:extLst>
              <a:ext uri="{FF2B5EF4-FFF2-40B4-BE49-F238E27FC236}">
                <a16:creationId xmlns:a16="http://schemas.microsoft.com/office/drawing/2014/main" id="{D6AFE47B-73F8-D123-148D-DFDD304BF0C9}"/>
              </a:ext>
            </a:extLst>
          </p:cNvPr>
          <p:cNvSpPr>
            <a:spLocks noGrp="1"/>
          </p:cNvSpPr>
          <p:nvPr>
            <p:ph idx="1"/>
          </p:nvPr>
        </p:nvSpPr>
        <p:spPr/>
        <p:txBody>
          <a:bodyPr>
            <a:normAutofit/>
          </a:bodyPr>
          <a:lstStyle/>
          <a:p>
            <a:r>
              <a:rPr lang="en-US" sz="1800" dirty="0"/>
              <a:t>Gather and scatter are two fundamental data-parallel operations.</a:t>
            </a:r>
          </a:p>
          <a:p>
            <a:pPr marL="0" indent="0">
              <a:buNone/>
            </a:pPr>
            <a:r>
              <a:rPr lang="en-US" sz="1800" b="1" dirty="0"/>
              <a:t>Gather</a:t>
            </a:r>
          </a:p>
          <a:p>
            <a:r>
              <a:rPr lang="en-US" sz="1800" dirty="0"/>
              <a:t>It is a type of memory addressing that collects or gathers data from multiple arbitrary indices, or, in simpler terms multiple given locations.</a:t>
            </a:r>
          </a:p>
          <a:p>
            <a:endParaRPr lang="en-US" sz="1800" dirty="0"/>
          </a:p>
          <a:p>
            <a:r>
              <a:rPr lang="en-US" sz="1800" dirty="0"/>
              <a:t>Pseudocode for gather;</a:t>
            </a:r>
          </a:p>
          <a:p>
            <a:endParaRPr lang="en-US" sz="1800" dirty="0"/>
          </a:p>
          <a:p>
            <a:r>
              <a:rPr lang="en-US" sz="1800" dirty="0"/>
              <a:t>for(int </a:t>
            </a:r>
            <a:r>
              <a:rPr lang="en-US" sz="1800" dirty="0" err="1"/>
              <a:t>i</a:t>
            </a:r>
            <a:r>
              <a:rPr lang="en-US" sz="1800" dirty="0"/>
              <a:t>=0; </a:t>
            </a:r>
            <a:r>
              <a:rPr lang="en-US" sz="1800" dirty="0" err="1"/>
              <a:t>i</a:t>
            </a:r>
            <a:r>
              <a:rPr lang="en-US" sz="1800" dirty="0"/>
              <a:t>&lt;n; ++</a:t>
            </a:r>
            <a:r>
              <a:rPr lang="en-US" sz="1800" dirty="0" err="1"/>
              <a:t>i</a:t>
            </a:r>
            <a:r>
              <a:rPr lang="en-US" sz="1800" dirty="0"/>
              <a:t>){</a:t>
            </a:r>
          </a:p>
          <a:p>
            <a:r>
              <a:rPr lang="en-US" sz="1800" dirty="0"/>
              <a:t>x[</a:t>
            </a:r>
            <a:r>
              <a:rPr lang="en-US" sz="1800" dirty="0" err="1"/>
              <a:t>i</a:t>
            </a:r>
            <a:r>
              <a:rPr lang="en-US" sz="1800" dirty="0"/>
              <a:t>] = y[</a:t>
            </a:r>
            <a:r>
              <a:rPr lang="en-US" sz="1800" dirty="0" err="1"/>
              <a:t>idx</a:t>
            </a:r>
            <a:r>
              <a:rPr lang="en-US" sz="1800" dirty="0"/>
              <a:t>[</a:t>
            </a:r>
            <a:r>
              <a:rPr lang="en-US" sz="1800" dirty="0" err="1"/>
              <a:t>i</a:t>
            </a:r>
            <a:r>
              <a:rPr lang="en-US" sz="1800" dirty="0"/>
              <a:t>]]</a:t>
            </a:r>
          </a:p>
          <a:p>
            <a:r>
              <a:rPr lang="en-US" sz="1800" dirty="0"/>
              <a:t>}</a:t>
            </a:r>
          </a:p>
        </p:txBody>
      </p:sp>
    </p:spTree>
    <p:extLst>
      <p:ext uri="{BB962C8B-B14F-4D97-AF65-F5344CB8AC3E}">
        <p14:creationId xmlns:p14="http://schemas.microsoft.com/office/powerpoint/2010/main" val="127884778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a:spLocks/>
          </p:cNvSpPr>
          <p:nvPr/>
        </p:nvSpPr>
        <p:spPr>
          <a:xfrm>
            <a:off x="1300506" y="0"/>
            <a:ext cx="7810500" cy="685799"/>
          </a:xfrm>
          <a:prstGeom prst="rect">
            <a:avLst/>
          </a:prstGeom>
          <a:solidFill>
            <a:schemeClr val="accent2"/>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r>
              <a:rPr lang="en-US" sz="2400" b="1" dirty="0"/>
              <a:t>Software Design</a:t>
            </a:r>
          </a:p>
        </p:txBody>
      </p:sp>
      <p:sp>
        <p:nvSpPr>
          <p:cNvPr id="2" name="Date Placeholder 1"/>
          <p:cNvSpPr>
            <a:spLocks noGrp="1"/>
          </p:cNvSpPr>
          <p:nvPr>
            <p:ph type="dt" sz="half" idx="10"/>
          </p:nvPr>
        </p:nvSpPr>
        <p:spPr/>
        <p:txBody>
          <a:bodyPr/>
          <a:lstStyle/>
          <a:p>
            <a:fld id="{A8372A7E-E0D1-4CB5-818B-6F56D72E17D4}" type="datetime1">
              <a:rPr lang="en-IN" smtClean="0"/>
              <a:t>21-07-2025</a:t>
            </a:fld>
            <a:endParaRPr lang="en-US"/>
          </a:p>
        </p:txBody>
      </p:sp>
      <p:sp>
        <p:nvSpPr>
          <p:cNvPr id="6" name="Footer Placeholder 5"/>
          <p:cNvSpPr>
            <a:spLocks noGrp="1"/>
          </p:cNvSpPr>
          <p:nvPr>
            <p:ph type="ftr" sz="quarter" idx="11"/>
          </p:nvPr>
        </p:nvSpPr>
        <p:spPr>
          <a:xfrm>
            <a:off x="2209800" y="6356350"/>
            <a:ext cx="5029200" cy="365125"/>
          </a:xfrm>
        </p:spPr>
        <p:txBody>
          <a:bodyPr/>
          <a:lstStyle/>
          <a:p>
            <a:r>
              <a:rPr lang="en-US"/>
              <a:t>Ms. Purnima Pal      High Performance Computing             Unit III     </a:t>
            </a:r>
            <a:endParaRPr lang="en-US" dirty="0"/>
          </a:p>
        </p:txBody>
      </p:sp>
      <p:sp>
        <p:nvSpPr>
          <p:cNvPr id="7" name="Slide Number Placeholder 6"/>
          <p:cNvSpPr>
            <a:spLocks noGrp="1"/>
          </p:cNvSpPr>
          <p:nvPr>
            <p:ph type="sldNum" sz="quarter" idx="12"/>
          </p:nvPr>
        </p:nvSpPr>
        <p:spPr/>
        <p:txBody>
          <a:bodyPr/>
          <a:lstStyle/>
          <a:p>
            <a:fld id="{AE566132-A42B-4D26-9C08-B059D352BBB6}" type="slidenum">
              <a:rPr lang="en-US" smtClean="0"/>
              <a:pPr/>
              <a:t>33</a:t>
            </a:fld>
            <a:endParaRPr lang="en-US"/>
          </a:p>
        </p:txBody>
      </p:sp>
      <p:sp>
        <p:nvSpPr>
          <p:cNvPr id="5" name="Title 1">
            <a:extLst>
              <a:ext uri="{FF2B5EF4-FFF2-40B4-BE49-F238E27FC236}">
                <a16:creationId xmlns:a16="http://schemas.microsoft.com/office/drawing/2014/main" id="{74C97CF1-3A45-326E-4C1F-9015608E62E8}"/>
              </a:ext>
            </a:extLst>
          </p:cNvPr>
          <p:cNvSpPr txBox="1">
            <a:spLocks/>
          </p:cNvSpPr>
          <p:nvPr/>
        </p:nvSpPr>
        <p:spPr>
          <a:xfrm>
            <a:off x="1259088" y="0"/>
            <a:ext cx="7876271"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r>
              <a:rPr lang="en-US" sz="2400" b="1"/>
              <a:t>Scatter</a:t>
            </a:r>
            <a:endParaRPr lang="en-US" sz="2400" b="1" dirty="0"/>
          </a:p>
        </p:txBody>
      </p:sp>
      <p:sp>
        <p:nvSpPr>
          <p:cNvPr id="9" name="Content Placeholder 8">
            <a:extLst>
              <a:ext uri="{FF2B5EF4-FFF2-40B4-BE49-F238E27FC236}">
                <a16:creationId xmlns:a16="http://schemas.microsoft.com/office/drawing/2014/main" id="{D6AFE47B-73F8-D123-148D-DFDD304BF0C9}"/>
              </a:ext>
            </a:extLst>
          </p:cNvPr>
          <p:cNvSpPr>
            <a:spLocks noGrp="1"/>
          </p:cNvSpPr>
          <p:nvPr>
            <p:ph idx="1"/>
          </p:nvPr>
        </p:nvSpPr>
        <p:spPr/>
        <p:txBody>
          <a:bodyPr>
            <a:normAutofit/>
          </a:bodyPr>
          <a:lstStyle/>
          <a:p>
            <a:r>
              <a:rPr lang="en-US" sz="1800" dirty="0"/>
              <a:t>It is a type of memory addressing that stores or scatters data from multiple arbitrary indices, or, in simpler terms multiple given locations.</a:t>
            </a:r>
          </a:p>
          <a:p>
            <a:endParaRPr lang="en-US" sz="1800" dirty="0"/>
          </a:p>
          <a:p>
            <a:r>
              <a:rPr lang="en-US" sz="1800" dirty="0"/>
              <a:t>Pseudocode for scatter;</a:t>
            </a:r>
          </a:p>
          <a:p>
            <a:endParaRPr lang="en-US" sz="1800" dirty="0"/>
          </a:p>
          <a:p>
            <a:r>
              <a:rPr lang="en-US" sz="1800" dirty="0"/>
              <a:t>for(int </a:t>
            </a:r>
            <a:r>
              <a:rPr lang="en-US" sz="1800" dirty="0" err="1"/>
              <a:t>i</a:t>
            </a:r>
            <a:r>
              <a:rPr lang="en-US" sz="1800" dirty="0"/>
              <a:t>=0; </a:t>
            </a:r>
            <a:r>
              <a:rPr lang="en-US" sz="1800" dirty="0" err="1"/>
              <a:t>i</a:t>
            </a:r>
            <a:r>
              <a:rPr lang="en-US" sz="1800" dirty="0"/>
              <a:t>&lt;n; ++</a:t>
            </a:r>
            <a:r>
              <a:rPr lang="en-US" sz="1800" dirty="0" err="1"/>
              <a:t>i</a:t>
            </a:r>
            <a:r>
              <a:rPr lang="en-US" sz="1800" dirty="0"/>
              <a:t>){</a:t>
            </a:r>
          </a:p>
          <a:p>
            <a:r>
              <a:rPr lang="en-US" sz="1800" dirty="0"/>
              <a:t>y[</a:t>
            </a:r>
            <a:r>
              <a:rPr lang="en-US" sz="1800" dirty="0" err="1"/>
              <a:t>idx</a:t>
            </a:r>
            <a:r>
              <a:rPr lang="en-US" sz="1800" dirty="0"/>
              <a:t>[</a:t>
            </a:r>
            <a:r>
              <a:rPr lang="en-US" sz="1800" dirty="0" err="1"/>
              <a:t>i</a:t>
            </a:r>
            <a:r>
              <a:rPr lang="en-US" sz="1800" dirty="0"/>
              <a:t>]]&lt;x[</a:t>
            </a:r>
            <a:r>
              <a:rPr lang="en-US" sz="1800" dirty="0" err="1"/>
              <a:t>i</a:t>
            </a:r>
            <a:r>
              <a:rPr lang="en-US" sz="1800" dirty="0"/>
              <a:t>]</a:t>
            </a:r>
          </a:p>
          <a:p>
            <a:r>
              <a:rPr lang="en-US" sz="1800" dirty="0"/>
              <a:t>}</a:t>
            </a:r>
          </a:p>
        </p:txBody>
      </p:sp>
    </p:spTree>
    <p:extLst>
      <p:ext uri="{BB962C8B-B14F-4D97-AF65-F5344CB8AC3E}">
        <p14:creationId xmlns:p14="http://schemas.microsoft.com/office/powerpoint/2010/main" val="9779473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a:spLocks/>
          </p:cNvSpPr>
          <p:nvPr/>
        </p:nvSpPr>
        <p:spPr>
          <a:xfrm>
            <a:off x="1300506" y="0"/>
            <a:ext cx="7810500" cy="685799"/>
          </a:xfrm>
          <a:prstGeom prst="rect">
            <a:avLst/>
          </a:prstGeom>
          <a:solidFill>
            <a:schemeClr val="accent2"/>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r>
              <a:rPr lang="en-US" sz="2400" b="1" dirty="0"/>
              <a:t>Software Design</a:t>
            </a:r>
          </a:p>
        </p:txBody>
      </p:sp>
      <p:sp>
        <p:nvSpPr>
          <p:cNvPr id="2" name="Date Placeholder 1"/>
          <p:cNvSpPr>
            <a:spLocks noGrp="1"/>
          </p:cNvSpPr>
          <p:nvPr>
            <p:ph type="dt" sz="half" idx="10"/>
          </p:nvPr>
        </p:nvSpPr>
        <p:spPr/>
        <p:txBody>
          <a:bodyPr/>
          <a:lstStyle/>
          <a:p>
            <a:fld id="{BE5AEFAC-AFA1-4A59-B716-CC634F09EEFA}" type="datetime1">
              <a:rPr lang="en-IN" smtClean="0"/>
              <a:t>21-07-2025</a:t>
            </a:fld>
            <a:endParaRPr lang="en-US"/>
          </a:p>
        </p:txBody>
      </p:sp>
      <p:sp>
        <p:nvSpPr>
          <p:cNvPr id="6" name="Footer Placeholder 5"/>
          <p:cNvSpPr>
            <a:spLocks noGrp="1"/>
          </p:cNvSpPr>
          <p:nvPr>
            <p:ph type="ftr" sz="quarter" idx="11"/>
          </p:nvPr>
        </p:nvSpPr>
        <p:spPr>
          <a:xfrm>
            <a:off x="2209800" y="6356350"/>
            <a:ext cx="5029200" cy="365125"/>
          </a:xfrm>
        </p:spPr>
        <p:txBody>
          <a:bodyPr/>
          <a:lstStyle/>
          <a:p>
            <a:r>
              <a:rPr lang="en-US"/>
              <a:t>Ms. Purnima Pal      High Performance Computing             Unit III     </a:t>
            </a:r>
            <a:endParaRPr lang="en-US" dirty="0"/>
          </a:p>
        </p:txBody>
      </p:sp>
      <p:sp>
        <p:nvSpPr>
          <p:cNvPr id="7" name="Slide Number Placeholder 6"/>
          <p:cNvSpPr>
            <a:spLocks noGrp="1"/>
          </p:cNvSpPr>
          <p:nvPr>
            <p:ph type="sldNum" sz="quarter" idx="12"/>
          </p:nvPr>
        </p:nvSpPr>
        <p:spPr/>
        <p:txBody>
          <a:bodyPr/>
          <a:lstStyle/>
          <a:p>
            <a:fld id="{AE566132-A42B-4D26-9C08-B059D352BBB6}" type="slidenum">
              <a:rPr lang="en-US" smtClean="0"/>
              <a:pPr/>
              <a:t>34</a:t>
            </a:fld>
            <a:endParaRPr lang="en-US"/>
          </a:p>
        </p:txBody>
      </p:sp>
      <p:sp>
        <p:nvSpPr>
          <p:cNvPr id="5" name="Title 1">
            <a:extLst>
              <a:ext uri="{FF2B5EF4-FFF2-40B4-BE49-F238E27FC236}">
                <a16:creationId xmlns:a16="http://schemas.microsoft.com/office/drawing/2014/main" id="{74C97CF1-3A45-326E-4C1F-9015608E62E8}"/>
              </a:ext>
            </a:extLst>
          </p:cNvPr>
          <p:cNvSpPr txBox="1">
            <a:spLocks/>
          </p:cNvSpPr>
          <p:nvPr/>
        </p:nvSpPr>
        <p:spPr>
          <a:xfrm>
            <a:off x="1343929" y="0"/>
            <a:ext cx="7876271"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r>
              <a:rPr lang="en-US" sz="2400" b="1"/>
              <a:t>Network topologies for parallel computing,</a:t>
            </a:r>
            <a:endParaRPr lang="en-US" sz="2400" b="1" dirty="0"/>
          </a:p>
        </p:txBody>
      </p:sp>
      <p:sp>
        <p:nvSpPr>
          <p:cNvPr id="9" name="Content Placeholder 8">
            <a:extLst>
              <a:ext uri="{FF2B5EF4-FFF2-40B4-BE49-F238E27FC236}">
                <a16:creationId xmlns:a16="http://schemas.microsoft.com/office/drawing/2014/main" id="{D6AFE47B-73F8-D123-148D-DFDD304BF0C9}"/>
              </a:ext>
            </a:extLst>
          </p:cNvPr>
          <p:cNvSpPr>
            <a:spLocks noGrp="1"/>
          </p:cNvSpPr>
          <p:nvPr>
            <p:ph idx="1"/>
          </p:nvPr>
        </p:nvSpPr>
        <p:spPr/>
        <p:txBody>
          <a:bodyPr>
            <a:normAutofit/>
          </a:bodyPr>
          <a:lstStyle/>
          <a:p>
            <a:endParaRPr lang="en-US" dirty="0"/>
          </a:p>
          <a:p>
            <a:pPr>
              <a:buFont typeface="Wingdings" panose="05000000000000000000" pitchFamily="2" charset="2"/>
              <a:buChar char="Ø"/>
            </a:pPr>
            <a:r>
              <a:rPr lang="en-US" sz="1900" dirty="0"/>
              <a:t>Physical or logical. It affects how the communication between processes happens.</a:t>
            </a:r>
          </a:p>
          <a:p>
            <a:pPr>
              <a:buFont typeface="Wingdings" panose="05000000000000000000" pitchFamily="2" charset="2"/>
              <a:buChar char="Ø"/>
            </a:pPr>
            <a:r>
              <a:rPr lang="en-US" sz="1900" dirty="0"/>
              <a:t>Ring or linear (chain)</a:t>
            </a:r>
          </a:p>
          <a:p>
            <a:pPr>
              <a:buFont typeface="Wingdings" panose="05000000000000000000" pitchFamily="2" charset="2"/>
              <a:buChar char="Ø"/>
            </a:pPr>
            <a:r>
              <a:rPr lang="en-US" sz="1900" dirty="0"/>
              <a:t>Star</a:t>
            </a:r>
          </a:p>
          <a:p>
            <a:pPr>
              <a:buFont typeface="Wingdings" panose="05000000000000000000" pitchFamily="2" charset="2"/>
              <a:buChar char="Ø"/>
            </a:pPr>
            <a:r>
              <a:rPr lang="en-US" sz="1900" dirty="0"/>
              <a:t>Mesh</a:t>
            </a:r>
          </a:p>
          <a:p>
            <a:pPr>
              <a:buFont typeface="Wingdings" panose="05000000000000000000" pitchFamily="2" charset="2"/>
              <a:buChar char="Ø"/>
            </a:pPr>
            <a:r>
              <a:rPr lang="en-US" sz="1900" dirty="0"/>
              <a:t>Balanced binary tree</a:t>
            </a:r>
          </a:p>
          <a:p>
            <a:pPr>
              <a:buFont typeface="Wingdings" panose="05000000000000000000" pitchFamily="2" charset="2"/>
              <a:buChar char="Ø"/>
            </a:pPr>
            <a:r>
              <a:rPr lang="en-US" sz="1900" dirty="0"/>
              <a:t>Hypercube</a:t>
            </a:r>
          </a:p>
          <a:p>
            <a:pPr>
              <a:buFont typeface="Wingdings" panose="05000000000000000000" pitchFamily="2" charset="2"/>
              <a:buChar char="Ø"/>
            </a:pPr>
            <a:r>
              <a:rPr lang="en-US" sz="1900" dirty="0"/>
              <a:t>Torus, butterfly, dragonfly</a:t>
            </a:r>
          </a:p>
          <a:p>
            <a:pPr marL="0" indent="0">
              <a:buNone/>
            </a:pPr>
            <a:endParaRPr lang="en-US" dirty="0"/>
          </a:p>
        </p:txBody>
      </p:sp>
    </p:spTree>
    <p:extLst>
      <p:ext uri="{BB962C8B-B14F-4D97-AF65-F5344CB8AC3E}">
        <p14:creationId xmlns:p14="http://schemas.microsoft.com/office/powerpoint/2010/main" val="345386809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a:spLocks/>
          </p:cNvSpPr>
          <p:nvPr/>
        </p:nvSpPr>
        <p:spPr>
          <a:xfrm>
            <a:off x="1300506" y="0"/>
            <a:ext cx="7810500" cy="685799"/>
          </a:xfrm>
          <a:prstGeom prst="rect">
            <a:avLst/>
          </a:prstGeom>
          <a:solidFill>
            <a:schemeClr val="accent2"/>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r>
              <a:rPr lang="en-US" sz="2400" b="1" dirty="0"/>
              <a:t>Software Design</a:t>
            </a:r>
          </a:p>
        </p:txBody>
      </p:sp>
      <p:sp>
        <p:nvSpPr>
          <p:cNvPr id="2" name="Date Placeholder 1"/>
          <p:cNvSpPr>
            <a:spLocks noGrp="1"/>
          </p:cNvSpPr>
          <p:nvPr>
            <p:ph type="dt" sz="half" idx="10"/>
          </p:nvPr>
        </p:nvSpPr>
        <p:spPr/>
        <p:txBody>
          <a:bodyPr/>
          <a:lstStyle/>
          <a:p>
            <a:fld id="{B6B5E2C8-D9AC-4AA7-9676-5A3EE15E7B0C}" type="datetime1">
              <a:rPr lang="en-IN" smtClean="0"/>
              <a:t>21-07-2025</a:t>
            </a:fld>
            <a:endParaRPr lang="en-US"/>
          </a:p>
        </p:txBody>
      </p:sp>
      <p:sp>
        <p:nvSpPr>
          <p:cNvPr id="6" name="Footer Placeholder 5"/>
          <p:cNvSpPr>
            <a:spLocks noGrp="1"/>
          </p:cNvSpPr>
          <p:nvPr>
            <p:ph type="ftr" sz="quarter" idx="11"/>
          </p:nvPr>
        </p:nvSpPr>
        <p:spPr>
          <a:xfrm>
            <a:off x="2209800" y="6356350"/>
            <a:ext cx="5029200" cy="365125"/>
          </a:xfrm>
        </p:spPr>
        <p:txBody>
          <a:bodyPr/>
          <a:lstStyle/>
          <a:p>
            <a:r>
              <a:rPr lang="en-US"/>
              <a:t>Ms. Purnima Pal      High Performance Computing             Unit III     </a:t>
            </a:r>
            <a:endParaRPr lang="en-US" dirty="0"/>
          </a:p>
        </p:txBody>
      </p:sp>
      <p:sp>
        <p:nvSpPr>
          <p:cNvPr id="7" name="Slide Number Placeholder 6"/>
          <p:cNvSpPr>
            <a:spLocks noGrp="1"/>
          </p:cNvSpPr>
          <p:nvPr>
            <p:ph type="sldNum" sz="quarter" idx="12"/>
          </p:nvPr>
        </p:nvSpPr>
        <p:spPr/>
        <p:txBody>
          <a:bodyPr/>
          <a:lstStyle/>
          <a:p>
            <a:fld id="{AE566132-A42B-4D26-9C08-B059D352BBB6}" type="slidenum">
              <a:rPr lang="en-US" smtClean="0"/>
              <a:pPr/>
              <a:t>35</a:t>
            </a:fld>
            <a:endParaRPr lang="en-US"/>
          </a:p>
        </p:txBody>
      </p:sp>
      <p:sp>
        <p:nvSpPr>
          <p:cNvPr id="5" name="Title 1">
            <a:extLst>
              <a:ext uri="{FF2B5EF4-FFF2-40B4-BE49-F238E27FC236}">
                <a16:creationId xmlns:a16="http://schemas.microsoft.com/office/drawing/2014/main" id="{74C97CF1-3A45-326E-4C1F-9015608E62E8}"/>
              </a:ext>
            </a:extLst>
          </p:cNvPr>
          <p:cNvSpPr txBox="1">
            <a:spLocks/>
          </p:cNvSpPr>
          <p:nvPr/>
        </p:nvSpPr>
        <p:spPr>
          <a:xfrm>
            <a:off x="1259088" y="0"/>
            <a:ext cx="7876271"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r>
              <a:rPr lang="en-US" sz="2400" b="1"/>
              <a:t>Parallel Networks Topologies</a:t>
            </a:r>
            <a:endParaRPr lang="en-US" sz="2400" b="1" dirty="0"/>
          </a:p>
        </p:txBody>
      </p:sp>
      <p:sp>
        <p:nvSpPr>
          <p:cNvPr id="9" name="Content Placeholder 8">
            <a:extLst>
              <a:ext uri="{FF2B5EF4-FFF2-40B4-BE49-F238E27FC236}">
                <a16:creationId xmlns:a16="http://schemas.microsoft.com/office/drawing/2014/main" id="{D6AFE47B-73F8-D123-148D-DFDD304BF0C9}"/>
              </a:ext>
            </a:extLst>
          </p:cNvPr>
          <p:cNvSpPr>
            <a:spLocks noGrp="1"/>
          </p:cNvSpPr>
          <p:nvPr>
            <p:ph idx="1"/>
          </p:nvPr>
        </p:nvSpPr>
        <p:spPr/>
        <p:txBody>
          <a:bodyPr/>
          <a:lstStyle/>
          <a:p>
            <a:endParaRPr lang="en-US"/>
          </a:p>
        </p:txBody>
      </p:sp>
      <p:sp>
        <p:nvSpPr>
          <p:cNvPr id="3" name="AutoShape 2">
            <a:extLst>
              <a:ext uri="{FF2B5EF4-FFF2-40B4-BE49-F238E27FC236}">
                <a16:creationId xmlns:a16="http://schemas.microsoft.com/office/drawing/2014/main" id="{A9F95ADA-8DF8-F099-698E-601331FEF25C}"/>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10" name="Picture 9">
            <a:extLst>
              <a:ext uri="{FF2B5EF4-FFF2-40B4-BE49-F238E27FC236}">
                <a16:creationId xmlns:a16="http://schemas.microsoft.com/office/drawing/2014/main" id="{862D071D-3C10-463F-346E-65D6C58BF979}"/>
              </a:ext>
            </a:extLst>
          </p:cNvPr>
          <p:cNvPicPr>
            <a:picLocks noChangeAspect="1"/>
          </p:cNvPicPr>
          <p:nvPr/>
        </p:nvPicPr>
        <p:blipFill>
          <a:blip r:embed="rId2"/>
          <a:stretch>
            <a:fillRect/>
          </a:stretch>
        </p:blipFill>
        <p:spPr>
          <a:xfrm>
            <a:off x="457200" y="1272454"/>
            <a:ext cx="7907838" cy="3832946"/>
          </a:xfrm>
          <a:prstGeom prst="rect">
            <a:avLst/>
          </a:prstGeom>
        </p:spPr>
      </p:pic>
    </p:spTree>
    <p:extLst>
      <p:ext uri="{BB962C8B-B14F-4D97-AF65-F5344CB8AC3E}">
        <p14:creationId xmlns:p14="http://schemas.microsoft.com/office/powerpoint/2010/main" val="168602849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a:spLocks/>
          </p:cNvSpPr>
          <p:nvPr/>
        </p:nvSpPr>
        <p:spPr>
          <a:xfrm>
            <a:off x="1300506" y="0"/>
            <a:ext cx="7810500" cy="685799"/>
          </a:xfrm>
          <a:prstGeom prst="rect">
            <a:avLst/>
          </a:prstGeom>
          <a:solidFill>
            <a:schemeClr val="accent2"/>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r>
              <a:rPr lang="en-US" sz="2400" b="1" dirty="0"/>
              <a:t>Software Design</a:t>
            </a:r>
          </a:p>
        </p:txBody>
      </p:sp>
      <p:sp>
        <p:nvSpPr>
          <p:cNvPr id="2" name="Date Placeholder 1"/>
          <p:cNvSpPr>
            <a:spLocks noGrp="1"/>
          </p:cNvSpPr>
          <p:nvPr>
            <p:ph type="dt" sz="half" idx="10"/>
          </p:nvPr>
        </p:nvSpPr>
        <p:spPr/>
        <p:txBody>
          <a:bodyPr/>
          <a:lstStyle/>
          <a:p>
            <a:fld id="{9BB84BD0-C19D-45BC-86F2-040F9C1D025A}" type="datetime1">
              <a:rPr lang="en-IN" smtClean="0"/>
              <a:t>21-07-2025</a:t>
            </a:fld>
            <a:endParaRPr lang="en-US"/>
          </a:p>
        </p:txBody>
      </p:sp>
      <p:sp>
        <p:nvSpPr>
          <p:cNvPr id="6" name="Footer Placeholder 5"/>
          <p:cNvSpPr>
            <a:spLocks noGrp="1"/>
          </p:cNvSpPr>
          <p:nvPr>
            <p:ph type="ftr" sz="quarter" idx="11"/>
          </p:nvPr>
        </p:nvSpPr>
        <p:spPr>
          <a:xfrm>
            <a:off x="2209800" y="6356350"/>
            <a:ext cx="5029200" cy="365125"/>
          </a:xfrm>
        </p:spPr>
        <p:txBody>
          <a:bodyPr/>
          <a:lstStyle/>
          <a:p>
            <a:r>
              <a:rPr lang="en-US"/>
              <a:t>Ms. Purnima Pal      High Performance Computing             Unit III     </a:t>
            </a:r>
            <a:endParaRPr lang="en-US" dirty="0"/>
          </a:p>
        </p:txBody>
      </p:sp>
      <p:sp>
        <p:nvSpPr>
          <p:cNvPr id="7" name="Slide Number Placeholder 6"/>
          <p:cNvSpPr>
            <a:spLocks noGrp="1"/>
          </p:cNvSpPr>
          <p:nvPr>
            <p:ph type="sldNum" sz="quarter" idx="12"/>
          </p:nvPr>
        </p:nvSpPr>
        <p:spPr/>
        <p:txBody>
          <a:bodyPr/>
          <a:lstStyle/>
          <a:p>
            <a:fld id="{AE566132-A42B-4D26-9C08-B059D352BBB6}" type="slidenum">
              <a:rPr lang="en-US" smtClean="0"/>
              <a:pPr/>
              <a:t>36</a:t>
            </a:fld>
            <a:endParaRPr lang="en-US"/>
          </a:p>
        </p:txBody>
      </p:sp>
      <p:sp>
        <p:nvSpPr>
          <p:cNvPr id="5" name="Title 1">
            <a:extLst>
              <a:ext uri="{FF2B5EF4-FFF2-40B4-BE49-F238E27FC236}">
                <a16:creationId xmlns:a16="http://schemas.microsoft.com/office/drawing/2014/main" id="{74C97CF1-3A45-326E-4C1F-9015608E62E8}"/>
              </a:ext>
            </a:extLst>
          </p:cNvPr>
          <p:cNvSpPr txBox="1">
            <a:spLocks/>
          </p:cNvSpPr>
          <p:nvPr/>
        </p:nvSpPr>
        <p:spPr>
          <a:xfrm>
            <a:off x="1259088" y="0"/>
            <a:ext cx="7876271"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r>
              <a:rPr lang="en-US" sz="2400" b="1" dirty="0"/>
              <a:t>Butterfly and Dragonfly</a:t>
            </a:r>
          </a:p>
        </p:txBody>
      </p:sp>
      <p:pic>
        <p:nvPicPr>
          <p:cNvPr id="8" name="Content Placeholder 7">
            <a:extLst>
              <a:ext uri="{FF2B5EF4-FFF2-40B4-BE49-F238E27FC236}">
                <a16:creationId xmlns:a16="http://schemas.microsoft.com/office/drawing/2014/main" id="{FDFC670F-E55F-841E-B5F0-3B3B4D0C6611}"/>
              </a:ext>
            </a:extLst>
          </p:cNvPr>
          <p:cNvPicPr>
            <a:picLocks noGrp="1" noChangeAspect="1"/>
          </p:cNvPicPr>
          <p:nvPr>
            <p:ph idx="1"/>
          </p:nvPr>
        </p:nvPicPr>
        <p:blipFill>
          <a:blip r:embed="rId2"/>
          <a:stretch>
            <a:fillRect/>
          </a:stretch>
        </p:blipFill>
        <p:spPr>
          <a:xfrm>
            <a:off x="990600" y="1828800"/>
            <a:ext cx="2758679" cy="2491956"/>
          </a:xfrm>
        </p:spPr>
      </p:pic>
      <p:pic>
        <p:nvPicPr>
          <p:cNvPr id="11" name="Picture 10">
            <a:extLst>
              <a:ext uri="{FF2B5EF4-FFF2-40B4-BE49-F238E27FC236}">
                <a16:creationId xmlns:a16="http://schemas.microsoft.com/office/drawing/2014/main" id="{4A5D9A82-09BB-1B95-3C9A-3B4469402AC7}"/>
              </a:ext>
            </a:extLst>
          </p:cNvPr>
          <p:cNvPicPr>
            <a:picLocks noChangeAspect="1"/>
          </p:cNvPicPr>
          <p:nvPr/>
        </p:nvPicPr>
        <p:blipFill>
          <a:blip r:embed="rId3"/>
          <a:stretch>
            <a:fillRect/>
          </a:stretch>
        </p:blipFill>
        <p:spPr>
          <a:xfrm>
            <a:off x="5336850" y="1790697"/>
            <a:ext cx="2789162" cy="2530059"/>
          </a:xfrm>
          <a:prstGeom prst="rect">
            <a:avLst/>
          </a:prstGeom>
        </p:spPr>
      </p:pic>
      <p:sp>
        <p:nvSpPr>
          <p:cNvPr id="13" name="TextBox 12">
            <a:extLst>
              <a:ext uri="{FF2B5EF4-FFF2-40B4-BE49-F238E27FC236}">
                <a16:creationId xmlns:a16="http://schemas.microsoft.com/office/drawing/2014/main" id="{78862FF4-FFB2-5F4C-8CE5-FE857A99B59D}"/>
              </a:ext>
            </a:extLst>
          </p:cNvPr>
          <p:cNvSpPr txBox="1"/>
          <p:nvPr/>
        </p:nvSpPr>
        <p:spPr>
          <a:xfrm>
            <a:off x="2899649" y="887967"/>
            <a:ext cx="4595148" cy="369332"/>
          </a:xfrm>
          <a:prstGeom prst="rect">
            <a:avLst/>
          </a:prstGeom>
          <a:noFill/>
        </p:spPr>
        <p:txBody>
          <a:bodyPr wrap="square">
            <a:spAutoFit/>
          </a:bodyPr>
          <a:lstStyle/>
          <a:p>
            <a:r>
              <a:rPr lang="en-US" sz="1800" b="1" dirty="0"/>
              <a:t>Butterfly   </a:t>
            </a:r>
            <a:r>
              <a:rPr lang="en-US" b="1" dirty="0"/>
              <a:t>                                         </a:t>
            </a:r>
            <a:r>
              <a:rPr lang="en-US" sz="1800" b="1" dirty="0"/>
              <a:t> Dragonfly</a:t>
            </a:r>
          </a:p>
        </p:txBody>
      </p:sp>
    </p:spTree>
    <p:extLst>
      <p:ext uri="{BB962C8B-B14F-4D97-AF65-F5344CB8AC3E}">
        <p14:creationId xmlns:p14="http://schemas.microsoft.com/office/powerpoint/2010/main" val="185494345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a:spLocks/>
          </p:cNvSpPr>
          <p:nvPr/>
        </p:nvSpPr>
        <p:spPr>
          <a:xfrm>
            <a:off x="1300506" y="0"/>
            <a:ext cx="7810500" cy="685799"/>
          </a:xfrm>
          <a:prstGeom prst="rect">
            <a:avLst/>
          </a:prstGeom>
          <a:solidFill>
            <a:schemeClr val="accent2"/>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r>
              <a:rPr lang="en-US" sz="2400" b="1" dirty="0"/>
              <a:t>Software Design</a:t>
            </a:r>
          </a:p>
        </p:txBody>
      </p:sp>
      <p:sp>
        <p:nvSpPr>
          <p:cNvPr id="2" name="Date Placeholder 1"/>
          <p:cNvSpPr>
            <a:spLocks noGrp="1"/>
          </p:cNvSpPr>
          <p:nvPr>
            <p:ph type="dt" sz="half" idx="10"/>
          </p:nvPr>
        </p:nvSpPr>
        <p:spPr/>
        <p:txBody>
          <a:bodyPr/>
          <a:lstStyle/>
          <a:p>
            <a:fld id="{3C184BD5-FDCB-4EE8-B007-2500B05B33F2}" type="datetime1">
              <a:rPr lang="en-IN" smtClean="0"/>
              <a:t>21-07-2025</a:t>
            </a:fld>
            <a:endParaRPr lang="en-US"/>
          </a:p>
        </p:txBody>
      </p:sp>
      <p:sp>
        <p:nvSpPr>
          <p:cNvPr id="6" name="Footer Placeholder 5"/>
          <p:cNvSpPr>
            <a:spLocks noGrp="1"/>
          </p:cNvSpPr>
          <p:nvPr>
            <p:ph type="ftr" sz="quarter" idx="11"/>
          </p:nvPr>
        </p:nvSpPr>
        <p:spPr>
          <a:xfrm>
            <a:off x="2209800" y="6356350"/>
            <a:ext cx="5029200" cy="365125"/>
          </a:xfrm>
        </p:spPr>
        <p:txBody>
          <a:bodyPr/>
          <a:lstStyle/>
          <a:p>
            <a:r>
              <a:rPr lang="en-US"/>
              <a:t>Ms. Purnima Pal      High Performance Computing             Unit III     </a:t>
            </a:r>
            <a:endParaRPr lang="en-US" dirty="0"/>
          </a:p>
        </p:txBody>
      </p:sp>
      <p:sp>
        <p:nvSpPr>
          <p:cNvPr id="7" name="Slide Number Placeholder 6"/>
          <p:cNvSpPr>
            <a:spLocks noGrp="1"/>
          </p:cNvSpPr>
          <p:nvPr>
            <p:ph type="sldNum" sz="quarter" idx="12"/>
          </p:nvPr>
        </p:nvSpPr>
        <p:spPr/>
        <p:txBody>
          <a:bodyPr/>
          <a:lstStyle/>
          <a:p>
            <a:fld id="{AE566132-A42B-4D26-9C08-B059D352BBB6}" type="slidenum">
              <a:rPr lang="en-US" smtClean="0"/>
              <a:pPr/>
              <a:t>37</a:t>
            </a:fld>
            <a:endParaRPr lang="en-US"/>
          </a:p>
        </p:txBody>
      </p:sp>
      <p:sp>
        <p:nvSpPr>
          <p:cNvPr id="5" name="Title 1">
            <a:extLst>
              <a:ext uri="{FF2B5EF4-FFF2-40B4-BE49-F238E27FC236}">
                <a16:creationId xmlns:a16="http://schemas.microsoft.com/office/drawing/2014/main" id="{74C97CF1-3A45-326E-4C1F-9015608E62E8}"/>
              </a:ext>
            </a:extLst>
          </p:cNvPr>
          <p:cNvSpPr txBox="1">
            <a:spLocks/>
          </p:cNvSpPr>
          <p:nvPr/>
        </p:nvSpPr>
        <p:spPr>
          <a:xfrm>
            <a:off x="1259088" y="0"/>
            <a:ext cx="7876271"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r>
              <a:rPr lang="en-US" sz="2400" b="1" dirty="0"/>
              <a:t>Network optimization </a:t>
            </a:r>
          </a:p>
        </p:txBody>
      </p:sp>
      <p:sp>
        <p:nvSpPr>
          <p:cNvPr id="9" name="Content Placeholder 8">
            <a:extLst>
              <a:ext uri="{FF2B5EF4-FFF2-40B4-BE49-F238E27FC236}">
                <a16:creationId xmlns:a16="http://schemas.microsoft.com/office/drawing/2014/main" id="{D6AFE47B-73F8-D123-148D-DFDD304BF0C9}"/>
              </a:ext>
            </a:extLst>
          </p:cNvPr>
          <p:cNvSpPr>
            <a:spLocks noGrp="1"/>
          </p:cNvSpPr>
          <p:nvPr>
            <p:ph idx="1"/>
          </p:nvPr>
        </p:nvSpPr>
        <p:spPr/>
        <p:txBody>
          <a:bodyPr>
            <a:normAutofit fontScale="55000" lnSpcReduction="20000"/>
          </a:bodyPr>
          <a:lstStyle/>
          <a:p>
            <a:pPr marL="0" indent="0">
              <a:buNone/>
            </a:pPr>
            <a:r>
              <a:rPr lang="en-US" dirty="0"/>
              <a:t>Network optimization in distributed memory systems focuses on improving communication performance between nodes that have their own local memory. This is crucial for achieving high efficiency and scalability in parallel and distributed computing environments. Key strategies include optimizing data transfer, minimizing latency, and efficiently distributing workloads. </a:t>
            </a:r>
          </a:p>
          <a:p>
            <a:pPr marL="0" indent="0">
              <a:buNone/>
            </a:pPr>
            <a:r>
              <a:rPr lang="en-US" dirty="0"/>
              <a:t>Network optimization techniques in distributed memory:</a:t>
            </a:r>
          </a:p>
          <a:p>
            <a:pPr marL="0" indent="0">
              <a:buNone/>
            </a:pPr>
            <a:r>
              <a:rPr lang="en-US" dirty="0"/>
              <a:t>1. Data Partitioning and Distribution:</a:t>
            </a:r>
          </a:p>
          <a:p>
            <a:r>
              <a:rPr lang="en-US" dirty="0" err="1"/>
              <a:t>Sharding</a:t>
            </a:r>
            <a:r>
              <a:rPr lang="en-US" dirty="0"/>
              <a:t>:</a:t>
            </a:r>
          </a:p>
          <a:p>
            <a:r>
              <a:rPr lang="en-US" dirty="0"/>
              <a:t>Dividing large datasets into smaller, manageable chunks (shards) that are distributed across different nodes. This ensures that each node works on a subset of the data, reducing the amount of data that needs to be transferred over the network.</a:t>
            </a:r>
          </a:p>
          <a:p>
            <a:r>
              <a:rPr lang="en-US" dirty="0"/>
              <a:t>Replication:</a:t>
            </a:r>
          </a:p>
          <a:p>
            <a:r>
              <a:rPr lang="en-US" dirty="0"/>
              <a:t>Creating multiple copies of data on different nodes to improve data availability and reduce latency for read operations.</a:t>
            </a:r>
          </a:p>
          <a:p>
            <a:r>
              <a:rPr lang="en-US" dirty="0"/>
              <a:t>Consistent Hashing:</a:t>
            </a:r>
          </a:p>
          <a:p>
            <a:r>
              <a:rPr lang="en-US" dirty="0"/>
              <a:t>Distributing data across nodes in a way that minimizes data redistribution when nodes are added or removed from the system, maintaining data consistency. </a:t>
            </a:r>
          </a:p>
        </p:txBody>
      </p:sp>
    </p:spTree>
    <p:extLst>
      <p:ext uri="{BB962C8B-B14F-4D97-AF65-F5344CB8AC3E}">
        <p14:creationId xmlns:p14="http://schemas.microsoft.com/office/powerpoint/2010/main" val="275942017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a:spLocks/>
          </p:cNvSpPr>
          <p:nvPr/>
        </p:nvSpPr>
        <p:spPr>
          <a:xfrm>
            <a:off x="1300506" y="0"/>
            <a:ext cx="7810500" cy="685799"/>
          </a:xfrm>
          <a:prstGeom prst="rect">
            <a:avLst/>
          </a:prstGeom>
          <a:solidFill>
            <a:schemeClr val="accent2"/>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r>
              <a:rPr lang="en-US" sz="2400" b="1" dirty="0"/>
              <a:t>Software Design</a:t>
            </a:r>
          </a:p>
        </p:txBody>
      </p:sp>
      <p:sp>
        <p:nvSpPr>
          <p:cNvPr id="2" name="Date Placeholder 1"/>
          <p:cNvSpPr>
            <a:spLocks noGrp="1"/>
          </p:cNvSpPr>
          <p:nvPr>
            <p:ph type="dt" sz="half" idx="10"/>
          </p:nvPr>
        </p:nvSpPr>
        <p:spPr/>
        <p:txBody>
          <a:bodyPr/>
          <a:lstStyle/>
          <a:p>
            <a:fld id="{549C8FF3-3165-4974-A186-F278A66C84A5}" type="datetime1">
              <a:rPr lang="en-IN" smtClean="0"/>
              <a:t>21-07-2025</a:t>
            </a:fld>
            <a:endParaRPr lang="en-US"/>
          </a:p>
        </p:txBody>
      </p:sp>
      <p:sp>
        <p:nvSpPr>
          <p:cNvPr id="6" name="Footer Placeholder 5"/>
          <p:cNvSpPr>
            <a:spLocks noGrp="1"/>
          </p:cNvSpPr>
          <p:nvPr>
            <p:ph type="ftr" sz="quarter" idx="11"/>
          </p:nvPr>
        </p:nvSpPr>
        <p:spPr>
          <a:xfrm>
            <a:off x="2209800" y="6356350"/>
            <a:ext cx="5029200" cy="365125"/>
          </a:xfrm>
        </p:spPr>
        <p:txBody>
          <a:bodyPr/>
          <a:lstStyle/>
          <a:p>
            <a:r>
              <a:rPr lang="en-US"/>
              <a:t>Ms. Purnima Pal      High Performance Computing             Unit III     </a:t>
            </a:r>
            <a:endParaRPr lang="en-US" dirty="0"/>
          </a:p>
        </p:txBody>
      </p:sp>
      <p:sp>
        <p:nvSpPr>
          <p:cNvPr id="7" name="Slide Number Placeholder 6"/>
          <p:cNvSpPr>
            <a:spLocks noGrp="1"/>
          </p:cNvSpPr>
          <p:nvPr>
            <p:ph type="sldNum" sz="quarter" idx="12"/>
          </p:nvPr>
        </p:nvSpPr>
        <p:spPr/>
        <p:txBody>
          <a:bodyPr/>
          <a:lstStyle/>
          <a:p>
            <a:fld id="{AE566132-A42B-4D26-9C08-B059D352BBB6}" type="slidenum">
              <a:rPr lang="en-US" smtClean="0"/>
              <a:pPr/>
              <a:t>38</a:t>
            </a:fld>
            <a:endParaRPr lang="en-US"/>
          </a:p>
        </p:txBody>
      </p:sp>
      <p:sp>
        <p:nvSpPr>
          <p:cNvPr id="5" name="Title 1">
            <a:extLst>
              <a:ext uri="{FF2B5EF4-FFF2-40B4-BE49-F238E27FC236}">
                <a16:creationId xmlns:a16="http://schemas.microsoft.com/office/drawing/2014/main" id="{74C97CF1-3A45-326E-4C1F-9015608E62E8}"/>
              </a:ext>
            </a:extLst>
          </p:cNvPr>
          <p:cNvSpPr txBox="1">
            <a:spLocks/>
          </p:cNvSpPr>
          <p:nvPr/>
        </p:nvSpPr>
        <p:spPr>
          <a:xfrm>
            <a:off x="1293812" y="0"/>
            <a:ext cx="7876271"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r>
              <a:rPr lang="en-US" sz="2400" b="1" dirty="0"/>
              <a:t>Network optimization </a:t>
            </a:r>
          </a:p>
        </p:txBody>
      </p:sp>
      <p:sp>
        <p:nvSpPr>
          <p:cNvPr id="9" name="Content Placeholder 8">
            <a:extLst>
              <a:ext uri="{FF2B5EF4-FFF2-40B4-BE49-F238E27FC236}">
                <a16:creationId xmlns:a16="http://schemas.microsoft.com/office/drawing/2014/main" id="{D6AFE47B-73F8-D123-148D-DFDD304BF0C9}"/>
              </a:ext>
            </a:extLst>
          </p:cNvPr>
          <p:cNvSpPr>
            <a:spLocks noGrp="1"/>
          </p:cNvSpPr>
          <p:nvPr>
            <p:ph idx="1"/>
          </p:nvPr>
        </p:nvSpPr>
        <p:spPr/>
        <p:txBody>
          <a:bodyPr>
            <a:normAutofit fontScale="47500" lnSpcReduction="20000"/>
          </a:bodyPr>
          <a:lstStyle/>
          <a:p>
            <a:r>
              <a:rPr lang="en-US" dirty="0"/>
              <a:t>Communication Optimization:</a:t>
            </a:r>
          </a:p>
          <a:p>
            <a:r>
              <a:rPr lang="en-US" dirty="0"/>
              <a:t>Message Passing Interface (MPI):</a:t>
            </a:r>
          </a:p>
          <a:p>
            <a:r>
              <a:rPr lang="en-US" dirty="0"/>
              <a:t>A standard for writing parallel programs that allows processes to communicate and synchronize with each other. Optimizing MPI communication patterns (e.g., reducing communication volume, using collective operations) can significantly improve performance. </a:t>
            </a:r>
          </a:p>
          <a:p>
            <a:r>
              <a:rPr lang="en-US" dirty="0"/>
              <a:t>Remote Direct Memory Access (RDMA):</a:t>
            </a:r>
          </a:p>
          <a:p>
            <a:r>
              <a:rPr lang="en-US" dirty="0"/>
              <a:t>Allows one node to directly access the memory of another node without involving the CPU of the remote node. This can significantly reduce latency and improve throughput for data transfers. </a:t>
            </a:r>
          </a:p>
          <a:p>
            <a:r>
              <a:rPr lang="en-US" dirty="0"/>
              <a:t>Network-on-Chip (</a:t>
            </a:r>
            <a:r>
              <a:rPr lang="en-US" dirty="0" err="1"/>
              <a:t>NoC</a:t>
            </a:r>
            <a:r>
              <a:rPr lang="en-US" dirty="0"/>
              <a:t>):</a:t>
            </a:r>
          </a:p>
          <a:p>
            <a:r>
              <a:rPr lang="en-US" dirty="0"/>
              <a:t>Integrated circuits that implement the communication network within a single chip, offering low latency and high bandwidth for data transfer between cores. </a:t>
            </a:r>
            <a:r>
              <a:rPr lang="en-US" dirty="0" err="1"/>
              <a:t>NoCs</a:t>
            </a:r>
            <a:r>
              <a:rPr lang="en-US" dirty="0"/>
              <a:t> are becoming increasingly important in multi-core and many-core processors. </a:t>
            </a:r>
          </a:p>
          <a:p>
            <a:r>
              <a:rPr lang="en-US" dirty="0"/>
              <a:t>Data Compression:</a:t>
            </a:r>
          </a:p>
          <a:p>
            <a:r>
              <a:rPr lang="en-US" dirty="0"/>
              <a:t>Compressing data before transmission can reduce the amount of data that needs to be transferred, leading to faster transfer times, especially for large datasets. </a:t>
            </a:r>
          </a:p>
          <a:p>
            <a:r>
              <a:rPr lang="en-US" dirty="0"/>
              <a:t>Caching:</a:t>
            </a:r>
          </a:p>
          <a:p>
            <a:r>
              <a:rPr lang="en-US" dirty="0"/>
              <a:t>Utilizing caching mechanisms on nodes can reduce the need to access remote data, minimizing network traffic and latency. This can involve caching data in local memory or on faster storage devices like SSDs. </a:t>
            </a:r>
          </a:p>
        </p:txBody>
      </p:sp>
    </p:spTree>
    <p:extLst>
      <p:ext uri="{BB962C8B-B14F-4D97-AF65-F5344CB8AC3E}">
        <p14:creationId xmlns:p14="http://schemas.microsoft.com/office/powerpoint/2010/main" val="98143189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a:spLocks/>
          </p:cNvSpPr>
          <p:nvPr/>
        </p:nvSpPr>
        <p:spPr>
          <a:xfrm>
            <a:off x="1300506" y="0"/>
            <a:ext cx="7810500" cy="685799"/>
          </a:xfrm>
          <a:prstGeom prst="rect">
            <a:avLst/>
          </a:prstGeom>
          <a:solidFill>
            <a:schemeClr val="accent2"/>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r>
              <a:rPr lang="en-US" sz="2400" b="1" dirty="0"/>
              <a:t>Software Design</a:t>
            </a:r>
          </a:p>
        </p:txBody>
      </p:sp>
      <p:sp>
        <p:nvSpPr>
          <p:cNvPr id="2" name="Date Placeholder 1"/>
          <p:cNvSpPr>
            <a:spLocks noGrp="1"/>
          </p:cNvSpPr>
          <p:nvPr>
            <p:ph type="dt" sz="half" idx="10"/>
          </p:nvPr>
        </p:nvSpPr>
        <p:spPr/>
        <p:txBody>
          <a:bodyPr/>
          <a:lstStyle/>
          <a:p>
            <a:fld id="{91F6802B-B3A2-44E6-9252-028687188199}" type="datetime1">
              <a:rPr lang="en-IN" smtClean="0"/>
              <a:t>21-07-2025</a:t>
            </a:fld>
            <a:endParaRPr lang="en-US"/>
          </a:p>
        </p:txBody>
      </p:sp>
      <p:sp>
        <p:nvSpPr>
          <p:cNvPr id="6" name="Footer Placeholder 5"/>
          <p:cNvSpPr>
            <a:spLocks noGrp="1"/>
          </p:cNvSpPr>
          <p:nvPr>
            <p:ph type="ftr" sz="quarter" idx="11"/>
          </p:nvPr>
        </p:nvSpPr>
        <p:spPr>
          <a:xfrm>
            <a:off x="2209800" y="6356350"/>
            <a:ext cx="5029200" cy="365125"/>
          </a:xfrm>
        </p:spPr>
        <p:txBody>
          <a:bodyPr/>
          <a:lstStyle/>
          <a:p>
            <a:r>
              <a:rPr lang="en-US"/>
              <a:t>Ms. Purnima Pal      High Performance Computing             Unit III     </a:t>
            </a:r>
            <a:endParaRPr lang="en-US" dirty="0"/>
          </a:p>
        </p:txBody>
      </p:sp>
      <p:sp>
        <p:nvSpPr>
          <p:cNvPr id="7" name="Slide Number Placeholder 6"/>
          <p:cNvSpPr>
            <a:spLocks noGrp="1"/>
          </p:cNvSpPr>
          <p:nvPr>
            <p:ph type="sldNum" sz="quarter" idx="12"/>
          </p:nvPr>
        </p:nvSpPr>
        <p:spPr/>
        <p:txBody>
          <a:bodyPr/>
          <a:lstStyle/>
          <a:p>
            <a:fld id="{AE566132-A42B-4D26-9C08-B059D352BBB6}" type="slidenum">
              <a:rPr lang="en-US" smtClean="0"/>
              <a:pPr/>
              <a:t>39</a:t>
            </a:fld>
            <a:endParaRPr lang="en-US"/>
          </a:p>
        </p:txBody>
      </p:sp>
      <p:sp>
        <p:nvSpPr>
          <p:cNvPr id="5" name="Title 1">
            <a:extLst>
              <a:ext uri="{FF2B5EF4-FFF2-40B4-BE49-F238E27FC236}">
                <a16:creationId xmlns:a16="http://schemas.microsoft.com/office/drawing/2014/main" id="{74C97CF1-3A45-326E-4C1F-9015608E62E8}"/>
              </a:ext>
            </a:extLst>
          </p:cNvPr>
          <p:cNvSpPr txBox="1">
            <a:spLocks/>
          </p:cNvSpPr>
          <p:nvPr/>
        </p:nvSpPr>
        <p:spPr>
          <a:xfrm>
            <a:off x="1293812" y="0"/>
            <a:ext cx="7876271"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r>
              <a:rPr lang="en-US" sz="2400" b="1"/>
              <a:t>Network optimization </a:t>
            </a:r>
            <a:endParaRPr lang="en-US" sz="2400" b="1" dirty="0"/>
          </a:p>
        </p:txBody>
      </p:sp>
      <p:sp>
        <p:nvSpPr>
          <p:cNvPr id="9" name="Content Placeholder 8">
            <a:extLst>
              <a:ext uri="{FF2B5EF4-FFF2-40B4-BE49-F238E27FC236}">
                <a16:creationId xmlns:a16="http://schemas.microsoft.com/office/drawing/2014/main" id="{D6AFE47B-73F8-D123-148D-DFDD304BF0C9}"/>
              </a:ext>
            </a:extLst>
          </p:cNvPr>
          <p:cNvSpPr>
            <a:spLocks noGrp="1"/>
          </p:cNvSpPr>
          <p:nvPr>
            <p:ph idx="1"/>
          </p:nvPr>
        </p:nvSpPr>
        <p:spPr/>
        <p:txBody>
          <a:bodyPr>
            <a:normAutofit fontScale="47500" lnSpcReduction="20000"/>
          </a:bodyPr>
          <a:lstStyle/>
          <a:p>
            <a:pPr marL="0" indent="0">
              <a:buNone/>
            </a:pPr>
            <a:r>
              <a:rPr lang="en-US" dirty="0"/>
              <a:t>Load Balancing:</a:t>
            </a:r>
          </a:p>
          <a:p>
            <a:r>
              <a:rPr lang="en-US" dirty="0"/>
              <a:t>Distributing workloads evenly:</a:t>
            </a:r>
          </a:p>
          <a:p>
            <a:r>
              <a:rPr lang="en-US" dirty="0"/>
              <a:t>Distributing tasks across nodes to prevent any single node from becoming a bottleneck. This ensures that all nodes are utilized efficiently, maximizing overall system throughput.</a:t>
            </a:r>
          </a:p>
          <a:p>
            <a:r>
              <a:rPr lang="en-US" dirty="0"/>
              <a:t>Dynamic load balancing:</a:t>
            </a:r>
          </a:p>
          <a:p>
            <a:r>
              <a:rPr lang="en-US" dirty="0"/>
              <a:t>Adjusting the distribution of tasks dynamically based on the current workload of each node. This can involve moving tasks between nodes to balance the load as needed. </a:t>
            </a:r>
          </a:p>
          <a:p>
            <a:pPr marL="0" indent="0">
              <a:buNone/>
            </a:pPr>
            <a:endParaRPr lang="en-US" dirty="0"/>
          </a:p>
          <a:p>
            <a:pPr marL="0" indent="0">
              <a:buNone/>
            </a:pPr>
            <a:r>
              <a:rPr lang="en-US" dirty="0"/>
              <a:t>Addressing Security Concerns:</a:t>
            </a:r>
          </a:p>
          <a:p>
            <a:r>
              <a:rPr lang="en-US" dirty="0"/>
              <a:t>Secure Distributed Algorithms:</a:t>
            </a:r>
          </a:p>
          <a:p>
            <a:r>
              <a:rPr lang="en-US" dirty="0"/>
              <a:t>Developing algorithms that can operate in a distributed manner while protecting sensitive data from eavesdropping or tampering.</a:t>
            </a:r>
          </a:p>
          <a:p>
            <a:r>
              <a:rPr lang="en-US" dirty="0"/>
              <a:t>Secure Multiparty Computation (MPC):</a:t>
            </a:r>
          </a:p>
          <a:p>
            <a:r>
              <a:rPr lang="en-US" dirty="0"/>
              <a:t>Allows multiple parties to jointly compute a function over their inputs while keeping those inputs private. This can be useful in distributed systems where data needs to be processed by multiple parties without revealing the data to each other. </a:t>
            </a:r>
          </a:p>
        </p:txBody>
      </p:sp>
    </p:spTree>
    <p:extLst>
      <p:ext uri="{BB962C8B-B14F-4D97-AF65-F5344CB8AC3E}">
        <p14:creationId xmlns:p14="http://schemas.microsoft.com/office/powerpoint/2010/main" val="199810926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a:spLocks/>
          </p:cNvSpPr>
          <p:nvPr/>
        </p:nvSpPr>
        <p:spPr>
          <a:xfrm>
            <a:off x="1300506" y="0"/>
            <a:ext cx="7810500" cy="685799"/>
          </a:xfrm>
          <a:prstGeom prst="rect">
            <a:avLst/>
          </a:prstGeom>
          <a:solidFill>
            <a:schemeClr val="accent2"/>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r>
              <a:rPr lang="en-US" sz="2400" b="1" dirty="0"/>
              <a:t>Software Design</a:t>
            </a:r>
          </a:p>
        </p:txBody>
      </p:sp>
      <p:sp>
        <p:nvSpPr>
          <p:cNvPr id="2" name="Date Placeholder 1"/>
          <p:cNvSpPr>
            <a:spLocks noGrp="1"/>
          </p:cNvSpPr>
          <p:nvPr>
            <p:ph type="dt" sz="half" idx="10"/>
          </p:nvPr>
        </p:nvSpPr>
        <p:spPr/>
        <p:txBody>
          <a:bodyPr/>
          <a:lstStyle/>
          <a:p>
            <a:fld id="{8C16972B-8500-4D2B-8C6B-7B3688DD7BC4}" type="datetime1">
              <a:rPr lang="en-IN" smtClean="0"/>
              <a:t>21-07-2025</a:t>
            </a:fld>
            <a:endParaRPr lang="en-US"/>
          </a:p>
        </p:txBody>
      </p:sp>
      <p:sp>
        <p:nvSpPr>
          <p:cNvPr id="6" name="Footer Placeholder 5"/>
          <p:cNvSpPr>
            <a:spLocks noGrp="1"/>
          </p:cNvSpPr>
          <p:nvPr>
            <p:ph type="ftr" sz="quarter" idx="11"/>
          </p:nvPr>
        </p:nvSpPr>
        <p:spPr>
          <a:xfrm>
            <a:off x="2209800" y="6356350"/>
            <a:ext cx="5029200" cy="365125"/>
          </a:xfrm>
        </p:spPr>
        <p:txBody>
          <a:bodyPr/>
          <a:lstStyle/>
          <a:p>
            <a:r>
              <a:rPr lang="en-US"/>
              <a:t>Ms. Purnima Pal      High Performance Computing             Unit III     </a:t>
            </a:r>
            <a:endParaRPr lang="en-US" dirty="0"/>
          </a:p>
        </p:txBody>
      </p:sp>
      <p:sp>
        <p:nvSpPr>
          <p:cNvPr id="7" name="Slide Number Placeholder 6"/>
          <p:cNvSpPr>
            <a:spLocks noGrp="1"/>
          </p:cNvSpPr>
          <p:nvPr>
            <p:ph type="sldNum" sz="quarter" idx="12"/>
          </p:nvPr>
        </p:nvSpPr>
        <p:spPr/>
        <p:txBody>
          <a:bodyPr/>
          <a:lstStyle/>
          <a:p>
            <a:fld id="{AE566132-A42B-4D26-9C08-B059D352BBB6}" type="slidenum">
              <a:rPr lang="en-US" smtClean="0"/>
              <a:pPr/>
              <a:t>40</a:t>
            </a:fld>
            <a:endParaRPr lang="en-US"/>
          </a:p>
        </p:txBody>
      </p:sp>
      <p:sp>
        <p:nvSpPr>
          <p:cNvPr id="5" name="Title 1">
            <a:extLst>
              <a:ext uri="{FF2B5EF4-FFF2-40B4-BE49-F238E27FC236}">
                <a16:creationId xmlns:a16="http://schemas.microsoft.com/office/drawing/2014/main" id="{74C97CF1-3A45-326E-4C1F-9015608E62E8}"/>
              </a:ext>
            </a:extLst>
          </p:cNvPr>
          <p:cNvSpPr txBox="1">
            <a:spLocks/>
          </p:cNvSpPr>
          <p:nvPr/>
        </p:nvSpPr>
        <p:spPr>
          <a:xfrm>
            <a:off x="1293812" y="0"/>
            <a:ext cx="7876271"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r>
              <a:rPr lang="en-US" sz="2400" b="1"/>
              <a:t>Network optimization </a:t>
            </a:r>
            <a:endParaRPr lang="en-US" sz="2400" b="1" dirty="0"/>
          </a:p>
        </p:txBody>
      </p:sp>
      <p:sp>
        <p:nvSpPr>
          <p:cNvPr id="9" name="Content Placeholder 8">
            <a:extLst>
              <a:ext uri="{FF2B5EF4-FFF2-40B4-BE49-F238E27FC236}">
                <a16:creationId xmlns:a16="http://schemas.microsoft.com/office/drawing/2014/main" id="{D6AFE47B-73F8-D123-148D-DFDD304BF0C9}"/>
              </a:ext>
            </a:extLst>
          </p:cNvPr>
          <p:cNvSpPr>
            <a:spLocks noGrp="1"/>
          </p:cNvSpPr>
          <p:nvPr>
            <p:ph idx="1"/>
          </p:nvPr>
        </p:nvSpPr>
        <p:spPr/>
        <p:txBody>
          <a:bodyPr>
            <a:normAutofit fontScale="55000" lnSpcReduction="20000"/>
          </a:bodyPr>
          <a:lstStyle/>
          <a:p>
            <a:r>
              <a:rPr lang="en-US" dirty="0"/>
              <a:t>Tools and Technologies:</a:t>
            </a:r>
          </a:p>
          <a:p>
            <a:r>
              <a:rPr lang="en-US" dirty="0" err="1"/>
              <a:t>MooseFS</a:t>
            </a:r>
            <a:r>
              <a:rPr lang="en-US" dirty="0"/>
              <a:t>:</a:t>
            </a:r>
          </a:p>
          <a:p>
            <a:r>
              <a:rPr lang="en-US" dirty="0"/>
              <a:t>A distributed file system that utilizes idle memory on compute nodes to improve memory utilization. </a:t>
            </a:r>
          </a:p>
          <a:p>
            <a:r>
              <a:rPr lang="en-US" dirty="0"/>
              <a:t>RDMA Buffer Pool (RBP):</a:t>
            </a:r>
          </a:p>
          <a:p>
            <a:r>
              <a:rPr lang="en-US" dirty="0"/>
              <a:t>Optimizes network performance for in-memory file systems by leveraging RDMA technology. </a:t>
            </a:r>
          </a:p>
          <a:p>
            <a:r>
              <a:rPr lang="en-US" dirty="0"/>
              <a:t>Spark:</a:t>
            </a:r>
          </a:p>
          <a:p>
            <a:r>
              <a:rPr lang="en-US" dirty="0"/>
              <a:t>A popular framework for distributed computing that includes various optimization techniques for in-memory data processing, including caching and shuffling. </a:t>
            </a:r>
          </a:p>
          <a:p>
            <a:r>
              <a:rPr lang="en-US" dirty="0"/>
              <a:t>Kubernetes:</a:t>
            </a:r>
          </a:p>
          <a:p>
            <a:r>
              <a:rPr lang="en-US" dirty="0"/>
              <a:t>An open-source container orchestration system that can be used to manage and scale distributed applications, including those that utilize distributed memory. </a:t>
            </a:r>
          </a:p>
          <a:p>
            <a:r>
              <a:rPr lang="en-US" dirty="0"/>
              <a:t>Network monitoring and analysis tools:</a:t>
            </a:r>
          </a:p>
          <a:p>
            <a:r>
              <a:rPr lang="en-US" dirty="0"/>
              <a:t>Used to identify bottlenecks and optimize network performance. </a:t>
            </a:r>
          </a:p>
        </p:txBody>
      </p:sp>
    </p:spTree>
    <p:extLst>
      <p:ext uri="{BB962C8B-B14F-4D97-AF65-F5344CB8AC3E}">
        <p14:creationId xmlns:p14="http://schemas.microsoft.com/office/powerpoint/2010/main" val="413297040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a:spLocks/>
          </p:cNvSpPr>
          <p:nvPr/>
        </p:nvSpPr>
        <p:spPr>
          <a:xfrm>
            <a:off x="1300506" y="0"/>
            <a:ext cx="7810500" cy="685799"/>
          </a:xfrm>
          <a:prstGeom prst="rect">
            <a:avLst/>
          </a:prstGeom>
          <a:solidFill>
            <a:schemeClr val="accent2"/>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r>
              <a:rPr lang="en-US" sz="2400" b="1" dirty="0"/>
              <a:t>Software Design</a:t>
            </a:r>
          </a:p>
        </p:txBody>
      </p:sp>
      <p:sp>
        <p:nvSpPr>
          <p:cNvPr id="2" name="Date Placeholder 1"/>
          <p:cNvSpPr>
            <a:spLocks noGrp="1"/>
          </p:cNvSpPr>
          <p:nvPr>
            <p:ph type="dt" sz="half" idx="10"/>
          </p:nvPr>
        </p:nvSpPr>
        <p:spPr/>
        <p:txBody>
          <a:bodyPr/>
          <a:lstStyle/>
          <a:p>
            <a:fld id="{8C0E3159-97F5-4B73-B3E3-68FD8E260713}" type="datetime1">
              <a:rPr lang="en-IN" smtClean="0"/>
              <a:t>21-07-2025</a:t>
            </a:fld>
            <a:endParaRPr lang="en-US"/>
          </a:p>
        </p:txBody>
      </p:sp>
      <p:sp>
        <p:nvSpPr>
          <p:cNvPr id="6" name="Footer Placeholder 5"/>
          <p:cNvSpPr>
            <a:spLocks noGrp="1"/>
          </p:cNvSpPr>
          <p:nvPr>
            <p:ph type="ftr" sz="quarter" idx="11"/>
          </p:nvPr>
        </p:nvSpPr>
        <p:spPr>
          <a:xfrm>
            <a:off x="2209800" y="6356350"/>
            <a:ext cx="5029200" cy="365125"/>
          </a:xfrm>
        </p:spPr>
        <p:txBody>
          <a:bodyPr/>
          <a:lstStyle/>
          <a:p>
            <a:r>
              <a:rPr lang="en-US"/>
              <a:t>Ms. Purnima Pal      High Performance Computing             Unit III     </a:t>
            </a:r>
            <a:endParaRPr lang="en-US" dirty="0"/>
          </a:p>
        </p:txBody>
      </p:sp>
      <p:sp>
        <p:nvSpPr>
          <p:cNvPr id="7" name="Slide Number Placeholder 6"/>
          <p:cNvSpPr>
            <a:spLocks noGrp="1"/>
          </p:cNvSpPr>
          <p:nvPr>
            <p:ph type="sldNum" sz="quarter" idx="12"/>
          </p:nvPr>
        </p:nvSpPr>
        <p:spPr/>
        <p:txBody>
          <a:bodyPr/>
          <a:lstStyle/>
          <a:p>
            <a:fld id="{AE566132-A42B-4D26-9C08-B059D352BBB6}" type="slidenum">
              <a:rPr lang="en-US" smtClean="0"/>
              <a:pPr/>
              <a:t>41</a:t>
            </a:fld>
            <a:endParaRPr lang="en-US"/>
          </a:p>
        </p:txBody>
      </p:sp>
      <p:sp>
        <p:nvSpPr>
          <p:cNvPr id="5" name="Title 1">
            <a:extLst>
              <a:ext uri="{FF2B5EF4-FFF2-40B4-BE49-F238E27FC236}">
                <a16:creationId xmlns:a16="http://schemas.microsoft.com/office/drawing/2014/main" id="{74C97CF1-3A45-326E-4C1F-9015608E62E8}"/>
              </a:ext>
            </a:extLst>
          </p:cNvPr>
          <p:cNvSpPr txBox="1">
            <a:spLocks/>
          </p:cNvSpPr>
          <p:nvPr/>
        </p:nvSpPr>
        <p:spPr>
          <a:xfrm>
            <a:off x="1199296" y="0"/>
            <a:ext cx="7970787"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r>
              <a:rPr lang="en-US" sz="2400" b="1" dirty="0"/>
              <a:t>Distributed BFS</a:t>
            </a:r>
          </a:p>
        </p:txBody>
      </p:sp>
      <p:sp>
        <p:nvSpPr>
          <p:cNvPr id="9" name="Content Placeholder 8">
            <a:extLst>
              <a:ext uri="{FF2B5EF4-FFF2-40B4-BE49-F238E27FC236}">
                <a16:creationId xmlns:a16="http://schemas.microsoft.com/office/drawing/2014/main" id="{D6AFE47B-73F8-D123-148D-DFDD304BF0C9}"/>
              </a:ext>
            </a:extLst>
          </p:cNvPr>
          <p:cNvSpPr>
            <a:spLocks noGrp="1"/>
          </p:cNvSpPr>
          <p:nvPr>
            <p:ph idx="1"/>
          </p:nvPr>
        </p:nvSpPr>
        <p:spPr/>
        <p:txBody>
          <a:bodyPr>
            <a:normAutofit fontScale="70000" lnSpcReduction="20000"/>
          </a:bodyPr>
          <a:lstStyle/>
          <a:p>
            <a:r>
              <a:rPr lang="en-US" dirty="0"/>
              <a:t>Distributed BFS is used to process large graphs efficiently, especially for finding shortest paths and detecting communities in networks.</a:t>
            </a:r>
          </a:p>
          <a:p>
            <a:r>
              <a:rPr lang="en-US" dirty="0"/>
              <a:t>It starts from a source vertex and explores the graph level by level using Breadth-First Search until all reachable vertices are visited.</a:t>
            </a:r>
          </a:p>
          <a:p>
            <a:r>
              <a:rPr lang="en-US" dirty="0"/>
              <a:t>The traversal order helps identify shortest paths between node pairs.</a:t>
            </a:r>
          </a:p>
          <a:p>
            <a:r>
              <a:rPr lang="en-US" dirty="0"/>
              <a:t>While there are many versions, the classic algorithm by </a:t>
            </a:r>
            <a:r>
              <a:rPr lang="en-US" dirty="0" err="1"/>
              <a:t>Leskovec</a:t>
            </a:r>
            <a:r>
              <a:rPr lang="en-US" dirty="0"/>
              <a:t> et al. is widely referenced.</a:t>
            </a:r>
          </a:p>
          <a:p>
            <a:r>
              <a:rPr lang="en-US" dirty="0"/>
              <a:t>Distributed BFS has practical applications in social networks (e.g., Twitter, Facebook), routing, and grid scheduling.</a:t>
            </a:r>
          </a:p>
          <a:p>
            <a:r>
              <a:rPr lang="en-US" dirty="0"/>
              <a:t>Compared to other graph algorithms like PageRank, distributed BFS is simple to implement and efficient in time and space.</a:t>
            </a:r>
          </a:p>
          <a:p>
            <a:r>
              <a:rPr lang="en-US" dirty="0"/>
              <a:t>It often finds shorter paths than alternative algorithms due to its systematic exploration.</a:t>
            </a:r>
          </a:p>
        </p:txBody>
      </p:sp>
    </p:spTree>
    <p:extLst>
      <p:ext uri="{BB962C8B-B14F-4D97-AF65-F5344CB8AC3E}">
        <p14:creationId xmlns:p14="http://schemas.microsoft.com/office/powerpoint/2010/main" val="29857724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a:spLocks/>
          </p:cNvSpPr>
          <p:nvPr/>
        </p:nvSpPr>
        <p:spPr>
          <a:xfrm>
            <a:off x="1300506" y="0"/>
            <a:ext cx="7810500" cy="685799"/>
          </a:xfrm>
          <a:prstGeom prst="rect">
            <a:avLst/>
          </a:prstGeom>
          <a:solidFill>
            <a:schemeClr val="accent2"/>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r>
              <a:rPr lang="en-US" sz="2400" b="1" dirty="0"/>
              <a:t>Software Design</a:t>
            </a:r>
          </a:p>
        </p:txBody>
      </p:sp>
      <p:sp>
        <p:nvSpPr>
          <p:cNvPr id="2" name="Date Placeholder 1"/>
          <p:cNvSpPr>
            <a:spLocks noGrp="1"/>
          </p:cNvSpPr>
          <p:nvPr>
            <p:ph type="dt" sz="half" idx="10"/>
          </p:nvPr>
        </p:nvSpPr>
        <p:spPr/>
        <p:txBody>
          <a:bodyPr/>
          <a:lstStyle/>
          <a:p>
            <a:fld id="{5FF504A0-8215-49EB-8AFA-9BF82F57E1F1}" type="datetime1">
              <a:rPr lang="en-IN" smtClean="0"/>
              <a:t>21-07-2025</a:t>
            </a:fld>
            <a:endParaRPr lang="en-US"/>
          </a:p>
        </p:txBody>
      </p:sp>
      <p:sp>
        <p:nvSpPr>
          <p:cNvPr id="6" name="Footer Placeholder 5"/>
          <p:cNvSpPr>
            <a:spLocks noGrp="1"/>
          </p:cNvSpPr>
          <p:nvPr>
            <p:ph type="ftr" sz="quarter" idx="11"/>
          </p:nvPr>
        </p:nvSpPr>
        <p:spPr>
          <a:xfrm>
            <a:off x="2209800" y="6356350"/>
            <a:ext cx="5029200" cy="365125"/>
          </a:xfrm>
        </p:spPr>
        <p:txBody>
          <a:bodyPr/>
          <a:lstStyle/>
          <a:p>
            <a:r>
              <a:rPr lang="en-US"/>
              <a:t>Ms. Purnima Pal      High Performance Computing             Unit III     </a:t>
            </a:r>
            <a:endParaRPr lang="en-US" dirty="0"/>
          </a:p>
        </p:txBody>
      </p:sp>
      <p:sp>
        <p:nvSpPr>
          <p:cNvPr id="7" name="Slide Number Placeholder 6"/>
          <p:cNvSpPr>
            <a:spLocks noGrp="1"/>
          </p:cNvSpPr>
          <p:nvPr>
            <p:ph type="sldNum" sz="quarter" idx="12"/>
          </p:nvPr>
        </p:nvSpPr>
        <p:spPr/>
        <p:txBody>
          <a:bodyPr/>
          <a:lstStyle/>
          <a:p>
            <a:fld id="{AE566132-A42B-4D26-9C08-B059D352BBB6}" type="slidenum">
              <a:rPr lang="en-US" smtClean="0"/>
              <a:pPr/>
              <a:t>42</a:t>
            </a:fld>
            <a:endParaRPr lang="en-US"/>
          </a:p>
        </p:txBody>
      </p:sp>
      <p:sp>
        <p:nvSpPr>
          <p:cNvPr id="5" name="Title 1">
            <a:extLst>
              <a:ext uri="{FF2B5EF4-FFF2-40B4-BE49-F238E27FC236}">
                <a16:creationId xmlns:a16="http://schemas.microsoft.com/office/drawing/2014/main" id="{74C97CF1-3A45-326E-4C1F-9015608E62E8}"/>
              </a:ext>
            </a:extLst>
          </p:cNvPr>
          <p:cNvSpPr txBox="1">
            <a:spLocks/>
          </p:cNvSpPr>
          <p:nvPr/>
        </p:nvSpPr>
        <p:spPr>
          <a:xfrm>
            <a:off x="1199296" y="0"/>
            <a:ext cx="7970787"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r>
              <a:rPr lang="en-US" sz="2400" b="1" dirty="0"/>
              <a:t>Distributed BFS</a:t>
            </a:r>
          </a:p>
        </p:txBody>
      </p:sp>
      <p:sp>
        <p:nvSpPr>
          <p:cNvPr id="9" name="Content Placeholder 8">
            <a:extLst>
              <a:ext uri="{FF2B5EF4-FFF2-40B4-BE49-F238E27FC236}">
                <a16:creationId xmlns:a16="http://schemas.microsoft.com/office/drawing/2014/main" id="{D6AFE47B-73F8-D123-148D-DFDD304BF0C9}"/>
              </a:ext>
            </a:extLst>
          </p:cNvPr>
          <p:cNvSpPr>
            <a:spLocks noGrp="1"/>
          </p:cNvSpPr>
          <p:nvPr>
            <p:ph idx="1"/>
          </p:nvPr>
        </p:nvSpPr>
        <p:spPr/>
        <p:txBody>
          <a:bodyPr/>
          <a:lstStyle/>
          <a:p>
            <a:endParaRPr lang="en-US"/>
          </a:p>
        </p:txBody>
      </p:sp>
      <p:pic>
        <p:nvPicPr>
          <p:cNvPr id="6146" name="Picture 2">
            <a:extLst>
              <a:ext uri="{FF2B5EF4-FFF2-40B4-BE49-F238E27FC236}">
                <a16:creationId xmlns:a16="http://schemas.microsoft.com/office/drawing/2014/main" id="{E5AEA01F-2D4C-8489-F98D-B82422221A7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801" y="1085850"/>
            <a:ext cx="8434388" cy="46863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7126475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a:spLocks/>
          </p:cNvSpPr>
          <p:nvPr/>
        </p:nvSpPr>
        <p:spPr>
          <a:xfrm>
            <a:off x="1300506" y="0"/>
            <a:ext cx="7810500" cy="685799"/>
          </a:xfrm>
          <a:prstGeom prst="rect">
            <a:avLst/>
          </a:prstGeom>
          <a:solidFill>
            <a:schemeClr val="accent2"/>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r>
              <a:rPr lang="en-US" sz="2400" b="1" dirty="0"/>
              <a:t>Software Design</a:t>
            </a:r>
          </a:p>
        </p:txBody>
      </p:sp>
      <p:sp>
        <p:nvSpPr>
          <p:cNvPr id="2" name="Date Placeholder 1"/>
          <p:cNvSpPr>
            <a:spLocks noGrp="1"/>
          </p:cNvSpPr>
          <p:nvPr>
            <p:ph type="dt" sz="half" idx="10"/>
          </p:nvPr>
        </p:nvSpPr>
        <p:spPr/>
        <p:txBody>
          <a:bodyPr/>
          <a:lstStyle/>
          <a:p>
            <a:fld id="{A24DD539-C842-4DC2-A570-0880EA681141}" type="datetime1">
              <a:rPr lang="en-IN" smtClean="0"/>
              <a:t>21-07-2025</a:t>
            </a:fld>
            <a:endParaRPr lang="en-US"/>
          </a:p>
        </p:txBody>
      </p:sp>
      <p:sp>
        <p:nvSpPr>
          <p:cNvPr id="6" name="Footer Placeholder 5"/>
          <p:cNvSpPr>
            <a:spLocks noGrp="1"/>
          </p:cNvSpPr>
          <p:nvPr>
            <p:ph type="ftr" sz="quarter" idx="11"/>
          </p:nvPr>
        </p:nvSpPr>
        <p:spPr>
          <a:xfrm>
            <a:off x="2209800" y="6356350"/>
            <a:ext cx="5029200" cy="365125"/>
          </a:xfrm>
        </p:spPr>
        <p:txBody>
          <a:bodyPr/>
          <a:lstStyle/>
          <a:p>
            <a:r>
              <a:rPr lang="en-US"/>
              <a:t>Ms. Purnima Pal      High Performance Computing             Unit III     </a:t>
            </a:r>
            <a:endParaRPr lang="en-US" dirty="0"/>
          </a:p>
        </p:txBody>
      </p:sp>
      <p:sp>
        <p:nvSpPr>
          <p:cNvPr id="7" name="Slide Number Placeholder 6"/>
          <p:cNvSpPr>
            <a:spLocks noGrp="1"/>
          </p:cNvSpPr>
          <p:nvPr>
            <p:ph type="sldNum" sz="quarter" idx="12"/>
          </p:nvPr>
        </p:nvSpPr>
        <p:spPr/>
        <p:txBody>
          <a:bodyPr/>
          <a:lstStyle/>
          <a:p>
            <a:fld id="{AE566132-A42B-4D26-9C08-B059D352BBB6}" type="slidenum">
              <a:rPr lang="en-US" smtClean="0"/>
              <a:pPr/>
              <a:t>43</a:t>
            </a:fld>
            <a:endParaRPr lang="en-US"/>
          </a:p>
        </p:txBody>
      </p:sp>
      <p:sp>
        <p:nvSpPr>
          <p:cNvPr id="5" name="Title 1">
            <a:extLst>
              <a:ext uri="{FF2B5EF4-FFF2-40B4-BE49-F238E27FC236}">
                <a16:creationId xmlns:a16="http://schemas.microsoft.com/office/drawing/2014/main" id="{74C97CF1-3A45-326E-4C1F-9015608E62E8}"/>
              </a:ext>
            </a:extLst>
          </p:cNvPr>
          <p:cNvSpPr txBox="1">
            <a:spLocks/>
          </p:cNvSpPr>
          <p:nvPr/>
        </p:nvSpPr>
        <p:spPr>
          <a:xfrm>
            <a:off x="1300651" y="0"/>
            <a:ext cx="7876271"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r>
              <a:rPr lang="en-US" sz="2400" b="1"/>
              <a:t>Working Of The Distributed BFS Algorithm</a:t>
            </a:r>
            <a:endParaRPr lang="en-US" sz="2400" b="1" dirty="0"/>
          </a:p>
        </p:txBody>
      </p:sp>
      <p:pic>
        <p:nvPicPr>
          <p:cNvPr id="3" name="Content Placeholder 2">
            <a:extLst>
              <a:ext uri="{FF2B5EF4-FFF2-40B4-BE49-F238E27FC236}">
                <a16:creationId xmlns:a16="http://schemas.microsoft.com/office/drawing/2014/main" id="{5F0DBB67-EC3B-034D-4D37-2AF2AD72E3BE}"/>
              </a:ext>
            </a:extLst>
          </p:cNvPr>
          <p:cNvPicPr>
            <a:picLocks noGrp="1" noChangeAspect="1"/>
          </p:cNvPicPr>
          <p:nvPr>
            <p:ph idx="1"/>
          </p:nvPr>
        </p:nvPicPr>
        <p:blipFill>
          <a:blip r:embed="rId2"/>
          <a:stretch>
            <a:fillRect/>
          </a:stretch>
        </p:blipFill>
        <p:spPr>
          <a:xfrm>
            <a:off x="2045842" y="1371600"/>
            <a:ext cx="5052316" cy="3665156"/>
          </a:xfrm>
          <a:prstGeom prst="rect">
            <a:avLst/>
          </a:prstGeom>
        </p:spPr>
      </p:pic>
    </p:spTree>
    <p:extLst>
      <p:ext uri="{BB962C8B-B14F-4D97-AF65-F5344CB8AC3E}">
        <p14:creationId xmlns:p14="http://schemas.microsoft.com/office/powerpoint/2010/main" val="114046341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a:spLocks/>
          </p:cNvSpPr>
          <p:nvPr/>
        </p:nvSpPr>
        <p:spPr>
          <a:xfrm>
            <a:off x="1300506" y="0"/>
            <a:ext cx="7810500" cy="685799"/>
          </a:xfrm>
          <a:prstGeom prst="rect">
            <a:avLst/>
          </a:prstGeom>
          <a:solidFill>
            <a:schemeClr val="accent2"/>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r>
              <a:rPr lang="en-US" sz="2400" b="1" dirty="0"/>
              <a:t>Software Design</a:t>
            </a:r>
          </a:p>
        </p:txBody>
      </p:sp>
      <p:sp>
        <p:nvSpPr>
          <p:cNvPr id="2" name="Date Placeholder 1"/>
          <p:cNvSpPr>
            <a:spLocks noGrp="1"/>
          </p:cNvSpPr>
          <p:nvPr>
            <p:ph type="dt" sz="half" idx="10"/>
          </p:nvPr>
        </p:nvSpPr>
        <p:spPr/>
        <p:txBody>
          <a:bodyPr/>
          <a:lstStyle/>
          <a:p>
            <a:fld id="{FE87F1EE-5E5C-46E9-9930-96E23CE8E606}" type="datetime1">
              <a:rPr lang="en-IN" smtClean="0"/>
              <a:t>21-07-2025</a:t>
            </a:fld>
            <a:endParaRPr lang="en-US"/>
          </a:p>
        </p:txBody>
      </p:sp>
      <p:sp>
        <p:nvSpPr>
          <p:cNvPr id="6" name="Footer Placeholder 5"/>
          <p:cNvSpPr>
            <a:spLocks noGrp="1"/>
          </p:cNvSpPr>
          <p:nvPr>
            <p:ph type="ftr" sz="quarter" idx="11"/>
          </p:nvPr>
        </p:nvSpPr>
        <p:spPr>
          <a:xfrm>
            <a:off x="2209800" y="6356350"/>
            <a:ext cx="5029200" cy="365125"/>
          </a:xfrm>
        </p:spPr>
        <p:txBody>
          <a:bodyPr/>
          <a:lstStyle/>
          <a:p>
            <a:r>
              <a:rPr lang="en-US"/>
              <a:t>Ms. Purnima Pal      High Performance Computing             Unit III     </a:t>
            </a:r>
            <a:endParaRPr lang="en-US" dirty="0"/>
          </a:p>
        </p:txBody>
      </p:sp>
      <p:sp>
        <p:nvSpPr>
          <p:cNvPr id="7" name="Slide Number Placeholder 6"/>
          <p:cNvSpPr>
            <a:spLocks noGrp="1"/>
          </p:cNvSpPr>
          <p:nvPr>
            <p:ph type="sldNum" sz="quarter" idx="12"/>
          </p:nvPr>
        </p:nvSpPr>
        <p:spPr/>
        <p:txBody>
          <a:bodyPr/>
          <a:lstStyle/>
          <a:p>
            <a:fld id="{AE566132-A42B-4D26-9C08-B059D352BBB6}" type="slidenum">
              <a:rPr lang="en-US" smtClean="0"/>
              <a:pPr/>
              <a:t>44</a:t>
            </a:fld>
            <a:endParaRPr lang="en-US"/>
          </a:p>
        </p:txBody>
      </p:sp>
      <p:sp>
        <p:nvSpPr>
          <p:cNvPr id="5" name="Title 1">
            <a:extLst>
              <a:ext uri="{FF2B5EF4-FFF2-40B4-BE49-F238E27FC236}">
                <a16:creationId xmlns:a16="http://schemas.microsoft.com/office/drawing/2014/main" id="{74C97CF1-3A45-326E-4C1F-9015608E62E8}"/>
              </a:ext>
            </a:extLst>
          </p:cNvPr>
          <p:cNvSpPr txBox="1">
            <a:spLocks/>
          </p:cNvSpPr>
          <p:nvPr/>
        </p:nvSpPr>
        <p:spPr>
          <a:xfrm>
            <a:off x="1316962" y="0"/>
            <a:ext cx="7876271"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r>
              <a:rPr lang="en-US" sz="2400" b="1" dirty="0"/>
              <a:t>Working Of The Distributed BFS Algorithm</a:t>
            </a:r>
          </a:p>
        </p:txBody>
      </p:sp>
      <p:sp>
        <p:nvSpPr>
          <p:cNvPr id="9" name="Content Placeholder 8">
            <a:extLst>
              <a:ext uri="{FF2B5EF4-FFF2-40B4-BE49-F238E27FC236}">
                <a16:creationId xmlns:a16="http://schemas.microsoft.com/office/drawing/2014/main" id="{D6AFE47B-73F8-D123-148D-DFDD304BF0C9}"/>
              </a:ext>
            </a:extLst>
          </p:cNvPr>
          <p:cNvSpPr>
            <a:spLocks noGrp="1"/>
          </p:cNvSpPr>
          <p:nvPr>
            <p:ph idx="1"/>
          </p:nvPr>
        </p:nvSpPr>
        <p:spPr/>
        <p:txBody>
          <a:bodyPr>
            <a:normAutofit fontScale="62500" lnSpcReduction="20000"/>
          </a:bodyPr>
          <a:lstStyle/>
          <a:p>
            <a:pPr algn="l"/>
            <a:r>
              <a:rPr lang="en-US" b="0" i="1" dirty="0">
                <a:solidFill>
                  <a:srgbClr val="242424"/>
                </a:solidFill>
                <a:effectLst/>
                <a:latin typeface="source-serif-pro"/>
              </a:rPr>
              <a:t>the distributed BFS algorithm proceeds as follows:</a:t>
            </a:r>
            <a:endParaRPr lang="en-US" b="0" i="0" dirty="0">
              <a:solidFill>
                <a:srgbClr val="242424"/>
              </a:solidFill>
              <a:effectLst/>
              <a:latin typeface="source-serif-pro"/>
            </a:endParaRPr>
          </a:p>
          <a:p>
            <a:pPr algn="l"/>
            <a:r>
              <a:rPr lang="en-US" b="0" i="1" dirty="0">
                <a:solidFill>
                  <a:srgbClr val="242424"/>
                </a:solidFill>
                <a:effectLst/>
                <a:latin typeface="source-serif-pro"/>
              </a:rPr>
              <a:t>1) Each node is assigned a unique ID.</a:t>
            </a:r>
            <a:endParaRPr lang="en-US" b="0" i="0" dirty="0">
              <a:solidFill>
                <a:srgbClr val="242424"/>
              </a:solidFill>
              <a:effectLst/>
              <a:latin typeface="source-serif-pro"/>
            </a:endParaRPr>
          </a:p>
          <a:p>
            <a:pPr algn="l"/>
            <a:r>
              <a:rPr lang="en-US" b="0" i="1" dirty="0">
                <a:solidFill>
                  <a:srgbClr val="242424"/>
                </a:solidFill>
                <a:effectLst/>
                <a:latin typeface="source-serif-pro"/>
              </a:rPr>
              <a:t>2) A random node is chosen as the root node. This node initiates the BFS process by sending a message to all its </a:t>
            </a:r>
            <a:r>
              <a:rPr lang="en-US" b="0" i="1" dirty="0" err="1">
                <a:solidFill>
                  <a:srgbClr val="242424"/>
                </a:solidFill>
                <a:effectLst/>
                <a:latin typeface="source-serif-pro"/>
              </a:rPr>
              <a:t>neighbour’s</a:t>
            </a:r>
            <a:r>
              <a:rPr lang="en-US" b="0" i="1" dirty="0">
                <a:solidFill>
                  <a:srgbClr val="242424"/>
                </a:solidFill>
                <a:effectLst/>
                <a:latin typeface="source-serif-pro"/>
              </a:rPr>
              <a:t>, requesting that they provide their ID.</a:t>
            </a:r>
            <a:endParaRPr lang="en-US" b="0" i="0" dirty="0">
              <a:solidFill>
                <a:srgbClr val="242424"/>
              </a:solidFill>
              <a:effectLst/>
              <a:latin typeface="source-serif-pro"/>
            </a:endParaRPr>
          </a:p>
          <a:p>
            <a:pPr algn="l"/>
            <a:r>
              <a:rPr lang="en-US" b="0" i="1" dirty="0">
                <a:solidFill>
                  <a:srgbClr val="242424"/>
                </a:solidFill>
                <a:effectLst/>
                <a:latin typeface="source-serif-pro"/>
              </a:rPr>
              <a:t>3) Upon receiving the IDs from its </a:t>
            </a:r>
            <a:r>
              <a:rPr lang="en-US" b="0" i="1" dirty="0" err="1">
                <a:solidFill>
                  <a:srgbClr val="242424"/>
                </a:solidFill>
                <a:effectLst/>
                <a:latin typeface="source-serif-pro"/>
              </a:rPr>
              <a:t>neighbour’s</a:t>
            </a:r>
            <a:r>
              <a:rPr lang="en-US" b="0" i="1" dirty="0">
                <a:solidFill>
                  <a:srgbClr val="242424"/>
                </a:solidFill>
                <a:effectLst/>
                <a:latin typeface="source-serif-pro"/>
              </a:rPr>
              <a:t>, the root node computes the shortest paths from itself to all other nodes using the IDs and creates a tree. The tree is then broadcast to all nodes in the network.</a:t>
            </a:r>
            <a:endParaRPr lang="en-US" b="0" i="0" dirty="0">
              <a:solidFill>
                <a:srgbClr val="242424"/>
              </a:solidFill>
              <a:effectLst/>
              <a:latin typeface="source-serif-pro"/>
            </a:endParaRPr>
          </a:p>
          <a:p>
            <a:pPr algn="l"/>
            <a:r>
              <a:rPr lang="en-US" b="0" i="1" dirty="0">
                <a:solidFill>
                  <a:srgbClr val="242424"/>
                </a:solidFill>
                <a:effectLst/>
                <a:latin typeface="source-serif-pro"/>
              </a:rPr>
              <a:t>4) Each node receives the tree and sets its own ID as the parent of all nodes in its subtree.</a:t>
            </a:r>
            <a:endParaRPr lang="en-US" b="0" i="0" dirty="0">
              <a:solidFill>
                <a:srgbClr val="242424"/>
              </a:solidFill>
              <a:effectLst/>
              <a:latin typeface="source-serif-pro"/>
            </a:endParaRPr>
          </a:p>
          <a:p>
            <a:pPr algn="l"/>
            <a:r>
              <a:rPr lang="en-US" b="0" i="1" dirty="0">
                <a:solidFill>
                  <a:srgbClr val="242424"/>
                </a:solidFill>
                <a:effectLst/>
                <a:latin typeface="source-serif-pro"/>
              </a:rPr>
              <a:t>5) The process continues until all nodes have been visited.</a:t>
            </a:r>
            <a:br>
              <a:rPr lang="en-US" b="0" i="1" dirty="0">
                <a:solidFill>
                  <a:srgbClr val="242424"/>
                </a:solidFill>
                <a:effectLst/>
                <a:latin typeface="source-serif-pro"/>
              </a:rPr>
            </a:br>
            <a:r>
              <a:rPr lang="en-US" b="0" i="1" dirty="0">
                <a:solidFill>
                  <a:srgbClr val="242424"/>
                </a:solidFill>
                <a:effectLst/>
                <a:latin typeface="source-serif-pro"/>
              </a:rPr>
              <a:t>The main advantage of the distributed BFS algorithm is that it is scalable and can be used to find the shortest path in large networks.</a:t>
            </a:r>
            <a:br>
              <a:rPr lang="en-US" b="0" i="1" dirty="0">
                <a:solidFill>
                  <a:srgbClr val="242424"/>
                </a:solidFill>
                <a:effectLst/>
                <a:latin typeface="source-serif-pro"/>
              </a:rPr>
            </a:br>
            <a:r>
              <a:rPr lang="en-US" b="0" i="1" dirty="0">
                <a:solidFill>
                  <a:srgbClr val="242424"/>
                </a:solidFill>
                <a:effectLst/>
                <a:latin typeface="source-serif-pro"/>
              </a:rPr>
              <a:t>The main disadvantage of the distributed BFS algorithm is that it requires a lot of communication between nodes, which can be costly.</a:t>
            </a:r>
            <a:endParaRPr lang="en-US" b="0" i="0" dirty="0">
              <a:solidFill>
                <a:srgbClr val="242424"/>
              </a:solidFill>
              <a:effectLst/>
              <a:latin typeface="source-serif-pro"/>
            </a:endParaRPr>
          </a:p>
          <a:p>
            <a:endParaRPr lang="en-US" dirty="0"/>
          </a:p>
        </p:txBody>
      </p:sp>
    </p:spTree>
    <p:extLst>
      <p:ext uri="{BB962C8B-B14F-4D97-AF65-F5344CB8AC3E}">
        <p14:creationId xmlns:p14="http://schemas.microsoft.com/office/powerpoint/2010/main" val="73012680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a:spLocks/>
          </p:cNvSpPr>
          <p:nvPr/>
        </p:nvSpPr>
        <p:spPr>
          <a:xfrm>
            <a:off x="1300506" y="0"/>
            <a:ext cx="7810500" cy="685799"/>
          </a:xfrm>
          <a:prstGeom prst="rect">
            <a:avLst/>
          </a:prstGeom>
          <a:solidFill>
            <a:schemeClr val="accent2"/>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r>
              <a:rPr lang="en-US" sz="2400" b="1" dirty="0"/>
              <a:t>Software Design</a:t>
            </a:r>
          </a:p>
        </p:txBody>
      </p:sp>
      <p:sp>
        <p:nvSpPr>
          <p:cNvPr id="2" name="Date Placeholder 1"/>
          <p:cNvSpPr>
            <a:spLocks noGrp="1"/>
          </p:cNvSpPr>
          <p:nvPr>
            <p:ph type="dt" sz="half" idx="10"/>
          </p:nvPr>
        </p:nvSpPr>
        <p:spPr/>
        <p:txBody>
          <a:bodyPr/>
          <a:lstStyle/>
          <a:p>
            <a:fld id="{25F7F972-6AE8-4948-83D8-0237CEEFF929}" type="datetime1">
              <a:rPr lang="en-IN" smtClean="0"/>
              <a:t>21-07-2025</a:t>
            </a:fld>
            <a:endParaRPr lang="en-US"/>
          </a:p>
        </p:txBody>
      </p:sp>
      <p:sp>
        <p:nvSpPr>
          <p:cNvPr id="6" name="Footer Placeholder 5"/>
          <p:cNvSpPr>
            <a:spLocks noGrp="1"/>
          </p:cNvSpPr>
          <p:nvPr>
            <p:ph type="ftr" sz="quarter" idx="11"/>
          </p:nvPr>
        </p:nvSpPr>
        <p:spPr>
          <a:xfrm>
            <a:off x="2209800" y="6356350"/>
            <a:ext cx="5029200" cy="365125"/>
          </a:xfrm>
        </p:spPr>
        <p:txBody>
          <a:bodyPr/>
          <a:lstStyle/>
          <a:p>
            <a:r>
              <a:rPr lang="en-US"/>
              <a:t>Ms. Purnima Pal      High Performance Computing             Unit III     </a:t>
            </a:r>
            <a:endParaRPr lang="en-US" dirty="0"/>
          </a:p>
        </p:txBody>
      </p:sp>
      <p:sp>
        <p:nvSpPr>
          <p:cNvPr id="7" name="Slide Number Placeholder 6"/>
          <p:cNvSpPr>
            <a:spLocks noGrp="1"/>
          </p:cNvSpPr>
          <p:nvPr>
            <p:ph type="sldNum" sz="quarter" idx="12"/>
          </p:nvPr>
        </p:nvSpPr>
        <p:spPr/>
        <p:txBody>
          <a:bodyPr/>
          <a:lstStyle/>
          <a:p>
            <a:fld id="{AE566132-A42B-4D26-9C08-B059D352BBB6}" type="slidenum">
              <a:rPr lang="en-US" smtClean="0"/>
              <a:pPr/>
              <a:t>45</a:t>
            </a:fld>
            <a:endParaRPr lang="en-US"/>
          </a:p>
        </p:txBody>
      </p:sp>
      <p:sp>
        <p:nvSpPr>
          <p:cNvPr id="5" name="Title 1">
            <a:extLst>
              <a:ext uri="{FF2B5EF4-FFF2-40B4-BE49-F238E27FC236}">
                <a16:creationId xmlns:a16="http://schemas.microsoft.com/office/drawing/2014/main" id="{74C97CF1-3A45-326E-4C1F-9015608E62E8}"/>
              </a:ext>
            </a:extLst>
          </p:cNvPr>
          <p:cNvSpPr txBox="1">
            <a:spLocks/>
          </p:cNvSpPr>
          <p:nvPr/>
        </p:nvSpPr>
        <p:spPr>
          <a:xfrm>
            <a:off x="1259088" y="0"/>
            <a:ext cx="7876271"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r>
              <a:rPr lang="en-US" sz="2400" b="1"/>
              <a:t>Advantages Of Distributed BFS Algorithm</a:t>
            </a:r>
            <a:endParaRPr lang="en-US" sz="2400" b="1" dirty="0"/>
          </a:p>
        </p:txBody>
      </p:sp>
      <p:sp>
        <p:nvSpPr>
          <p:cNvPr id="9" name="Content Placeholder 8">
            <a:extLst>
              <a:ext uri="{FF2B5EF4-FFF2-40B4-BE49-F238E27FC236}">
                <a16:creationId xmlns:a16="http://schemas.microsoft.com/office/drawing/2014/main" id="{D6AFE47B-73F8-D123-148D-DFDD304BF0C9}"/>
              </a:ext>
            </a:extLst>
          </p:cNvPr>
          <p:cNvSpPr>
            <a:spLocks noGrp="1"/>
          </p:cNvSpPr>
          <p:nvPr>
            <p:ph idx="1"/>
          </p:nvPr>
        </p:nvSpPr>
        <p:spPr/>
        <p:txBody>
          <a:bodyPr>
            <a:noAutofit/>
          </a:bodyPr>
          <a:lstStyle/>
          <a:p>
            <a:pPr marL="0" indent="0" algn="l">
              <a:buNone/>
            </a:pPr>
            <a:r>
              <a:rPr lang="en-US" sz="1600" b="0" i="0" dirty="0">
                <a:solidFill>
                  <a:srgbClr val="242424"/>
                </a:solidFill>
                <a:effectLst/>
                <a:latin typeface="Times New Roman" panose="02020603050405020304" pitchFamily="18" charset="0"/>
                <a:cs typeface="Times New Roman" panose="02020603050405020304" pitchFamily="18" charset="0"/>
              </a:rPr>
              <a:t>There are several advantages to using a distributed breadth-first search (BFS) algorithm over a traditional BFS algorithm. Some of these advantages include:</a:t>
            </a:r>
          </a:p>
          <a:p>
            <a:pPr algn="l">
              <a:buFont typeface="+mj-lt"/>
              <a:buAutoNum type="arabicPeriod"/>
            </a:pPr>
            <a:r>
              <a:rPr lang="en-US" sz="1600" b="0" i="0" dirty="0">
                <a:solidFill>
                  <a:srgbClr val="242424"/>
                </a:solidFill>
                <a:effectLst/>
                <a:latin typeface="Times New Roman" panose="02020603050405020304" pitchFamily="18" charset="0"/>
                <a:cs typeface="Times New Roman" panose="02020603050405020304" pitchFamily="18" charset="0"/>
              </a:rPr>
              <a:t>Improved scalability: A distributed BFS algorithm can be run on a distributed system, such as a cluster of computers or a network of machines, allowing it to handle larger datasets more efficiently than a traditional BFS algorithm.</a:t>
            </a:r>
          </a:p>
          <a:p>
            <a:pPr algn="l">
              <a:buFont typeface="+mj-lt"/>
              <a:buAutoNum type="arabicPeriod"/>
            </a:pPr>
            <a:r>
              <a:rPr lang="en-US" sz="1600" b="0" i="0" dirty="0">
                <a:solidFill>
                  <a:srgbClr val="242424"/>
                </a:solidFill>
                <a:effectLst/>
                <a:latin typeface="Times New Roman" panose="02020603050405020304" pitchFamily="18" charset="0"/>
                <a:cs typeface="Times New Roman" panose="02020603050405020304" pitchFamily="18" charset="0"/>
              </a:rPr>
              <a:t>Better performance: Because a distributed BFS algorithm can take advantage of the parallel processing capabilities of a distributed system, it can often complete its search more quickly than a traditional BFS algorithm.</a:t>
            </a:r>
          </a:p>
          <a:p>
            <a:pPr algn="l">
              <a:buFont typeface="+mj-lt"/>
              <a:buAutoNum type="arabicPeriod"/>
            </a:pPr>
            <a:r>
              <a:rPr lang="en-US" sz="1600" b="0" i="0" dirty="0">
                <a:solidFill>
                  <a:srgbClr val="242424"/>
                </a:solidFill>
                <a:effectLst/>
                <a:latin typeface="Times New Roman" panose="02020603050405020304" pitchFamily="18" charset="0"/>
                <a:cs typeface="Times New Roman" panose="02020603050405020304" pitchFamily="18" charset="0"/>
              </a:rPr>
              <a:t>Enhanced fault tolerance: In a distributed system, if one of the nodes fails or goes offline, the other nodes can continue to operate, ensuring that the search is not interrupted. This can be especially useful in mission-critical applications, where it is important to ensure that the search is completed even in the face of failures.</a:t>
            </a:r>
          </a:p>
          <a:p>
            <a:pPr algn="l">
              <a:buFont typeface="+mj-lt"/>
              <a:buAutoNum type="arabicPeriod"/>
            </a:pPr>
            <a:r>
              <a:rPr lang="en-US" sz="1600" b="0" i="0" dirty="0">
                <a:solidFill>
                  <a:srgbClr val="242424"/>
                </a:solidFill>
                <a:effectLst/>
                <a:latin typeface="Times New Roman" panose="02020603050405020304" pitchFamily="18" charset="0"/>
                <a:cs typeface="Times New Roman" panose="02020603050405020304" pitchFamily="18" charset="0"/>
              </a:rPr>
              <a:t>Increased flexibility: A distributed BFS algorithm can be easily adapted to handle different types of graphs and data structures, allowing it to be used in a wide variety of applications.</a:t>
            </a:r>
          </a:p>
          <a:p>
            <a:pPr algn="l">
              <a:buFont typeface="+mj-lt"/>
              <a:buAutoNum type="arabicPeriod"/>
            </a:pPr>
            <a:r>
              <a:rPr lang="en-US" sz="1600" b="0" i="0" dirty="0">
                <a:solidFill>
                  <a:srgbClr val="242424"/>
                </a:solidFill>
                <a:effectLst/>
                <a:latin typeface="Times New Roman" panose="02020603050405020304" pitchFamily="18" charset="0"/>
                <a:cs typeface="Times New Roman" panose="02020603050405020304" pitchFamily="18" charset="0"/>
              </a:rPr>
              <a:t>Better utilization of resources: In a distributed system, each node can operate independently, allowing for the efficient use of resources such as memory and CPU time. This can lead to better overall performance and cost savings compared to a traditional BFS algorithm.</a:t>
            </a:r>
          </a:p>
          <a:p>
            <a:endParaRPr lang="en-US"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1702239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a:spLocks/>
          </p:cNvSpPr>
          <p:nvPr/>
        </p:nvSpPr>
        <p:spPr>
          <a:xfrm>
            <a:off x="1300506" y="0"/>
            <a:ext cx="7810500" cy="685799"/>
          </a:xfrm>
          <a:prstGeom prst="rect">
            <a:avLst/>
          </a:prstGeom>
          <a:solidFill>
            <a:schemeClr val="accent2"/>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r>
              <a:rPr lang="en-US" sz="2400" b="1" dirty="0"/>
              <a:t>Software Design</a:t>
            </a:r>
          </a:p>
        </p:txBody>
      </p:sp>
      <p:sp>
        <p:nvSpPr>
          <p:cNvPr id="2" name="Date Placeholder 1"/>
          <p:cNvSpPr>
            <a:spLocks noGrp="1"/>
          </p:cNvSpPr>
          <p:nvPr>
            <p:ph type="dt" sz="half" idx="10"/>
          </p:nvPr>
        </p:nvSpPr>
        <p:spPr/>
        <p:txBody>
          <a:bodyPr/>
          <a:lstStyle/>
          <a:p>
            <a:fld id="{CAFE5C8E-CB01-4550-ABD0-AC8019F12810}" type="datetime1">
              <a:rPr lang="en-IN" smtClean="0"/>
              <a:t>21-07-2025</a:t>
            </a:fld>
            <a:endParaRPr lang="en-US"/>
          </a:p>
        </p:txBody>
      </p:sp>
      <p:sp>
        <p:nvSpPr>
          <p:cNvPr id="6" name="Footer Placeholder 5"/>
          <p:cNvSpPr>
            <a:spLocks noGrp="1"/>
          </p:cNvSpPr>
          <p:nvPr>
            <p:ph type="ftr" sz="quarter" idx="11"/>
          </p:nvPr>
        </p:nvSpPr>
        <p:spPr>
          <a:xfrm>
            <a:off x="2209800" y="6356350"/>
            <a:ext cx="5029200" cy="365125"/>
          </a:xfrm>
        </p:spPr>
        <p:txBody>
          <a:bodyPr/>
          <a:lstStyle/>
          <a:p>
            <a:r>
              <a:rPr lang="en-US"/>
              <a:t>Ms. Purnima Pal      High Performance Computing             Unit III     </a:t>
            </a:r>
            <a:endParaRPr lang="en-US" dirty="0"/>
          </a:p>
        </p:txBody>
      </p:sp>
      <p:sp>
        <p:nvSpPr>
          <p:cNvPr id="7" name="Slide Number Placeholder 6"/>
          <p:cNvSpPr>
            <a:spLocks noGrp="1"/>
          </p:cNvSpPr>
          <p:nvPr>
            <p:ph type="sldNum" sz="quarter" idx="12"/>
          </p:nvPr>
        </p:nvSpPr>
        <p:spPr/>
        <p:txBody>
          <a:bodyPr/>
          <a:lstStyle/>
          <a:p>
            <a:fld id="{AE566132-A42B-4D26-9C08-B059D352BBB6}" type="slidenum">
              <a:rPr lang="en-US" smtClean="0"/>
              <a:pPr/>
              <a:t>46</a:t>
            </a:fld>
            <a:endParaRPr lang="en-US"/>
          </a:p>
        </p:txBody>
      </p:sp>
      <p:sp>
        <p:nvSpPr>
          <p:cNvPr id="5" name="Title 1">
            <a:extLst>
              <a:ext uri="{FF2B5EF4-FFF2-40B4-BE49-F238E27FC236}">
                <a16:creationId xmlns:a16="http://schemas.microsoft.com/office/drawing/2014/main" id="{74C97CF1-3A45-326E-4C1F-9015608E62E8}"/>
              </a:ext>
            </a:extLst>
          </p:cNvPr>
          <p:cNvSpPr txBox="1">
            <a:spLocks/>
          </p:cNvSpPr>
          <p:nvPr/>
        </p:nvSpPr>
        <p:spPr>
          <a:xfrm>
            <a:off x="1259088" y="0"/>
            <a:ext cx="7876271"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r>
              <a:rPr lang="en-US" sz="2400" b="1" dirty="0"/>
              <a:t>Graph and Adjacency Matrix </a:t>
            </a:r>
          </a:p>
        </p:txBody>
      </p:sp>
      <p:pic>
        <p:nvPicPr>
          <p:cNvPr id="8194" name="Picture 2">
            <a:extLst>
              <a:ext uri="{FF2B5EF4-FFF2-40B4-BE49-F238E27FC236}">
                <a16:creationId xmlns:a16="http://schemas.microsoft.com/office/drawing/2014/main" id="{1E9CC5AD-633D-0591-A23A-9EF69066FFDD}"/>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133600" y="1524000"/>
            <a:ext cx="5574417" cy="304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7199737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a:spLocks/>
          </p:cNvSpPr>
          <p:nvPr/>
        </p:nvSpPr>
        <p:spPr>
          <a:xfrm>
            <a:off x="1300506" y="0"/>
            <a:ext cx="7810500" cy="685799"/>
          </a:xfrm>
          <a:prstGeom prst="rect">
            <a:avLst/>
          </a:prstGeom>
          <a:solidFill>
            <a:schemeClr val="accent2"/>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r>
              <a:rPr lang="en-US" sz="2400" b="1" dirty="0"/>
              <a:t>Software Design</a:t>
            </a:r>
          </a:p>
        </p:txBody>
      </p:sp>
      <p:sp>
        <p:nvSpPr>
          <p:cNvPr id="2" name="Date Placeholder 1"/>
          <p:cNvSpPr>
            <a:spLocks noGrp="1"/>
          </p:cNvSpPr>
          <p:nvPr>
            <p:ph type="dt" sz="half" idx="10"/>
          </p:nvPr>
        </p:nvSpPr>
        <p:spPr/>
        <p:txBody>
          <a:bodyPr/>
          <a:lstStyle/>
          <a:p>
            <a:fld id="{E7ADFF51-F446-4CF3-B067-54765EB19157}" type="datetime1">
              <a:rPr lang="en-IN" smtClean="0"/>
              <a:t>21-07-2025</a:t>
            </a:fld>
            <a:endParaRPr lang="en-US"/>
          </a:p>
        </p:txBody>
      </p:sp>
      <p:sp>
        <p:nvSpPr>
          <p:cNvPr id="6" name="Footer Placeholder 5"/>
          <p:cNvSpPr>
            <a:spLocks noGrp="1"/>
          </p:cNvSpPr>
          <p:nvPr>
            <p:ph type="ftr" sz="quarter" idx="11"/>
          </p:nvPr>
        </p:nvSpPr>
        <p:spPr>
          <a:xfrm>
            <a:off x="2209800" y="6356350"/>
            <a:ext cx="5029200" cy="365125"/>
          </a:xfrm>
        </p:spPr>
        <p:txBody>
          <a:bodyPr/>
          <a:lstStyle/>
          <a:p>
            <a:r>
              <a:rPr lang="en-US"/>
              <a:t>Ms. Purnima Pal      High Performance Computing             Unit III     </a:t>
            </a:r>
            <a:endParaRPr lang="en-US" dirty="0"/>
          </a:p>
        </p:txBody>
      </p:sp>
      <p:sp>
        <p:nvSpPr>
          <p:cNvPr id="7" name="Slide Number Placeholder 6"/>
          <p:cNvSpPr>
            <a:spLocks noGrp="1"/>
          </p:cNvSpPr>
          <p:nvPr>
            <p:ph type="sldNum" sz="quarter" idx="12"/>
          </p:nvPr>
        </p:nvSpPr>
        <p:spPr/>
        <p:txBody>
          <a:bodyPr/>
          <a:lstStyle/>
          <a:p>
            <a:fld id="{AE566132-A42B-4D26-9C08-B059D352BBB6}" type="slidenum">
              <a:rPr lang="en-US" smtClean="0"/>
              <a:pPr/>
              <a:t>47</a:t>
            </a:fld>
            <a:endParaRPr lang="en-US"/>
          </a:p>
        </p:txBody>
      </p:sp>
      <p:sp>
        <p:nvSpPr>
          <p:cNvPr id="5" name="Title 1">
            <a:extLst>
              <a:ext uri="{FF2B5EF4-FFF2-40B4-BE49-F238E27FC236}">
                <a16:creationId xmlns:a16="http://schemas.microsoft.com/office/drawing/2014/main" id="{74C97CF1-3A45-326E-4C1F-9015608E62E8}"/>
              </a:ext>
            </a:extLst>
          </p:cNvPr>
          <p:cNvSpPr txBox="1">
            <a:spLocks/>
          </p:cNvSpPr>
          <p:nvPr/>
        </p:nvSpPr>
        <p:spPr>
          <a:xfrm>
            <a:off x="1316961" y="0"/>
            <a:ext cx="7876271"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r>
              <a:rPr lang="en-US" sz="2400" b="1"/>
              <a:t>Graph and Adjacency Matrix </a:t>
            </a:r>
            <a:endParaRPr lang="en-US" sz="2400" b="1" dirty="0"/>
          </a:p>
        </p:txBody>
      </p:sp>
      <p:sp>
        <p:nvSpPr>
          <p:cNvPr id="9" name="Content Placeholder 8">
            <a:extLst>
              <a:ext uri="{FF2B5EF4-FFF2-40B4-BE49-F238E27FC236}">
                <a16:creationId xmlns:a16="http://schemas.microsoft.com/office/drawing/2014/main" id="{D6AFE47B-73F8-D123-148D-DFDD304BF0C9}"/>
              </a:ext>
            </a:extLst>
          </p:cNvPr>
          <p:cNvSpPr>
            <a:spLocks noGrp="1"/>
          </p:cNvSpPr>
          <p:nvPr>
            <p:ph idx="1"/>
          </p:nvPr>
        </p:nvSpPr>
        <p:spPr/>
        <p:txBody>
          <a:bodyPr>
            <a:normAutofit/>
          </a:bodyPr>
          <a:lstStyle/>
          <a:p>
            <a:pPr marL="0" indent="0">
              <a:buNone/>
            </a:pPr>
            <a:r>
              <a:rPr lang="en-US" sz="1800" b="0" i="0" dirty="0">
                <a:solidFill>
                  <a:srgbClr val="242424"/>
                </a:solidFill>
                <a:effectLst/>
                <a:latin typeface="Times New Roman" panose="02020603050405020304" pitchFamily="18" charset="0"/>
                <a:cs typeface="Times New Roman" panose="02020603050405020304" pitchFamily="18" charset="0"/>
              </a:rPr>
              <a:t>A </a:t>
            </a:r>
            <a:r>
              <a:rPr lang="en-US" sz="1800" b="1" i="1" dirty="0">
                <a:solidFill>
                  <a:srgbClr val="242424"/>
                </a:solidFill>
                <a:effectLst/>
                <a:latin typeface="Times New Roman" panose="02020603050405020304" pitchFamily="18" charset="0"/>
                <a:cs typeface="Times New Roman" panose="02020603050405020304" pitchFamily="18" charset="0"/>
              </a:rPr>
              <a:t>graph</a:t>
            </a:r>
            <a:r>
              <a:rPr lang="en-US" sz="1800" b="0" i="0" dirty="0">
                <a:solidFill>
                  <a:srgbClr val="242424"/>
                </a:solidFill>
                <a:effectLst/>
                <a:latin typeface="Times New Roman" panose="02020603050405020304" pitchFamily="18" charset="0"/>
                <a:cs typeface="Times New Roman" panose="02020603050405020304" pitchFamily="18" charset="0"/>
              </a:rPr>
              <a:t> is a data structure that consists of a set of vertices (or nodes) and a set of edges that connect these vertices. Each edge has a direction and a weight, which represent the relationship between the two vertices it connects. For example, a social network can be represented as a graph, where the vertices represent the users and the edges represent the connections between them.</a:t>
            </a:r>
          </a:p>
          <a:p>
            <a:pPr marL="0" indent="0">
              <a:buNone/>
            </a:pPr>
            <a:r>
              <a:rPr lang="en-US" sz="1800" b="0" i="0" dirty="0">
                <a:solidFill>
                  <a:srgbClr val="242424"/>
                </a:solidFill>
                <a:effectLst/>
                <a:latin typeface="Times New Roman" panose="02020603050405020304" pitchFamily="18" charset="0"/>
                <a:cs typeface="Times New Roman" panose="02020603050405020304" pitchFamily="18" charset="0"/>
              </a:rPr>
              <a:t>An </a:t>
            </a:r>
            <a:r>
              <a:rPr lang="en-US" sz="1800" b="1" i="1" dirty="0">
                <a:solidFill>
                  <a:srgbClr val="242424"/>
                </a:solidFill>
                <a:effectLst/>
                <a:latin typeface="Times New Roman" panose="02020603050405020304" pitchFamily="18" charset="0"/>
                <a:cs typeface="Times New Roman" panose="02020603050405020304" pitchFamily="18" charset="0"/>
              </a:rPr>
              <a:t>adjacency matrix </a:t>
            </a:r>
            <a:r>
              <a:rPr lang="en-US" sz="1800" b="0" i="0" dirty="0">
                <a:solidFill>
                  <a:srgbClr val="242424"/>
                </a:solidFill>
                <a:effectLst/>
                <a:latin typeface="Times New Roman" panose="02020603050405020304" pitchFamily="18" charset="0"/>
                <a:cs typeface="Times New Roman" panose="02020603050405020304" pitchFamily="18" charset="0"/>
              </a:rPr>
              <a:t>is a square matrix that is used to represent a finite graph. The size of the matrix is equal to the number of vertices in the graph, and the entries in the matrix indicate whether there is an edge between two vertices or not.</a:t>
            </a:r>
          </a:p>
          <a:p>
            <a:endParaRPr lang="en-US"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8711972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a:spLocks/>
          </p:cNvSpPr>
          <p:nvPr/>
        </p:nvSpPr>
        <p:spPr>
          <a:xfrm>
            <a:off x="1300506" y="0"/>
            <a:ext cx="7810500" cy="685799"/>
          </a:xfrm>
          <a:prstGeom prst="rect">
            <a:avLst/>
          </a:prstGeom>
          <a:solidFill>
            <a:schemeClr val="accent2"/>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r>
              <a:rPr lang="en-US" sz="2400" b="1" dirty="0"/>
              <a:t>Software Design</a:t>
            </a:r>
          </a:p>
        </p:txBody>
      </p:sp>
      <p:sp>
        <p:nvSpPr>
          <p:cNvPr id="2" name="Date Placeholder 1"/>
          <p:cNvSpPr>
            <a:spLocks noGrp="1"/>
          </p:cNvSpPr>
          <p:nvPr>
            <p:ph type="dt" sz="half" idx="10"/>
          </p:nvPr>
        </p:nvSpPr>
        <p:spPr/>
        <p:txBody>
          <a:bodyPr/>
          <a:lstStyle/>
          <a:p>
            <a:fld id="{EEC267D1-9D7F-4752-AB30-5B8FD3126754}" type="datetime1">
              <a:rPr lang="en-IN" smtClean="0"/>
              <a:t>21-07-2025</a:t>
            </a:fld>
            <a:endParaRPr lang="en-US"/>
          </a:p>
        </p:txBody>
      </p:sp>
      <p:sp>
        <p:nvSpPr>
          <p:cNvPr id="6" name="Footer Placeholder 5"/>
          <p:cNvSpPr>
            <a:spLocks noGrp="1"/>
          </p:cNvSpPr>
          <p:nvPr>
            <p:ph type="ftr" sz="quarter" idx="11"/>
          </p:nvPr>
        </p:nvSpPr>
        <p:spPr>
          <a:xfrm>
            <a:off x="2209800" y="6356350"/>
            <a:ext cx="5029200" cy="365125"/>
          </a:xfrm>
        </p:spPr>
        <p:txBody>
          <a:bodyPr/>
          <a:lstStyle/>
          <a:p>
            <a:r>
              <a:rPr lang="en-US"/>
              <a:t>Ms. Purnima Pal      High Performance Computing             Unit III     </a:t>
            </a:r>
            <a:endParaRPr lang="en-US" dirty="0"/>
          </a:p>
        </p:txBody>
      </p:sp>
      <p:sp>
        <p:nvSpPr>
          <p:cNvPr id="7" name="Slide Number Placeholder 6"/>
          <p:cNvSpPr>
            <a:spLocks noGrp="1"/>
          </p:cNvSpPr>
          <p:nvPr>
            <p:ph type="sldNum" sz="quarter" idx="12"/>
          </p:nvPr>
        </p:nvSpPr>
        <p:spPr/>
        <p:txBody>
          <a:bodyPr/>
          <a:lstStyle/>
          <a:p>
            <a:fld id="{AE566132-A42B-4D26-9C08-B059D352BBB6}" type="slidenum">
              <a:rPr lang="en-US" smtClean="0"/>
              <a:pPr/>
              <a:t>48</a:t>
            </a:fld>
            <a:endParaRPr lang="en-US"/>
          </a:p>
        </p:txBody>
      </p:sp>
      <p:sp>
        <p:nvSpPr>
          <p:cNvPr id="5" name="Title 1">
            <a:extLst>
              <a:ext uri="{FF2B5EF4-FFF2-40B4-BE49-F238E27FC236}">
                <a16:creationId xmlns:a16="http://schemas.microsoft.com/office/drawing/2014/main" id="{74C97CF1-3A45-326E-4C1F-9015608E62E8}"/>
              </a:ext>
            </a:extLst>
          </p:cNvPr>
          <p:cNvSpPr txBox="1">
            <a:spLocks/>
          </p:cNvSpPr>
          <p:nvPr/>
        </p:nvSpPr>
        <p:spPr>
          <a:xfrm>
            <a:off x="1293813" y="0"/>
            <a:ext cx="7876271"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r>
              <a:rPr lang="en-US" sz="2400" b="1" dirty="0"/>
              <a:t>Adjacency Matrix</a:t>
            </a:r>
          </a:p>
        </p:txBody>
      </p:sp>
      <p:pic>
        <p:nvPicPr>
          <p:cNvPr id="8" name="Content Placeholder 7">
            <a:extLst>
              <a:ext uri="{FF2B5EF4-FFF2-40B4-BE49-F238E27FC236}">
                <a16:creationId xmlns:a16="http://schemas.microsoft.com/office/drawing/2014/main" id="{2CDED443-0152-B169-E010-55D8DE72C68D}"/>
              </a:ext>
            </a:extLst>
          </p:cNvPr>
          <p:cNvPicPr>
            <a:picLocks noGrp="1" noChangeAspect="1"/>
          </p:cNvPicPr>
          <p:nvPr>
            <p:ph idx="1"/>
          </p:nvPr>
        </p:nvPicPr>
        <p:blipFill>
          <a:blip r:embed="rId2"/>
          <a:stretch>
            <a:fillRect/>
          </a:stretch>
        </p:blipFill>
        <p:spPr>
          <a:xfrm>
            <a:off x="1230151" y="1770634"/>
            <a:ext cx="7103774" cy="2720594"/>
          </a:xfrm>
        </p:spPr>
      </p:pic>
    </p:spTree>
    <p:extLst>
      <p:ext uri="{BB962C8B-B14F-4D97-AF65-F5344CB8AC3E}">
        <p14:creationId xmlns:p14="http://schemas.microsoft.com/office/powerpoint/2010/main" val="12377441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a:spLocks/>
          </p:cNvSpPr>
          <p:nvPr/>
        </p:nvSpPr>
        <p:spPr>
          <a:xfrm>
            <a:off x="1300506" y="0"/>
            <a:ext cx="7810500" cy="685799"/>
          </a:xfrm>
          <a:prstGeom prst="rect">
            <a:avLst/>
          </a:prstGeom>
          <a:solidFill>
            <a:schemeClr val="accent2"/>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r>
              <a:rPr lang="en-US" sz="2400" b="1" dirty="0"/>
              <a:t>Software Design</a:t>
            </a:r>
          </a:p>
        </p:txBody>
      </p:sp>
      <p:sp>
        <p:nvSpPr>
          <p:cNvPr id="2" name="Date Placeholder 1"/>
          <p:cNvSpPr>
            <a:spLocks noGrp="1"/>
          </p:cNvSpPr>
          <p:nvPr>
            <p:ph type="dt" sz="half" idx="10"/>
          </p:nvPr>
        </p:nvSpPr>
        <p:spPr/>
        <p:txBody>
          <a:bodyPr/>
          <a:lstStyle/>
          <a:p>
            <a:fld id="{9B57BC94-60D5-45D5-AD09-A17770545CAC}" type="datetime1">
              <a:rPr lang="en-IN" smtClean="0"/>
              <a:t>21-07-2025</a:t>
            </a:fld>
            <a:endParaRPr lang="en-US"/>
          </a:p>
        </p:txBody>
      </p:sp>
      <p:sp>
        <p:nvSpPr>
          <p:cNvPr id="6" name="Footer Placeholder 5"/>
          <p:cNvSpPr>
            <a:spLocks noGrp="1"/>
          </p:cNvSpPr>
          <p:nvPr>
            <p:ph type="ftr" sz="quarter" idx="11"/>
          </p:nvPr>
        </p:nvSpPr>
        <p:spPr>
          <a:xfrm>
            <a:off x="2209800" y="6356350"/>
            <a:ext cx="5029200" cy="365125"/>
          </a:xfrm>
        </p:spPr>
        <p:txBody>
          <a:bodyPr/>
          <a:lstStyle/>
          <a:p>
            <a:r>
              <a:rPr lang="en-US"/>
              <a:t>Ms. Purnima Pal      High Performance Computing             Unit III     </a:t>
            </a:r>
            <a:endParaRPr lang="en-US" dirty="0"/>
          </a:p>
        </p:txBody>
      </p:sp>
      <p:sp>
        <p:nvSpPr>
          <p:cNvPr id="7" name="Slide Number Placeholder 6"/>
          <p:cNvSpPr>
            <a:spLocks noGrp="1"/>
          </p:cNvSpPr>
          <p:nvPr>
            <p:ph type="sldNum" sz="quarter" idx="12"/>
          </p:nvPr>
        </p:nvSpPr>
        <p:spPr/>
        <p:txBody>
          <a:bodyPr/>
          <a:lstStyle/>
          <a:p>
            <a:fld id="{AE566132-A42B-4D26-9C08-B059D352BBB6}" type="slidenum">
              <a:rPr lang="en-US" smtClean="0"/>
              <a:pPr/>
              <a:t>49</a:t>
            </a:fld>
            <a:endParaRPr lang="en-US"/>
          </a:p>
        </p:txBody>
      </p:sp>
      <p:sp>
        <p:nvSpPr>
          <p:cNvPr id="5" name="Title 1">
            <a:extLst>
              <a:ext uri="{FF2B5EF4-FFF2-40B4-BE49-F238E27FC236}">
                <a16:creationId xmlns:a16="http://schemas.microsoft.com/office/drawing/2014/main" id="{74C97CF1-3A45-326E-4C1F-9015608E62E8}"/>
              </a:ext>
            </a:extLst>
          </p:cNvPr>
          <p:cNvSpPr txBox="1">
            <a:spLocks/>
          </p:cNvSpPr>
          <p:nvPr/>
        </p:nvSpPr>
        <p:spPr>
          <a:xfrm>
            <a:off x="1293812" y="0"/>
            <a:ext cx="7876271"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r>
              <a:rPr lang="en-US" sz="2400" b="1" dirty="0"/>
              <a:t>Adjacency Matrix for Undirected Graph</a:t>
            </a:r>
          </a:p>
        </p:txBody>
      </p:sp>
      <p:pic>
        <p:nvPicPr>
          <p:cNvPr id="8" name="Content Placeholder 7">
            <a:extLst>
              <a:ext uri="{FF2B5EF4-FFF2-40B4-BE49-F238E27FC236}">
                <a16:creationId xmlns:a16="http://schemas.microsoft.com/office/drawing/2014/main" id="{097A04C4-FFB1-DF8D-465B-560BEB3E36C8}"/>
              </a:ext>
            </a:extLst>
          </p:cNvPr>
          <p:cNvPicPr>
            <a:picLocks noGrp="1" noChangeAspect="1"/>
          </p:cNvPicPr>
          <p:nvPr>
            <p:ph idx="1"/>
          </p:nvPr>
        </p:nvPicPr>
        <p:blipFill>
          <a:blip r:embed="rId2"/>
          <a:stretch>
            <a:fillRect/>
          </a:stretch>
        </p:blipFill>
        <p:spPr>
          <a:xfrm>
            <a:off x="914400" y="2087911"/>
            <a:ext cx="7648827" cy="2682177"/>
          </a:xfrm>
        </p:spPr>
      </p:pic>
    </p:spTree>
    <p:extLst>
      <p:ext uri="{BB962C8B-B14F-4D97-AF65-F5344CB8AC3E}">
        <p14:creationId xmlns:p14="http://schemas.microsoft.com/office/powerpoint/2010/main" val="163872909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a:spLocks/>
          </p:cNvSpPr>
          <p:nvPr/>
        </p:nvSpPr>
        <p:spPr>
          <a:xfrm>
            <a:off x="1300506" y="0"/>
            <a:ext cx="7810500" cy="685799"/>
          </a:xfrm>
          <a:prstGeom prst="rect">
            <a:avLst/>
          </a:prstGeom>
          <a:solidFill>
            <a:schemeClr val="accent2"/>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r>
              <a:rPr lang="en-US" sz="2400" b="1" dirty="0"/>
              <a:t>Software Design</a:t>
            </a:r>
          </a:p>
        </p:txBody>
      </p:sp>
      <p:sp>
        <p:nvSpPr>
          <p:cNvPr id="2" name="Date Placeholder 1"/>
          <p:cNvSpPr>
            <a:spLocks noGrp="1"/>
          </p:cNvSpPr>
          <p:nvPr>
            <p:ph type="dt" sz="half" idx="10"/>
          </p:nvPr>
        </p:nvSpPr>
        <p:spPr/>
        <p:txBody>
          <a:bodyPr/>
          <a:lstStyle/>
          <a:p>
            <a:fld id="{4FA20846-0271-4F21-A7F0-1A066BD69670}" type="datetime1">
              <a:rPr lang="en-IN" smtClean="0"/>
              <a:t>21-07-2025</a:t>
            </a:fld>
            <a:endParaRPr lang="en-US"/>
          </a:p>
        </p:txBody>
      </p:sp>
      <p:sp>
        <p:nvSpPr>
          <p:cNvPr id="6" name="Footer Placeholder 5"/>
          <p:cNvSpPr>
            <a:spLocks noGrp="1"/>
          </p:cNvSpPr>
          <p:nvPr>
            <p:ph type="ftr" sz="quarter" idx="11"/>
          </p:nvPr>
        </p:nvSpPr>
        <p:spPr>
          <a:xfrm>
            <a:off x="2209800" y="6356350"/>
            <a:ext cx="5029200" cy="365125"/>
          </a:xfrm>
        </p:spPr>
        <p:txBody>
          <a:bodyPr/>
          <a:lstStyle/>
          <a:p>
            <a:r>
              <a:rPr lang="en-US"/>
              <a:t>Ms. Purnima Pal      High Performance Computing             Unit III     </a:t>
            </a:r>
            <a:endParaRPr lang="en-US" dirty="0"/>
          </a:p>
        </p:txBody>
      </p:sp>
      <p:sp>
        <p:nvSpPr>
          <p:cNvPr id="7" name="Slide Number Placeholder 6"/>
          <p:cNvSpPr>
            <a:spLocks noGrp="1"/>
          </p:cNvSpPr>
          <p:nvPr>
            <p:ph type="sldNum" sz="quarter" idx="12"/>
          </p:nvPr>
        </p:nvSpPr>
        <p:spPr/>
        <p:txBody>
          <a:bodyPr/>
          <a:lstStyle/>
          <a:p>
            <a:fld id="{AE566132-A42B-4D26-9C08-B059D352BBB6}" type="slidenum">
              <a:rPr lang="en-US" smtClean="0"/>
              <a:pPr/>
              <a:t>50</a:t>
            </a:fld>
            <a:endParaRPr lang="en-US"/>
          </a:p>
        </p:txBody>
      </p:sp>
      <p:sp>
        <p:nvSpPr>
          <p:cNvPr id="5" name="Title 1">
            <a:extLst>
              <a:ext uri="{FF2B5EF4-FFF2-40B4-BE49-F238E27FC236}">
                <a16:creationId xmlns:a16="http://schemas.microsoft.com/office/drawing/2014/main" id="{74C97CF1-3A45-326E-4C1F-9015608E62E8}"/>
              </a:ext>
            </a:extLst>
          </p:cNvPr>
          <p:cNvSpPr txBox="1">
            <a:spLocks/>
          </p:cNvSpPr>
          <p:nvPr/>
        </p:nvSpPr>
        <p:spPr>
          <a:xfrm>
            <a:off x="1293812" y="0"/>
            <a:ext cx="7876271"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r>
              <a:rPr lang="en-US" sz="2400" b="1" dirty="0"/>
              <a:t>Adjacency Matrix for Directed Graph</a:t>
            </a:r>
          </a:p>
        </p:txBody>
      </p:sp>
      <p:pic>
        <p:nvPicPr>
          <p:cNvPr id="8" name="Content Placeholder 7">
            <a:extLst>
              <a:ext uri="{FF2B5EF4-FFF2-40B4-BE49-F238E27FC236}">
                <a16:creationId xmlns:a16="http://schemas.microsoft.com/office/drawing/2014/main" id="{2C9B1839-438F-1D88-5F18-4C2AEDC86ADA}"/>
              </a:ext>
            </a:extLst>
          </p:cNvPr>
          <p:cNvPicPr>
            <a:picLocks noGrp="1" noChangeAspect="1"/>
          </p:cNvPicPr>
          <p:nvPr>
            <p:ph idx="1"/>
          </p:nvPr>
        </p:nvPicPr>
        <p:blipFill>
          <a:blip r:embed="rId2"/>
          <a:stretch>
            <a:fillRect/>
          </a:stretch>
        </p:blipFill>
        <p:spPr>
          <a:xfrm>
            <a:off x="1588498" y="1828800"/>
            <a:ext cx="6271803" cy="2004234"/>
          </a:xfrm>
        </p:spPr>
      </p:pic>
    </p:spTree>
    <p:extLst>
      <p:ext uri="{BB962C8B-B14F-4D97-AF65-F5344CB8AC3E}">
        <p14:creationId xmlns:p14="http://schemas.microsoft.com/office/powerpoint/2010/main" val="150224779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a:spLocks/>
          </p:cNvSpPr>
          <p:nvPr/>
        </p:nvSpPr>
        <p:spPr>
          <a:xfrm>
            <a:off x="1300506" y="0"/>
            <a:ext cx="7810500" cy="685799"/>
          </a:xfrm>
          <a:prstGeom prst="rect">
            <a:avLst/>
          </a:prstGeom>
          <a:solidFill>
            <a:schemeClr val="accent2"/>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r>
              <a:rPr lang="en-US" sz="2400" b="1" dirty="0"/>
              <a:t>Software Design</a:t>
            </a:r>
          </a:p>
        </p:txBody>
      </p:sp>
      <p:sp>
        <p:nvSpPr>
          <p:cNvPr id="2" name="Date Placeholder 1"/>
          <p:cNvSpPr>
            <a:spLocks noGrp="1"/>
          </p:cNvSpPr>
          <p:nvPr>
            <p:ph type="dt" sz="half" idx="10"/>
          </p:nvPr>
        </p:nvSpPr>
        <p:spPr/>
        <p:txBody>
          <a:bodyPr/>
          <a:lstStyle/>
          <a:p>
            <a:fld id="{0DD5D3CA-CC68-4726-AAFE-8B8ED43F36E1}" type="datetime1">
              <a:rPr lang="en-IN" smtClean="0"/>
              <a:t>21-07-2025</a:t>
            </a:fld>
            <a:endParaRPr lang="en-US"/>
          </a:p>
        </p:txBody>
      </p:sp>
      <p:sp>
        <p:nvSpPr>
          <p:cNvPr id="6" name="Footer Placeholder 5"/>
          <p:cNvSpPr>
            <a:spLocks noGrp="1"/>
          </p:cNvSpPr>
          <p:nvPr>
            <p:ph type="ftr" sz="quarter" idx="11"/>
          </p:nvPr>
        </p:nvSpPr>
        <p:spPr>
          <a:xfrm>
            <a:off x="2209800" y="6356350"/>
            <a:ext cx="5029200" cy="365125"/>
          </a:xfrm>
        </p:spPr>
        <p:txBody>
          <a:bodyPr/>
          <a:lstStyle/>
          <a:p>
            <a:r>
              <a:rPr lang="en-US"/>
              <a:t>Ms. Purnima Pal      High Performance Computing             Unit III     </a:t>
            </a:r>
            <a:endParaRPr lang="en-US" dirty="0"/>
          </a:p>
        </p:txBody>
      </p:sp>
      <p:sp>
        <p:nvSpPr>
          <p:cNvPr id="7" name="Slide Number Placeholder 6"/>
          <p:cNvSpPr>
            <a:spLocks noGrp="1"/>
          </p:cNvSpPr>
          <p:nvPr>
            <p:ph type="sldNum" sz="quarter" idx="12"/>
          </p:nvPr>
        </p:nvSpPr>
        <p:spPr/>
        <p:txBody>
          <a:bodyPr/>
          <a:lstStyle/>
          <a:p>
            <a:fld id="{AE566132-A42B-4D26-9C08-B059D352BBB6}" type="slidenum">
              <a:rPr lang="en-US" smtClean="0"/>
              <a:pPr/>
              <a:t>51</a:t>
            </a:fld>
            <a:endParaRPr lang="en-US"/>
          </a:p>
        </p:txBody>
      </p:sp>
      <p:sp>
        <p:nvSpPr>
          <p:cNvPr id="5" name="Title 1">
            <a:extLst>
              <a:ext uri="{FF2B5EF4-FFF2-40B4-BE49-F238E27FC236}">
                <a16:creationId xmlns:a16="http://schemas.microsoft.com/office/drawing/2014/main" id="{74C97CF1-3A45-326E-4C1F-9015608E62E8}"/>
              </a:ext>
            </a:extLst>
          </p:cNvPr>
          <p:cNvSpPr txBox="1">
            <a:spLocks/>
          </p:cNvSpPr>
          <p:nvPr/>
        </p:nvSpPr>
        <p:spPr>
          <a:xfrm>
            <a:off x="1293812" y="0"/>
            <a:ext cx="7876271"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r>
              <a:rPr lang="en-US" sz="2400" b="1" dirty="0"/>
              <a:t>Advantages and Disadvantage</a:t>
            </a:r>
          </a:p>
        </p:txBody>
      </p:sp>
      <p:pic>
        <p:nvPicPr>
          <p:cNvPr id="8" name="Content Placeholder 7">
            <a:extLst>
              <a:ext uri="{FF2B5EF4-FFF2-40B4-BE49-F238E27FC236}">
                <a16:creationId xmlns:a16="http://schemas.microsoft.com/office/drawing/2014/main" id="{1478908C-3478-066F-D9E2-595BB3962DED}"/>
              </a:ext>
            </a:extLst>
          </p:cNvPr>
          <p:cNvPicPr>
            <a:picLocks noGrp="1" noChangeAspect="1"/>
          </p:cNvPicPr>
          <p:nvPr>
            <p:ph idx="1"/>
          </p:nvPr>
        </p:nvPicPr>
        <p:blipFill>
          <a:blip r:embed="rId2"/>
          <a:stretch>
            <a:fillRect/>
          </a:stretch>
        </p:blipFill>
        <p:spPr>
          <a:xfrm>
            <a:off x="1931441" y="2941081"/>
            <a:ext cx="5281118" cy="1844200"/>
          </a:xfrm>
        </p:spPr>
      </p:pic>
      <p:pic>
        <p:nvPicPr>
          <p:cNvPr id="11" name="Picture 10">
            <a:extLst>
              <a:ext uri="{FF2B5EF4-FFF2-40B4-BE49-F238E27FC236}">
                <a16:creationId xmlns:a16="http://schemas.microsoft.com/office/drawing/2014/main" id="{54889626-EED6-80BB-6230-CCC4D24767BA}"/>
              </a:ext>
            </a:extLst>
          </p:cNvPr>
          <p:cNvPicPr>
            <a:picLocks noChangeAspect="1"/>
          </p:cNvPicPr>
          <p:nvPr/>
        </p:nvPicPr>
        <p:blipFill>
          <a:blip r:embed="rId3"/>
          <a:stretch>
            <a:fillRect/>
          </a:stretch>
        </p:blipFill>
        <p:spPr>
          <a:xfrm>
            <a:off x="1676400" y="906365"/>
            <a:ext cx="6233700" cy="2034716"/>
          </a:xfrm>
          <a:prstGeom prst="rect">
            <a:avLst/>
          </a:prstGeom>
        </p:spPr>
      </p:pic>
    </p:spTree>
    <p:extLst>
      <p:ext uri="{BB962C8B-B14F-4D97-AF65-F5344CB8AC3E}">
        <p14:creationId xmlns:p14="http://schemas.microsoft.com/office/powerpoint/2010/main" val="254931629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a:spLocks/>
          </p:cNvSpPr>
          <p:nvPr/>
        </p:nvSpPr>
        <p:spPr>
          <a:xfrm>
            <a:off x="1300506" y="0"/>
            <a:ext cx="7810500" cy="685799"/>
          </a:xfrm>
          <a:prstGeom prst="rect">
            <a:avLst/>
          </a:prstGeom>
          <a:solidFill>
            <a:schemeClr val="accent2"/>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r>
              <a:rPr lang="en-US" sz="2400" b="1" dirty="0"/>
              <a:t>Software Design</a:t>
            </a:r>
          </a:p>
        </p:txBody>
      </p:sp>
      <p:sp>
        <p:nvSpPr>
          <p:cNvPr id="2" name="Date Placeholder 1"/>
          <p:cNvSpPr>
            <a:spLocks noGrp="1"/>
          </p:cNvSpPr>
          <p:nvPr>
            <p:ph type="dt" sz="half" idx="10"/>
          </p:nvPr>
        </p:nvSpPr>
        <p:spPr/>
        <p:txBody>
          <a:bodyPr/>
          <a:lstStyle/>
          <a:p>
            <a:fld id="{D4C9B993-5C42-403A-846B-19C47F1BA172}" type="datetime1">
              <a:rPr lang="en-IN" smtClean="0"/>
              <a:t>21-07-2025</a:t>
            </a:fld>
            <a:endParaRPr lang="en-US"/>
          </a:p>
        </p:txBody>
      </p:sp>
      <p:sp>
        <p:nvSpPr>
          <p:cNvPr id="6" name="Footer Placeholder 5"/>
          <p:cNvSpPr>
            <a:spLocks noGrp="1"/>
          </p:cNvSpPr>
          <p:nvPr>
            <p:ph type="ftr" sz="quarter" idx="11"/>
          </p:nvPr>
        </p:nvSpPr>
        <p:spPr>
          <a:xfrm>
            <a:off x="2209800" y="6356350"/>
            <a:ext cx="5029200" cy="365125"/>
          </a:xfrm>
        </p:spPr>
        <p:txBody>
          <a:bodyPr/>
          <a:lstStyle/>
          <a:p>
            <a:r>
              <a:rPr lang="en-US"/>
              <a:t>Ms. Purnima Pal      High Performance Computing             Unit III     </a:t>
            </a:r>
            <a:endParaRPr lang="en-US" dirty="0"/>
          </a:p>
        </p:txBody>
      </p:sp>
      <p:sp>
        <p:nvSpPr>
          <p:cNvPr id="7" name="Slide Number Placeholder 6"/>
          <p:cNvSpPr>
            <a:spLocks noGrp="1"/>
          </p:cNvSpPr>
          <p:nvPr>
            <p:ph type="sldNum" sz="quarter" idx="12"/>
          </p:nvPr>
        </p:nvSpPr>
        <p:spPr/>
        <p:txBody>
          <a:bodyPr/>
          <a:lstStyle/>
          <a:p>
            <a:fld id="{AE566132-A42B-4D26-9C08-B059D352BBB6}" type="slidenum">
              <a:rPr lang="en-US" smtClean="0"/>
              <a:pPr/>
              <a:t>52</a:t>
            </a:fld>
            <a:endParaRPr lang="en-US"/>
          </a:p>
        </p:txBody>
      </p:sp>
      <p:sp>
        <p:nvSpPr>
          <p:cNvPr id="5" name="Title 1">
            <a:extLst>
              <a:ext uri="{FF2B5EF4-FFF2-40B4-BE49-F238E27FC236}">
                <a16:creationId xmlns:a16="http://schemas.microsoft.com/office/drawing/2014/main" id="{74C97CF1-3A45-326E-4C1F-9015608E62E8}"/>
              </a:ext>
            </a:extLst>
          </p:cNvPr>
          <p:cNvSpPr txBox="1">
            <a:spLocks/>
          </p:cNvSpPr>
          <p:nvPr/>
        </p:nvSpPr>
        <p:spPr>
          <a:xfrm>
            <a:off x="1293812" y="0"/>
            <a:ext cx="7876271"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r>
              <a:rPr lang="en-US" sz="2400" b="1" dirty="0"/>
              <a:t>Matrix based BFS</a:t>
            </a:r>
          </a:p>
        </p:txBody>
      </p:sp>
      <p:sp>
        <p:nvSpPr>
          <p:cNvPr id="9" name="Content Placeholder 8">
            <a:extLst>
              <a:ext uri="{FF2B5EF4-FFF2-40B4-BE49-F238E27FC236}">
                <a16:creationId xmlns:a16="http://schemas.microsoft.com/office/drawing/2014/main" id="{D6AFE47B-73F8-D123-148D-DFDD304BF0C9}"/>
              </a:ext>
            </a:extLst>
          </p:cNvPr>
          <p:cNvSpPr>
            <a:spLocks noGrp="1"/>
          </p:cNvSpPr>
          <p:nvPr>
            <p:ph idx="1"/>
          </p:nvPr>
        </p:nvSpPr>
        <p:spPr/>
        <p:txBody>
          <a:bodyPr>
            <a:normAutofit/>
          </a:bodyPr>
          <a:lstStyle/>
          <a:p>
            <a:r>
              <a:rPr lang="en-US" sz="1800" dirty="0"/>
              <a:t>In matrix-based BFS, the </a:t>
            </a:r>
            <a:r>
              <a:rPr lang="en-US" sz="1800" b="1" dirty="0"/>
              <a:t>graph</a:t>
            </a:r>
            <a:r>
              <a:rPr lang="en-US" sz="1800" dirty="0"/>
              <a:t> is represented using an </a:t>
            </a:r>
            <a:r>
              <a:rPr lang="en-US" sz="1800" b="1" dirty="0"/>
              <a:t>adjacency matrix</a:t>
            </a:r>
            <a:r>
              <a:rPr lang="en-US" sz="1800" dirty="0"/>
              <a:t> AAA, and the BFS traversal is implemented as a </a:t>
            </a:r>
            <a:r>
              <a:rPr lang="en-US" sz="1800" b="1" dirty="0"/>
              <a:t>series of matrix-vector multiplications</a:t>
            </a:r>
            <a:r>
              <a:rPr lang="en-US" sz="1800" dirty="0"/>
              <a:t>. The BFS "frontier" (i.e., current level of nodes being visited) is stored as a vector x.</a:t>
            </a:r>
          </a:p>
          <a:p>
            <a:endParaRPr lang="en-US" sz="1800" dirty="0"/>
          </a:p>
          <a:p>
            <a:endParaRPr lang="en-US" sz="1800" dirty="0"/>
          </a:p>
          <a:p>
            <a:endParaRPr lang="en-US" sz="1800" dirty="0"/>
          </a:p>
          <a:p>
            <a:endParaRPr lang="en-US" sz="1800" dirty="0"/>
          </a:p>
        </p:txBody>
      </p:sp>
      <p:pic>
        <p:nvPicPr>
          <p:cNvPr id="8" name="Picture 7">
            <a:extLst>
              <a:ext uri="{FF2B5EF4-FFF2-40B4-BE49-F238E27FC236}">
                <a16:creationId xmlns:a16="http://schemas.microsoft.com/office/drawing/2014/main" id="{0983E728-36BD-0823-DC62-839DF1080B7E}"/>
              </a:ext>
            </a:extLst>
          </p:cNvPr>
          <p:cNvPicPr>
            <a:picLocks noChangeAspect="1"/>
          </p:cNvPicPr>
          <p:nvPr/>
        </p:nvPicPr>
        <p:blipFill>
          <a:blip r:embed="rId2"/>
          <a:stretch>
            <a:fillRect/>
          </a:stretch>
        </p:blipFill>
        <p:spPr>
          <a:xfrm>
            <a:off x="1776968" y="2792592"/>
            <a:ext cx="5894863" cy="2286000"/>
          </a:xfrm>
          <a:prstGeom prst="rect">
            <a:avLst/>
          </a:prstGeom>
        </p:spPr>
      </p:pic>
    </p:spTree>
    <p:extLst>
      <p:ext uri="{BB962C8B-B14F-4D97-AF65-F5344CB8AC3E}">
        <p14:creationId xmlns:p14="http://schemas.microsoft.com/office/powerpoint/2010/main" val="1053526235"/>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a:spLocks/>
          </p:cNvSpPr>
          <p:nvPr/>
        </p:nvSpPr>
        <p:spPr>
          <a:xfrm>
            <a:off x="1300506" y="0"/>
            <a:ext cx="7810500" cy="685799"/>
          </a:xfrm>
          <a:prstGeom prst="rect">
            <a:avLst/>
          </a:prstGeom>
          <a:solidFill>
            <a:schemeClr val="accent2"/>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r>
              <a:rPr lang="en-US" sz="2400" b="1" dirty="0"/>
              <a:t>Software Design</a:t>
            </a:r>
          </a:p>
        </p:txBody>
      </p:sp>
      <p:sp>
        <p:nvSpPr>
          <p:cNvPr id="2" name="Date Placeholder 1"/>
          <p:cNvSpPr>
            <a:spLocks noGrp="1"/>
          </p:cNvSpPr>
          <p:nvPr>
            <p:ph type="dt" sz="half" idx="10"/>
          </p:nvPr>
        </p:nvSpPr>
        <p:spPr/>
        <p:txBody>
          <a:bodyPr/>
          <a:lstStyle/>
          <a:p>
            <a:fld id="{7BD107E4-42AF-4363-8273-9AFB0094A982}" type="datetime1">
              <a:rPr lang="en-IN" smtClean="0"/>
              <a:t>21-07-2025</a:t>
            </a:fld>
            <a:endParaRPr lang="en-US"/>
          </a:p>
        </p:txBody>
      </p:sp>
      <p:sp>
        <p:nvSpPr>
          <p:cNvPr id="6" name="Footer Placeholder 5"/>
          <p:cNvSpPr>
            <a:spLocks noGrp="1"/>
          </p:cNvSpPr>
          <p:nvPr>
            <p:ph type="ftr" sz="quarter" idx="11"/>
          </p:nvPr>
        </p:nvSpPr>
        <p:spPr>
          <a:xfrm>
            <a:off x="2209800" y="6356350"/>
            <a:ext cx="5029200" cy="365125"/>
          </a:xfrm>
        </p:spPr>
        <p:txBody>
          <a:bodyPr/>
          <a:lstStyle/>
          <a:p>
            <a:r>
              <a:rPr lang="en-US"/>
              <a:t>Ms. Purnima Pal      High Performance Computing             Unit III     </a:t>
            </a:r>
            <a:endParaRPr lang="en-US" dirty="0"/>
          </a:p>
        </p:txBody>
      </p:sp>
      <p:sp>
        <p:nvSpPr>
          <p:cNvPr id="7" name="Slide Number Placeholder 6"/>
          <p:cNvSpPr>
            <a:spLocks noGrp="1"/>
          </p:cNvSpPr>
          <p:nvPr>
            <p:ph type="sldNum" sz="quarter" idx="12"/>
          </p:nvPr>
        </p:nvSpPr>
        <p:spPr/>
        <p:txBody>
          <a:bodyPr/>
          <a:lstStyle/>
          <a:p>
            <a:fld id="{AE566132-A42B-4D26-9C08-B059D352BBB6}" type="slidenum">
              <a:rPr lang="en-US" smtClean="0"/>
              <a:pPr/>
              <a:t>53</a:t>
            </a:fld>
            <a:endParaRPr lang="en-US"/>
          </a:p>
        </p:txBody>
      </p:sp>
      <p:sp>
        <p:nvSpPr>
          <p:cNvPr id="5" name="Title 1">
            <a:extLst>
              <a:ext uri="{FF2B5EF4-FFF2-40B4-BE49-F238E27FC236}">
                <a16:creationId xmlns:a16="http://schemas.microsoft.com/office/drawing/2014/main" id="{74C97CF1-3A45-326E-4C1F-9015608E62E8}"/>
              </a:ext>
            </a:extLst>
          </p:cNvPr>
          <p:cNvSpPr txBox="1">
            <a:spLocks/>
          </p:cNvSpPr>
          <p:nvPr/>
        </p:nvSpPr>
        <p:spPr>
          <a:xfrm>
            <a:off x="1259088" y="-29496"/>
            <a:ext cx="7876271"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r>
              <a:rPr lang="en-US" sz="2400" b="1"/>
              <a:t>Matrix based BFS</a:t>
            </a:r>
            <a:endParaRPr lang="en-US" sz="2400" b="1" dirty="0"/>
          </a:p>
        </p:txBody>
      </p:sp>
      <p:sp>
        <p:nvSpPr>
          <p:cNvPr id="9" name="Content Placeholder 8">
            <a:extLst>
              <a:ext uri="{FF2B5EF4-FFF2-40B4-BE49-F238E27FC236}">
                <a16:creationId xmlns:a16="http://schemas.microsoft.com/office/drawing/2014/main" id="{D6AFE47B-73F8-D123-148D-DFDD304BF0C9}"/>
              </a:ext>
            </a:extLst>
          </p:cNvPr>
          <p:cNvSpPr>
            <a:spLocks noGrp="1"/>
          </p:cNvSpPr>
          <p:nvPr>
            <p:ph idx="1"/>
          </p:nvPr>
        </p:nvSpPr>
        <p:spPr/>
        <p:txBody>
          <a:bodyPr>
            <a:normAutofit fontScale="62500" lnSpcReduction="20000"/>
          </a:bodyPr>
          <a:lstStyle/>
          <a:p>
            <a:pPr marL="514350" indent="-514350">
              <a:buAutoNum type="arabicPeriod"/>
            </a:pPr>
            <a:r>
              <a:rPr lang="en-US" dirty="0"/>
              <a:t>Graph Partitioning:</a:t>
            </a:r>
          </a:p>
          <a:p>
            <a:r>
              <a:rPr lang="en-US" dirty="0"/>
              <a:t> The adjacency matrix 𝐴A is divided row-wise or block-wise among different nodes.</a:t>
            </a:r>
          </a:p>
          <a:p>
            <a:r>
              <a:rPr lang="en-US" dirty="0"/>
              <a:t>Each processor stores only a portion of the matrix and the corresponding part of the frontier vector.</a:t>
            </a:r>
          </a:p>
          <a:p>
            <a:pPr marL="0" indent="0">
              <a:buNone/>
            </a:pPr>
            <a:r>
              <a:rPr lang="en-US" dirty="0"/>
              <a:t>2. Parallel Matrix-Vector Multiplication:</a:t>
            </a:r>
          </a:p>
          <a:p>
            <a:r>
              <a:rPr lang="en-US" dirty="0"/>
              <a:t>Each processor performs local multiplication on its partition of the matrix and vector.</a:t>
            </a:r>
          </a:p>
          <a:p>
            <a:r>
              <a:rPr lang="en-US" dirty="0"/>
              <a:t>Results are communicated using MPI (Message Passing Interface) to form the global frontier vector.</a:t>
            </a:r>
          </a:p>
          <a:p>
            <a:pPr marL="0" indent="0">
              <a:buNone/>
            </a:pPr>
            <a:r>
              <a:rPr lang="en-US" dirty="0"/>
              <a:t>Communication:</a:t>
            </a:r>
          </a:p>
          <a:p>
            <a:r>
              <a:rPr lang="en-US" dirty="0"/>
              <a:t>After each iteration, processors need to exchange parts of the updated vector to keep all copies consistent.</a:t>
            </a:r>
          </a:p>
          <a:p>
            <a:r>
              <a:rPr lang="en-US" dirty="0"/>
              <a:t>This is done using collective communication operations like </a:t>
            </a:r>
            <a:r>
              <a:rPr lang="en-US" dirty="0" err="1"/>
              <a:t>MPI_Allgather</a:t>
            </a:r>
            <a:r>
              <a:rPr lang="en-US" dirty="0"/>
              <a:t>.</a:t>
            </a:r>
          </a:p>
        </p:txBody>
      </p:sp>
    </p:spTree>
    <p:extLst>
      <p:ext uri="{BB962C8B-B14F-4D97-AF65-F5344CB8AC3E}">
        <p14:creationId xmlns:p14="http://schemas.microsoft.com/office/powerpoint/2010/main" val="1444091393"/>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a:spLocks/>
          </p:cNvSpPr>
          <p:nvPr/>
        </p:nvSpPr>
        <p:spPr>
          <a:xfrm>
            <a:off x="1300506" y="0"/>
            <a:ext cx="7810500" cy="685799"/>
          </a:xfrm>
          <a:prstGeom prst="rect">
            <a:avLst/>
          </a:prstGeom>
          <a:solidFill>
            <a:schemeClr val="accent2"/>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r>
              <a:rPr lang="en-US" sz="2400" b="1" dirty="0"/>
              <a:t>Software Design</a:t>
            </a:r>
          </a:p>
        </p:txBody>
      </p:sp>
      <p:sp>
        <p:nvSpPr>
          <p:cNvPr id="2" name="Date Placeholder 1"/>
          <p:cNvSpPr>
            <a:spLocks noGrp="1"/>
          </p:cNvSpPr>
          <p:nvPr>
            <p:ph type="dt" sz="half" idx="10"/>
          </p:nvPr>
        </p:nvSpPr>
        <p:spPr/>
        <p:txBody>
          <a:bodyPr/>
          <a:lstStyle/>
          <a:p>
            <a:fld id="{4FB5D77E-23B4-4900-A980-16A4D39560AE}" type="datetime1">
              <a:rPr lang="en-IN" smtClean="0"/>
              <a:t>21-07-2025</a:t>
            </a:fld>
            <a:endParaRPr lang="en-US"/>
          </a:p>
        </p:txBody>
      </p:sp>
      <p:sp>
        <p:nvSpPr>
          <p:cNvPr id="6" name="Footer Placeholder 5"/>
          <p:cNvSpPr>
            <a:spLocks noGrp="1"/>
          </p:cNvSpPr>
          <p:nvPr>
            <p:ph type="ftr" sz="quarter" idx="11"/>
          </p:nvPr>
        </p:nvSpPr>
        <p:spPr>
          <a:xfrm>
            <a:off x="2209800" y="6356350"/>
            <a:ext cx="5029200" cy="365125"/>
          </a:xfrm>
        </p:spPr>
        <p:txBody>
          <a:bodyPr/>
          <a:lstStyle/>
          <a:p>
            <a:r>
              <a:rPr lang="en-US"/>
              <a:t>Ms. Purnima Pal      High Performance Computing             Unit III     </a:t>
            </a:r>
            <a:endParaRPr lang="en-US" dirty="0"/>
          </a:p>
        </p:txBody>
      </p:sp>
      <p:sp>
        <p:nvSpPr>
          <p:cNvPr id="7" name="Slide Number Placeholder 6"/>
          <p:cNvSpPr>
            <a:spLocks noGrp="1"/>
          </p:cNvSpPr>
          <p:nvPr>
            <p:ph type="sldNum" sz="quarter" idx="12"/>
          </p:nvPr>
        </p:nvSpPr>
        <p:spPr/>
        <p:txBody>
          <a:bodyPr/>
          <a:lstStyle/>
          <a:p>
            <a:fld id="{AE566132-A42B-4D26-9C08-B059D352BBB6}" type="slidenum">
              <a:rPr lang="en-US" smtClean="0"/>
              <a:pPr/>
              <a:t>54</a:t>
            </a:fld>
            <a:endParaRPr lang="en-US"/>
          </a:p>
        </p:txBody>
      </p:sp>
      <p:sp>
        <p:nvSpPr>
          <p:cNvPr id="5" name="Title 1">
            <a:extLst>
              <a:ext uri="{FF2B5EF4-FFF2-40B4-BE49-F238E27FC236}">
                <a16:creationId xmlns:a16="http://schemas.microsoft.com/office/drawing/2014/main" id="{74C97CF1-3A45-326E-4C1F-9015608E62E8}"/>
              </a:ext>
            </a:extLst>
          </p:cNvPr>
          <p:cNvSpPr txBox="1">
            <a:spLocks/>
          </p:cNvSpPr>
          <p:nvPr/>
        </p:nvSpPr>
        <p:spPr>
          <a:xfrm>
            <a:off x="1259088" y="0"/>
            <a:ext cx="7876271"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r>
              <a:rPr lang="en-US" sz="2400" b="1"/>
              <a:t> CUDA programming </a:t>
            </a:r>
            <a:endParaRPr lang="en-US" sz="2400" b="1" dirty="0"/>
          </a:p>
        </p:txBody>
      </p:sp>
      <p:sp>
        <p:nvSpPr>
          <p:cNvPr id="9" name="Content Placeholder 8">
            <a:extLst>
              <a:ext uri="{FF2B5EF4-FFF2-40B4-BE49-F238E27FC236}">
                <a16:creationId xmlns:a16="http://schemas.microsoft.com/office/drawing/2014/main" id="{D6AFE47B-73F8-D123-148D-DFDD304BF0C9}"/>
              </a:ext>
            </a:extLst>
          </p:cNvPr>
          <p:cNvSpPr>
            <a:spLocks noGrp="1"/>
          </p:cNvSpPr>
          <p:nvPr>
            <p:ph idx="1"/>
          </p:nvPr>
        </p:nvSpPr>
        <p:spPr/>
        <p:txBody>
          <a:bodyPr>
            <a:normAutofit/>
          </a:bodyPr>
          <a:lstStyle/>
          <a:p>
            <a:r>
              <a:rPr lang="en-US" sz="1800" b="1" dirty="0"/>
              <a:t>Introduction to CUDA</a:t>
            </a:r>
          </a:p>
          <a:p>
            <a:endParaRPr lang="en-US" sz="1800" dirty="0"/>
          </a:p>
          <a:p>
            <a:r>
              <a:rPr lang="en-US" sz="1800" dirty="0"/>
              <a:t>CUDA (Compute Unified Device Architecture) is NVIDIA’s parallel computing platform.</a:t>
            </a:r>
          </a:p>
          <a:p>
            <a:endParaRPr lang="en-US" sz="1800" dirty="0"/>
          </a:p>
          <a:p>
            <a:r>
              <a:rPr lang="en-US" sz="1800" dirty="0"/>
              <a:t>Enables programming GPUs using familiar languages like C/C++.</a:t>
            </a:r>
          </a:p>
          <a:p>
            <a:endParaRPr lang="en-US" sz="1800" dirty="0"/>
          </a:p>
          <a:p>
            <a:r>
              <a:rPr lang="en-US" sz="1800" dirty="0"/>
              <a:t>Used for high-performance computing, machine learning, simulations, etc.</a:t>
            </a:r>
          </a:p>
        </p:txBody>
      </p:sp>
    </p:spTree>
    <p:extLst>
      <p:ext uri="{BB962C8B-B14F-4D97-AF65-F5344CB8AC3E}">
        <p14:creationId xmlns:p14="http://schemas.microsoft.com/office/powerpoint/2010/main" val="798592907"/>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a:spLocks/>
          </p:cNvSpPr>
          <p:nvPr/>
        </p:nvSpPr>
        <p:spPr>
          <a:xfrm>
            <a:off x="1300506" y="0"/>
            <a:ext cx="7810500" cy="685799"/>
          </a:xfrm>
          <a:prstGeom prst="rect">
            <a:avLst/>
          </a:prstGeom>
          <a:solidFill>
            <a:schemeClr val="accent2"/>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r>
              <a:rPr lang="en-US" sz="2400" b="1" dirty="0"/>
              <a:t>Software Design</a:t>
            </a:r>
          </a:p>
        </p:txBody>
      </p:sp>
      <p:sp>
        <p:nvSpPr>
          <p:cNvPr id="2" name="Date Placeholder 1"/>
          <p:cNvSpPr>
            <a:spLocks noGrp="1"/>
          </p:cNvSpPr>
          <p:nvPr>
            <p:ph type="dt" sz="half" idx="10"/>
          </p:nvPr>
        </p:nvSpPr>
        <p:spPr/>
        <p:txBody>
          <a:bodyPr/>
          <a:lstStyle/>
          <a:p>
            <a:fld id="{20B30D60-F57B-423C-85FB-ADC56099995F}" type="datetime1">
              <a:rPr lang="en-IN" smtClean="0"/>
              <a:t>21-07-2025</a:t>
            </a:fld>
            <a:endParaRPr lang="en-US"/>
          </a:p>
        </p:txBody>
      </p:sp>
      <p:sp>
        <p:nvSpPr>
          <p:cNvPr id="6" name="Footer Placeholder 5"/>
          <p:cNvSpPr>
            <a:spLocks noGrp="1"/>
          </p:cNvSpPr>
          <p:nvPr>
            <p:ph type="ftr" sz="quarter" idx="11"/>
          </p:nvPr>
        </p:nvSpPr>
        <p:spPr>
          <a:xfrm>
            <a:off x="2209800" y="6356350"/>
            <a:ext cx="5029200" cy="365125"/>
          </a:xfrm>
        </p:spPr>
        <p:txBody>
          <a:bodyPr/>
          <a:lstStyle/>
          <a:p>
            <a:r>
              <a:rPr lang="en-US"/>
              <a:t>Ms. Purnima Pal      High Performance Computing             Unit III     </a:t>
            </a:r>
            <a:endParaRPr lang="en-US" dirty="0"/>
          </a:p>
        </p:txBody>
      </p:sp>
      <p:sp>
        <p:nvSpPr>
          <p:cNvPr id="7" name="Slide Number Placeholder 6"/>
          <p:cNvSpPr>
            <a:spLocks noGrp="1"/>
          </p:cNvSpPr>
          <p:nvPr>
            <p:ph type="sldNum" sz="quarter" idx="12"/>
          </p:nvPr>
        </p:nvSpPr>
        <p:spPr/>
        <p:txBody>
          <a:bodyPr/>
          <a:lstStyle/>
          <a:p>
            <a:fld id="{AE566132-A42B-4D26-9C08-B059D352BBB6}" type="slidenum">
              <a:rPr lang="en-US" smtClean="0"/>
              <a:pPr/>
              <a:t>55</a:t>
            </a:fld>
            <a:endParaRPr lang="en-US"/>
          </a:p>
        </p:txBody>
      </p:sp>
      <p:sp>
        <p:nvSpPr>
          <p:cNvPr id="5" name="Title 1">
            <a:extLst>
              <a:ext uri="{FF2B5EF4-FFF2-40B4-BE49-F238E27FC236}">
                <a16:creationId xmlns:a16="http://schemas.microsoft.com/office/drawing/2014/main" id="{74C97CF1-3A45-326E-4C1F-9015608E62E8}"/>
              </a:ext>
            </a:extLst>
          </p:cNvPr>
          <p:cNvSpPr txBox="1">
            <a:spLocks/>
          </p:cNvSpPr>
          <p:nvPr/>
        </p:nvSpPr>
        <p:spPr>
          <a:xfrm>
            <a:off x="1259088" y="0"/>
            <a:ext cx="7876271"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r>
              <a:rPr lang="en-US" sz="2400" b="1" dirty="0"/>
              <a:t>Memory Hierarchy in CUDA</a:t>
            </a:r>
          </a:p>
        </p:txBody>
      </p:sp>
      <p:sp>
        <p:nvSpPr>
          <p:cNvPr id="9" name="Content Placeholder 8">
            <a:extLst>
              <a:ext uri="{FF2B5EF4-FFF2-40B4-BE49-F238E27FC236}">
                <a16:creationId xmlns:a16="http://schemas.microsoft.com/office/drawing/2014/main" id="{D6AFE47B-73F8-D123-148D-DFDD304BF0C9}"/>
              </a:ext>
            </a:extLst>
          </p:cNvPr>
          <p:cNvSpPr>
            <a:spLocks noGrp="1"/>
          </p:cNvSpPr>
          <p:nvPr>
            <p:ph idx="1"/>
          </p:nvPr>
        </p:nvSpPr>
        <p:spPr/>
        <p:txBody>
          <a:bodyPr>
            <a:normAutofit/>
          </a:bodyPr>
          <a:lstStyle/>
          <a:p>
            <a:r>
              <a:rPr lang="en-US" sz="1800" b="1" dirty="0"/>
              <a:t>CUDA Memory Model Overview</a:t>
            </a:r>
          </a:p>
          <a:p>
            <a:endParaRPr lang="en-US" sz="1800" b="1" dirty="0"/>
          </a:p>
          <a:p>
            <a:r>
              <a:rPr lang="en-US" sz="1800" dirty="0"/>
              <a:t>Registers: Fastest, private to threads.</a:t>
            </a:r>
          </a:p>
          <a:p>
            <a:endParaRPr lang="en-US" sz="1800" dirty="0"/>
          </a:p>
          <a:p>
            <a:r>
              <a:rPr lang="en-US" sz="1800" dirty="0"/>
              <a:t>Shared Memory: Shared within a thread block.</a:t>
            </a:r>
          </a:p>
          <a:p>
            <a:endParaRPr lang="en-US" sz="1800" dirty="0"/>
          </a:p>
          <a:p>
            <a:r>
              <a:rPr lang="en-US" sz="1800" dirty="0"/>
              <a:t>Global Memory: Accessible by all threads, but slow.</a:t>
            </a:r>
          </a:p>
          <a:p>
            <a:endParaRPr lang="en-US" sz="1800" dirty="0"/>
          </a:p>
          <a:p>
            <a:r>
              <a:rPr lang="en-US" sz="1800" dirty="0"/>
              <a:t>Constant &amp; Texture Memory: Specialized read-only caches.</a:t>
            </a:r>
          </a:p>
          <a:p>
            <a:endParaRPr lang="en-US" sz="1800" dirty="0"/>
          </a:p>
          <a:p>
            <a:r>
              <a:rPr lang="en-US" sz="1800" dirty="0"/>
              <a:t>Visual diagram of memory hierarchy (recommended).</a:t>
            </a:r>
          </a:p>
        </p:txBody>
      </p:sp>
    </p:spTree>
    <p:extLst>
      <p:ext uri="{BB962C8B-B14F-4D97-AF65-F5344CB8AC3E}">
        <p14:creationId xmlns:p14="http://schemas.microsoft.com/office/powerpoint/2010/main" val="1028381755"/>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a:spLocks/>
          </p:cNvSpPr>
          <p:nvPr/>
        </p:nvSpPr>
        <p:spPr>
          <a:xfrm>
            <a:off x="1300506" y="0"/>
            <a:ext cx="7810500" cy="685799"/>
          </a:xfrm>
          <a:prstGeom prst="rect">
            <a:avLst/>
          </a:prstGeom>
          <a:solidFill>
            <a:schemeClr val="accent2"/>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r>
              <a:rPr lang="en-US" sz="2400" b="1" dirty="0"/>
              <a:t>Software Design</a:t>
            </a:r>
          </a:p>
        </p:txBody>
      </p:sp>
      <p:sp>
        <p:nvSpPr>
          <p:cNvPr id="2" name="Date Placeholder 1"/>
          <p:cNvSpPr>
            <a:spLocks noGrp="1"/>
          </p:cNvSpPr>
          <p:nvPr>
            <p:ph type="dt" sz="half" idx="10"/>
          </p:nvPr>
        </p:nvSpPr>
        <p:spPr/>
        <p:txBody>
          <a:bodyPr/>
          <a:lstStyle/>
          <a:p>
            <a:fld id="{9E33640B-B758-45DC-BA47-21CACEC99ACF}" type="datetime1">
              <a:rPr lang="en-IN" smtClean="0"/>
              <a:t>21-07-2025</a:t>
            </a:fld>
            <a:endParaRPr lang="en-US"/>
          </a:p>
        </p:txBody>
      </p:sp>
      <p:sp>
        <p:nvSpPr>
          <p:cNvPr id="6" name="Footer Placeholder 5"/>
          <p:cNvSpPr>
            <a:spLocks noGrp="1"/>
          </p:cNvSpPr>
          <p:nvPr>
            <p:ph type="ftr" sz="quarter" idx="11"/>
          </p:nvPr>
        </p:nvSpPr>
        <p:spPr>
          <a:xfrm>
            <a:off x="2209800" y="6356350"/>
            <a:ext cx="5029200" cy="365125"/>
          </a:xfrm>
        </p:spPr>
        <p:txBody>
          <a:bodyPr/>
          <a:lstStyle/>
          <a:p>
            <a:r>
              <a:rPr lang="en-US"/>
              <a:t>Ms. Purnima Pal      High Performance Computing             Unit III     </a:t>
            </a:r>
            <a:endParaRPr lang="en-US" dirty="0"/>
          </a:p>
        </p:txBody>
      </p:sp>
      <p:sp>
        <p:nvSpPr>
          <p:cNvPr id="7" name="Slide Number Placeholder 6"/>
          <p:cNvSpPr>
            <a:spLocks noGrp="1"/>
          </p:cNvSpPr>
          <p:nvPr>
            <p:ph type="sldNum" sz="quarter" idx="12"/>
          </p:nvPr>
        </p:nvSpPr>
        <p:spPr/>
        <p:txBody>
          <a:bodyPr/>
          <a:lstStyle/>
          <a:p>
            <a:fld id="{AE566132-A42B-4D26-9C08-B059D352BBB6}" type="slidenum">
              <a:rPr lang="en-US" smtClean="0"/>
              <a:pPr/>
              <a:t>56</a:t>
            </a:fld>
            <a:endParaRPr lang="en-US"/>
          </a:p>
        </p:txBody>
      </p:sp>
      <p:sp>
        <p:nvSpPr>
          <p:cNvPr id="5" name="Title 1">
            <a:extLst>
              <a:ext uri="{FF2B5EF4-FFF2-40B4-BE49-F238E27FC236}">
                <a16:creationId xmlns:a16="http://schemas.microsoft.com/office/drawing/2014/main" id="{74C97CF1-3A45-326E-4C1F-9015608E62E8}"/>
              </a:ext>
            </a:extLst>
          </p:cNvPr>
          <p:cNvSpPr txBox="1">
            <a:spLocks/>
          </p:cNvSpPr>
          <p:nvPr/>
        </p:nvSpPr>
        <p:spPr>
          <a:xfrm>
            <a:off x="1259088" y="0"/>
            <a:ext cx="7876271"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r>
              <a:rPr lang="en-US" sz="2400" b="1" dirty="0"/>
              <a:t>What is Distributed Memory in CUDA?</a:t>
            </a:r>
          </a:p>
          <a:p>
            <a:endParaRPr lang="en-US" sz="2400" b="1" dirty="0"/>
          </a:p>
        </p:txBody>
      </p:sp>
      <p:sp>
        <p:nvSpPr>
          <p:cNvPr id="9" name="Content Placeholder 8">
            <a:extLst>
              <a:ext uri="{FF2B5EF4-FFF2-40B4-BE49-F238E27FC236}">
                <a16:creationId xmlns:a16="http://schemas.microsoft.com/office/drawing/2014/main" id="{D6AFE47B-73F8-D123-148D-DFDD304BF0C9}"/>
              </a:ext>
            </a:extLst>
          </p:cNvPr>
          <p:cNvSpPr>
            <a:spLocks noGrp="1"/>
          </p:cNvSpPr>
          <p:nvPr>
            <p:ph idx="1"/>
          </p:nvPr>
        </p:nvSpPr>
        <p:spPr/>
        <p:txBody>
          <a:bodyPr>
            <a:normAutofit/>
          </a:bodyPr>
          <a:lstStyle/>
          <a:p>
            <a:r>
              <a:rPr lang="en-US" sz="1800" b="1" dirty="0"/>
              <a:t>Distributed Shared Memory (DSM)</a:t>
            </a:r>
          </a:p>
          <a:p>
            <a:pPr marL="0" indent="0">
              <a:buNone/>
            </a:pPr>
            <a:endParaRPr lang="en-US" sz="1800" b="1" dirty="0"/>
          </a:p>
          <a:p>
            <a:r>
              <a:rPr lang="en-US" sz="1800" dirty="0"/>
              <a:t>A new feature (Compute Capability 9.0+) enabling multiple thread blocks to access shared memory.</a:t>
            </a:r>
          </a:p>
          <a:p>
            <a:endParaRPr lang="en-US" sz="1800" dirty="0"/>
          </a:p>
          <a:p>
            <a:r>
              <a:rPr lang="en-US" sz="1800" dirty="0"/>
              <a:t>Shared memory spans across block clusters, not just inside one block.</a:t>
            </a:r>
          </a:p>
          <a:p>
            <a:endParaRPr lang="en-US" sz="1800" dirty="0"/>
          </a:p>
          <a:p>
            <a:r>
              <a:rPr lang="en-US" sz="1800" dirty="0"/>
              <a:t>Enables inter-block cooperation without global memory.</a:t>
            </a:r>
          </a:p>
          <a:p>
            <a:endParaRPr lang="en-US" sz="1800" b="1" dirty="0"/>
          </a:p>
          <a:p>
            <a:endParaRPr lang="en-US" sz="1800" b="1" dirty="0"/>
          </a:p>
        </p:txBody>
      </p:sp>
    </p:spTree>
    <p:extLst>
      <p:ext uri="{BB962C8B-B14F-4D97-AF65-F5344CB8AC3E}">
        <p14:creationId xmlns:p14="http://schemas.microsoft.com/office/powerpoint/2010/main" val="1293688623"/>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a:spLocks/>
          </p:cNvSpPr>
          <p:nvPr/>
        </p:nvSpPr>
        <p:spPr>
          <a:xfrm>
            <a:off x="1300506" y="0"/>
            <a:ext cx="7810500" cy="685799"/>
          </a:xfrm>
          <a:prstGeom prst="rect">
            <a:avLst/>
          </a:prstGeom>
          <a:solidFill>
            <a:schemeClr val="accent2"/>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r>
              <a:rPr lang="en-US" sz="2400" b="1" dirty="0"/>
              <a:t>Software Design</a:t>
            </a:r>
          </a:p>
        </p:txBody>
      </p:sp>
      <p:sp>
        <p:nvSpPr>
          <p:cNvPr id="2" name="Date Placeholder 1"/>
          <p:cNvSpPr>
            <a:spLocks noGrp="1"/>
          </p:cNvSpPr>
          <p:nvPr>
            <p:ph type="dt" sz="half" idx="10"/>
          </p:nvPr>
        </p:nvSpPr>
        <p:spPr/>
        <p:txBody>
          <a:bodyPr/>
          <a:lstStyle/>
          <a:p>
            <a:fld id="{49BF72CC-A85A-4121-B7CB-B31C58FF95B9}" type="datetime1">
              <a:rPr lang="en-IN" smtClean="0"/>
              <a:t>21-07-2025</a:t>
            </a:fld>
            <a:endParaRPr lang="en-US"/>
          </a:p>
        </p:txBody>
      </p:sp>
      <p:sp>
        <p:nvSpPr>
          <p:cNvPr id="6" name="Footer Placeholder 5"/>
          <p:cNvSpPr>
            <a:spLocks noGrp="1"/>
          </p:cNvSpPr>
          <p:nvPr>
            <p:ph type="ftr" sz="quarter" idx="11"/>
          </p:nvPr>
        </p:nvSpPr>
        <p:spPr>
          <a:xfrm>
            <a:off x="2209800" y="6356350"/>
            <a:ext cx="5029200" cy="365125"/>
          </a:xfrm>
        </p:spPr>
        <p:txBody>
          <a:bodyPr/>
          <a:lstStyle/>
          <a:p>
            <a:r>
              <a:rPr lang="en-US"/>
              <a:t>Ms. Purnima Pal      High Performance Computing             Unit III     </a:t>
            </a:r>
            <a:endParaRPr lang="en-US" dirty="0"/>
          </a:p>
        </p:txBody>
      </p:sp>
      <p:sp>
        <p:nvSpPr>
          <p:cNvPr id="7" name="Slide Number Placeholder 6"/>
          <p:cNvSpPr>
            <a:spLocks noGrp="1"/>
          </p:cNvSpPr>
          <p:nvPr>
            <p:ph type="sldNum" sz="quarter" idx="12"/>
          </p:nvPr>
        </p:nvSpPr>
        <p:spPr/>
        <p:txBody>
          <a:bodyPr/>
          <a:lstStyle/>
          <a:p>
            <a:fld id="{AE566132-A42B-4D26-9C08-B059D352BBB6}" type="slidenum">
              <a:rPr lang="en-US" smtClean="0"/>
              <a:pPr/>
              <a:t>57</a:t>
            </a:fld>
            <a:endParaRPr lang="en-US"/>
          </a:p>
        </p:txBody>
      </p:sp>
      <p:sp>
        <p:nvSpPr>
          <p:cNvPr id="5" name="Title 1">
            <a:extLst>
              <a:ext uri="{FF2B5EF4-FFF2-40B4-BE49-F238E27FC236}">
                <a16:creationId xmlns:a16="http://schemas.microsoft.com/office/drawing/2014/main" id="{74C97CF1-3A45-326E-4C1F-9015608E62E8}"/>
              </a:ext>
            </a:extLst>
          </p:cNvPr>
          <p:cNvSpPr txBox="1">
            <a:spLocks/>
          </p:cNvSpPr>
          <p:nvPr/>
        </p:nvSpPr>
        <p:spPr>
          <a:xfrm>
            <a:off x="1259088" y="0"/>
            <a:ext cx="7876271"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r>
              <a:rPr lang="en-US" sz="2400" b="1" dirty="0"/>
              <a:t>Why DSM is Important</a:t>
            </a:r>
          </a:p>
        </p:txBody>
      </p:sp>
      <p:sp>
        <p:nvSpPr>
          <p:cNvPr id="9" name="Content Placeholder 8">
            <a:extLst>
              <a:ext uri="{FF2B5EF4-FFF2-40B4-BE49-F238E27FC236}">
                <a16:creationId xmlns:a16="http://schemas.microsoft.com/office/drawing/2014/main" id="{D6AFE47B-73F8-D123-148D-DFDD304BF0C9}"/>
              </a:ext>
            </a:extLst>
          </p:cNvPr>
          <p:cNvSpPr>
            <a:spLocks noGrp="1"/>
          </p:cNvSpPr>
          <p:nvPr>
            <p:ph idx="1"/>
          </p:nvPr>
        </p:nvSpPr>
        <p:spPr/>
        <p:txBody>
          <a:bodyPr>
            <a:normAutofit/>
          </a:bodyPr>
          <a:lstStyle/>
          <a:p>
            <a:r>
              <a:rPr lang="en-US" sz="1800" b="1" dirty="0"/>
              <a:t>Why Use Distributed Shared Memory?</a:t>
            </a:r>
          </a:p>
          <a:p>
            <a:r>
              <a:rPr lang="en-US" sz="1800" dirty="0"/>
              <a:t>Avoids slow global memory for inter-block communication.</a:t>
            </a:r>
          </a:p>
          <a:p>
            <a:endParaRPr lang="en-US" sz="1800" dirty="0"/>
          </a:p>
          <a:p>
            <a:r>
              <a:rPr lang="en-US" sz="1800" dirty="0"/>
              <a:t>Speeds up reduction, histogram, and matrix operations.</a:t>
            </a:r>
          </a:p>
          <a:p>
            <a:pPr marL="0" indent="0">
              <a:buNone/>
            </a:pPr>
            <a:endParaRPr lang="en-US" sz="1800" dirty="0"/>
          </a:p>
          <a:p>
            <a:r>
              <a:rPr lang="en-US" sz="1800" dirty="0"/>
              <a:t>Improves efficiency for problems requiring data exchange across thread blocks.</a:t>
            </a:r>
          </a:p>
          <a:p>
            <a:endParaRPr lang="en-US" sz="1800" b="1" dirty="0"/>
          </a:p>
          <a:p>
            <a:endParaRPr lang="en-US" sz="1800" b="1" dirty="0"/>
          </a:p>
        </p:txBody>
      </p:sp>
    </p:spTree>
    <p:extLst>
      <p:ext uri="{BB962C8B-B14F-4D97-AF65-F5344CB8AC3E}">
        <p14:creationId xmlns:p14="http://schemas.microsoft.com/office/powerpoint/2010/main" val="1265377128"/>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a:spLocks/>
          </p:cNvSpPr>
          <p:nvPr/>
        </p:nvSpPr>
        <p:spPr>
          <a:xfrm>
            <a:off x="1300506" y="0"/>
            <a:ext cx="7810500" cy="685799"/>
          </a:xfrm>
          <a:prstGeom prst="rect">
            <a:avLst/>
          </a:prstGeom>
          <a:solidFill>
            <a:schemeClr val="accent2"/>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r>
              <a:rPr lang="en-US" sz="2400" b="1" dirty="0"/>
              <a:t>Software Design</a:t>
            </a:r>
          </a:p>
        </p:txBody>
      </p:sp>
      <p:sp>
        <p:nvSpPr>
          <p:cNvPr id="2" name="Date Placeholder 1"/>
          <p:cNvSpPr>
            <a:spLocks noGrp="1"/>
          </p:cNvSpPr>
          <p:nvPr>
            <p:ph type="dt" sz="half" idx="10"/>
          </p:nvPr>
        </p:nvSpPr>
        <p:spPr/>
        <p:txBody>
          <a:bodyPr/>
          <a:lstStyle/>
          <a:p>
            <a:fld id="{4F3A9DDA-0F6A-4F49-95D1-007AF9CB3CFD}" type="datetime1">
              <a:rPr lang="en-IN" smtClean="0"/>
              <a:t>21-07-2025</a:t>
            </a:fld>
            <a:endParaRPr lang="en-US"/>
          </a:p>
        </p:txBody>
      </p:sp>
      <p:sp>
        <p:nvSpPr>
          <p:cNvPr id="6" name="Footer Placeholder 5"/>
          <p:cNvSpPr>
            <a:spLocks noGrp="1"/>
          </p:cNvSpPr>
          <p:nvPr>
            <p:ph type="ftr" sz="quarter" idx="11"/>
          </p:nvPr>
        </p:nvSpPr>
        <p:spPr>
          <a:xfrm>
            <a:off x="2209800" y="6356350"/>
            <a:ext cx="5029200" cy="365125"/>
          </a:xfrm>
        </p:spPr>
        <p:txBody>
          <a:bodyPr/>
          <a:lstStyle/>
          <a:p>
            <a:r>
              <a:rPr lang="en-US"/>
              <a:t>Ms. Purnima Pal      High Performance Computing             Unit III     </a:t>
            </a:r>
            <a:endParaRPr lang="en-US" dirty="0"/>
          </a:p>
        </p:txBody>
      </p:sp>
      <p:sp>
        <p:nvSpPr>
          <p:cNvPr id="7" name="Slide Number Placeholder 6"/>
          <p:cNvSpPr>
            <a:spLocks noGrp="1"/>
          </p:cNvSpPr>
          <p:nvPr>
            <p:ph type="sldNum" sz="quarter" idx="12"/>
          </p:nvPr>
        </p:nvSpPr>
        <p:spPr/>
        <p:txBody>
          <a:bodyPr/>
          <a:lstStyle/>
          <a:p>
            <a:fld id="{AE566132-A42B-4D26-9C08-B059D352BBB6}" type="slidenum">
              <a:rPr lang="en-US" smtClean="0"/>
              <a:pPr/>
              <a:t>58</a:t>
            </a:fld>
            <a:endParaRPr lang="en-US"/>
          </a:p>
        </p:txBody>
      </p:sp>
      <p:sp>
        <p:nvSpPr>
          <p:cNvPr id="5" name="Title 1">
            <a:extLst>
              <a:ext uri="{FF2B5EF4-FFF2-40B4-BE49-F238E27FC236}">
                <a16:creationId xmlns:a16="http://schemas.microsoft.com/office/drawing/2014/main" id="{74C97CF1-3A45-326E-4C1F-9015608E62E8}"/>
              </a:ext>
            </a:extLst>
          </p:cNvPr>
          <p:cNvSpPr txBox="1">
            <a:spLocks/>
          </p:cNvSpPr>
          <p:nvPr/>
        </p:nvSpPr>
        <p:spPr>
          <a:xfrm>
            <a:off x="1259088" y="0"/>
            <a:ext cx="7876271"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r>
              <a:rPr lang="en-US" sz="2400" b="1" dirty="0"/>
              <a:t>Thread Block Clusters</a:t>
            </a:r>
          </a:p>
        </p:txBody>
      </p:sp>
      <p:sp>
        <p:nvSpPr>
          <p:cNvPr id="9" name="Content Placeholder 8">
            <a:extLst>
              <a:ext uri="{FF2B5EF4-FFF2-40B4-BE49-F238E27FC236}">
                <a16:creationId xmlns:a16="http://schemas.microsoft.com/office/drawing/2014/main" id="{D6AFE47B-73F8-D123-148D-DFDD304BF0C9}"/>
              </a:ext>
            </a:extLst>
          </p:cNvPr>
          <p:cNvSpPr>
            <a:spLocks noGrp="1"/>
          </p:cNvSpPr>
          <p:nvPr>
            <p:ph idx="1"/>
          </p:nvPr>
        </p:nvSpPr>
        <p:spPr/>
        <p:txBody>
          <a:bodyPr>
            <a:normAutofit fontScale="70000" lnSpcReduction="20000"/>
          </a:bodyPr>
          <a:lstStyle/>
          <a:p>
            <a:r>
              <a:rPr lang="en-US" b="1" dirty="0"/>
              <a:t>Clusters and Cooperative Execution</a:t>
            </a:r>
          </a:p>
          <a:p>
            <a:pPr marL="0" indent="0">
              <a:buNone/>
            </a:pPr>
            <a:endParaRPr lang="en-US" b="1" dirty="0"/>
          </a:p>
          <a:p>
            <a:r>
              <a:rPr lang="en-US" dirty="0"/>
              <a:t>Clusters = Groups of thread blocks.</a:t>
            </a:r>
          </a:p>
          <a:p>
            <a:endParaRPr lang="en-US" dirty="0"/>
          </a:p>
          <a:p>
            <a:r>
              <a:rPr lang="en-US" dirty="0"/>
              <a:t>Cluster-wide synchronization and memory mapping.</a:t>
            </a:r>
          </a:p>
          <a:p>
            <a:endParaRPr lang="en-US" dirty="0"/>
          </a:p>
          <a:p>
            <a:r>
              <a:rPr lang="en-US" dirty="0"/>
              <a:t>API support:</a:t>
            </a:r>
          </a:p>
          <a:p>
            <a:endParaRPr lang="en-US" dirty="0"/>
          </a:p>
          <a:p>
            <a:r>
              <a:rPr lang="en-US" dirty="0" err="1"/>
              <a:t>cooperative_groups</a:t>
            </a:r>
            <a:r>
              <a:rPr lang="en-US" dirty="0"/>
              <a:t>::</a:t>
            </a:r>
            <a:r>
              <a:rPr lang="en-US" dirty="0" err="1"/>
              <a:t>cluster_group</a:t>
            </a:r>
            <a:endParaRPr lang="en-US" dirty="0"/>
          </a:p>
          <a:p>
            <a:endParaRPr lang="en-US" dirty="0"/>
          </a:p>
          <a:p>
            <a:r>
              <a:rPr lang="en-US" dirty="0" err="1"/>
              <a:t>cluster.sync</a:t>
            </a:r>
            <a:r>
              <a:rPr lang="en-US" dirty="0"/>
              <a:t>(), </a:t>
            </a:r>
            <a:r>
              <a:rPr lang="en-US" dirty="0" err="1"/>
              <a:t>cluster.map_shared_rank</a:t>
            </a:r>
            <a:r>
              <a:rPr lang="en-US" dirty="0"/>
              <a:t>()</a:t>
            </a:r>
          </a:p>
          <a:p>
            <a:r>
              <a:rPr lang="en-US" dirty="0"/>
              <a:t>Only available on Hopper architecture (H100, etc.)</a:t>
            </a:r>
          </a:p>
        </p:txBody>
      </p:sp>
    </p:spTree>
    <p:extLst>
      <p:ext uri="{BB962C8B-B14F-4D97-AF65-F5344CB8AC3E}">
        <p14:creationId xmlns:p14="http://schemas.microsoft.com/office/powerpoint/2010/main" val="3772314092"/>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a:spLocks/>
          </p:cNvSpPr>
          <p:nvPr/>
        </p:nvSpPr>
        <p:spPr>
          <a:xfrm>
            <a:off x="1300506" y="0"/>
            <a:ext cx="7810500" cy="685799"/>
          </a:xfrm>
          <a:prstGeom prst="rect">
            <a:avLst/>
          </a:prstGeom>
          <a:solidFill>
            <a:schemeClr val="accent2"/>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r>
              <a:rPr lang="en-US" sz="2400" b="1" dirty="0"/>
              <a:t>Software Design</a:t>
            </a:r>
          </a:p>
        </p:txBody>
      </p:sp>
      <p:sp>
        <p:nvSpPr>
          <p:cNvPr id="2" name="Date Placeholder 1"/>
          <p:cNvSpPr>
            <a:spLocks noGrp="1"/>
          </p:cNvSpPr>
          <p:nvPr>
            <p:ph type="dt" sz="half" idx="10"/>
          </p:nvPr>
        </p:nvSpPr>
        <p:spPr/>
        <p:txBody>
          <a:bodyPr/>
          <a:lstStyle/>
          <a:p>
            <a:fld id="{6716DEA5-9325-4490-B32B-9467CC05D24E}" type="datetime1">
              <a:rPr lang="en-IN" smtClean="0"/>
              <a:t>21-07-2025</a:t>
            </a:fld>
            <a:endParaRPr lang="en-US"/>
          </a:p>
        </p:txBody>
      </p:sp>
      <p:sp>
        <p:nvSpPr>
          <p:cNvPr id="6" name="Footer Placeholder 5"/>
          <p:cNvSpPr>
            <a:spLocks noGrp="1"/>
          </p:cNvSpPr>
          <p:nvPr>
            <p:ph type="ftr" sz="quarter" idx="11"/>
          </p:nvPr>
        </p:nvSpPr>
        <p:spPr>
          <a:xfrm>
            <a:off x="2209800" y="6356350"/>
            <a:ext cx="5029200" cy="365125"/>
          </a:xfrm>
        </p:spPr>
        <p:txBody>
          <a:bodyPr/>
          <a:lstStyle/>
          <a:p>
            <a:r>
              <a:rPr lang="en-US"/>
              <a:t>Ms. Purnima Pal      High Performance Computing             Unit III     </a:t>
            </a:r>
            <a:endParaRPr lang="en-US" dirty="0"/>
          </a:p>
        </p:txBody>
      </p:sp>
      <p:sp>
        <p:nvSpPr>
          <p:cNvPr id="7" name="Slide Number Placeholder 6"/>
          <p:cNvSpPr>
            <a:spLocks noGrp="1"/>
          </p:cNvSpPr>
          <p:nvPr>
            <p:ph type="sldNum" sz="quarter" idx="12"/>
          </p:nvPr>
        </p:nvSpPr>
        <p:spPr/>
        <p:txBody>
          <a:bodyPr/>
          <a:lstStyle/>
          <a:p>
            <a:fld id="{AE566132-A42B-4D26-9C08-B059D352BBB6}" type="slidenum">
              <a:rPr lang="en-US" smtClean="0"/>
              <a:pPr/>
              <a:t>59</a:t>
            </a:fld>
            <a:endParaRPr lang="en-US"/>
          </a:p>
        </p:txBody>
      </p:sp>
      <p:sp>
        <p:nvSpPr>
          <p:cNvPr id="5" name="Title 1">
            <a:extLst>
              <a:ext uri="{FF2B5EF4-FFF2-40B4-BE49-F238E27FC236}">
                <a16:creationId xmlns:a16="http://schemas.microsoft.com/office/drawing/2014/main" id="{74C97CF1-3A45-326E-4C1F-9015608E62E8}"/>
              </a:ext>
            </a:extLst>
          </p:cNvPr>
          <p:cNvSpPr txBox="1">
            <a:spLocks/>
          </p:cNvSpPr>
          <p:nvPr/>
        </p:nvSpPr>
        <p:spPr>
          <a:xfrm>
            <a:off x="1259088" y="0"/>
            <a:ext cx="7876271"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r>
              <a:rPr lang="en-US" sz="2400" b="1" dirty="0"/>
              <a:t>Example Kernel (Histogram)</a:t>
            </a:r>
          </a:p>
        </p:txBody>
      </p:sp>
      <p:sp>
        <p:nvSpPr>
          <p:cNvPr id="9" name="Content Placeholder 8">
            <a:extLst>
              <a:ext uri="{FF2B5EF4-FFF2-40B4-BE49-F238E27FC236}">
                <a16:creationId xmlns:a16="http://schemas.microsoft.com/office/drawing/2014/main" id="{D6AFE47B-73F8-D123-148D-DFDD304BF0C9}"/>
              </a:ext>
            </a:extLst>
          </p:cNvPr>
          <p:cNvSpPr>
            <a:spLocks noGrp="1"/>
          </p:cNvSpPr>
          <p:nvPr>
            <p:ph idx="1"/>
          </p:nvPr>
        </p:nvSpPr>
        <p:spPr/>
        <p:txBody>
          <a:bodyPr>
            <a:normAutofit/>
          </a:bodyPr>
          <a:lstStyle/>
          <a:p>
            <a:pPr marL="0" indent="0">
              <a:buNone/>
            </a:pPr>
            <a:r>
              <a:rPr lang="en-US" sz="1800" b="1" dirty="0"/>
              <a:t>Code Example Using DSM</a:t>
            </a:r>
          </a:p>
          <a:p>
            <a:r>
              <a:rPr lang="en-US" sz="1800" dirty="0"/>
              <a:t>extern __shared__ int </a:t>
            </a:r>
            <a:r>
              <a:rPr lang="en-US" sz="1800" dirty="0" err="1"/>
              <a:t>dsm</a:t>
            </a:r>
            <a:r>
              <a:rPr lang="en-US" sz="1800" dirty="0"/>
              <a:t>[];</a:t>
            </a:r>
          </a:p>
          <a:p>
            <a:r>
              <a:rPr lang="en-US" sz="1800" dirty="0"/>
              <a:t>auto cluster = </a:t>
            </a:r>
            <a:r>
              <a:rPr lang="en-US" sz="1800" dirty="0" err="1"/>
              <a:t>cooperative_groups</a:t>
            </a:r>
            <a:r>
              <a:rPr lang="en-US" sz="1800" dirty="0"/>
              <a:t>::</a:t>
            </a:r>
            <a:r>
              <a:rPr lang="en-US" sz="1800" dirty="0" err="1"/>
              <a:t>this_cluster</a:t>
            </a:r>
            <a:r>
              <a:rPr lang="en-US" sz="1800" dirty="0"/>
              <a:t>();</a:t>
            </a:r>
          </a:p>
          <a:p>
            <a:r>
              <a:rPr lang="en-US" sz="1800" dirty="0"/>
              <a:t>int* </a:t>
            </a:r>
            <a:r>
              <a:rPr lang="en-US" sz="1800" dirty="0" err="1"/>
              <a:t>shared_bin</a:t>
            </a:r>
            <a:r>
              <a:rPr lang="en-US" sz="1800" dirty="0"/>
              <a:t> = </a:t>
            </a:r>
            <a:r>
              <a:rPr lang="en-US" sz="1800" dirty="0" err="1"/>
              <a:t>reinterpret_cast</a:t>
            </a:r>
            <a:r>
              <a:rPr lang="en-US" sz="1800" dirty="0"/>
              <a:t>&lt;int*&gt;(</a:t>
            </a:r>
            <a:r>
              <a:rPr lang="en-US" sz="1800" dirty="0" err="1"/>
              <a:t>cluster.map_shared_rank</a:t>
            </a:r>
            <a:r>
              <a:rPr lang="en-US" sz="1800" dirty="0"/>
              <a:t>(0));</a:t>
            </a:r>
          </a:p>
          <a:p>
            <a:endParaRPr lang="en-US" sz="1800" dirty="0"/>
          </a:p>
          <a:p>
            <a:r>
              <a:rPr lang="en-US" sz="1800" dirty="0"/>
              <a:t>// Atomically increment the histogram bin</a:t>
            </a:r>
          </a:p>
          <a:p>
            <a:r>
              <a:rPr lang="en-US" sz="1800" dirty="0" err="1"/>
              <a:t>atomicAdd</a:t>
            </a:r>
            <a:r>
              <a:rPr lang="en-US" sz="1800" dirty="0"/>
              <a:t>(&amp;</a:t>
            </a:r>
            <a:r>
              <a:rPr lang="en-US" sz="1800" dirty="0" err="1"/>
              <a:t>shared_bin</a:t>
            </a:r>
            <a:r>
              <a:rPr lang="en-US" sz="1800" dirty="0"/>
              <a:t>[</a:t>
            </a:r>
            <a:r>
              <a:rPr lang="en-US" sz="1800" dirty="0" err="1"/>
              <a:t>val</a:t>
            </a:r>
            <a:r>
              <a:rPr lang="en-US" sz="1800" dirty="0"/>
              <a:t>], 1);</a:t>
            </a:r>
          </a:p>
          <a:p>
            <a:endParaRPr lang="en-US" sz="1800" dirty="0"/>
          </a:p>
          <a:p>
            <a:r>
              <a:rPr lang="en-US" sz="1800" dirty="0"/>
              <a:t>// Synchronize all blocks in the cluster</a:t>
            </a:r>
          </a:p>
          <a:p>
            <a:r>
              <a:rPr lang="en-US" sz="1800" dirty="0" err="1"/>
              <a:t>cluster.sync</a:t>
            </a:r>
            <a:r>
              <a:rPr lang="en-US" sz="1800" dirty="0"/>
              <a:t>(); </a:t>
            </a:r>
          </a:p>
          <a:p>
            <a:endParaRPr lang="en-US" sz="1800" dirty="0"/>
          </a:p>
        </p:txBody>
      </p:sp>
    </p:spTree>
    <p:extLst>
      <p:ext uri="{BB962C8B-B14F-4D97-AF65-F5344CB8AC3E}">
        <p14:creationId xmlns:p14="http://schemas.microsoft.com/office/powerpoint/2010/main" val="4208978587"/>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a:spLocks/>
          </p:cNvSpPr>
          <p:nvPr/>
        </p:nvSpPr>
        <p:spPr>
          <a:xfrm>
            <a:off x="1300506" y="0"/>
            <a:ext cx="7810500" cy="685799"/>
          </a:xfrm>
          <a:prstGeom prst="rect">
            <a:avLst/>
          </a:prstGeom>
          <a:solidFill>
            <a:schemeClr val="accent2"/>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r>
              <a:rPr lang="en-US" sz="2400" b="1" dirty="0"/>
              <a:t>Software Design</a:t>
            </a:r>
          </a:p>
        </p:txBody>
      </p:sp>
      <p:sp>
        <p:nvSpPr>
          <p:cNvPr id="2" name="Date Placeholder 1"/>
          <p:cNvSpPr>
            <a:spLocks noGrp="1"/>
          </p:cNvSpPr>
          <p:nvPr>
            <p:ph type="dt" sz="half" idx="10"/>
          </p:nvPr>
        </p:nvSpPr>
        <p:spPr/>
        <p:txBody>
          <a:bodyPr/>
          <a:lstStyle/>
          <a:p>
            <a:fld id="{A425065C-845E-4D38-BAC7-B846EDFDD87F}" type="datetime1">
              <a:rPr lang="en-IN" smtClean="0"/>
              <a:t>21-07-2025</a:t>
            </a:fld>
            <a:endParaRPr lang="en-US"/>
          </a:p>
        </p:txBody>
      </p:sp>
      <p:sp>
        <p:nvSpPr>
          <p:cNvPr id="6" name="Footer Placeholder 5"/>
          <p:cNvSpPr>
            <a:spLocks noGrp="1"/>
          </p:cNvSpPr>
          <p:nvPr>
            <p:ph type="ftr" sz="quarter" idx="11"/>
          </p:nvPr>
        </p:nvSpPr>
        <p:spPr>
          <a:xfrm>
            <a:off x="2209800" y="6356350"/>
            <a:ext cx="5029200" cy="365125"/>
          </a:xfrm>
        </p:spPr>
        <p:txBody>
          <a:bodyPr/>
          <a:lstStyle/>
          <a:p>
            <a:r>
              <a:rPr lang="en-US"/>
              <a:t>Ms. Purnima Pal      High Performance Computing             Unit III     </a:t>
            </a:r>
            <a:endParaRPr lang="en-US" dirty="0"/>
          </a:p>
        </p:txBody>
      </p:sp>
      <p:sp>
        <p:nvSpPr>
          <p:cNvPr id="7" name="Slide Number Placeholder 6"/>
          <p:cNvSpPr>
            <a:spLocks noGrp="1"/>
          </p:cNvSpPr>
          <p:nvPr>
            <p:ph type="sldNum" sz="quarter" idx="12"/>
          </p:nvPr>
        </p:nvSpPr>
        <p:spPr/>
        <p:txBody>
          <a:bodyPr/>
          <a:lstStyle/>
          <a:p>
            <a:fld id="{AE566132-A42B-4D26-9C08-B059D352BBB6}" type="slidenum">
              <a:rPr lang="en-US" smtClean="0"/>
              <a:pPr/>
              <a:t>60</a:t>
            </a:fld>
            <a:endParaRPr lang="en-US"/>
          </a:p>
        </p:txBody>
      </p:sp>
      <p:sp>
        <p:nvSpPr>
          <p:cNvPr id="5" name="Title 1">
            <a:extLst>
              <a:ext uri="{FF2B5EF4-FFF2-40B4-BE49-F238E27FC236}">
                <a16:creationId xmlns:a16="http://schemas.microsoft.com/office/drawing/2014/main" id="{74C97CF1-3A45-326E-4C1F-9015608E62E8}"/>
              </a:ext>
            </a:extLst>
          </p:cNvPr>
          <p:cNvSpPr txBox="1">
            <a:spLocks/>
          </p:cNvSpPr>
          <p:nvPr/>
        </p:nvSpPr>
        <p:spPr>
          <a:xfrm>
            <a:off x="1259088" y="0"/>
            <a:ext cx="7876271"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r>
              <a:rPr lang="en-US" sz="2400" b="1" dirty="0"/>
              <a:t>Performance Benefits</a:t>
            </a:r>
          </a:p>
        </p:txBody>
      </p:sp>
      <p:sp>
        <p:nvSpPr>
          <p:cNvPr id="9" name="Content Placeholder 8">
            <a:extLst>
              <a:ext uri="{FF2B5EF4-FFF2-40B4-BE49-F238E27FC236}">
                <a16:creationId xmlns:a16="http://schemas.microsoft.com/office/drawing/2014/main" id="{D6AFE47B-73F8-D123-148D-DFDD304BF0C9}"/>
              </a:ext>
            </a:extLst>
          </p:cNvPr>
          <p:cNvSpPr>
            <a:spLocks noGrp="1"/>
          </p:cNvSpPr>
          <p:nvPr>
            <p:ph idx="1"/>
          </p:nvPr>
        </p:nvSpPr>
        <p:spPr/>
        <p:txBody>
          <a:bodyPr>
            <a:normAutofit/>
          </a:bodyPr>
          <a:lstStyle/>
          <a:p>
            <a:pPr marL="0" indent="0">
              <a:buNone/>
            </a:pPr>
            <a:r>
              <a:rPr lang="en-US" sz="1800" b="1" dirty="0"/>
              <a:t>Performance Gains of DSM</a:t>
            </a:r>
          </a:p>
          <a:p>
            <a:r>
              <a:rPr lang="en-US" sz="1800" dirty="0"/>
              <a:t>Content:</a:t>
            </a:r>
          </a:p>
          <a:p>
            <a:endParaRPr lang="en-US" sz="1800" dirty="0"/>
          </a:p>
          <a:p>
            <a:r>
              <a:rPr lang="en-US" sz="1800" dirty="0"/>
              <a:t>Reduced latency compared to global memory access.</a:t>
            </a:r>
          </a:p>
          <a:p>
            <a:endParaRPr lang="en-US" sz="1800" dirty="0"/>
          </a:p>
          <a:p>
            <a:r>
              <a:rPr lang="en-US" sz="1800" dirty="0"/>
              <a:t>Less reliance on atomic operations in global memory.</a:t>
            </a:r>
          </a:p>
          <a:p>
            <a:endParaRPr lang="en-US" sz="1800" dirty="0"/>
          </a:p>
          <a:p>
            <a:r>
              <a:rPr lang="en-US" sz="1800" dirty="0"/>
              <a:t>Higher throughput in tightly-coupled computations.</a:t>
            </a:r>
          </a:p>
          <a:p>
            <a:endParaRPr lang="en-US" sz="1800" dirty="0"/>
          </a:p>
          <a:p>
            <a:r>
              <a:rPr lang="en-US" sz="1800" dirty="0"/>
              <a:t>Graph comparing traditional vs DSM approach (optional).</a:t>
            </a:r>
          </a:p>
          <a:p>
            <a:endParaRPr lang="en-US" sz="1800" dirty="0"/>
          </a:p>
        </p:txBody>
      </p:sp>
    </p:spTree>
    <p:extLst>
      <p:ext uri="{BB962C8B-B14F-4D97-AF65-F5344CB8AC3E}">
        <p14:creationId xmlns:p14="http://schemas.microsoft.com/office/powerpoint/2010/main" val="990054359"/>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a:spLocks/>
          </p:cNvSpPr>
          <p:nvPr/>
        </p:nvSpPr>
        <p:spPr>
          <a:xfrm>
            <a:off x="1300506" y="0"/>
            <a:ext cx="7810500" cy="685799"/>
          </a:xfrm>
          <a:prstGeom prst="rect">
            <a:avLst/>
          </a:prstGeom>
          <a:solidFill>
            <a:schemeClr val="accent2"/>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r>
              <a:rPr lang="en-US" sz="2400" b="1" dirty="0"/>
              <a:t>Software Design</a:t>
            </a:r>
          </a:p>
        </p:txBody>
      </p:sp>
      <p:sp>
        <p:nvSpPr>
          <p:cNvPr id="2" name="Date Placeholder 1"/>
          <p:cNvSpPr>
            <a:spLocks noGrp="1"/>
          </p:cNvSpPr>
          <p:nvPr>
            <p:ph type="dt" sz="half" idx="10"/>
          </p:nvPr>
        </p:nvSpPr>
        <p:spPr/>
        <p:txBody>
          <a:bodyPr/>
          <a:lstStyle/>
          <a:p>
            <a:fld id="{A2DD3C27-13F3-41C5-8A66-F7B86027CACC}" type="datetime1">
              <a:rPr lang="en-IN" smtClean="0"/>
              <a:t>21-07-2025</a:t>
            </a:fld>
            <a:endParaRPr lang="en-US"/>
          </a:p>
        </p:txBody>
      </p:sp>
      <p:sp>
        <p:nvSpPr>
          <p:cNvPr id="6" name="Footer Placeholder 5"/>
          <p:cNvSpPr>
            <a:spLocks noGrp="1"/>
          </p:cNvSpPr>
          <p:nvPr>
            <p:ph type="ftr" sz="quarter" idx="11"/>
          </p:nvPr>
        </p:nvSpPr>
        <p:spPr>
          <a:xfrm>
            <a:off x="2209800" y="6356350"/>
            <a:ext cx="5029200" cy="365125"/>
          </a:xfrm>
        </p:spPr>
        <p:txBody>
          <a:bodyPr/>
          <a:lstStyle/>
          <a:p>
            <a:r>
              <a:rPr lang="en-US"/>
              <a:t>Ms. Purnima Pal      High Performance Computing             Unit III     </a:t>
            </a:r>
            <a:endParaRPr lang="en-US" dirty="0"/>
          </a:p>
        </p:txBody>
      </p:sp>
      <p:sp>
        <p:nvSpPr>
          <p:cNvPr id="7" name="Slide Number Placeholder 6"/>
          <p:cNvSpPr>
            <a:spLocks noGrp="1"/>
          </p:cNvSpPr>
          <p:nvPr>
            <p:ph type="sldNum" sz="quarter" idx="12"/>
          </p:nvPr>
        </p:nvSpPr>
        <p:spPr/>
        <p:txBody>
          <a:bodyPr/>
          <a:lstStyle/>
          <a:p>
            <a:fld id="{AE566132-A42B-4D26-9C08-B059D352BBB6}" type="slidenum">
              <a:rPr lang="en-US" smtClean="0"/>
              <a:pPr/>
              <a:t>61</a:t>
            </a:fld>
            <a:endParaRPr lang="en-US"/>
          </a:p>
        </p:txBody>
      </p:sp>
      <p:sp>
        <p:nvSpPr>
          <p:cNvPr id="5" name="Title 1">
            <a:extLst>
              <a:ext uri="{FF2B5EF4-FFF2-40B4-BE49-F238E27FC236}">
                <a16:creationId xmlns:a16="http://schemas.microsoft.com/office/drawing/2014/main" id="{74C97CF1-3A45-326E-4C1F-9015608E62E8}"/>
              </a:ext>
            </a:extLst>
          </p:cNvPr>
          <p:cNvSpPr txBox="1">
            <a:spLocks/>
          </p:cNvSpPr>
          <p:nvPr/>
        </p:nvSpPr>
        <p:spPr>
          <a:xfrm>
            <a:off x="1259088" y="0"/>
            <a:ext cx="7876271"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r>
              <a:rPr lang="en-US" sz="2400" b="1" dirty="0"/>
              <a:t>Limitations and Requirements</a:t>
            </a:r>
          </a:p>
        </p:txBody>
      </p:sp>
      <p:sp>
        <p:nvSpPr>
          <p:cNvPr id="9" name="Content Placeholder 8">
            <a:extLst>
              <a:ext uri="{FF2B5EF4-FFF2-40B4-BE49-F238E27FC236}">
                <a16:creationId xmlns:a16="http://schemas.microsoft.com/office/drawing/2014/main" id="{D6AFE47B-73F8-D123-148D-DFDD304BF0C9}"/>
              </a:ext>
            </a:extLst>
          </p:cNvPr>
          <p:cNvSpPr>
            <a:spLocks noGrp="1"/>
          </p:cNvSpPr>
          <p:nvPr>
            <p:ph idx="1"/>
          </p:nvPr>
        </p:nvSpPr>
        <p:spPr/>
        <p:txBody>
          <a:bodyPr>
            <a:normAutofit/>
          </a:bodyPr>
          <a:lstStyle/>
          <a:p>
            <a:pPr marL="0" indent="0">
              <a:buNone/>
            </a:pPr>
            <a:r>
              <a:rPr lang="en-US" sz="1800" b="1" dirty="0"/>
              <a:t>Limitations of DSM</a:t>
            </a:r>
          </a:p>
          <a:p>
            <a:r>
              <a:rPr lang="en-US" sz="1800" dirty="0"/>
              <a:t>Requires Hopper or newer GPUs (Compute Capability 9.0+).</a:t>
            </a:r>
          </a:p>
          <a:p>
            <a:endParaRPr lang="en-US" sz="1800" dirty="0"/>
          </a:p>
          <a:p>
            <a:r>
              <a:rPr lang="en-US" sz="1800" dirty="0"/>
              <a:t>DSM size is limited by total shared memory.</a:t>
            </a:r>
          </a:p>
          <a:p>
            <a:endParaRPr lang="en-US" sz="1800" dirty="0"/>
          </a:p>
          <a:p>
            <a:r>
              <a:rPr lang="en-US" sz="1800" dirty="0"/>
              <a:t>Complexity in synchronization and data mapping.</a:t>
            </a:r>
          </a:p>
          <a:p>
            <a:endParaRPr lang="en-US" sz="1800" dirty="0"/>
          </a:p>
          <a:p>
            <a:r>
              <a:rPr lang="en-US" sz="1800" dirty="0"/>
              <a:t>Only available in clustered kernel launches.</a:t>
            </a:r>
          </a:p>
        </p:txBody>
      </p:sp>
    </p:spTree>
    <p:extLst>
      <p:ext uri="{BB962C8B-B14F-4D97-AF65-F5344CB8AC3E}">
        <p14:creationId xmlns:p14="http://schemas.microsoft.com/office/powerpoint/2010/main" val="4179721834"/>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a:spLocks/>
          </p:cNvSpPr>
          <p:nvPr/>
        </p:nvSpPr>
        <p:spPr>
          <a:xfrm>
            <a:off x="1300506" y="0"/>
            <a:ext cx="7810500" cy="685799"/>
          </a:xfrm>
          <a:prstGeom prst="rect">
            <a:avLst/>
          </a:prstGeom>
          <a:solidFill>
            <a:schemeClr val="accent2"/>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r>
              <a:rPr lang="en-US" sz="2400" b="1" dirty="0"/>
              <a:t>Software Design</a:t>
            </a:r>
          </a:p>
        </p:txBody>
      </p:sp>
      <p:sp>
        <p:nvSpPr>
          <p:cNvPr id="2" name="Date Placeholder 1"/>
          <p:cNvSpPr>
            <a:spLocks noGrp="1"/>
          </p:cNvSpPr>
          <p:nvPr>
            <p:ph type="dt" sz="half" idx="10"/>
          </p:nvPr>
        </p:nvSpPr>
        <p:spPr/>
        <p:txBody>
          <a:bodyPr/>
          <a:lstStyle/>
          <a:p>
            <a:fld id="{40DDC46F-A538-4F7D-8212-0E84E63C88B5}" type="datetime1">
              <a:rPr lang="en-IN" smtClean="0"/>
              <a:t>21-07-2025</a:t>
            </a:fld>
            <a:endParaRPr lang="en-US"/>
          </a:p>
        </p:txBody>
      </p:sp>
      <p:sp>
        <p:nvSpPr>
          <p:cNvPr id="6" name="Footer Placeholder 5"/>
          <p:cNvSpPr>
            <a:spLocks noGrp="1"/>
          </p:cNvSpPr>
          <p:nvPr>
            <p:ph type="ftr" sz="quarter" idx="11"/>
          </p:nvPr>
        </p:nvSpPr>
        <p:spPr>
          <a:xfrm>
            <a:off x="2209800" y="6356350"/>
            <a:ext cx="5029200" cy="365125"/>
          </a:xfrm>
        </p:spPr>
        <p:txBody>
          <a:bodyPr/>
          <a:lstStyle/>
          <a:p>
            <a:r>
              <a:rPr lang="en-US"/>
              <a:t>Ms. Purnima Pal      High Performance Computing             Unit III     </a:t>
            </a:r>
            <a:endParaRPr lang="en-US" dirty="0"/>
          </a:p>
        </p:txBody>
      </p:sp>
      <p:sp>
        <p:nvSpPr>
          <p:cNvPr id="7" name="Slide Number Placeholder 6"/>
          <p:cNvSpPr>
            <a:spLocks noGrp="1"/>
          </p:cNvSpPr>
          <p:nvPr>
            <p:ph type="sldNum" sz="quarter" idx="12"/>
          </p:nvPr>
        </p:nvSpPr>
        <p:spPr/>
        <p:txBody>
          <a:bodyPr/>
          <a:lstStyle/>
          <a:p>
            <a:fld id="{AE566132-A42B-4D26-9C08-B059D352BBB6}" type="slidenum">
              <a:rPr lang="en-US" smtClean="0"/>
              <a:pPr/>
              <a:t>62</a:t>
            </a:fld>
            <a:endParaRPr lang="en-US"/>
          </a:p>
        </p:txBody>
      </p:sp>
      <p:sp>
        <p:nvSpPr>
          <p:cNvPr id="5" name="Title 1">
            <a:extLst>
              <a:ext uri="{FF2B5EF4-FFF2-40B4-BE49-F238E27FC236}">
                <a16:creationId xmlns:a16="http://schemas.microsoft.com/office/drawing/2014/main" id="{74C97CF1-3A45-326E-4C1F-9015608E62E8}"/>
              </a:ext>
            </a:extLst>
          </p:cNvPr>
          <p:cNvSpPr txBox="1">
            <a:spLocks/>
          </p:cNvSpPr>
          <p:nvPr/>
        </p:nvSpPr>
        <p:spPr>
          <a:xfrm>
            <a:off x="1259088" y="0"/>
            <a:ext cx="7876271"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r>
              <a:rPr lang="en-US" sz="2400" b="1" dirty="0"/>
              <a:t>Learning Resources</a:t>
            </a:r>
          </a:p>
        </p:txBody>
      </p:sp>
      <p:sp>
        <p:nvSpPr>
          <p:cNvPr id="9" name="Content Placeholder 8">
            <a:extLst>
              <a:ext uri="{FF2B5EF4-FFF2-40B4-BE49-F238E27FC236}">
                <a16:creationId xmlns:a16="http://schemas.microsoft.com/office/drawing/2014/main" id="{D6AFE47B-73F8-D123-148D-DFDD304BF0C9}"/>
              </a:ext>
            </a:extLst>
          </p:cNvPr>
          <p:cNvSpPr>
            <a:spLocks noGrp="1"/>
          </p:cNvSpPr>
          <p:nvPr>
            <p:ph idx="1"/>
          </p:nvPr>
        </p:nvSpPr>
        <p:spPr/>
        <p:txBody>
          <a:bodyPr>
            <a:normAutofit/>
          </a:bodyPr>
          <a:lstStyle/>
          <a:p>
            <a:pPr marL="0" indent="0">
              <a:buNone/>
            </a:pPr>
            <a:r>
              <a:rPr lang="en-US" sz="1800" b="1" dirty="0"/>
              <a:t>Further Reading</a:t>
            </a:r>
          </a:p>
          <a:p>
            <a:r>
              <a:rPr lang="en-US" sz="1800" dirty="0"/>
              <a:t>NVIDIA CUDA Programming Guide: docs.nvidia.com/</a:t>
            </a:r>
            <a:r>
              <a:rPr lang="en-US" sz="1800" dirty="0" err="1"/>
              <a:t>cuda</a:t>
            </a:r>
            <a:endParaRPr lang="en-US" sz="1800" dirty="0"/>
          </a:p>
          <a:p>
            <a:endParaRPr lang="en-US" sz="1800" dirty="0"/>
          </a:p>
          <a:p>
            <a:r>
              <a:rPr lang="en-US" sz="1800" dirty="0"/>
              <a:t>CUDA Samples on GitHub</a:t>
            </a:r>
          </a:p>
          <a:p>
            <a:endParaRPr lang="en-US" sz="1800" dirty="0"/>
          </a:p>
          <a:p>
            <a:r>
              <a:rPr lang="en-US" sz="1800" dirty="0"/>
              <a:t>Book: “Programming Massively Parallel Processors” – </a:t>
            </a:r>
            <a:r>
              <a:rPr lang="en-US" sz="1800" dirty="0" err="1"/>
              <a:t>Hwu</a:t>
            </a:r>
            <a:endParaRPr lang="en-US" sz="1800" dirty="0"/>
          </a:p>
          <a:p>
            <a:endParaRPr lang="en-US" sz="1800" dirty="0"/>
          </a:p>
          <a:p>
            <a:r>
              <a:rPr lang="en-US" sz="1800" dirty="0"/>
              <a:t>NVIDIA Developer Blog</a:t>
            </a:r>
          </a:p>
          <a:p>
            <a:endParaRPr lang="en-US" sz="1800" dirty="0"/>
          </a:p>
        </p:txBody>
      </p:sp>
    </p:spTree>
    <p:extLst>
      <p:ext uri="{BB962C8B-B14F-4D97-AF65-F5344CB8AC3E}">
        <p14:creationId xmlns:p14="http://schemas.microsoft.com/office/powerpoint/2010/main" val="2766289719"/>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a:spLocks/>
          </p:cNvSpPr>
          <p:nvPr/>
        </p:nvSpPr>
        <p:spPr>
          <a:xfrm>
            <a:off x="1300506" y="0"/>
            <a:ext cx="7810500" cy="685799"/>
          </a:xfrm>
          <a:prstGeom prst="rect">
            <a:avLst/>
          </a:prstGeom>
          <a:solidFill>
            <a:schemeClr val="accent2"/>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r>
              <a:rPr lang="en-US" sz="2400" b="1" dirty="0"/>
              <a:t>Software Design</a:t>
            </a:r>
          </a:p>
        </p:txBody>
      </p:sp>
      <p:sp>
        <p:nvSpPr>
          <p:cNvPr id="2" name="Date Placeholder 1"/>
          <p:cNvSpPr>
            <a:spLocks noGrp="1"/>
          </p:cNvSpPr>
          <p:nvPr>
            <p:ph type="dt" sz="half" idx="10"/>
          </p:nvPr>
        </p:nvSpPr>
        <p:spPr/>
        <p:txBody>
          <a:bodyPr/>
          <a:lstStyle/>
          <a:p>
            <a:fld id="{3DAB7C56-5399-4BF6-A264-0E141EC2CC19}" type="datetime1">
              <a:rPr lang="en-IN" smtClean="0"/>
              <a:t>21-07-2025</a:t>
            </a:fld>
            <a:endParaRPr lang="en-US"/>
          </a:p>
        </p:txBody>
      </p:sp>
      <p:sp>
        <p:nvSpPr>
          <p:cNvPr id="6" name="Footer Placeholder 5"/>
          <p:cNvSpPr>
            <a:spLocks noGrp="1"/>
          </p:cNvSpPr>
          <p:nvPr>
            <p:ph type="ftr" sz="quarter" idx="11"/>
          </p:nvPr>
        </p:nvSpPr>
        <p:spPr>
          <a:xfrm>
            <a:off x="2209800" y="6356350"/>
            <a:ext cx="5029200" cy="365125"/>
          </a:xfrm>
        </p:spPr>
        <p:txBody>
          <a:bodyPr/>
          <a:lstStyle/>
          <a:p>
            <a:r>
              <a:rPr lang="en-US"/>
              <a:t>Ms. Purnima Pal      High Performance Computing             Unit III     </a:t>
            </a:r>
            <a:endParaRPr lang="en-US" dirty="0"/>
          </a:p>
        </p:txBody>
      </p:sp>
      <p:sp>
        <p:nvSpPr>
          <p:cNvPr id="7" name="Slide Number Placeholder 6"/>
          <p:cNvSpPr>
            <a:spLocks noGrp="1"/>
          </p:cNvSpPr>
          <p:nvPr>
            <p:ph type="sldNum" sz="quarter" idx="12"/>
          </p:nvPr>
        </p:nvSpPr>
        <p:spPr/>
        <p:txBody>
          <a:bodyPr/>
          <a:lstStyle/>
          <a:p>
            <a:fld id="{AE566132-A42B-4D26-9C08-B059D352BBB6}" type="slidenum">
              <a:rPr lang="en-US" smtClean="0"/>
              <a:pPr/>
              <a:t>63</a:t>
            </a:fld>
            <a:endParaRPr lang="en-US"/>
          </a:p>
        </p:txBody>
      </p:sp>
      <p:sp>
        <p:nvSpPr>
          <p:cNvPr id="5" name="Title 1">
            <a:extLst>
              <a:ext uri="{FF2B5EF4-FFF2-40B4-BE49-F238E27FC236}">
                <a16:creationId xmlns:a16="http://schemas.microsoft.com/office/drawing/2014/main" id="{74C97CF1-3A45-326E-4C1F-9015608E62E8}"/>
              </a:ext>
            </a:extLst>
          </p:cNvPr>
          <p:cNvSpPr txBox="1">
            <a:spLocks/>
          </p:cNvSpPr>
          <p:nvPr/>
        </p:nvSpPr>
        <p:spPr>
          <a:xfrm>
            <a:off x="1259088" y="0"/>
            <a:ext cx="7876271"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r>
              <a:rPr lang="en-US" sz="3200" b="1" dirty="0"/>
              <a:t>Parallel matrix operations</a:t>
            </a:r>
          </a:p>
        </p:txBody>
      </p:sp>
      <p:sp>
        <p:nvSpPr>
          <p:cNvPr id="9" name="Content Placeholder 8">
            <a:extLst>
              <a:ext uri="{FF2B5EF4-FFF2-40B4-BE49-F238E27FC236}">
                <a16:creationId xmlns:a16="http://schemas.microsoft.com/office/drawing/2014/main" id="{D6AFE47B-73F8-D123-148D-DFDD304BF0C9}"/>
              </a:ext>
            </a:extLst>
          </p:cNvPr>
          <p:cNvSpPr>
            <a:spLocks noGrp="1"/>
          </p:cNvSpPr>
          <p:nvPr>
            <p:ph idx="1"/>
          </p:nvPr>
        </p:nvSpPr>
        <p:spPr/>
        <p:txBody>
          <a:bodyPr>
            <a:normAutofit/>
          </a:bodyPr>
          <a:lstStyle/>
          <a:p>
            <a:pPr marL="0" indent="0">
              <a:buNone/>
            </a:pPr>
            <a:r>
              <a:rPr lang="en-US" sz="1800" b="1" dirty="0"/>
              <a:t>Introduction to Distributed Memory</a:t>
            </a:r>
          </a:p>
          <a:p>
            <a:pPr>
              <a:buFont typeface="Arial" panose="020B0604020202020204" pitchFamily="34" charset="0"/>
              <a:buChar char="•"/>
            </a:pPr>
            <a:r>
              <a:rPr lang="en-US" sz="1800" dirty="0"/>
              <a:t>Distributed memory = each processor has its </a:t>
            </a:r>
            <a:r>
              <a:rPr lang="en-US" sz="1800" b="1" dirty="0"/>
              <a:t>own local memory</a:t>
            </a:r>
            <a:endParaRPr lang="en-US" sz="1800" dirty="0"/>
          </a:p>
          <a:p>
            <a:pPr>
              <a:buFont typeface="Arial" panose="020B0604020202020204" pitchFamily="34" charset="0"/>
              <a:buChar char="•"/>
            </a:pPr>
            <a:r>
              <a:rPr lang="en-US" sz="1800" b="1" dirty="0"/>
              <a:t>Message Passing Interface (MPI)</a:t>
            </a:r>
            <a:r>
              <a:rPr lang="en-US" sz="1800" dirty="0"/>
              <a:t> used for communication</a:t>
            </a:r>
          </a:p>
          <a:p>
            <a:pPr>
              <a:buFont typeface="Arial" panose="020B0604020202020204" pitchFamily="34" charset="0"/>
              <a:buChar char="•"/>
            </a:pPr>
            <a:r>
              <a:rPr lang="en-US" sz="1800" dirty="0"/>
              <a:t>Suitable for </a:t>
            </a:r>
            <a:r>
              <a:rPr lang="en-US" sz="1800" b="1" dirty="0"/>
              <a:t>large-scale matrix operations</a:t>
            </a:r>
            <a:r>
              <a:rPr lang="en-US" sz="1800" dirty="0"/>
              <a:t> in HPC</a:t>
            </a:r>
          </a:p>
          <a:p>
            <a:pPr>
              <a:buFont typeface="Arial" panose="020B0604020202020204" pitchFamily="34" charset="0"/>
              <a:buChar char="•"/>
            </a:pPr>
            <a:r>
              <a:rPr lang="en-US" sz="1800" dirty="0"/>
              <a:t>Communication needed between processors for coordination</a:t>
            </a:r>
          </a:p>
          <a:p>
            <a:r>
              <a:rPr lang="en-US" sz="1800" b="1" dirty="0"/>
              <a:t>Visual:</a:t>
            </a:r>
            <a:r>
              <a:rPr lang="en-US" sz="1800" dirty="0"/>
              <a:t> Image of distributed memory architecture (optional)</a:t>
            </a:r>
          </a:p>
          <a:p>
            <a:endParaRPr lang="en-US" sz="1800" dirty="0"/>
          </a:p>
        </p:txBody>
      </p:sp>
    </p:spTree>
    <p:extLst>
      <p:ext uri="{BB962C8B-B14F-4D97-AF65-F5344CB8AC3E}">
        <p14:creationId xmlns:p14="http://schemas.microsoft.com/office/powerpoint/2010/main" val="3502131330"/>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a:spLocks/>
          </p:cNvSpPr>
          <p:nvPr/>
        </p:nvSpPr>
        <p:spPr>
          <a:xfrm>
            <a:off x="1300506" y="0"/>
            <a:ext cx="7810500" cy="685799"/>
          </a:xfrm>
          <a:prstGeom prst="rect">
            <a:avLst/>
          </a:prstGeom>
          <a:solidFill>
            <a:schemeClr val="accent2"/>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r>
              <a:rPr lang="en-US" sz="2400" b="1" dirty="0"/>
              <a:t>Software Design</a:t>
            </a:r>
          </a:p>
        </p:txBody>
      </p:sp>
      <p:sp>
        <p:nvSpPr>
          <p:cNvPr id="2" name="Date Placeholder 1"/>
          <p:cNvSpPr>
            <a:spLocks noGrp="1"/>
          </p:cNvSpPr>
          <p:nvPr>
            <p:ph type="dt" sz="half" idx="10"/>
          </p:nvPr>
        </p:nvSpPr>
        <p:spPr/>
        <p:txBody>
          <a:bodyPr/>
          <a:lstStyle/>
          <a:p>
            <a:fld id="{0AB698ED-5B5B-420A-922D-DA4DB739470A}" type="datetime1">
              <a:rPr lang="en-IN" smtClean="0"/>
              <a:t>21-07-2025</a:t>
            </a:fld>
            <a:endParaRPr lang="en-US"/>
          </a:p>
        </p:txBody>
      </p:sp>
      <p:sp>
        <p:nvSpPr>
          <p:cNvPr id="6" name="Footer Placeholder 5"/>
          <p:cNvSpPr>
            <a:spLocks noGrp="1"/>
          </p:cNvSpPr>
          <p:nvPr>
            <p:ph type="ftr" sz="quarter" idx="11"/>
          </p:nvPr>
        </p:nvSpPr>
        <p:spPr>
          <a:xfrm>
            <a:off x="2209800" y="6356350"/>
            <a:ext cx="5029200" cy="365125"/>
          </a:xfrm>
        </p:spPr>
        <p:txBody>
          <a:bodyPr/>
          <a:lstStyle/>
          <a:p>
            <a:r>
              <a:rPr lang="en-US"/>
              <a:t>Ms. Purnima Pal      High Performance Computing             Unit III     </a:t>
            </a:r>
            <a:endParaRPr lang="en-US" dirty="0"/>
          </a:p>
        </p:txBody>
      </p:sp>
      <p:sp>
        <p:nvSpPr>
          <p:cNvPr id="7" name="Slide Number Placeholder 6"/>
          <p:cNvSpPr>
            <a:spLocks noGrp="1"/>
          </p:cNvSpPr>
          <p:nvPr>
            <p:ph type="sldNum" sz="quarter" idx="12"/>
          </p:nvPr>
        </p:nvSpPr>
        <p:spPr/>
        <p:txBody>
          <a:bodyPr/>
          <a:lstStyle/>
          <a:p>
            <a:fld id="{AE566132-A42B-4D26-9C08-B059D352BBB6}" type="slidenum">
              <a:rPr lang="en-US" smtClean="0"/>
              <a:pPr/>
              <a:t>64</a:t>
            </a:fld>
            <a:endParaRPr lang="en-US"/>
          </a:p>
        </p:txBody>
      </p:sp>
      <p:sp>
        <p:nvSpPr>
          <p:cNvPr id="5" name="Title 1">
            <a:extLst>
              <a:ext uri="{FF2B5EF4-FFF2-40B4-BE49-F238E27FC236}">
                <a16:creationId xmlns:a16="http://schemas.microsoft.com/office/drawing/2014/main" id="{74C97CF1-3A45-326E-4C1F-9015608E62E8}"/>
              </a:ext>
            </a:extLst>
          </p:cNvPr>
          <p:cNvSpPr txBox="1">
            <a:spLocks/>
          </p:cNvSpPr>
          <p:nvPr/>
        </p:nvSpPr>
        <p:spPr>
          <a:xfrm>
            <a:off x="1259088" y="0"/>
            <a:ext cx="7876271"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r>
              <a:rPr lang="en-US" sz="3200" b="1" dirty="0"/>
              <a:t>Why Parallel Matrix Operations?</a:t>
            </a:r>
          </a:p>
        </p:txBody>
      </p:sp>
      <p:sp>
        <p:nvSpPr>
          <p:cNvPr id="9" name="Content Placeholder 8">
            <a:extLst>
              <a:ext uri="{FF2B5EF4-FFF2-40B4-BE49-F238E27FC236}">
                <a16:creationId xmlns:a16="http://schemas.microsoft.com/office/drawing/2014/main" id="{D6AFE47B-73F8-D123-148D-DFDD304BF0C9}"/>
              </a:ext>
            </a:extLst>
          </p:cNvPr>
          <p:cNvSpPr>
            <a:spLocks noGrp="1"/>
          </p:cNvSpPr>
          <p:nvPr>
            <p:ph idx="1"/>
          </p:nvPr>
        </p:nvSpPr>
        <p:spPr/>
        <p:txBody>
          <a:bodyPr>
            <a:normAutofit/>
          </a:bodyPr>
          <a:lstStyle/>
          <a:p>
            <a:r>
              <a:rPr lang="en-US" sz="1800" dirty="0"/>
              <a:t>Solves large matrix problems faster</a:t>
            </a:r>
          </a:p>
          <a:p>
            <a:r>
              <a:rPr lang="en-US" sz="1800" dirty="0"/>
              <a:t> Reduces computational load on a single processor</a:t>
            </a:r>
          </a:p>
          <a:p>
            <a:r>
              <a:rPr lang="en-US" sz="1800" dirty="0"/>
              <a:t>Essential for scientific computing, simulations, ML</a:t>
            </a:r>
          </a:p>
          <a:p>
            <a:r>
              <a:rPr lang="en-US" sz="1800" dirty="0"/>
              <a:t>Makes efficient use of multi-node supercomputers</a:t>
            </a:r>
          </a:p>
        </p:txBody>
      </p:sp>
    </p:spTree>
    <p:extLst>
      <p:ext uri="{BB962C8B-B14F-4D97-AF65-F5344CB8AC3E}">
        <p14:creationId xmlns:p14="http://schemas.microsoft.com/office/powerpoint/2010/main" val="719149402"/>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a:spLocks/>
          </p:cNvSpPr>
          <p:nvPr/>
        </p:nvSpPr>
        <p:spPr>
          <a:xfrm>
            <a:off x="1300506" y="0"/>
            <a:ext cx="7810500" cy="685799"/>
          </a:xfrm>
          <a:prstGeom prst="rect">
            <a:avLst/>
          </a:prstGeom>
          <a:solidFill>
            <a:schemeClr val="accent2"/>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r>
              <a:rPr lang="en-US" sz="2400" b="1" dirty="0"/>
              <a:t>Software Design</a:t>
            </a:r>
          </a:p>
        </p:txBody>
      </p:sp>
      <p:sp>
        <p:nvSpPr>
          <p:cNvPr id="2" name="Date Placeholder 1"/>
          <p:cNvSpPr>
            <a:spLocks noGrp="1"/>
          </p:cNvSpPr>
          <p:nvPr>
            <p:ph type="dt" sz="half" idx="10"/>
          </p:nvPr>
        </p:nvSpPr>
        <p:spPr/>
        <p:txBody>
          <a:bodyPr/>
          <a:lstStyle/>
          <a:p>
            <a:fld id="{2AE6F4CB-BDA4-41C0-A6FC-8EF85D6EA608}" type="datetime1">
              <a:rPr lang="en-IN" smtClean="0"/>
              <a:t>21-07-2025</a:t>
            </a:fld>
            <a:endParaRPr lang="en-US"/>
          </a:p>
        </p:txBody>
      </p:sp>
      <p:sp>
        <p:nvSpPr>
          <p:cNvPr id="6" name="Footer Placeholder 5"/>
          <p:cNvSpPr>
            <a:spLocks noGrp="1"/>
          </p:cNvSpPr>
          <p:nvPr>
            <p:ph type="ftr" sz="quarter" idx="11"/>
          </p:nvPr>
        </p:nvSpPr>
        <p:spPr>
          <a:xfrm>
            <a:off x="2209800" y="6356350"/>
            <a:ext cx="5029200" cy="365125"/>
          </a:xfrm>
        </p:spPr>
        <p:txBody>
          <a:bodyPr/>
          <a:lstStyle/>
          <a:p>
            <a:r>
              <a:rPr lang="en-US"/>
              <a:t>Ms. Purnima Pal      High Performance Computing             Unit III     </a:t>
            </a:r>
            <a:endParaRPr lang="en-US" dirty="0"/>
          </a:p>
        </p:txBody>
      </p:sp>
      <p:sp>
        <p:nvSpPr>
          <p:cNvPr id="7" name="Slide Number Placeholder 6"/>
          <p:cNvSpPr>
            <a:spLocks noGrp="1"/>
          </p:cNvSpPr>
          <p:nvPr>
            <p:ph type="sldNum" sz="quarter" idx="12"/>
          </p:nvPr>
        </p:nvSpPr>
        <p:spPr/>
        <p:txBody>
          <a:bodyPr/>
          <a:lstStyle/>
          <a:p>
            <a:fld id="{AE566132-A42B-4D26-9C08-B059D352BBB6}" type="slidenum">
              <a:rPr lang="en-US" smtClean="0"/>
              <a:pPr/>
              <a:t>65</a:t>
            </a:fld>
            <a:endParaRPr lang="en-US"/>
          </a:p>
        </p:txBody>
      </p:sp>
      <p:sp>
        <p:nvSpPr>
          <p:cNvPr id="5" name="Title 1">
            <a:extLst>
              <a:ext uri="{FF2B5EF4-FFF2-40B4-BE49-F238E27FC236}">
                <a16:creationId xmlns:a16="http://schemas.microsoft.com/office/drawing/2014/main" id="{74C97CF1-3A45-326E-4C1F-9015608E62E8}"/>
              </a:ext>
            </a:extLst>
          </p:cNvPr>
          <p:cNvSpPr txBox="1">
            <a:spLocks/>
          </p:cNvSpPr>
          <p:nvPr/>
        </p:nvSpPr>
        <p:spPr>
          <a:xfrm>
            <a:off x="1259088" y="0"/>
            <a:ext cx="7876271"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r>
              <a:rPr lang="en-US" sz="3200" b="1" dirty="0"/>
              <a:t>Matrix Partitioning Techniques</a:t>
            </a:r>
          </a:p>
        </p:txBody>
      </p:sp>
      <p:graphicFrame>
        <p:nvGraphicFramePr>
          <p:cNvPr id="3" name="Content Placeholder 2">
            <a:extLst>
              <a:ext uri="{FF2B5EF4-FFF2-40B4-BE49-F238E27FC236}">
                <a16:creationId xmlns:a16="http://schemas.microsoft.com/office/drawing/2014/main" id="{0263CBD2-C53E-7A89-D206-221B7A3406BC}"/>
              </a:ext>
            </a:extLst>
          </p:cNvPr>
          <p:cNvGraphicFramePr>
            <a:graphicFrameLocks noGrp="1"/>
          </p:cNvGraphicFramePr>
          <p:nvPr>
            <p:ph idx="1"/>
            <p:extLst>
              <p:ext uri="{D42A27DB-BD31-4B8C-83A1-F6EECF244321}">
                <p14:modId xmlns:p14="http://schemas.microsoft.com/office/powerpoint/2010/main" val="3066107762"/>
              </p:ext>
            </p:extLst>
          </p:nvPr>
        </p:nvGraphicFramePr>
        <p:xfrm>
          <a:off x="457200" y="1219200"/>
          <a:ext cx="8229600" cy="4648200"/>
        </p:xfrm>
        <a:graphic>
          <a:graphicData uri="http://schemas.openxmlformats.org/drawingml/2006/table">
            <a:tbl>
              <a:tblPr/>
              <a:tblGrid>
                <a:gridCol w="4114800">
                  <a:extLst>
                    <a:ext uri="{9D8B030D-6E8A-4147-A177-3AD203B41FA5}">
                      <a16:colId xmlns:a16="http://schemas.microsoft.com/office/drawing/2014/main" val="4088849765"/>
                    </a:ext>
                  </a:extLst>
                </a:gridCol>
                <a:gridCol w="4114800">
                  <a:extLst>
                    <a:ext uri="{9D8B030D-6E8A-4147-A177-3AD203B41FA5}">
                      <a16:colId xmlns:a16="http://schemas.microsoft.com/office/drawing/2014/main" val="1846877381"/>
                    </a:ext>
                  </a:extLst>
                </a:gridCol>
              </a:tblGrid>
              <a:tr h="929640">
                <a:tc>
                  <a:txBody>
                    <a:bodyPr/>
                    <a:lstStyle/>
                    <a:p>
                      <a:r>
                        <a:rPr lang="en-US" dirty="0"/>
                        <a:t>Method</a:t>
                      </a:r>
                    </a:p>
                  </a:txBody>
                  <a:tcPr anchor="ctr">
                    <a:lnL>
                      <a:noFill/>
                    </a:lnL>
                    <a:lnR>
                      <a:noFill/>
                    </a:lnR>
                    <a:lnT>
                      <a:noFill/>
                    </a:lnT>
                    <a:lnB>
                      <a:noFill/>
                    </a:lnB>
                  </a:tcPr>
                </a:tc>
                <a:tc>
                  <a:txBody>
                    <a:bodyPr/>
                    <a:lstStyle/>
                    <a:p>
                      <a:r>
                        <a:rPr lang="en-US"/>
                        <a:t>Description</a:t>
                      </a:r>
                    </a:p>
                  </a:txBody>
                  <a:tcPr anchor="ctr">
                    <a:lnL>
                      <a:noFill/>
                    </a:lnL>
                    <a:lnR>
                      <a:noFill/>
                    </a:lnR>
                    <a:lnT>
                      <a:noFill/>
                    </a:lnT>
                    <a:lnB>
                      <a:noFill/>
                    </a:lnB>
                  </a:tcPr>
                </a:tc>
                <a:extLst>
                  <a:ext uri="{0D108BD9-81ED-4DB2-BD59-A6C34878D82A}">
                    <a16:rowId xmlns:a16="http://schemas.microsoft.com/office/drawing/2014/main" val="107618533"/>
                  </a:ext>
                </a:extLst>
              </a:tr>
              <a:tr h="929640">
                <a:tc>
                  <a:txBody>
                    <a:bodyPr/>
                    <a:lstStyle/>
                    <a:p>
                      <a:r>
                        <a:rPr lang="en-US"/>
                        <a:t>Row-wise</a:t>
                      </a:r>
                    </a:p>
                  </a:txBody>
                  <a:tcPr anchor="ctr">
                    <a:lnL>
                      <a:noFill/>
                    </a:lnL>
                    <a:lnR>
                      <a:noFill/>
                    </a:lnR>
                    <a:lnT>
                      <a:noFill/>
                    </a:lnT>
                    <a:lnB>
                      <a:noFill/>
                    </a:lnB>
                  </a:tcPr>
                </a:tc>
                <a:tc>
                  <a:txBody>
                    <a:bodyPr/>
                    <a:lstStyle/>
                    <a:p>
                      <a:r>
                        <a:rPr lang="en-US"/>
                        <a:t>Matrix split into horizontal slices</a:t>
                      </a:r>
                    </a:p>
                  </a:txBody>
                  <a:tcPr anchor="ctr">
                    <a:lnL>
                      <a:noFill/>
                    </a:lnL>
                    <a:lnR>
                      <a:noFill/>
                    </a:lnR>
                    <a:lnT>
                      <a:noFill/>
                    </a:lnT>
                    <a:lnB>
                      <a:noFill/>
                    </a:lnB>
                  </a:tcPr>
                </a:tc>
                <a:extLst>
                  <a:ext uri="{0D108BD9-81ED-4DB2-BD59-A6C34878D82A}">
                    <a16:rowId xmlns:a16="http://schemas.microsoft.com/office/drawing/2014/main" val="2621704242"/>
                  </a:ext>
                </a:extLst>
              </a:tr>
              <a:tr h="929640">
                <a:tc>
                  <a:txBody>
                    <a:bodyPr/>
                    <a:lstStyle/>
                    <a:p>
                      <a:r>
                        <a:rPr lang="en-US"/>
                        <a:t>Column-wise</a:t>
                      </a:r>
                    </a:p>
                  </a:txBody>
                  <a:tcPr anchor="ctr">
                    <a:lnL>
                      <a:noFill/>
                    </a:lnL>
                    <a:lnR>
                      <a:noFill/>
                    </a:lnR>
                    <a:lnT>
                      <a:noFill/>
                    </a:lnT>
                    <a:lnB>
                      <a:noFill/>
                    </a:lnB>
                  </a:tcPr>
                </a:tc>
                <a:tc>
                  <a:txBody>
                    <a:bodyPr/>
                    <a:lstStyle/>
                    <a:p>
                      <a:r>
                        <a:rPr lang="en-US"/>
                        <a:t>Matrix split into vertical slices</a:t>
                      </a:r>
                    </a:p>
                  </a:txBody>
                  <a:tcPr anchor="ctr">
                    <a:lnL>
                      <a:noFill/>
                    </a:lnL>
                    <a:lnR>
                      <a:noFill/>
                    </a:lnR>
                    <a:lnT>
                      <a:noFill/>
                    </a:lnT>
                    <a:lnB>
                      <a:noFill/>
                    </a:lnB>
                  </a:tcPr>
                </a:tc>
                <a:extLst>
                  <a:ext uri="{0D108BD9-81ED-4DB2-BD59-A6C34878D82A}">
                    <a16:rowId xmlns:a16="http://schemas.microsoft.com/office/drawing/2014/main" val="552401378"/>
                  </a:ext>
                </a:extLst>
              </a:tr>
              <a:tr h="929640">
                <a:tc>
                  <a:txBody>
                    <a:bodyPr/>
                    <a:lstStyle/>
                    <a:p>
                      <a:r>
                        <a:rPr lang="en-US"/>
                        <a:t>Block-wise</a:t>
                      </a:r>
                    </a:p>
                  </a:txBody>
                  <a:tcPr anchor="ctr">
                    <a:lnL>
                      <a:noFill/>
                    </a:lnL>
                    <a:lnR>
                      <a:noFill/>
                    </a:lnR>
                    <a:lnT>
                      <a:noFill/>
                    </a:lnT>
                    <a:lnB>
                      <a:noFill/>
                    </a:lnB>
                  </a:tcPr>
                </a:tc>
                <a:tc>
                  <a:txBody>
                    <a:bodyPr/>
                    <a:lstStyle/>
                    <a:p>
                      <a:r>
                        <a:rPr lang="en-US"/>
                        <a:t>Matrix divided into square blocks</a:t>
                      </a:r>
                    </a:p>
                  </a:txBody>
                  <a:tcPr anchor="ctr">
                    <a:lnL>
                      <a:noFill/>
                    </a:lnL>
                    <a:lnR>
                      <a:noFill/>
                    </a:lnR>
                    <a:lnT>
                      <a:noFill/>
                    </a:lnT>
                    <a:lnB>
                      <a:noFill/>
                    </a:lnB>
                  </a:tcPr>
                </a:tc>
                <a:extLst>
                  <a:ext uri="{0D108BD9-81ED-4DB2-BD59-A6C34878D82A}">
                    <a16:rowId xmlns:a16="http://schemas.microsoft.com/office/drawing/2014/main" val="1631344513"/>
                  </a:ext>
                </a:extLst>
              </a:tr>
              <a:tr h="929640">
                <a:tc>
                  <a:txBody>
                    <a:bodyPr/>
                    <a:lstStyle/>
                    <a:p>
                      <a:r>
                        <a:rPr lang="en-US"/>
                        <a:t>2D Block-Cyclic</a:t>
                      </a:r>
                    </a:p>
                  </a:txBody>
                  <a:tcPr anchor="ctr">
                    <a:lnL>
                      <a:noFill/>
                    </a:lnL>
                    <a:lnR>
                      <a:noFill/>
                    </a:lnR>
                    <a:lnT>
                      <a:noFill/>
                    </a:lnT>
                    <a:lnB>
                      <a:noFill/>
                    </a:lnB>
                  </a:tcPr>
                </a:tc>
                <a:tc>
                  <a:txBody>
                    <a:bodyPr/>
                    <a:lstStyle/>
                    <a:p>
                      <a:r>
                        <a:rPr lang="en-US" dirty="0"/>
                        <a:t>Even load balancing across grid</a:t>
                      </a:r>
                    </a:p>
                  </a:txBody>
                  <a:tcPr anchor="ctr">
                    <a:lnL>
                      <a:noFill/>
                    </a:lnL>
                    <a:lnR>
                      <a:noFill/>
                    </a:lnR>
                    <a:lnT>
                      <a:noFill/>
                    </a:lnT>
                    <a:lnB>
                      <a:noFill/>
                    </a:lnB>
                  </a:tcPr>
                </a:tc>
                <a:extLst>
                  <a:ext uri="{0D108BD9-81ED-4DB2-BD59-A6C34878D82A}">
                    <a16:rowId xmlns:a16="http://schemas.microsoft.com/office/drawing/2014/main" val="4241021478"/>
                  </a:ext>
                </a:extLst>
              </a:tr>
            </a:tbl>
          </a:graphicData>
        </a:graphic>
      </p:graphicFrame>
    </p:spTree>
    <p:extLst>
      <p:ext uri="{BB962C8B-B14F-4D97-AF65-F5344CB8AC3E}">
        <p14:creationId xmlns:p14="http://schemas.microsoft.com/office/powerpoint/2010/main" val="2892633948"/>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a:spLocks/>
          </p:cNvSpPr>
          <p:nvPr/>
        </p:nvSpPr>
        <p:spPr>
          <a:xfrm>
            <a:off x="1300506" y="0"/>
            <a:ext cx="7810500" cy="685799"/>
          </a:xfrm>
          <a:prstGeom prst="rect">
            <a:avLst/>
          </a:prstGeom>
          <a:solidFill>
            <a:schemeClr val="accent2"/>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r>
              <a:rPr lang="en-US" sz="2400" b="1" dirty="0"/>
              <a:t>Software Design</a:t>
            </a:r>
          </a:p>
        </p:txBody>
      </p:sp>
      <p:sp>
        <p:nvSpPr>
          <p:cNvPr id="2" name="Date Placeholder 1"/>
          <p:cNvSpPr>
            <a:spLocks noGrp="1"/>
          </p:cNvSpPr>
          <p:nvPr>
            <p:ph type="dt" sz="half" idx="10"/>
          </p:nvPr>
        </p:nvSpPr>
        <p:spPr/>
        <p:txBody>
          <a:bodyPr/>
          <a:lstStyle/>
          <a:p>
            <a:fld id="{2ADD5906-3327-43AD-B15B-ADD77A1B03E1}" type="datetime1">
              <a:rPr lang="en-IN" smtClean="0"/>
              <a:t>21-07-2025</a:t>
            </a:fld>
            <a:endParaRPr lang="en-US"/>
          </a:p>
        </p:txBody>
      </p:sp>
      <p:sp>
        <p:nvSpPr>
          <p:cNvPr id="6" name="Footer Placeholder 5"/>
          <p:cNvSpPr>
            <a:spLocks noGrp="1"/>
          </p:cNvSpPr>
          <p:nvPr>
            <p:ph type="ftr" sz="quarter" idx="11"/>
          </p:nvPr>
        </p:nvSpPr>
        <p:spPr>
          <a:xfrm>
            <a:off x="2209800" y="6356350"/>
            <a:ext cx="5029200" cy="365125"/>
          </a:xfrm>
        </p:spPr>
        <p:txBody>
          <a:bodyPr/>
          <a:lstStyle/>
          <a:p>
            <a:r>
              <a:rPr lang="en-US"/>
              <a:t>Ms. Purnima Pal      High Performance Computing             Unit III     </a:t>
            </a:r>
            <a:endParaRPr lang="en-US" dirty="0"/>
          </a:p>
        </p:txBody>
      </p:sp>
      <p:sp>
        <p:nvSpPr>
          <p:cNvPr id="7" name="Slide Number Placeholder 6"/>
          <p:cNvSpPr>
            <a:spLocks noGrp="1"/>
          </p:cNvSpPr>
          <p:nvPr>
            <p:ph type="sldNum" sz="quarter" idx="12"/>
          </p:nvPr>
        </p:nvSpPr>
        <p:spPr/>
        <p:txBody>
          <a:bodyPr/>
          <a:lstStyle/>
          <a:p>
            <a:fld id="{AE566132-A42B-4D26-9C08-B059D352BBB6}" type="slidenum">
              <a:rPr lang="en-US" smtClean="0"/>
              <a:pPr/>
              <a:t>66</a:t>
            </a:fld>
            <a:endParaRPr lang="en-US"/>
          </a:p>
        </p:txBody>
      </p:sp>
      <p:sp>
        <p:nvSpPr>
          <p:cNvPr id="5" name="Title 1">
            <a:extLst>
              <a:ext uri="{FF2B5EF4-FFF2-40B4-BE49-F238E27FC236}">
                <a16:creationId xmlns:a16="http://schemas.microsoft.com/office/drawing/2014/main" id="{74C97CF1-3A45-326E-4C1F-9015608E62E8}"/>
              </a:ext>
            </a:extLst>
          </p:cNvPr>
          <p:cNvSpPr txBox="1">
            <a:spLocks/>
          </p:cNvSpPr>
          <p:nvPr/>
        </p:nvSpPr>
        <p:spPr>
          <a:xfrm>
            <a:off x="1259088" y="0"/>
            <a:ext cx="7876271"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r>
              <a:rPr lang="en-US" sz="2800" b="1" dirty="0"/>
              <a:t>Matrix Multiplication in Distributed Memory</a:t>
            </a:r>
          </a:p>
        </p:txBody>
      </p:sp>
      <p:sp>
        <p:nvSpPr>
          <p:cNvPr id="9" name="Content Placeholder 8">
            <a:extLst>
              <a:ext uri="{FF2B5EF4-FFF2-40B4-BE49-F238E27FC236}">
                <a16:creationId xmlns:a16="http://schemas.microsoft.com/office/drawing/2014/main" id="{D6AFE47B-73F8-D123-148D-DFDD304BF0C9}"/>
              </a:ext>
            </a:extLst>
          </p:cNvPr>
          <p:cNvSpPr>
            <a:spLocks noGrp="1"/>
          </p:cNvSpPr>
          <p:nvPr>
            <p:ph idx="1"/>
          </p:nvPr>
        </p:nvSpPr>
        <p:spPr/>
        <p:txBody>
          <a:bodyPr>
            <a:normAutofit/>
          </a:bodyPr>
          <a:lstStyle/>
          <a:p>
            <a:r>
              <a:rPr lang="en-US" sz="1800" b="1" dirty="0"/>
              <a:t>Example: C = A × B</a:t>
            </a:r>
            <a:endParaRPr lang="en-US" sz="1800" dirty="0"/>
          </a:p>
          <a:p>
            <a:pPr>
              <a:buFont typeface="Arial" panose="020B0604020202020204" pitchFamily="34" charset="0"/>
              <a:buChar char="•"/>
            </a:pPr>
            <a:r>
              <a:rPr lang="en-US" sz="1800" dirty="0"/>
              <a:t>Each node has:</a:t>
            </a:r>
          </a:p>
          <a:p>
            <a:pPr marL="742950" lvl="1" indent="-285750">
              <a:buFont typeface="Arial" panose="020B0604020202020204" pitchFamily="34" charset="0"/>
              <a:buChar char="•"/>
            </a:pPr>
            <a:r>
              <a:rPr lang="en-US" sz="1800" dirty="0"/>
              <a:t>Part of </a:t>
            </a:r>
            <a:r>
              <a:rPr lang="en-US" sz="1800" b="1" dirty="0"/>
              <a:t>A</a:t>
            </a:r>
            <a:r>
              <a:rPr lang="en-US" sz="1800" dirty="0"/>
              <a:t> (rows)</a:t>
            </a:r>
          </a:p>
          <a:p>
            <a:pPr marL="742950" lvl="1" indent="-285750">
              <a:buFont typeface="Arial" panose="020B0604020202020204" pitchFamily="34" charset="0"/>
              <a:buChar char="•"/>
            </a:pPr>
            <a:r>
              <a:rPr lang="en-US" sz="1800" dirty="0"/>
              <a:t>All or part of </a:t>
            </a:r>
            <a:r>
              <a:rPr lang="en-US" sz="1800" b="1" dirty="0"/>
              <a:t>B</a:t>
            </a:r>
            <a:r>
              <a:rPr lang="en-US" sz="1800" dirty="0"/>
              <a:t> (columns)</a:t>
            </a:r>
          </a:p>
          <a:p>
            <a:pPr>
              <a:buFont typeface="Arial" panose="020B0604020202020204" pitchFamily="34" charset="0"/>
              <a:buChar char="•"/>
            </a:pPr>
            <a:r>
              <a:rPr lang="en-US" sz="1800" dirty="0"/>
              <a:t>Nodes perform partial multiplication</a:t>
            </a:r>
          </a:p>
          <a:p>
            <a:pPr>
              <a:buFont typeface="Arial" panose="020B0604020202020204" pitchFamily="34" charset="0"/>
              <a:buChar char="•"/>
            </a:pPr>
            <a:r>
              <a:rPr lang="en-US" sz="1800" dirty="0"/>
              <a:t>Results are gathered to form final matrix </a:t>
            </a:r>
            <a:r>
              <a:rPr lang="en-US" sz="1800" b="1" dirty="0"/>
              <a:t>C</a:t>
            </a:r>
            <a:endParaRPr lang="en-US" sz="1800" dirty="0"/>
          </a:p>
          <a:p>
            <a:r>
              <a:rPr lang="en-US" sz="1800" b="1" dirty="0"/>
              <a:t>Visual:</a:t>
            </a:r>
            <a:r>
              <a:rPr lang="en-US" sz="1800" dirty="0"/>
              <a:t> Use the uploaded block matrix multiplication image here</a:t>
            </a:r>
          </a:p>
          <a:p>
            <a:endParaRPr lang="en-US" sz="1800" dirty="0"/>
          </a:p>
        </p:txBody>
      </p:sp>
    </p:spTree>
    <p:extLst>
      <p:ext uri="{BB962C8B-B14F-4D97-AF65-F5344CB8AC3E}">
        <p14:creationId xmlns:p14="http://schemas.microsoft.com/office/powerpoint/2010/main" val="3279184084"/>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a:spLocks/>
          </p:cNvSpPr>
          <p:nvPr/>
        </p:nvSpPr>
        <p:spPr>
          <a:xfrm>
            <a:off x="1300506" y="0"/>
            <a:ext cx="7810500" cy="685799"/>
          </a:xfrm>
          <a:prstGeom prst="rect">
            <a:avLst/>
          </a:prstGeom>
          <a:solidFill>
            <a:schemeClr val="accent2"/>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r>
              <a:rPr lang="en-US" sz="2400" b="1" dirty="0"/>
              <a:t>Software Design</a:t>
            </a:r>
          </a:p>
        </p:txBody>
      </p:sp>
      <p:sp>
        <p:nvSpPr>
          <p:cNvPr id="2" name="Date Placeholder 1"/>
          <p:cNvSpPr>
            <a:spLocks noGrp="1"/>
          </p:cNvSpPr>
          <p:nvPr>
            <p:ph type="dt" sz="half" idx="10"/>
          </p:nvPr>
        </p:nvSpPr>
        <p:spPr/>
        <p:txBody>
          <a:bodyPr/>
          <a:lstStyle/>
          <a:p>
            <a:fld id="{D09180DF-4E12-4205-B992-B326A941E92D}" type="datetime1">
              <a:rPr lang="en-IN" smtClean="0"/>
              <a:t>21-07-2025</a:t>
            </a:fld>
            <a:endParaRPr lang="en-US"/>
          </a:p>
        </p:txBody>
      </p:sp>
      <p:sp>
        <p:nvSpPr>
          <p:cNvPr id="6" name="Footer Placeholder 5"/>
          <p:cNvSpPr>
            <a:spLocks noGrp="1"/>
          </p:cNvSpPr>
          <p:nvPr>
            <p:ph type="ftr" sz="quarter" idx="11"/>
          </p:nvPr>
        </p:nvSpPr>
        <p:spPr>
          <a:xfrm>
            <a:off x="2209800" y="6356350"/>
            <a:ext cx="5029200" cy="365125"/>
          </a:xfrm>
        </p:spPr>
        <p:txBody>
          <a:bodyPr/>
          <a:lstStyle/>
          <a:p>
            <a:r>
              <a:rPr lang="en-US"/>
              <a:t>Ms. Purnima Pal      High Performance Computing             Unit III     </a:t>
            </a:r>
            <a:endParaRPr lang="en-US" dirty="0"/>
          </a:p>
        </p:txBody>
      </p:sp>
      <p:sp>
        <p:nvSpPr>
          <p:cNvPr id="7" name="Slide Number Placeholder 6"/>
          <p:cNvSpPr>
            <a:spLocks noGrp="1"/>
          </p:cNvSpPr>
          <p:nvPr>
            <p:ph type="sldNum" sz="quarter" idx="12"/>
          </p:nvPr>
        </p:nvSpPr>
        <p:spPr/>
        <p:txBody>
          <a:bodyPr/>
          <a:lstStyle/>
          <a:p>
            <a:fld id="{AE566132-A42B-4D26-9C08-B059D352BBB6}" type="slidenum">
              <a:rPr lang="en-US" smtClean="0"/>
              <a:pPr/>
              <a:t>67</a:t>
            </a:fld>
            <a:endParaRPr lang="en-US"/>
          </a:p>
        </p:txBody>
      </p:sp>
      <p:sp>
        <p:nvSpPr>
          <p:cNvPr id="5" name="Title 1">
            <a:extLst>
              <a:ext uri="{FF2B5EF4-FFF2-40B4-BE49-F238E27FC236}">
                <a16:creationId xmlns:a16="http://schemas.microsoft.com/office/drawing/2014/main" id="{74C97CF1-3A45-326E-4C1F-9015608E62E8}"/>
              </a:ext>
            </a:extLst>
          </p:cNvPr>
          <p:cNvSpPr txBox="1">
            <a:spLocks/>
          </p:cNvSpPr>
          <p:nvPr/>
        </p:nvSpPr>
        <p:spPr>
          <a:xfrm>
            <a:off x="1259088" y="0"/>
            <a:ext cx="7876271"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r>
              <a:rPr lang="en-US" sz="3200" b="1" dirty="0"/>
              <a:t>Algorithms Used</a:t>
            </a:r>
          </a:p>
        </p:txBody>
      </p:sp>
      <p:graphicFrame>
        <p:nvGraphicFramePr>
          <p:cNvPr id="3" name="Content Placeholder 2">
            <a:extLst>
              <a:ext uri="{FF2B5EF4-FFF2-40B4-BE49-F238E27FC236}">
                <a16:creationId xmlns:a16="http://schemas.microsoft.com/office/drawing/2014/main" id="{1D1A9E0C-1D31-D635-416D-D1DA37CF3E5D}"/>
              </a:ext>
            </a:extLst>
          </p:cNvPr>
          <p:cNvGraphicFramePr>
            <a:graphicFrameLocks noGrp="1"/>
          </p:cNvGraphicFramePr>
          <p:nvPr>
            <p:ph idx="1"/>
            <p:extLst>
              <p:ext uri="{D42A27DB-BD31-4B8C-83A1-F6EECF244321}">
                <p14:modId xmlns:p14="http://schemas.microsoft.com/office/powerpoint/2010/main" val="383133378"/>
              </p:ext>
            </p:extLst>
          </p:nvPr>
        </p:nvGraphicFramePr>
        <p:xfrm>
          <a:off x="810528" y="1143000"/>
          <a:ext cx="7876272" cy="4191000"/>
        </p:xfrm>
        <a:graphic>
          <a:graphicData uri="http://schemas.openxmlformats.org/drawingml/2006/table">
            <a:tbl>
              <a:tblPr/>
              <a:tblGrid>
                <a:gridCol w="3938136">
                  <a:extLst>
                    <a:ext uri="{9D8B030D-6E8A-4147-A177-3AD203B41FA5}">
                      <a16:colId xmlns:a16="http://schemas.microsoft.com/office/drawing/2014/main" val="3936024337"/>
                    </a:ext>
                  </a:extLst>
                </a:gridCol>
                <a:gridCol w="3938136">
                  <a:extLst>
                    <a:ext uri="{9D8B030D-6E8A-4147-A177-3AD203B41FA5}">
                      <a16:colId xmlns:a16="http://schemas.microsoft.com/office/drawing/2014/main" val="865273268"/>
                    </a:ext>
                  </a:extLst>
                </a:gridCol>
              </a:tblGrid>
              <a:tr h="1047750">
                <a:tc>
                  <a:txBody>
                    <a:bodyPr/>
                    <a:lstStyle/>
                    <a:p>
                      <a:r>
                        <a:rPr lang="en-US" b="1" dirty="0"/>
                        <a:t>Algorithm</a:t>
                      </a:r>
                    </a:p>
                  </a:txBody>
                  <a:tcPr anchor="ctr">
                    <a:lnL>
                      <a:noFill/>
                    </a:lnL>
                    <a:lnR>
                      <a:noFill/>
                    </a:lnR>
                    <a:lnT>
                      <a:noFill/>
                    </a:lnT>
                    <a:lnB>
                      <a:noFill/>
                    </a:lnB>
                  </a:tcPr>
                </a:tc>
                <a:tc>
                  <a:txBody>
                    <a:bodyPr/>
                    <a:lstStyle/>
                    <a:p>
                      <a:r>
                        <a:rPr lang="en-US" dirty="0"/>
                        <a:t>Key Features</a:t>
                      </a:r>
                    </a:p>
                  </a:txBody>
                  <a:tcPr anchor="ctr">
                    <a:lnL>
                      <a:noFill/>
                    </a:lnL>
                    <a:lnR>
                      <a:noFill/>
                    </a:lnR>
                    <a:lnT>
                      <a:noFill/>
                    </a:lnT>
                    <a:lnB>
                      <a:noFill/>
                    </a:lnB>
                  </a:tcPr>
                </a:tc>
                <a:extLst>
                  <a:ext uri="{0D108BD9-81ED-4DB2-BD59-A6C34878D82A}">
                    <a16:rowId xmlns:a16="http://schemas.microsoft.com/office/drawing/2014/main" val="624636042"/>
                  </a:ext>
                </a:extLst>
              </a:tr>
              <a:tr h="1047750">
                <a:tc>
                  <a:txBody>
                    <a:bodyPr/>
                    <a:lstStyle/>
                    <a:p>
                      <a:r>
                        <a:rPr lang="en-US" b="1" dirty="0"/>
                        <a:t>Cannon’s Algorithm</a:t>
                      </a:r>
                      <a:endParaRPr lang="en-US" dirty="0"/>
                    </a:p>
                  </a:txBody>
                  <a:tcPr anchor="ctr">
                    <a:lnL>
                      <a:noFill/>
                    </a:lnL>
                    <a:lnR>
                      <a:noFill/>
                    </a:lnR>
                    <a:lnT>
                      <a:noFill/>
                    </a:lnT>
                    <a:lnB>
                      <a:noFill/>
                    </a:lnB>
                  </a:tcPr>
                </a:tc>
                <a:tc>
                  <a:txBody>
                    <a:bodyPr/>
                    <a:lstStyle/>
                    <a:p>
                      <a:r>
                        <a:rPr lang="en-US"/>
                        <a:t>2D mesh/grid, efficient data reuse</a:t>
                      </a:r>
                    </a:p>
                  </a:txBody>
                  <a:tcPr anchor="ctr">
                    <a:lnL>
                      <a:noFill/>
                    </a:lnL>
                    <a:lnR>
                      <a:noFill/>
                    </a:lnR>
                    <a:lnT>
                      <a:noFill/>
                    </a:lnT>
                    <a:lnB>
                      <a:noFill/>
                    </a:lnB>
                  </a:tcPr>
                </a:tc>
                <a:extLst>
                  <a:ext uri="{0D108BD9-81ED-4DB2-BD59-A6C34878D82A}">
                    <a16:rowId xmlns:a16="http://schemas.microsoft.com/office/drawing/2014/main" val="4091725167"/>
                  </a:ext>
                </a:extLst>
              </a:tr>
              <a:tr h="1047750">
                <a:tc>
                  <a:txBody>
                    <a:bodyPr/>
                    <a:lstStyle/>
                    <a:p>
                      <a:r>
                        <a:rPr lang="en-US" b="1"/>
                        <a:t>Fox’s Algorithm</a:t>
                      </a:r>
                      <a:endParaRPr lang="en-US"/>
                    </a:p>
                  </a:txBody>
                  <a:tcPr anchor="ctr">
                    <a:lnL>
                      <a:noFill/>
                    </a:lnL>
                    <a:lnR>
                      <a:noFill/>
                    </a:lnR>
                    <a:lnT>
                      <a:noFill/>
                    </a:lnT>
                    <a:lnB>
                      <a:noFill/>
                    </a:lnB>
                  </a:tcPr>
                </a:tc>
                <a:tc>
                  <a:txBody>
                    <a:bodyPr/>
                    <a:lstStyle/>
                    <a:p>
                      <a:r>
                        <a:rPr lang="en-US" dirty="0"/>
                        <a:t>Uses broadcasting, better synchronization</a:t>
                      </a:r>
                    </a:p>
                  </a:txBody>
                  <a:tcPr anchor="ctr">
                    <a:lnL>
                      <a:noFill/>
                    </a:lnL>
                    <a:lnR>
                      <a:noFill/>
                    </a:lnR>
                    <a:lnT>
                      <a:noFill/>
                    </a:lnT>
                    <a:lnB>
                      <a:noFill/>
                    </a:lnB>
                  </a:tcPr>
                </a:tc>
                <a:extLst>
                  <a:ext uri="{0D108BD9-81ED-4DB2-BD59-A6C34878D82A}">
                    <a16:rowId xmlns:a16="http://schemas.microsoft.com/office/drawing/2014/main" val="2402470793"/>
                  </a:ext>
                </a:extLst>
              </a:tr>
              <a:tr h="1047750">
                <a:tc>
                  <a:txBody>
                    <a:bodyPr/>
                    <a:lstStyle/>
                    <a:p>
                      <a:r>
                        <a:rPr lang="en-US" b="1"/>
                        <a:t>SUMMA</a:t>
                      </a:r>
                      <a:endParaRPr lang="en-US"/>
                    </a:p>
                  </a:txBody>
                  <a:tcPr anchor="ctr">
                    <a:lnL>
                      <a:noFill/>
                    </a:lnL>
                    <a:lnR>
                      <a:noFill/>
                    </a:lnR>
                    <a:lnT>
                      <a:noFill/>
                    </a:lnT>
                    <a:lnB>
                      <a:noFill/>
                    </a:lnB>
                  </a:tcPr>
                </a:tc>
                <a:tc>
                  <a:txBody>
                    <a:bodyPr/>
                    <a:lstStyle/>
                    <a:p>
                      <a:r>
                        <a:rPr lang="en-US" dirty="0"/>
                        <a:t>Flexible, scalable for non-square grids</a:t>
                      </a:r>
                    </a:p>
                  </a:txBody>
                  <a:tcPr anchor="ctr">
                    <a:lnL>
                      <a:noFill/>
                    </a:lnL>
                    <a:lnR>
                      <a:noFill/>
                    </a:lnR>
                    <a:lnT>
                      <a:noFill/>
                    </a:lnT>
                    <a:lnB>
                      <a:noFill/>
                    </a:lnB>
                  </a:tcPr>
                </a:tc>
                <a:extLst>
                  <a:ext uri="{0D108BD9-81ED-4DB2-BD59-A6C34878D82A}">
                    <a16:rowId xmlns:a16="http://schemas.microsoft.com/office/drawing/2014/main" val="1921200728"/>
                  </a:ext>
                </a:extLst>
              </a:tr>
            </a:tbl>
          </a:graphicData>
        </a:graphic>
      </p:graphicFrame>
    </p:spTree>
    <p:extLst>
      <p:ext uri="{BB962C8B-B14F-4D97-AF65-F5344CB8AC3E}">
        <p14:creationId xmlns:p14="http://schemas.microsoft.com/office/powerpoint/2010/main" val="651612339"/>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a:spLocks/>
          </p:cNvSpPr>
          <p:nvPr/>
        </p:nvSpPr>
        <p:spPr>
          <a:xfrm>
            <a:off x="1300506" y="0"/>
            <a:ext cx="7810500" cy="685799"/>
          </a:xfrm>
          <a:prstGeom prst="rect">
            <a:avLst/>
          </a:prstGeom>
          <a:solidFill>
            <a:schemeClr val="accent2"/>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r>
              <a:rPr lang="en-US" sz="2400" b="1" dirty="0"/>
              <a:t>Software Design</a:t>
            </a:r>
          </a:p>
        </p:txBody>
      </p:sp>
      <p:sp>
        <p:nvSpPr>
          <p:cNvPr id="2" name="Date Placeholder 1"/>
          <p:cNvSpPr>
            <a:spLocks noGrp="1"/>
          </p:cNvSpPr>
          <p:nvPr>
            <p:ph type="dt" sz="half" idx="10"/>
          </p:nvPr>
        </p:nvSpPr>
        <p:spPr/>
        <p:txBody>
          <a:bodyPr/>
          <a:lstStyle/>
          <a:p>
            <a:fld id="{636BC372-216C-4988-A1BA-7F8C6F3C582B}" type="datetime1">
              <a:rPr lang="en-IN" smtClean="0"/>
              <a:t>21-07-2025</a:t>
            </a:fld>
            <a:endParaRPr lang="en-US"/>
          </a:p>
        </p:txBody>
      </p:sp>
      <p:sp>
        <p:nvSpPr>
          <p:cNvPr id="6" name="Footer Placeholder 5"/>
          <p:cNvSpPr>
            <a:spLocks noGrp="1"/>
          </p:cNvSpPr>
          <p:nvPr>
            <p:ph type="ftr" sz="quarter" idx="11"/>
          </p:nvPr>
        </p:nvSpPr>
        <p:spPr>
          <a:xfrm>
            <a:off x="2209800" y="6356350"/>
            <a:ext cx="5029200" cy="365125"/>
          </a:xfrm>
        </p:spPr>
        <p:txBody>
          <a:bodyPr/>
          <a:lstStyle/>
          <a:p>
            <a:r>
              <a:rPr lang="en-US"/>
              <a:t>Ms. Purnima Pal      High Performance Computing             Unit III     </a:t>
            </a:r>
            <a:endParaRPr lang="en-US" dirty="0"/>
          </a:p>
        </p:txBody>
      </p:sp>
      <p:sp>
        <p:nvSpPr>
          <p:cNvPr id="7" name="Slide Number Placeholder 6"/>
          <p:cNvSpPr>
            <a:spLocks noGrp="1"/>
          </p:cNvSpPr>
          <p:nvPr>
            <p:ph type="sldNum" sz="quarter" idx="12"/>
          </p:nvPr>
        </p:nvSpPr>
        <p:spPr/>
        <p:txBody>
          <a:bodyPr/>
          <a:lstStyle/>
          <a:p>
            <a:fld id="{AE566132-A42B-4D26-9C08-B059D352BBB6}" type="slidenum">
              <a:rPr lang="en-US" smtClean="0"/>
              <a:pPr/>
              <a:t>68</a:t>
            </a:fld>
            <a:endParaRPr lang="en-US"/>
          </a:p>
        </p:txBody>
      </p:sp>
      <p:sp>
        <p:nvSpPr>
          <p:cNvPr id="5" name="Title 1">
            <a:extLst>
              <a:ext uri="{FF2B5EF4-FFF2-40B4-BE49-F238E27FC236}">
                <a16:creationId xmlns:a16="http://schemas.microsoft.com/office/drawing/2014/main" id="{74C97CF1-3A45-326E-4C1F-9015608E62E8}"/>
              </a:ext>
            </a:extLst>
          </p:cNvPr>
          <p:cNvSpPr txBox="1">
            <a:spLocks/>
          </p:cNvSpPr>
          <p:nvPr/>
        </p:nvSpPr>
        <p:spPr>
          <a:xfrm>
            <a:off x="1259088" y="0"/>
            <a:ext cx="7876271"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r>
              <a:rPr lang="en-US" sz="2800" b="1" dirty="0"/>
              <a:t>MPI-Based Matrix Multiplication Steps</a:t>
            </a:r>
          </a:p>
        </p:txBody>
      </p:sp>
      <p:sp>
        <p:nvSpPr>
          <p:cNvPr id="9" name="Content Placeholder 8">
            <a:extLst>
              <a:ext uri="{FF2B5EF4-FFF2-40B4-BE49-F238E27FC236}">
                <a16:creationId xmlns:a16="http://schemas.microsoft.com/office/drawing/2014/main" id="{D6AFE47B-73F8-D123-148D-DFDD304BF0C9}"/>
              </a:ext>
            </a:extLst>
          </p:cNvPr>
          <p:cNvSpPr>
            <a:spLocks noGrp="1"/>
          </p:cNvSpPr>
          <p:nvPr>
            <p:ph idx="1"/>
          </p:nvPr>
        </p:nvSpPr>
        <p:spPr/>
        <p:txBody>
          <a:bodyPr>
            <a:normAutofit/>
          </a:bodyPr>
          <a:lstStyle/>
          <a:p>
            <a:r>
              <a:rPr lang="en-US" sz="1600" dirty="0" err="1"/>
              <a:t>MPI_Scatter</a:t>
            </a:r>
            <a:r>
              <a:rPr lang="en-US" sz="1600" dirty="0"/>
              <a:t>(...);   // distribute matrix A</a:t>
            </a:r>
          </a:p>
          <a:p>
            <a:r>
              <a:rPr lang="en-US" sz="1600" dirty="0" err="1"/>
              <a:t>MPI_Bcast</a:t>
            </a:r>
            <a:r>
              <a:rPr lang="en-US" sz="1600" dirty="0"/>
              <a:t>(...);     // broadcast matrix B</a:t>
            </a:r>
          </a:p>
          <a:p>
            <a:r>
              <a:rPr lang="en-US" sz="1600" dirty="0" err="1"/>
              <a:t>local_C</a:t>
            </a:r>
            <a:r>
              <a:rPr lang="en-US" sz="1600" dirty="0"/>
              <a:t> = multiply(...);</a:t>
            </a:r>
          </a:p>
          <a:p>
            <a:r>
              <a:rPr lang="en-US" sz="1600" dirty="0" err="1"/>
              <a:t>MPI_Gather</a:t>
            </a:r>
            <a:r>
              <a:rPr lang="en-US" sz="1600" dirty="0"/>
              <a:t>(...);    // collect result matrix C</a:t>
            </a:r>
          </a:p>
          <a:p>
            <a:pPr marL="0" indent="0">
              <a:buNone/>
            </a:pPr>
            <a:endParaRPr lang="en-US" sz="1600" dirty="0"/>
          </a:p>
        </p:txBody>
      </p:sp>
    </p:spTree>
    <p:extLst>
      <p:ext uri="{BB962C8B-B14F-4D97-AF65-F5344CB8AC3E}">
        <p14:creationId xmlns:p14="http://schemas.microsoft.com/office/powerpoint/2010/main" val="101218183"/>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a:spLocks/>
          </p:cNvSpPr>
          <p:nvPr/>
        </p:nvSpPr>
        <p:spPr>
          <a:xfrm>
            <a:off x="1300506" y="0"/>
            <a:ext cx="7810500" cy="685799"/>
          </a:xfrm>
          <a:prstGeom prst="rect">
            <a:avLst/>
          </a:prstGeom>
          <a:solidFill>
            <a:schemeClr val="accent2"/>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r>
              <a:rPr lang="en-US" sz="2400" b="1" dirty="0"/>
              <a:t>Software Design</a:t>
            </a:r>
          </a:p>
        </p:txBody>
      </p:sp>
      <p:sp>
        <p:nvSpPr>
          <p:cNvPr id="2" name="Date Placeholder 1"/>
          <p:cNvSpPr>
            <a:spLocks noGrp="1"/>
          </p:cNvSpPr>
          <p:nvPr>
            <p:ph type="dt" sz="half" idx="10"/>
          </p:nvPr>
        </p:nvSpPr>
        <p:spPr/>
        <p:txBody>
          <a:bodyPr/>
          <a:lstStyle/>
          <a:p>
            <a:fld id="{87F20A79-4A84-4BC3-99E5-CB6C415CA9FA}" type="datetime1">
              <a:rPr lang="en-IN" smtClean="0"/>
              <a:t>21-07-2025</a:t>
            </a:fld>
            <a:endParaRPr lang="en-US"/>
          </a:p>
        </p:txBody>
      </p:sp>
      <p:sp>
        <p:nvSpPr>
          <p:cNvPr id="6" name="Footer Placeholder 5"/>
          <p:cNvSpPr>
            <a:spLocks noGrp="1"/>
          </p:cNvSpPr>
          <p:nvPr>
            <p:ph type="ftr" sz="quarter" idx="11"/>
          </p:nvPr>
        </p:nvSpPr>
        <p:spPr>
          <a:xfrm>
            <a:off x="2209800" y="6356350"/>
            <a:ext cx="5029200" cy="365125"/>
          </a:xfrm>
        </p:spPr>
        <p:txBody>
          <a:bodyPr/>
          <a:lstStyle/>
          <a:p>
            <a:r>
              <a:rPr lang="en-US"/>
              <a:t>Ms. Purnima Pal      High Performance Computing             Unit III     </a:t>
            </a:r>
            <a:endParaRPr lang="en-US" dirty="0"/>
          </a:p>
        </p:txBody>
      </p:sp>
      <p:sp>
        <p:nvSpPr>
          <p:cNvPr id="7" name="Slide Number Placeholder 6"/>
          <p:cNvSpPr>
            <a:spLocks noGrp="1"/>
          </p:cNvSpPr>
          <p:nvPr>
            <p:ph type="sldNum" sz="quarter" idx="12"/>
          </p:nvPr>
        </p:nvSpPr>
        <p:spPr/>
        <p:txBody>
          <a:bodyPr/>
          <a:lstStyle/>
          <a:p>
            <a:fld id="{AE566132-A42B-4D26-9C08-B059D352BBB6}" type="slidenum">
              <a:rPr lang="en-US" smtClean="0"/>
              <a:pPr/>
              <a:t>69</a:t>
            </a:fld>
            <a:endParaRPr lang="en-US"/>
          </a:p>
        </p:txBody>
      </p:sp>
      <p:sp>
        <p:nvSpPr>
          <p:cNvPr id="5" name="Title 1">
            <a:extLst>
              <a:ext uri="{FF2B5EF4-FFF2-40B4-BE49-F238E27FC236}">
                <a16:creationId xmlns:a16="http://schemas.microsoft.com/office/drawing/2014/main" id="{74C97CF1-3A45-326E-4C1F-9015608E62E8}"/>
              </a:ext>
            </a:extLst>
          </p:cNvPr>
          <p:cNvSpPr txBox="1">
            <a:spLocks/>
          </p:cNvSpPr>
          <p:nvPr/>
        </p:nvSpPr>
        <p:spPr>
          <a:xfrm>
            <a:off x="1259088" y="0"/>
            <a:ext cx="7876271"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r>
              <a:rPr lang="en-US" sz="2800" b="1" dirty="0"/>
              <a:t>Challenges in Distributed Matrix Ops</a:t>
            </a:r>
          </a:p>
        </p:txBody>
      </p:sp>
      <p:sp>
        <p:nvSpPr>
          <p:cNvPr id="9" name="Content Placeholder 8">
            <a:extLst>
              <a:ext uri="{FF2B5EF4-FFF2-40B4-BE49-F238E27FC236}">
                <a16:creationId xmlns:a16="http://schemas.microsoft.com/office/drawing/2014/main" id="{D6AFE47B-73F8-D123-148D-DFDD304BF0C9}"/>
              </a:ext>
            </a:extLst>
          </p:cNvPr>
          <p:cNvSpPr>
            <a:spLocks noGrp="1"/>
          </p:cNvSpPr>
          <p:nvPr>
            <p:ph idx="1"/>
          </p:nvPr>
        </p:nvSpPr>
        <p:spPr/>
        <p:txBody>
          <a:bodyPr>
            <a:normAutofit/>
          </a:bodyPr>
          <a:lstStyle/>
          <a:p>
            <a:r>
              <a:rPr lang="en-US" sz="1600" dirty="0"/>
              <a:t>Communication overhead</a:t>
            </a:r>
          </a:p>
          <a:p>
            <a:r>
              <a:rPr lang="en-US" sz="1600" b="1" dirty="0"/>
              <a:t>Load balancing</a:t>
            </a:r>
            <a:r>
              <a:rPr lang="en-US" sz="1600" dirty="0"/>
              <a:t> between processors</a:t>
            </a:r>
          </a:p>
          <a:p>
            <a:r>
              <a:rPr lang="en-US" sz="1600" b="1" dirty="0"/>
              <a:t>Scalability</a:t>
            </a:r>
            <a:r>
              <a:rPr lang="en-US" sz="1600" dirty="0"/>
              <a:t> for very large matrices</a:t>
            </a:r>
          </a:p>
          <a:p>
            <a:r>
              <a:rPr lang="en-US" sz="1600" b="1" dirty="0"/>
              <a:t>Synchronization</a:t>
            </a:r>
            <a:r>
              <a:rPr lang="en-US" sz="1600" dirty="0"/>
              <a:t> delays</a:t>
            </a:r>
          </a:p>
        </p:txBody>
      </p:sp>
    </p:spTree>
    <p:extLst>
      <p:ext uri="{BB962C8B-B14F-4D97-AF65-F5344CB8AC3E}">
        <p14:creationId xmlns:p14="http://schemas.microsoft.com/office/powerpoint/2010/main" val="1644708151"/>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a:spLocks/>
          </p:cNvSpPr>
          <p:nvPr/>
        </p:nvSpPr>
        <p:spPr>
          <a:xfrm>
            <a:off x="1300506" y="0"/>
            <a:ext cx="7810500" cy="685799"/>
          </a:xfrm>
          <a:prstGeom prst="rect">
            <a:avLst/>
          </a:prstGeom>
          <a:solidFill>
            <a:schemeClr val="accent2"/>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r>
              <a:rPr lang="en-US" sz="2400" b="1" dirty="0"/>
              <a:t>Software Design</a:t>
            </a:r>
          </a:p>
        </p:txBody>
      </p:sp>
      <p:sp>
        <p:nvSpPr>
          <p:cNvPr id="2" name="Date Placeholder 1"/>
          <p:cNvSpPr>
            <a:spLocks noGrp="1"/>
          </p:cNvSpPr>
          <p:nvPr>
            <p:ph type="dt" sz="half" idx="10"/>
          </p:nvPr>
        </p:nvSpPr>
        <p:spPr/>
        <p:txBody>
          <a:bodyPr/>
          <a:lstStyle/>
          <a:p>
            <a:fld id="{BC105505-2D84-4DEF-B8EA-815DF3CE1A06}" type="datetime1">
              <a:rPr lang="en-IN" smtClean="0"/>
              <a:t>21-07-2025</a:t>
            </a:fld>
            <a:endParaRPr lang="en-US"/>
          </a:p>
        </p:txBody>
      </p:sp>
      <p:sp>
        <p:nvSpPr>
          <p:cNvPr id="6" name="Footer Placeholder 5"/>
          <p:cNvSpPr>
            <a:spLocks noGrp="1"/>
          </p:cNvSpPr>
          <p:nvPr>
            <p:ph type="ftr" sz="quarter" idx="11"/>
          </p:nvPr>
        </p:nvSpPr>
        <p:spPr>
          <a:xfrm>
            <a:off x="2209800" y="6356350"/>
            <a:ext cx="5029200" cy="365125"/>
          </a:xfrm>
        </p:spPr>
        <p:txBody>
          <a:bodyPr/>
          <a:lstStyle/>
          <a:p>
            <a:r>
              <a:rPr lang="en-US"/>
              <a:t>Ms. Purnima Pal      High Performance Computing             Unit III     </a:t>
            </a:r>
            <a:endParaRPr lang="en-US" dirty="0"/>
          </a:p>
        </p:txBody>
      </p:sp>
      <p:sp>
        <p:nvSpPr>
          <p:cNvPr id="7" name="Slide Number Placeholder 6"/>
          <p:cNvSpPr>
            <a:spLocks noGrp="1"/>
          </p:cNvSpPr>
          <p:nvPr>
            <p:ph type="sldNum" sz="quarter" idx="12"/>
          </p:nvPr>
        </p:nvSpPr>
        <p:spPr/>
        <p:txBody>
          <a:bodyPr/>
          <a:lstStyle/>
          <a:p>
            <a:fld id="{AE566132-A42B-4D26-9C08-B059D352BBB6}" type="slidenum">
              <a:rPr lang="en-US" smtClean="0"/>
              <a:pPr/>
              <a:t>70</a:t>
            </a:fld>
            <a:endParaRPr lang="en-US"/>
          </a:p>
        </p:txBody>
      </p:sp>
      <p:sp>
        <p:nvSpPr>
          <p:cNvPr id="5" name="Title 1">
            <a:extLst>
              <a:ext uri="{FF2B5EF4-FFF2-40B4-BE49-F238E27FC236}">
                <a16:creationId xmlns:a16="http://schemas.microsoft.com/office/drawing/2014/main" id="{74C97CF1-3A45-326E-4C1F-9015608E62E8}"/>
              </a:ext>
            </a:extLst>
          </p:cNvPr>
          <p:cNvSpPr txBox="1">
            <a:spLocks/>
          </p:cNvSpPr>
          <p:nvPr/>
        </p:nvSpPr>
        <p:spPr>
          <a:xfrm>
            <a:off x="1259088" y="0"/>
            <a:ext cx="7876271"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r>
              <a:rPr lang="en-US" sz="3200" b="1" dirty="0"/>
              <a:t>Libraries and Tools</a:t>
            </a:r>
          </a:p>
        </p:txBody>
      </p:sp>
      <p:graphicFrame>
        <p:nvGraphicFramePr>
          <p:cNvPr id="3" name="Content Placeholder 2">
            <a:extLst>
              <a:ext uri="{FF2B5EF4-FFF2-40B4-BE49-F238E27FC236}">
                <a16:creationId xmlns:a16="http://schemas.microsoft.com/office/drawing/2014/main" id="{21DB0473-592D-797B-B409-C8A6FDA3A3DB}"/>
              </a:ext>
            </a:extLst>
          </p:cNvPr>
          <p:cNvGraphicFramePr>
            <a:graphicFrameLocks noGrp="1"/>
          </p:cNvGraphicFramePr>
          <p:nvPr>
            <p:ph idx="1"/>
            <p:extLst>
              <p:ext uri="{D42A27DB-BD31-4B8C-83A1-F6EECF244321}">
                <p14:modId xmlns:p14="http://schemas.microsoft.com/office/powerpoint/2010/main" val="1578625085"/>
              </p:ext>
            </p:extLst>
          </p:nvPr>
        </p:nvGraphicFramePr>
        <p:xfrm>
          <a:off x="609600" y="1219200"/>
          <a:ext cx="8077200" cy="4343400"/>
        </p:xfrm>
        <a:graphic>
          <a:graphicData uri="http://schemas.openxmlformats.org/drawingml/2006/table">
            <a:tbl>
              <a:tblPr/>
              <a:tblGrid>
                <a:gridCol w="4038600">
                  <a:extLst>
                    <a:ext uri="{9D8B030D-6E8A-4147-A177-3AD203B41FA5}">
                      <a16:colId xmlns:a16="http://schemas.microsoft.com/office/drawing/2014/main" val="3421407934"/>
                    </a:ext>
                  </a:extLst>
                </a:gridCol>
                <a:gridCol w="4038600">
                  <a:extLst>
                    <a:ext uri="{9D8B030D-6E8A-4147-A177-3AD203B41FA5}">
                      <a16:colId xmlns:a16="http://schemas.microsoft.com/office/drawing/2014/main" val="2817774347"/>
                    </a:ext>
                  </a:extLst>
                </a:gridCol>
              </a:tblGrid>
              <a:tr h="868680">
                <a:tc>
                  <a:txBody>
                    <a:bodyPr/>
                    <a:lstStyle/>
                    <a:p>
                      <a:r>
                        <a:rPr lang="en-US" dirty="0"/>
                        <a:t>Library</a:t>
                      </a:r>
                    </a:p>
                  </a:txBody>
                  <a:tcPr anchor="ctr">
                    <a:lnL>
                      <a:noFill/>
                    </a:lnL>
                    <a:lnR>
                      <a:noFill/>
                    </a:lnR>
                    <a:lnT>
                      <a:noFill/>
                    </a:lnT>
                    <a:lnB>
                      <a:noFill/>
                    </a:lnB>
                  </a:tcPr>
                </a:tc>
                <a:tc>
                  <a:txBody>
                    <a:bodyPr/>
                    <a:lstStyle/>
                    <a:p>
                      <a:r>
                        <a:rPr lang="en-US"/>
                        <a:t>Description</a:t>
                      </a:r>
                    </a:p>
                  </a:txBody>
                  <a:tcPr anchor="ctr">
                    <a:lnL>
                      <a:noFill/>
                    </a:lnL>
                    <a:lnR>
                      <a:noFill/>
                    </a:lnR>
                    <a:lnT>
                      <a:noFill/>
                    </a:lnT>
                    <a:lnB>
                      <a:noFill/>
                    </a:lnB>
                  </a:tcPr>
                </a:tc>
                <a:extLst>
                  <a:ext uri="{0D108BD9-81ED-4DB2-BD59-A6C34878D82A}">
                    <a16:rowId xmlns:a16="http://schemas.microsoft.com/office/drawing/2014/main" val="1472061579"/>
                  </a:ext>
                </a:extLst>
              </a:tr>
              <a:tr h="868680">
                <a:tc>
                  <a:txBody>
                    <a:bodyPr/>
                    <a:lstStyle/>
                    <a:p>
                      <a:r>
                        <a:rPr lang="en-US" b="1"/>
                        <a:t>MPI</a:t>
                      </a:r>
                      <a:endParaRPr lang="en-US"/>
                    </a:p>
                  </a:txBody>
                  <a:tcPr anchor="ctr">
                    <a:lnL>
                      <a:noFill/>
                    </a:lnL>
                    <a:lnR>
                      <a:noFill/>
                    </a:lnR>
                    <a:lnT>
                      <a:noFill/>
                    </a:lnT>
                    <a:lnB>
                      <a:noFill/>
                    </a:lnB>
                  </a:tcPr>
                </a:tc>
                <a:tc>
                  <a:txBody>
                    <a:bodyPr/>
                    <a:lstStyle/>
                    <a:p>
                      <a:r>
                        <a:rPr lang="en-US"/>
                        <a:t>Communication standard</a:t>
                      </a:r>
                    </a:p>
                  </a:txBody>
                  <a:tcPr anchor="ctr">
                    <a:lnL>
                      <a:noFill/>
                    </a:lnL>
                    <a:lnR>
                      <a:noFill/>
                    </a:lnR>
                    <a:lnT>
                      <a:noFill/>
                    </a:lnT>
                    <a:lnB>
                      <a:noFill/>
                    </a:lnB>
                  </a:tcPr>
                </a:tc>
                <a:extLst>
                  <a:ext uri="{0D108BD9-81ED-4DB2-BD59-A6C34878D82A}">
                    <a16:rowId xmlns:a16="http://schemas.microsoft.com/office/drawing/2014/main" val="1365892729"/>
                  </a:ext>
                </a:extLst>
              </a:tr>
              <a:tr h="868680">
                <a:tc>
                  <a:txBody>
                    <a:bodyPr/>
                    <a:lstStyle/>
                    <a:p>
                      <a:r>
                        <a:rPr lang="en-US" b="1"/>
                        <a:t>ScaLAPACK</a:t>
                      </a:r>
                      <a:endParaRPr lang="en-US"/>
                    </a:p>
                  </a:txBody>
                  <a:tcPr anchor="ctr">
                    <a:lnL>
                      <a:noFill/>
                    </a:lnL>
                    <a:lnR>
                      <a:noFill/>
                    </a:lnR>
                    <a:lnT>
                      <a:noFill/>
                    </a:lnT>
                    <a:lnB>
                      <a:noFill/>
                    </a:lnB>
                  </a:tcPr>
                </a:tc>
                <a:tc>
                  <a:txBody>
                    <a:bodyPr/>
                    <a:lstStyle/>
                    <a:p>
                      <a:r>
                        <a:rPr lang="en-US"/>
                        <a:t>Linear algebra in distributed systems</a:t>
                      </a:r>
                    </a:p>
                  </a:txBody>
                  <a:tcPr anchor="ctr">
                    <a:lnL>
                      <a:noFill/>
                    </a:lnL>
                    <a:lnR>
                      <a:noFill/>
                    </a:lnR>
                    <a:lnT>
                      <a:noFill/>
                    </a:lnT>
                    <a:lnB>
                      <a:noFill/>
                    </a:lnB>
                  </a:tcPr>
                </a:tc>
                <a:extLst>
                  <a:ext uri="{0D108BD9-81ED-4DB2-BD59-A6C34878D82A}">
                    <a16:rowId xmlns:a16="http://schemas.microsoft.com/office/drawing/2014/main" val="1516767239"/>
                  </a:ext>
                </a:extLst>
              </a:tr>
              <a:tr h="868680">
                <a:tc>
                  <a:txBody>
                    <a:bodyPr/>
                    <a:lstStyle/>
                    <a:p>
                      <a:r>
                        <a:rPr lang="en-US" b="1"/>
                        <a:t>PETSc</a:t>
                      </a:r>
                      <a:endParaRPr lang="en-US"/>
                    </a:p>
                  </a:txBody>
                  <a:tcPr anchor="ctr">
                    <a:lnL>
                      <a:noFill/>
                    </a:lnL>
                    <a:lnR>
                      <a:noFill/>
                    </a:lnR>
                    <a:lnT>
                      <a:noFill/>
                    </a:lnT>
                    <a:lnB>
                      <a:noFill/>
                    </a:lnB>
                  </a:tcPr>
                </a:tc>
                <a:tc>
                  <a:txBody>
                    <a:bodyPr/>
                    <a:lstStyle/>
                    <a:p>
                      <a:r>
                        <a:rPr lang="en-US"/>
                        <a:t>Scientific computing toolkit</a:t>
                      </a:r>
                    </a:p>
                  </a:txBody>
                  <a:tcPr anchor="ctr">
                    <a:lnL>
                      <a:noFill/>
                    </a:lnL>
                    <a:lnR>
                      <a:noFill/>
                    </a:lnR>
                    <a:lnT>
                      <a:noFill/>
                    </a:lnT>
                    <a:lnB>
                      <a:noFill/>
                    </a:lnB>
                  </a:tcPr>
                </a:tc>
                <a:extLst>
                  <a:ext uri="{0D108BD9-81ED-4DB2-BD59-A6C34878D82A}">
                    <a16:rowId xmlns:a16="http://schemas.microsoft.com/office/drawing/2014/main" val="681456359"/>
                  </a:ext>
                </a:extLst>
              </a:tr>
              <a:tr h="868680">
                <a:tc>
                  <a:txBody>
                    <a:bodyPr/>
                    <a:lstStyle/>
                    <a:p>
                      <a:r>
                        <a:rPr lang="en-US" b="1"/>
                        <a:t>Trilinos</a:t>
                      </a:r>
                      <a:endParaRPr lang="en-US"/>
                    </a:p>
                  </a:txBody>
                  <a:tcPr anchor="ctr">
                    <a:lnL>
                      <a:noFill/>
                    </a:lnL>
                    <a:lnR>
                      <a:noFill/>
                    </a:lnR>
                    <a:lnT>
                      <a:noFill/>
                    </a:lnT>
                    <a:lnB>
                      <a:noFill/>
                    </a:lnB>
                  </a:tcPr>
                </a:tc>
                <a:tc>
                  <a:txBody>
                    <a:bodyPr/>
                    <a:lstStyle/>
                    <a:p>
                      <a:r>
                        <a:rPr lang="en-US" dirty="0"/>
                        <a:t>HPC matrix and solver framework</a:t>
                      </a:r>
                    </a:p>
                  </a:txBody>
                  <a:tcPr anchor="ctr">
                    <a:lnL>
                      <a:noFill/>
                    </a:lnL>
                    <a:lnR>
                      <a:noFill/>
                    </a:lnR>
                    <a:lnT>
                      <a:noFill/>
                    </a:lnT>
                    <a:lnB>
                      <a:noFill/>
                    </a:lnB>
                  </a:tcPr>
                </a:tc>
                <a:extLst>
                  <a:ext uri="{0D108BD9-81ED-4DB2-BD59-A6C34878D82A}">
                    <a16:rowId xmlns:a16="http://schemas.microsoft.com/office/drawing/2014/main" val="3549982134"/>
                  </a:ext>
                </a:extLst>
              </a:tr>
            </a:tbl>
          </a:graphicData>
        </a:graphic>
      </p:graphicFrame>
    </p:spTree>
    <p:extLst>
      <p:ext uri="{BB962C8B-B14F-4D97-AF65-F5344CB8AC3E}">
        <p14:creationId xmlns:p14="http://schemas.microsoft.com/office/powerpoint/2010/main" val="1642520952"/>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a:spLocks/>
          </p:cNvSpPr>
          <p:nvPr/>
        </p:nvSpPr>
        <p:spPr>
          <a:xfrm>
            <a:off x="1300506" y="0"/>
            <a:ext cx="7810500" cy="685799"/>
          </a:xfrm>
          <a:prstGeom prst="rect">
            <a:avLst/>
          </a:prstGeom>
          <a:solidFill>
            <a:schemeClr val="accent2"/>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r>
              <a:rPr lang="en-US" sz="2400" b="1" dirty="0"/>
              <a:t>Software Design</a:t>
            </a:r>
          </a:p>
        </p:txBody>
      </p:sp>
      <p:sp>
        <p:nvSpPr>
          <p:cNvPr id="2" name="Date Placeholder 1"/>
          <p:cNvSpPr>
            <a:spLocks noGrp="1"/>
          </p:cNvSpPr>
          <p:nvPr>
            <p:ph type="dt" sz="half" idx="10"/>
          </p:nvPr>
        </p:nvSpPr>
        <p:spPr/>
        <p:txBody>
          <a:bodyPr/>
          <a:lstStyle/>
          <a:p>
            <a:fld id="{3F3B92F7-A75F-403A-A243-8C003060C9E7}" type="datetime1">
              <a:rPr lang="en-IN" smtClean="0"/>
              <a:t>21-07-2025</a:t>
            </a:fld>
            <a:endParaRPr lang="en-US"/>
          </a:p>
        </p:txBody>
      </p:sp>
      <p:sp>
        <p:nvSpPr>
          <p:cNvPr id="6" name="Footer Placeholder 5"/>
          <p:cNvSpPr>
            <a:spLocks noGrp="1"/>
          </p:cNvSpPr>
          <p:nvPr>
            <p:ph type="ftr" sz="quarter" idx="11"/>
          </p:nvPr>
        </p:nvSpPr>
        <p:spPr>
          <a:xfrm>
            <a:off x="2209800" y="6356350"/>
            <a:ext cx="5029200" cy="365125"/>
          </a:xfrm>
        </p:spPr>
        <p:txBody>
          <a:bodyPr/>
          <a:lstStyle/>
          <a:p>
            <a:r>
              <a:rPr lang="en-US"/>
              <a:t>Ms. Purnima Pal      High Performance Computing             Unit III     </a:t>
            </a:r>
            <a:endParaRPr lang="en-US" dirty="0"/>
          </a:p>
        </p:txBody>
      </p:sp>
      <p:sp>
        <p:nvSpPr>
          <p:cNvPr id="7" name="Slide Number Placeholder 6"/>
          <p:cNvSpPr>
            <a:spLocks noGrp="1"/>
          </p:cNvSpPr>
          <p:nvPr>
            <p:ph type="sldNum" sz="quarter" idx="12"/>
          </p:nvPr>
        </p:nvSpPr>
        <p:spPr/>
        <p:txBody>
          <a:bodyPr/>
          <a:lstStyle/>
          <a:p>
            <a:fld id="{AE566132-A42B-4D26-9C08-B059D352BBB6}" type="slidenum">
              <a:rPr lang="en-US" smtClean="0"/>
              <a:pPr/>
              <a:t>71</a:t>
            </a:fld>
            <a:endParaRPr lang="en-US"/>
          </a:p>
        </p:txBody>
      </p:sp>
      <p:sp>
        <p:nvSpPr>
          <p:cNvPr id="5" name="Title 1">
            <a:extLst>
              <a:ext uri="{FF2B5EF4-FFF2-40B4-BE49-F238E27FC236}">
                <a16:creationId xmlns:a16="http://schemas.microsoft.com/office/drawing/2014/main" id="{74C97CF1-3A45-326E-4C1F-9015608E62E8}"/>
              </a:ext>
            </a:extLst>
          </p:cNvPr>
          <p:cNvSpPr txBox="1">
            <a:spLocks/>
          </p:cNvSpPr>
          <p:nvPr/>
        </p:nvSpPr>
        <p:spPr>
          <a:xfrm>
            <a:off x="1259088" y="0"/>
            <a:ext cx="7876271"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r>
              <a:rPr lang="en-US" sz="2800" b="1" dirty="0"/>
              <a:t>Real-world Applications</a:t>
            </a:r>
          </a:p>
        </p:txBody>
      </p:sp>
      <p:sp>
        <p:nvSpPr>
          <p:cNvPr id="9" name="Content Placeholder 8">
            <a:extLst>
              <a:ext uri="{FF2B5EF4-FFF2-40B4-BE49-F238E27FC236}">
                <a16:creationId xmlns:a16="http://schemas.microsoft.com/office/drawing/2014/main" id="{D6AFE47B-73F8-D123-148D-DFDD304BF0C9}"/>
              </a:ext>
            </a:extLst>
          </p:cNvPr>
          <p:cNvSpPr>
            <a:spLocks noGrp="1"/>
          </p:cNvSpPr>
          <p:nvPr>
            <p:ph idx="1"/>
          </p:nvPr>
        </p:nvSpPr>
        <p:spPr/>
        <p:txBody>
          <a:bodyPr>
            <a:normAutofit/>
          </a:bodyPr>
          <a:lstStyle/>
          <a:p>
            <a:r>
              <a:rPr lang="en-US" sz="1600" b="1" dirty="0"/>
              <a:t>Applications:</a:t>
            </a:r>
            <a:endParaRPr lang="en-US" sz="1600" dirty="0"/>
          </a:p>
          <a:p>
            <a:pPr>
              <a:buFont typeface="Arial" panose="020B0604020202020204" pitchFamily="34" charset="0"/>
              <a:buChar char="•"/>
            </a:pPr>
            <a:r>
              <a:rPr lang="en-US" sz="1600" dirty="0"/>
              <a:t>Weather forecasting</a:t>
            </a:r>
          </a:p>
          <a:p>
            <a:pPr>
              <a:buFont typeface="Arial" panose="020B0604020202020204" pitchFamily="34" charset="0"/>
              <a:buChar char="•"/>
            </a:pPr>
            <a:r>
              <a:rPr lang="en-US" sz="1600" dirty="0"/>
              <a:t>Medical image reconstruction</a:t>
            </a:r>
          </a:p>
          <a:p>
            <a:pPr>
              <a:buFont typeface="Arial" panose="020B0604020202020204" pitchFamily="34" charset="0"/>
              <a:buChar char="•"/>
            </a:pPr>
            <a:r>
              <a:rPr lang="en-US" sz="1600" dirty="0"/>
              <a:t>Machine Learning (e.g., matrix ops in training)</a:t>
            </a:r>
          </a:p>
          <a:p>
            <a:pPr>
              <a:buFont typeface="Arial" panose="020B0604020202020204" pitchFamily="34" charset="0"/>
              <a:buChar char="•"/>
            </a:pPr>
            <a:r>
              <a:rPr lang="en-US" sz="1600" dirty="0"/>
              <a:t>Finite Element Analysis (FEA)</a:t>
            </a:r>
          </a:p>
          <a:p>
            <a:pPr marL="0" indent="0">
              <a:buNone/>
            </a:pPr>
            <a:endParaRPr lang="en-US" sz="1600" dirty="0"/>
          </a:p>
        </p:txBody>
      </p:sp>
    </p:spTree>
    <p:extLst>
      <p:ext uri="{BB962C8B-B14F-4D97-AF65-F5344CB8AC3E}">
        <p14:creationId xmlns:p14="http://schemas.microsoft.com/office/powerpoint/2010/main" val="1780343922"/>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a:spLocks/>
          </p:cNvSpPr>
          <p:nvPr/>
        </p:nvSpPr>
        <p:spPr>
          <a:xfrm>
            <a:off x="1300506" y="0"/>
            <a:ext cx="7810500" cy="685799"/>
          </a:xfrm>
          <a:prstGeom prst="rect">
            <a:avLst/>
          </a:prstGeom>
          <a:solidFill>
            <a:schemeClr val="accent2"/>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r>
              <a:rPr lang="en-US" sz="2400" b="1" dirty="0"/>
              <a:t>Software Design</a:t>
            </a:r>
          </a:p>
        </p:txBody>
      </p:sp>
      <p:sp>
        <p:nvSpPr>
          <p:cNvPr id="2" name="Date Placeholder 1"/>
          <p:cNvSpPr>
            <a:spLocks noGrp="1"/>
          </p:cNvSpPr>
          <p:nvPr>
            <p:ph type="dt" sz="half" idx="10"/>
          </p:nvPr>
        </p:nvSpPr>
        <p:spPr/>
        <p:txBody>
          <a:bodyPr/>
          <a:lstStyle/>
          <a:p>
            <a:fld id="{F85B1625-91B6-4C5C-A752-C4DFC3FCF5C4}" type="datetime1">
              <a:rPr lang="en-IN" smtClean="0"/>
              <a:t>21-07-2025</a:t>
            </a:fld>
            <a:endParaRPr lang="en-US"/>
          </a:p>
        </p:txBody>
      </p:sp>
      <p:sp>
        <p:nvSpPr>
          <p:cNvPr id="6" name="Footer Placeholder 5"/>
          <p:cNvSpPr>
            <a:spLocks noGrp="1"/>
          </p:cNvSpPr>
          <p:nvPr>
            <p:ph type="ftr" sz="quarter" idx="11"/>
          </p:nvPr>
        </p:nvSpPr>
        <p:spPr>
          <a:xfrm>
            <a:off x="2209800" y="6356350"/>
            <a:ext cx="5029200" cy="365125"/>
          </a:xfrm>
        </p:spPr>
        <p:txBody>
          <a:bodyPr/>
          <a:lstStyle/>
          <a:p>
            <a:r>
              <a:rPr lang="en-US"/>
              <a:t>Ms. Purnima Pal      High Performance Computing             Unit III     </a:t>
            </a:r>
            <a:endParaRPr lang="en-US" dirty="0"/>
          </a:p>
        </p:txBody>
      </p:sp>
      <p:sp>
        <p:nvSpPr>
          <p:cNvPr id="7" name="Slide Number Placeholder 6"/>
          <p:cNvSpPr>
            <a:spLocks noGrp="1"/>
          </p:cNvSpPr>
          <p:nvPr>
            <p:ph type="sldNum" sz="quarter" idx="12"/>
          </p:nvPr>
        </p:nvSpPr>
        <p:spPr/>
        <p:txBody>
          <a:bodyPr/>
          <a:lstStyle/>
          <a:p>
            <a:fld id="{AE566132-A42B-4D26-9C08-B059D352BBB6}" type="slidenum">
              <a:rPr lang="en-US" smtClean="0"/>
              <a:pPr/>
              <a:t>72</a:t>
            </a:fld>
            <a:endParaRPr lang="en-US"/>
          </a:p>
        </p:txBody>
      </p:sp>
      <p:sp>
        <p:nvSpPr>
          <p:cNvPr id="5" name="Title 1">
            <a:extLst>
              <a:ext uri="{FF2B5EF4-FFF2-40B4-BE49-F238E27FC236}">
                <a16:creationId xmlns:a16="http://schemas.microsoft.com/office/drawing/2014/main" id="{74C97CF1-3A45-326E-4C1F-9015608E62E8}"/>
              </a:ext>
            </a:extLst>
          </p:cNvPr>
          <p:cNvSpPr txBox="1">
            <a:spLocks/>
          </p:cNvSpPr>
          <p:nvPr/>
        </p:nvSpPr>
        <p:spPr>
          <a:xfrm>
            <a:off x="1259088" y="0"/>
            <a:ext cx="7876271"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r>
              <a:rPr lang="en-US" sz="3200" b="1" dirty="0"/>
              <a:t>Conclusion</a:t>
            </a:r>
          </a:p>
        </p:txBody>
      </p:sp>
      <p:sp>
        <p:nvSpPr>
          <p:cNvPr id="9" name="Content Placeholder 8">
            <a:extLst>
              <a:ext uri="{FF2B5EF4-FFF2-40B4-BE49-F238E27FC236}">
                <a16:creationId xmlns:a16="http://schemas.microsoft.com/office/drawing/2014/main" id="{D6AFE47B-73F8-D123-148D-DFDD304BF0C9}"/>
              </a:ext>
            </a:extLst>
          </p:cNvPr>
          <p:cNvSpPr>
            <a:spLocks noGrp="1"/>
          </p:cNvSpPr>
          <p:nvPr>
            <p:ph idx="1"/>
          </p:nvPr>
        </p:nvSpPr>
        <p:spPr/>
        <p:txBody>
          <a:bodyPr>
            <a:normAutofit/>
          </a:bodyPr>
          <a:lstStyle/>
          <a:p>
            <a:r>
              <a:rPr lang="en-US" sz="1800" dirty="0"/>
              <a:t>Parallel matrix operations enable solving </a:t>
            </a:r>
            <a:r>
              <a:rPr lang="en-US" sz="1800" b="1" dirty="0"/>
              <a:t>massive matrix computations</a:t>
            </a:r>
          </a:p>
          <a:p>
            <a:r>
              <a:rPr lang="en-US" sz="1800" dirty="0"/>
              <a:t>Distributed memory provides </a:t>
            </a:r>
            <a:r>
              <a:rPr lang="en-US" sz="1800" b="1" dirty="0"/>
              <a:t>scalability and performance</a:t>
            </a:r>
          </a:p>
          <a:p>
            <a:r>
              <a:rPr lang="en-US" sz="1800" dirty="0"/>
              <a:t>Efficient algorithms and communication are </a:t>
            </a:r>
            <a:r>
              <a:rPr lang="en-US" sz="1800" b="1" dirty="0"/>
              <a:t>key to success</a:t>
            </a:r>
            <a:endParaRPr lang="en-US" sz="1800" dirty="0"/>
          </a:p>
        </p:txBody>
      </p:sp>
    </p:spTree>
    <p:extLst>
      <p:ext uri="{BB962C8B-B14F-4D97-AF65-F5344CB8AC3E}">
        <p14:creationId xmlns:p14="http://schemas.microsoft.com/office/powerpoint/2010/main" val="3341733805"/>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a:spLocks/>
          </p:cNvSpPr>
          <p:nvPr/>
        </p:nvSpPr>
        <p:spPr>
          <a:xfrm>
            <a:off x="1300506" y="0"/>
            <a:ext cx="7810500" cy="685799"/>
          </a:xfrm>
          <a:prstGeom prst="rect">
            <a:avLst/>
          </a:prstGeom>
          <a:solidFill>
            <a:schemeClr val="accent2"/>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r>
              <a:rPr lang="en-US" sz="2400" b="1" dirty="0"/>
              <a:t>Software Design</a:t>
            </a:r>
          </a:p>
        </p:txBody>
      </p:sp>
      <p:sp>
        <p:nvSpPr>
          <p:cNvPr id="2" name="Date Placeholder 1"/>
          <p:cNvSpPr>
            <a:spLocks noGrp="1"/>
          </p:cNvSpPr>
          <p:nvPr>
            <p:ph type="dt" sz="half" idx="10"/>
          </p:nvPr>
        </p:nvSpPr>
        <p:spPr/>
        <p:txBody>
          <a:bodyPr/>
          <a:lstStyle/>
          <a:p>
            <a:fld id="{0F11C2AA-76D7-4821-8A31-02E0EE672779}" type="datetime1">
              <a:rPr lang="en-IN" smtClean="0"/>
              <a:t>21-07-2025</a:t>
            </a:fld>
            <a:endParaRPr lang="en-US"/>
          </a:p>
        </p:txBody>
      </p:sp>
      <p:sp>
        <p:nvSpPr>
          <p:cNvPr id="6" name="Footer Placeholder 5"/>
          <p:cNvSpPr>
            <a:spLocks noGrp="1"/>
          </p:cNvSpPr>
          <p:nvPr>
            <p:ph type="ftr" sz="quarter" idx="11"/>
          </p:nvPr>
        </p:nvSpPr>
        <p:spPr>
          <a:xfrm>
            <a:off x="2209800" y="6356350"/>
            <a:ext cx="5029200" cy="365125"/>
          </a:xfrm>
        </p:spPr>
        <p:txBody>
          <a:bodyPr/>
          <a:lstStyle/>
          <a:p>
            <a:r>
              <a:rPr lang="en-US"/>
              <a:t>Ms. Purnima Pal      High Performance Computing             Unit III     </a:t>
            </a:r>
            <a:endParaRPr lang="en-US" dirty="0"/>
          </a:p>
        </p:txBody>
      </p:sp>
      <p:sp>
        <p:nvSpPr>
          <p:cNvPr id="7" name="Slide Number Placeholder 6"/>
          <p:cNvSpPr>
            <a:spLocks noGrp="1"/>
          </p:cNvSpPr>
          <p:nvPr>
            <p:ph type="sldNum" sz="quarter" idx="12"/>
          </p:nvPr>
        </p:nvSpPr>
        <p:spPr/>
        <p:txBody>
          <a:bodyPr/>
          <a:lstStyle/>
          <a:p>
            <a:fld id="{AE566132-A42B-4D26-9C08-B059D352BBB6}" type="slidenum">
              <a:rPr lang="en-US" smtClean="0"/>
              <a:pPr/>
              <a:t>73</a:t>
            </a:fld>
            <a:endParaRPr lang="en-US"/>
          </a:p>
        </p:txBody>
      </p:sp>
      <p:sp>
        <p:nvSpPr>
          <p:cNvPr id="5" name="Title 1">
            <a:extLst>
              <a:ext uri="{FF2B5EF4-FFF2-40B4-BE49-F238E27FC236}">
                <a16:creationId xmlns:a16="http://schemas.microsoft.com/office/drawing/2014/main" id="{74C97CF1-3A45-326E-4C1F-9015608E62E8}"/>
              </a:ext>
            </a:extLst>
          </p:cNvPr>
          <p:cNvSpPr txBox="1">
            <a:spLocks/>
          </p:cNvSpPr>
          <p:nvPr/>
        </p:nvSpPr>
        <p:spPr>
          <a:xfrm>
            <a:off x="1259088" y="0"/>
            <a:ext cx="7876271"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r>
              <a:rPr lang="en-US" sz="2800" b="1" dirty="0"/>
              <a:t>Sparse vs Dense matrices. </a:t>
            </a:r>
          </a:p>
        </p:txBody>
      </p:sp>
      <p:sp>
        <p:nvSpPr>
          <p:cNvPr id="9" name="Content Placeholder 8">
            <a:extLst>
              <a:ext uri="{FF2B5EF4-FFF2-40B4-BE49-F238E27FC236}">
                <a16:creationId xmlns:a16="http://schemas.microsoft.com/office/drawing/2014/main" id="{D6AFE47B-73F8-D123-148D-DFDD304BF0C9}"/>
              </a:ext>
            </a:extLst>
          </p:cNvPr>
          <p:cNvSpPr>
            <a:spLocks noGrp="1"/>
          </p:cNvSpPr>
          <p:nvPr>
            <p:ph idx="1"/>
          </p:nvPr>
        </p:nvSpPr>
        <p:spPr/>
        <p:txBody>
          <a:bodyPr>
            <a:normAutofit/>
          </a:bodyPr>
          <a:lstStyle/>
          <a:p>
            <a:pPr marL="0" indent="0">
              <a:buNone/>
            </a:pPr>
            <a:r>
              <a:rPr lang="en-US" sz="1600" dirty="0"/>
              <a:t>Introduction to Matrices</a:t>
            </a:r>
          </a:p>
          <a:p>
            <a:r>
              <a:rPr lang="en-US" sz="1600" dirty="0"/>
              <a:t>A matrix is a 2D array of numbers.</a:t>
            </a:r>
          </a:p>
          <a:p>
            <a:r>
              <a:rPr lang="en-US" sz="1600" dirty="0"/>
              <a:t>Used in linear algebra, data science, image processing, machine learning, etc.</a:t>
            </a:r>
          </a:p>
          <a:p>
            <a:r>
              <a:rPr lang="en-US" sz="1600" dirty="0"/>
              <a:t>Based on element distribution, matrices can be:</a:t>
            </a:r>
          </a:p>
          <a:p>
            <a:pPr marL="0" indent="0">
              <a:buNone/>
            </a:pPr>
            <a:r>
              <a:rPr lang="en-US" sz="1600" b="1" dirty="0"/>
              <a:t>           Dense:</a:t>
            </a:r>
            <a:r>
              <a:rPr lang="en-US" sz="1600" dirty="0"/>
              <a:t> Most elements are non-zero</a:t>
            </a:r>
          </a:p>
          <a:p>
            <a:pPr marL="0" indent="0">
              <a:buNone/>
            </a:pPr>
            <a:r>
              <a:rPr lang="en-US" sz="1600" b="1" dirty="0"/>
              <a:t>           Sparse:</a:t>
            </a:r>
            <a:r>
              <a:rPr lang="en-US" sz="1600" dirty="0"/>
              <a:t> Most elements are zero.</a:t>
            </a:r>
          </a:p>
        </p:txBody>
      </p:sp>
    </p:spTree>
    <p:extLst>
      <p:ext uri="{BB962C8B-B14F-4D97-AF65-F5344CB8AC3E}">
        <p14:creationId xmlns:p14="http://schemas.microsoft.com/office/powerpoint/2010/main" val="2835300901"/>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a:spLocks/>
          </p:cNvSpPr>
          <p:nvPr/>
        </p:nvSpPr>
        <p:spPr>
          <a:xfrm>
            <a:off x="1300506" y="0"/>
            <a:ext cx="7810500" cy="685799"/>
          </a:xfrm>
          <a:prstGeom prst="rect">
            <a:avLst/>
          </a:prstGeom>
          <a:solidFill>
            <a:schemeClr val="accent2"/>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r>
              <a:rPr lang="en-US" sz="2400" b="1" dirty="0"/>
              <a:t>Software Design</a:t>
            </a:r>
          </a:p>
        </p:txBody>
      </p:sp>
      <p:sp>
        <p:nvSpPr>
          <p:cNvPr id="2" name="Date Placeholder 1"/>
          <p:cNvSpPr>
            <a:spLocks noGrp="1"/>
          </p:cNvSpPr>
          <p:nvPr>
            <p:ph type="dt" sz="half" idx="10"/>
          </p:nvPr>
        </p:nvSpPr>
        <p:spPr/>
        <p:txBody>
          <a:bodyPr/>
          <a:lstStyle/>
          <a:p>
            <a:fld id="{7A8C3A9F-BB1C-47FA-982C-DD368AEEF910}" type="datetime1">
              <a:rPr lang="en-IN" smtClean="0"/>
              <a:t>21-07-2025</a:t>
            </a:fld>
            <a:endParaRPr lang="en-US"/>
          </a:p>
        </p:txBody>
      </p:sp>
      <p:sp>
        <p:nvSpPr>
          <p:cNvPr id="6" name="Footer Placeholder 5"/>
          <p:cNvSpPr>
            <a:spLocks noGrp="1"/>
          </p:cNvSpPr>
          <p:nvPr>
            <p:ph type="ftr" sz="quarter" idx="11"/>
          </p:nvPr>
        </p:nvSpPr>
        <p:spPr>
          <a:xfrm>
            <a:off x="2209800" y="6356350"/>
            <a:ext cx="5029200" cy="365125"/>
          </a:xfrm>
        </p:spPr>
        <p:txBody>
          <a:bodyPr/>
          <a:lstStyle/>
          <a:p>
            <a:r>
              <a:rPr lang="en-US"/>
              <a:t>Ms. Purnima Pal      High Performance Computing             Unit III     </a:t>
            </a:r>
            <a:endParaRPr lang="en-US" dirty="0"/>
          </a:p>
        </p:txBody>
      </p:sp>
      <p:sp>
        <p:nvSpPr>
          <p:cNvPr id="7" name="Slide Number Placeholder 6"/>
          <p:cNvSpPr>
            <a:spLocks noGrp="1"/>
          </p:cNvSpPr>
          <p:nvPr>
            <p:ph type="sldNum" sz="quarter" idx="12"/>
          </p:nvPr>
        </p:nvSpPr>
        <p:spPr/>
        <p:txBody>
          <a:bodyPr/>
          <a:lstStyle/>
          <a:p>
            <a:fld id="{AE566132-A42B-4D26-9C08-B059D352BBB6}" type="slidenum">
              <a:rPr lang="en-US" smtClean="0"/>
              <a:pPr/>
              <a:t>74</a:t>
            </a:fld>
            <a:endParaRPr lang="en-US"/>
          </a:p>
        </p:txBody>
      </p:sp>
      <p:sp>
        <p:nvSpPr>
          <p:cNvPr id="5" name="Title 1">
            <a:extLst>
              <a:ext uri="{FF2B5EF4-FFF2-40B4-BE49-F238E27FC236}">
                <a16:creationId xmlns:a16="http://schemas.microsoft.com/office/drawing/2014/main" id="{74C97CF1-3A45-326E-4C1F-9015608E62E8}"/>
              </a:ext>
            </a:extLst>
          </p:cNvPr>
          <p:cNvSpPr txBox="1">
            <a:spLocks/>
          </p:cNvSpPr>
          <p:nvPr/>
        </p:nvSpPr>
        <p:spPr>
          <a:xfrm>
            <a:off x="1259088" y="0"/>
            <a:ext cx="7876271"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r>
              <a:rPr lang="en-US" sz="2800" b="1" dirty="0"/>
              <a:t>What is a Dense Matrix?</a:t>
            </a:r>
          </a:p>
        </p:txBody>
      </p:sp>
      <p:sp>
        <p:nvSpPr>
          <p:cNvPr id="9" name="Content Placeholder 8">
            <a:extLst>
              <a:ext uri="{FF2B5EF4-FFF2-40B4-BE49-F238E27FC236}">
                <a16:creationId xmlns:a16="http://schemas.microsoft.com/office/drawing/2014/main" id="{D6AFE47B-73F8-D123-148D-DFDD304BF0C9}"/>
              </a:ext>
            </a:extLst>
          </p:cNvPr>
          <p:cNvSpPr>
            <a:spLocks noGrp="1"/>
          </p:cNvSpPr>
          <p:nvPr>
            <p:ph idx="1"/>
          </p:nvPr>
        </p:nvSpPr>
        <p:spPr/>
        <p:txBody>
          <a:bodyPr>
            <a:normAutofit/>
          </a:bodyPr>
          <a:lstStyle/>
          <a:p>
            <a:r>
              <a:rPr lang="en-US" sz="1800" dirty="0">
                <a:latin typeface="Times New Roman" panose="02020603050405020304" pitchFamily="18" charset="0"/>
                <a:cs typeface="Times New Roman" panose="02020603050405020304" pitchFamily="18" charset="0"/>
              </a:rPr>
              <a:t>A matrix in which most of the elements are </a:t>
            </a:r>
            <a:r>
              <a:rPr lang="en-US" sz="1800" b="1" dirty="0">
                <a:latin typeface="Times New Roman" panose="02020603050405020304" pitchFamily="18" charset="0"/>
                <a:cs typeface="Times New Roman" panose="02020603050405020304" pitchFamily="18" charset="0"/>
              </a:rPr>
              <a:t>non-zero</a:t>
            </a:r>
            <a:r>
              <a:rPr lang="en-US" sz="1800" dirty="0">
                <a:latin typeface="Times New Roman" panose="02020603050405020304" pitchFamily="18" charset="0"/>
                <a:cs typeface="Times New Roman" panose="02020603050405020304" pitchFamily="18" charset="0"/>
              </a:rPr>
              <a:t>.</a:t>
            </a:r>
          </a:p>
          <a:p>
            <a:r>
              <a:rPr lang="en-US" sz="1800" b="1" dirty="0">
                <a:latin typeface="Times New Roman" panose="02020603050405020304" pitchFamily="18" charset="0"/>
                <a:cs typeface="Times New Roman" panose="02020603050405020304" pitchFamily="18" charset="0"/>
              </a:rPr>
              <a:t>Example:</a:t>
            </a:r>
          </a:p>
          <a:p>
            <a:r>
              <a:rPr lang="en-US" sz="1800" dirty="0">
                <a:latin typeface="Times New Roman" panose="02020603050405020304" pitchFamily="18" charset="0"/>
                <a:cs typeface="Times New Roman" panose="02020603050405020304" pitchFamily="18" charset="0"/>
              </a:rPr>
              <a:t>  {1  2  3</a:t>
            </a:r>
          </a:p>
          <a:p>
            <a:pPr marL="0" indent="0">
              <a:buNone/>
            </a:pPr>
            <a:r>
              <a:rPr lang="en-US" sz="1800" dirty="0">
                <a:latin typeface="Times New Roman" panose="02020603050405020304" pitchFamily="18" charset="0"/>
                <a:cs typeface="Times New Roman" panose="02020603050405020304" pitchFamily="18" charset="0"/>
              </a:rPr>
              <a:t>       4  5  6</a:t>
            </a:r>
          </a:p>
          <a:p>
            <a:pPr marL="0" indent="0">
              <a:buNone/>
            </a:pPr>
            <a:r>
              <a:rPr lang="en-US" sz="1800" dirty="0">
                <a:latin typeface="Times New Roman" panose="02020603050405020304" pitchFamily="18" charset="0"/>
                <a:cs typeface="Times New Roman" panose="02020603050405020304" pitchFamily="18" charset="0"/>
              </a:rPr>
              <a:t>       7  8  9}</a:t>
            </a:r>
          </a:p>
          <a:p>
            <a:r>
              <a:rPr lang="en-US" sz="1800" b="1" dirty="0">
                <a:latin typeface="Times New Roman" panose="02020603050405020304" pitchFamily="18" charset="0"/>
                <a:cs typeface="Times New Roman" panose="02020603050405020304" pitchFamily="18" charset="0"/>
              </a:rPr>
              <a:t>Points:</a:t>
            </a:r>
            <a:endParaRPr lang="en-US" sz="1800"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Regular format in most math problems.</a:t>
            </a:r>
          </a:p>
          <a:p>
            <a:pPr>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Requires full memory for all elements.</a:t>
            </a:r>
          </a:p>
          <a:p>
            <a:endParaRPr lang="en-US"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8719302"/>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a:spLocks/>
          </p:cNvSpPr>
          <p:nvPr/>
        </p:nvSpPr>
        <p:spPr>
          <a:xfrm>
            <a:off x="1300506" y="0"/>
            <a:ext cx="7810500" cy="685799"/>
          </a:xfrm>
          <a:prstGeom prst="rect">
            <a:avLst/>
          </a:prstGeom>
          <a:solidFill>
            <a:schemeClr val="accent2"/>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r>
              <a:rPr lang="en-US" sz="2400" b="1" dirty="0"/>
              <a:t>Software Design</a:t>
            </a:r>
          </a:p>
        </p:txBody>
      </p:sp>
      <p:sp>
        <p:nvSpPr>
          <p:cNvPr id="2" name="Date Placeholder 1"/>
          <p:cNvSpPr>
            <a:spLocks noGrp="1"/>
          </p:cNvSpPr>
          <p:nvPr>
            <p:ph type="dt" sz="half" idx="10"/>
          </p:nvPr>
        </p:nvSpPr>
        <p:spPr/>
        <p:txBody>
          <a:bodyPr/>
          <a:lstStyle/>
          <a:p>
            <a:fld id="{D5B70567-2374-4565-BAE7-4E02A4BB1453}" type="datetime1">
              <a:rPr lang="en-IN" smtClean="0"/>
              <a:t>21-07-2025</a:t>
            </a:fld>
            <a:endParaRPr lang="en-US"/>
          </a:p>
        </p:txBody>
      </p:sp>
      <p:sp>
        <p:nvSpPr>
          <p:cNvPr id="6" name="Footer Placeholder 5"/>
          <p:cNvSpPr>
            <a:spLocks noGrp="1"/>
          </p:cNvSpPr>
          <p:nvPr>
            <p:ph type="ftr" sz="quarter" idx="11"/>
          </p:nvPr>
        </p:nvSpPr>
        <p:spPr>
          <a:xfrm>
            <a:off x="2209800" y="6356350"/>
            <a:ext cx="5029200" cy="365125"/>
          </a:xfrm>
        </p:spPr>
        <p:txBody>
          <a:bodyPr/>
          <a:lstStyle/>
          <a:p>
            <a:r>
              <a:rPr lang="en-US"/>
              <a:t>Ms. Purnima Pal      High Performance Computing             Unit III     </a:t>
            </a:r>
            <a:endParaRPr lang="en-US" dirty="0"/>
          </a:p>
        </p:txBody>
      </p:sp>
      <p:sp>
        <p:nvSpPr>
          <p:cNvPr id="7" name="Slide Number Placeholder 6"/>
          <p:cNvSpPr>
            <a:spLocks noGrp="1"/>
          </p:cNvSpPr>
          <p:nvPr>
            <p:ph type="sldNum" sz="quarter" idx="12"/>
          </p:nvPr>
        </p:nvSpPr>
        <p:spPr/>
        <p:txBody>
          <a:bodyPr/>
          <a:lstStyle/>
          <a:p>
            <a:fld id="{AE566132-A42B-4D26-9C08-B059D352BBB6}" type="slidenum">
              <a:rPr lang="en-US" smtClean="0"/>
              <a:pPr/>
              <a:t>75</a:t>
            </a:fld>
            <a:endParaRPr lang="en-US"/>
          </a:p>
        </p:txBody>
      </p:sp>
      <p:sp>
        <p:nvSpPr>
          <p:cNvPr id="5" name="Title 1">
            <a:extLst>
              <a:ext uri="{FF2B5EF4-FFF2-40B4-BE49-F238E27FC236}">
                <a16:creationId xmlns:a16="http://schemas.microsoft.com/office/drawing/2014/main" id="{74C97CF1-3A45-326E-4C1F-9015608E62E8}"/>
              </a:ext>
            </a:extLst>
          </p:cNvPr>
          <p:cNvSpPr txBox="1">
            <a:spLocks/>
          </p:cNvSpPr>
          <p:nvPr/>
        </p:nvSpPr>
        <p:spPr>
          <a:xfrm>
            <a:off x="1259088" y="0"/>
            <a:ext cx="7876271"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r>
              <a:rPr lang="en-US" sz="3200" b="1" dirty="0"/>
              <a:t>What is a Sparse Matrix?</a:t>
            </a:r>
          </a:p>
        </p:txBody>
      </p:sp>
      <p:sp>
        <p:nvSpPr>
          <p:cNvPr id="9" name="Content Placeholder 8">
            <a:extLst>
              <a:ext uri="{FF2B5EF4-FFF2-40B4-BE49-F238E27FC236}">
                <a16:creationId xmlns:a16="http://schemas.microsoft.com/office/drawing/2014/main" id="{D6AFE47B-73F8-D123-148D-DFDD304BF0C9}"/>
              </a:ext>
            </a:extLst>
          </p:cNvPr>
          <p:cNvSpPr>
            <a:spLocks noGrp="1"/>
          </p:cNvSpPr>
          <p:nvPr>
            <p:ph idx="1"/>
          </p:nvPr>
        </p:nvSpPr>
        <p:spPr/>
        <p:txBody>
          <a:bodyPr>
            <a:normAutofit/>
          </a:bodyPr>
          <a:lstStyle/>
          <a:p>
            <a:r>
              <a:rPr lang="en-US" sz="1600" dirty="0"/>
              <a:t>A matrix in which </a:t>
            </a:r>
            <a:r>
              <a:rPr lang="en-US" sz="1600" b="1" dirty="0"/>
              <a:t>most elements are zero</a:t>
            </a:r>
            <a:r>
              <a:rPr lang="en-US" sz="1600" dirty="0"/>
              <a:t>.</a:t>
            </a:r>
          </a:p>
          <a:p>
            <a:r>
              <a:rPr lang="en-US" sz="1600" b="1" dirty="0"/>
              <a:t>Example:</a:t>
            </a:r>
          </a:p>
          <a:p>
            <a:r>
              <a:rPr lang="en-US" sz="1600" dirty="0"/>
              <a:t>  {0  0  3</a:t>
            </a:r>
          </a:p>
          <a:p>
            <a:pPr marL="0" indent="0">
              <a:buNone/>
            </a:pPr>
            <a:r>
              <a:rPr lang="en-US" sz="1600" dirty="0"/>
              <a:t>       0  0  0</a:t>
            </a:r>
          </a:p>
          <a:p>
            <a:pPr marL="0" indent="0">
              <a:buNone/>
            </a:pPr>
            <a:r>
              <a:rPr lang="en-US" sz="1600" dirty="0"/>
              <a:t>       0  7  0}</a:t>
            </a:r>
          </a:p>
          <a:p>
            <a:r>
              <a:rPr lang="en-US" sz="1600" b="1" dirty="0"/>
              <a:t>Points:</a:t>
            </a:r>
          </a:p>
          <a:p>
            <a:r>
              <a:rPr lang="en-US" sz="1600" dirty="0"/>
              <a:t>Common in scientific computing and ML.</a:t>
            </a:r>
          </a:p>
          <a:p>
            <a:r>
              <a:rPr lang="en-US" sz="1600" dirty="0"/>
              <a:t>Stored using special formats to save space.</a:t>
            </a:r>
          </a:p>
        </p:txBody>
      </p:sp>
    </p:spTree>
    <p:extLst>
      <p:ext uri="{BB962C8B-B14F-4D97-AF65-F5344CB8AC3E}">
        <p14:creationId xmlns:p14="http://schemas.microsoft.com/office/powerpoint/2010/main" val="2460946714"/>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a:spLocks/>
          </p:cNvSpPr>
          <p:nvPr/>
        </p:nvSpPr>
        <p:spPr>
          <a:xfrm>
            <a:off x="1300506" y="0"/>
            <a:ext cx="7810500" cy="685799"/>
          </a:xfrm>
          <a:prstGeom prst="rect">
            <a:avLst/>
          </a:prstGeom>
          <a:solidFill>
            <a:schemeClr val="accent2"/>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r>
              <a:rPr lang="en-US" sz="2400" b="1" dirty="0"/>
              <a:t>Software Design</a:t>
            </a:r>
          </a:p>
        </p:txBody>
      </p:sp>
      <p:sp>
        <p:nvSpPr>
          <p:cNvPr id="2" name="Date Placeholder 1"/>
          <p:cNvSpPr>
            <a:spLocks noGrp="1"/>
          </p:cNvSpPr>
          <p:nvPr>
            <p:ph type="dt" sz="half" idx="10"/>
          </p:nvPr>
        </p:nvSpPr>
        <p:spPr/>
        <p:txBody>
          <a:bodyPr/>
          <a:lstStyle/>
          <a:p>
            <a:fld id="{A3D5A9C5-C315-4B12-8EF4-8E1EEE91FB31}" type="datetime1">
              <a:rPr lang="en-IN" smtClean="0"/>
              <a:t>21-07-2025</a:t>
            </a:fld>
            <a:endParaRPr lang="en-US"/>
          </a:p>
        </p:txBody>
      </p:sp>
      <p:sp>
        <p:nvSpPr>
          <p:cNvPr id="6" name="Footer Placeholder 5"/>
          <p:cNvSpPr>
            <a:spLocks noGrp="1"/>
          </p:cNvSpPr>
          <p:nvPr>
            <p:ph type="ftr" sz="quarter" idx="11"/>
          </p:nvPr>
        </p:nvSpPr>
        <p:spPr>
          <a:xfrm>
            <a:off x="2209800" y="6356350"/>
            <a:ext cx="5029200" cy="365125"/>
          </a:xfrm>
        </p:spPr>
        <p:txBody>
          <a:bodyPr/>
          <a:lstStyle/>
          <a:p>
            <a:r>
              <a:rPr lang="en-US"/>
              <a:t>Ms. Purnima Pal      High Performance Computing             Unit III     </a:t>
            </a:r>
            <a:endParaRPr lang="en-US" dirty="0"/>
          </a:p>
        </p:txBody>
      </p:sp>
      <p:sp>
        <p:nvSpPr>
          <p:cNvPr id="7" name="Slide Number Placeholder 6"/>
          <p:cNvSpPr>
            <a:spLocks noGrp="1"/>
          </p:cNvSpPr>
          <p:nvPr>
            <p:ph type="sldNum" sz="quarter" idx="12"/>
          </p:nvPr>
        </p:nvSpPr>
        <p:spPr/>
        <p:txBody>
          <a:bodyPr/>
          <a:lstStyle/>
          <a:p>
            <a:fld id="{AE566132-A42B-4D26-9C08-B059D352BBB6}" type="slidenum">
              <a:rPr lang="en-US" smtClean="0"/>
              <a:pPr/>
              <a:t>76</a:t>
            </a:fld>
            <a:endParaRPr lang="en-US"/>
          </a:p>
        </p:txBody>
      </p:sp>
      <p:sp>
        <p:nvSpPr>
          <p:cNvPr id="5" name="Title 1">
            <a:extLst>
              <a:ext uri="{FF2B5EF4-FFF2-40B4-BE49-F238E27FC236}">
                <a16:creationId xmlns:a16="http://schemas.microsoft.com/office/drawing/2014/main" id="{74C97CF1-3A45-326E-4C1F-9015608E62E8}"/>
              </a:ext>
            </a:extLst>
          </p:cNvPr>
          <p:cNvSpPr txBox="1">
            <a:spLocks/>
          </p:cNvSpPr>
          <p:nvPr/>
        </p:nvSpPr>
        <p:spPr>
          <a:xfrm>
            <a:off x="1259088" y="0"/>
            <a:ext cx="7876271"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r>
              <a:rPr lang="en-US" sz="3200" b="1" dirty="0"/>
              <a:t>Key Differences (Tabular Comparison)</a:t>
            </a:r>
          </a:p>
        </p:txBody>
      </p:sp>
      <p:graphicFrame>
        <p:nvGraphicFramePr>
          <p:cNvPr id="3" name="Content Placeholder 2">
            <a:extLst>
              <a:ext uri="{FF2B5EF4-FFF2-40B4-BE49-F238E27FC236}">
                <a16:creationId xmlns:a16="http://schemas.microsoft.com/office/drawing/2014/main" id="{ADE7B8E4-7F59-930A-53FA-1F2E61ABB3D2}"/>
              </a:ext>
            </a:extLst>
          </p:cNvPr>
          <p:cNvGraphicFramePr>
            <a:graphicFrameLocks noGrp="1"/>
          </p:cNvGraphicFramePr>
          <p:nvPr>
            <p:ph idx="1"/>
            <p:extLst>
              <p:ext uri="{D42A27DB-BD31-4B8C-83A1-F6EECF244321}">
                <p14:modId xmlns:p14="http://schemas.microsoft.com/office/powerpoint/2010/main" val="559143571"/>
              </p:ext>
            </p:extLst>
          </p:nvPr>
        </p:nvGraphicFramePr>
        <p:xfrm>
          <a:off x="457200" y="1295400"/>
          <a:ext cx="8229600" cy="4191000"/>
        </p:xfrm>
        <a:graphic>
          <a:graphicData uri="http://schemas.openxmlformats.org/drawingml/2006/table">
            <a:tbl>
              <a:tblPr/>
              <a:tblGrid>
                <a:gridCol w="2743200">
                  <a:extLst>
                    <a:ext uri="{9D8B030D-6E8A-4147-A177-3AD203B41FA5}">
                      <a16:colId xmlns:a16="http://schemas.microsoft.com/office/drawing/2014/main" val="846350123"/>
                    </a:ext>
                  </a:extLst>
                </a:gridCol>
                <a:gridCol w="2743200">
                  <a:extLst>
                    <a:ext uri="{9D8B030D-6E8A-4147-A177-3AD203B41FA5}">
                      <a16:colId xmlns:a16="http://schemas.microsoft.com/office/drawing/2014/main" val="1878509802"/>
                    </a:ext>
                  </a:extLst>
                </a:gridCol>
                <a:gridCol w="2743200">
                  <a:extLst>
                    <a:ext uri="{9D8B030D-6E8A-4147-A177-3AD203B41FA5}">
                      <a16:colId xmlns:a16="http://schemas.microsoft.com/office/drawing/2014/main" val="1266099522"/>
                    </a:ext>
                  </a:extLst>
                </a:gridCol>
              </a:tblGrid>
              <a:tr h="698500">
                <a:tc>
                  <a:txBody>
                    <a:bodyPr/>
                    <a:lstStyle/>
                    <a:p>
                      <a:r>
                        <a:rPr lang="en-US"/>
                        <a:t>Feature</a:t>
                      </a:r>
                    </a:p>
                  </a:txBody>
                  <a:tcPr anchor="ctr">
                    <a:lnL>
                      <a:noFill/>
                    </a:lnL>
                    <a:lnR>
                      <a:noFill/>
                    </a:lnR>
                    <a:lnT>
                      <a:noFill/>
                    </a:lnT>
                    <a:lnB>
                      <a:noFill/>
                    </a:lnB>
                  </a:tcPr>
                </a:tc>
                <a:tc>
                  <a:txBody>
                    <a:bodyPr/>
                    <a:lstStyle/>
                    <a:p>
                      <a:r>
                        <a:rPr lang="en-US"/>
                        <a:t>Sparse Matrix</a:t>
                      </a:r>
                    </a:p>
                  </a:txBody>
                  <a:tcPr anchor="ctr">
                    <a:lnL>
                      <a:noFill/>
                    </a:lnL>
                    <a:lnR>
                      <a:noFill/>
                    </a:lnR>
                    <a:lnT>
                      <a:noFill/>
                    </a:lnT>
                    <a:lnB>
                      <a:noFill/>
                    </a:lnB>
                  </a:tcPr>
                </a:tc>
                <a:tc>
                  <a:txBody>
                    <a:bodyPr/>
                    <a:lstStyle/>
                    <a:p>
                      <a:r>
                        <a:rPr lang="en-US"/>
                        <a:t>Dense Matrix</a:t>
                      </a:r>
                    </a:p>
                  </a:txBody>
                  <a:tcPr anchor="ctr">
                    <a:lnL>
                      <a:noFill/>
                    </a:lnL>
                    <a:lnR>
                      <a:noFill/>
                    </a:lnR>
                    <a:lnT>
                      <a:noFill/>
                    </a:lnT>
                    <a:lnB>
                      <a:noFill/>
                    </a:lnB>
                  </a:tcPr>
                </a:tc>
                <a:extLst>
                  <a:ext uri="{0D108BD9-81ED-4DB2-BD59-A6C34878D82A}">
                    <a16:rowId xmlns:a16="http://schemas.microsoft.com/office/drawing/2014/main" val="109432604"/>
                  </a:ext>
                </a:extLst>
              </a:tr>
              <a:tr h="698500">
                <a:tc>
                  <a:txBody>
                    <a:bodyPr/>
                    <a:lstStyle/>
                    <a:p>
                      <a:r>
                        <a:rPr lang="en-US" b="1" dirty="0"/>
                        <a:t>Zero Elements</a:t>
                      </a:r>
                      <a:endParaRPr lang="en-US" dirty="0"/>
                    </a:p>
                  </a:txBody>
                  <a:tcPr anchor="ctr">
                    <a:lnL>
                      <a:noFill/>
                    </a:lnL>
                    <a:lnR>
                      <a:noFill/>
                    </a:lnR>
                    <a:lnT>
                      <a:noFill/>
                    </a:lnT>
                    <a:lnB>
                      <a:noFill/>
                    </a:lnB>
                  </a:tcPr>
                </a:tc>
                <a:tc>
                  <a:txBody>
                    <a:bodyPr/>
                    <a:lstStyle/>
                    <a:p>
                      <a:r>
                        <a:rPr lang="en-US"/>
                        <a:t>Majority</a:t>
                      </a:r>
                    </a:p>
                  </a:txBody>
                  <a:tcPr anchor="ctr">
                    <a:lnL>
                      <a:noFill/>
                    </a:lnL>
                    <a:lnR>
                      <a:noFill/>
                    </a:lnR>
                    <a:lnT>
                      <a:noFill/>
                    </a:lnT>
                    <a:lnB>
                      <a:noFill/>
                    </a:lnB>
                  </a:tcPr>
                </a:tc>
                <a:tc>
                  <a:txBody>
                    <a:bodyPr/>
                    <a:lstStyle/>
                    <a:p>
                      <a:r>
                        <a:rPr lang="en-US"/>
                        <a:t>Few</a:t>
                      </a:r>
                    </a:p>
                  </a:txBody>
                  <a:tcPr anchor="ctr">
                    <a:lnL>
                      <a:noFill/>
                    </a:lnL>
                    <a:lnR>
                      <a:noFill/>
                    </a:lnR>
                    <a:lnT>
                      <a:noFill/>
                    </a:lnT>
                    <a:lnB>
                      <a:noFill/>
                    </a:lnB>
                  </a:tcPr>
                </a:tc>
                <a:extLst>
                  <a:ext uri="{0D108BD9-81ED-4DB2-BD59-A6C34878D82A}">
                    <a16:rowId xmlns:a16="http://schemas.microsoft.com/office/drawing/2014/main" val="3673412504"/>
                  </a:ext>
                </a:extLst>
              </a:tr>
              <a:tr h="698500">
                <a:tc>
                  <a:txBody>
                    <a:bodyPr/>
                    <a:lstStyle/>
                    <a:p>
                      <a:r>
                        <a:rPr lang="en-US" b="1"/>
                        <a:t>Storage</a:t>
                      </a:r>
                      <a:endParaRPr lang="en-US"/>
                    </a:p>
                  </a:txBody>
                  <a:tcPr anchor="ctr">
                    <a:lnL>
                      <a:noFill/>
                    </a:lnL>
                    <a:lnR>
                      <a:noFill/>
                    </a:lnR>
                    <a:lnT>
                      <a:noFill/>
                    </a:lnT>
                    <a:lnB>
                      <a:noFill/>
                    </a:lnB>
                  </a:tcPr>
                </a:tc>
                <a:tc>
                  <a:txBody>
                    <a:bodyPr/>
                    <a:lstStyle/>
                    <a:p>
                      <a:r>
                        <a:rPr lang="en-US"/>
                        <a:t>Compressed formats</a:t>
                      </a:r>
                    </a:p>
                  </a:txBody>
                  <a:tcPr anchor="ctr">
                    <a:lnL>
                      <a:noFill/>
                    </a:lnL>
                    <a:lnR>
                      <a:noFill/>
                    </a:lnR>
                    <a:lnT>
                      <a:noFill/>
                    </a:lnT>
                    <a:lnB>
                      <a:noFill/>
                    </a:lnB>
                  </a:tcPr>
                </a:tc>
                <a:tc>
                  <a:txBody>
                    <a:bodyPr/>
                    <a:lstStyle/>
                    <a:p>
                      <a:r>
                        <a:rPr lang="en-US"/>
                        <a:t>Standard 2D arrays</a:t>
                      </a:r>
                    </a:p>
                  </a:txBody>
                  <a:tcPr anchor="ctr">
                    <a:lnL>
                      <a:noFill/>
                    </a:lnL>
                    <a:lnR>
                      <a:noFill/>
                    </a:lnR>
                    <a:lnT>
                      <a:noFill/>
                    </a:lnT>
                    <a:lnB>
                      <a:noFill/>
                    </a:lnB>
                  </a:tcPr>
                </a:tc>
                <a:extLst>
                  <a:ext uri="{0D108BD9-81ED-4DB2-BD59-A6C34878D82A}">
                    <a16:rowId xmlns:a16="http://schemas.microsoft.com/office/drawing/2014/main" val="1798433515"/>
                  </a:ext>
                </a:extLst>
              </a:tr>
              <a:tr h="698500">
                <a:tc>
                  <a:txBody>
                    <a:bodyPr/>
                    <a:lstStyle/>
                    <a:p>
                      <a:r>
                        <a:rPr lang="en-US" b="1"/>
                        <a:t>Memory Use</a:t>
                      </a:r>
                      <a:endParaRPr lang="en-US"/>
                    </a:p>
                  </a:txBody>
                  <a:tcPr anchor="ctr">
                    <a:lnL>
                      <a:noFill/>
                    </a:lnL>
                    <a:lnR>
                      <a:noFill/>
                    </a:lnR>
                    <a:lnT>
                      <a:noFill/>
                    </a:lnT>
                    <a:lnB>
                      <a:noFill/>
                    </a:lnB>
                  </a:tcPr>
                </a:tc>
                <a:tc>
                  <a:txBody>
                    <a:bodyPr/>
                    <a:lstStyle/>
                    <a:p>
                      <a:r>
                        <a:rPr lang="en-US" dirty="0"/>
                        <a:t>Efficient</a:t>
                      </a:r>
                    </a:p>
                  </a:txBody>
                  <a:tcPr anchor="ctr">
                    <a:lnL>
                      <a:noFill/>
                    </a:lnL>
                    <a:lnR>
                      <a:noFill/>
                    </a:lnR>
                    <a:lnT>
                      <a:noFill/>
                    </a:lnT>
                    <a:lnB>
                      <a:noFill/>
                    </a:lnB>
                  </a:tcPr>
                </a:tc>
                <a:tc>
                  <a:txBody>
                    <a:bodyPr/>
                    <a:lstStyle/>
                    <a:p>
                      <a:r>
                        <a:rPr lang="en-US"/>
                        <a:t>High</a:t>
                      </a:r>
                    </a:p>
                  </a:txBody>
                  <a:tcPr anchor="ctr">
                    <a:lnL>
                      <a:noFill/>
                    </a:lnL>
                    <a:lnR>
                      <a:noFill/>
                    </a:lnR>
                    <a:lnT>
                      <a:noFill/>
                    </a:lnT>
                    <a:lnB>
                      <a:noFill/>
                    </a:lnB>
                  </a:tcPr>
                </a:tc>
                <a:extLst>
                  <a:ext uri="{0D108BD9-81ED-4DB2-BD59-A6C34878D82A}">
                    <a16:rowId xmlns:a16="http://schemas.microsoft.com/office/drawing/2014/main" val="3245464579"/>
                  </a:ext>
                </a:extLst>
              </a:tr>
              <a:tr h="698500">
                <a:tc>
                  <a:txBody>
                    <a:bodyPr/>
                    <a:lstStyle/>
                    <a:p>
                      <a:r>
                        <a:rPr lang="en-US" b="1"/>
                        <a:t>Computation</a:t>
                      </a:r>
                      <a:endParaRPr lang="en-US"/>
                    </a:p>
                  </a:txBody>
                  <a:tcPr anchor="ctr">
                    <a:lnL>
                      <a:noFill/>
                    </a:lnL>
                    <a:lnR>
                      <a:noFill/>
                    </a:lnR>
                    <a:lnT>
                      <a:noFill/>
                    </a:lnT>
                    <a:lnB>
                      <a:noFill/>
                    </a:lnB>
                  </a:tcPr>
                </a:tc>
                <a:tc>
                  <a:txBody>
                    <a:bodyPr/>
                    <a:lstStyle/>
                    <a:p>
                      <a:r>
                        <a:rPr lang="en-US"/>
                        <a:t>Optimized techniques</a:t>
                      </a:r>
                    </a:p>
                  </a:txBody>
                  <a:tcPr anchor="ctr">
                    <a:lnL>
                      <a:noFill/>
                    </a:lnL>
                    <a:lnR>
                      <a:noFill/>
                    </a:lnR>
                    <a:lnT>
                      <a:noFill/>
                    </a:lnT>
                    <a:lnB>
                      <a:noFill/>
                    </a:lnB>
                  </a:tcPr>
                </a:tc>
                <a:tc>
                  <a:txBody>
                    <a:bodyPr/>
                    <a:lstStyle/>
                    <a:p>
                      <a:r>
                        <a:rPr lang="en-US"/>
                        <a:t>Standard computation</a:t>
                      </a:r>
                    </a:p>
                  </a:txBody>
                  <a:tcPr anchor="ctr">
                    <a:lnL>
                      <a:noFill/>
                    </a:lnL>
                    <a:lnR>
                      <a:noFill/>
                    </a:lnR>
                    <a:lnT>
                      <a:noFill/>
                    </a:lnT>
                    <a:lnB>
                      <a:noFill/>
                    </a:lnB>
                  </a:tcPr>
                </a:tc>
                <a:extLst>
                  <a:ext uri="{0D108BD9-81ED-4DB2-BD59-A6C34878D82A}">
                    <a16:rowId xmlns:a16="http://schemas.microsoft.com/office/drawing/2014/main" val="1014177926"/>
                  </a:ext>
                </a:extLst>
              </a:tr>
              <a:tr h="698500">
                <a:tc>
                  <a:txBody>
                    <a:bodyPr/>
                    <a:lstStyle/>
                    <a:p>
                      <a:r>
                        <a:rPr lang="en-US" b="1"/>
                        <a:t>Applications</a:t>
                      </a:r>
                      <a:endParaRPr lang="en-US"/>
                    </a:p>
                  </a:txBody>
                  <a:tcPr anchor="ctr">
                    <a:lnL>
                      <a:noFill/>
                    </a:lnL>
                    <a:lnR>
                      <a:noFill/>
                    </a:lnR>
                    <a:lnT>
                      <a:noFill/>
                    </a:lnT>
                    <a:lnB>
                      <a:noFill/>
                    </a:lnB>
                  </a:tcPr>
                </a:tc>
                <a:tc>
                  <a:txBody>
                    <a:bodyPr/>
                    <a:lstStyle/>
                    <a:p>
                      <a:r>
                        <a:rPr lang="en-US"/>
                        <a:t>ML, Graphs, PDEs</a:t>
                      </a:r>
                    </a:p>
                  </a:txBody>
                  <a:tcPr anchor="ctr">
                    <a:lnL>
                      <a:noFill/>
                    </a:lnL>
                    <a:lnR>
                      <a:noFill/>
                    </a:lnR>
                    <a:lnT>
                      <a:noFill/>
                    </a:lnT>
                    <a:lnB>
                      <a:noFill/>
                    </a:lnB>
                  </a:tcPr>
                </a:tc>
                <a:tc>
                  <a:txBody>
                    <a:bodyPr/>
                    <a:lstStyle/>
                    <a:p>
                      <a:r>
                        <a:rPr lang="en-US" dirty="0"/>
                        <a:t>General matrix ops</a:t>
                      </a:r>
                    </a:p>
                  </a:txBody>
                  <a:tcPr anchor="ctr">
                    <a:lnL>
                      <a:noFill/>
                    </a:lnL>
                    <a:lnR>
                      <a:noFill/>
                    </a:lnR>
                    <a:lnT>
                      <a:noFill/>
                    </a:lnT>
                    <a:lnB>
                      <a:noFill/>
                    </a:lnB>
                  </a:tcPr>
                </a:tc>
                <a:extLst>
                  <a:ext uri="{0D108BD9-81ED-4DB2-BD59-A6C34878D82A}">
                    <a16:rowId xmlns:a16="http://schemas.microsoft.com/office/drawing/2014/main" val="3460549356"/>
                  </a:ext>
                </a:extLst>
              </a:tr>
            </a:tbl>
          </a:graphicData>
        </a:graphic>
      </p:graphicFrame>
    </p:spTree>
    <p:extLst>
      <p:ext uri="{BB962C8B-B14F-4D97-AF65-F5344CB8AC3E}">
        <p14:creationId xmlns:p14="http://schemas.microsoft.com/office/powerpoint/2010/main" val="2402300938"/>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a:spLocks/>
          </p:cNvSpPr>
          <p:nvPr/>
        </p:nvSpPr>
        <p:spPr>
          <a:xfrm>
            <a:off x="1300506" y="0"/>
            <a:ext cx="7810500" cy="685799"/>
          </a:xfrm>
          <a:prstGeom prst="rect">
            <a:avLst/>
          </a:prstGeom>
          <a:solidFill>
            <a:schemeClr val="accent2"/>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r>
              <a:rPr lang="en-US" sz="2400" b="1" dirty="0"/>
              <a:t>Software Design</a:t>
            </a:r>
          </a:p>
        </p:txBody>
      </p:sp>
      <p:sp>
        <p:nvSpPr>
          <p:cNvPr id="2" name="Date Placeholder 1"/>
          <p:cNvSpPr>
            <a:spLocks noGrp="1"/>
          </p:cNvSpPr>
          <p:nvPr>
            <p:ph type="dt" sz="half" idx="10"/>
          </p:nvPr>
        </p:nvSpPr>
        <p:spPr/>
        <p:txBody>
          <a:bodyPr/>
          <a:lstStyle/>
          <a:p>
            <a:fld id="{2F0AF3EA-AC2D-4581-8FBA-0A3B65CA62C4}" type="datetime1">
              <a:rPr lang="en-IN" smtClean="0"/>
              <a:t>21-07-2025</a:t>
            </a:fld>
            <a:endParaRPr lang="en-US"/>
          </a:p>
        </p:txBody>
      </p:sp>
      <p:sp>
        <p:nvSpPr>
          <p:cNvPr id="6" name="Footer Placeholder 5"/>
          <p:cNvSpPr>
            <a:spLocks noGrp="1"/>
          </p:cNvSpPr>
          <p:nvPr>
            <p:ph type="ftr" sz="quarter" idx="11"/>
          </p:nvPr>
        </p:nvSpPr>
        <p:spPr>
          <a:xfrm>
            <a:off x="2209800" y="6356350"/>
            <a:ext cx="5029200" cy="365125"/>
          </a:xfrm>
        </p:spPr>
        <p:txBody>
          <a:bodyPr/>
          <a:lstStyle/>
          <a:p>
            <a:r>
              <a:rPr lang="en-US"/>
              <a:t>Ms. Purnima Pal      High Performance Computing             Unit III     </a:t>
            </a:r>
            <a:endParaRPr lang="en-US" dirty="0"/>
          </a:p>
        </p:txBody>
      </p:sp>
      <p:sp>
        <p:nvSpPr>
          <p:cNvPr id="7" name="Slide Number Placeholder 6"/>
          <p:cNvSpPr>
            <a:spLocks noGrp="1"/>
          </p:cNvSpPr>
          <p:nvPr>
            <p:ph type="sldNum" sz="quarter" idx="12"/>
          </p:nvPr>
        </p:nvSpPr>
        <p:spPr/>
        <p:txBody>
          <a:bodyPr/>
          <a:lstStyle/>
          <a:p>
            <a:fld id="{AE566132-A42B-4D26-9C08-B059D352BBB6}" type="slidenum">
              <a:rPr lang="en-US" smtClean="0"/>
              <a:pPr/>
              <a:t>77</a:t>
            </a:fld>
            <a:endParaRPr lang="en-US"/>
          </a:p>
        </p:txBody>
      </p:sp>
      <p:sp>
        <p:nvSpPr>
          <p:cNvPr id="5" name="Title 1">
            <a:extLst>
              <a:ext uri="{FF2B5EF4-FFF2-40B4-BE49-F238E27FC236}">
                <a16:creationId xmlns:a16="http://schemas.microsoft.com/office/drawing/2014/main" id="{74C97CF1-3A45-326E-4C1F-9015608E62E8}"/>
              </a:ext>
            </a:extLst>
          </p:cNvPr>
          <p:cNvSpPr txBox="1">
            <a:spLocks/>
          </p:cNvSpPr>
          <p:nvPr/>
        </p:nvSpPr>
        <p:spPr>
          <a:xfrm>
            <a:off x="1259088" y="0"/>
            <a:ext cx="7876271"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r>
              <a:rPr lang="en-US" sz="3200" b="1" dirty="0"/>
              <a:t>Insert Your Diagram</a:t>
            </a:r>
          </a:p>
        </p:txBody>
      </p:sp>
      <p:sp>
        <p:nvSpPr>
          <p:cNvPr id="9" name="Content Placeholder 8">
            <a:extLst>
              <a:ext uri="{FF2B5EF4-FFF2-40B4-BE49-F238E27FC236}">
                <a16:creationId xmlns:a16="http://schemas.microsoft.com/office/drawing/2014/main" id="{D6AFE47B-73F8-D123-148D-DFDD304BF0C9}"/>
              </a:ext>
            </a:extLst>
          </p:cNvPr>
          <p:cNvSpPr>
            <a:spLocks noGrp="1"/>
          </p:cNvSpPr>
          <p:nvPr>
            <p:ph idx="1"/>
          </p:nvPr>
        </p:nvSpPr>
        <p:spPr/>
        <p:txBody>
          <a:bodyPr>
            <a:normAutofit/>
          </a:bodyPr>
          <a:lstStyle/>
          <a:p>
            <a:pPr>
              <a:buFont typeface="Arial" panose="020B0604020202020204" pitchFamily="34" charset="0"/>
              <a:buChar char="•"/>
            </a:pPr>
            <a:r>
              <a:rPr lang="en-US" sz="1600" dirty="0"/>
              <a:t>Use the uploaded image to visually explain the difference.</a:t>
            </a:r>
          </a:p>
          <a:p>
            <a:pPr>
              <a:buFont typeface="Arial" panose="020B0604020202020204" pitchFamily="34" charset="0"/>
              <a:buChar char="•"/>
            </a:pPr>
            <a:r>
              <a:rPr lang="en-US" sz="1600" dirty="0"/>
              <a:t>Mention what each part of the image shows (e.g., non-zero pattern).</a:t>
            </a:r>
          </a:p>
          <a:p>
            <a:pPr>
              <a:buFont typeface="Arial" panose="020B0604020202020204" pitchFamily="34" charset="0"/>
              <a:buChar char="•"/>
            </a:pPr>
            <a:r>
              <a:rPr lang="en-US" sz="1600" dirty="0"/>
              <a:t>Add annotations if needed.</a:t>
            </a:r>
          </a:p>
          <a:p>
            <a:r>
              <a:rPr lang="en-US" sz="1600" b="1" dirty="0"/>
              <a:t>Title:</a:t>
            </a:r>
            <a:r>
              <a:rPr lang="en-US" sz="1600" dirty="0"/>
              <a:t> Visual Representation: Sparse vs Dense</a:t>
            </a:r>
          </a:p>
        </p:txBody>
      </p:sp>
    </p:spTree>
    <p:extLst>
      <p:ext uri="{BB962C8B-B14F-4D97-AF65-F5344CB8AC3E}">
        <p14:creationId xmlns:p14="http://schemas.microsoft.com/office/powerpoint/2010/main" val="3503294610"/>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a:spLocks/>
          </p:cNvSpPr>
          <p:nvPr/>
        </p:nvSpPr>
        <p:spPr>
          <a:xfrm>
            <a:off x="1300506" y="0"/>
            <a:ext cx="7810500" cy="685799"/>
          </a:xfrm>
          <a:prstGeom prst="rect">
            <a:avLst/>
          </a:prstGeom>
          <a:solidFill>
            <a:schemeClr val="accent2"/>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r>
              <a:rPr lang="en-US" sz="2400" b="1" dirty="0"/>
              <a:t>Software Design</a:t>
            </a:r>
          </a:p>
        </p:txBody>
      </p:sp>
      <p:sp>
        <p:nvSpPr>
          <p:cNvPr id="2" name="Date Placeholder 1"/>
          <p:cNvSpPr>
            <a:spLocks noGrp="1"/>
          </p:cNvSpPr>
          <p:nvPr>
            <p:ph type="dt" sz="half" idx="10"/>
          </p:nvPr>
        </p:nvSpPr>
        <p:spPr/>
        <p:txBody>
          <a:bodyPr/>
          <a:lstStyle/>
          <a:p>
            <a:fld id="{60BCF83C-F505-4953-8E54-D67147906338}" type="datetime1">
              <a:rPr lang="en-IN" smtClean="0"/>
              <a:t>21-07-2025</a:t>
            </a:fld>
            <a:endParaRPr lang="en-US"/>
          </a:p>
        </p:txBody>
      </p:sp>
      <p:sp>
        <p:nvSpPr>
          <p:cNvPr id="6" name="Footer Placeholder 5"/>
          <p:cNvSpPr>
            <a:spLocks noGrp="1"/>
          </p:cNvSpPr>
          <p:nvPr>
            <p:ph type="ftr" sz="quarter" idx="11"/>
          </p:nvPr>
        </p:nvSpPr>
        <p:spPr>
          <a:xfrm>
            <a:off x="2209800" y="6356350"/>
            <a:ext cx="5029200" cy="365125"/>
          </a:xfrm>
        </p:spPr>
        <p:txBody>
          <a:bodyPr/>
          <a:lstStyle/>
          <a:p>
            <a:r>
              <a:rPr lang="en-US"/>
              <a:t>Ms. Purnima Pal      High Performance Computing             Unit III     </a:t>
            </a:r>
            <a:endParaRPr lang="en-US" dirty="0"/>
          </a:p>
        </p:txBody>
      </p:sp>
      <p:sp>
        <p:nvSpPr>
          <p:cNvPr id="7" name="Slide Number Placeholder 6"/>
          <p:cNvSpPr>
            <a:spLocks noGrp="1"/>
          </p:cNvSpPr>
          <p:nvPr>
            <p:ph type="sldNum" sz="quarter" idx="12"/>
          </p:nvPr>
        </p:nvSpPr>
        <p:spPr/>
        <p:txBody>
          <a:bodyPr/>
          <a:lstStyle/>
          <a:p>
            <a:fld id="{AE566132-A42B-4D26-9C08-B059D352BBB6}" type="slidenum">
              <a:rPr lang="en-US" smtClean="0"/>
              <a:pPr/>
              <a:t>78</a:t>
            </a:fld>
            <a:endParaRPr lang="en-US"/>
          </a:p>
        </p:txBody>
      </p:sp>
      <p:sp>
        <p:nvSpPr>
          <p:cNvPr id="5" name="Title 1">
            <a:extLst>
              <a:ext uri="{FF2B5EF4-FFF2-40B4-BE49-F238E27FC236}">
                <a16:creationId xmlns:a16="http://schemas.microsoft.com/office/drawing/2014/main" id="{74C97CF1-3A45-326E-4C1F-9015608E62E8}"/>
              </a:ext>
            </a:extLst>
          </p:cNvPr>
          <p:cNvSpPr txBox="1">
            <a:spLocks/>
          </p:cNvSpPr>
          <p:nvPr/>
        </p:nvSpPr>
        <p:spPr>
          <a:xfrm>
            <a:off x="1259088" y="0"/>
            <a:ext cx="7876271"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r>
              <a:rPr lang="en-US" sz="3200" b="1" dirty="0"/>
              <a:t>Storage Formats for Sparse Matrices</a:t>
            </a:r>
          </a:p>
        </p:txBody>
      </p:sp>
      <p:sp>
        <p:nvSpPr>
          <p:cNvPr id="9" name="Content Placeholder 8">
            <a:extLst>
              <a:ext uri="{FF2B5EF4-FFF2-40B4-BE49-F238E27FC236}">
                <a16:creationId xmlns:a16="http://schemas.microsoft.com/office/drawing/2014/main" id="{D6AFE47B-73F8-D123-148D-DFDD304BF0C9}"/>
              </a:ext>
            </a:extLst>
          </p:cNvPr>
          <p:cNvSpPr>
            <a:spLocks noGrp="1"/>
          </p:cNvSpPr>
          <p:nvPr>
            <p:ph idx="1"/>
          </p:nvPr>
        </p:nvSpPr>
        <p:spPr/>
        <p:txBody>
          <a:bodyPr>
            <a:normAutofit/>
          </a:bodyPr>
          <a:lstStyle/>
          <a:p>
            <a:pPr marL="0" indent="0">
              <a:buNone/>
            </a:pPr>
            <a:r>
              <a:rPr lang="en-US" sz="1400" b="1" dirty="0"/>
              <a:t>Common Formats:</a:t>
            </a:r>
            <a:endParaRPr lang="en-US" sz="1400" dirty="0"/>
          </a:p>
          <a:p>
            <a:pPr>
              <a:buFont typeface="Arial" panose="020B0604020202020204" pitchFamily="34" charset="0"/>
              <a:buChar char="•"/>
            </a:pPr>
            <a:r>
              <a:rPr lang="en-US" sz="1400" b="1" dirty="0"/>
              <a:t>COO (Coordinate List)</a:t>
            </a:r>
            <a:endParaRPr lang="en-US" sz="1400" dirty="0"/>
          </a:p>
          <a:p>
            <a:pPr>
              <a:buFont typeface="Arial" panose="020B0604020202020204" pitchFamily="34" charset="0"/>
              <a:buChar char="•"/>
            </a:pPr>
            <a:r>
              <a:rPr lang="en-US" sz="1400" b="1" dirty="0"/>
              <a:t>CSR (Compressed Sparse Row)</a:t>
            </a:r>
            <a:endParaRPr lang="en-US" sz="1400" dirty="0"/>
          </a:p>
          <a:p>
            <a:pPr>
              <a:buFont typeface="Arial" panose="020B0604020202020204" pitchFamily="34" charset="0"/>
              <a:buChar char="•"/>
            </a:pPr>
            <a:r>
              <a:rPr lang="en-US" sz="1400" b="1" dirty="0"/>
              <a:t>CSC (Compressed Sparse Column)</a:t>
            </a:r>
            <a:endParaRPr lang="en-US" sz="1400" dirty="0"/>
          </a:p>
          <a:p>
            <a:pPr>
              <a:buFont typeface="Arial" panose="020B0604020202020204" pitchFamily="34" charset="0"/>
              <a:buChar char="•"/>
            </a:pPr>
            <a:r>
              <a:rPr lang="en-US" sz="1400" b="1" dirty="0"/>
              <a:t>DOK (Dictionary of Keys)</a:t>
            </a:r>
            <a:endParaRPr lang="en-US" sz="1400" dirty="0"/>
          </a:p>
          <a:p>
            <a:r>
              <a:rPr lang="en-US" sz="1400" b="1" dirty="0"/>
              <a:t>Visual Tip:</a:t>
            </a:r>
            <a:r>
              <a:rPr lang="en-US" sz="1400" dirty="0"/>
              <a:t> Add a small matrix and how it is stored in CSR format.</a:t>
            </a:r>
          </a:p>
        </p:txBody>
      </p:sp>
    </p:spTree>
    <p:extLst>
      <p:ext uri="{BB962C8B-B14F-4D97-AF65-F5344CB8AC3E}">
        <p14:creationId xmlns:p14="http://schemas.microsoft.com/office/powerpoint/2010/main" val="4284488638"/>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a:spLocks/>
          </p:cNvSpPr>
          <p:nvPr/>
        </p:nvSpPr>
        <p:spPr>
          <a:xfrm>
            <a:off x="1300506" y="0"/>
            <a:ext cx="7810500" cy="685799"/>
          </a:xfrm>
          <a:prstGeom prst="rect">
            <a:avLst/>
          </a:prstGeom>
          <a:solidFill>
            <a:schemeClr val="accent2"/>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r>
              <a:rPr lang="en-US" sz="2400" b="1" dirty="0"/>
              <a:t>Software Design</a:t>
            </a:r>
          </a:p>
        </p:txBody>
      </p:sp>
      <p:sp>
        <p:nvSpPr>
          <p:cNvPr id="2" name="Date Placeholder 1"/>
          <p:cNvSpPr>
            <a:spLocks noGrp="1"/>
          </p:cNvSpPr>
          <p:nvPr>
            <p:ph type="dt" sz="half" idx="10"/>
          </p:nvPr>
        </p:nvSpPr>
        <p:spPr/>
        <p:txBody>
          <a:bodyPr/>
          <a:lstStyle/>
          <a:p>
            <a:fld id="{52818E89-37EB-4ABD-93B0-3503126EE3BC}" type="datetime1">
              <a:rPr lang="en-IN" smtClean="0"/>
              <a:t>21-07-2025</a:t>
            </a:fld>
            <a:endParaRPr lang="en-US"/>
          </a:p>
        </p:txBody>
      </p:sp>
      <p:sp>
        <p:nvSpPr>
          <p:cNvPr id="6" name="Footer Placeholder 5"/>
          <p:cNvSpPr>
            <a:spLocks noGrp="1"/>
          </p:cNvSpPr>
          <p:nvPr>
            <p:ph type="ftr" sz="quarter" idx="11"/>
          </p:nvPr>
        </p:nvSpPr>
        <p:spPr>
          <a:xfrm>
            <a:off x="2209800" y="6356350"/>
            <a:ext cx="5029200" cy="365125"/>
          </a:xfrm>
        </p:spPr>
        <p:txBody>
          <a:bodyPr/>
          <a:lstStyle/>
          <a:p>
            <a:r>
              <a:rPr lang="en-US"/>
              <a:t>Ms. Purnima Pal      High Performance Computing             Unit III     </a:t>
            </a:r>
            <a:endParaRPr lang="en-US" dirty="0"/>
          </a:p>
        </p:txBody>
      </p:sp>
      <p:sp>
        <p:nvSpPr>
          <p:cNvPr id="7" name="Slide Number Placeholder 6"/>
          <p:cNvSpPr>
            <a:spLocks noGrp="1"/>
          </p:cNvSpPr>
          <p:nvPr>
            <p:ph type="sldNum" sz="quarter" idx="12"/>
          </p:nvPr>
        </p:nvSpPr>
        <p:spPr/>
        <p:txBody>
          <a:bodyPr/>
          <a:lstStyle/>
          <a:p>
            <a:fld id="{AE566132-A42B-4D26-9C08-B059D352BBB6}" type="slidenum">
              <a:rPr lang="en-US" smtClean="0"/>
              <a:pPr/>
              <a:t>79</a:t>
            </a:fld>
            <a:endParaRPr lang="en-US"/>
          </a:p>
        </p:txBody>
      </p:sp>
      <p:sp>
        <p:nvSpPr>
          <p:cNvPr id="5" name="Title 1">
            <a:extLst>
              <a:ext uri="{FF2B5EF4-FFF2-40B4-BE49-F238E27FC236}">
                <a16:creationId xmlns:a16="http://schemas.microsoft.com/office/drawing/2014/main" id="{74C97CF1-3A45-326E-4C1F-9015608E62E8}"/>
              </a:ext>
            </a:extLst>
          </p:cNvPr>
          <p:cNvSpPr txBox="1">
            <a:spLocks/>
          </p:cNvSpPr>
          <p:nvPr/>
        </p:nvSpPr>
        <p:spPr>
          <a:xfrm>
            <a:off x="1259088" y="0"/>
            <a:ext cx="7876271"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r>
              <a:rPr lang="en-US" sz="3200" b="1" dirty="0"/>
              <a:t>Applications</a:t>
            </a:r>
          </a:p>
        </p:txBody>
      </p:sp>
      <p:graphicFrame>
        <p:nvGraphicFramePr>
          <p:cNvPr id="3" name="Content Placeholder 2">
            <a:extLst>
              <a:ext uri="{FF2B5EF4-FFF2-40B4-BE49-F238E27FC236}">
                <a16:creationId xmlns:a16="http://schemas.microsoft.com/office/drawing/2014/main" id="{9CFAEB35-FAFB-5F72-6C28-CFFDC6B4C049}"/>
              </a:ext>
            </a:extLst>
          </p:cNvPr>
          <p:cNvGraphicFramePr>
            <a:graphicFrameLocks noGrp="1"/>
          </p:cNvGraphicFramePr>
          <p:nvPr>
            <p:ph idx="1"/>
            <p:extLst>
              <p:ext uri="{D42A27DB-BD31-4B8C-83A1-F6EECF244321}">
                <p14:modId xmlns:p14="http://schemas.microsoft.com/office/powerpoint/2010/main" val="1342083573"/>
              </p:ext>
            </p:extLst>
          </p:nvPr>
        </p:nvGraphicFramePr>
        <p:xfrm>
          <a:off x="457200" y="1143000"/>
          <a:ext cx="8229600" cy="4648200"/>
        </p:xfrm>
        <a:graphic>
          <a:graphicData uri="http://schemas.openxmlformats.org/drawingml/2006/table">
            <a:tbl>
              <a:tblPr/>
              <a:tblGrid>
                <a:gridCol w="4114800">
                  <a:extLst>
                    <a:ext uri="{9D8B030D-6E8A-4147-A177-3AD203B41FA5}">
                      <a16:colId xmlns:a16="http://schemas.microsoft.com/office/drawing/2014/main" val="2935261900"/>
                    </a:ext>
                  </a:extLst>
                </a:gridCol>
                <a:gridCol w="4114800">
                  <a:extLst>
                    <a:ext uri="{9D8B030D-6E8A-4147-A177-3AD203B41FA5}">
                      <a16:colId xmlns:a16="http://schemas.microsoft.com/office/drawing/2014/main" val="3000639446"/>
                    </a:ext>
                  </a:extLst>
                </a:gridCol>
              </a:tblGrid>
              <a:tr h="929640">
                <a:tc>
                  <a:txBody>
                    <a:bodyPr/>
                    <a:lstStyle/>
                    <a:p>
                      <a:r>
                        <a:rPr lang="en-US">
                          <a:latin typeface="Times New Roman" panose="02020603050405020304" pitchFamily="18" charset="0"/>
                          <a:cs typeface="Times New Roman" panose="02020603050405020304" pitchFamily="18" charset="0"/>
                        </a:rPr>
                        <a:t>Area</a:t>
                      </a:r>
                    </a:p>
                  </a:txBody>
                  <a:tcPr anchor="ctr">
                    <a:lnL>
                      <a:noFill/>
                    </a:lnL>
                    <a:lnR>
                      <a:noFill/>
                    </a:lnR>
                    <a:lnT>
                      <a:noFill/>
                    </a:lnT>
                    <a:lnB>
                      <a:noFill/>
                    </a:lnB>
                  </a:tcPr>
                </a:tc>
                <a:tc>
                  <a:txBody>
                    <a:bodyPr/>
                    <a:lstStyle/>
                    <a:p>
                      <a:r>
                        <a:rPr lang="en-US">
                          <a:latin typeface="Times New Roman" panose="02020603050405020304" pitchFamily="18" charset="0"/>
                          <a:cs typeface="Times New Roman" panose="02020603050405020304" pitchFamily="18" charset="0"/>
                        </a:rPr>
                        <a:t>Use of Sparse Matrices</a:t>
                      </a:r>
                    </a:p>
                  </a:txBody>
                  <a:tcPr anchor="ctr">
                    <a:lnL>
                      <a:noFill/>
                    </a:lnL>
                    <a:lnR>
                      <a:noFill/>
                    </a:lnR>
                    <a:lnT>
                      <a:noFill/>
                    </a:lnT>
                    <a:lnB>
                      <a:noFill/>
                    </a:lnB>
                  </a:tcPr>
                </a:tc>
                <a:extLst>
                  <a:ext uri="{0D108BD9-81ED-4DB2-BD59-A6C34878D82A}">
                    <a16:rowId xmlns:a16="http://schemas.microsoft.com/office/drawing/2014/main" val="2564616621"/>
                  </a:ext>
                </a:extLst>
              </a:tr>
              <a:tr h="929640">
                <a:tc>
                  <a:txBody>
                    <a:bodyPr/>
                    <a:lstStyle/>
                    <a:p>
                      <a:r>
                        <a:rPr lang="en-US" dirty="0">
                          <a:latin typeface="Times New Roman" panose="02020603050405020304" pitchFamily="18" charset="0"/>
                          <a:cs typeface="Times New Roman" panose="02020603050405020304" pitchFamily="18" charset="0"/>
                        </a:rPr>
                        <a:t>Machine Learning</a:t>
                      </a:r>
                    </a:p>
                  </a:txBody>
                  <a:tcPr anchor="ctr">
                    <a:lnL>
                      <a:noFill/>
                    </a:lnL>
                    <a:lnR>
                      <a:noFill/>
                    </a:lnR>
                    <a:lnT>
                      <a:noFill/>
                    </a:lnT>
                    <a:lnB>
                      <a:noFill/>
                    </a:lnB>
                  </a:tcPr>
                </a:tc>
                <a:tc>
                  <a:txBody>
                    <a:bodyPr/>
                    <a:lstStyle/>
                    <a:p>
                      <a:r>
                        <a:rPr lang="en-US">
                          <a:latin typeface="Times New Roman" panose="02020603050405020304" pitchFamily="18" charset="0"/>
                          <a:cs typeface="Times New Roman" panose="02020603050405020304" pitchFamily="18" charset="0"/>
                        </a:rPr>
                        <a:t>TF-IDF in NLP, recommender systems</a:t>
                      </a:r>
                    </a:p>
                  </a:txBody>
                  <a:tcPr anchor="ctr">
                    <a:lnL>
                      <a:noFill/>
                    </a:lnL>
                    <a:lnR>
                      <a:noFill/>
                    </a:lnR>
                    <a:lnT>
                      <a:noFill/>
                    </a:lnT>
                    <a:lnB>
                      <a:noFill/>
                    </a:lnB>
                  </a:tcPr>
                </a:tc>
                <a:extLst>
                  <a:ext uri="{0D108BD9-81ED-4DB2-BD59-A6C34878D82A}">
                    <a16:rowId xmlns:a16="http://schemas.microsoft.com/office/drawing/2014/main" val="2214637208"/>
                  </a:ext>
                </a:extLst>
              </a:tr>
              <a:tr h="929640">
                <a:tc>
                  <a:txBody>
                    <a:bodyPr/>
                    <a:lstStyle/>
                    <a:p>
                      <a:r>
                        <a:rPr lang="en-US">
                          <a:latin typeface="Times New Roman" panose="02020603050405020304" pitchFamily="18" charset="0"/>
                          <a:cs typeface="Times New Roman" panose="02020603050405020304" pitchFamily="18" charset="0"/>
                        </a:rPr>
                        <a:t>Scientific Computing</a:t>
                      </a:r>
                    </a:p>
                  </a:txBody>
                  <a:tcPr anchor="ctr">
                    <a:lnL>
                      <a:noFill/>
                    </a:lnL>
                    <a:lnR>
                      <a:noFill/>
                    </a:lnR>
                    <a:lnT>
                      <a:noFill/>
                    </a:lnT>
                    <a:lnB>
                      <a:noFill/>
                    </a:lnB>
                  </a:tcPr>
                </a:tc>
                <a:tc>
                  <a:txBody>
                    <a:bodyPr/>
                    <a:lstStyle/>
                    <a:p>
                      <a:r>
                        <a:rPr lang="en-US">
                          <a:latin typeface="Times New Roman" panose="02020603050405020304" pitchFamily="18" charset="0"/>
                          <a:cs typeface="Times New Roman" panose="02020603050405020304" pitchFamily="18" charset="0"/>
                        </a:rPr>
                        <a:t>Solving sparse systems of equations</a:t>
                      </a:r>
                    </a:p>
                  </a:txBody>
                  <a:tcPr anchor="ctr">
                    <a:lnL>
                      <a:noFill/>
                    </a:lnL>
                    <a:lnR>
                      <a:noFill/>
                    </a:lnR>
                    <a:lnT>
                      <a:noFill/>
                    </a:lnT>
                    <a:lnB>
                      <a:noFill/>
                    </a:lnB>
                  </a:tcPr>
                </a:tc>
                <a:extLst>
                  <a:ext uri="{0D108BD9-81ED-4DB2-BD59-A6C34878D82A}">
                    <a16:rowId xmlns:a16="http://schemas.microsoft.com/office/drawing/2014/main" val="3060076955"/>
                  </a:ext>
                </a:extLst>
              </a:tr>
              <a:tr h="929640">
                <a:tc>
                  <a:txBody>
                    <a:bodyPr/>
                    <a:lstStyle/>
                    <a:p>
                      <a:r>
                        <a:rPr lang="en-US">
                          <a:latin typeface="Times New Roman" panose="02020603050405020304" pitchFamily="18" charset="0"/>
                          <a:cs typeface="Times New Roman" panose="02020603050405020304" pitchFamily="18" charset="0"/>
                        </a:rPr>
                        <a:t>Graph Theory</a:t>
                      </a:r>
                    </a:p>
                  </a:txBody>
                  <a:tcPr anchor="ctr">
                    <a:lnL>
                      <a:noFill/>
                    </a:lnL>
                    <a:lnR>
                      <a:noFill/>
                    </a:lnR>
                    <a:lnT>
                      <a:noFill/>
                    </a:lnT>
                    <a:lnB>
                      <a:noFill/>
                    </a:lnB>
                  </a:tcPr>
                </a:tc>
                <a:tc>
                  <a:txBody>
                    <a:bodyPr/>
                    <a:lstStyle/>
                    <a:p>
                      <a:r>
                        <a:rPr lang="en-US" dirty="0">
                          <a:latin typeface="Times New Roman" panose="02020603050405020304" pitchFamily="18" charset="0"/>
                          <a:cs typeface="Times New Roman" panose="02020603050405020304" pitchFamily="18" charset="0"/>
                        </a:rPr>
                        <a:t>Adjacency matrices</a:t>
                      </a:r>
                    </a:p>
                  </a:txBody>
                  <a:tcPr anchor="ctr">
                    <a:lnL>
                      <a:noFill/>
                    </a:lnL>
                    <a:lnR>
                      <a:noFill/>
                    </a:lnR>
                    <a:lnT>
                      <a:noFill/>
                    </a:lnT>
                    <a:lnB>
                      <a:noFill/>
                    </a:lnB>
                  </a:tcPr>
                </a:tc>
                <a:extLst>
                  <a:ext uri="{0D108BD9-81ED-4DB2-BD59-A6C34878D82A}">
                    <a16:rowId xmlns:a16="http://schemas.microsoft.com/office/drawing/2014/main" val="3413420347"/>
                  </a:ext>
                </a:extLst>
              </a:tr>
              <a:tr h="929640">
                <a:tc>
                  <a:txBody>
                    <a:bodyPr/>
                    <a:lstStyle/>
                    <a:p>
                      <a:r>
                        <a:rPr lang="en-US">
                          <a:latin typeface="Times New Roman" panose="02020603050405020304" pitchFamily="18" charset="0"/>
                          <a:cs typeface="Times New Roman" panose="02020603050405020304" pitchFamily="18" charset="0"/>
                        </a:rPr>
                        <a:t>Image Processing</a:t>
                      </a:r>
                    </a:p>
                  </a:txBody>
                  <a:tcPr anchor="ctr">
                    <a:lnL>
                      <a:noFill/>
                    </a:lnL>
                    <a:lnR>
                      <a:noFill/>
                    </a:lnR>
                    <a:lnT>
                      <a:noFill/>
                    </a:lnT>
                    <a:lnB>
                      <a:noFill/>
                    </a:lnB>
                  </a:tcPr>
                </a:tc>
                <a:tc>
                  <a:txBody>
                    <a:bodyPr/>
                    <a:lstStyle/>
                    <a:p>
                      <a:r>
                        <a:rPr lang="en-US" dirty="0">
                          <a:latin typeface="Times New Roman" panose="02020603050405020304" pitchFamily="18" charset="0"/>
                          <a:cs typeface="Times New Roman" panose="02020603050405020304" pitchFamily="18" charset="0"/>
                        </a:rPr>
                        <a:t>Compressed representations</a:t>
                      </a:r>
                    </a:p>
                  </a:txBody>
                  <a:tcPr anchor="ctr">
                    <a:lnL>
                      <a:noFill/>
                    </a:lnL>
                    <a:lnR>
                      <a:noFill/>
                    </a:lnR>
                    <a:lnT>
                      <a:noFill/>
                    </a:lnT>
                    <a:lnB>
                      <a:noFill/>
                    </a:lnB>
                  </a:tcPr>
                </a:tc>
                <a:extLst>
                  <a:ext uri="{0D108BD9-81ED-4DB2-BD59-A6C34878D82A}">
                    <a16:rowId xmlns:a16="http://schemas.microsoft.com/office/drawing/2014/main" val="945947066"/>
                  </a:ext>
                </a:extLst>
              </a:tr>
            </a:tbl>
          </a:graphicData>
        </a:graphic>
      </p:graphicFrame>
    </p:spTree>
    <p:extLst>
      <p:ext uri="{BB962C8B-B14F-4D97-AF65-F5344CB8AC3E}">
        <p14:creationId xmlns:p14="http://schemas.microsoft.com/office/powerpoint/2010/main" val="1725564999"/>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a:spLocks/>
          </p:cNvSpPr>
          <p:nvPr/>
        </p:nvSpPr>
        <p:spPr>
          <a:xfrm>
            <a:off x="1300506" y="0"/>
            <a:ext cx="7810500" cy="685799"/>
          </a:xfrm>
          <a:prstGeom prst="rect">
            <a:avLst/>
          </a:prstGeom>
          <a:solidFill>
            <a:schemeClr val="accent2"/>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r>
              <a:rPr lang="en-US" sz="2400" b="1" dirty="0"/>
              <a:t>Software Design</a:t>
            </a:r>
          </a:p>
        </p:txBody>
      </p:sp>
      <p:sp>
        <p:nvSpPr>
          <p:cNvPr id="2" name="Date Placeholder 1"/>
          <p:cNvSpPr>
            <a:spLocks noGrp="1"/>
          </p:cNvSpPr>
          <p:nvPr>
            <p:ph type="dt" sz="half" idx="10"/>
          </p:nvPr>
        </p:nvSpPr>
        <p:spPr/>
        <p:txBody>
          <a:bodyPr/>
          <a:lstStyle/>
          <a:p>
            <a:fld id="{1457E8B9-BC41-453D-8192-7A47C8509F96}" type="datetime1">
              <a:rPr lang="en-IN" smtClean="0"/>
              <a:t>21-07-2025</a:t>
            </a:fld>
            <a:endParaRPr lang="en-US"/>
          </a:p>
        </p:txBody>
      </p:sp>
      <p:sp>
        <p:nvSpPr>
          <p:cNvPr id="6" name="Footer Placeholder 5"/>
          <p:cNvSpPr>
            <a:spLocks noGrp="1"/>
          </p:cNvSpPr>
          <p:nvPr>
            <p:ph type="ftr" sz="quarter" idx="11"/>
          </p:nvPr>
        </p:nvSpPr>
        <p:spPr>
          <a:xfrm>
            <a:off x="2209800" y="6356350"/>
            <a:ext cx="5029200" cy="365125"/>
          </a:xfrm>
        </p:spPr>
        <p:txBody>
          <a:bodyPr/>
          <a:lstStyle/>
          <a:p>
            <a:r>
              <a:rPr lang="en-US"/>
              <a:t>Ms. Purnima Pal      High Performance Computing             Unit III     </a:t>
            </a:r>
            <a:endParaRPr lang="en-US" dirty="0"/>
          </a:p>
        </p:txBody>
      </p:sp>
      <p:sp>
        <p:nvSpPr>
          <p:cNvPr id="7" name="Slide Number Placeholder 6"/>
          <p:cNvSpPr>
            <a:spLocks noGrp="1"/>
          </p:cNvSpPr>
          <p:nvPr>
            <p:ph type="sldNum" sz="quarter" idx="12"/>
          </p:nvPr>
        </p:nvSpPr>
        <p:spPr/>
        <p:txBody>
          <a:bodyPr/>
          <a:lstStyle/>
          <a:p>
            <a:fld id="{AE566132-A42B-4D26-9C08-B059D352BBB6}" type="slidenum">
              <a:rPr lang="en-US" smtClean="0"/>
              <a:pPr/>
              <a:t>80</a:t>
            </a:fld>
            <a:endParaRPr lang="en-US"/>
          </a:p>
        </p:txBody>
      </p:sp>
      <p:sp>
        <p:nvSpPr>
          <p:cNvPr id="5" name="Title 1">
            <a:extLst>
              <a:ext uri="{FF2B5EF4-FFF2-40B4-BE49-F238E27FC236}">
                <a16:creationId xmlns:a16="http://schemas.microsoft.com/office/drawing/2014/main" id="{74C97CF1-3A45-326E-4C1F-9015608E62E8}"/>
              </a:ext>
            </a:extLst>
          </p:cNvPr>
          <p:cNvSpPr txBox="1">
            <a:spLocks/>
          </p:cNvSpPr>
          <p:nvPr/>
        </p:nvSpPr>
        <p:spPr>
          <a:xfrm>
            <a:off x="1259088" y="0"/>
            <a:ext cx="7876271"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r>
              <a:rPr lang="en-US" sz="2800" b="1" dirty="0"/>
              <a:t>When to Use Sparse vs Dense</a:t>
            </a:r>
          </a:p>
        </p:txBody>
      </p:sp>
      <p:sp>
        <p:nvSpPr>
          <p:cNvPr id="9" name="Content Placeholder 8">
            <a:extLst>
              <a:ext uri="{FF2B5EF4-FFF2-40B4-BE49-F238E27FC236}">
                <a16:creationId xmlns:a16="http://schemas.microsoft.com/office/drawing/2014/main" id="{D6AFE47B-73F8-D123-148D-DFDD304BF0C9}"/>
              </a:ext>
            </a:extLst>
          </p:cNvPr>
          <p:cNvSpPr>
            <a:spLocks noGrp="1"/>
          </p:cNvSpPr>
          <p:nvPr>
            <p:ph idx="1"/>
          </p:nvPr>
        </p:nvSpPr>
        <p:spPr/>
        <p:txBody>
          <a:bodyPr>
            <a:normAutofit/>
          </a:bodyPr>
          <a:lstStyle/>
          <a:p>
            <a:pPr marL="0" indent="0">
              <a:buNone/>
            </a:pPr>
            <a:r>
              <a:rPr lang="en-US" sz="1800" dirty="0"/>
              <a:t>Use Sparse:</a:t>
            </a:r>
          </a:p>
          <a:p>
            <a:r>
              <a:rPr lang="en-US" sz="1800" dirty="0"/>
              <a:t>70% of elements are zero</a:t>
            </a:r>
          </a:p>
          <a:p>
            <a:r>
              <a:rPr lang="en-US" sz="1800" dirty="0"/>
              <a:t>Memory or storage constraints</a:t>
            </a:r>
          </a:p>
          <a:p>
            <a:r>
              <a:rPr lang="en-US" sz="1800" dirty="0"/>
              <a:t>Iterative methods are used</a:t>
            </a:r>
          </a:p>
          <a:p>
            <a:r>
              <a:rPr lang="en-US" sz="1800" b="1" dirty="0"/>
              <a:t>Use Dense:</a:t>
            </a:r>
            <a:endParaRPr lang="en-US" sz="1800" dirty="0"/>
          </a:p>
          <a:p>
            <a:r>
              <a:rPr lang="en-US" sz="1800" dirty="0"/>
              <a:t>Few zero elements</a:t>
            </a:r>
          </a:p>
          <a:p>
            <a:r>
              <a:rPr lang="en-US" sz="1800" dirty="0"/>
              <a:t>Simpler algorithms</a:t>
            </a:r>
          </a:p>
          <a:p>
            <a:r>
              <a:rPr lang="en-US" sz="1800" dirty="0"/>
              <a:t>When computation speed is prioritized over memory</a:t>
            </a:r>
          </a:p>
        </p:txBody>
      </p:sp>
    </p:spTree>
    <p:extLst>
      <p:ext uri="{BB962C8B-B14F-4D97-AF65-F5344CB8AC3E}">
        <p14:creationId xmlns:p14="http://schemas.microsoft.com/office/powerpoint/2010/main" val="63135377"/>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762000"/>
            <a:ext cx="8229600" cy="5081986"/>
          </a:xfrm>
        </p:spPr>
        <p:txBody>
          <a:bodyPr>
            <a:noAutofit/>
          </a:bodyPr>
          <a:lstStyle/>
          <a:p>
            <a:pPr marL="228600" indent="-228600">
              <a:buAutoNum type="arabicPeriod"/>
            </a:pPr>
            <a:r>
              <a:rPr lang="en-US" sz="1400" b="1" dirty="0"/>
              <a:t>Which of the following is true about distributed memory systems?</a:t>
            </a:r>
            <a:br>
              <a:rPr lang="en-US" sz="1400" dirty="0"/>
            </a:br>
            <a:r>
              <a:rPr lang="en-US" sz="1400" dirty="0"/>
              <a:t>A) All processors share the same physical memory.</a:t>
            </a:r>
            <a:br>
              <a:rPr lang="en-US" sz="1400" dirty="0"/>
            </a:br>
            <a:r>
              <a:rPr lang="en-US" sz="1400" dirty="0"/>
              <a:t>B) Communication happens through shared variables.</a:t>
            </a:r>
            <a:br>
              <a:rPr lang="en-US" sz="1400" dirty="0"/>
            </a:br>
            <a:r>
              <a:rPr lang="en-US" sz="1400" dirty="0"/>
              <a:t>C) Each processor has its own local memory.</a:t>
            </a:r>
            <a:br>
              <a:rPr lang="en-US" sz="1400" dirty="0"/>
            </a:br>
            <a:r>
              <a:rPr lang="en-US" sz="1400" dirty="0"/>
              <a:t>D) They are best suited for SIMD architectures.</a:t>
            </a:r>
          </a:p>
          <a:p>
            <a:pPr>
              <a:buAutoNum type="arabicPeriod"/>
            </a:pPr>
            <a:endParaRPr lang="en-US" sz="1400" dirty="0"/>
          </a:p>
          <a:p>
            <a:pPr>
              <a:buAutoNum type="arabicPeriod"/>
            </a:pPr>
            <a:r>
              <a:rPr lang="en-US" sz="1400" b="1" dirty="0"/>
              <a:t>In MPI (Message Passing Interface), which operation is used to send data from one process to all other processes?</a:t>
            </a:r>
            <a:br>
              <a:rPr lang="en-US" sz="1400" dirty="0"/>
            </a:br>
            <a:r>
              <a:rPr lang="en-US" sz="1400" dirty="0"/>
              <a:t>A) Scatter</a:t>
            </a:r>
            <a:br>
              <a:rPr lang="en-US" sz="1400" dirty="0"/>
            </a:br>
            <a:r>
              <a:rPr lang="en-US" sz="1400" dirty="0"/>
              <a:t>B) Gather</a:t>
            </a:r>
            <a:br>
              <a:rPr lang="en-US" sz="1400" dirty="0"/>
            </a:br>
            <a:r>
              <a:rPr lang="en-US" sz="1400" dirty="0"/>
              <a:t>C) Broadcast</a:t>
            </a:r>
            <a:br>
              <a:rPr lang="en-US" sz="1400" dirty="0"/>
            </a:br>
            <a:r>
              <a:rPr lang="en-US" sz="1400" dirty="0"/>
              <a:t>D) Reduction</a:t>
            </a:r>
          </a:p>
          <a:p>
            <a:pPr>
              <a:buAutoNum type="arabicPeriod"/>
            </a:pPr>
            <a:r>
              <a:rPr lang="en-US" sz="1400" b="1" dirty="0"/>
              <a:t>What is the purpose of the 'Reduction' operation in parallel programming?</a:t>
            </a:r>
            <a:br>
              <a:rPr lang="en-US" sz="1400" dirty="0"/>
            </a:br>
            <a:r>
              <a:rPr lang="en-US" sz="1400" dirty="0"/>
              <a:t>A) Compressing data into a smaller array</a:t>
            </a:r>
            <a:br>
              <a:rPr lang="en-US" sz="1400" dirty="0"/>
            </a:br>
            <a:r>
              <a:rPr lang="en-US" sz="1400" dirty="0"/>
              <a:t>B) Sending the same data to all nodes</a:t>
            </a:r>
            <a:br>
              <a:rPr lang="en-US" sz="1400" dirty="0"/>
            </a:br>
            <a:r>
              <a:rPr lang="en-US" sz="1400" dirty="0"/>
              <a:t>C) Combining values from multiple processes using an operation like sum or max</a:t>
            </a:r>
            <a:br>
              <a:rPr lang="en-US" sz="1400" dirty="0"/>
            </a:br>
            <a:r>
              <a:rPr lang="en-US" sz="1400" dirty="0"/>
              <a:t>D) Eliminating duplicate processes</a:t>
            </a:r>
          </a:p>
          <a:p>
            <a:pPr>
              <a:buAutoNum type="arabicPeriod"/>
            </a:pPr>
            <a:r>
              <a:rPr lang="en-US" sz="1400" b="1" dirty="0"/>
              <a:t>Which operation collects elements from all processes and assembles them at the root process?</a:t>
            </a:r>
            <a:br>
              <a:rPr lang="en-US" sz="1400" dirty="0"/>
            </a:br>
            <a:r>
              <a:rPr lang="en-US" sz="1400" dirty="0"/>
              <a:t>A) Scatter</a:t>
            </a:r>
            <a:br>
              <a:rPr lang="en-US" sz="1400" dirty="0"/>
            </a:br>
            <a:r>
              <a:rPr lang="en-US" sz="1400" dirty="0"/>
              <a:t>B) Gather</a:t>
            </a:r>
            <a:br>
              <a:rPr lang="en-US" sz="1400" dirty="0"/>
            </a:br>
            <a:r>
              <a:rPr lang="en-US" sz="1400" dirty="0"/>
              <a:t>C) All-to-all</a:t>
            </a:r>
            <a:br>
              <a:rPr lang="en-US" sz="1400" dirty="0"/>
            </a:br>
            <a:r>
              <a:rPr lang="en-US" sz="1400" dirty="0"/>
              <a:t>D) Broadcast</a:t>
            </a:r>
          </a:p>
          <a:p>
            <a:pPr>
              <a:buAutoNum type="arabicPeriod"/>
            </a:pPr>
            <a:r>
              <a:rPr lang="en-US" sz="1400" b="1" dirty="0"/>
              <a:t>Which of the following best describes a “Parallel Prefix Sum” operation?</a:t>
            </a:r>
            <a:br>
              <a:rPr lang="en-US" sz="1400" dirty="0"/>
            </a:br>
            <a:r>
              <a:rPr lang="en-US" sz="1400" dirty="0"/>
              <a:t>A) Finding maximum from all elements</a:t>
            </a:r>
            <a:br>
              <a:rPr lang="en-US" sz="1400" dirty="0"/>
            </a:br>
            <a:r>
              <a:rPr lang="en-US" sz="1400" dirty="0"/>
              <a:t>B) Calculating cumulative sum in parallel</a:t>
            </a:r>
            <a:br>
              <a:rPr lang="en-US" sz="1400" dirty="0"/>
            </a:br>
            <a:r>
              <a:rPr lang="en-US" sz="1400" dirty="0"/>
              <a:t>C) Rearranging array elements in parallel</a:t>
            </a:r>
            <a:br>
              <a:rPr lang="en-US" sz="1400" dirty="0"/>
            </a:br>
            <a:r>
              <a:rPr lang="en-US" sz="1400" dirty="0"/>
              <a:t>D) Splitting array into equal parts</a:t>
            </a:r>
          </a:p>
        </p:txBody>
      </p:sp>
      <p:sp>
        <p:nvSpPr>
          <p:cNvPr id="4" name="Date Placeholder 3"/>
          <p:cNvSpPr>
            <a:spLocks noGrp="1"/>
          </p:cNvSpPr>
          <p:nvPr>
            <p:ph type="dt" sz="half" idx="10"/>
          </p:nvPr>
        </p:nvSpPr>
        <p:spPr/>
        <p:txBody>
          <a:bodyPr/>
          <a:lstStyle/>
          <a:p>
            <a:fld id="{B12F39E8-45F8-4033-85D8-844B58E9C632}" type="datetime1">
              <a:rPr lang="en-IN" smtClean="0"/>
              <a:t>21-07-2025</a:t>
            </a:fld>
            <a:endParaRPr lang="en-US" dirty="0"/>
          </a:p>
        </p:txBody>
      </p:sp>
      <p:sp>
        <p:nvSpPr>
          <p:cNvPr id="5" name="Footer Placeholder 4"/>
          <p:cNvSpPr>
            <a:spLocks noGrp="1"/>
          </p:cNvSpPr>
          <p:nvPr>
            <p:ph type="ftr" sz="quarter" idx="11"/>
          </p:nvPr>
        </p:nvSpPr>
        <p:spPr>
          <a:xfrm>
            <a:off x="2514600" y="6356350"/>
            <a:ext cx="5029200" cy="365125"/>
          </a:xfrm>
        </p:spPr>
        <p:txBody>
          <a:bodyPr/>
          <a:lstStyle/>
          <a:p>
            <a:r>
              <a:rPr lang="en-US"/>
              <a:t>Ms. Purnima Pal      High Performance Computing             Unit III     </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81</a:t>
            </a:fld>
            <a:endParaRPr lang="en-US" dirty="0"/>
          </a:p>
        </p:txBody>
      </p:sp>
      <p:sp>
        <p:nvSpPr>
          <p:cNvPr id="7" name="Title 1"/>
          <p:cNvSpPr txBox="1">
            <a:spLocks/>
          </p:cNvSpPr>
          <p:nvPr/>
        </p:nvSpPr>
        <p:spPr>
          <a:xfrm>
            <a:off x="1371600" y="0"/>
            <a:ext cx="7772400" cy="685799"/>
          </a:xfrm>
          <a:prstGeom prst="rect">
            <a:avLst/>
          </a:prstGeom>
          <a:solidFill>
            <a:schemeClr val="accent2"/>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lang="en-US" sz="2400" b="1" dirty="0"/>
              <a:t>Daily Quiz</a:t>
            </a:r>
            <a:endParaRPr kumimoji="0" lang="en-US" sz="2400" b="1" i="0" u="none" strike="noStrike" kern="1200" cap="none" spc="0" normalizeH="0" baseline="0" noProof="0" dirty="0">
              <a:ln>
                <a:noFill/>
              </a:ln>
              <a:solidFill>
                <a:schemeClr val="dk1"/>
              </a:solidFill>
              <a:effectLst/>
              <a:uLnTx/>
              <a:uFillTx/>
            </a:endParaRPr>
          </a:p>
        </p:txBody>
      </p:sp>
      <p:sp>
        <p:nvSpPr>
          <p:cNvPr id="9" name="Title 1">
            <a:extLst>
              <a:ext uri="{FF2B5EF4-FFF2-40B4-BE49-F238E27FC236}">
                <a16:creationId xmlns:a16="http://schemas.microsoft.com/office/drawing/2014/main" id="{8932C7E7-AE56-7173-A16C-C134414F9585}"/>
              </a:ext>
            </a:extLst>
          </p:cNvPr>
          <p:cNvSpPr txBox="1">
            <a:spLocks/>
          </p:cNvSpPr>
          <p:nvPr/>
        </p:nvSpPr>
        <p:spPr>
          <a:xfrm>
            <a:off x="1267729" y="-1"/>
            <a:ext cx="7876271"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endParaRPr lang="en-US" sz="2400" b="1" dirty="0">
              <a:solidFill>
                <a:schemeClr val="tx1"/>
              </a:solidFill>
            </a:endParaRPr>
          </a:p>
          <a:p>
            <a:endParaRPr lang="en-US" sz="2400" b="1" dirty="0">
              <a:solidFill>
                <a:schemeClr val="tx1"/>
              </a:solidFill>
            </a:endParaRPr>
          </a:p>
          <a:p>
            <a:pPr marL="0" marR="0" lvl="0" indent="0" algn="ctr" defTabSz="914400" rtl="0" eaLnBrk="1" fontAlgn="auto" latinLnBrk="0" hangingPunct="1">
              <a:lnSpc>
                <a:spcPct val="100000"/>
              </a:lnSpc>
              <a:spcBef>
                <a:spcPct val="0"/>
              </a:spcBef>
              <a:spcAft>
                <a:spcPts val="0"/>
              </a:spcAft>
              <a:buClrTx/>
              <a:buSzTx/>
              <a:buFontTx/>
              <a:buNone/>
              <a:tabLst/>
              <a:defRPr/>
            </a:pPr>
            <a:r>
              <a:rPr lang="en-US" sz="2400" b="1" dirty="0"/>
              <a:t>Daily Quiz</a:t>
            </a:r>
            <a:endParaRPr kumimoji="0" lang="en-US" sz="2400" b="1" i="0" u="none" strike="noStrike" kern="1200" cap="none" spc="0" normalizeH="0" baseline="0" noProof="0" dirty="0">
              <a:ln>
                <a:noFill/>
              </a:ln>
              <a:solidFill>
                <a:schemeClr val="dk1"/>
              </a:solidFill>
              <a:effectLst/>
              <a:uLnTx/>
              <a:uFillTx/>
            </a:endParaRPr>
          </a:p>
          <a:p>
            <a:endParaRPr lang="en-US" sz="2400" b="1" dirty="0"/>
          </a:p>
          <a:p>
            <a:endParaRPr lang="en-US" sz="2400" b="1" dirty="0"/>
          </a:p>
        </p:txBody>
      </p:sp>
    </p:spTree>
    <p:extLst>
      <p:ext uri="{BB962C8B-B14F-4D97-AF65-F5344CB8AC3E}">
        <p14:creationId xmlns:p14="http://schemas.microsoft.com/office/powerpoint/2010/main" val="132692743"/>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25245" y="838200"/>
            <a:ext cx="8229600" cy="4525963"/>
          </a:xfrm>
        </p:spPr>
        <p:txBody>
          <a:bodyPr>
            <a:noAutofit/>
          </a:bodyPr>
          <a:lstStyle/>
          <a:p>
            <a:pPr marL="0" indent="0">
              <a:buNone/>
            </a:pPr>
            <a:r>
              <a:rPr lang="en-US" sz="1400" dirty="0">
                <a:latin typeface="Times New Roman" panose="02020603050405020304" pitchFamily="18" charset="0"/>
                <a:cs typeface="Times New Roman" panose="02020603050405020304" pitchFamily="18" charset="0"/>
              </a:rPr>
              <a:t>6. </a:t>
            </a:r>
            <a:r>
              <a:rPr lang="en-US" sz="1400" b="1" dirty="0">
                <a:latin typeface="Times New Roman" panose="02020603050405020304" pitchFamily="18" charset="0"/>
                <a:cs typeface="Times New Roman" panose="02020603050405020304" pitchFamily="18" charset="0"/>
              </a:rPr>
              <a:t>Which topology provides the shortest average communication distance in large systems?</a:t>
            </a:r>
            <a:br>
              <a:rPr lang="en-US" sz="1400" dirty="0">
                <a:latin typeface="Times New Roman" panose="02020603050405020304" pitchFamily="18" charset="0"/>
                <a:cs typeface="Times New Roman" panose="02020603050405020304" pitchFamily="18" charset="0"/>
              </a:rPr>
            </a:br>
            <a:r>
              <a:rPr lang="en-US" sz="1400" dirty="0">
                <a:latin typeface="Times New Roman" panose="02020603050405020304" pitchFamily="18" charset="0"/>
                <a:cs typeface="Times New Roman" panose="02020603050405020304" pitchFamily="18" charset="0"/>
              </a:rPr>
              <a:t>A) Ring</a:t>
            </a:r>
            <a:br>
              <a:rPr lang="en-US" sz="1400" dirty="0">
                <a:latin typeface="Times New Roman" panose="02020603050405020304" pitchFamily="18" charset="0"/>
                <a:cs typeface="Times New Roman" panose="02020603050405020304" pitchFamily="18" charset="0"/>
              </a:rPr>
            </a:br>
            <a:r>
              <a:rPr lang="en-US" sz="1400" dirty="0">
                <a:latin typeface="Times New Roman" panose="02020603050405020304" pitchFamily="18" charset="0"/>
                <a:cs typeface="Times New Roman" panose="02020603050405020304" pitchFamily="18" charset="0"/>
              </a:rPr>
              <a:t>B) Mesh</a:t>
            </a:r>
            <a:br>
              <a:rPr lang="en-US" sz="1400" dirty="0">
                <a:latin typeface="Times New Roman" panose="02020603050405020304" pitchFamily="18" charset="0"/>
                <a:cs typeface="Times New Roman" panose="02020603050405020304" pitchFamily="18" charset="0"/>
              </a:rPr>
            </a:br>
            <a:r>
              <a:rPr lang="en-US" sz="1400" dirty="0">
                <a:latin typeface="Times New Roman" panose="02020603050405020304" pitchFamily="18" charset="0"/>
                <a:cs typeface="Times New Roman" panose="02020603050405020304" pitchFamily="18" charset="0"/>
              </a:rPr>
              <a:t>C) Hypercube</a:t>
            </a:r>
            <a:br>
              <a:rPr lang="en-US" sz="1400" dirty="0">
                <a:latin typeface="Times New Roman" panose="02020603050405020304" pitchFamily="18" charset="0"/>
                <a:cs typeface="Times New Roman" panose="02020603050405020304" pitchFamily="18" charset="0"/>
              </a:rPr>
            </a:br>
            <a:r>
              <a:rPr lang="en-US" sz="1400" dirty="0">
                <a:latin typeface="Times New Roman" panose="02020603050405020304" pitchFamily="18" charset="0"/>
                <a:cs typeface="Times New Roman" panose="02020603050405020304" pitchFamily="18" charset="0"/>
              </a:rPr>
              <a:t>D) Star</a:t>
            </a:r>
          </a:p>
          <a:p>
            <a:pPr marL="0" indent="0">
              <a:buNone/>
            </a:pPr>
            <a:r>
              <a:rPr lang="en-US" sz="1400" dirty="0">
                <a:latin typeface="Times New Roman" panose="02020603050405020304" pitchFamily="18" charset="0"/>
                <a:cs typeface="Times New Roman" panose="02020603050405020304" pitchFamily="18" charset="0"/>
              </a:rPr>
              <a:t>7. </a:t>
            </a:r>
            <a:r>
              <a:rPr lang="en-US" sz="1400" b="1" dirty="0">
                <a:latin typeface="Times New Roman" panose="02020603050405020304" pitchFamily="18" charset="0"/>
                <a:cs typeface="Times New Roman" panose="02020603050405020304" pitchFamily="18" charset="0"/>
              </a:rPr>
              <a:t>In a distributed BFS algorithm using an adjacency matrix, what is the time complexity for visiting all vertices (V) and edges (E)?</a:t>
            </a:r>
            <a:br>
              <a:rPr lang="en-US" sz="1400" dirty="0">
                <a:latin typeface="Times New Roman" panose="02020603050405020304" pitchFamily="18" charset="0"/>
                <a:cs typeface="Times New Roman" panose="02020603050405020304" pitchFamily="18" charset="0"/>
              </a:rPr>
            </a:br>
            <a:r>
              <a:rPr lang="en-US" sz="1400" dirty="0">
                <a:latin typeface="Times New Roman" panose="02020603050405020304" pitchFamily="18" charset="0"/>
                <a:cs typeface="Times New Roman" panose="02020603050405020304" pitchFamily="18" charset="0"/>
              </a:rPr>
              <a:t>A) O(V + E)</a:t>
            </a:r>
            <a:br>
              <a:rPr lang="en-US" sz="1400" dirty="0">
                <a:latin typeface="Times New Roman" panose="02020603050405020304" pitchFamily="18" charset="0"/>
                <a:cs typeface="Times New Roman" panose="02020603050405020304" pitchFamily="18" charset="0"/>
              </a:rPr>
            </a:br>
            <a:r>
              <a:rPr lang="en-US" sz="1400" dirty="0">
                <a:latin typeface="Times New Roman" panose="02020603050405020304" pitchFamily="18" charset="0"/>
                <a:cs typeface="Times New Roman" panose="02020603050405020304" pitchFamily="18" charset="0"/>
              </a:rPr>
              <a:t>B) O(V²)</a:t>
            </a:r>
            <a:br>
              <a:rPr lang="en-US" sz="1400" dirty="0">
                <a:latin typeface="Times New Roman" panose="02020603050405020304" pitchFamily="18" charset="0"/>
                <a:cs typeface="Times New Roman" panose="02020603050405020304" pitchFamily="18" charset="0"/>
              </a:rPr>
            </a:br>
            <a:r>
              <a:rPr lang="en-US" sz="1400" dirty="0">
                <a:latin typeface="Times New Roman" panose="02020603050405020304" pitchFamily="18" charset="0"/>
                <a:cs typeface="Times New Roman" panose="02020603050405020304" pitchFamily="18" charset="0"/>
              </a:rPr>
              <a:t>C) O(E log V)</a:t>
            </a:r>
            <a:br>
              <a:rPr lang="en-US" sz="1400" dirty="0">
                <a:latin typeface="Times New Roman" panose="02020603050405020304" pitchFamily="18" charset="0"/>
                <a:cs typeface="Times New Roman" panose="02020603050405020304" pitchFamily="18" charset="0"/>
              </a:rPr>
            </a:br>
            <a:r>
              <a:rPr lang="en-US" sz="1400" dirty="0">
                <a:latin typeface="Times New Roman" panose="02020603050405020304" pitchFamily="18" charset="0"/>
                <a:cs typeface="Times New Roman" panose="02020603050405020304" pitchFamily="18" charset="0"/>
              </a:rPr>
              <a:t>D) O(V log E)</a:t>
            </a:r>
          </a:p>
          <a:p>
            <a:pPr marL="0" indent="0">
              <a:buNone/>
            </a:pPr>
            <a:r>
              <a:rPr lang="en-US" sz="1400" dirty="0">
                <a:latin typeface="Times New Roman" panose="02020603050405020304" pitchFamily="18" charset="0"/>
                <a:cs typeface="Times New Roman" panose="02020603050405020304" pitchFamily="18" charset="0"/>
              </a:rPr>
              <a:t>8.</a:t>
            </a:r>
            <a:r>
              <a:rPr lang="en-US" sz="1400" b="1" dirty="0">
                <a:latin typeface="Times New Roman" panose="02020603050405020304" pitchFamily="18" charset="0"/>
                <a:cs typeface="Times New Roman" panose="02020603050405020304" pitchFamily="18" charset="0"/>
              </a:rPr>
              <a:t> In CUDA programming, threads are grouped into:</a:t>
            </a:r>
            <a:br>
              <a:rPr lang="en-US" sz="1400" dirty="0">
                <a:latin typeface="Times New Roman" panose="02020603050405020304" pitchFamily="18" charset="0"/>
                <a:cs typeface="Times New Roman" panose="02020603050405020304" pitchFamily="18" charset="0"/>
              </a:rPr>
            </a:br>
            <a:r>
              <a:rPr lang="en-US" sz="1400" dirty="0">
                <a:latin typeface="Times New Roman" panose="02020603050405020304" pitchFamily="18" charset="0"/>
                <a:cs typeface="Times New Roman" panose="02020603050405020304" pitchFamily="18" charset="0"/>
              </a:rPr>
              <a:t>A) Kernels</a:t>
            </a:r>
            <a:br>
              <a:rPr lang="en-US" sz="1400" dirty="0">
                <a:latin typeface="Times New Roman" panose="02020603050405020304" pitchFamily="18" charset="0"/>
                <a:cs typeface="Times New Roman" panose="02020603050405020304" pitchFamily="18" charset="0"/>
              </a:rPr>
            </a:br>
            <a:r>
              <a:rPr lang="en-US" sz="1400" dirty="0">
                <a:latin typeface="Times New Roman" panose="02020603050405020304" pitchFamily="18" charset="0"/>
                <a:cs typeface="Times New Roman" panose="02020603050405020304" pitchFamily="18" charset="0"/>
              </a:rPr>
              <a:t>B) Blocks</a:t>
            </a:r>
            <a:br>
              <a:rPr lang="en-US" sz="1400" dirty="0">
                <a:latin typeface="Times New Roman" panose="02020603050405020304" pitchFamily="18" charset="0"/>
                <a:cs typeface="Times New Roman" panose="02020603050405020304" pitchFamily="18" charset="0"/>
              </a:rPr>
            </a:br>
            <a:r>
              <a:rPr lang="en-US" sz="1400" dirty="0">
                <a:latin typeface="Times New Roman" panose="02020603050405020304" pitchFamily="18" charset="0"/>
                <a:cs typeface="Times New Roman" panose="02020603050405020304" pitchFamily="18" charset="0"/>
              </a:rPr>
              <a:t>C) Processes</a:t>
            </a:r>
            <a:br>
              <a:rPr lang="en-US" sz="1400" dirty="0">
                <a:latin typeface="Times New Roman" panose="02020603050405020304" pitchFamily="18" charset="0"/>
                <a:cs typeface="Times New Roman" panose="02020603050405020304" pitchFamily="18" charset="0"/>
              </a:rPr>
            </a:br>
            <a:r>
              <a:rPr lang="en-US" sz="1400" dirty="0">
                <a:latin typeface="Times New Roman" panose="02020603050405020304" pitchFamily="18" charset="0"/>
                <a:cs typeface="Times New Roman" panose="02020603050405020304" pitchFamily="18" charset="0"/>
              </a:rPr>
              <a:t>D) Warps</a:t>
            </a:r>
          </a:p>
          <a:p>
            <a:pPr marL="0" indent="0">
              <a:buNone/>
            </a:pPr>
            <a:r>
              <a:rPr lang="en-US" sz="1400" dirty="0">
                <a:latin typeface="Times New Roman" panose="02020603050405020304" pitchFamily="18" charset="0"/>
                <a:cs typeface="Times New Roman" panose="02020603050405020304" pitchFamily="18" charset="0"/>
              </a:rPr>
              <a:t>9.</a:t>
            </a:r>
            <a:r>
              <a:rPr lang="en-US" sz="1400" b="1" dirty="0">
                <a:latin typeface="Times New Roman" panose="02020603050405020304" pitchFamily="18" charset="0"/>
                <a:cs typeface="Times New Roman" panose="02020603050405020304" pitchFamily="18" charset="0"/>
              </a:rPr>
              <a:t> Which matrix type is most efficient for representing graphs with a small number of edges relative to vertices?</a:t>
            </a:r>
            <a:br>
              <a:rPr lang="en-US" sz="1400" dirty="0">
                <a:latin typeface="Times New Roman" panose="02020603050405020304" pitchFamily="18" charset="0"/>
                <a:cs typeface="Times New Roman" panose="02020603050405020304" pitchFamily="18" charset="0"/>
              </a:rPr>
            </a:br>
            <a:r>
              <a:rPr lang="en-US" sz="1400" dirty="0">
                <a:latin typeface="Times New Roman" panose="02020603050405020304" pitchFamily="18" charset="0"/>
                <a:cs typeface="Times New Roman" panose="02020603050405020304" pitchFamily="18" charset="0"/>
              </a:rPr>
              <a:t>A) Dense matrix</a:t>
            </a:r>
            <a:br>
              <a:rPr lang="en-US" sz="1400" dirty="0">
                <a:latin typeface="Times New Roman" panose="02020603050405020304" pitchFamily="18" charset="0"/>
                <a:cs typeface="Times New Roman" panose="02020603050405020304" pitchFamily="18" charset="0"/>
              </a:rPr>
            </a:br>
            <a:r>
              <a:rPr lang="en-US" sz="1400" dirty="0">
                <a:latin typeface="Times New Roman" panose="02020603050405020304" pitchFamily="18" charset="0"/>
                <a:cs typeface="Times New Roman" panose="02020603050405020304" pitchFamily="18" charset="0"/>
              </a:rPr>
              <a:t>B) Sparse matrix</a:t>
            </a:r>
            <a:br>
              <a:rPr lang="en-US" sz="1400" dirty="0">
                <a:latin typeface="Times New Roman" panose="02020603050405020304" pitchFamily="18" charset="0"/>
                <a:cs typeface="Times New Roman" panose="02020603050405020304" pitchFamily="18" charset="0"/>
              </a:rPr>
            </a:br>
            <a:r>
              <a:rPr lang="en-US" sz="1400" dirty="0">
                <a:latin typeface="Times New Roman" panose="02020603050405020304" pitchFamily="18" charset="0"/>
                <a:cs typeface="Times New Roman" panose="02020603050405020304" pitchFamily="18" charset="0"/>
              </a:rPr>
              <a:t>C) Diagonal matrix</a:t>
            </a:r>
            <a:br>
              <a:rPr lang="en-US" sz="1400" dirty="0">
                <a:latin typeface="Times New Roman" panose="02020603050405020304" pitchFamily="18" charset="0"/>
                <a:cs typeface="Times New Roman" panose="02020603050405020304" pitchFamily="18" charset="0"/>
              </a:rPr>
            </a:br>
            <a:r>
              <a:rPr lang="en-US" sz="1400" dirty="0">
                <a:latin typeface="Times New Roman" panose="02020603050405020304" pitchFamily="18" charset="0"/>
                <a:cs typeface="Times New Roman" panose="02020603050405020304" pitchFamily="18" charset="0"/>
              </a:rPr>
              <a:t>D) Identity matrix</a:t>
            </a:r>
          </a:p>
          <a:p>
            <a:pPr marL="0" indent="0">
              <a:buNone/>
            </a:pPr>
            <a:endParaRPr lang="en-US" sz="1400" dirty="0">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ADEA0B5A-16C3-4F35-931E-AA20AFBCA20E}" type="datetime1">
              <a:rPr lang="en-IN" smtClean="0"/>
              <a:t>21-07-2025</a:t>
            </a:fld>
            <a:endParaRPr lang="en-US"/>
          </a:p>
        </p:txBody>
      </p:sp>
      <p:sp>
        <p:nvSpPr>
          <p:cNvPr id="5" name="Footer Placeholder 4"/>
          <p:cNvSpPr>
            <a:spLocks noGrp="1"/>
          </p:cNvSpPr>
          <p:nvPr>
            <p:ph type="ftr" sz="quarter" idx="11"/>
          </p:nvPr>
        </p:nvSpPr>
        <p:spPr>
          <a:xfrm>
            <a:off x="2514600" y="6356350"/>
            <a:ext cx="5029200" cy="365125"/>
          </a:xfrm>
        </p:spPr>
        <p:txBody>
          <a:bodyPr/>
          <a:lstStyle/>
          <a:p>
            <a:r>
              <a:rPr lang="en-US"/>
              <a:t>Ms. Purnima Pal      High Performance Computing             Unit III     </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82</a:t>
            </a:fld>
            <a:endParaRPr lang="en-US" dirty="0"/>
          </a:p>
        </p:txBody>
      </p:sp>
      <p:sp>
        <p:nvSpPr>
          <p:cNvPr id="7" name="Title 1"/>
          <p:cNvSpPr txBox="1">
            <a:spLocks/>
          </p:cNvSpPr>
          <p:nvPr/>
        </p:nvSpPr>
        <p:spPr>
          <a:xfrm>
            <a:off x="1371600" y="0"/>
            <a:ext cx="7772400" cy="685799"/>
          </a:xfrm>
          <a:prstGeom prst="rect">
            <a:avLst/>
          </a:prstGeom>
          <a:solidFill>
            <a:schemeClr val="accent2"/>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lang="en-US" sz="2400" b="1" dirty="0"/>
              <a:t>Daily Quiz</a:t>
            </a:r>
            <a:endParaRPr kumimoji="0" lang="en-US" sz="2400" b="1" i="0" u="none" strike="noStrike" kern="1200" cap="none" spc="0" normalizeH="0" baseline="0" noProof="0" dirty="0">
              <a:ln>
                <a:noFill/>
              </a:ln>
              <a:solidFill>
                <a:schemeClr val="dk1"/>
              </a:solidFill>
              <a:effectLst/>
              <a:uLnTx/>
              <a:uFillTx/>
            </a:endParaRPr>
          </a:p>
        </p:txBody>
      </p:sp>
      <p:sp>
        <p:nvSpPr>
          <p:cNvPr id="9" name="Title 1">
            <a:extLst>
              <a:ext uri="{FF2B5EF4-FFF2-40B4-BE49-F238E27FC236}">
                <a16:creationId xmlns:a16="http://schemas.microsoft.com/office/drawing/2014/main" id="{A47FB084-FF7E-C7D7-B646-3B77507CB4A7}"/>
              </a:ext>
            </a:extLst>
          </p:cNvPr>
          <p:cNvSpPr txBox="1">
            <a:spLocks/>
          </p:cNvSpPr>
          <p:nvPr/>
        </p:nvSpPr>
        <p:spPr>
          <a:xfrm>
            <a:off x="1267729" y="-1"/>
            <a:ext cx="7876271"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endParaRPr lang="en-US" sz="2400" b="1" dirty="0">
              <a:solidFill>
                <a:schemeClr val="tx1"/>
              </a:solidFill>
            </a:endParaRPr>
          </a:p>
          <a:p>
            <a:endParaRPr lang="en-US" sz="2400" b="1" dirty="0">
              <a:solidFill>
                <a:schemeClr val="tx1"/>
              </a:solidFill>
            </a:endParaRPr>
          </a:p>
          <a:p>
            <a:pPr marL="0" marR="0" lvl="0" indent="0" algn="ctr" defTabSz="914400" rtl="0" eaLnBrk="1" fontAlgn="auto" latinLnBrk="0" hangingPunct="1">
              <a:lnSpc>
                <a:spcPct val="100000"/>
              </a:lnSpc>
              <a:spcBef>
                <a:spcPct val="0"/>
              </a:spcBef>
              <a:spcAft>
                <a:spcPts val="0"/>
              </a:spcAft>
              <a:buClrTx/>
              <a:buSzTx/>
              <a:buFontTx/>
              <a:buNone/>
              <a:tabLst/>
              <a:defRPr/>
            </a:pPr>
            <a:r>
              <a:rPr lang="en-US" sz="2400" b="1" dirty="0"/>
              <a:t>Daily Quiz</a:t>
            </a:r>
            <a:endParaRPr kumimoji="0" lang="en-US" sz="2400" b="1" i="0" u="none" strike="noStrike" kern="1200" cap="none" spc="0" normalizeH="0" baseline="0" noProof="0" dirty="0">
              <a:ln>
                <a:noFill/>
              </a:ln>
              <a:solidFill>
                <a:schemeClr val="dk1"/>
              </a:solidFill>
              <a:effectLst/>
              <a:uLnTx/>
              <a:uFillTx/>
            </a:endParaRPr>
          </a:p>
          <a:p>
            <a:endParaRPr lang="en-US" sz="2400" b="1" dirty="0"/>
          </a:p>
          <a:p>
            <a:endParaRPr lang="en-US" sz="2400" b="1" dirty="0"/>
          </a:p>
        </p:txBody>
      </p:sp>
    </p:spTree>
    <p:extLst>
      <p:ext uri="{BB962C8B-B14F-4D97-AF65-F5344CB8AC3E}">
        <p14:creationId xmlns:p14="http://schemas.microsoft.com/office/powerpoint/2010/main" val="1006215575"/>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1143000"/>
            <a:ext cx="8229600" cy="5105400"/>
          </a:xfrm>
        </p:spPr>
        <p:txBody>
          <a:bodyPr>
            <a:noAutofit/>
          </a:bodyPr>
          <a:lstStyle/>
          <a:p>
            <a:pPr algn="just"/>
            <a:r>
              <a:rPr lang="en-US" sz="2000" dirty="0"/>
              <a:t>Explain with diagrams: Difference between shared memory and distributed memory systems.</a:t>
            </a:r>
          </a:p>
          <a:p>
            <a:pPr algn="just"/>
            <a:r>
              <a:rPr lang="en-US" sz="2000" dirty="0"/>
              <a:t>Draw and explain ring, mesh, torus, and hypercube topologies.</a:t>
            </a:r>
          </a:p>
          <a:p>
            <a:pPr algn="just"/>
            <a:r>
              <a:rPr lang="en-US" sz="2000" dirty="0"/>
              <a:t>Analyze latency and bandwidth trade-offs for each topology.</a:t>
            </a:r>
          </a:p>
          <a:p>
            <a:pPr algn="just"/>
            <a:r>
              <a:rPr lang="en-US" sz="2000" dirty="0"/>
              <a:t>Implement matrix-based BFS using sparse matrix-vector multiplication.</a:t>
            </a:r>
          </a:p>
          <a:p>
            <a:pPr algn="just"/>
            <a:r>
              <a:rPr lang="en-US" sz="2000" dirty="0"/>
              <a:t>Extend one CUDA kernel to perform sparse matrix multiplication.</a:t>
            </a:r>
          </a:p>
          <a:p>
            <a:pPr algn="just"/>
            <a:r>
              <a:rPr lang="en-US" sz="2000" dirty="0"/>
              <a:t>Compare CPU vs GPU performance for different matrix sizes.</a:t>
            </a:r>
          </a:p>
          <a:p>
            <a:pPr algn="just"/>
            <a:r>
              <a:rPr lang="en-US" sz="2000" dirty="0"/>
              <a:t>Compare performance with adjacency list-based BFS.</a:t>
            </a:r>
          </a:p>
          <a:p>
            <a:pPr algn="just"/>
            <a:r>
              <a:rPr lang="en-US" sz="2000" dirty="0"/>
              <a:t>Explain memory and computation advantages of sparse vs dense matrices.</a:t>
            </a:r>
          </a:p>
        </p:txBody>
      </p:sp>
      <p:sp>
        <p:nvSpPr>
          <p:cNvPr id="4" name="Date Placeholder 3"/>
          <p:cNvSpPr>
            <a:spLocks noGrp="1"/>
          </p:cNvSpPr>
          <p:nvPr>
            <p:ph type="dt" sz="half" idx="10"/>
          </p:nvPr>
        </p:nvSpPr>
        <p:spPr/>
        <p:txBody>
          <a:bodyPr/>
          <a:lstStyle/>
          <a:p>
            <a:fld id="{9C6A4385-EF6C-47A5-967E-C04FF2A18644}" type="datetime1">
              <a:rPr lang="en-IN" smtClean="0"/>
              <a:t>21-07-2025</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83</a:t>
            </a:fld>
            <a:endParaRPr lang="en-US"/>
          </a:p>
        </p:txBody>
      </p:sp>
      <p:sp>
        <p:nvSpPr>
          <p:cNvPr id="7" name="Title 1"/>
          <p:cNvSpPr txBox="1">
            <a:spLocks/>
          </p:cNvSpPr>
          <p:nvPr/>
        </p:nvSpPr>
        <p:spPr>
          <a:xfrm>
            <a:off x="1371600" y="0"/>
            <a:ext cx="7772400" cy="685799"/>
          </a:xfrm>
          <a:prstGeom prst="rect">
            <a:avLst/>
          </a:prstGeom>
          <a:solidFill>
            <a:schemeClr val="accent2"/>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400" b="1" i="0" u="none" strike="noStrike" kern="1200" cap="none" spc="0" normalizeH="0" baseline="0" noProof="0" dirty="0">
                <a:ln>
                  <a:noFill/>
                </a:ln>
                <a:solidFill>
                  <a:schemeClr val="dk1"/>
                </a:solidFill>
                <a:effectLst/>
                <a:uLnTx/>
                <a:uFillTx/>
                <a:latin typeface="Calibri (Body)"/>
              </a:rPr>
              <a:t>Weekly</a:t>
            </a:r>
            <a:r>
              <a:rPr kumimoji="0" lang="en-US" sz="2400" b="1" i="0" u="none" strike="noStrike" kern="1200" cap="none" spc="0" normalizeH="0" noProof="0" dirty="0">
                <a:ln>
                  <a:noFill/>
                </a:ln>
                <a:solidFill>
                  <a:schemeClr val="dk1"/>
                </a:solidFill>
                <a:effectLst/>
                <a:uLnTx/>
                <a:uFillTx/>
                <a:latin typeface="Calibri (Body)"/>
              </a:rPr>
              <a:t> Assignment</a:t>
            </a:r>
            <a:endParaRPr kumimoji="0" lang="en-US" sz="2400" b="1" i="0" u="none" strike="noStrike" kern="1200" cap="none" spc="0" normalizeH="0" baseline="0" noProof="0" dirty="0">
              <a:ln>
                <a:noFill/>
              </a:ln>
              <a:solidFill>
                <a:schemeClr val="dk1"/>
              </a:solidFill>
              <a:effectLst/>
              <a:uLnTx/>
              <a:uFillTx/>
              <a:latin typeface="Calibri (Body)"/>
            </a:endParaRPr>
          </a:p>
        </p:txBody>
      </p:sp>
      <p:sp>
        <p:nvSpPr>
          <p:cNvPr id="9" name="Footer Placeholder 4"/>
          <p:cNvSpPr>
            <a:spLocks noGrp="1"/>
          </p:cNvSpPr>
          <p:nvPr>
            <p:ph type="ftr" sz="quarter" idx="11"/>
          </p:nvPr>
        </p:nvSpPr>
        <p:spPr>
          <a:xfrm>
            <a:off x="2514600" y="6356350"/>
            <a:ext cx="5029200" cy="365125"/>
          </a:xfrm>
        </p:spPr>
        <p:txBody>
          <a:bodyPr/>
          <a:lstStyle/>
          <a:p>
            <a:r>
              <a:rPr lang="en-US"/>
              <a:t>Ms. Purnima Pal      High Performance Computing             Unit III     </a:t>
            </a:r>
            <a:endParaRPr lang="en-US" dirty="0"/>
          </a:p>
        </p:txBody>
      </p:sp>
      <p:sp>
        <p:nvSpPr>
          <p:cNvPr id="2" name="Title 1">
            <a:extLst>
              <a:ext uri="{FF2B5EF4-FFF2-40B4-BE49-F238E27FC236}">
                <a16:creationId xmlns:a16="http://schemas.microsoft.com/office/drawing/2014/main" id="{5AE76CA6-A729-D602-2C7D-232E92314CFA}"/>
              </a:ext>
            </a:extLst>
          </p:cNvPr>
          <p:cNvSpPr txBox="1">
            <a:spLocks/>
          </p:cNvSpPr>
          <p:nvPr/>
        </p:nvSpPr>
        <p:spPr>
          <a:xfrm>
            <a:off x="1267729" y="-3142"/>
            <a:ext cx="7876271"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endParaRPr lang="en-US" sz="2400" b="1" dirty="0">
              <a:solidFill>
                <a:schemeClr val="tx1"/>
              </a:solidFill>
            </a:endParaRPr>
          </a:p>
          <a:p>
            <a:endParaRPr lang="en-US" sz="2400" b="1" dirty="0">
              <a:solidFill>
                <a:schemeClr val="tx1"/>
              </a:solidFill>
            </a:endParaRPr>
          </a:p>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400" b="1" i="0" u="none" strike="noStrike" kern="1200" cap="none" spc="0" normalizeH="0" baseline="0" noProof="0" dirty="0">
                <a:ln>
                  <a:noFill/>
                </a:ln>
                <a:solidFill>
                  <a:schemeClr val="dk1"/>
                </a:solidFill>
                <a:effectLst/>
                <a:uLnTx/>
                <a:uFillTx/>
                <a:latin typeface="Calibri (Body)"/>
              </a:rPr>
              <a:t>Weekly</a:t>
            </a:r>
            <a:r>
              <a:rPr kumimoji="0" lang="en-US" sz="2400" b="1" i="0" u="none" strike="noStrike" kern="1200" cap="none" spc="0" normalizeH="0" noProof="0" dirty="0">
                <a:ln>
                  <a:noFill/>
                </a:ln>
                <a:solidFill>
                  <a:schemeClr val="dk1"/>
                </a:solidFill>
                <a:effectLst/>
                <a:uLnTx/>
                <a:uFillTx/>
                <a:latin typeface="Calibri (Body)"/>
              </a:rPr>
              <a:t> Assignment</a:t>
            </a:r>
            <a:endParaRPr kumimoji="0" lang="en-US" sz="2400" b="1" i="0" u="none" strike="noStrike" kern="1200" cap="none" spc="0" normalizeH="0" baseline="0" noProof="0" dirty="0">
              <a:ln>
                <a:noFill/>
              </a:ln>
              <a:solidFill>
                <a:schemeClr val="dk1"/>
              </a:solidFill>
              <a:effectLst/>
              <a:uLnTx/>
              <a:uFillTx/>
              <a:latin typeface="Calibri (Body)"/>
            </a:endParaRPr>
          </a:p>
          <a:p>
            <a:endParaRPr lang="en-US" sz="2400" b="1" dirty="0"/>
          </a:p>
          <a:p>
            <a:endParaRPr lang="en-US" sz="2400" b="1" dirty="0"/>
          </a:p>
        </p:txBody>
      </p:sp>
    </p:spTree>
    <p:extLst>
      <p:ext uri="{BB962C8B-B14F-4D97-AF65-F5344CB8AC3E}">
        <p14:creationId xmlns:p14="http://schemas.microsoft.com/office/powerpoint/2010/main" val="322592287"/>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1143000"/>
            <a:ext cx="8229600" cy="4525963"/>
          </a:xfrm>
        </p:spPr>
        <p:txBody>
          <a:bodyPr>
            <a:normAutofit/>
          </a:bodyPr>
          <a:lstStyle/>
          <a:p>
            <a:r>
              <a:rPr lang="en-US" sz="2000" dirty="0">
                <a:latin typeface="Times New Roman" panose="02020603050405020304" pitchFamily="18" charset="0"/>
                <a:cs typeface="Times New Roman" panose="02020603050405020304" pitchFamily="18" charset="0"/>
              </a:rPr>
              <a:t>What is a distributed memory architecture, and how does it differ from shared memory?</a:t>
            </a:r>
          </a:p>
          <a:p>
            <a:r>
              <a:rPr lang="en-US" sz="2000" dirty="0">
                <a:latin typeface="Times New Roman" panose="02020603050405020304" pitchFamily="18" charset="0"/>
                <a:cs typeface="Times New Roman" panose="02020603050405020304" pitchFamily="18" charset="0"/>
              </a:rPr>
              <a:t>Explain the working principle of a message passing network. </a:t>
            </a:r>
          </a:p>
          <a:p>
            <a:r>
              <a:rPr lang="en-US" sz="2000" dirty="0">
                <a:latin typeface="Times New Roman" panose="02020603050405020304" pitchFamily="18" charset="0"/>
                <a:cs typeface="Times New Roman" panose="02020603050405020304" pitchFamily="18" charset="0"/>
              </a:rPr>
              <a:t>Explain the Broadcast operation in MPI with a suitable example.</a:t>
            </a:r>
          </a:p>
          <a:p>
            <a:r>
              <a:rPr lang="en-US" sz="2000" dirty="0">
                <a:latin typeface="Times New Roman" panose="02020603050405020304" pitchFamily="18" charset="0"/>
                <a:cs typeface="Times New Roman" panose="02020603050405020304" pitchFamily="18" charset="0"/>
              </a:rPr>
              <a:t>What is Reduction in parallel computing? Mention use cases with sum, max, and min.</a:t>
            </a:r>
          </a:p>
          <a:p>
            <a:r>
              <a:rPr lang="en-US" sz="2000" dirty="0">
                <a:latin typeface="Times New Roman" panose="02020603050405020304" pitchFamily="18" charset="0"/>
                <a:cs typeface="Times New Roman" panose="02020603050405020304" pitchFamily="18" charset="0"/>
              </a:rPr>
              <a:t>Explain mesh, ring, and hypercube topologies with diagrams.</a:t>
            </a:r>
          </a:p>
        </p:txBody>
      </p:sp>
      <p:sp>
        <p:nvSpPr>
          <p:cNvPr id="4" name="Date Placeholder 3"/>
          <p:cNvSpPr>
            <a:spLocks noGrp="1"/>
          </p:cNvSpPr>
          <p:nvPr>
            <p:ph type="dt" sz="half" idx="10"/>
          </p:nvPr>
        </p:nvSpPr>
        <p:spPr/>
        <p:txBody>
          <a:bodyPr/>
          <a:lstStyle/>
          <a:p>
            <a:fld id="{B75EDDC3-6516-487E-A294-2F047C2241B9}" type="datetime1">
              <a:rPr lang="en-IN" smtClean="0"/>
              <a:t>21-07-2025</a:t>
            </a:fld>
            <a:endParaRPr lang="en-US"/>
          </a:p>
        </p:txBody>
      </p:sp>
      <p:sp>
        <p:nvSpPr>
          <p:cNvPr id="5" name="Footer Placeholder 4"/>
          <p:cNvSpPr>
            <a:spLocks noGrp="1"/>
          </p:cNvSpPr>
          <p:nvPr>
            <p:ph type="ftr" sz="quarter" idx="11"/>
          </p:nvPr>
        </p:nvSpPr>
        <p:spPr>
          <a:xfrm>
            <a:off x="2514600" y="6356350"/>
            <a:ext cx="5029200" cy="365125"/>
          </a:xfrm>
        </p:spPr>
        <p:txBody>
          <a:bodyPr/>
          <a:lstStyle/>
          <a:p>
            <a:r>
              <a:rPr lang="en-US"/>
              <a:t>Ms. Purnima Pal      High Performance Computing             Unit III     </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84</a:t>
            </a:fld>
            <a:endParaRPr lang="en-US"/>
          </a:p>
        </p:txBody>
      </p:sp>
      <p:sp>
        <p:nvSpPr>
          <p:cNvPr id="7" name="Title 1"/>
          <p:cNvSpPr txBox="1">
            <a:spLocks/>
          </p:cNvSpPr>
          <p:nvPr/>
        </p:nvSpPr>
        <p:spPr>
          <a:xfrm>
            <a:off x="1371600" y="0"/>
            <a:ext cx="7772400" cy="685799"/>
          </a:xfrm>
          <a:prstGeom prst="rect">
            <a:avLst/>
          </a:prstGeom>
          <a:solidFill>
            <a:schemeClr val="accent2"/>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2400" b="1" dirty="0"/>
              <a:t>Expected Questions for University Exam </a:t>
            </a:r>
          </a:p>
        </p:txBody>
      </p:sp>
      <p:sp>
        <p:nvSpPr>
          <p:cNvPr id="2" name="Title 1">
            <a:extLst>
              <a:ext uri="{FF2B5EF4-FFF2-40B4-BE49-F238E27FC236}">
                <a16:creationId xmlns:a16="http://schemas.microsoft.com/office/drawing/2014/main" id="{65D5E214-EED5-AAC0-06AF-824E5B55D0DA}"/>
              </a:ext>
            </a:extLst>
          </p:cNvPr>
          <p:cNvSpPr txBox="1">
            <a:spLocks/>
          </p:cNvSpPr>
          <p:nvPr/>
        </p:nvSpPr>
        <p:spPr>
          <a:xfrm>
            <a:off x="1267729" y="-1"/>
            <a:ext cx="7876271"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endParaRPr lang="en-US" sz="2400" b="1" dirty="0">
              <a:solidFill>
                <a:schemeClr val="tx1"/>
              </a:solidFill>
            </a:endParaRPr>
          </a:p>
          <a:p>
            <a:endParaRPr lang="en-US" sz="2400" b="1" dirty="0">
              <a:solidFill>
                <a:schemeClr val="tx1"/>
              </a:solidFill>
            </a:endParaRPr>
          </a:p>
          <a:p>
            <a:pPr lvl="0" algn="ctr">
              <a:spcBef>
                <a:spcPct val="0"/>
              </a:spcBef>
              <a:defRPr/>
            </a:pPr>
            <a:r>
              <a:rPr lang="en-US" sz="2400" b="1" dirty="0"/>
              <a:t>Expected Questions for University Exam </a:t>
            </a:r>
          </a:p>
          <a:p>
            <a:endParaRPr lang="en-US" sz="2400" b="1" dirty="0"/>
          </a:p>
          <a:p>
            <a:endParaRPr lang="en-US" sz="2400" b="1" dirty="0"/>
          </a:p>
        </p:txBody>
      </p:sp>
    </p:spTree>
    <p:extLst>
      <p:ext uri="{BB962C8B-B14F-4D97-AF65-F5344CB8AC3E}">
        <p14:creationId xmlns:p14="http://schemas.microsoft.com/office/powerpoint/2010/main" val="4022792437"/>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1143000"/>
            <a:ext cx="8229600" cy="4525963"/>
          </a:xfrm>
        </p:spPr>
        <p:txBody>
          <a:bodyPr>
            <a:normAutofit fontScale="77500" lnSpcReduction="20000"/>
          </a:bodyPr>
          <a:lstStyle/>
          <a:p>
            <a:endParaRPr lang="en-US" sz="1800" dirty="0"/>
          </a:p>
          <a:p>
            <a:r>
              <a:rPr lang="en-US" sz="2900" dirty="0">
                <a:latin typeface="Times New Roman" panose="02020603050405020304" pitchFamily="18" charset="0"/>
                <a:cs typeface="Times New Roman" panose="02020603050405020304" pitchFamily="18" charset="0"/>
              </a:rPr>
              <a:t>Distributed Memory &amp; Message Passing Networks</a:t>
            </a:r>
          </a:p>
          <a:p>
            <a:r>
              <a:rPr lang="en-US" sz="2900" dirty="0">
                <a:latin typeface="Times New Roman" panose="02020603050405020304" pitchFamily="18" charset="0"/>
                <a:cs typeface="Times New Roman" panose="02020603050405020304" pitchFamily="18" charset="0"/>
              </a:rPr>
              <a:t>Broadcast, Reduction, Prefix Sum</a:t>
            </a:r>
          </a:p>
          <a:p>
            <a:r>
              <a:rPr lang="en-US" sz="2900" dirty="0">
                <a:latin typeface="Times New Roman" panose="02020603050405020304" pitchFamily="18" charset="0"/>
                <a:cs typeface="Times New Roman" panose="02020603050405020304" pitchFamily="18" charset="0"/>
              </a:rPr>
              <a:t>Scatter and Gather</a:t>
            </a:r>
          </a:p>
          <a:p>
            <a:r>
              <a:rPr lang="en-US" sz="2900" dirty="0">
                <a:latin typeface="Times New Roman" panose="02020603050405020304" pitchFamily="18" charset="0"/>
                <a:cs typeface="Times New Roman" panose="02020603050405020304" pitchFamily="18" charset="0"/>
              </a:rPr>
              <a:t>Network Topologies for Parallel Computing-Ring, Mesh, Torus, Hypercube, Star, Tree: Different ways to interconnect processors.</a:t>
            </a:r>
          </a:p>
          <a:p>
            <a:r>
              <a:rPr lang="en-US" sz="2900" dirty="0">
                <a:latin typeface="Times New Roman" panose="02020603050405020304" pitchFamily="18" charset="0"/>
                <a:cs typeface="Times New Roman" panose="02020603050405020304" pitchFamily="18" charset="0"/>
              </a:rPr>
              <a:t>Network Optimization</a:t>
            </a:r>
          </a:p>
          <a:p>
            <a:r>
              <a:rPr lang="en-US" sz="2900" dirty="0">
                <a:latin typeface="Times New Roman" panose="02020603050405020304" pitchFamily="18" charset="0"/>
                <a:cs typeface="Times New Roman" panose="02020603050405020304" pitchFamily="18" charset="0"/>
              </a:rPr>
              <a:t>Distributed BFS (Breadth-First Search)</a:t>
            </a:r>
          </a:p>
          <a:p>
            <a:r>
              <a:rPr lang="en-US" sz="2900" dirty="0">
                <a:latin typeface="Times New Roman" panose="02020603050405020304" pitchFamily="18" charset="0"/>
                <a:cs typeface="Times New Roman" panose="02020603050405020304" pitchFamily="18" charset="0"/>
              </a:rPr>
              <a:t>Graphs and Adjacency Matrix</a:t>
            </a:r>
          </a:p>
          <a:p>
            <a:r>
              <a:rPr lang="en-US" sz="2900" dirty="0">
                <a:latin typeface="Times New Roman" panose="02020603050405020304" pitchFamily="18" charset="0"/>
                <a:cs typeface="Times New Roman" panose="02020603050405020304" pitchFamily="18" charset="0"/>
              </a:rPr>
              <a:t>Matrix-Based BFS</a:t>
            </a:r>
          </a:p>
          <a:p>
            <a:r>
              <a:rPr lang="en-US" sz="2900" dirty="0">
                <a:latin typeface="Times New Roman" panose="02020603050405020304" pitchFamily="18" charset="0"/>
                <a:cs typeface="Times New Roman" panose="02020603050405020304" pitchFamily="18" charset="0"/>
              </a:rPr>
              <a:t>CUDA Programming</a:t>
            </a:r>
          </a:p>
          <a:p>
            <a:r>
              <a:rPr lang="en-US" sz="2900" dirty="0">
                <a:latin typeface="Times New Roman" panose="02020603050405020304" pitchFamily="18" charset="0"/>
                <a:cs typeface="Times New Roman" panose="02020603050405020304" pitchFamily="18" charset="0"/>
              </a:rPr>
              <a:t>CUDA: NVIDIA’s platform for GPU programming.</a:t>
            </a:r>
          </a:p>
          <a:p>
            <a:r>
              <a:rPr lang="en-US" sz="2900" dirty="0">
                <a:latin typeface="Times New Roman" panose="02020603050405020304" pitchFamily="18" charset="0"/>
                <a:cs typeface="Times New Roman" panose="02020603050405020304" pitchFamily="18" charset="0"/>
              </a:rPr>
              <a:t>Parallel Matrix Operations</a:t>
            </a:r>
          </a:p>
          <a:p>
            <a:endParaRPr lang="en-US" dirty="0"/>
          </a:p>
        </p:txBody>
      </p:sp>
      <p:sp>
        <p:nvSpPr>
          <p:cNvPr id="4" name="Date Placeholder 3"/>
          <p:cNvSpPr>
            <a:spLocks noGrp="1"/>
          </p:cNvSpPr>
          <p:nvPr>
            <p:ph type="dt" sz="half" idx="10"/>
          </p:nvPr>
        </p:nvSpPr>
        <p:spPr/>
        <p:txBody>
          <a:bodyPr/>
          <a:lstStyle/>
          <a:p>
            <a:fld id="{00F3A4F8-CC83-4B3F-9247-3FA82FFF2837}" type="datetime1">
              <a:rPr lang="en-IN" smtClean="0"/>
              <a:t>21-07-2025</a:t>
            </a:fld>
            <a:endParaRPr lang="en-US"/>
          </a:p>
        </p:txBody>
      </p:sp>
      <p:sp>
        <p:nvSpPr>
          <p:cNvPr id="5" name="Footer Placeholder 4"/>
          <p:cNvSpPr>
            <a:spLocks noGrp="1"/>
          </p:cNvSpPr>
          <p:nvPr>
            <p:ph type="ftr" sz="quarter" idx="11"/>
          </p:nvPr>
        </p:nvSpPr>
        <p:spPr>
          <a:xfrm>
            <a:off x="2514600" y="6356350"/>
            <a:ext cx="5029200" cy="365125"/>
          </a:xfrm>
        </p:spPr>
        <p:txBody>
          <a:bodyPr/>
          <a:lstStyle/>
          <a:p>
            <a:r>
              <a:rPr lang="en-US"/>
              <a:t>Ms. Purnima Pal      High Performance Computing             Unit III     </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85</a:t>
            </a:fld>
            <a:endParaRPr lang="en-US"/>
          </a:p>
        </p:txBody>
      </p:sp>
      <p:sp>
        <p:nvSpPr>
          <p:cNvPr id="7" name="Title 1"/>
          <p:cNvSpPr txBox="1">
            <a:spLocks/>
          </p:cNvSpPr>
          <p:nvPr/>
        </p:nvSpPr>
        <p:spPr>
          <a:xfrm>
            <a:off x="1371600" y="0"/>
            <a:ext cx="7772400" cy="685799"/>
          </a:xfrm>
          <a:prstGeom prst="rect">
            <a:avLst/>
          </a:prstGeom>
          <a:solidFill>
            <a:schemeClr val="accent2"/>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2400" b="1" dirty="0"/>
              <a:t>Summary</a:t>
            </a:r>
          </a:p>
        </p:txBody>
      </p:sp>
      <p:sp>
        <p:nvSpPr>
          <p:cNvPr id="2" name="Title 1">
            <a:extLst>
              <a:ext uri="{FF2B5EF4-FFF2-40B4-BE49-F238E27FC236}">
                <a16:creationId xmlns:a16="http://schemas.microsoft.com/office/drawing/2014/main" id="{72417FC2-D427-DBE3-ADB6-44299A761443}"/>
              </a:ext>
            </a:extLst>
          </p:cNvPr>
          <p:cNvSpPr txBox="1">
            <a:spLocks/>
          </p:cNvSpPr>
          <p:nvPr/>
        </p:nvSpPr>
        <p:spPr>
          <a:xfrm>
            <a:off x="1371600" y="-58"/>
            <a:ext cx="777240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endParaRPr lang="en-US" sz="2400" b="1" dirty="0">
              <a:solidFill>
                <a:schemeClr val="tx1"/>
              </a:solidFill>
            </a:endParaRPr>
          </a:p>
          <a:p>
            <a:endParaRPr lang="en-US" sz="2400" b="1" dirty="0">
              <a:solidFill>
                <a:schemeClr val="tx1"/>
              </a:solidFill>
            </a:endParaRPr>
          </a:p>
          <a:p>
            <a:r>
              <a:rPr lang="en-US" sz="2400" b="1" dirty="0"/>
              <a:t>Recap</a:t>
            </a:r>
          </a:p>
          <a:p>
            <a:endParaRPr lang="en-US" sz="2400" b="1" dirty="0"/>
          </a:p>
          <a:p>
            <a:endParaRPr lang="en-US" sz="2400" b="1" dirty="0"/>
          </a:p>
        </p:txBody>
      </p:sp>
    </p:spTree>
    <p:extLst>
      <p:ext uri="{BB962C8B-B14F-4D97-AF65-F5344CB8AC3E}">
        <p14:creationId xmlns:p14="http://schemas.microsoft.com/office/powerpoint/2010/main" val="2097146385"/>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1143000"/>
            <a:ext cx="8229600" cy="4525963"/>
          </a:xfrm>
        </p:spPr>
        <p:txBody>
          <a:bodyPr>
            <a:normAutofit lnSpcReduction="10000"/>
          </a:bodyPr>
          <a:lstStyle/>
          <a:p>
            <a:r>
              <a:rPr lang="en-US" sz="2000" dirty="0">
                <a:latin typeface="Times New Roman" panose="02020603050405020304" pitchFamily="18" charset="0"/>
                <a:cs typeface="Times New Roman" panose="02020603050405020304" pitchFamily="18" charset="0"/>
              </a:rPr>
              <a:t>Thomas Sterling, Matthew Anderson, and Maciej </a:t>
            </a:r>
            <a:r>
              <a:rPr lang="en-US" sz="2000" dirty="0" err="1">
                <a:latin typeface="Times New Roman" panose="02020603050405020304" pitchFamily="18" charset="0"/>
                <a:cs typeface="Times New Roman" panose="02020603050405020304" pitchFamily="18" charset="0"/>
              </a:rPr>
              <a:t>Brodowicz</a:t>
            </a:r>
            <a:r>
              <a:rPr lang="en-US" sz="2000" dirty="0">
                <a:latin typeface="Times New Roman" panose="02020603050405020304" pitchFamily="18" charset="0"/>
                <a:cs typeface="Times New Roman" panose="02020603050405020304" pitchFamily="18" charset="0"/>
              </a:rPr>
              <a:t>, High Performance Computing: Modern Systems and Practices, Morgan Kaufmann, 2018.</a:t>
            </a:r>
          </a:p>
          <a:p>
            <a:r>
              <a:rPr lang="en-US" sz="2000" dirty="0">
                <a:latin typeface="Times New Roman" panose="02020603050405020304" pitchFamily="18" charset="0"/>
                <a:cs typeface="Times New Roman" panose="02020603050405020304" pitchFamily="18" charset="0"/>
              </a:rPr>
              <a:t>Barbara Chapman, Gabriele </a:t>
            </a:r>
            <a:r>
              <a:rPr lang="en-US" sz="2000" dirty="0" err="1">
                <a:latin typeface="Times New Roman" panose="02020603050405020304" pitchFamily="18" charset="0"/>
                <a:cs typeface="Times New Roman" panose="02020603050405020304" pitchFamily="18" charset="0"/>
              </a:rPr>
              <a:t>Jost</a:t>
            </a:r>
            <a:r>
              <a:rPr lang="en-US" sz="2000" dirty="0">
                <a:latin typeface="Times New Roman" panose="02020603050405020304" pitchFamily="18" charset="0"/>
                <a:cs typeface="Times New Roman" panose="02020603050405020304" pitchFamily="18" charset="0"/>
              </a:rPr>
              <a:t>, and Ruud van der Pas, Using OpenMP: Portable Shared Memory Parallel Programming, The MIT Press, 2007.</a:t>
            </a:r>
          </a:p>
          <a:p>
            <a:r>
              <a:rPr lang="en-US" sz="2000" dirty="0">
                <a:latin typeface="Times New Roman" panose="02020603050405020304" pitchFamily="18" charset="0"/>
                <a:cs typeface="Times New Roman" panose="02020603050405020304" pitchFamily="18" charset="0"/>
              </a:rPr>
              <a:t>Ananth Grama, Anshul Gupta, George </a:t>
            </a:r>
            <a:r>
              <a:rPr lang="en-US" sz="2000" dirty="0" err="1">
                <a:latin typeface="Times New Roman" panose="02020603050405020304" pitchFamily="18" charset="0"/>
                <a:cs typeface="Times New Roman" panose="02020603050405020304" pitchFamily="18" charset="0"/>
              </a:rPr>
              <a:t>Karypis</a:t>
            </a:r>
            <a:r>
              <a:rPr lang="en-US" sz="2000" dirty="0">
                <a:latin typeface="Times New Roman" panose="02020603050405020304" pitchFamily="18" charset="0"/>
                <a:cs typeface="Times New Roman" panose="02020603050405020304" pitchFamily="18" charset="0"/>
              </a:rPr>
              <a:t>, and Vipin Kumar, Introduction to Parallel Computing, 2nd Edition, Addison-Wesley, 2003.</a:t>
            </a:r>
          </a:p>
          <a:p>
            <a:r>
              <a:rPr lang="en-US" sz="2000" dirty="0">
                <a:latin typeface="Times New Roman" panose="02020603050405020304" pitchFamily="18" charset="0"/>
                <a:cs typeface="Times New Roman" panose="02020603050405020304" pitchFamily="18" charset="0"/>
              </a:rPr>
              <a:t>Tim Mattson et al., The OpenMP Common Core: A Hands-on Exploration, The MIT Press, 2019.</a:t>
            </a:r>
          </a:p>
          <a:p>
            <a:r>
              <a:rPr lang="en-US" sz="2000" dirty="0">
                <a:latin typeface="Times New Roman" panose="02020603050405020304" pitchFamily="18" charset="0"/>
                <a:cs typeface="Times New Roman" panose="02020603050405020304" pitchFamily="18" charset="0"/>
              </a:rPr>
              <a:t>Tim Mattson and Larry Meadows, A Hands-on Introduction to OpenMP, 1st Edition, The MIT Press, 2016.</a:t>
            </a:r>
          </a:p>
          <a:p>
            <a:r>
              <a:rPr lang="en-US" sz="2000" dirty="0">
                <a:latin typeface="Times New Roman" panose="02020603050405020304" pitchFamily="18" charset="0"/>
                <a:cs typeface="Times New Roman" panose="02020603050405020304" pitchFamily="18" charset="0"/>
              </a:rPr>
              <a:t>Ruud van der Pas, OpenMP Tasking Explained, Springer, 2021.Peter Pacheco, An Introduction to Parallel Programming, 1st Edition, Morgan Kaufmann, 2011.</a:t>
            </a:r>
          </a:p>
          <a:p>
            <a:endParaRPr lang="en-US" dirty="0"/>
          </a:p>
        </p:txBody>
      </p:sp>
      <p:sp>
        <p:nvSpPr>
          <p:cNvPr id="4" name="Date Placeholder 3"/>
          <p:cNvSpPr>
            <a:spLocks noGrp="1"/>
          </p:cNvSpPr>
          <p:nvPr>
            <p:ph type="dt" sz="half" idx="10"/>
          </p:nvPr>
        </p:nvSpPr>
        <p:spPr/>
        <p:txBody>
          <a:bodyPr/>
          <a:lstStyle/>
          <a:p>
            <a:fld id="{DD91B5AF-DDD4-4ADB-A44B-510EFACDB3F3}" type="datetime1">
              <a:rPr lang="en-IN" smtClean="0"/>
              <a:t>21-07-2025</a:t>
            </a:fld>
            <a:endParaRPr lang="en-US"/>
          </a:p>
        </p:txBody>
      </p:sp>
      <p:sp>
        <p:nvSpPr>
          <p:cNvPr id="5" name="Footer Placeholder 4"/>
          <p:cNvSpPr>
            <a:spLocks noGrp="1"/>
          </p:cNvSpPr>
          <p:nvPr>
            <p:ph type="ftr" sz="quarter" idx="11"/>
          </p:nvPr>
        </p:nvSpPr>
        <p:spPr>
          <a:xfrm>
            <a:off x="2514600" y="6356350"/>
            <a:ext cx="5029200" cy="365125"/>
          </a:xfrm>
        </p:spPr>
        <p:txBody>
          <a:bodyPr/>
          <a:lstStyle/>
          <a:p>
            <a:r>
              <a:rPr lang="en-US"/>
              <a:t>Ms. Purnima Pal      High Performance Computing             Unit III     </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86</a:t>
            </a:fld>
            <a:endParaRPr lang="en-US"/>
          </a:p>
        </p:txBody>
      </p:sp>
      <p:sp>
        <p:nvSpPr>
          <p:cNvPr id="7" name="Title 1"/>
          <p:cNvSpPr txBox="1">
            <a:spLocks/>
          </p:cNvSpPr>
          <p:nvPr/>
        </p:nvSpPr>
        <p:spPr>
          <a:xfrm>
            <a:off x="1371600" y="0"/>
            <a:ext cx="7772400" cy="685799"/>
          </a:xfrm>
          <a:prstGeom prst="rect">
            <a:avLst/>
          </a:prstGeom>
          <a:solidFill>
            <a:schemeClr val="accent2"/>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2400" b="1" dirty="0"/>
              <a:t>References</a:t>
            </a:r>
          </a:p>
        </p:txBody>
      </p:sp>
      <p:sp>
        <p:nvSpPr>
          <p:cNvPr id="2" name="Title 1">
            <a:extLst>
              <a:ext uri="{FF2B5EF4-FFF2-40B4-BE49-F238E27FC236}">
                <a16:creationId xmlns:a16="http://schemas.microsoft.com/office/drawing/2014/main" id="{FE5B2764-1929-F618-35AA-0169EB42E4E3}"/>
              </a:ext>
            </a:extLst>
          </p:cNvPr>
          <p:cNvSpPr txBox="1">
            <a:spLocks/>
          </p:cNvSpPr>
          <p:nvPr/>
        </p:nvSpPr>
        <p:spPr>
          <a:xfrm>
            <a:off x="1267729" y="17064"/>
            <a:ext cx="7876271"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endParaRPr lang="en-US" sz="2400" b="1" dirty="0">
              <a:solidFill>
                <a:schemeClr val="tx1"/>
              </a:solidFill>
            </a:endParaRPr>
          </a:p>
          <a:p>
            <a:endParaRPr lang="en-US" sz="2400" b="1" dirty="0">
              <a:solidFill>
                <a:schemeClr val="tx1"/>
              </a:solidFill>
            </a:endParaRPr>
          </a:p>
          <a:p>
            <a:r>
              <a:rPr lang="en-US" sz="2400" b="1" dirty="0">
                <a:solidFill>
                  <a:schemeClr val="tx1"/>
                </a:solidFill>
              </a:rPr>
              <a:t>References</a:t>
            </a:r>
            <a:endParaRPr lang="en-US" sz="2400" b="1" dirty="0"/>
          </a:p>
          <a:p>
            <a:endParaRPr lang="en-US" sz="2400" b="1" dirty="0"/>
          </a:p>
          <a:p>
            <a:endParaRPr lang="en-US" sz="2400" b="1" dirty="0"/>
          </a:p>
        </p:txBody>
      </p:sp>
    </p:spTree>
    <p:extLst>
      <p:ext uri="{BB962C8B-B14F-4D97-AF65-F5344CB8AC3E}">
        <p14:creationId xmlns:p14="http://schemas.microsoft.com/office/powerpoint/2010/main" val="3651446899"/>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A2B564-894A-CDB2-E3D1-C62CFD8CC1FA}"/>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65D5F62-4DE5-DA6C-3FD2-456D795F0221}"/>
              </a:ext>
            </a:extLst>
          </p:cNvPr>
          <p:cNvSpPr>
            <a:spLocks noGrp="1"/>
          </p:cNvSpPr>
          <p:nvPr>
            <p:ph idx="1"/>
          </p:nvPr>
        </p:nvSpPr>
        <p:spPr>
          <a:xfrm>
            <a:off x="533400" y="817164"/>
            <a:ext cx="8229600" cy="4851800"/>
          </a:xfrm>
        </p:spPr>
        <p:txBody>
          <a:bodyPr/>
          <a:lstStyle/>
          <a:p>
            <a:endParaRPr lang="en-US" sz="1800" dirty="0"/>
          </a:p>
          <a:p>
            <a:pPr marL="0" indent="0">
              <a:buNone/>
            </a:pPr>
            <a:r>
              <a:rPr lang="en-US" dirty="0"/>
              <a:t> </a:t>
            </a:r>
          </a:p>
        </p:txBody>
      </p:sp>
      <p:sp>
        <p:nvSpPr>
          <p:cNvPr id="4" name="Date Placeholder 3">
            <a:extLst>
              <a:ext uri="{FF2B5EF4-FFF2-40B4-BE49-F238E27FC236}">
                <a16:creationId xmlns:a16="http://schemas.microsoft.com/office/drawing/2014/main" id="{1A00894F-90FF-BD10-B7E3-1FCADF660C77}"/>
              </a:ext>
            </a:extLst>
          </p:cNvPr>
          <p:cNvSpPr>
            <a:spLocks noGrp="1"/>
          </p:cNvSpPr>
          <p:nvPr>
            <p:ph type="dt" sz="half" idx="10"/>
          </p:nvPr>
        </p:nvSpPr>
        <p:spPr/>
        <p:txBody>
          <a:bodyPr/>
          <a:lstStyle/>
          <a:p>
            <a:fld id="{A5AB5EC4-50E6-4C8E-A795-29D46F408544}" type="datetime1">
              <a:rPr lang="en-IN" smtClean="0"/>
              <a:t>21-07-2025</a:t>
            </a:fld>
            <a:endParaRPr lang="en-US"/>
          </a:p>
        </p:txBody>
      </p:sp>
      <p:sp>
        <p:nvSpPr>
          <p:cNvPr id="5" name="Footer Placeholder 4">
            <a:extLst>
              <a:ext uri="{FF2B5EF4-FFF2-40B4-BE49-F238E27FC236}">
                <a16:creationId xmlns:a16="http://schemas.microsoft.com/office/drawing/2014/main" id="{0C81BE36-CE9A-95F2-8052-6155F80A1FC4}"/>
              </a:ext>
            </a:extLst>
          </p:cNvPr>
          <p:cNvSpPr>
            <a:spLocks noGrp="1"/>
          </p:cNvSpPr>
          <p:nvPr>
            <p:ph type="ftr" sz="quarter" idx="11"/>
          </p:nvPr>
        </p:nvSpPr>
        <p:spPr>
          <a:xfrm>
            <a:off x="2514600" y="6356350"/>
            <a:ext cx="5029200" cy="365125"/>
          </a:xfrm>
        </p:spPr>
        <p:txBody>
          <a:bodyPr/>
          <a:lstStyle/>
          <a:p>
            <a:r>
              <a:rPr lang="en-US"/>
              <a:t>Ms. Purnima Pal      High Performance Computing             Unit III     </a:t>
            </a:r>
            <a:endParaRPr lang="en-US" dirty="0"/>
          </a:p>
        </p:txBody>
      </p:sp>
      <p:sp>
        <p:nvSpPr>
          <p:cNvPr id="6" name="Slide Number Placeholder 5">
            <a:extLst>
              <a:ext uri="{FF2B5EF4-FFF2-40B4-BE49-F238E27FC236}">
                <a16:creationId xmlns:a16="http://schemas.microsoft.com/office/drawing/2014/main" id="{55CB287D-CAE2-D420-5641-26BEF6C7EA6B}"/>
              </a:ext>
            </a:extLst>
          </p:cNvPr>
          <p:cNvSpPr>
            <a:spLocks noGrp="1"/>
          </p:cNvSpPr>
          <p:nvPr>
            <p:ph type="sldNum" sz="quarter" idx="12"/>
          </p:nvPr>
        </p:nvSpPr>
        <p:spPr/>
        <p:txBody>
          <a:bodyPr/>
          <a:lstStyle/>
          <a:p>
            <a:fld id="{B6F15528-21DE-4FAA-801E-634DDDAF4B2B}" type="slidenum">
              <a:rPr lang="en-US" smtClean="0"/>
              <a:pPr/>
              <a:t>87</a:t>
            </a:fld>
            <a:endParaRPr lang="en-US"/>
          </a:p>
        </p:txBody>
      </p:sp>
      <p:sp>
        <p:nvSpPr>
          <p:cNvPr id="9" name="Rectangle 3">
            <a:extLst>
              <a:ext uri="{FF2B5EF4-FFF2-40B4-BE49-F238E27FC236}">
                <a16:creationId xmlns:a16="http://schemas.microsoft.com/office/drawing/2014/main" id="{658F4FED-B9BA-122B-8A3E-3235D1D9D457}"/>
              </a:ext>
            </a:extLst>
          </p:cNvPr>
          <p:cNvSpPr>
            <a:spLocks noChangeArrowheads="1"/>
          </p:cNvSpPr>
          <p:nvPr/>
        </p:nvSpPr>
        <p:spPr bwMode="auto">
          <a:xfrm>
            <a:off x="227013" y="16843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
        <p:nvSpPr>
          <p:cNvPr id="2" name="Rectangle 1">
            <a:extLst>
              <a:ext uri="{FF2B5EF4-FFF2-40B4-BE49-F238E27FC236}">
                <a16:creationId xmlns:a16="http://schemas.microsoft.com/office/drawing/2014/main" id="{5B9A012E-E2C3-43A1-E845-8417771BEB94}"/>
              </a:ext>
            </a:extLst>
          </p:cNvPr>
          <p:cNvSpPr/>
          <p:nvPr/>
        </p:nvSpPr>
        <p:spPr>
          <a:xfrm>
            <a:off x="2819400" y="2859048"/>
            <a:ext cx="3657600" cy="768031"/>
          </a:xfrm>
          <a:prstGeom prst="rect">
            <a:avLst/>
          </a:prstGeom>
        </p:spPr>
        <p:txBody>
          <a:bodyPr wrap="square">
            <a:spAutoFit/>
          </a:bodyPr>
          <a:lstStyle/>
          <a:p>
            <a:pPr>
              <a:lnSpc>
                <a:spcPct val="107000"/>
              </a:lnSpc>
              <a:spcAft>
                <a:spcPts val="800"/>
              </a:spcAft>
            </a:pPr>
            <a:r>
              <a:rPr lang="en-IN" sz="4400" b="1" dirty="0">
                <a:solidFill>
                  <a:srgbClr val="C00000"/>
                </a:solidFill>
                <a:latin typeface="Times New Roman" panose="02020603050405020304" pitchFamily="18" charset="0"/>
                <a:cs typeface="Times New Roman" panose="02020603050405020304" pitchFamily="18" charset="0"/>
              </a:rPr>
              <a:t>THANK</a:t>
            </a:r>
            <a:r>
              <a:rPr lang="en-IN" sz="4400" b="1" dirty="0">
                <a:solidFill>
                  <a:schemeClr val="accent2">
                    <a:lumMod val="75000"/>
                  </a:schemeClr>
                </a:solidFill>
                <a:latin typeface="Times New Roman" panose="02020603050405020304" pitchFamily="18" charset="0"/>
                <a:cs typeface="Times New Roman" panose="02020603050405020304" pitchFamily="18" charset="0"/>
              </a:rPr>
              <a:t> </a:t>
            </a:r>
            <a:r>
              <a:rPr lang="en-IN" sz="4400" b="1" dirty="0">
                <a:solidFill>
                  <a:srgbClr val="C00000"/>
                </a:solidFill>
                <a:latin typeface="Times New Roman" panose="02020603050405020304" pitchFamily="18" charset="0"/>
                <a:cs typeface="Times New Roman" panose="02020603050405020304" pitchFamily="18" charset="0"/>
              </a:rPr>
              <a:t>YOU</a:t>
            </a:r>
          </a:p>
        </p:txBody>
      </p:sp>
    </p:spTree>
    <p:extLst>
      <p:ext uri="{BB962C8B-B14F-4D97-AF65-F5344CB8AC3E}">
        <p14:creationId xmlns:p14="http://schemas.microsoft.com/office/powerpoint/2010/main" val="4222442816"/>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Content Placeholder 4">
            <a:extLst>
              <a:ext uri="{FF2B5EF4-FFF2-40B4-BE49-F238E27FC236}">
                <a16:creationId xmlns:a16="http://schemas.microsoft.com/office/drawing/2014/main" id="{07A12207-6C38-8448-1A92-B897E787FD6D}"/>
              </a:ext>
            </a:extLst>
          </p:cNvPr>
          <p:cNvGraphicFramePr>
            <a:graphicFrameLocks noGrp="1"/>
          </p:cNvGraphicFramePr>
          <p:nvPr>
            <p:ph idx="1"/>
            <p:extLst>
              <p:ext uri="{D42A27DB-BD31-4B8C-83A1-F6EECF244321}">
                <p14:modId xmlns:p14="http://schemas.microsoft.com/office/powerpoint/2010/main" val="3620359351"/>
              </p:ext>
            </p:extLst>
          </p:nvPr>
        </p:nvGraphicFramePr>
        <p:xfrm>
          <a:off x="1143000" y="1600200"/>
          <a:ext cx="7543800" cy="3392964"/>
        </p:xfrm>
        <a:graphic>
          <a:graphicData uri="http://schemas.openxmlformats.org/drawingml/2006/table">
            <a:tbl>
              <a:tblPr firstRow="1" firstCol="1" bandRow="1">
                <a:tableStyleId>{5C22544A-7EE6-4342-B048-85BDC9FD1C3A}</a:tableStyleId>
              </a:tblPr>
              <a:tblGrid>
                <a:gridCol w="846417">
                  <a:extLst>
                    <a:ext uri="{9D8B030D-6E8A-4147-A177-3AD203B41FA5}">
                      <a16:colId xmlns:a16="http://schemas.microsoft.com/office/drawing/2014/main" val="1273850973"/>
                    </a:ext>
                  </a:extLst>
                </a:gridCol>
                <a:gridCol w="6697383">
                  <a:extLst>
                    <a:ext uri="{9D8B030D-6E8A-4147-A177-3AD203B41FA5}">
                      <a16:colId xmlns:a16="http://schemas.microsoft.com/office/drawing/2014/main" val="4124473478"/>
                    </a:ext>
                  </a:extLst>
                </a:gridCol>
              </a:tblGrid>
              <a:tr h="677130">
                <a:tc>
                  <a:txBody>
                    <a:bodyPr/>
                    <a:lstStyle/>
                    <a:p>
                      <a:pPr marL="0" marR="0">
                        <a:spcBef>
                          <a:spcPts val="0"/>
                        </a:spcBef>
                        <a:spcAft>
                          <a:spcPts val="0"/>
                        </a:spcAft>
                      </a:pPr>
                      <a:r>
                        <a:rPr lang="en-IN" sz="1000">
                          <a:effectLst/>
                        </a:rPr>
                        <a:t>Unit 1</a:t>
                      </a:r>
                      <a:endParaRPr lang="en-US" sz="1000">
                        <a:effectLst/>
                        <a:latin typeface="Calibri" panose="020F0502020204030204" pitchFamily="34" charset="0"/>
                        <a:ea typeface="Times New Roman" panose="02020603050405020304" pitchFamily="18" charset="0"/>
                        <a:cs typeface="Mangal" panose="00000400000000000000" pitchFamily="2"/>
                      </a:endParaRPr>
                    </a:p>
                  </a:txBody>
                  <a:tcPr marL="68580" marR="68580" marT="0" marB="0"/>
                </a:tc>
                <a:tc>
                  <a:txBody>
                    <a:bodyPr/>
                    <a:lstStyle/>
                    <a:p>
                      <a:pPr marL="0" marR="0">
                        <a:spcBef>
                          <a:spcPts val="0"/>
                        </a:spcBef>
                        <a:spcAft>
                          <a:spcPts val="0"/>
                        </a:spcAft>
                      </a:pPr>
                      <a:r>
                        <a:rPr lang="en-IN" sz="1000">
                          <a:effectLst/>
                        </a:rPr>
                        <a:t>https://youtu.be/HNF7m0TBWec?si=cBh22c11c583Ecf8</a:t>
                      </a:r>
                      <a:endParaRPr lang="en-US" sz="1000">
                        <a:effectLst/>
                        <a:latin typeface="Calibri" panose="020F0502020204030204" pitchFamily="34" charset="0"/>
                        <a:ea typeface="Times New Roman" panose="02020603050405020304" pitchFamily="18" charset="0"/>
                        <a:cs typeface="Mangal" panose="00000400000000000000" pitchFamily="2"/>
                      </a:endParaRPr>
                    </a:p>
                  </a:txBody>
                  <a:tcPr marL="68580" marR="68580" marT="0" marB="0"/>
                </a:tc>
                <a:extLst>
                  <a:ext uri="{0D108BD9-81ED-4DB2-BD59-A6C34878D82A}">
                    <a16:rowId xmlns:a16="http://schemas.microsoft.com/office/drawing/2014/main" val="3665109474"/>
                  </a:ext>
                </a:extLst>
              </a:tr>
              <a:tr h="770670">
                <a:tc>
                  <a:txBody>
                    <a:bodyPr/>
                    <a:lstStyle/>
                    <a:p>
                      <a:pPr marL="0" marR="0">
                        <a:spcBef>
                          <a:spcPts val="0"/>
                        </a:spcBef>
                        <a:spcAft>
                          <a:spcPts val="0"/>
                        </a:spcAft>
                      </a:pPr>
                      <a:r>
                        <a:rPr lang="en-IN" sz="1000">
                          <a:effectLst/>
                        </a:rPr>
                        <a:t>Unit 2</a:t>
                      </a:r>
                      <a:endParaRPr lang="en-US" sz="1000">
                        <a:effectLst/>
                        <a:latin typeface="Calibri" panose="020F0502020204030204" pitchFamily="34" charset="0"/>
                        <a:ea typeface="Times New Roman" panose="02020603050405020304" pitchFamily="18" charset="0"/>
                        <a:cs typeface="Mangal" panose="00000400000000000000" pitchFamily="2"/>
                      </a:endParaRPr>
                    </a:p>
                  </a:txBody>
                  <a:tcPr marL="68580" marR="68580" marT="0" marB="0"/>
                </a:tc>
                <a:tc>
                  <a:txBody>
                    <a:bodyPr/>
                    <a:lstStyle/>
                    <a:p>
                      <a:pPr marL="0" marR="0">
                        <a:spcBef>
                          <a:spcPts val="0"/>
                        </a:spcBef>
                        <a:spcAft>
                          <a:spcPts val="0"/>
                        </a:spcAft>
                      </a:pPr>
                      <a:r>
                        <a:rPr lang="en-IN" sz="1000" dirty="0">
                          <a:effectLst/>
                        </a:rPr>
                        <a:t>https://www.youtube.com/watch?v=FTXikoQr46U</a:t>
                      </a:r>
                      <a:endParaRPr lang="en-US" sz="1000" dirty="0">
                        <a:effectLst/>
                        <a:latin typeface="Calibri" panose="020F0502020204030204" pitchFamily="34" charset="0"/>
                        <a:ea typeface="Times New Roman" panose="02020603050405020304" pitchFamily="18" charset="0"/>
                        <a:cs typeface="Mangal" panose="00000400000000000000" pitchFamily="2"/>
                      </a:endParaRPr>
                    </a:p>
                  </a:txBody>
                  <a:tcPr marL="68580" marR="68580" marT="0" marB="0"/>
                </a:tc>
                <a:extLst>
                  <a:ext uri="{0D108BD9-81ED-4DB2-BD59-A6C34878D82A}">
                    <a16:rowId xmlns:a16="http://schemas.microsoft.com/office/drawing/2014/main" val="1525381043"/>
                  </a:ext>
                </a:extLst>
              </a:tr>
              <a:tr h="661913">
                <a:tc>
                  <a:txBody>
                    <a:bodyPr/>
                    <a:lstStyle/>
                    <a:p>
                      <a:pPr marL="0" marR="0">
                        <a:spcBef>
                          <a:spcPts val="0"/>
                        </a:spcBef>
                        <a:spcAft>
                          <a:spcPts val="0"/>
                        </a:spcAft>
                      </a:pPr>
                      <a:r>
                        <a:rPr lang="en-IN" sz="1000">
                          <a:effectLst/>
                        </a:rPr>
                        <a:t>Unit 3</a:t>
                      </a:r>
                      <a:endParaRPr lang="en-US" sz="1000">
                        <a:effectLst/>
                        <a:latin typeface="Calibri" panose="020F0502020204030204" pitchFamily="34" charset="0"/>
                        <a:ea typeface="Times New Roman" panose="02020603050405020304" pitchFamily="18" charset="0"/>
                        <a:cs typeface="Mangal" panose="00000400000000000000" pitchFamily="2"/>
                      </a:endParaRPr>
                    </a:p>
                  </a:txBody>
                  <a:tcPr marL="68580" marR="68580" marT="0" marB="0"/>
                </a:tc>
                <a:tc>
                  <a:txBody>
                    <a:bodyPr/>
                    <a:lstStyle/>
                    <a:p>
                      <a:pPr marL="0" marR="0">
                        <a:spcBef>
                          <a:spcPts val="0"/>
                        </a:spcBef>
                        <a:spcAft>
                          <a:spcPts val="0"/>
                        </a:spcAft>
                      </a:pPr>
                      <a:r>
                        <a:rPr lang="en-IN" sz="1000" dirty="0">
                          <a:effectLst/>
                        </a:rPr>
                        <a:t>https://www.youtube.com/watch?v=gE8KgD9D69k</a:t>
                      </a:r>
                      <a:endParaRPr lang="en-US" sz="1000" dirty="0">
                        <a:effectLst/>
                        <a:latin typeface="Calibri" panose="020F0502020204030204" pitchFamily="34" charset="0"/>
                        <a:ea typeface="Times New Roman" panose="02020603050405020304" pitchFamily="18" charset="0"/>
                        <a:cs typeface="Mangal" panose="00000400000000000000" pitchFamily="2"/>
                      </a:endParaRPr>
                    </a:p>
                  </a:txBody>
                  <a:tcPr marL="68580" marR="68580" marT="0" marB="0"/>
                </a:tc>
                <a:extLst>
                  <a:ext uri="{0D108BD9-81ED-4DB2-BD59-A6C34878D82A}">
                    <a16:rowId xmlns:a16="http://schemas.microsoft.com/office/drawing/2014/main" val="912483303"/>
                  </a:ext>
                </a:extLst>
              </a:tr>
              <a:tr h="674594">
                <a:tc>
                  <a:txBody>
                    <a:bodyPr/>
                    <a:lstStyle/>
                    <a:p>
                      <a:pPr marL="0" marR="0">
                        <a:spcBef>
                          <a:spcPts val="0"/>
                        </a:spcBef>
                        <a:spcAft>
                          <a:spcPts val="0"/>
                        </a:spcAft>
                      </a:pPr>
                      <a:r>
                        <a:rPr lang="en-IN" sz="1000">
                          <a:effectLst/>
                        </a:rPr>
                        <a:t>Unit 4</a:t>
                      </a:r>
                      <a:endParaRPr lang="en-US" sz="1000">
                        <a:effectLst/>
                        <a:latin typeface="Calibri" panose="020F0502020204030204" pitchFamily="34" charset="0"/>
                        <a:ea typeface="Times New Roman" panose="02020603050405020304" pitchFamily="18" charset="0"/>
                        <a:cs typeface="Mangal" panose="00000400000000000000" pitchFamily="2"/>
                      </a:endParaRPr>
                    </a:p>
                  </a:txBody>
                  <a:tcPr marL="68580" marR="68580" marT="0" marB="0"/>
                </a:tc>
                <a:tc>
                  <a:txBody>
                    <a:bodyPr/>
                    <a:lstStyle/>
                    <a:p>
                      <a:pPr marL="0" marR="0">
                        <a:spcBef>
                          <a:spcPts val="0"/>
                        </a:spcBef>
                        <a:spcAft>
                          <a:spcPts val="0"/>
                        </a:spcAft>
                      </a:pPr>
                      <a:r>
                        <a:rPr lang="en-IN" sz="1000" dirty="0">
                          <a:effectLst/>
                        </a:rPr>
                        <a:t>https://www.youtube.com/watch?v=kHV6wmG35po</a:t>
                      </a:r>
                      <a:endParaRPr lang="en-US" sz="1000" dirty="0">
                        <a:effectLst/>
                        <a:latin typeface="Calibri" panose="020F0502020204030204" pitchFamily="34" charset="0"/>
                        <a:ea typeface="Times New Roman" panose="02020603050405020304" pitchFamily="18" charset="0"/>
                        <a:cs typeface="Mangal" panose="00000400000000000000" pitchFamily="2"/>
                      </a:endParaRPr>
                    </a:p>
                  </a:txBody>
                  <a:tcPr marL="68580" marR="68580" marT="0" marB="0"/>
                </a:tc>
                <a:extLst>
                  <a:ext uri="{0D108BD9-81ED-4DB2-BD59-A6C34878D82A}">
                    <a16:rowId xmlns:a16="http://schemas.microsoft.com/office/drawing/2014/main" val="2513733304"/>
                  </a:ext>
                </a:extLst>
              </a:tr>
              <a:tr h="608657">
                <a:tc>
                  <a:txBody>
                    <a:bodyPr/>
                    <a:lstStyle/>
                    <a:p>
                      <a:pPr marL="0" marR="0">
                        <a:spcBef>
                          <a:spcPts val="0"/>
                        </a:spcBef>
                        <a:spcAft>
                          <a:spcPts val="0"/>
                        </a:spcAft>
                      </a:pPr>
                      <a:r>
                        <a:rPr lang="en-IN" sz="1000">
                          <a:effectLst/>
                        </a:rPr>
                        <a:t>Unit 5</a:t>
                      </a:r>
                      <a:endParaRPr lang="en-US" sz="1000">
                        <a:effectLst/>
                        <a:latin typeface="Calibri" panose="020F0502020204030204" pitchFamily="34" charset="0"/>
                        <a:ea typeface="Times New Roman" panose="02020603050405020304" pitchFamily="18" charset="0"/>
                        <a:cs typeface="Mangal" panose="00000400000000000000" pitchFamily="2"/>
                      </a:endParaRPr>
                    </a:p>
                  </a:txBody>
                  <a:tcPr marL="68580" marR="68580" marT="0" marB="0"/>
                </a:tc>
                <a:tc>
                  <a:txBody>
                    <a:bodyPr/>
                    <a:lstStyle/>
                    <a:p>
                      <a:pPr marL="0" marR="0">
                        <a:spcBef>
                          <a:spcPts val="0"/>
                        </a:spcBef>
                        <a:spcAft>
                          <a:spcPts val="0"/>
                        </a:spcAft>
                      </a:pPr>
                      <a:r>
                        <a:rPr lang="en-IN" sz="1000" dirty="0">
                          <a:effectLst/>
                        </a:rPr>
                        <a:t>https://www.youtube.com/watch?v=JeuP0oMQ8sQ</a:t>
                      </a:r>
                      <a:endParaRPr lang="en-US" sz="1000" dirty="0">
                        <a:effectLst/>
                        <a:latin typeface="Calibri" panose="020F0502020204030204" pitchFamily="34" charset="0"/>
                        <a:ea typeface="Times New Roman" panose="02020603050405020304" pitchFamily="18" charset="0"/>
                        <a:cs typeface="Mangal" panose="00000400000000000000" pitchFamily="2"/>
                      </a:endParaRPr>
                    </a:p>
                  </a:txBody>
                  <a:tcPr marL="68580" marR="68580" marT="0" marB="0"/>
                </a:tc>
                <a:extLst>
                  <a:ext uri="{0D108BD9-81ED-4DB2-BD59-A6C34878D82A}">
                    <a16:rowId xmlns:a16="http://schemas.microsoft.com/office/drawing/2014/main" val="2298837448"/>
                  </a:ext>
                </a:extLst>
              </a:tr>
            </a:tbl>
          </a:graphicData>
        </a:graphic>
      </p:graphicFrame>
      <p:sp>
        <p:nvSpPr>
          <p:cNvPr id="4" name="Date Placeholder 3"/>
          <p:cNvSpPr>
            <a:spLocks noGrp="1"/>
          </p:cNvSpPr>
          <p:nvPr>
            <p:ph type="dt" sz="half" idx="10"/>
          </p:nvPr>
        </p:nvSpPr>
        <p:spPr/>
        <p:txBody>
          <a:bodyPr/>
          <a:lstStyle/>
          <a:p>
            <a:fld id="{707B3FE0-D7E6-4FA6-A870-A6A3BB16F6A6}" type="datetime1">
              <a:rPr lang="en-IN" smtClean="0"/>
              <a:t>21-07-2025</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88</a:t>
            </a:fld>
            <a:endParaRPr lang="en-US"/>
          </a:p>
        </p:txBody>
      </p:sp>
      <p:sp>
        <p:nvSpPr>
          <p:cNvPr id="9" name="Footer Placeholder 4"/>
          <p:cNvSpPr>
            <a:spLocks noGrp="1"/>
          </p:cNvSpPr>
          <p:nvPr>
            <p:ph type="ftr" sz="quarter" idx="11"/>
          </p:nvPr>
        </p:nvSpPr>
        <p:spPr>
          <a:xfrm>
            <a:off x="2514600" y="6356350"/>
            <a:ext cx="5029200" cy="365125"/>
          </a:xfrm>
        </p:spPr>
        <p:txBody>
          <a:bodyPr/>
          <a:lstStyle/>
          <a:p>
            <a:r>
              <a:rPr lang="en-US"/>
              <a:t>Ms. Purnima Pal      High Performance Computing             Unit III     </a:t>
            </a:r>
            <a:endParaRPr lang="en-US" dirty="0"/>
          </a:p>
        </p:txBody>
      </p:sp>
      <p:sp>
        <p:nvSpPr>
          <p:cNvPr id="2" name="Title 1">
            <a:extLst>
              <a:ext uri="{FF2B5EF4-FFF2-40B4-BE49-F238E27FC236}">
                <a16:creationId xmlns:a16="http://schemas.microsoft.com/office/drawing/2014/main" id="{9D6423E9-6A79-CB27-602F-D2CAE81E98D1}"/>
              </a:ext>
            </a:extLst>
          </p:cNvPr>
          <p:cNvSpPr txBox="1">
            <a:spLocks/>
          </p:cNvSpPr>
          <p:nvPr/>
        </p:nvSpPr>
        <p:spPr>
          <a:xfrm>
            <a:off x="1267729" y="46163"/>
            <a:ext cx="7876271"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endParaRPr lang="en-US" sz="2400" b="1" dirty="0">
              <a:solidFill>
                <a:schemeClr val="tx1"/>
              </a:solidFill>
            </a:endParaRPr>
          </a:p>
          <a:p>
            <a:endParaRPr lang="en-US" sz="2400" b="1" dirty="0">
              <a:solidFill>
                <a:schemeClr val="tx1"/>
              </a:solidFill>
            </a:endParaRPr>
          </a:p>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400" b="0" i="0" u="none" strike="noStrike" kern="1200" cap="none" spc="0" normalizeH="0" baseline="0" noProof="0" dirty="0">
                <a:ln>
                  <a:noFill/>
                </a:ln>
                <a:solidFill>
                  <a:schemeClr val="dk1"/>
                </a:solidFill>
                <a:effectLst/>
                <a:uLnTx/>
                <a:uFillTx/>
                <a:latin typeface="Calibri (Body)"/>
              </a:rPr>
              <a:t>Faculty Video</a:t>
            </a:r>
            <a:r>
              <a:rPr kumimoji="0" lang="en-US" sz="2400" b="0" i="0" u="none" strike="noStrike" kern="1200" cap="none" spc="0" normalizeH="0" noProof="0" dirty="0">
                <a:ln>
                  <a:noFill/>
                </a:ln>
                <a:solidFill>
                  <a:schemeClr val="dk1"/>
                </a:solidFill>
                <a:effectLst/>
                <a:uLnTx/>
                <a:uFillTx/>
                <a:latin typeface="Calibri (Body)"/>
              </a:rPr>
              <a:t> Links, </a:t>
            </a:r>
            <a:r>
              <a:rPr kumimoji="0" lang="en-US" sz="2400" b="0" i="0" u="none" strike="noStrike" kern="1200" cap="none" spc="0" normalizeH="0" noProof="0" dirty="0" err="1">
                <a:ln>
                  <a:noFill/>
                </a:ln>
                <a:solidFill>
                  <a:schemeClr val="dk1"/>
                </a:solidFill>
                <a:effectLst/>
                <a:uLnTx/>
                <a:uFillTx/>
                <a:latin typeface="Calibri (Body)"/>
              </a:rPr>
              <a:t>Youtube</a:t>
            </a:r>
            <a:r>
              <a:rPr kumimoji="0" lang="en-US" sz="2400" b="0" i="0" u="none" strike="noStrike" kern="1200" cap="none" spc="0" normalizeH="0" noProof="0" dirty="0">
                <a:ln>
                  <a:noFill/>
                </a:ln>
                <a:solidFill>
                  <a:schemeClr val="dk1"/>
                </a:solidFill>
                <a:effectLst/>
                <a:uLnTx/>
                <a:uFillTx/>
                <a:latin typeface="Calibri (Body)"/>
              </a:rPr>
              <a:t> &amp; NPTEL Video Links and Online Courses Details  </a:t>
            </a:r>
            <a:endParaRPr kumimoji="0" lang="en-US" sz="2400" b="0" i="0" u="none" strike="noStrike" kern="1200" cap="none" spc="0" normalizeH="0" baseline="0" noProof="0" dirty="0">
              <a:ln>
                <a:noFill/>
              </a:ln>
              <a:solidFill>
                <a:schemeClr val="dk1"/>
              </a:solidFill>
              <a:effectLst/>
              <a:uLnTx/>
              <a:uFillTx/>
              <a:latin typeface="Calibri (Body)"/>
            </a:endParaRPr>
          </a:p>
          <a:p>
            <a:endParaRPr lang="en-US" sz="2400" b="1" dirty="0"/>
          </a:p>
          <a:p>
            <a:endParaRPr lang="en-US" sz="2400" b="1" dirty="0"/>
          </a:p>
        </p:txBody>
      </p:sp>
    </p:spTree>
    <p:extLst>
      <p:ext uri="{BB962C8B-B14F-4D97-AF65-F5344CB8AC3E}">
        <p14:creationId xmlns:p14="http://schemas.microsoft.com/office/powerpoint/2010/main" val="370921313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14065</TotalTime>
  <Words>7879</Words>
  <Application>Microsoft Office PowerPoint</Application>
  <PresentationFormat>On-screen Show (4:3)</PresentationFormat>
  <Paragraphs>1270</Paragraphs>
  <Slides>88</Slides>
  <Notes>4</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88</vt:i4>
      </vt:variant>
    </vt:vector>
  </HeadingPairs>
  <TitlesOfParts>
    <vt:vector size="95" baseType="lpstr">
      <vt:lpstr>Arial</vt:lpstr>
      <vt:lpstr>Calibri</vt:lpstr>
      <vt:lpstr>Calibri (Body)</vt:lpstr>
      <vt:lpstr>source-serif-pro</vt:lpstr>
      <vt:lpstr>Times New Roman</vt:lpstr>
      <vt:lpstr>Wingdings</vt:lpstr>
      <vt:lpstr>Office Theme</vt:lpstr>
      <vt:lpstr>Noida Institute of Engineering and Technology, Greater Noida</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Result Analysis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surya</dc:creator>
  <cp:lastModifiedBy>PURNIMA  PAL</cp:lastModifiedBy>
  <cp:revision>297</cp:revision>
  <dcterms:created xsi:type="dcterms:W3CDTF">2016-03-07T16:35:58Z</dcterms:created>
  <dcterms:modified xsi:type="dcterms:W3CDTF">2025-07-21T04:24:16Z</dcterms:modified>
</cp:coreProperties>
</file>