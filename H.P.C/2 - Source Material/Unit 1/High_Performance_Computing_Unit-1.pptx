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4"/>
  </p:notesMasterIdLst>
  <p:sldIdLst>
    <p:sldId id="362" r:id="rId2"/>
    <p:sldId id="589" r:id="rId3"/>
    <p:sldId id="1414" r:id="rId4"/>
    <p:sldId id="278" r:id="rId5"/>
    <p:sldId id="279" r:id="rId6"/>
    <p:sldId id="1402" r:id="rId7"/>
    <p:sldId id="1403" r:id="rId8"/>
    <p:sldId id="531" r:id="rId9"/>
    <p:sldId id="1404" r:id="rId10"/>
    <p:sldId id="1405" r:id="rId11"/>
    <p:sldId id="1415" r:id="rId12"/>
    <p:sldId id="1416" r:id="rId13"/>
    <p:sldId id="1417" r:id="rId14"/>
    <p:sldId id="1408" r:id="rId15"/>
    <p:sldId id="1409" r:id="rId16"/>
    <p:sldId id="507" r:id="rId17"/>
    <p:sldId id="291" r:id="rId18"/>
    <p:sldId id="1406" r:id="rId19"/>
    <p:sldId id="256" r:id="rId20"/>
    <p:sldId id="1419" r:id="rId21"/>
    <p:sldId id="1418" r:id="rId22"/>
    <p:sldId id="328" r:id="rId23"/>
    <p:sldId id="329" r:id="rId24"/>
    <p:sldId id="330" r:id="rId25"/>
    <p:sldId id="331" r:id="rId26"/>
    <p:sldId id="332" r:id="rId27"/>
    <p:sldId id="342" r:id="rId28"/>
    <p:sldId id="257" r:id="rId29"/>
    <p:sldId id="1420" r:id="rId30"/>
    <p:sldId id="258" r:id="rId31"/>
    <p:sldId id="1421" r:id="rId32"/>
    <p:sldId id="259" r:id="rId33"/>
    <p:sldId id="1422" r:id="rId34"/>
    <p:sldId id="1423" r:id="rId35"/>
    <p:sldId id="1424" r:id="rId36"/>
    <p:sldId id="1425" r:id="rId37"/>
    <p:sldId id="260" r:id="rId38"/>
    <p:sldId id="282" r:id="rId39"/>
    <p:sldId id="1429" r:id="rId40"/>
    <p:sldId id="1430" r:id="rId41"/>
    <p:sldId id="1431" r:id="rId42"/>
    <p:sldId id="281" r:id="rId43"/>
    <p:sldId id="1432" r:id="rId44"/>
    <p:sldId id="1433" r:id="rId45"/>
    <p:sldId id="1434" r:id="rId46"/>
    <p:sldId id="1435" r:id="rId47"/>
    <p:sldId id="1436" r:id="rId48"/>
    <p:sldId id="1426" r:id="rId49"/>
    <p:sldId id="261" r:id="rId50"/>
    <p:sldId id="1451" r:id="rId51"/>
    <p:sldId id="1453" r:id="rId52"/>
    <p:sldId id="262" r:id="rId53"/>
    <p:sldId id="1441" r:id="rId54"/>
    <p:sldId id="1443" r:id="rId55"/>
    <p:sldId id="1444" r:id="rId56"/>
    <p:sldId id="298" r:id="rId57"/>
    <p:sldId id="299" r:id="rId58"/>
    <p:sldId id="303" r:id="rId59"/>
    <p:sldId id="300" r:id="rId60"/>
    <p:sldId id="302" r:id="rId61"/>
    <p:sldId id="301" r:id="rId62"/>
    <p:sldId id="1445" r:id="rId63"/>
    <p:sldId id="1446" r:id="rId64"/>
    <p:sldId id="1447" r:id="rId65"/>
    <p:sldId id="267" r:id="rId66"/>
    <p:sldId id="268" r:id="rId67"/>
    <p:sldId id="269" r:id="rId68"/>
    <p:sldId id="1448" r:id="rId69"/>
    <p:sldId id="1450" r:id="rId70"/>
    <p:sldId id="285" r:id="rId71"/>
    <p:sldId id="263" r:id="rId72"/>
    <p:sldId id="264" r:id="rId73"/>
    <p:sldId id="1437" r:id="rId74"/>
    <p:sldId id="1438" r:id="rId75"/>
    <p:sldId id="270" r:id="rId76"/>
    <p:sldId id="1439" r:id="rId77"/>
    <p:sldId id="1440" r:id="rId78"/>
    <p:sldId id="265" r:id="rId79"/>
    <p:sldId id="266" r:id="rId80"/>
    <p:sldId id="695" r:id="rId81"/>
    <p:sldId id="696" r:id="rId82"/>
    <p:sldId id="697" r:id="rId83"/>
    <p:sldId id="698" r:id="rId84"/>
    <p:sldId id="699" r:id="rId85"/>
    <p:sldId id="701" r:id="rId86"/>
    <p:sldId id="709" r:id="rId87"/>
    <p:sldId id="711" r:id="rId88"/>
    <p:sldId id="720" r:id="rId89"/>
    <p:sldId id="722" r:id="rId90"/>
    <p:sldId id="1427" r:id="rId91"/>
    <p:sldId id="1428" r:id="rId92"/>
    <p:sldId id="283" r:id="rId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752"/>
  </p:normalViewPr>
  <p:slideViewPr>
    <p:cSldViewPr snapToGrid="0" snapToObjects="1">
      <p:cViewPr varScale="1">
        <p:scale>
          <a:sx n="116" d="100"/>
          <a:sy n="116" d="100"/>
        </p:scale>
        <p:origin x="118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iagrams/_rels/data1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555E2B-3EEB-412B-853F-76E9FE6BAAB9}"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9DA7699E-D6D4-45C2-A561-55893A36D2E7}">
      <dgm:prSet custT="1"/>
      <dgm:spPr/>
      <dgm:t>
        <a:bodyPr/>
        <a:lstStyle/>
        <a:p>
          <a:r>
            <a:rPr lang="en-US" sz="3200" dirty="0"/>
            <a:t>Problem-solving method for computer-executable solutions</a:t>
          </a:r>
        </a:p>
      </dgm:t>
    </dgm:pt>
    <dgm:pt modelId="{B11A7D17-1B84-4F60-9AF8-730058819BAD}" type="parTrans" cxnId="{DCB2C273-5406-4C71-BC59-B1FAFE658E8E}">
      <dgm:prSet/>
      <dgm:spPr/>
      <dgm:t>
        <a:bodyPr/>
        <a:lstStyle/>
        <a:p>
          <a:endParaRPr lang="en-US"/>
        </a:p>
      </dgm:t>
    </dgm:pt>
    <dgm:pt modelId="{B22F04AA-D2C5-41DA-A20D-7689C3032B4A}" type="sibTrans" cxnId="{DCB2C273-5406-4C71-BC59-B1FAFE658E8E}">
      <dgm:prSet/>
      <dgm:spPr/>
      <dgm:t>
        <a:bodyPr/>
        <a:lstStyle/>
        <a:p>
          <a:endParaRPr lang="en-US"/>
        </a:p>
      </dgm:t>
    </dgm:pt>
    <dgm:pt modelId="{0F050F97-AB9F-4124-8496-6F768405B6D0}">
      <dgm:prSet custT="1"/>
      <dgm:spPr/>
      <dgm:t>
        <a:bodyPr/>
        <a:lstStyle/>
        <a:p>
          <a:r>
            <a:rPr lang="en-US" sz="3200" dirty="0"/>
            <a:t>Components: Decomposition, Pattern Recognition, Abstraction, Algorithms</a:t>
          </a:r>
        </a:p>
      </dgm:t>
    </dgm:pt>
    <dgm:pt modelId="{2CD5FC29-6A3C-4834-8AF9-9F1FD9C48ED4}" type="parTrans" cxnId="{6597400C-8F92-4C90-9F5D-628187B7596D}">
      <dgm:prSet/>
      <dgm:spPr/>
      <dgm:t>
        <a:bodyPr/>
        <a:lstStyle/>
        <a:p>
          <a:endParaRPr lang="en-US"/>
        </a:p>
      </dgm:t>
    </dgm:pt>
    <dgm:pt modelId="{F8844403-B5B3-4BF1-8B57-B174DEABC6FE}" type="sibTrans" cxnId="{6597400C-8F92-4C90-9F5D-628187B7596D}">
      <dgm:prSet/>
      <dgm:spPr/>
      <dgm:t>
        <a:bodyPr/>
        <a:lstStyle/>
        <a:p>
          <a:endParaRPr lang="en-US"/>
        </a:p>
      </dgm:t>
    </dgm:pt>
    <dgm:pt modelId="{EADDDEDD-C733-489A-A3B5-1CF45B922773}">
      <dgm:prSet custT="1"/>
      <dgm:spPr/>
      <dgm:t>
        <a:bodyPr/>
        <a:lstStyle/>
        <a:p>
          <a:r>
            <a:rPr lang="en-US" sz="3200" dirty="0"/>
            <a:t>Fundamental for coding and real-world problem solving</a:t>
          </a:r>
        </a:p>
      </dgm:t>
    </dgm:pt>
    <dgm:pt modelId="{564094A0-767D-4EF1-91C0-B157C247B754}" type="parTrans" cxnId="{72EE269C-9DD0-4946-990F-5091C1C32E2D}">
      <dgm:prSet/>
      <dgm:spPr/>
      <dgm:t>
        <a:bodyPr/>
        <a:lstStyle/>
        <a:p>
          <a:endParaRPr lang="en-US"/>
        </a:p>
      </dgm:t>
    </dgm:pt>
    <dgm:pt modelId="{A986A456-A8FB-4D5D-97BD-EC6D937DAB6D}" type="sibTrans" cxnId="{72EE269C-9DD0-4946-990F-5091C1C32E2D}">
      <dgm:prSet/>
      <dgm:spPr/>
      <dgm:t>
        <a:bodyPr/>
        <a:lstStyle/>
        <a:p>
          <a:endParaRPr lang="en-US"/>
        </a:p>
      </dgm:t>
    </dgm:pt>
    <dgm:pt modelId="{463ADBC3-D2D0-D542-B50C-41CBC60FDAA2}" type="pres">
      <dgm:prSet presAssocID="{C4555E2B-3EEB-412B-853F-76E9FE6BAAB9}" presName="vert0" presStyleCnt="0">
        <dgm:presLayoutVars>
          <dgm:dir/>
          <dgm:animOne val="branch"/>
          <dgm:animLvl val="lvl"/>
        </dgm:presLayoutVars>
      </dgm:prSet>
      <dgm:spPr/>
    </dgm:pt>
    <dgm:pt modelId="{0253950C-8DC7-FB48-B87E-71D18235701D}" type="pres">
      <dgm:prSet presAssocID="{9DA7699E-D6D4-45C2-A561-55893A36D2E7}" presName="thickLine" presStyleLbl="alignNode1" presStyleIdx="0" presStyleCnt="3"/>
      <dgm:spPr/>
    </dgm:pt>
    <dgm:pt modelId="{B538E818-430F-124A-8B8C-77AE1CAD00ED}" type="pres">
      <dgm:prSet presAssocID="{9DA7699E-D6D4-45C2-A561-55893A36D2E7}" presName="horz1" presStyleCnt="0"/>
      <dgm:spPr/>
    </dgm:pt>
    <dgm:pt modelId="{ED219A63-D49C-9F45-920D-7A9F3ACA7696}" type="pres">
      <dgm:prSet presAssocID="{9DA7699E-D6D4-45C2-A561-55893A36D2E7}" presName="tx1" presStyleLbl="revTx" presStyleIdx="0" presStyleCnt="3"/>
      <dgm:spPr/>
    </dgm:pt>
    <dgm:pt modelId="{9FDA9958-1E7D-634C-B2D8-7671690F7ED3}" type="pres">
      <dgm:prSet presAssocID="{9DA7699E-D6D4-45C2-A561-55893A36D2E7}" presName="vert1" presStyleCnt="0"/>
      <dgm:spPr/>
    </dgm:pt>
    <dgm:pt modelId="{7CC94B0C-70C5-1D42-AAAE-B4DA0247FF9E}" type="pres">
      <dgm:prSet presAssocID="{0F050F97-AB9F-4124-8496-6F768405B6D0}" presName="thickLine" presStyleLbl="alignNode1" presStyleIdx="1" presStyleCnt="3"/>
      <dgm:spPr/>
    </dgm:pt>
    <dgm:pt modelId="{A761539E-4BBE-7348-9CF3-0A722EA4481A}" type="pres">
      <dgm:prSet presAssocID="{0F050F97-AB9F-4124-8496-6F768405B6D0}" presName="horz1" presStyleCnt="0"/>
      <dgm:spPr/>
    </dgm:pt>
    <dgm:pt modelId="{08A37F8D-CB17-3640-835C-B969C2CF5D9F}" type="pres">
      <dgm:prSet presAssocID="{0F050F97-AB9F-4124-8496-6F768405B6D0}" presName="tx1" presStyleLbl="revTx" presStyleIdx="1" presStyleCnt="3"/>
      <dgm:spPr/>
    </dgm:pt>
    <dgm:pt modelId="{F10E62C7-D9B4-5745-8239-1BD19D77606E}" type="pres">
      <dgm:prSet presAssocID="{0F050F97-AB9F-4124-8496-6F768405B6D0}" presName="vert1" presStyleCnt="0"/>
      <dgm:spPr/>
    </dgm:pt>
    <dgm:pt modelId="{075649E3-8243-304B-978A-BC5A55B92BF7}" type="pres">
      <dgm:prSet presAssocID="{EADDDEDD-C733-489A-A3B5-1CF45B922773}" presName="thickLine" presStyleLbl="alignNode1" presStyleIdx="2" presStyleCnt="3"/>
      <dgm:spPr/>
    </dgm:pt>
    <dgm:pt modelId="{C73AE20B-F8D6-7B47-903D-8EC5FB764CF1}" type="pres">
      <dgm:prSet presAssocID="{EADDDEDD-C733-489A-A3B5-1CF45B922773}" presName="horz1" presStyleCnt="0"/>
      <dgm:spPr/>
    </dgm:pt>
    <dgm:pt modelId="{58431E61-EE90-0545-A7C2-70C1DB4D6367}" type="pres">
      <dgm:prSet presAssocID="{EADDDEDD-C733-489A-A3B5-1CF45B922773}" presName="tx1" presStyleLbl="revTx" presStyleIdx="2" presStyleCnt="3"/>
      <dgm:spPr/>
    </dgm:pt>
    <dgm:pt modelId="{F6AECD2E-99F8-EE47-9DD1-1C1D368F9F16}" type="pres">
      <dgm:prSet presAssocID="{EADDDEDD-C733-489A-A3B5-1CF45B922773}" presName="vert1" presStyleCnt="0"/>
      <dgm:spPr/>
    </dgm:pt>
  </dgm:ptLst>
  <dgm:cxnLst>
    <dgm:cxn modelId="{6597400C-8F92-4C90-9F5D-628187B7596D}" srcId="{C4555E2B-3EEB-412B-853F-76E9FE6BAAB9}" destId="{0F050F97-AB9F-4124-8496-6F768405B6D0}" srcOrd="1" destOrd="0" parTransId="{2CD5FC29-6A3C-4834-8AF9-9F1FD9C48ED4}" sibTransId="{F8844403-B5B3-4BF1-8B57-B174DEABC6FE}"/>
    <dgm:cxn modelId="{CAEB5C31-0C9F-9C44-859C-3AB67895ABE4}" type="presOf" srcId="{9DA7699E-D6D4-45C2-A561-55893A36D2E7}" destId="{ED219A63-D49C-9F45-920D-7A9F3ACA7696}" srcOrd="0" destOrd="0" presId="urn:microsoft.com/office/officeart/2008/layout/LinedList"/>
    <dgm:cxn modelId="{33E09738-04B0-1143-AF91-ADD9ADD97F1D}" type="presOf" srcId="{EADDDEDD-C733-489A-A3B5-1CF45B922773}" destId="{58431E61-EE90-0545-A7C2-70C1DB4D6367}" srcOrd="0" destOrd="0" presId="urn:microsoft.com/office/officeart/2008/layout/LinedList"/>
    <dgm:cxn modelId="{0C693D54-B7F2-F946-8F7B-A95C5A32843F}" type="presOf" srcId="{0F050F97-AB9F-4124-8496-6F768405B6D0}" destId="{08A37F8D-CB17-3640-835C-B969C2CF5D9F}" srcOrd="0" destOrd="0" presId="urn:microsoft.com/office/officeart/2008/layout/LinedList"/>
    <dgm:cxn modelId="{DCB2C273-5406-4C71-BC59-B1FAFE658E8E}" srcId="{C4555E2B-3EEB-412B-853F-76E9FE6BAAB9}" destId="{9DA7699E-D6D4-45C2-A561-55893A36D2E7}" srcOrd="0" destOrd="0" parTransId="{B11A7D17-1B84-4F60-9AF8-730058819BAD}" sibTransId="{B22F04AA-D2C5-41DA-A20D-7689C3032B4A}"/>
    <dgm:cxn modelId="{72EE269C-9DD0-4946-990F-5091C1C32E2D}" srcId="{C4555E2B-3EEB-412B-853F-76E9FE6BAAB9}" destId="{EADDDEDD-C733-489A-A3B5-1CF45B922773}" srcOrd="2" destOrd="0" parTransId="{564094A0-767D-4EF1-91C0-B157C247B754}" sibTransId="{A986A456-A8FB-4D5D-97BD-EC6D937DAB6D}"/>
    <dgm:cxn modelId="{36AF10FE-8CA2-B04D-8C23-674E38C740A8}" type="presOf" srcId="{C4555E2B-3EEB-412B-853F-76E9FE6BAAB9}" destId="{463ADBC3-D2D0-D542-B50C-41CBC60FDAA2}" srcOrd="0" destOrd="0" presId="urn:microsoft.com/office/officeart/2008/layout/LinedList"/>
    <dgm:cxn modelId="{494225E1-9BBF-5E4D-9DB8-7C9636A3B6B7}" type="presParOf" srcId="{463ADBC3-D2D0-D542-B50C-41CBC60FDAA2}" destId="{0253950C-8DC7-FB48-B87E-71D18235701D}" srcOrd="0" destOrd="0" presId="urn:microsoft.com/office/officeart/2008/layout/LinedList"/>
    <dgm:cxn modelId="{FE421445-765D-DE40-8BB5-705A945E3DEA}" type="presParOf" srcId="{463ADBC3-D2D0-D542-B50C-41CBC60FDAA2}" destId="{B538E818-430F-124A-8B8C-77AE1CAD00ED}" srcOrd="1" destOrd="0" presId="urn:microsoft.com/office/officeart/2008/layout/LinedList"/>
    <dgm:cxn modelId="{7D28C631-EF0C-0E4F-8850-245A2131D715}" type="presParOf" srcId="{B538E818-430F-124A-8B8C-77AE1CAD00ED}" destId="{ED219A63-D49C-9F45-920D-7A9F3ACA7696}" srcOrd="0" destOrd="0" presId="urn:microsoft.com/office/officeart/2008/layout/LinedList"/>
    <dgm:cxn modelId="{A84C8369-A3D0-F44C-AE80-1DBA71895CCA}" type="presParOf" srcId="{B538E818-430F-124A-8B8C-77AE1CAD00ED}" destId="{9FDA9958-1E7D-634C-B2D8-7671690F7ED3}" srcOrd="1" destOrd="0" presId="urn:microsoft.com/office/officeart/2008/layout/LinedList"/>
    <dgm:cxn modelId="{21A6D92E-0CC8-944E-B0C4-4B015EAF5FB9}" type="presParOf" srcId="{463ADBC3-D2D0-D542-B50C-41CBC60FDAA2}" destId="{7CC94B0C-70C5-1D42-AAAE-B4DA0247FF9E}" srcOrd="2" destOrd="0" presId="urn:microsoft.com/office/officeart/2008/layout/LinedList"/>
    <dgm:cxn modelId="{09F7ABA1-46FC-954D-ADB3-DB2F10AEDC05}" type="presParOf" srcId="{463ADBC3-D2D0-D542-B50C-41CBC60FDAA2}" destId="{A761539E-4BBE-7348-9CF3-0A722EA4481A}" srcOrd="3" destOrd="0" presId="urn:microsoft.com/office/officeart/2008/layout/LinedList"/>
    <dgm:cxn modelId="{4F8BA5A2-79F3-384A-989E-43894AC059D3}" type="presParOf" srcId="{A761539E-4BBE-7348-9CF3-0A722EA4481A}" destId="{08A37F8D-CB17-3640-835C-B969C2CF5D9F}" srcOrd="0" destOrd="0" presId="urn:microsoft.com/office/officeart/2008/layout/LinedList"/>
    <dgm:cxn modelId="{8333689E-FAAD-5144-A89D-AFD64C28AD92}" type="presParOf" srcId="{A761539E-4BBE-7348-9CF3-0A722EA4481A}" destId="{F10E62C7-D9B4-5745-8239-1BD19D77606E}" srcOrd="1" destOrd="0" presId="urn:microsoft.com/office/officeart/2008/layout/LinedList"/>
    <dgm:cxn modelId="{C39FD017-BFBD-A44E-80C7-10BE8EF7B5D9}" type="presParOf" srcId="{463ADBC3-D2D0-D542-B50C-41CBC60FDAA2}" destId="{075649E3-8243-304B-978A-BC5A55B92BF7}" srcOrd="4" destOrd="0" presId="urn:microsoft.com/office/officeart/2008/layout/LinedList"/>
    <dgm:cxn modelId="{2A86D8A5-94C1-A248-B6D4-858D1D3CEBBF}" type="presParOf" srcId="{463ADBC3-D2D0-D542-B50C-41CBC60FDAA2}" destId="{C73AE20B-F8D6-7B47-903D-8EC5FB764CF1}" srcOrd="5" destOrd="0" presId="urn:microsoft.com/office/officeart/2008/layout/LinedList"/>
    <dgm:cxn modelId="{BB6602B8-9D28-A343-976A-4C8952771907}" type="presParOf" srcId="{C73AE20B-F8D6-7B47-903D-8EC5FB764CF1}" destId="{58431E61-EE90-0545-A7C2-70C1DB4D6367}" srcOrd="0" destOrd="0" presId="urn:microsoft.com/office/officeart/2008/layout/LinedList"/>
    <dgm:cxn modelId="{2636CBBD-FFC1-784E-91A1-2FB5A11533E5}" type="presParOf" srcId="{C73AE20B-F8D6-7B47-903D-8EC5FB764CF1}" destId="{F6AECD2E-99F8-EE47-9DD1-1C1D368F9F16}"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0651A7-C7BA-40CF-B45A-A806AAEF5EC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0FC3784-545A-4CA9-A900-3748BFAD1FDB}">
      <dgm:prSet custT="1"/>
      <dgm:spPr/>
      <dgm:t>
        <a:bodyPr/>
        <a:lstStyle/>
        <a:p>
          <a:r>
            <a:rPr lang="en-US" sz="3200" dirty="0"/>
            <a:t>Use of computers to process/manage information</a:t>
          </a:r>
        </a:p>
      </dgm:t>
    </dgm:pt>
    <dgm:pt modelId="{5E4E0850-F6C8-4A86-A71E-EAAF63E8832C}" type="parTrans" cxnId="{E4FFEE3F-456C-438B-8A38-F96DF3C6E18A}">
      <dgm:prSet/>
      <dgm:spPr/>
      <dgm:t>
        <a:bodyPr/>
        <a:lstStyle/>
        <a:p>
          <a:endParaRPr lang="en-US"/>
        </a:p>
      </dgm:t>
    </dgm:pt>
    <dgm:pt modelId="{91E9D746-2B71-468A-A01B-55386A3C3A8A}" type="sibTrans" cxnId="{E4FFEE3F-456C-438B-8A38-F96DF3C6E18A}">
      <dgm:prSet/>
      <dgm:spPr/>
      <dgm:t>
        <a:bodyPr/>
        <a:lstStyle/>
        <a:p>
          <a:endParaRPr lang="en-US"/>
        </a:p>
      </dgm:t>
    </dgm:pt>
    <dgm:pt modelId="{67C9DDB2-242D-493A-8520-E619F2F9E714}">
      <dgm:prSet custT="1"/>
      <dgm:spPr/>
      <dgm:t>
        <a:bodyPr/>
        <a:lstStyle/>
        <a:p>
          <a:r>
            <a:rPr lang="en-US" sz="3200" dirty="0"/>
            <a:t>Types: Scientific, Business, Embedded, Personal</a:t>
          </a:r>
        </a:p>
      </dgm:t>
    </dgm:pt>
    <dgm:pt modelId="{6A7534E9-74A9-4068-A005-4A030AE7195E}" type="parTrans" cxnId="{ACB388FB-FD3B-4E4F-A575-846BC320A0D9}">
      <dgm:prSet/>
      <dgm:spPr/>
      <dgm:t>
        <a:bodyPr/>
        <a:lstStyle/>
        <a:p>
          <a:endParaRPr lang="en-US"/>
        </a:p>
      </dgm:t>
    </dgm:pt>
    <dgm:pt modelId="{81254F0E-ED95-48A4-8086-6CEC29529010}" type="sibTrans" cxnId="{ACB388FB-FD3B-4E4F-A575-846BC320A0D9}">
      <dgm:prSet/>
      <dgm:spPr/>
      <dgm:t>
        <a:bodyPr/>
        <a:lstStyle/>
        <a:p>
          <a:endParaRPr lang="en-US"/>
        </a:p>
      </dgm:t>
    </dgm:pt>
    <dgm:pt modelId="{5FD5BF3D-3F5D-4B2F-90D3-53E3EB2B064D}">
      <dgm:prSet custT="1"/>
      <dgm:spPr/>
      <dgm:t>
        <a:bodyPr/>
        <a:lstStyle/>
        <a:p>
          <a:r>
            <a:rPr lang="en-US" sz="3200" dirty="0"/>
            <a:t>Trends: AI, Data Analytics, Edge Computing</a:t>
          </a:r>
        </a:p>
      </dgm:t>
    </dgm:pt>
    <dgm:pt modelId="{287BE85C-C924-4E9F-9D43-D70726E489AE}" type="parTrans" cxnId="{BD933D4C-5C0C-45C9-9223-97CF5F100826}">
      <dgm:prSet/>
      <dgm:spPr/>
      <dgm:t>
        <a:bodyPr/>
        <a:lstStyle/>
        <a:p>
          <a:endParaRPr lang="en-US"/>
        </a:p>
      </dgm:t>
    </dgm:pt>
    <dgm:pt modelId="{D3331ABC-3A32-437A-864A-045CDDD1C681}" type="sibTrans" cxnId="{BD933D4C-5C0C-45C9-9223-97CF5F100826}">
      <dgm:prSet/>
      <dgm:spPr/>
      <dgm:t>
        <a:bodyPr/>
        <a:lstStyle/>
        <a:p>
          <a:endParaRPr lang="en-US"/>
        </a:p>
      </dgm:t>
    </dgm:pt>
    <dgm:pt modelId="{224B32ED-3F40-4047-9992-4E38A83822EA}" type="pres">
      <dgm:prSet presAssocID="{F60651A7-C7BA-40CF-B45A-A806AAEF5EC4}" presName="vert0" presStyleCnt="0">
        <dgm:presLayoutVars>
          <dgm:dir/>
          <dgm:animOne val="branch"/>
          <dgm:animLvl val="lvl"/>
        </dgm:presLayoutVars>
      </dgm:prSet>
      <dgm:spPr/>
    </dgm:pt>
    <dgm:pt modelId="{2338BA61-79B6-5A40-A7C8-CD9F7A9715CC}" type="pres">
      <dgm:prSet presAssocID="{30FC3784-545A-4CA9-A900-3748BFAD1FDB}" presName="thickLine" presStyleLbl="alignNode1" presStyleIdx="0" presStyleCnt="3"/>
      <dgm:spPr/>
    </dgm:pt>
    <dgm:pt modelId="{01CD3132-C212-D14E-A995-892E0832EDE5}" type="pres">
      <dgm:prSet presAssocID="{30FC3784-545A-4CA9-A900-3748BFAD1FDB}" presName="horz1" presStyleCnt="0"/>
      <dgm:spPr/>
    </dgm:pt>
    <dgm:pt modelId="{1163C223-409F-7942-8A20-F31215742B19}" type="pres">
      <dgm:prSet presAssocID="{30FC3784-545A-4CA9-A900-3748BFAD1FDB}" presName="tx1" presStyleLbl="revTx" presStyleIdx="0" presStyleCnt="3"/>
      <dgm:spPr/>
    </dgm:pt>
    <dgm:pt modelId="{9991817C-64F2-FF46-A13A-D997843EACC1}" type="pres">
      <dgm:prSet presAssocID="{30FC3784-545A-4CA9-A900-3748BFAD1FDB}" presName="vert1" presStyleCnt="0"/>
      <dgm:spPr/>
    </dgm:pt>
    <dgm:pt modelId="{9B855AA0-5A54-DC48-BC68-DE25B68704D1}" type="pres">
      <dgm:prSet presAssocID="{67C9DDB2-242D-493A-8520-E619F2F9E714}" presName="thickLine" presStyleLbl="alignNode1" presStyleIdx="1" presStyleCnt="3"/>
      <dgm:spPr/>
    </dgm:pt>
    <dgm:pt modelId="{48663848-38A0-A842-85A2-504C4001AF24}" type="pres">
      <dgm:prSet presAssocID="{67C9DDB2-242D-493A-8520-E619F2F9E714}" presName="horz1" presStyleCnt="0"/>
      <dgm:spPr/>
    </dgm:pt>
    <dgm:pt modelId="{DE078F18-772D-1249-BECC-F19B6F4A579E}" type="pres">
      <dgm:prSet presAssocID="{67C9DDB2-242D-493A-8520-E619F2F9E714}" presName="tx1" presStyleLbl="revTx" presStyleIdx="1" presStyleCnt="3"/>
      <dgm:spPr/>
    </dgm:pt>
    <dgm:pt modelId="{BD7BAE99-681C-284D-907D-5365D9514366}" type="pres">
      <dgm:prSet presAssocID="{67C9DDB2-242D-493A-8520-E619F2F9E714}" presName="vert1" presStyleCnt="0"/>
      <dgm:spPr/>
    </dgm:pt>
    <dgm:pt modelId="{78F333F1-E005-9644-8326-B4B9BAE02ED5}" type="pres">
      <dgm:prSet presAssocID="{5FD5BF3D-3F5D-4B2F-90D3-53E3EB2B064D}" presName="thickLine" presStyleLbl="alignNode1" presStyleIdx="2" presStyleCnt="3"/>
      <dgm:spPr/>
    </dgm:pt>
    <dgm:pt modelId="{D257C689-97D1-9B48-B50F-9BCF94081F42}" type="pres">
      <dgm:prSet presAssocID="{5FD5BF3D-3F5D-4B2F-90D3-53E3EB2B064D}" presName="horz1" presStyleCnt="0"/>
      <dgm:spPr/>
    </dgm:pt>
    <dgm:pt modelId="{CB4F49C7-B039-C64C-9463-2E1454D2CFCE}" type="pres">
      <dgm:prSet presAssocID="{5FD5BF3D-3F5D-4B2F-90D3-53E3EB2B064D}" presName="tx1" presStyleLbl="revTx" presStyleIdx="2" presStyleCnt="3"/>
      <dgm:spPr/>
    </dgm:pt>
    <dgm:pt modelId="{94D02060-AD10-6C48-9023-9CD8F4F4C027}" type="pres">
      <dgm:prSet presAssocID="{5FD5BF3D-3F5D-4B2F-90D3-53E3EB2B064D}" presName="vert1" presStyleCnt="0"/>
      <dgm:spPr/>
    </dgm:pt>
  </dgm:ptLst>
  <dgm:cxnLst>
    <dgm:cxn modelId="{BB9E3B0C-7EDD-864F-983C-53349C23252A}" type="presOf" srcId="{5FD5BF3D-3F5D-4B2F-90D3-53E3EB2B064D}" destId="{CB4F49C7-B039-C64C-9463-2E1454D2CFCE}" srcOrd="0" destOrd="0" presId="urn:microsoft.com/office/officeart/2008/layout/LinedList"/>
    <dgm:cxn modelId="{C46BA615-DFD6-CF47-8DF0-FFBD3878CBE8}" type="presOf" srcId="{F60651A7-C7BA-40CF-B45A-A806AAEF5EC4}" destId="{224B32ED-3F40-4047-9992-4E38A83822EA}" srcOrd="0" destOrd="0" presId="urn:microsoft.com/office/officeart/2008/layout/LinedList"/>
    <dgm:cxn modelId="{E4FFEE3F-456C-438B-8A38-F96DF3C6E18A}" srcId="{F60651A7-C7BA-40CF-B45A-A806AAEF5EC4}" destId="{30FC3784-545A-4CA9-A900-3748BFAD1FDB}" srcOrd="0" destOrd="0" parTransId="{5E4E0850-F6C8-4A86-A71E-EAAF63E8832C}" sibTransId="{91E9D746-2B71-468A-A01B-55386A3C3A8A}"/>
    <dgm:cxn modelId="{56D28F42-5105-4C4D-9574-C7EE44FE2189}" type="presOf" srcId="{30FC3784-545A-4CA9-A900-3748BFAD1FDB}" destId="{1163C223-409F-7942-8A20-F31215742B19}" srcOrd="0" destOrd="0" presId="urn:microsoft.com/office/officeart/2008/layout/LinedList"/>
    <dgm:cxn modelId="{BD933D4C-5C0C-45C9-9223-97CF5F100826}" srcId="{F60651A7-C7BA-40CF-B45A-A806AAEF5EC4}" destId="{5FD5BF3D-3F5D-4B2F-90D3-53E3EB2B064D}" srcOrd="2" destOrd="0" parTransId="{287BE85C-C924-4E9F-9D43-D70726E489AE}" sibTransId="{D3331ABC-3A32-437A-864A-045CDDD1C681}"/>
    <dgm:cxn modelId="{119C7E87-C2E3-B34D-B29A-3760C29E7BC3}" type="presOf" srcId="{67C9DDB2-242D-493A-8520-E619F2F9E714}" destId="{DE078F18-772D-1249-BECC-F19B6F4A579E}" srcOrd="0" destOrd="0" presId="urn:microsoft.com/office/officeart/2008/layout/LinedList"/>
    <dgm:cxn modelId="{ACB388FB-FD3B-4E4F-A575-846BC320A0D9}" srcId="{F60651A7-C7BA-40CF-B45A-A806AAEF5EC4}" destId="{67C9DDB2-242D-493A-8520-E619F2F9E714}" srcOrd="1" destOrd="0" parTransId="{6A7534E9-74A9-4068-A005-4A030AE7195E}" sibTransId="{81254F0E-ED95-48A4-8086-6CEC29529010}"/>
    <dgm:cxn modelId="{074AD0CE-5353-AA49-87B0-7218EA109FEF}" type="presParOf" srcId="{224B32ED-3F40-4047-9992-4E38A83822EA}" destId="{2338BA61-79B6-5A40-A7C8-CD9F7A9715CC}" srcOrd="0" destOrd="0" presId="urn:microsoft.com/office/officeart/2008/layout/LinedList"/>
    <dgm:cxn modelId="{3E69931A-0325-1F49-9717-D6058D62562D}" type="presParOf" srcId="{224B32ED-3F40-4047-9992-4E38A83822EA}" destId="{01CD3132-C212-D14E-A995-892E0832EDE5}" srcOrd="1" destOrd="0" presId="urn:microsoft.com/office/officeart/2008/layout/LinedList"/>
    <dgm:cxn modelId="{C40395EC-40B8-3E44-B68C-61EC626BAD8E}" type="presParOf" srcId="{01CD3132-C212-D14E-A995-892E0832EDE5}" destId="{1163C223-409F-7942-8A20-F31215742B19}" srcOrd="0" destOrd="0" presId="urn:microsoft.com/office/officeart/2008/layout/LinedList"/>
    <dgm:cxn modelId="{A5297051-316C-6941-9C4F-A641247A635F}" type="presParOf" srcId="{01CD3132-C212-D14E-A995-892E0832EDE5}" destId="{9991817C-64F2-FF46-A13A-D997843EACC1}" srcOrd="1" destOrd="0" presId="urn:microsoft.com/office/officeart/2008/layout/LinedList"/>
    <dgm:cxn modelId="{D49CDCCD-09CA-F842-A559-F8B4BF41E311}" type="presParOf" srcId="{224B32ED-3F40-4047-9992-4E38A83822EA}" destId="{9B855AA0-5A54-DC48-BC68-DE25B68704D1}" srcOrd="2" destOrd="0" presId="urn:microsoft.com/office/officeart/2008/layout/LinedList"/>
    <dgm:cxn modelId="{F7484123-1790-BC4A-B913-233E439CAD7A}" type="presParOf" srcId="{224B32ED-3F40-4047-9992-4E38A83822EA}" destId="{48663848-38A0-A842-85A2-504C4001AF24}" srcOrd="3" destOrd="0" presId="urn:microsoft.com/office/officeart/2008/layout/LinedList"/>
    <dgm:cxn modelId="{534D8908-BDF1-D44C-9D2A-08719B1AFB9B}" type="presParOf" srcId="{48663848-38A0-A842-85A2-504C4001AF24}" destId="{DE078F18-772D-1249-BECC-F19B6F4A579E}" srcOrd="0" destOrd="0" presId="urn:microsoft.com/office/officeart/2008/layout/LinedList"/>
    <dgm:cxn modelId="{A09E9B60-1CF1-BB47-9676-25E514A93414}" type="presParOf" srcId="{48663848-38A0-A842-85A2-504C4001AF24}" destId="{BD7BAE99-681C-284D-907D-5365D9514366}" srcOrd="1" destOrd="0" presId="urn:microsoft.com/office/officeart/2008/layout/LinedList"/>
    <dgm:cxn modelId="{01E50A0A-2894-DC47-A3AB-8172E216218E}" type="presParOf" srcId="{224B32ED-3F40-4047-9992-4E38A83822EA}" destId="{78F333F1-E005-9644-8326-B4B9BAE02ED5}" srcOrd="4" destOrd="0" presId="urn:microsoft.com/office/officeart/2008/layout/LinedList"/>
    <dgm:cxn modelId="{C12A28BD-5A2E-0C4F-8437-F37A2E8CFDBB}" type="presParOf" srcId="{224B32ED-3F40-4047-9992-4E38A83822EA}" destId="{D257C689-97D1-9B48-B50F-9BCF94081F42}" srcOrd="5" destOrd="0" presId="urn:microsoft.com/office/officeart/2008/layout/LinedList"/>
    <dgm:cxn modelId="{BC05562C-81A9-C344-B977-51F36C165000}" type="presParOf" srcId="{D257C689-97D1-9B48-B50F-9BCF94081F42}" destId="{CB4F49C7-B039-C64C-9463-2E1454D2CFCE}" srcOrd="0" destOrd="0" presId="urn:microsoft.com/office/officeart/2008/layout/LinedList"/>
    <dgm:cxn modelId="{A93461C9-7764-C74D-A725-3867B2C8CA6C}" type="presParOf" srcId="{D257C689-97D1-9B48-B50F-9BCF94081F42}" destId="{94D02060-AD10-6C48-9023-9CD8F4F4C027}"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8FD86D-0B8C-4053-847B-3099E08DF2B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F3A737D-7521-4800-9DA7-4B0C5FCEC73C}">
      <dgm:prSet custT="1"/>
      <dgm:spPr/>
      <dgm:t>
        <a:bodyPr/>
        <a:lstStyle/>
        <a:p>
          <a:r>
            <a:rPr lang="en-US" sz="3200" dirty="0"/>
            <a:t>Solves complex problems quickly</a:t>
          </a:r>
        </a:p>
      </dgm:t>
    </dgm:pt>
    <dgm:pt modelId="{D4C2C0E5-F49B-4A92-826F-B21188802483}" type="parTrans" cxnId="{06EC5DB2-DF84-4E60-9473-9B9819681294}">
      <dgm:prSet/>
      <dgm:spPr/>
      <dgm:t>
        <a:bodyPr/>
        <a:lstStyle/>
        <a:p>
          <a:endParaRPr lang="en-US"/>
        </a:p>
      </dgm:t>
    </dgm:pt>
    <dgm:pt modelId="{578E7595-05A6-4F81-9EBA-46B9226D98F4}" type="sibTrans" cxnId="{06EC5DB2-DF84-4E60-9473-9B9819681294}">
      <dgm:prSet/>
      <dgm:spPr/>
      <dgm:t>
        <a:bodyPr/>
        <a:lstStyle/>
        <a:p>
          <a:endParaRPr lang="en-US"/>
        </a:p>
      </dgm:t>
    </dgm:pt>
    <dgm:pt modelId="{FC1FCE98-87BA-4B12-9D2F-E893ABFB68AC}">
      <dgm:prSet custT="1"/>
      <dgm:spPr/>
      <dgm:t>
        <a:bodyPr/>
        <a:lstStyle/>
        <a:p>
          <a:r>
            <a:rPr lang="en-US" sz="3200" dirty="0"/>
            <a:t>Handles massive data efficiently</a:t>
          </a:r>
        </a:p>
      </dgm:t>
    </dgm:pt>
    <dgm:pt modelId="{4658EEF5-F3FA-40AE-888C-F4A2A1A56DA8}" type="parTrans" cxnId="{DB644857-6663-45A7-A631-C284BBF9523A}">
      <dgm:prSet/>
      <dgm:spPr/>
      <dgm:t>
        <a:bodyPr/>
        <a:lstStyle/>
        <a:p>
          <a:endParaRPr lang="en-US"/>
        </a:p>
      </dgm:t>
    </dgm:pt>
    <dgm:pt modelId="{272D2C5A-6EEB-49FD-B0C9-5D8F17B14935}" type="sibTrans" cxnId="{DB644857-6663-45A7-A631-C284BBF9523A}">
      <dgm:prSet/>
      <dgm:spPr/>
      <dgm:t>
        <a:bodyPr/>
        <a:lstStyle/>
        <a:p>
          <a:endParaRPr lang="en-US"/>
        </a:p>
      </dgm:t>
    </dgm:pt>
    <dgm:pt modelId="{6C4D5F0D-072F-4BD3-861E-B72161E47A36}">
      <dgm:prSet custT="1"/>
      <dgm:spPr/>
      <dgm:t>
        <a:bodyPr/>
        <a:lstStyle/>
        <a:p>
          <a:r>
            <a:rPr lang="en-US" sz="3200" dirty="0"/>
            <a:t>Benefits: Speed, Scalability, Real-time capability</a:t>
          </a:r>
        </a:p>
      </dgm:t>
    </dgm:pt>
    <dgm:pt modelId="{9699DAB0-6689-4190-9E31-3318219C4CE3}" type="parTrans" cxnId="{8A000FAF-1178-4436-A3DE-A1FAAB9ADA21}">
      <dgm:prSet/>
      <dgm:spPr/>
      <dgm:t>
        <a:bodyPr/>
        <a:lstStyle/>
        <a:p>
          <a:endParaRPr lang="en-US"/>
        </a:p>
      </dgm:t>
    </dgm:pt>
    <dgm:pt modelId="{0B80E668-31A5-4B4F-942B-32636FDF1D72}" type="sibTrans" cxnId="{8A000FAF-1178-4436-A3DE-A1FAAB9ADA21}">
      <dgm:prSet/>
      <dgm:spPr/>
      <dgm:t>
        <a:bodyPr/>
        <a:lstStyle/>
        <a:p>
          <a:endParaRPr lang="en-US"/>
        </a:p>
      </dgm:t>
    </dgm:pt>
    <dgm:pt modelId="{465B6572-58F2-1840-94B1-0633D457B704}" type="pres">
      <dgm:prSet presAssocID="{318FD86D-0B8C-4053-847B-3099E08DF2B2}" presName="linear" presStyleCnt="0">
        <dgm:presLayoutVars>
          <dgm:animLvl val="lvl"/>
          <dgm:resizeHandles val="exact"/>
        </dgm:presLayoutVars>
      </dgm:prSet>
      <dgm:spPr/>
    </dgm:pt>
    <dgm:pt modelId="{389F6F44-C841-E343-95EA-C8EC4F9683A1}" type="pres">
      <dgm:prSet presAssocID="{CF3A737D-7521-4800-9DA7-4B0C5FCEC73C}" presName="parentText" presStyleLbl="node1" presStyleIdx="0" presStyleCnt="3">
        <dgm:presLayoutVars>
          <dgm:chMax val="0"/>
          <dgm:bulletEnabled val="1"/>
        </dgm:presLayoutVars>
      </dgm:prSet>
      <dgm:spPr/>
    </dgm:pt>
    <dgm:pt modelId="{00F31B3D-63C7-7345-B9E0-45BA67C72C78}" type="pres">
      <dgm:prSet presAssocID="{578E7595-05A6-4F81-9EBA-46B9226D98F4}" presName="spacer" presStyleCnt="0"/>
      <dgm:spPr/>
    </dgm:pt>
    <dgm:pt modelId="{444B2CD9-15E8-7D45-A2A0-BED88A8ADF96}" type="pres">
      <dgm:prSet presAssocID="{FC1FCE98-87BA-4B12-9D2F-E893ABFB68AC}" presName="parentText" presStyleLbl="node1" presStyleIdx="1" presStyleCnt="3">
        <dgm:presLayoutVars>
          <dgm:chMax val="0"/>
          <dgm:bulletEnabled val="1"/>
        </dgm:presLayoutVars>
      </dgm:prSet>
      <dgm:spPr/>
    </dgm:pt>
    <dgm:pt modelId="{7E326455-F21E-5F4B-A29E-17DD3A172171}" type="pres">
      <dgm:prSet presAssocID="{272D2C5A-6EEB-49FD-B0C9-5D8F17B14935}" presName="spacer" presStyleCnt="0"/>
      <dgm:spPr/>
    </dgm:pt>
    <dgm:pt modelId="{F18B1A4B-BB6B-8F46-A4E9-851EC80A24F7}" type="pres">
      <dgm:prSet presAssocID="{6C4D5F0D-072F-4BD3-861E-B72161E47A36}" presName="parentText" presStyleLbl="node1" presStyleIdx="2" presStyleCnt="3">
        <dgm:presLayoutVars>
          <dgm:chMax val="0"/>
          <dgm:bulletEnabled val="1"/>
        </dgm:presLayoutVars>
      </dgm:prSet>
      <dgm:spPr/>
    </dgm:pt>
  </dgm:ptLst>
  <dgm:cxnLst>
    <dgm:cxn modelId="{DB644857-6663-45A7-A631-C284BBF9523A}" srcId="{318FD86D-0B8C-4053-847B-3099E08DF2B2}" destId="{FC1FCE98-87BA-4B12-9D2F-E893ABFB68AC}" srcOrd="1" destOrd="0" parTransId="{4658EEF5-F3FA-40AE-888C-F4A2A1A56DA8}" sibTransId="{272D2C5A-6EEB-49FD-B0C9-5D8F17B14935}"/>
    <dgm:cxn modelId="{00F25990-E7E6-0C43-AA12-8E3E09CB25D2}" type="presOf" srcId="{FC1FCE98-87BA-4B12-9D2F-E893ABFB68AC}" destId="{444B2CD9-15E8-7D45-A2A0-BED88A8ADF96}" srcOrd="0" destOrd="0" presId="urn:microsoft.com/office/officeart/2005/8/layout/vList2"/>
    <dgm:cxn modelId="{8A000FAF-1178-4436-A3DE-A1FAAB9ADA21}" srcId="{318FD86D-0B8C-4053-847B-3099E08DF2B2}" destId="{6C4D5F0D-072F-4BD3-861E-B72161E47A36}" srcOrd="2" destOrd="0" parTransId="{9699DAB0-6689-4190-9E31-3318219C4CE3}" sibTransId="{0B80E668-31A5-4B4F-942B-32636FDF1D72}"/>
    <dgm:cxn modelId="{06EC5DB2-DF84-4E60-9473-9B9819681294}" srcId="{318FD86D-0B8C-4053-847B-3099E08DF2B2}" destId="{CF3A737D-7521-4800-9DA7-4B0C5FCEC73C}" srcOrd="0" destOrd="0" parTransId="{D4C2C0E5-F49B-4A92-826F-B21188802483}" sibTransId="{578E7595-05A6-4F81-9EBA-46B9226D98F4}"/>
    <dgm:cxn modelId="{F27342B5-BCD4-2E42-8C19-A3E8A0D12FAA}" type="presOf" srcId="{6C4D5F0D-072F-4BD3-861E-B72161E47A36}" destId="{F18B1A4B-BB6B-8F46-A4E9-851EC80A24F7}" srcOrd="0" destOrd="0" presId="urn:microsoft.com/office/officeart/2005/8/layout/vList2"/>
    <dgm:cxn modelId="{EC4E66B8-8B72-BD43-9A4C-63247DF03ABE}" type="presOf" srcId="{CF3A737D-7521-4800-9DA7-4B0C5FCEC73C}" destId="{389F6F44-C841-E343-95EA-C8EC4F9683A1}" srcOrd="0" destOrd="0" presId="urn:microsoft.com/office/officeart/2005/8/layout/vList2"/>
    <dgm:cxn modelId="{DE9CB9C6-B1F4-4647-8F22-144045EE525D}" type="presOf" srcId="{318FD86D-0B8C-4053-847B-3099E08DF2B2}" destId="{465B6572-58F2-1840-94B1-0633D457B704}" srcOrd="0" destOrd="0" presId="urn:microsoft.com/office/officeart/2005/8/layout/vList2"/>
    <dgm:cxn modelId="{1227AFB4-4817-A548-B95C-0448A2DFC05D}" type="presParOf" srcId="{465B6572-58F2-1840-94B1-0633D457B704}" destId="{389F6F44-C841-E343-95EA-C8EC4F9683A1}" srcOrd="0" destOrd="0" presId="urn:microsoft.com/office/officeart/2005/8/layout/vList2"/>
    <dgm:cxn modelId="{D39DF2BC-CCEB-FC44-851E-61465DA7071D}" type="presParOf" srcId="{465B6572-58F2-1840-94B1-0633D457B704}" destId="{00F31B3D-63C7-7345-B9E0-45BA67C72C78}" srcOrd="1" destOrd="0" presId="urn:microsoft.com/office/officeart/2005/8/layout/vList2"/>
    <dgm:cxn modelId="{C4DA61C3-4D71-4F49-AF9E-A3A26DAF686D}" type="presParOf" srcId="{465B6572-58F2-1840-94B1-0633D457B704}" destId="{444B2CD9-15E8-7D45-A2A0-BED88A8ADF96}" srcOrd="2" destOrd="0" presId="urn:microsoft.com/office/officeart/2005/8/layout/vList2"/>
    <dgm:cxn modelId="{DFA2344B-3A63-7742-8AB1-1A7B90583600}" type="presParOf" srcId="{465B6572-58F2-1840-94B1-0633D457B704}" destId="{7E326455-F21E-5F4B-A29E-17DD3A172171}" srcOrd="3" destOrd="0" presId="urn:microsoft.com/office/officeart/2005/8/layout/vList2"/>
    <dgm:cxn modelId="{E8266318-746F-C54F-A312-A8FAA3D4EBA2}" type="presParOf" srcId="{465B6572-58F2-1840-94B1-0633D457B704}" destId="{F18B1A4B-BB6B-8F46-A4E9-851EC80A24F7}"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8FD86D-0B8C-4053-847B-3099E08DF2B2}" type="doc">
      <dgm:prSet loTypeId="urn:microsoft.com/office/officeart/2008/layout/LinedList" loCatId="list" qsTypeId="urn:microsoft.com/office/officeart/2005/8/quickstyle/simple4" qsCatId="simple" csTypeId="urn:microsoft.com/office/officeart/2005/8/colors/accent2_2" csCatId="accent2" phldr="1"/>
      <dgm:spPr/>
      <dgm:t>
        <a:bodyPr/>
        <a:lstStyle/>
        <a:p>
          <a:endParaRPr lang="en-US"/>
        </a:p>
      </dgm:t>
    </dgm:pt>
    <dgm:pt modelId="{F99715D6-7F85-C241-B4A7-D8E38863B698}">
      <dgm:prSet custT="1"/>
      <dgm:spPr/>
      <dgm:t>
        <a:bodyPr/>
        <a:lstStyle/>
        <a:p>
          <a:r>
            <a:rPr lang="en-IN" sz="4200" dirty="0"/>
            <a:t>- </a:t>
          </a:r>
          <a:r>
            <a:rPr lang="en-IN" sz="3200" dirty="0"/>
            <a:t>Faster time to results</a:t>
          </a:r>
        </a:p>
      </dgm:t>
    </dgm:pt>
    <dgm:pt modelId="{F84323C2-0A97-8445-AC2F-8066980039D7}" type="parTrans" cxnId="{DD70658F-13D6-1140-9848-0BAF0A4A0E71}">
      <dgm:prSet/>
      <dgm:spPr/>
      <dgm:t>
        <a:bodyPr/>
        <a:lstStyle/>
        <a:p>
          <a:endParaRPr lang="en-GB"/>
        </a:p>
      </dgm:t>
    </dgm:pt>
    <dgm:pt modelId="{AE36120C-7CA7-CA4E-B993-675AE4B7B75D}" type="sibTrans" cxnId="{DD70658F-13D6-1140-9848-0BAF0A4A0E71}">
      <dgm:prSet/>
      <dgm:spPr/>
      <dgm:t>
        <a:bodyPr/>
        <a:lstStyle/>
        <a:p>
          <a:endParaRPr lang="en-GB"/>
        </a:p>
      </dgm:t>
    </dgm:pt>
    <dgm:pt modelId="{34A1E4E7-BFAF-5D48-9E60-B8B422EDF2D4}">
      <dgm:prSet custT="1"/>
      <dgm:spPr/>
      <dgm:t>
        <a:bodyPr/>
        <a:lstStyle/>
        <a:p>
          <a:r>
            <a:rPr lang="en-IN" sz="3200" dirty="0"/>
            <a:t>- Improved precision and accuracy</a:t>
          </a:r>
        </a:p>
      </dgm:t>
    </dgm:pt>
    <dgm:pt modelId="{92F84774-0A4D-C64D-88B7-972D3579C984}" type="parTrans" cxnId="{7F84BEAC-CEA7-7949-A5F8-96FE727C5694}">
      <dgm:prSet/>
      <dgm:spPr/>
      <dgm:t>
        <a:bodyPr/>
        <a:lstStyle/>
        <a:p>
          <a:endParaRPr lang="en-GB"/>
        </a:p>
      </dgm:t>
    </dgm:pt>
    <dgm:pt modelId="{23986696-1F4B-434D-BF83-158A20EE0260}" type="sibTrans" cxnId="{7F84BEAC-CEA7-7949-A5F8-96FE727C5694}">
      <dgm:prSet/>
      <dgm:spPr/>
      <dgm:t>
        <a:bodyPr/>
        <a:lstStyle/>
        <a:p>
          <a:endParaRPr lang="en-GB"/>
        </a:p>
      </dgm:t>
    </dgm:pt>
    <dgm:pt modelId="{F4B97A5E-8954-7E4E-AC00-33DCEE5C7E4D}">
      <dgm:prSet custT="1"/>
      <dgm:spPr/>
      <dgm:t>
        <a:bodyPr/>
        <a:lstStyle/>
        <a:p>
          <a:r>
            <a:rPr lang="en-IN" sz="3200" dirty="0"/>
            <a:t>- Efficient resource utilization</a:t>
          </a:r>
        </a:p>
      </dgm:t>
    </dgm:pt>
    <dgm:pt modelId="{F1ACBDF9-2FEB-5941-AD73-CF5F9410C4AC}" type="parTrans" cxnId="{6A9B06B2-980D-3948-BB3F-B369AE8AEA6F}">
      <dgm:prSet/>
      <dgm:spPr/>
      <dgm:t>
        <a:bodyPr/>
        <a:lstStyle/>
        <a:p>
          <a:endParaRPr lang="en-GB"/>
        </a:p>
      </dgm:t>
    </dgm:pt>
    <dgm:pt modelId="{BD33BB47-34B9-074E-937C-AE7FF4966D11}" type="sibTrans" cxnId="{6A9B06B2-980D-3948-BB3F-B369AE8AEA6F}">
      <dgm:prSet/>
      <dgm:spPr/>
      <dgm:t>
        <a:bodyPr/>
        <a:lstStyle/>
        <a:p>
          <a:endParaRPr lang="en-GB"/>
        </a:p>
      </dgm:t>
    </dgm:pt>
    <dgm:pt modelId="{2FEA5BC8-CF64-6D44-B6D1-6EA353276E7E}" type="pres">
      <dgm:prSet presAssocID="{318FD86D-0B8C-4053-847B-3099E08DF2B2}" presName="vert0" presStyleCnt="0">
        <dgm:presLayoutVars>
          <dgm:dir/>
          <dgm:animOne val="branch"/>
          <dgm:animLvl val="lvl"/>
        </dgm:presLayoutVars>
      </dgm:prSet>
      <dgm:spPr/>
    </dgm:pt>
    <dgm:pt modelId="{949DA1FC-DC7F-8F4A-8800-A4542975B4DB}" type="pres">
      <dgm:prSet presAssocID="{F99715D6-7F85-C241-B4A7-D8E38863B698}" presName="thickLine" presStyleLbl="alignNode1" presStyleIdx="0" presStyleCnt="3"/>
      <dgm:spPr/>
    </dgm:pt>
    <dgm:pt modelId="{89EB91F7-2AF9-E746-AEF5-236874705D54}" type="pres">
      <dgm:prSet presAssocID="{F99715D6-7F85-C241-B4A7-D8E38863B698}" presName="horz1" presStyleCnt="0"/>
      <dgm:spPr/>
    </dgm:pt>
    <dgm:pt modelId="{56B8EE7E-A556-DD44-8E9F-41BB192341A7}" type="pres">
      <dgm:prSet presAssocID="{F99715D6-7F85-C241-B4A7-D8E38863B698}" presName="tx1" presStyleLbl="revTx" presStyleIdx="0" presStyleCnt="3"/>
      <dgm:spPr/>
    </dgm:pt>
    <dgm:pt modelId="{0E33BD6D-5276-4A47-AEF6-AE7710700765}" type="pres">
      <dgm:prSet presAssocID="{F99715D6-7F85-C241-B4A7-D8E38863B698}" presName="vert1" presStyleCnt="0"/>
      <dgm:spPr/>
    </dgm:pt>
    <dgm:pt modelId="{E2C34B3E-B21A-3642-A1A8-8D7CB0ED375F}" type="pres">
      <dgm:prSet presAssocID="{34A1E4E7-BFAF-5D48-9E60-B8B422EDF2D4}" presName="thickLine" presStyleLbl="alignNode1" presStyleIdx="1" presStyleCnt="3"/>
      <dgm:spPr/>
    </dgm:pt>
    <dgm:pt modelId="{3954EA17-59C2-A343-A896-4023E9DC43DF}" type="pres">
      <dgm:prSet presAssocID="{34A1E4E7-BFAF-5D48-9E60-B8B422EDF2D4}" presName="horz1" presStyleCnt="0"/>
      <dgm:spPr/>
    </dgm:pt>
    <dgm:pt modelId="{4F9DFF6D-AEF3-C544-B27D-441C0F55AAD3}" type="pres">
      <dgm:prSet presAssocID="{34A1E4E7-BFAF-5D48-9E60-B8B422EDF2D4}" presName="tx1" presStyleLbl="revTx" presStyleIdx="1" presStyleCnt="3"/>
      <dgm:spPr/>
    </dgm:pt>
    <dgm:pt modelId="{8302309D-3B74-EB48-9A26-D0905592B1CD}" type="pres">
      <dgm:prSet presAssocID="{34A1E4E7-BFAF-5D48-9E60-B8B422EDF2D4}" presName="vert1" presStyleCnt="0"/>
      <dgm:spPr/>
    </dgm:pt>
    <dgm:pt modelId="{62B62AC9-D372-2044-BDA7-82B14EEBBF9C}" type="pres">
      <dgm:prSet presAssocID="{F4B97A5E-8954-7E4E-AC00-33DCEE5C7E4D}" presName="thickLine" presStyleLbl="alignNode1" presStyleIdx="2" presStyleCnt="3"/>
      <dgm:spPr/>
    </dgm:pt>
    <dgm:pt modelId="{78ECE698-B1DC-3840-9B19-85376D609070}" type="pres">
      <dgm:prSet presAssocID="{F4B97A5E-8954-7E4E-AC00-33DCEE5C7E4D}" presName="horz1" presStyleCnt="0"/>
      <dgm:spPr/>
    </dgm:pt>
    <dgm:pt modelId="{D36BB5E7-B93D-814E-8486-11FB7FD1C8C1}" type="pres">
      <dgm:prSet presAssocID="{F4B97A5E-8954-7E4E-AC00-33DCEE5C7E4D}" presName="tx1" presStyleLbl="revTx" presStyleIdx="2" presStyleCnt="3"/>
      <dgm:spPr/>
    </dgm:pt>
    <dgm:pt modelId="{F83B9354-EED5-E94A-A3B3-41A780F9D924}" type="pres">
      <dgm:prSet presAssocID="{F4B97A5E-8954-7E4E-AC00-33DCEE5C7E4D}" presName="vert1" presStyleCnt="0"/>
      <dgm:spPr/>
    </dgm:pt>
  </dgm:ptLst>
  <dgm:cxnLst>
    <dgm:cxn modelId="{FB058A08-7039-394E-B4EC-F362C87CF5BA}" type="presOf" srcId="{F4B97A5E-8954-7E4E-AC00-33DCEE5C7E4D}" destId="{D36BB5E7-B93D-814E-8486-11FB7FD1C8C1}" srcOrd="0" destOrd="0" presId="urn:microsoft.com/office/officeart/2008/layout/LinedList"/>
    <dgm:cxn modelId="{6330A31F-FDE5-6D40-B33B-CD14C4DBDBEC}" type="presOf" srcId="{318FD86D-0B8C-4053-847B-3099E08DF2B2}" destId="{2FEA5BC8-CF64-6D44-B6D1-6EA353276E7E}" srcOrd="0" destOrd="0" presId="urn:microsoft.com/office/officeart/2008/layout/LinedList"/>
    <dgm:cxn modelId="{0886A542-6E30-3147-B98A-D93418FA19C3}" type="presOf" srcId="{F99715D6-7F85-C241-B4A7-D8E38863B698}" destId="{56B8EE7E-A556-DD44-8E9F-41BB192341A7}" srcOrd="0" destOrd="0" presId="urn:microsoft.com/office/officeart/2008/layout/LinedList"/>
    <dgm:cxn modelId="{3E59CE43-1479-1041-8C67-3438D3C5C5C8}" type="presOf" srcId="{34A1E4E7-BFAF-5D48-9E60-B8B422EDF2D4}" destId="{4F9DFF6D-AEF3-C544-B27D-441C0F55AAD3}" srcOrd="0" destOrd="0" presId="urn:microsoft.com/office/officeart/2008/layout/LinedList"/>
    <dgm:cxn modelId="{DD70658F-13D6-1140-9848-0BAF0A4A0E71}" srcId="{318FD86D-0B8C-4053-847B-3099E08DF2B2}" destId="{F99715D6-7F85-C241-B4A7-D8E38863B698}" srcOrd="0" destOrd="0" parTransId="{F84323C2-0A97-8445-AC2F-8066980039D7}" sibTransId="{AE36120C-7CA7-CA4E-B993-675AE4B7B75D}"/>
    <dgm:cxn modelId="{7F84BEAC-CEA7-7949-A5F8-96FE727C5694}" srcId="{318FD86D-0B8C-4053-847B-3099E08DF2B2}" destId="{34A1E4E7-BFAF-5D48-9E60-B8B422EDF2D4}" srcOrd="1" destOrd="0" parTransId="{92F84774-0A4D-C64D-88B7-972D3579C984}" sibTransId="{23986696-1F4B-434D-BF83-158A20EE0260}"/>
    <dgm:cxn modelId="{6A9B06B2-980D-3948-BB3F-B369AE8AEA6F}" srcId="{318FD86D-0B8C-4053-847B-3099E08DF2B2}" destId="{F4B97A5E-8954-7E4E-AC00-33DCEE5C7E4D}" srcOrd="2" destOrd="0" parTransId="{F1ACBDF9-2FEB-5941-AD73-CF5F9410C4AC}" sibTransId="{BD33BB47-34B9-074E-937C-AE7FF4966D11}"/>
    <dgm:cxn modelId="{07535FA4-FFEA-1E4F-8B56-F33EA8873637}" type="presParOf" srcId="{2FEA5BC8-CF64-6D44-B6D1-6EA353276E7E}" destId="{949DA1FC-DC7F-8F4A-8800-A4542975B4DB}" srcOrd="0" destOrd="0" presId="urn:microsoft.com/office/officeart/2008/layout/LinedList"/>
    <dgm:cxn modelId="{E1BBBCFA-2F76-0940-ACF8-720D325D70B7}" type="presParOf" srcId="{2FEA5BC8-CF64-6D44-B6D1-6EA353276E7E}" destId="{89EB91F7-2AF9-E746-AEF5-236874705D54}" srcOrd="1" destOrd="0" presId="urn:microsoft.com/office/officeart/2008/layout/LinedList"/>
    <dgm:cxn modelId="{8FC6BC44-8582-E14A-A43D-84EF91FB7519}" type="presParOf" srcId="{89EB91F7-2AF9-E746-AEF5-236874705D54}" destId="{56B8EE7E-A556-DD44-8E9F-41BB192341A7}" srcOrd="0" destOrd="0" presId="urn:microsoft.com/office/officeart/2008/layout/LinedList"/>
    <dgm:cxn modelId="{4C922515-667E-3B43-BA7E-9BEA72B895D7}" type="presParOf" srcId="{89EB91F7-2AF9-E746-AEF5-236874705D54}" destId="{0E33BD6D-5276-4A47-AEF6-AE7710700765}" srcOrd="1" destOrd="0" presId="urn:microsoft.com/office/officeart/2008/layout/LinedList"/>
    <dgm:cxn modelId="{4084619E-8D2C-7D46-9034-EBDC11E5D6A3}" type="presParOf" srcId="{2FEA5BC8-CF64-6D44-B6D1-6EA353276E7E}" destId="{E2C34B3E-B21A-3642-A1A8-8D7CB0ED375F}" srcOrd="2" destOrd="0" presId="urn:microsoft.com/office/officeart/2008/layout/LinedList"/>
    <dgm:cxn modelId="{D4135589-015B-FF42-81DD-7FAAF1502B3D}" type="presParOf" srcId="{2FEA5BC8-CF64-6D44-B6D1-6EA353276E7E}" destId="{3954EA17-59C2-A343-A896-4023E9DC43DF}" srcOrd="3" destOrd="0" presId="urn:microsoft.com/office/officeart/2008/layout/LinedList"/>
    <dgm:cxn modelId="{DB4B3195-CD38-5840-8198-0AE60ED9295F}" type="presParOf" srcId="{3954EA17-59C2-A343-A896-4023E9DC43DF}" destId="{4F9DFF6D-AEF3-C544-B27D-441C0F55AAD3}" srcOrd="0" destOrd="0" presId="urn:microsoft.com/office/officeart/2008/layout/LinedList"/>
    <dgm:cxn modelId="{CD574CB0-9918-DD42-8C27-6DC9EA1B7CD4}" type="presParOf" srcId="{3954EA17-59C2-A343-A896-4023E9DC43DF}" destId="{8302309D-3B74-EB48-9A26-D0905592B1CD}" srcOrd="1" destOrd="0" presId="urn:microsoft.com/office/officeart/2008/layout/LinedList"/>
    <dgm:cxn modelId="{5A95416C-C891-FF4F-A8BB-6C279834B1E0}" type="presParOf" srcId="{2FEA5BC8-CF64-6D44-B6D1-6EA353276E7E}" destId="{62B62AC9-D372-2044-BDA7-82B14EEBBF9C}" srcOrd="4" destOrd="0" presId="urn:microsoft.com/office/officeart/2008/layout/LinedList"/>
    <dgm:cxn modelId="{40C02FC0-3937-0B42-A4D1-E4E398AC5845}" type="presParOf" srcId="{2FEA5BC8-CF64-6D44-B6D1-6EA353276E7E}" destId="{78ECE698-B1DC-3840-9B19-85376D609070}" srcOrd="5" destOrd="0" presId="urn:microsoft.com/office/officeart/2008/layout/LinedList"/>
    <dgm:cxn modelId="{3B13F1B8-605C-C642-AD0D-A61EE29CEE17}" type="presParOf" srcId="{78ECE698-B1DC-3840-9B19-85376D609070}" destId="{D36BB5E7-B93D-814E-8486-11FB7FD1C8C1}" srcOrd="0" destOrd="0" presId="urn:microsoft.com/office/officeart/2008/layout/LinedList"/>
    <dgm:cxn modelId="{355F6157-FD2D-4C4D-904A-BF8D3FF880A4}" type="presParOf" srcId="{78ECE698-B1DC-3840-9B19-85376D609070}" destId="{F83B9354-EED5-E94A-A3B3-41A780F9D92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DCA9D6-2A53-4220-BB38-59390F8C2A7A}"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DADBFFB3-205D-4ED1-ABA9-AA8740BEC34A}">
      <dgm:prSet custT="1"/>
      <dgm:spPr/>
      <dgm:t>
        <a:bodyPr/>
        <a:lstStyle/>
        <a:p>
          <a:r>
            <a:rPr lang="en-US" sz="2800" dirty="0"/>
            <a:t>- Scientific Simulations (physics, astronomy)</a:t>
          </a:r>
        </a:p>
      </dgm:t>
    </dgm:pt>
    <dgm:pt modelId="{8E5BD4C5-4739-4CDB-92C6-A12D4D7F9821}" type="parTrans" cxnId="{DC1550A4-1AC3-49D6-A036-6F9707080A8D}">
      <dgm:prSet/>
      <dgm:spPr/>
      <dgm:t>
        <a:bodyPr/>
        <a:lstStyle/>
        <a:p>
          <a:endParaRPr lang="en-US"/>
        </a:p>
      </dgm:t>
    </dgm:pt>
    <dgm:pt modelId="{BE995B2F-9E14-4A77-899D-8C25FEE7B901}" type="sibTrans" cxnId="{DC1550A4-1AC3-49D6-A036-6F9707080A8D}">
      <dgm:prSet/>
      <dgm:spPr/>
      <dgm:t>
        <a:bodyPr/>
        <a:lstStyle/>
        <a:p>
          <a:endParaRPr lang="en-US"/>
        </a:p>
      </dgm:t>
    </dgm:pt>
    <dgm:pt modelId="{73A15519-F8C5-41AD-BF8D-609A03AD35DB}">
      <dgm:prSet custT="1"/>
      <dgm:spPr/>
      <dgm:t>
        <a:bodyPr/>
        <a:lstStyle/>
        <a:p>
          <a:r>
            <a:rPr lang="en-US" sz="2800" dirty="0"/>
            <a:t>- Medical Research (genomics, disease models)</a:t>
          </a:r>
        </a:p>
      </dgm:t>
    </dgm:pt>
    <dgm:pt modelId="{9610D089-BA3D-4D90-912D-4D1F568E430F}" type="parTrans" cxnId="{56393589-462B-4EE4-95CF-070E70411C5F}">
      <dgm:prSet/>
      <dgm:spPr/>
      <dgm:t>
        <a:bodyPr/>
        <a:lstStyle/>
        <a:p>
          <a:endParaRPr lang="en-US"/>
        </a:p>
      </dgm:t>
    </dgm:pt>
    <dgm:pt modelId="{7825884A-A046-4B8D-9D59-8FFE44796B02}" type="sibTrans" cxnId="{56393589-462B-4EE4-95CF-070E70411C5F}">
      <dgm:prSet/>
      <dgm:spPr/>
      <dgm:t>
        <a:bodyPr/>
        <a:lstStyle/>
        <a:p>
          <a:endParaRPr lang="en-US"/>
        </a:p>
      </dgm:t>
    </dgm:pt>
    <dgm:pt modelId="{3A9097DE-4024-4F8E-A08A-E8B32833FEFF}">
      <dgm:prSet custT="1"/>
      <dgm:spPr/>
      <dgm:t>
        <a:bodyPr/>
        <a:lstStyle/>
        <a:p>
          <a:r>
            <a:rPr lang="en-US" sz="2800" dirty="0"/>
            <a:t>- Finance (risk analysis, trading)</a:t>
          </a:r>
        </a:p>
      </dgm:t>
    </dgm:pt>
    <dgm:pt modelId="{EC52C961-ED89-4E70-BA36-4F90674FDCF4}" type="parTrans" cxnId="{F74CEB2F-EFA2-4E42-8611-78727050361F}">
      <dgm:prSet/>
      <dgm:spPr/>
      <dgm:t>
        <a:bodyPr/>
        <a:lstStyle/>
        <a:p>
          <a:endParaRPr lang="en-US"/>
        </a:p>
      </dgm:t>
    </dgm:pt>
    <dgm:pt modelId="{D4F757DF-31F5-4670-8BC9-0B3289686D3F}" type="sibTrans" cxnId="{F74CEB2F-EFA2-4E42-8611-78727050361F}">
      <dgm:prSet/>
      <dgm:spPr/>
      <dgm:t>
        <a:bodyPr/>
        <a:lstStyle/>
        <a:p>
          <a:endParaRPr lang="en-US"/>
        </a:p>
      </dgm:t>
    </dgm:pt>
    <dgm:pt modelId="{941971A3-B5F1-48F5-ABC6-B019165D7E1C}">
      <dgm:prSet custT="1"/>
      <dgm:spPr/>
      <dgm:t>
        <a:bodyPr/>
        <a:lstStyle/>
        <a:p>
          <a:r>
            <a:rPr lang="en-US" sz="2800" dirty="0"/>
            <a:t>- Media (graphics rendering)</a:t>
          </a:r>
        </a:p>
      </dgm:t>
    </dgm:pt>
    <dgm:pt modelId="{BC4409A8-AD04-4224-AC31-8DAFB738BFD3}" type="parTrans" cxnId="{FBB12662-4BB3-4EDC-9D1A-7F9552B42B4B}">
      <dgm:prSet/>
      <dgm:spPr/>
      <dgm:t>
        <a:bodyPr/>
        <a:lstStyle/>
        <a:p>
          <a:endParaRPr lang="en-US"/>
        </a:p>
      </dgm:t>
    </dgm:pt>
    <dgm:pt modelId="{B8DF2470-2432-4813-86D4-7C5A1B9E2568}" type="sibTrans" cxnId="{FBB12662-4BB3-4EDC-9D1A-7F9552B42B4B}">
      <dgm:prSet/>
      <dgm:spPr/>
      <dgm:t>
        <a:bodyPr/>
        <a:lstStyle/>
        <a:p>
          <a:endParaRPr lang="en-US"/>
        </a:p>
      </dgm:t>
    </dgm:pt>
    <dgm:pt modelId="{F498E947-31AF-EC40-B622-857F0C6941CE}" type="pres">
      <dgm:prSet presAssocID="{9BDCA9D6-2A53-4220-BB38-59390F8C2A7A}" presName="outerComposite" presStyleCnt="0">
        <dgm:presLayoutVars>
          <dgm:chMax val="5"/>
          <dgm:dir/>
          <dgm:resizeHandles val="exact"/>
        </dgm:presLayoutVars>
      </dgm:prSet>
      <dgm:spPr/>
    </dgm:pt>
    <dgm:pt modelId="{95968BA8-F99C-1043-B958-849F9C8A8457}" type="pres">
      <dgm:prSet presAssocID="{9BDCA9D6-2A53-4220-BB38-59390F8C2A7A}" presName="dummyMaxCanvas" presStyleCnt="0">
        <dgm:presLayoutVars/>
      </dgm:prSet>
      <dgm:spPr/>
    </dgm:pt>
    <dgm:pt modelId="{8257013C-2A6D-2141-ADFE-F668C7BEB08C}" type="pres">
      <dgm:prSet presAssocID="{9BDCA9D6-2A53-4220-BB38-59390F8C2A7A}" presName="FourNodes_1" presStyleLbl="node1" presStyleIdx="0" presStyleCnt="4">
        <dgm:presLayoutVars>
          <dgm:bulletEnabled val="1"/>
        </dgm:presLayoutVars>
      </dgm:prSet>
      <dgm:spPr/>
    </dgm:pt>
    <dgm:pt modelId="{930E8A59-B708-7A40-A73B-B113745E3166}" type="pres">
      <dgm:prSet presAssocID="{9BDCA9D6-2A53-4220-BB38-59390F8C2A7A}" presName="FourNodes_2" presStyleLbl="node1" presStyleIdx="1" presStyleCnt="4">
        <dgm:presLayoutVars>
          <dgm:bulletEnabled val="1"/>
        </dgm:presLayoutVars>
      </dgm:prSet>
      <dgm:spPr/>
    </dgm:pt>
    <dgm:pt modelId="{D7B3A69E-0611-F449-8C38-83D878F2150F}" type="pres">
      <dgm:prSet presAssocID="{9BDCA9D6-2A53-4220-BB38-59390F8C2A7A}" presName="FourNodes_3" presStyleLbl="node1" presStyleIdx="2" presStyleCnt="4">
        <dgm:presLayoutVars>
          <dgm:bulletEnabled val="1"/>
        </dgm:presLayoutVars>
      </dgm:prSet>
      <dgm:spPr/>
    </dgm:pt>
    <dgm:pt modelId="{0B4D2756-1BBC-BC4C-BB20-A0C29CD950DA}" type="pres">
      <dgm:prSet presAssocID="{9BDCA9D6-2A53-4220-BB38-59390F8C2A7A}" presName="FourNodes_4" presStyleLbl="node1" presStyleIdx="3" presStyleCnt="4">
        <dgm:presLayoutVars>
          <dgm:bulletEnabled val="1"/>
        </dgm:presLayoutVars>
      </dgm:prSet>
      <dgm:spPr/>
    </dgm:pt>
    <dgm:pt modelId="{8FF8E26B-77D1-0540-A5A3-263B2D1EE4F7}" type="pres">
      <dgm:prSet presAssocID="{9BDCA9D6-2A53-4220-BB38-59390F8C2A7A}" presName="FourConn_1-2" presStyleLbl="fgAccFollowNode1" presStyleIdx="0" presStyleCnt="3">
        <dgm:presLayoutVars>
          <dgm:bulletEnabled val="1"/>
        </dgm:presLayoutVars>
      </dgm:prSet>
      <dgm:spPr/>
    </dgm:pt>
    <dgm:pt modelId="{9A23F154-3A8E-AE45-AB9D-931870D89F5B}" type="pres">
      <dgm:prSet presAssocID="{9BDCA9D6-2A53-4220-BB38-59390F8C2A7A}" presName="FourConn_2-3" presStyleLbl="fgAccFollowNode1" presStyleIdx="1" presStyleCnt="3">
        <dgm:presLayoutVars>
          <dgm:bulletEnabled val="1"/>
        </dgm:presLayoutVars>
      </dgm:prSet>
      <dgm:spPr/>
    </dgm:pt>
    <dgm:pt modelId="{55B3AF52-2141-2949-9260-598B99AC6934}" type="pres">
      <dgm:prSet presAssocID="{9BDCA9D6-2A53-4220-BB38-59390F8C2A7A}" presName="FourConn_3-4" presStyleLbl="fgAccFollowNode1" presStyleIdx="2" presStyleCnt="3">
        <dgm:presLayoutVars>
          <dgm:bulletEnabled val="1"/>
        </dgm:presLayoutVars>
      </dgm:prSet>
      <dgm:spPr/>
    </dgm:pt>
    <dgm:pt modelId="{5B93413D-5FE8-0B4C-9CD9-B95BCD2592D4}" type="pres">
      <dgm:prSet presAssocID="{9BDCA9D6-2A53-4220-BB38-59390F8C2A7A}" presName="FourNodes_1_text" presStyleLbl="node1" presStyleIdx="3" presStyleCnt="4">
        <dgm:presLayoutVars>
          <dgm:bulletEnabled val="1"/>
        </dgm:presLayoutVars>
      </dgm:prSet>
      <dgm:spPr/>
    </dgm:pt>
    <dgm:pt modelId="{371253C1-AD1B-914B-887F-FBCB1FF83293}" type="pres">
      <dgm:prSet presAssocID="{9BDCA9D6-2A53-4220-BB38-59390F8C2A7A}" presName="FourNodes_2_text" presStyleLbl="node1" presStyleIdx="3" presStyleCnt="4">
        <dgm:presLayoutVars>
          <dgm:bulletEnabled val="1"/>
        </dgm:presLayoutVars>
      </dgm:prSet>
      <dgm:spPr/>
    </dgm:pt>
    <dgm:pt modelId="{068A1FB9-8DCD-0A43-99DD-2F8EF4E7CFBB}" type="pres">
      <dgm:prSet presAssocID="{9BDCA9D6-2A53-4220-BB38-59390F8C2A7A}" presName="FourNodes_3_text" presStyleLbl="node1" presStyleIdx="3" presStyleCnt="4">
        <dgm:presLayoutVars>
          <dgm:bulletEnabled val="1"/>
        </dgm:presLayoutVars>
      </dgm:prSet>
      <dgm:spPr/>
    </dgm:pt>
    <dgm:pt modelId="{1396D71D-7AAA-E647-AAA0-945927769396}" type="pres">
      <dgm:prSet presAssocID="{9BDCA9D6-2A53-4220-BB38-59390F8C2A7A}" presName="FourNodes_4_text" presStyleLbl="node1" presStyleIdx="3" presStyleCnt="4">
        <dgm:presLayoutVars>
          <dgm:bulletEnabled val="1"/>
        </dgm:presLayoutVars>
      </dgm:prSet>
      <dgm:spPr/>
    </dgm:pt>
  </dgm:ptLst>
  <dgm:cxnLst>
    <dgm:cxn modelId="{CF3F7822-C332-BE43-94FB-B24DFA748D3E}" type="presOf" srcId="{BE995B2F-9E14-4A77-899D-8C25FEE7B901}" destId="{8FF8E26B-77D1-0540-A5A3-263B2D1EE4F7}" srcOrd="0" destOrd="0" presId="urn:microsoft.com/office/officeart/2005/8/layout/vProcess5"/>
    <dgm:cxn modelId="{CDEFDE2F-ABE3-834B-AD42-A35FF4CA96E9}" type="presOf" srcId="{73A15519-F8C5-41AD-BF8D-609A03AD35DB}" destId="{371253C1-AD1B-914B-887F-FBCB1FF83293}" srcOrd="1" destOrd="0" presId="urn:microsoft.com/office/officeart/2005/8/layout/vProcess5"/>
    <dgm:cxn modelId="{F74CEB2F-EFA2-4E42-8611-78727050361F}" srcId="{9BDCA9D6-2A53-4220-BB38-59390F8C2A7A}" destId="{3A9097DE-4024-4F8E-A08A-E8B32833FEFF}" srcOrd="2" destOrd="0" parTransId="{EC52C961-ED89-4E70-BA36-4F90674FDCF4}" sibTransId="{D4F757DF-31F5-4670-8BC9-0B3289686D3F}"/>
    <dgm:cxn modelId="{FBB12662-4BB3-4EDC-9D1A-7F9552B42B4B}" srcId="{9BDCA9D6-2A53-4220-BB38-59390F8C2A7A}" destId="{941971A3-B5F1-48F5-ABC6-B019165D7E1C}" srcOrd="3" destOrd="0" parTransId="{BC4409A8-AD04-4224-AC31-8DAFB738BFD3}" sibTransId="{B8DF2470-2432-4813-86D4-7C5A1B9E2568}"/>
    <dgm:cxn modelId="{72249B6E-AABA-3048-8A04-8C1B5481EF39}" type="presOf" srcId="{9BDCA9D6-2A53-4220-BB38-59390F8C2A7A}" destId="{F498E947-31AF-EC40-B622-857F0C6941CE}" srcOrd="0" destOrd="0" presId="urn:microsoft.com/office/officeart/2005/8/layout/vProcess5"/>
    <dgm:cxn modelId="{C58D1781-9227-C447-8CCE-AD924F53E5B4}" type="presOf" srcId="{941971A3-B5F1-48F5-ABC6-B019165D7E1C}" destId="{0B4D2756-1BBC-BC4C-BB20-A0C29CD950DA}" srcOrd="0" destOrd="0" presId="urn:microsoft.com/office/officeart/2005/8/layout/vProcess5"/>
    <dgm:cxn modelId="{1D4A5C84-5316-7741-B111-8E2030C37460}" type="presOf" srcId="{3A9097DE-4024-4F8E-A08A-E8B32833FEFF}" destId="{D7B3A69E-0611-F449-8C38-83D878F2150F}" srcOrd="0" destOrd="0" presId="urn:microsoft.com/office/officeart/2005/8/layout/vProcess5"/>
    <dgm:cxn modelId="{56393589-462B-4EE4-95CF-070E70411C5F}" srcId="{9BDCA9D6-2A53-4220-BB38-59390F8C2A7A}" destId="{73A15519-F8C5-41AD-BF8D-609A03AD35DB}" srcOrd="1" destOrd="0" parTransId="{9610D089-BA3D-4D90-912D-4D1F568E430F}" sibTransId="{7825884A-A046-4B8D-9D59-8FFE44796B02}"/>
    <dgm:cxn modelId="{FC9E5789-6AC5-C449-B58B-4B28A40FF70E}" type="presOf" srcId="{DADBFFB3-205D-4ED1-ABA9-AA8740BEC34A}" destId="{5B93413D-5FE8-0B4C-9CD9-B95BCD2592D4}" srcOrd="1" destOrd="0" presId="urn:microsoft.com/office/officeart/2005/8/layout/vProcess5"/>
    <dgm:cxn modelId="{DC1550A4-1AC3-49D6-A036-6F9707080A8D}" srcId="{9BDCA9D6-2A53-4220-BB38-59390F8C2A7A}" destId="{DADBFFB3-205D-4ED1-ABA9-AA8740BEC34A}" srcOrd="0" destOrd="0" parTransId="{8E5BD4C5-4739-4CDB-92C6-A12D4D7F9821}" sibTransId="{BE995B2F-9E14-4A77-899D-8C25FEE7B901}"/>
    <dgm:cxn modelId="{8675D6B8-E692-244A-BB3F-99139746F7AA}" type="presOf" srcId="{73A15519-F8C5-41AD-BF8D-609A03AD35DB}" destId="{930E8A59-B708-7A40-A73B-B113745E3166}" srcOrd="0" destOrd="0" presId="urn:microsoft.com/office/officeart/2005/8/layout/vProcess5"/>
    <dgm:cxn modelId="{20FB6ABD-0BE2-EC4D-A893-C1F8F1C44C35}" type="presOf" srcId="{D4F757DF-31F5-4670-8BC9-0B3289686D3F}" destId="{55B3AF52-2141-2949-9260-598B99AC6934}" srcOrd="0" destOrd="0" presId="urn:microsoft.com/office/officeart/2005/8/layout/vProcess5"/>
    <dgm:cxn modelId="{A6641BC0-D408-134D-A7FE-C8A5EE03D65A}" type="presOf" srcId="{3A9097DE-4024-4F8E-A08A-E8B32833FEFF}" destId="{068A1FB9-8DCD-0A43-99DD-2F8EF4E7CFBB}" srcOrd="1" destOrd="0" presId="urn:microsoft.com/office/officeart/2005/8/layout/vProcess5"/>
    <dgm:cxn modelId="{164119D0-D6D8-7E4D-BDCF-26B099D17A41}" type="presOf" srcId="{941971A3-B5F1-48F5-ABC6-B019165D7E1C}" destId="{1396D71D-7AAA-E647-AAA0-945927769396}" srcOrd="1" destOrd="0" presId="urn:microsoft.com/office/officeart/2005/8/layout/vProcess5"/>
    <dgm:cxn modelId="{8940F5EF-B1F1-7440-85D1-EB4AB835D973}" type="presOf" srcId="{DADBFFB3-205D-4ED1-ABA9-AA8740BEC34A}" destId="{8257013C-2A6D-2141-ADFE-F668C7BEB08C}" srcOrd="0" destOrd="0" presId="urn:microsoft.com/office/officeart/2005/8/layout/vProcess5"/>
    <dgm:cxn modelId="{CE3FCFFF-54BE-7640-A02C-A140C4E6B404}" type="presOf" srcId="{7825884A-A046-4B8D-9D59-8FFE44796B02}" destId="{9A23F154-3A8E-AE45-AB9D-931870D89F5B}" srcOrd="0" destOrd="0" presId="urn:microsoft.com/office/officeart/2005/8/layout/vProcess5"/>
    <dgm:cxn modelId="{8F0D3FCB-7027-C74D-ADFE-B26D7AC3083F}" type="presParOf" srcId="{F498E947-31AF-EC40-B622-857F0C6941CE}" destId="{95968BA8-F99C-1043-B958-849F9C8A8457}" srcOrd="0" destOrd="0" presId="urn:microsoft.com/office/officeart/2005/8/layout/vProcess5"/>
    <dgm:cxn modelId="{B19FF707-A3D7-2040-BA7A-B445A1E66FD1}" type="presParOf" srcId="{F498E947-31AF-EC40-B622-857F0C6941CE}" destId="{8257013C-2A6D-2141-ADFE-F668C7BEB08C}" srcOrd="1" destOrd="0" presId="urn:microsoft.com/office/officeart/2005/8/layout/vProcess5"/>
    <dgm:cxn modelId="{E5DED972-EA36-8B48-B2C6-D5D5087C484D}" type="presParOf" srcId="{F498E947-31AF-EC40-B622-857F0C6941CE}" destId="{930E8A59-B708-7A40-A73B-B113745E3166}" srcOrd="2" destOrd="0" presId="urn:microsoft.com/office/officeart/2005/8/layout/vProcess5"/>
    <dgm:cxn modelId="{F30E84B2-1592-4E4A-AB76-495E8A9B718C}" type="presParOf" srcId="{F498E947-31AF-EC40-B622-857F0C6941CE}" destId="{D7B3A69E-0611-F449-8C38-83D878F2150F}" srcOrd="3" destOrd="0" presId="urn:microsoft.com/office/officeart/2005/8/layout/vProcess5"/>
    <dgm:cxn modelId="{720E8969-1B49-EA46-80DB-9024C7A2DA80}" type="presParOf" srcId="{F498E947-31AF-EC40-B622-857F0C6941CE}" destId="{0B4D2756-1BBC-BC4C-BB20-A0C29CD950DA}" srcOrd="4" destOrd="0" presId="urn:microsoft.com/office/officeart/2005/8/layout/vProcess5"/>
    <dgm:cxn modelId="{5EAC72F7-6C51-094C-AA58-4110E441164C}" type="presParOf" srcId="{F498E947-31AF-EC40-B622-857F0C6941CE}" destId="{8FF8E26B-77D1-0540-A5A3-263B2D1EE4F7}" srcOrd="5" destOrd="0" presId="urn:microsoft.com/office/officeart/2005/8/layout/vProcess5"/>
    <dgm:cxn modelId="{E52859C5-4359-3340-9F58-05C00E73D9BF}" type="presParOf" srcId="{F498E947-31AF-EC40-B622-857F0C6941CE}" destId="{9A23F154-3A8E-AE45-AB9D-931870D89F5B}" srcOrd="6" destOrd="0" presId="urn:microsoft.com/office/officeart/2005/8/layout/vProcess5"/>
    <dgm:cxn modelId="{EEBFCD5F-FC38-B64B-BF9A-87EB4B9E8129}" type="presParOf" srcId="{F498E947-31AF-EC40-B622-857F0C6941CE}" destId="{55B3AF52-2141-2949-9260-598B99AC6934}" srcOrd="7" destOrd="0" presId="urn:microsoft.com/office/officeart/2005/8/layout/vProcess5"/>
    <dgm:cxn modelId="{120BBF34-3805-F045-9BA5-A42ACFA6436D}" type="presParOf" srcId="{F498E947-31AF-EC40-B622-857F0C6941CE}" destId="{5B93413D-5FE8-0B4C-9CD9-B95BCD2592D4}" srcOrd="8" destOrd="0" presId="urn:microsoft.com/office/officeart/2005/8/layout/vProcess5"/>
    <dgm:cxn modelId="{764D9598-B6B3-364A-9291-2963F130B105}" type="presParOf" srcId="{F498E947-31AF-EC40-B622-857F0C6941CE}" destId="{371253C1-AD1B-914B-887F-FBCB1FF83293}" srcOrd="9" destOrd="0" presId="urn:microsoft.com/office/officeart/2005/8/layout/vProcess5"/>
    <dgm:cxn modelId="{37934120-AA4F-0146-8BC2-700282207EF8}" type="presParOf" srcId="{F498E947-31AF-EC40-B622-857F0C6941CE}" destId="{068A1FB9-8DCD-0A43-99DD-2F8EF4E7CFBB}" srcOrd="10" destOrd="0" presId="urn:microsoft.com/office/officeart/2005/8/layout/vProcess5"/>
    <dgm:cxn modelId="{AFF694FF-DCDF-3D45-900A-D6F8D41FFB11}" type="presParOf" srcId="{F498E947-31AF-EC40-B622-857F0C6941CE}" destId="{1396D71D-7AAA-E647-AAA0-945927769396}"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F2D8C45-9C78-490C-97F6-D8EF40941A5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075E369-3E4A-CD43-A85E-D25E752A4B41}" type="pres">
      <dgm:prSet presAssocID="{9F2D8C45-9C78-490C-97F6-D8EF40941A5C}" presName="linear" presStyleCnt="0">
        <dgm:presLayoutVars>
          <dgm:animLvl val="lvl"/>
          <dgm:resizeHandles val="exact"/>
        </dgm:presLayoutVars>
      </dgm:prSet>
      <dgm:spPr/>
    </dgm:pt>
  </dgm:ptLst>
  <dgm:cxnLst>
    <dgm:cxn modelId="{6ED23CD7-1D69-6541-AB60-E38BD658DDDF}" type="presOf" srcId="{9F2D8C45-9C78-490C-97F6-D8EF40941A5C}" destId="{3075E369-3E4A-CD43-A85E-D25E752A4B4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F2D8C45-9C78-490C-97F6-D8EF40941A5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ED7A167-C81E-4BF7-A585-04FF74F00ABE}">
      <dgm:prSet/>
      <dgm:spPr/>
      <dgm:t>
        <a:bodyPr/>
        <a:lstStyle/>
        <a:p>
          <a:r>
            <a:rPr lang="en-US" dirty="0"/>
            <a:t>- Programs run on multiple processors simultaneously</a:t>
          </a:r>
        </a:p>
      </dgm:t>
    </dgm:pt>
    <dgm:pt modelId="{02E90489-1465-4700-B6F5-8644DC3E4D06}" type="parTrans" cxnId="{40BE9753-1A9A-4CA0-8E3C-2AF39BC20517}">
      <dgm:prSet/>
      <dgm:spPr/>
      <dgm:t>
        <a:bodyPr/>
        <a:lstStyle/>
        <a:p>
          <a:endParaRPr lang="en-US"/>
        </a:p>
      </dgm:t>
    </dgm:pt>
    <dgm:pt modelId="{E7BC7D49-F8E4-490A-87D8-B9DC08D23A31}" type="sibTrans" cxnId="{40BE9753-1A9A-4CA0-8E3C-2AF39BC20517}">
      <dgm:prSet/>
      <dgm:spPr/>
      <dgm:t>
        <a:bodyPr/>
        <a:lstStyle/>
        <a:p>
          <a:endParaRPr lang="en-US"/>
        </a:p>
      </dgm:t>
    </dgm:pt>
    <dgm:pt modelId="{6E294D01-094F-4D59-8B9A-B2A35FB94024}">
      <dgm:prSet/>
      <dgm:spPr/>
      <dgm:t>
        <a:bodyPr/>
        <a:lstStyle/>
        <a:p>
          <a:r>
            <a:rPr lang="en-US"/>
            <a:t>- Platforms: OpenMP, MPI, CUDA, Intel TBB</a:t>
          </a:r>
        </a:p>
      </dgm:t>
    </dgm:pt>
    <dgm:pt modelId="{8384F990-4816-4054-89D2-BEFA2CFC3296}" type="parTrans" cxnId="{7488F0C0-F1AC-4D49-8284-C77DAFDCC919}">
      <dgm:prSet/>
      <dgm:spPr/>
      <dgm:t>
        <a:bodyPr/>
        <a:lstStyle/>
        <a:p>
          <a:endParaRPr lang="en-US"/>
        </a:p>
      </dgm:t>
    </dgm:pt>
    <dgm:pt modelId="{DC493C60-2D40-45C5-A980-A8915F1F0347}" type="sibTrans" cxnId="{7488F0C0-F1AC-4D49-8284-C77DAFDCC919}">
      <dgm:prSet/>
      <dgm:spPr/>
      <dgm:t>
        <a:bodyPr/>
        <a:lstStyle/>
        <a:p>
          <a:endParaRPr lang="en-US"/>
        </a:p>
      </dgm:t>
    </dgm:pt>
    <dgm:pt modelId="{31722BD2-07E7-420B-92E8-0D3684DD0A3B}">
      <dgm:prSet/>
      <dgm:spPr/>
      <dgm:t>
        <a:bodyPr/>
        <a:lstStyle/>
        <a:p>
          <a:r>
            <a:rPr lang="en-US"/>
            <a:t>- Enables faster and efficient computing</a:t>
          </a:r>
        </a:p>
      </dgm:t>
    </dgm:pt>
    <dgm:pt modelId="{DA23F6FB-832E-49E4-B9C6-C538B1122F80}" type="parTrans" cxnId="{BFF0322F-50B8-411D-A3B2-FA8CF60D43BF}">
      <dgm:prSet/>
      <dgm:spPr/>
      <dgm:t>
        <a:bodyPr/>
        <a:lstStyle/>
        <a:p>
          <a:endParaRPr lang="en-US"/>
        </a:p>
      </dgm:t>
    </dgm:pt>
    <dgm:pt modelId="{237AC086-C931-491A-BBB8-D49DA8AF6C5D}" type="sibTrans" cxnId="{BFF0322F-50B8-411D-A3B2-FA8CF60D43BF}">
      <dgm:prSet/>
      <dgm:spPr/>
      <dgm:t>
        <a:bodyPr/>
        <a:lstStyle/>
        <a:p>
          <a:endParaRPr lang="en-US"/>
        </a:p>
      </dgm:t>
    </dgm:pt>
    <dgm:pt modelId="{3075E369-3E4A-CD43-A85E-D25E752A4B41}" type="pres">
      <dgm:prSet presAssocID="{9F2D8C45-9C78-490C-97F6-D8EF40941A5C}" presName="linear" presStyleCnt="0">
        <dgm:presLayoutVars>
          <dgm:animLvl val="lvl"/>
          <dgm:resizeHandles val="exact"/>
        </dgm:presLayoutVars>
      </dgm:prSet>
      <dgm:spPr/>
    </dgm:pt>
    <dgm:pt modelId="{1C0E955F-3FB8-574D-899E-6F2BAE35D9A9}" type="pres">
      <dgm:prSet presAssocID="{3ED7A167-C81E-4BF7-A585-04FF74F00ABE}" presName="parentText" presStyleLbl="node1" presStyleIdx="0" presStyleCnt="3">
        <dgm:presLayoutVars>
          <dgm:chMax val="0"/>
          <dgm:bulletEnabled val="1"/>
        </dgm:presLayoutVars>
      </dgm:prSet>
      <dgm:spPr/>
    </dgm:pt>
    <dgm:pt modelId="{FD03FBB6-2D21-F64E-8812-379845B5E76A}" type="pres">
      <dgm:prSet presAssocID="{E7BC7D49-F8E4-490A-87D8-B9DC08D23A31}" presName="spacer" presStyleCnt="0"/>
      <dgm:spPr/>
    </dgm:pt>
    <dgm:pt modelId="{546CA0E4-5301-284A-A8C4-60B9BD6C53ED}" type="pres">
      <dgm:prSet presAssocID="{6E294D01-094F-4D59-8B9A-B2A35FB94024}" presName="parentText" presStyleLbl="node1" presStyleIdx="1" presStyleCnt="3">
        <dgm:presLayoutVars>
          <dgm:chMax val="0"/>
          <dgm:bulletEnabled val="1"/>
        </dgm:presLayoutVars>
      </dgm:prSet>
      <dgm:spPr/>
    </dgm:pt>
    <dgm:pt modelId="{DC42BE27-9FA0-F948-BBC5-EB2C93124AAB}" type="pres">
      <dgm:prSet presAssocID="{DC493C60-2D40-45C5-A980-A8915F1F0347}" presName="spacer" presStyleCnt="0"/>
      <dgm:spPr/>
    </dgm:pt>
    <dgm:pt modelId="{E4F19E9A-F2BF-7840-830F-586AD4EA74E0}" type="pres">
      <dgm:prSet presAssocID="{31722BD2-07E7-420B-92E8-0D3684DD0A3B}" presName="parentText" presStyleLbl="node1" presStyleIdx="2" presStyleCnt="3">
        <dgm:presLayoutVars>
          <dgm:chMax val="0"/>
          <dgm:bulletEnabled val="1"/>
        </dgm:presLayoutVars>
      </dgm:prSet>
      <dgm:spPr/>
    </dgm:pt>
  </dgm:ptLst>
  <dgm:cxnLst>
    <dgm:cxn modelId="{BFF0322F-50B8-411D-A3B2-FA8CF60D43BF}" srcId="{9F2D8C45-9C78-490C-97F6-D8EF40941A5C}" destId="{31722BD2-07E7-420B-92E8-0D3684DD0A3B}" srcOrd="2" destOrd="0" parTransId="{DA23F6FB-832E-49E4-B9C6-C538B1122F80}" sibTransId="{237AC086-C931-491A-BBB8-D49DA8AF6C5D}"/>
    <dgm:cxn modelId="{40BE9753-1A9A-4CA0-8E3C-2AF39BC20517}" srcId="{9F2D8C45-9C78-490C-97F6-D8EF40941A5C}" destId="{3ED7A167-C81E-4BF7-A585-04FF74F00ABE}" srcOrd="0" destOrd="0" parTransId="{02E90489-1465-4700-B6F5-8644DC3E4D06}" sibTransId="{E7BC7D49-F8E4-490A-87D8-B9DC08D23A31}"/>
    <dgm:cxn modelId="{41713FAB-79F9-7B4D-ADF6-FCE4A94E313B}" type="presOf" srcId="{6E294D01-094F-4D59-8B9A-B2A35FB94024}" destId="{546CA0E4-5301-284A-A8C4-60B9BD6C53ED}" srcOrd="0" destOrd="0" presId="urn:microsoft.com/office/officeart/2005/8/layout/vList2"/>
    <dgm:cxn modelId="{7488F0C0-F1AC-4D49-8284-C77DAFDCC919}" srcId="{9F2D8C45-9C78-490C-97F6-D8EF40941A5C}" destId="{6E294D01-094F-4D59-8B9A-B2A35FB94024}" srcOrd="1" destOrd="0" parTransId="{8384F990-4816-4054-89D2-BEFA2CFC3296}" sibTransId="{DC493C60-2D40-45C5-A980-A8915F1F0347}"/>
    <dgm:cxn modelId="{133FFDC8-6F7D-1D48-89DD-E56FB9059D1B}" type="presOf" srcId="{31722BD2-07E7-420B-92E8-0D3684DD0A3B}" destId="{E4F19E9A-F2BF-7840-830F-586AD4EA74E0}" srcOrd="0" destOrd="0" presId="urn:microsoft.com/office/officeart/2005/8/layout/vList2"/>
    <dgm:cxn modelId="{C43F73D6-3ABC-5C4B-9FBD-EC122137E4FE}" type="presOf" srcId="{3ED7A167-C81E-4BF7-A585-04FF74F00ABE}" destId="{1C0E955F-3FB8-574D-899E-6F2BAE35D9A9}" srcOrd="0" destOrd="0" presId="urn:microsoft.com/office/officeart/2005/8/layout/vList2"/>
    <dgm:cxn modelId="{6ED23CD7-1D69-6541-AB60-E38BD658DDDF}" type="presOf" srcId="{9F2D8C45-9C78-490C-97F6-D8EF40941A5C}" destId="{3075E369-3E4A-CD43-A85E-D25E752A4B41}" srcOrd="0" destOrd="0" presId="urn:microsoft.com/office/officeart/2005/8/layout/vList2"/>
    <dgm:cxn modelId="{52298724-54F8-2948-A9CB-B0B827896AAA}" type="presParOf" srcId="{3075E369-3E4A-CD43-A85E-D25E752A4B41}" destId="{1C0E955F-3FB8-574D-899E-6F2BAE35D9A9}" srcOrd="0" destOrd="0" presId="urn:microsoft.com/office/officeart/2005/8/layout/vList2"/>
    <dgm:cxn modelId="{F42BA77C-A9F5-3B44-98B2-0B36846116E0}" type="presParOf" srcId="{3075E369-3E4A-CD43-A85E-D25E752A4B41}" destId="{FD03FBB6-2D21-F64E-8812-379845B5E76A}" srcOrd="1" destOrd="0" presId="urn:microsoft.com/office/officeart/2005/8/layout/vList2"/>
    <dgm:cxn modelId="{CC49D4CD-0EDE-E747-8A30-4D8F2E00AEF3}" type="presParOf" srcId="{3075E369-3E4A-CD43-A85E-D25E752A4B41}" destId="{546CA0E4-5301-284A-A8C4-60B9BD6C53ED}" srcOrd="2" destOrd="0" presId="urn:microsoft.com/office/officeart/2005/8/layout/vList2"/>
    <dgm:cxn modelId="{6FFD8797-4CA2-8548-9ED8-BB6899C78B43}" type="presParOf" srcId="{3075E369-3E4A-CD43-A85E-D25E752A4B41}" destId="{DC42BE27-9FA0-F948-BBC5-EB2C93124AAB}" srcOrd="3" destOrd="0" presId="urn:microsoft.com/office/officeart/2005/8/layout/vList2"/>
    <dgm:cxn modelId="{0A4A5513-DA53-4748-9126-A71156C27336}" type="presParOf" srcId="{3075E369-3E4A-CD43-A85E-D25E752A4B41}" destId="{E4F19E9A-F2BF-7840-830F-586AD4EA74E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E81D14B-395F-4CEA-8806-455E7B1F3B6A}"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en-US"/>
        </a:p>
      </dgm:t>
    </dgm:pt>
    <dgm:pt modelId="{1C2E6FE6-8C23-465C-915D-9FB9B9A9416A}">
      <dgm:prSet/>
      <dgm:spPr/>
      <dgm:t>
        <a:bodyPr/>
        <a:lstStyle/>
        <a:p>
          <a:r>
            <a:rPr lang="en-US" dirty="0"/>
            <a:t>- Internet-based on demand access to  computing services</a:t>
          </a:r>
        </a:p>
        <a:p>
          <a:endParaRPr lang="en-US" dirty="0"/>
        </a:p>
      </dgm:t>
    </dgm:pt>
    <dgm:pt modelId="{8706C67D-3275-4CC2-9BD3-5B925A58464D}" type="parTrans" cxnId="{6D69E3B6-8F0E-4D68-9969-6CFA93D2DB44}">
      <dgm:prSet/>
      <dgm:spPr/>
      <dgm:t>
        <a:bodyPr/>
        <a:lstStyle/>
        <a:p>
          <a:endParaRPr lang="en-US"/>
        </a:p>
      </dgm:t>
    </dgm:pt>
    <dgm:pt modelId="{E32E04FD-EB47-4DB0-BBD4-88FB8FA9865B}" type="sibTrans" cxnId="{6D69E3B6-8F0E-4D68-9969-6CFA93D2DB44}">
      <dgm:prSet/>
      <dgm:spPr/>
      <dgm:t>
        <a:bodyPr/>
        <a:lstStyle/>
        <a:p>
          <a:endParaRPr lang="en-US"/>
        </a:p>
      </dgm:t>
    </dgm:pt>
    <dgm:pt modelId="{1AF8C206-9970-422F-8BB3-2FEA3055EE70}">
      <dgm:prSet/>
      <dgm:spPr/>
      <dgm:t>
        <a:bodyPr/>
        <a:lstStyle/>
        <a:p>
          <a:r>
            <a:rPr lang="en-US"/>
            <a:t>- Types: IaaS, PaaS, SaaS</a:t>
          </a:r>
        </a:p>
      </dgm:t>
    </dgm:pt>
    <dgm:pt modelId="{21150266-514A-4D94-8002-5E43BED75476}" type="parTrans" cxnId="{E219D015-7A75-4AA9-8711-9C027712677C}">
      <dgm:prSet/>
      <dgm:spPr/>
      <dgm:t>
        <a:bodyPr/>
        <a:lstStyle/>
        <a:p>
          <a:endParaRPr lang="en-US"/>
        </a:p>
      </dgm:t>
    </dgm:pt>
    <dgm:pt modelId="{95E2DBEA-A92E-4880-A06D-5E150D14EF4A}" type="sibTrans" cxnId="{E219D015-7A75-4AA9-8711-9C027712677C}">
      <dgm:prSet/>
      <dgm:spPr/>
      <dgm:t>
        <a:bodyPr/>
        <a:lstStyle/>
        <a:p>
          <a:endParaRPr lang="en-US"/>
        </a:p>
      </dgm:t>
    </dgm:pt>
    <dgm:pt modelId="{A091296F-6A9C-4B61-852A-E6C7FF4F4DBD}">
      <dgm:prSet/>
      <dgm:spPr/>
      <dgm:t>
        <a:bodyPr/>
        <a:lstStyle/>
        <a:p>
          <a:r>
            <a:rPr lang="en-US" dirty="0"/>
            <a:t>- Advantages: Scalable, Cost-effective, Accessible, Speedy&amp; Agile</a:t>
          </a:r>
        </a:p>
      </dgm:t>
    </dgm:pt>
    <dgm:pt modelId="{FBDD5180-5BFE-46F6-B21E-8FA966F106B4}" type="parTrans" cxnId="{8D0EDF11-714B-411D-A80F-AE266C77BF7A}">
      <dgm:prSet/>
      <dgm:spPr/>
      <dgm:t>
        <a:bodyPr/>
        <a:lstStyle/>
        <a:p>
          <a:endParaRPr lang="en-US"/>
        </a:p>
      </dgm:t>
    </dgm:pt>
    <dgm:pt modelId="{6564F455-7C81-4267-B5E3-891B84AAA7EC}" type="sibTrans" cxnId="{8D0EDF11-714B-411D-A80F-AE266C77BF7A}">
      <dgm:prSet/>
      <dgm:spPr/>
      <dgm:t>
        <a:bodyPr/>
        <a:lstStyle/>
        <a:p>
          <a:endParaRPr lang="en-US"/>
        </a:p>
      </dgm:t>
    </dgm:pt>
    <dgm:pt modelId="{090582E7-A337-4291-8653-5C3529B2E6DC}">
      <dgm:prSet/>
      <dgm:spPr/>
      <dgm:t>
        <a:bodyPr/>
        <a:lstStyle/>
        <a:p>
          <a:r>
            <a:rPr lang="en-US"/>
            <a:t>- Examples: AWS, Azure, GCP</a:t>
          </a:r>
        </a:p>
      </dgm:t>
    </dgm:pt>
    <dgm:pt modelId="{08A2E9C5-D687-4FFC-B700-6B0D6A7921B1}" type="parTrans" cxnId="{A0C7A60A-2605-45B9-A5F4-D13DBA75599D}">
      <dgm:prSet/>
      <dgm:spPr/>
      <dgm:t>
        <a:bodyPr/>
        <a:lstStyle/>
        <a:p>
          <a:endParaRPr lang="en-US"/>
        </a:p>
      </dgm:t>
    </dgm:pt>
    <dgm:pt modelId="{F0B6C0E8-03A6-4128-94CC-F6E4DD818314}" type="sibTrans" cxnId="{A0C7A60A-2605-45B9-A5F4-D13DBA75599D}">
      <dgm:prSet/>
      <dgm:spPr/>
      <dgm:t>
        <a:bodyPr/>
        <a:lstStyle/>
        <a:p>
          <a:endParaRPr lang="en-US"/>
        </a:p>
      </dgm:t>
    </dgm:pt>
    <dgm:pt modelId="{EA97C7EC-927D-F94C-AC79-63B3506E37D1}" type="pres">
      <dgm:prSet presAssocID="{0E81D14B-395F-4CEA-8806-455E7B1F3B6A}" presName="matrix" presStyleCnt="0">
        <dgm:presLayoutVars>
          <dgm:chMax val="1"/>
          <dgm:dir/>
          <dgm:resizeHandles val="exact"/>
        </dgm:presLayoutVars>
      </dgm:prSet>
      <dgm:spPr/>
    </dgm:pt>
    <dgm:pt modelId="{C0E1893B-701B-3B43-97F1-FDDF1249C171}" type="pres">
      <dgm:prSet presAssocID="{0E81D14B-395F-4CEA-8806-455E7B1F3B6A}" presName="diamond" presStyleLbl="bgShp" presStyleIdx="0" presStyleCnt="1"/>
      <dgm:spPr/>
    </dgm:pt>
    <dgm:pt modelId="{7522B97F-04F7-204A-911F-60105AE624BF}" type="pres">
      <dgm:prSet presAssocID="{0E81D14B-395F-4CEA-8806-455E7B1F3B6A}" presName="quad1" presStyleLbl="node1" presStyleIdx="0" presStyleCnt="4">
        <dgm:presLayoutVars>
          <dgm:chMax val="0"/>
          <dgm:chPref val="0"/>
          <dgm:bulletEnabled val="1"/>
        </dgm:presLayoutVars>
      </dgm:prSet>
      <dgm:spPr/>
    </dgm:pt>
    <dgm:pt modelId="{152C6FCA-1402-CE49-82D8-952613E03898}" type="pres">
      <dgm:prSet presAssocID="{0E81D14B-395F-4CEA-8806-455E7B1F3B6A}" presName="quad2" presStyleLbl="node1" presStyleIdx="1" presStyleCnt="4">
        <dgm:presLayoutVars>
          <dgm:chMax val="0"/>
          <dgm:chPref val="0"/>
          <dgm:bulletEnabled val="1"/>
        </dgm:presLayoutVars>
      </dgm:prSet>
      <dgm:spPr/>
    </dgm:pt>
    <dgm:pt modelId="{381B4A15-FC76-F446-9260-33DCA9774F15}" type="pres">
      <dgm:prSet presAssocID="{0E81D14B-395F-4CEA-8806-455E7B1F3B6A}" presName="quad3" presStyleLbl="node1" presStyleIdx="2" presStyleCnt="4">
        <dgm:presLayoutVars>
          <dgm:chMax val="0"/>
          <dgm:chPref val="0"/>
          <dgm:bulletEnabled val="1"/>
        </dgm:presLayoutVars>
      </dgm:prSet>
      <dgm:spPr/>
    </dgm:pt>
    <dgm:pt modelId="{2462B73D-B802-3047-88E5-B9E8F2B0FDD9}" type="pres">
      <dgm:prSet presAssocID="{0E81D14B-395F-4CEA-8806-455E7B1F3B6A}" presName="quad4" presStyleLbl="node1" presStyleIdx="3" presStyleCnt="4">
        <dgm:presLayoutVars>
          <dgm:chMax val="0"/>
          <dgm:chPref val="0"/>
          <dgm:bulletEnabled val="1"/>
        </dgm:presLayoutVars>
      </dgm:prSet>
      <dgm:spPr/>
    </dgm:pt>
  </dgm:ptLst>
  <dgm:cxnLst>
    <dgm:cxn modelId="{A0C7A60A-2605-45B9-A5F4-D13DBA75599D}" srcId="{0E81D14B-395F-4CEA-8806-455E7B1F3B6A}" destId="{090582E7-A337-4291-8653-5C3529B2E6DC}" srcOrd="3" destOrd="0" parTransId="{08A2E9C5-D687-4FFC-B700-6B0D6A7921B1}" sibTransId="{F0B6C0E8-03A6-4128-94CC-F6E4DD818314}"/>
    <dgm:cxn modelId="{8D0EDF11-714B-411D-A80F-AE266C77BF7A}" srcId="{0E81D14B-395F-4CEA-8806-455E7B1F3B6A}" destId="{A091296F-6A9C-4B61-852A-E6C7FF4F4DBD}" srcOrd="2" destOrd="0" parTransId="{FBDD5180-5BFE-46F6-B21E-8FA966F106B4}" sibTransId="{6564F455-7C81-4267-B5E3-891B84AAA7EC}"/>
    <dgm:cxn modelId="{E219D015-7A75-4AA9-8711-9C027712677C}" srcId="{0E81D14B-395F-4CEA-8806-455E7B1F3B6A}" destId="{1AF8C206-9970-422F-8BB3-2FEA3055EE70}" srcOrd="1" destOrd="0" parTransId="{21150266-514A-4D94-8002-5E43BED75476}" sibTransId="{95E2DBEA-A92E-4880-A06D-5E150D14EF4A}"/>
    <dgm:cxn modelId="{1FA39862-C4EC-3741-824A-AD2532EB31FC}" type="presOf" srcId="{090582E7-A337-4291-8653-5C3529B2E6DC}" destId="{2462B73D-B802-3047-88E5-B9E8F2B0FDD9}" srcOrd="0" destOrd="0" presId="urn:microsoft.com/office/officeart/2005/8/layout/matrix3"/>
    <dgm:cxn modelId="{7D7E7594-31DB-5B4E-9E75-3B0E022FE272}" type="presOf" srcId="{A091296F-6A9C-4B61-852A-E6C7FF4F4DBD}" destId="{381B4A15-FC76-F446-9260-33DCA9774F15}" srcOrd="0" destOrd="0" presId="urn:microsoft.com/office/officeart/2005/8/layout/matrix3"/>
    <dgm:cxn modelId="{4C58169C-F0F6-BD4D-A0BE-825F6D569607}" type="presOf" srcId="{1AF8C206-9970-422F-8BB3-2FEA3055EE70}" destId="{152C6FCA-1402-CE49-82D8-952613E03898}" srcOrd="0" destOrd="0" presId="urn:microsoft.com/office/officeart/2005/8/layout/matrix3"/>
    <dgm:cxn modelId="{F1B656A9-30C2-8C44-9E48-BC7B09584828}" type="presOf" srcId="{0E81D14B-395F-4CEA-8806-455E7B1F3B6A}" destId="{EA97C7EC-927D-F94C-AC79-63B3506E37D1}" srcOrd="0" destOrd="0" presId="urn:microsoft.com/office/officeart/2005/8/layout/matrix3"/>
    <dgm:cxn modelId="{DA9F3EB4-0B0F-9B41-95B8-11059E80F35C}" type="presOf" srcId="{1C2E6FE6-8C23-465C-915D-9FB9B9A9416A}" destId="{7522B97F-04F7-204A-911F-60105AE624BF}" srcOrd="0" destOrd="0" presId="urn:microsoft.com/office/officeart/2005/8/layout/matrix3"/>
    <dgm:cxn modelId="{6D69E3B6-8F0E-4D68-9969-6CFA93D2DB44}" srcId="{0E81D14B-395F-4CEA-8806-455E7B1F3B6A}" destId="{1C2E6FE6-8C23-465C-915D-9FB9B9A9416A}" srcOrd="0" destOrd="0" parTransId="{8706C67D-3275-4CC2-9BD3-5B925A58464D}" sibTransId="{E32E04FD-EB47-4DB0-BBD4-88FB8FA9865B}"/>
    <dgm:cxn modelId="{4D7EA4DA-8C2B-334E-98BD-15FA7756BE0F}" type="presParOf" srcId="{EA97C7EC-927D-F94C-AC79-63B3506E37D1}" destId="{C0E1893B-701B-3B43-97F1-FDDF1249C171}" srcOrd="0" destOrd="0" presId="urn:microsoft.com/office/officeart/2005/8/layout/matrix3"/>
    <dgm:cxn modelId="{5675D9D6-3A99-A445-A0EB-1543F4985D47}" type="presParOf" srcId="{EA97C7EC-927D-F94C-AC79-63B3506E37D1}" destId="{7522B97F-04F7-204A-911F-60105AE624BF}" srcOrd="1" destOrd="0" presId="urn:microsoft.com/office/officeart/2005/8/layout/matrix3"/>
    <dgm:cxn modelId="{4C1C2433-5195-194D-93E8-CA3E4D79011A}" type="presParOf" srcId="{EA97C7EC-927D-F94C-AC79-63B3506E37D1}" destId="{152C6FCA-1402-CE49-82D8-952613E03898}" srcOrd="2" destOrd="0" presId="urn:microsoft.com/office/officeart/2005/8/layout/matrix3"/>
    <dgm:cxn modelId="{219DD23D-92E6-004E-A529-04154121040A}" type="presParOf" srcId="{EA97C7EC-927D-F94C-AC79-63B3506E37D1}" destId="{381B4A15-FC76-F446-9260-33DCA9774F15}" srcOrd="3" destOrd="0" presId="urn:microsoft.com/office/officeart/2005/8/layout/matrix3"/>
    <dgm:cxn modelId="{4E800F47-2AF6-514D-955D-26E8B422234C}" type="presParOf" srcId="{EA97C7EC-927D-F94C-AC79-63B3506E37D1}" destId="{2462B73D-B802-3047-88E5-B9E8F2B0FDD9}"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67B9AB8-16CF-4DF4-9714-5EB3D932D0E5}"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F02860F5-C1B5-4FDA-A331-AC3112BA66A9}">
      <dgm:prSet/>
      <dgm:spPr/>
      <dgm:t>
        <a:bodyPr/>
        <a:lstStyle/>
        <a:p>
          <a:r>
            <a:rPr lang="en-US"/>
            <a:t>- Distributed computing across multiple locations</a:t>
          </a:r>
        </a:p>
      </dgm:t>
    </dgm:pt>
    <dgm:pt modelId="{9EB0528B-A98A-45A7-80D1-DEBB6756E825}" type="parTrans" cxnId="{D792801D-A0BB-47BE-9814-7E7971CA560E}">
      <dgm:prSet/>
      <dgm:spPr/>
      <dgm:t>
        <a:bodyPr/>
        <a:lstStyle/>
        <a:p>
          <a:endParaRPr lang="en-US"/>
        </a:p>
      </dgm:t>
    </dgm:pt>
    <dgm:pt modelId="{BE5DA722-9EED-40D6-85F7-A971260137BB}" type="sibTrans" cxnId="{D792801D-A0BB-47BE-9814-7E7971CA560E}">
      <dgm:prSet/>
      <dgm:spPr/>
      <dgm:t>
        <a:bodyPr/>
        <a:lstStyle/>
        <a:p>
          <a:endParaRPr lang="en-US"/>
        </a:p>
      </dgm:t>
    </dgm:pt>
    <dgm:pt modelId="{DC79B472-1B53-42D7-B6A9-8592284C0796}">
      <dgm:prSet/>
      <dgm:spPr/>
      <dgm:t>
        <a:bodyPr/>
        <a:lstStyle/>
        <a:p>
          <a:r>
            <a:rPr lang="en-US"/>
            <a:t>- Features: Heterogeneous systems, Shared workloads</a:t>
          </a:r>
        </a:p>
      </dgm:t>
    </dgm:pt>
    <dgm:pt modelId="{FB512FAD-6E56-40F5-9E52-DA643D9C8452}" type="parTrans" cxnId="{735A92CE-5BD5-459F-8D56-E182B34DBF3A}">
      <dgm:prSet/>
      <dgm:spPr/>
      <dgm:t>
        <a:bodyPr/>
        <a:lstStyle/>
        <a:p>
          <a:endParaRPr lang="en-US"/>
        </a:p>
      </dgm:t>
    </dgm:pt>
    <dgm:pt modelId="{E1B96D84-31E3-4345-9E18-DDB6485D0773}" type="sibTrans" cxnId="{735A92CE-5BD5-459F-8D56-E182B34DBF3A}">
      <dgm:prSet/>
      <dgm:spPr/>
      <dgm:t>
        <a:bodyPr/>
        <a:lstStyle/>
        <a:p>
          <a:endParaRPr lang="en-US"/>
        </a:p>
      </dgm:t>
    </dgm:pt>
    <dgm:pt modelId="{05F4FB81-049F-47EE-B7D9-E455DE419246}">
      <dgm:prSet/>
      <dgm:spPr/>
      <dgm:t>
        <a:bodyPr/>
        <a:lstStyle/>
        <a:p>
          <a:r>
            <a:rPr lang="en-US"/>
            <a:t>- Used in scientific research and large data tasks</a:t>
          </a:r>
        </a:p>
      </dgm:t>
    </dgm:pt>
    <dgm:pt modelId="{7978A3D3-7F69-46D5-BA27-92809DC1EFB4}" type="parTrans" cxnId="{D157702A-4DEF-4A8D-8680-7F64707222CC}">
      <dgm:prSet/>
      <dgm:spPr/>
      <dgm:t>
        <a:bodyPr/>
        <a:lstStyle/>
        <a:p>
          <a:endParaRPr lang="en-US"/>
        </a:p>
      </dgm:t>
    </dgm:pt>
    <dgm:pt modelId="{A9E6C293-C431-4F41-A789-4954704A4032}" type="sibTrans" cxnId="{D157702A-4DEF-4A8D-8680-7F64707222CC}">
      <dgm:prSet/>
      <dgm:spPr/>
      <dgm:t>
        <a:bodyPr/>
        <a:lstStyle/>
        <a:p>
          <a:endParaRPr lang="en-US"/>
        </a:p>
      </dgm:t>
    </dgm:pt>
    <dgm:pt modelId="{5B5A7752-350B-6F41-9E0D-84EA340AA21C}" type="pres">
      <dgm:prSet presAssocID="{067B9AB8-16CF-4DF4-9714-5EB3D932D0E5}" presName="diagram" presStyleCnt="0">
        <dgm:presLayoutVars>
          <dgm:dir/>
          <dgm:resizeHandles val="exact"/>
        </dgm:presLayoutVars>
      </dgm:prSet>
      <dgm:spPr/>
    </dgm:pt>
    <dgm:pt modelId="{A67400A2-0E65-FD41-8514-018AF47F8683}" type="pres">
      <dgm:prSet presAssocID="{F02860F5-C1B5-4FDA-A331-AC3112BA66A9}" presName="node" presStyleLbl="node1" presStyleIdx="0" presStyleCnt="3">
        <dgm:presLayoutVars>
          <dgm:bulletEnabled val="1"/>
        </dgm:presLayoutVars>
      </dgm:prSet>
      <dgm:spPr/>
    </dgm:pt>
    <dgm:pt modelId="{4CFA36C4-2791-9D44-B0B6-00680FF5BA12}" type="pres">
      <dgm:prSet presAssocID="{BE5DA722-9EED-40D6-85F7-A971260137BB}" presName="sibTrans" presStyleCnt="0"/>
      <dgm:spPr/>
    </dgm:pt>
    <dgm:pt modelId="{8DA8617F-658B-8F44-8E3C-58A547963857}" type="pres">
      <dgm:prSet presAssocID="{DC79B472-1B53-42D7-B6A9-8592284C0796}" presName="node" presStyleLbl="node1" presStyleIdx="1" presStyleCnt="3">
        <dgm:presLayoutVars>
          <dgm:bulletEnabled val="1"/>
        </dgm:presLayoutVars>
      </dgm:prSet>
      <dgm:spPr/>
    </dgm:pt>
    <dgm:pt modelId="{77C6CBC4-BE8D-F442-8831-566ED0EBEA5F}" type="pres">
      <dgm:prSet presAssocID="{E1B96D84-31E3-4345-9E18-DDB6485D0773}" presName="sibTrans" presStyleCnt="0"/>
      <dgm:spPr/>
    </dgm:pt>
    <dgm:pt modelId="{C3942468-5738-3E44-BEED-919AAC074EA5}" type="pres">
      <dgm:prSet presAssocID="{05F4FB81-049F-47EE-B7D9-E455DE419246}" presName="node" presStyleLbl="node1" presStyleIdx="2" presStyleCnt="3">
        <dgm:presLayoutVars>
          <dgm:bulletEnabled val="1"/>
        </dgm:presLayoutVars>
      </dgm:prSet>
      <dgm:spPr/>
    </dgm:pt>
  </dgm:ptLst>
  <dgm:cxnLst>
    <dgm:cxn modelId="{D792801D-A0BB-47BE-9814-7E7971CA560E}" srcId="{067B9AB8-16CF-4DF4-9714-5EB3D932D0E5}" destId="{F02860F5-C1B5-4FDA-A331-AC3112BA66A9}" srcOrd="0" destOrd="0" parTransId="{9EB0528B-A98A-45A7-80D1-DEBB6756E825}" sibTransId="{BE5DA722-9EED-40D6-85F7-A971260137BB}"/>
    <dgm:cxn modelId="{D157702A-4DEF-4A8D-8680-7F64707222CC}" srcId="{067B9AB8-16CF-4DF4-9714-5EB3D932D0E5}" destId="{05F4FB81-049F-47EE-B7D9-E455DE419246}" srcOrd="2" destOrd="0" parTransId="{7978A3D3-7F69-46D5-BA27-92809DC1EFB4}" sibTransId="{A9E6C293-C431-4F41-A789-4954704A4032}"/>
    <dgm:cxn modelId="{E6DBB540-6EE0-2844-9E08-359D2D9A8DEA}" type="presOf" srcId="{05F4FB81-049F-47EE-B7D9-E455DE419246}" destId="{C3942468-5738-3E44-BEED-919AAC074EA5}" srcOrd="0" destOrd="0" presId="urn:microsoft.com/office/officeart/2005/8/layout/default"/>
    <dgm:cxn modelId="{15736995-C17E-9F4C-9548-4A4ABFFD3F17}" type="presOf" srcId="{F02860F5-C1B5-4FDA-A331-AC3112BA66A9}" destId="{A67400A2-0E65-FD41-8514-018AF47F8683}" srcOrd="0" destOrd="0" presId="urn:microsoft.com/office/officeart/2005/8/layout/default"/>
    <dgm:cxn modelId="{65A974A7-60A7-4E42-A61B-2EAF5E4EF021}" type="presOf" srcId="{DC79B472-1B53-42D7-B6A9-8592284C0796}" destId="{8DA8617F-658B-8F44-8E3C-58A547963857}" srcOrd="0" destOrd="0" presId="urn:microsoft.com/office/officeart/2005/8/layout/default"/>
    <dgm:cxn modelId="{8EF9A5B5-D732-C04C-884C-DCB6E5EB8869}" type="presOf" srcId="{067B9AB8-16CF-4DF4-9714-5EB3D932D0E5}" destId="{5B5A7752-350B-6F41-9E0D-84EA340AA21C}" srcOrd="0" destOrd="0" presId="urn:microsoft.com/office/officeart/2005/8/layout/default"/>
    <dgm:cxn modelId="{735A92CE-5BD5-459F-8D56-E182B34DBF3A}" srcId="{067B9AB8-16CF-4DF4-9714-5EB3D932D0E5}" destId="{DC79B472-1B53-42D7-B6A9-8592284C0796}" srcOrd="1" destOrd="0" parTransId="{FB512FAD-6E56-40F5-9E52-DA643D9C8452}" sibTransId="{E1B96D84-31E3-4345-9E18-DDB6485D0773}"/>
    <dgm:cxn modelId="{87BC2461-FA12-3745-BB25-32560D12804A}" type="presParOf" srcId="{5B5A7752-350B-6F41-9E0D-84EA340AA21C}" destId="{A67400A2-0E65-FD41-8514-018AF47F8683}" srcOrd="0" destOrd="0" presId="urn:microsoft.com/office/officeart/2005/8/layout/default"/>
    <dgm:cxn modelId="{615A1701-9C78-7A41-8813-7385253CAF1D}" type="presParOf" srcId="{5B5A7752-350B-6F41-9E0D-84EA340AA21C}" destId="{4CFA36C4-2791-9D44-B0B6-00680FF5BA12}" srcOrd="1" destOrd="0" presId="urn:microsoft.com/office/officeart/2005/8/layout/default"/>
    <dgm:cxn modelId="{5537BE0B-43E1-654F-A1A9-D6B30670F391}" type="presParOf" srcId="{5B5A7752-350B-6F41-9E0D-84EA340AA21C}" destId="{8DA8617F-658B-8F44-8E3C-58A547963857}" srcOrd="2" destOrd="0" presId="urn:microsoft.com/office/officeart/2005/8/layout/default"/>
    <dgm:cxn modelId="{3C2F00C1-4F14-884E-AA4A-F1064209C6BF}" type="presParOf" srcId="{5B5A7752-350B-6F41-9E0D-84EA340AA21C}" destId="{77C6CBC4-BE8D-F442-8831-566ED0EBEA5F}" srcOrd="3" destOrd="0" presId="urn:microsoft.com/office/officeart/2005/8/layout/default"/>
    <dgm:cxn modelId="{4A1AA3B1-1206-EB48-8908-54E8F2944006}" type="presParOf" srcId="{5B5A7752-350B-6F41-9E0D-84EA340AA21C}" destId="{C3942468-5738-3E44-BEED-919AAC074EA5}"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143977B-31D2-41E3-9B9B-514CDD55C6F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5EA659E-E1F6-4238-8FDE-DC5AB7C5E1CD}">
      <dgm:prSet/>
      <dgm:spPr/>
      <dgm:t>
        <a:bodyPr/>
        <a:lstStyle/>
        <a:p>
          <a:r>
            <a:rPr lang="en-US"/>
            <a:t>- Linked computers work as a single unit</a:t>
          </a:r>
        </a:p>
      </dgm:t>
    </dgm:pt>
    <dgm:pt modelId="{13794413-63B6-406C-96CE-6384DF490B00}" type="parTrans" cxnId="{7EFC6EE6-4B8A-4236-BCB7-B4E91BF9F8A5}">
      <dgm:prSet/>
      <dgm:spPr/>
      <dgm:t>
        <a:bodyPr/>
        <a:lstStyle/>
        <a:p>
          <a:endParaRPr lang="en-US"/>
        </a:p>
      </dgm:t>
    </dgm:pt>
    <dgm:pt modelId="{FF1EBEC9-AD20-415D-A011-263B102CA93B}" type="sibTrans" cxnId="{7EFC6EE6-4B8A-4236-BCB7-B4E91BF9F8A5}">
      <dgm:prSet/>
      <dgm:spPr/>
      <dgm:t>
        <a:bodyPr/>
        <a:lstStyle/>
        <a:p>
          <a:endParaRPr lang="en-US"/>
        </a:p>
      </dgm:t>
    </dgm:pt>
    <dgm:pt modelId="{1831EECD-3D2B-4270-8749-5972A727790F}">
      <dgm:prSet/>
      <dgm:spPr/>
      <dgm:t>
        <a:bodyPr/>
        <a:lstStyle/>
        <a:p>
          <a:r>
            <a:rPr lang="en-US"/>
            <a:t>- Types: Load-balancing, High-availability, HPC clusters</a:t>
          </a:r>
        </a:p>
      </dgm:t>
    </dgm:pt>
    <dgm:pt modelId="{71B2C460-4B7B-4262-BFE6-024D22E1E344}" type="parTrans" cxnId="{DE108BEB-0C21-4EB2-B7ED-0C154387AF2F}">
      <dgm:prSet/>
      <dgm:spPr/>
      <dgm:t>
        <a:bodyPr/>
        <a:lstStyle/>
        <a:p>
          <a:endParaRPr lang="en-US"/>
        </a:p>
      </dgm:t>
    </dgm:pt>
    <dgm:pt modelId="{37A36276-43A6-445A-A6C3-1131C7B25E65}" type="sibTrans" cxnId="{DE108BEB-0C21-4EB2-B7ED-0C154387AF2F}">
      <dgm:prSet/>
      <dgm:spPr/>
      <dgm:t>
        <a:bodyPr/>
        <a:lstStyle/>
        <a:p>
          <a:endParaRPr lang="en-US"/>
        </a:p>
      </dgm:t>
    </dgm:pt>
    <dgm:pt modelId="{5E52066B-A007-4196-803A-18654B31E3C2}">
      <dgm:prSet/>
      <dgm:spPr/>
      <dgm:t>
        <a:bodyPr/>
        <a:lstStyle/>
        <a:p>
          <a:r>
            <a:rPr lang="en-US"/>
            <a:t>- Centralized management, Fault tolerance</a:t>
          </a:r>
        </a:p>
      </dgm:t>
    </dgm:pt>
    <dgm:pt modelId="{34928619-B40D-47EA-B3B4-733831DA8E1B}" type="parTrans" cxnId="{10BF9921-5AEA-4600-A76B-0E0A494598BE}">
      <dgm:prSet/>
      <dgm:spPr/>
      <dgm:t>
        <a:bodyPr/>
        <a:lstStyle/>
        <a:p>
          <a:endParaRPr lang="en-US"/>
        </a:p>
      </dgm:t>
    </dgm:pt>
    <dgm:pt modelId="{25C6B900-2FD4-4816-AB1C-101D2F471CFF}" type="sibTrans" cxnId="{10BF9921-5AEA-4600-A76B-0E0A494598BE}">
      <dgm:prSet/>
      <dgm:spPr/>
      <dgm:t>
        <a:bodyPr/>
        <a:lstStyle/>
        <a:p>
          <a:endParaRPr lang="en-US"/>
        </a:p>
      </dgm:t>
    </dgm:pt>
    <dgm:pt modelId="{4CD577A1-81AC-2548-B7CD-CDE18B1DAB76}" type="pres">
      <dgm:prSet presAssocID="{3143977B-31D2-41E3-9B9B-514CDD55C6FB}" presName="linear" presStyleCnt="0">
        <dgm:presLayoutVars>
          <dgm:animLvl val="lvl"/>
          <dgm:resizeHandles val="exact"/>
        </dgm:presLayoutVars>
      </dgm:prSet>
      <dgm:spPr/>
    </dgm:pt>
    <dgm:pt modelId="{FB7B8A14-C720-0247-9FE9-E6EB7BE67AB8}" type="pres">
      <dgm:prSet presAssocID="{55EA659E-E1F6-4238-8FDE-DC5AB7C5E1CD}" presName="parentText" presStyleLbl="node1" presStyleIdx="0" presStyleCnt="3">
        <dgm:presLayoutVars>
          <dgm:chMax val="0"/>
          <dgm:bulletEnabled val="1"/>
        </dgm:presLayoutVars>
      </dgm:prSet>
      <dgm:spPr/>
    </dgm:pt>
    <dgm:pt modelId="{DDE0B098-D614-614C-9E37-2EC52C9E0DBD}" type="pres">
      <dgm:prSet presAssocID="{FF1EBEC9-AD20-415D-A011-263B102CA93B}" presName="spacer" presStyleCnt="0"/>
      <dgm:spPr/>
    </dgm:pt>
    <dgm:pt modelId="{AAA1F9E0-5116-284B-88C3-ACC9B2BB3CFC}" type="pres">
      <dgm:prSet presAssocID="{1831EECD-3D2B-4270-8749-5972A727790F}" presName="parentText" presStyleLbl="node1" presStyleIdx="1" presStyleCnt="3">
        <dgm:presLayoutVars>
          <dgm:chMax val="0"/>
          <dgm:bulletEnabled val="1"/>
        </dgm:presLayoutVars>
      </dgm:prSet>
      <dgm:spPr/>
    </dgm:pt>
    <dgm:pt modelId="{D70876B1-4B70-064A-9CDF-2EFF107602A9}" type="pres">
      <dgm:prSet presAssocID="{37A36276-43A6-445A-A6C3-1131C7B25E65}" presName="spacer" presStyleCnt="0"/>
      <dgm:spPr/>
    </dgm:pt>
    <dgm:pt modelId="{7FCA75D9-ADEE-8F4C-88DC-87B33382D92F}" type="pres">
      <dgm:prSet presAssocID="{5E52066B-A007-4196-803A-18654B31E3C2}" presName="parentText" presStyleLbl="node1" presStyleIdx="2" presStyleCnt="3">
        <dgm:presLayoutVars>
          <dgm:chMax val="0"/>
          <dgm:bulletEnabled val="1"/>
        </dgm:presLayoutVars>
      </dgm:prSet>
      <dgm:spPr/>
    </dgm:pt>
  </dgm:ptLst>
  <dgm:cxnLst>
    <dgm:cxn modelId="{10BF9921-5AEA-4600-A76B-0E0A494598BE}" srcId="{3143977B-31D2-41E3-9B9B-514CDD55C6FB}" destId="{5E52066B-A007-4196-803A-18654B31E3C2}" srcOrd="2" destOrd="0" parTransId="{34928619-B40D-47EA-B3B4-733831DA8E1B}" sibTransId="{25C6B900-2FD4-4816-AB1C-101D2F471CFF}"/>
    <dgm:cxn modelId="{71D0007F-F38D-B744-9807-3C78CC1CF65D}" type="presOf" srcId="{55EA659E-E1F6-4238-8FDE-DC5AB7C5E1CD}" destId="{FB7B8A14-C720-0247-9FE9-E6EB7BE67AB8}" srcOrd="0" destOrd="0" presId="urn:microsoft.com/office/officeart/2005/8/layout/vList2"/>
    <dgm:cxn modelId="{164D69B4-7841-DB41-8C97-7DE6B3D9123D}" type="presOf" srcId="{1831EECD-3D2B-4270-8749-5972A727790F}" destId="{AAA1F9E0-5116-284B-88C3-ACC9B2BB3CFC}" srcOrd="0" destOrd="0" presId="urn:microsoft.com/office/officeart/2005/8/layout/vList2"/>
    <dgm:cxn modelId="{957088BF-50C1-C84C-A310-B0C5539CE1FE}" type="presOf" srcId="{5E52066B-A007-4196-803A-18654B31E3C2}" destId="{7FCA75D9-ADEE-8F4C-88DC-87B33382D92F}" srcOrd="0" destOrd="0" presId="urn:microsoft.com/office/officeart/2005/8/layout/vList2"/>
    <dgm:cxn modelId="{7EFC6EE6-4B8A-4236-BCB7-B4E91BF9F8A5}" srcId="{3143977B-31D2-41E3-9B9B-514CDD55C6FB}" destId="{55EA659E-E1F6-4238-8FDE-DC5AB7C5E1CD}" srcOrd="0" destOrd="0" parTransId="{13794413-63B6-406C-96CE-6384DF490B00}" sibTransId="{FF1EBEC9-AD20-415D-A011-263B102CA93B}"/>
    <dgm:cxn modelId="{DE108BEB-0C21-4EB2-B7ED-0C154387AF2F}" srcId="{3143977B-31D2-41E3-9B9B-514CDD55C6FB}" destId="{1831EECD-3D2B-4270-8749-5972A727790F}" srcOrd="1" destOrd="0" parTransId="{71B2C460-4B7B-4262-BFE6-024D22E1E344}" sibTransId="{37A36276-43A6-445A-A6C3-1131C7B25E65}"/>
    <dgm:cxn modelId="{7F96A0EF-988C-824E-8C03-60A6CA8554F1}" type="presOf" srcId="{3143977B-31D2-41E3-9B9B-514CDD55C6FB}" destId="{4CD577A1-81AC-2548-B7CD-CDE18B1DAB76}" srcOrd="0" destOrd="0" presId="urn:microsoft.com/office/officeart/2005/8/layout/vList2"/>
    <dgm:cxn modelId="{59D62961-B519-9E43-8538-E6A935727819}" type="presParOf" srcId="{4CD577A1-81AC-2548-B7CD-CDE18B1DAB76}" destId="{FB7B8A14-C720-0247-9FE9-E6EB7BE67AB8}" srcOrd="0" destOrd="0" presId="urn:microsoft.com/office/officeart/2005/8/layout/vList2"/>
    <dgm:cxn modelId="{14189BE6-266A-3743-913C-CEF8146B5759}" type="presParOf" srcId="{4CD577A1-81AC-2548-B7CD-CDE18B1DAB76}" destId="{DDE0B098-D614-614C-9E37-2EC52C9E0DBD}" srcOrd="1" destOrd="0" presId="urn:microsoft.com/office/officeart/2005/8/layout/vList2"/>
    <dgm:cxn modelId="{260448C3-3CC3-1D41-A238-AF399F3CDE1C}" type="presParOf" srcId="{4CD577A1-81AC-2548-B7CD-CDE18B1DAB76}" destId="{AAA1F9E0-5116-284B-88C3-ACC9B2BB3CFC}" srcOrd="2" destOrd="0" presId="urn:microsoft.com/office/officeart/2005/8/layout/vList2"/>
    <dgm:cxn modelId="{2BB6D92A-19A4-B14E-94D6-E0F98B4AEFE4}" type="presParOf" srcId="{4CD577A1-81AC-2548-B7CD-CDE18B1DAB76}" destId="{D70876B1-4B70-064A-9CDF-2EFF107602A9}" srcOrd="3" destOrd="0" presId="urn:microsoft.com/office/officeart/2005/8/layout/vList2"/>
    <dgm:cxn modelId="{69D67F7B-08F5-B148-8861-B01B16DA05A5}" type="presParOf" srcId="{4CD577A1-81AC-2548-B7CD-CDE18B1DAB76}" destId="{7FCA75D9-ADEE-8F4C-88DC-87B33382D92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67F9877-9FE3-4F02-8B6F-490F759F868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8C6A9E3-F37A-4BCD-8D89-423FA2F093B7}">
      <dgm:prSet/>
      <dgm:spPr/>
      <dgm:t>
        <a:bodyPr/>
        <a:lstStyle/>
        <a:p>
          <a:r>
            <a:rPr lang="en-US"/>
            <a:t>- Uses qubits based on quantum mechanics</a:t>
          </a:r>
        </a:p>
      </dgm:t>
    </dgm:pt>
    <dgm:pt modelId="{65791CE0-489F-4DB1-B16E-3C97E6EA6E4D}" type="parTrans" cxnId="{41C88956-6250-4C20-890D-DCF71A418C09}">
      <dgm:prSet/>
      <dgm:spPr/>
      <dgm:t>
        <a:bodyPr/>
        <a:lstStyle/>
        <a:p>
          <a:endParaRPr lang="en-US"/>
        </a:p>
      </dgm:t>
    </dgm:pt>
    <dgm:pt modelId="{DF63F6A9-D236-4882-A3F6-C1BDE61BA21A}" type="sibTrans" cxnId="{41C88956-6250-4C20-890D-DCF71A418C09}">
      <dgm:prSet/>
      <dgm:spPr/>
      <dgm:t>
        <a:bodyPr/>
        <a:lstStyle/>
        <a:p>
          <a:endParaRPr lang="en-US"/>
        </a:p>
      </dgm:t>
    </dgm:pt>
    <dgm:pt modelId="{DBC3E1F4-B94F-42A2-B748-CD1D749716BC}">
      <dgm:prSet/>
      <dgm:spPr/>
      <dgm:t>
        <a:bodyPr/>
        <a:lstStyle/>
        <a:p>
          <a:r>
            <a:rPr lang="en-US"/>
            <a:t>- Concepts: Superposition, Entanglement</a:t>
          </a:r>
        </a:p>
      </dgm:t>
    </dgm:pt>
    <dgm:pt modelId="{CC63FBA6-D7B2-47C2-8C16-F136F4E65DF3}" type="parTrans" cxnId="{01FEADFA-2651-4F81-92A0-3C7052C7D4D8}">
      <dgm:prSet/>
      <dgm:spPr/>
      <dgm:t>
        <a:bodyPr/>
        <a:lstStyle/>
        <a:p>
          <a:endParaRPr lang="en-US"/>
        </a:p>
      </dgm:t>
    </dgm:pt>
    <dgm:pt modelId="{B14043AC-3DE9-4765-AD1B-2E8483CF9529}" type="sibTrans" cxnId="{01FEADFA-2651-4F81-92A0-3C7052C7D4D8}">
      <dgm:prSet/>
      <dgm:spPr/>
      <dgm:t>
        <a:bodyPr/>
        <a:lstStyle/>
        <a:p>
          <a:endParaRPr lang="en-US"/>
        </a:p>
      </dgm:t>
    </dgm:pt>
    <dgm:pt modelId="{AD478329-51D2-4A82-833B-59C7F33B6DA2}">
      <dgm:prSet/>
      <dgm:spPr/>
      <dgm:t>
        <a:bodyPr/>
        <a:lstStyle/>
        <a:p>
          <a:r>
            <a:rPr lang="en-US"/>
            <a:t>- Applications: Cryptography, Drug discovery</a:t>
          </a:r>
        </a:p>
      </dgm:t>
    </dgm:pt>
    <dgm:pt modelId="{F7C6FEA0-DD6F-43AF-9ECA-8DEB897CEC39}" type="parTrans" cxnId="{4407A843-DD2D-4DC0-8862-9ED208B31084}">
      <dgm:prSet/>
      <dgm:spPr/>
      <dgm:t>
        <a:bodyPr/>
        <a:lstStyle/>
        <a:p>
          <a:endParaRPr lang="en-US"/>
        </a:p>
      </dgm:t>
    </dgm:pt>
    <dgm:pt modelId="{62A83375-FF34-458A-A486-98F0B93F8CC3}" type="sibTrans" cxnId="{4407A843-DD2D-4DC0-8862-9ED208B31084}">
      <dgm:prSet/>
      <dgm:spPr/>
      <dgm:t>
        <a:bodyPr/>
        <a:lstStyle/>
        <a:p>
          <a:endParaRPr lang="en-US"/>
        </a:p>
      </dgm:t>
    </dgm:pt>
    <dgm:pt modelId="{88BF96AC-3DB1-4D71-A461-395FD2C4F1AA}">
      <dgm:prSet/>
      <dgm:spPr/>
      <dgm:t>
        <a:bodyPr/>
        <a:lstStyle/>
        <a:p>
          <a:r>
            <a:rPr lang="en-US"/>
            <a:t>- Emerging technology</a:t>
          </a:r>
        </a:p>
      </dgm:t>
    </dgm:pt>
    <dgm:pt modelId="{21D5DEFD-C2ED-4F37-BB55-70DB1828AA09}" type="parTrans" cxnId="{031DFCA4-B15B-4AF0-9645-B5A6434E9D3F}">
      <dgm:prSet/>
      <dgm:spPr/>
      <dgm:t>
        <a:bodyPr/>
        <a:lstStyle/>
        <a:p>
          <a:endParaRPr lang="en-US"/>
        </a:p>
      </dgm:t>
    </dgm:pt>
    <dgm:pt modelId="{13DDDAED-2977-45F3-B69A-97DF61B66344}" type="sibTrans" cxnId="{031DFCA4-B15B-4AF0-9645-B5A6434E9D3F}">
      <dgm:prSet/>
      <dgm:spPr/>
      <dgm:t>
        <a:bodyPr/>
        <a:lstStyle/>
        <a:p>
          <a:endParaRPr lang="en-US"/>
        </a:p>
      </dgm:t>
    </dgm:pt>
    <dgm:pt modelId="{16D1F257-D3D5-1844-AA50-88B9C263145F}" type="pres">
      <dgm:prSet presAssocID="{F67F9877-9FE3-4F02-8B6F-490F759F868D}" presName="linear" presStyleCnt="0">
        <dgm:presLayoutVars>
          <dgm:animLvl val="lvl"/>
          <dgm:resizeHandles val="exact"/>
        </dgm:presLayoutVars>
      </dgm:prSet>
      <dgm:spPr/>
    </dgm:pt>
    <dgm:pt modelId="{E71F4512-BA3A-054C-B032-8A462F694CA1}" type="pres">
      <dgm:prSet presAssocID="{F8C6A9E3-F37A-4BCD-8D89-423FA2F093B7}" presName="parentText" presStyleLbl="node1" presStyleIdx="0" presStyleCnt="4">
        <dgm:presLayoutVars>
          <dgm:chMax val="0"/>
          <dgm:bulletEnabled val="1"/>
        </dgm:presLayoutVars>
      </dgm:prSet>
      <dgm:spPr/>
    </dgm:pt>
    <dgm:pt modelId="{84582521-81C0-F549-92D4-59DB609253E2}" type="pres">
      <dgm:prSet presAssocID="{DF63F6A9-D236-4882-A3F6-C1BDE61BA21A}" presName="spacer" presStyleCnt="0"/>
      <dgm:spPr/>
    </dgm:pt>
    <dgm:pt modelId="{1CA6D944-A7F3-974C-91A4-F2D279A8441A}" type="pres">
      <dgm:prSet presAssocID="{DBC3E1F4-B94F-42A2-B748-CD1D749716BC}" presName="parentText" presStyleLbl="node1" presStyleIdx="1" presStyleCnt="4">
        <dgm:presLayoutVars>
          <dgm:chMax val="0"/>
          <dgm:bulletEnabled val="1"/>
        </dgm:presLayoutVars>
      </dgm:prSet>
      <dgm:spPr/>
    </dgm:pt>
    <dgm:pt modelId="{B9D55565-A741-DF42-9C76-C05C5EAE204E}" type="pres">
      <dgm:prSet presAssocID="{B14043AC-3DE9-4765-AD1B-2E8483CF9529}" presName="spacer" presStyleCnt="0"/>
      <dgm:spPr/>
    </dgm:pt>
    <dgm:pt modelId="{702A7F1A-F5C5-E041-B3EF-4B0B44F09589}" type="pres">
      <dgm:prSet presAssocID="{AD478329-51D2-4A82-833B-59C7F33B6DA2}" presName="parentText" presStyleLbl="node1" presStyleIdx="2" presStyleCnt="4">
        <dgm:presLayoutVars>
          <dgm:chMax val="0"/>
          <dgm:bulletEnabled val="1"/>
        </dgm:presLayoutVars>
      </dgm:prSet>
      <dgm:spPr/>
    </dgm:pt>
    <dgm:pt modelId="{702CBBA1-EEE9-E041-AC07-B3F62F7C051C}" type="pres">
      <dgm:prSet presAssocID="{62A83375-FF34-458A-A486-98F0B93F8CC3}" presName="spacer" presStyleCnt="0"/>
      <dgm:spPr/>
    </dgm:pt>
    <dgm:pt modelId="{73E344F1-50AA-6644-8075-053422C8984D}" type="pres">
      <dgm:prSet presAssocID="{88BF96AC-3DB1-4D71-A461-395FD2C4F1AA}" presName="parentText" presStyleLbl="node1" presStyleIdx="3" presStyleCnt="4">
        <dgm:presLayoutVars>
          <dgm:chMax val="0"/>
          <dgm:bulletEnabled val="1"/>
        </dgm:presLayoutVars>
      </dgm:prSet>
      <dgm:spPr/>
    </dgm:pt>
  </dgm:ptLst>
  <dgm:cxnLst>
    <dgm:cxn modelId="{4CE6190E-6E1A-4E4E-845D-49C3200B87D1}" type="presOf" srcId="{DBC3E1F4-B94F-42A2-B748-CD1D749716BC}" destId="{1CA6D944-A7F3-974C-91A4-F2D279A8441A}" srcOrd="0" destOrd="0" presId="urn:microsoft.com/office/officeart/2005/8/layout/vList2"/>
    <dgm:cxn modelId="{B5170A20-6AB7-1F41-815A-215028233B7C}" type="presOf" srcId="{AD478329-51D2-4A82-833B-59C7F33B6DA2}" destId="{702A7F1A-F5C5-E041-B3EF-4B0B44F09589}" srcOrd="0" destOrd="0" presId="urn:microsoft.com/office/officeart/2005/8/layout/vList2"/>
    <dgm:cxn modelId="{4407A843-DD2D-4DC0-8862-9ED208B31084}" srcId="{F67F9877-9FE3-4F02-8B6F-490F759F868D}" destId="{AD478329-51D2-4A82-833B-59C7F33B6DA2}" srcOrd="2" destOrd="0" parTransId="{F7C6FEA0-DD6F-43AF-9ECA-8DEB897CEC39}" sibTransId="{62A83375-FF34-458A-A486-98F0B93F8CC3}"/>
    <dgm:cxn modelId="{41C88956-6250-4C20-890D-DCF71A418C09}" srcId="{F67F9877-9FE3-4F02-8B6F-490F759F868D}" destId="{F8C6A9E3-F37A-4BCD-8D89-423FA2F093B7}" srcOrd="0" destOrd="0" parTransId="{65791CE0-489F-4DB1-B16E-3C97E6EA6E4D}" sibTransId="{DF63F6A9-D236-4882-A3F6-C1BDE61BA21A}"/>
    <dgm:cxn modelId="{C2ED8C84-3278-E14A-9256-4014A9091864}" type="presOf" srcId="{F8C6A9E3-F37A-4BCD-8D89-423FA2F093B7}" destId="{E71F4512-BA3A-054C-B032-8A462F694CA1}" srcOrd="0" destOrd="0" presId="urn:microsoft.com/office/officeart/2005/8/layout/vList2"/>
    <dgm:cxn modelId="{031DFCA4-B15B-4AF0-9645-B5A6434E9D3F}" srcId="{F67F9877-9FE3-4F02-8B6F-490F759F868D}" destId="{88BF96AC-3DB1-4D71-A461-395FD2C4F1AA}" srcOrd="3" destOrd="0" parTransId="{21D5DEFD-C2ED-4F37-BB55-70DB1828AA09}" sibTransId="{13DDDAED-2977-45F3-B69A-97DF61B66344}"/>
    <dgm:cxn modelId="{517C9BC8-071C-A14F-AD84-3B781A84E041}" type="presOf" srcId="{88BF96AC-3DB1-4D71-A461-395FD2C4F1AA}" destId="{73E344F1-50AA-6644-8075-053422C8984D}" srcOrd="0" destOrd="0" presId="urn:microsoft.com/office/officeart/2005/8/layout/vList2"/>
    <dgm:cxn modelId="{806131EE-FC48-434F-97FC-29EAC678E7E1}" type="presOf" srcId="{F67F9877-9FE3-4F02-8B6F-490F759F868D}" destId="{16D1F257-D3D5-1844-AA50-88B9C263145F}" srcOrd="0" destOrd="0" presId="urn:microsoft.com/office/officeart/2005/8/layout/vList2"/>
    <dgm:cxn modelId="{01FEADFA-2651-4F81-92A0-3C7052C7D4D8}" srcId="{F67F9877-9FE3-4F02-8B6F-490F759F868D}" destId="{DBC3E1F4-B94F-42A2-B748-CD1D749716BC}" srcOrd="1" destOrd="0" parTransId="{CC63FBA6-D7B2-47C2-8C16-F136F4E65DF3}" sibTransId="{B14043AC-3DE9-4765-AD1B-2E8483CF9529}"/>
    <dgm:cxn modelId="{E078B62B-89CD-8644-8DEE-5AD63B677FEC}" type="presParOf" srcId="{16D1F257-D3D5-1844-AA50-88B9C263145F}" destId="{E71F4512-BA3A-054C-B032-8A462F694CA1}" srcOrd="0" destOrd="0" presId="urn:microsoft.com/office/officeart/2005/8/layout/vList2"/>
    <dgm:cxn modelId="{BE0676C8-D2EF-7449-98D6-2BE725AE87B9}" type="presParOf" srcId="{16D1F257-D3D5-1844-AA50-88B9C263145F}" destId="{84582521-81C0-F549-92D4-59DB609253E2}" srcOrd="1" destOrd="0" presId="urn:microsoft.com/office/officeart/2005/8/layout/vList2"/>
    <dgm:cxn modelId="{AD97BB33-0EC0-9B48-AE40-078BB63B3D20}" type="presParOf" srcId="{16D1F257-D3D5-1844-AA50-88B9C263145F}" destId="{1CA6D944-A7F3-974C-91A4-F2D279A8441A}" srcOrd="2" destOrd="0" presId="urn:microsoft.com/office/officeart/2005/8/layout/vList2"/>
    <dgm:cxn modelId="{8C5FCC24-F90E-064E-AADF-7D1C66861546}" type="presParOf" srcId="{16D1F257-D3D5-1844-AA50-88B9C263145F}" destId="{B9D55565-A741-DF42-9C76-C05C5EAE204E}" srcOrd="3" destOrd="0" presId="urn:microsoft.com/office/officeart/2005/8/layout/vList2"/>
    <dgm:cxn modelId="{BA035E7E-2DB5-984D-86AD-47704BD25A91}" type="presParOf" srcId="{16D1F257-D3D5-1844-AA50-88B9C263145F}" destId="{702A7F1A-F5C5-E041-B3EF-4B0B44F09589}" srcOrd="4" destOrd="0" presId="urn:microsoft.com/office/officeart/2005/8/layout/vList2"/>
    <dgm:cxn modelId="{F43B8AF3-8DAB-0346-A748-4AB6D183ABA4}" type="presParOf" srcId="{16D1F257-D3D5-1844-AA50-88B9C263145F}" destId="{702CBBA1-EEE9-E041-AC07-B3F62F7C051C}" srcOrd="5" destOrd="0" presId="urn:microsoft.com/office/officeart/2005/8/layout/vList2"/>
    <dgm:cxn modelId="{8A41AF2E-73BF-754F-93A0-0C6A3857E7CE}" type="presParOf" srcId="{16D1F257-D3D5-1844-AA50-88B9C263145F}" destId="{73E344F1-50AA-6644-8075-053422C8984D}"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998FB75-4F8B-46DE-9B14-3465452F56C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74B1110-6C0A-44EC-B591-A7DE6132C507}">
      <dgm:prSet/>
      <dgm:spPr/>
      <dgm:t>
        <a:bodyPr/>
        <a:lstStyle/>
        <a:p>
          <a:r>
            <a:rPr lang="en-US"/>
            <a:t>- CPUs with multiple processing cores</a:t>
          </a:r>
        </a:p>
      </dgm:t>
    </dgm:pt>
    <dgm:pt modelId="{E13CAA1B-9B6C-4BA6-B540-00CDC2B4E203}" type="parTrans" cxnId="{F6E39D0C-3B50-4062-8CBF-CC7F96159D3D}">
      <dgm:prSet/>
      <dgm:spPr/>
      <dgm:t>
        <a:bodyPr/>
        <a:lstStyle/>
        <a:p>
          <a:endParaRPr lang="en-US"/>
        </a:p>
      </dgm:t>
    </dgm:pt>
    <dgm:pt modelId="{226FBDB3-C613-47AE-A195-F5B60C5346DD}" type="sibTrans" cxnId="{F6E39D0C-3B50-4062-8CBF-CC7F96159D3D}">
      <dgm:prSet/>
      <dgm:spPr/>
      <dgm:t>
        <a:bodyPr/>
        <a:lstStyle/>
        <a:p>
          <a:endParaRPr lang="en-US"/>
        </a:p>
      </dgm:t>
    </dgm:pt>
    <dgm:pt modelId="{A2805F73-BAFE-4DB4-B9A4-1D0C9B43102E}">
      <dgm:prSet/>
      <dgm:spPr/>
      <dgm:t>
        <a:bodyPr/>
        <a:lstStyle/>
        <a:p>
          <a:r>
            <a:rPr lang="en-US"/>
            <a:t>- Enhances multitasking and parallel execution</a:t>
          </a:r>
        </a:p>
      </dgm:t>
    </dgm:pt>
    <dgm:pt modelId="{1424B62E-F775-47A0-9ADB-0AFA017C04F9}" type="parTrans" cxnId="{EAFB1BF1-B3CF-476A-8510-08C79A610BEE}">
      <dgm:prSet/>
      <dgm:spPr/>
      <dgm:t>
        <a:bodyPr/>
        <a:lstStyle/>
        <a:p>
          <a:endParaRPr lang="en-US"/>
        </a:p>
      </dgm:t>
    </dgm:pt>
    <dgm:pt modelId="{0E6BA626-78EA-4D81-BBC7-F4BBFF7D0158}" type="sibTrans" cxnId="{EAFB1BF1-B3CF-476A-8510-08C79A610BEE}">
      <dgm:prSet/>
      <dgm:spPr/>
      <dgm:t>
        <a:bodyPr/>
        <a:lstStyle/>
        <a:p>
          <a:endParaRPr lang="en-US"/>
        </a:p>
      </dgm:t>
    </dgm:pt>
    <dgm:pt modelId="{63B0D9D8-D711-45BD-8EBE-60BD0C5282E3}">
      <dgm:prSet/>
      <dgm:spPr/>
      <dgm:t>
        <a:bodyPr/>
        <a:lstStyle/>
        <a:p>
          <a:r>
            <a:rPr lang="en-US"/>
            <a:t>- Common in laptops, servers, smartphones</a:t>
          </a:r>
        </a:p>
      </dgm:t>
    </dgm:pt>
    <dgm:pt modelId="{5AAA30FE-80F2-403C-B50E-BF6A74D9BDB5}" type="parTrans" cxnId="{A3432090-DFEB-46A8-944C-1FB801297DC0}">
      <dgm:prSet/>
      <dgm:spPr/>
      <dgm:t>
        <a:bodyPr/>
        <a:lstStyle/>
        <a:p>
          <a:endParaRPr lang="en-US"/>
        </a:p>
      </dgm:t>
    </dgm:pt>
    <dgm:pt modelId="{32518C6B-DE25-4046-9AA5-621EA914CCAB}" type="sibTrans" cxnId="{A3432090-DFEB-46A8-944C-1FB801297DC0}">
      <dgm:prSet/>
      <dgm:spPr/>
      <dgm:t>
        <a:bodyPr/>
        <a:lstStyle/>
        <a:p>
          <a:endParaRPr lang="en-US"/>
        </a:p>
      </dgm:t>
    </dgm:pt>
    <dgm:pt modelId="{F2DB0390-0089-4443-9CDD-51DF45600642}" type="pres">
      <dgm:prSet presAssocID="{7998FB75-4F8B-46DE-9B14-3465452F56CC}" presName="linear" presStyleCnt="0">
        <dgm:presLayoutVars>
          <dgm:animLvl val="lvl"/>
          <dgm:resizeHandles val="exact"/>
        </dgm:presLayoutVars>
      </dgm:prSet>
      <dgm:spPr/>
    </dgm:pt>
    <dgm:pt modelId="{43CAD56F-AAC5-4A4A-8A51-AB926B90AB24}" type="pres">
      <dgm:prSet presAssocID="{D74B1110-6C0A-44EC-B591-A7DE6132C507}" presName="parentText" presStyleLbl="node1" presStyleIdx="0" presStyleCnt="3">
        <dgm:presLayoutVars>
          <dgm:chMax val="0"/>
          <dgm:bulletEnabled val="1"/>
        </dgm:presLayoutVars>
      </dgm:prSet>
      <dgm:spPr/>
    </dgm:pt>
    <dgm:pt modelId="{8838AD90-785C-A04E-AFED-B57B1C6A2544}" type="pres">
      <dgm:prSet presAssocID="{226FBDB3-C613-47AE-A195-F5B60C5346DD}" presName="spacer" presStyleCnt="0"/>
      <dgm:spPr/>
    </dgm:pt>
    <dgm:pt modelId="{4353DCCC-FF27-3A48-B759-765F7EEAED91}" type="pres">
      <dgm:prSet presAssocID="{A2805F73-BAFE-4DB4-B9A4-1D0C9B43102E}" presName="parentText" presStyleLbl="node1" presStyleIdx="1" presStyleCnt="3">
        <dgm:presLayoutVars>
          <dgm:chMax val="0"/>
          <dgm:bulletEnabled val="1"/>
        </dgm:presLayoutVars>
      </dgm:prSet>
      <dgm:spPr/>
    </dgm:pt>
    <dgm:pt modelId="{EE24C651-69CD-B34E-B64B-70C6851F6964}" type="pres">
      <dgm:prSet presAssocID="{0E6BA626-78EA-4D81-BBC7-F4BBFF7D0158}" presName="spacer" presStyleCnt="0"/>
      <dgm:spPr/>
    </dgm:pt>
    <dgm:pt modelId="{625A61E7-EFBF-9A47-A571-7E7FF30547D3}" type="pres">
      <dgm:prSet presAssocID="{63B0D9D8-D711-45BD-8EBE-60BD0C5282E3}" presName="parentText" presStyleLbl="node1" presStyleIdx="2" presStyleCnt="3">
        <dgm:presLayoutVars>
          <dgm:chMax val="0"/>
          <dgm:bulletEnabled val="1"/>
        </dgm:presLayoutVars>
      </dgm:prSet>
      <dgm:spPr/>
    </dgm:pt>
  </dgm:ptLst>
  <dgm:cxnLst>
    <dgm:cxn modelId="{F6E39D0C-3B50-4062-8CBF-CC7F96159D3D}" srcId="{7998FB75-4F8B-46DE-9B14-3465452F56CC}" destId="{D74B1110-6C0A-44EC-B591-A7DE6132C507}" srcOrd="0" destOrd="0" parTransId="{E13CAA1B-9B6C-4BA6-B540-00CDC2B4E203}" sibTransId="{226FBDB3-C613-47AE-A195-F5B60C5346DD}"/>
    <dgm:cxn modelId="{17C3B517-97EC-D142-922A-06E47362E81D}" type="presOf" srcId="{D74B1110-6C0A-44EC-B591-A7DE6132C507}" destId="{43CAD56F-AAC5-4A4A-8A51-AB926B90AB24}" srcOrd="0" destOrd="0" presId="urn:microsoft.com/office/officeart/2005/8/layout/vList2"/>
    <dgm:cxn modelId="{2EAD0B60-AB8D-CE48-B0F1-F885F3ED40D0}" type="presOf" srcId="{63B0D9D8-D711-45BD-8EBE-60BD0C5282E3}" destId="{625A61E7-EFBF-9A47-A571-7E7FF30547D3}" srcOrd="0" destOrd="0" presId="urn:microsoft.com/office/officeart/2005/8/layout/vList2"/>
    <dgm:cxn modelId="{A3432090-DFEB-46A8-944C-1FB801297DC0}" srcId="{7998FB75-4F8B-46DE-9B14-3465452F56CC}" destId="{63B0D9D8-D711-45BD-8EBE-60BD0C5282E3}" srcOrd="2" destOrd="0" parTransId="{5AAA30FE-80F2-403C-B50E-BF6A74D9BDB5}" sibTransId="{32518C6B-DE25-4046-9AA5-621EA914CCAB}"/>
    <dgm:cxn modelId="{FA9932B4-B901-7146-AA72-C75ACE64290D}" type="presOf" srcId="{A2805F73-BAFE-4DB4-B9A4-1D0C9B43102E}" destId="{4353DCCC-FF27-3A48-B759-765F7EEAED91}" srcOrd="0" destOrd="0" presId="urn:microsoft.com/office/officeart/2005/8/layout/vList2"/>
    <dgm:cxn modelId="{DEF465C2-5268-5343-98AA-D4EDDC3167B7}" type="presOf" srcId="{7998FB75-4F8B-46DE-9B14-3465452F56CC}" destId="{F2DB0390-0089-4443-9CDD-51DF45600642}" srcOrd="0" destOrd="0" presId="urn:microsoft.com/office/officeart/2005/8/layout/vList2"/>
    <dgm:cxn modelId="{EAFB1BF1-B3CF-476A-8510-08C79A610BEE}" srcId="{7998FB75-4F8B-46DE-9B14-3465452F56CC}" destId="{A2805F73-BAFE-4DB4-B9A4-1D0C9B43102E}" srcOrd="1" destOrd="0" parTransId="{1424B62E-F775-47A0-9ADB-0AFA017C04F9}" sibTransId="{0E6BA626-78EA-4D81-BBC7-F4BBFF7D0158}"/>
    <dgm:cxn modelId="{7E0C68B2-14A3-A94D-835F-3B704CA03140}" type="presParOf" srcId="{F2DB0390-0089-4443-9CDD-51DF45600642}" destId="{43CAD56F-AAC5-4A4A-8A51-AB926B90AB24}" srcOrd="0" destOrd="0" presId="urn:microsoft.com/office/officeart/2005/8/layout/vList2"/>
    <dgm:cxn modelId="{AD8C12EA-30C9-1740-8898-3C8B1BCCF789}" type="presParOf" srcId="{F2DB0390-0089-4443-9CDD-51DF45600642}" destId="{8838AD90-785C-A04E-AFED-B57B1C6A2544}" srcOrd="1" destOrd="0" presId="urn:microsoft.com/office/officeart/2005/8/layout/vList2"/>
    <dgm:cxn modelId="{F75AB224-9142-A341-91CE-5BFAECF1BE50}" type="presParOf" srcId="{F2DB0390-0089-4443-9CDD-51DF45600642}" destId="{4353DCCC-FF27-3A48-B759-765F7EEAED91}" srcOrd="2" destOrd="0" presId="urn:microsoft.com/office/officeart/2005/8/layout/vList2"/>
    <dgm:cxn modelId="{0ADD321E-2C44-D34F-80CF-E26C54078668}" type="presParOf" srcId="{F2DB0390-0089-4443-9CDD-51DF45600642}" destId="{EE24C651-69CD-B34E-B64B-70C6851F6964}" srcOrd="3" destOrd="0" presId="urn:microsoft.com/office/officeart/2005/8/layout/vList2"/>
    <dgm:cxn modelId="{603122D9-3CDB-7D42-8733-7464CF08AA43}" type="presParOf" srcId="{F2DB0390-0089-4443-9CDD-51DF45600642}" destId="{625A61E7-EFBF-9A47-A571-7E7FF30547D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60E9747-99B5-431A-A1D8-7A1DEE8B285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BEAA0BB-717D-4294-B7F0-6876643A473E}">
      <dgm:prSet/>
      <dgm:spPr/>
      <dgm:t>
        <a:bodyPr/>
        <a:lstStyle/>
        <a:p>
          <a:r>
            <a:rPr lang="en-US"/>
            <a:t>- Specialized processors for image and data acceleration</a:t>
          </a:r>
        </a:p>
      </dgm:t>
    </dgm:pt>
    <dgm:pt modelId="{2F2F5BE3-04C4-4541-A3E2-DE8B69603D64}" type="parTrans" cxnId="{0BF33AA4-7FC4-4EC8-942A-CE095A09A1B6}">
      <dgm:prSet/>
      <dgm:spPr/>
      <dgm:t>
        <a:bodyPr/>
        <a:lstStyle/>
        <a:p>
          <a:endParaRPr lang="en-US"/>
        </a:p>
      </dgm:t>
    </dgm:pt>
    <dgm:pt modelId="{3578D328-6729-453E-9310-E00E3ABE7C0F}" type="sibTrans" cxnId="{0BF33AA4-7FC4-4EC8-942A-CE095A09A1B6}">
      <dgm:prSet/>
      <dgm:spPr/>
      <dgm:t>
        <a:bodyPr/>
        <a:lstStyle/>
        <a:p>
          <a:endParaRPr lang="en-US"/>
        </a:p>
      </dgm:t>
    </dgm:pt>
    <dgm:pt modelId="{B48B9DCB-0342-452D-8649-A31E5626F17E}">
      <dgm:prSet/>
      <dgm:spPr/>
      <dgm:t>
        <a:bodyPr/>
        <a:lstStyle/>
        <a:p>
          <a:r>
            <a:rPr lang="en-US"/>
            <a:t>- Many small cores, ideal for parallelism</a:t>
          </a:r>
        </a:p>
      </dgm:t>
    </dgm:pt>
    <dgm:pt modelId="{69FE8031-159B-4BB4-BE6B-E82F78E8E29A}" type="parTrans" cxnId="{7166B0A4-0CBF-4869-9164-57732289DC23}">
      <dgm:prSet/>
      <dgm:spPr/>
      <dgm:t>
        <a:bodyPr/>
        <a:lstStyle/>
        <a:p>
          <a:endParaRPr lang="en-US"/>
        </a:p>
      </dgm:t>
    </dgm:pt>
    <dgm:pt modelId="{1CEDE2D4-93CC-4193-963F-9BC8245B63AD}" type="sibTrans" cxnId="{7166B0A4-0CBF-4869-9164-57732289DC23}">
      <dgm:prSet/>
      <dgm:spPr/>
      <dgm:t>
        <a:bodyPr/>
        <a:lstStyle/>
        <a:p>
          <a:endParaRPr lang="en-US"/>
        </a:p>
      </dgm:t>
    </dgm:pt>
    <dgm:pt modelId="{79208AD6-85E6-42AF-A759-27B9FB33B9C7}">
      <dgm:prSet/>
      <dgm:spPr/>
      <dgm:t>
        <a:bodyPr/>
        <a:lstStyle/>
        <a:p>
          <a:r>
            <a:rPr lang="en-US"/>
            <a:t>- Used in AI, gaming, simulations</a:t>
          </a:r>
        </a:p>
      </dgm:t>
    </dgm:pt>
    <dgm:pt modelId="{6048B734-4196-47D6-99B0-1C0C16522902}" type="parTrans" cxnId="{8F07D1B5-4B87-4FB7-98DF-982CD727FE91}">
      <dgm:prSet/>
      <dgm:spPr/>
      <dgm:t>
        <a:bodyPr/>
        <a:lstStyle/>
        <a:p>
          <a:endParaRPr lang="en-US"/>
        </a:p>
      </dgm:t>
    </dgm:pt>
    <dgm:pt modelId="{83326D4F-7769-41E8-945C-A47E99D94783}" type="sibTrans" cxnId="{8F07D1B5-4B87-4FB7-98DF-982CD727FE91}">
      <dgm:prSet/>
      <dgm:spPr/>
      <dgm:t>
        <a:bodyPr/>
        <a:lstStyle/>
        <a:p>
          <a:endParaRPr lang="en-US"/>
        </a:p>
      </dgm:t>
    </dgm:pt>
    <dgm:pt modelId="{E1506999-5701-4CB8-B582-BBBAC777B415}">
      <dgm:prSet/>
      <dgm:spPr/>
      <dgm:t>
        <a:bodyPr/>
        <a:lstStyle/>
        <a:p>
          <a:r>
            <a:rPr lang="en-US"/>
            <a:t>- Examples: NVIDIA, AMD</a:t>
          </a:r>
        </a:p>
      </dgm:t>
    </dgm:pt>
    <dgm:pt modelId="{4B799B5D-5163-4A78-A91F-EEF490687850}" type="parTrans" cxnId="{6266306B-C503-4235-80CC-CB42F1F48757}">
      <dgm:prSet/>
      <dgm:spPr/>
      <dgm:t>
        <a:bodyPr/>
        <a:lstStyle/>
        <a:p>
          <a:endParaRPr lang="en-US"/>
        </a:p>
      </dgm:t>
    </dgm:pt>
    <dgm:pt modelId="{EBF9B2E9-8605-438E-905E-DF9E12EB8D35}" type="sibTrans" cxnId="{6266306B-C503-4235-80CC-CB42F1F48757}">
      <dgm:prSet/>
      <dgm:spPr/>
      <dgm:t>
        <a:bodyPr/>
        <a:lstStyle/>
        <a:p>
          <a:endParaRPr lang="en-US"/>
        </a:p>
      </dgm:t>
    </dgm:pt>
    <dgm:pt modelId="{A6EDC45F-495E-483C-944B-293E245AB0E9}" type="pres">
      <dgm:prSet presAssocID="{F60E9747-99B5-431A-A1D8-7A1DEE8B285A}" presName="root" presStyleCnt="0">
        <dgm:presLayoutVars>
          <dgm:dir/>
          <dgm:resizeHandles val="exact"/>
        </dgm:presLayoutVars>
      </dgm:prSet>
      <dgm:spPr/>
    </dgm:pt>
    <dgm:pt modelId="{1191AB96-85BE-49D9-AF31-2C0E5AF3757A}" type="pres">
      <dgm:prSet presAssocID="{CBEAA0BB-717D-4294-B7F0-6876643A473E}" presName="compNode" presStyleCnt="0"/>
      <dgm:spPr/>
    </dgm:pt>
    <dgm:pt modelId="{FCB0FB44-9B58-4728-9A04-6B6E9E90779D}" type="pres">
      <dgm:prSet presAssocID="{CBEAA0BB-717D-4294-B7F0-6876643A473E}" presName="bgRect" presStyleLbl="bgShp" presStyleIdx="0" presStyleCnt="4"/>
      <dgm:spPr/>
    </dgm:pt>
    <dgm:pt modelId="{E54A7F99-50A8-4E2F-B99A-C9BE4D08365F}" type="pres">
      <dgm:prSet presAssocID="{CBEAA0BB-717D-4294-B7F0-6876643A473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CBF60CBE-217F-4858-BF99-81929C1F9885}" type="pres">
      <dgm:prSet presAssocID="{CBEAA0BB-717D-4294-B7F0-6876643A473E}" presName="spaceRect" presStyleCnt="0"/>
      <dgm:spPr/>
    </dgm:pt>
    <dgm:pt modelId="{9A8B3EE0-C7CE-4984-96A9-17EAE41FF6DE}" type="pres">
      <dgm:prSet presAssocID="{CBEAA0BB-717D-4294-B7F0-6876643A473E}" presName="parTx" presStyleLbl="revTx" presStyleIdx="0" presStyleCnt="4">
        <dgm:presLayoutVars>
          <dgm:chMax val="0"/>
          <dgm:chPref val="0"/>
        </dgm:presLayoutVars>
      </dgm:prSet>
      <dgm:spPr/>
    </dgm:pt>
    <dgm:pt modelId="{DB9A62CB-A6F0-4C57-B819-4C14607D90A8}" type="pres">
      <dgm:prSet presAssocID="{3578D328-6729-453E-9310-E00E3ABE7C0F}" presName="sibTrans" presStyleCnt="0"/>
      <dgm:spPr/>
    </dgm:pt>
    <dgm:pt modelId="{8C33941C-D070-4D11-AF5B-0EBDF10ADDE6}" type="pres">
      <dgm:prSet presAssocID="{B48B9DCB-0342-452D-8649-A31E5626F17E}" presName="compNode" presStyleCnt="0"/>
      <dgm:spPr/>
    </dgm:pt>
    <dgm:pt modelId="{596A3F35-840F-4552-8C2B-94221AC1F253}" type="pres">
      <dgm:prSet presAssocID="{B48B9DCB-0342-452D-8649-A31E5626F17E}" presName="bgRect" presStyleLbl="bgShp" presStyleIdx="1" presStyleCnt="4"/>
      <dgm:spPr/>
    </dgm:pt>
    <dgm:pt modelId="{DF7C9BD0-C02E-4EC7-B759-9088AF9FCBC5}" type="pres">
      <dgm:prSet presAssocID="{B48B9DCB-0342-452D-8649-A31E5626F1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E78A4736-2CEB-4FD1-B104-053F6E2AB75C}" type="pres">
      <dgm:prSet presAssocID="{B48B9DCB-0342-452D-8649-A31E5626F17E}" presName="spaceRect" presStyleCnt="0"/>
      <dgm:spPr/>
    </dgm:pt>
    <dgm:pt modelId="{110820F3-A6F0-4CAA-A00C-210CC984616C}" type="pres">
      <dgm:prSet presAssocID="{B48B9DCB-0342-452D-8649-A31E5626F17E}" presName="parTx" presStyleLbl="revTx" presStyleIdx="1" presStyleCnt="4">
        <dgm:presLayoutVars>
          <dgm:chMax val="0"/>
          <dgm:chPref val="0"/>
        </dgm:presLayoutVars>
      </dgm:prSet>
      <dgm:spPr/>
    </dgm:pt>
    <dgm:pt modelId="{37C6AB2C-712E-49A9-8CC0-0760DFFDB1B3}" type="pres">
      <dgm:prSet presAssocID="{1CEDE2D4-93CC-4193-963F-9BC8245B63AD}" presName="sibTrans" presStyleCnt="0"/>
      <dgm:spPr/>
    </dgm:pt>
    <dgm:pt modelId="{0C440BC0-FA73-4FFB-947F-181F49F7189F}" type="pres">
      <dgm:prSet presAssocID="{79208AD6-85E6-42AF-A759-27B9FB33B9C7}" presName="compNode" presStyleCnt="0"/>
      <dgm:spPr/>
    </dgm:pt>
    <dgm:pt modelId="{CB5E1CBE-B593-461A-AC9C-D8EB1BBF6472}" type="pres">
      <dgm:prSet presAssocID="{79208AD6-85E6-42AF-A759-27B9FB33B9C7}" presName="bgRect" presStyleLbl="bgShp" presStyleIdx="2" presStyleCnt="4"/>
      <dgm:spPr/>
    </dgm:pt>
    <dgm:pt modelId="{9EE9D42C-8B78-4059-BF30-EC3B5EE028A8}" type="pres">
      <dgm:prSet presAssocID="{79208AD6-85E6-42AF-A759-27B9FB33B9C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ing Cards"/>
        </a:ext>
      </dgm:extLst>
    </dgm:pt>
    <dgm:pt modelId="{CB651F00-10FD-40EA-B3F9-E749F73D89D9}" type="pres">
      <dgm:prSet presAssocID="{79208AD6-85E6-42AF-A759-27B9FB33B9C7}" presName="spaceRect" presStyleCnt="0"/>
      <dgm:spPr/>
    </dgm:pt>
    <dgm:pt modelId="{F31EA422-B50C-47F0-ADAF-F7C491201B08}" type="pres">
      <dgm:prSet presAssocID="{79208AD6-85E6-42AF-A759-27B9FB33B9C7}" presName="parTx" presStyleLbl="revTx" presStyleIdx="2" presStyleCnt="4">
        <dgm:presLayoutVars>
          <dgm:chMax val="0"/>
          <dgm:chPref val="0"/>
        </dgm:presLayoutVars>
      </dgm:prSet>
      <dgm:spPr/>
    </dgm:pt>
    <dgm:pt modelId="{05A9B749-F961-4A48-B06B-DCC21176F88F}" type="pres">
      <dgm:prSet presAssocID="{83326D4F-7769-41E8-945C-A47E99D94783}" presName="sibTrans" presStyleCnt="0"/>
      <dgm:spPr/>
    </dgm:pt>
    <dgm:pt modelId="{4477516A-5338-43B3-96F3-31759667CA41}" type="pres">
      <dgm:prSet presAssocID="{E1506999-5701-4CB8-B582-BBBAC777B415}" presName="compNode" presStyleCnt="0"/>
      <dgm:spPr/>
    </dgm:pt>
    <dgm:pt modelId="{1077775A-DA97-44B2-98C4-A3F5A036E8D5}" type="pres">
      <dgm:prSet presAssocID="{E1506999-5701-4CB8-B582-BBBAC777B415}" presName="bgRect" presStyleLbl="bgShp" presStyleIdx="3" presStyleCnt="4"/>
      <dgm:spPr/>
    </dgm:pt>
    <dgm:pt modelId="{3D125BDA-DF35-418B-B054-BE46EEC28FF4}" type="pres">
      <dgm:prSet presAssocID="{E1506999-5701-4CB8-B582-BBBAC777B4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grammer"/>
        </a:ext>
      </dgm:extLst>
    </dgm:pt>
    <dgm:pt modelId="{54208B9E-ACEC-49B0-9595-74D94BD45BAE}" type="pres">
      <dgm:prSet presAssocID="{E1506999-5701-4CB8-B582-BBBAC777B415}" presName="spaceRect" presStyleCnt="0"/>
      <dgm:spPr/>
    </dgm:pt>
    <dgm:pt modelId="{187147BF-C9DB-44EF-A193-1F68FBA4D5A6}" type="pres">
      <dgm:prSet presAssocID="{E1506999-5701-4CB8-B582-BBBAC777B415}" presName="parTx" presStyleLbl="revTx" presStyleIdx="3" presStyleCnt="4">
        <dgm:presLayoutVars>
          <dgm:chMax val="0"/>
          <dgm:chPref val="0"/>
        </dgm:presLayoutVars>
      </dgm:prSet>
      <dgm:spPr/>
    </dgm:pt>
  </dgm:ptLst>
  <dgm:cxnLst>
    <dgm:cxn modelId="{C19B2C13-9718-405E-9F72-776F996B5022}" type="presOf" srcId="{F60E9747-99B5-431A-A1D8-7A1DEE8B285A}" destId="{A6EDC45F-495E-483C-944B-293E245AB0E9}" srcOrd="0" destOrd="0" presId="urn:microsoft.com/office/officeart/2018/2/layout/IconVerticalSolidList"/>
    <dgm:cxn modelId="{2ACF2F46-01CF-4FBA-B330-2C32F6125E4B}" type="presOf" srcId="{CBEAA0BB-717D-4294-B7F0-6876643A473E}" destId="{9A8B3EE0-C7CE-4984-96A9-17EAE41FF6DE}" srcOrd="0" destOrd="0" presId="urn:microsoft.com/office/officeart/2018/2/layout/IconVerticalSolidList"/>
    <dgm:cxn modelId="{6266306B-C503-4235-80CC-CB42F1F48757}" srcId="{F60E9747-99B5-431A-A1D8-7A1DEE8B285A}" destId="{E1506999-5701-4CB8-B582-BBBAC777B415}" srcOrd="3" destOrd="0" parTransId="{4B799B5D-5163-4A78-A91F-EEF490687850}" sibTransId="{EBF9B2E9-8605-438E-905E-DF9E12EB8D35}"/>
    <dgm:cxn modelId="{E6701C6C-8C3C-4563-A915-872A3786ADA1}" type="presOf" srcId="{79208AD6-85E6-42AF-A759-27B9FB33B9C7}" destId="{F31EA422-B50C-47F0-ADAF-F7C491201B08}" srcOrd="0" destOrd="0" presId="urn:microsoft.com/office/officeart/2018/2/layout/IconVerticalSolidList"/>
    <dgm:cxn modelId="{C5402A76-E0E9-4827-8E35-3908E5EA0298}" type="presOf" srcId="{E1506999-5701-4CB8-B582-BBBAC777B415}" destId="{187147BF-C9DB-44EF-A193-1F68FBA4D5A6}" srcOrd="0" destOrd="0" presId="urn:microsoft.com/office/officeart/2018/2/layout/IconVerticalSolidList"/>
    <dgm:cxn modelId="{5B28038D-CF62-4885-98CD-8E749E8FCA4F}" type="presOf" srcId="{B48B9DCB-0342-452D-8649-A31E5626F17E}" destId="{110820F3-A6F0-4CAA-A00C-210CC984616C}" srcOrd="0" destOrd="0" presId="urn:microsoft.com/office/officeart/2018/2/layout/IconVerticalSolidList"/>
    <dgm:cxn modelId="{0BF33AA4-7FC4-4EC8-942A-CE095A09A1B6}" srcId="{F60E9747-99B5-431A-A1D8-7A1DEE8B285A}" destId="{CBEAA0BB-717D-4294-B7F0-6876643A473E}" srcOrd="0" destOrd="0" parTransId="{2F2F5BE3-04C4-4541-A3E2-DE8B69603D64}" sibTransId="{3578D328-6729-453E-9310-E00E3ABE7C0F}"/>
    <dgm:cxn modelId="{7166B0A4-0CBF-4869-9164-57732289DC23}" srcId="{F60E9747-99B5-431A-A1D8-7A1DEE8B285A}" destId="{B48B9DCB-0342-452D-8649-A31E5626F17E}" srcOrd="1" destOrd="0" parTransId="{69FE8031-159B-4BB4-BE6B-E82F78E8E29A}" sibTransId="{1CEDE2D4-93CC-4193-963F-9BC8245B63AD}"/>
    <dgm:cxn modelId="{8F07D1B5-4B87-4FB7-98DF-982CD727FE91}" srcId="{F60E9747-99B5-431A-A1D8-7A1DEE8B285A}" destId="{79208AD6-85E6-42AF-A759-27B9FB33B9C7}" srcOrd="2" destOrd="0" parTransId="{6048B734-4196-47D6-99B0-1C0C16522902}" sibTransId="{83326D4F-7769-41E8-945C-A47E99D94783}"/>
    <dgm:cxn modelId="{328C4BEE-4DF2-49CA-B009-A1D44EC9CDC1}" type="presParOf" srcId="{A6EDC45F-495E-483C-944B-293E245AB0E9}" destId="{1191AB96-85BE-49D9-AF31-2C0E5AF3757A}" srcOrd="0" destOrd="0" presId="urn:microsoft.com/office/officeart/2018/2/layout/IconVerticalSolidList"/>
    <dgm:cxn modelId="{D8E05B5F-1E62-495C-8AD1-5311AD5681CF}" type="presParOf" srcId="{1191AB96-85BE-49D9-AF31-2C0E5AF3757A}" destId="{FCB0FB44-9B58-4728-9A04-6B6E9E90779D}" srcOrd="0" destOrd="0" presId="urn:microsoft.com/office/officeart/2018/2/layout/IconVerticalSolidList"/>
    <dgm:cxn modelId="{D578FA65-D6A2-40F2-9A7D-3F5C0563D48C}" type="presParOf" srcId="{1191AB96-85BE-49D9-AF31-2C0E5AF3757A}" destId="{E54A7F99-50A8-4E2F-B99A-C9BE4D08365F}" srcOrd="1" destOrd="0" presId="urn:microsoft.com/office/officeart/2018/2/layout/IconVerticalSolidList"/>
    <dgm:cxn modelId="{50195B89-F63F-455B-B0B0-2E6EC26D6747}" type="presParOf" srcId="{1191AB96-85BE-49D9-AF31-2C0E5AF3757A}" destId="{CBF60CBE-217F-4858-BF99-81929C1F9885}" srcOrd="2" destOrd="0" presId="urn:microsoft.com/office/officeart/2018/2/layout/IconVerticalSolidList"/>
    <dgm:cxn modelId="{8D56697F-DE87-4549-B606-B470C29C4C0A}" type="presParOf" srcId="{1191AB96-85BE-49D9-AF31-2C0E5AF3757A}" destId="{9A8B3EE0-C7CE-4984-96A9-17EAE41FF6DE}" srcOrd="3" destOrd="0" presId="urn:microsoft.com/office/officeart/2018/2/layout/IconVerticalSolidList"/>
    <dgm:cxn modelId="{18CC2FA6-CF45-4DC9-A86F-7181CCAA80A0}" type="presParOf" srcId="{A6EDC45F-495E-483C-944B-293E245AB0E9}" destId="{DB9A62CB-A6F0-4C57-B819-4C14607D90A8}" srcOrd="1" destOrd="0" presId="urn:microsoft.com/office/officeart/2018/2/layout/IconVerticalSolidList"/>
    <dgm:cxn modelId="{C371D48C-2E2D-47FC-9B4B-8263785769FE}" type="presParOf" srcId="{A6EDC45F-495E-483C-944B-293E245AB0E9}" destId="{8C33941C-D070-4D11-AF5B-0EBDF10ADDE6}" srcOrd="2" destOrd="0" presId="urn:microsoft.com/office/officeart/2018/2/layout/IconVerticalSolidList"/>
    <dgm:cxn modelId="{574FA140-5E0C-4119-848D-BCD35955DCC4}" type="presParOf" srcId="{8C33941C-D070-4D11-AF5B-0EBDF10ADDE6}" destId="{596A3F35-840F-4552-8C2B-94221AC1F253}" srcOrd="0" destOrd="0" presId="urn:microsoft.com/office/officeart/2018/2/layout/IconVerticalSolidList"/>
    <dgm:cxn modelId="{1CCB11AC-959B-4F0E-B4E2-41BA6AAFDA24}" type="presParOf" srcId="{8C33941C-D070-4D11-AF5B-0EBDF10ADDE6}" destId="{DF7C9BD0-C02E-4EC7-B759-9088AF9FCBC5}" srcOrd="1" destOrd="0" presId="urn:microsoft.com/office/officeart/2018/2/layout/IconVerticalSolidList"/>
    <dgm:cxn modelId="{DDFF672C-3BEA-40F3-88F2-AD20E0DBD6BA}" type="presParOf" srcId="{8C33941C-D070-4D11-AF5B-0EBDF10ADDE6}" destId="{E78A4736-2CEB-4FD1-B104-053F6E2AB75C}" srcOrd="2" destOrd="0" presId="urn:microsoft.com/office/officeart/2018/2/layout/IconVerticalSolidList"/>
    <dgm:cxn modelId="{3266407C-B572-4E3E-8223-B00C21E2D6F0}" type="presParOf" srcId="{8C33941C-D070-4D11-AF5B-0EBDF10ADDE6}" destId="{110820F3-A6F0-4CAA-A00C-210CC984616C}" srcOrd="3" destOrd="0" presId="urn:microsoft.com/office/officeart/2018/2/layout/IconVerticalSolidList"/>
    <dgm:cxn modelId="{BB4C1E73-28B2-4D6A-B0CB-A9F79B15CE9F}" type="presParOf" srcId="{A6EDC45F-495E-483C-944B-293E245AB0E9}" destId="{37C6AB2C-712E-49A9-8CC0-0760DFFDB1B3}" srcOrd="3" destOrd="0" presId="urn:microsoft.com/office/officeart/2018/2/layout/IconVerticalSolidList"/>
    <dgm:cxn modelId="{B6AC65E1-60F6-4488-921B-34595EC2F85E}" type="presParOf" srcId="{A6EDC45F-495E-483C-944B-293E245AB0E9}" destId="{0C440BC0-FA73-4FFB-947F-181F49F7189F}" srcOrd="4" destOrd="0" presId="urn:microsoft.com/office/officeart/2018/2/layout/IconVerticalSolidList"/>
    <dgm:cxn modelId="{BC1DFDB0-A568-4C2B-A522-ED2D52453E63}" type="presParOf" srcId="{0C440BC0-FA73-4FFB-947F-181F49F7189F}" destId="{CB5E1CBE-B593-461A-AC9C-D8EB1BBF6472}" srcOrd="0" destOrd="0" presId="urn:microsoft.com/office/officeart/2018/2/layout/IconVerticalSolidList"/>
    <dgm:cxn modelId="{8FFCB783-E822-411D-8C6C-AD39BA586963}" type="presParOf" srcId="{0C440BC0-FA73-4FFB-947F-181F49F7189F}" destId="{9EE9D42C-8B78-4059-BF30-EC3B5EE028A8}" srcOrd="1" destOrd="0" presId="urn:microsoft.com/office/officeart/2018/2/layout/IconVerticalSolidList"/>
    <dgm:cxn modelId="{6657127F-6ECD-4E34-AD79-0D6CFDEC7F74}" type="presParOf" srcId="{0C440BC0-FA73-4FFB-947F-181F49F7189F}" destId="{CB651F00-10FD-40EA-B3F9-E749F73D89D9}" srcOrd="2" destOrd="0" presId="urn:microsoft.com/office/officeart/2018/2/layout/IconVerticalSolidList"/>
    <dgm:cxn modelId="{D742595A-2C9B-430D-B24E-23226F54B25B}" type="presParOf" srcId="{0C440BC0-FA73-4FFB-947F-181F49F7189F}" destId="{F31EA422-B50C-47F0-ADAF-F7C491201B08}" srcOrd="3" destOrd="0" presId="urn:microsoft.com/office/officeart/2018/2/layout/IconVerticalSolidList"/>
    <dgm:cxn modelId="{E400257D-4581-448A-84CB-8CDE0CCB6298}" type="presParOf" srcId="{A6EDC45F-495E-483C-944B-293E245AB0E9}" destId="{05A9B749-F961-4A48-B06B-DCC21176F88F}" srcOrd="5" destOrd="0" presId="urn:microsoft.com/office/officeart/2018/2/layout/IconVerticalSolidList"/>
    <dgm:cxn modelId="{EAD9290C-B42E-41AA-8F91-876F8070FC5D}" type="presParOf" srcId="{A6EDC45F-495E-483C-944B-293E245AB0E9}" destId="{4477516A-5338-43B3-96F3-31759667CA41}" srcOrd="6" destOrd="0" presId="urn:microsoft.com/office/officeart/2018/2/layout/IconVerticalSolidList"/>
    <dgm:cxn modelId="{0D1D1205-7963-41D0-89E3-FE643CDF463F}" type="presParOf" srcId="{4477516A-5338-43B3-96F3-31759667CA41}" destId="{1077775A-DA97-44B2-98C4-A3F5A036E8D5}" srcOrd="0" destOrd="0" presId="urn:microsoft.com/office/officeart/2018/2/layout/IconVerticalSolidList"/>
    <dgm:cxn modelId="{AB921594-79FF-4526-9E2C-76517393167E}" type="presParOf" srcId="{4477516A-5338-43B3-96F3-31759667CA41}" destId="{3D125BDA-DF35-418B-B054-BE46EEC28FF4}" srcOrd="1" destOrd="0" presId="urn:microsoft.com/office/officeart/2018/2/layout/IconVerticalSolidList"/>
    <dgm:cxn modelId="{2501DD7E-1AEF-4463-9A82-762417C5EF3A}" type="presParOf" srcId="{4477516A-5338-43B3-96F3-31759667CA41}" destId="{54208B9E-ACEC-49B0-9595-74D94BD45BAE}" srcOrd="2" destOrd="0" presId="urn:microsoft.com/office/officeart/2018/2/layout/IconVerticalSolidList"/>
    <dgm:cxn modelId="{92A8721F-33E4-4688-861B-1A2B245177A7}" type="presParOf" srcId="{4477516A-5338-43B3-96F3-31759667CA41}" destId="{187147BF-C9DB-44EF-A193-1F68FBA4D5A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3950C-8DC7-FB48-B87E-71D18235701D}">
      <dsp:nvSpPr>
        <dsp:cNvPr id="0" name=""/>
        <dsp:cNvSpPr/>
      </dsp:nvSpPr>
      <dsp:spPr>
        <a:xfrm>
          <a:off x="0" y="2124"/>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219A63-D49C-9F45-920D-7A9F3ACA7696}">
      <dsp:nvSpPr>
        <dsp:cNvPr id="0" name=""/>
        <dsp:cNvSpPr/>
      </dsp:nvSpPr>
      <dsp:spPr>
        <a:xfrm>
          <a:off x="0" y="212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Problem-solving method for computer-executable solutions</a:t>
          </a:r>
        </a:p>
      </dsp:txBody>
      <dsp:txXfrm>
        <a:off x="0" y="2124"/>
        <a:ext cx="7886700" cy="1449029"/>
      </dsp:txXfrm>
    </dsp:sp>
    <dsp:sp modelId="{7CC94B0C-70C5-1D42-AAAE-B4DA0247FF9E}">
      <dsp:nvSpPr>
        <dsp:cNvPr id="0" name=""/>
        <dsp:cNvSpPr/>
      </dsp:nvSpPr>
      <dsp:spPr>
        <a:xfrm>
          <a:off x="0" y="1451154"/>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A37F8D-CB17-3640-835C-B969C2CF5D9F}">
      <dsp:nvSpPr>
        <dsp:cNvPr id="0" name=""/>
        <dsp:cNvSpPr/>
      </dsp:nvSpPr>
      <dsp:spPr>
        <a:xfrm>
          <a:off x="0" y="145115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Components: Decomposition, Pattern Recognition, Abstraction, Algorithms</a:t>
          </a:r>
        </a:p>
      </dsp:txBody>
      <dsp:txXfrm>
        <a:off x="0" y="1451154"/>
        <a:ext cx="7886700" cy="1449029"/>
      </dsp:txXfrm>
    </dsp:sp>
    <dsp:sp modelId="{075649E3-8243-304B-978A-BC5A55B92BF7}">
      <dsp:nvSpPr>
        <dsp:cNvPr id="0" name=""/>
        <dsp:cNvSpPr/>
      </dsp:nvSpPr>
      <dsp:spPr>
        <a:xfrm>
          <a:off x="0" y="2900183"/>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431E61-EE90-0545-A7C2-70C1DB4D6367}">
      <dsp:nvSpPr>
        <dsp:cNvPr id="0" name=""/>
        <dsp:cNvSpPr/>
      </dsp:nvSpPr>
      <dsp:spPr>
        <a:xfrm>
          <a:off x="0" y="2900183"/>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Fundamental for coding and real-world problem solving</a:t>
          </a:r>
        </a:p>
      </dsp:txBody>
      <dsp:txXfrm>
        <a:off x="0" y="2900183"/>
        <a:ext cx="7886700" cy="14490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38BA61-79B6-5A40-A7C8-CD9F7A9715CC}">
      <dsp:nvSpPr>
        <dsp:cNvPr id="0" name=""/>
        <dsp:cNvSpPr/>
      </dsp:nvSpPr>
      <dsp:spPr>
        <a:xfrm>
          <a:off x="0" y="2124"/>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63C223-409F-7942-8A20-F31215742B19}">
      <dsp:nvSpPr>
        <dsp:cNvPr id="0" name=""/>
        <dsp:cNvSpPr/>
      </dsp:nvSpPr>
      <dsp:spPr>
        <a:xfrm>
          <a:off x="0" y="212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Use of computers to process/manage information</a:t>
          </a:r>
        </a:p>
      </dsp:txBody>
      <dsp:txXfrm>
        <a:off x="0" y="2124"/>
        <a:ext cx="7886700" cy="1449029"/>
      </dsp:txXfrm>
    </dsp:sp>
    <dsp:sp modelId="{9B855AA0-5A54-DC48-BC68-DE25B68704D1}">
      <dsp:nvSpPr>
        <dsp:cNvPr id="0" name=""/>
        <dsp:cNvSpPr/>
      </dsp:nvSpPr>
      <dsp:spPr>
        <a:xfrm>
          <a:off x="0" y="1451154"/>
          <a:ext cx="7886700" cy="0"/>
        </a:xfrm>
        <a:prstGeom prst="line">
          <a:avLst/>
        </a:prstGeom>
        <a:solidFill>
          <a:schemeClr val="accent2">
            <a:hueOff val="2340760"/>
            <a:satOff val="-2919"/>
            <a:lumOff val="686"/>
            <a:alphaOff val="0"/>
          </a:schemeClr>
        </a:solidFill>
        <a:ln w="25400" cap="flat" cmpd="sng" algn="ctr">
          <a:solidFill>
            <a:schemeClr val="accent2">
              <a:hueOff val="2340760"/>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078F18-772D-1249-BECC-F19B6F4A579E}">
      <dsp:nvSpPr>
        <dsp:cNvPr id="0" name=""/>
        <dsp:cNvSpPr/>
      </dsp:nvSpPr>
      <dsp:spPr>
        <a:xfrm>
          <a:off x="0" y="145115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Types: Scientific, Business, Embedded, Personal</a:t>
          </a:r>
        </a:p>
      </dsp:txBody>
      <dsp:txXfrm>
        <a:off x="0" y="1451154"/>
        <a:ext cx="7886700" cy="1449029"/>
      </dsp:txXfrm>
    </dsp:sp>
    <dsp:sp modelId="{78F333F1-E005-9644-8326-B4B9BAE02ED5}">
      <dsp:nvSpPr>
        <dsp:cNvPr id="0" name=""/>
        <dsp:cNvSpPr/>
      </dsp:nvSpPr>
      <dsp:spPr>
        <a:xfrm>
          <a:off x="0" y="2900183"/>
          <a:ext cx="7886700" cy="0"/>
        </a:xfrm>
        <a:prstGeom prst="line">
          <a:avLst/>
        </a:prstGeom>
        <a:solidFill>
          <a:schemeClr val="accent2">
            <a:hueOff val="4681520"/>
            <a:satOff val="-5839"/>
            <a:lumOff val="1373"/>
            <a:alphaOff val="0"/>
          </a:schemeClr>
        </a:solidFill>
        <a:ln w="25400" cap="flat" cmpd="sng" algn="ctr">
          <a:solidFill>
            <a:schemeClr val="accent2">
              <a:hueOff val="4681520"/>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4F49C7-B039-C64C-9463-2E1454D2CFCE}">
      <dsp:nvSpPr>
        <dsp:cNvPr id="0" name=""/>
        <dsp:cNvSpPr/>
      </dsp:nvSpPr>
      <dsp:spPr>
        <a:xfrm>
          <a:off x="0" y="2900183"/>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Trends: AI, Data Analytics, Edge Computing</a:t>
          </a:r>
        </a:p>
      </dsp:txBody>
      <dsp:txXfrm>
        <a:off x="0" y="2900183"/>
        <a:ext cx="7886700" cy="1449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F6F44-C841-E343-95EA-C8EC4F9683A1}">
      <dsp:nvSpPr>
        <dsp:cNvPr id="0" name=""/>
        <dsp:cNvSpPr/>
      </dsp:nvSpPr>
      <dsp:spPr>
        <a:xfrm>
          <a:off x="0" y="49193"/>
          <a:ext cx="7886700" cy="12928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Solves complex problems quickly</a:t>
          </a:r>
        </a:p>
      </dsp:txBody>
      <dsp:txXfrm>
        <a:off x="63112" y="112305"/>
        <a:ext cx="7760476" cy="1166626"/>
      </dsp:txXfrm>
    </dsp:sp>
    <dsp:sp modelId="{444B2CD9-15E8-7D45-A2A0-BED88A8ADF96}">
      <dsp:nvSpPr>
        <dsp:cNvPr id="0" name=""/>
        <dsp:cNvSpPr/>
      </dsp:nvSpPr>
      <dsp:spPr>
        <a:xfrm>
          <a:off x="0" y="1529244"/>
          <a:ext cx="7886700" cy="1292850"/>
        </a:xfrm>
        <a:prstGeom prst="roundRect">
          <a:avLst/>
        </a:prstGeom>
        <a:solidFill>
          <a:schemeClr val="accent2">
            <a:hueOff val="2340760"/>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Handles massive data efficiently</a:t>
          </a:r>
        </a:p>
      </dsp:txBody>
      <dsp:txXfrm>
        <a:off x="63112" y="1592356"/>
        <a:ext cx="7760476" cy="1166626"/>
      </dsp:txXfrm>
    </dsp:sp>
    <dsp:sp modelId="{F18B1A4B-BB6B-8F46-A4E9-851EC80A24F7}">
      <dsp:nvSpPr>
        <dsp:cNvPr id="0" name=""/>
        <dsp:cNvSpPr/>
      </dsp:nvSpPr>
      <dsp:spPr>
        <a:xfrm>
          <a:off x="0" y="3009294"/>
          <a:ext cx="7886700" cy="129285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Benefits: Speed, Scalability, Real-time capability</a:t>
          </a:r>
        </a:p>
      </dsp:txBody>
      <dsp:txXfrm>
        <a:off x="63112" y="3072406"/>
        <a:ext cx="7760476" cy="11666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9DA1FC-DC7F-8F4A-8800-A4542975B4DB}">
      <dsp:nvSpPr>
        <dsp:cNvPr id="0" name=""/>
        <dsp:cNvSpPr/>
      </dsp:nvSpPr>
      <dsp:spPr>
        <a:xfrm>
          <a:off x="0" y="2124"/>
          <a:ext cx="7886700"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6B8EE7E-A556-DD44-8E9F-41BB192341A7}">
      <dsp:nvSpPr>
        <dsp:cNvPr id="0" name=""/>
        <dsp:cNvSpPr/>
      </dsp:nvSpPr>
      <dsp:spPr>
        <a:xfrm>
          <a:off x="0" y="212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dirty="0"/>
            <a:t>- </a:t>
          </a:r>
          <a:r>
            <a:rPr lang="en-IN" sz="3200" kern="1200" dirty="0"/>
            <a:t>Faster time to results</a:t>
          </a:r>
        </a:p>
      </dsp:txBody>
      <dsp:txXfrm>
        <a:off x="0" y="2124"/>
        <a:ext cx="7886700" cy="1449029"/>
      </dsp:txXfrm>
    </dsp:sp>
    <dsp:sp modelId="{E2C34B3E-B21A-3642-A1A8-8D7CB0ED375F}">
      <dsp:nvSpPr>
        <dsp:cNvPr id="0" name=""/>
        <dsp:cNvSpPr/>
      </dsp:nvSpPr>
      <dsp:spPr>
        <a:xfrm>
          <a:off x="0" y="1451154"/>
          <a:ext cx="7886700"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F9DFF6D-AEF3-C544-B27D-441C0F55AAD3}">
      <dsp:nvSpPr>
        <dsp:cNvPr id="0" name=""/>
        <dsp:cNvSpPr/>
      </dsp:nvSpPr>
      <dsp:spPr>
        <a:xfrm>
          <a:off x="0" y="145115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IN" sz="3200" kern="1200" dirty="0"/>
            <a:t>- Improved precision and accuracy</a:t>
          </a:r>
        </a:p>
      </dsp:txBody>
      <dsp:txXfrm>
        <a:off x="0" y="1451154"/>
        <a:ext cx="7886700" cy="1449029"/>
      </dsp:txXfrm>
    </dsp:sp>
    <dsp:sp modelId="{62B62AC9-D372-2044-BDA7-82B14EEBBF9C}">
      <dsp:nvSpPr>
        <dsp:cNvPr id="0" name=""/>
        <dsp:cNvSpPr/>
      </dsp:nvSpPr>
      <dsp:spPr>
        <a:xfrm>
          <a:off x="0" y="2900183"/>
          <a:ext cx="7886700"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36BB5E7-B93D-814E-8486-11FB7FD1C8C1}">
      <dsp:nvSpPr>
        <dsp:cNvPr id="0" name=""/>
        <dsp:cNvSpPr/>
      </dsp:nvSpPr>
      <dsp:spPr>
        <a:xfrm>
          <a:off x="0" y="2900183"/>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IN" sz="3200" kern="1200" dirty="0"/>
            <a:t>- Efficient resource utilization</a:t>
          </a:r>
        </a:p>
      </dsp:txBody>
      <dsp:txXfrm>
        <a:off x="0" y="2900183"/>
        <a:ext cx="7886700" cy="14490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57013C-2A6D-2141-ADFE-F668C7BEB08C}">
      <dsp:nvSpPr>
        <dsp:cNvPr id="0" name=""/>
        <dsp:cNvSpPr/>
      </dsp:nvSpPr>
      <dsp:spPr>
        <a:xfrm>
          <a:off x="0" y="0"/>
          <a:ext cx="6309360" cy="95729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Scientific Simulations (physics, astronomy)</a:t>
          </a:r>
        </a:p>
      </dsp:txBody>
      <dsp:txXfrm>
        <a:off x="28038" y="28038"/>
        <a:ext cx="5195473" cy="901218"/>
      </dsp:txXfrm>
    </dsp:sp>
    <dsp:sp modelId="{930E8A59-B708-7A40-A73B-B113745E3166}">
      <dsp:nvSpPr>
        <dsp:cNvPr id="0" name=""/>
        <dsp:cNvSpPr/>
      </dsp:nvSpPr>
      <dsp:spPr>
        <a:xfrm>
          <a:off x="528408" y="1131347"/>
          <a:ext cx="6309360" cy="957294"/>
        </a:xfrm>
        <a:prstGeom prst="roundRect">
          <a:avLst>
            <a:gd name="adj" fmla="val 10000"/>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Medical Research (genomics, disease models)</a:t>
          </a:r>
        </a:p>
      </dsp:txBody>
      <dsp:txXfrm>
        <a:off x="556446" y="1159385"/>
        <a:ext cx="5102633" cy="901218"/>
      </dsp:txXfrm>
    </dsp:sp>
    <dsp:sp modelId="{D7B3A69E-0611-F449-8C38-83D878F2150F}">
      <dsp:nvSpPr>
        <dsp:cNvPr id="0" name=""/>
        <dsp:cNvSpPr/>
      </dsp:nvSpPr>
      <dsp:spPr>
        <a:xfrm>
          <a:off x="1048931" y="2262695"/>
          <a:ext cx="6309360" cy="957294"/>
        </a:xfrm>
        <a:prstGeom prst="roundRect">
          <a:avLst>
            <a:gd name="adj" fmla="val 10000"/>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Finance (risk analysis, trading)</a:t>
          </a:r>
        </a:p>
      </dsp:txBody>
      <dsp:txXfrm>
        <a:off x="1076969" y="2290733"/>
        <a:ext cx="5110520" cy="901218"/>
      </dsp:txXfrm>
    </dsp:sp>
    <dsp:sp modelId="{0B4D2756-1BBC-BC4C-BB20-A0C29CD950DA}">
      <dsp:nvSpPr>
        <dsp:cNvPr id="0" name=""/>
        <dsp:cNvSpPr/>
      </dsp:nvSpPr>
      <dsp:spPr>
        <a:xfrm>
          <a:off x="1577340" y="3394043"/>
          <a:ext cx="6309360" cy="957294"/>
        </a:xfrm>
        <a:prstGeom prst="roundRect">
          <a:avLst>
            <a:gd name="adj" fmla="val 10000"/>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Media (graphics rendering)</a:t>
          </a:r>
        </a:p>
      </dsp:txBody>
      <dsp:txXfrm>
        <a:off x="1605378" y="3422081"/>
        <a:ext cx="5102633" cy="901218"/>
      </dsp:txXfrm>
    </dsp:sp>
    <dsp:sp modelId="{8FF8E26B-77D1-0540-A5A3-263B2D1EE4F7}">
      <dsp:nvSpPr>
        <dsp:cNvPr id="0" name=""/>
        <dsp:cNvSpPr/>
      </dsp:nvSpPr>
      <dsp:spPr>
        <a:xfrm>
          <a:off x="5687118" y="733200"/>
          <a:ext cx="622241" cy="622241"/>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827122" y="733200"/>
        <a:ext cx="342233" cy="468236"/>
      </dsp:txXfrm>
    </dsp:sp>
    <dsp:sp modelId="{9A23F154-3A8E-AE45-AB9D-931870D89F5B}">
      <dsp:nvSpPr>
        <dsp:cNvPr id="0" name=""/>
        <dsp:cNvSpPr/>
      </dsp:nvSpPr>
      <dsp:spPr>
        <a:xfrm>
          <a:off x="6215527" y="1864548"/>
          <a:ext cx="622241" cy="622241"/>
        </a:xfrm>
        <a:prstGeom prst="downArrow">
          <a:avLst>
            <a:gd name="adj1" fmla="val 55000"/>
            <a:gd name="adj2" fmla="val 45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355531" y="1864548"/>
        <a:ext cx="342233" cy="468236"/>
      </dsp:txXfrm>
    </dsp:sp>
    <dsp:sp modelId="{55B3AF52-2141-2949-9260-598B99AC6934}">
      <dsp:nvSpPr>
        <dsp:cNvPr id="0" name=""/>
        <dsp:cNvSpPr/>
      </dsp:nvSpPr>
      <dsp:spPr>
        <a:xfrm>
          <a:off x="6736049" y="2995896"/>
          <a:ext cx="622241" cy="622241"/>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876053" y="2995896"/>
        <a:ext cx="342233" cy="4682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E955F-3FB8-574D-899E-6F2BAE35D9A9}">
      <dsp:nvSpPr>
        <dsp:cNvPr id="0" name=""/>
        <dsp:cNvSpPr/>
      </dsp:nvSpPr>
      <dsp:spPr>
        <a:xfrm>
          <a:off x="0" y="605231"/>
          <a:ext cx="4988440" cy="13127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 Programs run on multiple processors simultaneously</a:t>
          </a:r>
        </a:p>
      </dsp:txBody>
      <dsp:txXfrm>
        <a:off x="64083" y="669314"/>
        <a:ext cx="4860274" cy="1184574"/>
      </dsp:txXfrm>
    </dsp:sp>
    <dsp:sp modelId="{546CA0E4-5301-284A-A8C4-60B9BD6C53ED}">
      <dsp:nvSpPr>
        <dsp:cNvPr id="0" name=""/>
        <dsp:cNvSpPr/>
      </dsp:nvSpPr>
      <dsp:spPr>
        <a:xfrm>
          <a:off x="0" y="2013012"/>
          <a:ext cx="4988440" cy="131274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 Platforms: OpenMP, MPI, CUDA, Intel TBB</a:t>
          </a:r>
        </a:p>
      </dsp:txBody>
      <dsp:txXfrm>
        <a:off x="64083" y="2077095"/>
        <a:ext cx="4860274" cy="1184574"/>
      </dsp:txXfrm>
    </dsp:sp>
    <dsp:sp modelId="{E4F19E9A-F2BF-7840-830F-586AD4EA74E0}">
      <dsp:nvSpPr>
        <dsp:cNvPr id="0" name=""/>
        <dsp:cNvSpPr/>
      </dsp:nvSpPr>
      <dsp:spPr>
        <a:xfrm>
          <a:off x="0" y="3420792"/>
          <a:ext cx="4988440" cy="131274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 Enables faster and efficient computing</a:t>
          </a:r>
        </a:p>
      </dsp:txBody>
      <dsp:txXfrm>
        <a:off x="64083" y="3484875"/>
        <a:ext cx="4860274" cy="11845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1893B-701B-3B43-97F1-FDDF1249C171}">
      <dsp:nvSpPr>
        <dsp:cNvPr id="0" name=""/>
        <dsp:cNvSpPr/>
      </dsp:nvSpPr>
      <dsp:spPr>
        <a:xfrm>
          <a:off x="0" y="180378"/>
          <a:ext cx="5175384" cy="517538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22B97F-04F7-204A-911F-60105AE624BF}">
      <dsp:nvSpPr>
        <dsp:cNvPr id="0" name=""/>
        <dsp:cNvSpPr/>
      </dsp:nvSpPr>
      <dsp:spPr>
        <a:xfrm>
          <a:off x="491661" y="672039"/>
          <a:ext cx="2018399" cy="201839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 Internet-based on demand access to  computing services</a:t>
          </a:r>
        </a:p>
        <a:p>
          <a:pPr marL="0" lvl="0" indent="0" algn="ctr" defTabSz="800100">
            <a:lnSpc>
              <a:spcPct val="90000"/>
            </a:lnSpc>
            <a:spcBef>
              <a:spcPct val="0"/>
            </a:spcBef>
            <a:spcAft>
              <a:spcPct val="35000"/>
            </a:spcAft>
            <a:buNone/>
          </a:pPr>
          <a:endParaRPr lang="en-US" sz="1800" kern="1200" dirty="0"/>
        </a:p>
      </dsp:txBody>
      <dsp:txXfrm>
        <a:off x="590191" y="770569"/>
        <a:ext cx="1821339" cy="1821339"/>
      </dsp:txXfrm>
    </dsp:sp>
    <dsp:sp modelId="{152C6FCA-1402-CE49-82D8-952613E03898}">
      <dsp:nvSpPr>
        <dsp:cNvPr id="0" name=""/>
        <dsp:cNvSpPr/>
      </dsp:nvSpPr>
      <dsp:spPr>
        <a:xfrm>
          <a:off x="2665322" y="672039"/>
          <a:ext cx="2018399" cy="201839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 Types: IaaS, PaaS, SaaS</a:t>
          </a:r>
        </a:p>
      </dsp:txBody>
      <dsp:txXfrm>
        <a:off x="2763852" y="770569"/>
        <a:ext cx="1821339" cy="1821339"/>
      </dsp:txXfrm>
    </dsp:sp>
    <dsp:sp modelId="{381B4A15-FC76-F446-9260-33DCA9774F15}">
      <dsp:nvSpPr>
        <dsp:cNvPr id="0" name=""/>
        <dsp:cNvSpPr/>
      </dsp:nvSpPr>
      <dsp:spPr>
        <a:xfrm>
          <a:off x="491661" y="2845701"/>
          <a:ext cx="2018399" cy="2018399"/>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 Advantages: Scalable, Cost-effective, Accessible, Speedy&amp; Agile</a:t>
          </a:r>
        </a:p>
      </dsp:txBody>
      <dsp:txXfrm>
        <a:off x="590191" y="2944231"/>
        <a:ext cx="1821339" cy="1821339"/>
      </dsp:txXfrm>
    </dsp:sp>
    <dsp:sp modelId="{2462B73D-B802-3047-88E5-B9E8F2B0FDD9}">
      <dsp:nvSpPr>
        <dsp:cNvPr id="0" name=""/>
        <dsp:cNvSpPr/>
      </dsp:nvSpPr>
      <dsp:spPr>
        <a:xfrm>
          <a:off x="2665322" y="2845701"/>
          <a:ext cx="2018399" cy="201839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 Examples: AWS, Azure, GCP</a:t>
          </a:r>
        </a:p>
      </dsp:txBody>
      <dsp:txXfrm>
        <a:off x="2763852" y="2944231"/>
        <a:ext cx="1821339" cy="18213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7400A2-0E65-FD41-8514-018AF47F8683}">
      <dsp:nvSpPr>
        <dsp:cNvPr id="0" name=""/>
        <dsp:cNvSpPr/>
      </dsp:nvSpPr>
      <dsp:spPr>
        <a:xfrm>
          <a:off x="429570" y="472"/>
          <a:ext cx="3346456" cy="200787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Distributed computing across multiple locations</a:t>
          </a:r>
        </a:p>
      </dsp:txBody>
      <dsp:txXfrm>
        <a:off x="429570" y="472"/>
        <a:ext cx="3346456" cy="2007873"/>
      </dsp:txXfrm>
    </dsp:sp>
    <dsp:sp modelId="{8DA8617F-658B-8F44-8E3C-58A547963857}">
      <dsp:nvSpPr>
        <dsp:cNvPr id="0" name=""/>
        <dsp:cNvSpPr/>
      </dsp:nvSpPr>
      <dsp:spPr>
        <a:xfrm>
          <a:off x="4110672" y="472"/>
          <a:ext cx="3346456" cy="2007873"/>
        </a:xfrm>
        <a:prstGeom prst="rect">
          <a:avLst/>
        </a:prstGeom>
        <a:gradFill rotWithShape="0">
          <a:gsLst>
            <a:gs pos="0">
              <a:schemeClr val="accent2">
                <a:hueOff val="2340760"/>
                <a:satOff val="-2919"/>
                <a:lumOff val="686"/>
                <a:alphaOff val="0"/>
                <a:tint val="100000"/>
                <a:shade val="100000"/>
                <a:satMod val="130000"/>
              </a:schemeClr>
            </a:gs>
            <a:gs pos="100000">
              <a:schemeClr val="accent2">
                <a:hueOff val="2340760"/>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Features: Heterogeneous systems, Shared workloads</a:t>
          </a:r>
        </a:p>
      </dsp:txBody>
      <dsp:txXfrm>
        <a:off x="4110672" y="472"/>
        <a:ext cx="3346456" cy="2007873"/>
      </dsp:txXfrm>
    </dsp:sp>
    <dsp:sp modelId="{C3942468-5738-3E44-BEED-919AAC074EA5}">
      <dsp:nvSpPr>
        <dsp:cNvPr id="0" name=""/>
        <dsp:cNvSpPr/>
      </dsp:nvSpPr>
      <dsp:spPr>
        <a:xfrm>
          <a:off x="2270121" y="2342991"/>
          <a:ext cx="3346456" cy="2007873"/>
        </a:xfrm>
        <a:prstGeom prst="rect">
          <a:avLst/>
        </a:prstGeom>
        <a:gradFill rotWithShape="0">
          <a:gsLst>
            <a:gs pos="0">
              <a:schemeClr val="accent2">
                <a:hueOff val="4681520"/>
                <a:satOff val="-5839"/>
                <a:lumOff val="1373"/>
                <a:alphaOff val="0"/>
                <a:tint val="100000"/>
                <a:shade val="100000"/>
                <a:satMod val="130000"/>
              </a:schemeClr>
            </a:gs>
            <a:gs pos="100000">
              <a:schemeClr val="accent2">
                <a:hueOff val="4681520"/>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Used in scientific research and large data tasks</a:t>
          </a:r>
        </a:p>
      </dsp:txBody>
      <dsp:txXfrm>
        <a:off x="2270121" y="2342991"/>
        <a:ext cx="3346456" cy="200787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7B8A14-C720-0247-9FE9-E6EB7BE67AB8}">
      <dsp:nvSpPr>
        <dsp:cNvPr id="0" name=""/>
        <dsp:cNvSpPr/>
      </dsp:nvSpPr>
      <dsp:spPr>
        <a:xfrm>
          <a:off x="0" y="311198"/>
          <a:ext cx="3692156" cy="1454456"/>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 Linked computers work as a single unit</a:t>
          </a:r>
        </a:p>
      </dsp:txBody>
      <dsp:txXfrm>
        <a:off x="71001" y="382199"/>
        <a:ext cx="3550154" cy="1312454"/>
      </dsp:txXfrm>
    </dsp:sp>
    <dsp:sp modelId="{AAA1F9E0-5116-284B-88C3-ACC9B2BB3CFC}">
      <dsp:nvSpPr>
        <dsp:cNvPr id="0" name=""/>
        <dsp:cNvSpPr/>
      </dsp:nvSpPr>
      <dsp:spPr>
        <a:xfrm>
          <a:off x="0" y="1840534"/>
          <a:ext cx="3692156" cy="1454456"/>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 Types: Load-balancing, High-availability, HPC clusters</a:t>
          </a:r>
        </a:p>
      </dsp:txBody>
      <dsp:txXfrm>
        <a:off x="71001" y="1911535"/>
        <a:ext cx="3550154" cy="1312454"/>
      </dsp:txXfrm>
    </dsp:sp>
    <dsp:sp modelId="{7FCA75D9-ADEE-8F4C-88DC-87B33382D92F}">
      <dsp:nvSpPr>
        <dsp:cNvPr id="0" name=""/>
        <dsp:cNvSpPr/>
      </dsp:nvSpPr>
      <dsp:spPr>
        <a:xfrm>
          <a:off x="0" y="3369870"/>
          <a:ext cx="3692156" cy="1454456"/>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 Centralized management, Fault tolerance</a:t>
          </a:r>
        </a:p>
      </dsp:txBody>
      <dsp:txXfrm>
        <a:off x="71001" y="3440871"/>
        <a:ext cx="3550154" cy="131245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1F4512-BA3A-054C-B032-8A462F694CA1}">
      <dsp:nvSpPr>
        <dsp:cNvPr id="0" name=""/>
        <dsp:cNvSpPr/>
      </dsp:nvSpPr>
      <dsp:spPr>
        <a:xfrm>
          <a:off x="0" y="450099"/>
          <a:ext cx="7886700" cy="79150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 Uses qubits based on quantum mechanics</a:t>
          </a:r>
        </a:p>
      </dsp:txBody>
      <dsp:txXfrm>
        <a:off x="38638" y="488737"/>
        <a:ext cx="7809424" cy="714229"/>
      </dsp:txXfrm>
    </dsp:sp>
    <dsp:sp modelId="{1CA6D944-A7F3-974C-91A4-F2D279A8441A}">
      <dsp:nvSpPr>
        <dsp:cNvPr id="0" name=""/>
        <dsp:cNvSpPr/>
      </dsp:nvSpPr>
      <dsp:spPr>
        <a:xfrm>
          <a:off x="0" y="1336644"/>
          <a:ext cx="7886700" cy="791505"/>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 Concepts: Superposition, Entanglement</a:t>
          </a:r>
        </a:p>
      </dsp:txBody>
      <dsp:txXfrm>
        <a:off x="38638" y="1375282"/>
        <a:ext cx="7809424" cy="714229"/>
      </dsp:txXfrm>
    </dsp:sp>
    <dsp:sp modelId="{702A7F1A-F5C5-E041-B3EF-4B0B44F09589}">
      <dsp:nvSpPr>
        <dsp:cNvPr id="0" name=""/>
        <dsp:cNvSpPr/>
      </dsp:nvSpPr>
      <dsp:spPr>
        <a:xfrm>
          <a:off x="0" y="2223189"/>
          <a:ext cx="7886700" cy="791505"/>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 Applications: Cryptography, Drug discovery</a:t>
          </a:r>
        </a:p>
      </dsp:txBody>
      <dsp:txXfrm>
        <a:off x="38638" y="2261827"/>
        <a:ext cx="7809424" cy="714229"/>
      </dsp:txXfrm>
    </dsp:sp>
    <dsp:sp modelId="{73E344F1-50AA-6644-8075-053422C8984D}">
      <dsp:nvSpPr>
        <dsp:cNvPr id="0" name=""/>
        <dsp:cNvSpPr/>
      </dsp:nvSpPr>
      <dsp:spPr>
        <a:xfrm>
          <a:off x="0" y="3109734"/>
          <a:ext cx="7886700" cy="791505"/>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 Emerging technology</a:t>
          </a:r>
        </a:p>
      </dsp:txBody>
      <dsp:txXfrm>
        <a:off x="38638" y="3148372"/>
        <a:ext cx="7809424" cy="71422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AD56F-AAC5-4A4A-8A51-AB926B90AB24}">
      <dsp:nvSpPr>
        <dsp:cNvPr id="0" name=""/>
        <dsp:cNvSpPr/>
      </dsp:nvSpPr>
      <dsp:spPr>
        <a:xfrm>
          <a:off x="0" y="14143"/>
          <a:ext cx="8229600" cy="14301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 CPUs with multiple processing cores</a:t>
          </a:r>
        </a:p>
      </dsp:txBody>
      <dsp:txXfrm>
        <a:off x="69812" y="83955"/>
        <a:ext cx="8089976" cy="1290481"/>
      </dsp:txXfrm>
    </dsp:sp>
    <dsp:sp modelId="{4353DCCC-FF27-3A48-B759-765F7EEAED91}">
      <dsp:nvSpPr>
        <dsp:cNvPr id="0" name=""/>
        <dsp:cNvSpPr/>
      </dsp:nvSpPr>
      <dsp:spPr>
        <a:xfrm>
          <a:off x="0" y="1547928"/>
          <a:ext cx="8229600" cy="14301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 Enhances multitasking and parallel execution</a:t>
          </a:r>
        </a:p>
      </dsp:txBody>
      <dsp:txXfrm>
        <a:off x="69812" y="1617740"/>
        <a:ext cx="8089976" cy="1290481"/>
      </dsp:txXfrm>
    </dsp:sp>
    <dsp:sp modelId="{625A61E7-EFBF-9A47-A571-7E7FF30547D3}">
      <dsp:nvSpPr>
        <dsp:cNvPr id="0" name=""/>
        <dsp:cNvSpPr/>
      </dsp:nvSpPr>
      <dsp:spPr>
        <a:xfrm>
          <a:off x="0" y="3081714"/>
          <a:ext cx="8229600" cy="14301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 Common in laptops, servers, smartphones</a:t>
          </a:r>
        </a:p>
      </dsp:txBody>
      <dsp:txXfrm>
        <a:off x="69812" y="3151526"/>
        <a:ext cx="8089976" cy="129048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0FB44-9B58-4728-9A04-6B6E9E90779D}">
      <dsp:nvSpPr>
        <dsp:cNvPr id="0" name=""/>
        <dsp:cNvSpPr/>
      </dsp:nvSpPr>
      <dsp:spPr>
        <a:xfrm>
          <a:off x="0" y="231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4A7F99-50A8-4E2F-B99A-C9BE4D08365F}">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8B3EE0-C7CE-4984-96A9-17EAE41FF6DE}">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 Specialized processors for image and data acceleration</a:t>
          </a:r>
        </a:p>
      </dsp:txBody>
      <dsp:txXfrm>
        <a:off x="1357965" y="2319"/>
        <a:ext cx="3325983" cy="1175727"/>
      </dsp:txXfrm>
    </dsp:sp>
    <dsp:sp modelId="{596A3F35-840F-4552-8C2B-94221AC1F253}">
      <dsp:nvSpPr>
        <dsp:cNvPr id="0" name=""/>
        <dsp:cNvSpPr/>
      </dsp:nvSpPr>
      <dsp:spPr>
        <a:xfrm>
          <a:off x="0" y="147197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7C9BD0-C02E-4EC7-B759-9088AF9FCBC5}">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0820F3-A6F0-4CAA-A00C-210CC984616C}">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 Many small cores, ideal for parallelism</a:t>
          </a:r>
        </a:p>
      </dsp:txBody>
      <dsp:txXfrm>
        <a:off x="1357965" y="1471979"/>
        <a:ext cx="3325983" cy="1175727"/>
      </dsp:txXfrm>
    </dsp:sp>
    <dsp:sp modelId="{CB5E1CBE-B593-461A-AC9C-D8EB1BBF6472}">
      <dsp:nvSpPr>
        <dsp:cNvPr id="0" name=""/>
        <dsp:cNvSpPr/>
      </dsp:nvSpPr>
      <dsp:spPr>
        <a:xfrm>
          <a:off x="0" y="294163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E9D42C-8B78-4059-BF30-EC3B5EE028A8}">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1EA422-B50C-47F0-ADAF-F7C491201B08}">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 Used in AI, gaming, simulations</a:t>
          </a:r>
        </a:p>
      </dsp:txBody>
      <dsp:txXfrm>
        <a:off x="1357965" y="2941639"/>
        <a:ext cx="3325983" cy="1175727"/>
      </dsp:txXfrm>
    </dsp:sp>
    <dsp:sp modelId="{1077775A-DA97-44B2-98C4-A3F5A036E8D5}">
      <dsp:nvSpPr>
        <dsp:cNvPr id="0" name=""/>
        <dsp:cNvSpPr/>
      </dsp:nvSpPr>
      <dsp:spPr>
        <a:xfrm>
          <a:off x="0" y="441129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125BDA-DF35-418B-B054-BE46EEC28FF4}">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7147BF-C9DB-44EF-A193-1F68FBA4D5A6}">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 Examples: NVIDIA, AMD</a:t>
          </a:r>
        </a:p>
      </dsp:txBody>
      <dsp:txXfrm>
        <a:off x="1357965" y="4411299"/>
        <a:ext cx="3325983" cy="117572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C062D-C8DB-2A4A-B1A7-0AD3FE4DBA82}" type="datetimeFigureOut">
              <a:rPr lang="en-US" smtClean="0"/>
              <a:t>8/13/25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CEF3D-1BD8-EF45-8372-302ACBADCCC7}" type="slidenum">
              <a:rPr lang="en-US" smtClean="0"/>
              <a:t>‹#›</a:t>
            </a:fld>
            <a:endParaRPr lang="en-US"/>
          </a:p>
        </p:txBody>
      </p:sp>
    </p:spTree>
    <p:extLst>
      <p:ext uri="{BB962C8B-B14F-4D97-AF65-F5344CB8AC3E}">
        <p14:creationId xmlns:p14="http://schemas.microsoft.com/office/powerpoint/2010/main" val="2860088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6369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2425D3-3439-404A-93A1-697D43ECE8AA}" type="slidenum">
              <a:rPr lang="en-IN" smtClean="0"/>
              <a:pPr/>
              <a:t>3</a:t>
            </a:fld>
            <a:endParaRPr lang="en-IN"/>
          </a:p>
        </p:txBody>
      </p:sp>
    </p:spTree>
    <p:extLst>
      <p:ext uri="{BB962C8B-B14F-4D97-AF65-F5344CB8AC3E}">
        <p14:creationId xmlns:p14="http://schemas.microsoft.com/office/powerpoint/2010/main" val="514801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E4BD4440-BC2D-0828-99E6-519D9849CF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6EB65280-4508-9B6E-83BF-C5DB0863B7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Segoe"/>
            </a:endParaRPr>
          </a:p>
        </p:txBody>
      </p:sp>
      <p:sp>
        <p:nvSpPr>
          <p:cNvPr id="33796" name="Slide Number Placeholder 3">
            <a:extLst>
              <a:ext uri="{FF2B5EF4-FFF2-40B4-BE49-F238E27FC236}">
                <a16:creationId xmlns:a16="http://schemas.microsoft.com/office/drawing/2014/main" id="{AC820EE0-814F-59BC-B5AE-47449D3789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r" eaLnBrk="1" hangingPunct="1"/>
            <a:fld id="{07A4E2CE-C02F-FE4C-8D14-90A3FF28E105}" type="slidenum">
              <a:rPr lang="en-US" altLang="en-US" b="0">
                <a:latin typeface="Segoe"/>
              </a:rPr>
              <a:pPr algn="r" eaLnBrk="1" hangingPunct="1"/>
              <a:t>22</a:t>
            </a:fld>
            <a:endParaRPr lang="en-US" altLang="en-US" b="0">
              <a:latin typeface="Segoe"/>
            </a:endParaRPr>
          </a:p>
        </p:txBody>
      </p:sp>
      <p:sp>
        <p:nvSpPr>
          <p:cNvPr id="33797" name="Footer Placeholder 4">
            <a:extLst>
              <a:ext uri="{FF2B5EF4-FFF2-40B4-BE49-F238E27FC236}">
                <a16:creationId xmlns:a16="http://schemas.microsoft.com/office/drawing/2014/main" id="{F0E4CA1C-C948-43D1-A92D-5B5FEF270D6A}"/>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b="0">
                <a:latin typeface="Segoe"/>
              </a:rPr>
              <a:t>© 2004 Microsoft Corporation. All rights reserved. This presentation is for informational purposes only. Microsoft makes no warranties, express or implied, in this summary.</a:t>
            </a:r>
          </a:p>
        </p:txBody>
      </p:sp>
      <p:sp>
        <p:nvSpPr>
          <p:cNvPr id="33798" name="Header Placeholder 3">
            <a:extLst>
              <a:ext uri="{FF2B5EF4-FFF2-40B4-BE49-F238E27FC236}">
                <a16:creationId xmlns:a16="http://schemas.microsoft.com/office/drawing/2014/main" id="{4DF5BF25-F7A1-5925-5AD7-F55C6088D7EB}"/>
              </a:ext>
            </a:extLst>
          </p:cNvPr>
          <p:cNvSpPr txBox="1">
            <a:spLocks/>
          </p:cNvSpPr>
          <p:nvPr/>
        </p:nvSpPr>
        <p:spPr bwMode="auto">
          <a:xfrm>
            <a:off x="0" y="34925"/>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Computational Thinking Presentation</a:t>
            </a:r>
          </a:p>
        </p:txBody>
      </p:sp>
      <p:sp>
        <p:nvSpPr>
          <p:cNvPr id="33799" name="Rectangle 3">
            <a:extLst>
              <a:ext uri="{FF2B5EF4-FFF2-40B4-BE49-F238E27FC236}">
                <a16:creationId xmlns:a16="http://schemas.microsoft.com/office/drawing/2014/main" id="{AD805C85-CB38-35BD-51BA-49FA42B8F57C}"/>
              </a:ext>
            </a:extLst>
          </p:cNvPr>
          <p:cNvSpPr txBox="1">
            <a:spLocks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NECC 2007 Atlanta</a:t>
            </a:r>
          </a:p>
        </p:txBody>
      </p:sp>
      <p:sp>
        <p:nvSpPr>
          <p:cNvPr id="33800" name="Header Placeholder 7">
            <a:extLst>
              <a:ext uri="{FF2B5EF4-FFF2-40B4-BE49-F238E27FC236}">
                <a16:creationId xmlns:a16="http://schemas.microsoft.com/office/drawing/2014/main" id="{5EA8AA5F-75AF-DDA6-A867-8745AC349C3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a:t>Computational Thinking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F2866FFC-D0B2-5D60-1749-B09534BCC6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8EDB00E2-ACE2-9619-1B60-3C5E44599C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Segoe"/>
            </a:endParaRPr>
          </a:p>
        </p:txBody>
      </p:sp>
      <p:sp>
        <p:nvSpPr>
          <p:cNvPr id="34820" name="Slide Number Placeholder 5">
            <a:extLst>
              <a:ext uri="{FF2B5EF4-FFF2-40B4-BE49-F238E27FC236}">
                <a16:creationId xmlns:a16="http://schemas.microsoft.com/office/drawing/2014/main" id="{9D468AF7-6DDA-5E02-6731-77AF9F932E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r" eaLnBrk="1" hangingPunct="1"/>
            <a:fld id="{DF72F0E3-DE00-CF49-BF97-6108F9D44427}" type="slidenum">
              <a:rPr lang="en-US" altLang="en-US" b="0">
                <a:latin typeface="Segoe"/>
              </a:rPr>
              <a:pPr algn="r" eaLnBrk="1" hangingPunct="1"/>
              <a:t>23</a:t>
            </a:fld>
            <a:endParaRPr lang="en-US" altLang="en-US" b="0">
              <a:latin typeface="Segoe"/>
            </a:endParaRPr>
          </a:p>
        </p:txBody>
      </p:sp>
      <p:sp>
        <p:nvSpPr>
          <p:cNvPr id="34821" name="Footer Placeholder 6">
            <a:extLst>
              <a:ext uri="{FF2B5EF4-FFF2-40B4-BE49-F238E27FC236}">
                <a16:creationId xmlns:a16="http://schemas.microsoft.com/office/drawing/2014/main" id="{1F0CDB5B-15A0-05D6-38A9-822586E6E41A}"/>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b="0">
                <a:latin typeface="Segoe"/>
              </a:rPr>
              <a:t>© 2004 Microsoft Corporation. All rights reserved. This presentation is for informational purposes only. Microsoft makes no warranties, express or implied, in this summary.</a:t>
            </a:r>
          </a:p>
        </p:txBody>
      </p:sp>
      <p:sp>
        <p:nvSpPr>
          <p:cNvPr id="34822" name="Header Placeholder 3">
            <a:extLst>
              <a:ext uri="{FF2B5EF4-FFF2-40B4-BE49-F238E27FC236}">
                <a16:creationId xmlns:a16="http://schemas.microsoft.com/office/drawing/2014/main" id="{5922BB1C-84DD-B833-E07A-672C4B3318A7}"/>
              </a:ext>
            </a:extLst>
          </p:cNvPr>
          <p:cNvSpPr txBox="1">
            <a:spLocks/>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Computational Thinking Presentation</a:t>
            </a:r>
          </a:p>
        </p:txBody>
      </p:sp>
      <p:sp>
        <p:nvSpPr>
          <p:cNvPr id="34823" name="Rectangle 3">
            <a:extLst>
              <a:ext uri="{FF2B5EF4-FFF2-40B4-BE49-F238E27FC236}">
                <a16:creationId xmlns:a16="http://schemas.microsoft.com/office/drawing/2014/main" id="{34F78224-4D32-EF21-B278-0D28E99643AE}"/>
              </a:ext>
            </a:extLst>
          </p:cNvPr>
          <p:cNvSpPr txBox="1">
            <a:spLocks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NECC 2007 Atlanta</a:t>
            </a:r>
          </a:p>
        </p:txBody>
      </p:sp>
      <p:sp>
        <p:nvSpPr>
          <p:cNvPr id="34824" name="Header Placeholder 9">
            <a:extLst>
              <a:ext uri="{FF2B5EF4-FFF2-40B4-BE49-F238E27FC236}">
                <a16:creationId xmlns:a16="http://schemas.microsoft.com/office/drawing/2014/main" id="{339D9AA6-02EC-9B83-64D5-736F1A9B8DF2}"/>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a:t>Computational Thinking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7DB7BBF4-D20F-E65E-3A02-754220CC2B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4F0534BF-69DB-7E09-F0AF-D25994C58B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Segoe"/>
            </a:endParaRPr>
          </a:p>
        </p:txBody>
      </p:sp>
      <p:sp>
        <p:nvSpPr>
          <p:cNvPr id="36868" name="Slide Number Placeholder 3">
            <a:extLst>
              <a:ext uri="{FF2B5EF4-FFF2-40B4-BE49-F238E27FC236}">
                <a16:creationId xmlns:a16="http://schemas.microsoft.com/office/drawing/2014/main" id="{59135D6D-97CB-20F3-2ACE-E390E2B75C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r" eaLnBrk="1" hangingPunct="1"/>
            <a:fld id="{3A4BC009-6DD5-F14E-AA64-F41E79ACAD58}" type="slidenum">
              <a:rPr lang="en-US" altLang="en-US" b="0">
                <a:latin typeface="Segoe"/>
              </a:rPr>
              <a:pPr algn="r" eaLnBrk="1" hangingPunct="1"/>
              <a:t>24</a:t>
            </a:fld>
            <a:endParaRPr lang="en-US" altLang="en-US" b="0">
              <a:latin typeface="Segoe"/>
            </a:endParaRPr>
          </a:p>
        </p:txBody>
      </p:sp>
      <p:sp>
        <p:nvSpPr>
          <p:cNvPr id="36869" name="Footer Placeholder 4">
            <a:extLst>
              <a:ext uri="{FF2B5EF4-FFF2-40B4-BE49-F238E27FC236}">
                <a16:creationId xmlns:a16="http://schemas.microsoft.com/office/drawing/2014/main" id="{F0773072-9DAF-CDBE-CB7D-022307BBE15E}"/>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b="0">
                <a:latin typeface="Segoe"/>
              </a:rPr>
              <a:t>© 2004 Microsoft Corporation. All rights reserved. This presentation is for informational purposes only. Microsoft makes no warranties, express or implied, in this summary.</a:t>
            </a:r>
          </a:p>
        </p:txBody>
      </p:sp>
      <p:sp>
        <p:nvSpPr>
          <p:cNvPr id="36870" name="Header Placeholder 3">
            <a:extLst>
              <a:ext uri="{FF2B5EF4-FFF2-40B4-BE49-F238E27FC236}">
                <a16:creationId xmlns:a16="http://schemas.microsoft.com/office/drawing/2014/main" id="{2040410A-0297-DFC4-EE6A-CFB810897B7B}"/>
              </a:ext>
            </a:extLst>
          </p:cNvPr>
          <p:cNvSpPr txBox="1">
            <a:spLocks/>
          </p:cNvSpPr>
          <p:nvPr/>
        </p:nvSpPr>
        <p:spPr bwMode="auto">
          <a:xfrm>
            <a:off x="0" y="1746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Computational Thinking Presentation</a:t>
            </a:r>
          </a:p>
        </p:txBody>
      </p:sp>
      <p:sp>
        <p:nvSpPr>
          <p:cNvPr id="36871" name="Rectangle 3">
            <a:extLst>
              <a:ext uri="{FF2B5EF4-FFF2-40B4-BE49-F238E27FC236}">
                <a16:creationId xmlns:a16="http://schemas.microsoft.com/office/drawing/2014/main" id="{D9333D56-446C-4DFD-F200-C4A2F5E3AC72}"/>
              </a:ext>
            </a:extLst>
          </p:cNvPr>
          <p:cNvSpPr txBox="1">
            <a:spLocks noChangeArrowheads="1"/>
          </p:cNvSpPr>
          <p:nvPr/>
        </p:nvSpPr>
        <p:spPr bwMode="auto">
          <a:xfrm>
            <a:off x="3884613" y="-17463"/>
            <a:ext cx="2971800"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NECC 2007 Atlanta</a:t>
            </a:r>
          </a:p>
        </p:txBody>
      </p:sp>
      <p:sp>
        <p:nvSpPr>
          <p:cNvPr id="36872" name="Header Placeholder 7">
            <a:extLst>
              <a:ext uri="{FF2B5EF4-FFF2-40B4-BE49-F238E27FC236}">
                <a16:creationId xmlns:a16="http://schemas.microsoft.com/office/drawing/2014/main" id="{EEF49477-248A-CA74-2A71-FDAFD5039F08}"/>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a:t>Computational Thinking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4A000AF-E866-2876-7218-3CB5C61380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FD52235F-F0EB-CDE9-3585-97CB5E5E736E}"/>
              </a:ext>
            </a:extLst>
          </p:cNvPr>
          <p:cNvSpPr>
            <a:spLocks noGrp="1"/>
          </p:cNvSpPr>
          <p:nvPr>
            <p:ph type="body" idx="1"/>
          </p:nvPr>
        </p:nvSpPr>
        <p:spPr/>
        <p:txBody>
          <a:bodyPr>
            <a:normAutofit fontScale="92500" lnSpcReduction="20000"/>
          </a:bodyPr>
          <a:lstStyle/>
          <a:p>
            <a:pPr eaLnBrk="1" hangingPunct="1">
              <a:defRPr/>
            </a:pPr>
            <a:r>
              <a:rPr lang="en-US" dirty="0"/>
              <a:t>Computational scientists create mathematical models and simulations of physical, biological and chemical phenomena and systems, which allow them to better understand these subjects and predict their behavior.  Such research has made computational science a third pillar of science, along with theory and experimentation.</a:t>
            </a:r>
          </a:p>
          <a:p>
            <a:pPr eaLnBrk="1" hangingPunct="1">
              <a:defRPr/>
            </a:pPr>
            <a:endParaRPr lang="en-US" dirty="0"/>
          </a:p>
          <a:p>
            <a:pPr eaLnBrk="1" hangingPunct="1">
              <a:defRPr/>
            </a:pPr>
            <a:r>
              <a:rPr lang="en-US" dirty="0"/>
              <a:t>The high-performance computers that make computational science most effective are a new class of complex scientific instruments.  To use them well, three disparate elements must be brought together:</a:t>
            </a:r>
          </a:p>
          <a:p>
            <a:pPr eaLnBrk="1" hangingPunct="1">
              <a:defRPr/>
            </a:pPr>
            <a:r>
              <a:rPr lang="en-US" b="1" dirty="0"/>
              <a:t>Hardware</a:t>
            </a:r>
            <a:r>
              <a:rPr lang="en-US" dirty="0"/>
              <a:t> </a:t>
            </a:r>
            <a:r>
              <a:rPr lang="en-US" b="1" dirty="0"/>
              <a:t>–</a:t>
            </a:r>
            <a:r>
              <a:rPr lang="en-US" dirty="0"/>
              <a:t> The electronics and systems that typically are the focus of computer engineering and computer science. </a:t>
            </a:r>
          </a:p>
          <a:p>
            <a:pPr eaLnBrk="1" hangingPunct="1">
              <a:defRPr/>
            </a:pPr>
            <a:r>
              <a:rPr lang="en-US" b="1" dirty="0"/>
              <a:t>Software</a:t>
            </a:r>
            <a:r>
              <a:rPr lang="en-US" dirty="0"/>
              <a:t> </a:t>
            </a:r>
            <a:r>
              <a:rPr lang="en-US" b="1" dirty="0"/>
              <a:t>–</a:t>
            </a:r>
            <a:r>
              <a:rPr lang="en-US" dirty="0"/>
              <a:t> The algorithms – mathematical recipes – applied mathematicians develop algorithms that let computers solve problems. </a:t>
            </a:r>
          </a:p>
          <a:p>
            <a:pPr eaLnBrk="1" hangingPunct="1">
              <a:defRPr/>
            </a:pPr>
            <a:r>
              <a:rPr lang="en-US" b="1" dirty="0"/>
              <a:t>The sciences,</a:t>
            </a:r>
            <a:r>
              <a:rPr lang="en-US" dirty="0"/>
              <a:t> driven by researchers who ask the questions and investigate the problems these powerful instruments probe. </a:t>
            </a:r>
          </a:p>
          <a:p>
            <a:pPr eaLnBrk="1" hangingPunct="1">
              <a:defRPr/>
            </a:pPr>
            <a:endParaRPr lang="en-US" dirty="0"/>
          </a:p>
          <a:p>
            <a:pPr eaLnBrk="1" hangingPunct="1">
              <a:defRPr/>
            </a:pPr>
            <a:r>
              <a:rPr lang="en-US" dirty="0"/>
              <a:t>Computational science is the intellectual framework that unites these elements.  That’s why most computational science research involves groups of investigators drawn from these areas. </a:t>
            </a:r>
          </a:p>
          <a:p>
            <a:pPr eaLnBrk="1" hangingPunct="1">
              <a:defRPr/>
            </a:pPr>
            <a:endParaRPr lang="en-US" dirty="0"/>
          </a:p>
          <a:p>
            <a:pPr eaLnBrk="1" hangingPunct="1">
              <a:defRPr/>
            </a:pPr>
            <a:r>
              <a:rPr lang="en-US" dirty="0"/>
              <a:t>Computational biology – 37,800,000 hits</a:t>
            </a:r>
          </a:p>
          <a:p>
            <a:pPr eaLnBrk="1" hangingPunct="1">
              <a:defRPr/>
            </a:pPr>
            <a:r>
              <a:rPr lang="en-US" dirty="0"/>
              <a:t>Physics – 57,000,000</a:t>
            </a:r>
          </a:p>
          <a:p>
            <a:pPr eaLnBrk="1" hangingPunct="1">
              <a:defRPr/>
            </a:pPr>
            <a:endParaRPr lang="en-US" dirty="0"/>
          </a:p>
          <a:p>
            <a:pPr eaLnBrk="1" hangingPunct="1">
              <a:defRPr/>
            </a:pPr>
            <a:r>
              <a:rPr lang="en-US" dirty="0"/>
              <a:t>Bioinformatics and computational biology researchers discover and implement algorithms that facilitate the understanding of biological processes through the application of statistical and machine learning techniques in order to better understand cellular processes, --- medicine, human genome, </a:t>
            </a:r>
          </a:p>
          <a:p>
            <a:pPr eaLnBrk="1" hangingPunct="1">
              <a:defRPr/>
            </a:pPr>
            <a:endParaRPr lang="en-US" dirty="0"/>
          </a:p>
        </p:txBody>
      </p:sp>
      <p:sp>
        <p:nvSpPr>
          <p:cNvPr id="37892" name="Slide Number Placeholder 5">
            <a:extLst>
              <a:ext uri="{FF2B5EF4-FFF2-40B4-BE49-F238E27FC236}">
                <a16:creationId xmlns:a16="http://schemas.microsoft.com/office/drawing/2014/main" id="{4890A90A-5A35-F1B3-1B8A-091D56D31F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r" eaLnBrk="1" hangingPunct="1"/>
            <a:fld id="{C0D743C3-30A9-F047-BE5B-4D99B54EEC48}" type="slidenum">
              <a:rPr lang="en-US" altLang="en-US" b="0">
                <a:latin typeface="Segoe"/>
              </a:rPr>
              <a:pPr algn="r" eaLnBrk="1" hangingPunct="1"/>
              <a:t>25</a:t>
            </a:fld>
            <a:endParaRPr lang="en-US" altLang="en-US" b="0">
              <a:latin typeface="Segoe"/>
            </a:endParaRPr>
          </a:p>
        </p:txBody>
      </p:sp>
      <p:sp>
        <p:nvSpPr>
          <p:cNvPr id="37893" name="Footer Placeholder 6">
            <a:extLst>
              <a:ext uri="{FF2B5EF4-FFF2-40B4-BE49-F238E27FC236}">
                <a16:creationId xmlns:a16="http://schemas.microsoft.com/office/drawing/2014/main" id="{3E3DE122-4547-8EF6-D668-49F572B343F2}"/>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b="0">
                <a:latin typeface="Segoe"/>
              </a:rPr>
              <a:t>© 2004 Microsoft Corporation. All rights reserved. This presentation is for informational purposes only. Microsoft makes no warranties, express or implied, in this summary.</a:t>
            </a:r>
          </a:p>
        </p:txBody>
      </p:sp>
      <p:sp>
        <p:nvSpPr>
          <p:cNvPr id="37894" name="Header Placeholder 3">
            <a:extLst>
              <a:ext uri="{FF2B5EF4-FFF2-40B4-BE49-F238E27FC236}">
                <a16:creationId xmlns:a16="http://schemas.microsoft.com/office/drawing/2014/main" id="{B4017EA1-4B35-A708-1792-F81F1A9956D9}"/>
              </a:ext>
            </a:extLst>
          </p:cNvPr>
          <p:cNvSpPr txBox="1">
            <a:spLocks/>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Computational Thinking Presentation</a:t>
            </a:r>
          </a:p>
        </p:txBody>
      </p:sp>
      <p:sp>
        <p:nvSpPr>
          <p:cNvPr id="37895" name="Rectangle 3">
            <a:extLst>
              <a:ext uri="{FF2B5EF4-FFF2-40B4-BE49-F238E27FC236}">
                <a16:creationId xmlns:a16="http://schemas.microsoft.com/office/drawing/2014/main" id="{2C5F6145-35F8-C275-7E54-E93C309864C9}"/>
              </a:ext>
            </a:extLst>
          </p:cNvPr>
          <p:cNvSpPr txBox="1">
            <a:spLocks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NECC 2007 Atlanta</a:t>
            </a:r>
          </a:p>
        </p:txBody>
      </p:sp>
      <p:sp>
        <p:nvSpPr>
          <p:cNvPr id="37896" name="Header Placeholder 9">
            <a:extLst>
              <a:ext uri="{FF2B5EF4-FFF2-40B4-BE49-F238E27FC236}">
                <a16:creationId xmlns:a16="http://schemas.microsoft.com/office/drawing/2014/main" id="{19F5042E-C60D-9014-1E44-0DD6A7F52C72}"/>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a:t>Computational Thinking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FA0AC4F9-6316-D6F2-61D4-8C3D14D148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7C8CA20-0BEA-E33C-BA85-FF25D25185A7}"/>
              </a:ext>
            </a:extLst>
          </p:cNvPr>
          <p:cNvSpPr>
            <a:spLocks noGrp="1"/>
          </p:cNvSpPr>
          <p:nvPr>
            <p:ph type="body" idx="1"/>
          </p:nvPr>
        </p:nvSpPr>
        <p:spPr/>
        <p:txBody>
          <a:bodyPr>
            <a:normAutofit fontScale="70000" lnSpcReduction="20000"/>
          </a:bodyPr>
          <a:lstStyle/>
          <a:p>
            <a:pPr eaLnBrk="1" hangingPunct="1">
              <a:defRPr/>
            </a:pPr>
            <a:r>
              <a:rPr lang="en-US" dirty="0"/>
              <a:t>Some of the research computational science has enabled includes:</a:t>
            </a:r>
          </a:p>
          <a:p>
            <a:pPr marL="228600" indent="-228600" eaLnBrk="1" hangingPunct="1">
              <a:buFont typeface="+mj-lt"/>
              <a:buAutoNum type="arabicPeriod"/>
              <a:defRPr/>
            </a:pPr>
            <a:r>
              <a:rPr lang="en-US" dirty="0"/>
              <a:t>Physicists unlock secrets of the universe – the big bang – scientists are using powerful computers to simulate accelerator cavity or cell shapes.  Simulation lets them test different configurations without the time and expense of actually building them.</a:t>
            </a:r>
          </a:p>
          <a:p>
            <a:pPr marL="228600" indent="-228600" eaLnBrk="1" hangingPunct="1">
              <a:buFont typeface="+mj-lt"/>
              <a:buAutoNum type="arabicPeriod"/>
              <a:defRPr/>
            </a:pPr>
            <a:r>
              <a:rPr lang="en-US" dirty="0"/>
              <a:t>Simulating the initial phase of a supernova – the thermonuclear explosion of a star. </a:t>
            </a:r>
          </a:p>
          <a:p>
            <a:pPr marL="228600" indent="-228600" eaLnBrk="1" hangingPunct="1">
              <a:buFont typeface="+mj-lt"/>
              <a:buAutoNum type="arabicPeriod"/>
              <a:defRPr/>
            </a:pPr>
            <a:r>
              <a:rPr lang="en-US" dirty="0"/>
              <a:t>Computational Biologist – </a:t>
            </a:r>
            <a:r>
              <a:rPr lang="en-US" dirty="0" err="1"/>
              <a:t>bioinformaticists</a:t>
            </a:r>
            <a:r>
              <a:rPr lang="en-US" dirty="0"/>
              <a:t> - identify enzyme variations and to gain insight into the adaptation of organisms to particular environments. Finding drugs to target specific needs.</a:t>
            </a:r>
          </a:p>
          <a:p>
            <a:pPr marL="228600" indent="-228600" eaLnBrk="1" hangingPunct="1">
              <a:buFont typeface="+mj-lt"/>
              <a:buAutoNum type="arabicPeriod"/>
              <a:defRPr/>
            </a:pPr>
            <a:r>
              <a:rPr lang="en-US" dirty="0"/>
              <a:t>Modeling the functions of molecular motors – sub-microscopic protein machines that perform essential tasks in living cells. </a:t>
            </a:r>
          </a:p>
          <a:p>
            <a:pPr marL="228600" indent="-228600" eaLnBrk="1" hangingPunct="1">
              <a:buFont typeface="+mj-lt"/>
              <a:buAutoNum type="arabicPeriod"/>
              <a:defRPr/>
            </a:pPr>
            <a:r>
              <a:rPr lang="en-US" dirty="0"/>
              <a:t>Simulating the function of a microbe that produces hydrogen from light energy. </a:t>
            </a:r>
          </a:p>
          <a:p>
            <a:pPr marL="228600" indent="-228600" eaLnBrk="1" hangingPunct="1">
              <a:buFont typeface="+mj-lt"/>
              <a:buAutoNum type="arabicPeriod"/>
              <a:defRPr/>
            </a:pPr>
            <a:r>
              <a:rPr lang="en-US" dirty="0"/>
              <a:t>Creating models to predict the flow of contaminants in groundwater. </a:t>
            </a:r>
          </a:p>
          <a:p>
            <a:pPr marL="228600" indent="-228600" eaLnBrk="1" hangingPunct="1">
              <a:buFont typeface="+mj-lt"/>
              <a:buAutoNum type="arabicPeriod"/>
              <a:defRPr/>
            </a:pPr>
            <a:endParaRPr lang="en-US" dirty="0"/>
          </a:p>
          <a:p>
            <a:pPr marL="228600" indent="-228600" eaLnBrk="1" hangingPunct="1">
              <a:buFont typeface="+mj-lt"/>
              <a:buAutoNum type="arabicPeriod"/>
              <a:defRPr/>
            </a:pPr>
            <a:r>
              <a:rPr lang="en-US" dirty="0"/>
              <a:t>University of Wisconsin-Madison, is funded by a 3-year, $3.67 million grant from the Department of Energy's Office of Science as part of the Genomics: GTL program.  Lead by Prof. Julie Mitchell BACTER will bring a new paradigm of computational biology research and education to bear on the DOE goals of bioremediation and energy production.</a:t>
            </a:r>
          </a:p>
          <a:p>
            <a:pPr marL="228600" indent="-228600" eaLnBrk="1" hangingPunct="1">
              <a:buFont typeface="+mj-lt"/>
              <a:buAutoNum type="arabicPeriod"/>
              <a:defRPr/>
            </a:pPr>
            <a:endParaRPr lang="en-US" dirty="0"/>
          </a:p>
          <a:p>
            <a:pPr marL="228600" indent="-228600" eaLnBrk="1" hangingPunct="1">
              <a:buFont typeface="+mj-lt"/>
              <a:buAutoNum type="arabicPeriod"/>
              <a:defRPr/>
            </a:pPr>
            <a:r>
              <a:rPr lang="en-US" dirty="0"/>
              <a:t>Institute in </a:t>
            </a:r>
            <a:r>
              <a:rPr lang="en-US" dirty="0" err="1"/>
              <a:t>Multiscale</a:t>
            </a:r>
            <a:r>
              <a:rPr lang="en-US" dirty="0"/>
              <a:t> Modeling of Biological Interactions (IMMBI) at Johns Hopkins draws on a variety of disciplines in science and engineering to foster studies of biological interactions and to train the next generation of computational biologist</a:t>
            </a:r>
          </a:p>
          <a:p>
            <a:pPr marL="228600" indent="-228600" eaLnBrk="1" hangingPunct="1">
              <a:buFont typeface="+mj-lt"/>
              <a:buAutoNum type="arabicPeriod"/>
              <a:defRPr/>
            </a:pPr>
            <a:endParaRPr lang="en-US" dirty="0"/>
          </a:p>
          <a:p>
            <a:pPr marL="228600" indent="-228600" eaLnBrk="1" hangingPunct="1">
              <a:buFont typeface="+mj-lt"/>
              <a:buAutoNum type="arabicPeriod"/>
              <a:defRPr/>
            </a:pPr>
            <a:r>
              <a:rPr lang="en-US" dirty="0"/>
              <a:t>Computational Chemists -- It calculated reactions at each of up to half a billion points in the simulated flame at 120,000 time increments.  It tracked 11 different kinds of molecules and 21 different reactions.  The simulation generated about 30 terabytes of data – enough to fill the 100-gigabyte hard drives on 300 desktop computers.</a:t>
            </a:r>
          </a:p>
          <a:p>
            <a:pPr marL="228600" indent="-228600" eaLnBrk="1" hangingPunct="1">
              <a:buFont typeface="+mj-lt"/>
              <a:buAutoNum type="arabicPeriod"/>
              <a:defRPr/>
            </a:pPr>
            <a:r>
              <a:rPr lang="en-US" dirty="0"/>
              <a:t>Computational CS - Cyber forensics</a:t>
            </a:r>
          </a:p>
          <a:p>
            <a:pPr marL="228600" indent="-228600" eaLnBrk="1" hangingPunct="1">
              <a:buFont typeface="+mj-lt"/>
              <a:buAutoNum type="arabicPeriod"/>
              <a:defRPr/>
            </a:pPr>
            <a:r>
              <a:rPr lang="en-US" dirty="0"/>
              <a:t>Computational Lawyers - computational models of reasoning - Stanford </a:t>
            </a:r>
          </a:p>
          <a:p>
            <a:pPr marL="228600" indent="-228600" eaLnBrk="1" hangingPunct="1">
              <a:buFont typeface="+mj-lt"/>
              <a:buAutoNum type="arabicPeriod"/>
              <a:defRPr/>
            </a:pPr>
            <a:r>
              <a:rPr lang="en-US" dirty="0"/>
              <a:t>modeling economies -Provides information and resources pertaining to the </a:t>
            </a:r>
            <a:r>
              <a:rPr lang="en-US" b="1" dirty="0"/>
              <a:t>computational</a:t>
            </a:r>
            <a:r>
              <a:rPr lang="en-US" dirty="0"/>
              <a:t> study of economies modeled as evolving systems of autonomous interacting agents…game theory</a:t>
            </a:r>
          </a:p>
          <a:p>
            <a:pPr marL="228600" indent="-228600" eaLnBrk="1" hangingPunct="1">
              <a:buFont typeface="+mj-lt"/>
              <a:buAutoNum type="arabicPeriod"/>
              <a:defRPr/>
            </a:pPr>
            <a:r>
              <a:rPr lang="en-US" dirty="0"/>
              <a:t>predicting the weather and the stock market.</a:t>
            </a:r>
          </a:p>
          <a:p>
            <a:pPr marL="228600" indent="-228600" eaLnBrk="1" hangingPunct="1">
              <a:buFont typeface="+mj-lt"/>
              <a:buAutoNum type="arabicPeriod"/>
              <a:defRPr/>
            </a:pPr>
            <a:r>
              <a:rPr lang="en-US" dirty="0"/>
              <a:t>Computational thinking is valuable in many areas, from biology to aeronautics. But it is sometimes claimed to be especially valuable in thinking about the human mind.</a:t>
            </a:r>
            <a:br>
              <a:rPr lang="en-US" dirty="0"/>
            </a:br>
            <a:endParaRPr lang="en-US" dirty="0"/>
          </a:p>
        </p:txBody>
      </p:sp>
      <p:sp>
        <p:nvSpPr>
          <p:cNvPr id="38916" name="Slide Number Placeholder 5">
            <a:extLst>
              <a:ext uri="{FF2B5EF4-FFF2-40B4-BE49-F238E27FC236}">
                <a16:creationId xmlns:a16="http://schemas.microsoft.com/office/drawing/2014/main" id="{A2174281-F756-3044-8E4F-4649C9DA5C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r" eaLnBrk="1" hangingPunct="1"/>
            <a:fld id="{D8623F72-25BB-9844-B2C4-04FE6359AE67}" type="slidenum">
              <a:rPr lang="en-US" altLang="en-US" b="0">
                <a:latin typeface="Segoe"/>
              </a:rPr>
              <a:pPr algn="r" eaLnBrk="1" hangingPunct="1"/>
              <a:t>26</a:t>
            </a:fld>
            <a:endParaRPr lang="en-US" altLang="en-US" b="0">
              <a:latin typeface="Segoe"/>
            </a:endParaRPr>
          </a:p>
        </p:txBody>
      </p:sp>
      <p:sp>
        <p:nvSpPr>
          <p:cNvPr id="38917" name="Footer Placeholder 6">
            <a:extLst>
              <a:ext uri="{FF2B5EF4-FFF2-40B4-BE49-F238E27FC236}">
                <a16:creationId xmlns:a16="http://schemas.microsoft.com/office/drawing/2014/main" id="{74E8A974-77C5-D26D-6236-4C461F0AC4E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b="0">
                <a:latin typeface="Segoe"/>
              </a:rPr>
              <a:t>© 2004 Microsoft Corporation. All rights reserved. This presentation is for informational purposes only. Microsoft makes no warranties, express or implied, in this summary.</a:t>
            </a:r>
          </a:p>
        </p:txBody>
      </p:sp>
      <p:sp>
        <p:nvSpPr>
          <p:cNvPr id="38918" name="Header Placeholder 3">
            <a:extLst>
              <a:ext uri="{FF2B5EF4-FFF2-40B4-BE49-F238E27FC236}">
                <a16:creationId xmlns:a16="http://schemas.microsoft.com/office/drawing/2014/main" id="{66D26570-D4D9-594F-ED92-DEAD5049AE58}"/>
              </a:ext>
            </a:extLst>
          </p:cNvPr>
          <p:cNvSpPr txBox="1">
            <a:spLocks/>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Computational Thinking Presentation</a:t>
            </a:r>
          </a:p>
        </p:txBody>
      </p:sp>
      <p:sp>
        <p:nvSpPr>
          <p:cNvPr id="38919" name="Rectangle 3">
            <a:extLst>
              <a:ext uri="{FF2B5EF4-FFF2-40B4-BE49-F238E27FC236}">
                <a16:creationId xmlns:a16="http://schemas.microsoft.com/office/drawing/2014/main" id="{97161422-5694-DE37-9CA4-6ED623EE505F}"/>
              </a:ext>
            </a:extLst>
          </p:cNvPr>
          <p:cNvSpPr txBox="1">
            <a:spLocks noChangeArrowheads="1"/>
          </p:cNvSpPr>
          <p:nvPr/>
        </p:nvSpPr>
        <p:spPr bwMode="auto">
          <a:xfrm>
            <a:off x="3884613" y="-17463"/>
            <a:ext cx="2971800"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NECC 2007 Atlanta</a:t>
            </a:r>
          </a:p>
        </p:txBody>
      </p:sp>
      <p:sp>
        <p:nvSpPr>
          <p:cNvPr id="38920" name="Header Placeholder 9">
            <a:extLst>
              <a:ext uri="{FF2B5EF4-FFF2-40B4-BE49-F238E27FC236}">
                <a16:creationId xmlns:a16="http://schemas.microsoft.com/office/drawing/2014/main" id="{536057DB-8921-D7AD-059D-5021F041F1D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a:t>Computational Thinking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4F0138C-886B-3DAC-AD17-C936D856C9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3EB46F14-9600-01C5-7C0A-988D3EED5E00}"/>
              </a:ext>
            </a:extLst>
          </p:cNvPr>
          <p:cNvSpPr>
            <a:spLocks noGrp="1"/>
          </p:cNvSpPr>
          <p:nvPr>
            <p:ph type="body" idx="1"/>
          </p:nvPr>
        </p:nvSpPr>
        <p:spPr/>
        <p:txBody>
          <a:bodyPr>
            <a:normAutofit fontScale="77500" lnSpcReduction="20000"/>
          </a:bodyPr>
          <a:lstStyle/>
          <a:p>
            <a:pPr eaLnBrk="1" hangingPunct="1">
              <a:defRPr/>
            </a:pPr>
            <a:r>
              <a:rPr lang="en-US" dirty="0"/>
              <a:t>Let’s take each of these computational terms, many of them derived from computer science, and think about how they fit into your classroom scenario. First a brief definition of each, and an example of how it applies. As we work through the list please think of a situation in your curriculum or classroom environment in which you’ve use the term or could to get students to grow in a computational thinking style. Then I’m going to ask you to ask the person next to you what they do or could do. </a:t>
            </a:r>
          </a:p>
          <a:p>
            <a:pPr eaLnBrk="1" hangingPunct="1">
              <a:defRPr/>
            </a:pPr>
            <a:r>
              <a:rPr lang="en-US" b="1" dirty="0"/>
              <a:t>Algorithm</a:t>
            </a:r>
            <a:r>
              <a:rPr lang="en-US" dirty="0"/>
              <a:t>—set of rules to solve problems..not just a simple recipe. There are vignettes for slightly more complex problems, novels and series of novels for the most complex problems. An important question is to ask “Is this solvable?” and “How exact must the result be to be good enough?”</a:t>
            </a:r>
          </a:p>
          <a:p>
            <a:pPr eaLnBrk="1" hangingPunct="1">
              <a:defRPr/>
            </a:pPr>
            <a:r>
              <a:rPr lang="en-US" dirty="0"/>
              <a:t>In a science class you might use this term in organizing some experiment. “let’s create an algorithm for setting up our chlorophyll experiment.” “The class party is coming up. Let’s create an algorithm for getting all of the work completed.”</a:t>
            </a:r>
          </a:p>
          <a:p>
            <a:pPr eaLnBrk="1" hangingPunct="1">
              <a:defRPr/>
            </a:pPr>
            <a:r>
              <a:rPr lang="en-US" b="1" dirty="0"/>
              <a:t>Data</a:t>
            </a:r>
            <a:r>
              <a:rPr lang="en-US" dirty="0"/>
              <a:t>—the information used to solve problems, how it’s organized and how it’s accessed. In social studies “Let’s gather all of the population data we have on the European countries and compile it into a data base. What words should we use to label the fields?” Lining up for lunch becomes a queue. The details for making a decision about planning a class trip become variables …some constants. </a:t>
            </a:r>
          </a:p>
          <a:p>
            <a:pPr eaLnBrk="1" hangingPunct="1">
              <a:defRPr/>
            </a:pPr>
            <a:r>
              <a:rPr lang="en-US" b="1" dirty="0"/>
              <a:t>Abstraction</a:t>
            </a:r>
            <a:r>
              <a:rPr lang="en-US" dirty="0"/>
              <a:t> –(1) pull out the important details and (2) see or generalize the relationship of details to other situations. Math story problems lend themselves to this…abstract the important details. In history class you might lead students through abstract thinking by generalizing the qualities of good leaders. Or in ??</a:t>
            </a:r>
          </a:p>
          <a:p>
            <a:pPr eaLnBrk="1" hangingPunct="1">
              <a:defRPr/>
            </a:pPr>
            <a:r>
              <a:rPr lang="en-US" b="1" dirty="0"/>
              <a:t>Query</a:t>
            </a:r>
            <a:r>
              <a:rPr lang="en-US" dirty="0"/>
              <a:t>—efficient searching for information …drop the word “search” with online searching…learn to use more advanced searches that use conditionals of &lt;/&gt;, apply what they have learned in math about Boolean logic with and/or/not logic. Use simple data bases to explore these in any subject.</a:t>
            </a:r>
          </a:p>
          <a:p>
            <a:pPr eaLnBrk="1" hangingPunct="1">
              <a:defRPr/>
            </a:pPr>
            <a:r>
              <a:rPr lang="en-US" b="1" dirty="0"/>
              <a:t>Sensing</a:t>
            </a:r>
            <a:r>
              <a:rPr lang="en-US" dirty="0"/>
              <a:t>—Discussion of handicapped - how do blind people navigate? How is that similar to robotic programming.</a:t>
            </a:r>
          </a:p>
          <a:p>
            <a:pPr eaLnBrk="1" hangingPunct="1">
              <a:defRPr/>
            </a:pPr>
            <a:r>
              <a:rPr lang="en-US" b="1" dirty="0"/>
              <a:t>Iterations</a:t>
            </a:r>
            <a:r>
              <a:rPr lang="en-US" dirty="0"/>
              <a:t>—repeat cycles. In math, iterations occur in long division, In science in the steps of experiments. Questions about “how we know when we are finished” are also part of this.</a:t>
            </a:r>
          </a:p>
          <a:p>
            <a:pPr eaLnBrk="1" hangingPunct="1">
              <a:defRPr/>
            </a:pPr>
            <a:r>
              <a:rPr lang="en-US" b="1" dirty="0"/>
              <a:t>Systems</a:t>
            </a:r>
            <a:r>
              <a:rPr lang="en-US" dirty="0"/>
              <a:t>—large complex group(s) processes – Every lesson needs to be set into the framework of how it is affected by other entities and effects others…Questions about how groups self-organize with decentralized control, migrating birds, kids on the playground, social groups…up to economies and biological systems.</a:t>
            </a:r>
          </a:p>
          <a:p>
            <a:pPr eaLnBrk="1" hangingPunct="1">
              <a:defRPr/>
            </a:pPr>
            <a:endParaRPr lang="en-US" dirty="0"/>
          </a:p>
          <a:p>
            <a:pPr eaLnBrk="1" hangingPunct="1">
              <a:defRPr/>
            </a:pPr>
            <a:r>
              <a:rPr lang="en-US" dirty="0"/>
              <a:t>Now I hope everyone has thought of a way to expand or redirect what they do with students to include some computational thinking concepts.</a:t>
            </a:r>
          </a:p>
          <a:p>
            <a:pPr eaLnBrk="1" hangingPunct="1">
              <a:defRPr/>
            </a:pPr>
            <a:endParaRPr lang="en-US" dirty="0"/>
          </a:p>
        </p:txBody>
      </p:sp>
      <p:sp>
        <p:nvSpPr>
          <p:cNvPr id="40964" name="Slide Number Placeholder 5">
            <a:extLst>
              <a:ext uri="{FF2B5EF4-FFF2-40B4-BE49-F238E27FC236}">
                <a16:creationId xmlns:a16="http://schemas.microsoft.com/office/drawing/2014/main" id="{9ADC8B09-8840-A760-3379-2DD912CCFA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r" eaLnBrk="1" hangingPunct="1"/>
            <a:fld id="{16929C73-108E-9641-AE82-5A6DBE2BE141}" type="slidenum">
              <a:rPr lang="en-US" altLang="en-US" b="0">
                <a:latin typeface="Segoe"/>
              </a:rPr>
              <a:pPr algn="r" eaLnBrk="1" hangingPunct="1"/>
              <a:t>27</a:t>
            </a:fld>
            <a:endParaRPr lang="en-US" altLang="en-US" b="0">
              <a:latin typeface="Segoe"/>
            </a:endParaRPr>
          </a:p>
        </p:txBody>
      </p:sp>
      <p:sp>
        <p:nvSpPr>
          <p:cNvPr id="40965" name="Footer Placeholder 6">
            <a:extLst>
              <a:ext uri="{FF2B5EF4-FFF2-40B4-BE49-F238E27FC236}">
                <a16:creationId xmlns:a16="http://schemas.microsoft.com/office/drawing/2014/main" id="{D9AACA3D-8B55-6954-5B8C-F3539D102BFA}"/>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b="0">
                <a:latin typeface="Segoe"/>
              </a:rPr>
              <a:t>© 2004 Microsoft Corporation. All rights reserved. This presentation is for informational purposes only. Microsoft makes no warranties, express or implied, in this summary.</a:t>
            </a:r>
          </a:p>
        </p:txBody>
      </p:sp>
      <p:sp>
        <p:nvSpPr>
          <p:cNvPr id="40966" name="Header Placeholder 3">
            <a:extLst>
              <a:ext uri="{FF2B5EF4-FFF2-40B4-BE49-F238E27FC236}">
                <a16:creationId xmlns:a16="http://schemas.microsoft.com/office/drawing/2014/main" id="{8991207D-F910-FAED-C06D-A0A8F22AB12B}"/>
              </a:ext>
            </a:extLst>
          </p:cNvPr>
          <p:cNvSpPr txBox="1">
            <a:spLocks/>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Computational Thinking Presentation</a:t>
            </a:r>
          </a:p>
        </p:txBody>
      </p:sp>
      <p:sp>
        <p:nvSpPr>
          <p:cNvPr id="40967" name="Rectangle 3">
            <a:extLst>
              <a:ext uri="{FF2B5EF4-FFF2-40B4-BE49-F238E27FC236}">
                <a16:creationId xmlns:a16="http://schemas.microsoft.com/office/drawing/2014/main" id="{35120B2C-CE9A-CF3B-FE8F-0C7C2B7A35A0}"/>
              </a:ext>
            </a:extLst>
          </p:cNvPr>
          <p:cNvSpPr txBox="1">
            <a:spLocks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eaLnBrk="1" hangingPunct="1"/>
            <a:r>
              <a:rPr lang="en-US" altLang="en-US"/>
              <a:t>NECC 2007 Atlanta</a:t>
            </a:r>
          </a:p>
        </p:txBody>
      </p:sp>
      <p:sp>
        <p:nvSpPr>
          <p:cNvPr id="40968" name="Header Placeholder 9">
            <a:extLst>
              <a:ext uri="{FF2B5EF4-FFF2-40B4-BE49-F238E27FC236}">
                <a16:creationId xmlns:a16="http://schemas.microsoft.com/office/drawing/2014/main" id="{CF962703-3853-B9A4-DFA6-6598A8F18BC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lgn="ctr" eaLnBrk="0" hangingPunct="0">
              <a:defRPr b="1">
                <a:solidFill>
                  <a:schemeClr val="tx1"/>
                </a:solidFill>
                <a:latin typeface="Segoe Semibold"/>
              </a:defRPr>
            </a:lvl1pPr>
            <a:lvl2pPr marL="742950" indent="-285750" algn="ctr" eaLnBrk="0" hangingPunct="0">
              <a:defRPr b="1">
                <a:solidFill>
                  <a:schemeClr val="tx1"/>
                </a:solidFill>
                <a:latin typeface="Segoe Semibold"/>
              </a:defRPr>
            </a:lvl2pPr>
            <a:lvl3pPr marL="1143000" indent="-228600" algn="ctr" eaLnBrk="0" hangingPunct="0">
              <a:defRPr b="1">
                <a:solidFill>
                  <a:schemeClr val="tx1"/>
                </a:solidFill>
                <a:latin typeface="Segoe Semibold"/>
              </a:defRPr>
            </a:lvl3pPr>
            <a:lvl4pPr marL="1600200" indent="-228600" algn="ctr" eaLnBrk="0" hangingPunct="0">
              <a:defRPr b="1">
                <a:solidFill>
                  <a:schemeClr val="tx1"/>
                </a:solidFill>
                <a:latin typeface="Segoe Semibold"/>
              </a:defRPr>
            </a:lvl4pPr>
            <a:lvl5pPr marL="2057400" indent="-228600" algn="ctr" eaLnBrk="0" hangingPunct="0">
              <a:defRPr b="1">
                <a:solidFill>
                  <a:schemeClr val="tx1"/>
                </a:solidFill>
                <a:latin typeface="Segoe Semibold"/>
              </a:defRPr>
            </a:lvl5pPr>
            <a:lvl6pPr marL="2514600" indent="-228600" algn="ctr" eaLnBrk="0" fontAlgn="base" hangingPunct="0">
              <a:spcBef>
                <a:spcPct val="0"/>
              </a:spcBef>
              <a:spcAft>
                <a:spcPct val="0"/>
              </a:spcAft>
              <a:defRPr b="1">
                <a:solidFill>
                  <a:schemeClr val="tx1"/>
                </a:solidFill>
                <a:latin typeface="Segoe Semibold"/>
              </a:defRPr>
            </a:lvl6pPr>
            <a:lvl7pPr marL="2971800" indent="-228600" algn="ctr" eaLnBrk="0" fontAlgn="base" hangingPunct="0">
              <a:spcBef>
                <a:spcPct val="0"/>
              </a:spcBef>
              <a:spcAft>
                <a:spcPct val="0"/>
              </a:spcAft>
              <a:defRPr b="1">
                <a:solidFill>
                  <a:schemeClr val="tx1"/>
                </a:solidFill>
                <a:latin typeface="Segoe Semibold"/>
              </a:defRPr>
            </a:lvl7pPr>
            <a:lvl8pPr marL="3429000" indent="-228600" algn="ctr" eaLnBrk="0" fontAlgn="base" hangingPunct="0">
              <a:spcBef>
                <a:spcPct val="0"/>
              </a:spcBef>
              <a:spcAft>
                <a:spcPct val="0"/>
              </a:spcAft>
              <a:defRPr b="1">
                <a:solidFill>
                  <a:schemeClr val="tx1"/>
                </a:solidFill>
                <a:latin typeface="Segoe Semibold"/>
              </a:defRPr>
            </a:lvl8pPr>
            <a:lvl9pPr marL="3886200" indent="-228600" algn="ctr" eaLnBrk="0" fontAlgn="base" hangingPunct="0">
              <a:spcBef>
                <a:spcPct val="0"/>
              </a:spcBef>
              <a:spcAft>
                <a:spcPct val="0"/>
              </a:spcAft>
              <a:defRPr b="1">
                <a:solidFill>
                  <a:schemeClr val="tx1"/>
                </a:solidFill>
                <a:latin typeface="Segoe Semibold"/>
              </a:defRPr>
            </a:lvl9pPr>
          </a:lstStyle>
          <a:p>
            <a:pPr algn="l" eaLnBrk="1" hangingPunct="1"/>
            <a:r>
              <a:rPr lang="en-US" altLang="en-US"/>
              <a:t>Computational Thinking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B1C3F2B-42AF-4F18-DAD4-87E7EA7CE7F3}"/>
              </a:ext>
            </a:extLst>
          </p:cNvPr>
          <p:cNvSpPr>
            <a:spLocks noGrp="1" noChangeArrowheads="1"/>
          </p:cNvSpPr>
          <p:nvPr>
            <p:ph type="sldNum" sz="quarter" idx="5"/>
          </p:nvPr>
        </p:nvSpPr>
        <p:spPr>
          <a:ln/>
        </p:spPr>
        <p:txBody>
          <a:bodyPr/>
          <a:lstStyle/>
          <a:p>
            <a:fld id="{51728F40-A7BE-B24C-ABF9-4E771B29D20B}" type="slidenum">
              <a:rPr lang="en-US" altLang="en-US"/>
              <a:pPr/>
              <a:t>38</a:t>
            </a:fld>
            <a:endParaRPr lang="en-US" altLang="en-US"/>
          </a:p>
        </p:txBody>
      </p:sp>
      <p:sp>
        <p:nvSpPr>
          <p:cNvPr id="151554" name="Rectangle 2">
            <a:extLst>
              <a:ext uri="{FF2B5EF4-FFF2-40B4-BE49-F238E27FC236}">
                <a16:creationId xmlns:a16="http://schemas.microsoft.com/office/drawing/2014/main" id="{39776055-829E-2A42-8B52-3C704FBAC19B}"/>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398A789A-CFA7-69CE-7C2C-7549A827069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BBFA018-8F57-4ABA-7DE4-228DAADD4A03}"/>
              </a:ext>
            </a:extLst>
          </p:cNvPr>
          <p:cNvSpPr>
            <a:spLocks noGrp="1" noChangeArrowheads="1"/>
          </p:cNvSpPr>
          <p:nvPr>
            <p:ph type="sldNum" sz="quarter" idx="5"/>
          </p:nvPr>
        </p:nvSpPr>
        <p:spPr>
          <a:ln/>
        </p:spPr>
        <p:txBody>
          <a:bodyPr/>
          <a:lstStyle/>
          <a:p>
            <a:fld id="{F1E33ECE-58CF-7648-A2D7-989A90487C13}" type="slidenum">
              <a:rPr lang="en-US" altLang="en-US"/>
              <a:pPr/>
              <a:t>39</a:t>
            </a:fld>
            <a:endParaRPr lang="en-US" altLang="en-US"/>
          </a:p>
        </p:txBody>
      </p:sp>
      <p:sp>
        <p:nvSpPr>
          <p:cNvPr id="152578" name="Rectangle 2">
            <a:extLst>
              <a:ext uri="{FF2B5EF4-FFF2-40B4-BE49-F238E27FC236}">
                <a16:creationId xmlns:a16="http://schemas.microsoft.com/office/drawing/2014/main" id="{72B5F160-EEBD-CE8C-C973-E66313292D95}"/>
              </a:ext>
            </a:extLst>
          </p:cNvPr>
          <p:cNvSpPr>
            <a:spLocks noGrp="1" noRot="1" noChangeAspect="1" noChangeArrowheads="1" noTextEdit="1"/>
          </p:cNvSpPr>
          <p:nvPr>
            <p:ph type="sldImg"/>
          </p:nvPr>
        </p:nvSpPr>
        <p:spPr>
          <a:ln/>
        </p:spPr>
      </p:sp>
      <p:sp>
        <p:nvSpPr>
          <p:cNvPr id="152579" name="Rectangle 3">
            <a:extLst>
              <a:ext uri="{FF2B5EF4-FFF2-40B4-BE49-F238E27FC236}">
                <a16:creationId xmlns:a16="http://schemas.microsoft.com/office/drawing/2014/main" id="{76168A18-5BE9-8EBA-3D49-0D07DD6639E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D9558E1-06CA-6A24-6418-34DDA2D5BABB}"/>
              </a:ext>
            </a:extLst>
          </p:cNvPr>
          <p:cNvSpPr>
            <a:spLocks noGrp="1" noChangeArrowheads="1"/>
          </p:cNvSpPr>
          <p:nvPr>
            <p:ph type="sldNum" sz="quarter" idx="5"/>
          </p:nvPr>
        </p:nvSpPr>
        <p:spPr>
          <a:ln/>
        </p:spPr>
        <p:txBody>
          <a:bodyPr/>
          <a:lstStyle/>
          <a:p>
            <a:fld id="{0AA660B6-37EF-F349-87A4-B93A8EC2D6C6}" type="slidenum">
              <a:rPr lang="en-US" altLang="en-US"/>
              <a:pPr/>
              <a:t>40</a:t>
            </a:fld>
            <a:endParaRPr lang="en-US" altLang="en-US"/>
          </a:p>
        </p:txBody>
      </p:sp>
      <p:sp>
        <p:nvSpPr>
          <p:cNvPr id="153602" name="Rectangle 2">
            <a:extLst>
              <a:ext uri="{FF2B5EF4-FFF2-40B4-BE49-F238E27FC236}">
                <a16:creationId xmlns:a16="http://schemas.microsoft.com/office/drawing/2014/main" id="{FD214782-FBB6-AEFD-1630-46B43F5D018E}"/>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C3E24297-A995-FBEB-C1CC-095F969AE32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3C9CD8-E9C4-CB5A-66BF-29CCF74EF578}"/>
              </a:ext>
            </a:extLst>
          </p:cNvPr>
          <p:cNvSpPr>
            <a:spLocks noGrp="1" noChangeArrowheads="1"/>
          </p:cNvSpPr>
          <p:nvPr>
            <p:ph type="sldNum" sz="quarter" idx="5"/>
          </p:nvPr>
        </p:nvSpPr>
        <p:spPr>
          <a:ln/>
        </p:spPr>
        <p:txBody>
          <a:bodyPr/>
          <a:lstStyle/>
          <a:p>
            <a:fld id="{5C3E2FF3-AEDB-204D-8503-43FFDCD2C9E0}" type="slidenum">
              <a:rPr lang="en-US" altLang="en-US"/>
              <a:pPr/>
              <a:t>41</a:t>
            </a:fld>
            <a:endParaRPr lang="en-US" altLang="en-US"/>
          </a:p>
        </p:txBody>
      </p:sp>
      <p:sp>
        <p:nvSpPr>
          <p:cNvPr id="154626" name="Rectangle 2">
            <a:extLst>
              <a:ext uri="{FF2B5EF4-FFF2-40B4-BE49-F238E27FC236}">
                <a16:creationId xmlns:a16="http://schemas.microsoft.com/office/drawing/2014/main" id="{D8B469A8-5D84-73A9-E1F5-A9A1329DEB51}"/>
              </a:ext>
            </a:extLst>
          </p:cNvPr>
          <p:cNvSpPr>
            <a:spLocks noGrp="1" noRot="1" noChangeAspect="1" noChangeArrowheads="1" noTextEdit="1"/>
          </p:cNvSpPr>
          <p:nvPr>
            <p:ph type="sldImg"/>
          </p:nvPr>
        </p:nvSpPr>
        <p:spPr>
          <a:ln/>
        </p:spPr>
      </p:sp>
      <p:sp>
        <p:nvSpPr>
          <p:cNvPr id="154627" name="Rectangle 3">
            <a:extLst>
              <a:ext uri="{FF2B5EF4-FFF2-40B4-BE49-F238E27FC236}">
                <a16:creationId xmlns:a16="http://schemas.microsoft.com/office/drawing/2014/main" id="{33AD7EBC-37C6-8646-F56A-403DD511CB5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40C9A31-DF52-5BB4-20D3-A9C96353AC64}"/>
              </a:ext>
            </a:extLst>
          </p:cNvPr>
          <p:cNvSpPr>
            <a:spLocks noGrp="1" noChangeArrowheads="1"/>
          </p:cNvSpPr>
          <p:nvPr>
            <p:ph type="sldNum" sz="quarter" idx="5"/>
          </p:nvPr>
        </p:nvSpPr>
        <p:spPr>
          <a:ln/>
        </p:spPr>
        <p:txBody>
          <a:bodyPr/>
          <a:lstStyle/>
          <a:p>
            <a:fld id="{56F01202-E693-1F4A-843A-C29BDB10C05B}" type="slidenum">
              <a:rPr lang="en-US" altLang="en-US"/>
              <a:pPr/>
              <a:t>42</a:t>
            </a:fld>
            <a:endParaRPr lang="en-US" altLang="en-US"/>
          </a:p>
        </p:txBody>
      </p:sp>
      <p:sp>
        <p:nvSpPr>
          <p:cNvPr id="155650" name="Rectangle 2">
            <a:extLst>
              <a:ext uri="{FF2B5EF4-FFF2-40B4-BE49-F238E27FC236}">
                <a16:creationId xmlns:a16="http://schemas.microsoft.com/office/drawing/2014/main" id="{37EB35BC-6CFA-F6CF-8728-C3A505044682}"/>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11E70BD5-9F21-B786-BE5A-9CC613A300B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7BDD76-CE19-0430-17D0-F5B064AF310C}"/>
              </a:ext>
            </a:extLst>
          </p:cNvPr>
          <p:cNvSpPr>
            <a:spLocks noGrp="1" noChangeArrowheads="1"/>
          </p:cNvSpPr>
          <p:nvPr>
            <p:ph type="sldNum" sz="quarter" idx="5"/>
          </p:nvPr>
        </p:nvSpPr>
        <p:spPr>
          <a:ln/>
        </p:spPr>
        <p:txBody>
          <a:bodyPr/>
          <a:lstStyle/>
          <a:p>
            <a:fld id="{FBA1C27C-28D9-FE49-AE9E-F36932E578A4}" type="slidenum">
              <a:rPr lang="en-US" altLang="en-US"/>
              <a:pPr/>
              <a:t>43</a:t>
            </a:fld>
            <a:endParaRPr lang="en-US" altLang="en-US"/>
          </a:p>
        </p:txBody>
      </p:sp>
      <p:sp>
        <p:nvSpPr>
          <p:cNvPr id="156674" name="Rectangle 2">
            <a:extLst>
              <a:ext uri="{FF2B5EF4-FFF2-40B4-BE49-F238E27FC236}">
                <a16:creationId xmlns:a16="http://schemas.microsoft.com/office/drawing/2014/main" id="{059915F5-9246-3ACB-5AE5-F2DC2C858C0D}"/>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156263EE-0C95-907C-8C37-D68A824E193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17BFE19-0F4A-F9F2-F8E6-C79E0FD3A92E}"/>
              </a:ext>
            </a:extLst>
          </p:cNvPr>
          <p:cNvSpPr>
            <a:spLocks noGrp="1" noChangeArrowheads="1"/>
          </p:cNvSpPr>
          <p:nvPr>
            <p:ph type="sldNum" sz="quarter" idx="5"/>
          </p:nvPr>
        </p:nvSpPr>
        <p:spPr>
          <a:ln/>
        </p:spPr>
        <p:txBody>
          <a:bodyPr/>
          <a:lstStyle/>
          <a:p>
            <a:fld id="{EA044FA7-16A3-D542-94DE-B220E0EC528B}" type="slidenum">
              <a:rPr lang="en-US" altLang="en-US"/>
              <a:pPr/>
              <a:t>44</a:t>
            </a:fld>
            <a:endParaRPr lang="en-US" altLang="en-US"/>
          </a:p>
        </p:txBody>
      </p:sp>
      <p:sp>
        <p:nvSpPr>
          <p:cNvPr id="157698" name="Rectangle 2">
            <a:extLst>
              <a:ext uri="{FF2B5EF4-FFF2-40B4-BE49-F238E27FC236}">
                <a16:creationId xmlns:a16="http://schemas.microsoft.com/office/drawing/2014/main" id="{0DC6AD36-7752-CCA4-B9E4-B2E67096B4CD}"/>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0A726E72-6E3A-19E9-B937-015C6679B4B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E74CDCA-CDDD-0529-CE8A-23261A7C06A4}"/>
              </a:ext>
            </a:extLst>
          </p:cNvPr>
          <p:cNvSpPr>
            <a:spLocks noGrp="1" noChangeArrowheads="1"/>
          </p:cNvSpPr>
          <p:nvPr>
            <p:ph type="sldNum" sz="quarter" idx="5"/>
          </p:nvPr>
        </p:nvSpPr>
        <p:spPr>
          <a:ln/>
        </p:spPr>
        <p:txBody>
          <a:bodyPr/>
          <a:lstStyle/>
          <a:p>
            <a:fld id="{A36A4767-829C-D44C-95AA-42ADA9BFC085}" type="slidenum">
              <a:rPr lang="en-US" altLang="en-US"/>
              <a:pPr/>
              <a:t>45</a:t>
            </a:fld>
            <a:endParaRPr lang="en-US" altLang="en-US"/>
          </a:p>
        </p:txBody>
      </p:sp>
      <p:sp>
        <p:nvSpPr>
          <p:cNvPr id="158722" name="Rectangle 2">
            <a:extLst>
              <a:ext uri="{FF2B5EF4-FFF2-40B4-BE49-F238E27FC236}">
                <a16:creationId xmlns:a16="http://schemas.microsoft.com/office/drawing/2014/main" id="{FD95FEB2-D330-155F-AA5E-F1D71E37BA6E}"/>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9F27DE3C-5752-5C32-0330-239BDEC7087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0B41F9-5AEA-FFA9-4EC7-B67C34CC389D}"/>
              </a:ext>
            </a:extLst>
          </p:cNvPr>
          <p:cNvSpPr>
            <a:spLocks noGrp="1" noChangeArrowheads="1"/>
          </p:cNvSpPr>
          <p:nvPr>
            <p:ph type="sldNum" sz="quarter" idx="5"/>
          </p:nvPr>
        </p:nvSpPr>
        <p:spPr>
          <a:ln/>
        </p:spPr>
        <p:txBody>
          <a:bodyPr/>
          <a:lstStyle/>
          <a:p>
            <a:fld id="{3F0ED77B-4B68-C64E-8AD0-BA1B1F1090C8}" type="slidenum">
              <a:rPr lang="en-US" altLang="en-US"/>
              <a:pPr/>
              <a:t>46</a:t>
            </a:fld>
            <a:endParaRPr lang="en-US" altLang="en-US"/>
          </a:p>
        </p:txBody>
      </p:sp>
      <p:sp>
        <p:nvSpPr>
          <p:cNvPr id="159746" name="Rectangle 2">
            <a:extLst>
              <a:ext uri="{FF2B5EF4-FFF2-40B4-BE49-F238E27FC236}">
                <a16:creationId xmlns:a16="http://schemas.microsoft.com/office/drawing/2014/main" id="{098ABFC7-39E3-B5B4-DB3B-6739DCA090EB}"/>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E342F2FB-CF6D-ECB7-E71C-4D9A341608D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498056-C455-9792-EAEF-8E82D3830A9F}"/>
              </a:ext>
            </a:extLst>
          </p:cNvPr>
          <p:cNvSpPr>
            <a:spLocks noGrp="1" noChangeArrowheads="1"/>
          </p:cNvSpPr>
          <p:nvPr>
            <p:ph type="sldNum" sz="quarter" idx="5"/>
          </p:nvPr>
        </p:nvSpPr>
        <p:spPr>
          <a:ln/>
        </p:spPr>
        <p:txBody>
          <a:bodyPr/>
          <a:lstStyle/>
          <a:p>
            <a:fld id="{A9E4EC9B-6FC2-4549-BBB3-F23BAFB3D604}" type="slidenum">
              <a:rPr lang="en-US" altLang="en-US"/>
              <a:pPr/>
              <a:t>47</a:t>
            </a:fld>
            <a:endParaRPr lang="en-US" altLang="en-US"/>
          </a:p>
        </p:txBody>
      </p:sp>
      <p:sp>
        <p:nvSpPr>
          <p:cNvPr id="160770" name="Rectangle 2">
            <a:extLst>
              <a:ext uri="{FF2B5EF4-FFF2-40B4-BE49-F238E27FC236}">
                <a16:creationId xmlns:a16="http://schemas.microsoft.com/office/drawing/2014/main" id="{B250BF7C-988F-D35C-058C-45248E7EBBC1}"/>
              </a:ext>
            </a:extLst>
          </p:cNvPr>
          <p:cNvSpPr>
            <a:spLocks noGrp="1" noRot="1" noChangeAspect="1" noChangeArrowheads="1" noTextEdit="1"/>
          </p:cNvSpPr>
          <p:nvPr>
            <p:ph type="sldImg"/>
          </p:nvPr>
        </p:nvSpPr>
        <p:spPr>
          <a:ln/>
        </p:spPr>
      </p:sp>
      <p:sp>
        <p:nvSpPr>
          <p:cNvPr id="160771" name="Rectangle 3">
            <a:extLst>
              <a:ext uri="{FF2B5EF4-FFF2-40B4-BE49-F238E27FC236}">
                <a16:creationId xmlns:a16="http://schemas.microsoft.com/office/drawing/2014/main" id="{77F074B1-5D7D-4135-A597-6B6B8509597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59DE89-81B3-2A1E-EB5E-49911A94539D}"/>
              </a:ext>
            </a:extLst>
          </p:cNvPr>
          <p:cNvSpPr>
            <a:spLocks noGrp="1" noChangeArrowheads="1"/>
          </p:cNvSpPr>
          <p:nvPr>
            <p:ph type="sldNum" sz="quarter" idx="5"/>
          </p:nvPr>
        </p:nvSpPr>
        <p:spPr>
          <a:ln/>
        </p:spPr>
        <p:txBody>
          <a:bodyPr/>
          <a:lstStyle/>
          <a:p>
            <a:fld id="{CC20174B-0E2D-8042-85A0-A13D8715F534}" type="slidenum">
              <a:rPr lang="en-US" altLang="en-US"/>
              <a:pPr/>
              <a:t>77</a:t>
            </a:fld>
            <a:endParaRPr lang="en-US" altLang="en-US"/>
          </a:p>
        </p:txBody>
      </p:sp>
      <p:sp>
        <p:nvSpPr>
          <p:cNvPr id="14338" name="Rectangle 2">
            <a:extLst>
              <a:ext uri="{FF2B5EF4-FFF2-40B4-BE49-F238E27FC236}">
                <a16:creationId xmlns:a16="http://schemas.microsoft.com/office/drawing/2014/main" id="{46032D6F-E746-5B12-0234-EC38FE4B2172}"/>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A6BD8D3E-D168-F32E-EDF8-5F339E40E3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2D67CB07-F1C3-42A0-9550-2F56ADAAFD5D}" type="slidenum">
              <a:rPr lang="en-US" smtClean="0"/>
              <a:pPr/>
              <a:t>81</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76313" y="4560888"/>
            <a:ext cx="5362575" cy="4319587"/>
          </a:xfrm>
          <a:noFill/>
          <a:ln/>
        </p:spPr>
        <p:txBody>
          <a:bodyPr/>
          <a:lstStyle/>
          <a:p>
            <a:r>
              <a:rPr lang="en-US"/>
              <a:t>All kernels have large numbers of simultaneously executing threads (ask me if you want to see details).</a:t>
            </a:r>
          </a:p>
          <a:p>
            <a:endParaRPr lang="en-US"/>
          </a:p>
          <a:p>
            <a:r>
              <a:rPr lang="en-US"/>
              <a:t>Most of the 10X kernels saturate memory bandwidth</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587CD2DA-74C3-4C60-AB3A-7050B01BD9BD}" type="slidenum">
              <a:rPr lang="en-US" smtClean="0"/>
              <a:pPr/>
              <a:t>84</a:t>
            </a:fld>
            <a:endParaRPr lang="en-US"/>
          </a:p>
        </p:txBody>
      </p:sp>
      <p:sp>
        <p:nvSpPr>
          <p:cNvPr id="62467" name="Rectangle 2"/>
          <p:cNvSpPr>
            <a:spLocks noGrp="1" noRot="1" noChangeAspect="1" noChangeArrowheads="1" noTextEdit="1"/>
          </p:cNvSpPr>
          <p:nvPr>
            <p:ph type="sldImg"/>
          </p:nvPr>
        </p:nvSpPr>
        <p:spPr>
          <a:xfrm>
            <a:off x="1258888" y="720725"/>
            <a:ext cx="4799012" cy="3598863"/>
          </a:xfrm>
          <a:ln/>
        </p:spPr>
      </p:sp>
      <p:sp>
        <p:nvSpPr>
          <p:cNvPr id="62468" name="Rectangle 3"/>
          <p:cNvSpPr>
            <a:spLocks noGrp="1" noChangeArrowheads="1"/>
          </p:cNvSpPr>
          <p:nvPr>
            <p:ph type="body" idx="1"/>
          </p:nvPr>
        </p:nvSpPr>
        <p:spPr>
          <a:xfrm>
            <a:off x="976313" y="4560888"/>
            <a:ext cx="5362575" cy="4319587"/>
          </a:xfrm>
          <a:noFill/>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8D28220-BCB2-4C8C-98EA-58CDF219DE41}" type="slidenum">
              <a:rPr lang="en-US" smtClean="0"/>
              <a:pPr/>
              <a:t>86</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976313" y="4560888"/>
            <a:ext cx="5362575" cy="4319587"/>
          </a:xfrm>
          <a:noFill/>
          <a:ln/>
        </p:spPr>
        <p:txBody>
          <a:bodyPr/>
          <a:lstStyle/>
          <a:p>
            <a:r>
              <a:rPr lang="en-US"/>
              <a:t>Global, constant, and texture memory spaces are persistent across kernels called by the same application.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990DF999-0B92-403C-BDE9-FAD8D59D2990}" type="slidenum">
              <a:rPr lang="en-US" smtClean="0"/>
              <a:pPr/>
              <a:t>87</a:t>
            </a:fld>
            <a:endParaRPr lang="en-US"/>
          </a:p>
        </p:txBody>
      </p:sp>
      <p:sp>
        <p:nvSpPr>
          <p:cNvPr id="66563" name="Rectangle 2"/>
          <p:cNvSpPr>
            <a:spLocks noGrp="1" noRot="1" noChangeAspect="1" noChangeArrowheads="1" noTextEdit="1"/>
          </p:cNvSpPr>
          <p:nvPr>
            <p:ph type="sldImg"/>
          </p:nvPr>
        </p:nvSpPr>
        <p:spPr>
          <a:xfrm>
            <a:off x="1258888" y="720725"/>
            <a:ext cx="4799012" cy="3598863"/>
          </a:xfrm>
          <a:ln/>
        </p:spPr>
      </p:sp>
      <p:sp>
        <p:nvSpPr>
          <p:cNvPr id="66564" name="Rectangle 3"/>
          <p:cNvSpPr>
            <a:spLocks noGrp="1" noChangeArrowheads="1"/>
          </p:cNvSpPr>
          <p:nvPr>
            <p:ph type="body" idx="1"/>
          </p:nvPr>
        </p:nvSpPr>
        <p:spPr>
          <a:xfrm>
            <a:off x="976313" y="4560888"/>
            <a:ext cx="5362575" cy="4319587"/>
          </a:xfrm>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76200"/>
            <a:ext cx="7793038" cy="1143000"/>
          </a:xfrm>
        </p:spPr>
        <p:txBody>
          <a:bodyPr/>
          <a:lstStyle/>
          <a:p>
            <a:r>
              <a:rPr lang="en-US"/>
              <a:t>Click to edit Master title style</a:t>
            </a:r>
          </a:p>
        </p:txBody>
      </p:sp>
      <p:sp>
        <p:nvSpPr>
          <p:cNvPr id="3" name="Text Placeholder 2"/>
          <p:cNvSpPr>
            <a:spLocks noGrp="1"/>
          </p:cNvSpPr>
          <p:nvPr>
            <p:ph type="body" sz="half" idx="1"/>
          </p:nvPr>
        </p:nvSpPr>
        <p:spPr>
          <a:xfrm>
            <a:off x="1182688" y="13716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3716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609600" y="6324600"/>
            <a:ext cx="1828800" cy="457200"/>
          </a:xfrm>
        </p:spPr>
        <p:txBody>
          <a:bodyPr/>
          <a:lstStyle>
            <a:lvl1pPr>
              <a:defRPr/>
            </a:lvl1pPr>
          </a:lstStyle>
          <a:p>
            <a:endParaRPr lang="en-US"/>
          </a:p>
        </p:txBody>
      </p:sp>
      <p:sp>
        <p:nvSpPr>
          <p:cNvPr id="6" name="Footer Placeholder 4"/>
          <p:cNvSpPr>
            <a:spLocks noGrp="1"/>
          </p:cNvSpPr>
          <p:nvPr>
            <p:ph type="ftr" sz="quarter" idx="11"/>
          </p:nvPr>
        </p:nvSpPr>
        <p:spPr>
          <a:xfrm>
            <a:off x="0" y="6324600"/>
            <a:ext cx="9144000" cy="457200"/>
          </a:xfrm>
        </p:spPr>
        <p:txBody>
          <a:bodyPr/>
          <a:lstStyle>
            <a:lvl1pPr>
              <a:defRPr/>
            </a:lvl1pPr>
          </a:lstStyle>
          <a:p>
            <a:pPr>
              <a:defRPr/>
            </a:pPr>
            <a:r>
              <a:rPr lang="en-US"/>
              <a:t>Mikko Lipasti-University of Wisconsin</a:t>
            </a:r>
            <a:endParaRPr lang="en-US" dirty="0"/>
          </a:p>
        </p:txBody>
      </p:sp>
      <p:sp>
        <p:nvSpPr>
          <p:cNvPr id="7" name="Slide Number Placeholder 5"/>
          <p:cNvSpPr>
            <a:spLocks noGrp="1"/>
          </p:cNvSpPr>
          <p:nvPr>
            <p:ph type="sldNum" sz="quarter" idx="12"/>
          </p:nvPr>
        </p:nvSpPr>
        <p:spPr>
          <a:xfrm>
            <a:off x="6553200" y="6356350"/>
            <a:ext cx="2133600" cy="365125"/>
          </a:xfrm>
        </p:spPr>
        <p:txBody>
          <a:bodyPr/>
          <a:lstStyle>
            <a:lvl2pPr lvl="1">
              <a:defRPr sz="1400">
                <a:latin typeface="+mn-lt"/>
              </a:defRPr>
            </a:lvl2pPr>
          </a:lstStyle>
          <a:p>
            <a:pPr lvl="1">
              <a:defRPr/>
            </a:pPr>
            <a:fld id="{7F0AC6B0-63F9-48DA-8403-50AF2CA0DF73}" type="slidenum">
              <a:rPr lang="en-US" smtClean="0"/>
              <a:pPr lvl="1">
                <a:defRPr/>
              </a:pPr>
              <a:t>‹#›</a:t>
            </a:fld>
            <a:endParaRPr lang="en-US" dirty="0"/>
          </a:p>
        </p:txBody>
      </p:sp>
    </p:spTree>
    <p:extLst>
      <p:ext uri="{BB962C8B-B14F-4D97-AF65-F5344CB8AC3E}">
        <p14:creationId xmlns:p14="http://schemas.microsoft.com/office/powerpoint/2010/main" val="33168801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924800" cy="1143000"/>
          </a:xfrm>
        </p:spPr>
        <p:txBody>
          <a:bodyPr/>
          <a:lstStyle/>
          <a:p>
            <a:r>
              <a:rPr lang="en-US"/>
              <a:t>Click to edit Master title style</a:t>
            </a:r>
          </a:p>
        </p:txBody>
      </p:sp>
      <p:sp>
        <p:nvSpPr>
          <p:cNvPr id="3" name="Content Placeholder 2"/>
          <p:cNvSpPr>
            <a:spLocks noGrp="1"/>
          </p:cNvSpPr>
          <p:nvPr>
            <p:ph sz="half" idx="1"/>
          </p:nvPr>
        </p:nvSpPr>
        <p:spPr>
          <a:xfrm>
            <a:off x="685800" y="1524000"/>
            <a:ext cx="79248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886200"/>
            <a:ext cx="79248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 David Kirk/NVIDIA and Wen-mei W. Hwu, 2007</a:t>
            </a:r>
          </a:p>
          <a:p>
            <a:pPr>
              <a:defRPr/>
            </a:pPr>
            <a:r>
              <a:rPr lang="en-US"/>
              <a:t>ECE 498AL1, University of Illinois, Urbana-Champaign</a:t>
            </a:r>
          </a:p>
        </p:txBody>
      </p:sp>
      <p:sp>
        <p:nvSpPr>
          <p:cNvPr id="6" name="Rectangle 6"/>
          <p:cNvSpPr>
            <a:spLocks noGrp="1" noChangeArrowheads="1"/>
          </p:cNvSpPr>
          <p:nvPr>
            <p:ph type="sldNum" sz="quarter" idx="11"/>
          </p:nvPr>
        </p:nvSpPr>
        <p:spPr>
          <a:ln/>
        </p:spPr>
        <p:txBody>
          <a:bodyPr/>
          <a:lstStyle>
            <a:lvl1pPr>
              <a:defRPr/>
            </a:lvl1pPr>
          </a:lstStyle>
          <a:p>
            <a:pPr>
              <a:defRPr/>
            </a:pPr>
            <a:fld id="{731B8DAA-7F2E-470E-A93C-02936B2CDFDB}" type="slidenum">
              <a:rPr lang="en-US"/>
              <a:pPr>
                <a:defRPr/>
              </a:pPr>
              <a:t>‹#›</a:t>
            </a:fld>
            <a:endParaRPr lang="en-US"/>
          </a:p>
        </p:txBody>
      </p:sp>
    </p:spTree>
    <p:extLst>
      <p:ext uri="{BB962C8B-B14F-4D97-AF65-F5344CB8AC3E}">
        <p14:creationId xmlns:p14="http://schemas.microsoft.com/office/powerpoint/2010/main" val="1205588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305800" cy="1143000"/>
          </a:xfrm>
        </p:spPr>
        <p:txBody>
          <a:bodyPr/>
          <a:lstStyle/>
          <a:p>
            <a:r>
              <a:rPr lang="en-US"/>
              <a:t>Click to edit Master title style</a:t>
            </a:r>
          </a:p>
        </p:txBody>
      </p:sp>
      <p:sp>
        <p:nvSpPr>
          <p:cNvPr id="3" name="Text Placeholder 2"/>
          <p:cNvSpPr>
            <a:spLocks noGrp="1"/>
          </p:cNvSpPr>
          <p:nvPr>
            <p:ph type="body" sz="half" idx="1"/>
          </p:nvPr>
        </p:nvSpPr>
        <p:spPr>
          <a:xfrm>
            <a:off x="685800" y="1524000"/>
            <a:ext cx="83058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886200"/>
            <a:ext cx="83058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 David Kirk/NVIDIA and Wen-mei W. Hwu, 2007</a:t>
            </a:r>
          </a:p>
          <a:p>
            <a:pPr>
              <a:defRPr/>
            </a:pPr>
            <a:r>
              <a:rPr lang="en-US"/>
              <a:t>ECE 498AL, University of Illinois, Urbana-Champaign</a:t>
            </a:r>
          </a:p>
        </p:txBody>
      </p:sp>
      <p:sp>
        <p:nvSpPr>
          <p:cNvPr id="6" name="Rectangle 5"/>
          <p:cNvSpPr>
            <a:spLocks noGrp="1" noChangeArrowheads="1"/>
          </p:cNvSpPr>
          <p:nvPr>
            <p:ph type="sldNum" sz="quarter" idx="11"/>
          </p:nvPr>
        </p:nvSpPr>
        <p:spPr>
          <a:ln/>
        </p:spPr>
        <p:txBody>
          <a:bodyPr/>
          <a:lstStyle>
            <a:lvl1pPr>
              <a:defRPr/>
            </a:lvl1pPr>
          </a:lstStyle>
          <a:p>
            <a:pPr>
              <a:defRPr/>
            </a:pPr>
            <a:fld id="{BCF4F8D9-53E1-4940-ACDF-67A3879155FA}" type="slidenum">
              <a:rPr lang="en-US"/>
              <a:pPr>
                <a:defRPr/>
              </a:pPr>
              <a:t>‹#›</a:t>
            </a:fld>
            <a:endParaRPr lang="en-US"/>
          </a:p>
        </p:txBody>
      </p:sp>
    </p:spTree>
    <p:extLst>
      <p:ext uri="{BB962C8B-B14F-4D97-AF65-F5344CB8AC3E}">
        <p14:creationId xmlns:p14="http://schemas.microsoft.com/office/powerpoint/2010/main" val="1845321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305800" cy="1143000"/>
          </a:xfrm>
        </p:spPr>
        <p:txBody>
          <a:bodyPr/>
          <a:lstStyle/>
          <a:p>
            <a:r>
              <a:rPr lang="en-US"/>
              <a:t>Click to edit Master title style</a:t>
            </a:r>
          </a:p>
        </p:txBody>
      </p:sp>
      <p:sp>
        <p:nvSpPr>
          <p:cNvPr id="3" name="Content Placeholder 2"/>
          <p:cNvSpPr>
            <a:spLocks noGrp="1"/>
          </p:cNvSpPr>
          <p:nvPr>
            <p:ph sz="half" idx="1"/>
          </p:nvPr>
        </p:nvSpPr>
        <p:spPr>
          <a:xfrm>
            <a:off x="685800" y="1524000"/>
            <a:ext cx="40767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14900" y="1524000"/>
            <a:ext cx="40767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 David Kirk/NVIDIA and Wen-mei W. Hwu, 2007</a:t>
            </a:r>
          </a:p>
          <a:p>
            <a:pPr>
              <a:defRPr/>
            </a:pPr>
            <a:r>
              <a:rPr lang="en-US"/>
              <a:t>ECE 498AL, University of Illinois, Urbana-Champaign</a:t>
            </a:r>
          </a:p>
        </p:txBody>
      </p:sp>
      <p:sp>
        <p:nvSpPr>
          <p:cNvPr id="6" name="Rectangle 5"/>
          <p:cNvSpPr>
            <a:spLocks noGrp="1" noChangeArrowheads="1"/>
          </p:cNvSpPr>
          <p:nvPr>
            <p:ph type="sldNum" sz="quarter" idx="11"/>
          </p:nvPr>
        </p:nvSpPr>
        <p:spPr>
          <a:ln/>
        </p:spPr>
        <p:txBody>
          <a:bodyPr/>
          <a:lstStyle>
            <a:lvl1pPr>
              <a:defRPr/>
            </a:lvl1pPr>
          </a:lstStyle>
          <a:p>
            <a:pPr>
              <a:defRPr/>
            </a:pPr>
            <a:fld id="{BA4A5D8C-D5A7-4F6E-9762-986BF076A05C}" type="slidenum">
              <a:rPr lang="en-US"/>
              <a:pPr>
                <a:defRPr/>
              </a:pPr>
              <a:t>‹#›</a:t>
            </a:fld>
            <a:endParaRPr lang="en-US"/>
          </a:p>
        </p:txBody>
      </p:sp>
    </p:spTree>
    <p:extLst>
      <p:ext uri="{BB962C8B-B14F-4D97-AF65-F5344CB8AC3E}">
        <p14:creationId xmlns:p14="http://schemas.microsoft.com/office/powerpoint/2010/main" val="3500167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emf"/><Relationship Id="rId7" Type="http://schemas.openxmlformats.org/officeDocument/2006/relationships/image" Target="../media/image2.png"/><Relationship Id="rId2" Type="http://schemas.openxmlformats.org/officeDocument/2006/relationships/image" Target="../media/image30.emf"/><Relationship Id="rId1" Type="http://schemas.openxmlformats.org/officeDocument/2006/relationships/slideLayout" Target="../slideLayouts/slideLayout6.xml"/><Relationship Id="rId6" Type="http://schemas.openxmlformats.org/officeDocument/2006/relationships/image" Target="../media/image34.emf"/><Relationship Id="rId5" Type="http://schemas.openxmlformats.org/officeDocument/2006/relationships/image" Target="../media/image33.gif"/><Relationship Id="rId4" Type="http://schemas.openxmlformats.org/officeDocument/2006/relationships/image" Target="../media/image32.jpeg"/></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7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7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2.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49.emf"/></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60938" y="1066800"/>
            <a:ext cx="7149662" cy="1035050"/>
          </a:xfrm>
        </p:spPr>
        <p:style>
          <a:lnRef idx="2">
            <a:schemeClr val="accent5"/>
          </a:lnRef>
          <a:fillRef idx="1">
            <a:schemeClr val="lt1"/>
          </a:fillRef>
          <a:effectRef idx="0">
            <a:schemeClr val="accent5"/>
          </a:effectRef>
          <a:fontRef idx="minor">
            <a:schemeClr val="dk1"/>
          </a:fontRef>
        </p:style>
        <p:txBody>
          <a:bodyPr anchor="ctr" anchorCtr="0">
            <a:normAutofit/>
          </a:bodyPr>
          <a:lstStyle/>
          <a:p>
            <a:pPr lvl="0">
              <a:defRPr/>
            </a:pPr>
            <a:r>
              <a:rPr lang="en-IN" sz="2800" dirty="0">
                <a:solidFill>
                  <a:schemeClr val="tx1"/>
                </a:solidFill>
              </a:rPr>
              <a:t>High Performance Computing </a:t>
            </a:r>
            <a:endParaRPr lang="en-US" sz="2800"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dirty="0">
                <a:ln>
                  <a:noFill/>
                </a:ln>
                <a:solidFill>
                  <a:prstClr val="black"/>
                </a:solidFill>
                <a:effectLst/>
                <a:uLnTx/>
                <a:uFillTx/>
                <a:latin typeface="Calibri"/>
                <a:ea typeface="+mn-ea"/>
                <a:cs typeface="+mn-cs"/>
              </a:rPr>
              <a:t>Dr. Sonal Dahiya</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Associate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Department of </a:t>
            </a:r>
            <a:r>
              <a:rPr lang="en-US" sz="2400" dirty="0">
                <a:solidFill>
                  <a:prstClr val="black"/>
                </a:solidFill>
                <a:latin typeface="Calibri"/>
              </a:rPr>
              <a:t>AIML</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prstClr val="black"/>
                </a:solidFill>
                <a:effectLst/>
                <a:uLnTx/>
                <a:uFillTx/>
                <a:latin typeface="Calibri"/>
                <a:ea typeface="+mn-ea"/>
                <a:cs typeface="+mn-cs"/>
              </a:rPr>
              <a:t>Unit: II</a:t>
            </a:r>
          </a:p>
        </p:txBody>
      </p:sp>
      <p:sp>
        <p:nvSpPr>
          <p:cNvPr id="13" name="Footer Placeholder 12"/>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IN" sz="2400" dirty="0">
                <a:solidFill>
                  <a:schemeClr val="tx1"/>
                </a:solidFill>
              </a:rPr>
              <a:t>Introduction to HPC</a:t>
            </a: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400" b="0" i="0" u="none" strike="noStrike" kern="1200" cap="none" spc="0" normalizeH="0" baseline="0" noProof="0" dirty="0">
                <a:ln>
                  <a:noFill/>
                </a:ln>
                <a:solidFill>
                  <a:prstClr val="black"/>
                </a:solidFill>
                <a:effectLst/>
                <a:uLnTx/>
                <a:uFillTx/>
                <a:latin typeface="Calibri"/>
                <a:ea typeface="+mn-ea"/>
                <a:cs typeface="+mn-cs"/>
              </a:rPr>
              <a:t>( B Tech 2</a:t>
            </a:r>
            <a:r>
              <a:rPr kumimoji="0" lang="en-US" sz="2400" b="0" i="0" u="none" strike="noStrike" kern="1200" cap="none" spc="0" normalizeH="0" baseline="30000" noProof="0" dirty="0">
                <a:ln>
                  <a:noFill/>
                </a:ln>
                <a:solidFill>
                  <a:prstClr val="black"/>
                </a:solidFill>
                <a:effectLst/>
                <a:uLnTx/>
                <a:uFillTx/>
                <a:latin typeface="Calibri"/>
                <a:ea typeface="+mn-ea"/>
                <a:cs typeface="+mn-cs"/>
              </a:rPr>
              <a:t>nd</a:t>
            </a:r>
            <a:r>
              <a:rPr kumimoji="0" lang="en-US" sz="2400" b="0" i="0" u="none" strike="noStrike" kern="1200" cap="none" spc="0" normalizeH="0" noProof="0" dirty="0">
                <a:ln>
                  <a:noFill/>
                </a:ln>
                <a:solidFill>
                  <a:prstClr val="black"/>
                </a:solidFill>
                <a:effectLst/>
                <a:uLnTx/>
                <a:uFillTx/>
                <a:latin typeface="Calibri"/>
                <a:ea typeface="+mn-ea"/>
                <a:cs typeface="+mn-cs"/>
              </a:rPr>
              <a:t> Year</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 name="Date Placeholder 3"/>
          <p:cNvSpPr>
            <a:spLocks noGrp="1"/>
          </p:cNvSpPr>
          <p:nvPr>
            <p:ph type="dt" sz="half" idx="10"/>
          </p:nvPr>
        </p:nvSpPr>
        <p:spPr/>
        <p:txBody>
          <a:bodyPr/>
          <a:lstStyle/>
          <a:p>
            <a:fld id="{6880E92D-4A2C-4038-8645-B3DE3FF2E97F}" type="datetime1">
              <a:rPr lang="en-US" smtClean="0"/>
              <a:t>8/13/25</a:t>
            </a:fld>
            <a:endParaRPr lang="en-US" dirty="0"/>
          </a:p>
        </p:txBody>
      </p:sp>
      <p:pic>
        <p:nvPicPr>
          <p:cNvPr id="18" name="Picture 1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333500" cy="947268"/>
          </a:xfrm>
          <a:prstGeom prst="rect">
            <a:avLst/>
          </a:prstGeom>
        </p:spPr>
      </p:pic>
      <p:sp>
        <p:nvSpPr>
          <p:cNvPr id="19" name="Title 1">
            <a:extLst>
              <a:ext uri="{FF2B5EF4-FFF2-40B4-BE49-F238E27FC236}">
                <a16:creationId xmlns:a16="http://schemas.microsoft.com/office/drawing/2014/main" id="{CDA96493-2BC9-3DAD-8C52-7E83C089EF5A}"/>
              </a:ext>
            </a:extLst>
          </p:cNvPr>
          <p:cNvSpPr txBox="1">
            <a:spLocks/>
          </p:cNvSpPr>
          <p:nvPr/>
        </p:nvSpPr>
        <p:spPr>
          <a:xfrm>
            <a:off x="1577745" y="0"/>
            <a:ext cx="7378262"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w="9525" cap="flat" cmpd="sng" algn="ctr">
            <a:solidFill>
              <a:srgbClr val="FF8F8F"/>
            </a:solidFill>
            <a:prstDash val="solid"/>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n w="0"/>
                <a:solidFill>
                  <a:schemeClr val="tx1"/>
                </a:solidFill>
                <a:effectLst>
                  <a:outerShdw blurRad="38100" dist="19050" dir="2700000" algn="tl" rotWithShape="0">
                    <a:schemeClr val="dk1">
                      <a:alpha val="40000"/>
                    </a:schemeClr>
                  </a:outerShdw>
                </a:effectLst>
              </a:rPr>
              <a:t>Noida Institute of Engineering and Technology, Greater Noida</a:t>
            </a:r>
          </a:p>
        </p:txBody>
      </p:sp>
    </p:spTree>
    <p:extLst>
      <p:ext uri="{BB962C8B-B14F-4D97-AF65-F5344CB8AC3E}">
        <p14:creationId xmlns:p14="http://schemas.microsoft.com/office/powerpoint/2010/main" val="3787368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35D884BE-FC8C-49D7-8322-A23EC77A6A95}" type="datetime1">
              <a:rPr lang="en-US" smtClean="0"/>
              <a:t>8/13/25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470526" y="2881"/>
            <a:ext cx="7673474" cy="771514"/>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81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R="0" indent="0" algn="ctr" fontAlgn="auto">
              <a:lnSpc>
                <a:spcPct val="100000"/>
              </a:lnSpc>
              <a:spcBef>
                <a:spcPct val="0"/>
              </a:spcBef>
              <a:spcAft>
                <a:spcPts val="0"/>
              </a:spcAft>
              <a:buClrTx/>
              <a:buSzTx/>
              <a:buFontTx/>
              <a:buNone/>
              <a:tabLst/>
              <a:defRPr/>
            </a:pPr>
            <a:r>
              <a:rPr lang="en-US" sz="2400" b="1" dirty="0">
                <a:solidFill>
                  <a:schemeClr val="tx1"/>
                </a:solidFill>
                <a:latin typeface="Times New Roman" panose="02020603050405020304" pitchFamily="18" charset="0"/>
                <a:cs typeface="Times New Roman" panose="02020603050405020304" pitchFamily="18" charset="0"/>
              </a:rPr>
              <a:t>Faculty Profile</a:t>
            </a:r>
          </a:p>
        </p:txBody>
      </p:sp>
      <p:sp>
        <p:nvSpPr>
          <p:cNvPr id="10" name="TextBox 9"/>
          <p:cNvSpPr txBox="1"/>
          <p:nvPr/>
        </p:nvSpPr>
        <p:spPr>
          <a:xfrm>
            <a:off x="762000" y="1447800"/>
            <a:ext cx="5970240" cy="2585323"/>
          </a:xfrm>
          <a:prstGeom prst="rect">
            <a:avLst/>
          </a:prstGeom>
          <a:noFill/>
        </p:spPr>
        <p:txBody>
          <a:bodyPr wrap="square" rtlCol="0">
            <a:spAutoFit/>
          </a:bodyPr>
          <a:lstStyle/>
          <a:p>
            <a:pPr algn="just"/>
            <a:r>
              <a:rPr lang="en-US" b="1" dirty="0">
                <a:latin typeface="Times New Roman" pitchFamily="18" charset="0"/>
                <a:cs typeface="Times New Roman" pitchFamily="18" charset="0"/>
              </a:rPr>
              <a:t>FACULTY PROFILE</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Name of Faculty: Dr. Sonal Dahiya</a:t>
            </a:r>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Designation &amp; Department: </a:t>
            </a:r>
            <a:r>
              <a:rPr lang="en-US" dirty="0">
                <a:latin typeface="Times New Roman" pitchFamily="18" charset="0"/>
                <a:cs typeface="Times New Roman" pitchFamily="18" charset="0"/>
              </a:rPr>
              <a:t>Associate Professor, AIML</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Qualification: </a:t>
            </a:r>
            <a:r>
              <a:rPr lang="en-US" dirty="0">
                <a:latin typeface="Times New Roman" pitchFamily="18" charset="0"/>
                <a:cs typeface="Times New Roman" pitchFamily="18" charset="0"/>
              </a:rPr>
              <a:t>B.E, </a:t>
            </a:r>
            <a:r>
              <a:rPr lang="en-US" dirty="0" err="1">
                <a:latin typeface="Times New Roman" pitchFamily="18" charset="0"/>
                <a:cs typeface="Times New Roman" pitchFamily="18" charset="0"/>
              </a:rPr>
              <a:t>M.Tech</a:t>
            </a:r>
            <a:r>
              <a:rPr lang="en-US" dirty="0">
                <a:latin typeface="Times New Roman" pitchFamily="18" charset="0"/>
                <a:cs typeface="Times New Roman" pitchFamily="18" charset="0"/>
              </a:rPr>
              <a:t>, PhD</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Experience: </a:t>
            </a:r>
            <a:r>
              <a:rPr lang="en-US" dirty="0">
                <a:latin typeface="Times New Roman" pitchFamily="18" charset="0"/>
                <a:cs typeface="Times New Roman" pitchFamily="18" charset="0"/>
              </a:rPr>
              <a:t>16 Years</a:t>
            </a:r>
            <a:endParaRPr lang="en-US" dirty="0"/>
          </a:p>
        </p:txBody>
      </p:sp>
      <p:pic>
        <p:nvPicPr>
          <p:cNvPr id="2" name="Picture 1" descr="A screenshot of a computer&#10;&#10;Description automatically generated">
            <a:extLst>
              <a:ext uri="{FF2B5EF4-FFF2-40B4-BE49-F238E27FC236}">
                <a16:creationId xmlns:a16="http://schemas.microsoft.com/office/drawing/2014/main" id="{5FFFC0F2-F883-F9A6-8BB4-D7C4500CEFB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3" name="Footer Placeholder 12">
            <a:extLst>
              <a:ext uri="{FF2B5EF4-FFF2-40B4-BE49-F238E27FC236}">
                <a16:creationId xmlns:a16="http://schemas.microsoft.com/office/drawing/2014/main" id="{AD820558-5242-B98B-A697-9FACFB958272}"/>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solidFill>
                  <a:schemeClr val="tx1"/>
                </a:solidFill>
              </a:rPr>
              <a:pPr/>
              <a:t>3</a:t>
            </a:fld>
            <a:endParaRPr lang="en-US" dirty="0">
              <a:solidFill>
                <a:schemeClr val="tx1"/>
              </a:solidFill>
            </a:endParaRPr>
          </a:p>
        </p:txBody>
      </p:sp>
      <p:sp>
        <p:nvSpPr>
          <p:cNvPr id="9" name="Content Placeholder 5">
            <a:extLst>
              <a:ext uri="{FF2B5EF4-FFF2-40B4-BE49-F238E27FC236}">
                <a16:creationId xmlns:a16="http://schemas.microsoft.com/office/drawing/2014/main" id="{691A3D75-66A7-49DC-9380-D7B99BBAFBF5}"/>
              </a:ext>
            </a:extLst>
          </p:cNvPr>
          <p:cNvSpPr txBox="1">
            <a:spLocks/>
          </p:cNvSpPr>
          <p:nvPr/>
        </p:nvSpPr>
        <p:spPr>
          <a:xfrm>
            <a:off x="2051720" y="1168126"/>
            <a:ext cx="6181632" cy="341713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B.Tech. (Computer Science AIML)  </a:t>
            </a:r>
          </a:p>
          <a:p>
            <a:r>
              <a:rPr lang="en-IN" sz="2400" dirty="0"/>
              <a:t>Core subject</a:t>
            </a:r>
          </a:p>
          <a:p>
            <a:r>
              <a:rPr lang="en-IN" sz="2400" dirty="0"/>
              <a:t>3rd SEMESTER </a:t>
            </a:r>
            <a:endParaRPr lang="en-US" sz="2400" dirty="0"/>
          </a:p>
          <a:p>
            <a:pPr marL="0" indent="0">
              <a:buNone/>
            </a:pPr>
            <a:r>
              <a:rPr lang="en-US" sz="2400" b="1" dirty="0"/>
              <a:t>                  </a:t>
            </a:r>
          </a:p>
          <a:p>
            <a:pPr marL="0" indent="0" algn="ctr">
              <a:lnSpc>
                <a:spcPct val="115000"/>
              </a:lnSpc>
              <a:spcBef>
                <a:spcPts val="0"/>
              </a:spcBef>
              <a:spcAft>
                <a:spcPts val="750"/>
              </a:spcAft>
              <a:buNone/>
            </a:pPr>
            <a:r>
              <a:rPr lang="en-US" sz="2400" b="1" dirty="0">
                <a:latin typeface="Times New Roman" panose="02020603050405020304" pitchFamily="18" charset="0"/>
                <a:cs typeface="Times New Roman" panose="02020603050405020304" pitchFamily="18" charset="0"/>
              </a:rPr>
              <a:t>PREDICTIVE ANALYTICS</a:t>
            </a:r>
          </a:p>
          <a:p>
            <a:pPr marL="0" indent="0" algn="ctr">
              <a:lnSpc>
                <a:spcPct val="115000"/>
              </a:lnSpc>
              <a:spcBef>
                <a:spcPts val="0"/>
              </a:spcBef>
              <a:spcAft>
                <a:spcPts val="750"/>
              </a:spcAft>
              <a:buNone/>
            </a:pPr>
            <a:endParaRPr lang="en-US" sz="2400" b="1" spc="4" dirty="0">
              <a:solidFill>
                <a:srgbClr val="000000"/>
              </a:solidFill>
              <a:latin typeface="Times New Roman" panose="02020603050405020304" pitchFamily="18" charset="0"/>
              <a:ea typeface="Times New Roman" panose="02020603050405020304" pitchFamily="18" charset="0"/>
            </a:endParaRPr>
          </a:p>
          <a:p>
            <a:pPr marL="0" indent="0" algn="ctr">
              <a:lnSpc>
                <a:spcPct val="115000"/>
              </a:lnSpc>
              <a:spcBef>
                <a:spcPts val="0"/>
              </a:spcBef>
              <a:spcAft>
                <a:spcPts val="750"/>
              </a:spcAft>
              <a:buNone/>
            </a:pPr>
            <a:endParaRPr lang="en-US" sz="2400" dirty="0"/>
          </a:p>
        </p:txBody>
      </p:sp>
      <p:sp>
        <p:nvSpPr>
          <p:cNvPr id="3" name="Date Placeholder 2"/>
          <p:cNvSpPr>
            <a:spLocks noGrp="1"/>
          </p:cNvSpPr>
          <p:nvPr>
            <p:ph type="dt" sz="half" idx="10"/>
          </p:nvPr>
        </p:nvSpPr>
        <p:spPr/>
        <p:txBody>
          <a:bodyPr/>
          <a:lstStyle/>
          <a:p>
            <a:fld id="{782353BC-0C7A-47E4-B90C-56DA12AC761A}" type="datetime1">
              <a:rPr lang="en-US" smtClean="0">
                <a:solidFill>
                  <a:schemeClr val="tx1"/>
                </a:solidFill>
              </a:rPr>
              <a:t>8/13/25</a:t>
            </a:fld>
            <a:endParaRPr lang="en-US" dirty="0">
              <a:solidFill>
                <a:schemeClr val="tx1"/>
              </a:solidFill>
            </a:endParaRPr>
          </a:p>
        </p:txBody>
      </p:sp>
      <p:pic>
        <p:nvPicPr>
          <p:cNvPr id="13" name="Picture 12">
            <a:extLst>
              <a:ext uri="{FF2B5EF4-FFF2-40B4-BE49-F238E27FC236}">
                <a16:creationId xmlns:a16="http://schemas.microsoft.com/office/drawing/2014/main" id="{78E91FED-0861-4262-B4A8-84819F0176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31340"/>
            <a:ext cx="1162829" cy="805372"/>
          </a:xfrm>
          <a:prstGeom prst="rect">
            <a:avLst/>
          </a:prstGeom>
        </p:spPr>
      </p:pic>
      <p:sp>
        <p:nvSpPr>
          <p:cNvPr id="14" name="Title 1">
            <a:extLst>
              <a:ext uri="{FF2B5EF4-FFF2-40B4-BE49-F238E27FC236}">
                <a16:creationId xmlns:a16="http://schemas.microsoft.com/office/drawing/2014/main" id="{D2283B93-54FE-41F0-81CE-7D376FC42D7B}"/>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Evaluation Scheme</a:t>
            </a:r>
          </a:p>
        </p:txBody>
      </p:sp>
      <p:pic>
        <p:nvPicPr>
          <p:cNvPr id="2" name="Picture 1" descr="A screenshot of a computer&#10;&#10;Description automatically generated">
            <a:extLst>
              <a:ext uri="{FF2B5EF4-FFF2-40B4-BE49-F238E27FC236}">
                <a16:creationId xmlns:a16="http://schemas.microsoft.com/office/drawing/2014/main" id="{F963A7B9-FE64-192C-CDCC-1DA2205F74B6}"/>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5" name="Picture 4" descr="A grid of letters and numbers&#10;&#10;AI-generated content may be incorrect.">
            <a:extLst>
              <a:ext uri="{FF2B5EF4-FFF2-40B4-BE49-F238E27FC236}">
                <a16:creationId xmlns:a16="http://schemas.microsoft.com/office/drawing/2014/main" id="{B2BEA6E4-390A-1F2E-0CA3-9DB04A93A8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5142" y="3460869"/>
            <a:ext cx="3797138" cy="1339956"/>
          </a:xfrm>
          <a:prstGeom prst="rect">
            <a:avLst/>
          </a:prstGeom>
        </p:spPr>
      </p:pic>
      <p:sp>
        <p:nvSpPr>
          <p:cNvPr id="4" name="Footer Placeholder 12">
            <a:extLst>
              <a:ext uri="{FF2B5EF4-FFF2-40B4-BE49-F238E27FC236}">
                <a16:creationId xmlns:a16="http://schemas.microsoft.com/office/drawing/2014/main" id="{05D0AE16-EA97-9A6C-69D6-2569D202331C}"/>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5144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80ED07-1A88-4B50-8A51-4E615B176A9B}" type="datetime1">
              <a:rPr lang="en-US" smtClean="0">
                <a:solidFill>
                  <a:prstClr val="black">
                    <a:tint val="75000"/>
                  </a:prstClr>
                </a:solidFill>
              </a:rPr>
              <a:t>8/13/25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187C76CF-34CE-16BE-85C7-ED82CC21D6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3DB9AC42-345F-9F12-8EC7-C98722D7E435}"/>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prstClr val="black"/>
                </a:solidFill>
              </a:rPr>
              <a:t>Course Contents / Syllabus</a:t>
            </a:r>
          </a:p>
        </p:txBody>
      </p:sp>
      <p:pic>
        <p:nvPicPr>
          <p:cNvPr id="3" name="Picture 2" descr="A screenshot of a computer&#10;&#10;Description automatically generated">
            <a:extLst>
              <a:ext uri="{FF2B5EF4-FFF2-40B4-BE49-F238E27FC236}">
                <a16:creationId xmlns:a16="http://schemas.microsoft.com/office/drawing/2014/main" id="{9018D53C-FC47-AC51-C5D4-4D49C08DEC7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7" name="Picture 6" descr="A computer information sheet with text&#10;&#10;AI-generated content may be incorrect.">
            <a:extLst>
              <a:ext uri="{FF2B5EF4-FFF2-40B4-BE49-F238E27FC236}">
                <a16:creationId xmlns:a16="http://schemas.microsoft.com/office/drawing/2014/main" id="{7395C909-8437-E538-C3CF-244C68D90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42" y="928255"/>
            <a:ext cx="8983921" cy="5525331"/>
          </a:xfrm>
          <a:prstGeom prst="rect">
            <a:avLst/>
          </a:prstGeom>
        </p:spPr>
      </p:pic>
      <p:sp>
        <p:nvSpPr>
          <p:cNvPr id="5" name="Footer Placeholder 12">
            <a:extLst>
              <a:ext uri="{FF2B5EF4-FFF2-40B4-BE49-F238E27FC236}">
                <a16:creationId xmlns:a16="http://schemas.microsoft.com/office/drawing/2014/main" id="{164B7E9E-DDE3-A42E-9E97-E46E1A16A256}"/>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2761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2475C85-31CD-4AEB-AE69-719EC1540112}" type="datetime1">
              <a:rPr lang="en-US" smtClean="0">
                <a:solidFill>
                  <a:prstClr val="black">
                    <a:tint val="75000"/>
                  </a:prstClr>
                </a:solidFill>
              </a:rPr>
              <a:t>8/13/25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5</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6484CE1B-D87C-C450-4B78-1A37F7424A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4348C115-F338-5A19-6880-728A2BC1501B}"/>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r>
              <a:rPr lang="en-IN" sz="2800" dirty="0"/>
              <a:t>Book Title/ External Links as per Syllabus</a:t>
            </a:r>
          </a:p>
        </p:txBody>
      </p:sp>
      <p:pic>
        <p:nvPicPr>
          <p:cNvPr id="5" name="Picture 4" descr="A screenshot of a computer&#10;&#10;Description automatically generated">
            <a:extLst>
              <a:ext uri="{FF2B5EF4-FFF2-40B4-BE49-F238E27FC236}">
                <a16:creationId xmlns:a16="http://schemas.microsoft.com/office/drawing/2014/main" id="{262BF54C-0D71-19C9-A24B-3D410842D6E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screenshot of a computer&#10;&#10;AI-generated content may be incorrect.">
            <a:extLst>
              <a:ext uri="{FF2B5EF4-FFF2-40B4-BE49-F238E27FC236}">
                <a16:creationId xmlns:a16="http://schemas.microsoft.com/office/drawing/2014/main" id="{1504538E-3196-FB94-CFBF-8A80B13538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36" y="900728"/>
            <a:ext cx="8728363" cy="5424946"/>
          </a:xfrm>
          <a:prstGeom prst="rect">
            <a:avLst/>
          </a:prstGeom>
        </p:spPr>
      </p:pic>
      <p:sp>
        <p:nvSpPr>
          <p:cNvPr id="3" name="Footer Placeholder 12">
            <a:extLst>
              <a:ext uri="{FF2B5EF4-FFF2-40B4-BE49-F238E27FC236}">
                <a16:creationId xmlns:a16="http://schemas.microsoft.com/office/drawing/2014/main" id="{A99DFC1B-567B-1704-B664-215A84EE24ED}"/>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7923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86417FCE-7047-491D-A9BE-C1BB362527B0}" type="datetime1">
              <a:rPr lang="en-US" sz="900" smtClean="0">
                <a:solidFill>
                  <a:prstClr val="black">
                    <a:tint val="75000"/>
                  </a:prstClr>
                </a:solidFill>
                <a:latin typeface="Calibri"/>
              </a:rPr>
              <a:t>8/13/25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6</a:t>
            </a:fld>
            <a:endParaRPr lang="en-US" sz="900">
              <a:solidFill>
                <a:prstClr val="black">
                  <a:tint val="75000"/>
                </a:prstClr>
              </a:solidFill>
              <a:latin typeface="Calibri"/>
            </a:endParaRPr>
          </a:p>
        </p:txBody>
      </p:sp>
      <p:sp>
        <p:nvSpPr>
          <p:cNvPr id="7" name="Title 1"/>
          <p:cNvSpPr txBox="1">
            <a:spLocks/>
          </p:cNvSpPr>
          <p:nvPr/>
        </p:nvSpPr>
        <p:spPr>
          <a:xfrm>
            <a:off x="1649896" y="8591"/>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3000" b="1" dirty="0">
                <a:solidFill>
                  <a:prstClr val="black"/>
                </a:solidFill>
                <a:latin typeface="Calibri"/>
              </a:rPr>
              <a:t>Branch wise Applications</a:t>
            </a:r>
          </a:p>
        </p:txBody>
      </p:sp>
      <p:sp>
        <p:nvSpPr>
          <p:cNvPr id="8" name="Content Placeholder 7">
            <a:extLst>
              <a:ext uri="{FF2B5EF4-FFF2-40B4-BE49-F238E27FC236}">
                <a16:creationId xmlns:a16="http://schemas.microsoft.com/office/drawing/2014/main" id="{D455D4FD-79DE-564F-9587-50D0944AFBA6}"/>
              </a:ext>
            </a:extLst>
          </p:cNvPr>
          <p:cNvSpPr>
            <a:spLocks noGrp="1"/>
          </p:cNvSpPr>
          <p:nvPr>
            <p:ph idx="1"/>
          </p:nvPr>
        </p:nvSpPr>
        <p:spPr>
          <a:xfrm>
            <a:off x="240632" y="785352"/>
            <a:ext cx="8662736" cy="5603990"/>
          </a:xfrm>
        </p:spPr>
        <p:txBody>
          <a:bodyPr>
            <a:normAutofit fontScale="85000" lnSpcReduction="10000"/>
          </a:bodyPr>
          <a:lstStyle/>
          <a:p>
            <a:pPr algn="just"/>
            <a:r>
              <a:rPr lang="en-IN" sz="2000" dirty="0"/>
              <a:t>Computer science encompasses a diverse array of specialized fields that address modern technological challenges and innovations. </a:t>
            </a:r>
            <a:r>
              <a:rPr lang="en-IN" sz="2000" b="1" dirty="0"/>
              <a:t>Artificial Intelligence (AI) &amp; Machine Learning (ML)</a:t>
            </a:r>
            <a:r>
              <a:rPr lang="en-IN" sz="2000" dirty="0"/>
              <a:t> empower systems to perceive, learn, and make decisions—from voice assistants and medical diagnostic tools to autonomous vehicles . </a:t>
            </a:r>
            <a:r>
              <a:rPr lang="en-IN" sz="2000" b="1" dirty="0"/>
              <a:t>Data Science &amp; Big Data</a:t>
            </a:r>
            <a:r>
              <a:rPr lang="en-IN" sz="2000" dirty="0"/>
              <a:t> blend statistics, data </a:t>
            </a:r>
            <a:r>
              <a:rPr lang="en-IN" sz="2000" dirty="0" err="1"/>
              <a:t>modeling</a:t>
            </a:r>
            <a:r>
              <a:rPr lang="en-IN" sz="2000" dirty="0"/>
              <a:t>, and programming to uncover insights for business intelligence, fraud detection, and predictive analytics. </a:t>
            </a:r>
            <a:r>
              <a:rPr lang="en-IN" sz="2000" b="1" dirty="0"/>
              <a:t>Software Engineering</a:t>
            </a:r>
            <a:r>
              <a:rPr lang="en-IN" sz="2000" dirty="0"/>
              <a:t> focuses on the full lifecycle of building robust applications—from mobile and web platforms to enterprise and industrial systems . In </a:t>
            </a:r>
            <a:r>
              <a:rPr lang="en-IN" sz="2000" b="1" dirty="0"/>
              <a:t>Cybersecurity &amp; Cryptography</a:t>
            </a:r>
            <a:r>
              <a:rPr lang="en-IN" sz="2000" dirty="0"/>
              <a:t>, specialists design secure protocols and systems to protect networks, financial infrastructure, and sensitive personal data. </a:t>
            </a:r>
            <a:r>
              <a:rPr lang="en-IN" sz="2000" b="1" dirty="0"/>
              <a:t>Cloud Computing &amp; DevOps</a:t>
            </a:r>
            <a:r>
              <a:rPr lang="en-IN" sz="2000" dirty="0"/>
              <a:t> enable scalable on-demand services, powering online gaming, streaming, and enterprise applications with automated deployment pipelines . Fields like </a:t>
            </a:r>
            <a:r>
              <a:rPr lang="en-IN" sz="2000" b="1" dirty="0"/>
              <a:t>Computer Graphics &amp; Visualization</a:t>
            </a:r>
            <a:r>
              <a:rPr lang="en-IN" sz="2000" dirty="0"/>
              <a:t>, </a:t>
            </a:r>
            <a:r>
              <a:rPr lang="en-IN" sz="2000" b="1" dirty="0"/>
              <a:t>Computer Vision</a:t>
            </a:r>
            <a:r>
              <a:rPr lang="en-IN" sz="2000" dirty="0"/>
              <a:t>, and </a:t>
            </a:r>
            <a:r>
              <a:rPr lang="en-IN" sz="2000" b="1" dirty="0"/>
              <a:t>HCI</a:t>
            </a:r>
            <a:r>
              <a:rPr lang="en-IN" sz="2000" dirty="0"/>
              <a:t> focus on visual, interactive, and user-centric computing, driving VR/AR, gaming, medical imaging, and intuitive interfaces. </a:t>
            </a:r>
            <a:r>
              <a:rPr lang="en-IN" sz="2000" b="1" dirty="0"/>
              <a:t>Algorithms &amp; Data Structures</a:t>
            </a:r>
            <a:r>
              <a:rPr lang="en-IN" sz="2000" dirty="0"/>
              <a:t> form the theoretical backbone, optimizing search, encryption, and data retrieval while informing compiler and database design. At the hardware level, </a:t>
            </a:r>
            <a:r>
              <a:rPr lang="en-IN" sz="2000" b="1" dirty="0"/>
              <a:t>Computer Architecture &amp; Embedded Systems</a:t>
            </a:r>
            <a:r>
              <a:rPr lang="en-IN" sz="2000" dirty="0"/>
              <a:t> support IoT, smart devices, and robotics through efficient design of processors and sensors . </a:t>
            </a:r>
            <a:r>
              <a:rPr lang="en-IN" sz="2000" b="1" dirty="0"/>
              <a:t>Blockchain &amp; Distributed Systems</a:t>
            </a:r>
            <a:r>
              <a:rPr lang="en-IN" sz="2000" dirty="0"/>
              <a:t> revolutionize secure, decentralized applications in finance and supply chains. Emerging areas like </a:t>
            </a:r>
            <a:r>
              <a:rPr lang="en-IN" sz="2000" b="1" dirty="0"/>
              <a:t>Quantum Computing</a:t>
            </a:r>
            <a:r>
              <a:rPr lang="en-IN" sz="2000" dirty="0"/>
              <a:t> and </a:t>
            </a:r>
            <a:r>
              <a:rPr lang="en-IN" sz="2000" b="1" dirty="0"/>
              <a:t>Neuromorphic/Biological Computing</a:t>
            </a:r>
            <a:r>
              <a:rPr lang="en-IN" sz="2000" dirty="0"/>
              <a:t> promise breakthroughs in simulation, optimization, and ultra-efficient intelligent systems—whether using qubits to accelerate drug discovery or neuronal circuits to mimic brain-like computation .</a:t>
            </a:r>
            <a:endParaRPr lang="en-US" sz="2000" dirty="0">
              <a:solidFill>
                <a:srgbClr val="181818"/>
              </a:solidFill>
            </a:endParaRPr>
          </a:p>
        </p:txBody>
      </p:sp>
      <p:pic>
        <p:nvPicPr>
          <p:cNvPr id="9" name="Picture 8">
            <a:extLst>
              <a:ext uri="{FF2B5EF4-FFF2-40B4-BE49-F238E27FC236}">
                <a16:creationId xmlns:a16="http://schemas.microsoft.com/office/drawing/2014/main" id="{1A8C513B-AE17-1B4D-948D-037A94802E81}"/>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01AC5A2-96E9-6386-1B40-A2EFBB5D16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Footer Placeholder 12">
            <a:extLst>
              <a:ext uri="{FF2B5EF4-FFF2-40B4-BE49-F238E27FC236}">
                <a16:creationId xmlns:a16="http://schemas.microsoft.com/office/drawing/2014/main" id="{BB4E670B-7E25-0A7C-B68F-A662927D3D3C}"/>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0080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382000" cy="4800600"/>
          </a:xfrm>
        </p:spPr>
        <p:txBody>
          <a:bodyPr>
            <a:noAutofit/>
          </a:bodyPr>
          <a:lstStyle/>
          <a:p>
            <a:pPr marL="0" indent="0" algn="just">
              <a:lnSpc>
                <a:spcPct val="200000"/>
              </a:lnSpc>
              <a:buNone/>
            </a:pPr>
            <a:r>
              <a:rPr lang="en-IN" sz="2400" b="1" kern="1200" dirty="0">
                <a:solidFill>
                  <a:schemeClr val="tx1"/>
                </a:solidFill>
                <a:effectLst/>
                <a:latin typeface="+mj-lt"/>
              </a:rPr>
              <a:t>The objective of this course is -</a:t>
            </a:r>
          </a:p>
          <a:p>
            <a:pPr algn="just"/>
            <a:r>
              <a:rPr lang="en-US" sz="2000" b="1" dirty="0"/>
              <a:t>Fundamental HPC Concepts &amp; Terminology Introduce </a:t>
            </a:r>
            <a:r>
              <a:rPr lang="en-US" sz="2000" dirty="0"/>
              <a:t>students to essential HPC concepts like parallelism, scaling, and performance (speedup vs. efficiency). Explain why HPC is vital across scientific and engineering domains</a:t>
            </a:r>
          </a:p>
          <a:p>
            <a:pPr algn="just"/>
            <a:r>
              <a:rPr lang="en-US" sz="2000" b="1" dirty="0"/>
              <a:t>Understanding Modern Architectures </a:t>
            </a:r>
            <a:r>
              <a:rPr lang="en-US" sz="2000" dirty="0"/>
              <a:t>Cover shared‑memory and distributed systems (clusters, GPUs, accelerators), their architectures, and how hardware design influences software performance.</a:t>
            </a:r>
          </a:p>
          <a:p>
            <a:pPr algn="just"/>
            <a:r>
              <a:rPr lang="en-US" sz="2000" b="1" dirty="0"/>
              <a:t>Mastery of Parallel Programming Models </a:t>
            </a:r>
            <a:r>
              <a:rPr lang="en-US" sz="2000" dirty="0"/>
              <a:t>Teach key parallel programming paradigms:</a:t>
            </a:r>
          </a:p>
          <a:p>
            <a:pPr lvl="1" algn="just">
              <a:buFont typeface="Wingdings" panose="05000000000000000000" pitchFamily="2" charset="2"/>
              <a:buChar char="Ø"/>
            </a:pPr>
            <a:r>
              <a:rPr lang="en-US" sz="1600" dirty="0"/>
              <a:t>Shared memory: OpenMP</a:t>
            </a:r>
          </a:p>
          <a:p>
            <a:pPr lvl="1" algn="just">
              <a:buFont typeface="Wingdings" panose="05000000000000000000" pitchFamily="2" charset="2"/>
              <a:buChar char="Ø"/>
            </a:pPr>
            <a:r>
              <a:rPr lang="en-US" sz="1600" dirty="0"/>
              <a:t>Distributed memory: MPI</a:t>
            </a:r>
          </a:p>
          <a:p>
            <a:pPr lvl="1" algn="just">
              <a:buFont typeface="Wingdings" panose="05000000000000000000" pitchFamily="2" charset="2"/>
              <a:buChar char="Ø"/>
            </a:pPr>
            <a:r>
              <a:rPr lang="en-US" sz="1600" dirty="0"/>
              <a:t>Hardware-accelerated: CUDA, OpenCL, </a:t>
            </a:r>
            <a:r>
              <a:rPr lang="en-US" sz="1600" dirty="0" err="1"/>
              <a:t>OpenACC</a:t>
            </a:r>
            <a:endParaRPr lang="en-US" sz="1600" dirty="0"/>
          </a:p>
        </p:txBody>
      </p:sp>
      <p:sp>
        <p:nvSpPr>
          <p:cNvPr id="4" name="Date Placeholder 3"/>
          <p:cNvSpPr>
            <a:spLocks noGrp="1"/>
          </p:cNvSpPr>
          <p:nvPr>
            <p:ph type="dt" sz="half" idx="10"/>
          </p:nvPr>
        </p:nvSpPr>
        <p:spPr/>
        <p:txBody>
          <a:bodyPr/>
          <a:lstStyle/>
          <a:p>
            <a:pPr defTabSz="685800">
              <a:defRPr/>
            </a:pPr>
            <a:fld id="{714C4790-0976-446E-8D19-0F5D29C689EF}" type="datetime1">
              <a:rPr lang="en-US" sz="900" smtClean="0">
                <a:solidFill>
                  <a:prstClr val="black">
                    <a:tint val="75000"/>
                  </a:prstClr>
                </a:solidFill>
                <a:latin typeface="Calibri"/>
              </a:rPr>
              <a:t>8/13/25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7</a:t>
            </a:fld>
            <a:endParaRPr lang="en-US" sz="900">
              <a:solidFill>
                <a:prstClr val="black">
                  <a:tint val="75000"/>
                </a:prstClr>
              </a:solidFill>
              <a:latin typeface="Calibri"/>
            </a:endParaRPr>
          </a:p>
        </p:txBody>
      </p:sp>
      <p:sp>
        <p:nvSpPr>
          <p:cNvPr id="7" name="Title 1"/>
          <p:cNvSpPr txBox="1">
            <a:spLocks/>
          </p:cNvSpPr>
          <p:nvPr/>
        </p:nvSpPr>
        <p:spPr>
          <a:xfrm>
            <a:off x="1649896" y="0"/>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2400" dirty="0">
                <a:solidFill>
                  <a:prstClr val="black"/>
                </a:solidFill>
                <a:latin typeface="Calibri"/>
              </a:rPr>
              <a:t>Course Objective</a:t>
            </a:r>
          </a:p>
        </p:txBody>
      </p:sp>
      <p:pic>
        <p:nvPicPr>
          <p:cNvPr id="8" name="Picture 7">
            <a:extLst>
              <a:ext uri="{FF2B5EF4-FFF2-40B4-BE49-F238E27FC236}">
                <a16:creationId xmlns:a16="http://schemas.microsoft.com/office/drawing/2014/main" id="{46DC10CE-C9A2-074B-8A9C-9CECC2DE51F8}"/>
              </a:ext>
            </a:extLst>
          </p:cNvPr>
          <p:cNvPicPr>
            <a:picLocks noChangeAspect="1"/>
          </p:cNvPicPr>
          <p:nvPr/>
        </p:nvPicPr>
        <p:blipFill>
          <a:blip r:embed="rId2"/>
          <a:stretch>
            <a:fillRect/>
          </a:stretch>
        </p:blipFill>
        <p:spPr>
          <a:xfrm>
            <a:off x="0" y="-27448"/>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48606449-F2C8-DDE3-226A-1258D301D2F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9" name="Footer Placeholder 12">
            <a:extLst>
              <a:ext uri="{FF2B5EF4-FFF2-40B4-BE49-F238E27FC236}">
                <a16:creationId xmlns:a16="http://schemas.microsoft.com/office/drawing/2014/main" id="{3C5F2D76-9DC3-AB70-8C5C-F56CAAF5DE78}"/>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24110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8</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Course Outcomes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96" y="136633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6F563DF8-5D5B-4A8A-AC32-BE8C9A71334A}" type="datetime1">
              <a:rPr lang="en-US" smtClean="0">
                <a:solidFill>
                  <a:schemeClr val="tx1"/>
                </a:solidFill>
              </a:rPr>
              <a:t>8/13/25</a:t>
            </a:fld>
            <a:endParaRPr lang="en-US" dirty="0">
              <a:solidFill>
                <a:schemeClr val="tx1"/>
              </a:solidFill>
            </a:endParaRPr>
          </a:p>
        </p:txBody>
      </p:sp>
      <p:pic>
        <p:nvPicPr>
          <p:cNvPr id="10" name="Picture 9">
            <a:extLst>
              <a:ext uri="{FF2B5EF4-FFF2-40B4-BE49-F238E27FC236}">
                <a16:creationId xmlns:a16="http://schemas.microsoft.com/office/drawing/2014/main" id="{10D79750-6B6E-4948-86A9-BC05E73968CD}"/>
              </a:ext>
            </a:extLst>
          </p:cNvPr>
          <p:cNvPicPr>
            <a:picLocks noChangeAspect="1"/>
          </p:cNvPicPr>
          <p:nvPr/>
        </p:nvPicPr>
        <p:blipFill>
          <a:blip r:embed="rId3"/>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279CD4C5-7386-BB7F-4FD5-3216343FF9E5}"/>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B6403602-67B6-69F0-507C-67C83869B2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382" y="1025237"/>
            <a:ext cx="8631382" cy="5140036"/>
          </a:xfrm>
          <a:prstGeom prst="rect">
            <a:avLst/>
          </a:prstGeom>
        </p:spPr>
      </p:pic>
      <p:sp>
        <p:nvSpPr>
          <p:cNvPr id="7" name="Footer Placeholder 12">
            <a:extLst>
              <a:ext uri="{FF2B5EF4-FFF2-40B4-BE49-F238E27FC236}">
                <a16:creationId xmlns:a16="http://schemas.microsoft.com/office/drawing/2014/main" id="{8505BD64-BE29-DFC4-02A6-E093FC992E1C}"/>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1417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9</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Program Outcomes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D4BA78BF-E81C-482F-AB0B-8C0B99B3943D}" type="datetime1">
              <a:rPr lang="en-US" smtClean="0">
                <a:solidFill>
                  <a:schemeClr val="tx1"/>
                </a:solidFill>
              </a:rPr>
              <a:t>8/13/25</a:t>
            </a:fld>
            <a:endParaRPr lang="en-US" dirty="0">
              <a:solidFill>
                <a:schemeClr val="tx1"/>
              </a:solidFill>
            </a:endParaRPr>
          </a:p>
        </p:txBody>
      </p:sp>
      <p:sp>
        <p:nvSpPr>
          <p:cNvPr id="12" name="TextBox 11">
            <a:extLst>
              <a:ext uri="{FF2B5EF4-FFF2-40B4-BE49-F238E27FC236}">
                <a16:creationId xmlns:a16="http://schemas.microsoft.com/office/drawing/2014/main" id="{5406A62A-D4AF-D04B-8445-69F55CAAD422}"/>
              </a:ext>
            </a:extLst>
          </p:cNvPr>
          <p:cNvSpPr txBox="1"/>
          <p:nvPr/>
        </p:nvSpPr>
        <p:spPr>
          <a:xfrm>
            <a:off x="614140" y="1089040"/>
            <a:ext cx="8140839" cy="4955203"/>
          </a:xfrm>
          <a:prstGeom prst="rect">
            <a:avLst/>
          </a:prstGeom>
          <a:noFill/>
        </p:spPr>
        <p:txBody>
          <a:bodyPr wrap="square">
            <a:spAutoFit/>
          </a:bodyPr>
          <a:lstStyle/>
          <a:p>
            <a:pPr marL="0" indent="0">
              <a:buNone/>
            </a:pPr>
            <a:r>
              <a:rPr lang="en-US" sz="2800" b="1" dirty="0">
                <a:latin typeface="+mj-lt"/>
                <a:cs typeface="Times New Roman" panose="02020603050405020304" pitchFamily="18" charset="0"/>
              </a:rPr>
              <a:t>Engineering Graduates will be able to Understand:</a:t>
            </a:r>
          </a:p>
          <a:p>
            <a:pPr marL="0" indent="0">
              <a:buNone/>
            </a:pPr>
            <a:r>
              <a:rPr lang="en-US" sz="2400" dirty="0">
                <a:latin typeface="+mj-lt"/>
                <a:cs typeface="Times New Roman" panose="02020603050405020304" pitchFamily="18" charset="0"/>
              </a:rPr>
              <a:t>1. Engineering knowledge</a:t>
            </a:r>
          </a:p>
          <a:p>
            <a:pPr marL="0" indent="0">
              <a:buNone/>
            </a:pPr>
            <a:r>
              <a:rPr lang="en-US" sz="2400" dirty="0">
                <a:latin typeface="+mj-lt"/>
                <a:cs typeface="Times New Roman" panose="02020603050405020304" pitchFamily="18" charset="0"/>
              </a:rPr>
              <a:t>2. Problem analysis</a:t>
            </a:r>
          </a:p>
          <a:p>
            <a:pPr marL="0" indent="0">
              <a:buNone/>
            </a:pPr>
            <a:r>
              <a:rPr lang="en-US" sz="2400" dirty="0">
                <a:latin typeface="+mj-lt"/>
                <a:cs typeface="Times New Roman" panose="02020603050405020304" pitchFamily="18" charset="0"/>
              </a:rPr>
              <a:t>3. Design/development of solutions</a:t>
            </a:r>
          </a:p>
          <a:p>
            <a:pPr marL="0" indent="0">
              <a:buNone/>
            </a:pPr>
            <a:r>
              <a:rPr lang="en-US" sz="2400" dirty="0">
                <a:latin typeface="+mj-lt"/>
                <a:cs typeface="Times New Roman" panose="02020603050405020304" pitchFamily="18" charset="0"/>
              </a:rPr>
              <a:t>4. Conduct investigations of complex </a:t>
            </a:r>
          </a:p>
          <a:p>
            <a:pPr marL="0" indent="0">
              <a:buNone/>
            </a:pPr>
            <a:r>
              <a:rPr lang="en-US" sz="2400" dirty="0">
                <a:latin typeface="+mj-lt"/>
                <a:cs typeface="Times New Roman" panose="02020603050405020304" pitchFamily="18" charset="0"/>
              </a:rPr>
              <a:t>5. Modern tool usage </a:t>
            </a:r>
          </a:p>
          <a:p>
            <a:pPr marL="0" indent="0">
              <a:buNone/>
            </a:pPr>
            <a:r>
              <a:rPr lang="en-US" sz="2400" dirty="0">
                <a:latin typeface="+mj-lt"/>
                <a:cs typeface="Times New Roman" panose="02020603050405020304" pitchFamily="18" charset="0"/>
              </a:rPr>
              <a:t>6. The engineer and society </a:t>
            </a:r>
          </a:p>
          <a:p>
            <a:pPr marL="0" indent="0">
              <a:buNone/>
            </a:pPr>
            <a:r>
              <a:rPr lang="en-US" sz="2400" dirty="0">
                <a:latin typeface="+mj-lt"/>
                <a:cs typeface="Times New Roman" panose="02020603050405020304" pitchFamily="18" charset="0"/>
              </a:rPr>
              <a:t>7. Environment and sustainability </a:t>
            </a:r>
          </a:p>
          <a:p>
            <a:pPr marL="0" indent="0">
              <a:buNone/>
            </a:pPr>
            <a:r>
              <a:rPr lang="en-US" sz="2400" dirty="0">
                <a:latin typeface="+mj-lt"/>
                <a:cs typeface="Times New Roman" panose="02020603050405020304" pitchFamily="18" charset="0"/>
              </a:rPr>
              <a:t>8. Ethics</a:t>
            </a:r>
          </a:p>
          <a:p>
            <a:pPr marL="0" indent="0">
              <a:buNone/>
            </a:pPr>
            <a:r>
              <a:rPr lang="en-US" sz="2400" dirty="0">
                <a:latin typeface="+mj-lt"/>
                <a:cs typeface="Times New Roman" panose="02020603050405020304" pitchFamily="18" charset="0"/>
              </a:rPr>
              <a:t> 9. Individual and team work</a:t>
            </a:r>
          </a:p>
          <a:p>
            <a:pPr marL="0" indent="0">
              <a:buNone/>
            </a:pPr>
            <a:r>
              <a:rPr lang="en-US" sz="2400" dirty="0">
                <a:latin typeface="+mj-lt"/>
                <a:cs typeface="Times New Roman" panose="02020603050405020304" pitchFamily="18" charset="0"/>
              </a:rPr>
              <a:t>10. Communication</a:t>
            </a:r>
          </a:p>
          <a:p>
            <a:pPr marL="0" indent="0">
              <a:buNone/>
            </a:pPr>
            <a:r>
              <a:rPr lang="en-US" sz="2400" dirty="0">
                <a:latin typeface="+mj-lt"/>
                <a:cs typeface="Times New Roman" panose="02020603050405020304" pitchFamily="18" charset="0"/>
              </a:rPr>
              <a:t>11. Project management and finance</a:t>
            </a:r>
          </a:p>
          <a:p>
            <a:pPr marL="0" indent="0">
              <a:buNone/>
            </a:pPr>
            <a:r>
              <a:rPr lang="en-US" sz="2400" dirty="0">
                <a:latin typeface="+mj-lt"/>
                <a:cs typeface="Times New Roman" panose="02020603050405020304" pitchFamily="18" charset="0"/>
              </a:rPr>
              <a:t>12. Life-long learning</a:t>
            </a:r>
            <a:endParaRPr lang="en-US" sz="2400" dirty="0">
              <a:latin typeface="+mj-lt"/>
            </a:endParaRPr>
          </a:p>
        </p:txBody>
      </p:sp>
      <p:pic>
        <p:nvPicPr>
          <p:cNvPr id="9" name="Picture 8">
            <a:extLst>
              <a:ext uri="{FF2B5EF4-FFF2-40B4-BE49-F238E27FC236}">
                <a16:creationId xmlns:a16="http://schemas.microsoft.com/office/drawing/2014/main" id="{61B3EE6B-8E6B-474D-8614-0D1D714871FF}"/>
              </a:ext>
            </a:extLst>
          </p:cNvPr>
          <p:cNvPicPr>
            <a:picLocks noChangeAspect="1"/>
          </p:cNvPicPr>
          <p:nvPr/>
        </p:nvPicPr>
        <p:blipFill>
          <a:blip r:embed="rId3"/>
          <a:stretch>
            <a:fillRect/>
          </a:stretch>
        </p:blipFill>
        <p:spPr>
          <a:xfrm>
            <a:off x="-19722" y="7620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FF32AC1-CC67-D202-2598-A39EED313658}"/>
              </a:ext>
            </a:extLst>
          </p:cNvPr>
          <p:cNvPicPr>
            <a:picLocks noChangeAspect="1"/>
          </p:cNvPicPr>
          <p:nvPr/>
        </p:nvPicPr>
        <p:blipFill rotWithShape="1">
          <a:blip r:embed="rId4"/>
          <a:srcRect l="26091" t="36058" r="24385" b="26405"/>
          <a:stretch/>
        </p:blipFill>
        <p:spPr bwMode="auto">
          <a:xfrm>
            <a:off x="0" y="34529"/>
            <a:ext cx="1749346" cy="745127"/>
          </a:xfrm>
          <a:prstGeom prst="rect">
            <a:avLst/>
          </a:prstGeom>
          <a:ln>
            <a:noFill/>
          </a:ln>
          <a:extLst>
            <a:ext uri="{53640926-AAD7-44D8-BBD7-CCE9431645EC}">
              <a14:shadowObscured xmlns:a14="http://schemas.microsoft.com/office/drawing/2010/main"/>
            </a:ext>
          </a:extLst>
        </p:spPr>
      </p:pic>
      <p:sp>
        <p:nvSpPr>
          <p:cNvPr id="7" name="Footer Placeholder 12">
            <a:extLst>
              <a:ext uri="{FF2B5EF4-FFF2-40B4-BE49-F238E27FC236}">
                <a16:creationId xmlns:a16="http://schemas.microsoft.com/office/drawing/2014/main" id="{234BA1BF-20D9-3E36-BC62-5B426A0C3129}"/>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3135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10</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CO-PO Mapping</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EF97B3D6-64AE-472A-BBD2-E241990E1924}" type="datetime1">
              <a:rPr lang="en-US" smtClean="0">
                <a:solidFill>
                  <a:schemeClr val="tx1"/>
                </a:solidFill>
              </a:rPr>
              <a:t>8/13/25</a:t>
            </a:fld>
            <a:endParaRPr lang="en-US" dirty="0">
              <a:solidFill>
                <a:schemeClr val="tx1"/>
              </a:solidFill>
            </a:endParaRPr>
          </a:p>
        </p:txBody>
      </p:sp>
      <p:pic>
        <p:nvPicPr>
          <p:cNvPr id="10" name="Picture 9">
            <a:extLst>
              <a:ext uri="{FF2B5EF4-FFF2-40B4-BE49-F238E27FC236}">
                <a16:creationId xmlns:a16="http://schemas.microsoft.com/office/drawing/2014/main" id="{6BEFD019-1EB7-DB4A-946C-17C635CE9D95}"/>
              </a:ext>
            </a:extLst>
          </p:cNvPr>
          <p:cNvPicPr>
            <a:picLocks noChangeAspect="1"/>
          </p:cNvPicPr>
          <p:nvPr/>
        </p:nvPicPr>
        <p:blipFill>
          <a:blip r:embed="rId3"/>
          <a:stretch>
            <a:fillRect/>
          </a:stretch>
        </p:blipFill>
        <p:spPr>
          <a:xfrm>
            <a:off x="-19722" y="0"/>
            <a:ext cx="1384300" cy="8128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C17934A-6F99-C238-921E-52B8D9C255B3}"/>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table with numbers and letters&#10;&#10;AI-generated content may be incorrect.">
            <a:extLst>
              <a:ext uri="{FF2B5EF4-FFF2-40B4-BE49-F238E27FC236}">
                <a16:creationId xmlns:a16="http://schemas.microsoft.com/office/drawing/2014/main" id="{CCE03D5A-32CC-E07C-2EA3-0C2852DFD4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346" y="1177636"/>
            <a:ext cx="8796127" cy="4696969"/>
          </a:xfrm>
          <a:prstGeom prst="rect">
            <a:avLst/>
          </a:prstGeom>
        </p:spPr>
      </p:pic>
      <p:sp>
        <p:nvSpPr>
          <p:cNvPr id="3" name="Footer Placeholder 12">
            <a:extLst>
              <a:ext uri="{FF2B5EF4-FFF2-40B4-BE49-F238E27FC236}">
                <a16:creationId xmlns:a16="http://schemas.microsoft.com/office/drawing/2014/main" id="{123682CB-91AB-E5FD-D79E-847C908D6872}"/>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89227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FA9079-40A6-3586-0188-BE197C216826}"/>
              </a:ext>
            </a:extLst>
          </p:cNvPr>
          <p:cNvSpPr>
            <a:spLocks noGrp="1"/>
          </p:cNvSpPr>
          <p:nvPr>
            <p:ph type="dt" sz="half" idx="10"/>
          </p:nvPr>
        </p:nvSpPr>
        <p:spPr/>
        <p:txBody>
          <a:bodyPr/>
          <a:lstStyle/>
          <a:p>
            <a:fld id="{16682EDB-6DBE-48EA-BE4B-5D4356A38B0E}" type="datetime1">
              <a:rPr lang="en-US" smtClean="0"/>
              <a:t>8/13/25</a:t>
            </a:fld>
            <a:endParaRPr lang="en-US" dirty="0"/>
          </a:p>
        </p:txBody>
      </p:sp>
      <p:sp>
        <p:nvSpPr>
          <p:cNvPr id="4" name="Slide Number Placeholder 3">
            <a:extLst>
              <a:ext uri="{FF2B5EF4-FFF2-40B4-BE49-F238E27FC236}">
                <a16:creationId xmlns:a16="http://schemas.microsoft.com/office/drawing/2014/main" id="{6B86181E-91DF-5F84-0C89-326B8EE19F76}"/>
              </a:ext>
            </a:extLst>
          </p:cNvPr>
          <p:cNvSpPr>
            <a:spLocks noGrp="1"/>
          </p:cNvSpPr>
          <p:nvPr>
            <p:ph type="sldNum" sz="quarter" idx="12"/>
          </p:nvPr>
        </p:nvSpPr>
        <p:spPr/>
        <p:txBody>
          <a:bodyPr/>
          <a:lstStyle/>
          <a:p>
            <a:fld id="{B6F15528-21DE-4FAA-801E-634DDDAF4B2B}" type="slidenum">
              <a:rPr lang="en-US" smtClean="0"/>
              <a:pPr/>
              <a:t>11</a:t>
            </a:fld>
            <a:endParaRPr lang="en-US" dirty="0"/>
          </a:p>
        </p:txBody>
      </p:sp>
      <p:sp>
        <p:nvSpPr>
          <p:cNvPr id="5" name="Title 1">
            <a:extLst>
              <a:ext uri="{FF2B5EF4-FFF2-40B4-BE49-F238E27FC236}">
                <a16:creationId xmlns:a16="http://schemas.microsoft.com/office/drawing/2014/main" id="{C06D7BF1-4137-89EF-0144-98006280540C}"/>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Specific Outcomes (PSOs)</a:t>
            </a:r>
          </a:p>
        </p:txBody>
      </p:sp>
      <p:sp>
        <p:nvSpPr>
          <p:cNvPr id="7" name="TextBox 6">
            <a:extLst>
              <a:ext uri="{FF2B5EF4-FFF2-40B4-BE49-F238E27FC236}">
                <a16:creationId xmlns:a16="http://schemas.microsoft.com/office/drawing/2014/main" id="{DDBF29FD-3724-9CD2-F159-8A84D7FE960A}"/>
              </a:ext>
            </a:extLst>
          </p:cNvPr>
          <p:cNvSpPr txBox="1"/>
          <p:nvPr/>
        </p:nvSpPr>
        <p:spPr>
          <a:xfrm>
            <a:off x="304800" y="1154811"/>
            <a:ext cx="8598568" cy="4154984"/>
          </a:xfrm>
          <a:prstGeom prst="rect">
            <a:avLst/>
          </a:prstGeom>
          <a:noFill/>
        </p:spPr>
        <p:txBody>
          <a:bodyPr wrap="square">
            <a:spAutoFit/>
          </a:bodyPr>
          <a:lstStyle/>
          <a:p>
            <a:pPr algn="just"/>
            <a:r>
              <a:rPr lang="en-US" sz="2400" b="1" dirty="0"/>
              <a:t>PSO’s</a:t>
            </a:r>
          </a:p>
          <a:p>
            <a:pPr algn="just"/>
            <a:r>
              <a:rPr lang="en-US" sz="2400" b="1" dirty="0"/>
              <a:t>At the end of the program, the student will be able to-</a:t>
            </a:r>
          </a:p>
          <a:p>
            <a:pPr algn="just"/>
            <a:endParaRPr lang="en-US" sz="2400" dirty="0"/>
          </a:p>
          <a:p>
            <a:pPr algn="just"/>
            <a:r>
              <a:rPr lang="en-US" sz="2400" dirty="0"/>
              <a:t>PSO 1: Apply suitable techniques, modern tools to solve complex engineering problems in the field of computer science.</a:t>
            </a:r>
          </a:p>
          <a:p>
            <a:pPr algn="just"/>
            <a:endParaRPr lang="en-US" sz="2400" dirty="0"/>
          </a:p>
          <a:p>
            <a:pPr algn="just"/>
            <a:r>
              <a:rPr lang="en-US" sz="2400" dirty="0"/>
              <a:t>PSO  2: Design and optimize, ethical and innovative solutions for the betterment of the society.</a:t>
            </a:r>
          </a:p>
          <a:p>
            <a:pPr algn="just"/>
            <a:endParaRPr lang="en-US" sz="2400" dirty="0"/>
          </a:p>
          <a:p>
            <a:pPr algn="just"/>
            <a:r>
              <a:rPr lang="en-US" sz="2400" dirty="0"/>
              <a:t>PSO  3: Work as an individual or lead in a team with good communication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7A23A25C-20DC-E8DE-668D-B66285AB9408}"/>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Footer Placeholder 12">
            <a:extLst>
              <a:ext uri="{FF2B5EF4-FFF2-40B4-BE49-F238E27FC236}">
                <a16:creationId xmlns:a16="http://schemas.microsoft.com/office/drawing/2014/main" id="{F43904B6-C9EA-29EC-C0BE-BE2CA25A9552}"/>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03396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BB6C61-91CA-5C97-BF6C-A2F759E3FFD4}"/>
              </a:ext>
            </a:extLst>
          </p:cNvPr>
          <p:cNvSpPr>
            <a:spLocks noGrp="1"/>
          </p:cNvSpPr>
          <p:nvPr>
            <p:ph type="dt" sz="half" idx="10"/>
          </p:nvPr>
        </p:nvSpPr>
        <p:spPr/>
        <p:txBody>
          <a:bodyPr/>
          <a:lstStyle/>
          <a:p>
            <a:fld id="{E317E42B-CB2B-43C9-84F8-B30031AED52B}" type="datetime1">
              <a:rPr lang="en-US" smtClean="0"/>
              <a:t>8/13/25</a:t>
            </a:fld>
            <a:endParaRPr lang="en-US" dirty="0"/>
          </a:p>
        </p:txBody>
      </p:sp>
      <p:sp>
        <p:nvSpPr>
          <p:cNvPr id="4" name="Slide Number Placeholder 3">
            <a:extLst>
              <a:ext uri="{FF2B5EF4-FFF2-40B4-BE49-F238E27FC236}">
                <a16:creationId xmlns:a16="http://schemas.microsoft.com/office/drawing/2014/main" id="{00A02CB5-74C0-0FE6-0AD9-DA57CFF54618}"/>
              </a:ext>
            </a:extLst>
          </p:cNvPr>
          <p:cNvSpPr>
            <a:spLocks noGrp="1"/>
          </p:cNvSpPr>
          <p:nvPr>
            <p:ph type="sldNum" sz="quarter" idx="12"/>
          </p:nvPr>
        </p:nvSpPr>
        <p:spPr/>
        <p:txBody>
          <a:bodyPr/>
          <a:lstStyle/>
          <a:p>
            <a:fld id="{B6F15528-21DE-4FAA-801E-634DDDAF4B2B}" type="slidenum">
              <a:rPr lang="en-US" smtClean="0"/>
              <a:pPr/>
              <a:t>12</a:t>
            </a:fld>
            <a:endParaRPr lang="en-US" dirty="0"/>
          </a:p>
        </p:txBody>
      </p:sp>
      <p:sp>
        <p:nvSpPr>
          <p:cNvPr id="5" name="Title 1">
            <a:extLst>
              <a:ext uri="{FF2B5EF4-FFF2-40B4-BE49-F238E27FC236}">
                <a16:creationId xmlns:a16="http://schemas.microsoft.com/office/drawing/2014/main" id="{5A4ACA45-F6D7-97A7-7BE0-E4E3138AA839}"/>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COs and PSOs Mapping</a:t>
            </a:r>
          </a:p>
        </p:txBody>
      </p:sp>
      <p:pic>
        <p:nvPicPr>
          <p:cNvPr id="7" name="Picture 6" descr="A screenshot of a computer&#10;&#10;Description automatically generated">
            <a:extLst>
              <a:ext uri="{FF2B5EF4-FFF2-40B4-BE49-F238E27FC236}">
                <a16:creationId xmlns:a16="http://schemas.microsoft.com/office/drawing/2014/main" id="{7C4B3D58-D5ED-5399-4C63-8D1BD234EA20}"/>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0" name="Picture 9" descr="A screen shot of a computer&#10;&#10;AI-generated content may be incorrect.">
            <a:extLst>
              <a:ext uri="{FF2B5EF4-FFF2-40B4-BE49-F238E27FC236}">
                <a16:creationId xmlns:a16="http://schemas.microsoft.com/office/drawing/2014/main" id="{C84DB365-4DE3-DDE4-BB96-BF03766A6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4219" y="-177451"/>
            <a:ext cx="11518200" cy="5400614"/>
          </a:xfrm>
          <a:prstGeom prst="rect">
            <a:avLst/>
          </a:prstGeom>
        </p:spPr>
      </p:pic>
      <p:sp>
        <p:nvSpPr>
          <p:cNvPr id="6" name="Footer Placeholder 12">
            <a:extLst>
              <a:ext uri="{FF2B5EF4-FFF2-40B4-BE49-F238E27FC236}">
                <a16:creationId xmlns:a16="http://schemas.microsoft.com/office/drawing/2014/main" id="{02A83481-D733-CAE2-E996-C57464F7E6BD}"/>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5491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45CACD-9C91-ACF6-026F-5A94C8D8A20B}"/>
              </a:ext>
            </a:extLst>
          </p:cNvPr>
          <p:cNvSpPr>
            <a:spLocks noGrp="1"/>
          </p:cNvSpPr>
          <p:nvPr>
            <p:ph type="dt" sz="half" idx="10"/>
          </p:nvPr>
        </p:nvSpPr>
        <p:spPr/>
        <p:txBody>
          <a:bodyPr/>
          <a:lstStyle/>
          <a:p>
            <a:fld id="{852D655F-4494-41E9-A24E-DDE9E5B673A2}" type="datetime1">
              <a:rPr lang="en-US" smtClean="0"/>
              <a:t>8/13/25</a:t>
            </a:fld>
            <a:endParaRPr lang="en-US" dirty="0"/>
          </a:p>
        </p:txBody>
      </p:sp>
      <p:sp>
        <p:nvSpPr>
          <p:cNvPr id="4" name="Slide Number Placeholder 3">
            <a:extLst>
              <a:ext uri="{FF2B5EF4-FFF2-40B4-BE49-F238E27FC236}">
                <a16:creationId xmlns:a16="http://schemas.microsoft.com/office/drawing/2014/main" id="{AB60056D-397E-F9D7-CEE4-CEBAEAD06731}"/>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5" name="Title 1">
            <a:extLst>
              <a:ext uri="{FF2B5EF4-FFF2-40B4-BE49-F238E27FC236}">
                <a16:creationId xmlns:a16="http://schemas.microsoft.com/office/drawing/2014/main" id="{02FE6854-561F-A9CD-BF70-B7CF5891E02A}"/>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Educational Objectives (PEOs)</a:t>
            </a:r>
          </a:p>
        </p:txBody>
      </p:sp>
      <p:sp>
        <p:nvSpPr>
          <p:cNvPr id="7" name="TextBox 6">
            <a:extLst>
              <a:ext uri="{FF2B5EF4-FFF2-40B4-BE49-F238E27FC236}">
                <a16:creationId xmlns:a16="http://schemas.microsoft.com/office/drawing/2014/main" id="{E08303F5-8983-81C9-1E53-8FF3E5AA3D3C}"/>
              </a:ext>
            </a:extLst>
          </p:cNvPr>
          <p:cNvSpPr txBox="1"/>
          <p:nvPr/>
        </p:nvSpPr>
        <p:spPr>
          <a:xfrm>
            <a:off x="457200" y="1293310"/>
            <a:ext cx="8229600" cy="4154984"/>
          </a:xfrm>
          <a:prstGeom prst="rect">
            <a:avLst/>
          </a:prstGeom>
          <a:noFill/>
        </p:spPr>
        <p:txBody>
          <a:bodyPr wrap="square">
            <a:spAutoFit/>
          </a:bodyPr>
          <a:lstStyle/>
          <a:p>
            <a:pPr algn="just"/>
            <a:r>
              <a:rPr lang="en-US" sz="2400" b="1" dirty="0"/>
              <a:t>PEO’s</a:t>
            </a:r>
          </a:p>
          <a:p>
            <a:pPr algn="just"/>
            <a:r>
              <a:rPr lang="en-US" sz="2400" b="1" dirty="0"/>
              <a:t> The graduates of </a:t>
            </a:r>
            <a:r>
              <a:rPr lang="en-US" sz="2400" b="1" dirty="0" err="1"/>
              <a:t>B.Tech</a:t>
            </a:r>
            <a:r>
              <a:rPr lang="en-US" sz="2400" b="1" dirty="0"/>
              <a:t> Computer Science program will-</a:t>
            </a:r>
          </a:p>
          <a:p>
            <a:pPr algn="just"/>
            <a:endParaRPr lang="en-US" sz="2400" dirty="0"/>
          </a:p>
          <a:p>
            <a:pPr algn="just"/>
            <a:r>
              <a:rPr lang="en-US" sz="2400" b="1" dirty="0"/>
              <a:t>PEO1:</a:t>
            </a:r>
            <a:r>
              <a:rPr lang="en-US" sz="2400" dirty="0"/>
              <a:t> Have successful careers in the field of Computer Science and pursue higher education.</a:t>
            </a:r>
          </a:p>
          <a:p>
            <a:pPr algn="just"/>
            <a:endParaRPr lang="en-US" sz="2400" dirty="0"/>
          </a:p>
          <a:p>
            <a:pPr algn="just"/>
            <a:r>
              <a:rPr lang="en-US" sz="2400" b="1" dirty="0"/>
              <a:t>PEO2:</a:t>
            </a:r>
            <a:r>
              <a:rPr lang="en-US" sz="2400" dirty="0"/>
              <a:t> Engage in research and provide innovative solution to real world problems of the society with ethical responsibilities.</a:t>
            </a:r>
          </a:p>
          <a:p>
            <a:pPr algn="just"/>
            <a:endParaRPr lang="en-US" sz="2400" dirty="0"/>
          </a:p>
          <a:p>
            <a:pPr algn="just"/>
            <a:r>
              <a:rPr lang="en-US" sz="2400" b="1" dirty="0"/>
              <a:t>PEO3:</a:t>
            </a:r>
            <a:r>
              <a:rPr lang="en-US" sz="2400" dirty="0"/>
              <a:t> Demonstrate effective communication, work as an individual or as a team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B793C3A5-21F9-1ED2-109F-9393E32FF032}"/>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Footer Placeholder 12">
            <a:extLst>
              <a:ext uri="{FF2B5EF4-FFF2-40B4-BE49-F238E27FC236}">
                <a16:creationId xmlns:a16="http://schemas.microsoft.com/office/drawing/2014/main" id="{5714C9B1-1A80-F0FD-215E-E9A06A880525}"/>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90873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14</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Question Paper Template</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FDCD6D27-B555-477D-B370-A8B5CF53A1CB}" type="datetime1">
              <a:rPr lang="en-US" smtClean="0">
                <a:solidFill>
                  <a:schemeClr val="tx1"/>
                </a:solidFill>
              </a:rPr>
              <a:t>8/13/25</a:t>
            </a:fld>
            <a:endParaRPr lang="en-US" dirty="0">
              <a:solidFill>
                <a:schemeClr val="tx1"/>
              </a:solidFill>
            </a:endParaRPr>
          </a:p>
        </p:txBody>
      </p:sp>
      <p:pic>
        <p:nvPicPr>
          <p:cNvPr id="7" name="Picture 6">
            <a:extLst>
              <a:ext uri="{FF2B5EF4-FFF2-40B4-BE49-F238E27FC236}">
                <a16:creationId xmlns:a16="http://schemas.microsoft.com/office/drawing/2014/main" id="{205EA77E-DEF1-B545-8A3A-F076C4FAE629}"/>
              </a:ext>
            </a:extLst>
          </p:cNvPr>
          <p:cNvPicPr>
            <a:picLocks noChangeAspect="1"/>
          </p:cNvPicPr>
          <p:nvPr/>
        </p:nvPicPr>
        <p:blipFill>
          <a:blip r:embed="rId3"/>
          <a:stretch>
            <a:fillRect/>
          </a:stretch>
        </p:blipFill>
        <p:spPr>
          <a:xfrm>
            <a:off x="933450" y="844550"/>
            <a:ext cx="7277100" cy="5168900"/>
          </a:xfrm>
          <a:prstGeom prst="rect">
            <a:avLst/>
          </a:prstGeom>
        </p:spPr>
      </p:pic>
      <p:pic>
        <p:nvPicPr>
          <p:cNvPr id="9" name="Picture 8">
            <a:extLst>
              <a:ext uri="{FF2B5EF4-FFF2-40B4-BE49-F238E27FC236}">
                <a16:creationId xmlns:a16="http://schemas.microsoft.com/office/drawing/2014/main" id="{62829486-2894-F343-8A4B-BCB5011C169E}"/>
              </a:ext>
            </a:extLst>
          </p:cNvPr>
          <p:cNvPicPr>
            <a:picLocks noChangeAspect="1"/>
          </p:cNvPicPr>
          <p:nvPr/>
        </p:nvPicPr>
        <p:blipFill>
          <a:blip r:embed="rId4"/>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525FFF94-968F-D9D0-8267-66BF05779FA6}"/>
              </a:ext>
            </a:extLst>
          </p:cNvPr>
          <p:cNvPicPr>
            <a:picLocks noChangeAspect="1"/>
          </p:cNvPicPr>
          <p:nvPr/>
        </p:nvPicPr>
        <p:blipFill rotWithShape="1">
          <a:blip r:embed="rId5"/>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Footer Placeholder 12">
            <a:extLst>
              <a:ext uri="{FF2B5EF4-FFF2-40B4-BE49-F238E27FC236}">
                <a16:creationId xmlns:a16="http://schemas.microsoft.com/office/drawing/2014/main" id="{C3643AF4-3100-09D4-3667-B33B5C117C0F}"/>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1759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15</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endParaRPr lang="en-US" sz="3000" dirty="0">
              <a:solidFill>
                <a:schemeClr val="tx1"/>
              </a:solidFill>
            </a:endParaRPr>
          </a:p>
          <a:p>
            <a:pPr algn="ctr">
              <a:spcBef>
                <a:spcPct val="0"/>
              </a:spcBef>
              <a:defRPr/>
            </a:pPr>
            <a:r>
              <a:rPr lang="en-US" sz="3000" dirty="0">
                <a:solidFill>
                  <a:schemeClr val="tx1"/>
                </a:solidFill>
              </a:rPr>
              <a:t>Question Paper Template</a:t>
            </a:r>
          </a:p>
          <a:p>
            <a:pPr algn="ctr">
              <a:spcBef>
                <a:spcPct val="0"/>
              </a:spcBef>
              <a:defRPr/>
            </a:pPr>
            <a:endParaRPr lang="en-US" sz="3000" dirty="0">
              <a:solidFill>
                <a:schemeClr val="tx1"/>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56B7157C-2056-4E2B-AD8F-5B4C283CDD58}" type="datetime1">
              <a:rPr lang="en-US" smtClean="0">
                <a:solidFill>
                  <a:schemeClr val="tx1"/>
                </a:solidFill>
              </a:rPr>
              <a:t>8/13/25</a:t>
            </a:fld>
            <a:endParaRPr lang="en-US" dirty="0">
              <a:solidFill>
                <a:schemeClr val="tx1"/>
              </a:solidFill>
            </a:endParaRPr>
          </a:p>
        </p:txBody>
      </p:sp>
      <p:graphicFrame>
        <p:nvGraphicFramePr>
          <p:cNvPr id="3" name="Table 2">
            <a:extLst>
              <a:ext uri="{FF2B5EF4-FFF2-40B4-BE49-F238E27FC236}">
                <a16:creationId xmlns:a16="http://schemas.microsoft.com/office/drawing/2014/main" id="{DDD6825B-064F-084A-91C0-2417B0843538}"/>
              </a:ext>
            </a:extLst>
          </p:cNvPr>
          <p:cNvGraphicFramePr>
            <a:graphicFrameLocks noGrp="1"/>
          </p:cNvGraphicFramePr>
          <p:nvPr/>
        </p:nvGraphicFramePr>
        <p:xfrm>
          <a:off x="1269156" y="838200"/>
          <a:ext cx="7189045" cy="5500583"/>
        </p:xfrm>
        <a:graphic>
          <a:graphicData uri="http://schemas.openxmlformats.org/drawingml/2006/table">
            <a:tbl>
              <a:tblPr firstRow="1" firstCol="1" bandRow="1">
                <a:tableStyleId>{5C22544A-7EE6-4342-B048-85BDC9FD1C3A}</a:tableStyleId>
              </a:tblPr>
              <a:tblGrid>
                <a:gridCol w="369667">
                  <a:extLst>
                    <a:ext uri="{9D8B030D-6E8A-4147-A177-3AD203B41FA5}">
                      <a16:colId xmlns:a16="http://schemas.microsoft.com/office/drawing/2014/main" val="3904463951"/>
                    </a:ext>
                  </a:extLst>
                </a:gridCol>
                <a:gridCol w="467848">
                  <a:extLst>
                    <a:ext uri="{9D8B030D-6E8A-4147-A177-3AD203B41FA5}">
                      <a16:colId xmlns:a16="http://schemas.microsoft.com/office/drawing/2014/main" val="382194311"/>
                    </a:ext>
                  </a:extLst>
                </a:gridCol>
                <a:gridCol w="4990158">
                  <a:extLst>
                    <a:ext uri="{9D8B030D-6E8A-4147-A177-3AD203B41FA5}">
                      <a16:colId xmlns:a16="http://schemas.microsoft.com/office/drawing/2014/main" val="2326716346"/>
                    </a:ext>
                  </a:extLst>
                </a:gridCol>
                <a:gridCol w="795341">
                  <a:extLst>
                    <a:ext uri="{9D8B030D-6E8A-4147-A177-3AD203B41FA5}">
                      <a16:colId xmlns:a16="http://schemas.microsoft.com/office/drawing/2014/main" val="780519470"/>
                    </a:ext>
                  </a:extLst>
                </a:gridCol>
                <a:gridCol w="566031">
                  <a:extLst>
                    <a:ext uri="{9D8B030D-6E8A-4147-A177-3AD203B41FA5}">
                      <a16:colId xmlns:a16="http://schemas.microsoft.com/office/drawing/2014/main" val="746072801"/>
                    </a:ext>
                  </a:extLst>
                </a:gridCol>
              </a:tblGrid>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sng">
                          <a:effectLst/>
                        </a:rPr>
                        <a:t>SECTION – 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3623823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41590961"/>
                  </a:ext>
                </a:extLst>
              </a:tr>
              <a:tr h="173825">
                <a:tc>
                  <a:txBody>
                    <a:bodyPr/>
                    <a:lstStyle/>
                    <a:p>
                      <a:pPr marL="342900" lvl="0" indent="-342900" algn="l">
                        <a:lnSpc>
                          <a:spcPct val="115000"/>
                        </a:lnSpc>
                        <a:spcAft>
                          <a:spcPts val="800"/>
                        </a:spcAft>
                        <a:buFont typeface="+mj-lt"/>
                        <a:buAutoNum type="arabicPeriod"/>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15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[10×1=10]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76928812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25830015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2350723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87040617"/>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879452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087435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746902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75855397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1-h.</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3698463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1-i.</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0507980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1-j.</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6259841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55283994"/>
                  </a:ext>
                </a:extLst>
              </a:tr>
              <a:tr h="91536">
                <a:tc>
                  <a:txBody>
                    <a:bodyPr/>
                    <a:lstStyle/>
                    <a:p>
                      <a:pPr algn="l">
                        <a:lnSpc>
                          <a:spcPct val="115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[5×2=10]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9031790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842250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4114778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8083359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0809253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4954328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7579628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5930127"/>
                  </a:ext>
                </a:extLst>
              </a:tr>
              <a:tr h="301525">
                <a:tc>
                  <a:txBody>
                    <a:bodyPr/>
                    <a:lstStyle/>
                    <a:p>
                      <a:pPr algn="l">
                        <a:lnSpc>
                          <a:spcPct val="115000"/>
                        </a:lnSpc>
                        <a:spcAft>
                          <a:spcPts val="800"/>
                        </a:spcAft>
                      </a:pPr>
                      <a:r>
                        <a:rPr lang="en-IN" sz="500">
                          <a:effectLst/>
                        </a:rPr>
                        <a:t> </a:t>
                      </a:r>
                      <a:endParaRPr lang="en-IN" sz="400">
                        <a:effectLst/>
                      </a:endParaRPr>
                    </a:p>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32122905"/>
                  </a:ext>
                </a:extLst>
              </a:tr>
              <a:tr h="91536">
                <a:tc gridSpan="3">
                  <a:txBody>
                    <a:bodyPr/>
                    <a:lstStyle/>
                    <a:p>
                      <a:pPr algn="ctr">
                        <a:lnSpc>
                          <a:spcPct val="115000"/>
                        </a:lnSpc>
                        <a:spcAft>
                          <a:spcPts val="800"/>
                        </a:spcAft>
                      </a:pPr>
                      <a:r>
                        <a:rPr lang="en-IN" sz="500" u="sng">
                          <a:effectLst/>
                        </a:rPr>
                        <a:t>SECTION – 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40196487"/>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0015063"/>
                  </a:ext>
                </a:extLst>
              </a:tr>
              <a:tr h="91536">
                <a:tc>
                  <a:txBody>
                    <a:bodyPr/>
                    <a:lstStyle/>
                    <a:p>
                      <a:pPr algn="l">
                        <a:lnSpc>
                          <a:spcPct val="115000"/>
                        </a:lnSpc>
                        <a:spcAft>
                          <a:spcPts val="800"/>
                        </a:spcAft>
                      </a:pPr>
                      <a:r>
                        <a:rPr lang="en-IN" sz="500">
                          <a:effectLst/>
                        </a:rPr>
                        <a:t>3.</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a:t>
                      </a:r>
                      <a:r>
                        <a:rPr lang="en-IN" sz="500" u="sng">
                          <a:effectLst/>
                        </a:rPr>
                        <a:t>five </a:t>
                      </a:r>
                      <a:r>
                        <a:rPr lang="en-IN" sz="500">
                          <a:effectLst/>
                        </a:rPr>
                        <a:t>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[5×6=30]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49683749"/>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384649017"/>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9726844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8327915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60087403"/>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26491731"/>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528500548"/>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12423086"/>
                  </a:ext>
                </a:extLst>
              </a:tr>
              <a:tr h="91536">
                <a:tc gridSpan="3">
                  <a:txBody>
                    <a:bodyPr/>
                    <a:lstStyle/>
                    <a:p>
                      <a:pPr algn="ctr">
                        <a:lnSpc>
                          <a:spcPct val="115000"/>
                        </a:lnSpc>
                        <a:spcAft>
                          <a:spcPts val="800"/>
                        </a:spcAft>
                      </a:pPr>
                      <a:r>
                        <a:rPr lang="en-IN" sz="500" u="sng">
                          <a:effectLst/>
                        </a:rPr>
                        <a:t>SECTION – C</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788619013"/>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277044899"/>
                  </a:ext>
                </a:extLst>
              </a:tr>
              <a:tr h="173825">
                <a:tc>
                  <a:txBody>
                    <a:bodyPr/>
                    <a:lstStyle/>
                    <a:p>
                      <a:pPr algn="l">
                        <a:lnSpc>
                          <a:spcPct val="115000"/>
                        </a:lnSpc>
                        <a:spcAft>
                          <a:spcPts val="800"/>
                        </a:spcAft>
                      </a:pPr>
                      <a:r>
                        <a:rPr lang="en-IN" sz="500">
                          <a:effectLst/>
                        </a:rPr>
                        <a:t>4</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a:t>
                      </a:r>
                      <a:r>
                        <a:rPr lang="en-IN" sz="500" u="sng">
                          <a:effectLst/>
                        </a:rPr>
                        <a:t> one</a:t>
                      </a:r>
                      <a:r>
                        <a:rPr lang="en-IN" sz="500">
                          <a:effectLst/>
                        </a:rPr>
                        <a:t>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[5×10=50]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255577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2713805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94145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9911954"/>
                  </a:ext>
                </a:extLst>
              </a:tr>
              <a:tr h="91536">
                <a:tc>
                  <a:txBody>
                    <a:bodyPr/>
                    <a:lstStyle/>
                    <a:p>
                      <a:pPr algn="l">
                        <a:lnSpc>
                          <a:spcPct val="115000"/>
                        </a:lnSpc>
                        <a:spcAft>
                          <a:spcPts val="800"/>
                        </a:spcAft>
                      </a:pPr>
                      <a:r>
                        <a:rPr lang="en-IN" sz="500">
                          <a:effectLst/>
                        </a:rPr>
                        <a:t>5.</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5945121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9325499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8796788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15798895"/>
                  </a:ext>
                </a:extLst>
              </a:tr>
              <a:tr h="91536">
                <a:tc>
                  <a:txBody>
                    <a:bodyPr/>
                    <a:lstStyle/>
                    <a:p>
                      <a:pPr algn="l">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141507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4278485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808464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17109019"/>
                  </a:ext>
                </a:extLst>
              </a:tr>
              <a:tr h="91536">
                <a:tc>
                  <a:txBody>
                    <a:bodyPr/>
                    <a:lstStyle/>
                    <a:p>
                      <a:pPr algn="l">
                        <a:lnSpc>
                          <a:spcPct val="115000"/>
                        </a:lnSpc>
                        <a:spcAft>
                          <a:spcPts val="800"/>
                        </a:spcAft>
                      </a:pPr>
                      <a:r>
                        <a:rPr lang="en-IN" sz="500">
                          <a:effectLst/>
                        </a:rPr>
                        <a:t>7.</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1105523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448950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3932086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465669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843233770"/>
                  </a:ext>
                </a:extLst>
              </a:tr>
              <a:tr h="91536">
                <a:tc>
                  <a:txBody>
                    <a:bodyPr/>
                    <a:lstStyle/>
                    <a:p>
                      <a:pPr algn="l">
                        <a:lnSpc>
                          <a:spcPct val="115000"/>
                        </a:lnSpc>
                        <a:spcAft>
                          <a:spcPts val="800"/>
                        </a:spcAft>
                      </a:pPr>
                      <a:r>
                        <a:rPr lang="en-IN" sz="500">
                          <a:effectLst/>
                        </a:rPr>
                        <a:t>8.</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15280818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07290766"/>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02922435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dirty="0">
                          <a:effectLst/>
                        </a:rPr>
                        <a:t> </a:t>
                      </a:r>
                      <a:endParaRPr lang="en-IN" sz="400" dirty="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77907657"/>
                  </a:ext>
                </a:extLst>
              </a:tr>
            </a:tbl>
          </a:graphicData>
        </a:graphic>
      </p:graphicFrame>
      <p:pic>
        <p:nvPicPr>
          <p:cNvPr id="9" name="Picture 8">
            <a:extLst>
              <a:ext uri="{FF2B5EF4-FFF2-40B4-BE49-F238E27FC236}">
                <a16:creationId xmlns:a16="http://schemas.microsoft.com/office/drawing/2014/main" id="{D7FF1400-E667-CB49-9A29-B7225C044D28}"/>
              </a:ext>
            </a:extLst>
          </p:cNvPr>
          <p:cNvPicPr>
            <a:picLocks noChangeAspect="1"/>
          </p:cNvPicPr>
          <p:nvPr/>
        </p:nvPicPr>
        <p:blipFill>
          <a:blip r:embed="rId3"/>
          <a:stretch>
            <a:fillRect/>
          </a:stretch>
        </p:blipFill>
        <p:spPr>
          <a:xfrm>
            <a:off x="0" y="-27448"/>
            <a:ext cx="1384300" cy="81280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EB4652BB-A74F-6414-13C1-37B83FD97AD2}"/>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Footer Placeholder 12">
            <a:extLst>
              <a:ext uri="{FF2B5EF4-FFF2-40B4-BE49-F238E27FC236}">
                <a16:creationId xmlns:a16="http://schemas.microsoft.com/office/drawing/2014/main" id="{2F84D8EF-2ADB-4CF0-15E9-E7521E20EAA3}"/>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95435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A8E83D7-607A-4080-925F-87D94BD4206E}"/>
              </a:ext>
            </a:extLst>
          </p:cNvPr>
          <p:cNvSpPr txBox="1">
            <a:spLocks noGrp="1"/>
          </p:cNvSpPr>
          <p:nvPr>
            <p:ph idx="1"/>
          </p:nvPr>
        </p:nvSpPr>
        <p:spPr>
          <a:xfrm>
            <a:off x="533400" y="1214438"/>
            <a:ext cx="8001000" cy="4729162"/>
          </a:xfrm>
        </p:spPr>
        <p:txBody>
          <a:bodyPr>
            <a:normAutofit/>
          </a:bodyPr>
          <a:lstStyle/>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Subject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Department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Faculty-Wise Result: NA</a:t>
            </a:r>
          </a:p>
          <a:p>
            <a:pPr algn="just">
              <a:spcBef>
                <a:spcPct val="0"/>
              </a:spcBef>
              <a:spcAft>
                <a:spcPct val="0"/>
              </a:spcAft>
              <a:buClr>
                <a:srgbClr val="000000"/>
              </a:buClr>
              <a:buFont typeface="Arial" panose="020B0604020202020204" pitchFamily="34" charset="0"/>
              <a:buNone/>
            </a:pPr>
            <a:endParaRPr lang="en-IN" altLang="en-US" sz="32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545615" y="1"/>
            <a:ext cx="7598385" cy="692726"/>
          </a:xfr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lIns="91440" tIns="45720" rIns="91440" bIns="45720" rtlCol="0">
            <a:normAutofit/>
          </a:bodyPr>
          <a:lstStyle/>
          <a:p>
            <a:pPr eaLnBrk="1" fontAlgn="auto" hangingPunct="1">
              <a:spcBef>
                <a:spcPct val="0"/>
              </a:spcBef>
              <a:buClrTx/>
              <a:buSzTx/>
              <a:buFontTx/>
              <a:buNone/>
              <a:defRPr/>
            </a:pPr>
            <a:r>
              <a:rPr lang="en-US" sz="2400" kern="1200" dirty="0">
                <a:latin typeface="Times New Roman" pitchFamily="18" charset="0"/>
                <a:cs typeface="Times New Roman" pitchFamily="18" charset="0"/>
                <a:sym typeface="Arial" charset="0"/>
              </a:rPr>
              <a:t>Result Analysis</a:t>
            </a:r>
          </a:p>
        </p:txBody>
      </p:sp>
      <p:sp>
        <p:nvSpPr>
          <p:cNvPr id="52230" name="Slide Number Placeholder 8">
            <a:extLst>
              <a:ext uri="{FF2B5EF4-FFF2-40B4-BE49-F238E27FC236}">
                <a16:creationId xmlns:a16="http://schemas.microsoft.com/office/drawing/2014/main" id="{D79C5C8A-AFC2-4C7D-99A7-FECD9C2BCD46}"/>
              </a:ext>
            </a:extLst>
          </p:cNvPr>
          <p:cNvSpPr>
            <a:spLocks noGrp="1"/>
          </p:cNvSpPr>
          <p:nvPr>
            <p:ph type="sldNum" sz="quarter" idx="4294967295"/>
          </p:nvPr>
        </p:nvSpPr>
        <p:spPr bwMode="auto">
          <a:xfrm>
            <a:off x="7239000" y="6320008"/>
            <a:ext cx="1651782"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2231" name="Date Placeholder 7">
            <a:extLst>
              <a:ext uri="{FF2B5EF4-FFF2-40B4-BE49-F238E27FC236}">
                <a16:creationId xmlns:a16="http://schemas.microsoft.com/office/drawing/2014/main" id="{C9161480-6915-48B2-AA7C-B24B1C3239FE}"/>
              </a:ext>
            </a:extLst>
          </p:cNvPr>
          <p:cNvSpPr>
            <a:spLocks noGrp="1"/>
          </p:cNvSpPr>
          <p:nvPr>
            <p:ph type="dt" sz="quarter" idx="11"/>
          </p:nvPr>
        </p:nvSpPr>
        <p:spPr>
          <a:xfrm>
            <a:off x="402615" y="6271504"/>
            <a:ext cx="1143000" cy="40146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CDF4563C-BED3-44EB-834A-CB895E04A4B1}" type="datetime1">
              <a:rPr lang="en-US" altLang="en-US" sz="1200" smtClean="0">
                <a:solidFill>
                  <a:srgbClr val="888888"/>
                </a:solidFill>
                <a:latin typeface="Calibri" panose="020F0502020204030204" pitchFamily="34" charset="0"/>
                <a:sym typeface="Calibri" panose="020F0502020204030204" pitchFamily="34" charset="0"/>
              </a:rPr>
              <a:t>8/13/25</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2" name="Picture 1" descr="A screenshot of a computer&#10;&#10;Description automatically generated">
            <a:extLst>
              <a:ext uri="{FF2B5EF4-FFF2-40B4-BE49-F238E27FC236}">
                <a16:creationId xmlns:a16="http://schemas.microsoft.com/office/drawing/2014/main" id="{5B034CE9-575A-B278-CEEB-141C68A8670E}"/>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3" name="Footer Placeholder 12">
            <a:extLst>
              <a:ext uri="{FF2B5EF4-FFF2-40B4-BE49-F238E27FC236}">
                <a16:creationId xmlns:a16="http://schemas.microsoft.com/office/drawing/2014/main" id="{A6F88CD9-DBBC-B17F-7D21-E0815093B795}"/>
              </a:ext>
            </a:extLst>
          </p:cNvPr>
          <p:cNvSpPr txBox="1">
            <a:spLocks/>
          </p:cNvSpPr>
          <p:nvPr/>
        </p:nvSpPr>
        <p:spPr>
          <a:xfrm>
            <a:off x="1600200" y="6448251"/>
            <a:ext cx="5443163"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a:solidFill>
                  <a:prstClr val="black">
                    <a:tint val="75000"/>
                  </a:prstClr>
                </a:solidFill>
                <a:latin typeface="Calibri"/>
              </a:rPr>
              <a:t>              High Performance computing                   Unit 1</a:t>
            </a:r>
            <a:endParaRPr lang="en-US" dirty="0">
              <a:solidFill>
                <a:prstClr val="black">
                  <a:tint val="75000"/>
                </a:prstClr>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7100455" cy="4373563"/>
          </a:xfrm>
        </p:spPr>
        <p:txBody>
          <a:bodyPr>
            <a:normAutofit/>
          </a:bodyPr>
          <a:lstStyle/>
          <a:p>
            <a:pPr algn="just">
              <a:buNone/>
            </a:pPr>
            <a:r>
              <a:rPr lang="en-US" sz="2000" b="1" dirty="0"/>
              <a:t>Prerequisites:</a:t>
            </a:r>
          </a:p>
          <a:p>
            <a:pPr algn="just">
              <a:lnSpc>
                <a:spcPct val="150000"/>
              </a:lnSpc>
            </a:pPr>
            <a:r>
              <a:rPr lang="en-US" sz="2000" b="1" dirty="0"/>
              <a:t>Programming Fundamentals:</a:t>
            </a:r>
          </a:p>
          <a:p>
            <a:pPr marL="0" indent="0" algn="just">
              <a:lnSpc>
                <a:spcPct val="150000"/>
              </a:lnSpc>
              <a:buNone/>
            </a:pPr>
            <a:r>
              <a:rPr lang="en-US" sz="2000" dirty="0"/>
              <a:t> Languages: Proficiency in C, C++, or Fortran – essential for working </a:t>
            </a:r>
          </a:p>
          <a:p>
            <a:pPr marL="0" indent="0" algn="just">
              <a:lnSpc>
                <a:spcPct val="150000"/>
              </a:lnSpc>
              <a:buNone/>
            </a:pPr>
            <a:endParaRPr lang="en-US" sz="2000" b="1" dirty="0"/>
          </a:p>
          <a:p>
            <a:pPr marL="0" indent="0" algn="just">
              <a:lnSpc>
                <a:spcPct val="150000"/>
              </a:lnSpc>
              <a:buNone/>
            </a:pPr>
            <a:r>
              <a:rPr lang="en-US" sz="2000" b="1" dirty="0"/>
              <a:t>Recap:</a:t>
            </a:r>
          </a:p>
          <a:p>
            <a:pPr algn="just">
              <a:lnSpc>
                <a:spcPct val="150000"/>
              </a:lnSpc>
            </a:pPr>
            <a:r>
              <a:rPr lang="en-US" sz="2000" dirty="0"/>
              <a:t>High-Performance Computing, Applications of High-Performance Computing</a:t>
            </a:r>
          </a:p>
        </p:txBody>
      </p:sp>
      <p:sp>
        <p:nvSpPr>
          <p:cNvPr id="4" name="Date Placeholder 3"/>
          <p:cNvSpPr>
            <a:spLocks noGrp="1"/>
          </p:cNvSpPr>
          <p:nvPr>
            <p:ph type="dt" sz="half" idx="10"/>
          </p:nvPr>
        </p:nvSpPr>
        <p:spPr>
          <a:prstGeom prst="rect">
            <a:avLst/>
          </a:prstGeom>
        </p:spPr>
        <p:txBody>
          <a:bodyPr/>
          <a:lstStyle/>
          <a:p>
            <a:fld id="{6EA704C2-184E-4841-A3ED-102DFE9A564F}" type="datetime1">
              <a:rPr lang="en-US" smtClean="0"/>
              <a:t>8/13/25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17</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71600"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Prerequisite and Recap</a:t>
            </a:r>
          </a:p>
        </p:txBody>
      </p:sp>
      <p:pic>
        <p:nvPicPr>
          <p:cNvPr id="7" name="Picture 6">
            <a:extLst>
              <a:ext uri="{FF2B5EF4-FFF2-40B4-BE49-F238E27FC236}">
                <a16:creationId xmlns:a16="http://schemas.microsoft.com/office/drawing/2014/main" id="{FC0B4CB1-A45C-724E-B43D-F30F9540B7DA}"/>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FFC9C173-622F-8A1B-3B11-0CEB1DB211F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Footer Placeholder 12">
            <a:extLst>
              <a:ext uri="{FF2B5EF4-FFF2-40B4-BE49-F238E27FC236}">
                <a16:creationId xmlns:a16="http://schemas.microsoft.com/office/drawing/2014/main" id="{B122CC4E-E5E1-1781-061B-A79844618F59}"/>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prstGeom prst="rect">
            <a:avLst/>
          </a:prstGeom>
        </p:spPr>
        <p:txBody>
          <a:bodyPr/>
          <a:lstStyle/>
          <a:p>
            <a:fld id="{91701931-E06F-469A-8447-8ABB771D998C}" type="datetime1">
              <a:rPr lang="en-US" smtClean="0"/>
              <a:t>8/13/25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18</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53671"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Brief Intro of Subject with video</a:t>
            </a:r>
          </a:p>
        </p:txBody>
      </p:sp>
      <p:sp>
        <p:nvSpPr>
          <p:cNvPr id="7" name="Content Placeholder 6">
            <a:extLst>
              <a:ext uri="{FF2B5EF4-FFF2-40B4-BE49-F238E27FC236}">
                <a16:creationId xmlns:a16="http://schemas.microsoft.com/office/drawing/2014/main" id="{EF632368-14F3-4F48-B212-F99EBC3ED043}"/>
              </a:ext>
            </a:extLst>
          </p:cNvPr>
          <p:cNvSpPr>
            <a:spLocks noGrp="1"/>
          </p:cNvSpPr>
          <p:nvPr>
            <p:ph idx="1"/>
          </p:nvPr>
        </p:nvSpPr>
        <p:spPr>
          <a:xfrm>
            <a:off x="-13133" y="930442"/>
            <a:ext cx="9139204" cy="5096285"/>
          </a:xfrm>
        </p:spPr>
        <p:txBody>
          <a:bodyPr>
            <a:normAutofit lnSpcReduction="10000"/>
          </a:bodyPr>
          <a:lstStyle/>
          <a:p>
            <a:pPr marL="0" indent="0" algn="just">
              <a:buNone/>
            </a:pPr>
            <a:r>
              <a:rPr lang="en-US" sz="2200" kern="1200" dirty="0">
                <a:solidFill>
                  <a:schemeClr val="tx1"/>
                </a:solidFill>
                <a:effectLst/>
                <a:latin typeface="+mj-lt"/>
              </a:rPr>
              <a:t>High Performance Computing (HPC) focuses on solving complex computational problems using parallel and distributed computing technologies. In today’s era of large-scale data and simulation-driven systems, HPC enables faster processing and analysis by harnessing the power of modern hardware and software tools like multi-core processors, clusters, grids, and even quantum systems.</a:t>
            </a:r>
          </a:p>
          <a:p>
            <a:pPr marL="0" indent="0" algn="just">
              <a:buNone/>
            </a:pPr>
            <a:r>
              <a:rPr lang="en-US" sz="2200" b="1" kern="1200" dirty="0">
                <a:solidFill>
                  <a:schemeClr val="tx1"/>
                </a:solidFill>
                <a:effectLst/>
                <a:latin typeface="+mj-lt"/>
              </a:rPr>
              <a:t>Students learn:</a:t>
            </a:r>
          </a:p>
          <a:p>
            <a:pPr algn="just"/>
            <a:r>
              <a:rPr lang="en-US" sz="2200" kern="1200" dirty="0">
                <a:solidFill>
                  <a:schemeClr val="tx1"/>
                </a:solidFill>
                <a:effectLst/>
                <a:latin typeface="+mj-lt"/>
              </a:rPr>
              <a:t>Core concepts of parallelism</a:t>
            </a:r>
          </a:p>
          <a:p>
            <a:pPr algn="just"/>
            <a:r>
              <a:rPr lang="en-US" sz="2200" kern="1200" dirty="0">
                <a:solidFill>
                  <a:schemeClr val="tx1"/>
                </a:solidFill>
                <a:effectLst/>
                <a:latin typeface="+mj-lt"/>
              </a:rPr>
              <a:t>Architectural models like SIMD, MIMD</a:t>
            </a:r>
          </a:p>
          <a:p>
            <a:pPr algn="just"/>
            <a:r>
              <a:rPr lang="en-US" sz="2200" kern="1200" dirty="0">
                <a:solidFill>
                  <a:schemeClr val="tx1"/>
                </a:solidFill>
                <a:effectLst/>
                <a:latin typeface="+mj-lt"/>
              </a:rPr>
              <a:t>Programming using OpenMP and MPI</a:t>
            </a:r>
          </a:p>
          <a:p>
            <a:pPr algn="just"/>
            <a:r>
              <a:rPr lang="en-US" sz="2200" kern="1200" dirty="0">
                <a:solidFill>
                  <a:schemeClr val="tx1"/>
                </a:solidFill>
                <a:effectLst/>
                <a:latin typeface="+mj-lt"/>
              </a:rPr>
              <a:t>Fault-tolerant mechanisms in cluster systems</a:t>
            </a:r>
          </a:p>
          <a:p>
            <a:pPr marL="0" indent="0" algn="just">
              <a:buNone/>
            </a:pPr>
            <a:r>
              <a:rPr lang="en-US" sz="2200" kern="1200" dirty="0">
                <a:solidFill>
                  <a:schemeClr val="tx1"/>
                </a:solidFill>
                <a:effectLst/>
                <a:latin typeface="+mj-lt"/>
              </a:rPr>
              <a:t>This course builds the foundation to design, implement, and analyze performance-driven software and systems used in scientific research, machine learning, big data, etc.</a:t>
            </a:r>
          </a:p>
          <a:p>
            <a:endParaRPr lang="en-US" dirty="0">
              <a:latin typeface="+mj-lt"/>
            </a:endParaRPr>
          </a:p>
        </p:txBody>
      </p:sp>
      <p:pic>
        <p:nvPicPr>
          <p:cNvPr id="8" name="Picture 7">
            <a:extLst>
              <a:ext uri="{FF2B5EF4-FFF2-40B4-BE49-F238E27FC236}">
                <a16:creationId xmlns:a16="http://schemas.microsoft.com/office/drawing/2014/main" id="{660A703F-3E80-1C4A-9962-E0A24FD1E0B0}"/>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AAB39E09-33E0-981D-1850-378A2ED73F0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Footer Placeholder 12">
            <a:extLst>
              <a:ext uri="{FF2B5EF4-FFF2-40B4-BE49-F238E27FC236}">
                <a16:creationId xmlns:a16="http://schemas.microsoft.com/office/drawing/2014/main" id="{A9D3F480-19FE-D320-CCF1-86249CBD41F6}"/>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6183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757654-B4D3-6C8C-6CE2-AD5A390F3281}"/>
              </a:ext>
            </a:extLst>
          </p:cNvPr>
          <p:cNvPicPr>
            <a:picLocks noChangeAspect="1"/>
          </p:cNvPicPr>
          <p:nvPr/>
        </p:nvPicPr>
        <p:blipFill>
          <a:blip r:embed="rId2">
            <a:duotone>
              <a:schemeClr val="bg2">
                <a:shade val="45000"/>
                <a:satMod val="135000"/>
              </a:schemeClr>
              <a:prstClr val="white"/>
            </a:duotone>
          </a:blip>
          <a:srcRect r="10999" b="-1"/>
          <a:stretch>
            <a:fillRect/>
          </a:stretch>
        </p:blipFill>
        <p:spPr>
          <a:xfrm>
            <a:off x="20" y="10"/>
            <a:ext cx="9143980" cy="6857990"/>
          </a:xfrm>
          <a:prstGeom prst="rect">
            <a:avLst/>
          </a:prstGeom>
        </p:spPr>
        <p:style>
          <a:lnRef idx="2">
            <a:schemeClr val="dk1"/>
          </a:lnRef>
          <a:fillRef idx="1">
            <a:schemeClr val="lt1"/>
          </a:fillRef>
          <a:effectRef idx="0">
            <a:schemeClr val="dk1"/>
          </a:effectRef>
          <a:fontRef idx="minor">
            <a:schemeClr val="dk1"/>
          </a:fontRef>
        </p:style>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49345" y="7233"/>
            <a:ext cx="7148631" cy="745128"/>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dirty="0"/>
              <a:t>Computational Thinking</a:t>
            </a:r>
          </a:p>
        </p:txBody>
      </p:sp>
      <p:pic>
        <p:nvPicPr>
          <p:cNvPr id="4" name="Picture 3" descr="A screenshot of a computer&#10;&#10;Description automatically generated">
            <a:extLst>
              <a:ext uri="{FF2B5EF4-FFF2-40B4-BE49-F238E27FC236}">
                <a16:creationId xmlns:a16="http://schemas.microsoft.com/office/drawing/2014/main" id="{10DAED63-0B86-2999-BE9A-7B6E3CB2175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8228487E-831A-FD4D-C022-CA081DE19195}"/>
              </a:ext>
            </a:extLst>
          </p:cNvPr>
          <p:cNvGraphicFramePr>
            <a:graphicFrameLocks noGrp="1"/>
          </p:cNvGraphicFramePr>
          <p:nvPr>
            <p:ph idx="1"/>
            <p:extLst>
              <p:ext uri="{D42A27DB-BD31-4B8C-83A1-F6EECF244321}">
                <p14:modId xmlns:p14="http://schemas.microsoft.com/office/powerpoint/2010/main" val="137031404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12">
            <a:extLst>
              <a:ext uri="{FF2B5EF4-FFF2-40B4-BE49-F238E27FC236}">
                <a16:creationId xmlns:a16="http://schemas.microsoft.com/office/drawing/2014/main" id="{F03B65AC-370B-513A-4449-7E0A87B45B53}"/>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0A1C-E255-5659-65F3-EB461E7292E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BC430BB-CAC4-07B1-4822-89B7EB29B5F7}"/>
              </a:ext>
            </a:extLst>
          </p:cNvPr>
          <p:cNvPicPr>
            <a:picLocks noChangeAspect="1"/>
          </p:cNvPicPr>
          <p:nvPr/>
        </p:nvPicPr>
        <p:blipFill>
          <a:blip r:embed="rId2">
            <a:duotone>
              <a:schemeClr val="bg2">
                <a:shade val="45000"/>
                <a:satMod val="135000"/>
              </a:schemeClr>
              <a:prstClr val="white"/>
            </a:duotone>
          </a:blip>
          <a:srcRect r="10999" b="-1"/>
          <a:stretch>
            <a:fillRect/>
          </a:stretch>
        </p:blipFill>
        <p:spPr>
          <a:xfrm>
            <a:off x="20" y="10"/>
            <a:ext cx="9143980" cy="6857990"/>
          </a:xfrm>
          <a:prstGeom prst="rect">
            <a:avLst/>
          </a:prstGeom>
        </p:spPr>
        <p:style>
          <a:lnRef idx="2">
            <a:schemeClr val="dk1"/>
          </a:lnRef>
          <a:fillRef idx="1">
            <a:schemeClr val="lt1"/>
          </a:fillRef>
          <a:effectRef idx="0">
            <a:schemeClr val="dk1"/>
          </a:effectRef>
          <a:fontRef idx="minor">
            <a:schemeClr val="dk1"/>
          </a:fontRef>
        </p:style>
      </p:pic>
      <p:sp>
        <p:nvSpPr>
          <p:cNvPr id="2" name="Title 1">
            <a:extLst>
              <a:ext uri="{FF2B5EF4-FFF2-40B4-BE49-F238E27FC236}">
                <a16:creationId xmlns:a16="http://schemas.microsoft.com/office/drawing/2014/main" id="{A73BC4EE-6572-A61B-22AC-3DABE743AE08}"/>
              </a:ext>
            </a:extLst>
          </p:cNvPr>
          <p:cNvSpPr>
            <a:spLocks noGrp="1"/>
          </p:cNvSpPr>
          <p:nvPr>
            <p:ph type="title"/>
          </p:nvPr>
        </p:nvSpPr>
        <p:spPr>
          <a:xfrm>
            <a:off x="1749345" y="7233"/>
            <a:ext cx="7148631" cy="745128"/>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dirty="0"/>
              <a:t>Computational Thinking</a:t>
            </a:r>
          </a:p>
        </p:txBody>
      </p:sp>
      <p:pic>
        <p:nvPicPr>
          <p:cNvPr id="4" name="Picture 3" descr="A screenshot of a computer&#10;&#10;Description automatically generated">
            <a:extLst>
              <a:ext uri="{FF2B5EF4-FFF2-40B4-BE49-F238E27FC236}">
                <a16:creationId xmlns:a16="http://schemas.microsoft.com/office/drawing/2014/main" id="{3D038FAE-0FCD-6FB0-21E2-227018E2132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4098" name="Picture 2" descr="researchgate.net/figure/...">
            <a:extLst>
              <a:ext uri="{FF2B5EF4-FFF2-40B4-BE49-F238E27FC236}">
                <a16:creationId xmlns:a16="http://schemas.microsoft.com/office/drawing/2014/main" id="{D8F83869-A335-23DF-477E-7073A8E42B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2410"/>
          <a:stretch>
            <a:fillRect/>
          </a:stretch>
        </p:blipFill>
        <p:spPr bwMode="auto">
          <a:xfrm>
            <a:off x="1564395" y="1347271"/>
            <a:ext cx="6180463" cy="4646613"/>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2">
            <a:extLst>
              <a:ext uri="{FF2B5EF4-FFF2-40B4-BE49-F238E27FC236}">
                <a16:creationId xmlns:a16="http://schemas.microsoft.com/office/drawing/2014/main" id="{3602FAEF-3F4B-6E5D-1109-3258ADD446FE}"/>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47894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BE6E5-6E08-FD00-44ED-E2E39D0EA05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1829109-F580-CF9B-67E1-E7CF1F03CAC7}"/>
              </a:ext>
            </a:extLst>
          </p:cNvPr>
          <p:cNvPicPr>
            <a:picLocks noChangeAspect="1"/>
          </p:cNvPicPr>
          <p:nvPr/>
        </p:nvPicPr>
        <p:blipFill>
          <a:blip r:embed="rId2">
            <a:duotone>
              <a:schemeClr val="bg2">
                <a:shade val="45000"/>
                <a:satMod val="135000"/>
              </a:schemeClr>
              <a:prstClr val="white"/>
            </a:duotone>
          </a:blip>
          <a:srcRect r="10999" b="-1"/>
          <a:stretch>
            <a:fillRect/>
          </a:stretch>
        </p:blipFill>
        <p:spPr>
          <a:xfrm>
            <a:off x="20" y="253398"/>
            <a:ext cx="9143980" cy="6857990"/>
          </a:xfrm>
          <a:prstGeom prst="rect">
            <a:avLst/>
          </a:prstGeom>
        </p:spPr>
        <p:style>
          <a:lnRef idx="2">
            <a:schemeClr val="dk1"/>
          </a:lnRef>
          <a:fillRef idx="1">
            <a:schemeClr val="lt1"/>
          </a:fillRef>
          <a:effectRef idx="0">
            <a:schemeClr val="dk1"/>
          </a:effectRef>
          <a:fontRef idx="minor">
            <a:schemeClr val="dk1"/>
          </a:fontRef>
        </p:style>
      </p:pic>
      <p:sp>
        <p:nvSpPr>
          <p:cNvPr id="2" name="Title 1">
            <a:extLst>
              <a:ext uri="{FF2B5EF4-FFF2-40B4-BE49-F238E27FC236}">
                <a16:creationId xmlns:a16="http://schemas.microsoft.com/office/drawing/2014/main" id="{6C6575BF-5811-2DE5-8C52-BF4E6CB1D314}"/>
              </a:ext>
            </a:extLst>
          </p:cNvPr>
          <p:cNvSpPr>
            <a:spLocks noGrp="1"/>
          </p:cNvSpPr>
          <p:nvPr>
            <p:ph type="title"/>
          </p:nvPr>
        </p:nvSpPr>
        <p:spPr>
          <a:xfrm>
            <a:off x="1749345" y="7233"/>
            <a:ext cx="7148631" cy="745128"/>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dirty="0"/>
              <a:t>Computational Thinking</a:t>
            </a:r>
          </a:p>
        </p:txBody>
      </p:sp>
      <p:pic>
        <p:nvPicPr>
          <p:cNvPr id="4" name="Picture 3" descr="A screenshot of a computer&#10;&#10;Description automatically generated">
            <a:extLst>
              <a:ext uri="{FF2B5EF4-FFF2-40B4-BE49-F238E27FC236}">
                <a16:creationId xmlns:a16="http://schemas.microsoft.com/office/drawing/2014/main" id="{6EAB18DB-7685-57BF-EA69-484802250F15}"/>
              </a:ext>
            </a:extLst>
          </p:cNvPr>
          <p:cNvPicPr>
            <a:picLocks noChangeAspect="1"/>
          </p:cNvPicPr>
          <p:nvPr/>
        </p:nvPicPr>
        <p:blipFill rotWithShape="1">
          <a:blip r:embed="rId3"/>
          <a:srcRect l="26091" t="36058" r="24385" b="26405"/>
          <a:stretch/>
        </p:blipFill>
        <p:spPr bwMode="auto">
          <a:xfrm>
            <a:off x="0" y="0"/>
            <a:ext cx="1749346" cy="745127"/>
          </a:xfrm>
          <a:prstGeom prst="rect">
            <a:avLst/>
          </a:prstGeom>
          <a:ln>
            <a:noFill/>
          </a:ln>
          <a:extLst>
            <a:ext uri="{53640926-AAD7-44D8-BBD7-CCE9431645EC}">
              <a14:shadowObscured xmlns:a14="http://schemas.microsoft.com/office/drawing/2010/main"/>
            </a:ext>
          </a:extLst>
        </p:spPr>
      </p:pic>
      <p:pic>
        <p:nvPicPr>
          <p:cNvPr id="2050" name="Picture 2" descr="bimcorner.com/computatio...">
            <a:extLst>
              <a:ext uri="{FF2B5EF4-FFF2-40B4-BE49-F238E27FC236}">
                <a16:creationId xmlns:a16="http://schemas.microsoft.com/office/drawing/2014/main" id="{F0FCEE46-7631-6D2F-7228-8FFBA68DD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78" y="1314240"/>
            <a:ext cx="9062902" cy="5097882"/>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2">
            <a:extLst>
              <a:ext uri="{FF2B5EF4-FFF2-40B4-BE49-F238E27FC236}">
                <a16:creationId xmlns:a16="http://schemas.microsoft.com/office/drawing/2014/main" id="{12C7F259-5BE1-91F0-B24C-D72EBD330884}"/>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89018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9B7C-16D8-8EDA-4E7C-1F5F24C6F780}"/>
              </a:ext>
            </a:extLst>
          </p:cNvPr>
          <p:cNvSpPr>
            <a:spLocks noGrp="1"/>
          </p:cNvSpPr>
          <p:nvPr>
            <p:ph type="title"/>
          </p:nvPr>
        </p:nvSpPr>
        <p:spPr>
          <a:xfrm>
            <a:off x="1749345" y="106272"/>
            <a:ext cx="7029529" cy="745128"/>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defRPr/>
            </a:pPr>
            <a:r>
              <a:rPr lang="en-US" sz="4400" dirty="0"/>
              <a:t>What is Computational Thinking?</a:t>
            </a:r>
            <a:endParaRPr lang="en-US" dirty="0"/>
          </a:p>
        </p:txBody>
      </p:sp>
      <p:sp>
        <p:nvSpPr>
          <p:cNvPr id="3" name="Content Placeholder 2">
            <a:extLst>
              <a:ext uri="{FF2B5EF4-FFF2-40B4-BE49-F238E27FC236}">
                <a16:creationId xmlns:a16="http://schemas.microsoft.com/office/drawing/2014/main" id="{F02D5318-96C8-DF0A-4A48-BEE02A1C25CD}"/>
              </a:ext>
            </a:extLst>
          </p:cNvPr>
          <p:cNvSpPr>
            <a:spLocks noGrp="1"/>
          </p:cNvSpPr>
          <p:nvPr>
            <p:ph idx="1"/>
          </p:nvPr>
        </p:nvSpPr>
        <p:spPr>
          <a:xfrm>
            <a:off x="366713" y="1279525"/>
            <a:ext cx="8410575" cy="5264150"/>
          </a:xfrm>
        </p:spPr>
        <p:txBody>
          <a:bodyPr/>
          <a:lstStyle/>
          <a:p>
            <a:pPr eaLnBrk="1" hangingPunct="1">
              <a:lnSpc>
                <a:spcPct val="100000"/>
              </a:lnSpc>
              <a:buFont typeface="Wingdings 2" pitchFamily="18" charset="2"/>
              <a:buBlip>
                <a:blip r:embed="rId3"/>
              </a:buBlip>
              <a:defRPr/>
            </a:pPr>
            <a:r>
              <a:rPr lang="en-US" dirty="0"/>
              <a:t>Asking: What is the power and limit of human and computer intelligence?</a:t>
            </a:r>
          </a:p>
          <a:p>
            <a:pPr eaLnBrk="1" hangingPunct="1">
              <a:lnSpc>
                <a:spcPct val="100000"/>
              </a:lnSpc>
              <a:buFont typeface="Wingdings 2" pitchFamily="18" charset="2"/>
              <a:buBlip>
                <a:blip r:embed="rId3"/>
              </a:buBlip>
              <a:defRPr/>
            </a:pPr>
            <a:r>
              <a:rPr lang="en-US" dirty="0"/>
              <a:t>Asking: How difficult is the problem?</a:t>
            </a:r>
          </a:p>
          <a:p>
            <a:pPr eaLnBrk="1" hangingPunct="1">
              <a:lnSpc>
                <a:spcPct val="100000"/>
              </a:lnSpc>
              <a:buFont typeface="Wingdings 2" pitchFamily="18" charset="2"/>
              <a:buBlip>
                <a:blip r:embed="rId3"/>
              </a:buBlip>
              <a:defRPr/>
            </a:pPr>
            <a:r>
              <a:rPr lang="en-US" dirty="0"/>
              <a:t>Asking: How can it be solved?</a:t>
            </a:r>
          </a:p>
          <a:p>
            <a:pPr eaLnBrk="1" hangingPunct="1">
              <a:lnSpc>
                <a:spcPct val="100000"/>
              </a:lnSpc>
              <a:buFont typeface="Wingdings 2" pitchFamily="18" charset="2"/>
              <a:buBlip>
                <a:blip r:embed="rId3"/>
              </a:buBlip>
              <a:defRPr/>
            </a:pPr>
            <a:r>
              <a:rPr lang="en-US" dirty="0"/>
              <a:t>Asking: How can technology be applied to the problem?</a:t>
            </a:r>
          </a:p>
          <a:p>
            <a:pPr eaLnBrk="1" hangingPunct="1">
              <a:lnSpc>
                <a:spcPct val="100000"/>
              </a:lnSpc>
              <a:buFont typeface="Wingdings 2" pitchFamily="18" charset="2"/>
              <a:buBlip>
                <a:blip r:embed="rId3"/>
              </a:buBlip>
              <a:defRPr/>
            </a:pPr>
            <a:r>
              <a:rPr lang="en-US" dirty="0"/>
              <a:t>Asking: What computational strategies might be employed?</a:t>
            </a:r>
          </a:p>
          <a:p>
            <a:pPr eaLnBrk="1" hangingPunct="1">
              <a:lnSpc>
                <a:spcPct val="100000"/>
              </a:lnSpc>
              <a:buFont typeface="Wingdings 2" pitchFamily="18" charset="2"/>
              <a:buNone/>
              <a:defRPr/>
            </a:pPr>
            <a:endParaRPr lang="en-US" dirty="0"/>
          </a:p>
        </p:txBody>
      </p:sp>
      <p:pic>
        <p:nvPicPr>
          <p:cNvPr id="4" name="Picture 3" descr="A screenshot of a computer&#10;&#10;Description automatically generated">
            <a:extLst>
              <a:ext uri="{FF2B5EF4-FFF2-40B4-BE49-F238E27FC236}">
                <a16:creationId xmlns:a16="http://schemas.microsoft.com/office/drawing/2014/main" id="{BB71D9F1-9406-7ED9-5028-B690BB4C0F5F}"/>
              </a:ext>
            </a:extLst>
          </p:cNvPr>
          <p:cNvPicPr>
            <a:picLocks noChangeAspect="1"/>
          </p:cNvPicPr>
          <p:nvPr/>
        </p:nvPicPr>
        <p:blipFill rotWithShape="1">
          <a:blip r:embed="rId4"/>
          <a:srcRect l="26091" t="36058" r="24385" b="26405"/>
          <a:stretch/>
        </p:blipFill>
        <p:spPr bwMode="auto">
          <a:xfrm>
            <a:off x="-1" y="106272"/>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p:cTn id="21"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3">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p:cTn id="28"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3">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xit" presetSubtype="10" fill="hold" nodeType="clickEffect">
                                  <p:stCondLst>
                                    <p:cond delay="0"/>
                                  </p:stCondLst>
                                  <p:childTnLst>
                                    <p:animEffect transition="out" filter="blinds(horizontal)">
                                      <p:cBhvr>
                                        <p:cTn id="34" dur="500"/>
                                        <p:tgtEl>
                                          <p:spTgt spid="3">
                                            <p:txEl>
                                              <p:pRg st="1" end="1"/>
                                            </p:txEl>
                                          </p:spTgt>
                                        </p:tgtEl>
                                      </p:cBhvr>
                                    </p:animEffect>
                                    <p:set>
                                      <p:cBhvr>
                                        <p:cTn id="35" dur="1" fill="hold">
                                          <p:stCondLst>
                                            <p:cond delay="499"/>
                                          </p:stCondLst>
                                        </p:cTn>
                                        <p:tgtEl>
                                          <p:spTgt spid="3">
                                            <p:txEl>
                                              <p:pRg st="1" end="1"/>
                                            </p:txEl>
                                          </p:spTgt>
                                        </p:tgtEl>
                                        <p:attrNameLst>
                                          <p:attrName>style.visibility</p:attrName>
                                        </p:attrNameLst>
                                      </p:cBhvr>
                                      <p:to>
                                        <p:strVal val="hidden"/>
                                      </p:to>
                                    </p:set>
                                  </p:childTnLst>
                                </p:cTn>
                              </p:par>
                              <p:par>
                                <p:cTn id="36" presetID="3" presetClass="exit" presetSubtype="10" fill="hold" nodeType="withEffect">
                                  <p:stCondLst>
                                    <p:cond delay="0"/>
                                  </p:stCondLst>
                                  <p:childTnLst>
                                    <p:animEffect transition="out" filter="blinds(horizontal)">
                                      <p:cBhvr>
                                        <p:cTn id="37" dur="500"/>
                                        <p:tgtEl>
                                          <p:spTgt spid="3">
                                            <p:txEl>
                                              <p:pRg st="2" end="2"/>
                                            </p:txEl>
                                          </p:spTgt>
                                        </p:tgtEl>
                                      </p:cBhvr>
                                    </p:animEffect>
                                    <p:set>
                                      <p:cBhvr>
                                        <p:cTn id="38" dur="1" fill="hold">
                                          <p:stCondLst>
                                            <p:cond delay="499"/>
                                          </p:stCondLst>
                                        </p:cTn>
                                        <p:tgtEl>
                                          <p:spTgt spid="3">
                                            <p:txEl>
                                              <p:pRg st="2" end="2"/>
                                            </p:txEl>
                                          </p:spTgt>
                                        </p:tgtEl>
                                        <p:attrNameLst>
                                          <p:attrName>style.visibility</p:attrName>
                                        </p:attrNameLst>
                                      </p:cBhvr>
                                      <p:to>
                                        <p:strVal val="hidden"/>
                                      </p:to>
                                    </p:set>
                                  </p:childTnLst>
                                </p:cTn>
                              </p:par>
                              <p:par>
                                <p:cTn id="39" presetID="3" presetClass="exit" presetSubtype="10" fill="hold" nodeType="withEffect">
                                  <p:stCondLst>
                                    <p:cond delay="0"/>
                                  </p:stCondLst>
                                  <p:childTnLst>
                                    <p:animEffect transition="out" filter="blinds(horizontal)">
                                      <p:cBhvr>
                                        <p:cTn id="40" dur="500"/>
                                        <p:tgtEl>
                                          <p:spTgt spid="3">
                                            <p:txEl>
                                              <p:pRg st="3" end="3"/>
                                            </p:txEl>
                                          </p:spTgt>
                                        </p:tgtEl>
                                      </p:cBhvr>
                                    </p:animEffect>
                                    <p:set>
                                      <p:cBhvr>
                                        <p:cTn id="41" dur="1" fill="hold">
                                          <p:stCondLst>
                                            <p:cond delay="499"/>
                                          </p:stCondLst>
                                        </p:cTn>
                                        <p:tgtEl>
                                          <p:spTgt spid="3">
                                            <p:txEl>
                                              <p:pRg st="3" end="3"/>
                                            </p:txEl>
                                          </p:spTgt>
                                        </p:tgtEl>
                                        <p:attrNameLst>
                                          <p:attrName>style.visibility</p:attrName>
                                        </p:attrNameLst>
                                      </p:cBhvr>
                                      <p:to>
                                        <p:strVal val="hidden"/>
                                      </p:to>
                                    </p:set>
                                  </p:childTnLst>
                                </p:cTn>
                              </p:par>
                              <p:par>
                                <p:cTn id="42" presetID="3" presetClass="exit" presetSubtype="10" fill="hold" nodeType="withEffect">
                                  <p:stCondLst>
                                    <p:cond delay="0"/>
                                  </p:stCondLst>
                                  <p:childTnLst>
                                    <p:animEffect transition="out" filter="blinds(horizontal)">
                                      <p:cBhvr>
                                        <p:cTn id="43" dur="500"/>
                                        <p:tgtEl>
                                          <p:spTgt spid="3">
                                            <p:txEl>
                                              <p:pRg st="4" end="4"/>
                                            </p:txEl>
                                          </p:spTgt>
                                        </p:tgtEl>
                                      </p:cBhvr>
                                    </p:animEffect>
                                    <p:set>
                                      <p:cBhvr>
                                        <p:cTn id="44" dur="1" fill="hold">
                                          <p:stCondLst>
                                            <p:cond delay="499"/>
                                          </p:stCondLst>
                                        </p:cTn>
                                        <p:tgtEl>
                                          <p:spTgt spid="3">
                                            <p:txEl>
                                              <p:pRg st="4" end="4"/>
                                            </p:txEl>
                                          </p:spTgt>
                                        </p:tgtEl>
                                        <p:attrNameLst>
                                          <p:attrName>style.visibility</p:attrName>
                                        </p:attrNameLst>
                                      </p:cBhvr>
                                      <p:to>
                                        <p:strVal val="hidden"/>
                                      </p:to>
                                    </p:set>
                                  </p:childTnLst>
                                </p:cTn>
                              </p:par>
                              <p:par>
                                <p:cTn id="45" presetID="53" presetClass="entr" presetSubtype="0" fill="hold" nodeType="with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anim calcmode="lin" valueType="num">
                                      <p:cBhvr>
                                        <p:cTn id="4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4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18E3E-92FA-74FD-DC90-50DBC39C3106}"/>
              </a:ext>
            </a:extLst>
          </p:cNvPr>
          <p:cNvSpPr>
            <a:spLocks noGrp="1"/>
          </p:cNvSpPr>
          <p:nvPr>
            <p:ph type="title"/>
          </p:nvPr>
        </p:nvSpPr>
        <p:spPr>
          <a:xfrm>
            <a:off x="1749346" y="101011"/>
            <a:ext cx="73946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defRPr/>
            </a:pPr>
            <a:r>
              <a:rPr lang="en-US" dirty="0"/>
              <a:t>What it’s not…</a:t>
            </a:r>
          </a:p>
        </p:txBody>
      </p:sp>
      <p:sp>
        <p:nvSpPr>
          <p:cNvPr id="3" name="Content Placeholder 2">
            <a:extLst>
              <a:ext uri="{FF2B5EF4-FFF2-40B4-BE49-F238E27FC236}">
                <a16:creationId xmlns:a16="http://schemas.microsoft.com/office/drawing/2014/main" id="{2B24138E-9554-99FA-04B6-B971F2470465}"/>
              </a:ext>
            </a:extLst>
          </p:cNvPr>
          <p:cNvSpPr>
            <a:spLocks noGrp="1"/>
          </p:cNvSpPr>
          <p:nvPr>
            <p:ph idx="1"/>
          </p:nvPr>
        </p:nvSpPr>
        <p:spPr>
          <a:xfrm>
            <a:off x="366713" y="1416050"/>
            <a:ext cx="8410575" cy="5441950"/>
          </a:xfrm>
        </p:spPr>
        <p:txBody>
          <a:bodyPr/>
          <a:lstStyle/>
          <a:p>
            <a:pPr eaLnBrk="1" hangingPunct="1">
              <a:lnSpc>
                <a:spcPct val="100000"/>
              </a:lnSpc>
              <a:buFont typeface="Wingdings 2" pitchFamily="18" charset="2"/>
              <a:buBlip>
                <a:blip r:embed="rId3"/>
              </a:buBlip>
              <a:defRPr/>
            </a:pPr>
            <a:r>
              <a:rPr lang="en-US" dirty="0"/>
              <a:t>It’s not just more technical details for using software</a:t>
            </a:r>
          </a:p>
          <a:p>
            <a:pPr eaLnBrk="1" hangingPunct="1">
              <a:lnSpc>
                <a:spcPct val="100000"/>
              </a:lnSpc>
              <a:buFont typeface="Wingdings 2" pitchFamily="18" charset="2"/>
              <a:buBlip>
                <a:blip r:embed="rId3"/>
              </a:buBlip>
              <a:defRPr/>
            </a:pPr>
            <a:r>
              <a:rPr lang="en-US" dirty="0"/>
              <a:t>It’s not thinking like a computer</a:t>
            </a:r>
          </a:p>
          <a:p>
            <a:pPr eaLnBrk="1" hangingPunct="1">
              <a:lnSpc>
                <a:spcPct val="100000"/>
              </a:lnSpc>
              <a:buFont typeface="Wingdings 2" pitchFamily="18" charset="2"/>
              <a:buBlip>
                <a:blip r:embed="rId3"/>
              </a:buBlip>
              <a:defRPr/>
            </a:pPr>
            <a:r>
              <a:rPr lang="en-US" dirty="0"/>
              <a:t>It’s not programming (necessarily)</a:t>
            </a:r>
          </a:p>
          <a:p>
            <a:pPr eaLnBrk="1" hangingPunct="1">
              <a:lnSpc>
                <a:spcPct val="100000"/>
              </a:lnSpc>
              <a:buFont typeface="Wingdings 2" pitchFamily="18" charset="2"/>
              <a:buBlip>
                <a:blip r:embed="rId3"/>
              </a:buBlip>
              <a:defRPr/>
            </a:pPr>
            <a:r>
              <a:rPr lang="en-US" dirty="0"/>
              <a:t>It doesn’t always require a computer</a:t>
            </a:r>
          </a:p>
          <a:p>
            <a:pPr eaLnBrk="1" hangingPunct="1">
              <a:lnSpc>
                <a:spcPct val="100000"/>
              </a:lnSpc>
              <a:buFont typeface="Wingdings 2" pitchFamily="18" charset="2"/>
              <a:buBlip>
                <a:blip r:embed="rId3"/>
              </a:buBlip>
              <a:defRPr/>
            </a:pPr>
            <a:r>
              <a:rPr lang="en-US" dirty="0"/>
              <a:t>It’s not yet one more thing to add to your curriculum</a:t>
            </a:r>
          </a:p>
        </p:txBody>
      </p:sp>
      <p:pic>
        <p:nvPicPr>
          <p:cNvPr id="4" name="Picture 3" descr="A screenshot of a computer&#10;&#10;Description automatically generated">
            <a:extLst>
              <a:ext uri="{FF2B5EF4-FFF2-40B4-BE49-F238E27FC236}">
                <a16:creationId xmlns:a16="http://schemas.microsoft.com/office/drawing/2014/main" id="{4FD1289F-D52C-775A-0409-814BB3674F5F}"/>
              </a:ext>
            </a:extLst>
          </p:cNvPr>
          <p:cNvPicPr>
            <a:picLocks noChangeAspect="1"/>
          </p:cNvPicPr>
          <p:nvPr/>
        </p:nvPicPr>
        <p:blipFill rotWithShape="1">
          <a:blip r:embed="rId4"/>
          <a:srcRect l="26091" t="36058" r="24385" b="26405"/>
          <a:stretch/>
        </p:blipFill>
        <p:spPr bwMode="auto">
          <a:xfrm>
            <a:off x="0" y="101011"/>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iterate type="lt">
                                    <p:tmAbs val="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20" presetClass="emph" presetSubtype="0" fill="hold" nodeType="withEffect">
                                  <p:stCondLst>
                                    <p:cond delay="0"/>
                                  </p:stCondLst>
                                  <p:iterate type="lt">
                                    <p:tmPct val="10000"/>
                                  </p:iterate>
                                  <p:childTnLst>
                                    <p:set>
                                      <p:cBhvr override="childStyle">
                                        <p:cTn id="24" dur="500" autoRev="1" fill="hold"/>
                                        <p:tgtEl>
                                          <p:spTgt spid="3">
                                            <p:txEl>
                                              <p:pRg st="4" end="4"/>
                                            </p:txEl>
                                          </p:spTgt>
                                        </p:tgtEl>
                                        <p:attrNameLst>
                                          <p:attrName>style.color</p:attrName>
                                        </p:attrNameLst>
                                      </p:cBhvr>
                                      <p:to>
                                        <p:clrVal>
                                          <a:schemeClr val="tx2"/>
                                        </p:clrVal>
                                      </p:to>
                                    </p:set>
                                    <p:set>
                                      <p:cBhvr>
                                        <p:cTn id="25" dur="500" autoRev="1" fill="hold"/>
                                        <p:tgtEl>
                                          <p:spTgt spid="3">
                                            <p:txEl>
                                              <p:pRg st="4" end="4"/>
                                            </p:txEl>
                                          </p:spTgt>
                                        </p:tgtEl>
                                        <p:attrNameLst>
                                          <p:attrName>fillcolor</p:attrName>
                                        </p:attrNameLst>
                                      </p:cBhvr>
                                      <p:to>
                                        <p:clrVal>
                                          <a:schemeClr val="tx2"/>
                                        </p:clrVal>
                                      </p:to>
                                    </p:set>
                                    <p:set>
                                      <p:cBhvr>
                                        <p:cTn id="26" dur="500" autoRev="1"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E2C7-E0DD-BD47-3836-7738222F109B}"/>
              </a:ext>
            </a:extLst>
          </p:cNvPr>
          <p:cNvSpPr>
            <a:spLocks noGrp="1"/>
          </p:cNvSpPr>
          <p:nvPr>
            <p:ph type="title"/>
          </p:nvPr>
        </p:nvSpPr>
        <p:spPr>
          <a:xfrm>
            <a:off x="1749346" y="47625"/>
            <a:ext cx="7394654" cy="697502"/>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defRPr/>
            </a:pPr>
            <a:br>
              <a:rPr lang="en-US" dirty="0"/>
            </a:br>
            <a:r>
              <a:rPr lang="en-US" dirty="0"/>
              <a:t>Why is it important?</a:t>
            </a:r>
            <a:br>
              <a:rPr lang="en-US" dirty="0"/>
            </a:br>
            <a:endParaRPr lang="en-US" dirty="0"/>
          </a:p>
        </p:txBody>
      </p:sp>
      <p:sp>
        <p:nvSpPr>
          <p:cNvPr id="3" name="Content Placeholder 2">
            <a:extLst>
              <a:ext uri="{FF2B5EF4-FFF2-40B4-BE49-F238E27FC236}">
                <a16:creationId xmlns:a16="http://schemas.microsoft.com/office/drawing/2014/main" id="{5433EFF5-91C0-DA56-7560-55F94A87109A}"/>
              </a:ext>
            </a:extLst>
          </p:cNvPr>
          <p:cNvSpPr>
            <a:spLocks noGrp="1"/>
          </p:cNvSpPr>
          <p:nvPr>
            <p:ph idx="1"/>
          </p:nvPr>
        </p:nvSpPr>
        <p:spPr>
          <a:xfrm>
            <a:off x="366713" y="1104900"/>
            <a:ext cx="8410575" cy="5705475"/>
          </a:xfrm>
        </p:spPr>
        <p:txBody>
          <a:bodyPr/>
          <a:lstStyle/>
          <a:p>
            <a:pPr eaLnBrk="1" hangingPunct="1">
              <a:buFont typeface="Wingdings 2" pitchFamily="18" charset="2"/>
              <a:buBlip>
                <a:blip r:embed="rId3"/>
              </a:buBlip>
              <a:defRPr/>
            </a:pPr>
            <a:r>
              <a:rPr lang="en-US" dirty="0"/>
              <a:t>It moves students beyond technology literacy</a:t>
            </a:r>
          </a:p>
          <a:p>
            <a:pPr eaLnBrk="1" hangingPunct="1">
              <a:buFont typeface="Wingdings 2" pitchFamily="18" charset="2"/>
              <a:buBlip>
                <a:blip r:embed="rId3"/>
              </a:buBlip>
              <a:defRPr/>
            </a:pPr>
            <a:r>
              <a:rPr lang="en-US" dirty="0"/>
              <a:t>It creates problem solvers instead of software technicians</a:t>
            </a:r>
          </a:p>
          <a:p>
            <a:pPr eaLnBrk="1" hangingPunct="1">
              <a:buFont typeface="Wingdings 2" pitchFamily="18" charset="2"/>
              <a:buBlip>
                <a:blip r:embed="rId3"/>
              </a:buBlip>
              <a:defRPr/>
            </a:pPr>
            <a:r>
              <a:rPr lang="en-US" dirty="0"/>
              <a:t>It emphasizes creating knowledge rather than using information</a:t>
            </a:r>
          </a:p>
          <a:p>
            <a:pPr eaLnBrk="1" hangingPunct="1">
              <a:buFont typeface="Wingdings 2" pitchFamily="18" charset="2"/>
              <a:buBlip>
                <a:blip r:embed="rId3"/>
              </a:buBlip>
              <a:defRPr/>
            </a:pPr>
            <a:r>
              <a:rPr lang="en-US" dirty="0"/>
              <a:t>It presents endless possibilities for creatively solving problems</a:t>
            </a:r>
          </a:p>
          <a:p>
            <a:pPr eaLnBrk="1" hangingPunct="1">
              <a:buFont typeface="Wingdings 2" pitchFamily="18" charset="2"/>
              <a:buBlip>
                <a:blip r:embed="rId3"/>
              </a:buBlip>
              <a:defRPr/>
            </a:pPr>
            <a:r>
              <a:rPr lang="en-US" dirty="0"/>
              <a:t>It enhances the problem-solving techniques you already teach</a:t>
            </a:r>
          </a:p>
          <a:p>
            <a:pPr eaLnBrk="1" hangingPunct="1">
              <a:buFont typeface="Wingdings 2" pitchFamily="18" charset="2"/>
              <a:buNone/>
              <a:defRPr/>
            </a:pPr>
            <a:endParaRPr lang="en-US" dirty="0"/>
          </a:p>
        </p:txBody>
      </p:sp>
      <p:pic>
        <p:nvPicPr>
          <p:cNvPr id="4" name="Picture 3" descr="A screenshot of a computer&#10;&#10;Description automatically generated">
            <a:extLst>
              <a:ext uri="{FF2B5EF4-FFF2-40B4-BE49-F238E27FC236}">
                <a16:creationId xmlns:a16="http://schemas.microsoft.com/office/drawing/2014/main" id="{1E0D4091-8427-39EF-E006-5A8762791B24}"/>
              </a:ext>
            </a:extLst>
          </p:cNvPr>
          <p:cNvPicPr>
            <a:picLocks noChangeAspect="1"/>
          </p:cNvPicPr>
          <p:nvPr/>
        </p:nvPicPr>
        <p:blipFill rotWithShape="1">
          <a:blip r:embed="rId4"/>
          <a:srcRect l="26091" t="36058" r="24385" b="26405"/>
          <a:stretch/>
        </p:blipFill>
        <p:spPr bwMode="auto">
          <a:xfrm>
            <a:off x="0" y="0"/>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98E2-B852-4FD4-7F0A-831370746A45}"/>
              </a:ext>
            </a:extLst>
          </p:cNvPr>
          <p:cNvSpPr>
            <a:spLocks noGrp="1"/>
          </p:cNvSpPr>
          <p:nvPr>
            <p:ph type="title"/>
          </p:nvPr>
        </p:nvSpPr>
        <p:spPr>
          <a:xfrm>
            <a:off x="1749345" y="48088"/>
            <a:ext cx="7394655"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defRPr/>
            </a:pPr>
            <a:r>
              <a:rPr lang="en-US" sz="4400" dirty="0"/>
              <a:t>What is happening in the World?</a:t>
            </a:r>
          </a:p>
        </p:txBody>
      </p:sp>
      <p:sp>
        <p:nvSpPr>
          <p:cNvPr id="3" name="Content Placeholder 2">
            <a:extLst>
              <a:ext uri="{FF2B5EF4-FFF2-40B4-BE49-F238E27FC236}">
                <a16:creationId xmlns:a16="http://schemas.microsoft.com/office/drawing/2014/main" id="{D6E0E721-657F-D82B-3E2D-157C1ABC4846}"/>
              </a:ext>
            </a:extLst>
          </p:cNvPr>
          <p:cNvSpPr>
            <a:spLocks noGrp="1"/>
          </p:cNvSpPr>
          <p:nvPr>
            <p:ph idx="1"/>
          </p:nvPr>
        </p:nvSpPr>
        <p:spPr>
          <a:xfrm>
            <a:off x="366713" y="1017588"/>
            <a:ext cx="8410575" cy="5559425"/>
          </a:xfrm>
        </p:spPr>
        <p:txBody>
          <a:bodyPr/>
          <a:lstStyle/>
          <a:p>
            <a:pPr eaLnBrk="1" hangingPunct="1">
              <a:buFont typeface="Wingdings 2" pitchFamily="18" charset="2"/>
              <a:buNone/>
              <a:defRPr/>
            </a:pPr>
            <a:r>
              <a:rPr lang="en-US" dirty="0"/>
              <a:t>“Computational” has become part of </a:t>
            </a:r>
          </a:p>
          <a:p>
            <a:pPr eaLnBrk="1" hangingPunct="1">
              <a:buFont typeface="Wingdings 2" pitchFamily="18" charset="2"/>
              <a:buBlip>
                <a:blip r:embed="rId3"/>
              </a:buBlip>
              <a:defRPr/>
            </a:pPr>
            <a:r>
              <a:rPr lang="en-US" dirty="0"/>
              <a:t>Math and statistics</a:t>
            </a:r>
          </a:p>
          <a:p>
            <a:pPr eaLnBrk="1" hangingPunct="1">
              <a:buFont typeface="Wingdings 2" pitchFamily="18" charset="2"/>
              <a:buBlip>
                <a:blip r:embed="rId3"/>
              </a:buBlip>
              <a:defRPr/>
            </a:pPr>
            <a:r>
              <a:rPr lang="en-US" dirty="0"/>
              <a:t>Every Science</a:t>
            </a:r>
          </a:p>
          <a:p>
            <a:pPr lvl="1" eaLnBrk="1" hangingPunct="1">
              <a:buFont typeface="Wingdings 2" pitchFamily="18" charset="2"/>
              <a:buBlip>
                <a:blip r:embed="rId3"/>
              </a:buBlip>
              <a:defRPr/>
            </a:pPr>
            <a:r>
              <a:rPr lang="en-US" dirty="0"/>
              <a:t>Biology</a:t>
            </a:r>
          </a:p>
          <a:p>
            <a:pPr lvl="1" eaLnBrk="1" hangingPunct="1">
              <a:buFont typeface="Wingdings 2" pitchFamily="18" charset="2"/>
              <a:buBlip>
                <a:blip r:embed="rId3"/>
              </a:buBlip>
              <a:defRPr/>
            </a:pPr>
            <a:r>
              <a:rPr lang="en-US" dirty="0"/>
              <a:t>Physics</a:t>
            </a:r>
          </a:p>
          <a:p>
            <a:pPr lvl="1" eaLnBrk="1" hangingPunct="1">
              <a:buFont typeface="Wingdings 2" pitchFamily="18" charset="2"/>
              <a:buBlip>
                <a:blip r:embed="rId3"/>
              </a:buBlip>
              <a:defRPr/>
            </a:pPr>
            <a:r>
              <a:rPr lang="en-US" dirty="0"/>
              <a:t>Nanotechnology</a:t>
            </a:r>
          </a:p>
          <a:p>
            <a:pPr lvl="1" eaLnBrk="1" hangingPunct="1">
              <a:buFont typeface="Wingdings 2" pitchFamily="18" charset="2"/>
              <a:buBlip>
                <a:blip r:embed="rId3"/>
              </a:buBlip>
              <a:defRPr/>
            </a:pPr>
            <a:r>
              <a:rPr lang="en-US" dirty="0"/>
              <a:t>Chemistry</a:t>
            </a:r>
          </a:p>
          <a:p>
            <a:pPr marL="571500" lvl="1" indent="-571500" eaLnBrk="1" hangingPunct="1">
              <a:buFont typeface="Wingdings 2" pitchFamily="18" charset="2"/>
              <a:buBlip>
                <a:blip r:embed="rId3"/>
              </a:buBlip>
              <a:defRPr/>
            </a:pPr>
            <a:r>
              <a:rPr lang="en-US" sz="3200" dirty="0">
                <a:ea typeface="+mn-ea"/>
                <a:cs typeface="+mn-cs"/>
              </a:rPr>
              <a:t>Economics</a:t>
            </a:r>
          </a:p>
          <a:p>
            <a:pPr eaLnBrk="1" hangingPunct="1">
              <a:buFont typeface="Wingdings 2" pitchFamily="18" charset="2"/>
              <a:buBlip>
                <a:blip r:embed="rId3"/>
              </a:buBlip>
              <a:defRPr/>
            </a:pPr>
            <a:r>
              <a:rPr lang="en-US" dirty="0"/>
              <a:t>Arts and recreation</a:t>
            </a:r>
          </a:p>
          <a:p>
            <a:pPr eaLnBrk="1" hangingPunct="1">
              <a:buFont typeface="Wingdings 2" pitchFamily="18" charset="2"/>
              <a:buBlip>
                <a:blip r:embed="rId3"/>
              </a:buBlip>
              <a:defRPr/>
            </a:pPr>
            <a:r>
              <a:rPr lang="en-US" dirty="0"/>
              <a:t>Engineering and design</a:t>
            </a:r>
          </a:p>
        </p:txBody>
      </p:sp>
      <p:pic>
        <p:nvPicPr>
          <p:cNvPr id="4" name="Picture 3" descr="A screenshot of a computer&#10;&#10;Description automatically generated">
            <a:extLst>
              <a:ext uri="{FF2B5EF4-FFF2-40B4-BE49-F238E27FC236}">
                <a16:creationId xmlns:a16="http://schemas.microsoft.com/office/drawing/2014/main" id="{EF48A7F3-E861-4D1E-4D7F-5236CAB8E4BB}"/>
              </a:ext>
            </a:extLst>
          </p:cNvPr>
          <p:cNvPicPr>
            <a:picLocks noChangeAspect="1"/>
          </p:cNvPicPr>
          <p:nvPr/>
        </p:nvPicPr>
        <p:blipFill rotWithShape="1">
          <a:blip r:embed="rId4"/>
          <a:srcRect l="26091" t="36058" r="24385" b="26405"/>
          <a:stretch/>
        </p:blipFill>
        <p:spPr bwMode="auto">
          <a:xfrm>
            <a:off x="0" y="48087"/>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3C4A4-692C-C6E3-656C-993B7F80B0A5}"/>
              </a:ext>
            </a:extLst>
          </p:cNvPr>
          <p:cNvSpPr>
            <a:spLocks noGrp="1"/>
          </p:cNvSpPr>
          <p:nvPr>
            <p:ph type="title"/>
          </p:nvPr>
        </p:nvSpPr>
        <p:spPr>
          <a:xfrm>
            <a:off x="1749346" y="48623"/>
            <a:ext cx="73946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defRPr/>
            </a:pPr>
            <a:r>
              <a:rPr lang="en-US" dirty="0"/>
              <a:t>What has been accomplished?</a:t>
            </a:r>
          </a:p>
        </p:txBody>
      </p:sp>
      <p:sp>
        <p:nvSpPr>
          <p:cNvPr id="3" name="Content Placeholder 2">
            <a:extLst>
              <a:ext uri="{FF2B5EF4-FFF2-40B4-BE49-F238E27FC236}">
                <a16:creationId xmlns:a16="http://schemas.microsoft.com/office/drawing/2014/main" id="{01D3C8DC-299B-5974-8215-2902F3B1E73D}"/>
              </a:ext>
            </a:extLst>
          </p:cNvPr>
          <p:cNvSpPr>
            <a:spLocks noGrp="1"/>
          </p:cNvSpPr>
          <p:nvPr>
            <p:ph idx="1"/>
          </p:nvPr>
        </p:nvSpPr>
        <p:spPr>
          <a:xfrm>
            <a:off x="366713" y="1416050"/>
            <a:ext cx="8410575" cy="5780088"/>
          </a:xfrm>
        </p:spPr>
        <p:txBody>
          <a:bodyPr/>
          <a:lstStyle/>
          <a:p>
            <a:pPr eaLnBrk="1" hangingPunct="1">
              <a:buFont typeface="Wingdings 2" pitchFamily="18" charset="2"/>
              <a:buBlip>
                <a:blip r:embed="rId3"/>
              </a:buBlip>
              <a:defRPr/>
            </a:pPr>
            <a:r>
              <a:rPr lang="en-US" dirty="0"/>
              <a:t>Computational</a:t>
            </a:r>
          </a:p>
          <a:p>
            <a:pPr lvl="1" eaLnBrk="1" hangingPunct="1">
              <a:buFont typeface="Wingdings 2" pitchFamily="18" charset="2"/>
              <a:buBlip>
                <a:blip r:embed="rId3"/>
              </a:buBlip>
              <a:defRPr/>
            </a:pPr>
            <a:r>
              <a:rPr lang="en-US" dirty="0"/>
              <a:t>Physics </a:t>
            </a:r>
          </a:p>
          <a:p>
            <a:pPr lvl="1" eaLnBrk="1" hangingPunct="1">
              <a:buFont typeface="Wingdings 2" pitchFamily="18" charset="2"/>
              <a:buBlip>
                <a:blip r:embed="rId3"/>
              </a:buBlip>
              <a:defRPr/>
            </a:pPr>
            <a:r>
              <a:rPr lang="en-US" dirty="0"/>
              <a:t>Biology</a:t>
            </a:r>
          </a:p>
          <a:p>
            <a:pPr lvl="1" eaLnBrk="1" hangingPunct="1">
              <a:buFont typeface="Wingdings 2" pitchFamily="18" charset="2"/>
              <a:buBlip>
                <a:blip r:embed="rId3"/>
              </a:buBlip>
              <a:defRPr/>
            </a:pPr>
            <a:r>
              <a:rPr lang="en-US" dirty="0"/>
              <a:t>Chemistry</a:t>
            </a:r>
          </a:p>
          <a:p>
            <a:pPr lvl="1" eaLnBrk="1" hangingPunct="1">
              <a:buFont typeface="Wingdings 2" pitchFamily="18" charset="2"/>
              <a:buBlip>
                <a:blip r:embed="rId3"/>
              </a:buBlip>
              <a:defRPr/>
            </a:pPr>
            <a:r>
              <a:rPr lang="en-US" dirty="0"/>
              <a:t>Mathematics</a:t>
            </a:r>
          </a:p>
          <a:p>
            <a:pPr lvl="1" eaLnBrk="1" hangingPunct="1">
              <a:buFont typeface="Wingdings 2" pitchFamily="18" charset="2"/>
              <a:buBlip>
                <a:blip r:embed="rId3"/>
              </a:buBlip>
              <a:defRPr/>
            </a:pPr>
            <a:r>
              <a:rPr lang="en-US" dirty="0"/>
              <a:t>Computer Science</a:t>
            </a:r>
          </a:p>
          <a:p>
            <a:pPr lvl="1" eaLnBrk="1" hangingPunct="1">
              <a:buFont typeface="Wingdings 2" pitchFamily="18" charset="2"/>
              <a:buBlip>
                <a:blip r:embed="rId3"/>
              </a:buBlip>
              <a:defRPr/>
            </a:pPr>
            <a:r>
              <a:rPr lang="en-US" dirty="0"/>
              <a:t>Law</a:t>
            </a:r>
          </a:p>
          <a:p>
            <a:pPr lvl="1" eaLnBrk="1" hangingPunct="1">
              <a:buFont typeface="Wingdings 2" pitchFamily="18" charset="2"/>
              <a:buBlip>
                <a:blip r:embed="rId3"/>
              </a:buBlip>
              <a:defRPr/>
            </a:pPr>
            <a:r>
              <a:rPr lang="en-US" dirty="0"/>
              <a:t>Economics</a:t>
            </a:r>
          </a:p>
          <a:p>
            <a:pPr lvl="1" eaLnBrk="1" hangingPunct="1">
              <a:buFont typeface="Wingdings 2" pitchFamily="18" charset="2"/>
              <a:buBlip>
                <a:blip r:embed="rId3"/>
              </a:buBlip>
              <a:defRPr/>
            </a:pPr>
            <a:r>
              <a:rPr lang="en-US" dirty="0"/>
              <a:t>Aeronautics</a:t>
            </a:r>
          </a:p>
          <a:p>
            <a:pPr lvl="1" eaLnBrk="1" hangingPunct="1">
              <a:buFont typeface="Wingdings 2" pitchFamily="18" charset="2"/>
              <a:buBlip>
                <a:blip r:embed="rId3"/>
              </a:buBlip>
              <a:defRPr/>
            </a:pPr>
            <a:r>
              <a:rPr lang="en-US" dirty="0"/>
              <a:t>Education</a:t>
            </a:r>
          </a:p>
          <a:p>
            <a:pPr eaLnBrk="1" hangingPunct="1">
              <a:buFont typeface="Wingdings 2" pitchFamily="18" charset="2"/>
              <a:buBlip>
                <a:blip r:embed="rId3"/>
              </a:buBlip>
              <a:defRPr/>
            </a:pPr>
            <a:endParaRPr lang="en-US" dirty="0"/>
          </a:p>
        </p:txBody>
      </p:sp>
      <p:pic>
        <p:nvPicPr>
          <p:cNvPr id="4" name="Picture 3" descr="A screenshot of a computer&#10;&#10;Description automatically generated">
            <a:extLst>
              <a:ext uri="{FF2B5EF4-FFF2-40B4-BE49-F238E27FC236}">
                <a16:creationId xmlns:a16="http://schemas.microsoft.com/office/drawing/2014/main" id="{12D60977-7806-710E-C929-13EB774D72C5}"/>
              </a:ext>
            </a:extLst>
          </p:cNvPr>
          <p:cNvPicPr>
            <a:picLocks noChangeAspect="1"/>
          </p:cNvPicPr>
          <p:nvPr/>
        </p:nvPicPr>
        <p:blipFill rotWithShape="1">
          <a:blip r:embed="rId4"/>
          <a:srcRect l="26091" t="36058" r="24385" b="26405"/>
          <a:stretch/>
        </p:blipFill>
        <p:spPr bwMode="auto">
          <a:xfrm>
            <a:off x="0" y="4862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D6ABD-4F85-B92F-E41E-A6290BDD4DD8}"/>
              </a:ext>
            </a:extLst>
          </p:cNvPr>
          <p:cNvSpPr>
            <a:spLocks noGrp="1"/>
          </p:cNvSpPr>
          <p:nvPr>
            <p:ph type="title"/>
          </p:nvPr>
        </p:nvSpPr>
        <p:spPr>
          <a:xfrm>
            <a:off x="1749346" y="0"/>
            <a:ext cx="7394654" cy="808863"/>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defRPr/>
            </a:pPr>
            <a:r>
              <a:rPr lang="en-US" sz="4400" dirty="0"/>
              <a:t>Computational Thinking Concepts</a:t>
            </a:r>
          </a:p>
        </p:txBody>
      </p:sp>
      <p:sp>
        <p:nvSpPr>
          <p:cNvPr id="3" name="Content Placeholder 2">
            <a:extLst>
              <a:ext uri="{FF2B5EF4-FFF2-40B4-BE49-F238E27FC236}">
                <a16:creationId xmlns:a16="http://schemas.microsoft.com/office/drawing/2014/main" id="{AB4F3415-0653-E2D7-933D-45E13D7DAC4E}"/>
              </a:ext>
            </a:extLst>
          </p:cNvPr>
          <p:cNvSpPr>
            <a:spLocks noGrp="1"/>
          </p:cNvSpPr>
          <p:nvPr>
            <p:ph idx="1"/>
          </p:nvPr>
        </p:nvSpPr>
        <p:spPr>
          <a:xfrm>
            <a:off x="366713" y="936625"/>
            <a:ext cx="8777287" cy="6740525"/>
          </a:xfrm>
        </p:spPr>
        <p:txBody>
          <a:bodyPr/>
          <a:lstStyle/>
          <a:p>
            <a:pPr eaLnBrk="1" hangingPunct="1">
              <a:lnSpc>
                <a:spcPct val="150000"/>
              </a:lnSpc>
              <a:buFont typeface="Wingdings 2" pitchFamily="18" charset="2"/>
              <a:buBlip>
                <a:blip r:embed="rId3"/>
              </a:buBlip>
              <a:defRPr/>
            </a:pPr>
            <a:r>
              <a:rPr lang="en-US" dirty="0"/>
              <a:t>Algorithm—the kingpin term</a:t>
            </a:r>
          </a:p>
          <a:p>
            <a:pPr eaLnBrk="1" hangingPunct="1">
              <a:lnSpc>
                <a:spcPct val="150000"/>
              </a:lnSpc>
              <a:buFont typeface="Wingdings 2" pitchFamily="18" charset="2"/>
              <a:buBlip>
                <a:blip r:embed="rId3"/>
              </a:buBlip>
              <a:defRPr/>
            </a:pPr>
            <a:r>
              <a:rPr lang="en-US" dirty="0"/>
              <a:t>Data—variables, data bases, Queue</a:t>
            </a:r>
          </a:p>
          <a:p>
            <a:pPr eaLnBrk="1" hangingPunct="1">
              <a:lnSpc>
                <a:spcPct val="150000"/>
              </a:lnSpc>
              <a:buFont typeface="Wingdings 2" pitchFamily="18" charset="2"/>
              <a:buBlip>
                <a:blip r:embed="rId3"/>
              </a:buBlip>
              <a:defRPr/>
            </a:pPr>
            <a:r>
              <a:rPr lang="en-US" dirty="0"/>
              <a:t>Abstraction—conceptualizing, modularizing</a:t>
            </a:r>
          </a:p>
          <a:p>
            <a:pPr eaLnBrk="1" hangingPunct="1">
              <a:lnSpc>
                <a:spcPct val="150000"/>
              </a:lnSpc>
              <a:buFont typeface="Wingdings 2" pitchFamily="18" charset="2"/>
              <a:buBlip>
                <a:blip r:embed="rId3"/>
              </a:buBlip>
              <a:defRPr/>
            </a:pPr>
            <a:r>
              <a:rPr lang="en-US" dirty="0"/>
              <a:t>Query—search, conditionals, Boolean</a:t>
            </a:r>
          </a:p>
          <a:p>
            <a:pPr eaLnBrk="1" hangingPunct="1">
              <a:lnSpc>
                <a:spcPct val="150000"/>
              </a:lnSpc>
              <a:buFont typeface="Wingdings 2" pitchFamily="18" charset="2"/>
              <a:buBlip>
                <a:blip r:embed="rId3"/>
              </a:buBlip>
              <a:defRPr/>
            </a:pPr>
            <a:r>
              <a:rPr lang="en-US" dirty="0"/>
              <a:t>Sensing &amp; Feedback—robotics </a:t>
            </a:r>
          </a:p>
          <a:p>
            <a:pPr eaLnBrk="1" hangingPunct="1">
              <a:lnSpc>
                <a:spcPct val="150000"/>
              </a:lnSpc>
              <a:buFont typeface="Wingdings 2" pitchFamily="18" charset="2"/>
              <a:buBlip>
                <a:blip r:embed="rId3"/>
              </a:buBlip>
              <a:defRPr/>
            </a:pPr>
            <a:r>
              <a:rPr lang="en-US" dirty="0"/>
              <a:t>Iterations—loops, recursion</a:t>
            </a:r>
          </a:p>
          <a:p>
            <a:pPr eaLnBrk="1" hangingPunct="1">
              <a:lnSpc>
                <a:spcPct val="150000"/>
              </a:lnSpc>
              <a:buFont typeface="Wingdings 2" pitchFamily="18" charset="2"/>
              <a:buBlip>
                <a:blip r:embed="rId3"/>
              </a:buBlip>
              <a:defRPr/>
            </a:pPr>
            <a:r>
              <a:rPr lang="en-US" dirty="0"/>
              <a:t>Systems</a:t>
            </a:r>
          </a:p>
          <a:p>
            <a:pPr eaLnBrk="1" hangingPunct="1">
              <a:buFont typeface="Wingdings 2" pitchFamily="18" charset="2"/>
              <a:buBlip>
                <a:blip r:embed="rId3"/>
              </a:buBlip>
              <a:defRPr/>
            </a:pPr>
            <a:endParaRPr lang="en-US" dirty="0"/>
          </a:p>
        </p:txBody>
      </p:sp>
      <p:pic>
        <p:nvPicPr>
          <p:cNvPr id="4" name="Picture 3" descr="A screenshot of a computer&#10;&#10;Description automatically generated">
            <a:extLst>
              <a:ext uri="{FF2B5EF4-FFF2-40B4-BE49-F238E27FC236}">
                <a16:creationId xmlns:a16="http://schemas.microsoft.com/office/drawing/2014/main" id="{DB30D304-30E3-50D4-75E7-07CB0A975922}"/>
              </a:ext>
            </a:extLst>
          </p:cNvPr>
          <p:cNvPicPr>
            <a:picLocks noChangeAspect="1"/>
          </p:cNvPicPr>
          <p:nvPr/>
        </p:nvPicPr>
        <p:blipFill rotWithShape="1">
          <a:blip r:embed="rId4"/>
          <a:srcRect l="26091" t="36058" r="24385" b="26405"/>
          <a:stretch/>
        </p:blipFill>
        <p:spPr bwMode="auto">
          <a:xfrm>
            <a:off x="0" y="14934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1DCD20-EDC1-8CCC-98C3-CC5EE76DAF07}"/>
              </a:ext>
            </a:extLst>
          </p:cNvPr>
          <p:cNvPicPr>
            <a:picLocks noChangeAspect="1"/>
          </p:cNvPicPr>
          <p:nvPr/>
        </p:nvPicPr>
        <p:blipFill>
          <a:blip r:embed="rId2"/>
          <a:srcRect l="5995" r="5003" b="-1"/>
          <a:stretch>
            <a:fillRect/>
          </a:stretch>
        </p:blipFill>
        <p:spPr>
          <a:xfrm>
            <a:off x="20" y="10"/>
            <a:ext cx="9143980" cy="6857990"/>
          </a:xfrm>
          <a:prstGeom prst="rect">
            <a:avLst/>
          </a:prstGeom>
        </p:spPr>
      </p:pic>
      <p:sp>
        <p:nvSpPr>
          <p:cNvPr id="11" name="Rectangle 10">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749346" y="7233"/>
            <a:ext cx="7306519"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dirty="0"/>
              <a:t>Computing</a:t>
            </a:r>
          </a:p>
        </p:txBody>
      </p:sp>
      <p:pic>
        <p:nvPicPr>
          <p:cNvPr id="4" name="Picture 3" descr="A screenshot of a computer&#10;&#10;Description automatically generated">
            <a:extLst>
              <a:ext uri="{FF2B5EF4-FFF2-40B4-BE49-F238E27FC236}">
                <a16:creationId xmlns:a16="http://schemas.microsoft.com/office/drawing/2014/main" id="{C7DED92C-2C90-1709-8C5D-528A6049293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69D07F34-12AC-154F-1C65-B4083C0C6C08}"/>
              </a:ext>
            </a:extLst>
          </p:cNvPr>
          <p:cNvGraphicFramePr>
            <a:graphicFrameLocks noGrp="1"/>
          </p:cNvGraphicFramePr>
          <p:nvPr>
            <p:ph idx="1"/>
            <p:extLst>
              <p:ext uri="{D42A27DB-BD31-4B8C-83A1-F6EECF244321}">
                <p14:modId xmlns:p14="http://schemas.microsoft.com/office/powerpoint/2010/main" val="172026728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12">
            <a:extLst>
              <a:ext uri="{FF2B5EF4-FFF2-40B4-BE49-F238E27FC236}">
                <a16:creationId xmlns:a16="http://schemas.microsoft.com/office/drawing/2014/main" id="{51591C6F-868B-6A1F-F813-164B6B917BA7}"/>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F21AC-7BBA-4487-A1A3-E5CDD0696B1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0DD669C-2A8A-3D27-7372-423FD8D58FB7}"/>
              </a:ext>
            </a:extLst>
          </p:cNvPr>
          <p:cNvPicPr>
            <a:picLocks noChangeAspect="1"/>
          </p:cNvPicPr>
          <p:nvPr/>
        </p:nvPicPr>
        <p:blipFill>
          <a:blip r:embed="rId2"/>
          <a:srcRect l="5995" r="5003" b="-1"/>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B78AB5A0-4E10-7E1E-1956-388041BDAD62}"/>
              </a:ext>
            </a:extLst>
          </p:cNvPr>
          <p:cNvSpPr>
            <a:spLocks noGrp="1"/>
          </p:cNvSpPr>
          <p:nvPr>
            <p:ph type="title"/>
          </p:nvPr>
        </p:nvSpPr>
        <p:spPr>
          <a:xfrm>
            <a:off x="1641512" y="7233"/>
            <a:ext cx="6873837"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dirty="0"/>
              <a:t>Computing</a:t>
            </a:r>
          </a:p>
        </p:txBody>
      </p:sp>
      <p:pic>
        <p:nvPicPr>
          <p:cNvPr id="4" name="Picture 3" descr="A screenshot of a computer&#10;&#10;Description automatically generated">
            <a:extLst>
              <a:ext uri="{FF2B5EF4-FFF2-40B4-BE49-F238E27FC236}">
                <a16:creationId xmlns:a16="http://schemas.microsoft.com/office/drawing/2014/main" id="{3A5D2935-7F88-4749-75DA-9A98711CA56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5122" name="Picture 2" descr="parikshapatr.com/solutio...">
            <a:extLst>
              <a:ext uri="{FF2B5EF4-FFF2-40B4-BE49-F238E27FC236}">
                <a16:creationId xmlns:a16="http://schemas.microsoft.com/office/drawing/2014/main" id="{A1F4554B-49BA-545F-3235-4361323856DA}"/>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17793" y="1043428"/>
            <a:ext cx="8370507" cy="582179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2">
            <a:extLst>
              <a:ext uri="{FF2B5EF4-FFF2-40B4-BE49-F238E27FC236}">
                <a16:creationId xmlns:a16="http://schemas.microsoft.com/office/drawing/2014/main" id="{B64A28EF-2F24-71E9-A06C-375ECBD819AA}"/>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5498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E21414-A48B-C8B0-5FFF-C7E9F5803EFA}"/>
              </a:ext>
            </a:extLst>
          </p:cNvPr>
          <p:cNvPicPr>
            <a:picLocks noChangeAspect="1"/>
          </p:cNvPicPr>
          <p:nvPr/>
        </p:nvPicPr>
        <p:blipFill>
          <a:blip r:embed="rId2">
            <a:duotone>
              <a:schemeClr val="bg2">
                <a:shade val="45000"/>
                <a:satMod val="135000"/>
              </a:schemeClr>
              <a:prstClr val="white"/>
            </a:duotone>
          </a:blip>
          <a:srcRect r="12668" b="2"/>
          <a:stretch>
            <a:fillRect/>
          </a:stretch>
        </p:blipFill>
        <p:spPr>
          <a:xfrm>
            <a:off x="20" y="10"/>
            <a:ext cx="9143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49346" y="7233"/>
            <a:ext cx="7394634" cy="745127"/>
          </a:xfrm>
        </p:spPr>
        <p:style>
          <a:lnRef idx="1">
            <a:schemeClr val="accent2"/>
          </a:lnRef>
          <a:fillRef idx="2">
            <a:schemeClr val="accent2"/>
          </a:fillRef>
          <a:effectRef idx="1">
            <a:schemeClr val="accent2"/>
          </a:effectRef>
          <a:fontRef idx="minor">
            <a:schemeClr val="dk1"/>
          </a:fontRef>
        </p:style>
        <p:txBody>
          <a:bodyPr>
            <a:noAutofit/>
          </a:bodyPr>
          <a:lstStyle/>
          <a:p>
            <a:pPr>
              <a:lnSpc>
                <a:spcPct val="90000"/>
              </a:lnSpc>
            </a:pPr>
            <a:r>
              <a:rPr sz="3600" dirty="0"/>
              <a:t>Why High Performance Computing?</a:t>
            </a:r>
            <a:endParaRPr lang="en-IN" sz="3600" dirty="0"/>
          </a:p>
        </p:txBody>
      </p:sp>
      <p:pic>
        <p:nvPicPr>
          <p:cNvPr id="4" name="Picture 3" descr="A screenshot of a computer&#10;&#10;Description automatically generated">
            <a:extLst>
              <a:ext uri="{FF2B5EF4-FFF2-40B4-BE49-F238E27FC236}">
                <a16:creationId xmlns:a16="http://schemas.microsoft.com/office/drawing/2014/main" id="{D23DB28F-2DBA-C5F1-BD4C-521D3CACDF5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63D6905B-2092-76AA-2404-4D9772060806}"/>
              </a:ext>
            </a:extLst>
          </p:cNvPr>
          <p:cNvGraphicFramePr>
            <a:graphicFrameLocks noGrp="1"/>
          </p:cNvGraphicFramePr>
          <p:nvPr>
            <p:ph idx="1"/>
            <p:extLst>
              <p:ext uri="{D42A27DB-BD31-4B8C-83A1-F6EECF244321}">
                <p14:modId xmlns:p14="http://schemas.microsoft.com/office/powerpoint/2010/main" val="1511673775"/>
              </p:ext>
            </p:extLst>
          </p:nvPr>
        </p:nvGraphicFramePr>
        <p:xfrm>
          <a:off x="628650" y="1629511"/>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12">
            <a:extLst>
              <a:ext uri="{FF2B5EF4-FFF2-40B4-BE49-F238E27FC236}">
                <a16:creationId xmlns:a16="http://schemas.microsoft.com/office/drawing/2014/main" id="{7EB7E531-E49D-6109-9EBA-2D777110FA9F}"/>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49E1DD-F64E-7440-33C7-EECC0E9DF534}"/>
            </a:ext>
          </a:extLst>
        </p:cNvPr>
        <p:cNvGrpSpPr/>
        <p:nvPr/>
      </p:nvGrpSpPr>
      <p:grpSpPr>
        <a:xfrm>
          <a:off x="0" y="0"/>
          <a:ext cx="0" cy="0"/>
          <a:chOff x="0" y="0"/>
          <a:chExt cx="0" cy="0"/>
        </a:xfrm>
      </p:grpSpPr>
      <p:pic>
        <p:nvPicPr>
          <p:cNvPr id="7" name="Picture 6" descr="A blurry blue and yellow background&#10;&#10;AI-generated content may be incorrect.">
            <a:extLst>
              <a:ext uri="{FF2B5EF4-FFF2-40B4-BE49-F238E27FC236}">
                <a16:creationId xmlns:a16="http://schemas.microsoft.com/office/drawing/2014/main" id="{28BCD406-8219-4612-6D48-DD9CD86BD6DB}"/>
              </a:ext>
            </a:extLst>
          </p:cNvPr>
          <p:cNvPicPr>
            <a:picLocks noChangeAspect="1"/>
          </p:cNvPicPr>
          <p:nvPr/>
        </p:nvPicPr>
        <p:blipFill>
          <a:blip r:embed="rId2">
            <a:duotone>
              <a:schemeClr val="bg2">
                <a:shade val="45000"/>
                <a:satMod val="135000"/>
              </a:schemeClr>
              <a:prstClr val="white"/>
            </a:duotone>
          </a:blip>
          <a:srcRect t="9091" r="20304" b="1"/>
          <a:stretch>
            <a:fillRect/>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84F72-91FD-B65D-9701-3DA3B0CF8F25}"/>
              </a:ext>
            </a:extLst>
          </p:cNvPr>
          <p:cNvSpPr>
            <a:spLocks noGrp="1"/>
          </p:cNvSpPr>
          <p:nvPr>
            <p:ph type="title"/>
          </p:nvPr>
        </p:nvSpPr>
        <p:spPr>
          <a:xfrm>
            <a:off x="1828800" y="44625"/>
            <a:ext cx="7315180" cy="825708"/>
          </a:xfrm>
        </p:spPr>
        <p:style>
          <a:lnRef idx="1">
            <a:schemeClr val="accent2"/>
          </a:lnRef>
          <a:fillRef idx="2">
            <a:schemeClr val="accent2"/>
          </a:fillRef>
          <a:effectRef idx="1">
            <a:schemeClr val="accent2"/>
          </a:effectRef>
          <a:fontRef idx="minor">
            <a:schemeClr val="dk1"/>
          </a:fontRef>
        </p:style>
        <p:txBody>
          <a:bodyPr>
            <a:normAutofit/>
          </a:bodyPr>
          <a:lstStyle/>
          <a:p>
            <a:r>
              <a:rPr lang="en-US"/>
              <a:t>Benefits</a:t>
            </a:r>
            <a:endParaRPr lang="en-IN"/>
          </a:p>
        </p:txBody>
      </p:sp>
      <p:pic>
        <p:nvPicPr>
          <p:cNvPr id="4" name="Picture 3" descr="A screenshot of a computer&#10;&#10;Description automatically generated">
            <a:extLst>
              <a:ext uri="{FF2B5EF4-FFF2-40B4-BE49-F238E27FC236}">
                <a16:creationId xmlns:a16="http://schemas.microsoft.com/office/drawing/2014/main" id="{1E8851DA-C5A8-8262-C01C-1E75EC12A8A4}"/>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470AAFA7-E453-9E22-EB02-3CD611751FCA}"/>
              </a:ext>
            </a:extLst>
          </p:cNvPr>
          <p:cNvGraphicFramePr>
            <a:graphicFrameLocks noGrp="1"/>
          </p:cNvGraphicFramePr>
          <p:nvPr>
            <p:ph idx="1"/>
            <p:extLst>
              <p:ext uri="{D42A27DB-BD31-4B8C-83A1-F6EECF244321}">
                <p14:modId xmlns:p14="http://schemas.microsoft.com/office/powerpoint/2010/main" val="406040761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12">
            <a:extLst>
              <a:ext uri="{FF2B5EF4-FFF2-40B4-BE49-F238E27FC236}">
                <a16:creationId xmlns:a16="http://schemas.microsoft.com/office/drawing/2014/main" id="{3C0AB418-8E6C-4EAB-46F4-3EB506C3EC1F}"/>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59910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6CEECA-A5D8-04C1-561F-3AE554B24AE9}"/>
              </a:ext>
            </a:extLst>
          </p:cNvPr>
          <p:cNvPicPr>
            <a:picLocks noChangeAspect="1"/>
          </p:cNvPicPr>
          <p:nvPr/>
        </p:nvPicPr>
        <p:blipFill>
          <a:blip r:embed="rId2">
            <a:duotone>
              <a:schemeClr val="bg2">
                <a:shade val="45000"/>
                <a:satMod val="135000"/>
              </a:schemeClr>
              <a:prstClr val="white"/>
            </a:duotone>
          </a:blip>
          <a:srcRect l="7295" r="17705"/>
          <a:stretch>
            <a:fillRect/>
          </a:stretch>
        </p:blipFill>
        <p:spPr>
          <a:xfrm>
            <a:off x="20" y="253398"/>
            <a:ext cx="9143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49346" y="7233"/>
            <a:ext cx="676600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dirty="0"/>
              <a:t>Applications of HPC</a:t>
            </a:r>
          </a:p>
        </p:txBody>
      </p:sp>
      <p:pic>
        <p:nvPicPr>
          <p:cNvPr id="4" name="Picture 3" descr="A screenshot of a computer&#10;&#10;Description automatically generated">
            <a:extLst>
              <a:ext uri="{FF2B5EF4-FFF2-40B4-BE49-F238E27FC236}">
                <a16:creationId xmlns:a16="http://schemas.microsoft.com/office/drawing/2014/main" id="{92657151-CE90-67F7-C811-449827BA997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8297BFAB-B689-74CF-7EE3-89ABF29B996A}"/>
              </a:ext>
            </a:extLst>
          </p:cNvPr>
          <p:cNvGraphicFramePr>
            <a:graphicFrameLocks noGrp="1"/>
          </p:cNvGraphicFramePr>
          <p:nvPr>
            <p:ph idx="1"/>
            <p:extLst>
              <p:ext uri="{D42A27DB-BD31-4B8C-83A1-F6EECF244321}">
                <p14:modId xmlns:p14="http://schemas.microsoft.com/office/powerpoint/2010/main" val="174663857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12">
            <a:extLst>
              <a:ext uri="{FF2B5EF4-FFF2-40B4-BE49-F238E27FC236}">
                <a16:creationId xmlns:a16="http://schemas.microsoft.com/office/drawing/2014/main" id="{DBDD3857-3F81-A075-7BFD-66F1F4F2FE9B}"/>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43068-79E3-B5E2-8DA5-C98E272EF0B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FD568CC-B720-D32B-75A9-F4C9BFEFA74A}"/>
              </a:ext>
            </a:extLst>
          </p:cNvPr>
          <p:cNvPicPr>
            <a:picLocks noChangeAspect="1"/>
          </p:cNvPicPr>
          <p:nvPr/>
        </p:nvPicPr>
        <p:blipFill>
          <a:blip r:embed="rId2">
            <a:duotone>
              <a:schemeClr val="bg2">
                <a:shade val="45000"/>
                <a:satMod val="135000"/>
              </a:schemeClr>
              <a:prstClr val="white"/>
            </a:duotone>
          </a:blip>
          <a:srcRect l="7295" r="17705"/>
          <a:stretch>
            <a:fillRect/>
          </a:stretch>
        </p:blipFill>
        <p:spPr>
          <a:xfrm>
            <a:off x="20" y="253398"/>
            <a:ext cx="9143980" cy="6857990"/>
          </a:xfrm>
          <a:prstGeom prst="rect">
            <a:avLst/>
          </a:prstGeom>
        </p:spPr>
      </p:pic>
      <p:sp>
        <p:nvSpPr>
          <p:cNvPr id="2" name="Title 1">
            <a:extLst>
              <a:ext uri="{FF2B5EF4-FFF2-40B4-BE49-F238E27FC236}">
                <a16:creationId xmlns:a16="http://schemas.microsoft.com/office/drawing/2014/main" id="{E85C3654-5C2E-CF6D-6A5C-6AA28DD747CB}"/>
              </a:ext>
            </a:extLst>
          </p:cNvPr>
          <p:cNvSpPr>
            <a:spLocks noGrp="1"/>
          </p:cNvSpPr>
          <p:nvPr>
            <p:ph type="title"/>
          </p:nvPr>
        </p:nvSpPr>
        <p:spPr>
          <a:xfrm>
            <a:off x="1749346" y="7233"/>
            <a:ext cx="739463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IN" dirty="0"/>
              <a:t>HPC in Industry</a:t>
            </a:r>
            <a:endParaRPr dirty="0"/>
          </a:p>
        </p:txBody>
      </p:sp>
      <p:pic>
        <p:nvPicPr>
          <p:cNvPr id="4" name="Picture 3" descr="A screenshot of a computer&#10;&#10;Description automatically generated">
            <a:extLst>
              <a:ext uri="{FF2B5EF4-FFF2-40B4-BE49-F238E27FC236}">
                <a16:creationId xmlns:a16="http://schemas.microsoft.com/office/drawing/2014/main" id="{8EDCF9DA-9EE7-98C0-A07B-5A1E3C04BD0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6146" name="Picture 2" descr="weka.io/learn/hpc/hpc-ap...">
            <a:extLst>
              <a:ext uri="{FF2B5EF4-FFF2-40B4-BE49-F238E27FC236}">
                <a16:creationId xmlns:a16="http://schemas.microsoft.com/office/drawing/2014/main" id="{0B76033F-4531-7B07-4E49-7ACE8EF362E2}"/>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0" y="809320"/>
            <a:ext cx="9143980" cy="6302068"/>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2">
            <a:extLst>
              <a:ext uri="{FF2B5EF4-FFF2-40B4-BE49-F238E27FC236}">
                <a16:creationId xmlns:a16="http://schemas.microsoft.com/office/drawing/2014/main" id="{955D2B8C-B880-4177-1B22-494543803E55}"/>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08955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AEA69-560D-EA50-7203-BF8801EF4E6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FB20B51-5DCB-9C12-7DA5-45A3E8DB0584}"/>
              </a:ext>
            </a:extLst>
          </p:cNvPr>
          <p:cNvPicPr>
            <a:picLocks noChangeAspect="1"/>
          </p:cNvPicPr>
          <p:nvPr/>
        </p:nvPicPr>
        <p:blipFill>
          <a:blip r:embed="rId2">
            <a:duotone>
              <a:schemeClr val="bg2">
                <a:shade val="45000"/>
                <a:satMod val="135000"/>
              </a:schemeClr>
              <a:prstClr val="white"/>
            </a:duotone>
          </a:blip>
          <a:srcRect l="7295" r="17705"/>
          <a:stretch>
            <a:fillRect/>
          </a:stretch>
        </p:blipFill>
        <p:spPr>
          <a:xfrm>
            <a:off x="20" y="253398"/>
            <a:ext cx="9143980" cy="6857990"/>
          </a:xfrm>
          <a:prstGeom prst="rect">
            <a:avLst/>
          </a:prstGeom>
        </p:spPr>
      </p:pic>
      <p:sp>
        <p:nvSpPr>
          <p:cNvPr id="2" name="Title 1">
            <a:extLst>
              <a:ext uri="{FF2B5EF4-FFF2-40B4-BE49-F238E27FC236}">
                <a16:creationId xmlns:a16="http://schemas.microsoft.com/office/drawing/2014/main" id="{4FD90765-39B5-4AFC-05BE-93FFF073903E}"/>
              </a:ext>
            </a:extLst>
          </p:cNvPr>
          <p:cNvSpPr>
            <a:spLocks noGrp="1"/>
          </p:cNvSpPr>
          <p:nvPr>
            <p:ph type="title"/>
          </p:nvPr>
        </p:nvSpPr>
        <p:spPr>
          <a:xfrm>
            <a:off x="1749345" y="7233"/>
            <a:ext cx="7394633"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IN" dirty="0"/>
              <a:t>Pandemic &amp; Healthcare AI</a:t>
            </a:r>
            <a:endParaRPr dirty="0"/>
          </a:p>
        </p:txBody>
      </p:sp>
      <p:pic>
        <p:nvPicPr>
          <p:cNvPr id="4" name="Picture 3" descr="A screenshot of a computer&#10;&#10;Description automatically generated">
            <a:extLst>
              <a:ext uri="{FF2B5EF4-FFF2-40B4-BE49-F238E27FC236}">
                <a16:creationId xmlns:a16="http://schemas.microsoft.com/office/drawing/2014/main" id="{FE750321-C90C-A922-C3C2-CFA7E141C2E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7170" name="Picture 2" descr="researchgate.net/figure/...">
            <a:extLst>
              <a:ext uri="{FF2B5EF4-FFF2-40B4-BE49-F238E27FC236}">
                <a16:creationId xmlns:a16="http://schemas.microsoft.com/office/drawing/2014/main" id="{D9119B76-2E65-A3E6-1812-A9EB96F510B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0" y="787458"/>
            <a:ext cx="9143979" cy="632393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2">
            <a:extLst>
              <a:ext uri="{FF2B5EF4-FFF2-40B4-BE49-F238E27FC236}">
                <a16:creationId xmlns:a16="http://schemas.microsoft.com/office/drawing/2014/main" id="{70B35F65-6812-8EE0-C0DD-832720C1ED1D}"/>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12268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DEC34-EC7D-0627-8146-E08F2E40C10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DF88F7F-D864-7F59-406D-F510ED27F061}"/>
              </a:ext>
            </a:extLst>
          </p:cNvPr>
          <p:cNvPicPr>
            <a:picLocks noChangeAspect="1"/>
          </p:cNvPicPr>
          <p:nvPr/>
        </p:nvPicPr>
        <p:blipFill>
          <a:blip r:embed="rId2">
            <a:duotone>
              <a:schemeClr val="bg2">
                <a:shade val="45000"/>
                <a:satMod val="135000"/>
              </a:schemeClr>
              <a:prstClr val="white"/>
            </a:duotone>
          </a:blip>
          <a:srcRect l="7295" r="17705"/>
          <a:stretch>
            <a:fillRect/>
          </a:stretch>
        </p:blipFill>
        <p:spPr>
          <a:xfrm>
            <a:off x="20" y="253398"/>
            <a:ext cx="9143980" cy="6857990"/>
          </a:xfrm>
          <a:prstGeom prst="rect">
            <a:avLst/>
          </a:prstGeom>
        </p:spPr>
      </p:pic>
      <p:sp>
        <p:nvSpPr>
          <p:cNvPr id="2" name="Title 1">
            <a:extLst>
              <a:ext uri="{FF2B5EF4-FFF2-40B4-BE49-F238E27FC236}">
                <a16:creationId xmlns:a16="http://schemas.microsoft.com/office/drawing/2014/main" id="{8B0865F0-C4F8-FCFC-2312-34E5D12F3258}"/>
              </a:ext>
            </a:extLst>
          </p:cNvPr>
          <p:cNvSpPr>
            <a:spLocks noGrp="1"/>
          </p:cNvSpPr>
          <p:nvPr>
            <p:ph type="title"/>
          </p:nvPr>
        </p:nvSpPr>
        <p:spPr>
          <a:xfrm>
            <a:off x="1749346" y="7233"/>
            <a:ext cx="676600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IN" dirty="0"/>
              <a:t>HPC Cloud Workflow</a:t>
            </a:r>
            <a:endParaRPr dirty="0"/>
          </a:p>
        </p:txBody>
      </p:sp>
      <p:pic>
        <p:nvPicPr>
          <p:cNvPr id="4" name="Picture 3" descr="A screenshot of a computer&#10;&#10;Description automatically generated">
            <a:extLst>
              <a:ext uri="{FF2B5EF4-FFF2-40B4-BE49-F238E27FC236}">
                <a16:creationId xmlns:a16="http://schemas.microsoft.com/office/drawing/2014/main" id="{BC77B867-D5CE-5DD3-E5D4-4AE9E298E41D}"/>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8194" name="Picture 2" descr="docs.aws.amazon.com/arch...">
            <a:extLst>
              <a:ext uri="{FF2B5EF4-FFF2-40B4-BE49-F238E27FC236}">
                <a16:creationId xmlns:a16="http://schemas.microsoft.com/office/drawing/2014/main" id="{C9F3FCF7-F50C-54DA-DF42-2418E068E947}"/>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1620" y="752360"/>
            <a:ext cx="9122792" cy="6098407"/>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2">
            <a:extLst>
              <a:ext uri="{FF2B5EF4-FFF2-40B4-BE49-F238E27FC236}">
                <a16:creationId xmlns:a16="http://schemas.microsoft.com/office/drawing/2014/main" id="{CE76FBBC-99DA-FFF1-8BC7-5566051D02D7}"/>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54981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8325-339E-9DA9-BBE8-50650B6E517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2AAF44D-0A57-A099-5748-7AA424602437}"/>
              </a:ext>
            </a:extLst>
          </p:cNvPr>
          <p:cNvPicPr>
            <a:picLocks noChangeAspect="1"/>
          </p:cNvPicPr>
          <p:nvPr/>
        </p:nvPicPr>
        <p:blipFill>
          <a:blip r:embed="rId2">
            <a:duotone>
              <a:schemeClr val="bg2">
                <a:shade val="45000"/>
                <a:satMod val="135000"/>
              </a:schemeClr>
              <a:prstClr val="white"/>
            </a:duotone>
          </a:blip>
          <a:srcRect l="7295" r="17705"/>
          <a:stretch>
            <a:fillRect/>
          </a:stretch>
        </p:blipFill>
        <p:spPr>
          <a:xfrm>
            <a:off x="20" y="253398"/>
            <a:ext cx="9143980" cy="6857990"/>
          </a:xfrm>
          <a:prstGeom prst="rect">
            <a:avLst/>
          </a:prstGeom>
        </p:spPr>
      </p:pic>
      <p:sp>
        <p:nvSpPr>
          <p:cNvPr id="2" name="Title 1">
            <a:extLst>
              <a:ext uri="{FF2B5EF4-FFF2-40B4-BE49-F238E27FC236}">
                <a16:creationId xmlns:a16="http://schemas.microsoft.com/office/drawing/2014/main" id="{8A58B50F-5C17-7A49-8FB0-A23F8AF771B3}"/>
              </a:ext>
            </a:extLst>
          </p:cNvPr>
          <p:cNvSpPr>
            <a:spLocks noGrp="1"/>
          </p:cNvSpPr>
          <p:nvPr>
            <p:ph type="title"/>
          </p:nvPr>
        </p:nvSpPr>
        <p:spPr>
          <a:xfrm>
            <a:off x="1749346" y="-36761"/>
            <a:ext cx="6766004" cy="989637"/>
          </a:xfrm>
        </p:spPr>
        <p:style>
          <a:lnRef idx="1">
            <a:schemeClr val="accent2"/>
          </a:lnRef>
          <a:fillRef idx="2">
            <a:schemeClr val="accent2"/>
          </a:fillRef>
          <a:effectRef idx="1">
            <a:schemeClr val="accent2"/>
          </a:effectRef>
          <a:fontRef idx="minor">
            <a:schemeClr val="dk1"/>
          </a:fontRef>
        </p:style>
        <p:txBody>
          <a:bodyPr>
            <a:normAutofit/>
          </a:bodyPr>
          <a:lstStyle/>
          <a:p>
            <a:r>
              <a:rPr lang="en-IN" dirty="0"/>
              <a:t>Hybrid/Cloud HPC Platforms</a:t>
            </a:r>
            <a:endParaRPr dirty="0"/>
          </a:p>
        </p:txBody>
      </p:sp>
      <p:pic>
        <p:nvPicPr>
          <p:cNvPr id="4" name="Picture 3" descr="A screenshot of a computer&#10;&#10;Description automatically generated">
            <a:extLst>
              <a:ext uri="{FF2B5EF4-FFF2-40B4-BE49-F238E27FC236}">
                <a16:creationId xmlns:a16="http://schemas.microsoft.com/office/drawing/2014/main" id="{625C61C0-65C3-9264-C318-DE3F289205C2}"/>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Content Placeholder 4">
            <a:extLst>
              <a:ext uri="{FF2B5EF4-FFF2-40B4-BE49-F238E27FC236}">
                <a16:creationId xmlns:a16="http://schemas.microsoft.com/office/drawing/2014/main" id="{8DA88D38-1F8A-6E0B-908A-346CAF4AA247}"/>
              </a:ext>
            </a:extLst>
          </p:cNvPr>
          <p:cNvSpPr>
            <a:spLocks noGrp="1"/>
          </p:cNvSpPr>
          <p:nvPr>
            <p:ph idx="1"/>
          </p:nvPr>
        </p:nvSpPr>
        <p:spPr/>
        <p:txBody>
          <a:bodyPr/>
          <a:lstStyle/>
          <a:p>
            <a:endParaRPr lang="en-US"/>
          </a:p>
        </p:txBody>
      </p:sp>
      <p:pic>
        <p:nvPicPr>
          <p:cNvPr id="9218" name="Picture 2" descr="researchgate.net/figure/...">
            <a:extLst>
              <a:ext uri="{FF2B5EF4-FFF2-40B4-BE49-F238E27FC236}">
                <a16:creationId xmlns:a16="http://schemas.microsoft.com/office/drawing/2014/main" id="{E552E31E-7E4A-AF2A-D37B-94BC2AD256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52360"/>
            <a:ext cx="9144000" cy="6359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2453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pic>
        <p:nvPicPr>
          <p:cNvPr id="4" name="Picture 3" descr="A screenshot of a computer&#10;&#10;Description automatically generated">
            <a:extLst>
              <a:ext uri="{FF2B5EF4-FFF2-40B4-BE49-F238E27FC236}">
                <a16:creationId xmlns:a16="http://schemas.microsoft.com/office/drawing/2014/main" id="{221EA961-6F33-06DD-A30F-EBCCFD03AD78}"/>
              </a:ext>
            </a:extLst>
          </p:cNvPr>
          <p:cNvPicPr>
            <a:picLocks noChangeAspect="1"/>
          </p:cNvPicPr>
          <p:nvPr/>
        </p:nvPicPr>
        <p:blipFill rotWithShape="1">
          <a:blip r:embed="rId2"/>
          <a:srcRect l="26091" t="36058" r="24385" b="26405"/>
          <a:stretch/>
        </p:blipFill>
        <p:spPr bwMode="auto">
          <a:xfrm>
            <a:off x="0" y="18250"/>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6713EAFA-7FD1-3399-CC17-6B83AC826E9D}"/>
              </a:ext>
            </a:extLst>
          </p:cNvPr>
          <p:cNvGraphicFramePr>
            <a:graphicFrameLocks noGrp="1"/>
          </p:cNvGraphicFramePr>
          <p:nvPr>
            <p:ph idx="1"/>
            <p:extLst>
              <p:ext uri="{D42A27DB-BD31-4B8C-83A1-F6EECF244321}">
                <p14:modId xmlns:p14="http://schemas.microsoft.com/office/powerpoint/2010/main" val="520814627"/>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82FB28D0-F7CE-4147-FD8F-84BF6DBD8ED5}"/>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Parallel Programming</a:t>
            </a:r>
          </a:p>
        </p:txBody>
      </p:sp>
      <p:pic>
        <p:nvPicPr>
          <p:cNvPr id="10242" name="Picture 2" descr="researchgate.net/figure/...">
            <a:extLst>
              <a:ext uri="{FF2B5EF4-FFF2-40B4-BE49-F238E27FC236}">
                <a16:creationId xmlns:a16="http://schemas.microsoft.com/office/drawing/2014/main" id="{AC43E302-C6CD-F35A-0D3B-BDC9A2D956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 y="752360"/>
            <a:ext cx="9144000" cy="584358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2">
            <a:extLst>
              <a:ext uri="{FF2B5EF4-FFF2-40B4-BE49-F238E27FC236}">
                <a16:creationId xmlns:a16="http://schemas.microsoft.com/office/drawing/2014/main" id="{872D24E6-D1FE-25AC-AEFF-6521D28EB6B4}"/>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E985113-3035-DEFB-930E-B8440635BDE4}"/>
              </a:ext>
            </a:extLst>
          </p:cNvPr>
          <p:cNvSpPr>
            <a:spLocks noGrp="1" noChangeArrowheads="1"/>
          </p:cNvSpPr>
          <p:nvPr>
            <p:ph type="title"/>
          </p:nvPr>
        </p:nvSpPr>
        <p:spPr>
          <a:xfrm>
            <a:off x="1749346" y="101011"/>
            <a:ext cx="7317536" cy="835423"/>
          </a:xfrm>
        </p:spPr>
        <p:style>
          <a:lnRef idx="1">
            <a:schemeClr val="accent2"/>
          </a:lnRef>
          <a:fillRef idx="2">
            <a:schemeClr val="accent2"/>
          </a:fillRef>
          <a:effectRef idx="1">
            <a:schemeClr val="accent2"/>
          </a:effectRef>
          <a:fontRef idx="minor">
            <a:schemeClr val="dk1"/>
          </a:fontRef>
        </p:style>
        <p:txBody>
          <a:bodyPr/>
          <a:lstStyle/>
          <a:p>
            <a:r>
              <a:rPr lang="en-US" altLang="ko-KR" dirty="0">
                <a:ea typeface="굴림" panose="020B0600000101010101" pitchFamily="34" charset="-127"/>
              </a:rPr>
              <a:t>Parallel Programming Models</a:t>
            </a:r>
          </a:p>
        </p:txBody>
      </p:sp>
      <p:sp>
        <p:nvSpPr>
          <p:cNvPr id="1027" name="Rectangle 3">
            <a:extLst>
              <a:ext uri="{FF2B5EF4-FFF2-40B4-BE49-F238E27FC236}">
                <a16:creationId xmlns:a16="http://schemas.microsoft.com/office/drawing/2014/main" id="{C75B026F-427E-E9E4-67F4-F8B150674D73}"/>
              </a:ext>
            </a:extLst>
          </p:cNvPr>
          <p:cNvSpPr>
            <a:spLocks noGrp="1" noChangeArrowheads="1"/>
          </p:cNvSpPr>
          <p:nvPr>
            <p:ph type="body" idx="1"/>
          </p:nvPr>
        </p:nvSpPr>
        <p:spPr/>
        <p:txBody>
          <a:bodyPr/>
          <a:lstStyle/>
          <a:p>
            <a:r>
              <a:rPr lang="en-US" altLang="ko-KR">
                <a:ea typeface="굴림" panose="020B0600000101010101" pitchFamily="34" charset="-127"/>
              </a:rPr>
              <a:t>Programming Models</a:t>
            </a:r>
          </a:p>
          <a:p>
            <a:r>
              <a:rPr lang="en-US" altLang="ko-KR">
                <a:ea typeface="굴림" panose="020B0600000101010101" pitchFamily="34" charset="-127"/>
              </a:rPr>
              <a:t>MPI Programming</a:t>
            </a:r>
          </a:p>
        </p:txBody>
      </p:sp>
      <p:pic>
        <p:nvPicPr>
          <p:cNvPr id="2" name="Picture 1" descr="A screenshot of a computer&#10;&#10;Description automatically generated">
            <a:extLst>
              <a:ext uri="{FF2B5EF4-FFF2-40B4-BE49-F238E27FC236}">
                <a16:creationId xmlns:a16="http://schemas.microsoft.com/office/drawing/2014/main" id="{88AD8E3F-B654-46A1-3F39-51F12E03100B}"/>
              </a:ext>
            </a:extLst>
          </p:cNvPr>
          <p:cNvPicPr>
            <a:picLocks noChangeAspect="1"/>
          </p:cNvPicPr>
          <p:nvPr/>
        </p:nvPicPr>
        <p:blipFill rotWithShape="1">
          <a:blip r:embed="rId3"/>
          <a:srcRect l="26091" t="36058" r="24385" b="26405"/>
          <a:stretch/>
        </p:blipFill>
        <p:spPr bwMode="auto">
          <a:xfrm>
            <a:off x="0" y="101011"/>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4C7ABA8-F98F-9518-F8FA-7EABB72A8F50}"/>
              </a:ext>
            </a:extLst>
          </p:cNvPr>
          <p:cNvSpPr>
            <a:spLocks noGrp="1" noChangeArrowheads="1"/>
          </p:cNvSpPr>
          <p:nvPr>
            <p:ph type="title"/>
          </p:nvPr>
        </p:nvSpPr>
        <p:spPr>
          <a:xfrm>
            <a:off x="1749346" y="156363"/>
            <a:ext cx="73946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ko-KR" dirty="0">
                <a:ea typeface="굴림" panose="020B0600000101010101" pitchFamily="34" charset="-127"/>
              </a:rPr>
              <a:t>Fundamental Design Issues</a:t>
            </a:r>
          </a:p>
        </p:txBody>
      </p:sp>
      <p:sp>
        <p:nvSpPr>
          <p:cNvPr id="3075" name="Rectangle 3">
            <a:extLst>
              <a:ext uri="{FF2B5EF4-FFF2-40B4-BE49-F238E27FC236}">
                <a16:creationId xmlns:a16="http://schemas.microsoft.com/office/drawing/2014/main" id="{797BEA74-62B8-B2EA-17F8-9E2F00854D3B}"/>
              </a:ext>
            </a:extLst>
          </p:cNvPr>
          <p:cNvSpPr>
            <a:spLocks noGrp="1" noChangeArrowheads="1"/>
          </p:cNvSpPr>
          <p:nvPr>
            <p:ph type="body" idx="1"/>
          </p:nvPr>
        </p:nvSpPr>
        <p:spPr/>
        <p:txBody>
          <a:bodyPr>
            <a:normAutofit fontScale="92500"/>
          </a:bodyPr>
          <a:lstStyle/>
          <a:p>
            <a:pPr>
              <a:lnSpc>
                <a:spcPct val="90000"/>
              </a:lnSpc>
            </a:pPr>
            <a:r>
              <a:rPr lang="en-US" altLang="ko-KR" sz="2800">
                <a:ea typeface="굴림" panose="020B0600000101010101" pitchFamily="34" charset="-127"/>
              </a:rPr>
              <a:t>Design of user-system  and  hardware-software interface</a:t>
            </a:r>
          </a:p>
          <a:p>
            <a:pPr lvl="1">
              <a:lnSpc>
                <a:spcPct val="90000"/>
              </a:lnSpc>
            </a:pPr>
            <a:r>
              <a:rPr lang="en-US" altLang="ko-KR" sz="2400">
                <a:ea typeface="굴림" panose="020B0600000101010101" pitchFamily="34" charset="-127"/>
              </a:rPr>
              <a:t>proposed by Culler et. al.</a:t>
            </a:r>
          </a:p>
          <a:p>
            <a:pPr>
              <a:lnSpc>
                <a:spcPct val="90000"/>
              </a:lnSpc>
            </a:pPr>
            <a:r>
              <a:rPr lang="en-US" altLang="ko-KR" sz="2800">
                <a:ea typeface="굴림" panose="020B0600000101010101" pitchFamily="34" charset="-127"/>
              </a:rPr>
              <a:t>Functional Issues:</a:t>
            </a:r>
          </a:p>
          <a:p>
            <a:pPr lvl="1">
              <a:lnSpc>
                <a:spcPct val="90000"/>
              </a:lnSpc>
            </a:pPr>
            <a:r>
              <a:rPr lang="en-US" altLang="ko-KR" sz="2400">
                <a:ea typeface="굴림" panose="020B0600000101010101" pitchFamily="34" charset="-127"/>
              </a:rPr>
              <a:t>Naming: how are logically shared data referenced?</a:t>
            </a:r>
          </a:p>
          <a:p>
            <a:pPr lvl="1">
              <a:lnSpc>
                <a:spcPct val="90000"/>
              </a:lnSpc>
            </a:pPr>
            <a:r>
              <a:rPr lang="en-US" altLang="ko-KR" sz="2400">
                <a:ea typeface="굴림" panose="020B0600000101010101" pitchFamily="34" charset="-127"/>
              </a:rPr>
              <a:t>Operations: what operations are provided on shared data?</a:t>
            </a:r>
          </a:p>
          <a:p>
            <a:pPr lvl="1">
              <a:lnSpc>
                <a:spcPct val="90000"/>
              </a:lnSpc>
            </a:pPr>
            <a:r>
              <a:rPr lang="en-US" altLang="ko-KR" sz="2400">
                <a:ea typeface="굴림" panose="020B0600000101010101" pitchFamily="34" charset="-127"/>
              </a:rPr>
              <a:t>Ordering: how are accesses to data ordered and coordinated?</a:t>
            </a:r>
          </a:p>
          <a:p>
            <a:pPr>
              <a:lnSpc>
                <a:spcPct val="90000"/>
              </a:lnSpc>
            </a:pPr>
            <a:r>
              <a:rPr lang="en-US" altLang="ko-KR" sz="2800">
                <a:ea typeface="굴림" panose="020B0600000101010101" pitchFamily="34" charset="-127"/>
              </a:rPr>
              <a:t>Performance Issues:</a:t>
            </a:r>
          </a:p>
          <a:p>
            <a:pPr lvl="1">
              <a:lnSpc>
                <a:spcPct val="90000"/>
              </a:lnSpc>
            </a:pPr>
            <a:r>
              <a:rPr lang="en-US" altLang="ko-KR" sz="2400">
                <a:ea typeface="굴림" panose="020B0600000101010101" pitchFamily="34" charset="-127"/>
              </a:rPr>
              <a:t>Replication: how are data replicated to reduce communication</a:t>
            </a:r>
          </a:p>
          <a:p>
            <a:pPr lvl="1">
              <a:lnSpc>
                <a:spcPct val="90000"/>
              </a:lnSpc>
            </a:pPr>
            <a:r>
              <a:rPr lang="en-US" altLang="ko-KR" sz="2400">
                <a:ea typeface="굴림" panose="020B0600000101010101" pitchFamily="34" charset="-127"/>
              </a:rPr>
              <a:t>Communication Cost: latency, bandwidth, overhead</a:t>
            </a:r>
          </a:p>
          <a:p>
            <a:pPr>
              <a:lnSpc>
                <a:spcPct val="90000"/>
              </a:lnSpc>
            </a:pPr>
            <a:r>
              <a:rPr lang="en-US" altLang="ko-KR" sz="2800">
                <a:ea typeface="굴림" panose="020B0600000101010101" pitchFamily="34" charset="-127"/>
              </a:rPr>
              <a:t>Others</a:t>
            </a:r>
          </a:p>
          <a:p>
            <a:pPr lvl="1">
              <a:lnSpc>
                <a:spcPct val="90000"/>
              </a:lnSpc>
            </a:pPr>
            <a:r>
              <a:rPr lang="en-US" altLang="ko-KR" sz="2400">
                <a:ea typeface="굴림" panose="020B0600000101010101" pitchFamily="34" charset="-127"/>
              </a:rPr>
              <a:t>Node granularity</a:t>
            </a:r>
          </a:p>
        </p:txBody>
      </p:sp>
      <p:pic>
        <p:nvPicPr>
          <p:cNvPr id="2" name="Picture 1" descr="A screenshot of a computer&#10;&#10;Description automatically generated">
            <a:extLst>
              <a:ext uri="{FF2B5EF4-FFF2-40B4-BE49-F238E27FC236}">
                <a16:creationId xmlns:a16="http://schemas.microsoft.com/office/drawing/2014/main" id="{85F19EE7-FE99-EB72-A241-60AD9D9996C7}"/>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8F90314-3F00-2286-BA5B-5EFDC49CC121}"/>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ko-KR" dirty="0">
                <a:ea typeface="굴림" panose="020B0600000101010101" pitchFamily="34" charset="-127"/>
              </a:rPr>
              <a:t>Sequential Programming Model</a:t>
            </a:r>
          </a:p>
        </p:txBody>
      </p:sp>
      <p:sp>
        <p:nvSpPr>
          <p:cNvPr id="4099" name="Rectangle 3">
            <a:extLst>
              <a:ext uri="{FF2B5EF4-FFF2-40B4-BE49-F238E27FC236}">
                <a16:creationId xmlns:a16="http://schemas.microsoft.com/office/drawing/2014/main" id="{20920FE2-BB7F-00A8-97B6-E9955BEBF73B}"/>
              </a:ext>
            </a:extLst>
          </p:cNvPr>
          <p:cNvSpPr>
            <a:spLocks noGrp="1" noChangeArrowheads="1"/>
          </p:cNvSpPr>
          <p:nvPr>
            <p:ph type="body" idx="1"/>
          </p:nvPr>
        </p:nvSpPr>
        <p:spPr/>
        <p:txBody>
          <a:bodyPr/>
          <a:lstStyle/>
          <a:p>
            <a:r>
              <a:rPr lang="en-US" altLang="ko-KR">
                <a:ea typeface="굴림" panose="020B0600000101010101" pitchFamily="34" charset="-127"/>
              </a:rPr>
              <a:t>Functional Issues</a:t>
            </a:r>
          </a:p>
          <a:p>
            <a:pPr lvl="1"/>
            <a:r>
              <a:rPr lang="en-US" altLang="ko-KR">
                <a:ea typeface="굴림" panose="020B0600000101010101" pitchFamily="34" charset="-127"/>
              </a:rPr>
              <a:t>Naming:  Can name any variable in virtual address space</a:t>
            </a:r>
          </a:p>
          <a:p>
            <a:pPr lvl="2"/>
            <a:r>
              <a:rPr lang="en-US" altLang="ko-KR">
                <a:ea typeface="굴림" panose="020B0600000101010101" pitchFamily="34" charset="-127"/>
              </a:rPr>
              <a:t>Hardware (and perhaps compilers) does translation to physical addresses</a:t>
            </a:r>
          </a:p>
          <a:p>
            <a:pPr lvl="1"/>
            <a:r>
              <a:rPr lang="en-US" altLang="ko-KR">
                <a:ea typeface="굴림" panose="020B0600000101010101" pitchFamily="34" charset="-127"/>
              </a:rPr>
              <a:t>Operations: Loads and Stores</a:t>
            </a:r>
          </a:p>
          <a:p>
            <a:pPr lvl="1"/>
            <a:r>
              <a:rPr lang="en-US" altLang="ko-KR">
                <a:ea typeface="굴림" panose="020B0600000101010101" pitchFamily="34" charset="-127"/>
              </a:rPr>
              <a:t>Ordering:  Sequential program order</a:t>
            </a:r>
          </a:p>
        </p:txBody>
      </p:sp>
      <p:pic>
        <p:nvPicPr>
          <p:cNvPr id="2" name="Picture 1" descr="A screenshot of a computer&#10;&#10;Description automatically generated">
            <a:extLst>
              <a:ext uri="{FF2B5EF4-FFF2-40B4-BE49-F238E27FC236}">
                <a16:creationId xmlns:a16="http://schemas.microsoft.com/office/drawing/2014/main" id="{FA5FAE53-5514-5CCE-657E-0AF8DF9F5598}"/>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54F672E9-1343-8531-D894-476D2323A5B2}"/>
              </a:ext>
            </a:extLst>
          </p:cNvPr>
          <p:cNvSpPr>
            <a:spLocks noGrp="1" noChangeArrowheads="1"/>
          </p:cNvSpPr>
          <p:nvPr>
            <p:ph type="body" idx="1"/>
          </p:nvPr>
        </p:nvSpPr>
        <p:spPr/>
        <p:txBody>
          <a:bodyPr/>
          <a:lstStyle/>
          <a:p>
            <a:r>
              <a:rPr lang="en-US" altLang="ko-KR">
                <a:ea typeface="굴림" panose="020B0600000101010101" pitchFamily="34" charset="-127"/>
              </a:rPr>
              <a:t>Performance</a:t>
            </a:r>
          </a:p>
          <a:p>
            <a:pPr lvl="1"/>
            <a:r>
              <a:rPr lang="en-US" altLang="ko-KR">
                <a:ea typeface="굴림" panose="020B0600000101010101" pitchFamily="34" charset="-127"/>
              </a:rPr>
              <a:t>Rely on dependences on single location (mostly): dependence order</a:t>
            </a:r>
          </a:p>
          <a:p>
            <a:pPr lvl="1"/>
            <a:r>
              <a:rPr lang="en-US" altLang="ko-KR">
                <a:ea typeface="굴림" panose="020B0600000101010101" pitchFamily="34" charset="-127"/>
              </a:rPr>
              <a:t>Compilers and hardware violate other orders without getting caught</a:t>
            </a:r>
          </a:p>
          <a:p>
            <a:pPr lvl="1"/>
            <a:r>
              <a:rPr lang="en-US" altLang="ko-KR">
                <a:ea typeface="굴림" panose="020B0600000101010101" pitchFamily="34" charset="-127"/>
              </a:rPr>
              <a:t>Compiler: reordering and register allocation</a:t>
            </a:r>
          </a:p>
          <a:p>
            <a:pPr lvl="1"/>
            <a:r>
              <a:rPr lang="en-US" altLang="ko-KR">
                <a:ea typeface="굴림" panose="020B0600000101010101" pitchFamily="34" charset="-127"/>
              </a:rPr>
              <a:t>Hardware: out of order, pipeline bypassing, write buffers</a:t>
            </a:r>
          </a:p>
          <a:p>
            <a:pPr lvl="1"/>
            <a:r>
              <a:rPr lang="en-US" altLang="ko-KR">
                <a:ea typeface="굴림" panose="020B0600000101010101" pitchFamily="34" charset="-127"/>
              </a:rPr>
              <a:t>Transparent replication in caches</a:t>
            </a:r>
          </a:p>
        </p:txBody>
      </p:sp>
      <p:pic>
        <p:nvPicPr>
          <p:cNvPr id="2" name="Picture 1" descr="A screenshot of a computer&#10;&#10;Description automatically generated">
            <a:extLst>
              <a:ext uri="{FF2B5EF4-FFF2-40B4-BE49-F238E27FC236}">
                <a16:creationId xmlns:a16="http://schemas.microsoft.com/office/drawing/2014/main" id="{B9141CEC-A9B3-E6A8-6F16-D5883CF8134F}"/>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21452DC-794F-350A-D9CB-3E0FDA488834}"/>
              </a:ext>
            </a:extLst>
          </p:cNvPr>
          <p:cNvSpPr>
            <a:spLocks noGrp="1" noChangeArrowheads="1"/>
          </p:cNvSpPr>
          <p:nvPr>
            <p:ph type="title"/>
          </p:nvPr>
        </p:nvSpPr>
        <p:spPr>
          <a:xfrm>
            <a:off x="1749346" y="145528"/>
            <a:ext cx="7374096" cy="927808"/>
          </a:xfrm>
        </p:spPr>
        <p:style>
          <a:lnRef idx="1">
            <a:schemeClr val="accent2"/>
          </a:lnRef>
          <a:fillRef idx="2">
            <a:schemeClr val="accent2"/>
          </a:fillRef>
          <a:effectRef idx="1">
            <a:schemeClr val="accent2"/>
          </a:effectRef>
          <a:fontRef idx="minor">
            <a:schemeClr val="dk1"/>
          </a:fontRef>
        </p:style>
        <p:txBody>
          <a:bodyPr/>
          <a:lstStyle/>
          <a:p>
            <a:r>
              <a:rPr lang="en-US" altLang="ko-KR" dirty="0">
                <a:ea typeface="굴림" panose="020B0600000101010101" pitchFamily="34" charset="-127"/>
              </a:rPr>
              <a:t>SAS Programming Model</a:t>
            </a:r>
          </a:p>
        </p:txBody>
      </p:sp>
      <p:sp>
        <p:nvSpPr>
          <p:cNvPr id="27651" name="Rectangle 3">
            <a:extLst>
              <a:ext uri="{FF2B5EF4-FFF2-40B4-BE49-F238E27FC236}">
                <a16:creationId xmlns:a16="http://schemas.microsoft.com/office/drawing/2014/main" id="{E951FD12-96D0-625D-F8B3-9AF8FCC19443}"/>
              </a:ext>
            </a:extLst>
          </p:cNvPr>
          <p:cNvSpPr>
            <a:spLocks noChangeArrowheads="1"/>
          </p:cNvSpPr>
          <p:nvPr/>
        </p:nvSpPr>
        <p:spPr bwMode="auto">
          <a:xfrm>
            <a:off x="1219200" y="3276600"/>
            <a:ext cx="6781800" cy="2743200"/>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27652" name="Oval 4">
            <a:extLst>
              <a:ext uri="{FF2B5EF4-FFF2-40B4-BE49-F238E27FC236}">
                <a16:creationId xmlns:a16="http://schemas.microsoft.com/office/drawing/2014/main" id="{D30BFEF0-E5DE-FDBF-E7F8-9937AF698D13}"/>
              </a:ext>
            </a:extLst>
          </p:cNvPr>
          <p:cNvSpPr>
            <a:spLocks noChangeArrowheads="1"/>
          </p:cNvSpPr>
          <p:nvPr/>
        </p:nvSpPr>
        <p:spPr bwMode="auto">
          <a:xfrm>
            <a:off x="1676400" y="3444875"/>
            <a:ext cx="1676400" cy="990600"/>
          </a:xfrm>
          <a:prstGeom prst="ellipse">
            <a:avLst/>
          </a:prstGeom>
          <a:solidFill>
            <a:srgbClr val="CC99FF"/>
          </a:solidFill>
          <a:ln>
            <a:noFill/>
          </a:ln>
          <a:effectLst>
            <a:prstShdw prst="shdw17" dist="17961" dir="2700000">
              <a:srgbClr val="CC99FF">
                <a:gamma/>
                <a:shade val="60000"/>
                <a:invGamma/>
              </a:srgb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Thread</a:t>
            </a:r>
          </a:p>
          <a:p>
            <a:pPr algn="ct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(Process)</a:t>
            </a:r>
          </a:p>
        </p:txBody>
      </p:sp>
      <p:sp>
        <p:nvSpPr>
          <p:cNvPr id="27653" name="Rectangle 5">
            <a:extLst>
              <a:ext uri="{FF2B5EF4-FFF2-40B4-BE49-F238E27FC236}">
                <a16:creationId xmlns:a16="http://schemas.microsoft.com/office/drawing/2014/main" id="{288C01D0-31A8-2324-1CAE-D486F12356DF}"/>
              </a:ext>
            </a:extLst>
          </p:cNvPr>
          <p:cNvSpPr>
            <a:spLocks noChangeArrowheads="1"/>
          </p:cNvSpPr>
          <p:nvPr/>
        </p:nvSpPr>
        <p:spPr bwMode="auto">
          <a:xfrm>
            <a:off x="1447800" y="4800600"/>
            <a:ext cx="6324600" cy="990600"/>
          </a:xfrm>
          <a:prstGeom prst="rect">
            <a:avLst/>
          </a:prstGeom>
          <a:solidFill>
            <a:srgbClr val="FFFF66"/>
          </a:solidFill>
          <a:ln>
            <a:noFill/>
          </a:ln>
          <a:effectLst>
            <a:prstShdw prst="shdw17" dist="17961" dir="2700000">
              <a:srgbClr val="FFFF66">
                <a:gamma/>
                <a:shade val="60000"/>
                <a:invGamma/>
              </a:srgbClr>
            </a:prstShdw>
          </a:effectLst>
          <a:extLst>
            <a:ext uri="{91240B29-F687-4F45-9708-019B960494DF}">
              <a14:hiddenLine xmlns:a14="http://schemas.microsoft.com/office/drawing/2010/main" w="28575">
                <a:solidFill>
                  <a:schemeClr val="tx1"/>
                </a:solidFill>
                <a:miter lim="800000"/>
                <a:headEnd/>
                <a:tailEnd/>
              </a14:hiddenLine>
            </a:ext>
          </a:extLst>
        </p:spPr>
        <p:txBody>
          <a:bodyPr wrap="none" anchor="ctr"/>
          <a:lstStyle/>
          <a:p>
            <a:pPr algn="ctr" latinLnBrk="1">
              <a:spcBef>
                <a:spcPct val="20000"/>
              </a:spcBef>
              <a:buClr>
                <a:schemeClr val="folHlink"/>
              </a:buClr>
              <a:buSzPct val="60000"/>
              <a:buFont typeface="Wingdings" pitchFamily="2" charset="2"/>
              <a:buChar char="n"/>
            </a:pPr>
            <a:endParaRPr kumimoji="1" lang="en-US" altLang="en-US" sz="2000" b="1">
              <a:solidFill>
                <a:schemeClr val="bg2"/>
              </a:solidFill>
              <a:latin typeface="Georgia" panose="02040502050405020303" pitchFamily="18" charset="0"/>
            </a:endParaRPr>
          </a:p>
        </p:txBody>
      </p:sp>
      <p:sp>
        <p:nvSpPr>
          <p:cNvPr id="27654" name="Oval 6">
            <a:extLst>
              <a:ext uri="{FF2B5EF4-FFF2-40B4-BE49-F238E27FC236}">
                <a16:creationId xmlns:a16="http://schemas.microsoft.com/office/drawing/2014/main" id="{B59211FB-B5FD-10AD-1E05-C459441AD9DE}"/>
              </a:ext>
            </a:extLst>
          </p:cNvPr>
          <p:cNvSpPr>
            <a:spLocks noChangeArrowheads="1"/>
          </p:cNvSpPr>
          <p:nvPr/>
        </p:nvSpPr>
        <p:spPr bwMode="auto">
          <a:xfrm>
            <a:off x="5791200" y="3444875"/>
            <a:ext cx="1676400" cy="990600"/>
          </a:xfrm>
          <a:prstGeom prst="ellipse">
            <a:avLst/>
          </a:prstGeom>
          <a:solidFill>
            <a:srgbClr val="CC99FF"/>
          </a:solidFill>
          <a:ln>
            <a:noFill/>
          </a:ln>
          <a:effectLst>
            <a:prstShdw prst="shdw17" dist="17961" dir="2700000">
              <a:srgbClr val="CC99FF">
                <a:gamma/>
                <a:shade val="60000"/>
                <a:invGamma/>
              </a:srgb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Thread</a:t>
            </a:r>
          </a:p>
          <a:p>
            <a:pPr algn="ct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(Process)</a:t>
            </a:r>
          </a:p>
        </p:txBody>
      </p:sp>
      <p:sp>
        <p:nvSpPr>
          <p:cNvPr id="27655" name="Line 7">
            <a:extLst>
              <a:ext uri="{FF2B5EF4-FFF2-40B4-BE49-F238E27FC236}">
                <a16:creationId xmlns:a16="http://schemas.microsoft.com/office/drawing/2014/main" id="{BE396E13-6068-04DE-EA04-3B70A3B96837}"/>
              </a:ext>
            </a:extLst>
          </p:cNvPr>
          <p:cNvSpPr>
            <a:spLocks noChangeShapeType="1"/>
          </p:cNvSpPr>
          <p:nvPr/>
        </p:nvSpPr>
        <p:spPr bwMode="auto">
          <a:xfrm>
            <a:off x="2514600" y="4435475"/>
            <a:ext cx="0" cy="3810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 name="Line 8">
            <a:extLst>
              <a:ext uri="{FF2B5EF4-FFF2-40B4-BE49-F238E27FC236}">
                <a16:creationId xmlns:a16="http://schemas.microsoft.com/office/drawing/2014/main" id="{23989A4E-2CA8-5F08-7F44-C71F5D490A20}"/>
              </a:ext>
            </a:extLst>
          </p:cNvPr>
          <p:cNvSpPr>
            <a:spLocks noChangeShapeType="1"/>
          </p:cNvSpPr>
          <p:nvPr/>
        </p:nvSpPr>
        <p:spPr bwMode="auto">
          <a:xfrm>
            <a:off x="6629400" y="4435475"/>
            <a:ext cx="0" cy="3810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7" name="Text Box 9">
            <a:extLst>
              <a:ext uri="{FF2B5EF4-FFF2-40B4-BE49-F238E27FC236}">
                <a16:creationId xmlns:a16="http://schemas.microsoft.com/office/drawing/2014/main" id="{30B59089-BC55-E9AC-BEFA-04B536372B35}"/>
              </a:ext>
            </a:extLst>
          </p:cNvPr>
          <p:cNvSpPr txBox="1">
            <a:spLocks noChangeArrowheads="1"/>
          </p:cNvSpPr>
          <p:nvPr/>
        </p:nvSpPr>
        <p:spPr bwMode="auto">
          <a:xfrm>
            <a:off x="4089400" y="2955925"/>
            <a:ext cx="995363" cy="396875"/>
          </a:xfrm>
          <a:prstGeom prst="rect">
            <a:avLst/>
          </a:prstGeom>
          <a:solidFill>
            <a:srgbClr val="CCFF99"/>
          </a:solidFill>
          <a:ln>
            <a:noFill/>
          </a:ln>
          <a:effectLst>
            <a:prstShdw prst="shdw17" dist="17961" dir="2700000">
              <a:srgbClr val="CC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System</a:t>
            </a:r>
          </a:p>
        </p:txBody>
      </p:sp>
      <p:sp>
        <p:nvSpPr>
          <p:cNvPr id="27658" name="AutoShape 10">
            <a:extLst>
              <a:ext uri="{FF2B5EF4-FFF2-40B4-BE49-F238E27FC236}">
                <a16:creationId xmlns:a16="http://schemas.microsoft.com/office/drawing/2014/main" id="{92558289-723D-20A7-F021-38279FBF0A5E}"/>
              </a:ext>
            </a:extLst>
          </p:cNvPr>
          <p:cNvSpPr>
            <a:spLocks noChangeArrowheads="1"/>
          </p:cNvSpPr>
          <p:nvPr/>
        </p:nvSpPr>
        <p:spPr bwMode="auto">
          <a:xfrm>
            <a:off x="3962400" y="5029200"/>
            <a:ext cx="1295400" cy="381000"/>
          </a:xfrm>
          <a:prstGeom prst="roundRect">
            <a:avLst>
              <a:gd name="adj" fmla="val 16667"/>
            </a:avLst>
          </a:prstGeom>
          <a:solidFill>
            <a:schemeClr val="hlink"/>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b="1">
                <a:solidFill>
                  <a:schemeClr val="bg2"/>
                </a:solidFill>
                <a:latin typeface="Georgia" panose="02040502050405020303" pitchFamily="18" charset="0"/>
              </a:rPr>
              <a:t>X</a:t>
            </a:r>
          </a:p>
        </p:txBody>
      </p:sp>
      <p:sp>
        <p:nvSpPr>
          <p:cNvPr id="27659" name="Text Box 11">
            <a:extLst>
              <a:ext uri="{FF2B5EF4-FFF2-40B4-BE49-F238E27FC236}">
                <a16:creationId xmlns:a16="http://schemas.microsoft.com/office/drawing/2014/main" id="{43F839E8-BA29-ABC0-D78A-619946F5D075}"/>
              </a:ext>
            </a:extLst>
          </p:cNvPr>
          <p:cNvSpPr txBox="1">
            <a:spLocks noChangeArrowheads="1"/>
          </p:cNvSpPr>
          <p:nvPr/>
        </p:nvSpPr>
        <p:spPr bwMode="auto">
          <a:xfrm>
            <a:off x="2514600" y="4419600"/>
            <a:ext cx="1209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b="1">
                <a:solidFill>
                  <a:schemeClr val="folHlink"/>
                </a:solidFill>
                <a:latin typeface="Georgia" panose="02040502050405020303" pitchFamily="18" charset="0"/>
              </a:rPr>
              <a:t>read(X)</a:t>
            </a:r>
          </a:p>
        </p:txBody>
      </p:sp>
      <p:sp>
        <p:nvSpPr>
          <p:cNvPr id="27660" name="Text Box 12">
            <a:extLst>
              <a:ext uri="{FF2B5EF4-FFF2-40B4-BE49-F238E27FC236}">
                <a16:creationId xmlns:a16="http://schemas.microsoft.com/office/drawing/2014/main" id="{8EEB4080-54C9-17C6-EB6E-1D55E9C38552}"/>
              </a:ext>
            </a:extLst>
          </p:cNvPr>
          <p:cNvSpPr txBox="1">
            <a:spLocks noChangeArrowheads="1"/>
          </p:cNvSpPr>
          <p:nvPr/>
        </p:nvSpPr>
        <p:spPr bwMode="auto">
          <a:xfrm>
            <a:off x="6653213" y="4419600"/>
            <a:ext cx="1301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b="1">
                <a:solidFill>
                  <a:schemeClr val="folHlink"/>
                </a:solidFill>
                <a:latin typeface="Georgia" panose="02040502050405020303" pitchFamily="18" charset="0"/>
              </a:rPr>
              <a:t>write(X)</a:t>
            </a:r>
          </a:p>
        </p:txBody>
      </p:sp>
      <p:sp>
        <p:nvSpPr>
          <p:cNvPr id="27661" name="Line 13">
            <a:extLst>
              <a:ext uri="{FF2B5EF4-FFF2-40B4-BE49-F238E27FC236}">
                <a16:creationId xmlns:a16="http://schemas.microsoft.com/office/drawing/2014/main" id="{A922E183-AD0B-BFC4-0D43-A0E71C7137DC}"/>
              </a:ext>
            </a:extLst>
          </p:cNvPr>
          <p:cNvSpPr>
            <a:spLocks noChangeShapeType="1"/>
          </p:cNvSpPr>
          <p:nvPr/>
        </p:nvSpPr>
        <p:spPr bwMode="auto">
          <a:xfrm>
            <a:off x="2286000" y="4419600"/>
            <a:ext cx="0" cy="838200"/>
          </a:xfrm>
          <a:prstGeom prst="line">
            <a:avLst/>
          </a:prstGeom>
          <a:noFill/>
          <a:ln w="28575">
            <a:solidFill>
              <a:schemeClr val="bg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2" name="Line 14">
            <a:extLst>
              <a:ext uri="{FF2B5EF4-FFF2-40B4-BE49-F238E27FC236}">
                <a16:creationId xmlns:a16="http://schemas.microsoft.com/office/drawing/2014/main" id="{A9DC217D-DE48-DC47-309D-752C6ABB3374}"/>
              </a:ext>
            </a:extLst>
          </p:cNvPr>
          <p:cNvSpPr>
            <a:spLocks noChangeShapeType="1"/>
          </p:cNvSpPr>
          <p:nvPr/>
        </p:nvSpPr>
        <p:spPr bwMode="auto">
          <a:xfrm>
            <a:off x="2286000" y="5257800"/>
            <a:ext cx="167640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3" name="Line 15">
            <a:extLst>
              <a:ext uri="{FF2B5EF4-FFF2-40B4-BE49-F238E27FC236}">
                <a16:creationId xmlns:a16="http://schemas.microsoft.com/office/drawing/2014/main" id="{433F1C27-3F63-A276-4E8E-17D03929F051}"/>
              </a:ext>
            </a:extLst>
          </p:cNvPr>
          <p:cNvSpPr>
            <a:spLocks noChangeShapeType="1"/>
          </p:cNvSpPr>
          <p:nvPr/>
        </p:nvSpPr>
        <p:spPr bwMode="auto">
          <a:xfrm>
            <a:off x="5257800" y="5257800"/>
            <a:ext cx="1143000" cy="0"/>
          </a:xfrm>
          <a:prstGeom prst="line">
            <a:avLst/>
          </a:prstGeom>
          <a:noFill/>
          <a:ln w="28575">
            <a:solidFill>
              <a:schemeClr val="bg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4" name="Line 16">
            <a:extLst>
              <a:ext uri="{FF2B5EF4-FFF2-40B4-BE49-F238E27FC236}">
                <a16:creationId xmlns:a16="http://schemas.microsoft.com/office/drawing/2014/main" id="{1C269722-2DFA-87A2-E4E3-D6C0D8CE50FA}"/>
              </a:ext>
            </a:extLst>
          </p:cNvPr>
          <p:cNvSpPr>
            <a:spLocks noChangeShapeType="1"/>
          </p:cNvSpPr>
          <p:nvPr/>
        </p:nvSpPr>
        <p:spPr bwMode="auto">
          <a:xfrm>
            <a:off x="6400800" y="4419600"/>
            <a:ext cx="0" cy="8382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5" name="Oval 17">
            <a:extLst>
              <a:ext uri="{FF2B5EF4-FFF2-40B4-BE49-F238E27FC236}">
                <a16:creationId xmlns:a16="http://schemas.microsoft.com/office/drawing/2014/main" id="{27929E4E-AA20-6859-2F87-62D1F5013216}"/>
              </a:ext>
            </a:extLst>
          </p:cNvPr>
          <p:cNvSpPr>
            <a:spLocks noChangeArrowheads="1"/>
          </p:cNvSpPr>
          <p:nvPr/>
        </p:nvSpPr>
        <p:spPr bwMode="auto">
          <a:xfrm>
            <a:off x="1219200" y="2286000"/>
            <a:ext cx="280988" cy="304800"/>
          </a:xfrm>
          <a:prstGeom prst="ellipse">
            <a:avLst/>
          </a:prstGeom>
          <a:solidFill>
            <a:srgbClr val="CC99FF"/>
          </a:solidFill>
          <a:ln>
            <a:noFill/>
          </a:ln>
          <a:effectLst>
            <a:prstShdw prst="shdw17" dist="17961" dir="2700000">
              <a:srgbClr val="CC99FF">
                <a:gamma/>
                <a:shade val="60000"/>
                <a:invGamma/>
              </a:srgb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algn="ctr" latinLnBrk="1">
              <a:spcBef>
                <a:spcPct val="20000"/>
              </a:spcBef>
              <a:buClr>
                <a:schemeClr val="folHlink"/>
              </a:buClr>
              <a:buSzPct val="60000"/>
              <a:buFont typeface="Wingdings" pitchFamily="2" charset="2"/>
              <a:buNone/>
            </a:pPr>
            <a:endParaRPr kumimoji="1" lang="en-US" altLang="en-US" sz="2000">
              <a:latin typeface="Georgia" panose="02040502050405020303" pitchFamily="18" charset="0"/>
            </a:endParaRPr>
          </a:p>
        </p:txBody>
      </p:sp>
      <p:sp>
        <p:nvSpPr>
          <p:cNvPr id="27666" name="Rectangle 18">
            <a:extLst>
              <a:ext uri="{FF2B5EF4-FFF2-40B4-BE49-F238E27FC236}">
                <a16:creationId xmlns:a16="http://schemas.microsoft.com/office/drawing/2014/main" id="{7DC28834-96FA-31A0-7F8B-5845ADBEC392}"/>
              </a:ext>
            </a:extLst>
          </p:cNvPr>
          <p:cNvSpPr>
            <a:spLocks noChangeArrowheads="1"/>
          </p:cNvSpPr>
          <p:nvPr/>
        </p:nvSpPr>
        <p:spPr bwMode="auto">
          <a:xfrm>
            <a:off x="3276600" y="2286000"/>
            <a:ext cx="280988" cy="304800"/>
          </a:xfrm>
          <a:prstGeom prst="rect">
            <a:avLst/>
          </a:prstGeom>
          <a:solidFill>
            <a:schemeClr val="accent2"/>
          </a:solidFill>
          <a:ln>
            <a:noFill/>
          </a:ln>
          <a:effectLst>
            <a:prstShdw prst="shdw17" dist="17961" dir="2700000">
              <a:schemeClr val="accent2">
                <a:gamma/>
                <a:shade val="60000"/>
                <a:invGamma/>
              </a:schemeClr>
            </a:prstShdw>
          </a:effectLst>
          <a:extLst>
            <a:ext uri="{91240B29-F687-4F45-9708-019B960494DF}">
              <a14:hiddenLine xmlns:a14="http://schemas.microsoft.com/office/drawing/2010/main" w="28575">
                <a:solidFill>
                  <a:schemeClr val="tx1"/>
                </a:solidFill>
                <a:miter lim="800000"/>
                <a:headEnd/>
                <a:tailEnd/>
              </a14:hiddenLine>
            </a:ext>
          </a:extLst>
        </p:spPr>
        <p:txBody>
          <a:bodyPr wrap="none" anchor="ctr"/>
          <a:lstStyle/>
          <a:p>
            <a:endParaRPr lang="en-US"/>
          </a:p>
        </p:txBody>
      </p:sp>
      <p:sp>
        <p:nvSpPr>
          <p:cNvPr id="27667" name="Text Box 19">
            <a:extLst>
              <a:ext uri="{FF2B5EF4-FFF2-40B4-BE49-F238E27FC236}">
                <a16:creationId xmlns:a16="http://schemas.microsoft.com/office/drawing/2014/main" id="{F8AF6A6E-ED61-8033-E63C-8FE0B22783D4}"/>
              </a:ext>
            </a:extLst>
          </p:cNvPr>
          <p:cNvSpPr txBox="1">
            <a:spLocks noChangeArrowheads="1"/>
          </p:cNvSpPr>
          <p:nvPr/>
        </p:nvSpPr>
        <p:spPr bwMode="auto">
          <a:xfrm>
            <a:off x="1471613" y="2259013"/>
            <a:ext cx="1279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latin typeface="Georgia" panose="02040502050405020303" pitchFamily="18" charset="0"/>
              </a:rPr>
              <a:t>Processor</a:t>
            </a:r>
          </a:p>
        </p:txBody>
      </p:sp>
      <p:sp>
        <p:nvSpPr>
          <p:cNvPr id="27668" name="Text Box 20">
            <a:extLst>
              <a:ext uri="{FF2B5EF4-FFF2-40B4-BE49-F238E27FC236}">
                <a16:creationId xmlns:a16="http://schemas.microsoft.com/office/drawing/2014/main" id="{16C88335-81B3-E2FB-8832-B9B717A6FBB6}"/>
              </a:ext>
            </a:extLst>
          </p:cNvPr>
          <p:cNvSpPr txBox="1">
            <a:spLocks noChangeArrowheads="1"/>
          </p:cNvSpPr>
          <p:nvPr/>
        </p:nvSpPr>
        <p:spPr bwMode="auto">
          <a:xfrm>
            <a:off x="3552825" y="2259013"/>
            <a:ext cx="1131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latin typeface="Georgia" panose="02040502050405020303" pitchFamily="18" charset="0"/>
              </a:rPr>
              <a:t>Memory</a:t>
            </a:r>
          </a:p>
        </p:txBody>
      </p:sp>
      <p:sp>
        <p:nvSpPr>
          <p:cNvPr id="27669" name="Text Box 21">
            <a:extLst>
              <a:ext uri="{FF2B5EF4-FFF2-40B4-BE49-F238E27FC236}">
                <a16:creationId xmlns:a16="http://schemas.microsoft.com/office/drawing/2014/main" id="{7AA3E684-3FE1-348F-7D76-EABB8991410E}"/>
              </a:ext>
            </a:extLst>
          </p:cNvPr>
          <p:cNvSpPr txBox="1">
            <a:spLocks noChangeArrowheads="1"/>
          </p:cNvSpPr>
          <p:nvPr/>
        </p:nvSpPr>
        <p:spPr bwMode="auto">
          <a:xfrm>
            <a:off x="3505200" y="5410200"/>
            <a:ext cx="2246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b="1">
                <a:solidFill>
                  <a:schemeClr val="bg2"/>
                </a:solidFill>
                <a:latin typeface="Georgia" panose="02040502050405020303" pitchFamily="18" charset="0"/>
              </a:rPr>
              <a:t>Shared variable</a:t>
            </a:r>
          </a:p>
        </p:txBody>
      </p:sp>
      <p:pic>
        <p:nvPicPr>
          <p:cNvPr id="2" name="Picture 1" descr="A screenshot of a computer&#10;&#10;Description automatically generated">
            <a:extLst>
              <a:ext uri="{FF2B5EF4-FFF2-40B4-BE49-F238E27FC236}">
                <a16:creationId xmlns:a16="http://schemas.microsoft.com/office/drawing/2014/main" id="{92C0D14B-E971-80D8-DC5C-1A2BCB23F247}"/>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65133A6-A8C0-AB35-F4B4-C949EC198E21}"/>
              </a:ext>
            </a:extLst>
          </p:cNvPr>
          <p:cNvSpPr>
            <a:spLocks noGrp="1" noChangeArrowheads="1"/>
          </p:cNvSpPr>
          <p:nvPr>
            <p:ph type="title"/>
          </p:nvPr>
        </p:nvSpPr>
        <p:spPr>
          <a:xfrm>
            <a:off x="1749346" y="274638"/>
            <a:ext cx="7394654" cy="1091454"/>
          </a:xfrm>
        </p:spPr>
        <p:style>
          <a:lnRef idx="1">
            <a:schemeClr val="accent2"/>
          </a:lnRef>
          <a:fillRef idx="2">
            <a:schemeClr val="accent2"/>
          </a:fillRef>
          <a:effectRef idx="1">
            <a:schemeClr val="accent2"/>
          </a:effectRef>
          <a:fontRef idx="minor">
            <a:schemeClr val="dk1"/>
          </a:fontRef>
        </p:style>
        <p:txBody>
          <a:bodyPr>
            <a:noAutofit/>
          </a:bodyPr>
          <a:lstStyle/>
          <a:p>
            <a:r>
              <a:rPr lang="en-US" altLang="ko-KR" sz="3600" dirty="0">
                <a:ea typeface="굴림" panose="020B0600000101010101" pitchFamily="34" charset="-127"/>
              </a:rPr>
              <a:t>Shared Address Space Programming Model</a:t>
            </a:r>
          </a:p>
        </p:txBody>
      </p:sp>
      <p:sp>
        <p:nvSpPr>
          <p:cNvPr id="6147" name="Rectangle 3">
            <a:extLst>
              <a:ext uri="{FF2B5EF4-FFF2-40B4-BE49-F238E27FC236}">
                <a16:creationId xmlns:a16="http://schemas.microsoft.com/office/drawing/2014/main" id="{DD81910C-82B3-D63A-E813-42360455A2DE}"/>
              </a:ext>
            </a:extLst>
          </p:cNvPr>
          <p:cNvSpPr>
            <a:spLocks noGrp="1" noChangeArrowheads="1"/>
          </p:cNvSpPr>
          <p:nvPr>
            <p:ph type="body" idx="1"/>
          </p:nvPr>
        </p:nvSpPr>
        <p:spPr/>
        <p:txBody>
          <a:bodyPr>
            <a:normAutofit lnSpcReduction="10000"/>
          </a:bodyPr>
          <a:lstStyle/>
          <a:p>
            <a:r>
              <a:rPr lang="en-US" altLang="ko-KR" sz="2800" dirty="0">
                <a:ea typeface="굴림" panose="020B0600000101010101" pitchFamily="34" charset="-127"/>
              </a:rPr>
              <a:t>Naming</a:t>
            </a:r>
          </a:p>
          <a:p>
            <a:pPr lvl="1"/>
            <a:r>
              <a:rPr lang="en-US" altLang="ko-KR" sz="2400" dirty="0">
                <a:ea typeface="굴림" panose="020B0600000101010101" pitchFamily="34" charset="-127"/>
              </a:rPr>
              <a:t>Any process can name any variable in shared space</a:t>
            </a:r>
          </a:p>
          <a:p>
            <a:r>
              <a:rPr lang="en-US" altLang="ko-KR" sz="2800" dirty="0">
                <a:ea typeface="굴림" panose="020B0600000101010101" pitchFamily="34" charset="-127"/>
              </a:rPr>
              <a:t>Operations</a:t>
            </a:r>
          </a:p>
          <a:p>
            <a:pPr lvl="1"/>
            <a:r>
              <a:rPr lang="en-US" altLang="ko-KR" sz="2400" dirty="0">
                <a:ea typeface="굴림" panose="020B0600000101010101" pitchFamily="34" charset="-127"/>
              </a:rPr>
              <a:t>Loads and stores, plus those needed for ordering</a:t>
            </a:r>
          </a:p>
          <a:p>
            <a:r>
              <a:rPr lang="en-US" altLang="ko-KR" sz="2800" dirty="0">
                <a:ea typeface="굴림" panose="020B0600000101010101" pitchFamily="34" charset="-127"/>
              </a:rPr>
              <a:t>Simplest Ordering Model</a:t>
            </a:r>
          </a:p>
          <a:p>
            <a:pPr lvl="1"/>
            <a:r>
              <a:rPr lang="en-US" altLang="ko-KR" sz="2400" dirty="0">
                <a:ea typeface="굴림" panose="020B0600000101010101" pitchFamily="34" charset="-127"/>
              </a:rPr>
              <a:t>Within a process/thread: sequential program order</a:t>
            </a:r>
          </a:p>
          <a:p>
            <a:pPr lvl="1"/>
            <a:r>
              <a:rPr lang="en-US" altLang="ko-KR" sz="2400" dirty="0">
                <a:ea typeface="굴림" panose="020B0600000101010101" pitchFamily="34" charset="-127"/>
              </a:rPr>
              <a:t>Across threads: some interleaving (as in time-sharing)</a:t>
            </a:r>
          </a:p>
          <a:p>
            <a:pPr lvl="1"/>
            <a:r>
              <a:rPr lang="en-US" altLang="ko-KR" sz="2400" dirty="0">
                <a:ea typeface="굴림" panose="020B0600000101010101" pitchFamily="34" charset="-127"/>
              </a:rPr>
              <a:t>Additional orders through synchronization</a:t>
            </a:r>
          </a:p>
          <a:p>
            <a:pPr lvl="1"/>
            <a:r>
              <a:rPr lang="en-US" altLang="ko-KR" sz="2400" dirty="0">
                <a:ea typeface="굴림" panose="020B0600000101010101" pitchFamily="34" charset="-127"/>
              </a:rPr>
              <a:t>Again, compilers/hardware can violate orders without getting caught</a:t>
            </a:r>
          </a:p>
        </p:txBody>
      </p:sp>
      <p:pic>
        <p:nvPicPr>
          <p:cNvPr id="2" name="Picture 1" descr="A screenshot of a computer&#10;&#10;Description automatically generated">
            <a:extLst>
              <a:ext uri="{FF2B5EF4-FFF2-40B4-BE49-F238E27FC236}">
                <a16:creationId xmlns:a16="http://schemas.microsoft.com/office/drawing/2014/main" id="{0CCE7900-1563-7D47-7BA0-895DB3BB4AAA}"/>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A153772-0CB8-158C-4D2E-F7EB994A1A63}"/>
              </a:ext>
            </a:extLst>
          </p:cNvPr>
          <p:cNvSpPr>
            <a:spLocks noGrp="1" noChangeArrowheads="1"/>
          </p:cNvSpPr>
          <p:nvPr>
            <p:ph type="title"/>
          </p:nvPr>
        </p:nvSpPr>
        <p:spPr>
          <a:xfrm>
            <a:off x="1749346" y="274638"/>
            <a:ext cx="69374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ko-KR" dirty="0">
                <a:ea typeface="굴림" panose="020B0600000101010101" pitchFamily="34" charset="-127"/>
              </a:rPr>
              <a:t>Synchronization</a:t>
            </a:r>
          </a:p>
        </p:txBody>
      </p:sp>
      <p:sp>
        <p:nvSpPr>
          <p:cNvPr id="7171" name="Rectangle 3">
            <a:extLst>
              <a:ext uri="{FF2B5EF4-FFF2-40B4-BE49-F238E27FC236}">
                <a16:creationId xmlns:a16="http://schemas.microsoft.com/office/drawing/2014/main" id="{B71DA8AE-71E2-5C15-A255-36CA8A50C027}"/>
              </a:ext>
            </a:extLst>
          </p:cNvPr>
          <p:cNvSpPr>
            <a:spLocks noGrp="1" noChangeArrowheads="1"/>
          </p:cNvSpPr>
          <p:nvPr>
            <p:ph type="body" idx="1"/>
          </p:nvPr>
        </p:nvSpPr>
        <p:spPr/>
        <p:txBody>
          <a:bodyPr>
            <a:normAutofit lnSpcReduction="10000"/>
          </a:bodyPr>
          <a:lstStyle/>
          <a:p>
            <a:pPr>
              <a:lnSpc>
                <a:spcPct val="90000"/>
              </a:lnSpc>
            </a:pPr>
            <a:r>
              <a:rPr lang="en-US" altLang="ko-KR" sz="2800" dirty="0">
                <a:ea typeface="굴림" panose="020B0600000101010101" pitchFamily="34" charset="-127"/>
              </a:rPr>
              <a:t>Mutual exclusion (locks)</a:t>
            </a:r>
          </a:p>
          <a:p>
            <a:pPr lvl="1">
              <a:lnSpc>
                <a:spcPct val="90000"/>
              </a:lnSpc>
            </a:pPr>
            <a:r>
              <a:rPr lang="en-US" altLang="ko-KR" sz="2400" dirty="0">
                <a:ea typeface="굴림" panose="020B0600000101010101" pitchFamily="34" charset="-127"/>
              </a:rPr>
              <a:t>Ensure certain operations on certain data can be performed by only one process at a time</a:t>
            </a:r>
          </a:p>
          <a:p>
            <a:pPr lvl="1">
              <a:lnSpc>
                <a:spcPct val="90000"/>
              </a:lnSpc>
            </a:pPr>
            <a:r>
              <a:rPr lang="en-US" altLang="ko-KR" sz="2400" dirty="0">
                <a:ea typeface="굴림" panose="020B0600000101010101" pitchFamily="34" charset="-127"/>
              </a:rPr>
              <a:t>Room that only one person can enter at a time</a:t>
            </a:r>
          </a:p>
          <a:p>
            <a:pPr lvl="1">
              <a:lnSpc>
                <a:spcPct val="90000"/>
              </a:lnSpc>
            </a:pPr>
            <a:r>
              <a:rPr lang="en-US" altLang="ko-KR" sz="2400" dirty="0">
                <a:ea typeface="굴림" panose="020B0600000101010101" pitchFamily="34" charset="-127"/>
              </a:rPr>
              <a:t>No ordering guarantees</a:t>
            </a:r>
          </a:p>
          <a:p>
            <a:pPr>
              <a:lnSpc>
                <a:spcPct val="90000"/>
              </a:lnSpc>
            </a:pPr>
            <a:r>
              <a:rPr lang="en-US" altLang="ko-KR" sz="2800" dirty="0">
                <a:ea typeface="굴림" panose="020B0600000101010101" pitchFamily="34" charset="-127"/>
              </a:rPr>
              <a:t>Event synchronization </a:t>
            </a:r>
          </a:p>
          <a:p>
            <a:pPr lvl="1">
              <a:lnSpc>
                <a:spcPct val="90000"/>
              </a:lnSpc>
            </a:pPr>
            <a:r>
              <a:rPr lang="en-US" altLang="ko-KR" sz="2400" dirty="0">
                <a:ea typeface="굴림" panose="020B0600000101010101" pitchFamily="34" charset="-127"/>
              </a:rPr>
              <a:t> Ordering of events to preserve dependences </a:t>
            </a:r>
          </a:p>
          <a:p>
            <a:pPr lvl="1">
              <a:lnSpc>
                <a:spcPct val="90000"/>
              </a:lnSpc>
            </a:pPr>
            <a:r>
              <a:rPr lang="en-US" altLang="ko-KR" sz="2400" dirty="0">
                <a:ea typeface="굴림" panose="020B0600000101010101" pitchFamily="34" charset="-127"/>
              </a:rPr>
              <a:t>e.g.  producer —&gt; consumer of data</a:t>
            </a:r>
          </a:p>
          <a:p>
            <a:pPr lvl="1">
              <a:lnSpc>
                <a:spcPct val="90000"/>
              </a:lnSpc>
            </a:pPr>
            <a:r>
              <a:rPr lang="en-US" altLang="ko-KR" sz="2400" dirty="0">
                <a:ea typeface="굴림" panose="020B0600000101010101" pitchFamily="34" charset="-127"/>
              </a:rPr>
              <a:t>3 main types:</a:t>
            </a:r>
          </a:p>
          <a:p>
            <a:pPr lvl="2">
              <a:lnSpc>
                <a:spcPct val="90000"/>
              </a:lnSpc>
            </a:pPr>
            <a:r>
              <a:rPr lang="en-US" altLang="ko-KR" sz="2000" dirty="0">
                <a:ea typeface="굴림" panose="020B0600000101010101" pitchFamily="34" charset="-127"/>
              </a:rPr>
              <a:t>point-to-point</a:t>
            </a:r>
          </a:p>
          <a:p>
            <a:pPr lvl="2">
              <a:lnSpc>
                <a:spcPct val="90000"/>
              </a:lnSpc>
            </a:pPr>
            <a:r>
              <a:rPr lang="en-US" altLang="ko-KR" sz="2000" dirty="0">
                <a:ea typeface="굴림" panose="020B0600000101010101" pitchFamily="34" charset="-127"/>
              </a:rPr>
              <a:t>global</a:t>
            </a:r>
          </a:p>
          <a:p>
            <a:pPr lvl="2">
              <a:lnSpc>
                <a:spcPct val="90000"/>
              </a:lnSpc>
            </a:pPr>
            <a:r>
              <a:rPr lang="en-US" altLang="ko-KR" sz="2000" dirty="0">
                <a:ea typeface="굴림" panose="020B0600000101010101" pitchFamily="34" charset="-127"/>
              </a:rPr>
              <a:t>group</a:t>
            </a:r>
          </a:p>
        </p:txBody>
      </p:sp>
      <p:pic>
        <p:nvPicPr>
          <p:cNvPr id="2" name="Picture 1" descr="A screenshot of a computer&#10;&#10;Description automatically generated">
            <a:extLst>
              <a:ext uri="{FF2B5EF4-FFF2-40B4-BE49-F238E27FC236}">
                <a16:creationId xmlns:a16="http://schemas.microsoft.com/office/drawing/2014/main" id="{7B8B4AC6-5223-0A9D-D45A-0FB89719D686}"/>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C91CBAE-C88E-E45A-579E-93579C409040}"/>
              </a:ext>
            </a:extLst>
          </p:cNvPr>
          <p:cNvSpPr>
            <a:spLocks noGrp="1" noChangeArrowheads="1"/>
          </p:cNvSpPr>
          <p:nvPr>
            <p:ph type="title"/>
          </p:nvPr>
        </p:nvSpPr>
        <p:spPr>
          <a:xfrm>
            <a:off x="1905000" y="274638"/>
            <a:ext cx="7139848" cy="704850"/>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ko-KR" dirty="0">
                <a:ea typeface="굴림" panose="020B0600000101010101" pitchFamily="34" charset="-127"/>
              </a:rPr>
              <a:t>MP Programming Model</a:t>
            </a:r>
          </a:p>
        </p:txBody>
      </p:sp>
      <p:sp>
        <p:nvSpPr>
          <p:cNvPr id="24579" name="Rectangle 3">
            <a:extLst>
              <a:ext uri="{FF2B5EF4-FFF2-40B4-BE49-F238E27FC236}">
                <a16:creationId xmlns:a16="http://schemas.microsoft.com/office/drawing/2014/main" id="{7C25402B-1033-392B-9892-F2B4E6F1328B}"/>
              </a:ext>
            </a:extLst>
          </p:cNvPr>
          <p:cNvSpPr>
            <a:spLocks noChangeArrowheads="1"/>
          </p:cNvSpPr>
          <p:nvPr/>
        </p:nvSpPr>
        <p:spPr bwMode="auto">
          <a:xfrm>
            <a:off x="838200" y="2911475"/>
            <a:ext cx="3352800" cy="2590800"/>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24580" name="Rectangle 4">
            <a:extLst>
              <a:ext uri="{FF2B5EF4-FFF2-40B4-BE49-F238E27FC236}">
                <a16:creationId xmlns:a16="http://schemas.microsoft.com/office/drawing/2014/main" id="{A1B5AE69-20A8-0FB4-107B-457FFE4E376E}"/>
              </a:ext>
            </a:extLst>
          </p:cNvPr>
          <p:cNvSpPr>
            <a:spLocks noChangeArrowheads="1"/>
          </p:cNvSpPr>
          <p:nvPr/>
        </p:nvSpPr>
        <p:spPr bwMode="auto">
          <a:xfrm>
            <a:off x="4876800" y="2911475"/>
            <a:ext cx="3352800" cy="2590800"/>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24581" name="Oval 5">
            <a:extLst>
              <a:ext uri="{FF2B5EF4-FFF2-40B4-BE49-F238E27FC236}">
                <a16:creationId xmlns:a16="http://schemas.microsoft.com/office/drawing/2014/main" id="{7C456AEF-51BD-BBA6-12FD-FE9F4D54D386}"/>
              </a:ext>
            </a:extLst>
          </p:cNvPr>
          <p:cNvSpPr>
            <a:spLocks noChangeArrowheads="1"/>
          </p:cNvSpPr>
          <p:nvPr/>
        </p:nvSpPr>
        <p:spPr bwMode="auto">
          <a:xfrm>
            <a:off x="1905000" y="3079750"/>
            <a:ext cx="1066800" cy="990600"/>
          </a:xfrm>
          <a:prstGeom prst="ellipse">
            <a:avLst/>
          </a:prstGeom>
          <a:solidFill>
            <a:srgbClr val="CC99FF"/>
          </a:solidFill>
          <a:ln>
            <a:noFill/>
          </a:ln>
          <a:effectLst>
            <a:prstShdw prst="shdw17" dist="17961" dir="2700000">
              <a:srgbClr val="CC99FF">
                <a:gamma/>
                <a:shade val="60000"/>
                <a:invGamma/>
              </a:srgb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process</a:t>
            </a:r>
          </a:p>
        </p:txBody>
      </p:sp>
      <p:sp>
        <p:nvSpPr>
          <p:cNvPr id="24582" name="Rectangle 6">
            <a:extLst>
              <a:ext uri="{FF2B5EF4-FFF2-40B4-BE49-F238E27FC236}">
                <a16:creationId xmlns:a16="http://schemas.microsoft.com/office/drawing/2014/main" id="{6B3CEFA6-23AE-60E6-4C75-8F0DDD461371}"/>
              </a:ext>
            </a:extLst>
          </p:cNvPr>
          <p:cNvSpPr>
            <a:spLocks noChangeArrowheads="1"/>
          </p:cNvSpPr>
          <p:nvPr/>
        </p:nvSpPr>
        <p:spPr bwMode="auto">
          <a:xfrm>
            <a:off x="1066800" y="4451350"/>
            <a:ext cx="2895600" cy="838200"/>
          </a:xfrm>
          <a:prstGeom prst="rect">
            <a:avLst/>
          </a:prstGeom>
          <a:solidFill>
            <a:srgbClr val="FFFF66"/>
          </a:solidFill>
          <a:ln>
            <a:noFill/>
          </a:ln>
          <a:effectLst>
            <a:prstShdw prst="shdw17" dist="17961" dir="2700000">
              <a:srgbClr val="FFFF66">
                <a:gamma/>
                <a:shade val="60000"/>
                <a:invGamma/>
              </a:srgbClr>
            </a:prstShdw>
          </a:effectLst>
          <a:extLst>
            <a:ext uri="{91240B29-F687-4F45-9708-019B960494DF}">
              <a14:hiddenLine xmlns:a14="http://schemas.microsoft.com/office/drawing/2010/main" w="28575">
                <a:solidFill>
                  <a:schemeClr val="tx1"/>
                </a:solidFill>
                <a:miter lim="800000"/>
                <a:headEnd/>
                <a:tailEnd/>
              </a14:hiddenLine>
            </a:ext>
          </a:extLst>
        </p:spPr>
        <p:txBody>
          <a:bodyPr wrap="none" anchor="ctr"/>
          <a:lstStyle/>
          <a:p>
            <a:endParaRPr lang="en-US"/>
          </a:p>
        </p:txBody>
      </p:sp>
      <p:sp>
        <p:nvSpPr>
          <p:cNvPr id="24583" name="Line 7">
            <a:extLst>
              <a:ext uri="{FF2B5EF4-FFF2-40B4-BE49-F238E27FC236}">
                <a16:creationId xmlns:a16="http://schemas.microsoft.com/office/drawing/2014/main" id="{FA1D35D3-23F0-0C55-CC7F-D240E438B730}"/>
              </a:ext>
            </a:extLst>
          </p:cNvPr>
          <p:cNvSpPr>
            <a:spLocks noChangeShapeType="1"/>
          </p:cNvSpPr>
          <p:nvPr/>
        </p:nvSpPr>
        <p:spPr bwMode="auto">
          <a:xfrm flipH="1">
            <a:off x="1295400" y="6492875"/>
            <a:ext cx="6553200"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8">
            <a:extLst>
              <a:ext uri="{FF2B5EF4-FFF2-40B4-BE49-F238E27FC236}">
                <a16:creationId xmlns:a16="http://schemas.microsoft.com/office/drawing/2014/main" id="{4CB4C458-6723-C180-7E00-3B294CBDBDFD}"/>
              </a:ext>
            </a:extLst>
          </p:cNvPr>
          <p:cNvSpPr>
            <a:spLocks noChangeShapeType="1"/>
          </p:cNvSpPr>
          <p:nvPr/>
        </p:nvSpPr>
        <p:spPr bwMode="auto">
          <a:xfrm>
            <a:off x="2743200" y="5060950"/>
            <a:ext cx="0" cy="1203325"/>
          </a:xfrm>
          <a:prstGeom prst="line">
            <a:avLst/>
          </a:prstGeom>
          <a:noFill/>
          <a:ln w="28575">
            <a:solidFill>
              <a:srgbClr val="FF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Line 9">
            <a:extLst>
              <a:ext uri="{FF2B5EF4-FFF2-40B4-BE49-F238E27FC236}">
                <a16:creationId xmlns:a16="http://schemas.microsoft.com/office/drawing/2014/main" id="{E4FBBE56-8103-CE7E-5F63-3587DC4A3750}"/>
              </a:ext>
            </a:extLst>
          </p:cNvPr>
          <p:cNvSpPr>
            <a:spLocks noChangeShapeType="1"/>
          </p:cNvSpPr>
          <p:nvPr/>
        </p:nvSpPr>
        <p:spPr bwMode="auto">
          <a:xfrm flipH="1">
            <a:off x="2514600" y="5578475"/>
            <a:ext cx="0" cy="9144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6" name="Line 10">
            <a:extLst>
              <a:ext uri="{FF2B5EF4-FFF2-40B4-BE49-F238E27FC236}">
                <a16:creationId xmlns:a16="http://schemas.microsoft.com/office/drawing/2014/main" id="{93ABEE07-1C89-C80E-A16F-4DEC7F69BB35}"/>
              </a:ext>
            </a:extLst>
          </p:cNvPr>
          <p:cNvSpPr>
            <a:spLocks noChangeShapeType="1"/>
          </p:cNvSpPr>
          <p:nvPr/>
        </p:nvSpPr>
        <p:spPr bwMode="auto">
          <a:xfrm>
            <a:off x="6553200" y="5502275"/>
            <a:ext cx="0" cy="9906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Line 11">
            <a:extLst>
              <a:ext uri="{FF2B5EF4-FFF2-40B4-BE49-F238E27FC236}">
                <a16:creationId xmlns:a16="http://schemas.microsoft.com/office/drawing/2014/main" id="{9B80EB8E-7417-5EC1-33B9-F019AA12D5BD}"/>
              </a:ext>
            </a:extLst>
          </p:cNvPr>
          <p:cNvSpPr>
            <a:spLocks noChangeShapeType="1"/>
          </p:cNvSpPr>
          <p:nvPr/>
        </p:nvSpPr>
        <p:spPr bwMode="auto">
          <a:xfrm>
            <a:off x="2743200" y="6264275"/>
            <a:ext cx="3581400" cy="0"/>
          </a:xfrm>
          <a:prstGeom prst="line">
            <a:avLst/>
          </a:prstGeom>
          <a:noFill/>
          <a:ln w="28575">
            <a:solidFill>
              <a:srgbClr val="FF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Rectangle 12">
            <a:extLst>
              <a:ext uri="{FF2B5EF4-FFF2-40B4-BE49-F238E27FC236}">
                <a16:creationId xmlns:a16="http://schemas.microsoft.com/office/drawing/2014/main" id="{B46486DA-1735-2B48-B1B7-CE9B6F36B301}"/>
              </a:ext>
            </a:extLst>
          </p:cNvPr>
          <p:cNvSpPr>
            <a:spLocks noChangeArrowheads="1"/>
          </p:cNvSpPr>
          <p:nvPr/>
        </p:nvSpPr>
        <p:spPr bwMode="auto">
          <a:xfrm>
            <a:off x="5105400" y="4451350"/>
            <a:ext cx="2895600" cy="838200"/>
          </a:xfrm>
          <a:prstGeom prst="rect">
            <a:avLst/>
          </a:prstGeom>
          <a:solidFill>
            <a:srgbClr val="FFFF66"/>
          </a:solidFill>
          <a:ln>
            <a:noFill/>
          </a:ln>
          <a:effectLst>
            <a:prstShdw prst="shdw17" dist="17961" dir="2700000">
              <a:srgbClr val="FFFF66">
                <a:gamma/>
                <a:shade val="60000"/>
                <a:invGamma/>
              </a:srgbClr>
            </a:prstShdw>
          </a:effectLst>
          <a:extLst>
            <a:ext uri="{91240B29-F687-4F45-9708-019B960494DF}">
              <a14:hiddenLine xmlns:a14="http://schemas.microsoft.com/office/drawing/2010/main" w="28575">
                <a:solidFill>
                  <a:schemeClr val="tx1"/>
                </a:solidFill>
                <a:miter lim="800000"/>
                <a:headEnd/>
                <a:tailEnd/>
              </a14:hiddenLine>
            </a:ext>
          </a:extLst>
        </p:spPr>
        <p:txBody>
          <a:bodyPr wrap="none" anchor="ctr"/>
          <a:lstStyle/>
          <a:p>
            <a:endParaRPr lang="en-US"/>
          </a:p>
        </p:txBody>
      </p:sp>
      <p:sp>
        <p:nvSpPr>
          <p:cNvPr id="24589" name="Line 13">
            <a:extLst>
              <a:ext uri="{FF2B5EF4-FFF2-40B4-BE49-F238E27FC236}">
                <a16:creationId xmlns:a16="http://schemas.microsoft.com/office/drawing/2014/main" id="{061C5027-28B9-2811-B4AA-94A9198ADEF1}"/>
              </a:ext>
            </a:extLst>
          </p:cNvPr>
          <p:cNvSpPr>
            <a:spLocks noChangeShapeType="1"/>
          </p:cNvSpPr>
          <p:nvPr/>
        </p:nvSpPr>
        <p:spPr bwMode="auto">
          <a:xfrm>
            <a:off x="6324600" y="5060950"/>
            <a:ext cx="0" cy="1203325"/>
          </a:xfrm>
          <a:prstGeom prst="line">
            <a:avLst/>
          </a:prstGeom>
          <a:noFill/>
          <a:ln w="28575">
            <a:solidFill>
              <a:srgbClr val="FF66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0" name="Oval 14">
            <a:extLst>
              <a:ext uri="{FF2B5EF4-FFF2-40B4-BE49-F238E27FC236}">
                <a16:creationId xmlns:a16="http://schemas.microsoft.com/office/drawing/2014/main" id="{6682978E-C443-9C5C-9BF0-FDA93C75FF01}"/>
              </a:ext>
            </a:extLst>
          </p:cNvPr>
          <p:cNvSpPr>
            <a:spLocks noChangeArrowheads="1"/>
          </p:cNvSpPr>
          <p:nvPr/>
        </p:nvSpPr>
        <p:spPr bwMode="auto">
          <a:xfrm>
            <a:off x="6019800" y="3079750"/>
            <a:ext cx="1066800" cy="990600"/>
          </a:xfrm>
          <a:prstGeom prst="ellipse">
            <a:avLst/>
          </a:prstGeom>
          <a:solidFill>
            <a:srgbClr val="CC99FF"/>
          </a:solidFill>
          <a:ln>
            <a:noFill/>
          </a:ln>
          <a:effectLst>
            <a:prstShdw prst="shdw17" dist="17961" dir="2700000">
              <a:srgbClr val="CC99FF">
                <a:gamma/>
                <a:shade val="60000"/>
                <a:invGamma/>
              </a:srgb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process</a:t>
            </a:r>
          </a:p>
        </p:txBody>
      </p:sp>
      <p:sp>
        <p:nvSpPr>
          <p:cNvPr id="24591" name="Line 15">
            <a:extLst>
              <a:ext uri="{FF2B5EF4-FFF2-40B4-BE49-F238E27FC236}">
                <a16:creationId xmlns:a16="http://schemas.microsoft.com/office/drawing/2014/main" id="{62CB5CC2-4232-3237-793B-E23A25FC1476}"/>
              </a:ext>
            </a:extLst>
          </p:cNvPr>
          <p:cNvSpPr>
            <a:spLocks noChangeShapeType="1"/>
          </p:cNvSpPr>
          <p:nvPr/>
        </p:nvSpPr>
        <p:spPr bwMode="auto">
          <a:xfrm>
            <a:off x="2438400" y="4070350"/>
            <a:ext cx="0" cy="3810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2" name="Line 16">
            <a:extLst>
              <a:ext uri="{FF2B5EF4-FFF2-40B4-BE49-F238E27FC236}">
                <a16:creationId xmlns:a16="http://schemas.microsoft.com/office/drawing/2014/main" id="{530FF407-5BAC-9054-C342-E404D97EE6E9}"/>
              </a:ext>
            </a:extLst>
          </p:cNvPr>
          <p:cNvSpPr>
            <a:spLocks noChangeShapeType="1"/>
          </p:cNvSpPr>
          <p:nvPr/>
        </p:nvSpPr>
        <p:spPr bwMode="auto">
          <a:xfrm>
            <a:off x="6553200" y="4070350"/>
            <a:ext cx="0" cy="3810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3" name="Text Box 17">
            <a:extLst>
              <a:ext uri="{FF2B5EF4-FFF2-40B4-BE49-F238E27FC236}">
                <a16:creationId xmlns:a16="http://schemas.microsoft.com/office/drawing/2014/main" id="{E74795A8-BB64-4638-CC66-B3B0BF308782}"/>
              </a:ext>
            </a:extLst>
          </p:cNvPr>
          <p:cNvSpPr txBox="1">
            <a:spLocks noChangeArrowheads="1"/>
          </p:cNvSpPr>
          <p:nvPr/>
        </p:nvSpPr>
        <p:spPr bwMode="auto">
          <a:xfrm>
            <a:off x="1905000" y="2590800"/>
            <a:ext cx="1016000" cy="396875"/>
          </a:xfrm>
          <a:prstGeom prst="rect">
            <a:avLst/>
          </a:prstGeom>
          <a:solidFill>
            <a:srgbClr val="CCFF99"/>
          </a:solidFill>
          <a:ln>
            <a:noFill/>
          </a:ln>
          <a:effectLst>
            <a:prstShdw prst="shdw17" dist="17961" dir="2700000">
              <a:srgbClr val="CC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Node A</a:t>
            </a:r>
          </a:p>
        </p:txBody>
      </p:sp>
      <p:sp>
        <p:nvSpPr>
          <p:cNvPr id="24594" name="Rectangle 18">
            <a:extLst>
              <a:ext uri="{FF2B5EF4-FFF2-40B4-BE49-F238E27FC236}">
                <a16:creationId xmlns:a16="http://schemas.microsoft.com/office/drawing/2014/main" id="{AB5AB221-EB32-6E72-B3C3-3B55F7C4CFD4}"/>
              </a:ext>
            </a:extLst>
          </p:cNvPr>
          <p:cNvSpPr>
            <a:spLocks noChangeArrowheads="1"/>
          </p:cNvSpPr>
          <p:nvPr/>
        </p:nvSpPr>
        <p:spPr bwMode="auto">
          <a:xfrm>
            <a:off x="3810000" y="5730875"/>
            <a:ext cx="1447800" cy="381000"/>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b="1">
                <a:solidFill>
                  <a:schemeClr val="bg2"/>
                </a:solidFill>
                <a:latin typeface="Georgia" panose="02040502050405020303" pitchFamily="18" charset="0"/>
              </a:rPr>
              <a:t>message</a:t>
            </a:r>
          </a:p>
        </p:txBody>
      </p:sp>
      <p:sp>
        <p:nvSpPr>
          <p:cNvPr id="24595" name="Rectangle 19">
            <a:extLst>
              <a:ext uri="{FF2B5EF4-FFF2-40B4-BE49-F238E27FC236}">
                <a16:creationId xmlns:a16="http://schemas.microsoft.com/office/drawing/2014/main" id="{1F4DAB4E-B883-259E-1375-9E805F1359C6}"/>
              </a:ext>
            </a:extLst>
          </p:cNvPr>
          <p:cNvSpPr>
            <a:spLocks noChangeArrowheads="1"/>
          </p:cNvSpPr>
          <p:nvPr/>
        </p:nvSpPr>
        <p:spPr bwMode="auto">
          <a:xfrm>
            <a:off x="1981200" y="4679950"/>
            <a:ext cx="1447800" cy="381000"/>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b="1">
                <a:solidFill>
                  <a:schemeClr val="bg2"/>
                </a:solidFill>
                <a:latin typeface="Georgia" panose="02040502050405020303" pitchFamily="18" charset="0"/>
              </a:rPr>
              <a:t>Y</a:t>
            </a:r>
          </a:p>
        </p:txBody>
      </p:sp>
      <p:sp>
        <p:nvSpPr>
          <p:cNvPr id="24596" name="Rectangle 20">
            <a:extLst>
              <a:ext uri="{FF2B5EF4-FFF2-40B4-BE49-F238E27FC236}">
                <a16:creationId xmlns:a16="http://schemas.microsoft.com/office/drawing/2014/main" id="{6A075F2D-38F4-83B4-B02C-45F983F25565}"/>
              </a:ext>
            </a:extLst>
          </p:cNvPr>
          <p:cNvSpPr>
            <a:spLocks noChangeArrowheads="1"/>
          </p:cNvSpPr>
          <p:nvPr/>
        </p:nvSpPr>
        <p:spPr bwMode="auto">
          <a:xfrm>
            <a:off x="5638800" y="4679950"/>
            <a:ext cx="1447800" cy="381000"/>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latinLnBrk="1">
              <a:spcBef>
                <a:spcPct val="20000"/>
              </a:spcBef>
              <a:buClr>
                <a:schemeClr val="folHlink"/>
              </a:buClr>
              <a:buSzPct val="60000"/>
              <a:buFont typeface="Wingdings" pitchFamily="2" charset="2"/>
              <a:buNone/>
            </a:pPr>
            <a:r>
              <a:rPr kumimoji="1" lang="en-US" altLang="ko-KR" sz="2000" b="1">
                <a:solidFill>
                  <a:schemeClr val="bg2"/>
                </a:solidFill>
                <a:latin typeface="Georgia" panose="02040502050405020303" pitchFamily="18" charset="0"/>
              </a:rPr>
              <a:t>Y’</a:t>
            </a:r>
          </a:p>
        </p:txBody>
      </p:sp>
      <p:sp>
        <p:nvSpPr>
          <p:cNvPr id="24597" name="Text Box 21">
            <a:extLst>
              <a:ext uri="{FF2B5EF4-FFF2-40B4-BE49-F238E27FC236}">
                <a16:creationId xmlns:a16="http://schemas.microsoft.com/office/drawing/2014/main" id="{DD233278-9DBC-A2EC-AB11-E557D0BE36D2}"/>
              </a:ext>
            </a:extLst>
          </p:cNvPr>
          <p:cNvSpPr txBox="1">
            <a:spLocks noChangeArrowheads="1"/>
          </p:cNvSpPr>
          <p:nvPr/>
        </p:nvSpPr>
        <p:spPr bwMode="auto">
          <a:xfrm>
            <a:off x="2438400" y="4054475"/>
            <a:ext cx="1277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b="1">
                <a:solidFill>
                  <a:schemeClr val="folHlink"/>
                </a:solidFill>
                <a:latin typeface="Georgia" panose="02040502050405020303" pitchFamily="18" charset="0"/>
              </a:rPr>
              <a:t>send (Y)</a:t>
            </a:r>
          </a:p>
        </p:txBody>
      </p:sp>
      <p:sp>
        <p:nvSpPr>
          <p:cNvPr id="24598" name="Text Box 22">
            <a:extLst>
              <a:ext uri="{FF2B5EF4-FFF2-40B4-BE49-F238E27FC236}">
                <a16:creationId xmlns:a16="http://schemas.microsoft.com/office/drawing/2014/main" id="{589F05A4-41AB-58F3-6E4B-73ED907194B5}"/>
              </a:ext>
            </a:extLst>
          </p:cNvPr>
          <p:cNvSpPr txBox="1">
            <a:spLocks noChangeArrowheads="1"/>
          </p:cNvSpPr>
          <p:nvPr/>
        </p:nvSpPr>
        <p:spPr bwMode="auto">
          <a:xfrm>
            <a:off x="6577013" y="4054475"/>
            <a:ext cx="1663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b="1">
                <a:solidFill>
                  <a:schemeClr val="folHlink"/>
                </a:solidFill>
                <a:latin typeface="Georgia" panose="02040502050405020303" pitchFamily="18" charset="0"/>
              </a:rPr>
              <a:t>receive (Y’)</a:t>
            </a:r>
          </a:p>
        </p:txBody>
      </p:sp>
      <p:sp>
        <p:nvSpPr>
          <p:cNvPr id="24599" name="Text Box 23">
            <a:extLst>
              <a:ext uri="{FF2B5EF4-FFF2-40B4-BE49-F238E27FC236}">
                <a16:creationId xmlns:a16="http://schemas.microsoft.com/office/drawing/2014/main" id="{CCB2B601-D442-136E-6328-1419280E5858}"/>
              </a:ext>
            </a:extLst>
          </p:cNvPr>
          <p:cNvSpPr txBox="1">
            <a:spLocks noChangeArrowheads="1"/>
          </p:cNvSpPr>
          <p:nvPr/>
        </p:nvSpPr>
        <p:spPr bwMode="auto">
          <a:xfrm>
            <a:off x="5997575" y="2590800"/>
            <a:ext cx="1012825" cy="396875"/>
          </a:xfrm>
          <a:prstGeom prst="rect">
            <a:avLst/>
          </a:prstGeom>
          <a:solidFill>
            <a:srgbClr val="CCFF99"/>
          </a:solidFill>
          <a:ln>
            <a:noFill/>
          </a:ln>
          <a:effectLst>
            <a:prstShdw prst="shdw17" dist="17961" dir="2700000">
              <a:srgbClr val="CC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solidFill>
                  <a:schemeClr val="bg2"/>
                </a:solidFill>
                <a:latin typeface="Georgia" panose="02040502050405020303" pitchFamily="18" charset="0"/>
              </a:rPr>
              <a:t>Node B</a:t>
            </a:r>
          </a:p>
        </p:txBody>
      </p:sp>
      <p:sp>
        <p:nvSpPr>
          <p:cNvPr id="24600" name="Oval 24">
            <a:extLst>
              <a:ext uri="{FF2B5EF4-FFF2-40B4-BE49-F238E27FC236}">
                <a16:creationId xmlns:a16="http://schemas.microsoft.com/office/drawing/2014/main" id="{E9A65855-F0DF-096E-6021-C1903E864DEA}"/>
              </a:ext>
            </a:extLst>
          </p:cNvPr>
          <p:cNvSpPr>
            <a:spLocks noChangeArrowheads="1"/>
          </p:cNvSpPr>
          <p:nvPr/>
        </p:nvSpPr>
        <p:spPr bwMode="auto">
          <a:xfrm>
            <a:off x="914400" y="2057400"/>
            <a:ext cx="280988" cy="304800"/>
          </a:xfrm>
          <a:prstGeom prst="ellipse">
            <a:avLst/>
          </a:prstGeom>
          <a:solidFill>
            <a:srgbClr val="CC99FF"/>
          </a:solidFill>
          <a:ln>
            <a:noFill/>
          </a:ln>
          <a:effectLst>
            <a:prstShdw prst="shdw17" dist="17961" dir="2700000">
              <a:srgbClr val="CC99FF">
                <a:gamma/>
                <a:shade val="60000"/>
                <a:invGamma/>
              </a:srgb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algn="ctr" latinLnBrk="1">
              <a:spcBef>
                <a:spcPct val="20000"/>
              </a:spcBef>
              <a:buClr>
                <a:schemeClr val="folHlink"/>
              </a:buClr>
              <a:buSzPct val="60000"/>
              <a:buFont typeface="Wingdings" pitchFamily="2" charset="2"/>
              <a:buNone/>
            </a:pPr>
            <a:endParaRPr kumimoji="1" lang="en-US" altLang="en-US" sz="2000">
              <a:latin typeface="Georgia" panose="02040502050405020303" pitchFamily="18" charset="0"/>
            </a:endParaRPr>
          </a:p>
        </p:txBody>
      </p:sp>
      <p:sp>
        <p:nvSpPr>
          <p:cNvPr id="24601" name="Rectangle 25">
            <a:extLst>
              <a:ext uri="{FF2B5EF4-FFF2-40B4-BE49-F238E27FC236}">
                <a16:creationId xmlns:a16="http://schemas.microsoft.com/office/drawing/2014/main" id="{59C4C88B-7189-7947-FAFE-7FBD6DCE6668}"/>
              </a:ext>
            </a:extLst>
          </p:cNvPr>
          <p:cNvSpPr>
            <a:spLocks noChangeArrowheads="1"/>
          </p:cNvSpPr>
          <p:nvPr/>
        </p:nvSpPr>
        <p:spPr bwMode="auto">
          <a:xfrm>
            <a:off x="2971800" y="2057400"/>
            <a:ext cx="280988" cy="304800"/>
          </a:xfrm>
          <a:prstGeom prst="rect">
            <a:avLst/>
          </a:prstGeom>
          <a:solidFill>
            <a:schemeClr val="accent2"/>
          </a:solidFill>
          <a:ln>
            <a:noFill/>
          </a:ln>
          <a:effectLst>
            <a:prstShdw prst="shdw17" dist="17961" dir="2700000">
              <a:schemeClr val="accent2">
                <a:gamma/>
                <a:shade val="60000"/>
                <a:invGamma/>
              </a:schemeClr>
            </a:prstShdw>
          </a:effectLst>
          <a:extLst>
            <a:ext uri="{91240B29-F687-4F45-9708-019B960494DF}">
              <a14:hiddenLine xmlns:a14="http://schemas.microsoft.com/office/drawing/2010/main" w="28575">
                <a:solidFill>
                  <a:schemeClr val="tx1"/>
                </a:solidFill>
                <a:miter lim="800000"/>
                <a:headEnd/>
                <a:tailEnd/>
              </a14:hiddenLine>
            </a:ext>
          </a:extLst>
        </p:spPr>
        <p:txBody>
          <a:bodyPr wrap="none" anchor="ctr"/>
          <a:lstStyle/>
          <a:p>
            <a:endParaRPr lang="en-US"/>
          </a:p>
        </p:txBody>
      </p:sp>
      <p:sp>
        <p:nvSpPr>
          <p:cNvPr id="24602" name="Text Box 26">
            <a:extLst>
              <a:ext uri="{FF2B5EF4-FFF2-40B4-BE49-F238E27FC236}">
                <a16:creationId xmlns:a16="http://schemas.microsoft.com/office/drawing/2014/main" id="{9AAD835C-BAD6-992F-A418-9B9DEAB1D98C}"/>
              </a:ext>
            </a:extLst>
          </p:cNvPr>
          <p:cNvSpPr txBox="1">
            <a:spLocks noChangeArrowheads="1"/>
          </p:cNvSpPr>
          <p:nvPr/>
        </p:nvSpPr>
        <p:spPr bwMode="auto">
          <a:xfrm>
            <a:off x="1166813" y="2030413"/>
            <a:ext cx="1279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latin typeface="Georgia" panose="02040502050405020303" pitchFamily="18" charset="0"/>
              </a:rPr>
              <a:t>Processor</a:t>
            </a:r>
          </a:p>
        </p:txBody>
      </p:sp>
      <p:sp>
        <p:nvSpPr>
          <p:cNvPr id="24603" name="Text Box 27">
            <a:extLst>
              <a:ext uri="{FF2B5EF4-FFF2-40B4-BE49-F238E27FC236}">
                <a16:creationId xmlns:a16="http://schemas.microsoft.com/office/drawing/2014/main" id="{0B424DBD-60A3-E518-2DB5-3807D8CA1002}"/>
              </a:ext>
            </a:extLst>
          </p:cNvPr>
          <p:cNvSpPr txBox="1">
            <a:spLocks noChangeArrowheads="1"/>
          </p:cNvSpPr>
          <p:nvPr/>
        </p:nvSpPr>
        <p:spPr bwMode="auto">
          <a:xfrm>
            <a:off x="3248025" y="2030413"/>
            <a:ext cx="1131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spcBef>
                <a:spcPct val="20000"/>
              </a:spcBef>
              <a:buClr>
                <a:schemeClr val="folHlink"/>
              </a:buClr>
              <a:buSzPct val="60000"/>
              <a:buFont typeface="Wingdings" pitchFamily="2" charset="2"/>
              <a:buNone/>
            </a:pPr>
            <a:r>
              <a:rPr kumimoji="1" lang="en-US" altLang="ko-KR" sz="2000">
                <a:latin typeface="Georgia" panose="02040502050405020303" pitchFamily="18" charset="0"/>
              </a:rPr>
              <a:t>Memory</a:t>
            </a:r>
          </a:p>
        </p:txBody>
      </p:sp>
      <p:pic>
        <p:nvPicPr>
          <p:cNvPr id="2" name="Picture 1" descr="A screenshot of a computer&#10;&#10;Description automatically generated">
            <a:extLst>
              <a:ext uri="{FF2B5EF4-FFF2-40B4-BE49-F238E27FC236}">
                <a16:creationId xmlns:a16="http://schemas.microsoft.com/office/drawing/2014/main" id="{49C360F8-6C30-9825-A18C-85357FC122ED}"/>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CA344A1-1467-DF2F-B2E1-E2E27C65CEFE}"/>
              </a:ext>
            </a:extLst>
          </p:cNvPr>
          <p:cNvSpPr>
            <a:spLocks noGrp="1" noChangeArrowheads="1"/>
          </p:cNvSpPr>
          <p:nvPr>
            <p:ph type="title"/>
          </p:nvPr>
        </p:nvSpPr>
        <p:spPr>
          <a:xfrm>
            <a:off x="1749346" y="274638"/>
            <a:ext cx="6937454" cy="11134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ko-KR" dirty="0">
                <a:ea typeface="굴림" panose="020B0600000101010101" pitchFamily="34" charset="-127"/>
              </a:rPr>
              <a:t>Message Passing Programming Model</a:t>
            </a:r>
          </a:p>
        </p:txBody>
      </p:sp>
      <p:sp>
        <p:nvSpPr>
          <p:cNvPr id="8195" name="Rectangle 3">
            <a:extLst>
              <a:ext uri="{FF2B5EF4-FFF2-40B4-BE49-F238E27FC236}">
                <a16:creationId xmlns:a16="http://schemas.microsoft.com/office/drawing/2014/main" id="{67B4DF89-1865-7D18-1370-8F97683C65CF}"/>
              </a:ext>
            </a:extLst>
          </p:cNvPr>
          <p:cNvSpPr>
            <a:spLocks noGrp="1" noChangeArrowheads="1"/>
          </p:cNvSpPr>
          <p:nvPr>
            <p:ph type="body" idx="1"/>
          </p:nvPr>
        </p:nvSpPr>
        <p:spPr/>
        <p:txBody>
          <a:bodyPr>
            <a:normAutofit lnSpcReduction="10000"/>
          </a:bodyPr>
          <a:lstStyle/>
          <a:p>
            <a:r>
              <a:rPr lang="en-US" altLang="ko-KR">
                <a:ea typeface="굴림" panose="020B0600000101010101" pitchFamily="34" charset="-127"/>
              </a:rPr>
              <a:t>Naming</a:t>
            </a:r>
          </a:p>
          <a:p>
            <a:pPr lvl="1"/>
            <a:r>
              <a:rPr lang="en-US" altLang="ko-KR">
                <a:ea typeface="굴림" panose="020B0600000101010101" pitchFamily="34" charset="-127"/>
              </a:rPr>
              <a:t>Processes can name private data directly.  </a:t>
            </a:r>
          </a:p>
          <a:p>
            <a:pPr lvl="1"/>
            <a:r>
              <a:rPr lang="en-US" altLang="ko-KR">
                <a:ea typeface="굴림" panose="020B0600000101010101" pitchFamily="34" charset="-127"/>
              </a:rPr>
              <a:t>No shared address space</a:t>
            </a:r>
          </a:p>
          <a:p>
            <a:r>
              <a:rPr lang="en-US" altLang="ko-KR">
                <a:ea typeface="굴림" panose="020B0600000101010101" pitchFamily="34" charset="-127"/>
              </a:rPr>
              <a:t>Operations</a:t>
            </a:r>
          </a:p>
          <a:p>
            <a:pPr lvl="1"/>
            <a:r>
              <a:rPr lang="en-US" altLang="ko-KR">
                <a:ea typeface="굴림" panose="020B0600000101010101" pitchFamily="34" charset="-127"/>
              </a:rPr>
              <a:t>Explicit communication: “send” and “receive”</a:t>
            </a:r>
          </a:p>
          <a:p>
            <a:pPr lvl="1"/>
            <a:r>
              <a:rPr lang="en-US" altLang="ko-KR">
                <a:ea typeface="굴림" panose="020B0600000101010101" pitchFamily="34" charset="-127"/>
              </a:rPr>
              <a:t>“Send” transfers data from private address space to another process</a:t>
            </a:r>
          </a:p>
          <a:p>
            <a:pPr lvl="1"/>
            <a:r>
              <a:rPr lang="en-US" altLang="ko-KR">
                <a:ea typeface="굴림" panose="020B0600000101010101" pitchFamily="34" charset="-127"/>
              </a:rPr>
              <a:t>“Receive” copies data from process to private address space</a:t>
            </a:r>
          </a:p>
        </p:txBody>
      </p:sp>
      <p:pic>
        <p:nvPicPr>
          <p:cNvPr id="2" name="Picture 1" descr="A screenshot of a computer&#10;&#10;Description automatically generated">
            <a:extLst>
              <a:ext uri="{FF2B5EF4-FFF2-40B4-BE49-F238E27FC236}">
                <a16:creationId xmlns:a16="http://schemas.microsoft.com/office/drawing/2014/main" id="{9345FC71-4E69-7F82-0270-1F814F077C32}"/>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3A4FF76-C16C-BC7B-819A-2E4103B1A723}"/>
              </a:ext>
            </a:extLst>
          </p:cNvPr>
          <p:cNvSpPr>
            <a:spLocks noGrp="1" noChangeArrowheads="1"/>
          </p:cNvSpPr>
          <p:nvPr>
            <p:ph type="title"/>
          </p:nvPr>
        </p:nvSpPr>
        <p:spPr/>
        <p:txBody>
          <a:bodyPr/>
          <a:lstStyle/>
          <a:p>
            <a:endParaRPr lang="en-US" altLang="en-US"/>
          </a:p>
        </p:txBody>
      </p:sp>
      <p:sp>
        <p:nvSpPr>
          <p:cNvPr id="9219" name="Rectangle 3">
            <a:extLst>
              <a:ext uri="{FF2B5EF4-FFF2-40B4-BE49-F238E27FC236}">
                <a16:creationId xmlns:a16="http://schemas.microsoft.com/office/drawing/2014/main" id="{064E277D-3E8F-4FCE-66FA-29B23D68003D}"/>
              </a:ext>
            </a:extLst>
          </p:cNvPr>
          <p:cNvSpPr>
            <a:spLocks noGrp="1" noChangeArrowheads="1"/>
          </p:cNvSpPr>
          <p:nvPr>
            <p:ph type="body" idx="1"/>
          </p:nvPr>
        </p:nvSpPr>
        <p:spPr/>
        <p:txBody>
          <a:bodyPr>
            <a:normAutofit lnSpcReduction="10000"/>
          </a:bodyPr>
          <a:lstStyle/>
          <a:p>
            <a:r>
              <a:rPr lang="en-US" altLang="ko-KR">
                <a:ea typeface="굴림" panose="020B0600000101010101" pitchFamily="34" charset="-127"/>
              </a:rPr>
              <a:t>Ordering</a:t>
            </a:r>
          </a:p>
          <a:p>
            <a:pPr lvl="1"/>
            <a:r>
              <a:rPr lang="en-US" altLang="ko-KR">
                <a:ea typeface="굴림" panose="020B0600000101010101" pitchFamily="34" charset="-127"/>
              </a:rPr>
              <a:t>Program order within a process</a:t>
            </a:r>
          </a:p>
          <a:p>
            <a:pPr lvl="1"/>
            <a:r>
              <a:rPr lang="en-US" altLang="ko-KR">
                <a:ea typeface="굴림" panose="020B0600000101010101" pitchFamily="34" charset="-127"/>
              </a:rPr>
              <a:t>Send and receive can provide pt-to-pt synch between processes</a:t>
            </a:r>
          </a:p>
          <a:p>
            <a:pPr lvl="1"/>
            <a:r>
              <a:rPr lang="en-US" altLang="ko-KR">
                <a:ea typeface="굴림" panose="020B0600000101010101" pitchFamily="34" charset="-127"/>
              </a:rPr>
              <a:t>Mutual exclusion inherent</a:t>
            </a:r>
          </a:p>
          <a:p>
            <a:r>
              <a:rPr lang="en-US" altLang="ko-KR">
                <a:ea typeface="굴림" panose="020B0600000101010101" pitchFamily="34" charset="-127"/>
              </a:rPr>
              <a:t>Can construct global address space</a:t>
            </a:r>
          </a:p>
          <a:p>
            <a:pPr lvl="1"/>
            <a:r>
              <a:rPr lang="en-US" altLang="ko-KR">
                <a:ea typeface="굴림" panose="020B0600000101010101" pitchFamily="34" charset="-127"/>
              </a:rPr>
              <a:t>Process number + address within process address space</a:t>
            </a:r>
          </a:p>
          <a:p>
            <a:pPr lvl="1"/>
            <a:r>
              <a:rPr lang="en-US" altLang="ko-KR">
                <a:ea typeface="굴림" panose="020B0600000101010101" pitchFamily="34" charset="-127"/>
              </a:rPr>
              <a:t>But no direct operations on these names</a:t>
            </a:r>
          </a:p>
        </p:txBody>
      </p:sp>
      <p:pic>
        <p:nvPicPr>
          <p:cNvPr id="2" name="Picture 1" descr="A screenshot of a computer&#10;&#10;Description automatically generated">
            <a:extLst>
              <a:ext uri="{FF2B5EF4-FFF2-40B4-BE49-F238E27FC236}">
                <a16:creationId xmlns:a16="http://schemas.microsoft.com/office/drawing/2014/main" id="{6E8249CF-2F9A-B0CE-1A27-5B7F478853CA}"/>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97E60-326A-3729-AFE5-8C00A97B7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5E1DD-3A3A-94C2-CD5F-66663A788BBE}"/>
              </a:ext>
            </a:extLst>
          </p:cNvPr>
          <p:cNvSpPr>
            <a:spLocks noGrp="1"/>
          </p:cNvSpPr>
          <p:nvPr>
            <p:ph type="title"/>
          </p:nvPr>
        </p:nvSpPr>
        <p:spPr>
          <a:xfrm>
            <a:off x="750705" y="1476259"/>
            <a:ext cx="2621145" cy="4700703"/>
          </a:xfrm>
        </p:spPr>
        <p:txBody>
          <a:bodyPr>
            <a:normAutofit/>
          </a:bodyPr>
          <a:lstStyle/>
          <a:p>
            <a:r>
              <a:rPr lang="en-IN" sz="3400" dirty="0"/>
              <a:t>Parallel Programming Software Platforms</a:t>
            </a:r>
          </a:p>
        </p:txBody>
      </p:sp>
      <p:pic>
        <p:nvPicPr>
          <p:cNvPr id="4" name="Picture 3" descr="A screenshot of a computer&#10;&#10;Description automatically generated">
            <a:extLst>
              <a:ext uri="{FF2B5EF4-FFF2-40B4-BE49-F238E27FC236}">
                <a16:creationId xmlns:a16="http://schemas.microsoft.com/office/drawing/2014/main" id="{6F7E8F07-5BE0-5488-4104-82F95C10DBDF}"/>
              </a:ext>
            </a:extLst>
          </p:cNvPr>
          <p:cNvPicPr>
            <a:picLocks noChangeAspect="1"/>
          </p:cNvPicPr>
          <p:nvPr/>
        </p:nvPicPr>
        <p:blipFill rotWithShape="1">
          <a:blip r:embed="rId2"/>
          <a:srcRect l="26091" t="36058" r="24385" b="26405"/>
          <a:stretch/>
        </p:blipFill>
        <p:spPr bwMode="auto">
          <a:xfrm>
            <a:off x="0" y="18250"/>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C5D096DA-0E5D-DD75-19C3-32772E6E90D7}"/>
              </a:ext>
            </a:extLst>
          </p:cNvPr>
          <p:cNvGraphicFramePr>
            <a:graphicFrameLocks noGrp="1"/>
          </p:cNvGraphicFramePr>
          <p:nvPr>
            <p:ph idx="1"/>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49109DDC-E7A0-C7A2-8D1C-2443BB48BAA8}"/>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Parallel Programming</a:t>
            </a:r>
          </a:p>
        </p:txBody>
      </p:sp>
      <p:sp>
        <p:nvSpPr>
          <p:cNvPr id="3" name="Footer Placeholder 12">
            <a:extLst>
              <a:ext uri="{FF2B5EF4-FFF2-40B4-BE49-F238E27FC236}">
                <a16:creationId xmlns:a16="http://schemas.microsoft.com/office/drawing/2014/main" id="{A96D6BB7-6590-60EF-BED8-C71526E5C168}"/>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095469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IN" sz="4000"/>
              <a:t>Cloud Computing</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1D50FB45-2E64-FD28-8F5A-8ED6CA5F65A5}"/>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13" name="Content Placeholder 2">
            <a:extLst>
              <a:ext uri="{FF2B5EF4-FFF2-40B4-BE49-F238E27FC236}">
                <a16:creationId xmlns:a16="http://schemas.microsoft.com/office/drawing/2014/main" id="{401AF3A4-17C5-6F18-3214-28E78CBAB551}"/>
              </a:ext>
            </a:extLst>
          </p:cNvPr>
          <p:cNvGraphicFramePr>
            <a:graphicFrameLocks noGrp="1"/>
          </p:cNvGraphicFramePr>
          <p:nvPr>
            <p:ph idx="1"/>
            <p:extLst>
              <p:ext uri="{D42A27DB-BD31-4B8C-83A1-F6EECF244321}">
                <p14:modId xmlns:p14="http://schemas.microsoft.com/office/powerpoint/2010/main" val="2989202483"/>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64C81DF6-698C-EF58-5BE6-7D9FEA7D59C5}"/>
              </a:ext>
            </a:extLst>
          </p:cNvPr>
          <p:cNvSpPr txBox="1">
            <a:spLocks/>
          </p:cNvSpPr>
          <p:nvPr/>
        </p:nvSpPr>
        <p:spPr>
          <a:xfrm>
            <a:off x="1749345" y="7233"/>
            <a:ext cx="7063137"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Cloud Computing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DE83-DDEC-108D-D609-4A95D5B1F568}"/>
              </a:ext>
            </a:extLst>
          </p:cNvPr>
          <p:cNvSpPr>
            <a:spLocks noGrp="1"/>
          </p:cNvSpPr>
          <p:nvPr>
            <p:ph type="title"/>
          </p:nvPr>
        </p:nvSpPr>
        <p:spPr/>
        <p:txBody>
          <a:bodyPr/>
          <a:lstStyle/>
          <a:p>
            <a:endParaRPr lang="en-US"/>
          </a:p>
        </p:txBody>
      </p:sp>
      <p:pic>
        <p:nvPicPr>
          <p:cNvPr id="1026" name="Picture 2" descr="What is cloud? Cloud computing">
            <a:extLst>
              <a:ext uri="{FF2B5EF4-FFF2-40B4-BE49-F238E27FC236}">
                <a16:creationId xmlns:a16="http://schemas.microsoft.com/office/drawing/2014/main" id="{F0B6950C-870A-720B-DD07-96884B80DC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219" y="274639"/>
            <a:ext cx="8682768" cy="6093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8359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E55F9B85-F49F-1D9D-3C63-F184DF50438F}"/>
              </a:ext>
            </a:extLst>
          </p:cNvPr>
          <p:cNvSpPr>
            <a:spLocks noGrp="1"/>
          </p:cNvSpPr>
          <p:nvPr>
            <p:ph type="title"/>
          </p:nvPr>
        </p:nvSpPr>
        <p:spPr>
          <a:xfrm>
            <a:off x="457200" y="274638"/>
            <a:ext cx="8229600" cy="1143000"/>
          </a:xfrm>
        </p:spPr>
        <p:txBody>
          <a:bodyPr/>
          <a:lstStyle/>
          <a:p>
            <a:endParaRPr lang="en-US"/>
          </a:p>
        </p:txBody>
      </p:sp>
      <p:pic>
        <p:nvPicPr>
          <p:cNvPr id="2050" name="Picture 2" descr="What Is Cloud Computing? Definition, Benefits, Types, and Trends -  Spiceworks">
            <a:extLst>
              <a:ext uri="{FF2B5EF4-FFF2-40B4-BE49-F238E27FC236}">
                <a16:creationId xmlns:a16="http://schemas.microsoft.com/office/drawing/2014/main" id="{2DD5E058-A12E-D59B-D1BF-EA6B1AE589B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47052" y="804231"/>
            <a:ext cx="6548465" cy="5409281"/>
          </a:xfrm>
          <a:prstGeom prst="rect">
            <a:avLst/>
          </a:prstGeom>
          <a:solidFill>
            <a:srgbClr val="FFFFFF"/>
          </a:solidFill>
        </p:spPr>
      </p:pic>
    </p:spTree>
    <p:extLst>
      <p:ext uri="{BB962C8B-B14F-4D97-AF65-F5344CB8AC3E}">
        <p14:creationId xmlns:p14="http://schemas.microsoft.com/office/powerpoint/2010/main" val="22057114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3CED1D-9E1C-D12D-1600-1BC43BD2D0EA}"/>
              </a:ext>
            </a:extLst>
          </p:cNvPr>
          <p:cNvPicPr>
            <a:picLocks noChangeAspect="1"/>
          </p:cNvPicPr>
          <p:nvPr/>
        </p:nvPicPr>
        <p:blipFill>
          <a:blip r:embed="rId2">
            <a:duotone>
              <a:schemeClr val="bg2">
                <a:shade val="45000"/>
                <a:satMod val="135000"/>
              </a:schemeClr>
              <a:prstClr val="white"/>
            </a:duotone>
          </a:blip>
          <a:srcRect r="10999" b="-1"/>
          <a:stretch>
            <a:fillRect/>
          </a:stretch>
        </p:blipFill>
        <p:spPr>
          <a:xfrm>
            <a:off x="20" y="10"/>
            <a:ext cx="9143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523B39E4-1F82-887C-7CB5-3829F602487D}"/>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275DC0C5-F188-43F3-8294-28A0B81A62FD}"/>
              </a:ext>
            </a:extLst>
          </p:cNvPr>
          <p:cNvGraphicFramePr>
            <a:graphicFrameLocks noGrp="1"/>
          </p:cNvGraphicFramePr>
          <p:nvPr>
            <p:ph idx="1"/>
            <p:extLst>
              <p:ext uri="{D42A27DB-BD31-4B8C-83A1-F6EECF244321}">
                <p14:modId xmlns:p14="http://schemas.microsoft.com/office/powerpoint/2010/main" val="1881430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itle 1">
            <a:extLst>
              <a:ext uri="{FF2B5EF4-FFF2-40B4-BE49-F238E27FC236}">
                <a16:creationId xmlns:a16="http://schemas.microsoft.com/office/drawing/2014/main" id="{124C605C-8978-1115-CCFE-5E0713B63712}"/>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Grid Computing</a:t>
            </a:r>
          </a:p>
        </p:txBody>
      </p:sp>
      <p:sp>
        <p:nvSpPr>
          <p:cNvPr id="2" name="Footer Placeholder 12">
            <a:extLst>
              <a:ext uri="{FF2B5EF4-FFF2-40B4-BE49-F238E27FC236}">
                <a16:creationId xmlns:a16="http://schemas.microsoft.com/office/drawing/2014/main" id="{3544D503-9449-9A18-F3D4-5778FC393369}"/>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4FF791E-6E15-3C75-F803-F6F1F0B985B5}"/>
              </a:ext>
            </a:extLst>
          </p:cNvPr>
          <p:cNvSpPr>
            <a:spLocks noGrp="1"/>
          </p:cNvSpPr>
          <p:nvPr>
            <p:ph type="sldNum" sz="quarter" idx="12"/>
          </p:nvPr>
        </p:nvSpPr>
        <p:spPr/>
        <p:txBody>
          <a:bodyPr/>
          <a:lstStyle/>
          <a:p>
            <a:fld id="{2BADC333-CDB6-D147-8B4A-F35C97F6F147}" type="slidenum">
              <a:rPr lang="en-US" altLang="en-US"/>
              <a:pPr/>
              <a:t>53</a:t>
            </a:fld>
            <a:endParaRPr lang="en-US" altLang="en-US"/>
          </a:p>
        </p:txBody>
      </p:sp>
      <p:sp>
        <p:nvSpPr>
          <p:cNvPr id="3074" name="Rectangle 2">
            <a:extLst>
              <a:ext uri="{FF2B5EF4-FFF2-40B4-BE49-F238E27FC236}">
                <a16:creationId xmlns:a16="http://schemas.microsoft.com/office/drawing/2014/main" id="{E6CCACC4-3AF7-4469-F80A-66BAF259285E}"/>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What is a Grid?</a:t>
            </a:r>
          </a:p>
        </p:txBody>
      </p:sp>
      <p:sp>
        <p:nvSpPr>
          <p:cNvPr id="3075" name="Rectangle 3">
            <a:extLst>
              <a:ext uri="{FF2B5EF4-FFF2-40B4-BE49-F238E27FC236}">
                <a16:creationId xmlns:a16="http://schemas.microsoft.com/office/drawing/2014/main" id="{FEF3C17C-DA4F-9F68-C61B-4B5A3EA7B7B8}"/>
              </a:ext>
            </a:extLst>
          </p:cNvPr>
          <p:cNvSpPr>
            <a:spLocks noGrp="1" noChangeArrowheads="1"/>
          </p:cNvSpPr>
          <p:nvPr>
            <p:ph type="body" idx="1"/>
          </p:nvPr>
        </p:nvSpPr>
        <p:spPr>
          <a:xfrm>
            <a:off x="228600" y="1371600"/>
            <a:ext cx="8915400" cy="5486400"/>
          </a:xfrm>
        </p:spPr>
        <p:txBody>
          <a:bodyPr/>
          <a:lstStyle/>
          <a:p>
            <a:r>
              <a:rPr lang="en-US" altLang="en-US"/>
              <a:t>Many definitions exist in the literature</a:t>
            </a:r>
          </a:p>
          <a:p>
            <a:r>
              <a:rPr lang="en-US" altLang="en-US"/>
              <a:t>Early defs: Foster and Kesselman, 1998</a:t>
            </a:r>
          </a:p>
          <a:p>
            <a:pPr lvl="1">
              <a:buFontTx/>
              <a:buNone/>
            </a:pPr>
            <a:r>
              <a:rPr lang="en-US" altLang="en-US"/>
              <a:t>“A computational grid is a hardware and software infrastructure that provides dependable, consistent, pervasive, and inexpensive access to high-end computational facilities”</a:t>
            </a:r>
          </a:p>
          <a:p>
            <a:r>
              <a:rPr lang="en-US" altLang="en-US"/>
              <a:t>Kleinrock 1969:</a:t>
            </a:r>
          </a:p>
          <a:p>
            <a:pPr lvl="1">
              <a:buFontTx/>
              <a:buNone/>
            </a:pPr>
            <a:r>
              <a:rPr lang="en-US" altLang="en-US"/>
              <a:t> “We will probably see the spread of ‘computer utilities’, which, like present electric and telephone utilities, will service individual homes and offices across the country.”</a:t>
            </a:r>
          </a:p>
        </p:txBody>
      </p:sp>
      <p:pic>
        <p:nvPicPr>
          <p:cNvPr id="3" name="Picture 2" descr="A screenshot of a computer&#10;&#10;Description automatically generated">
            <a:extLst>
              <a:ext uri="{FF2B5EF4-FFF2-40B4-BE49-F238E27FC236}">
                <a16:creationId xmlns:a16="http://schemas.microsoft.com/office/drawing/2014/main" id="{521C59C3-E1A3-B508-6D3C-92B40FA7385E}"/>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17C0856-15ED-0A9D-0955-2797A750E94A}"/>
              </a:ext>
            </a:extLst>
          </p:cNvPr>
          <p:cNvSpPr>
            <a:spLocks noGrp="1"/>
          </p:cNvSpPr>
          <p:nvPr>
            <p:ph type="sldNum" sz="quarter" idx="12"/>
          </p:nvPr>
        </p:nvSpPr>
        <p:spPr/>
        <p:txBody>
          <a:bodyPr/>
          <a:lstStyle/>
          <a:p>
            <a:fld id="{BDC882A9-81C8-DD43-9BB6-E7B37EAA8A7E}" type="slidenum">
              <a:rPr lang="en-US" altLang="en-US"/>
              <a:pPr/>
              <a:t>54</a:t>
            </a:fld>
            <a:endParaRPr lang="en-US" altLang="en-US"/>
          </a:p>
        </p:txBody>
      </p:sp>
      <p:sp>
        <p:nvSpPr>
          <p:cNvPr id="8196" name="Rectangle 4">
            <a:extLst>
              <a:ext uri="{FF2B5EF4-FFF2-40B4-BE49-F238E27FC236}">
                <a16:creationId xmlns:a16="http://schemas.microsoft.com/office/drawing/2014/main" id="{DBB2C11C-7DE3-374D-8643-8063278CF155}"/>
              </a:ext>
            </a:extLst>
          </p:cNvPr>
          <p:cNvSpPr>
            <a:spLocks noGrp="1" noChangeArrowheads="1"/>
          </p:cNvSpPr>
          <p:nvPr>
            <p:ph type="title"/>
          </p:nvPr>
        </p:nvSpPr>
        <p:spPr>
          <a:xfrm>
            <a:off x="1749346" y="95250"/>
            <a:ext cx="7295502" cy="742950"/>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Grid Architecture</a:t>
            </a:r>
          </a:p>
        </p:txBody>
      </p:sp>
      <p:pic>
        <p:nvPicPr>
          <p:cNvPr id="8197" name="Picture 5">
            <a:extLst>
              <a:ext uri="{FF2B5EF4-FFF2-40B4-BE49-F238E27FC236}">
                <a16:creationId xmlns:a16="http://schemas.microsoft.com/office/drawing/2014/main" id="{788ECAC3-A0D1-1979-99C9-6087627C2D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905000"/>
            <a:ext cx="1592263" cy="174625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B72FAABE-CC5E-966C-2D3F-2C9FD60BC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581400"/>
            <a:ext cx="1824038" cy="1120775"/>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a:extLst>
              <a:ext uri="{FF2B5EF4-FFF2-40B4-BE49-F238E27FC236}">
                <a16:creationId xmlns:a16="http://schemas.microsoft.com/office/drawing/2014/main" id="{3473AAAF-9DFA-487B-56F2-34B7102DFD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4267200"/>
            <a:ext cx="1227138" cy="1295400"/>
          </a:xfrm>
          <a:prstGeom prst="rect">
            <a:avLst/>
          </a:prstGeom>
          <a:noFill/>
          <a:extLst>
            <a:ext uri="{909E8E84-426E-40DD-AFC4-6F175D3DCCD1}">
              <a14:hiddenFill xmlns:a14="http://schemas.microsoft.com/office/drawing/2010/main">
                <a:solidFill>
                  <a:srgbClr val="FFFFFF"/>
                </a:solidFill>
              </a14:hiddenFill>
            </a:ext>
          </a:extLst>
        </p:spPr>
      </p:pic>
      <p:pic>
        <p:nvPicPr>
          <p:cNvPr id="8203" name="Picture 11">
            <a:extLst>
              <a:ext uri="{FF2B5EF4-FFF2-40B4-BE49-F238E27FC236}">
                <a16:creationId xmlns:a16="http://schemas.microsoft.com/office/drawing/2014/main" id="{524AE6EC-6EF8-6514-89EB-F75340B50368}"/>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858000" y="4038600"/>
            <a:ext cx="952500" cy="800100"/>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a:extLst>
              <a:ext uri="{FF2B5EF4-FFF2-40B4-BE49-F238E27FC236}">
                <a16:creationId xmlns:a16="http://schemas.microsoft.com/office/drawing/2014/main" id="{1B181428-24CE-7073-B67C-0159F3D507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1066800"/>
            <a:ext cx="1371600" cy="1289050"/>
          </a:xfrm>
          <a:prstGeom prst="rect">
            <a:avLst/>
          </a:prstGeom>
          <a:noFill/>
          <a:extLst>
            <a:ext uri="{909E8E84-426E-40DD-AFC4-6F175D3DCCD1}">
              <a14:hiddenFill xmlns:a14="http://schemas.microsoft.com/office/drawing/2010/main">
                <a:solidFill>
                  <a:srgbClr val="FFFFFF"/>
                </a:solidFill>
              </a14:hiddenFill>
            </a:ext>
          </a:extLst>
        </p:spPr>
      </p:pic>
      <p:sp>
        <p:nvSpPr>
          <p:cNvPr id="8206" name="tower">
            <a:extLst>
              <a:ext uri="{FF2B5EF4-FFF2-40B4-BE49-F238E27FC236}">
                <a16:creationId xmlns:a16="http://schemas.microsoft.com/office/drawing/2014/main" id="{4ED5B8DB-ACC7-3775-BFE3-4BCDBA2179A5}"/>
              </a:ext>
            </a:extLst>
          </p:cNvPr>
          <p:cNvSpPr>
            <a:spLocks noEditPoints="1" noChangeArrowheads="1"/>
          </p:cNvSpPr>
          <p:nvPr/>
        </p:nvSpPr>
        <p:spPr bwMode="auto">
          <a:xfrm>
            <a:off x="6781800" y="1524000"/>
            <a:ext cx="685800" cy="97155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p>
        </p:txBody>
      </p:sp>
      <p:sp>
        <p:nvSpPr>
          <p:cNvPr id="8207" name="tower">
            <a:extLst>
              <a:ext uri="{FF2B5EF4-FFF2-40B4-BE49-F238E27FC236}">
                <a16:creationId xmlns:a16="http://schemas.microsoft.com/office/drawing/2014/main" id="{DB97783E-B0FD-5B43-8C88-6A76A73D85AF}"/>
              </a:ext>
            </a:extLst>
          </p:cNvPr>
          <p:cNvSpPr>
            <a:spLocks noEditPoints="1" noChangeArrowheads="1"/>
          </p:cNvSpPr>
          <p:nvPr/>
        </p:nvSpPr>
        <p:spPr bwMode="auto">
          <a:xfrm>
            <a:off x="7391400" y="1524000"/>
            <a:ext cx="685800" cy="97155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p>
        </p:txBody>
      </p:sp>
      <p:sp>
        <p:nvSpPr>
          <p:cNvPr id="8208" name="tower">
            <a:extLst>
              <a:ext uri="{FF2B5EF4-FFF2-40B4-BE49-F238E27FC236}">
                <a16:creationId xmlns:a16="http://schemas.microsoft.com/office/drawing/2014/main" id="{139731A3-172C-D057-26D5-C4EB64581D28}"/>
              </a:ext>
            </a:extLst>
          </p:cNvPr>
          <p:cNvSpPr>
            <a:spLocks noEditPoints="1" noChangeArrowheads="1"/>
          </p:cNvSpPr>
          <p:nvPr/>
        </p:nvSpPr>
        <p:spPr bwMode="auto">
          <a:xfrm>
            <a:off x="8001000" y="1524000"/>
            <a:ext cx="685800" cy="97155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p>
        </p:txBody>
      </p:sp>
      <p:sp>
        <p:nvSpPr>
          <p:cNvPr id="8209" name="Rectangle 17">
            <a:extLst>
              <a:ext uri="{FF2B5EF4-FFF2-40B4-BE49-F238E27FC236}">
                <a16:creationId xmlns:a16="http://schemas.microsoft.com/office/drawing/2014/main" id="{0B360E58-ECB9-DD6C-E1F4-5B696A43B816}"/>
              </a:ext>
            </a:extLst>
          </p:cNvPr>
          <p:cNvSpPr>
            <a:spLocks noChangeArrowheads="1"/>
          </p:cNvSpPr>
          <p:nvPr/>
        </p:nvSpPr>
        <p:spPr bwMode="auto">
          <a:xfrm>
            <a:off x="304800" y="838200"/>
            <a:ext cx="2438400" cy="1752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0" name="Rectangle 18">
            <a:extLst>
              <a:ext uri="{FF2B5EF4-FFF2-40B4-BE49-F238E27FC236}">
                <a16:creationId xmlns:a16="http://schemas.microsoft.com/office/drawing/2014/main" id="{2CF80DD7-5FE5-46D8-8C33-5906A1DE2728}"/>
              </a:ext>
            </a:extLst>
          </p:cNvPr>
          <p:cNvSpPr>
            <a:spLocks noChangeArrowheads="1"/>
          </p:cNvSpPr>
          <p:nvPr/>
        </p:nvSpPr>
        <p:spPr bwMode="auto">
          <a:xfrm>
            <a:off x="304800" y="3352800"/>
            <a:ext cx="2438400" cy="1752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1" name="Rectangle 19">
            <a:extLst>
              <a:ext uri="{FF2B5EF4-FFF2-40B4-BE49-F238E27FC236}">
                <a16:creationId xmlns:a16="http://schemas.microsoft.com/office/drawing/2014/main" id="{648B1045-0E71-5D03-E8C2-4AB37F60F669}"/>
              </a:ext>
            </a:extLst>
          </p:cNvPr>
          <p:cNvSpPr>
            <a:spLocks noChangeArrowheads="1"/>
          </p:cNvSpPr>
          <p:nvPr/>
        </p:nvSpPr>
        <p:spPr bwMode="auto">
          <a:xfrm>
            <a:off x="3276600" y="4038600"/>
            <a:ext cx="2438400" cy="1752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2" name="Rectangle 20">
            <a:extLst>
              <a:ext uri="{FF2B5EF4-FFF2-40B4-BE49-F238E27FC236}">
                <a16:creationId xmlns:a16="http://schemas.microsoft.com/office/drawing/2014/main" id="{6D9790D7-C7C4-F117-3D55-6762C6CD7C40}"/>
              </a:ext>
            </a:extLst>
          </p:cNvPr>
          <p:cNvSpPr>
            <a:spLocks noChangeArrowheads="1"/>
          </p:cNvSpPr>
          <p:nvPr/>
        </p:nvSpPr>
        <p:spPr bwMode="auto">
          <a:xfrm>
            <a:off x="6172200" y="3657600"/>
            <a:ext cx="2438400" cy="1752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3" name="Rectangle 21">
            <a:extLst>
              <a:ext uri="{FF2B5EF4-FFF2-40B4-BE49-F238E27FC236}">
                <a16:creationId xmlns:a16="http://schemas.microsoft.com/office/drawing/2014/main" id="{10419E64-A1F5-F486-BCC4-1222EC1D0862}"/>
              </a:ext>
            </a:extLst>
          </p:cNvPr>
          <p:cNvSpPr>
            <a:spLocks noChangeArrowheads="1"/>
          </p:cNvSpPr>
          <p:nvPr/>
        </p:nvSpPr>
        <p:spPr bwMode="auto">
          <a:xfrm>
            <a:off x="6400800" y="1066800"/>
            <a:ext cx="2438400" cy="1752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4" name="Line 22">
            <a:extLst>
              <a:ext uri="{FF2B5EF4-FFF2-40B4-BE49-F238E27FC236}">
                <a16:creationId xmlns:a16="http://schemas.microsoft.com/office/drawing/2014/main" id="{E5EA522F-4CFA-77DD-F536-B01BDA2D7A7A}"/>
              </a:ext>
            </a:extLst>
          </p:cNvPr>
          <p:cNvSpPr>
            <a:spLocks noChangeShapeType="1"/>
          </p:cNvSpPr>
          <p:nvPr/>
        </p:nvSpPr>
        <p:spPr bwMode="auto">
          <a:xfrm>
            <a:off x="2743200" y="1828800"/>
            <a:ext cx="1295400" cy="533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5" name="Line 23">
            <a:extLst>
              <a:ext uri="{FF2B5EF4-FFF2-40B4-BE49-F238E27FC236}">
                <a16:creationId xmlns:a16="http://schemas.microsoft.com/office/drawing/2014/main" id="{793DD67C-ABE6-EC63-A8A0-B3212F690A04}"/>
              </a:ext>
            </a:extLst>
          </p:cNvPr>
          <p:cNvSpPr>
            <a:spLocks noChangeShapeType="1"/>
          </p:cNvSpPr>
          <p:nvPr/>
        </p:nvSpPr>
        <p:spPr bwMode="auto">
          <a:xfrm flipV="1">
            <a:off x="2819400" y="2971800"/>
            <a:ext cx="114300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6" name="Line 24">
            <a:extLst>
              <a:ext uri="{FF2B5EF4-FFF2-40B4-BE49-F238E27FC236}">
                <a16:creationId xmlns:a16="http://schemas.microsoft.com/office/drawing/2014/main" id="{620F212C-EE0D-7CAF-4AEE-1EE3516B0B69}"/>
              </a:ext>
            </a:extLst>
          </p:cNvPr>
          <p:cNvSpPr>
            <a:spLocks noChangeShapeType="1"/>
          </p:cNvSpPr>
          <p:nvPr/>
        </p:nvSpPr>
        <p:spPr bwMode="auto">
          <a:xfrm flipV="1">
            <a:off x="3962400" y="3657600"/>
            <a:ext cx="457200" cy="3048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7" name="Line 25">
            <a:extLst>
              <a:ext uri="{FF2B5EF4-FFF2-40B4-BE49-F238E27FC236}">
                <a16:creationId xmlns:a16="http://schemas.microsoft.com/office/drawing/2014/main" id="{9D111CBB-4091-8159-337D-EEF2BDA9178E}"/>
              </a:ext>
            </a:extLst>
          </p:cNvPr>
          <p:cNvSpPr>
            <a:spLocks noChangeShapeType="1"/>
          </p:cNvSpPr>
          <p:nvPr/>
        </p:nvSpPr>
        <p:spPr bwMode="auto">
          <a:xfrm flipH="1" flipV="1">
            <a:off x="5715000" y="3200400"/>
            <a:ext cx="1066800" cy="3048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8" name="Line 26">
            <a:extLst>
              <a:ext uri="{FF2B5EF4-FFF2-40B4-BE49-F238E27FC236}">
                <a16:creationId xmlns:a16="http://schemas.microsoft.com/office/drawing/2014/main" id="{80B197EE-642F-258B-D835-86B5A97CEB3E}"/>
              </a:ext>
            </a:extLst>
          </p:cNvPr>
          <p:cNvSpPr>
            <a:spLocks noChangeShapeType="1"/>
          </p:cNvSpPr>
          <p:nvPr/>
        </p:nvSpPr>
        <p:spPr bwMode="auto">
          <a:xfrm flipH="1">
            <a:off x="5410200" y="1295400"/>
            <a:ext cx="83820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9" name="Text Box 27">
            <a:extLst>
              <a:ext uri="{FF2B5EF4-FFF2-40B4-BE49-F238E27FC236}">
                <a16:creationId xmlns:a16="http://schemas.microsoft.com/office/drawing/2014/main" id="{797F7449-B9DC-49F0-92DF-4358004445F6}"/>
              </a:ext>
            </a:extLst>
          </p:cNvPr>
          <p:cNvSpPr txBox="1">
            <a:spLocks noChangeArrowheads="1"/>
          </p:cNvSpPr>
          <p:nvPr/>
        </p:nvSpPr>
        <p:spPr bwMode="auto">
          <a:xfrm>
            <a:off x="381000" y="6019800"/>
            <a:ext cx="8520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a:t> Autonomous, globally distributed computers/clusters</a:t>
            </a:r>
          </a:p>
        </p:txBody>
      </p:sp>
      <p:pic>
        <p:nvPicPr>
          <p:cNvPr id="3" name="Picture 2" descr="A screenshot of a computer&#10;&#10;Description automatically generated">
            <a:extLst>
              <a:ext uri="{FF2B5EF4-FFF2-40B4-BE49-F238E27FC236}">
                <a16:creationId xmlns:a16="http://schemas.microsoft.com/office/drawing/2014/main" id="{45F80AB9-E344-547C-FBED-1B0FDFFA09B2}"/>
              </a:ext>
            </a:extLst>
          </p:cNvPr>
          <p:cNvPicPr>
            <a:picLocks noChangeAspect="1"/>
          </p:cNvPicPr>
          <p:nvPr/>
        </p:nvPicPr>
        <p:blipFill rotWithShape="1">
          <a:blip r:embed="rId7"/>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EB643A7-719B-0439-F472-86A8F16460C2}"/>
              </a:ext>
            </a:extLst>
          </p:cNvPr>
          <p:cNvSpPr>
            <a:spLocks noGrp="1"/>
          </p:cNvSpPr>
          <p:nvPr>
            <p:ph type="sldNum" sz="quarter" idx="12"/>
          </p:nvPr>
        </p:nvSpPr>
        <p:spPr/>
        <p:txBody>
          <a:bodyPr/>
          <a:lstStyle/>
          <a:p>
            <a:fld id="{5695ADB4-38CC-E345-835B-763F0248A38F}" type="slidenum">
              <a:rPr lang="en-US" altLang="en-US"/>
              <a:pPr/>
              <a:t>55</a:t>
            </a:fld>
            <a:endParaRPr lang="en-US" altLang="en-US"/>
          </a:p>
        </p:txBody>
      </p:sp>
      <p:sp>
        <p:nvSpPr>
          <p:cNvPr id="4098" name="Rectangle 2">
            <a:extLst>
              <a:ext uri="{FF2B5EF4-FFF2-40B4-BE49-F238E27FC236}">
                <a16:creationId xmlns:a16="http://schemas.microsoft.com/office/drawing/2014/main" id="{8ABE1B18-AD37-379A-4C7A-C3DE356CDBF2}"/>
              </a:ext>
            </a:extLst>
          </p:cNvPr>
          <p:cNvSpPr>
            <a:spLocks noGrp="1" noChangeArrowheads="1"/>
          </p:cNvSpPr>
          <p:nvPr>
            <p:ph type="title"/>
          </p:nvPr>
        </p:nvSpPr>
        <p:spPr>
          <a:xfrm>
            <a:off x="1749346" y="65478"/>
            <a:ext cx="7394654" cy="848922"/>
          </a:xfrm>
        </p:spPr>
        <p:style>
          <a:lnRef idx="1">
            <a:schemeClr val="accent2"/>
          </a:lnRef>
          <a:fillRef idx="2">
            <a:schemeClr val="accent2"/>
          </a:fillRef>
          <a:effectRef idx="1">
            <a:schemeClr val="accent2"/>
          </a:effectRef>
          <a:fontRef idx="minor">
            <a:schemeClr val="dk1"/>
          </a:fontRef>
        </p:style>
        <p:txBody>
          <a:bodyPr/>
          <a:lstStyle/>
          <a:p>
            <a:r>
              <a:rPr lang="en-US" altLang="en-US" dirty="0"/>
              <a:t>Why do we need Grids?</a:t>
            </a:r>
          </a:p>
        </p:txBody>
      </p:sp>
      <p:sp>
        <p:nvSpPr>
          <p:cNvPr id="4099" name="Rectangle 3">
            <a:extLst>
              <a:ext uri="{FF2B5EF4-FFF2-40B4-BE49-F238E27FC236}">
                <a16:creationId xmlns:a16="http://schemas.microsoft.com/office/drawing/2014/main" id="{82A0CC96-8F6E-1986-3D4D-0C52C97D76CF}"/>
              </a:ext>
            </a:extLst>
          </p:cNvPr>
          <p:cNvSpPr>
            <a:spLocks noGrp="1" noChangeArrowheads="1"/>
          </p:cNvSpPr>
          <p:nvPr>
            <p:ph type="body" idx="1"/>
          </p:nvPr>
        </p:nvSpPr>
        <p:spPr/>
        <p:txBody>
          <a:bodyPr/>
          <a:lstStyle/>
          <a:p>
            <a:r>
              <a:rPr lang="en-US" altLang="en-US"/>
              <a:t>Many large-scale problems cannot be solved by a single computer</a:t>
            </a:r>
          </a:p>
          <a:p>
            <a:r>
              <a:rPr lang="en-US" altLang="en-US"/>
              <a:t>Globally distributed data and resources</a:t>
            </a:r>
          </a:p>
        </p:txBody>
      </p:sp>
      <p:pic>
        <p:nvPicPr>
          <p:cNvPr id="3" name="Picture 2" descr="A screenshot of a computer&#10;&#10;Description automatically generated">
            <a:extLst>
              <a:ext uri="{FF2B5EF4-FFF2-40B4-BE49-F238E27FC236}">
                <a16:creationId xmlns:a16="http://schemas.microsoft.com/office/drawing/2014/main" id="{7A54D4CE-80F7-2A1D-F96B-FF6FF5199F4D}"/>
              </a:ext>
            </a:extLst>
          </p:cNvPr>
          <p:cNvPicPr>
            <a:picLocks noChangeAspect="1"/>
          </p:cNvPicPr>
          <p:nvPr/>
        </p:nvPicPr>
        <p:blipFill rotWithShape="1">
          <a:blip r:embed="rId2"/>
          <a:srcRect l="26091" t="36058" r="24385" b="26405"/>
          <a:stretch/>
        </p:blipFill>
        <p:spPr bwMode="auto">
          <a:xfrm>
            <a:off x="0" y="264415"/>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6B5D0FB-0A33-D9C2-ED2D-9E5E59CD1875}"/>
              </a:ext>
            </a:extLst>
          </p:cNvPr>
          <p:cNvSpPr>
            <a:spLocks noGrp="1"/>
          </p:cNvSpPr>
          <p:nvPr>
            <p:ph type="sldNum" sz="quarter" idx="12"/>
          </p:nvPr>
        </p:nvSpPr>
        <p:spPr/>
        <p:txBody>
          <a:bodyPr/>
          <a:lstStyle/>
          <a:p>
            <a:fld id="{65FDC930-8B6E-5641-92E4-39037BB538B3}" type="slidenum">
              <a:rPr lang="en-US" altLang="en-US"/>
              <a:pPr/>
              <a:t>56</a:t>
            </a:fld>
            <a:endParaRPr lang="en-US" altLang="en-US"/>
          </a:p>
        </p:txBody>
      </p:sp>
      <p:sp>
        <p:nvSpPr>
          <p:cNvPr id="54274" name="Rectangle 2">
            <a:extLst>
              <a:ext uri="{FF2B5EF4-FFF2-40B4-BE49-F238E27FC236}">
                <a16:creationId xmlns:a16="http://schemas.microsoft.com/office/drawing/2014/main" id="{E4BEA9BD-A01C-B56D-5003-8D174EB1595E}"/>
              </a:ext>
            </a:extLst>
          </p:cNvPr>
          <p:cNvSpPr>
            <a:spLocks noGrp="1" noChangeArrowheads="1"/>
          </p:cNvSpPr>
          <p:nvPr>
            <p:ph type="title"/>
          </p:nvPr>
        </p:nvSpPr>
        <p:spPr>
          <a:xfrm>
            <a:off x="1749346" y="274638"/>
            <a:ext cx="6937454" cy="628745"/>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sz="4000" dirty="0"/>
              <a:t>Background: Related technologies</a:t>
            </a:r>
          </a:p>
        </p:txBody>
      </p:sp>
      <p:sp>
        <p:nvSpPr>
          <p:cNvPr id="54275" name="Rectangle 3">
            <a:extLst>
              <a:ext uri="{FF2B5EF4-FFF2-40B4-BE49-F238E27FC236}">
                <a16:creationId xmlns:a16="http://schemas.microsoft.com/office/drawing/2014/main" id="{7C7DB7C4-E154-CD69-6C97-31AFA12EAAF1}"/>
              </a:ext>
            </a:extLst>
          </p:cNvPr>
          <p:cNvSpPr>
            <a:spLocks noGrp="1" noChangeArrowheads="1"/>
          </p:cNvSpPr>
          <p:nvPr>
            <p:ph type="body" idx="1"/>
          </p:nvPr>
        </p:nvSpPr>
        <p:spPr/>
        <p:txBody>
          <a:bodyPr/>
          <a:lstStyle/>
          <a:p>
            <a:r>
              <a:rPr lang="en-US" altLang="en-US"/>
              <a:t>Cluster computing</a:t>
            </a:r>
          </a:p>
          <a:p>
            <a:r>
              <a:rPr lang="en-US" altLang="en-US"/>
              <a:t>Peer-to-peer computing</a:t>
            </a:r>
          </a:p>
          <a:p>
            <a:r>
              <a:rPr lang="en-US" altLang="en-US"/>
              <a:t>Internet computing</a:t>
            </a:r>
          </a:p>
        </p:txBody>
      </p:sp>
      <p:pic>
        <p:nvPicPr>
          <p:cNvPr id="3" name="Picture 2" descr="A screenshot of a computer&#10;&#10;Description automatically generated">
            <a:extLst>
              <a:ext uri="{FF2B5EF4-FFF2-40B4-BE49-F238E27FC236}">
                <a16:creationId xmlns:a16="http://schemas.microsoft.com/office/drawing/2014/main" id="{CD119106-A9CF-E313-012E-1E695DF6CF4A}"/>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9E83E62-7BE3-F9DF-FADF-E635515ECABC}"/>
              </a:ext>
            </a:extLst>
          </p:cNvPr>
          <p:cNvSpPr>
            <a:spLocks noGrp="1"/>
          </p:cNvSpPr>
          <p:nvPr>
            <p:ph type="sldNum" sz="quarter" idx="12"/>
          </p:nvPr>
        </p:nvSpPr>
        <p:spPr/>
        <p:txBody>
          <a:bodyPr/>
          <a:lstStyle/>
          <a:p>
            <a:fld id="{B0944EFA-9F44-4644-85C0-369121C0CAEB}" type="slidenum">
              <a:rPr lang="en-US" altLang="en-US"/>
              <a:pPr/>
              <a:t>57</a:t>
            </a:fld>
            <a:endParaRPr lang="en-US" altLang="en-US"/>
          </a:p>
        </p:txBody>
      </p:sp>
      <p:sp>
        <p:nvSpPr>
          <p:cNvPr id="56322" name="Rectangle 2">
            <a:extLst>
              <a:ext uri="{FF2B5EF4-FFF2-40B4-BE49-F238E27FC236}">
                <a16:creationId xmlns:a16="http://schemas.microsoft.com/office/drawing/2014/main" id="{893710B6-327D-F1E7-BB22-3CD1A6152946}"/>
              </a:ext>
            </a:extLst>
          </p:cNvPr>
          <p:cNvSpPr>
            <a:spLocks noGrp="1" noChangeArrowheads="1"/>
          </p:cNvSpPr>
          <p:nvPr>
            <p:ph type="title"/>
          </p:nvPr>
        </p:nvSpPr>
        <p:spPr>
          <a:xfrm>
            <a:off x="1749346" y="274638"/>
            <a:ext cx="6937454" cy="617728"/>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Cluster computing</a:t>
            </a:r>
          </a:p>
        </p:txBody>
      </p:sp>
      <p:sp>
        <p:nvSpPr>
          <p:cNvPr id="56323" name="Rectangle 3">
            <a:extLst>
              <a:ext uri="{FF2B5EF4-FFF2-40B4-BE49-F238E27FC236}">
                <a16:creationId xmlns:a16="http://schemas.microsoft.com/office/drawing/2014/main" id="{AC647375-9EFB-85CB-7A7E-9F5FF80512AF}"/>
              </a:ext>
            </a:extLst>
          </p:cNvPr>
          <p:cNvSpPr>
            <a:spLocks noGrp="1" noChangeArrowheads="1"/>
          </p:cNvSpPr>
          <p:nvPr>
            <p:ph type="body" idx="1"/>
          </p:nvPr>
        </p:nvSpPr>
        <p:spPr/>
        <p:txBody>
          <a:bodyPr/>
          <a:lstStyle/>
          <a:p>
            <a:r>
              <a:rPr lang="en-US" altLang="en-US"/>
              <a:t>Idea: put some PCs together and get them to communicate</a:t>
            </a:r>
          </a:p>
          <a:p>
            <a:r>
              <a:rPr lang="en-US" altLang="en-US"/>
              <a:t>Cheaper to build than a mainframe supercomputer</a:t>
            </a:r>
          </a:p>
          <a:p>
            <a:r>
              <a:rPr lang="en-US" altLang="en-US"/>
              <a:t>Different sizes of clusters</a:t>
            </a:r>
          </a:p>
          <a:p>
            <a:r>
              <a:rPr lang="en-US" altLang="en-US"/>
              <a:t>Scalable – can grow a cluster by adding more PCs</a:t>
            </a:r>
          </a:p>
        </p:txBody>
      </p:sp>
      <p:pic>
        <p:nvPicPr>
          <p:cNvPr id="3" name="Picture 2" descr="A screenshot of a computer&#10;&#10;Description automatically generated">
            <a:extLst>
              <a:ext uri="{FF2B5EF4-FFF2-40B4-BE49-F238E27FC236}">
                <a16:creationId xmlns:a16="http://schemas.microsoft.com/office/drawing/2014/main" id="{F3A6C97C-0EEF-CF19-3CC8-243543EBF7BC}"/>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75A38D9-1BFE-9181-1E25-5149F46AF0E5}"/>
              </a:ext>
            </a:extLst>
          </p:cNvPr>
          <p:cNvSpPr>
            <a:spLocks noGrp="1"/>
          </p:cNvSpPr>
          <p:nvPr>
            <p:ph type="sldNum" sz="quarter" idx="12"/>
          </p:nvPr>
        </p:nvSpPr>
        <p:spPr/>
        <p:txBody>
          <a:bodyPr/>
          <a:lstStyle/>
          <a:p>
            <a:fld id="{AFFFA7E9-7737-5B4D-A630-80F532656143}" type="slidenum">
              <a:rPr lang="en-US" altLang="en-US"/>
              <a:pPr/>
              <a:t>58</a:t>
            </a:fld>
            <a:endParaRPr lang="en-US" altLang="en-US"/>
          </a:p>
        </p:txBody>
      </p:sp>
      <p:sp>
        <p:nvSpPr>
          <p:cNvPr id="61442" name="Rectangle 2">
            <a:extLst>
              <a:ext uri="{FF2B5EF4-FFF2-40B4-BE49-F238E27FC236}">
                <a16:creationId xmlns:a16="http://schemas.microsoft.com/office/drawing/2014/main" id="{DCFC659A-DA41-649E-B74E-306D14352861}"/>
              </a:ext>
            </a:extLst>
          </p:cNvPr>
          <p:cNvSpPr>
            <a:spLocks noGrp="1" noChangeArrowheads="1"/>
          </p:cNvSpPr>
          <p:nvPr>
            <p:ph type="title"/>
          </p:nvPr>
        </p:nvSpPr>
        <p:spPr>
          <a:xfrm>
            <a:off x="1749346" y="136525"/>
            <a:ext cx="6937455"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Cluster Architecture</a:t>
            </a:r>
          </a:p>
        </p:txBody>
      </p:sp>
      <p:pic>
        <p:nvPicPr>
          <p:cNvPr id="61444" name="Picture 4">
            <a:extLst>
              <a:ext uri="{FF2B5EF4-FFF2-40B4-BE49-F238E27FC236}">
                <a16:creationId xmlns:a16="http://schemas.microsoft.com/office/drawing/2014/main" id="{3E3F0766-825B-C537-B317-C8A69D053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443038"/>
            <a:ext cx="5700713" cy="49831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screenshot of a computer&#10;&#10;Description automatically generated">
            <a:extLst>
              <a:ext uri="{FF2B5EF4-FFF2-40B4-BE49-F238E27FC236}">
                <a16:creationId xmlns:a16="http://schemas.microsoft.com/office/drawing/2014/main" id="{CE7FECA8-22EB-22E4-36D8-23F39F86E958}"/>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C0AD160-71F0-E916-339A-3FB2D05062D6}"/>
              </a:ext>
            </a:extLst>
          </p:cNvPr>
          <p:cNvSpPr>
            <a:spLocks noGrp="1"/>
          </p:cNvSpPr>
          <p:nvPr>
            <p:ph type="sldNum" sz="quarter" idx="12"/>
          </p:nvPr>
        </p:nvSpPr>
        <p:spPr/>
        <p:txBody>
          <a:bodyPr/>
          <a:lstStyle/>
          <a:p>
            <a:fld id="{8CAB9406-7E3F-6145-B135-5109C8BD8AB6}" type="slidenum">
              <a:rPr lang="en-US" altLang="en-US"/>
              <a:pPr/>
              <a:t>59</a:t>
            </a:fld>
            <a:endParaRPr lang="en-US" altLang="en-US"/>
          </a:p>
        </p:txBody>
      </p:sp>
      <p:sp>
        <p:nvSpPr>
          <p:cNvPr id="57346" name="Rectangle 2">
            <a:extLst>
              <a:ext uri="{FF2B5EF4-FFF2-40B4-BE49-F238E27FC236}">
                <a16:creationId xmlns:a16="http://schemas.microsoft.com/office/drawing/2014/main" id="{7F4AA4D0-A2B6-DBB7-BA9F-A12A4445660A}"/>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Peer-to-Peer computing</a:t>
            </a:r>
          </a:p>
        </p:txBody>
      </p:sp>
      <p:sp>
        <p:nvSpPr>
          <p:cNvPr id="57347" name="Rectangle 3">
            <a:extLst>
              <a:ext uri="{FF2B5EF4-FFF2-40B4-BE49-F238E27FC236}">
                <a16:creationId xmlns:a16="http://schemas.microsoft.com/office/drawing/2014/main" id="{AA465FCD-08EB-7B88-0706-214357E0BEF9}"/>
              </a:ext>
            </a:extLst>
          </p:cNvPr>
          <p:cNvSpPr>
            <a:spLocks noGrp="1" noChangeArrowheads="1"/>
          </p:cNvSpPr>
          <p:nvPr>
            <p:ph type="body" idx="1"/>
          </p:nvPr>
        </p:nvSpPr>
        <p:spPr/>
        <p:txBody>
          <a:bodyPr/>
          <a:lstStyle/>
          <a:p>
            <a:r>
              <a:rPr lang="en-US" altLang="en-US"/>
              <a:t>Connect to other computers</a:t>
            </a:r>
          </a:p>
          <a:p>
            <a:r>
              <a:rPr lang="en-US" altLang="en-US"/>
              <a:t>Can access files from any computer on the network</a:t>
            </a:r>
          </a:p>
          <a:p>
            <a:r>
              <a:rPr lang="en-US" altLang="en-US"/>
              <a:t>Allows data sharing without going through central server</a:t>
            </a:r>
          </a:p>
          <a:p>
            <a:r>
              <a:rPr lang="en-US" altLang="en-US"/>
              <a:t>Decentralized approach also useful for Grid</a:t>
            </a:r>
          </a:p>
        </p:txBody>
      </p:sp>
      <p:pic>
        <p:nvPicPr>
          <p:cNvPr id="3" name="Picture 2" descr="A screenshot of a computer&#10;&#10;Description automatically generated">
            <a:extLst>
              <a:ext uri="{FF2B5EF4-FFF2-40B4-BE49-F238E27FC236}">
                <a16:creationId xmlns:a16="http://schemas.microsoft.com/office/drawing/2014/main" id="{33F38D54-7A86-E45F-42EF-A99CF3FCA518}"/>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B014CFE-514E-90A2-9B6E-0986C4A5C44D}"/>
              </a:ext>
            </a:extLst>
          </p:cNvPr>
          <p:cNvSpPr>
            <a:spLocks noGrp="1"/>
          </p:cNvSpPr>
          <p:nvPr>
            <p:ph type="sldNum" sz="quarter" idx="12"/>
          </p:nvPr>
        </p:nvSpPr>
        <p:spPr/>
        <p:txBody>
          <a:bodyPr/>
          <a:lstStyle/>
          <a:p>
            <a:fld id="{BD9A8980-E24E-4D4F-B36B-633BD65F0841}" type="slidenum">
              <a:rPr lang="en-US" altLang="en-US"/>
              <a:pPr/>
              <a:t>60</a:t>
            </a:fld>
            <a:endParaRPr lang="en-US" altLang="en-US"/>
          </a:p>
        </p:txBody>
      </p:sp>
      <p:sp>
        <p:nvSpPr>
          <p:cNvPr id="59396" name="Rectangle 4">
            <a:extLst>
              <a:ext uri="{FF2B5EF4-FFF2-40B4-BE49-F238E27FC236}">
                <a16:creationId xmlns:a16="http://schemas.microsoft.com/office/drawing/2014/main" id="{BD52D85A-F1CC-E35F-73DC-F1A1E89F96B3}"/>
              </a:ext>
            </a:extLst>
          </p:cNvPr>
          <p:cNvSpPr>
            <a:spLocks noGrp="1" noChangeArrowheads="1"/>
          </p:cNvSpPr>
          <p:nvPr>
            <p:ph type="title"/>
          </p:nvPr>
        </p:nvSpPr>
        <p:spPr>
          <a:xfrm>
            <a:off x="1749346" y="274638"/>
            <a:ext cx="6937454" cy="639762"/>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Peer to Peer architecture</a:t>
            </a:r>
          </a:p>
        </p:txBody>
      </p:sp>
      <p:pic>
        <p:nvPicPr>
          <p:cNvPr id="59397" name="Picture 5">
            <a:extLst>
              <a:ext uri="{FF2B5EF4-FFF2-40B4-BE49-F238E27FC236}">
                <a16:creationId xmlns:a16="http://schemas.microsoft.com/office/drawing/2014/main" id="{37FF92EF-8A9D-D644-0E04-329C59C2ED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5257800"/>
            <a:ext cx="1824038" cy="1120775"/>
          </a:xfrm>
          <a:prstGeom prst="rect">
            <a:avLst/>
          </a:prstGeom>
          <a:noFill/>
          <a:extLst>
            <a:ext uri="{909E8E84-426E-40DD-AFC4-6F175D3DCCD1}">
              <a14:hiddenFill xmlns:a14="http://schemas.microsoft.com/office/drawing/2010/main">
                <a:solidFill>
                  <a:srgbClr val="FFFFFF"/>
                </a:solidFill>
              </a14:hiddenFill>
            </a:ext>
          </a:extLst>
        </p:spPr>
      </p:pic>
      <p:pic>
        <p:nvPicPr>
          <p:cNvPr id="59398" name="Picture 6">
            <a:extLst>
              <a:ext uri="{FF2B5EF4-FFF2-40B4-BE49-F238E27FC236}">
                <a16:creationId xmlns:a16="http://schemas.microsoft.com/office/drawing/2014/main" id="{3B92749A-1FD2-D233-F4A5-B77DF6DF4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257800"/>
            <a:ext cx="1824038" cy="1120775"/>
          </a:xfrm>
          <a:prstGeom prst="rect">
            <a:avLst/>
          </a:prstGeom>
          <a:noFill/>
          <a:extLst>
            <a:ext uri="{909E8E84-426E-40DD-AFC4-6F175D3DCCD1}">
              <a14:hiddenFill xmlns:a14="http://schemas.microsoft.com/office/drawing/2010/main">
                <a:solidFill>
                  <a:srgbClr val="FFFFFF"/>
                </a:solidFill>
              </a14:hiddenFill>
            </a:ext>
          </a:extLst>
        </p:spPr>
      </p:pic>
      <p:pic>
        <p:nvPicPr>
          <p:cNvPr id="59399" name="Picture 7">
            <a:extLst>
              <a:ext uri="{FF2B5EF4-FFF2-40B4-BE49-F238E27FC236}">
                <a16:creationId xmlns:a16="http://schemas.microsoft.com/office/drawing/2014/main" id="{C01EFBA6-6221-D85B-AA50-0C53BF5FF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81200"/>
            <a:ext cx="1824038" cy="1120775"/>
          </a:xfrm>
          <a:prstGeom prst="rect">
            <a:avLst/>
          </a:prstGeom>
          <a:noFill/>
          <a:extLst>
            <a:ext uri="{909E8E84-426E-40DD-AFC4-6F175D3DCCD1}">
              <a14:hiddenFill xmlns:a14="http://schemas.microsoft.com/office/drawing/2010/main">
                <a:solidFill>
                  <a:srgbClr val="FFFFFF"/>
                </a:solidFill>
              </a14:hiddenFill>
            </a:ext>
          </a:extLst>
        </p:spPr>
      </p:pic>
      <p:pic>
        <p:nvPicPr>
          <p:cNvPr id="59400" name="Picture 8">
            <a:extLst>
              <a:ext uri="{FF2B5EF4-FFF2-40B4-BE49-F238E27FC236}">
                <a16:creationId xmlns:a16="http://schemas.microsoft.com/office/drawing/2014/main" id="{21E57842-51F1-851F-0EE3-275487764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438400"/>
            <a:ext cx="1824038" cy="1120775"/>
          </a:xfrm>
          <a:prstGeom prst="rect">
            <a:avLst/>
          </a:prstGeom>
          <a:noFill/>
          <a:extLst>
            <a:ext uri="{909E8E84-426E-40DD-AFC4-6F175D3DCCD1}">
              <a14:hiddenFill xmlns:a14="http://schemas.microsoft.com/office/drawing/2010/main">
                <a:solidFill>
                  <a:srgbClr val="FFFFFF"/>
                </a:solidFill>
              </a14:hiddenFill>
            </a:ext>
          </a:extLst>
        </p:spPr>
      </p:pic>
      <p:pic>
        <p:nvPicPr>
          <p:cNvPr id="59401" name="Picture 9">
            <a:extLst>
              <a:ext uri="{FF2B5EF4-FFF2-40B4-BE49-F238E27FC236}">
                <a16:creationId xmlns:a16="http://schemas.microsoft.com/office/drawing/2014/main" id="{8FFCEB90-DA03-B6F4-0349-2695E2E91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276600"/>
            <a:ext cx="1824038" cy="1120775"/>
          </a:xfrm>
          <a:prstGeom prst="rect">
            <a:avLst/>
          </a:prstGeom>
          <a:noFill/>
          <a:extLst>
            <a:ext uri="{909E8E84-426E-40DD-AFC4-6F175D3DCCD1}">
              <a14:hiddenFill xmlns:a14="http://schemas.microsoft.com/office/drawing/2010/main">
                <a:solidFill>
                  <a:srgbClr val="FFFFFF"/>
                </a:solidFill>
              </a14:hiddenFill>
            </a:ext>
          </a:extLst>
        </p:spPr>
      </p:pic>
      <p:sp>
        <p:nvSpPr>
          <p:cNvPr id="59402" name="Line 10">
            <a:extLst>
              <a:ext uri="{FF2B5EF4-FFF2-40B4-BE49-F238E27FC236}">
                <a16:creationId xmlns:a16="http://schemas.microsoft.com/office/drawing/2014/main" id="{6F20B958-7C2B-6B29-9A53-549808B7BBC7}"/>
              </a:ext>
            </a:extLst>
          </p:cNvPr>
          <p:cNvSpPr>
            <a:spLocks noChangeShapeType="1"/>
          </p:cNvSpPr>
          <p:nvPr/>
        </p:nvSpPr>
        <p:spPr bwMode="auto">
          <a:xfrm flipH="1" flipV="1">
            <a:off x="1676400" y="3200400"/>
            <a:ext cx="457200" cy="1905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3" name="Line 11">
            <a:extLst>
              <a:ext uri="{FF2B5EF4-FFF2-40B4-BE49-F238E27FC236}">
                <a16:creationId xmlns:a16="http://schemas.microsoft.com/office/drawing/2014/main" id="{C35BFBC1-D753-F5CF-F85C-BFAC5ECBB06A}"/>
              </a:ext>
            </a:extLst>
          </p:cNvPr>
          <p:cNvSpPr>
            <a:spLocks noChangeShapeType="1"/>
          </p:cNvSpPr>
          <p:nvPr/>
        </p:nvSpPr>
        <p:spPr bwMode="auto">
          <a:xfrm flipV="1">
            <a:off x="2971800" y="4419600"/>
            <a:ext cx="9906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4" name="Line 12">
            <a:extLst>
              <a:ext uri="{FF2B5EF4-FFF2-40B4-BE49-F238E27FC236}">
                <a16:creationId xmlns:a16="http://schemas.microsoft.com/office/drawing/2014/main" id="{A5719D44-9CA7-E752-D215-5F5E1E1C61BD}"/>
              </a:ext>
            </a:extLst>
          </p:cNvPr>
          <p:cNvSpPr>
            <a:spLocks noChangeShapeType="1"/>
          </p:cNvSpPr>
          <p:nvPr/>
        </p:nvSpPr>
        <p:spPr bwMode="auto">
          <a:xfrm flipH="1" flipV="1">
            <a:off x="2286000" y="2667000"/>
            <a:ext cx="3657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5" name="Line 13">
            <a:extLst>
              <a:ext uri="{FF2B5EF4-FFF2-40B4-BE49-F238E27FC236}">
                <a16:creationId xmlns:a16="http://schemas.microsoft.com/office/drawing/2014/main" id="{5DB9A5EE-CD00-833C-2DFA-46E2DA94C87D}"/>
              </a:ext>
            </a:extLst>
          </p:cNvPr>
          <p:cNvSpPr>
            <a:spLocks noChangeShapeType="1"/>
          </p:cNvSpPr>
          <p:nvPr/>
        </p:nvSpPr>
        <p:spPr bwMode="auto">
          <a:xfrm flipH="1" flipV="1">
            <a:off x="2209800" y="2971800"/>
            <a:ext cx="1066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6" name="Line 14">
            <a:extLst>
              <a:ext uri="{FF2B5EF4-FFF2-40B4-BE49-F238E27FC236}">
                <a16:creationId xmlns:a16="http://schemas.microsoft.com/office/drawing/2014/main" id="{53DBE888-8D8F-23BF-3409-87E91602E737}"/>
              </a:ext>
            </a:extLst>
          </p:cNvPr>
          <p:cNvSpPr>
            <a:spLocks noChangeShapeType="1"/>
          </p:cNvSpPr>
          <p:nvPr/>
        </p:nvSpPr>
        <p:spPr bwMode="auto">
          <a:xfrm flipV="1">
            <a:off x="5867400" y="3657600"/>
            <a:ext cx="83820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7" name="Line 15">
            <a:extLst>
              <a:ext uri="{FF2B5EF4-FFF2-40B4-BE49-F238E27FC236}">
                <a16:creationId xmlns:a16="http://schemas.microsoft.com/office/drawing/2014/main" id="{27FF422F-F602-FCF6-6667-1B8FA3306E25}"/>
              </a:ext>
            </a:extLst>
          </p:cNvPr>
          <p:cNvSpPr>
            <a:spLocks noChangeShapeType="1"/>
          </p:cNvSpPr>
          <p:nvPr/>
        </p:nvSpPr>
        <p:spPr bwMode="auto">
          <a:xfrm flipV="1">
            <a:off x="3048000" y="5943600"/>
            <a:ext cx="2209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 name="Picture 2" descr="A screenshot of a computer&#10;&#10;Description automatically generated">
            <a:extLst>
              <a:ext uri="{FF2B5EF4-FFF2-40B4-BE49-F238E27FC236}">
                <a16:creationId xmlns:a16="http://schemas.microsoft.com/office/drawing/2014/main" id="{5811D880-D707-2A7F-6F2D-75D46E55572D}"/>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F15AA9E-B5C6-0528-33B2-6B5F57F41343}"/>
              </a:ext>
            </a:extLst>
          </p:cNvPr>
          <p:cNvSpPr>
            <a:spLocks noGrp="1"/>
          </p:cNvSpPr>
          <p:nvPr>
            <p:ph type="sldNum" sz="quarter" idx="12"/>
          </p:nvPr>
        </p:nvSpPr>
        <p:spPr/>
        <p:txBody>
          <a:bodyPr/>
          <a:lstStyle/>
          <a:p>
            <a:fld id="{79635218-677E-7849-A9C7-AAA93358293B}" type="slidenum">
              <a:rPr lang="en-US" altLang="en-US"/>
              <a:pPr/>
              <a:t>61</a:t>
            </a:fld>
            <a:endParaRPr lang="en-US" altLang="en-US"/>
          </a:p>
        </p:txBody>
      </p:sp>
      <p:sp>
        <p:nvSpPr>
          <p:cNvPr id="58370" name="Rectangle 2">
            <a:extLst>
              <a:ext uri="{FF2B5EF4-FFF2-40B4-BE49-F238E27FC236}">
                <a16:creationId xmlns:a16="http://schemas.microsoft.com/office/drawing/2014/main" id="{AC7F60E8-A31B-EC92-C048-5666856387FC}"/>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Internet computing</a:t>
            </a:r>
          </a:p>
        </p:txBody>
      </p:sp>
      <p:sp>
        <p:nvSpPr>
          <p:cNvPr id="58371" name="Rectangle 3">
            <a:extLst>
              <a:ext uri="{FF2B5EF4-FFF2-40B4-BE49-F238E27FC236}">
                <a16:creationId xmlns:a16="http://schemas.microsoft.com/office/drawing/2014/main" id="{4B4941B6-D0D5-0CDB-547F-57C495D4E290}"/>
              </a:ext>
            </a:extLst>
          </p:cNvPr>
          <p:cNvSpPr>
            <a:spLocks noGrp="1" noChangeArrowheads="1"/>
          </p:cNvSpPr>
          <p:nvPr>
            <p:ph type="body" idx="1"/>
          </p:nvPr>
        </p:nvSpPr>
        <p:spPr>
          <a:xfrm>
            <a:off x="381000" y="1600200"/>
            <a:ext cx="8382000" cy="4800600"/>
          </a:xfrm>
        </p:spPr>
        <p:txBody>
          <a:bodyPr/>
          <a:lstStyle/>
          <a:p>
            <a:r>
              <a:rPr lang="en-US" altLang="en-US"/>
              <a:t>Idea: many idle PCs on the Internet</a:t>
            </a:r>
          </a:p>
          <a:p>
            <a:r>
              <a:rPr lang="en-US" altLang="en-US"/>
              <a:t>Can perform other computations while not being used</a:t>
            </a:r>
          </a:p>
          <a:p>
            <a:r>
              <a:rPr lang="en-US" altLang="en-US"/>
              <a:t>“Cycle scavenging” – rely on getting free time on other people’s computers</a:t>
            </a:r>
          </a:p>
          <a:p>
            <a:r>
              <a:rPr lang="en-US" altLang="en-US"/>
              <a:t>Example: SETI@home</a:t>
            </a:r>
          </a:p>
          <a:p>
            <a:r>
              <a:rPr lang="en-US" altLang="en-US"/>
              <a:t>What are advantages/disadvantages of cycle scavenging?</a:t>
            </a:r>
          </a:p>
        </p:txBody>
      </p:sp>
      <p:pic>
        <p:nvPicPr>
          <p:cNvPr id="3" name="Picture 2" descr="A screenshot of a computer&#10;&#10;Description automatically generated">
            <a:extLst>
              <a:ext uri="{FF2B5EF4-FFF2-40B4-BE49-F238E27FC236}">
                <a16:creationId xmlns:a16="http://schemas.microsoft.com/office/drawing/2014/main" id="{8D2B57A3-F6CD-EA85-ADA5-62FC07AE68A8}"/>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393A9BF-CB26-F5B8-2380-8374E08D3492}"/>
              </a:ext>
            </a:extLst>
          </p:cNvPr>
          <p:cNvSpPr>
            <a:spLocks noGrp="1"/>
          </p:cNvSpPr>
          <p:nvPr>
            <p:ph type="sldNum" sz="quarter" idx="12"/>
          </p:nvPr>
        </p:nvSpPr>
        <p:spPr/>
        <p:txBody>
          <a:bodyPr/>
          <a:lstStyle/>
          <a:p>
            <a:fld id="{2A3DF8CE-3632-BC4E-9AE4-83516A302698}" type="slidenum">
              <a:rPr lang="en-US" altLang="en-US"/>
              <a:pPr/>
              <a:t>62</a:t>
            </a:fld>
            <a:endParaRPr lang="en-US" altLang="en-US"/>
          </a:p>
        </p:txBody>
      </p:sp>
      <p:sp>
        <p:nvSpPr>
          <p:cNvPr id="5122" name="Rectangle 2">
            <a:extLst>
              <a:ext uri="{FF2B5EF4-FFF2-40B4-BE49-F238E27FC236}">
                <a16:creationId xmlns:a16="http://schemas.microsoft.com/office/drawing/2014/main" id="{A2AE4106-5C30-8646-A5BD-15A1CA5965DE}"/>
              </a:ext>
            </a:extLst>
          </p:cNvPr>
          <p:cNvSpPr>
            <a:spLocks noGrp="1" noChangeArrowheads="1"/>
          </p:cNvSpPr>
          <p:nvPr>
            <p:ph type="title"/>
          </p:nvPr>
        </p:nvSpPr>
        <p:spPr>
          <a:xfrm>
            <a:off x="1749346" y="274638"/>
            <a:ext cx="6937454" cy="617728"/>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Some Grid Applications</a:t>
            </a:r>
          </a:p>
        </p:txBody>
      </p:sp>
      <p:sp>
        <p:nvSpPr>
          <p:cNvPr id="5123" name="Rectangle 3">
            <a:extLst>
              <a:ext uri="{FF2B5EF4-FFF2-40B4-BE49-F238E27FC236}">
                <a16:creationId xmlns:a16="http://schemas.microsoft.com/office/drawing/2014/main" id="{A087B77A-B357-EB09-3FDE-584FF15DDC75}"/>
              </a:ext>
            </a:extLst>
          </p:cNvPr>
          <p:cNvSpPr>
            <a:spLocks noGrp="1" noChangeArrowheads="1"/>
          </p:cNvSpPr>
          <p:nvPr>
            <p:ph type="body" idx="1"/>
          </p:nvPr>
        </p:nvSpPr>
        <p:spPr/>
        <p:txBody>
          <a:bodyPr/>
          <a:lstStyle/>
          <a:p>
            <a:r>
              <a:rPr lang="en-US" altLang="en-US"/>
              <a:t>Distributed supercomputing</a:t>
            </a:r>
          </a:p>
          <a:p>
            <a:r>
              <a:rPr lang="en-US" altLang="en-US"/>
              <a:t>High-throughput computing</a:t>
            </a:r>
          </a:p>
          <a:p>
            <a:r>
              <a:rPr lang="en-US" altLang="en-US"/>
              <a:t>On-demand computing</a:t>
            </a:r>
          </a:p>
          <a:p>
            <a:r>
              <a:rPr lang="en-US" altLang="en-US"/>
              <a:t>Data-intensive computing</a:t>
            </a:r>
          </a:p>
          <a:p>
            <a:r>
              <a:rPr lang="en-US" altLang="en-US"/>
              <a:t>Collaborative computing</a:t>
            </a:r>
          </a:p>
        </p:txBody>
      </p:sp>
      <p:pic>
        <p:nvPicPr>
          <p:cNvPr id="3" name="Picture 2" descr="A screenshot of a computer&#10;&#10;Description automatically generated">
            <a:extLst>
              <a:ext uri="{FF2B5EF4-FFF2-40B4-BE49-F238E27FC236}">
                <a16:creationId xmlns:a16="http://schemas.microsoft.com/office/drawing/2014/main" id="{FDCAAFED-C387-ED13-5EAA-16EB6EE174C6}"/>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22B6062-5540-4F05-00B3-F38D4C1A3C5E}"/>
              </a:ext>
            </a:extLst>
          </p:cNvPr>
          <p:cNvSpPr>
            <a:spLocks noGrp="1"/>
          </p:cNvSpPr>
          <p:nvPr>
            <p:ph type="sldNum" sz="quarter" idx="12"/>
          </p:nvPr>
        </p:nvSpPr>
        <p:spPr/>
        <p:txBody>
          <a:bodyPr/>
          <a:lstStyle/>
          <a:p>
            <a:fld id="{81973B3C-D0AC-4B41-B746-9C152EB45EEF}" type="slidenum">
              <a:rPr lang="en-US" altLang="en-US"/>
              <a:pPr/>
              <a:t>63</a:t>
            </a:fld>
            <a:endParaRPr lang="en-US" altLang="en-US"/>
          </a:p>
        </p:txBody>
      </p:sp>
      <p:sp>
        <p:nvSpPr>
          <p:cNvPr id="13314" name="Rectangle 2">
            <a:extLst>
              <a:ext uri="{FF2B5EF4-FFF2-40B4-BE49-F238E27FC236}">
                <a16:creationId xmlns:a16="http://schemas.microsoft.com/office/drawing/2014/main" id="{E772F7C6-2E71-7F3C-69D3-DE3E662DCEB6}"/>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Distributed Supercomputing</a:t>
            </a:r>
          </a:p>
        </p:txBody>
      </p:sp>
      <p:sp>
        <p:nvSpPr>
          <p:cNvPr id="13315" name="Rectangle 3">
            <a:extLst>
              <a:ext uri="{FF2B5EF4-FFF2-40B4-BE49-F238E27FC236}">
                <a16:creationId xmlns:a16="http://schemas.microsoft.com/office/drawing/2014/main" id="{37D22904-28C5-FF45-92C5-E8E653F89C8B}"/>
              </a:ext>
            </a:extLst>
          </p:cNvPr>
          <p:cNvSpPr>
            <a:spLocks noGrp="1" noChangeArrowheads="1"/>
          </p:cNvSpPr>
          <p:nvPr>
            <p:ph type="body" idx="1"/>
          </p:nvPr>
        </p:nvSpPr>
        <p:spPr/>
        <p:txBody>
          <a:bodyPr/>
          <a:lstStyle/>
          <a:p>
            <a:r>
              <a:rPr lang="en-US" altLang="en-US" sz="2800"/>
              <a:t>Idea: aggregate computational resources to tackle problems that cannot be solved by a single system</a:t>
            </a:r>
          </a:p>
          <a:p>
            <a:r>
              <a:rPr lang="en-US" altLang="en-US" sz="2800"/>
              <a:t>Examples: climate modeling, computational chemistry</a:t>
            </a:r>
          </a:p>
          <a:p>
            <a:r>
              <a:rPr lang="en-US" altLang="en-US" sz="2800"/>
              <a:t>Challenges include:</a:t>
            </a:r>
          </a:p>
          <a:p>
            <a:pPr lvl="1"/>
            <a:r>
              <a:rPr lang="en-US" altLang="en-US" sz="2400"/>
              <a:t>Scheduling scarce and expensive resources</a:t>
            </a:r>
          </a:p>
          <a:p>
            <a:pPr lvl="1"/>
            <a:r>
              <a:rPr lang="en-US" altLang="en-US" sz="2400"/>
              <a:t>Scalability of protocols and algorithms</a:t>
            </a:r>
          </a:p>
          <a:p>
            <a:pPr lvl="1"/>
            <a:r>
              <a:rPr lang="en-US" altLang="en-US" sz="2400"/>
              <a:t>Maintaining high levels of performance across heterogeneous systems</a:t>
            </a:r>
          </a:p>
        </p:txBody>
      </p:sp>
      <p:pic>
        <p:nvPicPr>
          <p:cNvPr id="3" name="Picture 2" descr="A screenshot of a computer&#10;&#10;Description automatically generated">
            <a:extLst>
              <a:ext uri="{FF2B5EF4-FFF2-40B4-BE49-F238E27FC236}">
                <a16:creationId xmlns:a16="http://schemas.microsoft.com/office/drawing/2014/main" id="{47C1B25E-5836-7232-01CD-DFFCBAE2DE40}"/>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E482E00-7AC4-B53E-F582-FE98B300540D}"/>
              </a:ext>
            </a:extLst>
          </p:cNvPr>
          <p:cNvSpPr>
            <a:spLocks noGrp="1"/>
          </p:cNvSpPr>
          <p:nvPr>
            <p:ph type="sldNum" sz="quarter" idx="12"/>
          </p:nvPr>
        </p:nvSpPr>
        <p:spPr/>
        <p:txBody>
          <a:bodyPr/>
          <a:lstStyle/>
          <a:p>
            <a:fld id="{3BF1106E-112F-C644-8698-CEBB8B5F1A5C}" type="slidenum">
              <a:rPr lang="en-US" altLang="en-US"/>
              <a:pPr/>
              <a:t>64</a:t>
            </a:fld>
            <a:endParaRPr lang="en-US" altLang="en-US"/>
          </a:p>
        </p:txBody>
      </p:sp>
      <p:sp>
        <p:nvSpPr>
          <p:cNvPr id="14338" name="Rectangle 2">
            <a:extLst>
              <a:ext uri="{FF2B5EF4-FFF2-40B4-BE49-F238E27FC236}">
                <a16:creationId xmlns:a16="http://schemas.microsoft.com/office/drawing/2014/main" id="{94C7D218-21B0-BD11-9762-0FE75F3FB92E}"/>
              </a:ext>
            </a:extLst>
          </p:cNvPr>
          <p:cNvSpPr>
            <a:spLocks noGrp="1" noChangeArrowheads="1"/>
          </p:cNvSpPr>
          <p:nvPr>
            <p:ph type="title"/>
          </p:nvPr>
        </p:nvSpPr>
        <p:spPr>
          <a:xfrm>
            <a:off x="1749346" y="274638"/>
            <a:ext cx="69374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High-throughput computing</a:t>
            </a:r>
          </a:p>
        </p:txBody>
      </p:sp>
      <p:sp>
        <p:nvSpPr>
          <p:cNvPr id="14339" name="Rectangle 3">
            <a:extLst>
              <a:ext uri="{FF2B5EF4-FFF2-40B4-BE49-F238E27FC236}">
                <a16:creationId xmlns:a16="http://schemas.microsoft.com/office/drawing/2014/main" id="{696B74DF-6411-AA2A-A98D-383BC60890C6}"/>
              </a:ext>
            </a:extLst>
          </p:cNvPr>
          <p:cNvSpPr>
            <a:spLocks noGrp="1" noChangeArrowheads="1"/>
          </p:cNvSpPr>
          <p:nvPr>
            <p:ph type="body" idx="1"/>
          </p:nvPr>
        </p:nvSpPr>
        <p:spPr/>
        <p:txBody>
          <a:bodyPr/>
          <a:lstStyle/>
          <a:p>
            <a:r>
              <a:rPr lang="en-US" altLang="en-US"/>
              <a:t>Schedule large numbers of independent tasks</a:t>
            </a:r>
          </a:p>
          <a:p>
            <a:r>
              <a:rPr lang="en-US" altLang="en-US"/>
              <a:t>Goal: exploit unused CPU cycles (e.g., from idle workstations)</a:t>
            </a:r>
          </a:p>
          <a:p>
            <a:r>
              <a:rPr lang="en-US" altLang="en-US"/>
              <a:t>Unlike distributed computing, tasks loosely coupled</a:t>
            </a:r>
          </a:p>
          <a:p>
            <a:r>
              <a:rPr lang="en-US" altLang="en-US"/>
              <a:t>Examples: parameter studies, cryptographic problems</a:t>
            </a:r>
          </a:p>
          <a:p>
            <a:endParaRPr lang="en-US" altLang="en-US"/>
          </a:p>
        </p:txBody>
      </p:sp>
      <p:pic>
        <p:nvPicPr>
          <p:cNvPr id="3" name="Picture 2" descr="A screenshot of a computer&#10;&#10;Description automatically generated">
            <a:extLst>
              <a:ext uri="{FF2B5EF4-FFF2-40B4-BE49-F238E27FC236}">
                <a16:creationId xmlns:a16="http://schemas.microsoft.com/office/drawing/2014/main" id="{16E609D5-8535-D4B0-1546-6FB8E86A6A8A}"/>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69B6847-5DA9-27F7-80DC-D26F4CE0340A}"/>
              </a:ext>
            </a:extLst>
          </p:cNvPr>
          <p:cNvSpPr>
            <a:spLocks noGrp="1"/>
          </p:cNvSpPr>
          <p:nvPr>
            <p:ph type="sldNum" sz="quarter" idx="12"/>
          </p:nvPr>
        </p:nvSpPr>
        <p:spPr/>
        <p:txBody>
          <a:bodyPr/>
          <a:lstStyle/>
          <a:p>
            <a:fld id="{509D5702-C73B-6E48-BB4C-C23A84058E2F}" type="slidenum">
              <a:rPr lang="en-US" altLang="en-US"/>
              <a:pPr/>
              <a:t>65</a:t>
            </a:fld>
            <a:endParaRPr lang="en-US" altLang="en-US"/>
          </a:p>
        </p:txBody>
      </p:sp>
      <p:sp>
        <p:nvSpPr>
          <p:cNvPr id="16386" name="Rectangle 2">
            <a:extLst>
              <a:ext uri="{FF2B5EF4-FFF2-40B4-BE49-F238E27FC236}">
                <a16:creationId xmlns:a16="http://schemas.microsoft.com/office/drawing/2014/main" id="{A7C7A5DA-1472-D6C7-40C6-56B77671E1E1}"/>
              </a:ext>
            </a:extLst>
          </p:cNvPr>
          <p:cNvSpPr>
            <a:spLocks noGrp="1" noChangeArrowheads="1"/>
          </p:cNvSpPr>
          <p:nvPr>
            <p:ph type="title"/>
          </p:nvPr>
        </p:nvSpPr>
        <p:spPr>
          <a:xfrm>
            <a:off x="1749346" y="274638"/>
            <a:ext cx="6937454" cy="639762"/>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On-demand computing</a:t>
            </a:r>
          </a:p>
        </p:txBody>
      </p:sp>
      <p:sp>
        <p:nvSpPr>
          <p:cNvPr id="16387" name="Rectangle 3">
            <a:extLst>
              <a:ext uri="{FF2B5EF4-FFF2-40B4-BE49-F238E27FC236}">
                <a16:creationId xmlns:a16="http://schemas.microsoft.com/office/drawing/2014/main" id="{F88DEAED-4141-1431-DBE5-05EBE8A67DCB}"/>
              </a:ext>
            </a:extLst>
          </p:cNvPr>
          <p:cNvSpPr>
            <a:spLocks noGrp="1" noChangeArrowheads="1"/>
          </p:cNvSpPr>
          <p:nvPr>
            <p:ph type="body" idx="1"/>
          </p:nvPr>
        </p:nvSpPr>
        <p:spPr/>
        <p:txBody>
          <a:bodyPr/>
          <a:lstStyle/>
          <a:p>
            <a:r>
              <a:rPr lang="en-US" altLang="en-US"/>
              <a:t>Use Grid capabilities to meet short-term requirements for resources that cannot conveniently be located locally</a:t>
            </a:r>
          </a:p>
          <a:p>
            <a:r>
              <a:rPr lang="en-US" altLang="en-US"/>
              <a:t>Unlike distributed computing, driven by cost-performance concerns rather than absolute performance</a:t>
            </a:r>
          </a:p>
          <a:p>
            <a:r>
              <a:rPr lang="en-US" altLang="en-US"/>
              <a:t>Dispatch expensive or specialized computations to remote servers</a:t>
            </a:r>
          </a:p>
        </p:txBody>
      </p:sp>
      <p:pic>
        <p:nvPicPr>
          <p:cNvPr id="3" name="Picture 2" descr="A screenshot of a computer&#10;&#10;Description automatically generated">
            <a:extLst>
              <a:ext uri="{FF2B5EF4-FFF2-40B4-BE49-F238E27FC236}">
                <a16:creationId xmlns:a16="http://schemas.microsoft.com/office/drawing/2014/main" id="{B5D68034-9E82-B492-02CC-DD9F8B6CE949}"/>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7275B94-CFD8-F372-2BC6-77291856716B}"/>
              </a:ext>
            </a:extLst>
          </p:cNvPr>
          <p:cNvSpPr>
            <a:spLocks noGrp="1"/>
          </p:cNvSpPr>
          <p:nvPr>
            <p:ph type="sldNum" sz="quarter" idx="12"/>
          </p:nvPr>
        </p:nvSpPr>
        <p:spPr/>
        <p:txBody>
          <a:bodyPr/>
          <a:lstStyle/>
          <a:p>
            <a:fld id="{4CD60296-DC89-614D-B057-5696EA4B024A}" type="slidenum">
              <a:rPr lang="en-US" altLang="en-US"/>
              <a:pPr/>
              <a:t>66</a:t>
            </a:fld>
            <a:endParaRPr lang="en-US" altLang="en-US"/>
          </a:p>
        </p:txBody>
      </p:sp>
      <p:sp>
        <p:nvSpPr>
          <p:cNvPr id="17410" name="Rectangle 2">
            <a:extLst>
              <a:ext uri="{FF2B5EF4-FFF2-40B4-BE49-F238E27FC236}">
                <a16:creationId xmlns:a16="http://schemas.microsoft.com/office/drawing/2014/main" id="{BC40564C-13D4-DD10-68B0-BC1BCB6954F4}"/>
              </a:ext>
            </a:extLst>
          </p:cNvPr>
          <p:cNvSpPr>
            <a:spLocks noGrp="1" noChangeArrowheads="1"/>
          </p:cNvSpPr>
          <p:nvPr>
            <p:ph type="title"/>
          </p:nvPr>
        </p:nvSpPr>
        <p:spPr>
          <a:xfrm>
            <a:off x="1749346" y="274638"/>
            <a:ext cx="69374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Data-intensive computing</a:t>
            </a:r>
          </a:p>
        </p:txBody>
      </p:sp>
      <p:sp>
        <p:nvSpPr>
          <p:cNvPr id="17411" name="Rectangle 3">
            <a:extLst>
              <a:ext uri="{FF2B5EF4-FFF2-40B4-BE49-F238E27FC236}">
                <a16:creationId xmlns:a16="http://schemas.microsoft.com/office/drawing/2014/main" id="{7D172B56-45B6-1ECE-7DE4-140E17AF176E}"/>
              </a:ext>
            </a:extLst>
          </p:cNvPr>
          <p:cNvSpPr>
            <a:spLocks noGrp="1" noChangeArrowheads="1"/>
          </p:cNvSpPr>
          <p:nvPr>
            <p:ph type="body" idx="1"/>
          </p:nvPr>
        </p:nvSpPr>
        <p:spPr>
          <a:xfrm>
            <a:off x="457200" y="1600200"/>
            <a:ext cx="8382000" cy="5257800"/>
          </a:xfrm>
        </p:spPr>
        <p:txBody>
          <a:bodyPr/>
          <a:lstStyle/>
          <a:p>
            <a:r>
              <a:rPr lang="en-US" altLang="en-US" dirty="0"/>
              <a:t>Synthesize data in geographically distributed repositories</a:t>
            </a:r>
          </a:p>
          <a:p>
            <a:r>
              <a:rPr lang="en-US" altLang="en-US" dirty="0"/>
              <a:t>Synthesis may be computationally and communication intensive</a:t>
            </a:r>
          </a:p>
          <a:p>
            <a:r>
              <a:rPr lang="en-US" altLang="en-US" dirty="0"/>
              <a:t>Examples:</a:t>
            </a:r>
          </a:p>
          <a:p>
            <a:pPr lvl="1"/>
            <a:r>
              <a:rPr lang="en-US" altLang="en-US" dirty="0"/>
              <a:t>High energy physics generate terabytes of distributed data, need complex queries to detect “interesting” events</a:t>
            </a:r>
          </a:p>
          <a:p>
            <a:pPr lvl="1"/>
            <a:r>
              <a:rPr lang="en-US" altLang="en-US" dirty="0"/>
              <a:t>Distributed analysis of Sloan Digital Sky Survey data</a:t>
            </a:r>
          </a:p>
        </p:txBody>
      </p:sp>
      <p:pic>
        <p:nvPicPr>
          <p:cNvPr id="3" name="Picture 2" descr="A screenshot of a computer&#10;&#10;Description automatically generated">
            <a:extLst>
              <a:ext uri="{FF2B5EF4-FFF2-40B4-BE49-F238E27FC236}">
                <a16:creationId xmlns:a16="http://schemas.microsoft.com/office/drawing/2014/main" id="{6C3FBA1A-A236-04B1-5331-3058EE180199}"/>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5238BD7-52A7-E236-F470-43C8DDF1F5C4}"/>
              </a:ext>
            </a:extLst>
          </p:cNvPr>
          <p:cNvSpPr>
            <a:spLocks noGrp="1"/>
          </p:cNvSpPr>
          <p:nvPr>
            <p:ph type="sldNum" sz="quarter" idx="12"/>
          </p:nvPr>
        </p:nvSpPr>
        <p:spPr/>
        <p:txBody>
          <a:bodyPr/>
          <a:lstStyle/>
          <a:p>
            <a:fld id="{3CE4DEC8-5F7F-C840-A046-A771E6882850}" type="slidenum">
              <a:rPr lang="en-US" altLang="en-US"/>
              <a:pPr/>
              <a:t>67</a:t>
            </a:fld>
            <a:endParaRPr lang="en-US" altLang="en-US"/>
          </a:p>
        </p:txBody>
      </p:sp>
      <p:sp>
        <p:nvSpPr>
          <p:cNvPr id="18434" name="Rectangle 2">
            <a:extLst>
              <a:ext uri="{FF2B5EF4-FFF2-40B4-BE49-F238E27FC236}">
                <a16:creationId xmlns:a16="http://schemas.microsoft.com/office/drawing/2014/main" id="{4035259A-07A6-6BE7-8D46-7944B99B02CC}"/>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Collaborative computing</a:t>
            </a:r>
          </a:p>
        </p:txBody>
      </p:sp>
      <p:sp>
        <p:nvSpPr>
          <p:cNvPr id="18435" name="Rectangle 3">
            <a:extLst>
              <a:ext uri="{FF2B5EF4-FFF2-40B4-BE49-F238E27FC236}">
                <a16:creationId xmlns:a16="http://schemas.microsoft.com/office/drawing/2014/main" id="{1CC51D0A-785D-51FE-9F50-A3490FF1B03E}"/>
              </a:ext>
            </a:extLst>
          </p:cNvPr>
          <p:cNvSpPr>
            <a:spLocks noGrp="1" noChangeArrowheads="1"/>
          </p:cNvSpPr>
          <p:nvPr>
            <p:ph type="body" idx="1"/>
          </p:nvPr>
        </p:nvSpPr>
        <p:spPr/>
        <p:txBody>
          <a:bodyPr/>
          <a:lstStyle/>
          <a:p>
            <a:r>
              <a:rPr lang="en-US" altLang="en-US"/>
              <a:t>Enable shared use of data archives and simulations</a:t>
            </a:r>
          </a:p>
          <a:p>
            <a:r>
              <a:rPr lang="en-US" altLang="en-US"/>
              <a:t>Examples:</a:t>
            </a:r>
          </a:p>
          <a:p>
            <a:pPr lvl="1"/>
            <a:r>
              <a:rPr lang="en-US" altLang="en-US"/>
              <a:t>Collaborative exploration of large geophysical data sets</a:t>
            </a:r>
          </a:p>
          <a:p>
            <a:r>
              <a:rPr lang="en-US" altLang="en-US"/>
              <a:t>Challenges:</a:t>
            </a:r>
          </a:p>
          <a:p>
            <a:pPr lvl="1"/>
            <a:r>
              <a:rPr lang="en-US" altLang="en-US"/>
              <a:t>Real-time demands of interactive applications</a:t>
            </a:r>
          </a:p>
          <a:p>
            <a:pPr lvl="1"/>
            <a:r>
              <a:rPr lang="en-US" altLang="en-US"/>
              <a:t>Rich variety of interactions</a:t>
            </a:r>
          </a:p>
        </p:txBody>
      </p:sp>
      <p:pic>
        <p:nvPicPr>
          <p:cNvPr id="3" name="Picture 2" descr="A screenshot of a computer&#10;&#10;Description automatically generated">
            <a:extLst>
              <a:ext uri="{FF2B5EF4-FFF2-40B4-BE49-F238E27FC236}">
                <a16:creationId xmlns:a16="http://schemas.microsoft.com/office/drawing/2014/main" id="{9272F057-AE6D-8991-F2D5-FEADAAB0CA33}"/>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C6E5128-5546-2A93-B983-ADAEEF258FAD}"/>
              </a:ext>
            </a:extLst>
          </p:cNvPr>
          <p:cNvSpPr>
            <a:spLocks noGrp="1"/>
          </p:cNvSpPr>
          <p:nvPr>
            <p:ph type="sldNum" sz="quarter" idx="12"/>
          </p:nvPr>
        </p:nvSpPr>
        <p:spPr/>
        <p:txBody>
          <a:bodyPr/>
          <a:lstStyle/>
          <a:p>
            <a:fld id="{F0A4F066-62E5-0F45-8BCE-0DDEB4A5E33F}" type="slidenum">
              <a:rPr lang="en-US" altLang="en-US"/>
              <a:pPr/>
              <a:t>68</a:t>
            </a:fld>
            <a:endParaRPr lang="en-US" altLang="en-US"/>
          </a:p>
        </p:txBody>
      </p:sp>
      <p:sp>
        <p:nvSpPr>
          <p:cNvPr id="32770" name="Rectangle 2">
            <a:extLst>
              <a:ext uri="{FF2B5EF4-FFF2-40B4-BE49-F238E27FC236}">
                <a16:creationId xmlns:a16="http://schemas.microsoft.com/office/drawing/2014/main" id="{6BB2FEDA-05A3-2488-CE8B-72CE9B7A07FF}"/>
              </a:ext>
            </a:extLst>
          </p:cNvPr>
          <p:cNvSpPr>
            <a:spLocks noGrp="1" noChangeArrowheads="1"/>
          </p:cNvSpPr>
          <p:nvPr>
            <p:ph type="title"/>
          </p:nvPr>
        </p:nvSpPr>
        <p:spPr>
          <a:xfrm>
            <a:off x="1905918" y="274638"/>
            <a:ext cx="6780882"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Grid Communities</a:t>
            </a:r>
          </a:p>
        </p:txBody>
      </p:sp>
      <p:sp>
        <p:nvSpPr>
          <p:cNvPr id="32771" name="Rectangle 3">
            <a:extLst>
              <a:ext uri="{FF2B5EF4-FFF2-40B4-BE49-F238E27FC236}">
                <a16:creationId xmlns:a16="http://schemas.microsoft.com/office/drawing/2014/main" id="{901A761C-7F44-2457-C138-23D73B6D6ABC}"/>
              </a:ext>
            </a:extLst>
          </p:cNvPr>
          <p:cNvSpPr>
            <a:spLocks noGrp="1" noChangeArrowheads="1"/>
          </p:cNvSpPr>
          <p:nvPr>
            <p:ph type="body" idx="1"/>
          </p:nvPr>
        </p:nvSpPr>
        <p:spPr>
          <a:xfrm>
            <a:off x="304800" y="1371600"/>
            <a:ext cx="8534400" cy="5486400"/>
          </a:xfrm>
        </p:spPr>
        <p:txBody>
          <a:bodyPr/>
          <a:lstStyle/>
          <a:p>
            <a:r>
              <a:rPr lang="en-US" altLang="en-US"/>
              <a:t>Who will use Grids?</a:t>
            </a:r>
          </a:p>
          <a:p>
            <a:r>
              <a:rPr lang="en-US" altLang="en-US"/>
              <a:t>Broad view</a:t>
            </a:r>
          </a:p>
          <a:p>
            <a:pPr lvl="1"/>
            <a:r>
              <a:rPr lang="en-US" altLang="en-US"/>
              <a:t>Benefits of sharing outweigh costs</a:t>
            </a:r>
          </a:p>
          <a:p>
            <a:pPr lvl="1"/>
            <a:r>
              <a:rPr lang="en-US" altLang="en-US"/>
              <a:t>Universal, like a power Grid</a:t>
            </a:r>
          </a:p>
          <a:p>
            <a:r>
              <a:rPr lang="en-US" altLang="en-US"/>
              <a:t>Narrow view</a:t>
            </a:r>
          </a:p>
          <a:p>
            <a:pPr lvl="1"/>
            <a:r>
              <a:rPr lang="en-US" altLang="en-US"/>
              <a:t>Cost of sharing across institutional boundaries is too high</a:t>
            </a:r>
          </a:p>
          <a:p>
            <a:pPr lvl="1"/>
            <a:r>
              <a:rPr lang="en-US" altLang="en-US"/>
              <a:t>Resources only shared when incentive to do so</a:t>
            </a:r>
          </a:p>
          <a:p>
            <a:pPr lvl="1"/>
            <a:r>
              <a:rPr lang="en-US" altLang="en-US"/>
              <a:t>Grid will be specialized to support specific communities with specific goals</a:t>
            </a:r>
          </a:p>
        </p:txBody>
      </p:sp>
      <p:pic>
        <p:nvPicPr>
          <p:cNvPr id="3" name="Picture 2" descr="A screenshot of a computer&#10;&#10;Description automatically generated">
            <a:extLst>
              <a:ext uri="{FF2B5EF4-FFF2-40B4-BE49-F238E27FC236}">
                <a16:creationId xmlns:a16="http://schemas.microsoft.com/office/drawing/2014/main" id="{1563CF9B-3910-AC60-C798-C74FEC3C69DE}"/>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F734342-1CE2-5EB5-CB08-C3AD961E4B72}"/>
              </a:ext>
            </a:extLst>
          </p:cNvPr>
          <p:cNvSpPr>
            <a:spLocks noGrp="1"/>
          </p:cNvSpPr>
          <p:nvPr>
            <p:ph type="sldNum" sz="quarter" idx="12"/>
          </p:nvPr>
        </p:nvSpPr>
        <p:spPr/>
        <p:txBody>
          <a:bodyPr/>
          <a:lstStyle/>
          <a:p>
            <a:fld id="{089171C5-0349-534D-8B85-4A706B320C69}" type="slidenum">
              <a:rPr lang="en-US" altLang="en-US"/>
              <a:pPr/>
              <a:t>69</a:t>
            </a:fld>
            <a:endParaRPr lang="en-US" altLang="en-US"/>
          </a:p>
        </p:txBody>
      </p:sp>
      <p:sp>
        <p:nvSpPr>
          <p:cNvPr id="31746" name="Rectangle 2">
            <a:extLst>
              <a:ext uri="{FF2B5EF4-FFF2-40B4-BE49-F238E27FC236}">
                <a16:creationId xmlns:a16="http://schemas.microsoft.com/office/drawing/2014/main" id="{7FFA62C4-554E-3ED5-9AB3-B8B8A49FB40E}"/>
              </a:ext>
            </a:extLst>
          </p:cNvPr>
          <p:cNvSpPr>
            <a:spLocks noGrp="1" noChangeArrowheads="1"/>
          </p:cNvSpPr>
          <p:nvPr>
            <p:ph type="title"/>
          </p:nvPr>
        </p:nvSpPr>
        <p:spPr>
          <a:xfrm>
            <a:off x="1749346" y="274638"/>
            <a:ext cx="6937454"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Grid Users</a:t>
            </a:r>
          </a:p>
        </p:txBody>
      </p:sp>
      <p:sp>
        <p:nvSpPr>
          <p:cNvPr id="31747" name="Rectangle 3">
            <a:extLst>
              <a:ext uri="{FF2B5EF4-FFF2-40B4-BE49-F238E27FC236}">
                <a16:creationId xmlns:a16="http://schemas.microsoft.com/office/drawing/2014/main" id="{630AF279-FCB1-76B9-E560-12159F42B35B}"/>
              </a:ext>
            </a:extLst>
          </p:cNvPr>
          <p:cNvSpPr>
            <a:spLocks noGrp="1" noChangeArrowheads="1"/>
          </p:cNvSpPr>
          <p:nvPr>
            <p:ph type="body" idx="1"/>
          </p:nvPr>
        </p:nvSpPr>
        <p:spPr/>
        <p:txBody>
          <a:bodyPr/>
          <a:lstStyle/>
          <a:p>
            <a:r>
              <a:rPr lang="en-US" altLang="en-US"/>
              <a:t>Many levels of users</a:t>
            </a:r>
          </a:p>
          <a:p>
            <a:pPr lvl="1"/>
            <a:r>
              <a:rPr lang="en-US" altLang="en-US"/>
              <a:t>Grid developers</a:t>
            </a:r>
          </a:p>
          <a:p>
            <a:pPr lvl="1"/>
            <a:r>
              <a:rPr lang="en-US" altLang="en-US"/>
              <a:t>Tool developers</a:t>
            </a:r>
          </a:p>
          <a:p>
            <a:pPr lvl="1"/>
            <a:r>
              <a:rPr lang="en-US" altLang="en-US"/>
              <a:t>Application developers</a:t>
            </a:r>
          </a:p>
          <a:p>
            <a:pPr lvl="1"/>
            <a:r>
              <a:rPr lang="en-US" altLang="en-US"/>
              <a:t>End users</a:t>
            </a:r>
          </a:p>
          <a:p>
            <a:pPr lvl="1"/>
            <a:r>
              <a:rPr lang="en-US" altLang="en-US"/>
              <a:t>System administrators</a:t>
            </a:r>
          </a:p>
        </p:txBody>
      </p:sp>
      <p:pic>
        <p:nvPicPr>
          <p:cNvPr id="3" name="Picture 2" descr="A screenshot of a computer&#10;&#10;Description automatically generated">
            <a:extLst>
              <a:ext uri="{FF2B5EF4-FFF2-40B4-BE49-F238E27FC236}">
                <a16:creationId xmlns:a16="http://schemas.microsoft.com/office/drawing/2014/main" id="{9ADA0370-A523-5E7A-744C-207FBAC70A8E}"/>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68EE03B-A025-2DB3-F922-CA479678E883}"/>
              </a:ext>
            </a:extLst>
          </p:cNvPr>
          <p:cNvSpPr>
            <a:spLocks noGrp="1"/>
          </p:cNvSpPr>
          <p:nvPr>
            <p:ph type="sldNum" sz="quarter" idx="12"/>
          </p:nvPr>
        </p:nvSpPr>
        <p:spPr/>
        <p:txBody>
          <a:bodyPr/>
          <a:lstStyle/>
          <a:p>
            <a:fld id="{FB21C4FC-4B85-BC4C-A49C-D3386B5E46F5}" type="slidenum">
              <a:rPr lang="en-US" altLang="en-US"/>
              <a:pPr/>
              <a:t>70</a:t>
            </a:fld>
            <a:endParaRPr lang="en-US" altLang="en-US"/>
          </a:p>
        </p:txBody>
      </p:sp>
      <p:sp>
        <p:nvSpPr>
          <p:cNvPr id="35842" name="Rectangle 2">
            <a:extLst>
              <a:ext uri="{FF2B5EF4-FFF2-40B4-BE49-F238E27FC236}">
                <a16:creationId xmlns:a16="http://schemas.microsoft.com/office/drawing/2014/main" id="{99AA4BC0-CA6F-1F93-9E6A-DBF7ACB00BDB}"/>
              </a:ext>
            </a:extLst>
          </p:cNvPr>
          <p:cNvSpPr>
            <a:spLocks noGrp="1" noChangeArrowheads="1"/>
          </p:cNvSpPr>
          <p:nvPr>
            <p:ph type="title"/>
          </p:nvPr>
        </p:nvSpPr>
        <p:spPr>
          <a:xfrm>
            <a:off x="1850834" y="274638"/>
            <a:ext cx="6835966" cy="7238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altLang="en-US" dirty="0"/>
              <a:t>Some Grid challenges</a:t>
            </a:r>
          </a:p>
        </p:txBody>
      </p:sp>
      <p:sp>
        <p:nvSpPr>
          <p:cNvPr id="35843" name="Rectangle 3">
            <a:extLst>
              <a:ext uri="{FF2B5EF4-FFF2-40B4-BE49-F238E27FC236}">
                <a16:creationId xmlns:a16="http://schemas.microsoft.com/office/drawing/2014/main" id="{8E5B4713-1E0D-F7D4-5814-CD97E16F56C7}"/>
              </a:ext>
            </a:extLst>
          </p:cNvPr>
          <p:cNvSpPr>
            <a:spLocks noGrp="1" noChangeArrowheads="1"/>
          </p:cNvSpPr>
          <p:nvPr>
            <p:ph type="body" idx="1"/>
          </p:nvPr>
        </p:nvSpPr>
        <p:spPr/>
        <p:txBody>
          <a:bodyPr/>
          <a:lstStyle/>
          <a:p>
            <a:r>
              <a:rPr lang="en-US" altLang="en-US"/>
              <a:t>Data movement</a:t>
            </a:r>
          </a:p>
          <a:p>
            <a:r>
              <a:rPr lang="en-US" altLang="en-US"/>
              <a:t>Data replication</a:t>
            </a:r>
          </a:p>
          <a:p>
            <a:r>
              <a:rPr lang="en-US" altLang="en-US"/>
              <a:t>Resource management</a:t>
            </a:r>
          </a:p>
          <a:p>
            <a:r>
              <a:rPr lang="en-US" altLang="en-US"/>
              <a:t>Job submission</a:t>
            </a:r>
          </a:p>
        </p:txBody>
      </p:sp>
      <p:pic>
        <p:nvPicPr>
          <p:cNvPr id="3" name="Picture 2" descr="A screenshot of a computer&#10;&#10;Description automatically generated">
            <a:extLst>
              <a:ext uri="{FF2B5EF4-FFF2-40B4-BE49-F238E27FC236}">
                <a16:creationId xmlns:a16="http://schemas.microsoft.com/office/drawing/2014/main" id="{B2B0B7FE-DB9D-D393-CABE-921F84D67E19}"/>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37E4A6F-B289-418A-8C38-75086011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005D1D5-A3BD-44CF-8F90-2BD3BC029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50" y="685800"/>
            <a:ext cx="3571875"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49038" y="2214390"/>
            <a:ext cx="2702498" cy="3178423"/>
          </a:xfrm>
        </p:spPr>
        <p:txBody>
          <a:bodyPr>
            <a:normAutofit/>
          </a:bodyPr>
          <a:lstStyle/>
          <a:p>
            <a:r>
              <a:rPr lang="en-IN" sz="2800" dirty="0">
                <a:solidFill>
                  <a:srgbClr val="595959"/>
                </a:solidFill>
              </a:rPr>
              <a:t>Cluster Computing</a:t>
            </a:r>
          </a:p>
        </p:txBody>
      </p:sp>
      <p:pic>
        <p:nvPicPr>
          <p:cNvPr id="4" name="Picture 3" descr="A screenshot of a computer&#10;&#10;Description automatically generated">
            <a:extLst>
              <a:ext uri="{FF2B5EF4-FFF2-40B4-BE49-F238E27FC236}">
                <a16:creationId xmlns:a16="http://schemas.microsoft.com/office/drawing/2014/main" id="{7FC0905C-043E-B52B-D92F-7CFA1FB86CC2}"/>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FD5F4128-4420-254A-2AB6-C3EA654E7418}"/>
              </a:ext>
            </a:extLst>
          </p:cNvPr>
          <p:cNvGraphicFramePr>
            <a:graphicFrameLocks noGrp="1"/>
          </p:cNvGraphicFramePr>
          <p:nvPr>
            <p:ph idx="1"/>
            <p:extLst>
              <p:ext uri="{D42A27DB-BD31-4B8C-83A1-F6EECF244321}">
                <p14:modId xmlns:p14="http://schemas.microsoft.com/office/powerpoint/2010/main" val="4159842761"/>
              </p:ext>
            </p:extLst>
          </p:nvPr>
        </p:nvGraphicFramePr>
        <p:xfrm>
          <a:off x="4748766" y="824023"/>
          <a:ext cx="3692156" cy="5135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3CCF22EC-D0CD-89F1-EF1C-D7E441FAF86E}"/>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Cluster </a:t>
            </a:r>
            <a:r>
              <a:rPr lang="en-IN" dirty="0" err="1"/>
              <a:t>Copmuting</a:t>
            </a:r>
            <a:endParaRPr lang="en-I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F12A17-5F52-C797-ECD6-367F11BF2FE4}"/>
              </a:ext>
            </a:extLst>
          </p:cNvPr>
          <p:cNvPicPr>
            <a:picLocks noChangeAspect="1"/>
          </p:cNvPicPr>
          <p:nvPr/>
        </p:nvPicPr>
        <p:blipFill>
          <a:blip r:embed="rId2">
            <a:duotone>
              <a:schemeClr val="bg2">
                <a:shade val="45000"/>
                <a:satMod val="135000"/>
              </a:schemeClr>
              <a:prstClr val="white"/>
            </a:duotone>
          </a:blip>
          <a:srcRect r="10999" b="-1"/>
          <a:stretch>
            <a:fillRect/>
          </a:stretch>
        </p:blipFill>
        <p:spPr>
          <a:xfrm>
            <a:off x="20" y="10"/>
            <a:ext cx="9143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29E53D94-8D57-6BEC-C874-B1BEF34F8E5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AA42B38A-5A57-EEA0-D7A1-618927CBF884}"/>
              </a:ext>
            </a:extLst>
          </p:cNvPr>
          <p:cNvGraphicFramePr>
            <a:graphicFrameLocks noGrp="1"/>
          </p:cNvGraphicFramePr>
          <p:nvPr>
            <p:ph idx="1"/>
            <p:extLst>
              <p:ext uri="{D42A27DB-BD31-4B8C-83A1-F6EECF244321}">
                <p14:modId xmlns:p14="http://schemas.microsoft.com/office/powerpoint/2010/main" val="3469493838"/>
              </p:ext>
            </p:extLst>
          </p:nvPr>
        </p:nvGraphicFramePr>
        <p:xfrm>
          <a:off x="540515" y="1253331"/>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itle 1">
            <a:extLst>
              <a:ext uri="{FF2B5EF4-FFF2-40B4-BE49-F238E27FC236}">
                <a16:creationId xmlns:a16="http://schemas.microsoft.com/office/drawing/2014/main" id="{9F39F923-967C-866A-EB4E-A84AD9E27EC5}"/>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Quantum Computing</a:t>
            </a:r>
          </a:p>
        </p:txBody>
      </p:sp>
      <p:sp>
        <p:nvSpPr>
          <p:cNvPr id="2" name="Footer Placeholder 12">
            <a:extLst>
              <a:ext uri="{FF2B5EF4-FFF2-40B4-BE49-F238E27FC236}">
                <a16:creationId xmlns:a16="http://schemas.microsoft.com/office/drawing/2014/main" id="{5D9B2A95-E459-7079-E3AC-70D6157714B4}"/>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718801D-16C9-F437-B863-A98DCF789B09}"/>
              </a:ext>
            </a:extLst>
          </p:cNvPr>
          <p:cNvSpPr>
            <a:spLocks noGrp="1" noChangeArrowheads="1"/>
          </p:cNvSpPr>
          <p:nvPr>
            <p:ph type="title"/>
          </p:nvPr>
        </p:nvSpPr>
        <p:spPr>
          <a:xfrm>
            <a:off x="1749346" y="300038"/>
            <a:ext cx="7064148" cy="611188"/>
          </a:xfrm>
        </p:spPr>
        <p:style>
          <a:lnRef idx="1">
            <a:schemeClr val="accent2"/>
          </a:lnRef>
          <a:fillRef idx="2">
            <a:schemeClr val="accent2"/>
          </a:fillRef>
          <a:effectRef idx="1">
            <a:schemeClr val="accent2"/>
          </a:effectRef>
          <a:fontRef idx="minor">
            <a:schemeClr val="dk1"/>
          </a:fontRef>
        </p:style>
        <p:txBody>
          <a:bodyPr/>
          <a:lstStyle/>
          <a:p>
            <a:r>
              <a:rPr lang="en-US" altLang="en-US" sz="2400" dirty="0"/>
              <a:t>Representation of Data  - Qubits</a:t>
            </a:r>
            <a:endParaRPr lang="en-US" altLang="en-US" dirty="0"/>
          </a:p>
        </p:txBody>
      </p:sp>
      <p:sp>
        <p:nvSpPr>
          <p:cNvPr id="4101" name="Text Box 5">
            <a:extLst>
              <a:ext uri="{FF2B5EF4-FFF2-40B4-BE49-F238E27FC236}">
                <a16:creationId xmlns:a16="http://schemas.microsoft.com/office/drawing/2014/main" id="{05B613DD-0CA1-8F0D-BF8D-2DDB8397FF35}"/>
              </a:ext>
            </a:extLst>
          </p:cNvPr>
          <p:cNvSpPr txBox="1">
            <a:spLocks noChangeArrowheads="1"/>
          </p:cNvSpPr>
          <p:nvPr/>
        </p:nvSpPr>
        <p:spPr bwMode="auto">
          <a:xfrm>
            <a:off x="685800" y="1143000"/>
            <a:ext cx="7848600"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A bit of data is represented by a single atom that is in one of two states denoted by </a:t>
            </a:r>
            <a:r>
              <a:rPr lang="en-US" altLang="en-US" b="1">
                <a:solidFill>
                  <a:schemeClr val="accent1"/>
                </a:solidFill>
              </a:rPr>
              <a:t>|0&gt;</a:t>
            </a:r>
            <a:r>
              <a:rPr lang="en-US" altLang="en-US"/>
              <a:t> and </a:t>
            </a:r>
            <a:r>
              <a:rPr lang="en-US" altLang="en-US" b="1">
                <a:solidFill>
                  <a:schemeClr val="accent1"/>
                </a:solidFill>
              </a:rPr>
              <a:t>|1&gt;</a:t>
            </a:r>
            <a:r>
              <a:rPr lang="en-US" altLang="en-US"/>
              <a:t>.  A single bit of this form is known as a </a:t>
            </a:r>
            <a:r>
              <a:rPr lang="en-US" altLang="en-US" b="1" i="1"/>
              <a:t>qubit</a:t>
            </a:r>
          </a:p>
          <a:p>
            <a:pPr>
              <a:spcBef>
                <a:spcPct val="50000"/>
              </a:spcBef>
            </a:pPr>
            <a:r>
              <a:rPr lang="en-US" altLang="en-US"/>
              <a:t>A physical implementation of a qubit could use the two energy levels of an atom.  An excited state representing |1&gt; and a ground state representing |0&gt;.		</a:t>
            </a:r>
          </a:p>
        </p:txBody>
      </p:sp>
      <p:pic>
        <p:nvPicPr>
          <p:cNvPr id="4107" name="Picture 11">
            <a:extLst>
              <a:ext uri="{FF2B5EF4-FFF2-40B4-BE49-F238E27FC236}">
                <a16:creationId xmlns:a16="http://schemas.microsoft.com/office/drawing/2014/main" id="{143FF66B-CAFC-9818-D345-48F1A5335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992563"/>
            <a:ext cx="2617788" cy="1954212"/>
          </a:xfrm>
          <a:prstGeom prst="rect">
            <a:avLst/>
          </a:prstGeom>
          <a:noFill/>
          <a:extLst>
            <a:ext uri="{909E8E84-426E-40DD-AFC4-6F175D3DCCD1}">
              <a14:hiddenFill xmlns:a14="http://schemas.microsoft.com/office/drawing/2010/main">
                <a:solidFill>
                  <a:srgbClr val="FFFFFF"/>
                </a:solidFill>
              </a14:hiddenFill>
            </a:ext>
          </a:extLst>
        </p:spPr>
      </p:pic>
      <p:sp>
        <p:nvSpPr>
          <p:cNvPr id="4108" name="Line 12">
            <a:extLst>
              <a:ext uri="{FF2B5EF4-FFF2-40B4-BE49-F238E27FC236}">
                <a16:creationId xmlns:a16="http://schemas.microsoft.com/office/drawing/2014/main" id="{BA749D02-744C-D68C-0B4D-57616EC381BE}"/>
              </a:ext>
            </a:extLst>
          </p:cNvPr>
          <p:cNvSpPr>
            <a:spLocks noChangeShapeType="1"/>
          </p:cNvSpPr>
          <p:nvPr/>
        </p:nvSpPr>
        <p:spPr bwMode="auto">
          <a:xfrm flipH="1" flipV="1">
            <a:off x="1447800" y="4602163"/>
            <a:ext cx="381000" cy="304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9" name="Line 13">
            <a:extLst>
              <a:ext uri="{FF2B5EF4-FFF2-40B4-BE49-F238E27FC236}">
                <a16:creationId xmlns:a16="http://schemas.microsoft.com/office/drawing/2014/main" id="{8F9E3F15-DDBA-1547-9DD5-B126C77AA7DF}"/>
              </a:ext>
            </a:extLst>
          </p:cNvPr>
          <p:cNvSpPr>
            <a:spLocks noChangeShapeType="1"/>
          </p:cNvSpPr>
          <p:nvPr/>
        </p:nvSpPr>
        <p:spPr bwMode="auto">
          <a:xfrm flipH="1">
            <a:off x="1295400" y="5440363"/>
            <a:ext cx="609600" cy="304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0" name="Text Box 14">
            <a:extLst>
              <a:ext uri="{FF2B5EF4-FFF2-40B4-BE49-F238E27FC236}">
                <a16:creationId xmlns:a16="http://schemas.microsoft.com/office/drawing/2014/main" id="{D4C6DCD1-BC16-8BA0-4D55-04BF13200692}"/>
              </a:ext>
            </a:extLst>
          </p:cNvPr>
          <p:cNvSpPr txBox="1">
            <a:spLocks noChangeArrowheads="1"/>
          </p:cNvSpPr>
          <p:nvPr/>
        </p:nvSpPr>
        <p:spPr bwMode="auto">
          <a:xfrm>
            <a:off x="1066800" y="41449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t>Excited State</a:t>
            </a:r>
            <a:endParaRPr lang="en-US" altLang="en-US"/>
          </a:p>
        </p:txBody>
      </p:sp>
      <p:sp>
        <p:nvSpPr>
          <p:cNvPr id="4111" name="Text Box 15">
            <a:extLst>
              <a:ext uri="{FF2B5EF4-FFF2-40B4-BE49-F238E27FC236}">
                <a16:creationId xmlns:a16="http://schemas.microsoft.com/office/drawing/2014/main" id="{AC763A9A-48B9-CC5D-B508-7AF9A31D1859}"/>
              </a:ext>
            </a:extLst>
          </p:cNvPr>
          <p:cNvSpPr txBox="1">
            <a:spLocks noChangeArrowheads="1"/>
          </p:cNvSpPr>
          <p:nvPr/>
        </p:nvSpPr>
        <p:spPr bwMode="auto">
          <a:xfrm>
            <a:off x="609600" y="55927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t>Ground State</a:t>
            </a:r>
            <a:endParaRPr lang="en-US" altLang="en-US"/>
          </a:p>
        </p:txBody>
      </p:sp>
      <p:sp>
        <p:nvSpPr>
          <p:cNvPr id="4112" name="Text Box 16">
            <a:extLst>
              <a:ext uri="{FF2B5EF4-FFF2-40B4-BE49-F238E27FC236}">
                <a16:creationId xmlns:a16="http://schemas.microsoft.com/office/drawing/2014/main" id="{EA387881-5876-C874-66EA-4E35BA1D724B}"/>
              </a:ext>
            </a:extLst>
          </p:cNvPr>
          <p:cNvSpPr txBox="1">
            <a:spLocks noChangeArrowheads="1"/>
          </p:cNvSpPr>
          <p:nvPr/>
        </p:nvSpPr>
        <p:spPr bwMode="auto">
          <a:xfrm>
            <a:off x="2362200" y="5470525"/>
            <a:ext cx="762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t>Nucleus</a:t>
            </a:r>
            <a:endParaRPr lang="en-US" altLang="en-US"/>
          </a:p>
        </p:txBody>
      </p:sp>
      <p:sp>
        <p:nvSpPr>
          <p:cNvPr id="4113" name="Text Box 17">
            <a:extLst>
              <a:ext uri="{FF2B5EF4-FFF2-40B4-BE49-F238E27FC236}">
                <a16:creationId xmlns:a16="http://schemas.microsoft.com/office/drawing/2014/main" id="{A406CE48-0243-0929-B069-6FA1FA562925}"/>
              </a:ext>
            </a:extLst>
          </p:cNvPr>
          <p:cNvSpPr txBox="1">
            <a:spLocks noChangeArrowheads="1"/>
          </p:cNvSpPr>
          <p:nvPr/>
        </p:nvSpPr>
        <p:spPr bwMode="auto">
          <a:xfrm>
            <a:off x="3581400" y="3810000"/>
            <a:ext cx="14478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t>Light pulse of frequency </a:t>
            </a:r>
            <a:r>
              <a:rPr lang="en-US" altLang="en-US" sz="1200" b="1">
                <a:sym typeface="Symbol" pitchFamily="2" charset="2"/>
              </a:rPr>
              <a:t> </a:t>
            </a:r>
            <a:r>
              <a:rPr lang="en-US" altLang="en-US" sz="1200" b="1"/>
              <a:t>for time interval t</a:t>
            </a:r>
            <a:endParaRPr lang="en-US" altLang="en-US"/>
          </a:p>
        </p:txBody>
      </p:sp>
      <p:pic>
        <p:nvPicPr>
          <p:cNvPr id="4114" name="Picture 18">
            <a:extLst>
              <a:ext uri="{FF2B5EF4-FFF2-40B4-BE49-F238E27FC236}">
                <a16:creationId xmlns:a16="http://schemas.microsoft.com/office/drawing/2014/main" id="{9518C071-4B7C-9912-ADD8-BE1914FD49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992563"/>
            <a:ext cx="2689225" cy="1954212"/>
          </a:xfrm>
          <a:prstGeom prst="rect">
            <a:avLst/>
          </a:prstGeom>
          <a:noFill/>
          <a:extLst>
            <a:ext uri="{909E8E84-426E-40DD-AFC4-6F175D3DCCD1}">
              <a14:hiddenFill xmlns:a14="http://schemas.microsoft.com/office/drawing/2010/main">
                <a:solidFill>
                  <a:srgbClr val="FFFFFF"/>
                </a:solidFill>
              </a14:hiddenFill>
            </a:ext>
          </a:extLst>
        </p:spPr>
      </p:pic>
      <p:sp>
        <p:nvSpPr>
          <p:cNvPr id="4115" name="Line 19">
            <a:extLst>
              <a:ext uri="{FF2B5EF4-FFF2-40B4-BE49-F238E27FC236}">
                <a16:creationId xmlns:a16="http://schemas.microsoft.com/office/drawing/2014/main" id="{B266EB05-366C-CD0A-AD02-E10B1836039A}"/>
              </a:ext>
            </a:extLst>
          </p:cNvPr>
          <p:cNvSpPr>
            <a:spLocks noChangeShapeType="1"/>
          </p:cNvSpPr>
          <p:nvPr/>
        </p:nvSpPr>
        <p:spPr bwMode="auto">
          <a:xfrm flipH="1">
            <a:off x="3924300" y="5440363"/>
            <a:ext cx="0" cy="609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 name="Text Box 20">
            <a:extLst>
              <a:ext uri="{FF2B5EF4-FFF2-40B4-BE49-F238E27FC236}">
                <a16:creationId xmlns:a16="http://schemas.microsoft.com/office/drawing/2014/main" id="{898A8AE7-EF28-C5AD-F050-B483A1A2CD9E}"/>
              </a:ext>
            </a:extLst>
          </p:cNvPr>
          <p:cNvSpPr txBox="1">
            <a:spLocks noChangeArrowheads="1"/>
          </p:cNvSpPr>
          <p:nvPr/>
        </p:nvSpPr>
        <p:spPr bwMode="auto">
          <a:xfrm>
            <a:off x="3581400" y="6003925"/>
            <a:ext cx="762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t>Electron</a:t>
            </a:r>
            <a:endParaRPr lang="en-US" altLang="en-US"/>
          </a:p>
        </p:txBody>
      </p:sp>
      <p:sp>
        <p:nvSpPr>
          <p:cNvPr id="4119" name="AutoShape 23">
            <a:extLst>
              <a:ext uri="{FF2B5EF4-FFF2-40B4-BE49-F238E27FC236}">
                <a16:creationId xmlns:a16="http://schemas.microsoft.com/office/drawing/2014/main" id="{50A307B3-8941-21A5-FB5F-0C824CC82C91}"/>
              </a:ext>
            </a:extLst>
          </p:cNvPr>
          <p:cNvSpPr>
            <a:spLocks noChangeArrowheads="1"/>
          </p:cNvSpPr>
          <p:nvPr/>
        </p:nvSpPr>
        <p:spPr bwMode="auto">
          <a:xfrm>
            <a:off x="2286000" y="6202363"/>
            <a:ext cx="1066800" cy="381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0" name="Text Box 24">
            <a:extLst>
              <a:ext uri="{FF2B5EF4-FFF2-40B4-BE49-F238E27FC236}">
                <a16:creationId xmlns:a16="http://schemas.microsoft.com/office/drawing/2014/main" id="{72140DDD-13F4-40C0-C6BF-3A2CC12D3A11}"/>
              </a:ext>
            </a:extLst>
          </p:cNvPr>
          <p:cNvSpPr txBox="1">
            <a:spLocks noChangeArrowheads="1"/>
          </p:cNvSpPr>
          <p:nvPr/>
        </p:nvSpPr>
        <p:spPr bwMode="auto">
          <a:xfrm>
            <a:off x="2387600" y="6253163"/>
            <a:ext cx="965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State |0&gt;</a:t>
            </a:r>
            <a:endParaRPr lang="en-US" altLang="en-US"/>
          </a:p>
        </p:txBody>
      </p:sp>
      <p:sp>
        <p:nvSpPr>
          <p:cNvPr id="4121" name="AutoShape 25">
            <a:extLst>
              <a:ext uri="{FF2B5EF4-FFF2-40B4-BE49-F238E27FC236}">
                <a16:creationId xmlns:a16="http://schemas.microsoft.com/office/drawing/2014/main" id="{BAC57EC5-1042-4156-9919-E1FCA871A7E5}"/>
              </a:ext>
            </a:extLst>
          </p:cNvPr>
          <p:cNvSpPr>
            <a:spLocks noChangeArrowheads="1"/>
          </p:cNvSpPr>
          <p:nvPr/>
        </p:nvSpPr>
        <p:spPr bwMode="auto">
          <a:xfrm>
            <a:off x="6553200" y="6202363"/>
            <a:ext cx="1066800" cy="381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2" name="Text Box 26">
            <a:extLst>
              <a:ext uri="{FF2B5EF4-FFF2-40B4-BE49-F238E27FC236}">
                <a16:creationId xmlns:a16="http://schemas.microsoft.com/office/drawing/2014/main" id="{0E86BC4F-98C7-85BC-A092-10CD09E0CD3B}"/>
              </a:ext>
            </a:extLst>
          </p:cNvPr>
          <p:cNvSpPr txBox="1">
            <a:spLocks noChangeArrowheads="1"/>
          </p:cNvSpPr>
          <p:nvPr/>
        </p:nvSpPr>
        <p:spPr bwMode="auto">
          <a:xfrm>
            <a:off x="6654800" y="6253163"/>
            <a:ext cx="965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State |1&gt;</a:t>
            </a:r>
            <a:endParaRPr lang="en-US" altLang="en-US"/>
          </a:p>
        </p:txBody>
      </p:sp>
      <p:sp>
        <p:nvSpPr>
          <p:cNvPr id="4123" name="Line 27">
            <a:extLst>
              <a:ext uri="{FF2B5EF4-FFF2-40B4-BE49-F238E27FC236}">
                <a16:creationId xmlns:a16="http://schemas.microsoft.com/office/drawing/2014/main" id="{CC065C10-A382-92DF-3DF2-CE8DFA0C4E17}"/>
              </a:ext>
            </a:extLst>
          </p:cNvPr>
          <p:cNvSpPr>
            <a:spLocks noChangeShapeType="1"/>
          </p:cNvSpPr>
          <p:nvPr/>
        </p:nvSpPr>
        <p:spPr bwMode="auto">
          <a:xfrm>
            <a:off x="4572000" y="5257800"/>
            <a:ext cx="838200" cy="0"/>
          </a:xfrm>
          <a:prstGeom prst="line">
            <a:avLst/>
          </a:prstGeom>
          <a:noFill/>
          <a:ln w="1079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 name="Picture 1" descr="A screenshot of a computer&#10;&#10;Description automatically generated">
            <a:extLst>
              <a:ext uri="{FF2B5EF4-FFF2-40B4-BE49-F238E27FC236}">
                <a16:creationId xmlns:a16="http://schemas.microsoft.com/office/drawing/2014/main" id="{6656ED82-3576-4AA5-4431-96400055D48C}"/>
              </a:ext>
            </a:extLst>
          </p:cNvPr>
          <p:cNvPicPr>
            <a:picLocks noChangeAspect="1"/>
          </p:cNvPicPr>
          <p:nvPr/>
        </p:nvPicPr>
        <p:blipFill rotWithShape="1">
          <a:blip r:embed="rId4"/>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D1F99E1-42BF-61F5-FEC0-160297F320B1}"/>
              </a:ext>
            </a:extLst>
          </p:cNvPr>
          <p:cNvSpPr>
            <a:spLocks noGrp="1" noChangeArrowheads="1"/>
          </p:cNvSpPr>
          <p:nvPr>
            <p:ph type="title"/>
          </p:nvPr>
        </p:nvSpPr>
        <p:spPr>
          <a:xfrm>
            <a:off x="1749346" y="317502"/>
            <a:ext cx="6464300" cy="745127"/>
          </a:xfrm>
        </p:spPr>
        <p:style>
          <a:lnRef idx="1">
            <a:schemeClr val="accent2"/>
          </a:lnRef>
          <a:fillRef idx="2">
            <a:schemeClr val="accent2"/>
          </a:fillRef>
          <a:effectRef idx="1">
            <a:schemeClr val="accent2"/>
          </a:effectRef>
          <a:fontRef idx="minor">
            <a:schemeClr val="dk1"/>
          </a:fontRef>
        </p:style>
        <p:txBody>
          <a:bodyPr/>
          <a:lstStyle/>
          <a:p>
            <a:r>
              <a:rPr lang="en-US" altLang="en-US" sz="2400"/>
              <a:t>Representation of Data - </a:t>
            </a:r>
            <a:r>
              <a:rPr lang="en-US" altLang="en-US" sz="2400" b="1"/>
              <a:t>Superposition</a:t>
            </a:r>
            <a:endParaRPr lang="en-US" altLang="en-US"/>
          </a:p>
        </p:txBody>
      </p:sp>
      <p:sp>
        <p:nvSpPr>
          <p:cNvPr id="5124" name="Text Box 4">
            <a:extLst>
              <a:ext uri="{FF2B5EF4-FFF2-40B4-BE49-F238E27FC236}">
                <a16:creationId xmlns:a16="http://schemas.microsoft.com/office/drawing/2014/main" id="{C76DF05C-7C22-FABC-8BDF-CC861B888C2D}"/>
              </a:ext>
            </a:extLst>
          </p:cNvPr>
          <p:cNvSpPr txBox="1">
            <a:spLocks noChangeArrowheads="1"/>
          </p:cNvSpPr>
          <p:nvPr/>
        </p:nvSpPr>
        <p:spPr bwMode="auto">
          <a:xfrm>
            <a:off x="406400" y="1600200"/>
            <a:ext cx="83058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A single qubit can be forced into a </a:t>
            </a:r>
            <a:r>
              <a:rPr lang="en-US" altLang="en-US" b="1" i="1"/>
              <a:t>superposition</a:t>
            </a:r>
            <a:r>
              <a:rPr lang="en-US" altLang="en-US"/>
              <a:t> of the two states denoted by the addition of the state vectors:</a:t>
            </a:r>
          </a:p>
          <a:p>
            <a:pPr algn="ctr">
              <a:spcBef>
                <a:spcPct val="50000"/>
              </a:spcBef>
            </a:pPr>
            <a:endParaRPr lang="en-US" altLang="en-US" sz="2800" b="1"/>
          </a:p>
          <a:p>
            <a:pPr algn="ctr">
              <a:spcBef>
                <a:spcPct val="50000"/>
              </a:spcBef>
            </a:pPr>
            <a:r>
              <a:rPr lang="en-US" altLang="en-US" sz="2800" b="1">
                <a:solidFill>
                  <a:schemeClr val="accent1"/>
                </a:solidFill>
              </a:rPr>
              <a:t>|</a:t>
            </a:r>
            <a:r>
              <a:rPr lang="en-US" altLang="en-US" sz="2800" b="1">
                <a:solidFill>
                  <a:schemeClr val="accent1"/>
                </a:solidFill>
                <a:sym typeface="Symbol" pitchFamily="2" charset="2"/>
              </a:rPr>
              <a:t>&gt; =   </a:t>
            </a:r>
            <a:r>
              <a:rPr lang="en-US" altLang="en-US" sz="2800" b="1">
                <a:solidFill>
                  <a:schemeClr val="accent1"/>
                </a:solidFill>
              </a:rPr>
              <a:t>|0&gt; + </a:t>
            </a:r>
            <a:r>
              <a:rPr lang="en-US" altLang="en-US" sz="2800" b="1">
                <a:solidFill>
                  <a:schemeClr val="accent1"/>
                </a:solidFill>
                <a:sym typeface="Symbol" pitchFamily="2" charset="2"/>
              </a:rPr>
              <a:t></a:t>
            </a:r>
            <a:r>
              <a:rPr lang="en-US" altLang="en-US" sz="2800" b="1">
                <a:solidFill>
                  <a:schemeClr val="accent1"/>
                </a:solidFill>
              </a:rPr>
              <a:t>  |1&gt;</a:t>
            </a:r>
            <a:endParaRPr lang="en-US" altLang="en-US" sz="2800" b="1"/>
          </a:p>
          <a:p>
            <a:pPr>
              <a:spcBef>
                <a:spcPct val="50000"/>
              </a:spcBef>
            </a:pPr>
            <a:endParaRPr lang="en-US" altLang="en-US"/>
          </a:p>
          <a:p>
            <a:pPr>
              <a:spcBef>
                <a:spcPct val="50000"/>
              </a:spcBef>
            </a:pPr>
            <a:r>
              <a:rPr lang="en-US" altLang="en-US"/>
              <a:t>Where </a:t>
            </a:r>
            <a:r>
              <a:rPr lang="en-US" altLang="en-US" b="1">
                <a:sym typeface="Symbol" pitchFamily="2" charset="2"/>
              </a:rPr>
              <a:t>   and    </a:t>
            </a:r>
            <a:r>
              <a:rPr lang="en-US" altLang="en-US">
                <a:sym typeface="Symbol" pitchFamily="2" charset="2"/>
              </a:rPr>
              <a:t>are complex numbers and </a:t>
            </a:r>
            <a:r>
              <a:rPr lang="en-US" altLang="en-US" b="1">
                <a:sym typeface="Symbol" pitchFamily="2" charset="2"/>
              </a:rPr>
              <a:t>|  |   +  |   |   = 1</a:t>
            </a:r>
            <a:r>
              <a:rPr lang="en-US" altLang="en-US" sz="2800" b="1">
                <a:sym typeface="Symbol" pitchFamily="2" charset="2"/>
              </a:rPr>
              <a:t> </a:t>
            </a:r>
            <a:endParaRPr lang="en-US" altLang="en-US"/>
          </a:p>
        </p:txBody>
      </p:sp>
      <p:grpSp>
        <p:nvGrpSpPr>
          <p:cNvPr id="5151" name="Group 31">
            <a:extLst>
              <a:ext uri="{FF2B5EF4-FFF2-40B4-BE49-F238E27FC236}">
                <a16:creationId xmlns:a16="http://schemas.microsoft.com/office/drawing/2014/main" id="{C2CEB11C-8702-4A75-EB44-F6ECF4FFFE94}"/>
              </a:ext>
            </a:extLst>
          </p:cNvPr>
          <p:cNvGrpSpPr>
            <a:grpSpLocks/>
          </p:cNvGrpSpPr>
          <p:nvPr/>
        </p:nvGrpSpPr>
        <p:grpSpPr bwMode="auto">
          <a:xfrm>
            <a:off x="4114800" y="3354388"/>
            <a:ext cx="1447800" cy="379412"/>
            <a:chOff x="1884" y="1584"/>
            <a:chExt cx="912" cy="239"/>
          </a:xfrm>
        </p:grpSpPr>
        <p:sp>
          <p:nvSpPr>
            <p:cNvPr id="5141" name="Text Box 21">
              <a:extLst>
                <a:ext uri="{FF2B5EF4-FFF2-40B4-BE49-F238E27FC236}">
                  <a16:creationId xmlns:a16="http://schemas.microsoft.com/office/drawing/2014/main" id="{FE18A3B0-60AF-A520-0D70-7FF52C9C11DA}"/>
                </a:ext>
              </a:extLst>
            </p:cNvPr>
            <p:cNvSpPr txBox="1">
              <a:spLocks noChangeArrowheads="1"/>
            </p:cNvSpPr>
            <p:nvPr/>
          </p:nvSpPr>
          <p:spPr bwMode="auto">
            <a:xfrm>
              <a:off x="1884" y="1592"/>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solidFill>
                    <a:schemeClr val="accent1"/>
                  </a:solidFill>
                </a:rPr>
                <a:t>1</a:t>
              </a:r>
              <a:endParaRPr lang="en-US" altLang="en-US"/>
            </a:p>
          </p:txBody>
        </p:sp>
        <p:sp>
          <p:nvSpPr>
            <p:cNvPr id="5142" name="Text Box 22">
              <a:extLst>
                <a:ext uri="{FF2B5EF4-FFF2-40B4-BE49-F238E27FC236}">
                  <a16:creationId xmlns:a16="http://schemas.microsoft.com/office/drawing/2014/main" id="{4C4DB293-E261-C8CE-F478-CC9D78B767C6}"/>
                </a:ext>
              </a:extLst>
            </p:cNvPr>
            <p:cNvSpPr txBox="1">
              <a:spLocks noChangeArrowheads="1"/>
            </p:cNvSpPr>
            <p:nvPr/>
          </p:nvSpPr>
          <p:spPr bwMode="auto">
            <a:xfrm>
              <a:off x="2680" y="1584"/>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solidFill>
                    <a:schemeClr val="accent1"/>
                  </a:solidFill>
                </a:rPr>
                <a:t>2</a:t>
              </a:r>
              <a:endParaRPr lang="en-US" altLang="en-US"/>
            </a:p>
          </p:txBody>
        </p:sp>
      </p:grpSp>
      <p:grpSp>
        <p:nvGrpSpPr>
          <p:cNvPr id="5152" name="Group 32">
            <a:extLst>
              <a:ext uri="{FF2B5EF4-FFF2-40B4-BE49-F238E27FC236}">
                <a16:creationId xmlns:a16="http://schemas.microsoft.com/office/drawing/2014/main" id="{A1DC3454-BDCA-42BE-2290-A38E62A8E787}"/>
              </a:ext>
            </a:extLst>
          </p:cNvPr>
          <p:cNvGrpSpPr>
            <a:grpSpLocks/>
          </p:cNvGrpSpPr>
          <p:nvPr/>
        </p:nvGrpSpPr>
        <p:grpSpPr bwMode="auto">
          <a:xfrm>
            <a:off x="1504950" y="4446588"/>
            <a:ext cx="1174750" cy="379412"/>
            <a:chOff x="1008" y="2305"/>
            <a:chExt cx="740" cy="239"/>
          </a:xfrm>
        </p:grpSpPr>
        <p:sp>
          <p:nvSpPr>
            <p:cNvPr id="5144" name="Text Box 24">
              <a:extLst>
                <a:ext uri="{FF2B5EF4-FFF2-40B4-BE49-F238E27FC236}">
                  <a16:creationId xmlns:a16="http://schemas.microsoft.com/office/drawing/2014/main" id="{1AFF6CBE-2B1F-FE2B-AD24-21372B69934E}"/>
                </a:ext>
              </a:extLst>
            </p:cNvPr>
            <p:cNvSpPr txBox="1">
              <a:spLocks noChangeArrowheads="1"/>
            </p:cNvSpPr>
            <p:nvPr/>
          </p:nvSpPr>
          <p:spPr bwMode="auto">
            <a:xfrm>
              <a:off x="1008" y="2313"/>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1</a:t>
              </a:r>
              <a:endParaRPr lang="en-US" altLang="en-US"/>
            </a:p>
          </p:txBody>
        </p:sp>
        <p:sp>
          <p:nvSpPr>
            <p:cNvPr id="5145" name="Text Box 25">
              <a:extLst>
                <a:ext uri="{FF2B5EF4-FFF2-40B4-BE49-F238E27FC236}">
                  <a16:creationId xmlns:a16="http://schemas.microsoft.com/office/drawing/2014/main" id="{67CA13FF-1E7A-D1AD-19C8-3621D3EFDE52}"/>
                </a:ext>
              </a:extLst>
            </p:cNvPr>
            <p:cNvSpPr txBox="1">
              <a:spLocks noChangeArrowheads="1"/>
            </p:cNvSpPr>
            <p:nvPr/>
          </p:nvSpPr>
          <p:spPr bwMode="auto">
            <a:xfrm>
              <a:off x="1632" y="2305"/>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2</a:t>
              </a:r>
              <a:endParaRPr lang="en-US" altLang="en-US"/>
            </a:p>
          </p:txBody>
        </p:sp>
      </p:grpSp>
      <p:grpSp>
        <p:nvGrpSpPr>
          <p:cNvPr id="5154" name="Group 34">
            <a:extLst>
              <a:ext uri="{FF2B5EF4-FFF2-40B4-BE49-F238E27FC236}">
                <a16:creationId xmlns:a16="http://schemas.microsoft.com/office/drawing/2014/main" id="{77F5059F-C62C-5221-7B11-1770404608D2}"/>
              </a:ext>
            </a:extLst>
          </p:cNvPr>
          <p:cNvGrpSpPr>
            <a:grpSpLocks/>
          </p:cNvGrpSpPr>
          <p:nvPr/>
        </p:nvGrpSpPr>
        <p:grpSpPr bwMode="auto">
          <a:xfrm>
            <a:off x="6210300" y="4256088"/>
            <a:ext cx="1524000" cy="582612"/>
            <a:chOff x="3912" y="2537"/>
            <a:chExt cx="960" cy="367"/>
          </a:xfrm>
        </p:grpSpPr>
        <p:sp>
          <p:nvSpPr>
            <p:cNvPr id="5146" name="Text Box 26">
              <a:extLst>
                <a:ext uri="{FF2B5EF4-FFF2-40B4-BE49-F238E27FC236}">
                  <a16:creationId xmlns:a16="http://schemas.microsoft.com/office/drawing/2014/main" id="{882B5047-BFF6-7508-D0F5-06962FE5D6CE}"/>
                </a:ext>
              </a:extLst>
            </p:cNvPr>
            <p:cNvSpPr txBox="1">
              <a:spLocks noChangeArrowheads="1"/>
            </p:cNvSpPr>
            <p:nvPr/>
          </p:nvSpPr>
          <p:spPr bwMode="auto">
            <a:xfrm>
              <a:off x="3912" y="2673"/>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1</a:t>
              </a:r>
              <a:endParaRPr lang="en-US" altLang="en-US"/>
            </a:p>
          </p:txBody>
        </p:sp>
        <p:sp>
          <p:nvSpPr>
            <p:cNvPr id="5147" name="Text Box 27">
              <a:extLst>
                <a:ext uri="{FF2B5EF4-FFF2-40B4-BE49-F238E27FC236}">
                  <a16:creationId xmlns:a16="http://schemas.microsoft.com/office/drawing/2014/main" id="{254B618B-40CF-BED2-DD34-5CE55AD230F3}"/>
                </a:ext>
              </a:extLst>
            </p:cNvPr>
            <p:cNvSpPr txBox="1">
              <a:spLocks noChangeArrowheads="1"/>
            </p:cNvSpPr>
            <p:nvPr/>
          </p:nvSpPr>
          <p:spPr bwMode="auto">
            <a:xfrm>
              <a:off x="4600" y="2673"/>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2</a:t>
              </a:r>
              <a:endParaRPr lang="en-US" altLang="en-US"/>
            </a:p>
          </p:txBody>
        </p:sp>
        <p:sp>
          <p:nvSpPr>
            <p:cNvPr id="5148" name="Text Box 28">
              <a:extLst>
                <a:ext uri="{FF2B5EF4-FFF2-40B4-BE49-F238E27FC236}">
                  <a16:creationId xmlns:a16="http://schemas.microsoft.com/office/drawing/2014/main" id="{245C2B34-1348-9A74-1BEE-029A53BF8C47}"/>
                </a:ext>
              </a:extLst>
            </p:cNvPr>
            <p:cNvSpPr txBox="1">
              <a:spLocks noChangeArrowheads="1"/>
            </p:cNvSpPr>
            <p:nvPr/>
          </p:nvSpPr>
          <p:spPr bwMode="auto">
            <a:xfrm>
              <a:off x="4052" y="2537"/>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2</a:t>
              </a:r>
              <a:endParaRPr lang="en-US" altLang="en-US"/>
            </a:p>
          </p:txBody>
        </p:sp>
        <p:sp>
          <p:nvSpPr>
            <p:cNvPr id="5149" name="Text Box 29">
              <a:extLst>
                <a:ext uri="{FF2B5EF4-FFF2-40B4-BE49-F238E27FC236}">
                  <a16:creationId xmlns:a16="http://schemas.microsoft.com/office/drawing/2014/main" id="{1F83E467-C7FB-7F41-F995-5520151D79DD}"/>
                </a:ext>
              </a:extLst>
            </p:cNvPr>
            <p:cNvSpPr txBox="1">
              <a:spLocks noChangeArrowheads="1"/>
            </p:cNvSpPr>
            <p:nvPr/>
          </p:nvSpPr>
          <p:spPr bwMode="auto">
            <a:xfrm>
              <a:off x="4756" y="2537"/>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2</a:t>
              </a:r>
              <a:endParaRPr lang="en-US" altLang="en-US"/>
            </a:p>
          </p:txBody>
        </p:sp>
      </p:grpSp>
      <p:sp>
        <p:nvSpPr>
          <p:cNvPr id="5155" name="Text Box 35">
            <a:extLst>
              <a:ext uri="{FF2B5EF4-FFF2-40B4-BE49-F238E27FC236}">
                <a16:creationId xmlns:a16="http://schemas.microsoft.com/office/drawing/2014/main" id="{A9F8504B-3F47-4A60-1101-9C7B5EEAD778}"/>
              </a:ext>
            </a:extLst>
          </p:cNvPr>
          <p:cNvSpPr txBox="1">
            <a:spLocks noChangeArrowheads="1"/>
          </p:cNvSpPr>
          <p:nvPr/>
        </p:nvSpPr>
        <p:spPr bwMode="auto">
          <a:xfrm>
            <a:off x="1905000" y="5502275"/>
            <a:ext cx="5334000" cy="83185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A qubit in superposition is in both of the states |1&gt; and |0 at the same time </a:t>
            </a:r>
          </a:p>
        </p:txBody>
      </p:sp>
      <p:pic>
        <p:nvPicPr>
          <p:cNvPr id="2" name="Picture 1" descr="A screenshot of a computer&#10;&#10;Description automatically generated">
            <a:extLst>
              <a:ext uri="{FF2B5EF4-FFF2-40B4-BE49-F238E27FC236}">
                <a16:creationId xmlns:a16="http://schemas.microsoft.com/office/drawing/2014/main" id="{4F90DE58-6208-CC86-EA6F-BADDC6BB2F7F}"/>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8C68AA6-BDFE-D774-ECDF-3BE41F8C594C}"/>
              </a:ext>
            </a:extLst>
          </p:cNvPr>
          <p:cNvSpPr>
            <a:spLocks noGrp="1" noChangeArrowheads="1"/>
          </p:cNvSpPr>
          <p:nvPr>
            <p:ph type="title"/>
          </p:nvPr>
        </p:nvSpPr>
        <p:spPr>
          <a:xfrm>
            <a:off x="1749346" y="253398"/>
            <a:ext cx="6937454" cy="737202"/>
          </a:xfrm>
        </p:spPr>
        <p:style>
          <a:lnRef idx="1">
            <a:schemeClr val="accent2"/>
          </a:lnRef>
          <a:fillRef idx="2">
            <a:schemeClr val="accent2"/>
          </a:fillRef>
          <a:effectRef idx="1">
            <a:schemeClr val="accent2"/>
          </a:effectRef>
          <a:fontRef idx="minor">
            <a:schemeClr val="dk1"/>
          </a:fontRef>
        </p:style>
        <p:txBody>
          <a:bodyPr/>
          <a:lstStyle/>
          <a:p>
            <a:r>
              <a:rPr lang="en-US" altLang="en-US" sz="2400" dirty="0"/>
              <a:t>Representation of Data - Superposition</a:t>
            </a:r>
            <a:endParaRPr lang="en-US" altLang="en-US" dirty="0"/>
          </a:p>
        </p:txBody>
      </p:sp>
      <p:pic>
        <p:nvPicPr>
          <p:cNvPr id="23556" name="Picture 4">
            <a:extLst>
              <a:ext uri="{FF2B5EF4-FFF2-40B4-BE49-F238E27FC236}">
                <a16:creationId xmlns:a16="http://schemas.microsoft.com/office/drawing/2014/main" id="{0F704663-979B-29D9-E4FC-CF118ED3C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975" y="1447800"/>
            <a:ext cx="2617788" cy="1954213"/>
          </a:xfrm>
          <a:prstGeom prst="rect">
            <a:avLst/>
          </a:prstGeom>
          <a:noFill/>
          <a:extLst>
            <a:ext uri="{909E8E84-426E-40DD-AFC4-6F175D3DCCD1}">
              <a14:hiddenFill xmlns:a14="http://schemas.microsoft.com/office/drawing/2010/main">
                <a:solidFill>
                  <a:srgbClr val="FFFFFF"/>
                </a:solidFill>
              </a14:hiddenFill>
            </a:ext>
          </a:extLst>
        </p:spPr>
      </p:pic>
      <p:sp>
        <p:nvSpPr>
          <p:cNvPr id="23557" name="Text Box 5">
            <a:extLst>
              <a:ext uri="{FF2B5EF4-FFF2-40B4-BE49-F238E27FC236}">
                <a16:creationId xmlns:a16="http://schemas.microsoft.com/office/drawing/2014/main" id="{422EE694-63A8-78FC-BA0B-3F3857B847B1}"/>
              </a:ext>
            </a:extLst>
          </p:cNvPr>
          <p:cNvSpPr txBox="1">
            <a:spLocks noChangeArrowheads="1"/>
          </p:cNvSpPr>
          <p:nvPr/>
        </p:nvSpPr>
        <p:spPr bwMode="auto">
          <a:xfrm>
            <a:off x="1425575" y="1219200"/>
            <a:ext cx="16002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t>Light pulse of frequency </a:t>
            </a:r>
            <a:r>
              <a:rPr lang="en-US" altLang="en-US" sz="1200" b="1">
                <a:sym typeface="Symbol" pitchFamily="2" charset="2"/>
              </a:rPr>
              <a:t></a:t>
            </a:r>
            <a:r>
              <a:rPr lang="en-US" altLang="en-US" sz="1200" b="1"/>
              <a:t> for time interval t/2</a:t>
            </a:r>
            <a:endParaRPr lang="en-US" altLang="en-US"/>
          </a:p>
        </p:txBody>
      </p:sp>
      <p:sp>
        <p:nvSpPr>
          <p:cNvPr id="23558" name="Line 6">
            <a:extLst>
              <a:ext uri="{FF2B5EF4-FFF2-40B4-BE49-F238E27FC236}">
                <a16:creationId xmlns:a16="http://schemas.microsoft.com/office/drawing/2014/main" id="{838AF669-1558-D0A6-22CE-84655800D90D}"/>
              </a:ext>
            </a:extLst>
          </p:cNvPr>
          <p:cNvSpPr>
            <a:spLocks noChangeShapeType="1"/>
          </p:cNvSpPr>
          <p:nvPr/>
        </p:nvSpPr>
        <p:spPr bwMode="auto">
          <a:xfrm>
            <a:off x="4244975" y="2819400"/>
            <a:ext cx="838200" cy="0"/>
          </a:xfrm>
          <a:prstGeom prst="line">
            <a:avLst/>
          </a:prstGeom>
          <a:noFill/>
          <a:ln w="1079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9" name="AutoShape 7">
            <a:extLst>
              <a:ext uri="{FF2B5EF4-FFF2-40B4-BE49-F238E27FC236}">
                <a16:creationId xmlns:a16="http://schemas.microsoft.com/office/drawing/2014/main" id="{A3746A12-3624-7943-ABFB-34A79896A73E}"/>
              </a:ext>
            </a:extLst>
          </p:cNvPr>
          <p:cNvSpPr>
            <a:spLocks noChangeArrowheads="1"/>
          </p:cNvSpPr>
          <p:nvPr/>
        </p:nvSpPr>
        <p:spPr bwMode="auto">
          <a:xfrm>
            <a:off x="1882775" y="3657600"/>
            <a:ext cx="1066800" cy="381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0" name="Text Box 8">
            <a:extLst>
              <a:ext uri="{FF2B5EF4-FFF2-40B4-BE49-F238E27FC236}">
                <a16:creationId xmlns:a16="http://schemas.microsoft.com/office/drawing/2014/main" id="{2DA86876-6DFE-4B5B-F472-88BFC7F59D59}"/>
              </a:ext>
            </a:extLst>
          </p:cNvPr>
          <p:cNvSpPr txBox="1">
            <a:spLocks noChangeArrowheads="1"/>
          </p:cNvSpPr>
          <p:nvPr/>
        </p:nvSpPr>
        <p:spPr bwMode="auto">
          <a:xfrm>
            <a:off x="1984375" y="3708400"/>
            <a:ext cx="965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State |0&gt;</a:t>
            </a:r>
            <a:endParaRPr lang="en-US" altLang="en-US"/>
          </a:p>
        </p:txBody>
      </p:sp>
      <p:sp>
        <p:nvSpPr>
          <p:cNvPr id="23561" name="AutoShape 9">
            <a:extLst>
              <a:ext uri="{FF2B5EF4-FFF2-40B4-BE49-F238E27FC236}">
                <a16:creationId xmlns:a16="http://schemas.microsoft.com/office/drawing/2014/main" id="{BB15B304-245F-0DE8-5891-46CA2B7FE4A8}"/>
              </a:ext>
            </a:extLst>
          </p:cNvPr>
          <p:cNvSpPr>
            <a:spLocks noChangeArrowheads="1"/>
          </p:cNvSpPr>
          <p:nvPr/>
        </p:nvSpPr>
        <p:spPr bwMode="auto">
          <a:xfrm>
            <a:off x="6034088" y="3657600"/>
            <a:ext cx="1487487" cy="381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2" name="Text Box 10">
            <a:extLst>
              <a:ext uri="{FF2B5EF4-FFF2-40B4-BE49-F238E27FC236}">
                <a16:creationId xmlns:a16="http://schemas.microsoft.com/office/drawing/2014/main" id="{CAA76B34-FBC7-5773-E4A0-E0B0999AD405}"/>
              </a:ext>
            </a:extLst>
          </p:cNvPr>
          <p:cNvSpPr txBox="1">
            <a:spLocks noChangeArrowheads="1"/>
          </p:cNvSpPr>
          <p:nvPr/>
        </p:nvSpPr>
        <p:spPr bwMode="auto">
          <a:xfrm>
            <a:off x="6135688" y="3708400"/>
            <a:ext cx="1346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State |0&gt; + |1&gt;</a:t>
            </a:r>
            <a:endParaRPr lang="en-US" altLang="en-US"/>
          </a:p>
        </p:txBody>
      </p:sp>
      <p:pic>
        <p:nvPicPr>
          <p:cNvPr id="23563" name="Picture 11">
            <a:extLst>
              <a:ext uri="{FF2B5EF4-FFF2-40B4-BE49-F238E27FC236}">
                <a16:creationId xmlns:a16="http://schemas.microsoft.com/office/drawing/2014/main" id="{843F7DC1-4B3C-1516-BDD8-2E2077674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7975" y="1447800"/>
            <a:ext cx="2689225" cy="1954213"/>
          </a:xfrm>
          <a:prstGeom prst="rect">
            <a:avLst/>
          </a:prstGeom>
          <a:noFill/>
          <a:extLst>
            <a:ext uri="{909E8E84-426E-40DD-AFC4-6F175D3DCCD1}">
              <a14:hiddenFill xmlns:a14="http://schemas.microsoft.com/office/drawing/2010/main">
                <a:solidFill>
                  <a:srgbClr val="FFFFFF"/>
                </a:solidFill>
              </a14:hiddenFill>
            </a:ext>
          </a:extLst>
        </p:spPr>
      </p:pic>
      <p:sp>
        <p:nvSpPr>
          <p:cNvPr id="23565" name="Text Box 13">
            <a:extLst>
              <a:ext uri="{FF2B5EF4-FFF2-40B4-BE49-F238E27FC236}">
                <a16:creationId xmlns:a16="http://schemas.microsoft.com/office/drawing/2014/main" id="{E0617C4B-0A57-37AE-A32B-BC1B73934268}"/>
              </a:ext>
            </a:extLst>
          </p:cNvPr>
          <p:cNvSpPr txBox="1">
            <a:spLocks noChangeArrowheads="1"/>
          </p:cNvSpPr>
          <p:nvPr/>
        </p:nvSpPr>
        <p:spPr bwMode="auto">
          <a:xfrm>
            <a:off x="914400" y="4724400"/>
            <a:ext cx="72390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Font typeface="Wingdings" pitchFamily="2" charset="2"/>
              <a:buChar char="§"/>
            </a:pPr>
            <a:r>
              <a:rPr lang="en-US" altLang="en-US"/>
              <a:t>Consider a 3 bit qubit register.  An equally weighted superposition of all possible states would be denoted by:</a:t>
            </a:r>
            <a:endParaRPr lang="en-US" altLang="en-US" b="1"/>
          </a:p>
          <a:p>
            <a:pPr algn="ctr">
              <a:spcBef>
                <a:spcPct val="50000"/>
              </a:spcBef>
              <a:buClr>
                <a:schemeClr val="accent2"/>
              </a:buClr>
              <a:buFont typeface="Wingdings" pitchFamily="2" charset="2"/>
              <a:buNone/>
            </a:pPr>
            <a:r>
              <a:rPr lang="en-US" altLang="en-US" b="1"/>
              <a:t>|</a:t>
            </a:r>
            <a:r>
              <a:rPr lang="en-US" altLang="en-US" b="1">
                <a:sym typeface="Symbol" pitchFamily="2" charset="2"/>
              </a:rPr>
              <a:t>&gt; =     </a:t>
            </a:r>
            <a:r>
              <a:rPr lang="en-US" altLang="en-US" b="1"/>
              <a:t>|000&gt; + </a:t>
            </a:r>
            <a:r>
              <a:rPr lang="en-US" altLang="en-US" b="1">
                <a:sym typeface="Symbol" pitchFamily="2" charset="2"/>
              </a:rPr>
              <a:t> </a:t>
            </a:r>
            <a:r>
              <a:rPr lang="en-US" altLang="en-US" b="1"/>
              <a:t>   |001&gt; + . . . +     |111&gt;</a:t>
            </a:r>
          </a:p>
        </p:txBody>
      </p:sp>
      <p:grpSp>
        <p:nvGrpSpPr>
          <p:cNvPr id="23569" name="Group 17">
            <a:extLst>
              <a:ext uri="{FF2B5EF4-FFF2-40B4-BE49-F238E27FC236}">
                <a16:creationId xmlns:a16="http://schemas.microsoft.com/office/drawing/2014/main" id="{00F415D7-50D4-862D-EC30-2B433527F99D}"/>
              </a:ext>
            </a:extLst>
          </p:cNvPr>
          <p:cNvGrpSpPr>
            <a:grpSpLocks/>
          </p:cNvGrpSpPr>
          <p:nvPr/>
        </p:nvGrpSpPr>
        <p:grpSpPr bwMode="auto">
          <a:xfrm>
            <a:off x="2641600" y="5499100"/>
            <a:ext cx="533400" cy="800100"/>
            <a:chOff x="2208" y="2208"/>
            <a:chExt cx="336" cy="504"/>
          </a:xfrm>
        </p:grpSpPr>
        <p:sp>
          <p:nvSpPr>
            <p:cNvPr id="23566" name="Text Box 14">
              <a:extLst>
                <a:ext uri="{FF2B5EF4-FFF2-40B4-BE49-F238E27FC236}">
                  <a16:creationId xmlns:a16="http://schemas.microsoft.com/office/drawing/2014/main" id="{B688E582-4652-7D63-0CE9-80D65995EB21}"/>
                </a:ext>
              </a:extLst>
            </p:cNvPr>
            <p:cNvSpPr txBox="1">
              <a:spLocks noChangeArrowheads="1"/>
            </p:cNvSpPr>
            <p:nvPr/>
          </p:nvSpPr>
          <p:spPr bwMode="auto">
            <a:xfrm>
              <a:off x="2256" y="2208"/>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1</a:t>
              </a:r>
              <a:endParaRPr lang="en-US" altLang="en-US"/>
            </a:p>
          </p:txBody>
        </p:sp>
        <p:sp>
          <p:nvSpPr>
            <p:cNvPr id="23567" name="Line 15">
              <a:extLst>
                <a:ext uri="{FF2B5EF4-FFF2-40B4-BE49-F238E27FC236}">
                  <a16:creationId xmlns:a16="http://schemas.microsoft.com/office/drawing/2014/main" id="{0F4098EA-88B1-3BA2-B21E-7F317CAF9C4E}"/>
                </a:ext>
              </a:extLst>
            </p:cNvPr>
            <p:cNvSpPr>
              <a:spLocks noChangeShapeType="1"/>
            </p:cNvSpPr>
            <p:nvPr/>
          </p:nvSpPr>
          <p:spPr bwMode="auto">
            <a:xfrm>
              <a:off x="2280" y="2432"/>
              <a:ext cx="1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8" name="Text Box 16">
              <a:extLst>
                <a:ext uri="{FF2B5EF4-FFF2-40B4-BE49-F238E27FC236}">
                  <a16:creationId xmlns:a16="http://schemas.microsoft.com/office/drawing/2014/main" id="{42943B4A-8563-AE83-F620-93E14C53E1B9}"/>
                </a:ext>
              </a:extLst>
            </p:cNvPr>
            <p:cNvSpPr txBox="1">
              <a:spLocks noChangeArrowheads="1"/>
            </p:cNvSpPr>
            <p:nvPr/>
          </p:nvSpPr>
          <p:spPr bwMode="auto">
            <a:xfrm>
              <a:off x="2208" y="246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√8</a:t>
              </a:r>
              <a:endParaRPr lang="en-US" altLang="en-US"/>
            </a:p>
          </p:txBody>
        </p:sp>
      </p:grpSp>
      <p:grpSp>
        <p:nvGrpSpPr>
          <p:cNvPr id="23570" name="Group 18">
            <a:extLst>
              <a:ext uri="{FF2B5EF4-FFF2-40B4-BE49-F238E27FC236}">
                <a16:creationId xmlns:a16="http://schemas.microsoft.com/office/drawing/2014/main" id="{3DFEB267-71F8-6FBB-6A04-D10DDB53DD48}"/>
              </a:ext>
            </a:extLst>
          </p:cNvPr>
          <p:cNvGrpSpPr>
            <a:grpSpLocks/>
          </p:cNvGrpSpPr>
          <p:nvPr/>
        </p:nvGrpSpPr>
        <p:grpSpPr bwMode="auto">
          <a:xfrm>
            <a:off x="3949700" y="5511800"/>
            <a:ext cx="533400" cy="800100"/>
            <a:chOff x="2208" y="2208"/>
            <a:chExt cx="336" cy="504"/>
          </a:xfrm>
        </p:grpSpPr>
        <p:sp>
          <p:nvSpPr>
            <p:cNvPr id="23571" name="Text Box 19">
              <a:extLst>
                <a:ext uri="{FF2B5EF4-FFF2-40B4-BE49-F238E27FC236}">
                  <a16:creationId xmlns:a16="http://schemas.microsoft.com/office/drawing/2014/main" id="{2EFC3B0A-9980-A7AD-5FC9-14F407E484D3}"/>
                </a:ext>
              </a:extLst>
            </p:cNvPr>
            <p:cNvSpPr txBox="1">
              <a:spLocks noChangeArrowheads="1"/>
            </p:cNvSpPr>
            <p:nvPr/>
          </p:nvSpPr>
          <p:spPr bwMode="auto">
            <a:xfrm>
              <a:off x="2256" y="2208"/>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1</a:t>
              </a:r>
              <a:endParaRPr lang="en-US" altLang="en-US"/>
            </a:p>
          </p:txBody>
        </p:sp>
        <p:sp>
          <p:nvSpPr>
            <p:cNvPr id="23572" name="Line 20">
              <a:extLst>
                <a:ext uri="{FF2B5EF4-FFF2-40B4-BE49-F238E27FC236}">
                  <a16:creationId xmlns:a16="http://schemas.microsoft.com/office/drawing/2014/main" id="{2AAC51E5-689C-91AF-4B67-D3A84DC70A7F}"/>
                </a:ext>
              </a:extLst>
            </p:cNvPr>
            <p:cNvSpPr>
              <a:spLocks noChangeShapeType="1"/>
            </p:cNvSpPr>
            <p:nvPr/>
          </p:nvSpPr>
          <p:spPr bwMode="auto">
            <a:xfrm>
              <a:off x="2280" y="2432"/>
              <a:ext cx="1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3" name="Text Box 21">
              <a:extLst>
                <a:ext uri="{FF2B5EF4-FFF2-40B4-BE49-F238E27FC236}">
                  <a16:creationId xmlns:a16="http://schemas.microsoft.com/office/drawing/2014/main" id="{9B9D07FD-E544-5AAD-0289-D0B0DAD9FC57}"/>
                </a:ext>
              </a:extLst>
            </p:cNvPr>
            <p:cNvSpPr txBox="1">
              <a:spLocks noChangeArrowheads="1"/>
            </p:cNvSpPr>
            <p:nvPr/>
          </p:nvSpPr>
          <p:spPr bwMode="auto">
            <a:xfrm>
              <a:off x="2208" y="246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√8</a:t>
              </a:r>
              <a:endParaRPr lang="en-US" altLang="en-US"/>
            </a:p>
          </p:txBody>
        </p:sp>
      </p:grpSp>
      <p:grpSp>
        <p:nvGrpSpPr>
          <p:cNvPr id="23574" name="Group 22">
            <a:extLst>
              <a:ext uri="{FF2B5EF4-FFF2-40B4-BE49-F238E27FC236}">
                <a16:creationId xmlns:a16="http://schemas.microsoft.com/office/drawing/2014/main" id="{1DCA501B-AA5F-C23B-785E-DFD9DFC9A79A}"/>
              </a:ext>
            </a:extLst>
          </p:cNvPr>
          <p:cNvGrpSpPr>
            <a:grpSpLocks/>
          </p:cNvGrpSpPr>
          <p:nvPr/>
        </p:nvGrpSpPr>
        <p:grpSpPr bwMode="auto">
          <a:xfrm>
            <a:off x="5981700" y="5511800"/>
            <a:ext cx="533400" cy="800100"/>
            <a:chOff x="2208" y="2208"/>
            <a:chExt cx="336" cy="504"/>
          </a:xfrm>
        </p:grpSpPr>
        <p:sp>
          <p:nvSpPr>
            <p:cNvPr id="23575" name="Text Box 23">
              <a:extLst>
                <a:ext uri="{FF2B5EF4-FFF2-40B4-BE49-F238E27FC236}">
                  <a16:creationId xmlns:a16="http://schemas.microsoft.com/office/drawing/2014/main" id="{90787CE5-8413-E7CC-0415-17E9AE3670D0}"/>
                </a:ext>
              </a:extLst>
            </p:cNvPr>
            <p:cNvSpPr txBox="1">
              <a:spLocks noChangeArrowheads="1"/>
            </p:cNvSpPr>
            <p:nvPr/>
          </p:nvSpPr>
          <p:spPr bwMode="auto">
            <a:xfrm>
              <a:off x="2256" y="2208"/>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1</a:t>
              </a:r>
              <a:endParaRPr lang="en-US" altLang="en-US"/>
            </a:p>
          </p:txBody>
        </p:sp>
        <p:sp>
          <p:nvSpPr>
            <p:cNvPr id="23576" name="Line 24">
              <a:extLst>
                <a:ext uri="{FF2B5EF4-FFF2-40B4-BE49-F238E27FC236}">
                  <a16:creationId xmlns:a16="http://schemas.microsoft.com/office/drawing/2014/main" id="{288436D1-A44E-D1AE-112F-5CE7765E8A6A}"/>
                </a:ext>
              </a:extLst>
            </p:cNvPr>
            <p:cNvSpPr>
              <a:spLocks noChangeShapeType="1"/>
            </p:cNvSpPr>
            <p:nvPr/>
          </p:nvSpPr>
          <p:spPr bwMode="auto">
            <a:xfrm>
              <a:off x="2280" y="2432"/>
              <a:ext cx="1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7" name="Text Box 25">
              <a:extLst>
                <a:ext uri="{FF2B5EF4-FFF2-40B4-BE49-F238E27FC236}">
                  <a16:creationId xmlns:a16="http://schemas.microsoft.com/office/drawing/2014/main" id="{62D76754-DC8B-8507-77E6-64951F2C0840}"/>
                </a:ext>
              </a:extLst>
            </p:cNvPr>
            <p:cNvSpPr txBox="1">
              <a:spLocks noChangeArrowheads="1"/>
            </p:cNvSpPr>
            <p:nvPr/>
          </p:nvSpPr>
          <p:spPr bwMode="auto">
            <a:xfrm>
              <a:off x="2208" y="246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√8</a:t>
              </a:r>
              <a:endParaRPr lang="en-US" altLang="en-US"/>
            </a:p>
          </p:txBody>
        </p:sp>
      </p:grpSp>
      <p:pic>
        <p:nvPicPr>
          <p:cNvPr id="2" name="Picture 1" descr="A screenshot of a computer&#10;&#10;Description automatically generated">
            <a:extLst>
              <a:ext uri="{FF2B5EF4-FFF2-40B4-BE49-F238E27FC236}">
                <a16:creationId xmlns:a16="http://schemas.microsoft.com/office/drawing/2014/main" id="{21ADFB7A-6DDE-7272-D8A1-3B4AF778E3A3}"/>
              </a:ext>
            </a:extLst>
          </p:cNvPr>
          <p:cNvPicPr>
            <a:picLocks noChangeAspect="1"/>
          </p:cNvPicPr>
          <p:nvPr/>
        </p:nvPicPr>
        <p:blipFill rotWithShape="1">
          <a:blip r:embed="rId4"/>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D65E32C-6284-DAB7-0E7E-75D4CEB693AB}"/>
              </a:ext>
            </a:extLst>
          </p:cNvPr>
          <p:cNvSpPr>
            <a:spLocks noGrp="1" noChangeArrowheads="1"/>
          </p:cNvSpPr>
          <p:nvPr>
            <p:ph type="title"/>
          </p:nvPr>
        </p:nvSpPr>
        <p:spPr>
          <a:xfrm>
            <a:off x="1835150" y="321673"/>
            <a:ext cx="6699250" cy="592727"/>
          </a:xfrm>
        </p:spPr>
        <p:style>
          <a:lnRef idx="1">
            <a:schemeClr val="accent2"/>
          </a:lnRef>
          <a:fillRef idx="2">
            <a:schemeClr val="accent2"/>
          </a:fillRef>
          <a:effectRef idx="1">
            <a:schemeClr val="accent2"/>
          </a:effectRef>
          <a:fontRef idx="minor">
            <a:schemeClr val="dk1"/>
          </a:fontRef>
        </p:style>
        <p:txBody>
          <a:bodyPr>
            <a:normAutofit/>
          </a:bodyPr>
          <a:lstStyle/>
          <a:p>
            <a:r>
              <a:rPr lang="en-US" altLang="en-US" sz="2400" dirty="0"/>
              <a:t>Data Retrieval</a:t>
            </a:r>
            <a:endParaRPr lang="en-US" altLang="en-US" dirty="0"/>
          </a:p>
        </p:txBody>
      </p:sp>
      <p:sp>
        <p:nvSpPr>
          <p:cNvPr id="6148" name="Text Box 4">
            <a:extLst>
              <a:ext uri="{FF2B5EF4-FFF2-40B4-BE49-F238E27FC236}">
                <a16:creationId xmlns:a16="http://schemas.microsoft.com/office/drawing/2014/main" id="{65ADE23A-0AF8-9177-BAC0-9CC68193C01C}"/>
              </a:ext>
            </a:extLst>
          </p:cNvPr>
          <p:cNvSpPr txBox="1">
            <a:spLocks noChangeArrowheads="1"/>
          </p:cNvSpPr>
          <p:nvPr/>
        </p:nvSpPr>
        <p:spPr bwMode="auto">
          <a:xfrm>
            <a:off x="533400" y="1570038"/>
            <a:ext cx="8001000" cy="338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Font typeface="Wingdings" pitchFamily="2" charset="2"/>
              <a:buChar char="§"/>
            </a:pPr>
            <a:r>
              <a:rPr lang="en-US" altLang="en-US"/>
              <a:t> In general, an n qubit register can represent the numbers 0 through 2^n-1 simultaneously.</a:t>
            </a:r>
          </a:p>
          <a:p>
            <a:pPr algn="ctr">
              <a:spcBef>
                <a:spcPct val="50000"/>
              </a:spcBef>
            </a:pPr>
            <a:r>
              <a:rPr lang="en-US" altLang="en-US" sz="2800" b="1">
                <a:solidFill>
                  <a:schemeClr val="accent1"/>
                </a:solidFill>
              </a:rPr>
              <a:t>Sound too good to be true?…It is!</a:t>
            </a:r>
            <a:endParaRPr lang="en-US" altLang="en-US"/>
          </a:p>
          <a:p>
            <a:pPr>
              <a:spcBef>
                <a:spcPct val="50000"/>
              </a:spcBef>
              <a:buClr>
                <a:schemeClr val="accent2"/>
              </a:buClr>
              <a:buFont typeface="Wingdings" pitchFamily="2" charset="2"/>
              <a:buChar char="§"/>
            </a:pPr>
            <a:r>
              <a:rPr lang="en-US" altLang="en-US"/>
              <a:t> If we attempt to retrieve the values represented within a superposition, the </a:t>
            </a:r>
            <a:r>
              <a:rPr lang="en-US" altLang="en-US" b="1"/>
              <a:t>superposition randomly collapses</a:t>
            </a:r>
            <a:r>
              <a:rPr lang="en-US" altLang="en-US"/>
              <a:t> to represent just one of the original values. </a:t>
            </a:r>
          </a:p>
          <a:p>
            <a:pPr>
              <a:spcBef>
                <a:spcPct val="50000"/>
              </a:spcBef>
            </a:pPr>
            <a:endParaRPr lang="en-US" altLang="en-US" sz="2800">
              <a:sym typeface="Symbol" pitchFamily="2" charset="2"/>
            </a:endParaRPr>
          </a:p>
        </p:txBody>
      </p:sp>
      <p:sp>
        <p:nvSpPr>
          <p:cNvPr id="6153" name="Text Box 9">
            <a:extLst>
              <a:ext uri="{FF2B5EF4-FFF2-40B4-BE49-F238E27FC236}">
                <a16:creationId xmlns:a16="http://schemas.microsoft.com/office/drawing/2014/main" id="{E440ACC0-57C0-BE43-309B-FC5D3A2F1153}"/>
              </a:ext>
            </a:extLst>
          </p:cNvPr>
          <p:cNvSpPr txBox="1">
            <a:spLocks noChangeArrowheads="1"/>
          </p:cNvSpPr>
          <p:nvPr/>
        </p:nvSpPr>
        <p:spPr bwMode="auto">
          <a:xfrm>
            <a:off x="762000" y="4953000"/>
            <a:ext cx="7620000" cy="15621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In our equation:  |</a:t>
            </a:r>
            <a:r>
              <a:rPr lang="en-US" altLang="en-US">
                <a:sym typeface="Symbol" pitchFamily="2" charset="2"/>
              </a:rPr>
              <a:t>&gt; =   </a:t>
            </a:r>
            <a:r>
              <a:rPr lang="en-US" altLang="en-US"/>
              <a:t>|0&gt; + </a:t>
            </a:r>
            <a:r>
              <a:rPr lang="en-US" altLang="en-US">
                <a:sym typeface="Symbol" pitchFamily="2" charset="2"/>
              </a:rPr>
              <a:t></a:t>
            </a:r>
            <a:r>
              <a:rPr lang="en-US" altLang="en-US"/>
              <a:t>  |1&gt; , </a:t>
            </a:r>
            <a:r>
              <a:rPr lang="en-US" altLang="en-US">
                <a:sym typeface="Symbol" pitchFamily="2" charset="2"/>
              </a:rPr>
              <a:t>  represents the probability of the superposition collapsing to |0&gt;.  The ’s are called probability amplitudes.  In a balanced superposition,  = 1/√2   where n is the number of qubits.</a:t>
            </a:r>
          </a:p>
        </p:txBody>
      </p:sp>
      <p:sp>
        <p:nvSpPr>
          <p:cNvPr id="6149" name="Text Box 5">
            <a:extLst>
              <a:ext uri="{FF2B5EF4-FFF2-40B4-BE49-F238E27FC236}">
                <a16:creationId xmlns:a16="http://schemas.microsoft.com/office/drawing/2014/main" id="{2B790F3F-E2F9-E119-2026-B441A4FB5411}"/>
              </a:ext>
            </a:extLst>
          </p:cNvPr>
          <p:cNvSpPr txBox="1">
            <a:spLocks noChangeArrowheads="1"/>
          </p:cNvSpPr>
          <p:nvPr/>
        </p:nvSpPr>
        <p:spPr bwMode="auto">
          <a:xfrm>
            <a:off x="3848100" y="5094288"/>
            <a:ext cx="180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1</a:t>
            </a:r>
            <a:endParaRPr lang="en-US" altLang="en-US"/>
          </a:p>
        </p:txBody>
      </p:sp>
      <p:sp>
        <p:nvSpPr>
          <p:cNvPr id="6150" name="Text Box 6">
            <a:extLst>
              <a:ext uri="{FF2B5EF4-FFF2-40B4-BE49-F238E27FC236}">
                <a16:creationId xmlns:a16="http://schemas.microsoft.com/office/drawing/2014/main" id="{0A476960-F0C1-F566-CCFF-DFA8808DD421}"/>
              </a:ext>
            </a:extLst>
          </p:cNvPr>
          <p:cNvSpPr txBox="1">
            <a:spLocks noChangeArrowheads="1"/>
          </p:cNvSpPr>
          <p:nvPr/>
        </p:nvSpPr>
        <p:spPr bwMode="auto">
          <a:xfrm>
            <a:off x="4891088" y="5068888"/>
            <a:ext cx="180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2</a:t>
            </a:r>
            <a:endParaRPr lang="en-US" altLang="en-US"/>
          </a:p>
        </p:txBody>
      </p:sp>
      <p:sp>
        <p:nvSpPr>
          <p:cNvPr id="6151" name="Text Box 7">
            <a:extLst>
              <a:ext uri="{FF2B5EF4-FFF2-40B4-BE49-F238E27FC236}">
                <a16:creationId xmlns:a16="http://schemas.microsoft.com/office/drawing/2014/main" id="{A107E4C5-EA3F-1A2A-1C3E-A64C8950B0D3}"/>
              </a:ext>
            </a:extLst>
          </p:cNvPr>
          <p:cNvSpPr txBox="1">
            <a:spLocks noChangeArrowheads="1"/>
          </p:cNvSpPr>
          <p:nvPr/>
        </p:nvSpPr>
        <p:spPr bwMode="auto">
          <a:xfrm>
            <a:off x="5840413" y="5094288"/>
            <a:ext cx="180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1</a:t>
            </a:r>
            <a:endParaRPr lang="en-US" altLang="en-US"/>
          </a:p>
        </p:txBody>
      </p:sp>
      <p:sp>
        <p:nvSpPr>
          <p:cNvPr id="6155" name="Text Box 11">
            <a:extLst>
              <a:ext uri="{FF2B5EF4-FFF2-40B4-BE49-F238E27FC236}">
                <a16:creationId xmlns:a16="http://schemas.microsoft.com/office/drawing/2014/main" id="{70E31A8B-951E-46EA-45AF-D52F7E248E5A}"/>
              </a:ext>
            </a:extLst>
          </p:cNvPr>
          <p:cNvSpPr txBox="1">
            <a:spLocks noChangeArrowheads="1"/>
          </p:cNvSpPr>
          <p:nvPr/>
        </p:nvSpPr>
        <p:spPr bwMode="auto">
          <a:xfrm>
            <a:off x="1835150" y="59563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n</a:t>
            </a:r>
            <a:endParaRPr lang="en-US" altLang="en-US"/>
          </a:p>
        </p:txBody>
      </p:sp>
      <p:pic>
        <p:nvPicPr>
          <p:cNvPr id="2" name="Picture 1" descr="A screenshot of a computer&#10;&#10;Description automatically generated">
            <a:extLst>
              <a:ext uri="{FF2B5EF4-FFF2-40B4-BE49-F238E27FC236}">
                <a16:creationId xmlns:a16="http://schemas.microsoft.com/office/drawing/2014/main" id="{5768719A-6FD9-AAE0-7A79-02B7A27BE03D}"/>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3790B3E-BD63-94C6-FDB0-6CD0B8C5CC42}"/>
              </a:ext>
            </a:extLst>
          </p:cNvPr>
          <p:cNvSpPr>
            <a:spLocks noGrp="1" noChangeArrowheads="1"/>
          </p:cNvSpPr>
          <p:nvPr>
            <p:ph type="title"/>
          </p:nvPr>
        </p:nvSpPr>
        <p:spPr>
          <a:xfrm>
            <a:off x="1749345" y="253397"/>
            <a:ext cx="6897727" cy="745127"/>
          </a:xfrm>
        </p:spPr>
        <p:style>
          <a:lnRef idx="1">
            <a:schemeClr val="accent2"/>
          </a:lnRef>
          <a:fillRef idx="2">
            <a:schemeClr val="accent2"/>
          </a:fillRef>
          <a:effectRef idx="1">
            <a:schemeClr val="accent2"/>
          </a:effectRef>
          <a:fontRef idx="minor">
            <a:schemeClr val="dk1"/>
          </a:fontRef>
        </p:style>
        <p:txBody>
          <a:bodyPr/>
          <a:lstStyle/>
          <a:p>
            <a:r>
              <a:rPr lang="en-US" altLang="en-US" sz="2400" dirty="0"/>
              <a:t>Relationships among data - </a:t>
            </a:r>
            <a:r>
              <a:rPr lang="en-US" altLang="en-US" sz="2400" b="1" dirty="0"/>
              <a:t>Entanglement</a:t>
            </a:r>
            <a:endParaRPr lang="en-US" altLang="en-US" dirty="0"/>
          </a:p>
        </p:txBody>
      </p:sp>
      <p:sp>
        <p:nvSpPr>
          <p:cNvPr id="7172" name="Text Box 4">
            <a:extLst>
              <a:ext uri="{FF2B5EF4-FFF2-40B4-BE49-F238E27FC236}">
                <a16:creationId xmlns:a16="http://schemas.microsoft.com/office/drawing/2014/main" id="{6D1A3F90-2843-D45E-3169-263314D07B90}"/>
              </a:ext>
            </a:extLst>
          </p:cNvPr>
          <p:cNvSpPr txBox="1">
            <a:spLocks noChangeArrowheads="1"/>
          </p:cNvSpPr>
          <p:nvPr/>
        </p:nvSpPr>
        <p:spPr bwMode="auto">
          <a:xfrm>
            <a:off x="533400" y="1925638"/>
            <a:ext cx="8077200" cy="356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Font typeface="Wingdings" pitchFamily="2" charset="2"/>
              <a:buChar char="§"/>
            </a:pPr>
            <a:r>
              <a:rPr lang="en-US" altLang="en-US" b="1" i="1"/>
              <a:t>Entanglement</a:t>
            </a:r>
            <a:r>
              <a:rPr lang="en-US" altLang="en-US"/>
              <a:t> is the ability of quantum systems to exhibit correlations between states within a superposition.</a:t>
            </a:r>
          </a:p>
          <a:p>
            <a:pPr>
              <a:spcBef>
                <a:spcPct val="50000"/>
              </a:spcBef>
              <a:buClr>
                <a:schemeClr val="accent2"/>
              </a:buClr>
              <a:buFont typeface="Wingdings" pitchFamily="2" charset="2"/>
              <a:buChar char="§"/>
            </a:pPr>
            <a:r>
              <a:rPr lang="en-US" altLang="en-US"/>
              <a:t>Imagine two qubits, each in the state |0&gt; + |1&gt; (a superposition of the 0 and 1.)  We can entangle the two qubits such that the measurement of one qubit is always correlated to the measurement of the other qubit.</a:t>
            </a:r>
          </a:p>
          <a:p>
            <a:pPr>
              <a:spcBef>
                <a:spcPct val="50000"/>
              </a:spcBef>
            </a:pPr>
            <a:endParaRPr lang="en-US" altLang="en-US"/>
          </a:p>
          <a:p>
            <a:pPr>
              <a:spcBef>
                <a:spcPct val="50000"/>
              </a:spcBef>
            </a:pPr>
            <a:endParaRPr lang="en-US" altLang="en-US"/>
          </a:p>
        </p:txBody>
      </p:sp>
      <p:pic>
        <p:nvPicPr>
          <p:cNvPr id="2" name="Picture 1" descr="A screenshot of a computer&#10;&#10;Description automatically generated">
            <a:extLst>
              <a:ext uri="{FF2B5EF4-FFF2-40B4-BE49-F238E27FC236}">
                <a16:creationId xmlns:a16="http://schemas.microsoft.com/office/drawing/2014/main" id="{09C832A2-44AF-ABE2-19F7-6F63464F74B7}"/>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9B35ED52-1120-60FC-5D73-B6BA652EE2E9}"/>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screenshot of a computer&#10;&#10;Description automatically generated">
            <a:extLst>
              <a:ext uri="{FF2B5EF4-FFF2-40B4-BE49-F238E27FC236}">
                <a16:creationId xmlns:a16="http://schemas.microsoft.com/office/drawing/2014/main" id="{E78D5B35-768D-AF8C-042E-F90908095691}"/>
              </a:ext>
            </a:extLst>
          </p:cNvPr>
          <p:cNvPicPr>
            <a:picLocks noChangeAspect="1"/>
          </p:cNvPicPr>
          <p:nvPr/>
        </p:nvPicPr>
        <p:blipFill rotWithShape="1">
          <a:blip r:embed="rId7"/>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9C8608E1-AEE2-481E-C7A4-C8BD8392B4AE}"/>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Multi-Core CPU</a:t>
            </a:r>
          </a:p>
        </p:txBody>
      </p:sp>
      <p:sp>
        <p:nvSpPr>
          <p:cNvPr id="2" name="Footer Placeholder 12">
            <a:extLst>
              <a:ext uri="{FF2B5EF4-FFF2-40B4-BE49-F238E27FC236}">
                <a16:creationId xmlns:a16="http://schemas.microsoft.com/office/drawing/2014/main" id="{F24FB5CB-0721-3506-489E-B79769FC34F8}"/>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r>
              <a:rPr lang="en-IN" sz="4900" dirty="0"/>
              <a:t>Graphical Processing Units (GPUs)</a:t>
            </a:r>
          </a:p>
        </p:txBody>
      </p:sp>
      <p:cxnSp>
        <p:nvCxnSpPr>
          <p:cNvPr id="12" name="Straight Connector 1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4" name="Picture 3" descr="A screenshot of a computer&#10;&#10;Description automatically generated">
            <a:extLst>
              <a:ext uri="{FF2B5EF4-FFF2-40B4-BE49-F238E27FC236}">
                <a16:creationId xmlns:a16="http://schemas.microsoft.com/office/drawing/2014/main" id="{09E47120-4DE7-AC0F-AEDC-9149155A673F}"/>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graphicFrame>
        <p:nvGraphicFramePr>
          <p:cNvPr id="6" name="Content Placeholder 2">
            <a:extLst>
              <a:ext uri="{FF2B5EF4-FFF2-40B4-BE49-F238E27FC236}">
                <a16:creationId xmlns:a16="http://schemas.microsoft.com/office/drawing/2014/main" id="{70AD2979-1901-0070-CA74-5FB4E010C189}"/>
              </a:ext>
            </a:extLst>
          </p:cNvPr>
          <p:cNvGraphicFramePr>
            <a:graphicFrameLocks noGrp="1"/>
          </p:cNvGraphicFramePr>
          <p:nvPr>
            <p:ph idx="1"/>
            <p:extLst>
              <p:ext uri="{D42A27DB-BD31-4B8C-83A1-F6EECF244321}">
                <p14:modId xmlns:p14="http://schemas.microsoft.com/office/powerpoint/2010/main" val="2913256452"/>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3B9298F2-C24B-3FE1-63A8-D88682001E1D}"/>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GPU</a:t>
            </a:r>
          </a:p>
        </p:txBody>
      </p:sp>
      <p:sp>
        <p:nvSpPr>
          <p:cNvPr id="3" name="Footer Placeholder 12">
            <a:extLst>
              <a:ext uri="{FF2B5EF4-FFF2-40B4-BE49-F238E27FC236}">
                <a16:creationId xmlns:a16="http://schemas.microsoft.com/office/drawing/2014/main" id="{EB3C203D-85E5-CCB2-3AA9-346AADDA6E80}"/>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oter Placeholder 5"/>
          <p:cNvSpPr>
            <a:spLocks noGrp="1"/>
          </p:cNvSpPr>
          <p:nvPr>
            <p:ph type="ftr" sz="quarter" idx="11"/>
          </p:nvPr>
        </p:nvSpPr>
        <p:spPr>
          <a:noFill/>
        </p:spPr>
        <p:txBody>
          <a:bodyPr/>
          <a:lstStyle/>
          <a:p>
            <a:pPr defTabSz="958850"/>
            <a:r>
              <a:rPr lang="en-US"/>
              <a:t>Mikko Lipasti-University of Wisconsin</a:t>
            </a:r>
          </a:p>
        </p:txBody>
      </p:sp>
      <p:sp>
        <p:nvSpPr>
          <p:cNvPr id="4100" name="Slide Number Placeholder 6"/>
          <p:cNvSpPr>
            <a:spLocks noGrp="1"/>
          </p:cNvSpPr>
          <p:nvPr>
            <p:ph type="sldNum" sz="quarter" idx="12"/>
          </p:nvPr>
        </p:nvSpPr>
        <p:spPr>
          <a:noFill/>
        </p:spPr>
        <p:txBody>
          <a:bodyPr/>
          <a:lstStyle/>
          <a:p>
            <a:pPr defTabSz="958850"/>
            <a:fld id="{81DF338A-4E64-4D88-BC31-F8BD0BA20415}" type="slidenum">
              <a:rPr lang="en-US"/>
              <a:pPr defTabSz="958850"/>
              <a:t>80</a:t>
            </a:fld>
            <a:endParaRPr lang="en-US"/>
          </a:p>
        </p:txBody>
      </p:sp>
      <p:sp>
        <p:nvSpPr>
          <p:cNvPr id="718850" name="Rectangle 2"/>
          <p:cNvSpPr>
            <a:spLocks noGrp="1" noChangeArrowheads="1"/>
          </p:cNvSpPr>
          <p:nvPr>
            <p:ph type="title"/>
          </p:nvPr>
        </p:nvSpPr>
        <p:spPr>
          <a:xfrm>
            <a:off x="1749346" y="253398"/>
            <a:ext cx="7186692"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pPr defTabSz="914400" eaLnBrk="1" hangingPunct="1">
              <a:defRPr/>
            </a:pPr>
            <a:r>
              <a:rPr lang="en-US" dirty="0"/>
              <a:t>GPGPU</a:t>
            </a:r>
          </a:p>
        </p:txBody>
      </p:sp>
      <p:sp>
        <p:nvSpPr>
          <p:cNvPr id="718851" name="Rectangle 3"/>
          <p:cNvSpPr>
            <a:spLocks noGrp="1" noChangeArrowheads="1"/>
          </p:cNvSpPr>
          <p:nvPr>
            <p:ph type="body" sz="half" idx="1"/>
          </p:nvPr>
        </p:nvSpPr>
        <p:spPr>
          <a:xfrm>
            <a:off x="304800" y="1295400"/>
            <a:ext cx="8637588" cy="4953000"/>
          </a:xfrm>
        </p:spPr>
        <p:txBody>
          <a:bodyPr/>
          <a:lstStyle/>
          <a:p>
            <a:pPr marL="342900" indent="-342900" defTabSz="914400" eaLnBrk="1" hangingPunct="1">
              <a:defRPr/>
            </a:pPr>
            <a:r>
              <a:rPr lang="en-US" sz="2500" dirty="0"/>
              <a:t>“General purpose graphics processing unit”</a:t>
            </a:r>
          </a:p>
          <a:p>
            <a:pPr lvl="1" indent="-342900" eaLnBrk="1" hangingPunct="1">
              <a:defRPr/>
            </a:pPr>
            <a:r>
              <a:rPr lang="en-US" sz="2100" dirty="0"/>
              <a:t>Harness GPU </a:t>
            </a:r>
            <a:r>
              <a:rPr lang="en-US" sz="2100" dirty="0" err="1"/>
              <a:t>shader</a:t>
            </a:r>
            <a:r>
              <a:rPr lang="en-US" sz="2100" dirty="0"/>
              <a:t> cores for general computation</a:t>
            </a:r>
          </a:p>
          <a:p>
            <a:pPr lvl="1" indent="-342900" eaLnBrk="1" hangingPunct="1">
              <a:defRPr/>
            </a:pPr>
            <a:r>
              <a:rPr lang="en-US" sz="2100" dirty="0"/>
              <a:t>Poor name: oxymoron</a:t>
            </a:r>
          </a:p>
          <a:p>
            <a:pPr marL="342900" indent="-342900" defTabSz="914400" eaLnBrk="1" hangingPunct="1">
              <a:defRPr/>
            </a:pPr>
            <a:r>
              <a:rPr lang="en-US" sz="2500" dirty="0"/>
              <a:t>History</a:t>
            </a:r>
          </a:p>
          <a:p>
            <a:pPr lvl="1" indent="-342900" eaLnBrk="1" hangingPunct="1">
              <a:defRPr/>
            </a:pPr>
            <a:r>
              <a:rPr lang="en-US" sz="2100" dirty="0"/>
              <a:t>GPU </a:t>
            </a:r>
            <a:r>
              <a:rPr lang="en-US" sz="2100" dirty="0" err="1"/>
              <a:t>shader</a:t>
            </a:r>
            <a:r>
              <a:rPr lang="en-US" sz="2100" dirty="0"/>
              <a:t> cores provide increasing FP computation throughput</a:t>
            </a:r>
          </a:p>
          <a:p>
            <a:pPr lvl="1" indent="-342900" eaLnBrk="1" hangingPunct="1">
              <a:defRPr/>
            </a:pPr>
            <a:r>
              <a:rPr lang="en-US" sz="2100" dirty="0"/>
              <a:t>Only accessible through graphic device driver (e.g. DirectX/OpenGL)</a:t>
            </a:r>
          </a:p>
          <a:p>
            <a:pPr lvl="1" indent="-342900" eaLnBrk="1" hangingPunct="1">
              <a:defRPr/>
            </a:pPr>
            <a:r>
              <a:rPr lang="en-US" sz="2100" dirty="0"/>
              <a:t>Early 2000’s  “hackers” learn to write programs</a:t>
            </a:r>
          </a:p>
          <a:p>
            <a:pPr lvl="1" indent="-342900" eaLnBrk="1" hangingPunct="1">
              <a:defRPr/>
            </a:pPr>
            <a:r>
              <a:rPr lang="en-US" sz="2100" dirty="0"/>
              <a:t>Mid 2000’s </a:t>
            </a:r>
            <a:r>
              <a:rPr lang="en-US" sz="2100" dirty="0" err="1"/>
              <a:t>Nvidia</a:t>
            </a:r>
            <a:r>
              <a:rPr lang="en-US" sz="2100" dirty="0"/>
              <a:t> decides to create CUDA framework</a:t>
            </a:r>
          </a:p>
          <a:p>
            <a:pPr marL="742950" lvl="1" indent="-285750" defTabSz="914400" eaLnBrk="1" hangingPunct="1">
              <a:defRPr/>
            </a:pPr>
            <a:r>
              <a:rPr lang="en-US" sz="2100" dirty="0"/>
              <a:t>ATI follows with </a:t>
            </a:r>
            <a:r>
              <a:rPr lang="en-US" sz="2100" dirty="0" err="1"/>
              <a:t>OpenCL</a:t>
            </a:r>
            <a:endParaRPr lang="en-US" sz="2100" dirty="0"/>
          </a:p>
          <a:p>
            <a:pPr indent="-285750" eaLnBrk="1" hangingPunct="1">
              <a:defRPr/>
            </a:pPr>
            <a:r>
              <a:rPr lang="en-US" sz="2500" dirty="0"/>
              <a:t>Compute Unified Device Architecture == CUDA</a:t>
            </a:r>
          </a:p>
          <a:p>
            <a:pPr lvl="1" eaLnBrk="1" hangingPunct="1">
              <a:defRPr/>
            </a:pPr>
            <a:r>
              <a:rPr lang="en-US" sz="2100" dirty="0"/>
              <a:t>Heavily-multithreaded multiprocessor, NCC-UMA (sort of)</a:t>
            </a:r>
          </a:p>
          <a:p>
            <a:pPr lvl="1" eaLnBrk="1" hangingPunct="1">
              <a:defRPr/>
            </a:pPr>
            <a:r>
              <a:rPr lang="en-US" sz="2100" dirty="0"/>
              <a:t>Software toolkit: C-like source/APIs =&gt; PTX binary</a:t>
            </a:r>
          </a:p>
        </p:txBody>
      </p:sp>
      <p:pic>
        <p:nvPicPr>
          <p:cNvPr id="7"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515100" y="1516075"/>
            <a:ext cx="2209800" cy="1476375"/>
          </a:xfrm>
          <a:prstGeom prst="rect">
            <a:avLst/>
          </a:prstGeom>
          <a:noFill/>
          <a:ln w="9525">
            <a:noFill/>
            <a:miter lim="800000"/>
            <a:headEnd/>
            <a:tailEnd/>
          </a:ln>
        </p:spPr>
      </p:pic>
      <p:pic>
        <p:nvPicPr>
          <p:cNvPr id="2" name="Picture 1" descr="A screenshot of a computer&#10;&#10;Description automatically generated">
            <a:extLst>
              <a:ext uri="{FF2B5EF4-FFF2-40B4-BE49-F238E27FC236}">
                <a16:creationId xmlns:a16="http://schemas.microsoft.com/office/drawing/2014/main" id="{74BD5954-28ED-DFC6-EF3B-162C342D0F60}"/>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491310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1749346" y="0"/>
            <a:ext cx="6861254" cy="745127"/>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dirty="0"/>
              <a:t>Speedup of Applications</a:t>
            </a:r>
          </a:p>
        </p:txBody>
      </p:sp>
      <p:sp>
        <p:nvSpPr>
          <p:cNvPr id="1029" name="Rectangle 3"/>
          <p:cNvSpPr>
            <a:spLocks noGrp="1" noChangeArrowheads="1"/>
          </p:cNvSpPr>
          <p:nvPr>
            <p:ph type="body" sz="half" idx="2"/>
          </p:nvPr>
        </p:nvSpPr>
        <p:spPr>
          <a:xfrm>
            <a:off x="685800" y="4038600"/>
            <a:ext cx="7924800" cy="1639888"/>
          </a:xfrm>
        </p:spPr>
        <p:txBody>
          <a:bodyPr>
            <a:normAutofit fontScale="85000" lnSpcReduction="20000"/>
          </a:bodyPr>
          <a:lstStyle/>
          <a:p>
            <a:pPr marL="234950" indent="-179388" eaLnBrk="1" hangingPunct="1">
              <a:lnSpc>
                <a:spcPct val="90000"/>
              </a:lnSpc>
            </a:pPr>
            <a:r>
              <a:rPr lang="en-US" sz="2000" dirty="0" err="1"/>
              <a:t>GeForce</a:t>
            </a:r>
            <a:r>
              <a:rPr lang="en-US" sz="2000" dirty="0"/>
              <a:t> 8800 GTX vs. 2.2GHz </a:t>
            </a:r>
            <a:r>
              <a:rPr lang="en-US" sz="2000" dirty="0" err="1"/>
              <a:t>Opteron</a:t>
            </a:r>
            <a:r>
              <a:rPr lang="en-US" sz="2000" dirty="0"/>
              <a:t> 248 </a:t>
            </a:r>
          </a:p>
          <a:p>
            <a:pPr marL="234950" indent="-179388" eaLnBrk="1" hangingPunct="1">
              <a:lnSpc>
                <a:spcPct val="90000"/>
              </a:lnSpc>
            </a:pPr>
            <a:r>
              <a:rPr lang="en-US" sz="2000" dirty="0"/>
              <a:t>10</a:t>
            </a:r>
            <a:r>
              <a:rPr lang="en-US" sz="2000" dirty="0">
                <a:sym typeface="Symbol" pitchFamily="18" charset="2"/>
              </a:rPr>
              <a:t> speedup in a kernel is typical, as long as the kernel can occupy enough parallel threads</a:t>
            </a:r>
          </a:p>
          <a:p>
            <a:pPr marL="234950" indent="-179388" eaLnBrk="1" hangingPunct="1">
              <a:lnSpc>
                <a:spcPct val="90000"/>
              </a:lnSpc>
            </a:pPr>
            <a:r>
              <a:rPr lang="en-US" sz="2000" dirty="0">
                <a:sym typeface="Symbol" pitchFamily="18" charset="2"/>
              </a:rPr>
              <a:t>25 to 400 speedup if the function’s data requirements and control flow suit the GPU and the application is optimized</a:t>
            </a:r>
          </a:p>
          <a:p>
            <a:pPr marL="234950" indent="-179388" eaLnBrk="1" hangingPunct="1">
              <a:lnSpc>
                <a:spcPct val="90000"/>
              </a:lnSpc>
            </a:pPr>
            <a:r>
              <a:rPr lang="en-US" sz="2000" dirty="0"/>
              <a:t>Keep in mind that the speedup also reflects how suitable the CPU is for executing the kernel</a:t>
            </a:r>
          </a:p>
        </p:txBody>
      </p:sp>
      <p:graphicFrame>
        <p:nvGraphicFramePr>
          <p:cNvPr id="1026" name="Object 4"/>
          <p:cNvGraphicFramePr>
            <a:graphicFrameLocks noGrp="1" noChangeAspect="1"/>
          </p:cNvGraphicFramePr>
          <p:nvPr>
            <p:ph sz="half" idx="1"/>
            <p:extLst>
              <p:ext uri="{D42A27DB-BD31-4B8C-83A1-F6EECF244321}">
                <p14:modId xmlns:p14="http://schemas.microsoft.com/office/powerpoint/2010/main" val="4264743914"/>
              </p:ext>
            </p:extLst>
          </p:nvPr>
        </p:nvGraphicFramePr>
        <p:xfrm>
          <a:off x="0" y="551761"/>
          <a:ext cx="9144000" cy="3657600"/>
        </p:xfrm>
        <a:graphic>
          <a:graphicData uri="http://schemas.openxmlformats.org/presentationml/2006/ole">
            <mc:AlternateContent xmlns:mc="http://schemas.openxmlformats.org/markup-compatibility/2006">
              <mc:Choice xmlns:v="urn:schemas-microsoft-com:vml" Requires="v">
                <p:oleObj name="Visio" r:id="rId3" imgW="6849656" imgH="2739676" progId="">
                  <p:embed/>
                </p:oleObj>
              </mc:Choice>
              <mc:Fallback>
                <p:oleObj name="Visio" r:id="rId3" imgW="6849656" imgH="2739676" progId="">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1761"/>
                        <a:ext cx="9144000" cy="365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3"/>
          <p:cNvSpPr txBox="1">
            <a:spLocks/>
          </p:cNvSpPr>
          <p:nvPr/>
        </p:nvSpPr>
        <p:spPr>
          <a:xfrm>
            <a:off x="381000" y="6172200"/>
            <a:ext cx="4191000" cy="609600"/>
          </a:xfrm>
          <a:prstGeom prst="rect">
            <a:avLst/>
          </a:prstGeom>
          <a:noFill/>
          <a:ln/>
        </p:spPr>
        <p:txBody>
          <a:bodyPr vert="horz" lIns="91440" tIns="45720" rIns="91440" bIns="457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tx1">
                    <a:tint val="75000"/>
                  </a:schemeClr>
                </a:solidFill>
                <a:effectLst/>
                <a:uLnTx/>
                <a:uFillTx/>
                <a:latin typeface="+mn-lt"/>
                <a:ea typeface="+mn-ea"/>
                <a:cs typeface="+mn-cs"/>
              </a:rPr>
              <a:t>© David Kirk/NVIDIA and </a:t>
            </a:r>
            <a:r>
              <a:rPr kumimoji="0" lang="en-US" sz="1400" b="0" i="0" u="none" strike="noStrike" kern="1200" cap="none" spc="0" normalizeH="0" baseline="0" noProof="0" dirty="0" err="1">
                <a:ln>
                  <a:noFill/>
                </a:ln>
                <a:solidFill>
                  <a:schemeClr val="tx1">
                    <a:tint val="75000"/>
                  </a:schemeClr>
                </a:solidFill>
                <a:effectLst/>
                <a:uLnTx/>
                <a:uFillTx/>
                <a:latin typeface="+mn-lt"/>
                <a:ea typeface="+mn-ea"/>
                <a:cs typeface="+mn-cs"/>
              </a:rPr>
              <a:t>Wen-mei</a:t>
            </a:r>
            <a:r>
              <a:rPr kumimoji="0" lang="en-US" sz="1400" b="0" i="0" u="none" strike="noStrike" kern="1200" cap="none" spc="0" normalizeH="0" baseline="0" noProof="0" dirty="0">
                <a:ln>
                  <a:noFill/>
                </a:ln>
                <a:solidFill>
                  <a:schemeClr val="tx1">
                    <a:tint val="75000"/>
                  </a:schemeClr>
                </a:solidFill>
                <a:effectLst/>
                <a:uLnTx/>
                <a:uFillTx/>
                <a:latin typeface="+mn-lt"/>
                <a:ea typeface="+mn-ea"/>
                <a:cs typeface="+mn-cs"/>
              </a:rPr>
              <a:t> W. </a:t>
            </a:r>
            <a:r>
              <a:rPr kumimoji="0" lang="en-US" sz="1400" b="0" i="0" u="none" strike="noStrike" kern="1200" cap="none" spc="0" normalizeH="0" baseline="0" noProof="0" dirty="0" err="1">
                <a:ln>
                  <a:noFill/>
                </a:ln>
                <a:solidFill>
                  <a:schemeClr val="tx1">
                    <a:tint val="75000"/>
                  </a:schemeClr>
                </a:solidFill>
                <a:effectLst/>
                <a:uLnTx/>
                <a:uFillTx/>
                <a:latin typeface="+mn-lt"/>
                <a:ea typeface="+mn-ea"/>
                <a:cs typeface="+mn-cs"/>
              </a:rPr>
              <a:t>Hwu</a:t>
            </a:r>
            <a:r>
              <a:rPr kumimoji="0" lang="en-US" sz="1400" b="0" i="0" u="none" strike="noStrike" kern="1200" cap="none" spc="0" normalizeH="0" baseline="0" noProof="0" dirty="0">
                <a:ln>
                  <a:noFill/>
                </a:ln>
                <a:solidFill>
                  <a:schemeClr val="tx1">
                    <a:tint val="75000"/>
                  </a:schemeClr>
                </a:solidFill>
                <a:effectLst/>
                <a:uLnTx/>
                <a:uFillTx/>
                <a:latin typeface="+mn-lt"/>
                <a:ea typeface="+mn-ea"/>
                <a:cs typeface="+mn-cs"/>
              </a:rPr>
              <a:t>, 2007</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tx1">
                    <a:tint val="75000"/>
                  </a:schemeClr>
                </a:solidFill>
                <a:effectLst/>
                <a:uLnTx/>
                <a:uFillTx/>
                <a:latin typeface="+mn-lt"/>
                <a:ea typeface="+mn-ea"/>
                <a:cs typeface="+mn-cs"/>
              </a:rPr>
              <a:t>ECE 498AL, University of Illinois, Urbana-Champaign</a:t>
            </a:r>
          </a:p>
        </p:txBody>
      </p:sp>
      <p:pic>
        <p:nvPicPr>
          <p:cNvPr id="2" name="Picture 1" descr="A screenshot of a computer&#10;&#10;Description automatically generated">
            <a:extLst>
              <a:ext uri="{FF2B5EF4-FFF2-40B4-BE49-F238E27FC236}">
                <a16:creationId xmlns:a16="http://schemas.microsoft.com/office/drawing/2014/main" id="{D110176E-14B6-3B93-29C6-DC3457818FBE}"/>
              </a:ext>
            </a:extLst>
          </p:cNvPr>
          <p:cNvPicPr>
            <a:picLocks noChangeAspect="1"/>
          </p:cNvPicPr>
          <p:nvPr/>
        </p:nvPicPr>
        <p:blipFill rotWithShape="1">
          <a:blip r:embed="rId5"/>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959178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749346" y="228600"/>
            <a:ext cx="7394654" cy="579438"/>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sz="4000" dirty="0"/>
              <a:t>Single-Program Multiple-Data (SPMD)</a:t>
            </a:r>
          </a:p>
        </p:txBody>
      </p:sp>
      <p:sp>
        <p:nvSpPr>
          <p:cNvPr id="13316" name="Rectangle 3"/>
          <p:cNvSpPr>
            <a:spLocks noGrp="1" noChangeArrowheads="1"/>
          </p:cNvSpPr>
          <p:nvPr>
            <p:ph type="body" sz="half" idx="1"/>
          </p:nvPr>
        </p:nvSpPr>
        <p:spPr>
          <a:xfrm>
            <a:off x="685800" y="990600"/>
            <a:ext cx="8305800" cy="1104900"/>
          </a:xfrm>
        </p:spPr>
        <p:txBody>
          <a:bodyPr>
            <a:normAutofit lnSpcReduction="10000"/>
          </a:bodyPr>
          <a:lstStyle/>
          <a:p>
            <a:pPr marL="457200" indent="-457200" eaLnBrk="1" hangingPunct="1"/>
            <a:r>
              <a:rPr lang="en-US" sz="2400"/>
              <a:t>CUDA integrated CPU + GPU application C program</a:t>
            </a:r>
          </a:p>
          <a:p>
            <a:pPr marL="974725" lvl="1" indent="-403225" eaLnBrk="1" hangingPunct="1"/>
            <a:r>
              <a:rPr lang="en-US" sz="2000"/>
              <a:t>Serial C code executes on CPU</a:t>
            </a:r>
          </a:p>
          <a:p>
            <a:pPr marL="974725" lvl="1" indent="-403225" eaLnBrk="1" hangingPunct="1"/>
            <a:r>
              <a:rPr lang="en-US" sz="2000"/>
              <a:t>Parallel Kernel C code executes on GPU thread blocks</a:t>
            </a:r>
          </a:p>
        </p:txBody>
      </p:sp>
      <p:sp>
        <p:nvSpPr>
          <p:cNvPr id="13317" name="Text Box 4"/>
          <p:cNvSpPr txBox="1">
            <a:spLocks noChangeArrowheads="1"/>
          </p:cNvSpPr>
          <p:nvPr/>
        </p:nvSpPr>
        <p:spPr bwMode="auto">
          <a:xfrm>
            <a:off x="1346200" y="2451100"/>
            <a:ext cx="2262188" cy="325438"/>
          </a:xfrm>
          <a:prstGeom prst="rect">
            <a:avLst/>
          </a:prstGeom>
          <a:noFill/>
          <a:ln w="9525" algn="ctr">
            <a:noFill/>
            <a:miter lim="800000"/>
            <a:headEnd/>
            <a:tailEnd/>
          </a:ln>
        </p:spPr>
        <p:txBody>
          <a:bodyPr>
            <a:spAutoFit/>
          </a:bodyPr>
          <a:lstStyle/>
          <a:p>
            <a:pPr algn="ctr">
              <a:lnSpc>
                <a:spcPct val="85000"/>
              </a:lnSpc>
              <a:spcBef>
                <a:spcPct val="10000"/>
              </a:spcBef>
            </a:pPr>
            <a:r>
              <a:rPr lang="en-US" sz="1800" b="1" dirty="0">
                <a:latin typeface="Arial" pitchFamily="34" charset="0"/>
              </a:rPr>
              <a:t>CPU Serial Code</a:t>
            </a:r>
          </a:p>
        </p:txBody>
      </p:sp>
      <p:sp>
        <p:nvSpPr>
          <p:cNvPr id="13318" name="Text Box 5"/>
          <p:cNvSpPr txBox="1">
            <a:spLocks noChangeArrowheads="1"/>
          </p:cNvSpPr>
          <p:nvPr/>
        </p:nvSpPr>
        <p:spPr bwMode="auto">
          <a:xfrm>
            <a:off x="7469188" y="2681288"/>
            <a:ext cx="911225" cy="366712"/>
          </a:xfrm>
          <a:prstGeom prst="rect">
            <a:avLst/>
          </a:prstGeom>
          <a:noFill/>
          <a:ln w="19050" algn="ctr">
            <a:noFill/>
            <a:miter lim="800000"/>
            <a:headEnd/>
            <a:tailEnd/>
          </a:ln>
        </p:spPr>
        <p:txBody>
          <a:bodyPr>
            <a:spAutoFit/>
          </a:bodyPr>
          <a:lstStyle/>
          <a:p>
            <a:pPr algn="ctr"/>
            <a:r>
              <a:rPr lang="en-US" sz="1800" b="1">
                <a:solidFill>
                  <a:srgbClr val="00CC00"/>
                </a:solidFill>
                <a:latin typeface="Arial" pitchFamily="34" charset="0"/>
              </a:rPr>
              <a:t>Grid 0</a:t>
            </a:r>
          </a:p>
        </p:txBody>
      </p:sp>
      <p:grpSp>
        <p:nvGrpSpPr>
          <p:cNvPr id="2" name="Group 6"/>
          <p:cNvGrpSpPr>
            <a:grpSpLocks/>
          </p:cNvGrpSpPr>
          <p:nvPr/>
        </p:nvGrpSpPr>
        <p:grpSpPr bwMode="auto">
          <a:xfrm>
            <a:off x="4471988" y="3105150"/>
            <a:ext cx="3927475" cy="835025"/>
            <a:chOff x="258" y="2682"/>
            <a:chExt cx="2474" cy="592"/>
          </a:xfrm>
        </p:grpSpPr>
        <p:sp>
          <p:nvSpPr>
            <p:cNvPr id="13385" name="Rectangle 7"/>
            <p:cNvSpPr>
              <a:spLocks noChangeArrowheads="1"/>
            </p:cNvSpPr>
            <p:nvPr/>
          </p:nvSpPr>
          <p:spPr bwMode="auto">
            <a:xfrm>
              <a:off x="258" y="2682"/>
              <a:ext cx="2474" cy="592"/>
            </a:xfrm>
            <a:prstGeom prst="rect">
              <a:avLst/>
            </a:prstGeom>
            <a:noFill/>
            <a:ln w="28575" algn="ctr">
              <a:solidFill>
                <a:srgbClr val="00CC00"/>
              </a:solidFill>
              <a:miter lim="800000"/>
              <a:headEnd/>
              <a:tailEnd/>
            </a:ln>
          </p:spPr>
          <p:txBody>
            <a:bodyPr wrap="none" anchor="ctr"/>
            <a:lstStyle/>
            <a:p>
              <a:endParaRPr lang="en-US"/>
            </a:p>
          </p:txBody>
        </p:sp>
        <p:sp>
          <p:nvSpPr>
            <p:cNvPr id="13386" name="Text Box 8"/>
            <p:cNvSpPr txBox="1">
              <a:spLocks noChangeArrowheads="1"/>
            </p:cNvSpPr>
            <p:nvPr/>
          </p:nvSpPr>
          <p:spPr bwMode="auto">
            <a:xfrm>
              <a:off x="1872" y="2909"/>
              <a:ext cx="316" cy="260"/>
            </a:xfrm>
            <a:prstGeom prst="rect">
              <a:avLst/>
            </a:prstGeom>
            <a:noFill/>
            <a:ln w="19050" algn="ctr">
              <a:noFill/>
              <a:miter lim="800000"/>
              <a:headEnd/>
              <a:tailEnd/>
            </a:ln>
          </p:spPr>
          <p:txBody>
            <a:bodyPr>
              <a:spAutoFit/>
            </a:bodyPr>
            <a:lstStyle/>
            <a:p>
              <a:pPr algn="ctr"/>
              <a:r>
                <a:rPr lang="en-US" sz="1800" b="1">
                  <a:latin typeface="Arial" pitchFamily="34" charset="0"/>
                </a:rPr>
                <a:t>. . .</a:t>
              </a:r>
            </a:p>
          </p:txBody>
        </p:sp>
        <p:grpSp>
          <p:nvGrpSpPr>
            <p:cNvPr id="3" name="Group 9"/>
            <p:cNvGrpSpPr>
              <a:grpSpLocks/>
            </p:cNvGrpSpPr>
            <p:nvPr/>
          </p:nvGrpSpPr>
          <p:grpSpPr bwMode="auto">
            <a:xfrm>
              <a:off x="313" y="2730"/>
              <a:ext cx="490" cy="497"/>
              <a:chOff x="967" y="1678"/>
              <a:chExt cx="688" cy="700"/>
            </a:xfrm>
          </p:grpSpPr>
          <p:sp>
            <p:nvSpPr>
              <p:cNvPr id="13430" name="Text Box 10"/>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4" name="Group 11"/>
              <p:cNvGrpSpPr>
                <a:grpSpLocks/>
              </p:cNvGrpSpPr>
              <p:nvPr/>
            </p:nvGrpSpPr>
            <p:grpSpPr bwMode="auto">
              <a:xfrm>
                <a:off x="1035" y="1764"/>
                <a:ext cx="552" cy="529"/>
                <a:chOff x="1045" y="1780"/>
                <a:chExt cx="806" cy="773"/>
              </a:xfrm>
            </p:grpSpPr>
            <p:sp>
              <p:nvSpPr>
                <p:cNvPr id="13432" name="Freeform 12"/>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3" name="Freeform 13"/>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4" name="Freeform 14"/>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5" name="Freeform 15"/>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6" name="Freeform 16"/>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7" name="Freeform 17"/>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8" name="Freeform 18"/>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39" name="Freeform 19"/>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40" name="Freeform 20"/>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41" name="Freeform 21"/>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42" name="Freeform 22"/>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5" name="Group 23"/>
            <p:cNvGrpSpPr>
              <a:grpSpLocks/>
            </p:cNvGrpSpPr>
            <p:nvPr/>
          </p:nvGrpSpPr>
          <p:grpSpPr bwMode="auto">
            <a:xfrm>
              <a:off x="847" y="2730"/>
              <a:ext cx="490" cy="497"/>
              <a:chOff x="967" y="1678"/>
              <a:chExt cx="688" cy="700"/>
            </a:xfrm>
          </p:grpSpPr>
          <p:sp>
            <p:nvSpPr>
              <p:cNvPr id="13417" name="Text Box 24"/>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6" name="Group 25"/>
              <p:cNvGrpSpPr>
                <a:grpSpLocks/>
              </p:cNvGrpSpPr>
              <p:nvPr/>
            </p:nvGrpSpPr>
            <p:grpSpPr bwMode="auto">
              <a:xfrm>
                <a:off x="1035" y="1764"/>
                <a:ext cx="552" cy="529"/>
                <a:chOff x="1045" y="1780"/>
                <a:chExt cx="806" cy="773"/>
              </a:xfrm>
            </p:grpSpPr>
            <p:sp>
              <p:nvSpPr>
                <p:cNvPr id="13419" name="Freeform 26"/>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0" name="Freeform 27"/>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1" name="Freeform 28"/>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2" name="Freeform 29"/>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3" name="Freeform 30"/>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4" name="Freeform 31"/>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5" name="Freeform 32"/>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6" name="Freeform 33"/>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7" name="Freeform 34"/>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8" name="Freeform 35"/>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29" name="Freeform 36"/>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7" name="Group 37"/>
            <p:cNvGrpSpPr>
              <a:grpSpLocks/>
            </p:cNvGrpSpPr>
            <p:nvPr/>
          </p:nvGrpSpPr>
          <p:grpSpPr bwMode="auto">
            <a:xfrm>
              <a:off x="2187" y="2730"/>
              <a:ext cx="490" cy="497"/>
              <a:chOff x="967" y="1678"/>
              <a:chExt cx="688" cy="700"/>
            </a:xfrm>
          </p:grpSpPr>
          <p:sp>
            <p:nvSpPr>
              <p:cNvPr id="13404" name="Text Box 38"/>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8" name="Group 39"/>
              <p:cNvGrpSpPr>
                <a:grpSpLocks/>
              </p:cNvGrpSpPr>
              <p:nvPr/>
            </p:nvGrpSpPr>
            <p:grpSpPr bwMode="auto">
              <a:xfrm>
                <a:off x="1035" y="1764"/>
                <a:ext cx="552" cy="529"/>
                <a:chOff x="1045" y="1780"/>
                <a:chExt cx="806" cy="773"/>
              </a:xfrm>
            </p:grpSpPr>
            <p:sp>
              <p:nvSpPr>
                <p:cNvPr id="13406" name="Freeform 40"/>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7" name="Freeform 41"/>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8" name="Freeform 42"/>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9" name="Freeform 43"/>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0" name="Freeform 44"/>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1" name="Freeform 45"/>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2" name="Freeform 46"/>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3" name="Freeform 47"/>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4" name="Freeform 48"/>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5" name="Freeform 49"/>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16" name="Freeform 50"/>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9" name="Group 51"/>
            <p:cNvGrpSpPr>
              <a:grpSpLocks/>
            </p:cNvGrpSpPr>
            <p:nvPr/>
          </p:nvGrpSpPr>
          <p:grpSpPr bwMode="auto">
            <a:xfrm>
              <a:off x="1383" y="2730"/>
              <a:ext cx="489" cy="497"/>
              <a:chOff x="967" y="1678"/>
              <a:chExt cx="688" cy="700"/>
            </a:xfrm>
          </p:grpSpPr>
          <p:sp>
            <p:nvSpPr>
              <p:cNvPr id="13391" name="Text Box 52"/>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0" name="Group 53"/>
              <p:cNvGrpSpPr>
                <a:grpSpLocks/>
              </p:cNvGrpSpPr>
              <p:nvPr/>
            </p:nvGrpSpPr>
            <p:grpSpPr bwMode="auto">
              <a:xfrm>
                <a:off x="1035" y="1764"/>
                <a:ext cx="552" cy="529"/>
                <a:chOff x="1045" y="1780"/>
                <a:chExt cx="806" cy="773"/>
              </a:xfrm>
            </p:grpSpPr>
            <p:sp>
              <p:nvSpPr>
                <p:cNvPr id="13393" name="Freeform 54"/>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94" name="Freeform 55"/>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95" name="Freeform 56"/>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96" name="Freeform 57"/>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97" name="Freeform 58"/>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98" name="Freeform 59"/>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99" name="Freeform 60"/>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0" name="Freeform 61"/>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1" name="Freeform 62"/>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2" name="Freeform 63"/>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403" name="Freeform 64"/>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grpSp>
        <p:nvGrpSpPr>
          <p:cNvPr id="11" name="Group 65"/>
          <p:cNvGrpSpPr>
            <a:grpSpLocks/>
          </p:cNvGrpSpPr>
          <p:nvPr/>
        </p:nvGrpSpPr>
        <p:grpSpPr bwMode="auto">
          <a:xfrm>
            <a:off x="4471988" y="5026025"/>
            <a:ext cx="3927475" cy="833438"/>
            <a:chOff x="258" y="2682"/>
            <a:chExt cx="2474" cy="592"/>
          </a:xfrm>
        </p:grpSpPr>
        <p:sp>
          <p:nvSpPr>
            <p:cNvPr id="13327" name="Rectangle 66"/>
            <p:cNvSpPr>
              <a:spLocks noChangeArrowheads="1"/>
            </p:cNvSpPr>
            <p:nvPr/>
          </p:nvSpPr>
          <p:spPr bwMode="auto">
            <a:xfrm>
              <a:off x="258" y="2682"/>
              <a:ext cx="2474" cy="592"/>
            </a:xfrm>
            <a:prstGeom prst="rect">
              <a:avLst/>
            </a:prstGeom>
            <a:noFill/>
            <a:ln w="28575" algn="ctr">
              <a:solidFill>
                <a:srgbClr val="00CC00"/>
              </a:solidFill>
              <a:miter lim="800000"/>
              <a:headEnd/>
              <a:tailEnd/>
            </a:ln>
          </p:spPr>
          <p:txBody>
            <a:bodyPr wrap="none" anchor="ctr"/>
            <a:lstStyle/>
            <a:p>
              <a:endParaRPr lang="en-US"/>
            </a:p>
          </p:txBody>
        </p:sp>
        <p:sp>
          <p:nvSpPr>
            <p:cNvPr id="13328" name="Text Box 67"/>
            <p:cNvSpPr txBox="1">
              <a:spLocks noChangeArrowheads="1"/>
            </p:cNvSpPr>
            <p:nvPr/>
          </p:nvSpPr>
          <p:spPr bwMode="auto">
            <a:xfrm>
              <a:off x="1872" y="2910"/>
              <a:ext cx="316" cy="260"/>
            </a:xfrm>
            <a:prstGeom prst="rect">
              <a:avLst/>
            </a:prstGeom>
            <a:noFill/>
            <a:ln w="19050" algn="ctr">
              <a:noFill/>
              <a:miter lim="800000"/>
              <a:headEnd/>
              <a:tailEnd/>
            </a:ln>
          </p:spPr>
          <p:txBody>
            <a:bodyPr wrap="none">
              <a:spAutoFit/>
            </a:bodyPr>
            <a:lstStyle/>
            <a:p>
              <a:pPr algn="ctr"/>
              <a:r>
                <a:rPr lang="en-US" sz="1800" b="1">
                  <a:latin typeface="Arial" pitchFamily="34" charset="0"/>
                </a:rPr>
                <a:t>. . .</a:t>
              </a:r>
            </a:p>
          </p:txBody>
        </p:sp>
        <p:grpSp>
          <p:nvGrpSpPr>
            <p:cNvPr id="12" name="Group 68"/>
            <p:cNvGrpSpPr>
              <a:grpSpLocks/>
            </p:cNvGrpSpPr>
            <p:nvPr/>
          </p:nvGrpSpPr>
          <p:grpSpPr bwMode="auto">
            <a:xfrm>
              <a:off x="313" y="2730"/>
              <a:ext cx="490" cy="497"/>
              <a:chOff x="967" y="1678"/>
              <a:chExt cx="688" cy="700"/>
            </a:xfrm>
          </p:grpSpPr>
          <p:sp>
            <p:nvSpPr>
              <p:cNvPr id="13372" name="Text Box 69"/>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3" name="Group 70"/>
              <p:cNvGrpSpPr>
                <a:grpSpLocks/>
              </p:cNvGrpSpPr>
              <p:nvPr/>
            </p:nvGrpSpPr>
            <p:grpSpPr bwMode="auto">
              <a:xfrm>
                <a:off x="1035" y="1764"/>
                <a:ext cx="552" cy="529"/>
                <a:chOff x="1045" y="1780"/>
                <a:chExt cx="806" cy="773"/>
              </a:xfrm>
            </p:grpSpPr>
            <p:sp>
              <p:nvSpPr>
                <p:cNvPr id="13374" name="Freeform 71"/>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5" name="Freeform 72"/>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6" name="Freeform 73"/>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7" name="Freeform 74"/>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8" name="Freeform 75"/>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9" name="Freeform 76"/>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80" name="Freeform 77"/>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81" name="Freeform 78"/>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82" name="Freeform 79"/>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83" name="Freeform 80"/>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84" name="Freeform 81"/>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14" name="Group 82"/>
            <p:cNvGrpSpPr>
              <a:grpSpLocks/>
            </p:cNvGrpSpPr>
            <p:nvPr/>
          </p:nvGrpSpPr>
          <p:grpSpPr bwMode="auto">
            <a:xfrm>
              <a:off x="847" y="2730"/>
              <a:ext cx="490" cy="497"/>
              <a:chOff x="967" y="1678"/>
              <a:chExt cx="688" cy="700"/>
            </a:xfrm>
          </p:grpSpPr>
          <p:sp>
            <p:nvSpPr>
              <p:cNvPr id="13359" name="Text Box 83"/>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5" name="Group 84"/>
              <p:cNvGrpSpPr>
                <a:grpSpLocks/>
              </p:cNvGrpSpPr>
              <p:nvPr/>
            </p:nvGrpSpPr>
            <p:grpSpPr bwMode="auto">
              <a:xfrm>
                <a:off x="1035" y="1764"/>
                <a:ext cx="552" cy="529"/>
                <a:chOff x="1045" y="1780"/>
                <a:chExt cx="806" cy="773"/>
              </a:xfrm>
            </p:grpSpPr>
            <p:sp>
              <p:nvSpPr>
                <p:cNvPr id="13361" name="Freeform 85"/>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2" name="Freeform 86"/>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3" name="Freeform 87"/>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4" name="Freeform 88"/>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5" name="Freeform 89"/>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6" name="Freeform 90"/>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7" name="Freeform 91"/>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8" name="Freeform 92"/>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69" name="Freeform 93"/>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0" name="Freeform 94"/>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71" name="Freeform 95"/>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16" name="Group 96"/>
            <p:cNvGrpSpPr>
              <a:grpSpLocks/>
            </p:cNvGrpSpPr>
            <p:nvPr/>
          </p:nvGrpSpPr>
          <p:grpSpPr bwMode="auto">
            <a:xfrm>
              <a:off x="2187" y="2730"/>
              <a:ext cx="490" cy="497"/>
              <a:chOff x="967" y="1678"/>
              <a:chExt cx="688" cy="700"/>
            </a:xfrm>
          </p:grpSpPr>
          <p:sp>
            <p:nvSpPr>
              <p:cNvPr id="13346" name="Text Box 97"/>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7" name="Group 98"/>
              <p:cNvGrpSpPr>
                <a:grpSpLocks/>
              </p:cNvGrpSpPr>
              <p:nvPr/>
            </p:nvGrpSpPr>
            <p:grpSpPr bwMode="auto">
              <a:xfrm>
                <a:off x="1035" y="1764"/>
                <a:ext cx="552" cy="529"/>
                <a:chOff x="1045" y="1780"/>
                <a:chExt cx="806" cy="773"/>
              </a:xfrm>
            </p:grpSpPr>
            <p:sp>
              <p:nvSpPr>
                <p:cNvPr id="13348" name="Freeform 99"/>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9" name="Freeform 100"/>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0" name="Freeform 101"/>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1" name="Freeform 102"/>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2" name="Freeform 103"/>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3" name="Freeform 104"/>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4" name="Freeform 105"/>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5" name="Freeform 106"/>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6" name="Freeform 107"/>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7" name="Freeform 108"/>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58" name="Freeform 109"/>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18" name="Group 110"/>
            <p:cNvGrpSpPr>
              <a:grpSpLocks/>
            </p:cNvGrpSpPr>
            <p:nvPr/>
          </p:nvGrpSpPr>
          <p:grpSpPr bwMode="auto">
            <a:xfrm>
              <a:off x="1383" y="2730"/>
              <a:ext cx="489" cy="497"/>
              <a:chOff x="967" y="1678"/>
              <a:chExt cx="688" cy="700"/>
            </a:xfrm>
          </p:grpSpPr>
          <p:sp>
            <p:nvSpPr>
              <p:cNvPr id="13333" name="Text Box 111"/>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9" name="Group 112"/>
              <p:cNvGrpSpPr>
                <a:grpSpLocks/>
              </p:cNvGrpSpPr>
              <p:nvPr/>
            </p:nvGrpSpPr>
            <p:grpSpPr bwMode="auto">
              <a:xfrm>
                <a:off x="1035" y="1764"/>
                <a:ext cx="552" cy="529"/>
                <a:chOff x="1045" y="1780"/>
                <a:chExt cx="806" cy="773"/>
              </a:xfrm>
            </p:grpSpPr>
            <p:sp>
              <p:nvSpPr>
                <p:cNvPr id="13335" name="Freeform 113"/>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36" name="Freeform 114"/>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37" name="Freeform 115"/>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38" name="Freeform 116"/>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39" name="Freeform 117"/>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0" name="Freeform 118"/>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1" name="Freeform 119"/>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2" name="Freeform 120"/>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3" name="Freeform 121"/>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4" name="Freeform 122"/>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13345" name="Freeform 123"/>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sp>
        <p:nvSpPr>
          <p:cNvPr id="13321" name="Text Box 124"/>
          <p:cNvSpPr txBox="1">
            <a:spLocks noChangeArrowheads="1"/>
          </p:cNvSpPr>
          <p:nvPr/>
        </p:nvSpPr>
        <p:spPr bwMode="auto">
          <a:xfrm>
            <a:off x="546100" y="3175000"/>
            <a:ext cx="3860800" cy="696913"/>
          </a:xfrm>
          <a:prstGeom prst="rect">
            <a:avLst/>
          </a:prstGeom>
          <a:noFill/>
          <a:ln w="9525" algn="ctr">
            <a:noFill/>
            <a:miter lim="800000"/>
            <a:headEnd/>
            <a:tailEnd/>
          </a:ln>
        </p:spPr>
        <p:txBody>
          <a:bodyPr>
            <a:spAutoFit/>
          </a:bodyPr>
          <a:lstStyle/>
          <a:p>
            <a:pPr algn="ctr">
              <a:spcBef>
                <a:spcPct val="20000"/>
              </a:spcBef>
            </a:pPr>
            <a:r>
              <a:rPr lang="en-US" sz="1800" b="1">
                <a:solidFill>
                  <a:srgbClr val="73B900"/>
                </a:solidFill>
                <a:latin typeface="Arial" pitchFamily="34" charset="0"/>
              </a:rPr>
              <a:t>GPU Parallel Kernel</a:t>
            </a:r>
          </a:p>
          <a:p>
            <a:pPr algn="ctr">
              <a:spcBef>
                <a:spcPct val="20000"/>
              </a:spcBef>
            </a:pPr>
            <a:r>
              <a:rPr lang="en-US" sz="1800" b="1">
                <a:solidFill>
                  <a:srgbClr val="73B900"/>
                </a:solidFill>
                <a:latin typeface="Arial" pitchFamily="34" charset="0"/>
              </a:rPr>
              <a:t>KernelA&lt;&lt;&lt; nBlk, nTid &gt;&gt;&gt;(args);</a:t>
            </a:r>
          </a:p>
        </p:txBody>
      </p:sp>
      <p:sp>
        <p:nvSpPr>
          <p:cNvPr id="13322" name="Freeform 125"/>
          <p:cNvSpPr>
            <a:spLocks noChangeAspect="1"/>
          </p:cNvSpPr>
          <p:nvPr/>
        </p:nvSpPr>
        <p:spPr bwMode="auto">
          <a:xfrm>
            <a:off x="6399213" y="2209800"/>
            <a:ext cx="73025" cy="808038"/>
          </a:xfrm>
          <a:custGeom>
            <a:avLst/>
            <a:gdLst>
              <a:gd name="T0" fmla="*/ 19661 w 208"/>
              <a:gd name="T1" fmla="*/ 0 h 1536"/>
              <a:gd name="T2" fmla="*/ 70216 w 208"/>
              <a:gd name="T3" fmla="*/ 101005 h 1536"/>
              <a:gd name="T4" fmla="*/ 2809 w 208"/>
              <a:gd name="T5" fmla="*/ 176758 h 1536"/>
              <a:gd name="T6" fmla="*/ 53364 w 208"/>
              <a:gd name="T7" fmla="*/ 277763 h 1536"/>
              <a:gd name="T8" fmla="*/ 2809 w 208"/>
              <a:gd name="T9" fmla="*/ 378768 h 1536"/>
              <a:gd name="T10" fmla="*/ 53364 w 208"/>
              <a:gd name="T11" fmla="*/ 429270 h 1536"/>
              <a:gd name="T12" fmla="*/ 19661 w 208"/>
              <a:gd name="T13" fmla="*/ 505024 h 1536"/>
              <a:gd name="T14" fmla="*/ 53364 w 208"/>
              <a:gd name="T15" fmla="*/ 580777 h 1536"/>
              <a:gd name="T16" fmla="*/ 2809 w 208"/>
              <a:gd name="T17" fmla="*/ 656531 h 1536"/>
              <a:gd name="T18" fmla="*/ 36513 w 208"/>
              <a:gd name="T19" fmla="*/ 707033 h 1536"/>
              <a:gd name="T20" fmla="*/ 19661 w 208"/>
              <a:gd name="T21" fmla="*/ 808038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575">
            <a:solidFill>
              <a:schemeClr val="tx1"/>
            </a:solidFill>
            <a:round/>
            <a:headEnd/>
            <a:tailEnd type="triangle" w="med" len="lg"/>
          </a:ln>
        </p:spPr>
        <p:txBody>
          <a:bodyPr/>
          <a:lstStyle/>
          <a:p>
            <a:endParaRPr lang="en-US"/>
          </a:p>
        </p:txBody>
      </p:sp>
      <p:sp>
        <p:nvSpPr>
          <p:cNvPr id="13323" name="Text Box 126"/>
          <p:cNvSpPr txBox="1">
            <a:spLocks noChangeArrowheads="1"/>
          </p:cNvSpPr>
          <p:nvPr/>
        </p:nvSpPr>
        <p:spPr bwMode="auto">
          <a:xfrm>
            <a:off x="7469188" y="4611688"/>
            <a:ext cx="911225" cy="366712"/>
          </a:xfrm>
          <a:prstGeom prst="rect">
            <a:avLst/>
          </a:prstGeom>
          <a:noFill/>
          <a:ln w="19050" algn="ctr">
            <a:noFill/>
            <a:miter lim="800000"/>
            <a:headEnd/>
            <a:tailEnd/>
          </a:ln>
        </p:spPr>
        <p:txBody>
          <a:bodyPr>
            <a:spAutoFit/>
          </a:bodyPr>
          <a:lstStyle/>
          <a:p>
            <a:pPr algn="ctr"/>
            <a:r>
              <a:rPr lang="en-US" sz="1800" b="1">
                <a:solidFill>
                  <a:srgbClr val="00CC00"/>
                </a:solidFill>
                <a:latin typeface="Arial" pitchFamily="34" charset="0"/>
              </a:rPr>
              <a:t>Grid 1</a:t>
            </a:r>
          </a:p>
        </p:txBody>
      </p:sp>
      <p:sp>
        <p:nvSpPr>
          <p:cNvPr id="13324" name="Text Box 127"/>
          <p:cNvSpPr txBox="1">
            <a:spLocks noChangeArrowheads="1"/>
          </p:cNvSpPr>
          <p:nvPr/>
        </p:nvSpPr>
        <p:spPr bwMode="auto">
          <a:xfrm>
            <a:off x="1330325" y="4357688"/>
            <a:ext cx="2293938" cy="325437"/>
          </a:xfrm>
          <a:prstGeom prst="rect">
            <a:avLst/>
          </a:prstGeom>
          <a:noFill/>
          <a:ln w="9525" algn="ctr">
            <a:noFill/>
            <a:miter lim="800000"/>
            <a:headEnd/>
            <a:tailEnd/>
          </a:ln>
        </p:spPr>
        <p:txBody>
          <a:bodyPr>
            <a:spAutoFit/>
          </a:bodyPr>
          <a:lstStyle/>
          <a:p>
            <a:pPr algn="ctr">
              <a:lnSpc>
                <a:spcPct val="85000"/>
              </a:lnSpc>
              <a:spcBef>
                <a:spcPct val="10000"/>
              </a:spcBef>
            </a:pPr>
            <a:r>
              <a:rPr lang="en-US" sz="1800" b="1">
                <a:latin typeface="Arial" pitchFamily="34" charset="0"/>
              </a:rPr>
              <a:t>CPU Serial Code</a:t>
            </a:r>
          </a:p>
        </p:txBody>
      </p:sp>
      <p:sp>
        <p:nvSpPr>
          <p:cNvPr id="13325" name="Freeform 128"/>
          <p:cNvSpPr>
            <a:spLocks noChangeAspect="1"/>
          </p:cNvSpPr>
          <p:nvPr/>
        </p:nvSpPr>
        <p:spPr bwMode="auto">
          <a:xfrm>
            <a:off x="6399213" y="4116388"/>
            <a:ext cx="73025" cy="808037"/>
          </a:xfrm>
          <a:custGeom>
            <a:avLst/>
            <a:gdLst>
              <a:gd name="T0" fmla="*/ 19661 w 208"/>
              <a:gd name="T1" fmla="*/ 0 h 1536"/>
              <a:gd name="T2" fmla="*/ 70216 w 208"/>
              <a:gd name="T3" fmla="*/ 101005 h 1536"/>
              <a:gd name="T4" fmla="*/ 2809 w 208"/>
              <a:gd name="T5" fmla="*/ 176758 h 1536"/>
              <a:gd name="T6" fmla="*/ 53364 w 208"/>
              <a:gd name="T7" fmla="*/ 277763 h 1536"/>
              <a:gd name="T8" fmla="*/ 2809 w 208"/>
              <a:gd name="T9" fmla="*/ 378767 h 1536"/>
              <a:gd name="T10" fmla="*/ 53364 w 208"/>
              <a:gd name="T11" fmla="*/ 429270 h 1536"/>
              <a:gd name="T12" fmla="*/ 19661 w 208"/>
              <a:gd name="T13" fmla="*/ 505023 h 1536"/>
              <a:gd name="T14" fmla="*/ 53364 w 208"/>
              <a:gd name="T15" fmla="*/ 580777 h 1536"/>
              <a:gd name="T16" fmla="*/ 2809 w 208"/>
              <a:gd name="T17" fmla="*/ 656530 h 1536"/>
              <a:gd name="T18" fmla="*/ 36513 w 208"/>
              <a:gd name="T19" fmla="*/ 707032 h 1536"/>
              <a:gd name="T20" fmla="*/ 19661 w 208"/>
              <a:gd name="T21" fmla="*/ 80803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575">
            <a:solidFill>
              <a:schemeClr val="tx1"/>
            </a:solidFill>
            <a:round/>
            <a:headEnd/>
            <a:tailEnd type="triangle" w="med" len="lg"/>
          </a:ln>
        </p:spPr>
        <p:txBody>
          <a:bodyPr/>
          <a:lstStyle/>
          <a:p>
            <a:endParaRPr lang="en-US"/>
          </a:p>
        </p:txBody>
      </p:sp>
      <p:sp>
        <p:nvSpPr>
          <p:cNvPr id="13326" name="Text Box 129"/>
          <p:cNvSpPr txBox="1">
            <a:spLocks noChangeArrowheads="1"/>
          </p:cNvSpPr>
          <p:nvPr/>
        </p:nvSpPr>
        <p:spPr bwMode="auto">
          <a:xfrm>
            <a:off x="546100" y="5094288"/>
            <a:ext cx="3860800" cy="696912"/>
          </a:xfrm>
          <a:prstGeom prst="rect">
            <a:avLst/>
          </a:prstGeom>
          <a:noFill/>
          <a:ln w="9525" algn="ctr">
            <a:noFill/>
            <a:miter lim="800000"/>
            <a:headEnd/>
            <a:tailEnd/>
          </a:ln>
        </p:spPr>
        <p:txBody>
          <a:bodyPr>
            <a:spAutoFit/>
          </a:bodyPr>
          <a:lstStyle/>
          <a:p>
            <a:pPr algn="ctr">
              <a:spcBef>
                <a:spcPct val="20000"/>
              </a:spcBef>
            </a:pPr>
            <a:r>
              <a:rPr lang="en-US" sz="1800" b="1">
                <a:solidFill>
                  <a:srgbClr val="73B900"/>
                </a:solidFill>
                <a:latin typeface="Arial" pitchFamily="34" charset="0"/>
              </a:rPr>
              <a:t>GPU Parallel Kernel </a:t>
            </a:r>
          </a:p>
          <a:p>
            <a:pPr algn="ctr">
              <a:spcBef>
                <a:spcPct val="20000"/>
              </a:spcBef>
            </a:pPr>
            <a:r>
              <a:rPr lang="en-US" sz="1800" b="1">
                <a:solidFill>
                  <a:srgbClr val="73B900"/>
                </a:solidFill>
                <a:latin typeface="Arial" pitchFamily="34" charset="0"/>
              </a:rPr>
              <a:t>KernelB&lt;&lt;&lt; nBlk, nTid &gt;&gt;&gt;(args);</a:t>
            </a:r>
          </a:p>
        </p:txBody>
      </p:sp>
      <p:sp>
        <p:nvSpPr>
          <p:cNvPr id="131" name="Footer Placeholder 3"/>
          <p:cNvSpPr>
            <a:spLocks noGrp="1"/>
          </p:cNvSpPr>
          <p:nvPr>
            <p:ph type="ftr" sz="quarter" idx="10"/>
          </p:nvPr>
        </p:nvSpPr>
        <p:spPr>
          <a:xfrm>
            <a:off x="3810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20" name="Picture 19" descr="A screenshot of a computer&#10;&#10;Description automatically generated">
            <a:extLst>
              <a:ext uri="{FF2B5EF4-FFF2-40B4-BE49-F238E27FC236}">
                <a16:creationId xmlns:a16="http://schemas.microsoft.com/office/drawing/2014/main" id="{5914D294-A548-8861-CBB8-7F3E4FBE014A}"/>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22591434"/>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xfrm>
            <a:off x="381000" y="6172200"/>
            <a:ext cx="3886200" cy="609600"/>
          </a:xfrm>
          <a:noFill/>
        </p:spPr>
        <p:txBody>
          <a:bodyPr/>
          <a:lstStyle/>
          <a:p>
            <a:r>
              <a:rPr lang="en-US"/>
              <a:t>© David Kirk/NVIDIA and Wen-mei W. Hwu, 2007</a:t>
            </a:r>
          </a:p>
          <a:p>
            <a:r>
              <a:rPr lang="en-US"/>
              <a:t>ECE 498AL, University of Illinois, Urbana-Champaign</a:t>
            </a:r>
            <a:endParaRPr lang="en-US" dirty="0"/>
          </a:p>
        </p:txBody>
      </p:sp>
      <p:sp>
        <p:nvSpPr>
          <p:cNvPr id="14339" name="Rectangle 2"/>
          <p:cNvSpPr>
            <a:spLocks noGrp="1" noChangeArrowheads="1"/>
          </p:cNvSpPr>
          <p:nvPr>
            <p:ph type="title"/>
          </p:nvPr>
        </p:nvSpPr>
        <p:spPr>
          <a:xfrm>
            <a:off x="1749345" y="109538"/>
            <a:ext cx="7178755" cy="758825"/>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dirty="0"/>
              <a:t>Grids and Blocks</a:t>
            </a:r>
          </a:p>
        </p:txBody>
      </p:sp>
      <p:sp>
        <p:nvSpPr>
          <p:cNvPr id="14340" name="Rectangle 3"/>
          <p:cNvSpPr>
            <a:spLocks noGrp="1" noChangeArrowheads="1"/>
          </p:cNvSpPr>
          <p:nvPr>
            <p:ph type="body" idx="1"/>
          </p:nvPr>
        </p:nvSpPr>
        <p:spPr>
          <a:xfrm>
            <a:off x="457200" y="1143000"/>
            <a:ext cx="4495800" cy="5008563"/>
          </a:xfrm>
        </p:spPr>
        <p:txBody>
          <a:bodyPr/>
          <a:lstStyle/>
          <a:p>
            <a:pPr marL="457200" indent="-457200" eaLnBrk="1" hangingPunct="1"/>
            <a:r>
              <a:rPr lang="en-US" sz="2400" dirty="0"/>
              <a:t>A kernel is executed as a </a:t>
            </a:r>
            <a:r>
              <a:rPr lang="en-US" sz="2400" dirty="0">
                <a:solidFill>
                  <a:schemeClr val="accent2"/>
                </a:solidFill>
              </a:rPr>
              <a:t>grid of thread blocks</a:t>
            </a:r>
          </a:p>
          <a:p>
            <a:pPr marL="974725" lvl="1" indent="-403225" eaLnBrk="1" hangingPunct="1"/>
            <a:r>
              <a:rPr lang="en-US" sz="2000" dirty="0"/>
              <a:t>All threads share data memory space</a:t>
            </a:r>
          </a:p>
          <a:p>
            <a:pPr marL="457200" indent="-457200" eaLnBrk="1" hangingPunct="1"/>
            <a:r>
              <a:rPr lang="en-US" sz="2400" dirty="0"/>
              <a:t>A </a:t>
            </a:r>
            <a:r>
              <a:rPr lang="en-US" sz="2400" dirty="0">
                <a:solidFill>
                  <a:schemeClr val="accent2"/>
                </a:solidFill>
              </a:rPr>
              <a:t>thread block</a:t>
            </a:r>
            <a:r>
              <a:rPr lang="en-US" sz="2400" dirty="0"/>
              <a:t> is a batch of threads that can </a:t>
            </a:r>
            <a:r>
              <a:rPr lang="en-US" sz="2400" dirty="0">
                <a:solidFill>
                  <a:schemeClr val="accent2"/>
                </a:solidFill>
              </a:rPr>
              <a:t>cooperate</a:t>
            </a:r>
            <a:r>
              <a:rPr lang="en-US" sz="2400" dirty="0"/>
              <a:t> with each other by:</a:t>
            </a:r>
          </a:p>
          <a:p>
            <a:pPr marL="974725" lvl="1" indent="-403225" eaLnBrk="1" hangingPunct="1"/>
            <a:r>
              <a:rPr lang="en-US" sz="2000" dirty="0"/>
              <a:t>Synchronizing their execution</a:t>
            </a:r>
          </a:p>
          <a:p>
            <a:pPr marL="1431925" lvl="2" indent="-342900" eaLnBrk="1" hangingPunct="1"/>
            <a:r>
              <a:rPr lang="en-US" sz="1800" dirty="0"/>
              <a:t>For hazard-free shared memory accesses</a:t>
            </a:r>
          </a:p>
          <a:p>
            <a:pPr marL="974725" lvl="1" indent="-403225" eaLnBrk="1" hangingPunct="1"/>
            <a:r>
              <a:rPr lang="en-US" sz="2000" dirty="0"/>
              <a:t>Efficiently sharing data through a low latency </a:t>
            </a:r>
            <a:r>
              <a:rPr lang="en-US" sz="2000" dirty="0">
                <a:solidFill>
                  <a:schemeClr val="accent2"/>
                </a:solidFill>
              </a:rPr>
              <a:t>shared memory</a:t>
            </a:r>
            <a:endParaRPr lang="en-US" sz="2000" dirty="0"/>
          </a:p>
          <a:p>
            <a:pPr marL="974725" lvl="1" indent="-403225" eaLnBrk="1" hangingPunct="1"/>
            <a:r>
              <a:rPr lang="en-US" sz="2000" dirty="0"/>
              <a:t>Two threads from two different blocks cannot cooperate</a:t>
            </a:r>
          </a:p>
        </p:txBody>
      </p:sp>
      <p:grpSp>
        <p:nvGrpSpPr>
          <p:cNvPr id="2" name="Group 4"/>
          <p:cNvGrpSpPr>
            <a:grpSpLocks/>
          </p:cNvGrpSpPr>
          <p:nvPr/>
        </p:nvGrpSpPr>
        <p:grpSpPr bwMode="auto">
          <a:xfrm>
            <a:off x="4876800" y="1219200"/>
            <a:ext cx="4056063" cy="5381625"/>
            <a:chOff x="3034" y="690"/>
            <a:chExt cx="2555" cy="3390"/>
          </a:xfrm>
        </p:grpSpPr>
        <p:sp>
          <p:nvSpPr>
            <p:cNvPr id="14343" name="AutoShape 5"/>
            <p:cNvSpPr>
              <a:spLocks noChangeAspect="1" noChangeArrowheads="1"/>
            </p:cNvSpPr>
            <p:nvPr/>
          </p:nvSpPr>
          <p:spPr bwMode="auto">
            <a:xfrm>
              <a:off x="3034" y="690"/>
              <a:ext cx="2555" cy="3390"/>
            </a:xfrm>
            <a:prstGeom prst="rect">
              <a:avLst/>
            </a:prstGeom>
            <a:noFill/>
            <a:ln w="9525">
              <a:noFill/>
              <a:miter lim="800000"/>
              <a:headEnd/>
              <a:tailEnd/>
            </a:ln>
          </p:spPr>
          <p:txBody>
            <a:bodyPr/>
            <a:lstStyle/>
            <a:p>
              <a:endParaRPr lang="en-US"/>
            </a:p>
          </p:txBody>
        </p:sp>
        <p:sp>
          <p:nvSpPr>
            <p:cNvPr id="14344" name="Text Box 6"/>
            <p:cNvSpPr txBox="1">
              <a:spLocks noChangeArrowheads="1"/>
            </p:cNvSpPr>
            <p:nvPr/>
          </p:nvSpPr>
          <p:spPr bwMode="auto">
            <a:xfrm>
              <a:off x="3037" y="693"/>
              <a:ext cx="671" cy="2864"/>
            </a:xfrm>
            <a:prstGeom prst="rect">
              <a:avLst/>
            </a:prstGeom>
            <a:solidFill>
              <a:srgbClr val="99CCFF"/>
            </a:solidFill>
            <a:ln w="9525">
              <a:solidFill>
                <a:srgbClr val="969696"/>
              </a:solidFill>
              <a:miter lim="800000"/>
              <a:headEnd/>
              <a:tailEnd/>
            </a:ln>
          </p:spPr>
          <p:txBody>
            <a:bodyPr/>
            <a:lstStyle/>
            <a:p>
              <a:r>
                <a:rPr lang="en-US" sz="1200" b="1">
                  <a:solidFill>
                    <a:srgbClr val="003300"/>
                  </a:solidFill>
                  <a:latin typeface="Arial" pitchFamily="34" charset="0"/>
                </a:rPr>
                <a:t>Host</a:t>
              </a:r>
              <a:endParaRPr lang="en-US" sz="1800">
                <a:solidFill>
                  <a:srgbClr val="003300"/>
                </a:solidFill>
                <a:latin typeface="Arial" pitchFamily="34" charset="0"/>
              </a:endParaRPr>
            </a:p>
          </p:txBody>
        </p:sp>
        <p:sp>
          <p:nvSpPr>
            <p:cNvPr id="14345" name="Text Box 7"/>
            <p:cNvSpPr txBox="1">
              <a:spLocks noChangeArrowheads="1"/>
            </p:cNvSpPr>
            <p:nvPr/>
          </p:nvSpPr>
          <p:spPr bwMode="auto">
            <a:xfrm>
              <a:off x="3199" y="1171"/>
              <a:ext cx="432" cy="336"/>
            </a:xfrm>
            <a:prstGeom prst="rect">
              <a:avLst/>
            </a:prstGeom>
            <a:solidFill>
              <a:srgbClr val="99FF66"/>
            </a:solidFill>
            <a:ln w="9525">
              <a:solidFill>
                <a:srgbClr val="969696"/>
              </a:solidFill>
              <a:miter lim="800000"/>
              <a:headEnd/>
              <a:tailEnd/>
            </a:ln>
          </p:spPr>
          <p:txBody>
            <a:bodyPr/>
            <a:lstStyle/>
            <a:p>
              <a:pPr algn="ctr"/>
              <a:r>
                <a:rPr lang="en-US" sz="1200" b="1">
                  <a:solidFill>
                    <a:srgbClr val="003300"/>
                  </a:solidFill>
                  <a:latin typeface="Arial" pitchFamily="34" charset="0"/>
                </a:rPr>
                <a:t>Kernel 1</a:t>
              </a:r>
              <a:endParaRPr lang="en-US" sz="1800">
                <a:solidFill>
                  <a:srgbClr val="003300"/>
                </a:solidFill>
                <a:latin typeface="Arial" pitchFamily="34" charset="0"/>
              </a:endParaRPr>
            </a:p>
          </p:txBody>
        </p:sp>
        <p:sp>
          <p:nvSpPr>
            <p:cNvPr id="14346" name="Text Box 8"/>
            <p:cNvSpPr txBox="1">
              <a:spLocks noChangeArrowheads="1"/>
            </p:cNvSpPr>
            <p:nvPr/>
          </p:nvSpPr>
          <p:spPr bwMode="auto">
            <a:xfrm>
              <a:off x="3185" y="2275"/>
              <a:ext cx="430" cy="334"/>
            </a:xfrm>
            <a:prstGeom prst="rect">
              <a:avLst/>
            </a:prstGeom>
            <a:solidFill>
              <a:srgbClr val="99FF66"/>
            </a:solidFill>
            <a:ln w="9525">
              <a:solidFill>
                <a:srgbClr val="969696"/>
              </a:solidFill>
              <a:miter lim="800000"/>
              <a:headEnd/>
              <a:tailEnd/>
            </a:ln>
          </p:spPr>
          <p:txBody>
            <a:bodyPr/>
            <a:lstStyle/>
            <a:p>
              <a:pPr algn="ctr"/>
              <a:r>
                <a:rPr lang="en-US" sz="1200" b="1">
                  <a:solidFill>
                    <a:srgbClr val="003300"/>
                  </a:solidFill>
                  <a:latin typeface="Arial" pitchFamily="34" charset="0"/>
                </a:rPr>
                <a:t>Kernel 2</a:t>
              </a:r>
              <a:endParaRPr lang="en-US" sz="1800">
                <a:solidFill>
                  <a:srgbClr val="003300"/>
                </a:solidFill>
                <a:latin typeface="Arial" pitchFamily="34" charset="0"/>
              </a:endParaRPr>
            </a:p>
          </p:txBody>
        </p:sp>
        <p:sp>
          <p:nvSpPr>
            <p:cNvPr id="14347" name="Line 9"/>
            <p:cNvSpPr>
              <a:spLocks noChangeShapeType="1"/>
            </p:cNvSpPr>
            <p:nvPr/>
          </p:nvSpPr>
          <p:spPr bwMode="auto">
            <a:xfrm>
              <a:off x="3118" y="1110"/>
              <a:ext cx="1" cy="1699"/>
            </a:xfrm>
            <a:prstGeom prst="line">
              <a:avLst/>
            </a:prstGeom>
            <a:noFill/>
            <a:ln w="12700">
              <a:solidFill>
                <a:schemeClr val="bg1"/>
              </a:solidFill>
              <a:round/>
              <a:headEnd/>
              <a:tailEnd type="triangle" w="med" len="lg"/>
            </a:ln>
          </p:spPr>
          <p:txBody>
            <a:bodyPr/>
            <a:lstStyle/>
            <a:p>
              <a:endParaRPr lang="en-US"/>
            </a:p>
          </p:txBody>
        </p:sp>
        <p:sp>
          <p:nvSpPr>
            <p:cNvPr id="14348" name="Text Box 10"/>
            <p:cNvSpPr txBox="1">
              <a:spLocks noChangeArrowheads="1"/>
            </p:cNvSpPr>
            <p:nvPr/>
          </p:nvSpPr>
          <p:spPr bwMode="auto">
            <a:xfrm>
              <a:off x="3827" y="698"/>
              <a:ext cx="1759" cy="2864"/>
            </a:xfrm>
            <a:prstGeom prst="rect">
              <a:avLst/>
            </a:prstGeom>
            <a:solidFill>
              <a:srgbClr val="99CCFF"/>
            </a:solidFill>
            <a:ln w="9525">
              <a:solidFill>
                <a:srgbClr val="969696"/>
              </a:solidFill>
              <a:miter lim="800000"/>
              <a:headEnd/>
              <a:tailEnd/>
            </a:ln>
          </p:spPr>
          <p:txBody>
            <a:bodyPr/>
            <a:lstStyle/>
            <a:p>
              <a:r>
                <a:rPr lang="en-US" sz="1200" b="1">
                  <a:solidFill>
                    <a:srgbClr val="003300"/>
                  </a:solidFill>
                  <a:latin typeface="Arial" pitchFamily="34" charset="0"/>
                </a:rPr>
                <a:t>Device</a:t>
              </a:r>
              <a:endParaRPr lang="en-US" sz="1800">
                <a:solidFill>
                  <a:srgbClr val="003300"/>
                </a:solidFill>
                <a:latin typeface="Arial" pitchFamily="34" charset="0"/>
              </a:endParaRPr>
            </a:p>
          </p:txBody>
        </p:sp>
        <p:grpSp>
          <p:nvGrpSpPr>
            <p:cNvPr id="3" name="Group 11"/>
            <p:cNvGrpSpPr>
              <a:grpSpLocks/>
            </p:cNvGrpSpPr>
            <p:nvPr/>
          </p:nvGrpSpPr>
          <p:grpSpPr bwMode="auto">
            <a:xfrm>
              <a:off x="3927" y="957"/>
              <a:ext cx="1554" cy="1004"/>
              <a:chOff x="3820" y="4577"/>
              <a:chExt cx="4116" cy="2660"/>
            </a:xfrm>
          </p:grpSpPr>
          <p:sp>
            <p:nvSpPr>
              <p:cNvPr id="14404" name="Text Box 12"/>
              <p:cNvSpPr txBox="1">
                <a:spLocks noChangeArrowheads="1"/>
              </p:cNvSpPr>
              <p:nvPr/>
            </p:nvSpPr>
            <p:spPr bwMode="auto">
              <a:xfrm>
                <a:off x="3820" y="4577"/>
                <a:ext cx="4116" cy="2660"/>
              </a:xfrm>
              <a:prstGeom prst="rect">
                <a:avLst/>
              </a:prstGeom>
              <a:solidFill>
                <a:srgbClr val="99FF66"/>
              </a:solidFill>
              <a:ln w="9525">
                <a:solidFill>
                  <a:srgbClr val="969696"/>
                </a:solidFill>
                <a:miter lim="800000"/>
                <a:headEnd/>
                <a:tailEnd/>
              </a:ln>
            </p:spPr>
            <p:txBody>
              <a:bodyPr/>
              <a:lstStyle/>
              <a:p>
                <a:r>
                  <a:rPr lang="en-US" sz="1200" b="1">
                    <a:solidFill>
                      <a:srgbClr val="003300"/>
                    </a:solidFill>
                    <a:latin typeface="Arial" pitchFamily="34" charset="0"/>
                  </a:rPr>
                  <a:t>Grid 1</a:t>
                </a:r>
                <a:endParaRPr lang="en-US" sz="1800">
                  <a:solidFill>
                    <a:srgbClr val="003300"/>
                  </a:solidFill>
                  <a:latin typeface="Arial" pitchFamily="34" charset="0"/>
                </a:endParaRPr>
              </a:p>
            </p:txBody>
          </p:sp>
          <p:grpSp>
            <p:nvGrpSpPr>
              <p:cNvPr id="4" name="Group 13"/>
              <p:cNvGrpSpPr>
                <a:grpSpLocks/>
              </p:cNvGrpSpPr>
              <p:nvPr/>
            </p:nvGrpSpPr>
            <p:grpSpPr bwMode="auto">
              <a:xfrm>
                <a:off x="3985" y="5169"/>
                <a:ext cx="3785" cy="864"/>
                <a:chOff x="3997" y="5169"/>
                <a:chExt cx="3785" cy="864"/>
              </a:xfrm>
            </p:grpSpPr>
            <p:sp>
              <p:nvSpPr>
                <p:cNvPr id="14410" name="Text Box 14"/>
                <p:cNvSpPr txBox="1">
                  <a:spLocks noChangeArrowheads="1"/>
                </p:cNvSpPr>
                <p:nvPr/>
              </p:nvSpPr>
              <p:spPr bwMode="auto">
                <a:xfrm>
                  <a:off x="3997"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(0, 0)</a:t>
                  </a:r>
                  <a:endParaRPr lang="en-US" sz="1800">
                    <a:solidFill>
                      <a:srgbClr val="003300"/>
                    </a:solidFill>
                    <a:latin typeface="Arial" pitchFamily="34" charset="0"/>
                  </a:endParaRPr>
                </a:p>
              </p:txBody>
            </p:sp>
            <p:sp>
              <p:nvSpPr>
                <p:cNvPr id="14411" name="Text Box 15"/>
                <p:cNvSpPr txBox="1">
                  <a:spLocks noChangeArrowheads="1"/>
                </p:cNvSpPr>
                <p:nvPr/>
              </p:nvSpPr>
              <p:spPr bwMode="auto">
                <a:xfrm>
                  <a:off x="5299"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(1, 0)</a:t>
                  </a:r>
                  <a:endParaRPr lang="en-US" sz="1800">
                    <a:solidFill>
                      <a:srgbClr val="003300"/>
                    </a:solidFill>
                    <a:latin typeface="Arial" pitchFamily="34" charset="0"/>
                  </a:endParaRPr>
                </a:p>
              </p:txBody>
            </p:sp>
            <p:sp>
              <p:nvSpPr>
                <p:cNvPr id="14412" name="Text Box 16"/>
                <p:cNvSpPr txBox="1">
                  <a:spLocks noChangeArrowheads="1"/>
                </p:cNvSpPr>
                <p:nvPr/>
              </p:nvSpPr>
              <p:spPr bwMode="auto">
                <a:xfrm>
                  <a:off x="6601"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(2, 0)</a:t>
                  </a:r>
                  <a:endParaRPr lang="en-US" sz="1800">
                    <a:solidFill>
                      <a:srgbClr val="003300"/>
                    </a:solidFill>
                    <a:latin typeface="Arial" pitchFamily="34" charset="0"/>
                  </a:endParaRPr>
                </a:p>
              </p:txBody>
            </p:sp>
          </p:grpSp>
          <p:grpSp>
            <p:nvGrpSpPr>
              <p:cNvPr id="5" name="Group 17"/>
              <p:cNvGrpSpPr>
                <a:grpSpLocks/>
              </p:cNvGrpSpPr>
              <p:nvPr/>
            </p:nvGrpSpPr>
            <p:grpSpPr bwMode="auto">
              <a:xfrm>
                <a:off x="3985" y="6187"/>
                <a:ext cx="3785" cy="864"/>
                <a:chOff x="3997" y="5169"/>
                <a:chExt cx="3785" cy="864"/>
              </a:xfrm>
            </p:grpSpPr>
            <p:sp>
              <p:nvSpPr>
                <p:cNvPr id="14407" name="Text Box 18"/>
                <p:cNvSpPr txBox="1">
                  <a:spLocks noChangeArrowheads="1"/>
                </p:cNvSpPr>
                <p:nvPr/>
              </p:nvSpPr>
              <p:spPr bwMode="auto">
                <a:xfrm>
                  <a:off x="3997"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(0, 1)</a:t>
                  </a:r>
                  <a:endParaRPr lang="en-US" sz="1800">
                    <a:solidFill>
                      <a:srgbClr val="003300"/>
                    </a:solidFill>
                    <a:latin typeface="Arial" pitchFamily="34" charset="0"/>
                  </a:endParaRPr>
                </a:p>
              </p:txBody>
            </p:sp>
            <p:sp>
              <p:nvSpPr>
                <p:cNvPr id="14408" name="Text Box 19"/>
                <p:cNvSpPr txBox="1">
                  <a:spLocks noChangeArrowheads="1"/>
                </p:cNvSpPr>
                <p:nvPr/>
              </p:nvSpPr>
              <p:spPr bwMode="auto">
                <a:xfrm>
                  <a:off x="5299"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(1, 1)</a:t>
                  </a:r>
                  <a:endParaRPr lang="en-US" sz="1800">
                    <a:solidFill>
                      <a:srgbClr val="003300"/>
                    </a:solidFill>
                    <a:latin typeface="Arial" pitchFamily="34" charset="0"/>
                  </a:endParaRPr>
                </a:p>
              </p:txBody>
            </p:sp>
            <p:sp>
              <p:nvSpPr>
                <p:cNvPr id="14409" name="Text Box 20"/>
                <p:cNvSpPr txBox="1">
                  <a:spLocks noChangeArrowheads="1"/>
                </p:cNvSpPr>
                <p:nvPr/>
              </p:nvSpPr>
              <p:spPr bwMode="auto">
                <a:xfrm>
                  <a:off x="6601"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(2, 1)</a:t>
                  </a:r>
                  <a:endParaRPr lang="en-US" sz="1800">
                    <a:solidFill>
                      <a:srgbClr val="003300"/>
                    </a:solidFill>
                    <a:latin typeface="Arial" pitchFamily="34" charset="0"/>
                  </a:endParaRPr>
                </a:p>
              </p:txBody>
            </p:sp>
          </p:grpSp>
        </p:grpSp>
        <p:grpSp>
          <p:nvGrpSpPr>
            <p:cNvPr id="6" name="Group 21"/>
            <p:cNvGrpSpPr>
              <a:grpSpLocks/>
            </p:cNvGrpSpPr>
            <p:nvPr/>
          </p:nvGrpSpPr>
          <p:grpSpPr bwMode="auto">
            <a:xfrm>
              <a:off x="4051" y="2056"/>
              <a:ext cx="1306" cy="1416"/>
              <a:chOff x="4730" y="7615"/>
              <a:chExt cx="3458" cy="3752"/>
            </a:xfrm>
          </p:grpSpPr>
          <p:sp>
            <p:nvSpPr>
              <p:cNvPr id="14388" name="Text Box 22"/>
              <p:cNvSpPr txBox="1">
                <a:spLocks noChangeArrowheads="1"/>
              </p:cNvSpPr>
              <p:nvPr/>
            </p:nvSpPr>
            <p:spPr bwMode="auto">
              <a:xfrm>
                <a:off x="4730" y="7615"/>
                <a:ext cx="3458" cy="3752"/>
              </a:xfrm>
              <a:prstGeom prst="rect">
                <a:avLst/>
              </a:prstGeom>
              <a:solidFill>
                <a:srgbClr val="99FF66"/>
              </a:solidFill>
              <a:ln w="9525">
                <a:solidFill>
                  <a:srgbClr val="969696"/>
                </a:solidFill>
                <a:miter lim="800000"/>
                <a:headEnd/>
                <a:tailEnd/>
              </a:ln>
            </p:spPr>
            <p:txBody>
              <a:bodyPr/>
              <a:lstStyle/>
              <a:p>
                <a:r>
                  <a:rPr lang="en-US" sz="1200" b="1">
                    <a:solidFill>
                      <a:srgbClr val="003300"/>
                    </a:solidFill>
                    <a:latin typeface="Arial" pitchFamily="34" charset="0"/>
                  </a:rPr>
                  <a:t>Grid 2</a:t>
                </a:r>
                <a:endParaRPr lang="en-US" sz="1800">
                  <a:solidFill>
                    <a:srgbClr val="003300"/>
                  </a:solidFill>
                  <a:latin typeface="Arial" pitchFamily="34" charset="0"/>
                </a:endParaRPr>
              </a:p>
            </p:txBody>
          </p:sp>
          <p:grpSp>
            <p:nvGrpSpPr>
              <p:cNvPr id="7" name="Group 23"/>
              <p:cNvGrpSpPr>
                <a:grpSpLocks/>
              </p:cNvGrpSpPr>
              <p:nvPr/>
            </p:nvGrpSpPr>
            <p:grpSpPr bwMode="auto">
              <a:xfrm>
                <a:off x="4902" y="8203"/>
                <a:ext cx="3114" cy="892"/>
                <a:chOff x="4391" y="8441"/>
                <a:chExt cx="3114" cy="892"/>
              </a:xfrm>
            </p:grpSpPr>
            <p:sp>
              <p:nvSpPr>
                <p:cNvPr id="14400" name="Text Box 24"/>
                <p:cNvSpPr txBox="1">
                  <a:spLocks noChangeArrowheads="1"/>
                </p:cNvSpPr>
                <p:nvPr/>
              </p:nvSpPr>
              <p:spPr bwMode="auto">
                <a:xfrm>
                  <a:off x="4391"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401" name="Text Box 25"/>
                <p:cNvSpPr txBox="1">
                  <a:spLocks noChangeArrowheads="1"/>
                </p:cNvSpPr>
                <p:nvPr/>
              </p:nvSpPr>
              <p:spPr bwMode="auto">
                <a:xfrm>
                  <a:off x="5199"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402" name="Text Box 26"/>
                <p:cNvSpPr txBox="1">
                  <a:spLocks noChangeArrowheads="1"/>
                </p:cNvSpPr>
                <p:nvPr/>
              </p:nvSpPr>
              <p:spPr bwMode="auto">
                <a:xfrm>
                  <a:off x="6007"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403" name="Text Box 27"/>
                <p:cNvSpPr txBox="1">
                  <a:spLocks noChangeArrowheads="1"/>
                </p:cNvSpPr>
                <p:nvPr/>
              </p:nvSpPr>
              <p:spPr bwMode="auto">
                <a:xfrm>
                  <a:off x="6816"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grpSp>
          <p:grpSp>
            <p:nvGrpSpPr>
              <p:cNvPr id="8" name="Group 28"/>
              <p:cNvGrpSpPr>
                <a:grpSpLocks/>
              </p:cNvGrpSpPr>
              <p:nvPr/>
            </p:nvGrpSpPr>
            <p:grpSpPr bwMode="auto">
              <a:xfrm>
                <a:off x="4902" y="9253"/>
                <a:ext cx="3114" cy="892"/>
                <a:chOff x="4391" y="8441"/>
                <a:chExt cx="3114" cy="892"/>
              </a:xfrm>
            </p:grpSpPr>
            <p:sp>
              <p:nvSpPr>
                <p:cNvPr id="14396" name="Text Box 29"/>
                <p:cNvSpPr txBox="1">
                  <a:spLocks noChangeArrowheads="1"/>
                </p:cNvSpPr>
                <p:nvPr/>
              </p:nvSpPr>
              <p:spPr bwMode="auto">
                <a:xfrm>
                  <a:off x="4391"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397" name="Text Box 30"/>
                <p:cNvSpPr txBox="1">
                  <a:spLocks noChangeArrowheads="1"/>
                </p:cNvSpPr>
                <p:nvPr/>
              </p:nvSpPr>
              <p:spPr bwMode="auto">
                <a:xfrm>
                  <a:off x="5199"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398" name="Text Box 31"/>
                <p:cNvSpPr txBox="1">
                  <a:spLocks noChangeArrowheads="1"/>
                </p:cNvSpPr>
                <p:nvPr/>
              </p:nvSpPr>
              <p:spPr bwMode="auto">
                <a:xfrm>
                  <a:off x="6007"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399" name="Text Box 32"/>
                <p:cNvSpPr txBox="1">
                  <a:spLocks noChangeArrowheads="1"/>
                </p:cNvSpPr>
                <p:nvPr/>
              </p:nvSpPr>
              <p:spPr bwMode="auto">
                <a:xfrm>
                  <a:off x="6816"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grpSp>
          <p:grpSp>
            <p:nvGrpSpPr>
              <p:cNvPr id="9" name="Group 33"/>
              <p:cNvGrpSpPr>
                <a:grpSpLocks/>
              </p:cNvGrpSpPr>
              <p:nvPr/>
            </p:nvGrpSpPr>
            <p:grpSpPr bwMode="auto">
              <a:xfrm>
                <a:off x="4902" y="10303"/>
                <a:ext cx="3114" cy="892"/>
                <a:chOff x="4391" y="8441"/>
                <a:chExt cx="3114" cy="892"/>
              </a:xfrm>
            </p:grpSpPr>
            <p:sp>
              <p:nvSpPr>
                <p:cNvPr id="14392" name="Text Box 34"/>
                <p:cNvSpPr txBox="1">
                  <a:spLocks noChangeArrowheads="1"/>
                </p:cNvSpPr>
                <p:nvPr/>
              </p:nvSpPr>
              <p:spPr bwMode="auto">
                <a:xfrm>
                  <a:off x="4391"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393" name="Text Box 35"/>
                <p:cNvSpPr txBox="1">
                  <a:spLocks noChangeArrowheads="1"/>
                </p:cNvSpPr>
                <p:nvPr/>
              </p:nvSpPr>
              <p:spPr bwMode="auto">
                <a:xfrm>
                  <a:off x="5199"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394" name="Text Box 36"/>
                <p:cNvSpPr txBox="1">
                  <a:spLocks noChangeArrowheads="1"/>
                </p:cNvSpPr>
                <p:nvPr/>
              </p:nvSpPr>
              <p:spPr bwMode="auto">
                <a:xfrm>
                  <a:off x="6007"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sp>
              <p:nvSpPr>
                <p:cNvPr id="14395" name="Text Box 37"/>
                <p:cNvSpPr txBox="1">
                  <a:spLocks noChangeArrowheads="1"/>
                </p:cNvSpPr>
                <p:nvPr/>
              </p:nvSpPr>
              <p:spPr bwMode="auto">
                <a:xfrm>
                  <a:off x="6816" y="8441"/>
                  <a:ext cx="689" cy="892"/>
                </a:xfrm>
                <a:prstGeom prst="rect">
                  <a:avLst/>
                </a:prstGeom>
                <a:solidFill>
                  <a:srgbClr val="FFCC00"/>
                </a:solidFill>
                <a:ln w="9525">
                  <a:solidFill>
                    <a:srgbClr val="969696"/>
                  </a:solidFill>
                  <a:miter lim="800000"/>
                  <a:headEnd/>
                  <a:tailEnd/>
                </a:ln>
              </p:spPr>
              <p:txBody>
                <a:bodyPr lIns="0" tIns="91440" rIns="0" bIns="0"/>
                <a:lstStyle/>
                <a:p>
                  <a:endParaRPr lang="en-US" sz="1800">
                    <a:solidFill>
                      <a:srgbClr val="003300"/>
                    </a:solidFill>
                    <a:latin typeface="Arial" pitchFamily="34" charset="0"/>
                  </a:endParaRPr>
                </a:p>
              </p:txBody>
            </p:sp>
          </p:grpSp>
        </p:grpSp>
        <p:grpSp>
          <p:nvGrpSpPr>
            <p:cNvPr id="10" name="Group 38"/>
            <p:cNvGrpSpPr>
              <a:grpSpLocks/>
            </p:cNvGrpSpPr>
            <p:nvPr/>
          </p:nvGrpSpPr>
          <p:grpSpPr bwMode="auto">
            <a:xfrm>
              <a:off x="3414" y="2782"/>
              <a:ext cx="1765" cy="1295"/>
              <a:chOff x="1972" y="8931"/>
              <a:chExt cx="4676" cy="3430"/>
            </a:xfrm>
          </p:grpSpPr>
          <p:sp>
            <p:nvSpPr>
              <p:cNvPr id="14360" name="Text Box 39"/>
              <p:cNvSpPr txBox="1">
                <a:spLocks noChangeArrowheads="1"/>
              </p:cNvSpPr>
              <p:nvPr/>
            </p:nvSpPr>
            <p:spPr bwMode="auto">
              <a:xfrm>
                <a:off x="1972" y="8931"/>
                <a:ext cx="4676" cy="3430"/>
              </a:xfrm>
              <a:prstGeom prst="rect">
                <a:avLst/>
              </a:prstGeom>
              <a:solidFill>
                <a:srgbClr val="FFCC00"/>
              </a:solidFill>
              <a:ln w="9525">
                <a:solidFill>
                  <a:srgbClr val="969696"/>
                </a:solidFill>
                <a:miter lim="800000"/>
                <a:headEnd/>
                <a:tailEnd/>
              </a:ln>
            </p:spPr>
            <p:txBody>
              <a:bodyPr/>
              <a:lstStyle/>
              <a:p>
                <a:r>
                  <a:rPr lang="en-US" sz="1200" b="1">
                    <a:solidFill>
                      <a:srgbClr val="003300"/>
                    </a:solidFill>
                    <a:latin typeface="Arial" pitchFamily="34" charset="0"/>
                  </a:rPr>
                  <a:t>Block (1, 1)</a:t>
                </a:r>
                <a:endParaRPr lang="en-US" sz="1800">
                  <a:solidFill>
                    <a:srgbClr val="003300"/>
                  </a:solidFill>
                  <a:latin typeface="Arial" pitchFamily="34" charset="0"/>
                </a:endParaRPr>
              </a:p>
            </p:txBody>
          </p:sp>
          <p:grpSp>
            <p:nvGrpSpPr>
              <p:cNvPr id="11" name="Group 40"/>
              <p:cNvGrpSpPr>
                <a:grpSpLocks/>
              </p:cNvGrpSpPr>
              <p:nvPr/>
            </p:nvGrpSpPr>
            <p:grpSpPr bwMode="auto">
              <a:xfrm>
                <a:off x="2147" y="9559"/>
                <a:ext cx="4325" cy="2592"/>
                <a:chOff x="2630" y="11267"/>
                <a:chExt cx="4325" cy="2592"/>
              </a:xfrm>
            </p:grpSpPr>
            <p:grpSp>
              <p:nvGrpSpPr>
                <p:cNvPr id="12" name="Group 41"/>
                <p:cNvGrpSpPr>
                  <a:grpSpLocks/>
                </p:cNvGrpSpPr>
                <p:nvPr/>
              </p:nvGrpSpPr>
              <p:grpSpPr bwMode="auto">
                <a:xfrm>
                  <a:off x="2630" y="11267"/>
                  <a:ext cx="4325" cy="2592"/>
                  <a:chOff x="2160" y="10769"/>
                  <a:chExt cx="4325" cy="2592"/>
                </a:xfrm>
              </p:grpSpPr>
              <p:sp>
                <p:nvSpPr>
                  <p:cNvPr id="14381" name="Rectangle 42"/>
                  <p:cNvSpPr>
                    <a:spLocks noChangeArrowheads="1"/>
                  </p:cNvSpPr>
                  <p:nvPr/>
                </p:nvSpPr>
                <p:spPr bwMode="auto">
                  <a:xfrm>
                    <a:off x="2160" y="10769"/>
                    <a:ext cx="4320" cy="2592"/>
                  </a:xfrm>
                  <a:prstGeom prst="rect">
                    <a:avLst/>
                  </a:prstGeom>
                  <a:solidFill>
                    <a:srgbClr val="FF6600"/>
                  </a:solidFill>
                  <a:ln w="12700">
                    <a:solidFill>
                      <a:srgbClr val="000000"/>
                    </a:solidFill>
                    <a:miter lim="800000"/>
                    <a:headEnd/>
                    <a:tailEnd/>
                  </a:ln>
                </p:spPr>
                <p:txBody>
                  <a:bodyPr/>
                  <a:lstStyle/>
                  <a:p>
                    <a:endParaRPr lang="en-US"/>
                  </a:p>
                </p:txBody>
              </p:sp>
              <p:sp>
                <p:nvSpPr>
                  <p:cNvPr id="14382" name="Line 43"/>
                  <p:cNvSpPr>
                    <a:spLocks noChangeShapeType="1"/>
                  </p:cNvSpPr>
                  <p:nvPr/>
                </p:nvSpPr>
                <p:spPr bwMode="auto">
                  <a:xfrm flipV="1">
                    <a:off x="2160" y="11631"/>
                    <a:ext cx="4325" cy="2"/>
                  </a:xfrm>
                  <a:prstGeom prst="line">
                    <a:avLst/>
                  </a:prstGeom>
                  <a:noFill/>
                  <a:ln w="12700">
                    <a:solidFill>
                      <a:srgbClr val="000000"/>
                    </a:solidFill>
                    <a:round/>
                    <a:headEnd/>
                    <a:tailEnd/>
                  </a:ln>
                </p:spPr>
                <p:txBody>
                  <a:bodyPr/>
                  <a:lstStyle/>
                  <a:p>
                    <a:endParaRPr lang="en-US"/>
                  </a:p>
                </p:txBody>
              </p:sp>
              <p:sp>
                <p:nvSpPr>
                  <p:cNvPr id="14383" name="Line 44"/>
                  <p:cNvSpPr>
                    <a:spLocks noChangeShapeType="1"/>
                  </p:cNvSpPr>
                  <p:nvPr/>
                </p:nvSpPr>
                <p:spPr bwMode="auto">
                  <a:xfrm>
                    <a:off x="2161" y="12497"/>
                    <a:ext cx="4324" cy="4"/>
                  </a:xfrm>
                  <a:prstGeom prst="line">
                    <a:avLst/>
                  </a:prstGeom>
                  <a:noFill/>
                  <a:ln w="12700">
                    <a:solidFill>
                      <a:srgbClr val="000000"/>
                    </a:solidFill>
                    <a:round/>
                    <a:headEnd/>
                    <a:tailEnd/>
                  </a:ln>
                </p:spPr>
                <p:txBody>
                  <a:bodyPr/>
                  <a:lstStyle/>
                  <a:p>
                    <a:endParaRPr lang="en-US"/>
                  </a:p>
                </p:txBody>
              </p:sp>
              <p:sp>
                <p:nvSpPr>
                  <p:cNvPr id="14384" name="Line 45"/>
                  <p:cNvSpPr>
                    <a:spLocks noChangeShapeType="1"/>
                  </p:cNvSpPr>
                  <p:nvPr/>
                </p:nvSpPr>
                <p:spPr bwMode="auto">
                  <a:xfrm>
                    <a:off x="3024" y="10769"/>
                    <a:ext cx="1" cy="2592"/>
                  </a:xfrm>
                  <a:prstGeom prst="line">
                    <a:avLst/>
                  </a:prstGeom>
                  <a:noFill/>
                  <a:ln w="12700">
                    <a:solidFill>
                      <a:srgbClr val="000000"/>
                    </a:solidFill>
                    <a:round/>
                    <a:headEnd/>
                    <a:tailEnd/>
                  </a:ln>
                </p:spPr>
                <p:txBody>
                  <a:bodyPr/>
                  <a:lstStyle/>
                  <a:p>
                    <a:endParaRPr lang="en-US"/>
                  </a:p>
                </p:txBody>
              </p:sp>
              <p:sp>
                <p:nvSpPr>
                  <p:cNvPr id="14385" name="Line 46"/>
                  <p:cNvSpPr>
                    <a:spLocks noChangeShapeType="1"/>
                  </p:cNvSpPr>
                  <p:nvPr/>
                </p:nvSpPr>
                <p:spPr bwMode="auto">
                  <a:xfrm>
                    <a:off x="3888" y="10769"/>
                    <a:ext cx="1" cy="2592"/>
                  </a:xfrm>
                  <a:prstGeom prst="line">
                    <a:avLst/>
                  </a:prstGeom>
                  <a:noFill/>
                  <a:ln w="12700">
                    <a:solidFill>
                      <a:srgbClr val="000000"/>
                    </a:solidFill>
                    <a:round/>
                    <a:headEnd/>
                    <a:tailEnd/>
                  </a:ln>
                </p:spPr>
                <p:txBody>
                  <a:bodyPr/>
                  <a:lstStyle/>
                  <a:p>
                    <a:endParaRPr lang="en-US"/>
                  </a:p>
                </p:txBody>
              </p:sp>
              <p:sp>
                <p:nvSpPr>
                  <p:cNvPr id="14386" name="Line 47"/>
                  <p:cNvSpPr>
                    <a:spLocks noChangeShapeType="1"/>
                  </p:cNvSpPr>
                  <p:nvPr/>
                </p:nvSpPr>
                <p:spPr bwMode="auto">
                  <a:xfrm>
                    <a:off x="4752" y="10769"/>
                    <a:ext cx="1" cy="2592"/>
                  </a:xfrm>
                  <a:prstGeom prst="line">
                    <a:avLst/>
                  </a:prstGeom>
                  <a:noFill/>
                  <a:ln w="12700">
                    <a:solidFill>
                      <a:srgbClr val="000000"/>
                    </a:solidFill>
                    <a:round/>
                    <a:headEnd/>
                    <a:tailEnd/>
                  </a:ln>
                </p:spPr>
                <p:txBody>
                  <a:bodyPr/>
                  <a:lstStyle/>
                  <a:p>
                    <a:endParaRPr lang="en-US"/>
                  </a:p>
                </p:txBody>
              </p:sp>
              <p:sp>
                <p:nvSpPr>
                  <p:cNvPr id="14387" name="Line 48"/>
                  <p:cNvSpPr>
                    <a:spLocks noChangeShapeType="1"/>
                  </p:cNvSpPr>
                  <p:nvPr/>
                </p:nvSpPr>
                <p:spPr bwMode="auto">
                  <a:xfrm>
                    <a:off x="5616" y="10769"/>
                    <a:ext cx="1" cy="2592"/>
                  </a:xfrm>
                  <a:prstGeom prst="line">
                    <a:avLst/>
                  </a:prstGeom>
                  <a:noFill/>
                  <a:ln w="12700">
                    <a:solidFill>
                      <a:srgbClr val="000000"/>
                    </a:solidFill>
                    <a:round/>
                    <a:headEnd/>
                    <a:tailEnd/>
                  </a:ln>
                </p:spPr>
                <p:txBody>
                  <a:bodyPr/>
                  <a:lstStyle/>
                  <a:p>
                    <a:endParaRPr lang="en-US"/>
                  </a:p>
                </p:txBody>
              </p:sp>
            </p:grpSp>
            <p:grpSp>
              <p:nvGrpSpPr>
                <p:cNvPr id="13" name="Group 49"/>
                <p:cNvGrpSpPr>
                  <a:grpSpLocks/>
                </p:cNvGrpSpPr>
                <p:nvPr/>
              </p:nvGrpSpPr>
              <p:grpSpPr bwMode="auto">
                <a:xfrm>
                  <a:off x="2756" y="12340"/>
                  <a:ext cx="4075" cy="448"/>
                  <a:chOff x="2364" y="10793"/>
                  <a:chExt cx="4075" cy="448"/>
                </a:xfrm>
              </p:grpSpPr>
              <p:sp>
                <p:nvSpPr>
                  <p:cNvPr id="14376" name="Text Box 50"/>
                  <p:cNvSpPr txBox="1">
                    <a:spLocks noChangeArrowheads="1"/>
                  </p:cNvSpPr>
                  <p:nvPr/>
                </p:nvSpPr>
                <p:spPr bwMode="auto">
                  <a:xfrm>
                    <a:off x="2364"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(0, 1)</a:t>
                    </a:r>
                    <a:endParaRPr lang="en-US" sz="1800">
                      <a:solidFill>
                        <a:srgbClr val="003300"/>
                      </a:solidFill>
                      <a:latin typeface="Arial" pitchFamily="34" charset="0"/>
                    </a:endParaRPr>
                  </a:p>
                </p:txBody>
              </p:sp>
              <p:sp>
                <p:nvSpPr>
                  <p:cNvPr id="14377" name="Text Box 51"/>
                  <p:cNvSpPr txBox="1">
                    <a:spLocks noChangeArrowheads="1"/>
                  </p:cNvSpPr>
                  <p:nvPr/>
                </p:nvSpPr>
                <p:spPr bwMode="auto">
                  <a:xfrm>
                    <a:off x="3228"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(1, 1)</a:t>
                    </a:r>
                    <a:endParaRPr lang="en-US" sz="1800">
                      <a:solidFill>
                        <a:srgbClr val="003300"/>
                      </a:solidFill>
                      <a:latin typeface="Arial" pitchFamily="34" charset="0"/>
                    </a:endParaRPr>
                  </a:p>
                </p:txBody>
              </p:sp>
              <p:sp>
                <p:nvSpPr>
                  <p:cNvPr id="14378" name="Text Box 52"/>
                  <p:cNvSpPr txBox="1">
                    <a:spLocks noChangeArrowheads="1"/>
                  </p:cNvSpPr>
                  <p:nvPr/>
                </p:nvSpPr>
                <p:spPr bwMode="auto">
                  <a:xfrm>
                    <a:off x="4093"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(2, 1)</a:t>
                    </a:r>
                    <a:endParaRPr lang="en-US" sz="1800">
                      <a:solidFill>
                        <a:srgbClr val="003300"/>
                      </a:solidFill>
                      <a:latin typeface="Arial" pitchFamily="34" charset="0"/>
                    </a:endParaRPr>
                  </a:p>
                </p:txBody>
              </p:sp>
              <p:sp>
                <p:nvSpPr>
                  <p:cNvPr id="14379" name="Text Box 53"/>
                  <p:cNvSpPr txBox="1">
                    <a:spLocks noChangeArrowheads="1"/>
                  </p:cNvSpPr>
                  <p:nvPr/>
                </p:nvSpPr>
                <p:spPr bwMode="auto">
                  <a:xfrm>
                    <a:off x="4957"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(3, 1)</a:t>
                    </a:r>
                    <a:endParaRPr lang="en-US" sz="1800">
                      <a:solidFill>
                        <a:srgbClr val="003300"/>
                      </a:solidFill>
                      <a:latin typeface="Arial" pitchFamily="34" charset="0"/>
                    </a:endParaRPr>
                  </a:p>
                </p:txBody>
              </p:sp>
              <p:sp>
                <p:nvSpPr>
                  <p:cNvPr id="14380" name="Text Box 54"/>
                  <p:cNvSpPr txBox="1">
                    <a:spLocks noChangeArrowheads="1"/>
                  </p:cNvSpPr>
                  <p:nvPr/>
                </p:nvSpPr>
                <p:spPr bwMode="auto">
                  <a:xfrm>
                    <a:off x="5822"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(4, 1)</a:t>
                    </a:r>
                    <a:endParaRPr lang="en-US" sz="1800">
                      <a:solidFill>
                        <a:srgbClr val="003300"/>
                      </a:solidFill>
                      <a:latin typeface="Arial" pitchFamily="34" charset="0"/>
                    </a:endParaRPr>
                  </a:p>
                </p:txBody>
              </p:sp>
            </p:grpSp>
            <p:grpSp>
              <p:nvGrpSpPr>
                <p:cNvPr id="14" name="Group 55"/>
                <p:cNvGrpSpPr>
                  <a:grpSpLocks/>
                </p:cNvGrpSpPr>
                <p:nvPr/>
              </p:nvGrpSpPr>
              <p:grpSpPr bwMode="auto">
                <a:xfrm>
                  <a:off x="2756" y="13201"/>
                  <a:ext cx="4075" cy="448"/>
                  <a:chOff x="2364" y="10793"/>
                  <a:chExt cx="4075" cy="448"/>
                </a:xfrm>
              </p:grpSpPr>
              <p:sp>
                <p:nvSpPr>
                  <p:cNvPr id="14371" name="Text Box 56"/>
                  <p:cNvSpPr txBox="1">
                    <a:spLocks noChangeArrowheads="1"/>
                  </p:cNvSpPr>
                  <p:nvPr/>
                </p:nvSpPr>
                <p:spPr bwMode="auto">
                  <a:xfrm>
                    <a:off x="2364"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(0, 2)</a:t>
                    </a:r>
                    <a:endParaRPr lang="en-US" sz="1800">
                      <a:solidFill>
                        <a:srgbClr val="003300"/>
                      </a:solidFill>
                      <a:latin typeface="Arial" pitchFamily="34" charset="0"/>
                    </a:endParaRPr>
                  </a:p>
                </p:txBody>
              </p:sp>
              <p:sp>
                <p:nvSpPr>
                  <p:cNvPr id="14372" name="Text Box 57"/>
                  <p:cNvSpPr txBox="1">
                    <a:spLocks noChangeArrowheads="1"/>
                  </p:cNvSpPr>
                  <p:nvPr/>
                </p:nvSpPr>
                <p:spPr bwMode="auto">
                  <a:xfrm>
                    <a:off x="3228"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(1, 2)</a:t>
                    </a:r>
                    <a:endParaRPr lang="en-US" sz="1800">
                      <a:solidFill>
                        <a:srgbClr val="003300"/>
                      </a:solidFill>
                      <a:latin typeface="Arial" pitchFamily="34" charset="0"/>
                    </a:endParaRPr>
                  </a:p>
                </p:txBody>
              </p:sp>
              <p:sp>
                <p:nvSpPr>
                  <p:cNvPr id="14373" name="Text Box 58"/>
                  <p:cNvSpPr txBox="1">
                    <a:spLocks noChangeArrowheads="1"/>
                  </p:cNvSpPr>
                  <p:nvPr/>
                </p:nvSpPr>
                <p:spPr bwMode="auto">
                  <a:xfrm>
                    <a:off x="4093"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(2, 2)</a:t>
                    </a:r>
                    <a:endParaRPr lang="en-US" sz="1800">
                      <a:solidFill>
                        <a:srgbClr val="003300"/>
                      </a:solidFill>
                      <a:latin typeface="Arial" pitchFamily="34" charset="0"/>
                    </a:endParaRPr>
                  </a:p>
                </p:txBody>
              </p:sp>
              <p:sp>
                <p:nvSpPr>
                  <p:cNvPr id="14374" name="Text Box 59"/>
                  <p:cNvSpPr txBox="1">
                    <a:spLocks noChangeArrowheads="1"/>
                  </p:cNvSpPr>
                  <p:nvPr/>
                </p:nvSpPr>
                <p:spPr bwMode="auto">
                  <a:xfrm>
                    <a:off x="4957"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(3, 2)</a:t>
                    </a:r>
                    <a:endParaRPr lang="en-US" sz="1800">
                      <a:solidFill>
                        <a:srgbClr val="003300"/>
                      </a:solidFill>
                      <a:latin typeface="Arial" pitchFamily="34" charset="0"/>
                    </a:endParaRPr>
                  </a:p>
                </p:txBody>
              </p:sp>
              <p:sp>
                <p:nvSpPr>
                  <p:cNvPr id="14375" name="Text Box 60"/>
                  <p:cNvSpPr txBox="1">
                    <a:spLocks noChangeArrowheads="1"/>
                  </p:cNvSpPr>
                  <p:nvPr/>
                </p:nvSpPr>
                <p:spPr bwMode="auto">
                  <a:xfrm>
                    <a:off x="5822"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(4, 2)</a:t>
                    </a:r>
                    <a:endParaRPr lang="en-US" sz="1800">
                      <a:solidFill>
                        <a:srgbClr val="003300"/>
                      </a:solidFill>
                      <a:latin typeface="Arial" pitchFamily="34" charset="0"/>
                    </a:endParaRPr>
                  </a:p>
                </p:txBody>
              </p:sp>
            </p:grpSp>
            <p:grpSp>
              <p:nvGrpSpPr>
                <p:cNvPr id="15" name="Group 61"/>
                <p:cNvGrpSpPr>
                  <a:grpSpLocks/>
                </p:cNvGrpSpPr>
                <p:nvPr/>
              </p:nvGrpSpPr>
              <p:grpSpPr bwMode="auto">
                <a:xfrm>
                  <a:off x="2755" y="11479"/>
                  <a:ext cx="4075" cy="448"/>
                  <a:chOff x="2364" y="10793"/>
                  <a:chExt cx="4075" cy="448"/>
                </a:xfrm>
              </p:grpSpPr>
              <p:sp>
                <p:nvSpPr>
                  <p:cNvPr id="14366" name="Text Box 62"/>
                  <p:cNvSpPr txBox="1">
                    <a:spLocks noChangeArrowheads="1"/>
                  </p:cNvSpPr>
                  <p:nvPr/>
                </p:nvSpPr>
                <p:spPr bwMode="auto">
                  <a:xfrm>
                    <a:off x="2364"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(0, 0)</a:t>
                    </a:r>
                    <a:endParaRPr lang="en-US" sz="1800">
                      <a:solidFill>
                        <a:srgbClr val="003300"/>
                      </a:solidFill>
                      <a:latin typeface="Arial" pitchFamily="34" charset="0"/>
                    </a:endParaRPr>
                  </a:p>
                </p:txBody>
              </p:sp>
              <p:sp>
                <p:nvSpPr>
                  <p:cNvPr id="14367" name="Text Box 63"/>
                  <p:cNvSpPr txBox="1">
                    <a:spLocks noChangeArrowheads="1"/>
                  </p:cNvSpPr>
                  <p:nvPr/>
                </p:nvSpPr>
                <p:spPr bwMode="auto">
                  <a:xfrm>
                    <a:off x="3228"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(1, 0)</a:t>
                    </a:r>
                    <a:endParaRPr lang="en-US" sz="1800">
                      <a:solidFill>
                        <a:srgbClr val="003300"/>
                      </a:solidFill>
                      <a:latin typeface="Arial" pitchFamily="34" charset="0"/>
                    </a:endParaRPr>
                  </a:p>
                </p:txBody>
              </p:sp>
              <p:sp>
                <p:nvSpPr>
                  <p:cNvPr id="14368" name="Text Box 64"/>
                  <p:cNvSpPr txBox="1">
                    <a:spLocks noChangeArrowheads="1"/>
                  </p:cNvSpPr>
                  <p:nvPr/>
                </p:nvSpPr>
                <p:spPr bwMode="auto">
                  <a:xfrm>
                    <a:off x="4093"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(2, 0)</a:t>
                    </a:r>
                    <a:endParaRPr lang="en-US" sz="1800">
                      <a:solidFill>
                        <a:srgbClr val="003300"/>
                      </a:solidFill>
                      <a:latin typeface="Arial" pitchFamily="34" charset="0"/>
                    </a:endParaRPr>
                  </a:p>
                </p:txBody>
              </p:sp>
              <p:sp>
                <p:nvSpPr>
                  <p:cNvPr id="14369" name="Text Box 65"/>
                  <p:cNvSpPr txBox="1">
                    <a:spLocks noChangeArrowheads="1"/>
                  </p:cNvSpPr>
                  <p:nvPr/>
                </p:nvSpPr>
                <p:spPr bwMode="auto">
                  <a:xfrm>
                    <a:off x="4957"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(3, 0)</a:t>
                    </a:r>
                    <a:endParaRPr lang="en-US" sz="1800">
                      <a:solidFill>
                        <a:srgbClr val="003300"/>
                      </a:solidFill>
                      <a:latin typeface="Arial" pitchFamily="34" charset="0"/>
                    </a:endParaRPr>
                  </a:p>
                </p:txBody>
              </p:sp>
              <p:sp>
                <p:nvSpPr>
                  <p:cNvPr id="14370" name="Text Box 66"/>
                  <p:cNvSpPr txBox="1">
                    <a:spLocks noChangeArrowheads="1"/>
                  </p:cNvSpPr>
                  <p:nvPr/>
                </p:nvSpPr>
                <p:spPr bwMode="auto">
                  <a:xfrm>
                    <a:off x="5822"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(4, 0)</a:t>
                    </a:r>
                    <a:endParaRPr lang="en-US" sz="1800">
                      <a:solidFill>
                        <a:srgbClr val="003300"/>
                      </a:solidFill>
                      <a:latin typeface="Arial" pitchFamily="34" charset="0"/>
                    </a:endParaRPr>
                  </a:p>
                </p:txBody>
              </p:sp>
            </p:grpSp>
          </p:grpSp>
        </p:grpSp>
        <p:sp>
          <p:nvSpPr>
            <p:cNvPr id="14352" name="Line 67"/>
            <p:cNvSpPr>
              <a:spLocks noChangeShapeType="1"/>
            </p:cNvSpPr>
            <p:nvPr/>
          </p:nvSpPr>
          <p:spPr bwMode="auto">
            <a:xfrm>
              <a:off x="3605" y="1277"/>
              <a:ext cx="322" cy="0"/>
            </a:xfrm>
            <a:prstGeom prst="line">
              <a:avLst/>
            </a:prstGeom>
            <a:noFill/>
            <a:ln w="19050">
              <a:solidFill>
                <a:schemeClr val="tx1"/>
              </a:solidFill>
              <a:round/>
              <a:headEnd/>
              <a:tailEnd type="triangle" w="lg" len="med"/>
            </a:ln>
          </p:spPr>
          <p:txBody>
            <a:bodyPr/>
            <a:lstStyle/>
            <a:p>
              <a:endParaRPr lang="en-US"/>
            </a:p>
          </p:txBody>
        </p:sp>
        <p:sp>
          <p:nvSpPr>
            <p:cNvPr id="14353" name="Line 68"/>
            <p:cNvSpPr>
              <a:spLocks noChangeShapeType="1"/>
            </p:cNvSpPr>
            <p:nvPr/>
          </p:nvSpPr>
          <p:spPr bwMode="auto">
            <a:xfrm>
              <a:off x="3615" y="2380"/>
              <a:ext cx="433" cy="1"/>
            </a:xfrm>
            <a:prstGeom prst="line">
              <a:avLst/>
            </a:prstGeom>
            <a:noFill/>
            <a:ln w="19050">
              <a:solidFill>
                <a:schemeClr val="tx1"/>
              </a:solidFill>
              <a:round/>
              <a:headEnd/>
              <a:tailEnd type="triangle" w="lg" len="med"/>
            </a:ln>
          </p:spPr>
          <p:txBody>
            <a:bodyPr/>
            <a:lstStyle/>
            <a:p>
              <a:endParaRPr lang="en-US"/>
            </a:p>
          </p:txBody>
        </p:sp>
        <p:sp>
          <p:nvSpPr>
            <p:cNvPr id="14354" name="Line 69"/>
            <p:cNvSpPr>
              <a:spLocks noChangeShapeType="1"/>
            </p:cNvSpPr>
            <p:nvPr/>
          </p:nvSpPr>
          <p:spPr bwMode="auto">
            <a:xfrm flipH="1">
              <a:off x="3414" y="1562"/>
              <a:ext cx="1068" cy="1220"/>
            </a:xfrm>
            <a:prstGeom prst="line">
              <a:avLst/>
            </a:prstGeom>
            <a:noFill/>
            <a:ln w="9525">
              <a:solidFill>
                <a:srgbClr val="000000"/>
              </a:solidFill>
              <a:prstDash val="dash"/>
              <a:round/>
              <a:headEnd/>
              <a:tailEnd/>
            </a:ln>
          </p:spPr>
          <p:txBody>
            <a:bodyPr/>
            <a:lstStyle/>
            <a:p>
              <a:endParaRPr lang="en-US"/>
            </a:p>
          </p:txBody>
        </p:sp>
        <p:sp>
          <p:nvSpPr>
            <p:cNvPr id="14355" name="Line 70"/>
            <p:cNvSpPr>
              <a:spLocks noChangeShapeType="1"/>
            </p:cNvSpPr>
            <p:nvPr/>
          </p:nvSpPr>
          <p:spPr bwMode="auto">
            <a:xfrm>
              <a:off x="4926" y="1562"/>
              <a:ext cx="243" cy="1215"/>
            </a:xfrm>
            <a:prstGeom prst="line">
              <a:avLst/>
            </a:prstGeom>
            <a:noFill/>
            <a:ln w="9525">
              <a:solidFill>
                <a:srgbClr val="000000"/>
              </a:solidFill>
              <a:prstDash val="dash"/>
              <a:round/>
              <a:headEnd/>
              <a:tailEnd/>
            </a:ln>
          </p:spPr>
          <p:txBody>
            <a:bodyPr/>
            <a:lstStyle/>
            <a:p>
              <a:endParaRPr lang="en-US"/>
            </a:p>
          </p:txBody>
        </p:sp>
        <p:sp>
          <p:nvSpPr>
            <p:cNvPr id="14356" name="Line 71"/>
            <p:cNvSpPr>
              <a:spLocks noChangeShapeType="1"/>
            </p:cNvSpPr>
            <p:nvPr/>
          </p:nvSpPr>
          <p:spPr bwMode="auto">
            <a:xfrm flipH="1">
              <a:off x="4048" y="1889"/>
              <a:ext cx="434" cy="883"/>
            </a:xfrm>
            <a:prstGeom prst="line">
              <a:avLst/>
            </a:prstGeom>
            <a:noFill/>
            <a:ln w="9525">
              <a:solidFill>
                <a:srgbClr val="000000"/>
              </a:solidFill>
              <a:prstDash val="dash"/>
              <a:round/>
              <a:headEnd/>
              <a:tailEnd/>
            </a:ln>
          </p:spPr>
          <p:txBody>
            <a:bodyPr/>
            <a:lstStyle/>
            <a:p>
              <a:endParaRPr lang="en-US"/>
            </a:p>
          </p:txBody>
        </p:sp>
        <p:sp>
          <p:nvSpPr>
            <p:cNvPr id="14357" name="Line 72"/>
            <p:cNvSpPr>
              <a:spLocks noChangeShapeType="1"/>
            </p:cNvSpPr>
            <p:nvPr/>
          </p:nvSpPr>
          <p:spPr bwMode="auto">
            <a:xfrm>
              <a:off x="4926" y="1895"/>
              <a:ext cx="100" cy="893"/>
            </a:xfrm>
            <a:prstGeom prst="line">
              <a:avLst/>
            </a:prstGeom>
            <a:noFill/>
            <a:ln w="9525">
              <a:solidFill>
                <a:srgbClr val="000000"/>
              </a:solidFill>
              <a:prstDash val="dash"/>
              <a:round/>
              <a:headEnd/>
              <a:tailEnd/>
            </a:ln>
          </p:spPr>
          <p:txBody>
            <a:bodyPr/>
            <a:lstStyle/>
            <a:p>
              <a:endParaRPr lang="en-US"/>
            </a:p>
          </p:txBody>
        </p:sp>
        <p:sp>
          <p:nvSpPr>
            <p:cNvPr id="14358" name="Line 73"/>
            <p:cNvSpPr>
              <a:spLocks noChangeShapeType="1"/>
            </p:cNvSpPr>
            <p:nvPr/>
          </p:nvSpPr>
          <p:spPr bwMode="auto">
            <a:xfrm flipH="1">
              <a:off x="3420" y="2777"/>
              <a:ext cx="623" cy="1295"/>
            </a:xfrm>
            <a:prstGeom prst="line">
              <a:avLst/>
            </a:prstGeom>
            <a:noFill/>
            <a:ln w="9525">
              <a:solidFill>
                <a:srgbClr val="000000">
                  <a:alpha val="10196"/>
                </a:srgbClr>
              </a:solidFill>
              <a:prstDash val="dash"/>
              <a:round/>
              <a:headEnd/>
              <a:tailEnd/>
            </a:ln>
          </p:spPr>
          <p:txBody>
            <a:bodyPr/>
            <a:lstStyle/>
            <a:p>
              <a:endParaRPr lang="en-US"/>
            </a:p>
          </p:txBody>
        </p:sp>
        <p:sp>
          <p:nvSpPr>
            <p:cNvPr id="14359" name="Line 74"/>
            <p:cNvSpPr>
              <a:spLocks noChangeShapeType="1"/>
            </p:cNvSpPr>
            <p:nvPr/>
          </p:nvSpPr>
          <p:spPr bwMode="auto">
            <a:xfrm>
              <a:off x="5026" y="2777"/>
              <a:ext cx="153" cy="1300"/>
            </a:xfrm>
            <a:prstGeom prst="line">
              <a:avLst/>
            </a:prstGeom>
            <a:noFill/>
            <a:ln w="9525">
              <a:solidFill>
                <a:srgbClr val="000000">
                  <a:alpha val="10196"/>
                </a:srgbClr>
              </a:solidFill>
              <a:prstDash val="dash"/>
              <a:round/>
              <a:headEnd/>
              <a:tailEnd/>
            </a:ln>
          </p:spPr>
          <p:txBody>
            <a:bodyPr/>
            <a:lstStyle/>
            <a:p>
              <a:endParaRPr lang="en-US"/>
            </a:p>
          </p:txBody>
        </p:sp>
      </p:grpSp>
      <p:sp>
        <p:nvSpPr>
          <p:cNvPr id="14342" name="Rectangle 75"/>
          <p:cNvSpPr>
            <a:spLocks noChangeArrowheads="1"/>
          </p:cNvSpPr>
          <p:nvPr/>
        </p:nvSpPr>
        <p:spPr bwMode="auto">
          <a:xfrm>
            <a:off x="6096000" y="6521450"/>
            <a:ext cx="1747838" cy="336550"/>
          </a:xfrm>
          <a:prstGeom prst="rect">
            <a:avLst/>
          </a:prstGeom>
          <a:noFill/>
          <a:ln w="9525">
            <a:noFill/>
            <a:miter lim="800000"/>
            <a:headEnd/>
            <a:tailEnd/>
          </a:ln>
        </p:spPr>
        <p:txBody>
          <a:bodyPr wrap="none">
            <a:spAutoFit/>
          </a:bodyPr>
          <a:lstStyle/>
          <a:p>
            <a:r>
              <a:rPr lang="en-US" sz="1600">
                <a:latin typeface="Times New Roman" pitchFamily="18" charset="0"/>
              </a:rPr>
              <a:t>Courtesy: NVIDIA</a:t>
            </a:r>
          </a:p>
        </p:txBody>
      </p:sp>
      <p:pic>
        <p:nvPicPr>
          <p:cNvPr id="16" name="Picture 15" descr="A screenshot of a computer&#10;&#10;Description automatically generated">
            <a:extLst>
              <a:ext uri="{FF2B5EF4-FFF2-40B4-BE49-F238E27FC236}">
                <a16:creationId xmlns:a16="http://schemas.microsoft.com/office/drawing/2014/main" id="{459ACBC8-0178-E7A4-BEBC-5222BF73D833}"/>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874022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749346" y="152401"/>
            <a:ext cx="6556454" cy="745128"/>
          </a:xfrm>
        </p:spPr>
        <p:style>
          <a:lnRef idx="1">
            <a:schemeClr val="accent2"/>
          </a:lnRef>
          <a:fillRef idx="2">
            <a:schemeClr val="accent2"/>
          </a:fillRef>
          <a:effectRef idx="1">
            <a:schemeClr val="accent2"/>
          </a:effectRef>
          <a:fontRef idx="minor">
            <a:schemeClr val="dk1"/>
          </a:fontRef>
        </p:style>
        <p:txBody>
          <a:bodyPr/>
          <a:lstStyle/>
          <a:p>
            <a:pPr eaLnBrk="1" hangingPunct="1"/>
            <a:r>
              <a:rPr lang="en-US" sz="3600" dirty="0"/>
              <a:t>CUDA Thread Block</a:t>
            </a:r>
          </a:p>
        </p:txBody>
      </p:sp>
      <p:sp>
        <p:nvSpPr>
          <p:cNvPr id="15364" name="Rectangle 3"/>
          <p:cNvSpPr>
            <a:spLocks noGrp="1" noChangeArrowheads="1"/>
          </p:cNvSpPr>
          <p:nvPr>
            <p:ph type="body" sz="half" idx="1"/>
          </p:nvPr>
        </p:nvSpPr>
        <p:spPr>
          <a:xfrm>
            <a:off x="457200" y="1219200"/>
            <a:ext cx="5751513" cy="4086225"/>
          </a:xfrm>
        </p:spPr>
        <p:txBody>
          <a:bodyPr>
            <a:normAutofit fontScale="92500"/>
          </a:bodyPr>
          <a:lstStyle/>
          <a:p>
            <a:pPr marL="457200" indent="-457200" eaLnBrk="1" hangingPunct="1">
              <a:lnSpc>
                <a:spcPct val="90000"/>
              </a:lnSpc>
            </a:pPr>
            <a:r>
              <a:rPr lang="en-US" sz="2400"/>
              <a:t>Programmer declares (Thread) Block:</a:t>
            </a:r>
          </a:p>
          <a:p>
            <a:pPr marL="974725" lvl="1" indent="-403225" eaLnBrk="1" hangingPunct="1">
              <a:lnSpc>
                <a:spcPct val="90000"/>
              </a:lnSpc>
            </a:pPr>
            <a:r>
              <a:rPr lang="en-US" sz="2000"/>
              <a:t>Block size 1 to </a:t>
            </a:r>
            <a:r>
              <a:rPr lang="en-US" sz="2000" b="1"/>
              <a:t>512</a:t>
            </a:r>
            <a:r>
              <a:rPr lang="en-US" sz="2000"/>
              <a:t> concurrent threads</a:t>
            </a:r>
          </a:p>
          <a:p>
            <a:pPr marL="974725" lvl="1" indent="-403225" eaLnBrk="1" hangingPunct="1">
              <a:lnSpc>
                <a:spcPct val="90000"/>
              </a:lnSpc>
            </a:pPr>
            <a:r>
              <a:rPr lang="en-US" sz="2000"/>
              <a:t>Block shape 1D, 2D, or 3D</a:t>
            </a:r>
          </a:p>
          <a:p>
            <a:pPr marL="974725" lvl="1" indent="-403225" eaLnBrk="1" hangingPunct="1">
              <a:lnSpc>
                <a:spcPct val="90000"/>
              </a:lnSpc>
            </a:pPr>
            <a:r>
              <a:rPr lang="en-US" sz="2000"/>
              <a:t>Block dimensions in threads</a:t>
            </a:r>
          </a:p>
          <a:p>
            <a:pPr marL="974725" lvl="1" indent="-403225" eaLnBrk="1" hangingPunct="1">
              <a:lnSpc>
                <a:spcPct val="90000"/>
              </a:lnSpc>
              <a:buFontTx/>
              <a:buNone/>
            </a:pPr>
            <a:endParaRPr lang="en-US" sz="2000"/>
          </a:p>
          <a:p>
            <a:pPr marL="457200" indent="-457200" eaLnBrk="1" hangingPunct="1">
              <a:lnSpc>
                <a:spcPct val="90000"/>
              </a:lnSpc>
            </a:pPr>
            <a:r>
              <a:rPr lang="en-US" sz="2400"/>
              <a:t>All threads in a Block execute the same thread program</a:t>
            </a:r>
          </a:p>
          <a:p>
            <a:pPr marL="457200" indent="-457200" eaLnBrk="1" hangingPunct="1">
              <a:lnSpc>
                <a:spcPct val="90000"/>
              </a:lnSpc>
            </a:pPr>
            <a:r>
              <a:rPr lang="en-US" sz="2400"/>
              <a:t>Threads have </a:t>
            </a:r>
            <a:r>
              <a:rPr lang="en-US" sz="2400">
                <a:solidFill>
                  <a:schemeClr val="accent2"/>
                </a:solidFill>
              </a:rPr>
              <a:t>thread id</a:t>
            </a:r>
            <a:r>
              <a:rPr lang="en-US" sz="2400"/>
              <a:t> numbers within Block</a:t>
            </a:r>
          </a:p>
          <a:p>
            <a:pPr marL="457200" indent="-457200" eaLnBrk="1" hangingPunct="1">
              <a:lnSpc>
                <a:spcPct val="90000"/>
              </a:lnSpc>
            </a:pPr>
            <a:r>
              <a:rPr lang="en-US" sz="2400"/>
              <a:t>Threads share data and synchronize while doing their share of the work</a:t>
            </a:r>
          </a:p>
          <a:p>
            <a:pPr marL="457200" indent="-457200" eaLnBrk="1" hangingPunct="1">
              <a:lnSpc>
                <a:spcPct val="90000"/>
              </a:lnSpc>
            </a:pPr>
            <a:r>
              <a:rPr lang="en-US" sz="2400"/>
              <a:t>Thread program uses </a:t>
            </a:r>
            <a:r>
              <a:rPr lang="en-US" sz="2400">
                <a:solidFill>
                  <a:schemeClr val="accent2"/>
                </a:solidFill>
              </a:rPr>
              <a:t>thread id</a:t>
            </a:r>
            <a:r>
              <a:rPr lang="en-US" sz="2400"/>
              <a:t> to select work and address shared data</a:t>
            </a:r>
          </a:p>
        </p:txBody>
      </p:sp>
      <p:sp>
        <p:nvSpPr>
          <p:cNvPr id="15365" name="Text Box 4"/>
          <p:cNvSpPr txBox="1">
            <a:spLocks noChangeArrowheads="1"/>
          </p:cNvSpPr>
          <p:nvPr/>
        </p:nvSpPr>
        <p:spPr bwMode="auto">
          <a:xfrm>
            <a:off x="6062663" y="2057400"/>
            <a:ext cx="3081337" cy="457200"/>
          </a:xfrm>
          <a:prstGeom prst="rect">
            <a:avLst/>
          </a:prstGeom>
          <a:noFill/>
          <a:ln w="19050" algn="ctr">
            <a:noFill/>
            <a:miter lim="800000"/>
            <a:headEnd/>
            <a:tailEnd/>
          </a:ln>
        </p:spPr>
        <p:txBody>
          <a:bodyPr wrap="none">
            <a:spAutoFit/>
          </a:bodyPr>
          <a:lstStyle/>
          <a:p>
            <a:pPr algn="ctr"/>
            <a:r>
              <a:rPr lang="en-US" b="1">
                <a:latin typeface="Arial" pitchFamily="34" charset="0"/>
              </a:rPr>
              <a:t>CUDA Thread Block</a:t>
            </a:r>
          </a:p>
        </p:txBody>
      </p:sp>
      <p:sp>
        <p:nvSpPr>
          <p:cNvPr id="15366" name="Text Box 5"/>
          <p:cNvSpPr txBox="1">
            <a:spLocks noChangeArrowheads="1"/>
          </p:cNvSpPr>
          <p:nvPr/>
        </p:nvSpPr>
        <p:spPr bwMode="auto">
          <a:xfrm>
            <a:off x="6215063" y="2697163"/>
            <a:ext cx="2754312" cy="2928937"/>
          </a:xfrm>
          <a:prstGeom prst="rect">
            <a:avLst/>
          </a:prstGeom>
          <a:noFill/>
          <a:ln w="28575">
            <a:solidFill>
              <a:srgbClr val="00CC00"/>
            </a:solidFill>
            <a:miter lim="800000"/>
            <a:headEnd/>
            <a:tailEnd/>
          </a:ln>
        </p:spPr>
        <p:txBody>
          <a:bodyPr lIns="0" rIns="0"/>
          <a:lstStyle/>
          <a:p>
            <a:pPr algn="ctr"/>
            <a:r>
              <a:rPr lang="en-US" sz="2000">
                <a:latin typeface="Tahoma" pitchFamily="34" charset="0"/>
              </a:rPr>
              <a:t>Thread Id #:</a:t>
            </a:r>
            <a:br>
              <a:rPr lang="en-US" sz="2000">
                <a:latin typeface="Tahoma" pitchFamily="34" charset="0"/>
              </a:rPr>
            </a:br>
            <a:r>
              <a:rPr lang="en-US" sz="2000">
                <a:latin typeface="Tahoma" pitchFamily="34" charset="0"/>
              </a:rPr>
              <a:t>0 1 2 3 …          m   </a:t>
            </a:r>
            <a:endParaRPr lang="en-US" sz="2000">
              <a:latin typeface="Arial" pitchFamily="34" charset="0"/>
            </a:endParaRPr>
          </a:p>
        </p:txBody>
      </p:sp>
      <p:grpSp>
        <p:nvGrpSpPr>
          <p:cNvPr id="2" name="Group 6"/>
          <p:cNvGrpSpPr>
            <a:grpSpLocks/>
          </p:cNvGrpSpPr>
          <p:nvPr/>
        </p:nvGrpSpPr>
        <p:grpSpPr bwMode="auto">
          <a:xfrm>
            <a:off x="6472238" y="3427413"/>
            <a:ext cx="2238375" cy="1976437"/>
            <a:chOff x="1045" y="1780"/>
            <a:chExt cx="806" cy="773"/>
          </a:xfrm>
        </p:grpSpPr>
        <p:sp>
          <p:nvSpPr>
            <p:cNvPr id="15370" name="Freeform 7"/>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1" name="Freeform 8"/>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2" name="Freeform 9"/>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3" name="Freeform 10"/>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4" name="Freeform 11"/>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5" name="Freeform 12"/>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6" name="Freeform 13"/>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7" name="Freeform 14"/>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8" name="Freeform 15"/>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79" name="Freeform 16"/>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sp>
          <p:nvSpPr>
            <p:cNvPr id="15380" name="Freeform 17"/>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a:tailEnd type="triangle" w="med" len="lg"/>
            </a:ln>
          </p:spPr>
          <p:txBody>
            <a:bodyPr/>
            <a:lstStyle/>
            <a:p>
              <a:endParaRPr lang="en-US"/>
            </a:p>
          </p:txBody>
        </p:sp>
      </p:grpSp>
      <p:sp>
        <p:nvSpPr>
          <p:cNvPr id="15368" name="AutoShape 18"/>
          <p:cNvSpPr>
            <a:spLocks noChangeArrowheads="1"/>
          </p:cNvSpPr>
          <p:nvPr/>
        </p:nvSpPr>
        <p:spPr bwMode="auto">
          <a:xfrm>
            <a:off x="6475413" y="3983038"/>
            <a:ext cx="2232025" cy="603250"/>
          </a:xfrm>
          <a:prstGeom prst="roundRect">
            <a:avLst>
              <a:gd name="adj" fmla="val 16667"/>
            </a:avLst>
          </a:prstGeom>
          <a:solidFill>
            <a:srgbClr val="003300">
              <a:alpha val="79999"/>
            </a:srgbClr>
          </a:solidFill>
          <a:ln w="9525" algn="ctr">
            <a:solidFill>
              <a:srgbClr val="73B900"/>
            </a:solidFill>
            <a:round/>
            <a:headEnd/>
            <a:tailEnd/>
          </a:ln>
        </p:spPr>
        <p:txBody>
          <a:bodyPr anchor="ctr" anchorCtr="1"/>
          <a:lstStyle/>
          <a:p>
            <a:pPr algn="ctr">
              <a:lnSpc>
                <a:spcPct val="85000"/>
              </a:lnSpc>
              <a:spcBef>
                <a:spcPct val="10000"/>
              </a:spcBef>
            </a:pPr>
            <a:r>
              <a:rPr lang="en-US" sz="2000" b="1">
                <a:solidFill>
                  <a:srgbClr val="FFFF99"/>
                </a:solidFill>
                <a:latin typeface="Arial" pitchFamily="34" charset="0"/>
              </a:rPr>
              <a:t>Thread program</a:t>
            </a:r>
          </a:p>
        </p:txBody>
      </p:sp>
      <p:sp>
        <p:nvSpPr>
          <p:cNvPr id="15369" name="Text Box 19"/>
          <p:cNvSpPr txBox="1">
            <a:spLocks noChangeArrowheads="1"/>
          </p:cNvSpPr>
          <p:nvPr/>
        </p:nvSpPr>
        <p:spPr bwMode="auto">
          <a:xfrm>
            <a:off x="5867400" y="5715000"/>
            <a:ext cx="3276600" cy="336550"/>
          </a:xfrm>
          <a:prstGeom prst="rect">
            <a:avLst/>
          </a:prstGeom>
          <a:noFill/>
          <a:ln w="9525">
            <a:noFill/>
            <a:miter lim="800000"/>
            <a:headEnd/>
            <a:tailEnd/>
          </a:ln>
        </p:spPr>
        <p:txBody>
          <a:bodyPr>
            <a:spAutoFit/>
          </a:bodyPr>
          <a:lstStyle/>
          <a:p>
            <a:r>
              <a:rPr lang="en-US" sz="1600"/>
              <a:t>Courtesy: John Nickolls, NVIDIA</a:t>
            </a:r>
          </a:p>
        </p:txBody>
      </p:sp>
      <p:sp>
        <p:nvSpPr>
          <p:cNvPr id="21" name="Footer Placeholder 3"/>
          <p:cNvSpPr>
            <a:spLocks noGrp="1"/>
          </p:cNvSpPr>
          <p:nvPr>
            <p:ph type="ftr" sz="quarter" idx="10"/>
          </p:nvPr>
        </p:nvSpPr>
        <p:spPr>
          <a:xfrm>
            <a:off x="3810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3" name="Picture 2" descr="A screenshot of a computer&#10;&#10;Description automatically generated">
            <a:extLst>
              <a:ext uri="{FF2B5EF4-FFF2-40B4-BE49-F238E27FC236}">
                <a16:creationId xmlns:a16="http://schemas.microsoft.com/office/drawing/2014/main" id="{F554F45C-B99E-4724-5B35-D6C05B20771F}"/>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97658025"/>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body" idx="1"/>
          </p:nvPr>
        </p:nvSpPr>
        <p:spPr>
          <a:xfrm>
            <a:off x="838200" y="1219200"/>
            <a:ext cx="8001000" cy="4572000"/>
          </a:xfrm>
        </p:spPr>
        <p:txBody>
          <a:bodyPr>
            <a:normAutofit lnSpcReduction="10000"/>
          </a:bodyPr>
          <a:lstStyle/>
          <a:p>
            <a:pPr marL="457200" indent="-457200" eaLnBrk="1" hangingPunct="1"/>
            <a:r>
              <a:rPr lang="en-US" sz="2400"/>
              <a:t>SPA</a:t>
            </a:r>
          </a:p>
          <a:p>
            <a:pPr marL="974725" lvl="1" indent="-403225" eaLnBrk="1" hangingPunct="1"/>
            <a:r>
              <a:rPr lang="en-US" sz="2000"/>
              <a:t>Streaming Processor Array (variable across GeForce 8-series, 8 in GeForce8800)</a:t>
            </a:r>
          </a:p>
          <a:p>
            <a:pPr marL="457200" indent="-457200" eaLnBrk="1" hangingPunct="1"/>
            <a:r>
              <a:rPr lang="en-US" sz="2400"/>
              <a:t>TPC</a:t>
            </a:r>
          </a:p>
          <a:p>
            <a:pPr marL="974725" lvl="1" indent="-403225" eaLnBrk="1" hangingPunct="1"/>
            <a:r>
              <a:rPr lang="en-US" sz="2000"/>
              <a:t>Texture Processor Cluster (2 SM + TEX)</a:t>
            </a:r>
          </a:p>
          <a:p>
            <a:pPr marL="457200" indent="-457200" eaLnBrk="1" hangingPunct="1"/>
            <a:r>
              <a:rPr lang="en-US" sz="2400"/>
              <a:t>SM</a:t>
            </a:r>
          </a:p>
          <a:p>
            <a:pPr marL="974725" lvl="1" indent="-403225" eaLnBrk="1" hangingPunct="1"/>
            <a:r>
              <a:rPr lang="en-US" sz="2000"/>
              <a:t>Streaming Multiprocessor (8 SP)</a:t>
            </a:r>
          </a:p>
          <a:p>
            <a:pPr marL="974725" lvl="1" indent="-403225" eaLnBrk="1" hangingPunct="1"/>
            <a:r>
              <a:rPr lang="en-US" sz="2000"/>
              <a:t>Multi-threaded processor core</a:t>
            </a:r>
          </a:p>
          <a:p>
            <a:pPr marL="974725" lvl="1" indent="-403225" eaLnBrk="1" hangingPunct="1"/>
            <a:r>
              <a:rPr lang="en-US" sz="2000"/>
              <a:t>Fundamental processing unit for CUDA thread block</a:t>
            </a:r>
          </a:p>
          <a:p>
            <a:pPr marL="457200" indent="-457200" eaLnBrk="1" hangingPunct="1"/>
            <a:r>
              <a:rPr lang="en-US" sz="2400"/>
              <a:t>SP</a:t>
            </a:r>
          </a:p>
          <a:p>
            <a:pPr marL="974725" lvl="1" indent="-403225" eaLnBrk="1" hangingPunct="1"/>
            <a:r>
              <a:rPr lang="en-US" sz="2000"/>
              <a:t>Streaming Processor</a:t>
            </a:r>
          </a:p>
          <a:p>
            <a:pPr marL="974725" lvl="1" indent="-403225" eaLnBrk="1" hangingPunct="1"/>
            <a:r>
              <a:rPr lang="en-US" sz="2000"/>
              <a:t>Scalar ALU for a single CUDA thread</a:t>
            </a:r>
          </a:p>
        </p:txBody>
      </p:sp>
      <p:sp>
        <p:nvSpPr>
          <p:cNvPr id="17412" name="Rectangle 3"/>
          <p:cNvSpPr>
            <a:spLocks noGrp="1" noChangeArrowheads="1"/>
          </p:cNvSpPr>
          <p:nvPr>
            <p:ph type="title"/>
          </p:nvPr>
        </p:nvSpPr>
        <p:spPr>
          <a:xfrm>
            <a:off x="1861850" y="274638"/>
            <a:ext cx="6824949" cy="792162"/>
          </a:xfrm>
        </p:spPr>
        <p:style>
          <a:lnRef idx="1">
            <a:schemeClr val="accent2"/>
          </a:lnRef>
          <a:fillRef idx="2">
            <a:schemeClr val="accent2"/>
          </a:fillRef>
          <a:effectRef idx="1">
            <a:schemeClr val="accent2"/>
          </a:effectRef>
          <a:fontRef idx="minor">
            <a:schemeClr val="dk1"/>
          </a:fontRef>
        </p:style>
        <p:txBody>
          <a:bodyPr/>
          <a:lstStyle/>
          <a:p>
            <a:pPr eaLnBrk="1" hangingPunct="1"/>
            <a:r>
              <a:rPr lang="en-US" dirty="0"/>
              <a:t>CUDA Processor Terminology</a:t>
            </a:r>
          </a:p>
        </p:txBody>
      </p:sp>
      <p:sp>
        <p:nvSpPr>
          <p:cNvPr id="5" name="Footer Placeholder 3"/>
          <p:cNvSpPr>
            <a:spLocks noGrp="1"/>
          </p:cNvSpPr>
          <p:nvPr>
            <p:ph type="ftr" sz="quarter" idx="10"/>
          </p:nvPr>
        </p:nvSpPr>
        <p:spPr>
          <a:xfrm>
            <a:off x="3810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2" name="Picture 1" descr="A screenshot of a computer&#10;&#10;Description automatically generated">
            <a:extLst>
              <a:ext uri="{FF2B5EF4-FFF2-40B4-BE49-F238E27FC236}">
                <a16:creationId xmlns:a16="http://schemas.microsoft.com/office/drawing/2014/main" id="{311BC81C-D236-8BA3-C960-436C988E1472}"/>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785347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839816" y="274638"/>
            <a:ext cx="6999383" cy="596900"/>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dirty="0"/>
              <a:t>CUDA Device Memory</a:t>
            </a:r>
          </a:p>
        </p:txBody>
      </p:sp>
      <p:sp>
        <p:nvSpPr>
          <p:cNvPr id="25604" name="Rectangle 3"/>
          <p:cNvSpPr>
            <a:spLocks noGrp="1" noChangeArrowheads="1"/>
          </p:cNvSpPr>
          <p:nvPr>
            <p:ph type="body" idx="1"/>
          </p:nvPr>
        </p:nvSpPr>
        <p:spPr>
          <a:xfrm>
            <a:off x="381000" y="1371600"/>
            <a:ext cx="5059363" cy="2741613"/>
          </a:xfrm>
        </p:spPr>
        <p:txBody>
          <a:bodyPr>
            <a:normAutofit fontScale="92500"/>
          </a:bodyPr>
          <a:lstStyle/>
          <a:p>
            <a:pPr marL="457200" indent="-457200" eaLnBrk="1" hangingPunct="1"/>
            <a:r>
              <a:rPr lang="en-US"/>
              <a:t>Each thread can:</a:t>
            </a:r>
          </a:p>
          <a:p>
            <a:pPr marL="974725" lvl="1" indent="-403225" eaLnBrk="1" hangingPunct="1"/>
            <a:r>
              <a:rPr lang="en-US" sz="2100"/>
              <a:t>R/W per-thread </a:t>
            </a:r>
            <a:r>
              <a:rPr lang="en-US" sz="2100">
                <a:solidFill>
                  <a:schemeClr val="accent2"/>
                </a:solidFill>
              </a:rPr>
              <a:t>registers</a:t>
            </a:r>
          </a:p>
          <a:p>
            <a:pPr marL="974725" lvl="1" indent="-403225" eaLnBrk="1" hangingPunct="1"/>
            <a:r>
              <a:rPr lang="en-US" sz="2100"/>
              <a:t>R/W per-thread </a:t>
            </a:r>
            <a:r>
              <a:rPr lang="en-US" sz="2100">
                <a:solidFill>
                  <a:schemeClr val="accent2"/>
                </a:solidFill>
              </a:rPr>
              <a:t>local memory</a:t>
            </a:r>
          </a:p>
          <a:p>
            <a:pPr marL="974725" lvl="1" indent="-403225" eaLnBrk="1" hangingPunct="1"/>
            <a:r>
              <a:rPr lang="en-US" sz="2100"/>
              <a:t>R/W per-block </a:t>
            </a:r>
            <a:r>
              <a:rPr lang="en-US" sz="2100">
                <a:solidFill>
                  <a:schemeClr val="accent2"/>
                </a:solidFill>
              </a:rPr>
              <a:t>shared memory</a:t>
            </a:r>
          </a:p>
          <a:p>
            <a:pPr marL="974725" lvl="1" indent="-403225" eaLnBrk="1" hangingPunct="1"/>
            <a:r>
              <a:rPr lang="en-US" sz="2100"/>
              <a:t>R/W per-grid </a:t>
            </a:r>
            <a:r>
              <a:rPr lang="en-US" sz="2100">
                <a:solidFill>
                  <a:schemeClr val="accent2"/>
                </a:solidFill>
              </a:rPr>
              <a:t>global memory</a:t>
            </a:r>
          </a:p>
          <a:p>
            <a:pPr marL="974725" lvl="1" indent="-403225" eaLnBrk="1" hangingPunct="1"/>
            <a:r>
              <a:rPr lang="en-US" sz="2100"/>
              <a:t>Read only per-grid </a:t>
            </a:r>
            <a:r>
              <a:rPr lang="en-US" sz="2100">
                <a:solidFill>
                  <a:schemeClr val="accent2"/>
                </a:solidFill>
              </a:rPr>
              <a:t>constant memory</a:t>
            </a:r>
          </a:p>
          <a:p>
            <a:pPr marL="974725" lvl="1" indent="-403225" eaLnBrk="1" hangingPunct="1"/>
            <a:r>
              <a:rPr lang="en-US" sz="2100"/>
              <a:t>Read only per-grid </a:t>
            </a:r>
            <a:r>
              <a:rPr lang="en-US" sz="2100">
                <a:solidFill>
                  <a:schemeClr val="accent2"/>
                </a:solidFill>
              </a:rPr>
              <a:t>texture memory</a:t>
            </a:r>
          </a:p>
        </p:txBody>
      </p:sp>
      <p:grpSp>
        <p:nvGrpSpPr>
          <p:cNvPr id="2" name="Group 4"/>
          <p:cNvGrpSpPr>
            <a:grpSpLocks/>
          </p:cNvGrpSpPr>
          <p:nvPr/>
        </p:nvGrpSpPr>
        <p:grpSpPr bwMode="auto">
          <a:xfrm>
            <a:off x="4575175" y="1546225"/>
            <a:ext cx="4541838" cy="5045075"/>
            <a:chOff x="2842" y="974"/>
            <a:chExt cx="2861" cy="3178"/>
          </a:xfrm>
        </p:grpSpPr>
        <p:sp>
          <p:nvSpPr>
            <p:cNvPr id="25607" name="AutoShape 5"/>
            <p:cNvSpPr>
              <a:spLocks noChangeAspect="1" noChangeArrowheads="1"/>
            </p:cNvSpPr>
            <p:nvPr/>
          </p:nvSpPr>
          <p:spPr bwMode="auto">
            <a:xfrm>
              <a:off x="3362" y="974"/>
              <a:ext cx="2341" cy="3178"/>
            </a:xfrm>
            <a:prstGeom prst="rect">
              <a:avLst/>
            </a:prstGeom>
            <a:noFill/>
            <a:ln w="9525">
              <a:noFill/>
              <a:miter lim="800000"/>
              <a:headEnd/>
              <a:tailEnd/>
            </a:ln>
          </p:spPr>
          <p:txBody>
            <a:bodyPr/>
            <a:lstStyle/>
            <a:p>
              <a:endParaRPr lang="en-US"/>
            </a:p>
          </p:txBody>
        </p:sp>
        <p:sp>
          <p:nvSpPr>
            <p:cNvPr id="25608" name="Text Box 6"/>
            <p:cNvSpPr txBox="1">
              <a:spLocks noChangeArrowheads="1"/>
            </p:cNvSpPr>
            <p:nvPr/>
          </p:nvSpPr>
          <p:spPr bwMode="auto">
            <a:xfrm>
              <a:off x="3365" y="977"/>
              <a:ext cx="2335" cy="3172"/>
            </a:xfrm>
            <a:prstGeom prst="rect">
              <a:avLst/>
            </a:prstGeom>
            <a:solidFill>
              <a:srgbClr val="99CCFF"/>
            </a:solidFill>
            <a:ln w="9525">
              <a:solidFill>
                <a:srgbClr val="969696"/>
              </a:solidFill>
              <a:miter lim="800000"/>
              <a:headEnd/>
              <a:tailEnd/>
            </a:ln>
          </p:spPr>
          <p:txBody>
            <a:bodyPr/>
            <a:lstStyle/>
            <a:p>
              <a:r>
                <a:rPr lang="en-US" sz="1200" b="1">
                  <a:solidFill>
                    <a:srgbClr val="003300"/>
                  </a:solidFill>
                  <a:latin typeface="Arial" pitchFamily="34" charset="0"/>
                </a:rPr>
                <a:t>(Device) Grid</a:t>
              </a:r>
            </a:p>
          </p:txBody>
        </p:sp>
        <p:sp>
          <p:nvSpPr>
            <p:cNvPr id="25609" name="Text Box 7"/>
            <p:cNvSpPr txBox="1">
              <a:spLocks noChangeArrowheads="1"/>
            </p:cNvSpPr>
            <p:nvPr/>
          </p:nvSpPr>
          <p:spPr bwMode="auto">
            <a:xfrm>
              <a:off x="3397" y="3491"/>
              <a:ext cx="2271" cy="269"/>
            </a:xfrm>
            <a:prstGeom prst="rect">
              <a:avLst/>
            </a:prstGeom>
            <a:solidFill>
              <a:srgbClr val="FF6600"/>
            </a:solidFill>
            <a:ln w="9525">
              <a:solidFill>
                <a:srgbClr val="969696"/>
              </a:solidFill>
              <a:miter lim="800000"/>
              <a:headEnd/>
              <a:tailEnd/>
            </a:ln>
          </p:spPr>
          <p:txBody>
            <a:bodyPr/>
            <a:lstStyle/>
            <a:p>
              <a:r>
                <a:rPr lang="en-US" sz="1000" b="1">
                  <a:solidFill>
                    <a:srgbClr val="003300"/>
                  </a:solidFill>
                  <a:latin typeface="Arial" pitchFamily="34" charset="0"/>
                </a:rPr>
                <a:t>Constant</a:t>
              </a:r>
            </a:p>
            <a:p>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10" name="Text Box 8"/>
            <p:cNvSpPr txBox="1">
              <a:spLocks noChangeArrowheads="1"/>
            </p:cNvSpPr>
            <p:nvPr/>
          </p:nvSpPr>
          <p:spPr bwMode="auto">
            <a:xfrm>
              <a:off x="3397" y="3830"/>
              <a:ext cx="2271" cy="268"/>
            </a:xfrm>
            <a:prstGeom prst="rect">
              <a:avLst/>
            </a:prstGeom>
            <a:solidFill>
              <a:srgbClr val="FF6600"/>
            </a:solidFill>
            <a:ln w="9525">
              <a:solidFill>
                <a:srgbClr val="969696"/>
              </a:solidFill>
              <a:miter lim="800000"/>
              <a:headEnd/>
              <a:tailEnd/>
            </a:ln>
          </p:spPr>
          <p:txBody>
            <a:bodyPr/>
            <a:lstStyle/>
            <a:p>
              <a:r>
                <a:rPr lang="en-US" sz="1000" b="1">
                  <a:solidFill>
                    <a:srgbClr val="003300"/>
                  </a:solidFill>
                  <a:latin typeface="Arial" pitchFamily="34" charset="0"/>
                </a:rPr>
                <a:t>Texture</a:t>
              </a:r>
            </a:p>
            <a:p>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11" name="Text Box 9"/>
            <p:cNvSpPr txBox="1">
              <a:spLocks noChangeArrowheads="1"/>
            </p:cNvSpPr>
            <p:nvPr/>
          </p:nvSpPr>
          <p:spPr bwMode="auto">
            <a:xfrm>
              <a:off x="3397" y="3147"/>
              <a:ext cx="2271" cy="268"/>
            </a:xfrm>
            <a:prstGeom prst="rect">
              <a:avLst/>
            </a:prstGeom>
            <a:solidFill>
              <a:srgbClr val="FF6600"/>
            </a:solidFill>
            <a:ln w="9525">
              <a:solidFill>
                <a:srgbClr val="969696"/>
              </a:solidFill>
              <a:miter lim="800000"/>
              <a:headEnd/>
              <a:tailEnd/>
            </a:ln>
          </p:spPr>
          <p:txBody>
            <a:bodyPr/>
            <a:lstStyle/>
            <a:p>
              <a:r>
                <a:rPr lang="en-US" sz="1000" b="1">
                  <a:solidFill>
                    <a:srgbClr val="003300"/>
                  </a:solidFill>
                  <a:latin typeface="Arial" pitchFamily="34" charset="0"/>
                </a:rPr>
                <a:t>Global</a:t>
              </a:r>
            </a:p>
            <a:p>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12" name="Text Box 10"/>
            <p:cNvSpPr txBox="1">
              <a:spLocks noChangeArrowheads="1"/>
            </p:cNvSpPr>
            <p:nvPr/>
          </p:nvSpPr>
          <p:spPr bwMode="auto">
            <a:xfrm>
              <a:off x="3396" y="1288"/>
              <a:ext cx="1116" cy="1797"/>
            </a:xfrm>
            <a:prstGeom prst="rect">
              <a:avLst/>
            </a:prstGeom>
            <a:solidFill>
              <a:srgbClr val="FFCC00"/>
            </a:solidFill>
            <a:ln w="9525">
              <a:solidFill>
                <a:srgbClr val="969696"/>
              </a:solidFill>
              <a:miter lim="800000"/>
              <a:headEnd/>
              <a:tailEnd/>
            </a:ln>
          </p:spPr>
          <p:txBody>
            <a:bodyPr/>
            <a:lstStyle/>
            <a:p>
              <a:r>
                <a:rPr lang="en-US" sz="1200" b="1">
                  <a:solidFill>
                    <a:srgbClr val="003300"/>
                  </a:solidFill>
                  <a:latin typeface="Arial" pitchFamily="34" charset="0"/>
                </a:rPr>
                <a:t>Block (0, 0)</a:t>
              </a:r>
            </a:p>
          </p:txBody>
        </p:sp>
        <p:sp>
          <p:nvSpPr>
            <p:cNvPr id="25613" name="Text Box 11"/>
            <p:cNvSpPr txBox="1">
              <a:spLocks noChangeArrowheads="1"/>
            </p:cNvSpPr>
            <p:nvPr/>
          </p:nvSpPr>
          <p:spPr bwMode="auto">
            <a:xfrm>
              <a:off x="3427" y="1609"/>
              <a:ext cx="1060" cy="220"/>
            </a:xfrm>
            <a:prstGeom prst="rect">
              <a:avLst/>
            </a:prstGeom>
            <a:solidFill>
              <a:srgbClr val="FF6600"/>
            </a:solidFill>
            <a:ln w="9525">
              <a:solidFill>
                <a:srgbClr val="969696"/>
              </a:solidFill>
              <a:miter lim="800000"/>
              <a:headEnd/>
              <a:tailEnd/>
            </a:ln>
          </p:spPr>
          <p:txBody>
            <a:bodyPr lIns="0" tIns="91440" rIns="0" bIns="0"/>
            <a:lstStyle/>
            <a:p>
              <a:pPr algn="ctr"/>
              <a:r>
                <a:rPr lang="en-US" sz="1000" b="1">
                  <a:solidFill>
                    <a:srgbClr val="003300"/>
                  </a:solidFill>
                  <a:latin typeface="Arial" pitchFamily="34" charset="0"/>
                </a:rPr>
                <a:t>Shared Memory</a:t>
              </a:r>
              <a:endParaRPr lang="en-US" sz="1000">
                <a:solidFill>
                  <a:srgbClr val="003300"/>
                </a:solidFill>
                <a:latin typeface="Arial" pitchFamily="34" charset="0"/>
              </a:endParaRPr>
            </a:p>
          </p:txBody>
        </p:sp>
        <p:sp>
          <p:nvSpPr>
            <p:cNvPr id="25614" name="Text Box 12"/>
            <p:cNvSpPr txBox="1">
              <a:spLocks noChangeArrowheads="1"/>
            </p:cNvSpPr>
            <p:nvPr/>
          </p:nvSpPr>
          <p:spPr bwMode="auto">
            <a:xfrm>
              <a:off x="3427" y="2709"/>
              <a:ext cx="332" cy="345"/>
            </a:xfrm>
            <a:prstGeom prst="rect">
              <a:avLst/>
            </a:prstGeom>
            <a:solidFill>
              <a:srgbClr val="FF6600"/>
            </a:solidFill>
            <a:ln w="9525">
              <a:solidFill>
                <a:srgbClr val="969696"/>
              </a:solidFill>
              <a:miter lim="800000"/>
              <a:headEnd/>
              <a:tailEnd/>
            </a:ln>
          </p:spPr>
          <p:txBody>
            <a:bodyPr lIns="0" tIns="91440" rIns="0" bIns="0"/>
            <a:lstStyle/>
            <a:p>
              <a:pPr algn="ctr"/>
              <a:r>
                <a:rPr lang="en-US" sz="1000" b="1">
                  <a:solidFill>
                    <a:srgbClr val="003300"/>
                  </a:solidFill>
                  <a:latin typeface="Arial" pitchFamily="34" charset="0"/>
                </a:rPr>
                <a:t>Local</a:t>
              </a:r>
            </a:p>
            <a:p>
              <a:pPr algn="ctr"/>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15" name="Text Box 13"/>
            <p:cNvSpPr txBox="1">
              <a:spLocks noChangeArrowheads="1"/>
            </p:cNvSpPr>
            <p:nvPr/>
          </p:nvSpPr>
          <p:spPr bwMode="auto">
            <a:xfrm>
              <a:off x="3421" y="2257"/>
              <a:ext cx="517" cy="307"/>
            </a:xfrm>
            <a:prstGeom prst="rect">
              <a:avLst/>
            </a:prstGeom>
            <a:solidFill>
              <a:srgbClr val="99FF66"/>
            </a:solidFill>
            <a:ln w="9525">
              <a:solidFill>
                <a:srgbClr val="969696"/>
              </a:solidFill>
              <a:miter lim="800000"/>
              <a:headEnd/>
              <a:tailEnd/>
            </a:ln>
          </p:spPr>
          <p:txBody>
            <a:bodyPr lIns="0" tIns="146304" rIns="0" bIns="0"/>
            <a:lstStyle/>
            <a:p>
              <a:pPr algn="ctr"/>
              <a:r>
                <a:rPr lang="en-US" sz="1000" b="1">
                  <a:solidFill>
                    <a:srgbClr val="003300"/>
                  </a:solidFill>
                  <a:latin typeface="Arial" pitchFamily="34" charset="0"/>
                </a:rPr>
                <a:t>Thread (0, 0)</a:t>
              </a:r>
              <a:endParaRPr lang="en-US" sz="1000">
                <a:solidFill>
                  <a:srgbClr val="003300"/>
                </a:solidFill>
                <a:latin typeface="Arial" pitchFamily="34" charset="0"/>
              </a:endParaRPr>
            </a:p>
          </p:txBody>
        </p:sp>
        <p:sp>
          <p:nvSpPr>
            <p:cNvPr id="25616" name="Text Box 14"/>
            <p:cNvSpPr txBox="1">
              <a:spLocks noChangeArrowheads="1"/>
            </p:cNvSpPr>
            <p:nvPr/>
          </p:nvSpPr>
          <p:spPr bwMode="auto">
            <a:xfrm>
              <a:off x="3421" y="1926"/>
              <a:ext cx="392" cy="188"/>
            </a:xfrm>
            <a:prstGeom prst="rect">
              <a:avLst/>
            </a:prstGeom>
            <a:solidFill>
              <a:srgbClr val="FF6600"/>
            </a:solidFill>
            <a:ln w="9525">
              <a:solidFill>
                <a:srgbClr val="969696"/>
              </a:solidFill>
              <a:miter lim="800000"/>
              <a:headEnd/>
              <a:tailEnd/>
            </a:ln>
          </p:spPr>
          <p:txBody>
            <a:bodyPr lIns="0" tIns="0" rIns="0" bIns="0"/>
            <a:lstStyle/>
            <a:p>
              <a:pPr algn="ctr"/>
              <a:r>
                <a:rPr lang="en-US" sz="1000" b="1">
                  <a:solidFill>
                    <a:srgbClr val="003300"/>
                  </a:solidFill>
                  <a:latin typeface="Arial" pitchFamily="34" charset="0"/>
                </a:rPr>
                <a:t>Registers</a:t>
              </a:r>
              <a:endParaRPr lang="en-US" sz="1000">
                <a:solidFill>
                  <a:srgbClr val="003300"/>
                </a:solidFill>
                <a:latin typeface="Arial" pitchFamily="34" charset="0"/>
              </a:endParaRPr>
            </a:p>
          </p:txBody>
        </p:sp>
        <p:sp>
          <p:nvSpPr>
            <p:cNvPr id="25617" name="Line 15"/>
            <p:cNvSpPr>
              <a:spLocks noChangeShapeType="1"/>
            </p:cNvSpPr>
            <p:nvPr/>
          </p:nvSpPr>
          <p:spPr bwMode="auto">
            <a:xfrm flipV="1">
              <a:off x="3874" y="1830"/>
              <a:ext cx="2" cy="421"/>
            </a:xfrm>
            <a:prstGeom prst="line">
              <a:avLst/>
            </a:prstGeom>
            <a:noFill/>
            <a:ln w="25400">
              <a:solidFill>
                <a:schemeClr val="tx1"/>
              </a:solidFill>
              <a:round/>
              <a:headEnd type="triangle" w="lg" len="med"/>
              <a:tailEnd type="triangle" w="lg" len="med"/>
            </a:ln>
          </p:spPr>
          <p:txBody>
            <a:bodyPr/>
            <a:lstStyle/>
            <a:p>
              <a:endParaRPr lang="en-US"/>
            </a:p>
          </p:txBody>
        </p:sp>
        <p:sp>
          <p:nvSpPr>
            <p:cNvPr id="25618" name="Line 16"/>
            <p:cNvSpPr>
              <a:spLocks noChangeShapeType="1"/>
            </p:cNvSpPr>
            <p:nvPr/>
          </p:nvSpPr>
          <p:spPr bwMode="auto">
            <a:xfrm flipV="1">
              <a:off x="3617" y="2111"/>
              <a:ext cx="0"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19" name="Line 17"/>
            <p:cNvSpPr>
              <a:spLocks noChangeShapeType="1"/>
            </p:cNvSpPr>
            <p:nvPr/>
          </p:nvSpPr>
          <p:spPr bwMode="auto">
            <a:xfrm flipV="1">
              <a:off x="3593" y="2567"/>
              <a:ext cx="1"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20" name="Line 18"/>
            <p:cNvSpPr>
              <a:spLocks noChangeShapeType="1"/>
            </p:cNvSpPr>
            <p:nvPr/>
          </p:nvSpPr>
          <p:spPr bwMode="auto">
            <a:xfrm>
              <a:off x="3798" y="2567"/>
              <a:ext cx="0" cy="577"/>
            </a:xfrm>
            <a:prstGeom prst="line">
              <a:avLst/>
            </a:prstGeom>
            <a:noFill/>
            <a:ln w="25400">
              <a:solidFill>
                <a:schemeClr val="tx1"/>
              </a:solidFill>
              <a:round/>
              <a:headEnd type="triangle" w="lg" len="med"/>
              <a:tailEnd type="triangle" w="lg" len="med"/>
            </a:ln>
          </p:spPr>
          <p:txBody>
            <a:bodyPr/>
            <a:lstStyle/>
            <a:p>
              <a:endParaRPr lang="en-US"/>
            </a:p>
          </p:txBody>
        </p:sp>
        <p:sp>
          <p:nvSpPr>
            <p:cNvPr id="25621" name="Line 19"/>
            <p:cNvSpPr>
              <a:spLocks noChangeShapeType="1"/>
            </p:cNvSpPr>
            <p:nvPr/>
          </p:nvSpPr>
          <p:spPr bwMode="auto">
            <a:xfrm>
              <a:off x="3919" y="2567"/>
              <a:ext cx="0" cy="1265"/>
            </a:xfrm>
            <a:prstGeom prst="line">
              <a:avLst/>
            </a:prstGeom>
            <a:noFill/>
            <a:ln w="25400">
              <a:solidFill>
                <a:schemeClr val="tx1"/>
              </a:solidFill>
              <a:round/>
              <a:headEnd type="triangle" w="lg" len="med"/>
              <a:tailEnd/>
            </a:ln>
          </p:spPr>
          <p:txBody>
            <a:bodyPr/>
            <a:lstStyle/>
            <a:p>
              <a:endParaRPr lang="en-US"/>
            </a:p>
          </p:txBody>
        </p:sp>
        <p:sp>
          <p:nvSpPr>
            <p:cNvPr id="25622" name="Line 20"/>
            <p:cNvSpPr>
              <a:spLocks noChangeShapeType="1"/>
            </p:cNvSpPr>
            <p:nvPr/>
          </p:nvSpPr>
          <p:spPr bwMode="auto">
            <a:xfrm>
              <a:off x="3858" y="2567"/>
              <a:ext cx="1" cy="921"/>
            </a:xfrm>
            <a:prstGeom prst="line">
              <a:avLst/>
            </a:prstGeom>
            <a:noFill/>
            <a:ln w="25400">
              <a:solidFill>
                <a:schemeClr val="tx1"/>
              </a:solidFill>
              <a:round/>
              <a:headEnd type="triangle" w="lg" len="med"/>
              <a:tailEnd/>
            </a:ln>
          </p:spPr>
          <p:txBody>
            <a:bodyPr/>
            <a:lstStyle/>
            <a:p>
              <a:endParaRPr lang="en-US"/>
            </a:p>
          </p:txBody>
        </p:sp>
        <p:sp>
          <p:nvSpPr>
            <p:cNvPr id="25623" name="Text Box 21"/>
            <p:cNvSpPr txBox="1">
              <a:spLocks noChangeArrowheads="1"/>
            </p:cNvSpPr>
            <p:nvPr/>
          </p:nvSpPr>
          <p:spPr bwMode="auto">
            <a:xfrm>
              <a:off x="3975" y="2709"/>
              <a:ext cx="333" cy="345"/>
            </a:xfrm>
            <a:prstGeom prst="rect">
              <a:avLst/>
            </a:prstGeom>
            <a:solidFill>
              <a:srgbClr val="FF6600"/>
            </a:solidFill>
            <a:ln w="9525">
              <a:solidFill>
                <a:srgbClr val="969696"/>
              </a:solidFill>
              <a:miter lim="800000"/>
              <a:headEnd/>
              <a:tailEnd/>
            </a:ln>
          </p:spPr>
          <p:txBody>
            <a:bodyPr lIns="0" tIns="91440" rIns="0" bIns="0"/>
            <a:lstStyle/>
            <a:p>
              <a:pPr algn="ctr"/>
              <a:r>
                <a:rPr lang="en-US" sz="1000" b="1">
                  <a:solidFill>
                    <a:srgbClr val="003300"/>
                  </a:solidFill>
                  <a:latin typeface="Arial" pitchFamily="34" charset="0"/>
                </a:rPr>
                <a:t>Local</a:t>
              </a:r>
            </a:p>
            <a:p>
              <a:pPr algn="ctr"/>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24" name="Text Box 22"/>
            <p:cNvSpPr txBox="1">
              <a:spLocks noChangeArrowheads="1"/>
            </p:cNvSpPr>
            <p:nvPr/>
          </p:nvSpPr>
          <p:spPr bwMode="auto">
            <a:xfrm>
              <a:off x="3970" y="2257"/>
              <a:ext cx="517" cy="307"/>
            </a:xfrm>
            <a:prstGeom prst="rect">
              <a:avLst/>
            </a:prstGeom>
            <a:solidFill>
              <a:srgbClr val="99FF66"/>
            </a:solidFill>
            <a:ln w="9525">
              <a:solidFill>
                <a:srgbClr val="969696"/>
              </a:solidFill>
              <a:miter lim="800000"/>
              <a:headEnd/>
              <a:tailEnd/>
            </a:ln>
          </p:spPr>
          <p:txBody>
            <a:bodyPr lIns="0" tIns="146304" rIns="0" bIns="0"/>
            <a:lstStyle/>
            <a:p>
              <a:pPr algn="ctr"/>
              <a:r>
                <a:rPr lang="en-US" sz="1000" b="1">
                  <a:solidFill>
                    <a:srgbClr val="003300"/>
                  </a:solidFill>
                  <a:latin typeface="Arial" pitchFamily="34" charset="0"/>
                </a:rPr>
                <a:t>Thread (1, 0)</a:t>
              </a:r>
              <a:endParaRPr lang="en-US" sz="1000">
                <a:solidFill>
                  <a:srgbClr val="003300"/>
                </a:solidFill>
                <a:latin typeface="Arial" pitchFamily="34" charset="0"/>
              </a:endParaRPr>
            </a:p>
          </p:txBody>
        </p:sp>
        <p:sp>
          <p:nvSpPr>
            <p:cNvPr id="25625" name="Text Box 23"/>
            <p:cNvSpPr txBox="1">
              <a:spLocks noChangeArrowheads="1"/>
            </p:cNvSpPr>
            <p:nvPr/>
          </p:nvSpPr>
          <p:spPr bwMode="auto">
            <a:xfrm>
              <a:off x="3970" y="1926"/>
              <a:ext cx="391" cy="188"/>
            </a:xfrm>
            <a:prstGeom prst="rect">
              <a:avLst/>
            </a:prstGeom>
            <a:solidFill>
              <a:srgbClr val="FF6600"/>
            </a:solidFill>
            <a:ln w="9525">
              <a:solidFill>
                <a:srgbClr val="969696"/>
              </a:solidFill>
              <a:miter lim="800000"/>
              <a:headEnd/>
              <a:tailEnd/>
            </a:ln>
          </p:spPr>
          <p:txBody>
            <a:bodyPr lIns="0" tIns="0" rIns="0" bIns="0"/>
            <a:lstStyle/>
            <a:p>
              <a:pPr algn="ctr"/>
              <a:r>
                <a:rPr lang="en-US" sz="1000" b="1">
                  <a:solidFill>
                    <a:srgbClr val="003300"/>
                  </a:solidFill>
                  <a:latin typeface="Arial" pitchFamily="34" charset="0"/>
                </a:rPr>
                <a:t>Registers</a:t>
              </a:r>
              <a:endParaRPr lang="en-US" sz="1000">
                <a:solidFill>
                  <a:srgbClr val="003300"/>
                </a:solidFill>
                <a:latin typeface="Arial" pitchFamily="34" charset="0"/>
              </a:endParaRPr>
            </a:p>
          </p:txBody>
        </p:sp>
        <p:sp>
          <p:nvSpPr>
            <p:cNvPr id="25626" name="Line 24"/>
            <p:cNvSpPr>
              <a:spLocks noChangeShapeType="1"/>
            </p:cNvSpPr>
            <p:nvPr/>
          </p:nvSpPr>
          <p:spPr bwMode="auto">
            <a:xfrm flipV="1">
              <a:off x="4422" y="1830"/>
              <a:ext cx="2" cy="421"/>
            </a:xfrm>
            <a:prstGeom prst="line">
              <a:avLst/>
            </a:prstGeom>
            <a:noFill/>
            <a:ln w="25400">
              <a:solidFill>
                <a:schemeClr val="tx1"/>
              </a:solidFill>
              <a:round/>
              <a:headEnd type="triangle" w="lg" len="med"/>
              <a:tailEnd type="triangle" w="lg" len="med"/>
            </a:ln>
          </p:spPr>
          <p:txBody>
            <a:bodyPr/>
            <a:lstStyle/>
            <a:p>
              <a:endParaRPr lang="en-US"/>
            </a:p>
          </p:txBody>
        </p:sp>
        <p:sp>
          <p:nvSpPr>
            <p:cNvPr id="25627" name="Line 25"/>
            <p:cNvSpPr>
              <a:spLocks noChangeShapeType="1"/>
            </p:cNvSpPr>
            <p:nvPr/>
          </p:nvSpPr>
          <p:spPr bwMode="auto">
            <a:xfrm flipV="1">
              <a:off x="4166" y="2111"/>
              <a:ext cx="0"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28" name="Line 26"/>
            <p:cNvSpPr>
              <a:spLocks noChangeShapeType="1"/>
            </p:cNvSpPr>
            <p:nvPr/>
          </p:nvSpPr>
          <p:spPr bwMode="auto">
            <a:xfrm flipV="1">
              <a:off x="4141" y="2567"/>
              <a:ext cx="1"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29" name="Line 27"/>
            <p:cNvSpPr>
              <a:spLocks noChangeShapeType="1"/>
            </p:cNvSpPr>
            <p:nvPr/>
          </p:nvSpPr>
          <p:spPr bwMode="auto">
            <a:xfrm>
              <a:off x="4347" y="2567"/>
              <a:ext cx="0" cy="577"/>
            </a:xfrm>
            <a:prstGeom prst="line">
              <a:avLst/>
            </a:prstGeom>
            <a:noFill/>
            <a:ln w="25400">
              <a:solidFill>
                <a:schemeClr val="tx1"/>
              </a:solidFill>
              <a:round/>
              <a:headEnd type="triangle" w="lg" len="med"/>
              <a:tailEnd type="triangle" w="lg" len="med"/>
            </a:ln>
          </p:spPr>
          <p:txBody>
            <a:bodyPr/>
            <a:lstStyle/>
            <a:p>
              <a:endParaRPr lang="en-US"/>
            </a:p>
          </p:txBody>
        </p:sp>
        <p:sp>
          <p:nvSpPr>
            <p:cNvPr id="25630" name="Line 28"/>
            <p:cNvSpPr>
              <a:spLocks noChangeShapeType="1"/>
            </p:cNvSpPr>
            <p:nvPr/>
          </p:nvSpPr>
          <p:spPr bwMode="auto">
            <a:xfrm>
              <a:off x="4467" y="2567"/>
              <a:ext cx="0" cy="1265"/>
            </a:xfrm>
            <a:prstGeom prst="line">
              <a:avLst/>
            </a:prstGeom>
            <a:noFill/>
            <a:ln w="25400">
              <a:solidFill>
                <a:schemeClr val="tx1"/>
              </a:solidFill>
              <a:round/>
              <a:headEnd type="triangle" w="lg" len="med"/>
              <a:tailEnd/>
            </a:ln>
          </p:spPr>
          <p:txBody>
            <a:bodyPr/>
            <a:lstStyle/>
            <a:p>
              <a:endParaRPr lang="en-US"/>
            </a:p>
          </p:txBody>
        </p:sp>
        <p:sp>
          <p:nvSpPr>
            <p:cNvPr id="25631" name="Line 29"/>
            <p:cNvSpPr>
              <a:spLocks noChangeShapeType="1"/>
            </p:cNvSpPr>
            <p:nvPr/>
          </p:nvSpPr>
          <p:spPr bwMode="auto">
            <a:xfrm>
              <a:off x="4406" y="2567"/>
              <a:ext cx="1" cy="921"/>
            </a:xfrm>
            <a:prstGeom prst="line">
              <a:avLst/>
            </a:prstGeom>
            <a:noFill/>
            <a:ln w="25400">
              <a:solidFill>
                <a:schemeClr val="tx1"/>
              </a:solidFill>
              <a:round/>
              <a:headEnd type="triangle" w="lg" len="med"/>
              <a:tailEnd/>
            </a:ln>
          </p:spPr>
          <p:txBody>
            <a:bodyPr/>
            <a:lstStyle/>
            <a:p>
              <a:endParaRPr lang="en-US"/>
            </a:p>
          </p:txBody>
        </p:sp>
        <p:sp>
          <p:nvSpPr>
            <p:cNvPr id="25632" name="Text Box 30"/>
            <p:cNvSpPr txBox="1">
              <a:spLocks noChangeArrowheads="1"/>
            </p:cNvSpPr>
            <p:nvPr/>
          </p:nvSpPr>
          <p:spPr bwMode="auto">
            <a:xfrm>
              <a:off x="4553" y="1288"/>
              <a:ext cx="1116" cy="1797"/>
            </a:xfrm>
            <a:prstGeom prst="rect">
              <a:avLst/>
            </a:prstGeom>
            <a:solidFill>
              <a:srgbClr val="FFCC00"/>
            </a:solidFill>
            <a:ln w="9525">
              <a:solidFill>
                <a:srgbClr val="969696"/>
              </a:solidFill>
              <a:miter lim="800000"/>
              <a:headEnd/>
              <a:tailEnd/>
            </a:ln>
          </p:spPr>
          <p:txBody>
            <a:bodyPr/>
            <a:lstStyle/>
            <a:p>
              <a:r>
                <a:rPr lang="en-US" sz="1200" b="1">
                  <a:solidFill>
                    <a:srgbClr val="003300"/>
                  </a:solidFill>
                  <a:latin typeface="Arial" pitchFamily="34" charset="0"/>
                </a:rPr>
                <a:t>Block (1, 0)</a:t>
              </a:r>
              <a:endParaRPr lang="en-US" sz="1800">
                <a:solidFill>
                  <a:srgbClr val="003300"/>
                </a:solidFill>
                <a:latin typeface="Arial" pitchFamily="34" charset="0"/>
              </a:endParaRPr>
            </a:p>
          </p:txBody>
        </p:sp>
        <p:sp>
          <p:nvSpPr>
            <p:cNvPr id="25633" name="Text Box 31"/>
            <p:cNvSpPr txBox="1">
              <a:spLocks noChangeArrowheads="1"/>
            </p:cNvSpPr>
            <p:nvPr/>
          </p:nvSpPr>
          <p:spPr bwMode="auto">
            <a:xfrm>
              <a:off x="4583" y="1609"/>
              <a:ext cx="1061" cy="220"/>
            </a:xfrm>
            <a:prstGeom prst="rect">
              <a:avLst/>
            </a:prstGeom>
            <a:solidFill>
              <a:srgbClr val="FF6600"/>
            </a:solidFill>
            <a:ln w="9525">
              <a:solidFill>
                <a:srgbClr val="969696"/>
              </a:solidFill>
              <a:miter lim="800000"/>
              <a:headEnd/>
              <a:tailEnd/>
            </a:ln>
          </p:spPr>
          <p:txBody>
            <a:bodyPr lIns="0" tIns="91440" rIns="0" bIns="0"/>
            <a:lstStyle/>
            <a:p>
              <a:pPr algn="ctr"/>
              <a:r>
                <a:rPr lang="en-US" sz="1000" b="1">
                  <a:solidFill>
                    <a:srgbClr val="003300"/>
                  </a:solidFill>
                  <a:latin typeface="Arial" pitchFamily="34" charset="0"/>
                </a:rPr>
                <a:t>Shared Memory</a:t>
              </a:r>
              <a:endParaRPr lang="en-US" sz="1000">
                <a:solidFill>
                  <a:srgbClr val="003300"/>
                </a:solidFill>
                <a:latin typeface="Arial" pitchFamily="34" charset="0"/>
              </a:endParaRPr>
            </a:p>
          </p:txBody>
        </p:sp>
        <p:sp>
          <p:nvSpPr>
            <p:cNvPr id="25634" name="Text Box 32"/>
            <p:cNvSpPr txBox="1">
              <a:spLocks noChangeArrowheads="1"/>
            </p:cNvSpPr>
            <p:nvPr/>
          </p:nvSpPr>
          <p:spPr bwMode="auto">
            <a:xfrm>
              <a:off x="4583" y="2709"/>
              <a:ext cx="332" cy="345"/>
            </a:xfrm>
            <a:prstGeom prst="rect">
              <a:avLst/>
            </a:prstGeom>
            <a:solidFill>
              <a:srgbClr val="FF6600"/>
            </a:solidFill>
            <a:ln w="9525">
              <a:solidFill>
                <a:srgbClr val="969696"/>
              </a:solidFill>
              <a:miter lim="800000"/>
              <a:headEnd/>
              <a:tailEnd/>
            </a:ln>
          </p:spPr>
          <p:txBody>
            <a:bodyPr lIns="0" tIns="91440" rIns="0" bIns="0"/>
            <a:lstStyle/>
            <a:p>
              <a:pPr algn="ctr"/>
              <a:r>
                <a:rPr lang="en-US" sz="1000" b="1">
                  <a:solidFill>
                    <a:srgbClr val="003300"/>
                  </a:solidFill>
                  <a:latin typeface="Arial" pitchFamily="34" charset="0"/>
                </a:rPr>
                <a:t>Local</a:t>
              </a:r>
            </a:p>
            <a:p>
              <a:pPr algn="ctr"/>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35" name="Text Box 33"/>
            <p:cNvSpPr txBox="1">
              <a:spLocks noChangeArrowheads="1"/>
            </p:cNvSpPr>
            <p:nvPr/>
          </p:nvSpPr>
          <p:spPr bwMode="auto">
            <a:xfrm>
              <a:off x="4578" y="2257"/>
              <a:ext cx="517" cy="307"/>
            </a:xfrm>
            <a:prstGeom prst="rect">
              <a:avLst/>
            </a:prstGeom>
            <a:solidFill>
              <a:srgbClr val="99FF66"/>
            </a:solidFill>
            <a:ln w="9525">
              <a:solidFill>
                <a:srgbClr val="969696"/>
              </a:solidFill>
              <a:miter lim="800000"/>
              <a:headEnd/>
              <a:tailEnd/>
            </a:ln>
          </p:spPr>
          <p:txBody>
            <a:bodyPr lIns="0" tIns="146304" rIns="0" bIns="0"/>
            <a:lstStyle/>
            <a:p>
              <a:pPr algn="ctr"/>
              <a:r>
                <a:rPr lang="en-US" sz="1000" b="1">
                  <a:solidFill>
                    <a:srgbClr val="003300"/>
                  </a:solidFill>
                  <a:latin typeface="Arial" pitchFamily="34" charset="0"/>
                </a:rPr>
                <a:t>Thread (0, 0)</a:t>
              </a:r>
              <a:endParaRPr lang="en-US" sz="1000">
                <a:solidFill>
                  <a:srgbClr val="003300"/>
                </a:solidFill>
                <a:latin typeface="Arial" pitchFamily="34" charset="0"/>
              </a:endParaRPr>
            </a:p>
          </p:txBody>
        </p:sp>
        <p:sp>
          <p:nvSpPr>
            <p:cNvPr id="25636" name="Text Box 34"/>
            <p:cNvSpPr txBox="1">
              <a:spLocks noChangeArrowheads="1"/>
            </p:cNvSpPr>
            <p:nvPr/>
          </p:nvSpPr>
          <p:spPr bwMode="auto">
            <a:xfrm>
              <a:off x="4578" y="1926"/>
              <a:ext cx="391" cy="188"/>
            </a:xfrm>
            <a:prstGeom prst="rect">
              <a:avLst/>
            </a:prstGeom>
            <a:solidFill>
              <a:srgbClr val="FF6600"/>
            </a:solidFill>
            <a:ln w="9525">
              <a:solidFill>
                <a:srgbClr val="969696"/>
              </a:solidFill>
              <a:miter lim="800000"/>
              <a:headEnd/>
              <a:tailEnd/>
            </a:ln>
          </p:spPr>
          <p:txBody>
            <a:bodyPr lIns="0" tIns="0" rIns="0" bIns="0"/>
            <a:lstStyle/>
            <a:p>
              <a:pPr algn="ctr"/>
              <a:r>
                <a:rPr lang="en-US" sz="1000" b="1">
                  <a:solidFill>
                    <a:srgbClr val="003300"/>
                  </a:solidFill>
                  <a:latin typeface="Arial" pitchFamily="34" charset="0"/>
                </a:rPr>
                <a:t>Registers</a:t>
              </a:r>
              <a:endParaRPr lang="en-US" sz="1000">
                <a:solidFill>
                  <a:srgbClr val="003300"/>
                </a:solidFill>
                <a:latin typeface="Arial" pitchFamily="34" charset="0"/>
              </a:endParaRPr>
            </a:p>
          </p:txBody>
        </p:sp>
        <p:sp>
          <p:nvSpPr>
            <p:cNvPr id="25637" name="Line 35"/>
            <p:cNvSpPr>
              <a:spLocks noChangeShapeType="1"/>
            </p:cNvSpPr>
            <p:nvPr/>
          </p:nvSpPr>
          <p:spPr bwMode="auto">
            <a:xfrm flipV="1">
              <a:off x="5030" y="1830"/>
              <a:ext cx="2" cy="421"/>
            </a:xfrm>
            <a:prstGeom prst="line">
              <a:avLst/>
            </a:prstGeom>
            <a:noFill/>
            <a:ln w="25400">
              <a:solidFill>
                <a:schemeClr val="tx1"/>
              </a:solidFill>
              <a:round/>
              <a:headEnd type="triangle" w="lg" len="med"/>
              <a:tailEnd type="triangle" w="lg" len="med"/>
            </a:ln>
          </p:spPr>
          <p:txBody>
            <a:bodyPr/>
            <a:lstStyle/>
            <a:p>
              <a:endParaRPr lang="en-US"/>
            </a:p>
          </p:txBody>
        </p:sp>
        <p:sp>
          <p:nvSpPr>
            <p:cNvPr id="25638" name="Line 36"/>
            <p:cNvSpPr>
              <a:spLocks noChangeShapeType="1"/>
            </p:cNvSpPr>
            <p:nvPr/>
          </p:nvSpPr>
          <p:spPr bwMode="auto">
            <a:xfrm flipV="1">
              <a:off x="4774" y="2111"/>
              <a:ext cx="0"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39" name="Line 37"/>
            <p:cNvSpPr>
              <a:spLocks noChangeShapeType="1"/>
            </p:cNvSpPr>
            <p:nvPr/>
          </p:nvSpPr>
          <p:spPr bwMode="auto">
            <a:xfrm flipV="1">
              <a:off x="4749" y="2567"/>
              <a:ext cx="1"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40" name="Line 38"/>
            <p:cNvSpPr>
              <a:spLocks noChangeShapeType="1"/>
            </p:cNvSpPr>
            <p:nvPr/>
          </p:nvSpPr>
          <p:spPr bwMode="auto">
            <a:xfrm>
              <a:off x="4955" y="2567"/>
              <a:ext cx="0" cy="577"/>
            </a:xfrm>
            <a:prstGeom prst="line">
              <a:avLst/>
            </a:prstGeom>
            <a:noFill/>
            <a:ln w="25400">
              <a:solidFill>
                <a:schemeClr val="tx1"/>
              </a:solidFill>
              <a:round/>
              <a:headEnd type="triangle" w="lg" len="med"/>
              <a:tailEnd type="triangle" w="lg" len="med"/>
            </a:ln>
          </p:spPr>
          <p:txBody>
            <a:bodyPr/>
            <a:lstStyle/>
            <a:p>
              <a:endParaRPr lang="en-US"/>
            </a:p>
          </p:txBody>
        </p:sp>
        <p:sp>
          <p:nvSpPr>
            <p:cNvPr id="25641" name="Line 39"/>
            <p:cNvSpPr>
              <a:spLocks noChangeShapeType="1"/>
            </p:cNvSpPr>
            <p:nvPr/>
          </p:nvSpPr>
          <p:spPr bwMode="auto">
            <a:xfrm>
              <a:off x="5075" y="2567"/>
              <a:ext cx="0" cy="1265"/>
            </a:xfrm>
            <a:prstGeom prst="line">
              <a:avLst/>
            </a:prstGeom>
            <a:noFill/>
            <a:ln w="25400">
              <a:solidFill>
                <a:schemeClr val="tx1"/>
              </a:solidFill>
              <a:round/>
              <a:headEnd type="triangle" w="lg" len="med"/>
              <a:tailEnd/>
            </a:ln>
          </p:spPr>
          <p:txBody>
            <a:bodyPr/>
            <a:lstStyle/>
            <a:p>
              <a:endParaRPr lang="en-US"/>
            </a:p>
          </p:txBody>
        </p:sp>
        <p:sp>
          <p:nvSpPr>
            <p:cNvPr id="25642" name="Line 40"/>
            <p:cNvSpPr>
              <a:spLocks noChangeShapeType="1"/>
            </p:cNvSpPr>
            <p:nvPr/>
          </p:nvSpPr>
          <p:spPr bwMode="auto">
            <a:xfrm>
              <a:off x="5014" y="2567"/>
              <a:ext cx="1" cy="921"/>
            </a:xfrm>
            <a:prstGeom prst="line">
              <a:avLst/>
            </a:prstGeom>
            <a:noFill/>
            <a:ln w="25400">
              <a:solidFill>
                <a:schemeClr val="tx1"/>
              </a:solidFill>
              <a:round/>
              <a:headEnd type="triangle" w="lg" len="med"/>
              <a:tailEnd/>
            </a:ln>
          </p:spPr>
          <p:txBody>
            <a:bodyPr/>
            <a:lstStyle/>
            <a:p>
              <a:endParaRPr lang="en-US"/>
            </a:p>
          </p:txBody>
        </p:sp>
        <p:sp>
          <p:nvSpPr>
            <p:cNvPr id="25643" name="Text Box 41"/>
            <p:cNvSpPr txBox="1">
              <a:spLocks noChangeArrowheads="1"/>
            </p:cNvSpPr>
            <p:nvPr/>
          </p:nvSpPr>
          <p:spPr bwMode="auto">
            <a:xfrm>
              <a:off x="5132" y="2709"/>
              <a:ext cx="332" cy="345"/>
            </a:xfrm>
            <a:prstGeom prst="rect">
              <a:avLst/>
            </a:prstGeom>
            <a:solidFill>
              <a:srgbClr val="FF6600"/>
            </a:solidFill>
            <a:ln w="9525">
              <a:solidFill>
                <a:srgbClr val="969696"/>
              </a:solidFill>
              <a:miter lim="800000"/>
              <a:headEnd/>
              <a:tailEnd/>
            </a:ln>
          </p:spPr>
          <p:txBody>
            <a:bodyPr lIns="0" tIns="91440" rIns="0" bIns="0"/>
            <a:lstStyle/>
            <a:p>
              <a:pPr algn="ctr"/>
              <a:r>
                <a:rPr lang="en-US" sz="1000" b="1">
                  <a:solidFill>
                    <a:srgbClr val="003300"/>
                  </a:solidFill>
                  <a:latin typeface="Arial" pitchFamily="34" charset="0"/>
                </a:rPr>
                <a:t>Local</a:t>
              </a:r>
            </a:p>
            <a:p>
              <a:pPr algn="ctr"/>
              <a:r>
                <a:rPr lang="en-US" sz="1000" b="1">
                  <a:solidFill>
                    <a:srgbClr val="003300"/>
                  </a:solidFill>
                  <a:latin typeface="Arial" pitchFamily="34" charset="0"/>
                </a:rPr>
                <a:t>Memory</a:t>
              </a:r>
              <a:endParaRPr lang="en-US" sz="1000">
                <a:solidFill>
                  <a:srgbClr val="003300"/>
                </a:solidFill>
                <a:latin typeface="Arial" pitchFamily="34" charset="0"/>
              </a:endParaRPr>
            </a:p>
          </p:txBody>
        </p:sp>
        <p:sp>
          <p:nvSpPr>
            <p:cNvPr id="25644" name="Text Box 42"/>
            <p:cNvSpPr txBox="1">
              <a:spLocks noChangeArrowheads="1"/>
            </p:cNvSpPr>
            <p:nvPr/>
          </p:nvSpPr>
          <p:spPr bwMode="auto">
            <a:xfrm>
              <a:off x="5127" y="2257"/>
              <a:ext cx="517" cy="307"/>
            </a:xfrm>
            <a:prstGeom prst="rect">
              <a:avLst/>
            </a:prstGeom>
            <a:solidFill>
              <a:srgbClr val="99FF66"/>
            </a:solidFill>
            <a:ln w="9525">
              <a:solidFill>
                <a:srgbClr val="969696"/>
              </a:solidFill>
              <a:miter lim="800000"/>
              <a:headEnd/>
              <a:tailEnd/>
            </a:ln>
          </p:spPr>
          <p:txBody>
            <a:bodyPr lIns="0" tIns="146304" rIns="0" bIns="0"/>
            <a:lstStyle/>
            <a:p>
              <a:pPr algn="ctr"/>
              <a:r>
                <a:rPr lang="en-US" sz="1000" b="1">
                  <a:solidFill>
                    <a:srgbClr val="003300"/>
                  </a:solidFill>
                  <a:latin typeface="Arial" pitchFamily="34" charset="0"/>
                </a:rPr>
                <a:t>Thread (1, 0)</a:t>
              </a:r>
              <a:endParaRPr lang="en-US" sz="1000">
                <a:solidFill>
                  <a:srgbClr val="003300"/>
                </a:solidFill>
                <a:latin typeface="Arial" pitchFamily="34" charset="0"/>
              </a:endParaRPr>
            </a:p>
          </p:txBody>
        </p:sp>
        <p:sp>
          <p:nvSpPr>
            <p:cNvPr id="25645" name="Text Box 43"/>
            <p:cNvSpPr txBox="1">
              <a:spLocks noChangeArrowheads="1"/>
            </p:cNvSpPr>
            <p:nvPr/>
          </p:nvSpPr>
          <p:spPr bwMode="auto">
            <a:xfrm>
              <a:off x="5127" y="1926"/>
              <a:ext cx="391" cy="188"/>
            </a:xfrm>
            <a:prstGeom prst="rect">
              <a:avLst/>
            </a:prstGeom>
            <a:solidFill>
              <a:srgbClr val="FF6600"/>
            </a:solidFill>
            <a:ln w="9525">
              <a:solidFill>
                <a:srgbClr val="969696"/>
              </a:solidFill>
              <a:miter lim="800000"/>
              <a:headEnd/>
              <a:tailEnd/>
            </a:ln>
          </p:spPr>
          <p:txBody>
            <a:bodyPr lIns="0" tIns="0" rIns="0" bIns="0"/>
            <a:lstStyle/>
            <a:p>
              <a:pPr algn="ctr"/>
              <a:r>
                <a:rPr lang="en-US" sz="1000" b="1">
                  <a:solidFill>
                    <a:srgbClr val="003300"/>
                  </a:solidFill>
                  <a:latin typeface="Arial" pitchFamily="34" charset="0"/>
                </a:rPr>
                <a:t>Registers</a:t>
              </a:r>
              <a:endParaRPr lang="en-US" sz="1000">
                <a:solidFill>
                  <a:srgbClr val="003300"/>
                </a:solidFill>
                <a:latin typeface="Arial" pitchFamily="34" charset="0"/>
              </a:endParaRPr>
            </a:p>
          </p:txBody>
        </p:sp>
        <p:sp>
          <p:nvSpPr>
            <p:cNvPr id="25646" name="Line 44"/>
            <p:cNvSpPr>
              <a:spLocks noChangeShapeType="1"/>
            </p:cNvSpPr>
            <p:nvPr/>
          </p:nvSpPr>
          <p:spPr bwMode="auto">
            <a:xfrm flipV="1">
              <a:off x="5579" y="1830"/>
              <a:ext cx="2" cy="421"/>
            </a:xfrm>
            <a:prstGeom prst="line">
              <a:avLst/>
            </a:prstGeom>
            <a:noFill/>
            <a:ln w="25400">
              <a:solidFill>
                <a:schemeClr val="tx1"/>
              </a:solidFill>
              <a:round/>
              <a:headEnd type="triangle" w="lg" len="med"/>
              <a:tailEnd type="triangle" w="lg" len="med"/>
            </a:ln>
          </p:spPr>
          <p:txBody>
            <a:bodyPr/>
            <a:lstStyle/>
            <a:p>
              <a:endParaRPr lang="en-US"/>
            </a:p>
          </p:txBody>
        </p:sp>
        <p:sp>
          <p:nvSpPr>
            <p:cNvPr id="25647" name="Line 45"/>
            <p:cNvSpPr>
              <a:spLocks noChangeShapeType="1"/>
            </p:cNvSpPr>
            <p:nvPr/>
          </p:nvSpPr>
          <p:spPr bwMode="auto">
            <a:xfrm flipV="1">
              <a:off x="5322" y="2111"/>
              <a:ext cx="0"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48" name="Line 46"/>
            <p:cNvSpPr>
              <a:spLocks noChangeShapeType="1"/>
            </p:cNvSpPr>
            <p:nvPr/>
          </p:nvSpPr>
          <p:spPr bwMode="auto">
            <a:xfrm flipV="1">
              <a:off x="5298" y="2567"/>
              <a:ext cx="1" cy="140"/>
            </a:xfrm>
            <a:prstGeom prst="line">
              <a:avLst/>
            </a:prstGeom>
            <a:noFill/>
            <a:ln w="25400">
              <a:solidFill>
                <a:schemeClr val="tx1"/>
              </a:solidFill>
              <a:round/>
              <a:headEnd type="triangle" w="lg" len="med"/>
              <a:tailEnd type="triangle" w="lg" len="med"/>
            </a:ln>
          </p:spPr>
          <p:txBody>
            <a:bodyPr/>
            <a:lstStyle/>
            <a:p>
              <a:endParaRPr lang="en-US"/>
            </a:p>
          </p:txBody>
        </p:sp>
        <p:sp>
          <p:nvSpPr>
            <p:cNvPr id="25649" name="Line 47"/>
            <p:cNvSpPr>
              <a:spLocks noChangeShapeType="1"/>
            </p:cNvSpPr>
            <p:nvPr/>
          </p:nvSpPr>
          <p:spPr bwMode="auto">
            <a:xfrm>
              <a:off x="5504" y="2567"/>
              <a:ext cx="0" cy="577"/>
            </a:xfrm>
            <a:prstGeom prst="line">
              <a:avLst/>
            </a:prstGeom>
            <a:noFill/>
            <a:ln w="25400">
              <a:solidFill>
                <a:schemeClr val="tx1"/>
              </a:solidFill>
              <a:round/>
              <a:headEnd type="triangle" w="lg" len="med"/>
              <a:tailEnd type="triangle" w="lg" len="med"/>
            </a:ln>
          </p:spPr>
          <p:txBody>
            <a:bodyPr/>
            <a:lstStyle/>
            <a:p>
              <a:endParaRPr lang="en-US"/>
            </a:p>
          </p:txBody>
        </p:sp>
        <p:sp>
          <p:nvSpPr>
            <p:cNvPr id="25650" name="Line 48"/>
            <p:cNvSpPr>
              <a:spLocks noChangeShapeType="1"/>
            </p:cNvSpPr>
            <p:nvPr/>
          </p:nvSpPr>
          <p:spPr bwMode="auto">
            <a:xfrm>
              <a:off x="5624" y="2567"/>
              <a:ext cx="0" cy="1265"/>
            </a:xfrm>
            <a:prstGeom prst="line">
              <a:avLst/>
            </a:prstGeom>
            <a:noFill/>
            <a:ln w="25400">
              <a:solidFill>
                <a:schemeClr val="tx1"/>
              </a:solidFill>
              <a:round/>
              <a:headEnd type="triangle" w="lg" len="med"/>
              <a:tailEnd/>
            </a:ln>
          </p:spPr>
          <p:txBody>
            <a:bodyPr/>
            <a:lstStyle/>
            <a:p>
              <a:endParaRPr lang="en-US"/>
            </a:p>
          </p:txBody>
        </p:sp>
        <p:sp>
          <p:nvSpPr>
            <p:cNvPr id="25651" name="Line 49"/>
            <p:cNvSpPr>
              <a:spLocks noChangeShapeType="1"/>
            </p:cNvSpPr>
            <p:nvPr/>
          </p:nvSpPr>
          <p:spPr bwMode="auto">
            <a:xfrm>
              <a:off x="5563" y="2567"/>
              <a:ext cx="1" cy="921"/>
            </a:xfrm>
            <a:prstGeom prst="line">
              <a:avLst/>
            </a:prstGeom>
            <a:noFill/>
            <a:ln w="25400">
              <a:solidFill>
                <a:schemeClr val="tx1"/>
              </a:solidFill>
              <a:round/>
              <a:headEnd type="triangle" w="lg" len="med"/>
              <a:tailEnd/>
            </a:ln>
          </p:spPr>
          <p:txBody>
            <a:bodyPr/>
            <a:lstStyle/>
            <a:p>
              <a:endParaRPr lang="en-US"/>
            </a:p>
          </p:txBody>
        </p:sp>
        <p:sp>
          <p:nvSpPr>
            <p:cNvPr id="25652" name="Text Box 50"/>
            <p:cNvSpPr txBox="1">
              <a:spLocks noChangeArrowheads="1"/>
            </p:cNvSpPr>
            <p:nvPr/>
          </p:nvSpPr>
          <p:spPr bwMode="auto">
            <a:xfrm>
              <a:off x="2842" y="3144"/>
              <a:ext cx="355" cy="1008"/>
            </a:xfrm>
            <a:prstGeom prst="rect">
              <a:avLst/>
            </a:prstGeom>
            <a:solidFill>
              <a:srgbClr val="99CCFF"/>
            </a:solidFill>
            <a:ln w="9525">
              <a:solidFill>
                <a:srgbClr val="969696"/>
              </a:solidFill>
              <a:miter lim="800000"/>
              <a:headEnd/>
              <a:tailEnd/>
            </a:ln>
          </p:spPr>
          <p:txBody>
            <a:bodyPr/>
            <a:lstStyle/>
            <a:p>
              <a:r>
                <a:rPr lang="en-US" sz="1200" b="1">
                  <a:solidFill>
                    <a:srgbClr val="003300"/>
                  </a:solidFill>
                  <a:latin typeface="Arial" pitchFamily="34" charset="0"/>
                </a:rPr>
                <a:t>Host</a:t>
              </a:r>
            </a:p>
          </p:txBody>
        </p:sp>
        <p:sp>
          <p:nvSpPr>
            <p:cNvPr id="25653" name="Line 51"/>
            <p:cNvSpPr>
              <a:spLocks noChangeShapeType="1"/>
            </p:cNvSpPr>
            <p:nvPr/>
          </p:nvSpPr>
          <p:spPr bwMode="auto">
            <a:xfrm flipV="1">
              <a:off x="3197" y="3278"/>
              <a:ext cx="199" cy="0"/>
            </a:xfrm>
            <a:prstGeom prst="line">
              <a:avLst/>
            </a:prstGeom>
            <a:noFill/>
            <a:ln w="25400">
              <a:solidFill>
                <a:schemeClr val="tx1"/>
              </a:solidFill>
              <a:round/>
              <a:headEnd type="triangle" w="lg" len="med"/>
              <a:tailEnd type="triangle" w="lg" len="med"/>
            </a:ln>
          </p:spPr>
          <p:txBody>
            <a:bodyPr/>
            <a:lstStyle/>
            <a:p>
              <a:endParaRPr lang="en-US"/>
            </a:p>
          </p:txBody>
        </p:sp>
        <p:sp>
          <p:nvSpPr>
            <p:cNvPr id="25654" name="Line 52"/>
            <p:cNvSpPr>
              <a:spLocks noChangeShapeType="1"/>
            </p:cNvSpPr>
            <p:nvPr/>
          </p:nvSpPr>
          <p:spPr bwMode="auto">
            <a:xfrm flipV="1">
              <a:off x="3197" y="3618"/>
              <a:ext cx="199" cy="0"/>
            </a:xfrm>
            <a:prstGeom prst="line">
              <a:avLst/>
            </a:prstGeom>
            <a:noFill/>
            <a:ln w="25400">
              <a:solidFill>
                <a:schemeClr val="tx1"/>
              </a:solidFill>
              <a:round/>
              <a:headEnd type="triangle" w="lg" len="med"/>
              <a:tailEnd type="triangle" w="lg" len="med"/>
            </a:ln>
          </p:spPr>
          <p:txBody>
            <a:bodyPr/>
            <a:lstStyle/>
            <a:p>
              <a:endParaRPr lang="en-US"/>
            </a:p>
          </p:txBody>
        </p:sp>
        <p:sp>
          <p:nvSpPr>
            <p:cNvPr id="25655" name="Line 53"/>
            <p:cNvSpPr>
              <a:spLocks noChangeShapeType="1"/>
            </p:cNvSpPr>
            <p:nvPr/>
          </p:nvSpPr>
          <p:spPr bwMode="auto">
            <a:xfrm flipV="1">
              <a:off x="3197" y="3958"/>
              <a:ext cx="199" cy="0"/>
            </a:xfrm>
            <a:prstGeom prst="line">
              <a:avLst/>
            </a:prstGeom>
            <a:noFill/>
            <a:ln w="25400">
              <a:solidFill>
                <a:schemeClr val="tx1"/>
              </a:solidFill>
              <a:round/>
              <a:headEnd type="triangle" w="lg" len="med"/>
              <a:tailEnd type="triangle" w="lg" len="med"/>
            </a:ln>
          </p:spPr>
          <p:txBody>
            <a:bodyPr/>
            <a:lstStyle/>
            <a:p>
              <a:endParaRPr lang="en-US"/>
            </a:p>
          </p:txBody>
        </p:sp>
      </p:grpSp>
      <p:sp>
        <p:nvSpPr>
          <p:cNvPr id="25606" name="Rectangle 54"/>
          <p:cNvSpPr>
            <a:spLocks noChangeArrowheads="1"/>
          </p:cNvSpPr>
          <p:nvPr/>
        </p:nvSpPr>
        <p:spPr bwMode="auto">
          <a:xfrm>
            <a:off x="381000" y="4648200"/>
            <a:ext cx="3759200" cy="1331913"/>
          </a:xfrm>
          <a:prstGeom prst="rect">
            <a:avLst/>
          </a:prstGeom>
          <a:noFill/>
          <a:ln w="9525">
            <a:noFill/>
            <a:miter lim="800000"/>
            <a:headEnd/>
            <a:tailEnd/>
          </a:ln>
        </p:spPr>
        <p:txBody>
          <a:bodyPr/>
          <a:lstStyle/>
          <a:p>
            <a:pPr marL="457200" indent="-457200">
              <a:spcBef>
                <a:spcPct val="20000"/>
              </a:spcBef>
              <a:buFontTx/>
              <a:buChar char="•"/>
            </a:pPr>
            <a:r>
              <a:rPr lang="en-US" sz="2800">
                <a:latin typeface="Times New Roman" pitchFamily="18" charset="0"/>
              </a:rPr>
              <a:t>The host can R/W </a:t>
            </a:r>
            <a:r>
              <a:rPr lang="en-US" sz="2800">
                <a:solidFill>
                  <a:schemeClr val="accent2"/>
                </a:solidFill>
                <a:latin typeface="Times New Roman" pitchFamily="18" charset="0"/>
              </a:rPr>
              <a:t>global</a:t>
            </a:r>
            <a:r>
              <a:rPr lang="en-US" sz="2800">
                <a:latin typeface="Times New Roman" pitchFamily="18" charset="0"/>
              </a:rPr>
              <a:t>, </a:t>
            </a:r>
            <a:r>
              <a:rPr lang="en-US" sz="2800">
                <a:solidFill>
                  <a:schemeClr val="accent2"/>
                </a:solidFill>
                <a:latin typeface="Times New Roman" pitchFamily="18" charset="0"/>
              </a:rPr>
              <a:t>constant</a:t>
            </a:r>
            <a:r>
              <a:rPr lang="en-US" sz="2800">
                <a:latin typeface="Times New Roman" pitchFamily="18" charset="0"/>
              </a:rPr>
              <a:t>, and </a:t>
            </a:r>
            <a:r>
              <a:rPr lang="en-US" sz="2800">
                <a:solidFill>
                  <a:schemeClr val="accent2"/>
                </a:solidFill>
                <a:latin typeface="Times New Roman" pitchFamily="18" charset="0"/>
              </a:rPr>
              <a:t>texture</a:t>
            </a:r>
            <a:r>
              <a:rPr lang="en-US" sz="2800">
                <a:latin typeface="Times New Roman" pitchFamily="18" charset="0"/>
              </a:rPr>
              <a:t> memories</a:t>
            </a:r>
          </a:p>
        </p:txBody>
      </p:sp>
      <p:sp>
        <p:nvSpPr>
          <p:cNvPr id="57" name="Footer Placeholder 3"/>
          <p:cNvSpPr>
            <a:spLocks noGrp="1"/>
          </p:cNvSpPr>
          <p:nvPr>
            <p:ph type="ftr" sz="quarter" idx="10"/>
          </p:nvPr>
        </p:nvSpPr>
        <p:spPr>
          <a:xfrm>
            <a:off x="3810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3" name="Picture 2" descr="A screenshot of a computer&#10;&#10;Description automatically generated">
            <a:extLst>
              <a:ext uri="{FF2B5EF4-FFF2-40B4-BE49-F238E27FC236}">
                <a16:creationId xmlns:a16="http://schemas.microsoft.com/office/drawing/2014/main" id="{23FBDDE8-06F0-3724-01FA-00E9633D14C5}"/>
              </a:ext>
            </a:extLst>
          </p:cNvPr>
          <p:cNvPicPr>
            <a:picLocks noChangeAspect="1"/>
          </p:cNvPicPr>
          <p:nvPr/>
        </p:nvPicPr>
        <p:blipFill rotWithShape="1">
          <a:blip r:embed="rId3"/>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133828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1749346" y="105294"/>
            <a:ext cx="7242254" cy="589524"/>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dirty="0"/>
              <a:t>Parallel Memory Sharing</a:t>
            </a:r>
          </a:p>
        </p:txBody>
      </p:sp>
      <p:sp>
        <p:nvSpPr>
          <p:cNvPr id="27652" name="Rectangle 3"/>
          <p:cNvSpPr>
            <a:spLocks noGrp="1" noChangeArrowheads="1"/>
          </p:cNvSpPr>
          <p:nvPr>
            <p:ph type="body" sz="half" idx="2"/>
          </p:nvPr>
        </p:nvSpPr>
        <p:spPr>
          <a:xfrm>
            <a:off x="4360863" y="685800"/>
            <a:ext cx="4783137" cy="2895600"/>
          </a:xfrm>
        </p:spPr>
        <p:txBody>
          <a:bodyPr>
            <a:normAutofit fontScale="92500" lnSpcReduction="10000"/>
          </a:bodyPr>
          <a:lstStyle/>
          <a:p>
            <a:pPr marL="457200" indent="-457200" eaLnBrk="1" hangingPunct="1">
              <a:lnSpc>
                <a:spcPct val="90000"/>
              </a:lnSpc>
            </a:pPr>
            <a:r>
              <a:rPr lang="en-US" sz="2400"/>
              <a:t>Local Memory:   	per-thread</a:t>
            </a:r>
          </a:p>
          <a:p>
            <a:pPr marL="974725" lvl="1" indent="-403225" eaLnBrk="1" hangingPunct="1">
              <a:lnSpc>
                <a:spcPct val="90000"/>
              </a:lnSpc>
            </a:pPr>
            <a:r>
              <a:rPr lang="en-US" sz="2000"/>
              <a:t>Private per thread</a:t>
            </a:r>
          </a:p>
          <a:p>
            <a:pPr marL="974725" lvl="1" indent="-403225" eaLnBrk="1" hangingPunct="1">
              <a:lnSpc>
                <a:spcPct val="90000"/>
              </a:lnSpc>
            </a:pPr>
            <a:r>
              <a:rPr lang="en-US" sz="2000"/>
              <a:t>Auto variables, register spill</a:t>
            </a:r>
          </a:p>
          <a:p>
            <a:pPr marL="457200" indent="-457200" eaLnBrk="1" hangingPunct="1">
              <a:lnSpc>
                <a:spcPct val="90000"/>
              </a:lnSpc>
            </a:pPr>
            <a:r>
              <a:rPr lang="en-US" sz="2400"/>
              <a:t>Shared Memory: 	per-Block</a:t>
            </a:r>
          </a:p>
          <a:p>
            <a:pPr marL="974725" lvl="1" indent="-403225" eaLnBrk="1" hangingPunct="1">
              <a:lnSpc>
                <a:spcPct val="90000"/>
              </a:lnSpc>
            </a:pPr>
            <a:r>
              <a:rPr lang="en-US" sz="2000"/>
              <a:t>Shared by threads of the same block</a:t>
            </a:r>
          </a:p>
          <a:p>
            <a:pPr marL="974725" lvl="1" indent="-403225" eaLnBrk="1" hangingPunct="1">
              <a:lnSpc>
                <a:spcPct val="90000"/>
              </a:lnSpc>
            </a:pPr>
            <a:r>
              <a:rPr lang="en-US" sz="2000"/>
              <a:t>Inter-thread communication</a:t>
            </a:r>
          </a:p>
          <a:p>
            <a:pPr marL="457200" indent="-457200" eaLnBrk="1" hangingPunct="1">
              <a:lnSpc>
                <a:spcPct val="90000"/>
              </a:lnSpc>
            </a:pPr>
            <a:r>
              <a:rPr lang="en-US" sz="2400"/>
              <a:t>Global Memory:   per-application</a:t>
            </a:r>
          </a:p>
          <a:p>
            <a:pPr marL="974725" lvl="1" indent="-403225" eaLnBrk="1" hangingPunct="1">
              <a:lnSpc>
                <a:spcPct val="90000"/>
              </a:lnSpc>
            </a:pPr>
            <a:r>
              <a:rPr lang="en-US" sz="2000"/>
              <a:t>Shared by all threads</a:t>
            </a:r>
          </a:p>
          <a:p>
            <a:pPr marL="974725" lvl="1" indent="-403225" eaLnBrk="1" hangingPunct="1">
              <a:lnSpc>
                <a:spcPct val="90000"/>
              </a:lnSpc>
            </a:pPr>
            <a:r>
              <a:rPr lang="en-US" sz="2000"/>
              <a:t>Inter-Grid communication</a:t>
            </a:r>
          </a:p>
        </p:txBody>
      </p:sp>
      <p:grpSp>
        <p:nvGrpSpPr>
          <p:cNvPr id="2" name="Group 4"/>
          <p:cNvGrpSpPr>
            <a:grpSpLocks/>
          </p:cNvGrpSpPr>
          <p:nvPr/>
        </p:nvGrpSpPr>
        <p:grpSpPr bwMode="auto">
          <a:xfrm>
            <a:off x="527050" y="776288"/>
            <a:ext cx="3027363" cy="1157287"/>
            <a:chOff x="332" y="681"/>
            <a:chExt cx="1907" cy="729"/>
          </a:xfrm>
        </p:grpSpPr>
        <p:grpSp>
          <p:nvGrpSpPr>
            <p:cNvPr id="3" name="Group 5"/>
            <p:cNvGrpSpPr>
              <a:grpSpLocks/>
            </p:cNvGrpSpPr>
            <p:nvPr/>
          </p:nvGrpSpPr>
          <p:grpSpPr bwMode="auto">
            <a:xfrm>
              <a:off x="332" y="681"/>
              <a:ext cx="596" cy="729"/>
              <a:chOff x="343" y="681"/>
              <a:chExt cx="596" cy="729"/>
            </a:xfrm>
          </p:grpSpPr>
          <p:sp>
            <p:nvSpPr>
              <p:cNvPr id="27808" name="Freeform 6"/>
              <p:cNvSpPr>
                <a:spLocks noChangeAspect="1"/>
              </p:cNvSpPr>
              <p:nvPr/>
            </p:nvSpPr>
            <p:spPr bwMode="auto">
              <a:xfrm>
                <a:off x="600" y="885"/>
                <a:ext cx="81" cy="525"/>
              </a:xfrm>
              <a:custGeom>
                <a:avLst/>
                <a:gdLst>
                  <a:gd name="T0" fmla="*/ 22 w 208"/>
                  <a:gd name="T1" fmla="*/ 0 h 1536"/>
                  <a:gd name="T2" fmla="*/ 78 w 208"/>
                  <a:gd name="T3" fmla="*/ 66 h 1536"/>
                  <a:gd name="T4" fmla="*/ 3 w 208"/>
                  <a:gd name="T5" fmla="*/ 115 h 1536"/>
                  <a:gd name="T6" fmla="*/ 59 w 208"/>
                  <a:gd name="T7" fmla="*/ 180 h 1536"/>
                  <a:gd name="T8" fmla="*/ 3 w 208"/>
                  <a:gd name="T9" fmla="*/ 246 h 1536"/>
                  <a:gd name="T10" fmla="*/ 59 w 208"/>
                  <a:gd name="T11" fmla="*/ 279 h 1536"/>
                  <a:gd name="T12" fmla="*/ 22 w 208"/>
                  <a:gd name="T13" fmla="*/ 328 h 1536"/>
                  <a:gd name="T14" fmla="*/ 59 w 208"/>
                  <a:gd name="T15" fmla="*/ 377 h 1536"/>
                  <a:gd name="T16" fmla="*/ 3 w 208"/>
                  <a:gd name="T17" fmla="*/ 427 h 1536"/>
                  <a:gd name="T18" fmla="*/ 41 w 208"/>
                  <a:gd name="T19" fmla="*/ 459 h 1536"/>
                  <a:gd name="T20" fmla="*/ 22 w 208"/>
                  <a:gd name="T21" fmla="*/ 525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809" name="Text Box 7"/>
              <p:cNvSpPr txBox="1">
                <a:spLocks noChangeArrowheads="1"/>
              </p:cNvSpPr>
              <p:nvPr/>
            </p:nvSpPr>
            <p:spPr bwMode="auto">
              <a:xfrm>
                <a:off x="343" y="681"/>
                <a:ext cx="596" cy="231"/>
              </a:xfrm>
              <a:prstGeom prst="rect">
                <a:avLst/>
              </a:prstGeom>
              <a:noFill/>
              <a:ln w="19050" algn="ctr">
                <a:noFill/>
                <a:miter lim="800000"/>
                <a:headEnd/>
                <a:tailEnd/>
              </a:ln>
            </p:spPr>
            <p:txBody>
              <a:bodyPr wrap="none">
                <a:spAutoFit/>
              </a:bodyPr>
              <a:lstStyle/>
              <a:p>
                <a:pPr algn="ctr"/>
                <a:r>
                  <a:rPr lang="en-US" sz="1800" b="1">
                    <a:solidFill>
                      <a:schemeClr val="accent2"/>
                    </a:solidFill>
                    <a:latin typeface="Arial" pitchFamily="34" charset="0"/>
                  </a:rPr>
                  <a:t>Thread</a:t>
                </a:r>
              </a:p>
            </p:txBody>
          </p:sp>
        </p:grpSp>
        <p:sp>
          <p:nvSpPr>
            <p:cNvPr id="27806" name="Rectangle 8"/>
            <p:cNvSpPr>
              <a:spLocks noChangeArrowheads="1"/>
            </p:cNvSpPr>
            <p:nvPr/>
          </p:nvSpPr>
          <p:spPr bwMode="auto">
            <a:xfrm>
              <a:off x="1020" y="1029"/>
              <a:ext cx="1219" cy="265"/>
            </a:xfrm>
            <a:prstGeom prst="rect">
              <a:avLst/>
            </a:prstGeom>
            <a:solidFill>
              <a:srgbClr val="0033CC"/>
            </a:solidFill>
            <a:ln w="19050" algn="ctr">
              <a:solidFill>
                <a:schemeClr val="tx1"/>
              </a:solidFill>
              <a:miter lim="800000"/>
              <a:headEnd/>
              <a:tailEnd/>
            </a:ln>
          </p:spPr>
          <p:txBody>
            <a:bodyPr wrap="none" anchor="ctr"/>
            <a:lstStyle/>
            <a:p>
              <a:pPr algn="ctr">
                <a:lnSpc>
                  <a:spcPct val="85000"/>
                </a:lnSpc>
                <a:spcBef>
                  <a:spcPct val="10000"/>
                </a:spcBef>
              </a:pPr>
              <a:r>
                <a:rPr lang="en-US" sz="1800" b="1">
                  <a:latin typeface="Arial" pitchFamily="34" charset="0"/>
                </a:rPr>
                <a:t>Local Memory</a:t>
              </a:r>
            </a:p>
          </p:txBody>
        </p:sp>
        <p:sp>
          <p:nvSpPr>
            <p:cNvPr id="27807" name="Line 9"/>
            <p:cNvSpPr>
              <a:spLocks noChangeShapeType="1"/>
            </p:cNvSpPr>
            <p:nvPr/>
          </p:nvSpPr>
          <p:spPr bwMode="auto">
            <a:xfrm>
              <a:off x="653" y="1161"/>
              <a:ext cx="369" cy="0"/>
            </a:xfrm>
            <a:prstGeom prst="line">
              <a:avLst/>
            </a:prstGeom>
            <a:noFill/>
            <a:ln w="38100">
              <a:solidFill>
                <a:srgbClr val="0000FF"/>
              </a:solidFill>
              <a:round/>
              <a:headEnd type="triangle" w="med" len="med"/>
              <a:tailEnd type="triangle" w="med" len="med"/>
            </a:ln>
          </p:spPr>
          <p:txBody>
            <a:bodyPr/>
            <a:lstStyle/>
            <a:p>
              <a:endParaRPr lang="en-US"/>
            </a:p>
          </p:txBody>
        </p:sp>
      </p:grpSp>
      <p:sp>
        <p:nvSpPr>
          <p:cNvPr id="27654" name="Text Box 10"/>
          <p:cNvSpPr txBox="1">
            <a:spLocks noChangeArrowheads="1"/>
          </p:cNvSpPr>
          <p:nvPr/>
        </p:nvSpPr>
        <p:spPr bwMode="auto">
          <a:xfrm>
            <a:off x="544513" y="3878263"/>
            <a:ext cx="911225" cy="366712"/>
          </a:xfrm>
          <a:prstGeom prst="rect">
            <a:avLst/>
          </a:prstGeom>
          <a:noFill/>
          <a:ln w="19050" algn="ctr">
            <a:noFill/>
            <a:miter lim="800000"/>
            <a:headEnd/>
            <a:tailEnd/>
          </a:ln>
        </p:spPr>
        <p:txBody>
          <a:bodyPr>
            <a:spAutoFit/>
          </a:bodyPr>
          <a:lstStyle/>
          <a:p>
            <a:pPr algn="ctr"/>
            <a:r>
              <a:rPr lang="en-US" sz="1800" b="1">
                <a:solidFill>
                  <a:schemeClr val="accent2"/>
                </a:solidFill>
                <a:latin typeface="Arial" pitchFamily="34" charset="0"/>
              </a:rPr>
              <a:t>Grid 0</a:t>
            </a:r>
          </a:p>
        </p:txBody>
      </p:sp>
      <p:grpSp>
        <p:nvGrpSpPr>
          <p:cNvPr id="4" name="Group 11"/>
          <p:cNvGrpSpPr>
            <a:grpSpLocks/>
          </p:cNvGrpSpPr>
          <p:nvPr/>
        </p:nvGrpSpPr>
        <p:grpSpPr bwMode="auto">
          <a:xfrm>
            <a:off x="409575" y="4186238"/>
            <a:ext cx="3927475" cy="835025"/>
            <a:chOff x="258" y="2682"/>
            <a:chExt cx="2474" cy="592"/>
          </a:xfrm>
        </p:grpSpPr>
        <p:sp>
          <p:nvSpPr>
            <p:cNvPr id="27747" name="Rectangle 12"/>
            <p:cNvSpPr>
              <a:spLocks noChangeArrowheads="1"/>
            </p:cNvSpPr>
            <p:nvPr/>
          </p:nvSpPr>
          <p:spPr bwMode="auto">
            <a:xfrm>
              <a:off x="258" y="2682"/>
              <a:ext cx="2474" cy="592"/>
            </a:xfrm>
            <a:prstGeom prst="rect">
              <a:avLst/>
            </a:prstGeom>
            <a:noFill/>
            <a:ln w="28575" algn="ctr">
              <a:solidFill>
                <a:srgbClr val="00CC00"/>
              </a:solidFill>
              <a:miter lim="800000"/>
              <a:headEnd/>
              <a:tailEnd/>
            </a:ln>
          </p:spPr>
          <p:txBody>
            <a:bodyPr wrap="none" anchor="ctr"/>
            <a:lstStyle/>
            <a:p>
              <a:endParaRPr lang="en-US"/>
            </a:p>
          </p:txBody>
        </p:sp>
        <p:sp>
          <p:nvSpPr>
            <p:cNvPr id="27748" name="Text Box 13"/>
            <p:cNvSpPr txBox="1">
              <a:spLocks noChangeArrowheads="1"/>
            </p:cNvSpPr>
            <p:nvPr/>
          </p:nvSpPr>
          <p:spPr bwMode="auto">
            <a:xfrm>
              <a:off x="1872" y="2909"/>
              <a:ext cx="316" cy="260"/>
            </a:xfrm>
            <a:prstGeom prst="rect">
              <a:avLst/>
            </a:prstGeom>
            <a:noFill/>
            <a:ln w="19050" algn="ctr">
              <a:noFill/>
              <a:miter lim="800000"/>
              <a:headEnd/>
              <a:tailEnd/>
            </a:ln>
          </p:spPr>
          <p:txBody>
            <a:bodyPr>
              <a:spAutoFit/>
            </a:bodyPr>
            <a:lstStyle/>
            <a:p>
              <a:pPr algn="ctr"/>
              <a:r>
                <a:rPr lang="en-US" sz="1800" b="1">
                  <a:latin typeface="Arial" pitchFamily="34" charset="0"/>
                </a:rPr>
                <a:t>. . .</a:t>
              </a:r>
            </a:p>
          </p:txBody>
        </p:sp>
        <p:grpSp>
          <p:nvGrpSpPr>
            <p:cNvPr id="5" name="Group 14"/>
            <p:cNvGrpSpPr>
              <a:grpSpLocks/>
            </p:cNvGrpSpPr>
            <p:nvPr/>
          </p:nvGrpSpPr>
          <p:grpSpPr bwMode="auto">
            <a:xfrm>
              <a:off x="313" y="2730"/>
              <a:ext cx="490" cy="497"/>
              <a:chOff x="967" y="1678"/>
              <a:chExt cx="688" cy="700"/>
            </a:xfrm>
          </p:grpSpPr>
          <p:sp>
            <p:nvSpPr>
              <p:cNvPr id="27792" name="Text Box 15"/>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6" name="Group 16"/>
              <p:cNvGrpSpPr>
                <a:grpSpLocks/>
              </p:cNvGrpSpPr>
              <p:nvPr/>
            </p:nvGrpSpPr>
            <p:grpSpPr bwMode="auto">
              <a:xfrm>
                <a:off x="1035" y="1764"/>
                <a:ext cx="552" cy="529"/>
                <a:chOff x="1045" y="1780"/>
                <a:chExt cx="806" cy="773"/>
              </a:xfrm>
            </p:grpSpPr>
            <p:sp>
              <p:nvSpPr>
                <p:cNvPr id="27794" name="Freeform 17"/>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5" name="Freeform 18"/>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6" name="Freeform 19"/>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7" name="Freeform 20"/>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8" name="Freeform 21"/>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9" name="Freeform 22"/>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800" name="Freeform 23"/>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801" name="Freeform 24"/>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802" name="Freeform 25"/>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803" name="Freeform 26"/>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804" name="Freeform 27"/>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7" name="Group 28"/>
            <p:cNvGrpSpPr>
              <a:grpSpLocks/>
            </p:cNvGrpSpPr>
            <p:nvPr/>
          </p:nvGrpSpPr>
          <p:grpSpPr bwMode="auto">
            <a:xfrm>
              <a:off x="847" y="2730"/>
              <a:ext cx="490" cy="497"/>
              <a:chOff x="967" y="1678"/>
              <a:chExt cx="688" cy="700"/>
            </a:xfrm>
          </p:grpSpPr>
          <p:sp>
            <p:nvSpPr>
              <p:cNvPr id="27779" name="Text Box 29"/>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8" name="Group 30"/>
              <p:cNvGrpSpPr>
                <a:grpSpLocks/>
              </p:cNvGrpSpPr>
              <p:nvPr/>
            </p:nvGrpSpPr>
            <p:grpSpPr bwMode="auto">
              <a:xfrm>
                <a:off x="1035" y="1764"/>
                <a:ext cx="552" cy="529"/>
                <a:chOff x="1045" y="1780"/>
                <a:chExt cx="806" cy="773"/>
              </a:xfrm>
            </p:grpSpPr>
            <p:sp>
              <p:nvSpPr>
                <p:cNvPr id="27781" name="Freeform 31"/>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2" name="Freeform 32"/>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3" name="Freeform 33"/>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4" name="Freeform 34"/>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5" name="Freeform 35"/>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6" name="Freeform 36"/>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7" name="Freeform 37"/>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8" name="Freeform 38"/>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89" name="Freeform 39"/>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0" name="Freeform 40"/>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91" name="Freeform 41"/>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9" name="Group 42"/>
            <p:cNvGrpSpPr>
              <a:grpSpLocks/>
            </p:cNvGrpSpPr>
            <p:nvPr/>
          </p:nvGrpSpPr>
          <p:grpSpPr bwMode="auto">
            <a:xfrm>
              <a:off x="2187" y="2730"/>
              <a:ext cx="490" cy="497"/>
              <a:chOff x="967" y="1678"/>
              <a:chExt cx="688" cy="700"/>
            </a:xfrm>
          </p:grpSpPr>
          <p:sp>
            <p:nvSpPr>
              <p:cNvPr id="27766" name="Text Box 43"/>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0" name="Group 44"/>
              <p:cNvGrpSpPr>
                <a:grpSpLocks/>
              </p:cNvGrpSpPr>
              <p:nvPr/>
            </p:nvGrpSpPr>
            <p:grpSpPr bwMode="auto">
              <a:xfrm>
                <a:off x="1035" y="1764"/>
                <a:ext cx="552" cy="529"/>
                <a:chOff x="1045" y="1780"/>
                <a:chExt cx="806" cy="773"/>
              </a:xfrm>
            </p:grpSpPr>
            <p:sp>
              <p:nvSpPr>
                <p:cNvPr id="27768" name="Freeform 45"/>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9" name="Freeform 46"/>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0" name="Freeform 47"/>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1" name="Freeform 48"/>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2" name="Freeform 49"/>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3" name="Freeform 50"/>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4" name="Freeform 51"/>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5" name="Freeform 52"/>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6" name="Freeform 53"/>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7" name="Freeform 54"/>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78" name="Freeform 55"/>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11" name="Group 56"/>
            <p:cNvGrpSpPr>
              <a:grpSpLocks/>
            </p:cNvGrpSpPr>
            <p:nvPr/>
          </p:nvGrpSpPr>
          <p:grpSpPr bwMode="auto">
            <a:xfrm>
              <a:off x="1383" y="2730"/>
              <a:ext cx="489" cy="497"/>
              <a:chOff x="967" y="1678"/>
              <a:chExt cx="688" cy="700"/>
            </a:xfrm>
          </p:grpSpPr>
          <p:sp>
            <p:nvSpPr>
              <p:cNvPr id="27753" name="Text Box 57"/>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2" name="Group 58"/>
              <p:cNvGrpSpPr>
                <a:grpSpLocks/>
              </p:cNvGrpSpPr>
              <p:nvPr/>
            </p:nvGrpSpPr>
            <p:grpSpPr bwMode="auto">
              <a:xfrm>
                <a:off x="1035" y="1764"/>
                <a:ext cx="552" cy="529"/>
                <a:chOff x="1045" y="1780"/>
                <a:chExt cx="806" cy="773"/>
              </a:xfrm>
            </p:grpSpPr>
            <p:sp>
              <p:nvSpPr>
                <p:cNvPr id="27755" name="Freeform 59"/>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56" name="Freeform 60"/>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57" name="Freeform 61"/>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58" name="Freeform 62"/>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59" name="Freeform 63"/>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0" name="Freeform 64"/>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1" name="Freeform 65"/>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2" name="Freeform 66"/>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3" name="Freeform 67"/>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4" name="Freeform 68"/>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65" name="Freeform 69"/>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sp>
        <p:nvSpPr>
          <p:cNvPr id="27656" name="Rectangle 70"/>
          <p:cNvSpPr>
            <a:spLocks noChangeArrowheads="1"/>
          </p:cNvSpPr>
          <p:nvPr/>
        </p:nvSpPr>
        <p:spPr bwMode="auto">
          <a:xfrm>
            <a:off x="4949825" y="4157663"/>
            <a:ext cx="1676400" cy="2078037"/>
          </a:xfrm>
          <a:prstGeom prst="rect">
            <a:avLst/>
          </a:prstGeom>
          <a:solidFill>
            <a:srgbClr val="0033CC"/>
          </a:solidFill>
          <a:ln w="19050" algn="ctr">
            <a:solidFill>
              <a:schemeClr val="tx1"/>
            </a:solidFill>
            <a:miter lim="800000"/>
            <a:headEnd/>
            <a:tailEnd/>
          </a:ln>
        </p:spPr>
        <p:txBody>
          <a:bodyPr wrap="none" anchor="ctr"/>
          <a:lstStyle/>
          <a:p>
            <a:pPr algn="ctr">
              <a:lnSpc>
                <a:spcPct val="85000"/>
              </a:lnSpc>
              <a:spcBef>
                <a:spcPct val="10000"/>
              </a:spcBef>
            </a:pPr>
            <a:r>
              <a:rPr lang="en-US" sz="1800" b="1">
                <a:latin typeface="Arial" pitchFamily="34" charset="0"/>
              </a:rPr>
              <a:t>Global</a:t>
            </a:r>
          </a:p>
          <a:p>
            <a:pPr algn="ctr">
              <a:lnSpc>
                <a:spcPct val="85000"/>
              </a:lnSpc>
              <a:spcBef>
                <a:spcPct val="10000"/>
              </a:spcBef>
            </a:pPr>
            <a:r>
              <a:rPr lang="en-US" sz="1800" b="1">
                <a:latin typeface="Arial" pitchFamily="34" charset="0"/>
              </a:rPr>
              <a:t>Memory</a:t>
            </a:r>
          </a:p>
        </p:txBody>
      </p:sp>
      <p:grpSp>
        <p:nvGrpSpPr>
          <p:cNvPr id="13" name="Group 71"/>
          <p:cNvGrpSpPr>
            <a:grpSpLocks/>
          </p:cNvGrpSpPr>
          <p:nvPr/>
        </p:nvGrpSpPr>
        <p:grpSpPr bwMode="auto">
          <a:xfrm>
            <a:off x="409575" y="5395913"/>
            <a:ext cx="3927475" cy="833437"/>
            <a:chOff x="258" y="2682"/>
            <a:chExt cx="2474" cy="592"/>
          </a:xfrm>
        </p:grpSpPr>
        <p:sp>
          <p:nvSpPr>
            <p:cNvPr id="27689" name="Rectangle 72"/>
            <p:cNvSpPr>
              <a:spLocks noChangeArrowheads="1"/>
            </p:cNvSpPr>
            <p:nvPr/>
          </p:nvSpPr>
          <p:spPr bwMode="auto">
            <a:xfrm>
              <a:off x="258" y="2682"/>
              <a:ext cx="2474" cy="592"/>
            </a:xfrm>
            <a:prstGeom prst="rect">
              <a:avLst/>
            </a:prstGeom>
            <a:noFill/>
            <a:ln w="28575" algn="ctr">
              <a:solidFill>
                <a:srgbClr val="00CC00"/>
              </a:solidFill>
              <a:miter lim="800000"/>
              <a:headEnd/>
              <a:tailEnd/>
            </a:ln>
          </p:spPr>
          <p:txBody>
            <a:bodyPr wrap="none" anchor="ctr"/>
            <a:lstStyle/>
            <a:p>
              <a:endParaRPr lang="en-US"/>
            </a:p>
          </p:txBody>
        </p:sp>
        <p:sp>
          <p:nvSpPr>
            <p:cNvPr id="27690" name="Text Box 73"/>
            <p:cNvSpPr txBox="1">
              <a:spLocks noChangeArrowheads="1"/>
            </p:cNvSpPr>
            <p:nvPr/>
          </p:nvSpPr>
          <p:spPr bwMode="auto">
            <a:xfrm>
              <a:off x="1872" y="2910"/>
              <a:ext cx="316" cy="260"/>
            </a:xfrm>
            <a:prstGeom prst="rect">
              <a:avLst/>
            </a:prstGeom>
            <a:noFill/>
            <a:ln w="19050" algn="ctr">
              <a:noFill/>
              <a:miter lim="800000"/>
              <a:headEnd/>
              <a:tailEnd/>
            </a:ln>
          </p:spPr>
          <p:txBody>
            <a:bodyPr wrap="none">
              <a:spAutoFit/>
            </a:bodyPr>
            <a:lstStyle/>
            <a:p>
              <a:pPr algn="ctr"/>
              <a:r>
                <a:rPr lang="en-US" sz="1800" b="1">
                  <a:latin typeface="Arial" pitchFamily="34" charset="0"/>
                </a:rPr>
                <a:t>. . .</a:t>
              </a:r>
            </a:p>
          </p:txBody>
        </p:sp>
        <p:grpSp>
          <p:nvGrpSpPr>
            <p:cNvPr id="14" name="Group 74"/>
            <p:cNvGrpSpPr>
              <a:grpSpLocks/>
            </p:cNvGrpSpPr>
            <p:nvPr/>
          </p:nvGrpSpPr>
          <p:grpSpPr bwMode="auto">
            <a:xfrm>
              <a:off x="313" y="2730"/>
              <a:ext cx="490" cy="497"/>
              <a:chOff x="967" y="1678"/>
              <a:chExt cx="688" cy="700"/>
            </a:xfrm>
          </p:grpSpPr>
          <p:sp>
            <p:nvSpPr>
              <p:cNvPr id="27734" name="Text Box 75"/>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5" name="Group 76"/>
              <p:cNvGrpSpPr>
                <a:grpSpLocks/>
              </p:cNvGrpSpPr>
              <p:nvPr/>
            </p:nvGrpSpPr>
            <p:grpSpPr bwMode="auto">
              <a:xfrm>
                <a:off x="1035" y="1764"/>
                <a:ext cx="552" cy="529"/>
                <a:chOff x="1045" y="1780"/>
                <a:chExt cx="806" cy="773"/>
              </a:xfrm>
            </p:grpSpPr>
            <p:sp>
              <p:nvSpPr>
                <p:cNvPr id="27736" name="Freeform 77"/>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7" name="Freeform 78"/>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8" name="Freeform 79"/>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9" name="Freeform 80"/>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0" name="Freeform 81"/>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1" name="Freeform 82"/>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2" name="Freeform 83"/>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3" name="Freeform 84"/>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4" name="Freeform 85"/>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5" name="Freeform 86"/>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46" name="Freeform 87"/>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16" name="Group 88"/>
            <p:cNvGrpSpPr>
              <a:grpSpLocks/>
            </p:cNvGrpSpPr>
            <p:nvPr/>
          </p:nvGrpSpPr>
          <p:grpSpPr bwMode="auto">
            <a:xfrm>
              <a:off x="847" y="2730"/>
              <a:ext cx="490" cy="497"/>
              <a:chOff x="967" y="1678"/>
              <a:chExt cx="688" cy="700"/>
            </a:xfrm>
          </p:grpSpPr>
          <p:sp>
            <p:nvSpPr>
              <p:cNvPr id="27721" name="Text Box 89"/>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7" name="Group 90"/>
              <p:cNvGrpSpPr>
                <a:grpSpLocks/>
              </p:cNvGrpSpPr>
              <p:nvPr/>
            </p:nvGrpSpPr>
            <p:grpSpPr bwMode="auto">
              <a:xfrm>
                <a:off x="1035" y="1764"/>
                <a:ext cx="552" cy="529"/>
                <a:chOff x="1045" y="1780"/>
                <a:chExt cx="806" cy="773"/>
              </a:xfrm>
            </p:grpSpPr>
            <p:sp>
              <p:nvSpPr>
                <p:cNvPr id="27723" name="Freeform 91"/>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4" name="Freeform 92"/>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5" name="Freeform 93"/>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6" name="Freeform 94"/>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7" name="Freeform 95"/>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8" name="Freeform 96"/>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9" name="Freeform 97"/>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0" name="Freeform 98"/>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1" name="Freeform 99"/>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2" name="Freeform 100"/>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33" name="Freeform 101"/>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18" name="Group 102"/>
            <p:cNvGrpSpPr>
              <a:grpSpLocks/>
            </p:cNvGrpSpPr>
            <p:nvPr/>
          </p:nvGrpSpPr>
          <p:grpSpPr bwMode="auto">
            <a:xfrm>
              <a:off x="2187" y="2730"/>
              <a:ext cx="490" cy="497"/>
              <a:chOff x="967" y="1678"/>
              <a:chExt cx="688" cy="700"/>
            </a:xfrm>
          </p:grpSpPr>
          <p:sp>
            <p:nvSpPr>
              <p:cNvPr id="27708" name="Text Box 103"/>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19" name="Group 104"/>
              <p:cNvGrpSpPr>
                <a:grpSpLocks/>
              </p:cNvGrpSpPr>
              <p:nvPr/>
            </p:nvGrpSpPr>
            <p:grpSpPr bwMode="auto">
              <a:xfrm>
                <a:off x="1035" y="1764"/>
                <a:ext cx="552" cy="529"/>
                <a:chOff x="1045" y="1780"/>
                <a:chExt cx="806" cy="773"/>
              </a:xfrm>
            </p:grpSpPr>
            <p:sp>
              <p:nvSpPr>
                <p:cNvPr id="27710" name="Freeform 105"/>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1" name="Freeform 106"/>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2" name="Freeform 107"/>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3" name="Freeform 108"/>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4" name="Freeform 109"/>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5" name="Freeform 110"/>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6" name="Freeform 111"/>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7" name="Freeform 112"/>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8" name="Freeform 113"/>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19" name="Freeform 114"/>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20" name="Freeform 115"/>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nvGrpSpPr>
            <p:cNvPr id="20" name="Group 116"/>
            <p:cNvGrpSpPr>
              <a:grpSpLocks/>
            </p:cNvGrpSpPr>
            <p:nvPr/>
          </p:nvGrpSpPr>
          <p:grpSpPr bwMode="auto">
            <a:xfrm>
              <a:off x="1383" y="2730"/>
              <a:ext cx="489" cy="497"/>
              <a:chOff x="967" y="1678"/>
              <a:chExt cx="688" cy="700"/>
            </a:xfrm>
          </p:grpSpPr>
          <p:sp>
            <p:nvSpPr>
              <p:cNvPr id="27695" name="Text Box 117"/>
              <p:cNvSpPr txBox="1">
                <a:spLocks noChangeArrowheads="1"/>
              </p:cNvSpPr>
              <p:nvPr/>
            </p:nvSpPr>
            <p:spPr bwMode="auto">
              <a:xfrm>
                <a:off x="967" y="1678"/>
                <a:ext cx="688" cy="700"/>
              </a:xfrm>
              <a:prstGeom prst="rect">
                <a:avLst/>
              </a:prstGeom>
              <a:noFill/>
              <a:ln w="19050">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21" name="Group 118"/>
              <p:cNvGrpSpPr>
                <a:grpSpLocks/>
              </p:cNvGrpSpPr>
              <p:nvPr/>
            </p:nvGrpSpPr>
            <p:grpSpPr bwMode="auto">
              <a:xfrm>
                <a:off x="1035" y="1764"/>
                <a:ext cx="552" cy="529"/>
                <a:chOff x="1045" y="1780"/>
                <a:chExt cx="806" cy="773"/>
              </a:xfrm>
            </p:grpSpPr>
            <p:sp>
              <p:nvSpPr>
                <p:cNvPr id="27697" name="Freeform 119"/>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98" name="Freeform 120"/>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99" name="Freeform 121"/>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0" name="Freeform 122"/>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1" name="Freeform 123"/>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2" name="Freeform 124"/>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3" name="Freeform 125"/>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4" name="Freeform 126"/>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5" name="Freeform 127"/>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6" name="Freeform 128"/>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707" name="Freeform 129"/>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grpSp>
      <p:sp>
        <p:nvSpPr>
          <p:cNvPr id="27658" name="Text Box 130"/>
          <p:cNvSpPr txBox="1">
            <a:spLocks noChangeArrowheads="1"/>
          </p:cNvSpPr>
          <p:nvPr/>
        </p:nvSpPr>
        <p:spPr bwMode="auto">
          <a:xfrm>
            <a:off x="544513" y="5100638"/>
            <a:ext cx="911225" cy="366712"/>
          </a:xfrm>
          <a:prstGeom prst="rect">
            <a:avLst/>
          </a:prstGeom>
          <a:noFill/>
          <a:ln w="19050" algn="ctr">
            <a:noFill/>
            <a:miter lim="800000"/>
            <a:headEnd/>
            <a:tailEnd/>
          </a:ln>
        </p:spPr>
        <p:txBody>
          <a:bodyPr>
            <a:spAutoFit/>
          </a:bodyPr>
          <a:lstStyle/>
          <a:p>
            <a:pPr algn="ctr"/>
            <a:r>
              <a:rPr lang="en-US" sz="1800" b="1">
                <a:solidFill>
                  <a:schemeClr val="accent2"/>
                </a:solidFill>
                <a:latin typeface="Arial" pitchFamily="34" charset="0"/>
              </a:rPr>
              <a:t>Grid 1</a:t>
            </a:r>
          </a:p>
        </p:txBody>
      </p:sp>
      <p:sp>
        <p:nvSpPr>
          <p:cNvPr id="27659" name="Line 131"/>
          <p:cNvSpPr>
            <a:spLocks noChangeShapeType="1"/>
          </p:cNvSpPr>
          <p:nvPr/>
        </p:nvSpPr>
        <p:spPr bwMode="auto">
          <a:xfrm>
            <a:off x="4356100" y="4603750"/>
            <a:ext cx="585788" cy="0"/>
          </a:xfrm>
          <a:prstGeom prst="line">
            <a:avLst/>
          </a:prstGeom>
          <a:noFill/>
          <a:ln w="76200">
            <a:solidFill>
              <a:srgbClr val="0000FF"/>
            </a:solidFill>
            <a:round/>
            <a:headEnd type="triangle" w="med" len="med"/>
            <a:tailEnd type="triangle" w="med" len="med"/>
          </a:ln>
        </p:spPr>
        <p:txBody>
          <a:bodyPr/>
          <a:lstStyle/>
          <a:p>
            <a:endParaRPr lang="en-US"/>
          </a:p>
        </p:txBody>
      </p:sp>
      <p:sp>
        <p:nvSpPr>
          <p:cNvPr id="27660" name="Line 132"/>
          <p:cNvSpPr>
            <a:spLocks noChangeShapeType="1"/>
          </p:cNvSpPr>
          <p:nvPr/>
        </p:nvSpPr>
        <p:spPr bwMode="auto">
          <a:xfrm>
            <a:off x="4356100" y="5813425"/>
            <a:ext cx="585788" cy="0"/>
          </a:xfrm>
          <a:prstGeom prst="line">
            <a:avLst/>
          </a:prstGeom>
          <a:noFill/>
          <a:ln w="76200">
            <a:solidFill>
              <a:srgbClr val="0000FF"/>
            </a:solidFill>
            <a:round/>
            <a:headEnd type="triangle" w="med" len="med"/>
            <a:tailEnd type="triangle" w="med" len="med"/>
          </a:ln>
        </p:spPr>
        <p:txBody>
          <a:bodyPr/>
          <a:lstStyle/>
          <a:p>
            <a:endParaRPr lang="en-US"/>
          </a:p>
        </p:txBody>
      </p:sp>
      <p:sp>
        <p:nvSpPr>
          <p:cNvPr id="27661" name="Line 133"/>
          <p:cNvSpPr>
            <a:spLocks noChangeShapeType="1"/>
          </p:cNvSpPr>
          <p:nvPr/>
        </p:nvSpPr>
        <p:spPr bwMode="auto">
          <a:xfrm>
            <a:off x="6894513" y="4186238"/>
            <a:ext cx="0" cy="2038350"/>
          </a:xfrm>
          <a:prstGeom prst="line">
            <a:avLst/>
          </a:prstGeom>
          <a:noFill/>
          <a:ln w="38100">
            <a:solidFill>
              <a:schemeClr val="accent2"/>
            </a:solidFill>
            <a:round/>
            <a:headEnd/>
            <a:tailEnd type="stealth" w="med" len="lg"/>
          </a:ln>
        </p:spPr>
        <p:txBody>
          <a:bodyPr/>
          <a:lstStyle/>
          <a:p>
            <a:endParaRPr lang="en-US"/>
          </a:p>
        </p:txBody>
      </p:sp>
      <p:sp>
        <p:nvSpPr>
          <p:cNvPr id="27662" name="Text Box 134"/>
          <p:cNvSpPr txBox="1">
            <a:spLocks noChangeArrowheads="1"/>
          </p:cNvSpPr>
          <p:nvPr/>
        </p:nvSpPr>
        <p:spPr bwMode="auto">
          <a:xfrm>
            <a:off x="7010400" y="4876800"/>
            <a:ext cx="1708150" cy="915988"/>
          </a:xfrm>
          <a:prstGeom prst="rect">
            <a:avLst/>
          </a:prstGeom>
          <a:noFill/>
          <a:ln w="19050" algn="ctr">
            <a:noFill/>
            <a:miter lim="800000"/>
            <a:headEnd/>
            <a:tailEnd/>
          </a:ln>
        </p:spPr>
        <p:txBody>
          <a:bodyPr>
            <a:spAutoFit/>
          </a:bodyPr>
          <a:lstStyle/>
          <a:p>
            <a:r>
              <a:rPr lang="en-US" sz="1800" b="1">
                <a:solidFill>
                  <a:schemeClr val="accent2"/>
                </a:solidFill>
                <a:latin typeface="Arial" pitchFamily="34" charset="0"/>
              </a:rPr>
              <a:t>Sequential</a:t>
            </a:r>
          </a:p>
          <a:p>
            <a:r>
              <a:rPr lang="en-US" sz="1800" b="1">
                <a:solidFill>
                  <a:schemeClr val="accent2"/>
                </a:solidFill>
                <a:latin typeface="Arial" pitchFamily="34" charset="0"/>
              </a:rPr>
              <a:t>Grids</a:t>
            </a:r>
          </a:p>
          <a:p>
            <a:r>
              <a:rPr lang="en-US" sz="1800" b="1">
                <a:solidFill>
                  <a:schemeClr val="accent2"/>
                </a:solidFill>
                <a:latin typeface="Arial" pitchFamily="34" charset="0"/>
              </a:rPr>
              <a:t>in Time</a:t>
            </a:r>
          </a:p>
        </p:txBody>
      </p:sp>
      <p:grpSp>
        <p:nvGrpSpPr>
          <p:cNvPr id="22" name="Group 135"/>
          <p:cNvGrpSpPr>
            <a:grpSpLocks/>
          </p:cNvGrpSpPr>
          <p:nvPr/>
        </p:nvGrpSpPr>
        <p:grpSpPr bwMode="auto">
          <a:xfrm>
            <a:off x="454025" y="2044700"/>
            <a:ext cx="3162300" cy="1443038"/>
            <a:chOff x="286" y="1480"/>
            <a:chExt cx="1992" cy="909"/>
          </a:xfrm>
        </p:grpSpPr>
        <p:grpSp>
          <p:nvGrpSpPr>
            <p:cNvPr id="23" name="Group 136"/>
            <p:cNvGrpSpPr>
              <a:grpSpLocks/>
            </p:cNvGrpSpPr>
            <p:nvPr/>
          </p:nvGrpSpPr>
          <p:grpSpPr bwMode="auto">
            <a:xfrm>
              <a:off x="286" y="1480"/>
              <a:ext cx="688" cy="909"/>
              <a:chOff x="286" y="1620"/>
              <a:chExt cx="688" cy="909"/>
            </a:xfrm>
          </p:grpSpPr>
          <p:grpSp>
            <p:nvGrpSpPr>
              <p:cNvPr id="24" name="Group 137"/>
              <p:cNvGrpSpPr>
                <a:grpSpLocks/>
              </p:cNvGrpSpPr>
              <p:nvPr/>
            </p:nvGrpSpPr>
            <p:grpSpPr bwMode="auto">
              <a:xfrm>
                <a:off x="286" y="1829"/>
                <a:ext cx="688" cy="700"/>
                <a:chOff x="967" y="1678"/>
                <a:chExt cx="688" cy="700"/>
              </a:xfrm>
            </p:grpSpPr>
            <p:sp>
              <p:nvSpPr>
                <p:cNvPr id="27676" name="Text Box 138"/>
                <p:cNvSpPr txBox="1">
                  <a:spLocks noChangeArrowheads="1"/>
                </p:cNvSpPr>
                <p:nvPr/>
              </p:nvSpPr>
              <p:spPr bwMode="auto">
                <a:xfrm>
                  <a:off x="967" y="1678"/>
                  <a:ext cx="688" cy="700"/>
                </a:xfrm>
                <a:prstGeom prst="rect">
                  <a:avLst/>
                </a:prstGeom>
                <a:noFill/>
                <a:ln w="28575">
                  <a:solidFill>
                    <a:srgbClr val="00CC00"/>
                  </a:solidFill>
                  <a:miter lim="800000"/>
                  <a:headEnd/>
                  <a:tailEnd/>
                </a:ln>
              </p:spPr>
              <p:txBody>
                <a:bodyPr lIns="0" rIns="0"/>
                <a:lstStyle/>
                <a:p>
                  <a:pPr algn="ctr">
                    <a:lnSpc>
                      <a:spcPct val="85000"/>
                    </a:lnSpc>
                    <a:spcBef>
                      <a:spcPct val="10000"/>
                    </a:spcBef>
                  </a:pPr>
                  <a:endParaRPr lang="en-US" sz="1200" b="1">
                    <a:latin typeface="Arial" pitchFamily="34" charset="0"/>
                  </a:endParaRPr>
                </a:p>
              </p:txBody>
            </p:sp>
            <p:grpSp>
              <p:nvGrpSpPr>
                <p:cNvPr id="25" name="Group 139"/>
                <p:cNvGrpSpPr>
                  <a:grpSpLocks/>
                </p:cNvGrpSpPr>
                <p:nvPr/>
              </p:nvGrpSpPr>
              <p:grpSpPr bwMode="auto">
                <a:xfrm>
                  <a:off x="1035" y="1764"/>
                  <a:ext cx="552" cy="529"/>
                  <a:chOff x="1045" y="1780"/>
                  <a:chExt cx="806" cy="773"/>
                </a:xfrm>
              </p:grpSpPr>
              <p:sp>
                <p:nvSpPr>
                  <p:cNvPr id="27678" name="Freeform 140"/>
                  <p:cNvSpPr>
                    <a:spLocks/>
                  </p:cNvSpPr>
                  <p:nvPr/>
                </p:nvSpPr>
                <p:spPr bwMode="auto">
                  <a:xfrm>
                    <a:off x="1045"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79" name="Freeform 141"/>
                  <p:cNvSpPr>
                    <a:spLocks/>
                  </p:cNvSpPr>
                  <p:nvPr/>
                </p:nvSpPr>
                <p:spPr bwMode="auto">
                  <a:xfrm>
                    <a:off x="1116"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0" name="Freeform 142"/>
                  <p:cNvSpPr>
                    <a:spLocks/>
                  </p:cNvSpPr>
                  <p:nvPr/>
                </p:nvSpPr>
                <p:spPr bwMode="auto">
                  <a:xfrm>
                    <a:off x="1181"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1" name="Freeform 143"/>
                  <p:cNvSpPr>
                    <a:spLocks/>
                  </p:cNvSpPr>
                  <p:nvPr/>
                </p:nvSpPr>
                <p:spPr bwMode="auto">
                  <a:xfrm>
                    <a:off x="1247" y="1780"/>
                    <a:ext cx="147" cy="773"/>
                  </a:xfrm>
                  <a:custGeom>
                    <a:avLst/>
                    <a:gdLst>
                      <a:gd name="T0" fmla="*/ 40 w 208"/>
                      <a:gd name="T1" fmla="*/ 0 h 1536"/>
                      <a:gd name="T2" fmla="*/ 141 w 208"/>
                      <a:gd name="T3" fmla="*/ 97 h 1536"/>
                      <a:gd name="T4" fmla="*/ 6 w 208"/>
                      <a:gd name="T5" fmla="*/ 169 h 1536"/>
                      <a:gd name="T6" fmla="*/ 107 w 208"/>
                      <a:gd name="T7" fmla="*/ 266 h 1536"/>
                      <a:gd name="T8" fmla="*/ 6 w 208"/>
                      <a:gd name="T9" fmla="*/ 362 h 1536"/>
                      <a:gd name="T10" fmla="*/ 107 w 208"/>
                      <a:gd name="T11" fmla="*/ 411 h 1536"/>
                      <a:gd name="T12" fmla="*/ 40 w 208"/>
                      <a:gd name="T13" fmla="*/ 483 h 1536"/>
                      <a:gd name="T14" fmla="*/ 107 w 208"/>
                      <a:gd name="T15" fmla="*/ 556 h 1536"/>
                      <a:gd name="T16" fmla="*/ 6 w 208"/>
                      <a:gd name="T17" fmla="*/ 628 h 1536"/>
                      <a:gd name="T18" fmla="*/ 74 w 208"/>
                      <a:gd name="T19" fmla="*/ 676 h 1536"/>
                      <a:gd name="T20" fmla="*/ 40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2" name="Freeform 144"/>
                  <p:cNvSpPr>
                    <a:spLocks/>
                  </p:cNvSpPr>
                  <p:nvPr/>
                </p:nvSpPr>
                <p:spPr bwMode="auto">
                  <a:xfrm>
                    <a:off x="1312"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3" name="Freeform 145"/>
                  <p:cNvSpPr>
                    <a:spLocks/>
                  </p:cNvSpPr>
                  <p:nvPr/>
                </p:nvSpPr>
                <p:spPr bwMode="auto">
                  <a:xfrm>
                    <a:off x="1378"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4" name="Freeform 146"/>
                  <p:cNvSpPr>
                    <a:spLocks/>
                  </p:cNvSpPr>
                  <p:nvPr/>
                </p:nvSpPr>
                <p:spPr bwMode="auto">
                  <a:xfrm>
                    <a:off x="1443"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5" name="Freeform 147"/>
                  <p:cNvSpPr>
                    <a:spLocks/>
                  </p:cNvSpPr>
                  <p:nvPr/>
                </p:nvSpPr>
                <p:spPr bwMode="auto">
                  <a:xfrm>
                    <a:off x="1509"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6" name="Freeform 148"/>
                  <p:cNvSpPr>
                    <a:spLocks/>
                  </p:cNvSpPr>
                  <p:nvPr/>
                </p:nvSpPr>
                <p:spPr bwMode="auto">
                  <a:xfrm>
                    <a:off x="1574"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7" name="Freeform 149"/>
                  <p:cNvSpPr>
                    <a:spLocks/>
                  </p:cNvSpPr>
                  <p:nvPr/>
                </p:nvSpPr>
                <p:spPr bwMode="auto">
                  <a:xfrm>
                    <a:off x="1640" y="1780"/>
                    <a:ext cx="145" cy="773"/>
                  </a:xfrm>
                  <a:custGeom>
                    <a:avLst/>
                    <a:gdLst>
                      <a:gd name="T0" fmla="*/ 39 w 208"/>
                      <a:gd name="T1" fmla="*/ 0 h 1536"/>
                      <a:gd name="T2" fmla="*/ 139 w 208"/>
                      <a:gd name="T3" fmla="*/ 97 h 1536"/>
                      <a:gd name="T4" fmla="*/ 6 w 208"/>
                      <a:gd name="T5" fmla="*/ 169 h 1536"/>
                      <a:gd name="T6" fmla="*/ 106 w 208"/>
                      <a:gd name="T7" fmla="*/ 266 h 1536"/>
                      <a:gd name="T8" fmla="*/ 6 w 208"/>
                      <a:gd name="T9" fmla="*/ 362 h 1536"/>
                      <a:gd name="T10" fmla="*/ 106 w 208"/>
                      <a:gd name="T11" fmla="*/ 411 h 1536"/>
                      <a:gd name="T12" fmla="*/ 39 w 208"/>
                      <a:gd name="T13" fmla="*/ 483 h 1536"/>
                      <a:gd name="T14" fmla="*/ 106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sp>
                <p:nvSpPr>
                  <p:cNvPr id="27688" name="Freeform 150"/>
                  <p:cNvSpPr>
                    <a:spLocks/>
                  </p:cNvSpPr>
                  <p:nvPr/>
                </p:nvSpPr>
                <p:spPr bwMode="auto">
                  <a:xfrm>
                    <a:off x="1705" y="1780"/>
                    <a:ext cx="146" cy="773"/>
                  </a:xfrm>
                  <a:custGeom>
                    <a:avLst/>
                    <a:gdLst>
                      <a:gd name="T0" fmla="*/ 39 w 208"/>
                      <a:gd name="T1" fmla="*/ 0 h 1536"/>
                      <a:gd name="T2" fmla="*/ 140 w 208"/>
                      <a:gd name="T3" fmla="*/ 97 h 1536"/>
                      <a:gd name="T4" fmla="*/ 6 w 208"/>
                      <a:gd name="T5" fmla="*/ 169 h 1536"/>
                      <a:gd name="T6" fmla="*/ 107 w 208"/>
                      <a:gd name="T7" fmla="*/ 266 h 1536"/>
                      <a:gd name="T8" fmla="*/ 6 w 208"/>
                      <a:gd name="T9" fmla="*/ 362 h 1536"/>
                      <a:gd name="T10" fmla="*/ 107 w 208"/>
                      <a:gd name="T11" fmla="*/ 411 h 1536"/>
                      <a:gd name="T12" fmla="*/ 39 w 208"/>
                      <a:gd name="T13" fmla="*/ 483 h 1536"/>
                      <a:gd name="T14" fmla="*/ 107 w 208"/>
                      <a:gd name="T15" fmla="*/ 556 h 1536"/>
                      <a:gd name="T16" fmla="*/ 6 w 208"/>
                      <a:gd name="T17" fmla="*/ 628 h 1536"/>
                      <a:gd name="T18" fmla="*/ 73 w 208"/>
                      <a:gd name="T19" fmla="*/ 676 h 1536"/>
                      <a:gd name="T20" fmla="*/ 39 w 208"/>
                      <a:gd name="T21" fmla="*/ 773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50">
                    <a:solidFill>
                      <a:schemeClr val="tx1"/>
                    </a:solidFill>
                    <a:round/>
                    <a:headEnd/>
                    <a:tailEnd type="triangle" w="med" len="med"/>
                  </a:ln>
                </p:spPr>
                <p:txBody>
                  <a:bodyPr/>
                  <a:lstStyle/>
                  <a:p>
                    <a:endParaRPr lang="en-US"/>
                  </a:p>
                </p:txBody>
              </p:sp>
            </p:grpSp>
          </p:grpSp>
          <p:sp>
            <p:nvSpPr>
              <p:cNvPr id="27675" name="Text Box 151"/>
              <p:cNvSpPr txBox="1">
                <a:spLocks noChangeArrowheads="1"/>
              </p:cNvSpPr>
              <p:nvPr/>
            </p:nvSpPr>
            <p:spPr bwMode="auto">
              <a:xfrm>
                <a:off x="376" y="1620"/>
                <a:ext cx="508" cy="231"/>
              </a:xfrm>
              <a:prstGeom prst="rect">
                <a:avLst/>
              </a:prstGeom>
              <a:noFill/>
              <a:ln w="19050" algn="ctr">
                <a:noFill/>
                <a:miter lim="800000"/>
                <a:headEnd/>
                <a:tailEnd/>
              </a:ln>
            </p:spPr>
            <p:txBody>
              <a:bodyPr wrap="none">
                <a:spAutoFit/>
              </a:bodyPr>
              <a:lstStyle/>
              <a:p>
                <a:pPr algn="ctr"/>
                <a:r>
                  <a:rPr lang="en-US" sz="1800" b="1">
                    <a:solidFill>
                      <a:schemeClr val="accent2"/>
                    </a:solidFill>
                    <a:latin typeface="Arial" pitchFamily="34" charset="0"/>
                  </a:rPr>
                  <a:t>Block</a:t>
                </a:r>
              </a:p>
            </p:txBody>
          </p:sp>
        </p:grpSp>
        <p:sp>
          <p:nvSpPr>
            <p:cNvPr id="27665" name="Rectangle 152"/>
            <p:cNvSpPr>
              <a:spLocks noChangeArrowheads="1"/>
            </p:cNvSpPr>
            <p:nvPr/>
          </p:nvSpPr>
          <p:spPr bwMode="auto">
            <a:xfrm>
              <a:off x="1355" y="1799"/>
              <a:ext cx="923" cy="480"/>
            </a:xfrm>
            <a:prstGeom prst="rect">
              <a:avLst/>
            </a:prstGeom>
            <a:solidFill>
              <a:srgbClr val="0033CC"/>
            </a:solidFill>
            <a:ln w="19050" algn="ctr">
              <a:solidFill>
                <a:schemeClr val="tx1"/>
              </a:solidFill>
              <a:miter lim="800000"/>
              <a:headEnd/>
              <a:tailEnd/>
            </a:ln>
          </p:spPr>
          <p:txBody>
            <a:bodyPr wrap="none" anchor="ctr"/>
            <a:lstStyle/>
            <a:p>
              <a:pPr algn="ctr">
                <a:lnSpc>
                  <a:spcPct val="85000"/>
                </a:lnSpc>
                <a:spcBef>
                  <a:spcPct val="10000"/>
                </a:spcBef>
              </a:pPr>
              <a:r>
                <a:rPr lang="en-US" sz="1800" b="1">
                  <a:latin typeface="Arial" pitchFamily="34" charset="0"/>
                </a:rPr>
                <a:t>Shared</a:t>
              </a:r>
            </a:p>
            <a:p>
              <a:pPr algn="ctr">
                <a:lnSpc>
                  <a:spcPct val="85000"/>
                </a:lnSpc>
                <a:spcBef>
                  <a:spcPct val="10000"/>
                </a:spcBef>
              </a:pPr>
              <a:r>
                <a:rPr lang="en-US" sz="1800" b="1">
                  <a:latin typeface="Arial" pitchFamily="34" charset="0"/>
                </a:rPr>
                <a:t>Memory</a:t>
              </a:r>
            </a:p>
          </p:txBody>
        </p:sp>
        <p:grpSp>
          <p:nvGrpSpPr>
            <p:cNvPr id="26" name="Group 153"/>
            <p:cNvGrpSpPr>
              <a:grpSpLocks/>
            </p:cNvGrpSpPr>
            <p:nvPr/>
          </p:nvGrpSpPr>
          <p:grpSpPr bwMode="auto">
            <a:xfrm>
              <a:off x="977" y="1849"/>
              <a:ext cx="369" cy="380"/>
              <a:chOff x="977" y="1843"/>
              <a:chExt cx="369" cy="380"/>
            </a:xfrm>
          </p:grpSpPr>
          <p:sp>
            <p:nvSpPr>
              <p:cNvPr id="27667" name="Line 154"/>
              <p:cNvSpPr>
                <a:spLocks noChangeShapeType="1"/>
              </p:cNvSpPr>
              <p:nvPr/>
            </p:nvSpPr>
            <p:spPr bwMode="auto">
              <a:xfrm>
                <a:off x="977" y="2033"/>
                <a:ext cx="369" cy="0"/>
              </a:xfrm>
              <a:prstGeom prst="line">
                <a:avLst/>
              </a:prstGeom>
              <a:noFill/>
              <a:ln w="38100">
                <a:solidFill>
                  <a:srgbClr val="0000FF"/>
                </a:solidFill>
                <a:round/>
                <a:headEnd type="triangle" w="med" len="med"/>
                <a:tailEnd type="triangle" w="med" len="med"/>
              </a:ln>
            </p:spPr>
            <p:txBody>
              <a:bodyPr/>
              <a:lstStyle/>
              <a:p>
                <a:endParaRPr lang="en-US"/>
              </a:p>
            </p:txBody>
          </p:sp>
          <p:sp>
            <p:nvSpPr>
              <p:cNvPr id="27668" name="Line 155"/>
              <p:cNvSpPr>
                <a:spLocks noChangeShapeType="1"/>
              </p:cNvSpPr>
              <p:nvPr/>
            </p:nvSpPr>
            <p:spPr bwMode="auto">
              <a:xfrm>
                <a:off x="977" y="1969"/>
                <a:ext cx="369" cy="0"/>
              </a:xfrm>
              <a:prstGeom prst="line">
                <a:avLst/>
              </a:prstGeom>
              <a:noFill/>
              <a:ln w="38100">
                <a:solidFill>
                  <a:srgbClr val="0000FF"/>
                </a:solidFill>
                <a:round/>
                <a:headEnd type="triangle" w="med" len="med"/>
                <a:tailEnd type="triangle" w="med" len="med"/>
              </a:ln>
            </p:spPr>
            <p:txBody>
              <a:bodyPr/>
              <a:lstStyle/>
              <a:p>
                <a:endParaRPr lang="en-US"/>
              </a:p>
            </p:txBody>
          </p:sp>
          <p:sp>
            <p:nvSpPr>
              <p:cNvPr id="27669" name="Line 156"/>
              <p:cNvSpPr>
                <a:spLocks noChangeShapeType="1"/>
              </p:cNvSpPr>
              <p:nvPr/>
            </p:nvSpPr>
            <p:spPr bwMode="auto">
              <a:xfrm>
                <a:off x="977" y="1906"/>
                <a:ext cx="369" cy="0"/>
              </a:xfrm>
              <a:prstGeom prst="line">
                <a:avLst/>
              </a:prstGeom>
              <a:noFill/>
              <a:ln w="38100">
                <a:solidFill>
                  <a:srgbClr val="0000FF"/>
                </a:solidFill>
                <a:round/>
                <a:headEnd type="triangle" w="med" len="med"/>
                <a:tailEnd type="triangle" w="med" len="med"/>
              </a:ln>
            </p:spPr>
            <p:txBody>
              <a:bodyPr/>
              <a:lstStyle/>
              <a:p>
                <a:endParaRPr lang="en-US"/>
              </a:p>
            </p:txBody>
          </p:sp>
          <p:sp>
            <p:nvSpPr>
              <p:cNvPr id="27670" name="Line 157"/>
              <p:cNvSpPr>
                <a:spLocks noChangeShapeType="1"/>
              </p:cNvSpPr>
              <p:nvPr/>
            </p:nvSpPr>
            <p:spPr bwMode="auto">
              <a:xfrm>
                <a:off x="977" y="2096"/>
                <a:ext cx="369" cy="0"/>
              </a:xfrm>
              <a:prstGeom prst="line">
                <a:avLst/>
              </a:prstGeom>
              <a:noFill/>
              <a:ln w="38100">
                <a:solidFill>
                  <a:srgbClr val="0000FF"/>
                </a:solidFill>
                <a:round/>
                <a:headEnd type="triangle" w="med" len="med"/>
                <a:tailEnd type="triangle" w="med" len="med"/>
              </a:ln>
            </p:spPr>
            <p:txBody>
              <a:bodyPr/>
              <a:lstStyle/>
              <a:p>
                <a:endParaRPr lang="en-US"/>
              </a:p>
            </p:txBody>
          </p:sp>
          <p:sp>
            <p:nvSpPr>
              <p:cNvPr id="27671" name="Line 158"/>
              <p:cNvSpPr>
                <a:spLocks noChangeShapeType="1"/>
              </p:cNvSpPr>
              <p:nvPr/>
            </p:nvSpPr>
            <p:spPr bwMode="auto">
              <a:xfrm>
                <a:off x="977" y="2159"/>
                <a:ext cx="369" cy="0"/>
              </a:xfrm>
              <a:prstGeom prst="line">
                <a:avLst/>
              </a:prstGeom>
              <a:noFill/>
              <a:ln w="38100">
                <a:solidFill>
                  <a:srgbClr val="0000FF"/>
                </a:solidFill>
                <a:round/>
                <a:headEnd type="triangle" w="med" len="med"/>
                <a:tailEnd type="triangle" w="med" len="med"/>
              </a:ln>
            </p:spPr>
            <p:txBody>
              <a:bodyPr/>
              <a:lstStyle/>
              <a:p>
                <a:endParaRPr lang="en-US"/>
              </a:p>
            </p:txBody>
          </p:sp>
          <p:sp>
            <p:nvSpPr>
              <p:cNvPr id="27672" name="Line 159"/>
              <p:cNvSpPr>
                <a:spLocks noChangeShapeType="1"/>
              </p:cNvSpPr>
              <p:nvPr/>
            </p:nvSpPr>
            <p:spPr bwMode="auto">
              <a:xfrm>
                <a:off x="977" y="1843"/>
                <a:ext cx="369" cy="0"/>
              </a:xfrm>
              <a:prstGeom prst="line">
                <a:avLst/>
              </a:prstGeom>
              <a:noFill/>
              <a:ln w="38100">
                <a:solidFill>
                  <a:srgbClr val="0000FF"/>
                </a:solidFill>
                <a:round/>
                <a:headEnd type="triangle" w="med" len="med"/>
                <a:tailEnd type="triangle" w="med" len="med"/>
              </a:ln>
            </p:spPr>
            <p:txBody>
              <a:bodyPr/>
              <a:lstStyle/>
              <a:p>
                <a:endParaRPr lang="en-US"/>
              </a:p>
            </p:txBody>
          </p:sp>
          <p:sp>
            <p:nvSpPr>
              <p:cNvPr id="27673" name="Line 160"/>
              <p:cNvSpPr>
                <a:spLocks noChangeShapeType="1"/>
              </p:cNvSpPr>
              <p:nvPr/>
            </p:nvSpPr>
            <p:spPr bwMode="auto">
              <a:xfrm>
                <a:off x="977" y="2223"/>
                <a:ext cx="369" cy="0"/>
              </a:xfrm>
              <a:prstGeom prst="line">
                <a:avLst/>
              </a:prstGeom>
              <a:noFill/>
              <a:ln w="38100">
                <a:solidFill>
                  <a:srgbClr val="0000FF"/>
                </a:solidFill>
                <a:round/>
                <a:headEnd type="triangle" w="med" len="med"/>
                <a:tailEnd type="triangle" w="med" len="med"/>
              </a:ln>
            </p:spPr>
            <p:txBody>
              <a:bodyPr/>
              <a:lstStyle/>
              <a:p>
                <a:endParaRPr lang="en-US"/>
              </a:p>
            </p:txBody>
          </p:sp>
        </p:grpSp>
      </p:grpSp>
      <p:sp>
        <p:nvSpPr>
          <p:cNvPr id="162" name="Footer Placeholder 3"/>
          <p:cNvSpPr>
            <a:spLocks noGrp="1"/>
          </p:cNvSpPr>
          <p:nvPr>
            <p:ph type="ftr" sz="quarter" idx="10"/>
          </p:nvPr>
        </p:nvSpPr>
        <p:spPr>
          <a:xfrm>
            <a:off x="47244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27" name="Picture 26" descr="A screenshot of a computer&#10;&#10;Description automatically generated">
            <a:extLst>
              <a:ext uri="{FF2B5EF4-FFF2-40B4-BE49-F238E27FC236}">
                <a16:creationId xmlns:a16="http://schemas.microsoft.com/office/drawing/2014/main" id="{A816EC6D-8616-6C87-524A-9688CE94053A}"/>
              </a:ext>
            </a:extLst>
          </p:cNvPr>
          <p:cNvPicPr>
            <a:picLocks noChangeAspect="1"/>
          </p:cNvPicPr>
          <p:nvPr/>
        </p:nvPicPr>
        <p:blipFill rotWithShape="1">
          <a:blip r:embed="rId3"/>
          <a:srcRect l="26091" t="36058" r="24385" b="26405"/>
          <a:stretch/>
        </p:blipFill>
        <p:spPr bwMode="auto">
          <a:xfrm>
            <a:off x="-15796" y="2219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03780382"/>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1749346" y="274638"/>
            <a:ext cx="7089854" cy="1066800"/>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sz="3600" dirty="0"/>
              <a:t>CUDA Programming Model:</a:t>
            </a:r>
            <a:br>
              <a:rPr lang="en-US" sz="3600" dirty="0"/>
            </a:br>
            <a:r>
              <a:rPr lang="en-US" sz="3600" dirty="0"/>
              <a:t>A Highly Multithreaded Coprocessor</a:t>
            </a:r>
          </a:p>
        </p:txBody>
      </p:sp>
      <p:sp>
        <p:nvSpPr>
          <p:cNvPr id="39940" name="Rectangle 3"/>
          <p:cNvSpPr>
            <a:spLocks noGrp="1" noChangeArrowheads="1"/>
          </p:cNvSpPr>
          <p:nvPr>
            <p:ph type="body" idx="1"/>
          </p:nvPr>
        </p:nvSpPr>
        <p:spPr>
          <a:xfrm>
            <a:off x="457200" y="1481138"/>
            <a:ext cx="8229600" cy="5005387"/>
          </a:xfrm>
        </p:spPr>
        <p:txBody>
          <a:bodyPr/>
          <a:lstStyle/>
          <a:p>
            <a:pPr marL="457200" indent="-457200" eaLnBrk="1" hangingPunct="1">
              <a:lnSpc>
                <a:spcPct val="90000"/>
              </a:lnSpc>
            </a:pPr>
            <a:r>
              <a:rPr lang="en-US" sz="2800" dirty="0"/>
              <a:t>The GPU is viewed as a compute</a:t>
            </a:r>
            <a:r>
              <a:rPr lang="en-US" sz="2800" dirty="0">
                <a:solidFill>
                  <a:schemeClr val="accent2"/>
                </a:solidFill>
              </a:rPr>
              <a:t> device </a:t>
            </a:r>
            <a:r>
              <a:rPr lang="en-US" sz="2800" dirty="0"/>
              <a:t>that:</a:t>
            </a:r>
          </a:p>
          <a:p>
            <a:pPr marL="974725" lvl="1" indent="-403225" eaLnBrk="1" hangingPunct="1">
              <a:lnSpc>
                <a:spcPct val="90000"/>
              </a:lnSpc>
            </a:pPr>
            <a:r>
              <a:rPr lang="en-US" sz="2400" dirty="0"/>
              <a:t>Is a coprocessor to the CPU or </a:t>
            </a:r>
            <a:r>
              <a:rPr lang="en-US" sz="2400" dirty="0">
                <a:solidFill>
                  <a:schemeClr val="accent2"/>
                </a:solidFill>
              </a:rPr>
              <a:t>host</a:t>
            </a:r>
          </a:p>
          <a:p>
            <a:pPr marL="974725" lvl="1" indent="-403225" eaLnBrk="1" hangingPunct="1">
              <a:lnSpc>
                <a:spcPct val="90000"/>
              </a:lnSpc>
            </a:pPr>
            <a:r>
              <a:rPr lang="en-US" sz="2400" dirty="0"/>
              <a:t>Has its own DRAM (</a:t>
            </a:r>
            <a:r>
              <a:rPr lang="en-US" sz="2400" dirty="0">
                <a:solidFill>
                  <a:schemeClr val="accent2"/>
                </a:solidFill>
              </a:rPr>
              <a:t>device memory</a:t>
            </a:r>
            <a:r>
              <a:rPr lang="en-US" sz="2400" dirty="0"/>
              <a:t>)</a:t>
            </a:r>
          </a:p>
          <a:p>
            <a:pPr marL="974725" lvl="1" indent="-403225" eaLnBrk="1" hangingPunct="1">
              <a:lnSpc>
                <a:spcPct val="90000"/>
              </a:lnSpc>
            </a:pPr>
            <a:r>
              <a:rPr lang="en-US" sz="2400" dirty="0"/>
              <a:t>Runs many </a:t>
            </a:r>
            <a:r>
              <a:rPr lang="en-US" sz="2400" dirty="0">
                <a:solidFill>
                  <a:schemeClr val="accent2"/>
                </a:solidFill>
              </a:rPr>
              <a:t>threads</a:t>
            </a:r>
            <a:r>
              <a:rPr lang="en-US" sz="2400" dirty="0"/>
              <a:t> </a:t>
            </a:r>
            <a:r>
              <a:rPr lang="en-US" sz="2400" dirty="0">
                <a:solidFill>
                  <a:schemeClr val="accent2"/>
                </a:solidFill>
              </a:rPr>
              <a:t>in parallel</a:t>
            </a:r>
            <a:endParaRPr lang="en-US" sz="2400" dirty="0"/>
          </a:p>
          <a:p>
            <a:pPr marL="457200" indent="-457200" eaLnBrk="1" hangingPunct="1">
              <a:lnSpc>
                <a:spcPct val="90000"/>
              </a:lnSpc>
            </a:pPr>
            <a:r>
              <a:rPr lang="en-US" sz="2800" dirty="0"/>
              <a:t>Data-parallel portions of an application are executed on the device as </a:t>
            </a:r>
            <a:r>
              <a:rPr lang="en-US" sz="2800" dirty="0">
                <a:solidFill>
                  <a:schemeClr val="accent2"/>
                </a:solidFill>
              </a:rPr>
              <a:t>kernels</a:t>
            </a:r>
            <a:r>
              <a:rPr lang="en-US" sz="2800" dirty="0"/>
              <a:t> which run in parallel on many threads</a:t>
            </a:r>
          </a:p>
          <a:p>
            <a:pPr marL="457200" indent="-457200" eaLnBrk="1" hangingPunct="1">
              <a:lnSpc>
                <a:spcPct val="90000"/>
              </a:lnSpc>
            </a:pPr>
            <a:r>
              <a:rPr lang="en-US" sz="2800" dirty="0"/>
              <a:t>Differences between GPU and CPU threads </a:t>
            </a:r>
          </a:p>
          <a:p>
            <a:pPr marL="974725" lvl="1" indent="-403225" eaLnBrk="1" hangingPunct="1">
              <a:lnSpc>
                <a:spcPct val="90000"/>
              </a:lnSpc>
            </a:pPr>
            <a:r>
              <a:rPr lang="en-US" sz="2400" dirty="0"/>
              <a:t>GPU threads are extremely lightweight</a:t>
            </a:r>
          </a:p>
          <a:p>
            <a:pPr marL="1431925" lvl="2" indent="-342900" eaLnBrk="1" hangingPunct="1">
              <a:lnSpc>
                <a:spcPct val="90000"/>
              </a:lnSpc>
            </a:pPr>
            <a:r>
              <a:rPr lang="en-US" sz="2000" dirty="0"/>
              <a:t>Very little creation overhead</a:t>
            </a:r>
          </a:p>
          <a:p>
            <a:pPr marL="974725" lvl="1" indent="-403225" eaLnBrk="1" hangingPunct="1">
              <a:lnSpc>
                <a:spcPct val="90000"/>
              </a:lnSpc>
            </a:pPr>
            <a:r>
              <a:rPr lang="en-US" sz="2400" dirty="0"/>
              <a:t>GPU needs 1000s of threads for full efficiency</a:t>
            </a:r>
          </a:p>
          <a:p>
            <a:pPr marL="1431925" lvl="2" indent="-342900" eaLnBrk="1" hangingPunct="1">
              <a:lnSpc>
                <a:spcPct val="90000"/>
              </a:lnSpc>
            </a:pPr>
            <a:r>
              <a:rPr lang="en-US" sz="2000" dirty="0"/>
              <a:t>Multi-core CPU needs only a few</a:t>
            </a:r>
          </a:p>
        </p:txBody>
      </p:sp>
      <p:sp>
        <p:nvSpPr>
          <p:cNvPr id="5" name="Footer Placeholder 3"/>
          <p:cNvSpPr>
            <a:spLocks noGrp="1"/>
          </p:cNvSpPr>
          <p:nvPr>
            <p:ph type="ftr" sz="quarter" idx="10"/>
          </p:nvPr>
        </p:nvSpPr>
        <p:spPr>
          <a:xfrm>
            <a:off x="3810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2" name="Picture 1" descr="A screenshot of a computer&#10;&#10;Description automatically generated">
            <a:extLst>
              <a:ext uri="{FF2B5EF4-FFF2-40B4-BE49-F238E27FC236}">
                <a16:creationId xmlns:a16="http://schemas.microsoft.com/office/drawing/2014/main" id="{5742CF32-3FAA-278E-AA11-BF38841408E5}"/>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951495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1749346" y="274638"/>
            <a:ext cx="7185104" cy="649287"/>
          </a:xfrm>
        </p:spPr>
        <p:style>
          <a:lnRef idx="1">
            <a:schemeClr val="accent2"/>
          </a:lnRef>
          <a:fillRef idx="2">
            <a:schemeClr val="accent2"/>
          </a:fillRef>
          <a:effectRef idx="1">
            <a:schemeClr val="accent2"/>
          </a:effectRef>
          <a:fontRef idx="minor">
            <a:schemeClr val="dk1"/>
          </a:fontRef>
        </p:style>
        <p:txBody>
          <a:bodyPr>
            <a:normAutofit fontScale="90000"/>
          </a:bodyPr>
          <a:lstStyle/>
          <a:p>
            <a:pPr eaLnBrk="1" hangingPunct="1"/>
            <a:r>
              <a:rPr lang="en-US" dirty="0"/>
              <a:t>Block and Thread IDs</a:t>
            </a:r>
          </a:p>
        </p:txBody>
      </p:sp>
      <p:sp>
        <p:nvSpPr>
          <p:cNvPr id="41988" name="Rectangle 3"/>
          <p:cNvSpPr>
            <a:spLocks noGrp="1" noChangeArrowheads="1"/>
          </p:cNvSpPr>
          <p:nvPr>
            <p:ph type="body" idx="1"/>
          </p:nvPr>
        </p:nvSpPr>
        <p:spPr>
          <a:xfrm>
            <a:off x="685800" y="1524000"/>
            <a:ext cx="4648200" cy="4572000"/>
          </a:xfrm>
        </p:spPr>
        <p:txBody>
          <a:bodyPr/>
          <a:lstStyle/>
          <a:p>
            <a:pPr marL="457200" indent="-457200" eaLnBrk="1" hangingPunct="1">
              <a:lnSpc>
                <a:spcPct val="90000"/>
              </a:lnSpc>
            </a:pPr>
            <a:r>
              <a:rPr lang="en-US" sz="2400" dirty="0"/>
              <a:t>Threads and blocks have IDs</a:t>
            </a:r>
          </a:p>
          <a:p>
            <a:pPr marL="974725" lvl="1" indent="-403225" eaLnBrk="1" hangingPunct="1">
              <a:lnSpc>
                <a:spcPct val="90000"/>
              </a:lnSpc>
            </a:pPr>
            <a:r>
              <a:rPr lang="en-US" sz="2000" dirty="0"/>
              <a:t>So each thread can decide what data to work on</a:t>
            </a:r>
          </a:p>
          <a:p>
            <a:pPr marL="974725" lvl="1" indent="-403225" eaLnBrk="1" hangingPunct="1">
              <a:lnSpc>
                <a:spcPct val="90000"/>
              </a:lnSpc>
            </a:pPr>
            <a:r>
              <a:rPr lang="en-US" sz="2000" dirty="0"/>
              <a:t>Block ID: 1D or 2D</a:t>
            </a:r>
          </a:p>
          <a:p>
            <a:pPr marL="974725" lvl="1" indent="-403225" eaLnBrk="1" hangingPunct="1">
              <a:lnSpc>
                <a:spcPct val="90000"/>
              </a:lnSpc>
            </a:pPr>
            <a:r>
              <a:rPr lang="en-US" sz="2000" dirty="0"/>
              <a:t>Thread ID: 1D, 2D, or 3D </a:t>
            </a:r>
          </a:p>
          <a:p>
            <a:pPr marL="457200" indent="-457200" eaLnBrk="1" hangingPunct="1">
              <a:lnSpc>
                <a:spcPct val="90000"/>
              </a:lnSpc>
            </a:pPr>
            <a:r>
              <a:rPr lang="en-US" sz="2400" dirty="0"/>
              <a:t>Simplifies memory</a:t>
            </a:r>
            <a:br>
              <a:rPr lang="en-US" sz="2400" dirty="0"/>
            </a:br>
            <a:r>
              <a:rPr lang="en-US" sz="2400" dirty="0"/>
              <a:t>addressing when processing</a:t>
            </a:r>
            <a:br>
              <a:rPr lang="en-US" sz="2400" dirty="0"/>
            </a:br>
            <a:r>
              <a:rPr lang="en-US" sz="2400" dirty="0"/>
              <a:t>multidimensional data</a:t>
            </a:r>
          </a:p>
          <a:p>
            <a:pPr marL="974725" lvl="1" indent="-403225" eaLnBrk="1" hangingPunct="1">
              <a:lnSpc>
                <a:spcPct val="90000"/>
              </a:lnSpc>
            </a:pPr>
            <a:r>
              <a:rPr lang="en-US" sz="2000" dirty="0"/>
              <a:t>Image processing</a:t>
            </a:r>
          </a:p>
          <a:p>
            <a:pPr marL="974725" lvl="1" indent="-403225" eaLnBrk="1" hangingPunct="1">
              <a:lnSpc>
                <a:spcPct val="90000"/>
              </a:lnSpc>
            </a:pPr>
            <a:r>
              <a:rPr lang="en-US" sz="2000" dirty="0"/>
              <a:t>Solving PDEs on volumes</a:t>
            </a:r>
          </a:p>
          <a:p>
            <a:pPr marL="974725" lvl="1" indent="-403225" eaLnBrk="1" hangingPunct="1">
              <a:lnSpc>
                <a:spcPct val="90000"/>
              </a:lnSpc>
            </a:pPr>
            <a:r>
              <a:rPr lang="en-US" sz="2000" dirty="0"/>
              <a:t>…</a:t>
            </a:r>
          </a:p>
          <a:p>
            <a:pPr marL="457200" indent="-457200" eaLnBrk="1" hangingPunct="1">
              <a:lnSpc>
                <a:spcPct val="90000"/>
              </a:lnSpc>
              <a:buFontTx/>
              <a:buNone/>
            </a:pPr>
            <a:endParaRPr lang="en-US" sz="2400" dirty="0"/>
          </a:p>
        </p:txBody>
      </p:sp>
      <p:grpSp>
        <p:nvGrpSpPr>
          <p:cNvPr id="2" name="Group 4"/>
          <p:cNvGrpSpPr>
            <a:grpSpLocks/>
          </p:cNvGrpSpPr>
          <p:nvPr/>
        </p:nvGrpSpPr>
        <p:grpSpPr bwMode="auto">
          <a:xfrm>
            <a:off x="5413375" y="2009775"/>
            <a:ext cx="3521075" cy="4292600"/>
            <a:chOff x="3410" y="1469"/>
            <a:chExt cx="2218" cy="2704"/>
          </a:xfrm>
        </p:grpSpPr>
        <p:sp>
          <p:nvSpPr>
            <p:cNvPr id="41991" name="Text Box 5"/>
            <p:cNvSpPr txBox="1">
              <a:spLocks noChangeArrowheads="1"/>
            </p:cNvSpPr>
            <p:nvPr/>
          </p:nvSpPr>
          <p:spPr bwMode="auto">
            <a:xfrm>
              <a:off x="3410" y="1469"/>
              <a:ext cx="2218" cy="2093"/>
            </a:xfrm>
            <a:prstGeom prst="rect">
              <a:avLst/>
            </a:prstGeom>
            <a:solidFill>
              <a:srgbClr val="99CCFF"/>
            </a:solidFill>
            <a:ln w="9525">
              <a:solidFill>
                <a:srgbClr val="969696"/>
              </a:solidFill>
              <a:miter lim="800000"/>
              <a:headEnd/>
              <a:tailEnd/>
            </a:ln>
          </p:spPr>
          <p:txBody>
            <a:bodyPr/>
            <a:lstStyle/>
            <a:p>
              <a:r>
                <a:rPr lang="en-US" sz="1200" b="1">
                  <a:solidFill>
                    <a:srgbClr val="003300"/>
                  </a:solidFill>
                  <a:latin typeface="Arial" pitchFamily="34" charset="0"/>
                </a:rPr>
                <a:t>Device</a:t>
              </a:r>
              <a:endParaRPr lang="en-US" sz="1800">
                <a:solidFill>
                  <a:srgbClr val="003300"/>
                </a:solidFill>
                <a:latin typeface="Arial" pitchFamily="34" charset="0"/>
              </a:endParaRPr>
            </a:p>
          </p:txBody>
        </p:sp>
        <p:grpSp>
          <p:nvGrpSpPr>
            <p:cNvPr id="3" name="Group 6"/>
            <p:cNvGrpSpPr>
              <a:grpSpLocks/>
            </p:cNvGrpSpPr>
            <p:nvPr/>
          </p:nvGrpSpPr>
          <p:grpSpPr bwMode="auto">
            <a:xfrm>
              <a:off x="4023" y="1647"/>
              <a:ext cx="1554" cy="1004"/>
              <a:chOff x="3820" y="4577"/>
              <a:chExt cx="4116" cy="2660"/>
            </a:xfrm>
          </p:grpSpPr>
          <p:sp>
            <p:nvSpPr>
              <p:cNvPr id="42026" name="Text Box 7"/>
              <p:cNvSpPr txBox="1">
                <a:spLocks noChangeArrowheads="1"/>
              </p:cNvSpPr>
              <p:nvPr/>
            </p:nvSpPr>
            <p:spPr bwMode="auto">
              <a:xfrm>
                <a:off x="3820" y="4577"/>
                <a:ext cx="4116" cy="2660"/>
              </a:xfrm>
              <a:prstGeom prst="rect">
                <a:avLst/>
              </a:prstGeom>
              <a:solidFill>
                <a:srgbClr val="99FF66"/>
              </a:solidFill>
              <a:ln w="9525">
                <a:solidFill>
                  <a:srgbClr val="969696"/>
                </a:solidFill>
                <a:miter lim="800000"/>
                <a:headEnd/>
                <a:tailEnd/>
              </a:ln>
            </p:spPr>
            <p:txBody>
              <a:bodyPr/>
              <a:lstStyle/>
              <a:p>
                <a:r>
                  <a:rPr lang="en-US" sz="1200" b="1">
                    <a:solidFill>
                      <a:srgbClr val="003300"/>
                    </a:solidFill>
                    <a:latin typeface="Arial" pitchFamily="34" charset="0"/>
                  </a:rPr>
                  <a:t>Grid 1</a:t>
                </a:r>
                <a:endParaRPr lang="en-US" sz="1800">
                  <a:solidFill>
                    <a:srgbClr val="003300"/>
                  </a:solidFill>
                  <a:latin typeface="Arial" pitchFamily="34" charset="0"/>
                </a:endParaRPr>
              </a:p>
            </p:txBody>
          </p:sp>
          <p:grpSp>
            <p:nvGrpSpPr>
              <p:cNvPr id="4" name="Group 8"/>
              <p:cNvGrpSpPr>
                <a:grpSpLocks/>
              </p:cNvGrpSpPr>
              <p:nvPr/>
            </p:nvGrpSpPr>
            <p:grpSpPr bwMode="auto">
              <a:xfrm>
                <a:off x="3985" y="5169"/>
                <a:ext cx="3785" cy="864"/>
                <a:chOff x="3997" y="5169"/>
                <a:chExt cx="3785" cy="864"/>
              </a:xfrm>
            </p:grpSpPr>
            <p:sp>
              <p:nvSpPr>
                <p:cNvPr id="42032" name="Text Box 9"/>
                <p:cNvSpPr txBox="1">
                  <a:spLocks noChangeArrowheads="1"/>
                </p:cNvSpPr>
                <p:nvPr/>
              </p:nvSpPr>
              <p:spPr bwMode="auto">
                <a:xfrm>
                  <a:off x="3997"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(0, 0)</a:t>
                  </a:r>
                  <a:endParaRPr lang="en-US" sz="1800">
                    <a:solidFill>
                      <a:srgbClr val="003300"/>
                    </a:solidFill>
                    <a:latin typeface="Arial" pitchFamily="34" charset="0"/>
                  </a:endParaRPr>
                </a:p>
              </p:txBody>
            </p:sp>
            <p:sp>
              <p:nvSpPr>
                <p:cNvPr id="42033" name="Text Box 10"/>
                <p:cNvSpPr txBox="1">
                  <a:spLocks noChangeArrowheads="1"/>
                </p:cNvSpPr>
                <p:nvPr/>
              </p:nvSpPr>
              <p:spPr bwMode="auto">
                <a:xfrm>
                  <a:off x="5299"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(1, 0)</a:t>
                  </a:r>
                  <a:endParaRPr lang="en-US" sz="1800">
                    <a:solidFill>
                      <a:srgbClr val="003300"/>
                    </a:solidFill>
                    <a:latin typeface="Arial" pitchFamily="34" charset="0"/>
                  </a:endParaRPr>
                </a:p>
              </p:txBody>
            </p:sp>
            <p:sp>
              <p:nvSpPr>
                <p:cNvPr id="42034" name="Text Box 11"/>
                <p:cNvSpPr txBox="1">
                  <a:spLocks noChangeArrowheads="1"/>
                </p:cNvSpPr>
                <p:nvPr/>
              </p:nvSpPr>
              <p:spPr bwMode="auto">
                <a:xfrm>
                  <a:off x="6601"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(2, 0)</a:t>
                  </a:r>
                  <a:endParaRPr lang="en-US" sz="1800">
                    <a:solidFill>
                      <a:srgbClr val="003300"/>
                    </a:solidFill>
                    <a:latin typeface="Arial" pitchFamily="34" charset="0"/>
                  </a:endParaRPr>
                </a:p>
              </p:txBody>
            </p:sp>
          </p:grpSp>
          <p:grpSp>
            <p:nvGrpSpPr>
              <p:cNvPr id="5" name="Group 12"/>
              <p:cNvGrpSpPr>
                <a:grpSpLocks/>
              </p:cNvGrpSpPr>
              <p:nvPr/>
            </p:nvGrpSpPr>
            <p:grpSpPr bwMode="auto">
              <a:xfrm>
                <a:off x="3985" y="6187"/>
                <a:ext cx="3785" cy="864"/>
                <a:chOff x="3997" y="5169"/>
                <a:chExt cx="3785" cy="864"/>
              </a:xfrm>
            </p:grpSpPr>
            <p:sp>
              <p:nvSpPr>
                <p:cNvPr id="42029" name="Text Box 13"/>
                <p:cNvSpPr txBox="1">
                  <a:spLocks noChangeArrowheads="1"/>
                </p:cNvSpPr>
                <p:nvPr/>
              </p:nvSpPr>
              <p:spPr bwMode="auto">
                <a:xfrm>
                  <a:off x="3997"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(0, 1)</a:t>
                  </a:r>
                  <a:endParaRPr lang="en-US" sz="1800">
                    <a:solidFill>
                      <a:srgbClr val="003300"/>
                    </a:solidFill>
                    <a:latin typeface="Arial" pitchFamily="34" charset="0"/>
                  </a:endParaRPr>
                </a:p>
              </p:txBody>
            </p:sp>
            <p:sp>
              <p:nvSpPr>
                <p:cNvPr id="42030" name="Text Box 14"/>
                <p:cNvSpPr txBox="1">
                  <a:spLocks noChangeArrowheads="1"/>
                </p:cNvSpPr>
                <p:nvPr/>
              </p:nvSpPr>
              <p:spPr bwMode="auto">
                <a:xfrm>
                  <a:off x="5299"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(1, 1)</a:t>
                  </a:r>
                  <a:endParaRPr lang="en-US" sz="1800">
                    <a:solidFill>
                      <a:srgbClr val="003300"/>
                    </a:solidFill>
                    <a:latin typeface="Arial" pitchFamily="34" charset="0"/>
                  </a:endParaRPr>
                </a:p>
              </p:txBody>
            </p:sp>
            <p:sp>
              <p:nvSpPr>
                <p:cNvPr id="42031" name="Text Box 15"/>
                <p:cNvSpPr txBox="1">
                  <a:spLocks noChangeArrowheads="1"/>
                </p:cNvSpPr>
                <p:nvPr/>
              </p:nvSpPr>
              <p:spPr bwMode="auto">
                <a:xfrm>
                  <a:off x="6601" y="5169"/>
                  <a:ext cx="1181" cy="864"/>
                </a:xfrm>
                <a:prstGeom prst="rect">
                  <a:avLst/>
                </a:prstGeom>
                <a:solidFill>
                  <a:srgbClr val="FFCC00"/>
                </a:solidFill>
                <a:ln w="9525">
                  <a:solidFill>
                    <a:srgbClr val="969696"/>
                  </a:solidFill>
                  <a:miter lim="800000"/>
                  <a:headEnd/>
                  <a:tailEnd/>
                </a:ln>
              </p:spPr>
              <p:txBody>
                <a:bodyPr lIns="0" tIns="91440" rIns="0" bIns="0"/>
                <a:lstStyle/>
                <a:p>
                  <a:pPr algn="ctr"/>
                  <a:r>
                    <a:rPr lang="en-US" sz="1200" b="1">
                      <a:solidFill>
                        <a:srgbClr val="003300"/>
                      </a:solidFill>
                      <a:latin typeface="Arial" pitchFamily="34" charset="0"/>
                    </a:rPr>
                    <a:t>Block</a:t>
                  </a:r>
                </a:p>
                <a:p>
                  <a:pPr algn="ctr"/>
                  <a:r>
                    <a:rPr lang="en-US" sz="1200" b="1">
                      <a:solidFill>
                        <a:srgbClr val="003300"/>
                      </a:solidFill>
                      <a:latin typeface="Arial" pitchFamily="34" charset="0"/>
                    </a:rPr>
                    <a:t>(2, 1)</a:t>
                  </a:r>
                  <a:endParaRPr lang="en-US" sz="1800">
                    <a:solidFill>
                      <a:srgbClr val="003300"/>
                    </a:solidFill>
                    <a:latin typeface="Arial" pitchFamily="34" charset="0"/>
                  </a:endParaRPr>
                </a:p>
              </p:txBody>
            </p:sp>
          </p:grpSp>
        </p:grpSp>
        <p:grpSp>
          <p:nvGrpSpPr>
            <p:cNvPr id="6" name="Group 16"/>
            <p:cNvGrpSpPr>
              <a:grpSpLocks/>
            </p:cNvGrpSpPr>
            <p:nvPr/>
          </p:nvGrpSpPr>
          <p:grpSpPr bwMode="auto">
            <a:xfrm>
              <a:off x="3510" y="2878"/>
              <a:ext cx="1765" cy="1295"/>
              <a:chOff x="1972" y="8931"/>
              <a:chExt cx="4676" cy="3430"/>
            </a:xfrm>
          </p:grpSpPr>
          <p:sp>
            <p:nvSpPr>
              <p:cNvPr id="41998" name="Text Box 17"/>
              <p:cNvSpPr txBox="1">
                <a:spLocks noChangeArrowheads="1"/>
              </p:cNvSpPr>
              <p:nvPr/>
            </p:nvSpPr>
            <p:spPr bwMode="auto">
              <a:xfrm>
                <a:off x="1972" y="8931"/>
                <a:ext cx="4676" cy="3430"/>
              </a:xfrm>
              <a:prstGeom prst="rect">
                <a:avLst/>
              </a:prstGeom>
              <a:solidFill>
                <a:srgbClr val="FFCC00"/>
              </a:solidFill>
              <a:ln w="9525">
                <a:solidFill>
                  <a:srgbClr val="969696"/>
                </a:solidFill>
                <a:miter lim="800000"/>
                <a:headEnd/>
                <a:tailEnd/>
              </a:ln>
            </p:spPr>
            <p:txBody>
              <a:bodyPr/>
              <a:lstStyle/>
              <a:p>
                <a:r>
                  <a:rPr lang="en-US" sz="1200" b="1">
                    <a:solidFill>
                      <a:srgbClr val="003300"/>
                    </a:solidFill>
                    <a:latin typeface="Arial" pitchFamily="34" charset="0"/>
                  </a:rPr>
                  <a:t>Block (1, 1)</a:t>
                </a:r>
                <a:endParaRPr lang="en-US" sz="1800">
                  <a:solidFill>
                    <a:srgbClr val="003300"/>
                  </a:solidFill>
                  <a:latin typeface="Arial" pitchFamily="34" charset="0"/>
                </a:endParaRPr>
              </a:p>
            </p:txBody>
          </p:sp>
          <p:grpSp>
            <p:nvGrpSpPr>
              <p:cNvPr id="7" name="Group 18"/>
              <p:cNvGrpSpPr>
                <a:grpSpLocks/>
              </p:cNvGrpSpPr>
              <p:nvPr/>
            </p:nvGrpSpPr>
            <p:grpSpPr bwMode="auto">
              <a:xfrm>
                <a:off x="2147" y="9559"/>
                <a:ext cx="4325" cy="2592"/>
                <a:chOff x="2630" y="11267"/>
                <a:chExt cx="4325" cy="2592"/>
              </a:xfrm>
            </p:grpSpPr>
            <p:grpSp>
              <p:nvGrpSpPr>
                <p:cNvPr id="8" name="Group 19"/>
                <p:cNvGrpSpPr>
                  <a:grpSpLocks/>
                </p:cNvGrpSpPr>
                <p:nvPr/>
              </p:nvGrpSpPr>
              <p:grpSpPr bwMode="auto">
                <a:xfrm>
                  <a:off x="2630" y="11267"/>
                  <a:ext cx="4325" cy="2592"/>
                  <a:chOff x="2160" y="10769"/>
                  <a:chExt cx="4325" cy="2592"/>
                </a:xfrm>
              </p:grpSpPr>
              <p:sp>
                <p:nvSpPr>
                  <p:cNvPr id="42019" name="Rectangle 20"/>
                  <p:cNvSpPr>
                    <a:spLocks noChangeArrowheads="1"/>
                  </p:cNvSpPr>
                  <p:nvPr/>
                </p:nvSpPr>
                <p:spPr bwMode="auto">
                  <a:xfrm>
                    <a:off x="2160" y="10769"/>
                    <a:ext cx="4320" cy="2592"/>
                  </a:xfrm>
                  <a:prstGeom prst="rect">
                    <a:avLst/>
                  </a:prstGeom>
                  <a:solidFill>
                    <a:srgbClr val="FF6600"/>
                  </a:solidFill>
                  <a:ln w="12700">
                    <a:solidFill>
                      <a:srgbClr val="000000"/>
                    </a:solidFill>
                    <a:miter lim="800000"/>
                    <a:headEnd/>
                    <a:tailEnd/>
                  </a:ln>
                </p:spPr>
                <p:txBody>
                  <a:bodyPr/>
                  <a:lstStyle/>
                  <a:p>
                    <a:endParaRPr lang="en-US"/>
                  </a:p>
                </p:txBody>
              </p:sp>
              <p:sp>
                <p:nvSpPr>
                  <p:cNvPr id="42020" name="Line 21"/>
                  <p:cNvSpPr>
                    <a:spLocks noChangeShapeType="1"/>
                  </p:cNvSpPr>
                  <p:nvPr/>
                </p:nvSpPr>
                <p:spPr bwMode="auto">
                  <a:xfrm flipV="1">
                    <a:off x="2160" y="11631"/>
                    <a:ext cx="4325" cy="2"/>
                  </a:xfrm>
                  <a:prstGeom prst="line">
                    <a:avLst/>
                  </a:prstGeom>
                  <a:noFill/>
                  <a:ln w="12700">
                    <a:solidFill>
                      <a:srgbClr val="000000"/>
                    </a:solidFill>
                    <a:round/>
                    <a:headEnd/>
                    <a:tailEnd/>
                  </a:ln>
                </p:spPr>
                <p:txBody>
                  <a:bodyPr/>
                  <a:lstStyle/>
                  <a:p>
                    <a:endParaRPr lang="en-US"/>
                  </a:p>
                </p:txBody>
              </p:sp>
              <p:sp>
                <p:nvSpPr>
                  <p:cNvPr id="42021" name="Line 22"/>
                  <p:cNvSpPr>
                    <a:spLocks noChangeShapeType="1"/>
                  </p:cNvSpPr>
                  <p:nvPr/>
                </p:nvSpPr>
                <p:spPr bwMode="auto">
                  <a:xfrm>
                    <a:off x="2161" y="12497"/>
                    <a:ext cx="4324" cy="4"/>
                  </a:xfrm>
                  <a:prstGeom prst="line">
                    <a:avLst/>
                  </a:prstGeom>
                  <a:noFill/>
                  <a:ln w="12700">
                    <a:solidFill>
                      <a:srgbClr val="000000"/>
                    </a:solidFill>
                    <a:round/>
                    <a:headEnd/>
                    <a:tailEnd/>
                  </a:ln>
                </p:spPr>
                <p:txBody>
                  <a:bodyPr/>
                  <a:lstStyle/>
                  <a:p>
                    <a:endParaRPr lang="en-US"/>
                  </a:p>
                </p:txBody>
              </p:sp>
              <p:sp>
                <p:nvSpPr>
                  <p:cNvPr id="42022" name="Line 23"/>
                  <p:cNvSpPr>
                    <a:spLocks noChangeShapeType="1"/>
                  </p:cNvSpPr>
                  <p:nvPr/>
                </p:nvSpPr>
                <p:spPr bwMode="auto">
                  <a:xfrm>
                    <a:off x="3024" y="10769"/>
                    <a:ext cx="1" cy="2592"/>
                  </a:xfrm>
                  <a:prstGeom prst="line">
                    <a:avLst/>
                  </a:prstGeom>
                  <a:noFill/>
                  <a:ln w="12700">
                    <a:solidFill>
                      <a:srgbClr val="000000"/>
                    </a:solidFill>
                    <a:round/>
                    <a:headEnd/>
                    <a:tailEnd/>
                  </a:ln>
                </p:spPr>
                <p:txBody>
                  <a:bodyPr/>
                  <a:lstStyle/>
                  <a:p>
                    <a:endParaRPr lang="en-US"/>
                  </a:p>
                </p:txBody>
              </p:sp>
              <p:sp>
                <p:nvSpPr>
                  <p:cNvPr id="42023" name="Line 24"/>
                  <p:cNvSpPr>
                    <a:spLocks noChangeShapeType="1"/>
                  </p:cNvSpPr>
                  <p:nvPr/>
                </p:nvSpPr>
                <p:spPr bwMode="auto">
                  <a:xfrm>
                    <a:off x="3888" y="10769"/>
                    <a:ext cx="1" cy="2592"/>
                  </a:xfrm>
                  <a:prstGeom prst="line">
                    <a:avLst/>
                  </a:prstGeom>
                  <a:noFill/>
                  <a:ln w="12700">
                    <a:solidFill>
                      <a:srgbClr val="000000"/>
                    </a:solidFill>
                    <a:round/>
                    <a:headEnd/>
                    <a:tailEnd/>
                  </a:ln>
                </p:spPr>
                <p:txBody>
                  <a:bodyPr/>
                  <a:lstStyle/>
                  <a:p>
                    <a:endParaRPr lang="en-US"/>
                  </a:p>
                </p:txBody>
              </p:sp>
              <p:sp>
                <p:nvSpPr>
                  <p:cNvPr id="42024" name="Line 25"/>
                  <p:cNvSpPr>
                    <a:spLocks noChangeShapeType="1"/>
                  </p:cNvSpPr>
                  <p:nvPr/>
                </p:nvSpPr>
                <p:spPr bwMode="auto">
                  <a:xfrm>
                    <a:off x="4752" y="10769"/>
                    <a:ext cx="1" cy="2592"/>
                  </a:xfrm>
                  <a:prstGeom prst="line">
                    <a:avLst/>
                  </a:prstGeom>
                  <a:noFill/>
                  <a:ln w="12700">
                    <a:solidFill>
                      <a:srgbClr val="000000"/>
                    </a:solidFill>
                    <a:round/>
                    <a:headEnd/>
                    <a:tailEnd/>
                  </a:ln>
                </p:spPr>
                <p:txBody>
                  <a:bodyPr/>
                  <a:lstStyle/>
                  <a:p>
                    <a:endParaRPr lang="en-US"/>
                  </a:p>
                </p:txBody>
              </p:sp>
              <p:sp>
                <p:nvSpPr>
                  <p:cNvPr id="42025" name="Line 26"/>
                  <p:cNvSpPr>
                    <a:spLocks noChangeShapeType="1"/>
                  </p:cNvSpPr>
                  <p:nvPr/>
                </p:nvSpPr>
                <p:spPr bwMode="auto">
                  <a:xfrm>
                    <a:off x="5616" y="10769"/>
                    <a:ext cx="1" cy="2592"/>
                  </a:xfrm>
                  <a:prstGeom prst="line">
                    <a:avLst/>
                  </a:prstGeom>
                  <a:noFill/>
                  <a:ln w="12700">
                    <a:solidFill>
                      <a:srgbClr val="000000"/>
                    </a:solidFill>
                    <a:round/>
                    <a:headEnd/>
                    <a:tailEnd/>
                  </a:ln>
                </p:spPr>
                <p:txBody>
                  <a:bodyPr/>
                  <a:lstStyle/>
                  <a:p>
                    <a:endParaRPr lang="en-US"/>
                  </a:p>
                </p:txBody>
              </p:sp>
            </p:grpSp>
            <p:grpSp>
              <p:nvGrpSpPr>
                <p:cNvPr id="9" name="Group 27"/>
                <p:cNvGrpSpPr>
                  <a:grpSpLocks/>
                </p:cNvGrpSpPr>
                <p:nvPr/>
              </p:nvGrpSpPr>
              <p:grpSpPr bwMode="auto">
                <a:xfrm>
                  <a:off x="2756" y="12340"/>
                  <a:ext cx="4075" cy="448"/>
                  <a:chOff x="2364" y="10793"/>
                  <a:chExt cx="4075" cy="448"/>
                </a:xfrm>
              </p:grpSpPr>
              <p:sp>
                <p:nvSpPr>
                  <p:cNvPr id="42014" name="Text Box 28"/>
                  <p:cNvSpPr txBox="1">
                    <a:spLocks noChangeArrowheads="1"/>
                  </p:cNvSpPr>
                  <p:nvPr/>
                </p:nvSpPr>
                <p:spPr bwMode="auto">
                  <a:xfrm>
                    <a:off x="2364"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(0, 1)</a:t>
                    </a:r>
                    <a:endParaRPr lang="en-US" sz="1800">
                      <a:solidFill>
                        <a:srgbClr val="003300"/>
                      </a:solidFill>
                      <a:latin typeface="Arial" pitchFamily="34" charset="0"/>
                    </a:endParaRPr>
                  </a:p>
                </p:txBody>
              </p:sp>
              <p:sp>
                <p:nvSpPr>
                  <p:cNvPr id="42015" name="Text Box 29"/>
                  <p:cNvSpPr txBox="1">
                    <a:spLocks noChangeArrowheads="1"/>
                  </p:cNvSpPr>
                  <p:nvPr/>
                </p:nvSpPr>
                <p:spPr bwMode="auto">
                  <a:xfrm>
                    <a:off x="3228"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(1, 1)</a:t>
                    </a:r>
                    <a:endParaRPr lang="en-US" sz="1800">
                      <a:solidFill>
                        <a:srgbClr val="003300"/>
                      </a:solidFill>
                      <a:latin typeface="Arial" pitchFamily="34" charset="0"/>
                    </a:endParaRPr>
                  </a:p>
                </p:txBody>
              </p:sp>
              <p:sp>
                <p:nvSpPr>
                  <p:cNvPr id="42016" name="Text Box 30"/>
                  <p:cNvSpPr txBox="1">
                    <a:spLocks noChangeArrowheads="1"/>
                  </p:cNvSpPr>
                  <p:nvPr/>
                </p:nvSpPr>
                <p:spPr bwMode="auto">
                  <a:xfrm>
                    <a:off x="4093"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(2, 1)</a:t>
                    </a:r>
                    <a:endParaRPr lang="en-US" sz="1800">
                      <a:solidFill>
                        <a:srgbClr val="003300"/>
                      </a:solidFill>
                      <a:latin typeface="Arial" pitchFamily="34" charset="0"/>
                    </a:endParaRPr>
                  </a:p>
                </p:txBody>
              </p:sp>
              <p:sp>
                <p:nvSpPr>
                  <p:cNvPr id="42017" name="Text Box 31"/>
                  <p:cNvSpPr txBox="1">
                    <a:spLocks noChangeArrowheads="1"/>
                  </p:cNvSpPr>
                  <p:nvPr/>
                </p:nvSpPr>
                <p:spPr bwMode="auto">
                  <a:xfrm>
                    <a:off x="4957"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(3, 1)</a:t>
                    </a:r>
                    <a:endParaRPr lang="en-US" sz="1800">
                      <a:solidFill>
                        <a:srgbClr val="003300"/>
                      </a:solidFill>
                      <a:latin typeface="Arial" pitchFamily="34" charset="0"/>
                    </a:endParaRPr>
                  </a:p>
                </p:txBody>
              </p:sp>
              <p:sp>
                <p:nvSpPr>
                  <p:cNvPr id="42018" name="Text Box 32"/>
                  <p:cNvSpPr txBox="1">
                    <a:spLocks noChangeArrowheads="1"/>
                  </p:cNvSpPr>
                  <p:nvPr/>
                </p:nvSpPr>
                <p:spPr bwMode="auto">
                  <a:xfrm>
                    <a:off x="5822"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(4, 1)</a:t>
                    </a:r>
                    <a:endParaRPr lang="en-US" sz="1800">
                      <a:solidFill>
                        <a:srgbClr val="003300"/>
                      </a:solidFill>
                      <a:latin typeface="Arial" pitchFamily="34" charset="0"/>
                    </a:endParaRPr>
                  </a:p>
                </p:txBody>
              </p:sp>
            </p:grpSp>
            <p:grpSp>
              <p:nvGrpSpPr>
                <p:cNvPr id="10" name="Group 33"/>
                <p:cNvGrpSpPr>
                  <a:grpSpLocks/>
                </p:cNvGrpSpPr>
                <p:nvPr/>
              </p:nvGrpSpPr>
              <p:grpSpPr bwMode="auto">
                <a:xfrm>
                  <a:off x="2756" y="13201"/>
                  <a:ext cx="4075" cy="448"/>
                  <a:chOff x="2364" y="10793"/>
                  <a:chExt cx="4075" cy="448"/>
                </a:xfrm>
              </p:grpSpPr>
              <p:sp>
                <p:nvSpPr>
                  <p:cNvPr id="42009" name="Text Box 34"/>
                  <p:cNvSpPr txBox="1">
                    <a:spLocks noChangeArrowheads="1"/>
                  </p:cNvSpPr>
                  <p:nvPr/>
                </p:nvSpPr>
                <p:spPr bwMode="auto">
                  <a:xfrm>
                    <a:off x="2364"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(0, 2)</a:t>
                    </a:r>
                    <a:endParaRPr lang="en-US" sz="1800">
                      <a:solidFill>
                        <a:srgbClr val="003300"/>
                      </a:solidFill>
                      <a:latin typeface="Arial" pitchFamily="34" charset="0"/>
                    </a:endParaRPr>
                  </a:p>
                </p:txBody>
              </p:sp>
              <p:sp>
                <p:nvSpPr>
                  <p:cNvPr id="42010" name="Text Box 35"/>
                  <p:cNvSpPr txBox="1">
                    <a:spLocks noChangeArrowheads="1"/>
                  </p:cNvSpPr>
                  <p:nvPr/>
                </p:nvSpPr>
                <p:spPr bwMode="auto">
                  <a:xfrm>
                    <a:off x="3228"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(1, 2)</a:t>
                    </a:r>
                    <a:endParaRPr lang="en-US" sz="1800">
                      <a:solidFill>
                        <a:srgbClr val="003300"/>
                      </a:solidFill>
                      <a:latin typeface="Arial" pitchFamily="34" charset="0"/>
                    </a:endParaRPr>
                  </a:p>
                </p:txBody>
              </p:sp>
              <p:sp>
                <p:nvSpPr>
                  <p:cNvPr id="42011" name="Text Box 36"/>
                  <p:cNvSpPr txBox="1">
                    <a:spLocks noChangeArrowheads="1"/>
                  </p:cNvSpPr>
                  <p:nvPr/>
                </p:nvSpPr>
                <p:spPr bwMode="auto">
                  <a:xfrm>
                    <a:off x="4093"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(2, 2)</a:t>
                    </a:r>
                    <a:endParaRPr lang="en-US" sz="1800">
                      <a:solidFill>
                        <a:srgbClr val="003300"/>
                      </a:solidFill>
                      <a:latin typeface="Arial" pitchFamily="34" charset="0"/>
                    </a:endParaRPr>
                  </a:p>
                </p:txBody>
              </p:sp>
              <p:sp>
                <p:nvSpPr>
                  <p:cNvPr id="42012" name="Text Box 37"/>
                  <p:cNvSpPr txBox="1">
                    <a:spLocks noChangeArrowheads="1"/>
                  </p:cNvSpPr>
                  <p:nvPr/>
                </p:nvSpPr>
                <p:spPr bwMode="auto">
                  <a:xfrm>
                    <a:off x="4957"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(3, 2)</a:t>
                    </a:r>
                    <a:endParaRPr lang="en-US" sz="1800">
                      <a:solidFill>
                        <a:srgbClr val="003300"/>
                      </a:solidFill>
                      <a:latin typeface="Arial" pitchFamily="34" charset="0"/>
                    </a:endParaRPr>
                  </a:p>
                </p:txBody>
              </p:sp>
              <p:sp>
                <p:nvSpPr>
                  <p:cNvPr id="42013" name="Text Box 38"/>
                  <p:cNvSpPr txBox="1">
                    <a:spLocks noChangeArrowheads="1"/>
                  </p:cNvSpPr>
                  <p:nvPr/>
                </p:nvSpPr>
                <p:spPr bwMode="auto">
                  <a:xfrm>
                    <a:off x="5822"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(4, 2)</a:t>
                    </a:r>
                    <a:endParaRPr lang="en-US" sz="1800">
                      <a:solidFill>
                        <a:srgbClr val="003300"/>
                      </a:solidFill>
                      <a:latin typeface="Arial" pitchFamily="34" charset="0"/>
                    </a:endParaRPr>
                  </a:p>
                </p:txBody>
              </p:sp>
            </p:grpSp>
            <p:grpSp>
              <p:nvGrpSpPr>
                <p:cNvPr id="11" name="Group 39"/>
                <p:cNvGrpSpPr>
                  <a:grpSpLocks/>
                </p:cNvGrpSpPr>
                <p:nvPr/>
              </p:nvGrpSpPr>
              <p:grpSpPr bwMode="auto">
                <a:xfrm>
                  <a:off x="2755" y="11479"/>
                  <a:ext cx="4075" cy="448"/>
                  <a:chOff x="2364" y="10793"/>
                  <a:chExt cx="4075" cy="448"/>
                </a:xfrm>
              </p:grpSpPr>
              <p:sp>
                <p:nvSpPr>
                  <p:cNvPr id="42004" name="Text Box 40"/>
                  <p:cNvSpPr txBox="1">
                    <a:spLocks noChangeArrowheads="1"/>
                  </p:cNvSpPr>
                  <p:nvPr/>
                </p:nvSpPr>
                <p:spPr bwMode="auto">
                  <a:xfrm>
                    <a:off x="2364"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(0, 0)</a:t>
                    </a:r>
                    <a:endParaRPr lang="en-US" sz="1800">
                      <a:solidFill>
                        <a:srgbClr val="003300"/>
                      </a:solidFill>
                      <a:latin typeface="Arial" pitchFamily="34" charset="0"/>
                    </a:endParaRPr>
                  </a:p>
                </p:txBody>
              </p:sp>
              <p:sp>
                <p:nvSpPr>
                  <p:cNvPr id="42005" name="Text Box 41"/>
                  <p:cNvSpPr txBox="1">
                    <a:spLocks noChangeArrowheads="1"/>
                  </p:cNvSpPr>
                  <p:nvPr/>
                </p:nvSpPr>
                <p:spPr bwMode="auto">
                  <a:xfrm>
                    <a:off x="3228"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(1, 0)</a:t>
                    </a:r>
                    <a:endParaRPr lang="en-US" sz="1800">
                      <a:solidFill>
                        <a:srgbClr val="003300"/>
                      </a:solidFill>
                      <a:latin typeface="Arial" pitchFamily="34" charset="0"/>
                    </a:endParaRPr>
                  </a:p>
                </p:txBody>
              </p:sp>
              <p:sp>
                <p:nvSpPr>
                  <p:cNvPr id="42006" name="Text Box 42"/>
                  <p:cNvSpPr txBox="1">
                    <a:spLocks noChangeArrowheads="1"/>
                  </p:cNvSpPr>
                  <p:nvPr/>
                </p:nvSpPr>
                <p:spPr bwMode="auto">
                  <a:xfrm>
                    <a:off x="4093"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(2, 0)</a:t>
                    </a:r>
                    <a:endParaRPr lang="en-US" sz="1800">
                      <a:solidFill>
                        <a:srgbClr val="003300"/>
                      </a:solidFill>
                      <a:latin typeface="Arial" pitchFamily="34" charset="0"/>
                    </a:endParaRPr>
                  </a:p>
                </p:txBody>
              </p:sp>
              <p:sp>
                <p:nvSpPr>
                  <p:cNvPr id="42007" name="Text Box 43"/>
                  <p:cNvSpPr txBox="1">
                    <a:spLocks noChangeArrowheads="1"/>
                  </p:cNvSpPr>
                  <p:nvPr/>
                </p:nvSpPr>
                <p:spPr bwMode="auto">
                  <a:xfrm>
                    <a:off x="4957"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(3, 0)</a:t>
                    </a:r>
                    <a:endParaRPr lang="en-US" sz="1800">
                      <a:solidFill>
                        <a:srgbClr val="003300"/>
                      </a:solidFill>
                      <a:latin typeface="Arial" pitchFamily="34" charset="0"/>
                    </a:endParaRPr>
                  </a:p>
                </p:txBody>
              </p:sp>
              <p:sp>
                <p:nvSpPr>
                  <p:cNvPr id="42008" name="Text Box 44"/>
                  <p:cNvSpPr txBox="1">
                    <a:spLocks noChangeArrowheads="1"/>
                  </p:cNvSpPr>
                  <p:nvPr/>
                </p:nvSpPr>
                <p:spPr bwMode="auto">
                  <a:xfrm>
                    <a:off x="5822" y="10793"/>
                    <a:ext cx="617" cy="448"/>
                  </a:xfrm>
                  <a:prstGeom prst="rect">
                    <a:avLst/>
                  </a:prstGeom>
                  <a:noFill/>
                  <a:ln w="9525">
                    <a:noFill/>
                    <a:miter lim="800000"/>
                    <a:headEnd/>
                    <a:tailEnd/>
                  </a:ln>
                </p:spPr>
                <p:txBody>
                  <a:bodyPr wrap="none" lIns="0" tIns="0" rIns="0" bIns="0"/>
                  <a:lstStyle/>
                  <a:p>
                    <a:pPr algn="ctr"/>
                    <a:r>
                      <a:rPr lang="en-US" sz="1000" b="1">
                        <a:solidFill>
                          <a:srgbClr val="003300"/>
                        </a:solidFill>
                        <a:latin typeface="Times New Roman" pitchFamily="18" charset="0"/>
                      </a:rPr>
                      <a:t>Thread</a:t>
                    </a:r>
                  </a:p>
                  <a:p>
                    <a:pPr algn="ctr"/>
                    <a:r>
                      <a:rPr lang="en-US" sz="1000" b="1">
                        <a:solidFill>
                          <a:srgbClr val="003300"/>
                        </a:solidFill>
                        <a:latin typeface="Times New Roman" pitchFamily="18" charset="0"/>
                      </a:rPr>
                      <a:t>(4, 0)</a:t>
                    </a:r>
                    <a:endParaRPr lang="en-US" sz="1800">
                      <a:solidFill>
                        <a:srgbClr val="003300"/>
                      </a:solidFill>
                      <a:latin typeface="Arial" pitchFamily="34" charset="0"/>
                    </a:endParaRPr>
                  </a:p>
                </p:txBody>
              </p:sp>
            </p:grpSp>
          </p:grpSp>
        </p:grpSp>
        <p:sp>
          <p:nvSpPr>
            <p:cNvPr id="41994" name="Line 45"/>
            <p:cNvSpPr>
              <a:spLocks noChangeShapeType="1"/>
            </p:cNvSpPr>
            <p:nvPr/>
          </p:nvSpPr>
          <p:spPr bwMode="auto">
            <a:xfrm flipH="1">
              <a:off x="3510" y="2255"/>
              <a:ext cx="1067" cy="623"/>
            </a:xfrm>
            <a:prstGeom prst="line">
              <a:avLst/>
            </a:prstGeom>
            <a:noFill/>
            <a:ln w="9525">
              <a:solidFill>
                <a:schemeClr val="bg1"/>
              </a:solidFill>
              <a:prstDash val="dash"/>
              <a:round/>
              <a:headEnd/>
              <a:tailEnd/>
            </a:ln>
          </p:spPr>
          <p:txBody>
            <a:bodyPr/>
            <a:lstStyle/>
            <a:p>
              <a:endParaRPr lang="en-US"/>
            </a:p>
          </p:txBody>
        </p:sp>
        <p:sp>
          <p:nvSpPr>
            <p:cNvPr id="41995" name="Line 46"/>
            <p:cNvSpPr>
              <a:spLocks noChangeShapeType="1"/>
            </p:cNvSpPr>
            <p:nvPr/>
          </p:nvSpPr>
          <p:spPr bwMode="auto">
            <a:xfrm>
              <a:off x="5022" y="2255"/>
              <a:ext cx="243" cy="618"/>
            </a:xfrm>
            <a:prstGeom prst="line">
              <a:avLst/>
            </a:prstGeom>
            <a:noFill/>
            <a:ln w="9525">
              <a:solidFill>
                <a:schemeClr val="bg1"/>
              </a:solidFill>
              <a:prstDash val="dash"/>
              <a:round/>
              <a:headEnd/>
              <a:tailEnd/>
            </a:ln>
          </p:spPr>
          <p:txBody>
            <a:bodyPr/>
            <a:lstStyle/>
            <a:p>
              <a:endParaRPr lang="en-US"/>
            </a:p>
          </p:txBody>
        </p:sp>
        <p:sp>
          <p:nvSpPr>
            <p:cNvPr id="41996" name="Line 47"/>
            <p:cNvSpPr>
              <a:spLocks noChangeShapeType="1"/>
            </p:cNvSpPr>
            <p:nvPr/>
          </p:nvSpPr>
          <p:spPr bwMode="auto">
            <a:xfrm flipH="1">
              <a:off x="4144" y="2581"/>
              <a:ext cx="411" cy="287"/>
            </a:xfrm>
            <a:prstGeom prst="line">
              <a:avLst/>
            </a:prstGeom>
            <a:noFill/>
            <a:ln w="9525">
              <a:solidFill>
                <a:schemeClr val="bg1"/>
              </a:solidFill>
              <a:prstDash val="dash"/>
              <a:round/>
              <a:headEnd/>
              <a:tailEnd/>
            </a:ln>
          </p:spPr>
          <p:txBody>
            <a:bodyPr/>
            <a:lstStyle/>
            <a:p>
              <a:endParaRPr lang="en-US"/>
            </a:p>
          </p:txBody>
        </p:sp>
        <p:sp>
          <p:nvSpPr>
            <p:cNvPr id="41997" name="Line 48"/>
            <p:cNvSpPr>
              <a:spLocks noChangeShapeType="1"/>
            </p:cNvSpPr>
            <p:nvPr/>
          </p:nvSpPr>
          <p:spPr bwMode="auto">
            <a:xfrm>
              <a:off x="5022" y="2581"/>
              <a:ext cx="100" cy="303"/>
            </a:xfrm>
            <a:prstGeom prst="line">
              <a:avLst/>
            </a:prstGeom>
            <a:noFill/>
            <a:ln w="9525">
              <a:solidFill>
                <a:schemeClr val="bg1"/>
              </a:solidFill>
              <a:prstDash val="dash"/>
              <a:round/>
              <a:headEnd/>
              <a:tailEnd/>
            </a:ln>
          </p:spPr>
          <p:txBody>
            <a:bodyPr/>
            <a:lstStyle/>
            <a:p>
              <a:endParaRPr lang="en-US"/>
            </a:p>
          </p:txBody>
        </p:sp>
      </p:grpSp>
      <p:sp>
        <p:nvSpPr>
          <p:cNvPr id="41990" name="Rectangle 49"/>
          <p:cNvSpPr>
            <a:spLocks noChangeArrowheads="1"/>
          </p:cNvSpPr>
          <p:nvPr/>
        </p:nvSpPr>
        <p:spPr bwMode="auto">
          <a:xfrm>
            <a:off x="6553200" y="6324600"/>
            <a:ext cx="1679575" cy="336550"/>
          </a:xfrm>
          <a:prstGeom prst="rect">
            <a:avLst/>
          </a:prstGeom>
          <a:noFill/>
          <a:ln w="9525">
            <a:noFill/>
            <a:miter lim="800000"/>
            <a:headEnd/>
            <a:tailEnd/>
          </a:ln>
        </p:spPr>
        <p:txBody>
          <a:bodyPr wrap="none">
            <a:spAutoFit/>
          </a:bodyPr>
          <a:lstStyle/>
          <a:p>
            <a:r>
              <a:rPr lang="en-US" sz="1600">
                <a:latin typeface="Times New Roman" pitchFamily="18" charset="0"/>
              </a:rPr>
              <a:t>Courtesy: NDVIA</a:t>
            </a:r>
          </a:p>
        </p:txBody>
      </p:sp>
      <p:sp>
        <p:nvSpPr>
          <p:cNvPr id="51" name="Footer Placeholder 3"/>
          <p:cNvSpPr>
            <a:spLocks noGrp="1"/>
          </p:cNvSpPr>
          <p:nvPr>
            <p:ph type="ftr" sz="quarter" idx="10"/>
          </p:nvPr>
        </p:nvSpPr>
        <p:spPr>
          <a:xfrm>
            <a:off x="381000" y="6172200"/>
            <a:ext cx="4267200" cy="609600"/>
          </a:xfrm>
          <a:noFill/>
        </p:spPr>
        <p:txBody>
          <a:bodyPr/>
          <a:lstStyle/>
          <a:p>
            <a:r>
              <a:rPr lang="en-US"/>
              <a:t>© David Kirk/NVIDIA and Wen-mei W. Hwu, 2007</a:t>
            </a:r>
          </a:p>
          <a:p>
            <a:r>
              <a:rPr lang="en-US"/>
              <a:t>ECE 498AL, University of Illinois, Urbana-Champaign</a:t>
            </a:r>
            <a:endParaRPr lang="en-US" dirty="0"/>
          </a:p>
        </p:txBody>
      </p:sp>
      <p:pic>
        <p:nvPicPr>
          <p:cNvPr id="12" name="Picture 11" descr="A screenshot of a computer&#10;&#10;Description automatically generated">
            <a:extLst>
              <a:ext uri="{FF2B5EF4-FFF2-40B4-BE49-F238E27FC236}">
                <a16:creationId xmlns:a16="http://schemas.microsoft.com/office/drawing/2014/main" id="{B6509935-D76C-850C-1482-5D96330C4CD4}"/>
              </a:ext>
            </a:extLst>
          </p:cNvPr>
          <p:cNvPicPr>
            <a:picLocks noChangeAspect="1"/>
          </p:cNvPicPr>
          <p:nvPr/>
        </p:nvPicPr>
        <p:blipFill rotWithShape="1">
          <a:blip r:embed="rId2"/>
          <a:srcRect l="26091" t="36058" r="24385" b="26405"/>
          <a:stretch/>
        </p:blipFill>
        <p:spPr bwMode="auto">
          <a:xfrm>
            <a:off x="0" y="253398"/>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429947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E5C3-FBF4-B313-F3F4-16B453830399}"/>
            </a:ext>
          </a:extLst>
        </p:cNvPr>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BED76E20-FA89-C2C2-25B5-9C1EA80C3EBB}"/>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A8174602-03A1-123D-2D76-45DB21A9FDBC}"/>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err="1"/>
              <a:t>Refrences</a:t>
            </a:r>
            <a:endParaRPr lang="en-IN" dirty="0"/>
          </a:p>
        </p:txBody>
      </p:sp>
      <p:sp>
        <p:nvSpPr>
          <p:cNvPr id="7" name="Content Placeholder 6">
            <a:extLst>
              <a:ext uri="{FF2B5EF4-FFF2-40B4-BE49-F238E27FC236}">
                <a16:creationId xmlns:a16="http://schemas.microsoft.com/office/drawing/2014/main" id="{2605EDA6-9AD2-2198-C985-7819B2F09EAD}"/>
              </a:ext>
            </a:extLst>
          </p:cNvPr>
          <p:cNvSpPr txBox="1">
            <a:spLocks noGrp="1"/>
          </p:cNvSpPr>
          <p:nvPr>
            <p:ph idx="1"/>
          </p:nvPr>
        </p:nvSpPr>
        <p:spPr>
          <a:xfrm>
            <a:off x="203812" y="752360"/>
            <a:ext cx="8940188" cy="5755422"/>
          </a:xfrm>
          <a:prstGeom prst="rect">
            <a:avLst/>
          </a:prstGeom>
          <a:noFill/>
        </p:spPr>
        <p:txBody>
          <a:bodyPr wrap="square">
            <a:spAutoFit/>
          </a:bodyPr>
          <a:lstStyle/>
          <a:p>
            <a:pPr marL="0" indent="0">
              <a:buNone/>
            </a:pPr>
            <a:endParaRPr dirty="0"/>
          </a:p>
          <a:p>
            <a:pPr marL="0" indent="0">
              <a:buNone/>
              <a:defRPr sz="1200"/>
            </a:pPr>
            <a:r>
              <a:rPr sz="1600" dirty="0"/>
              <a:t>1. Cuny, J., Snyder, L., &amp; Wing, J. M. (2010). Demystifying Computational Thinking. Carnegie Mellon University.</a:t>
            </a:r>
          </a:p>
          <a:p>
            <a:pPr marL="0" indent="0">
              <a:buNone/>
              <a:defRPr sz="1200"/>
            </a:pPr>
            <a:r>
              <a:rPr sz="1600" dirty="0"/>
              <a:t>2. Wing, J. M. (2006). Computational Thinking. Communications of the ACM, 49(3), 33-35.</a:t>
            </a:r>
          </a:p>
          <a:p>
            <a:pPr marL="0" indent="0">
              <a:buNone/>
              <a:defRPr sz="1200"/>
            </a:pPr>
            <a:r>
              <a:rPr sz="1600" dirty="0"/>
              <a:t>3. Leeds ARC. HPC System Architecture Overview. https://</a:t>
            </a:r>
            <a:r>
              <a:rPr sz="1600" dirty="0" err="1"/>
              <a:t>arcdocs.leeds.ac.uk</a:t>
            </a:r>
            <a:endParaRPr sz="1600" dirty="0"/>
          </a:p>
          <a:p>
            <a:pPr marL="0" indent="0">
              <a:buNone/>
              <a:defRPr sz="1200"/>
            </a:pPr>
            <a:r>
              <a:rPr sz="1600" dirty="0"/>
              <a:t>4. </a:t>
            </a:r>
            <a:r>
              <a:rPr sz="1600" dirty="0" err="1"/>
              <a:t>PhoenixNAP</a:t>
            </a:r>
            <a:r>
              <a:rPr sz="1600" dirty="0"/>
              <a:t>. High Performance Computing Architecture. https://</a:t>
            </a:r>
            <a:r>
              <a:rPr sz="1600" dirty="0" err="1"/>
              <a:t>phoenixnap.com</a:t>
            </a:r>
            <a:r>
              <a:rPr sz="1600" dirty="0"/>
              <a:t>/kb/</a:t>
            </a:r>
            <a:r>
              <a:rPr sz="1600" dirty="0" err="1"/>
              <a:t>hpc</a:t>
            </a:r>
            <a:r>
              <a:rPr sz="1600" dirty="0"/>
              <a:t>-architecture</a:t>
            </a:r>
          </a:p>
          <a:p>
            <a:pPr marL="0" indent="0">
              <a:buNone/>
              <a:defRPr sz="1200"/>
            </a:pPr>
            <a:r>
              <a:rPr sz="1600" dirty="0"/>
              <a:t>5. </a:t>
            </a:r>
            <a:r>
              <a:rPr sz="1600" dirty="0" err="1"/>
              <a:t>Weka.io</a:t>
            </a:r>
            <a:r>
              <a:rPr sz="1600" dirty="0"/>
              <a:t>. HPC Applications. https://</a:t>
            </a:r>
            <a:r>
              <a:rPr sz="1600" dirty="0" err="1"/>
              <a:t>www.weka.io</a:t>
            </a:r>
            <a:r>
              <a:rPr sz="1600" dirty="0"/>
              <a:t>/learn/</a:t>
            </a:r>
            <a:r>
              <a:rPr sz="1600" dirty="0" err="1"/>
              <a:t>hpc</a:t>
            </a:r>
            <a:r>
              <a:rPr sz="1600" dirty="0"/>
              <a:t>/</a:t>
            </a:r>
            <a:r>
              <a:rPr sz="1600" dirty="0" err="1"/>
              <a:t>hpc</a:t>
            </a:r>
            <a:r>
              <a:rPr sz="1600" dirty="0"/>
              <a:t>-applications/</a:t>
            </a:r>
          </a:p>
          <a:p>
            <a:pPr marL="0" indent="0">
              <a:buNone/>
              <a:defRPr sz="1200"/>
            </a:pPr>
            <a:r>
              <a:rPr sz="1600" dirty="0"/>
              <a:t>6. AWS. High Performance Computing on AWS. https://</a:t>
            </a:r>
            <a:r>
              <a:rPr sz="1600" dirty="0" err="1"/>
              <a:t>docs.aws.amazon.com</a:t>
            </a:r>
            <a:endParaRPr sz="1600" dirty="0"/>
          </a:p>
          <a:p>
            <a:pPr marL="0" indent="0">
              <a:buNone/>
              <a:defRPr sz="1200"/>
            </a:pPr>
            <a:r>
              <a:rPr sz="1600" dirty="0"/>
              <a:t>7. ResearchGate. HPC in COVID-19 Drug Discovery. https://</a:t>
            </a:r>
            <a:r>
              <a:rPr sz="1600" dirty="0" err="1"/>
              <a:t>www.researchgate.net</a:t>
            </a:r>
            <a:r>
              <a:rPr sz="1600" dirty="0"/>
              <a:t>/</a:t>
            </a:r>
          </a:p>
          <a:p>
            <a:pPr marL="0" indent="0">
              <a:buNone/>
              <a:defRPr sz="1200"/>
            </a:pPr>
            <a:r>
              <a:rPr sz="1600" dirty="0"/>
              <a:t>8. NVIDIA. Introduction to CUDA-Aware MPI. https://</a:t>
            </a:r>
            <a:r>
              <a:rPr sz="1600" dirty="0" err="1"/>
              <a:t>developer.nvidia.com</a:t>
            </a:r>
            <a:r>
              <a:rPr sz="1600" dirty="0"/>
              <a:t>/blog/introduction-</a:t>
            </a:r>
            <a:r>
              <a:rPr sz="1600" dirty="0" err="1"/>
              <a:t>cuda</a:t>
            </a:r>
            <a:r>
              <a:rPr sz="1600" dirty="0"/>
              <a:t>-aware-</a:t>
            </a:r>
            <a:r>
              <a:rPr sz="1600" dirty="0" err="1"/>
              <a:t>mpi</a:t>
            </a:r>
            <a:r>
              <a:rPr sz="1600" dirty="0"/>
              <a:t>/</a:t>
            </a:r>
          </a:p>
          <a:p>
            <a:pPr marL="0" indent="0">
              <a:buNone/>
              <a:defRPr sz="1200"/>
            </a:pPr>
            <a:r>
              <a:rPr sz="1600" dirty="0"/>
              <a:t>9. ResearchGate. Hybrid MPI + OpenMP + CUDA Model. https://</a:t>
            </a:r>
            <a:r>
              <a:rPr sz="1600" dirty="0" err="1"/>
              <a:t>www.researchgate.net</a:t>
            </a:r>
            <a:r>
              <a:rPr sz="1600" dirty="0"/>
              <a:t>/</a:t>
            </a:r>
          </a:p>
          <a:p>
            <a:pPr marL="0" indent="0">
              <a:buNone/>
              <a:defRPr sz="1200"/>
            </a:pPr>
            <a:r>
              <a:rPr sz="1600" dirty="0"/>
              <a:t>10. MDPI. Parallel Programming Task Models. https://</a:t>
            </a:r>
            <a:r>
              <a:rPr sz="1600" dirty="0" err="1"/>
              <a:t>www.mdpi.com</a:t>
            </a:r>
            <a:r>
              <a:rPr sz="1600" dirty="0"/>
              <a:t>/2076-3417/13/21/11960</a:t>
            </a:r>
          </a:p>
          <a:p>
            <a:pPr marL="0" indent="0">
              <a:buNone/>
              <a:defRPr sz="1200"/>
            </a:pPr>
            <a:r>
              <a:rPr sz="1600" dirty="0"/>
              <a:t>11. </a:t>
            </a:r>
            <a:r>
              <a:rPr sz="1600" dirty="0" err="1"/>
              <a:t>StackScale</a:t>
            </a:r>
            <a:r>
              <a:rPr sz="1600" dirty="0"/>
              <a:t>. Cloud Service Models. https://</a:t>
            </a:r>
            <a:r>
              <a:rPr sz="1600" dirty="0" err="1"/>
              <a:t>www.stackscale.com</a:t>
            </a:r>
            <a:r>
              <a:rPr sz="1600" dirty="0"/>
              <a:t>/blog/cloud-service-models/</a:t>
            </a:r>
          </a:p>
          <a:p>
            <a:pPr marL="0" indent="0">
              <a:buNone/>
              <a:defRPr sz="1200"/>
            </a:pPr>
            <a:r>
              <a:rPr sz="1600" dirty="0"/>
              <a:t>12. ResearchGate. Cloud Architecture Diagrams. https://</a:t>
            </a:r>
            <a:r>
              <a:rPr sz="1600" dirty="0" err="1"/>
              <a:t>www.researchgate.net</a:t>
            </a:r>
            <a:r>
              <a:rPr sz="1600" dirty="0"/>
              <a:t>/</a:t>
            </a:r>
          </a:p>
          <a:p>
            <a:pPr marL="0" indent="0">
              <a:buNone/>
              <a:defRPr sz="1200"/>
            </a:pPr>
            <a:r>
              <a:rPr sz="1600" dirty="0"/>
              <a:t>13. </a:t>
            </a:r>
            <a:r>
              <a:rPr sz="1600" dirty="0" err="1"/>
              <a:t>GeeksforGeeks</a:t>
            </a:r>
            <a:r>
              <a:rPr sz="1600" dirty="0"/>
              <a:t>. Cloud Deployment Models. https://</a:t>
            </a:r>
            <a:r>
              <a:rPr sz="1600" dirty="0" err="1"/>
              <a:t>www.geeksforgeeks.org</a:t>
            </a:r>
            <a:r>
              <a:rPr sz="1600" dirty="0"/>
              <a:t>/cloud-computing-deployment-models/</a:t>
            </a:r>
          </a:p>
          <a:p>
            <a:pPr marL="0" indent="0">
              <a:buNone/>
              <a:defRPr sz="1200"/>
            </a:pPr>
            <a:r>
              <a:rPr sz="1600" dirty="0"/>
              <a:t>14. NVIDIA. CUDA GPU Architecture Diagram. https://</a:t>
            </a:r>
            <a:r>
              <a:rPr sz="1600" dirty="0" err="1"/>
              <a:t>developer.nvidia.com</a:t>
            </a:r>
            <a:r>
              <a:rPr sz="1600" dirty="0"/>
              <a:t>/</a:t>
            </a:r>
          </a:p>
          <a:p>
            <a:pPr marL="0" indent="0">
              <a:buNone/>
              <a:defRPr sz="1200"/>
            </a:pPr>
            <a:r>
              <a:rPr sz="1600" dirty="0"/>
              <a:t>15. Wikipedia Commons. GPU vs CPU Parallelism. https://</a:t>
            </a:r>
            <a:r>
              <a:rPr sz="1600" dirty="0" err="1"/>
              <a:t>commons.wikimedia.org</a:t>
            </a:r>
            <a:r>
              <a:rPr sz="1600" dirty="0"/>
              <a:t>/</a:t>
            </a:r>
          </a:p>
        </p:txBody>
      </p:sp>
      <p:sp>
        <p:nvSpPr>
          <p:cNvPr id="2" name="Footer Placeholder 12">
            <a:extLst>
              <a:ext uri="{FF2B5EF4-FFF2-40B4-BE49-F238E27FC236}">
                <a16:creationId xmlns:a16="http://schemas.microsoft.com/office/drawing/2014/main" id="{118ED282-915E-B66E-D3F4-FEEAEC709784}"/>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570373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865F-8029-242C-26BB-57F6C0012E47}"/>
            </a:ext>
          </a:extLst>
        </p:cNvPr>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FCFA49CF-0C15-A7E9-A017-D243153A9178}"/>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BF98249E-4097-6C74-2F9D-3970248BA1BF}"/>
              </a:ext>
            </a:extLst>
          </p:cNvPr>
          <p:cNvSpPr txBox="1">
            <a:spLocks/>
          </p:cNvSpPr>
          <p:nvPr/>
        </p:nvSpPr>
        <p:spPr>
          <a:xfrm>
            <a:off x="1749346" y="7233"/>
            <a:ext cx="6766004" cy="74512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dirty="0"/>
              <a:t>Recap</a:t>
            </a:r>
          </a:p>
        </p:txBody>
      </p:sp>
      <p:sp>
        <p:nvSpPr>
          <p:cNvPr id="7" name="Content Placeholder 6">
            <a:extLst>
              <a:ext uri="{FF2B5EF4-FFF2-40B4-BE49-F238E27FC236}">
                <a16:creationId xmlns:a16="http://schemas.microsoft.com/office/drawing/2014/main" id="{559AAFA0-418D-39F4-BEF3-937744B69C12}"/>
              </a:ext>
            </a:extLst>
          </p:cNvPr>
          <p:cNvSpPr txBox="1">
            <a:spLocks noGrp="1"/>
          </p:cNvSpPr>
          <p:nvPr>
            <p:ph idx="1"/>
          </p:nvPr>
        </p:nvSpPr>
        <p:spPr>
          <a:xfrm>
            <a:off x="203812" y="752360"/>
            <a:ext cx="8940188" cy="4758226"/>
          </a:xfrm>
          <a:prstGeom prst="rect">
            <a:avLst/>
          </a:prstGeom>
          <a:noFill/>
        </p:spPr>
        <p:txBody>
          <a:bodyPr wrap="square">
            <a:spAutoFit/>
          </a:bodyPr>
          <a:lstStyle/>
          <a:p>
            <a:pPr marL="0" indent="0">
              <a:buNone/>
            </a:pPr>
            <a:endParaRPr dirty="0"/>
          </a:p>
          <a:p>
            <a:r>
              <a:rPr sz="2000" dirty="0"/>
              <a:t> </a:t>
            </a:r>
            <a:r>
              <a:rPr lang="en-IN" sz="2000" b="1" dirty="0"/>
              <a:t>Computational Thinking</a:t>
            </a:r>
            <a:r>
              <a:rPr lang="en-IN" sz="2000" dirty="0"/>
              <a:t>: Problem decomposition, pattern recognition, abstraction, and algorithm design.</a:t>
            </a:r>
          </a:p>
          <a:p>
            <a:r>
              <a:rPr lang="en-IN" sz="2000" b="1" dirty="0"/>
              <a:t>Computing</a:t>
            </a:r>
            <a:r>
              <a:rPr lang="en-IN" sz="2000" dirty="0"/>
              <a:t>: Fundamentals of computer systems, types of computing models.</a:t>
            </a:r>
          </a:p>
          <a:p>
            <a:r>
              <a:rPr lang="en-IN" sz="2000" b="1" dirty="0"/>
              <a:t>High Performance Computing (HPC)</a:t>
            </a:r>
            <a:r>
              <a:rPr lang="en-IN" sz="2000" dirty="0"/>
              <a:t>: Need, architecture, and applications in science, AI, and engineering.</a:t>
            </a:r>
          </a:p>
          <a:p>
            <a:r>
              <a:rPr lang="en-IN" sz="2000" b="1" dirty="0"/>
              <a:t>Parallel Programming</a:t>
            </a:r>
            <a:r>
              <a:rPr lang="en-IN" sz="2000" dirty="0"/>
              <a:t>: Introduction to MPI, OpenMP, CUDA, and hybrid parallelism models.</a:t>
            </a:r>
          </a:p>
          <a:p>
            <a:r>
              <a:rPr lang="en-IN" sz="2000" b="1" dirty="0"/>
              <a:t>Cloud Computing</a:t>
            </a:r>
            <a:r>
              <a:rPr lang="en-IN" sz="2000" dirty="0"/>
              <a:t>: IaaS, PaaS, SaaS models and cloud deployment types.</a:t>
            </a:r>
          </a:p>
          <a:p>
            <a:r>
              <a:rPr lang="en-IN" sz="2000" b="1" dirty="0"/>
              <a:t>Grid and Cluster Computing</a:t>
            </a:r>
            <a:r>
              <a:rPr lang="en-IN" sz="2000" dirty="0"/>
              <a:t>: Resource pooling across distributed systems.</a:t>
            </a:r>
          </a:p>
          <a:p>
            <a:r>
              <a:rPr lang="en-IN" sz="2000" b="1" dirty="0"/>
              <a:t>Quantum Computing</a:t>
            </a:r>
            <a:r>
              <a:rPr lang="en-IN" sz="2000" dirty="0"/>
              <a:t>: Basics of qubits, superposition, and quantum speedup.</a:t>
            </a:r>
          </a:p>
          <a:p>
            <a:r>
              <a:rPr lang="en-IN" sz="2000" b="1" dirty="0"/>
              <a:t>Multi-core CPUs &amp; GPUs</a:t>
            </a:r>
            <a:r>
              <a:rPr lang="en-IN" sz="2000" dirty="0"/>
              <a:t>: Role in accelerating computationally heavy workloads.</a:t>
            </a:r>
          </a:p>
          <a:p>
            <a:pPr marL="0" indent="0">
              <a:buNone/>
              <a:defRPr sz="1200"/>
            </a:pPr>
            <a:endParaRPr sz="1600" dirty="0"/>
          </a:p>
        </p:txBody>
      </p:sp>
      <p:sp>
        <p:nvSpPr>
          <p:cNvPr id="2" name="Footer Placeholder 12">
            <a:extLst>
              <a:ext uri="{FF2B5EF4-FFF2-40B4-BE49-F238E27FC236}">
                <a16:creationId xmlns:a16="http://schemas.microsoft.com/office/drawing/2014/main" id="{A25DF38A-B768-C890-1159-46F0C0E1D522}"/>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722889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0D3384-4CF0-490D-BECC-EED0BB4306DA}" type="datetime1">
              <a:rPr lang="en-US" smtClean="0"/>
              <a:t>8/13/25</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dirty="0"/>
          </a:p>
        </p:txBody>
      </p:sp>
      <p:sp>
        <p:nvSpPr>
          <p:cNvPr id="10" name="Content Placeholder 8">
            <a:extLst>
              <a:ext uri="{FF2B5EF4-FFF2-40B4-BE49-F238E27FC236}">
                <a16:creationId xmlns:a16="http://schemas.microsoft.com/office/drawing/2014/main" id="{03236AB2-34D3-4D36-9A9C-1FC4A27F8EC4}"/>
              </a:ext>
            </a:extLst>
          </p:cNvPr>
          <p:cNvSpPr txBox="1">
            <a:spLocks/>
          </p:cNvSpPr>
          <p:nvPr/>
        </p:nvSpPr>
        <p:spPr>
          <a:xfrm>
            <a:off x="533400" y="2179637"/>
            <a:ext cx="8229600" cy="4525963"/>
          </a:xfrm>
          <a:prstGeom prst="rect">
            <a:avLst/>
          </a:prstGeom>
          <a:noFill/>
        </p:spPr>
        <p:txBody>
          <a:bodyPr wrap="none" lIns="91440" tIns="45720" rIns="91440" bIns="4572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Arial" pitchFamily="34" charset="0"/>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pic>
        <p:nvPicPr>
          <p:cNvPr id="6" name="Picture 5">
            <a:extLst>
              <a:ext uri="{FF2B5EF4-FFF2-40B4-BE49-F238E27FC236}">
                <a16:creationId xmlns:a16="http://schemas.microsoft.com/office/drawing/2014/main" id="{9FBDFD0D-14E5-0848-8DC9-4EAB14929A9B}"/>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B8C695CE-607D-5022-6127-98C1A1D9AE3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D43EA42-8549-E7DE-DFB3-95204255B831}"/>
              </a:ext>
            </a:extLst>
          </p:cNvPr>
          <p:cNvSpPr txBox="1">
            <a:spLocks/>
          </p:cNvSpPr>
          <p:nvPr/>
        </p:nvSpPr>
        <p:spPr>
          <a:xfrm>
            <a:off x="1769068" y="0"/>
            <a:ext cx="7374931"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endParaRPr lang="en-IN" sz="3000" dirty="0"/>
          </a:p>
        </p:txBody>
      </p:sp>
      <p:sp>
        <p:nvSpPr>
          <p:cNvPr id="8" name="Footer Placeholder 12">
            <a:extLst>
              <a:ext uri="{FF2B5EF4-FFF2-40B4-BE49-F238E27FC236}">
                <a16:creationId xmlns:a16="http://schemas.microsoft.com/office/drawing/2014/main" id="{347B9867-A11E-05CB-0C23-C16121FB985B}"/>
              </a:ext>
            </a:extLst>
          </p:cNvPr>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tint val="75000"/>
                  </a:prstClr>
                </a:solidFill>
                <a:latin typeface="Calibri"/>
              </a:rPr>
              <a:t>              High Performance computing                   Unit 1</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6577</Words>
  <Application>Microsoft Macintosh PowerPoint</Application>
  <PresentationFormat>On-screen Show (4:3)</PresentationFormat>
  <Paragraphs>1181</Paragraphs>
  <Slides>92</Slides>
  <Notes>24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105" baseType="lpstr">
      <vt:lpstr>굴림</vt:lpstr>
      <vt:lpstr>Aptos</vt:lpstr>
      <vt:lpstr>Arial</vt:lpstr>
      <vt:lpstr>Calibri</vt:lpstr>
      <vt:lpstr>Georgia</vt:lpstr>
      <vt:lpstr>Segoe</vt:lpstr>
      <vt:lpstr>Symbol</vt:lpstr>
      <vt:lpstr>Tahoma</vt:lpstr>
      <vt:lpstr>Times New Roman</vt:lpstr>
      <vt:lpstr>Wingdings</vt:lpstr>
      <vt:lpstr>Wingdings 2</vt:lpstr>
      <vt:lpstr>Office Theme</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Analysis</vt:lpstr>
      <vt:lpstr>PowerPoint Presentation</vt:lpstr>
      <vt:lpstr>PowerPoint Presentation</vt:lpstr>
      <vt:lpstr>Computational Thinking</vt:lpstr>
      <vt:lpstr>Computational Thinking</vt:lpstr>
      <vt:lpstr>Computational Thinking</vt:lpstr>
      <vt:lpstr>What is Computational Thinking?</vt:lpstr>
      <vt:lpstr>What it’s not…</vt:lpstr>
      <vt:lpstr> Why is it important? </vt:lpstr>
      <vt:lpstr>What is happening in the World?</vt:lpstr>
      <vt:lpstr>What has been accomplished?</vt:lpstr>
      <vt:lpstr>Computational Thinking Concepts</vt:lpstr>
      <vt:lpstr>Computing</vt:lpstr>
      <vt:lpstr>Computing</vt:lpstr>
      <vt:lpstr>Why High Performance Computing?</vt:lpstr>
      <vt:lpstr>Benefits</vt:lpstr>
      <vt:lpstr>Applications of HPC</vt:lpstr>
      <vt:lpstr>HPC in Industry</vt:lpstr>
      <vt:lpstr>Pandemic &amp; Healthcare AI</vt:lpstr>
      <vt:lpstr>HPC Cloud Workflow</vt:lpstr>
      <vt:lpstr>Hybrid/Cloud HPC Platforms</vt:lpstr>
      <vt:lpstr>PowerPoint Presentation</vt:lpstr>
      <vt:lpstr>Parallel Programming Models</vt:lpstr>
      <vt:lpstr>Fundamental Design Issues</vt:lpstr>
      <vt:lpstr>Sequential Programming Model</vt:lpstr>
      <vt:lpstr>PowerPoint Presentation</vt:lpstr>
      <vt:lpstr>SAS Programming Model</vt:lpstr>
      <vt:lpstr>Shared Address Space Programming Model</vt:lpstr>
      <vt:lpstr>Synchronization</vt:lpstr>
      <vt:lpstr>MP Programming Model</vt:lpstr>
      <vt:lpstr>Message Passing Programming Model</vt:lpstr>
      <vt:lpstr>PowerPoint Presentation</vt:lpstr>
      <vt:lpstr>Parallel Programming Software Platforms</vt:lpstr>
      <vt:lpstr>Cloud Computing</vt:lpstr>
      <vt:lpstr>PowerPoint Presentation</vt:lpstr>
      <vt:lpstr>PowerPoint Presentation</vt:lpstr>
      <vt:lpstr>PowerPoint Presentation</vt:lpstr>
      <vt:lpstr>What is a Grid?</vt:lpstr>
      <vt:lpstr>Grid Architecture</vt:lpstr>
      <vt:lpstr>Why do we need Grids?</vt:lpstr>
      <vt:lpstr>Background: Related technologies</vt:lpstr>
      <vt:lpstr>Cluster computing</vt:lpstr>
      <vt:lpstr>Cluster Architecture</vt:lpstr>
      <vt:lpstr>Peer-to-Peer computing</vt:lpstr>
      <vt:lpstr>Peer to Peer architecture</vt:lpstr>
      <vt:lpstr>Internet computing</vt:lpstr>
      <vt:lpstr>Some Grid Applications</vt:lpstr>
      <vt:lpstr>Distributed Supercomputing</vt:lpstr>
      <vt:lpstr>High-throughput computing</vt:lpstr>
      <vt:lpstr>On-demand computing</vt:lpstr>
      <vt:lpstr>Data-intensive computing</vt:lpstr>
      <vt:lpstr>Collaborative computing</vt:lpstr>
      <vt:lpstr>Grid Communities</vt:lpstr>
      <vt:lpstr>Grid Users</vt:lpstr>
      <vt:lpstr>Some Grid challenges</vt:lpstr>
      <vt:lpstr>Cluster Computing</vt:lpstr>
      <vt:lpstr>PowerPoint Presentation</vt:lpstr>
      <vt:lpstr>Representation of Data  - Qubits</vt:lpstr>
      <vt:lpstr>Representation of Data - Superposition</vt:lpstr>
      <vt:lpstr>Representation of Data - Superposition</vt:lpstr>
      <vt:lpstr>Data Retrieval</vt:lpstr>
      <vt:lpstr>Relationships among data - Entanglement</vt:lpstr>
      <vt:lpstr>PowerPoint Presentation</vt:lpstr>
      <vt:lpstr>Graphical Processing Units (GPUs)</vt:lpstr>
      <vt:lpstr>GPGPU</vt:lpstr>
      <vt:lpstr>Speedup of Applications</vt:lpstr>
      <vt:lpstr>Single-Program Multiple-Data (SPMD)</vt:lpstr>
      <vt:lpstr>Grids and Blocks</vt:lpstr>
      <vt:lpstr>CUDA Thread Block</vt:lpstr>
      <vt:lpstr>CUDA Processor Terminology</vt:lpstr>
      <vt:lpstr>CUDA Device Memory</vt:lpstr>
      <vt:lpstr>Parallel Memory Sharing</vt:lpstr>
      <vt:lpstr>CUDA Programming Model: A Highly Multithreaded Coprocessor</vt:lpstr>
      <vt:lpstr>Block and Thread IDs</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Yohan Chhillar</cp:lastModifiedBy>
  <cp:revision>6</cp:revision>
  <dcterms:created xsi:type="dcterms:W3CDTF">2013-01-27T09:14:16Z</dcterms:created>
  <dcterms:modified xsi:type="dcterms:W3CDTF">2025-08-13T07:05:13Z</dcterms:modified>
  <cp:category/>
</cp:coreProperties>
</file>