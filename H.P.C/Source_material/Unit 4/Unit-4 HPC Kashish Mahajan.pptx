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8" r:id="rId1"/>
  </p:sldMasterIdLst>
  <p:notesMasterIdLst>
    <p:notesMasterId r:id="rId70"/>
  </p:notesMasterIdLst>
  <p:handoutMasterIdLst>
    <p:handoutMasterId r:id="rId71"/>
  </p:handoutMasterIdLst>
  <p:sldIdLst>
    <p:sldId id="1092" r:id="rId2"/>
    <p:sldId id="1493" r:id="rId3"/>
    <p:sldId id="1502" r:id="rId4"/>
    <p:sldId id="1501" r:id="rId5"/>
    <p:sldId id="1503" r:id="rId6"/>
    <p:sldId id="278" r:id="rId7"/>
    <p:sldId id="279" r:id="rId8"/>
    <p:sldId id="1402" r:id="rId9"/>
    <p:sldId id="1403" r:id="rId10"/>
    <p:sldId id="531" r:id="rId11"/>
    <p:sldId id="1404" r:id="rId12"/>
    <p:sldId id="1405" r:id="rId13"/>
    <p:sldId id="1415" r:id="rId14"/>
    <p:sldId id="1416" r:id="rId15"/>
    <p:sldId id="1417" r:id="rId16"/>
    <p:sldId id="291" r:id="rId17"/>
    <p:sldId id="1408" r:id="rId18"/>
    <p:sldId id="1409" r:id="rId19"/>
    <p:sldId id="1406" r:id="rId20"/>
    <p:sldId id="286" r:id="rId21"/>
    <p:sldId id="257" r:id="rId22"/>
    <p:sldId id="366" r:id="rId23"/>
    <p:sldId id="1494" r:id="rId24"/>
    <p:sldId id="1495" r:id="rId25"/>
    <p:sldId id="1496" r:id="rId26"/>
    <p:sldId id="256" r:id="rId27"/>
    <p:sldId id="1461" r:id="rId28"/>
    <p:sldId id="1497" r:id="rId29"/>
    <p:sldId id="1498" r:id="rId30"/>
    <p:sldId id="1462" r:id="rId31"/>
    <p:sldId id="1460" r:id="rId32"/>
    <p:sldId id="1463" r:id="rId33"/>
    <p:sldId id="1504" r:id="rId34"/>
    <p:sldId id="1464" r:id="rId35"/>
    <p:sldId id="1499" r:id="rId36"/>
    <p:sldId id="1479" r:id="rId37"/>
    <p:sldId id="1480" r:id="rId38"/>
    <p:sldId id="1465" r:id="rId39"/>
    <p:sldId id="1466" r:id="rId40"/>
    <p:sldId id="1484" r:id="rId41"/>
    <p:sldId id="1481" r:id="rId42"/>
    <p:sldId id="1482" r:id="rId43"/>
    <p:sldId id="1483" r:id="rId44"/>
    <p:sldId id="258" r:id="rId45"/>
    <p:sldId id="1485" r:id="rId46"/>
    <p:sldId id="1467" r:id="rId47"/>
    <p:sldId id="1486" r:id="rId48"/>
    <p:sldId id="1470" r:id="rId49"/>
    <p:sldId id="1487" r:id="rId50"/>
    <p:sldId id="1488" r:id="rId51"/>
    <p:sldId id="259" r:id="rId52"/>
    <p:sldId id="1468" r:id="rId53"/>
    <p:sldId id="1469" r:id="rId54"/>
    <p:sldId id="1471" r:id="rId55"/>
    <p:sldId id="1472" r:id="rId56"/>
    <p:sldId id="1500" r:id="rId57"/>
    <p:sldId id="1473" r:id="rId58"/>
    <p:sldId id="1474" r:id="rId59"/>
    <p:sldId id="331" r:id="rId60"/>
    <p:sldId id="1489" r:id="rId61"/>
    <p:sldId id="1490" r:id="rId62"/>
    <p:sldId id="1491" r:id="rId63"/>
    <p:sldId id="1081" r:id="rId64"/>
    <p:sldId id="1492" r:id="rId65"/>
    <p:sldId id="319" r:id="rId66"/>
    <p:sldId id="280" r:id="rId67"/>
    <p:sldId id="1085" r:id="rId68"/>
    <p:sldId id="283" r:id="rId6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shish Mahajan" initials="KM" lastIdx="1" clrIdx="0">
    <p:extLst>
      <p:ext uri="{19B8F6BF-5375-455C-9EA6-DF929625EA0E}">
        <p15:presenceInfo xmlns:p15="http://schemas.microsoft.com/office/powerpoint/2012/main" userId="37c40a8f74caf4a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C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6" autoAdjust="0"/>
    <p:restoredTop sz="94660"/>
  </p:normalViewPr>
  <p:slideViewPr>
    <p:cSldViewPr snapToGrid="0">
      <p:cViewPr varScale="1">
        <p:scale>
          <a:sx n="62" d="100"/>
          <a:sy n="62" d="100"/>
        </p:scale>
        <p:origin x="72" y="499"/>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3F7444EE-80E1-4528-B634-3BD1D810B774}" type="datetime1">
              <a:rPr lang="en-US" smtClean="0"/>
              <a:t>03-Nov-25</a:t>
            </a:fld>
            <a:endParaRPr lang="en-US"/>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AAD7656A-59C1-4EA8-86B6-85DA6F15CC7C}"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D22703ED-E1D0-4CCD-ABC9-EE66E6549D56}" type="datetime1">
              <a:rPr lang="en-US" smtClean="0"/>
              <a:t>03-Nov-25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CB5DDF0-EF1A-428D-B986-B55564525F08}" type="slidenum">
              <a:rPr lang="en-US" smtClean="0"/>
              <a:pPr/>
              <a:t>‹#›</a:t>
            </a:fld>
            <a:endParaRPr lang="en-US"/>
          </a:p>
        </p:txBody>
      </p:sp>
    </p:spTree>
    <p:extLst>
      <p:ext uri="{BB962C8B-B14F-4D97-AF65-F5344CB8AC3E}">
        <p14:creationId xmlns:p14="http://schemas.microsoft.com/office/powerpoint/2010/main" val="182608779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
        <p:nvSpPr>
          <p:cNvPr id="5" name="Date Placeholder 4">
            <a:extLst>
              <a:ext uri="{FF2B5EF4-FFF2-40B4-BE49-F238E27FC236}">
                <a16:creationId xmlns:a16="http://schemas.microsoft.com/office/drawing/2014/main" id="{A43B8D3A-5179-450C-BEBF-922FF580FAC1}"/>
              </a:ext>
            </a:extLst>
          </p:cNvPr>
          <p:cNvSpPr>
            <a:spLocks noGrp="1"/>
          </p:cNvSpPr>
          <p:nvPr>
            <p:ph type="dt" idx="1"/>
          </p:nvPr>
        </p:nvSpPr>
        <p:spPr/>
        <p:txBody>
          <a:bodyPr/>
          <a:lstStyle/>
          <a:p>
            <a:fld id="{07F61AB1-F328-4D75-96C2-6F742844C045}" type="datetime1">
              <a:rPr lang="en-US" smtClean="0"/>
              <a:t>03-Nov-25</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CFA7C-FAF0-2F25-1596-2ABC13AB1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7DBB3-2F04-4F96-E81A-C83C92B49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95144-6A59-CA5F-2F6E-AF36F7EB8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BDA84-703B-649B-AFAD-D7915E509935}"/>
              </a:ext>
            </a:extLst>
          </p:cNvPr>
          <p:cNvSpPr>
            <a:spLocks noGrp="1"/>
          </p:cNvSpPr>
          <p:nvPr>
            <p:ph type="sldNum" sz="quarter" idx="5"/>
          </p:nvPr>
        </p:nvSpPr>
        <p:spPr/>
        <p:txBody>
          <a:bodyPr/>
          <a:lstStyle/>
          <a:p>
            <a:fld id="{042425D3-3439-404A-93A1-697D43ECE8AA}" type="slidenum">
              <a:rPr lang="en-IN" smtClean="0"/>
              <a:pPr/>
              <a:t>2</a:t>
            </a:fld>
            <a:endParaRPr lang="en-IN"/>
          </a:p>
        </p:txBody>
      </p:sp>
    </p:spTree>
    <p:extLst>
      <p:ext uri="{BB962C8B-B14F-4D97-AF65-F5344CB8AC3E}">
        <p14:creationId xmlns:p14="http://schemas.microsoft.com/office/powerpoint/2010/main" val="420261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A0697-624B-38D4-34A6-40E5B4FE5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0DBD6-7571-5965-75F9-AD99EC257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0340A-17D4-4D21-599A-79CAD45972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A2308-618E-C1EA-359C-BC5A4CEC3C99}"/>
              </a:ext>
            </a:extLst>
          </p:cNvPr>
          <p:cNvSpPr>
            <a:spLocks noGrp="1"/>
          </p:cNvSpPr>
          <p:nvPr>
            <p:ph type="sldNum" sz="quarter" idx="5"/>
          </p:nvPr>
        </p:nvSpPr>
        <p:spPr/>
        <p:txBody>
          <a:bodyPr/>
          <a:lstStyle/>
          <a:p>
            <a:fld id="{042425D3-3439-404A-93A1-697D43ECE8AA}" type="slidenum">
              <a:rPr lang="en-IN" smtClean="0"/>
              <a:pPr/>
              <a:t>3</a:t>
            </a:fld>
            <a:endParaRPr lang="en-IN"/>
          </a:p>
        </p:txBody>
      </p:sp>
    </p:spTree>
    <p:extLst>
      <p:ext uri="{BB962C8B-B14F-4D97-AF65-F5344CB8AC3E}">
        <p14:creationId xmlns:p14="http://schemas.microsoft.com/office/powerpoint/2010/main" val="14847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817D-54DD-7921-1DCB-A6BE2809B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E0FFC-0D3C-6DAB-F3C1-86F01B2C43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83F9B-E0D1-D2F2-B186-FE16FE2B5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FF642-CD17-8DCA-40A8-775ADF2DAB8F}"/>
              </a:ext>
            </a:extLst>
          </p:cNvPr>
          <p:cNvSpPr>
            <a:spLocks noGrp="1"/>
          </p:cNvSpPr>
          <p:nvPr>
            <p:ph type="sldNum" sz="quarter" idx="5"/>
          </p:nvPr>
        </p:nvSpPr>
        <p:spPr/>
        <p:txBody>
          <a:bodyPr/>
          <a:lstStyle/>
          <a:p>
            <a:fld id="{042425D3-3439-404A-93A1-697D43ECE8AA}" type="slidenum">
              <a:rPr lang="en-IN" smtClean="0"/>
              <a:pPr/>
              <a:t>5</a:t>
            </a:fld>
            <a:endParaRPr lang="en-IN"/>
          </a:p>
        </p:txBody>
      </p:sp>
    </p:spTree>
    <p:extLst>
      <p:ext uri="{BB962C8B-B14F-4D97-AF65-F5344CB8AC3E}">
        <p14:creationId xmlns:p14="http://schemas.microsoft.com/office/powerpoint/2010/main" val="1376531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Notes Placeholder">
            <a:extLst>
              <a:ext uri="{FF2B5EF4-FFF2-40B4-BE49-F238E27FC236}">
                <a16:creationId xmlns:a16="http://schemas.microsoft.com/office/drawing/2014/main" id="{1460062A-FF66-0213-D75E-B878BB5E3B5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Notes Placeholder">
            <a:extLst>
              <a:ext uri="{FF2B5EF4-FFF2-40B4-BE49-F238E27FC236}">
                <a16:creationId xmlns:a16="http://schemas.microsoft.com/office/drawing/2014/main" id="{9A0FCE2D-B484-01A2-146C-FC46FF65140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46582-4A1D-7A1D-8D46-1B777DACF503}"/>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28930424-1B53-E985-680A-08108347115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592842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A6B8A-F856-3FC5-756B-8FD919487A4C}"/>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75962E0A-C604-DE3E-1C24-BE57825E1BC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149888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2718-6DAC-1C42-59D8-DC5310D486E3}"/>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98B97D49-7A6A-4952-C709-399BF1EA4DC2}"/>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135809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40642-045F-B7CE-D6A2-AD8E21CADB3E}"/>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C5863F71-E3D2-5C4E-FE9C-B9F08DE180BE}"/>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695378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5936-1BC1-713D-8F5B-3A80E96306DB}"/>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E7E937BE-4875-FD3D-0B43-4F5D3FCE85F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816187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66790-FA63-49C2-AF60-3AE43F098841}"/>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30F00E21-9891-8927-738A-C88A089BE37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67751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4903-8566-1DCC-8FED-23F6BEEDDAEF}"/>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357074EE-A3E8-1AF2-925B-2BA7C02FF6C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870770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03BE0-553C-0C51-FD8C-18A3CC6828AB}"/>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F8814FB2-83E5-999F-35E7-BA26D0DA521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352002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4567-662E-A1CD-564A-83B68A859734}"/>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FCA615ED-F328-D9AF-B4A5-8F7F00795A6E}"/>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4067915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2B918-F255-F9EC-2EFC-7F0182397609}"/>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9C1F1738-EE92-A712-1F34-64BA5E44047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045670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2E5A-C74E-550B-7542-D2237B36B9E5}"/>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715E4ACC-8D66-C96B-ECF2-013506E587B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251950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23A8D-AFDB-1319-79A0-22320A4C87FA}"/>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DC9A0AF2-4A6C-59A2-4BC1-BA66D7BB964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528618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CD8A5-D7A4-6997-38EB-E023250B92F5}"/>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45BBBDB4-A318-EBC0-D52B-88A362EEBC4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755625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F182-5ED5-5C8B-F87A-8675E56FBC2B}"/>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80FBDB56-C4A8-8D5C-6DC4-080922EED2D0}"/>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876267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797FD-6A21-4BD6-C23A-198132DEFB05}"/>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8F33539F-1C70-6A17-5AA0-6F1B8A92D66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752207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A7A4-955C-D40C-93E9-3901CAE247A2}"/>
            </a:ext>
          </a:extLst>
        </p:cNvPr>
        <p:cNvGrpSpPr/>
        <p:nvPr/>
      </p:nvGrpSpPr>
      <p:grpSpPr>
        <a:xfrm>
          <a:off x="0" y="0"/>
          <a:ext cx="0" cy="0"/>
          <a:chOff x="0" y="0"/>
          <a:chExt cx="0" cy="0"/>
        </a:xfrm>
      </p:grpSpPr>
      <p:sp>
        <p:nvSpPr>
          <p:cNvPr id="36866" name="Notes Placeholder">
            <a:extLst>
              <a:ext uri="{FF2B5EF4-FFF2-40B4-BE49-F238E27FC236}">
                <a16:creationId xmlns:a16="http://schemas.microsoft.com/office/drawing/2014/main" id="{D1983ED1-81AE-E603-0670-C33D5F3CEC0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669628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Notes Placeholder">
            <a:extLst>
              <a:ext uri="{FF2B5EF4-FFF2-40B4-BE49-F238E27FC236}">
                <a16:creationId xmlns:a16="http://schemas.microsoft.com/office/drawing/2014/main" id="{44FFA8A5-812B-FCB0-51C5-1729B88895F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F5248-5F3D-2893-52F4-952787612DBD}"/>
            </a:ext>
          </a:extLst>
        </p:cNvPr>
        <p:cNvGrpSpPr/>
        <p:nvPr/>
      </p:nvGrpSpPr>
      <p:grpSpPr>
        <a:xfrm>
          <a:off x="0" y="0"/>
          <a:ext cx="0" cy="0"/>
          <a:chOff x="0" y="0"/>
          <a:chExt cx="0" cy="0"/>
        </a:xfrm>
      </p:grpSpPr>
      <p:sp>
        <p:nvSpPr>
          <p:cNvPr id="37890" name="Notes Placeholder">
            <a:extLst>
              <a:ext uri="{FF2B5EF4-FFF2-40B4-BE49-F238E27FC236}">
                <a16:creationId xmlns:a16="http://schemas.microsoft.com/office/drawing/2014/main" id="{323FD2C9-5650-3809-2BBD-F349348B0019}"/>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2365857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AA2E-EFF9-13CC-46CD-A58852F82941}"/>
            </a:ext>
          </a:extLst>
        </p:cNvPr>
        <p:cNvGrpSpPr/>
        <p:nvPr/>
      </p:nvGrpSpPr>
      <p:grpSpPr>
        <a:xfrm>
          <a:off x="0" y="0"/>
          <a:ext cx="0" cy="0"/>
          <a:chOff x="0" y="0"/>
          <a:chExt cx="0" cy="0"/>
        </a:xfrm>
      </p:grpSpPr>
      <p:sp>
        <p:nvSpPr>
          <p:cNvPr id="37890" name="Notes Placeholder">
            <a:extLst>
              <a:ext uri="{FF2B5EF4-FFF2-40B4-BE49-F238E27FC236}">
                <a16:creationId xmlns:a16="http://schemas.microsoft.com/office/drawing/2014/main" id="{6F69B70B-5501-3EFF-C954-4AC702FC848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124484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11396-3974-83B5-D6B7-52960859D42C}"/>
            </a:ext>
          </a:extLst>
        </p:cNvPr>
        <p:cNvGrpSpPr/>
        <p:nvPr/>
      </p:nvGrpSpPr>
      <p:grpSpPr>
        <a:xfrm>
          <a:off x="0" y="0"/>
          <a:ext cx="0" cy="0"/>
          <a:chOff x="0" y="0"/>
          <a:chExt cx="0" cy="0"/>
        </a:xfrm>
      </p:grpSpPr>
      <p:sp>
        <p:nvSpPr>
          <p:cNvPr id="37890" name="Notes Placeholder">
            <a:extLst>
              <a:ext uri="{FF2B5EF4-FFF2-40B4-BE49-F238E27FC236}">
                <a16:creationId xmlns:a16="http://schemas.microsoft.com/office/drawing/2014/main" id="{B08A27B2-28D5-4B4E-75C4-5F1FA99BA8AF}"/>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186103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DA4D-15E4-365C-2106-2452884DB2E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9720A219-F779-4944-B330-47261FB3763C}"/>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732753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E5B5-FBC8-77E5-B388-D747617734D2}"/>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ED1A90E8-D3E0-E78F-4D31-0C69D6E6EEAF}"/>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567352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162F0-010A-222E-3AAE-AD7A598C3305}"/>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D4F5E032-CA7F-3188-9D93-92133878DED9}"/>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542392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CD2A068-27B8-844F-12A1-756BDDA42BD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B58A-9282-ABCC-3B25-EC8A281FF46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9DE63D1-62E0-74E9-4CB5-B4E983784C2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511256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C286-4F20-212C-7D6B-6B199A6CD41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A9D2E45-29AF-6EA1-C21F-DA6B6CA09E5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41395425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3BDF1-892F-58FB-77C5-283D96E2E3F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199525B3-CAAC-CCCE-C2DA-AF72D74DEEE6}"/>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21195620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56C6-6CBA-17A3-F21B-6C0650583CF7}"/>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3B769131-934A-BD66-5896-1DCD5292A83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41590653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04387-C9FE-0384-29E9-D6D9D550B1B3}"/>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799908B4-AD36-F0B1-D44C-F4AF01A85E6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1014030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AD23-0874-4356-97C9-3BAEED1A5B1E}"/>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E09F5655-0E3B-CEF2-FDBF-C47033D5059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658435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87AA-0A1F-C976-AC2A-C3F59ECFC2B9}"/>
            </a:ext>
          </a:extLst>
        </p:cNvPr>
        <p:cNvGrpSpPr/>
        <p:nvPr/>
      </p:nvGrpSpPr>
      <p:grpSpPr>
        <a:xfrm>
          <a:off x="0" y="0"/>
          <a:ext cx="0" cy="0"/>
          <a:chOff x="0" y="0"/>
          <a:chExt cx="0" cy="0"/>
        </a:xfrm>
      </p:grpSpPr>
      <p:sp>
        <p:nvSpPr>
          <p:cNvPr id="38914" name="Notes Placeholder">
            <a:extLst>
              <a:ext uri="{FF2B5EF4-FFF2-40B4-BE49-F238E27FC236}">
                <a16:creationId xmlns:a16="http://schemas.microsoft.com/office/drawing/2014/main" id="{AA9F71E9-043C-F980-7C39-BC4460A1DD47}"/>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25000" lnSpcReduction="20000"/>
          </a:bodyPr>
          <a:lstStyle/>
          <a:p>
            <a:pPr>
              <a:spcBef>
                <a:spcPct val="0"/>
              </a:spcBef>
            </a:pPr>
            <a:endParaRPr lang="en-US" altLang="en-US"/>
          </a:p>
        </p:txBody>
      </p:sp>
    </p:spTree>
    <p:extLst>
      <p:ext uri="{BB962C8B-B14F-4D97-AF65-F5344CB8AC3E}">
        <p14:creationId xmlns:p14="http://schemas.microsoft.com/office/powerpoint/2010/main" val="3354341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880614-DC01-4470-BE54-127DDF8EB52F}" type="datetime3">
              <a:rPr lang="en-US" smtClean="0"/>
              <a:t>3 November 2025</a:t>
            </a:fld>
            <a:endParaRPr lang="en-US" dirty="0"/>
          </a:p>
        </p:txBody>
      </p:sp>
      <p:sp>
        <p:nvSpPr>
          <p:cNvPr id="5" name="Footer Placeholder 4"/>
          <p:cNvSpPr>
            <a:spLocks noGrp="1"/>
          </p:cNvSpPr>
          <p:nvPr>
            <p:ph type="ftr" sz="quarter" idx="11"/>
          </p:nvPr>
        </p:nvSpPr>
        <p:spPr/>
        <p:txBody>
          <a:bodyPr/>
          <a:lstStyle/>
          <a:p>
            <a:r>
              <a:rPr lang="de-DE" dirty="0"/>
              <a:t>Kashish Mahajan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16851A-4FDD-407F-8579-AB6BEFAEEB52}" type="datetime3">
              <a:rPr lang="en-US" smtClean="0"/>
              <a:t>3 November 2025</a:t>
            </a:fld>
            <a:endParaRPr lang="en-US" dirty="0"/>
          </a:p>
        </p:txBody>
      </p:sp>
      <p:sp>
        <p:nvSpPr>
          <p:cNvPr id="5" name="Footer Placeholder 4"/>
          <p:cNvSpPr>
            <a:spLocks noGrp="1"/>
          </p:cNvSpPr>
          <p:nvPr>
            <p:ph type="ftr" sz="quarter" idx="11"/>
          </p:nvPr>
        </p:nvSpPr>
        <p:spPr/>
        <p:txBody>
          <a:bodyPr/>
          <a:lstStyle/>
          <a:p>
            <a:r>
              <a:rPr lang="de-DE" dirty="0"/>
              <a:t>Kashish Mahajan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pic>
        <p:nvPicPr>
          <p:cNvPr id="9" name="Picture 2" descr="E:\NIET\Project\xLogo11.png.pagespeed.ic.pydHLuCQEZ.png"/>
          <p:cNvPicPr>
            <a:picLocks noChangeAspect="1" noChangeArrowheads="1"/>
          </p:cNvPicPr>
          <p:nvPr userDrawn="1"/>
        </p:nvPicPr>
        <p:blipFill>
          <a:blip r:embed="rId2" cstate="print"/>
          <a:srcRect/>
          <a:stretch>
            <a:fillRect/>
          </a:stretch>
        </p:blipFill>
        <p:spPr bwMode="auto">
          <a:xfrm>
            <a:off x="28956" y="1"/>
            <a:ext cx="1418844" cy="761999"/>
          </a:xfrm>
          <a:prstGeom prst="rect">
            <a:avLst/>
          </a:prstGeom>
          <a:noFill/>
        </p:spPr>
      </p:pic>
      <p:sp>
        <p:nvSpPr>
          <p:cNvPr id="10" name="Title 1"/>
          <p:cNvSpPr txBox="1">
            <a:spLocks/>
          </p:cNvSpPr>
          <p:nvPr userDrawn="1"/>
        </p:nvSpPr>
        <p:spPr>
          <a:xfrm>
            <a:off x="1676400" y="0"/>
            <a:ext cx="7467600" cy="63950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THE CONCEPT LEARNING TASK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801872-423D-4FAF-BBCB-0DEE7099E227}" type="datetime3">
              <a:rPr lang="en-US" smtClean="0"/>
              <a:t>3 November 2025</a:t>
            </a:fld>
            <a:endParaRPr lang="en-US" dirty="0"/>
          </a:p>
        </p:txBody>
      </p:sp>
      <p:sp>
        <p:nvSpPr>
          <p:cNvPr id="5" name="Footer Placeholder 4"/>
          <p:cNvSpPr>
            <a:spLocks noGrp="1"/>
          </p:cNvSpPr>
          <p:nvPr>
            <p:ph type="ftr" sz="quarter" idx="11"/>
          </p:nvPr>
        </p:nvSpPr>
        <p:spPr/>
        <p:txBody>
          <a:bodyPr/>
          <a:lstStyle/>
          <a:p>
            <a:r>
              <a:rPr lang="de-DE" dirty="0"/>
              <a:t>Kashish Mahajan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FF6C0F9-3346-4CC6-A26A-7B66C610A119}" type="datetime3">
              <a:rPr lang="en-US" smtClean="0"/>
              <a:t>3 November 2025</a:t>
            </a:fld>
            <a:endParaRPr lang="en-US" dirty="0"/>
          </a:p>
        </p:txBody>
      </p:sp>
      <p:sp>
        <p:nvSpPr>
          <p:cNvPr id="6" name="Footer Placeholder 5"/>
          <p:cNvSpPr>
            <a:spLocks noGrp="1"/>
          </p:cNvSpPr>
          <p:nvPr>
            <p:ph type="ftr" sz="quarter" idx="11"/>
          </p:nvPr>
        </p:nvSpPr>
        <p:spPr/>
        <p:txBody>
          <a:bodyPr/>
          <a:lstStyle/>
          <a:p>
            <a:r>
              <a:rPr lang="de-DE" dirty="0"/>
              <a:t>Kashish Mahajan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961F44-5C76-4F48-9DB8-D6D49E87435A}" type="datetime3">
              <a:rPr lang="en-US" smtClean="0"/>
              <a:t>3 November 2025</a:t>
            </a:fld>
            <a:endParaRPr lang="en-US" dirty="0"/>
          </a:p>
        </p:txBody>
      </p:sp>
      <p:sp>
        <p:nvSpPr>
          <p:cNvPr id="8" name="Footer Placeholder 7"/>
          <p:cNvSpPr>
            <a:spLocks noGrp="1"/>
          </p:cNvSpPr>
          <p:nvPr>
            <p:ph type="ftr" sz="quarter" idx="11"/>
          </p:nvPr>
        </p:nvSpPr>
        <p:spPr/>
        <p:txBody>
          <a:bodyPr/>
          <a:lstStyle/>
          <a:p>
            <a:r>
              <a:rPr lang="de-DE" dirty="0"/>
              <a:t>Kashish Mahajan              UNIT 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6A1AE3-2E49-45BC-B533-BB94033F21A4}" type="datetime3">
              <a:rPr lang="en-US" smtClean="0"/>
              <a:t>3 November 2025</a:t>
            </a:fld>
            <a:endParaRPr lang="en-US" dirty="0"/>
          </a:p>
        </p:txBody>
      </p:sp>
      <p:sp>
        <p:nvSpPr>
          <p:cNvPr id="4" name="Footer Placeholder 3"/>
          <p:cNvSpPr>
            <a:spLocks noGrp="1"/>
          </p:cNvSpPr>
          <p:nvPr>
            <p:ph type="ftr" sz="quarter" idx="11"/>
          </p:nvPr>
        </p:nvSpPr>
        <p:spPr/>
        <p:txBody>
          <a:bodyPr/>
          <a:lstStyle/>
          <a:p>
            <a:r>
              <a:rPr lang="de-DE" dirty="0"/>
              <a:t>Kashish Mahajan              UNIT 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EEC41A-A39D-4364-A7C3-8D001F3F102C}" type="datetime3">
              <a:rPr lang="en-US" smtClean="0"/>
              <a:t>3 November 2025</a:t>
            </a:fld>
            <a:endParaRPr lang="en-US" dirty="0"/>
          </a:p>
        </p:txBody>
      </p:sp>
      <p:sp>
        <p:nvSpPr>
          <p:cNvPr id="3" name="Footer Placeholder 2"/>
          <p:cNvSpPr>
            <a:spLocks noGrp="1"/>
          </p:cNvSpPr>
          <p:nvPr>
            <p:ph type="ftr" sz="quarter" idx="11"/>
          </p:nvPr>
        </p:nvSpPr>
        <p:spPr/>
        <p:txBody>
          <a:bodyPr/>
          <a:lstStyle/>
          <a:p>
            <a:r>
              <a:rPr lang="de-DE" dirty="0"/>
              <a:t>Kashish Mahajan              UNIT 4</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pic>
        <p:nvPicPr>
          <p:cNvPr id="5" name="Picture 2" descr="E:\NIET\Project\xLogo11.png.pagespeed.ic.pydHLuCQEZ.png"/>
          <p:cNvPicPr>
            <a:picLocks noChangeAspect="1" noChangeArrowheads="1"/>
          </p:cNvPicPr>
          <p:nvPr userDrawn="1"/>
        </p:nvPicPr>
        <p:blipFill>
          <a:blip r:embed="rId2" cstate="print"/>
          <a:srcRect/>
          <a:stretch>
            <a:fillRect/>
          </a:stretch>
        </p:blipFill>
        <p:spPr bwMode="auto">
          <a:xfrm>
            <a:off x="0" y="0"/>
            <a:ext cx="1447800" cy="817163"/>
          </a:xfrm>
          <a:prstGeom prst="rect">
            <a:avLst/>
          </a:prstGeom>
          <a:noFill/>
        </p:spPr>
      </p:pic>
      <p:sp>
        <p:nvSpPr>
          <p:cNvPr id="6" name="Title 1"/>
          <p:cNvSpPr txBox="1">
            <a:spLocks/>
          </p:cNvSpPr>
          <p:nvPr userDrawn="1"/>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CONTENT</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D06164-249C-4C14-AA42-E01BD1FF6BD0}" type="datetime3">
              <a:rPr lang="en-US" smtClean="0"/>
              <a:t>3 November 2025</a:t>
            </a:fld>
            <a:endParaRPr lang="en-US" dirty="0"/>
          </a:p>
        </p:txBody>
      </p:sp>
      <p:sp>
        <p:nvSpPr>
          <p:cNvPr id="6" name="Footer Placeholder 5"/>
          <p:cNvSpPr>
            <a:spLocks noGrp="1"/>
          </p:cNvSpPr>
          <p:nvPr>
            <p:ph type="ftr" sz="quarter" idx="11"/>
          </p:nvPr>
        </p:nvSpPr>
        <p:spPr/>
        <p:txBody>
          <a:bodyPr/>
          <a:lstStyle/>
          <a:p>
            <a:r>
              <a:rPr lang="de-DE" dirty="0"/>
              <a:t>Kashish Mahajan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002668-B6A2-4ABD-A101-BD73A0E9D0C0}" type="datetime3">
              <a:rPr lang="en-US" smtClean="0"/>
              <a:t>3 November 2025</a:t>
            </a:fld>
            <a:endParaRPr lang="en-US" dirty="0"/>
          </a:p>
        </p:txBody>
      </p:sp>
      <p:sp>
        <p:nvSpPr>
          <p:cNvPr id="6" name="Footer Placeholder 5"/>
          <p:cNvSpPr>
            <a:spLocks noGrp="1"/>
          </p:cNvSpPr>
          <p:nvPr>
            <p:ph type="ftr" sz="quarter" idx="11"/>
          </p:nvPr>
        </p:nvSpPr>
        <p:spPr/>
        <p:txBody>
          <a:bodyPr/>
          <a:lstStyle/>
          <a:p>
            <a:r>
              <a:rPr lang="de-DE" dirty="0"/>
              <a:t>Kashish Mahajan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76029B-5D5F-48B5-AC58-5EADB5DF1D4D}" type="datetime3">
              <a:rPr lang="en-US" smtClean="0"/>
              <a:t>3 November 2025</a:t>
            </a:fld>
            <a:endParaRPr lang="en-US" dirty="0"/>
          </a:p>
        </p:txBody>
      </p:sp>
      <p:sp>
        <p:nvSpPr>
          <p:cNvPr id="5" name="Footer Placeholder 4"/>
          <p:cNvSpPr>
            <a:spLocks noGrp="1"/>
          </p:cNvSpPr>
          <p:nvPr>
            <p:ph type="ftr" sz="quarter" idx="11"/>
          </p:nvPr>
        </p:nvSpPr>
        <p:spPr/>
        <p:txBody>
          <a:bodyPr/>
          <a:lstStyle/>
          <a:p>
            <a:r>
              <a:rPr lang="de-DE" dirty="0"/>
              <a:t>Kashish Mahajan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7939B0-EA08-4CAD-9788-A7D9792FA757}" type="datetime3">
              <a:rPr lang="en-US" smtClean="0"/>
              <a:t>3 November 2025</a:t>
            </a:fld>
            <a:endParaRPr lang="en-US" dirty="0"/>
          </a:p>
        </p:txBody>
      </p:sp>
      <p:sp>
        <p:nvSpPr>
          <p:cNvPr id="5" name="Footer Placeholder 4"/>
          <p:cNvSpPr>
            <a:spLocks noGrp="1"/>
          </p:cNvSpPr>
          <p:nvPr>
            <p:ph type="ftr" sz="quarter" idx="11"/>
          </p:nvPr>
        </p:nvSpPr>
        <p:spPr/>
        <p:txBody>
          <a:bodyPr/>
          <a:lstStyle/>
          <a:p>
            <a:r>
              <a:rPr lang="de-DE" dirty="0"/>
              <a:t>Kashish Mahajan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A79330-8228-4F21-8E14-0D52F663773B}" type="datetime3">
              <a:rPr lang="en-US" smtClean="0"/>
              <a:t>3 November 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Kashish Mahajan              UNIT 4</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youtu.be/7rooWbLe1iI?si=hgkzh6bYDcxLxRQd"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youtube.com/watch?v=N_1QP_3nA48&amp;pp=ygURY2x1c3RlciBjb21wdXRpbmc%3D" TargetMode="External"/><Relationship Id="rId7" Type="http://schemas.openxmlformats.org/officeDocument/2006/relationships/image" Target="../media/image3.png"/><Relationship Id="rId2" Type="http://schemas.openxmlformats.org/officeDocument/2006/relationships/hyperlink" Target="https://www.youtube.com/watch?v=7rooWbLe1iI&amp;pp=ygURY2x1c3RlciBjb21wdXRpbmc%3D"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www.youtube.com/watch?v=M-HA-Mt7jPY&amp;pp=ygURY2x1c3RlciBjb21wdXRpbmc%3D" TargetMode="External"/><Relationship Id="rId4" Type="http://schemas.openxmlformats.org/officeDocument/2006/relationships/hyperlink" Target="https://www.youtube.com/watch?v=jhxbk6AlCps&amp;pp=ygULYmxhcyBsYXBhY2s%3D"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p:cNvSpPr>
            <a:spLocks noGrp="1"/>
          </p:cNvSpPr>
          <p:nvPr>
            <p:ph type="dt" sz="half" idx="10"/>
          </p:nvPr>
        </p:nvSpPr>
        <p:spPr>
          <a:xfrm>
            <a:off x="381000" y="6492875"/>
            <a:ext cx="2133600" cy="365125"/>
          </a:xfrm>
          <a:prstGeom prst="rect">
            <a:avLst/>
          </a:prstGeom>
        </p:spPr>
        <p:txBody>
          <a:bodyPr/>
          <a:lstStyle/>
          <a:p>
            <a:fld id="{F1EC98F7-1C54-4A66-8BBB-C9FF07143F63}" type="datetime3">
              <a:rPr lang="en-US" sz="2000" smtClean="0"/>
              <a:t>3 November 2025</a:t>
            </a:fld>
            <a:endParaRPr lang="en-US" sz="2000" dirty="0"/>
          </a:p>
        </p:txBody>
      </p:sp>
      <p:sp>
        <p:nvSpPr>
          <p:cNvPr id="10" name="Slide Number Placeholder 9"/>
          <p:cNvSpPr>
            <a:spLocks noGrp="1"/>
          </p:cNvSpPr>
          <p:nvPr>
            <p:ph type="sldNum" sz="quarter" idx="12"/>
          </p:nvPr>
        </p:nvSpPr>
        <p:spPr>
          <a:prstGeom prst="rect">
            <a:avLst/>
          </a:prstGeom>
        </p:spPr>
        <p:txBody>
          <a:bodyPr/>
          <a:lstStyle/>
          <a:p>
            <a:fld id="{B6F15528-21DE-4FAA-801E-634DDDAF4B2B}" type="slidenum">
              <a:rPr lang="en-US" sz="2000" smtClean="0"/>
              <a:pPr/>
              <a:t>1</a:t>
            </a:fld>
            <a:endParaRPr lang="en-US" sz="2000" dirty="0"/>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6" name="Subtitle 2"/>
          <p:cNvSpPr txBox="1">
            <a:spLocks/>
          </p:cNvSpPr>
          <p:nvPr/>
        </p:nvSpPr>
        <p:spPr>
          <a:xfrm>
            <a:off x="5660028" y="4347569"/>
            <a:ext cx="3048000" cy="1752600"/>
          </a:xfrm>
          <a:prstGeom prst="rect">
            <a:avLst/>
          </a:prstGeom>
          <a:ln>
            <a:solidFill>
              <a:srgbClr val="FF9C9C"/>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Ms. Kashish Mahajan               </a:t>
            </a:r>
          </a:p>
          <a:p>
            <a:pPr algn="ctr">
              <a:spcBef>
                <a:spcPct val="20000"/>
              </a:spcBef>
              <a:defRPr/>
            </a:pPr>
            <a:r>
              <a:rPr lang="en-US" sz="2000" dirty="0">
                <a:solidFill>
                  <a:schemeClr val="tx1"/>
                </a:solidFill>
              </a:rPr>
              <a:t>Assistant Professor</a:t>
            </a:r>
          </a:p>
          <a:p>
            <a:pPr algn="ctr">
              <a:spcBef>
                <a:spcPct val="20000"/>
              </a:spcBef>
              <a:defRPr/>
            </a:pPr>
            <a:r>
              <a:rPr lang="en-US" sz="2000" dirty="0">
                <a:solidFill>
                  <a:schemeClr val="tx1"/>
                </a:solidFill>
              </a:rPr>
              <a:t>CS-DEPT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a:solidFill>
                  <a:schemeClr val="tx1"/>
                </a:solidFill>
              </a:rPr>
              <a:t>NIET</a:t>
            </a:r>
          </a:p>
        </p:txBody>
      </p:sp>
      <p:sp>
        <p:nvSpPr>
          <p:cNvPr id="12" name="Subtitle 2"/>
          <p:cNvSpPr txBox="1">
            <a:spLocks/>
          </p:cNvSpPr>
          <p:nvPr/>
        </p:nvSpPr>
        <p:spPr>
          <a:xfrm>
            <a:off x="152400" y="3722608"/>
            <a:ext cx="2057400" cy="533400"/>
          </a:xfrm>
          <a:prstGeom prst="rect">
            <a:avLst/>
          </a:prstGeom>
          <a:ln>
            <a:solidFill>
              <a:srgbClr val="FF9C9C"/>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i="0" u="none" strike="noStrike" kern="1200" cap="none" spc="0" normalizeH="0" baseline="0" noProof="0" dirty="0">
                <a:ln>
                  <a:noFill/>
                </a:ln>
                <a:solidFill>
                  <a:schemeClr val="tx1"/>
                </a:solidFill>
                <a:effectLst/>
                <a:uLnTx/>
                <a:uFillTx/>
                <a:ea typeface="+mn-ea"/>
                <a:cs typeface="+mn-cs"/>
              </a:rPr>
              <a:t>Unit: 4</a:t>
            </a:r>
            <a:r>
              <a:rPr kumimoji="0" lang="en-US" sz="2000" i="0" u="none" strike="noStrike" kern="1200" cap="none" spc="0" normalizeH="0" noProof="0" dirty="0">
                <a:ln>
                  <a:noFill/>
                </a:ln>
                <a:solidFill>
                  <a:schemeClr val="tx1"/>
                </a:solidFill>
                <a:effectLst/>
                <a:uLnTx/>
                <a:uFillTx/>
                <a:ea typeface="+mn-ea"/>
                <a:cs typeface="+mn-cs"/>
              </a:rPr>
              <a:t> </a:t>
            </a:r>
            <a:endParaRPr kumimoji="0" lang="en-US" sz="2000" i="0" u="none" strike="noStrike" kern="1200" cap="none" spc="0" normalizeH="0" baseline="0" noProof="0" dirty="0">
              <a:ln>
                <a:noFill/>
              </a:ln>
              <a:solidFill>
                <a:schemeClr val="tx1"/>
              </a:solidFill>
              <a:effectLst/>
              <a:uLnTx/>
              <a:uFillTx/>
              <a:ea typeface="+mn-ea"/>
              <a:cs typeface="+mn-cs"/>
            </a:endParaRPr>
          </a:p>
        </p:txBody>
      </p:sp>
      <p:sp>
        <p:nvSpPr>
          <p:cNvPr id="14" name="Subtitle 2"/>
          <p:cNvSpPr txBox="1">
            <a:spLocks/>
          </p:cNvSpPr>
          <p:nvPr/>
        </p:nvSpPr>
        <p:spPr>
          <a:xfrm>
            <a:off x="152400" y="4517369"/>
            <a:ext cx="4191000" cy="561115"/>
          </a:xfrm>
          <a:prstGeom prst="rect">
            <a:avLst/>
          </a:prstGeom>
          <a:ln>
            <a:solidFill>
              <a:srgbClr val="FF9C9C"/>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IN" sz="2000" dirty="0"/>
              <a:t>Cluster Computing</a:t>
            </a:r>
            <a:endParaRPr kumimoji="0" lang="en-US" sz="2000" i="0" u="none" strike="noStrike" kern="1200" cap="none" spc="0" normalizeH="0" baseline="0" noProof="0" dirty="0">
              <a:ln>
                <a:noFill/>
              </a:ln>
              <a:solidFill>
                <a:schemeClr val="tx1"/>
              </a:solidFill>
              <a:effectLst/>
              <a:uLnTx/>
              <a:uFillTx/>
              <a:ea typeface="+mn-ea"/>
              <a:cs typeface="+mn-cs"/>
            </a:endParaRPr>
          </a:p>
        </p:txBody>
      </p:sp>
      <p:sp>
        <p:nvSpPr>
          <p:cNvPr id="15" name="Subtitle 2"/>
          <p:cNvSpPr txBox="1">
            <a:spLocks/>
          </p:cNvSpPr>
          <p:nvPr/>
        </p:nvSpPr>
        <p:spPr>
          <a:xfrm>
            <a:off x="152400" y="5371127"/>
            <a:ext cx="4191000" cy="692580"/>
          </a:xfrm>
          <a:prstGeom prst="rect">
            <a:avLst/>
          </a:prstGeom>
          <a:ln>
            <a:solidFill>
              <a:srgbClr val="FF9C9C"/>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i="0" u="none" strike="noStrike" kern="1200" cap="none" spc="0" normalizeH="0" noProof="0" dirty="0">
                <a:ln>
                  <a:noFill/>
                </a:ln>
                <a:solidFill>
                  <a:schemeClr val="tx1"/>
                </a:solidFill>
                <a:effectLst/>
                <a:uLnTx/>
                <a:uFillTx/>
                <a:cs typeface="Times New Roman" panose="02020603050405020304" pitchFamily="18" charset="0"/>
              </a:rPr>
              <a:t>B-Tech 3</a:t>
            </a:r>
            <a:r>
              <a:rPr kumimoji="0" lang="en-US" sz="2000" i="0" u="none" strike="noStrike" kern="1200" cap="none" spc="0" normalizeH="0" baseline="30000" noProof="0" dirty="0">
                <a:ln>
                  <a:noFill/>
                </a:ln>
                <a:solidFill>
                  <a:schemeClr val="tx1"/>
                </a:solidFill>
                <a:effectLst/>
                <a:uLnTx/>
                <a:uFillTx/>
                <a:cs typeface="Times New Roman" panose="02020603050405020304" pitchFamily="18" charset="0"/>
              </a:rPr>
              <a:t>rd</a:t>
            </a:r>
            <a:r>
              <a:rPr kumimoji="0" lang="en-US" sz="2000" i="0" u="none" strike="noStrike" kern="1200" cap="none" spc="0" normalizeH="0" noProof="0" dirty="0">
                <a:ln>
                  <a:noFill/>
                </a:ln>
                <a:solidFill>
                  <a:schemeClr val="tx1"/>
                </a:solidFill>
                <a:effectLst/>
                <a:uLnTx/>
                <a:uFillTx/>
                <a:cs typeface="Times New Roman" panose="02020603050405020304" pitchFamily="18" charset="0"/>
              </a:rPr>
              <a:t> Sem</a:t>
            </a:r>
            <a:endParaRPr kumimoji="0" lang="en-US" sz="2000" i="0" u="none" strike="noStrike" kern="1200" cap="none" spc="0" normalizeH="0" baseline="0" noProof="0" dirty="0">
              <a:ln>
                <a:noFill/>
              </a:ln>
              <a:solidFill>
                <a:schemeClr val="tx1"/>
              </a:solidFill>
              <a:effectLst/>
              <a:uLnTx/>
              <a:uFillTx/>
              <a:cs typeface="Times New Roman" panose="02020603050405020304" pitchFamily="18" charset="0"/>
            </a:endParaRPr>
          </a:p>
        </p:txBody>
      </p:sp>
      <p:sp>
        <p:nvSpPr>
          <p:cNvPr id="16" name="Subtitle 2">
            <a:extLst>
              <a:ext uri="{FF2B5EF4-FFF2-40B4-BE49-F238E27FC236}">
                <a16:creationId xmlns:a16="http://schemas.microsoft.com/office/drawing/2014/main" id="{5AE1B1AB-2752-4A98-B826-AB3B920EE317}"/>
              </a:ext>
            </a:extLst>
          </p:cNvPr>
          <p:cNvSpPr>
            <a:spLocks noGrp="1"/>
          </p:cNvSpPr>
          <p:nvPr>
            <p:ph type="subTitle" idx="1"/>
          </p:nvPr>
        </p:nvSpPr>
        <p:spPr>
          <a:xfrm>
            <a:off x="1752600" y="1066800"/>
            <a:ext cx="6400800" cy="1752600"/>
          </a:xfrm>
          <a:ln>
            <a:solidFill>
              <a:srgbClr val="FF9C9C"/>
            </a:solidFill>
          </a:ln>
        </p:spPr>
        <p:style>
          <a:lnRef idx="2">
            <a:schemeClr val="accent5"/>
          </a:lnRef>
          <a:fillRef idx="1">
            <a:schemeClr val="lt1"/>
          </a:fillRef>
          <a:effectRef idx="0">
            <a:schemeClr val="accent5"/>
          </a:effectRef>
          <a:fontRef idx="minor">
            <a:schemeClr val="dk1"/>
          </a:fontRef>
        </p:style>
        <p:txBody>
          <a:bodyPr>
            <a:normAutofit/>
          </a:bodyPr>
          <a:lstStyle/>
          <a:p>
            <a:endParaRPr lang="en-US" sz="2000" dirty="0">
              <a:solidFill>
                <a:schemeClr val="tx1"/>
              </a:solidFill>
            </a:endParaRPr>
          </a:p>
          <a:p>
            <a:r>
              <a:rPr lang="en-IN" b="1" dirty="0">
                <a:solidFill>
                  <a:schemeClr val="tx1"/>
                </a:solidFill>
              </a:rPr>
              <a:t> </a:t>
            </a:r>
            <a:r>
              <a:rPr lang="en-US" b="1" dirty="0"/>
              <a:t>High Performance Computing</a:t>
            </a:r>
            <a:r>
              <a:rPr lang="en-US" dirty="0"/>
              <a:t> </a:t>
            </a:r>
            <a:endParaRPr lang="en-US" sz="2500" dirty="0">
              <a:solidFill>
                <a:schemeClr val="tx1"/>
              </a:solidFill>
            </a:endParaRPr>
          </a:p>
        </p:txBody>
      </p:sp>
      <p:sp>
        <p:nvSpPr>
          <p:cNvPr id="17" name="Title 1">
            <a:extLst>
              <a:ext uri="{FF2B5EF4-FFF2-40B4-BE49-F238E27FC236}">
                <a16:creationId xmlns:a16="http://schemas.microsoft.com/office/drawing/2014/main" id="{59ECF214-409A-4537-BFE5-165CEA468A7A}"/>
              </a:ext>
            </a:extLst>
          </p:cNvPr>
          <p:cNvSpPr txBox="1">
            <a:spLocks/>
          </p:cNvSpPr>
          <p:nvPr/>
        </p:nvSpPr>
        <p:spPr>
          <a:xfrm>
            <a:off x="1749346" y="1"/>
            <a:ext cx="7394654"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Noida Institute of Engineering and Technology, Greater Noida</a:t>
            </a:r>
          </a:p>
        </p:txBody>
      </p:sp>
      <p:sp>
        <p:nvSpPr>
          <p:cNvPr id="2" name="Footer Placeholder 1">
            <a:extLst>
              <a:ext uri="{FF2B5EF4-FFF2-40B4-BE49-F238E27FC236}">
                <a16:creationId xmlns:a16="http://schemas.microsoft.com/office/drawing/2014/main" id="{031654B3-7BCD-4C49-B4DF-049EDA822C35}"/>
              </a:ext>
            </a:extLst>
          </p:cNvPr>
          <p:cNvSpPr>
            <a:spLocks noGrp="1"/>
          </p:cNvSpPr>
          <p:nvPr>
            <p:ph type="ftr" sz="quarter" idx="11"/>
          </p:nvPr>
        </p:nvSpPr>
        <p:spPr/>
        <p:txBody>
          <a:bodyPr/>
          <a:lstStyle/>
          <a:p>
            <a:r>
              <a:rPr lang="de-DE" dirty="0"/>
              <a:t>Kashish Mahajan              UNIT 4</a:t>
            </a:r>
            <a:endParaRPr lang="en-US" dirty="0"/>
          </a:p>
        </p:txBody>
      </p:sp>
      <p:pic>
        <p:nvPicPr>
          <p:cNvPr id="18" name="Picture 17">
            <a:extLst>
              <a:ext uri="{FF2B5EF4-FFF2-40B4-BE49-F238E27FC236}">
                <a16:creationId xmlns:a16="http://schemas.microsoft.com/office/drawing/2014/main" id="{54508AA4-97E7-124A-BE10-1D2BBF081616}"/>
              </a:ext>
            </a:extLst>
          </p:cNvPr>
          <p:cNvPicPr>
            <a:picLocks noChangeAspect="1"/>
          </p:cNvPicPr>
          <p:nvPr/>
        </p:nvPicPr>
        <p:blipFill>
          <a:blip r:embed="rId4"/>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285B213C-9624-9E52-F85C-68D609F6056B}"/>
              </a:ext>
            </a:extLst>
          </p:cNvPr>
          <p:cNvPicPr>
            <a:picLocks noChangeAspect="1"/>
          </p:cNvPicPr>
          <p:nvPr/>
        </p:nvPicPr>
        <p:blipFill rotWithShape="1">
          <a:blip r:embed="rId5"/>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C1FB7FF7-11CE-70EA-3545-D52147A27121}"/>
              </a:ext>
            </a:extLst>
          </p:cNvPr>
          <p:cNvPicPr>
            <a:picLocks noChangeAspect="1"/>
          </p:cNvPicPr>
          <p:nvPr/>
        </p:nvPicPr>
        <p:blipFill>
          <a:blip r:embed="rId6"/>
          <a:stretch>
            <a:fillRect/>
          </a:stretch>
        </p:blipFill>
        <p:spPr>
          <a:xfrm>
            <a:off x="6605710" y="2866543"/>
            <a:ext cx="1156636" cy="14338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73A48-10BE-F0B2-B5E3-82FD8A2751E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FFEFE59-99B7-E5F8-93C7-FDB77CC35D75}"/>
              </a:ext>
            </a:extLst>
          </p:cNvPr>
          <p:cNvSpPr>
            <a:spLocks noGrp="1"/>
          </p:cNvSpPr>
          <p:nvPr>
            <p:ph type="sldNum" sz="quarter" idx="12"/>
          </p:nvPr>
        </p:nvSpPr>
        <p:spPr/>
        <p:txBody>
          <a:bodyPr/>
          <a:lstStyle/>
          <a:p>
            <a:fld id="{B6F15528-21DE-4FAA-801E-634DDDAF4B2B}" type="slidenum">
              <a:rPr lang="en-US" smtClean="0">
                <a:solidFill>
                  <a:schemeClr val="tx1"/>
                </a:solidFill>
              </a:rPr>
              <a:pPr/>
              <a:t>2</a:t>
            </a:fld>
            <a:endParaRPr lang="en-US" dirty="0">
              <a:solidFill>
                <a:schemeClr val="tx1"/>
              </a:solidFill>
            </a:endParaRPr>
          </a:p>
        </p:txBody>
      </p:sp>
      <p:sp>
        <p:nvSpPr>
          <p:cNvPr id="9" name="Content Placeholder 5">
            <a:extLst>
              <a:ext uri="{FF2B5EF4-FFF2-40B4-BE49-F238E27FC236}">
                <a16:creationId xmlns:a16="http://schemas.microsoft.com/office/drawing/2014/main" id="{AA91A7E2-F605-80B7-F6ED-EDA4E06E9365}"/>
              </a:ext>
            </a:extLst>
          </p:cNvPr>
          <p:cNvSpPr txBox="1">
            <a:spLocks/>
          </p:cNvSpPr>
          <p:nvPr/>
        </p:nvSpPr>
        <p:spPr>
          <a:xfrm>
            <a:off x="587141" y="1168126"/>
            <a:ext cx="7646211" cy="4507310"/>
          </a:xfrm>
          <a:prstGeom prst="rect">
            <a:avLst/>
          </a:prstGeom>
        </p:spPr>
        <p:txBody>
          <a:bodyPr>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dirty="0">
                <a:latin typeface="Times New Roman" pitchFamily="18" charset="0"/>
                <a:cs typeface="Times New Roman" pitchFamily="18" charset="0"/>
              </a:rPr>
              <a:t>FACULTY PROFILE</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Name of Faculty: </a:t>
            </a:r>
            <a:r>
              <a:rPr lang="en-US" sz="2400" dirty="0">
                <a:latin typeface="Times New Roman" pitchFamily="18" charset="0"/>
                <a:cs typeface="Times New Roman" pitchFamily="18" charset="0"/>
              </a:rPr>
              <a:t>Ms. Kashish Mahajan</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Designation &amp; Department: </a:t>
            </a:r>
            <a:r>
              <a:rPr lang="en-US" sz="2400" dirty="0">
                <a:latin typeface="Times New Roman" pitchFamily="18" charset="0"/>
                <a:cs typeface="Times New Roman" pitchFamily="18" charset="0"/>
              </a:rPr>
              <a:t>Assistant Professor , CS Dept.</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Qualification: </a:t>
            </a:r>
            <a:r>
              <a:rPr lang="en-US" sz="2400" dirty="0">
                <a:latin typeface="Times New Roman" pitchFamily="18" charset="0"/>
                <a:cs typeface="Times New Roman" pitchFamily="18" charset="0"/>
              </a:rPr>
              <a:t>M.Tech in Cloud (BITS Pilani) + UGC Net </a:t>
            </a:r>
          </a:p>
          <a:p>
            <a:pPr algn="just"/>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Experience: </a:t>
            </a:r>
            <a:r>
              <a:rPr lang="en-US" sz="2400" dirty="0">
                <a:latin typeface="Times New Roman" pitchFamily="18" charset="0"/>
                <a:cs typeface="Times New Roman" pitchFamily="18" charset="0"/>
              </a:rPr>
              <a:t>Have 3 years experience in industry as Software Engineer in NTT Data.</a:t>
            </a:r>
            <a:endParaRPr lang="en-US" sz="2400" b="1" spc="4" dirty="0">
              <a:solidFill>
                <a:srgbClr val="000000"/>
              </a:solidFill>
              <a:latin typeface="Times New Roman" panose="02020603050405020304" pitchFamily="18" charset="0"/>
              <a:ea typeface="Times New Roman" panose="02020603050405020304" pitchFamily="18" charset="0"/>
            </a:endParaRPr>
          </a:p>
          <a:p>
            <a:pPr marL="0" indent="0" algn="ctr">
              <a:lnSpc>
                <a:spcPct val="115000"/>
              </a:lnSpc>
              <a:spcBef>
                <a:spcPts val="0"/>
              </a:spcBef>
              <a:spcAft>
                <a:spcPts val="750"/>
              </a:spcAft>
              <a:buNone/>
            </a:pPr>
            <a:endParaRPr lang="en-US" sz="2400" dirty="0"/>
          </a:p>
        </p:txBody>
      </p:sp>
      <p:sp>
        <p:nvSpPr>
          <p:cNvPr id="3" name="Date Placeholder 2">
            <a:extLst>
              <a:ext uri="{FF2B5EF4-FFF2-40B4-BE49-F238E27FC236}">
                <a16:creationId xmlns:a16="http://schemas.microsoft.com/office/drawing/2014/main" id="{A7D34720-F879-E7E4-41EC-BEB833FCD997}"/>
              </a:ext>
            </a:extLst>
          </p:cNvPr>
          <p:cNvSpPr>
            <a:spLocks noGrp="1"/>
          </p:cNvSpPr>
          <p:nvPr>
            <p:ph type="dt" sz="half" idx="10"/>
          </p:nvPr>
        </p:nvSpPr>
        <p:spPr/>
        <p:txBody>
          <a:bodyPr/>
          <a:lstStyle/>
          <a:p>
            <a:fld id="{BE9C098A-3F65-40C8-83C7-0AB337CA559A}" type="datetime3">
              <a:rPr lang="en-US" smtClean="0">
                <a:solidFill>
                  <a:schemeClr val="tx1"/>
                </a:solidFill>
              </a:rPr>
              <a:t>3 November 2025</a:t>
            </a:fld>
            <a:endParaRPr lang="en-US" dirty="0">
              <a:solidFill>
                <a:schemeClr val="tx1"/>
              </a:solidFill>
            </a:endParaRPr>
          </a:p>
        </p:txBody>
      </p:sp>
      <p:sp>
        <p:nvSpPr>
          <p:cNvPr id="10" name="Footer Placeholder 4">
            <a:extLst>
              <a:ext uri="{FF2B5EF4-FFF2-40B4-BE49-F238E27FC236}">
                <a16:creationId xmlns:a16="http://schemas.microsoft.com/office/drawing/2014/main" id="{4A24F7BB-85CD-2333-3FD5-5EC47650C6E2}"/>
              </a:ext>
            </a:extLst>
          </p:cNvPr>
          <p:cNvSpPr>
            <a:spLocks noGrp="1"/>
          </p:cNvSpPr>
          <p:nvPr>
            <p:ph type="ftr" sz="quarter" idx="11"/>
          </p:nvPr>
        </p:nvSpPr>
        <p:spPr>
          <a:xfrm>
            <a:off x="2573778" y="5675436"/>
            <a:ext cx="4320480" cy="273844"/>
          </a:xfrm>
        </p:spPr>
        <p:txBody>
          <a:bodyPr/>
          <a:lstStyle/>
          <a:p>
            <a:r>
              <a:rPr lang="en-US">
                <a:solidFill>
                  <a:schemeClr val="tx1"/>
                </a:solidFill>
              </a:rPr>
              <a:t>Kashish Mahajan              UNIT 4</a:t>
            </a:r>
            <a:endParaRPr lang="en-US" dirty="0">
              <a:solidFill>
                <a:schemeClr val="tx1"/>
              </a:solidFill>
            </a:endParaRPr>
          </a:p>
        </p:txBody>
      </p:sp>
      <p:pic>
        <p:nvPicPr>
          <p:cNvPr id="13" name="Picture 12">
            <a:extLst>
              <a:ext uri="{FF2B5EF4-FFF2-40B4-BE49-F238E27FC236}">
                <a16:creationId xmlns:a16="http://schemas.microsoft.com/office/drawing/2014/main" id="{E41D1199-1B89-4CD7-DAC7-1DCAF6C967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AFCC5448-F30E-C3C7-191B-32B881BB043D}"/>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200" b="1" dirty="0">
                <a:solidFill>
                  <a:schemeClr val="tx1"/>
                </a:solidFill>
                <a:latin typeface="Times New Roman" panose="02020603050405020304" pitchFamily="18" charset="0"/>
                <a:cs typeface="Times New Roman" panose="02020603050405020304" pitchFamily="18" charset="0"/>
              </a:rPr>
              <a:t>Faculty Profile</a:t>
            </a:r>
          </a:p>
        </p:txBody>
      </p:sp>
      <p:pic>
        <p:nvPicPr>
          <p:cNvPr id="2" name="Picture 1" descr="A screenshot of a computer&#10;&#10;Description automatically generated">
            <a:extLst>
              <a:ext uri="{FF2B5EF4-FFF2-40B4-BE49-F238E27FC236}">
                <a16:creationId xmlns:a16="http://schemas.microsoft.com/office/drawing/2014/main" id="{2C0A7C59-5374-9B52-B08F-62A6CA581006}"/>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7307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4B25-CE5F-0CCB-C083-14B5F527C50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C2AC213-79FB-B808-D809-1B8BE35D37C4}"/>
              </a:ext>
            </a:extLst>
          </p:cNvPr>
          <p:cNvSpPr>
            <a:spLocks noGrp="1"/>
          </p:cNvSpPr>
          <p:nvPr>
            <p:ph type="sldNum" sz="quarter" idx="12"/>
          </p:nvPr>
        </p:nvSpPr>
        <p:spPr/>
        <p:txBody>
          <a:bodyPr/>
          <a:lstStyle/>
          <a:p>
            <a:fld id="{B6F15528-21DE-4FAA-801E-634DDDAF4B2B}" type="slidenum">
              <a:rPr lang="en-US" smtClean="0">
                <a:solidFill>
                  <a:schemeClr val="tx1"/>
                </a:solidFill>
              </a:rPr>
              <a:pPr/>
              <a:t>3</a:t>
            </a:fld>
            <a:endParaRPr lang="en-US" dirty="0">
              <a:solidFill>
                <a:schemeClr val="tx1"/>
              </a:solidFill>
            </a:endParaRPr>
          </a:p>
        </p:txBody>
      </p:sp>
      <p:sp>
        <p:nvSpPr>
          <p:cNvPr id="9" name="Content Placeholder 5">
            <a:extLst>
              <a:ext uri="{FF2B5EF4-FFF2-40B4-BE49-F238E27FC236}">
                <a16:creationId xmlns:a16="http://schemas.microsoft.com/office/drawing/2014/main" id="{444C4F22-91C9-D100-62A0-93555E3384B1}"/>
              </a:ext>
            </a:extLst>
          </p:cNvPr>
          <p:cNvSpPr txBox="1">
            <a:spLocks/>
          </p:cNvSpPr>
          <p:nvPr/>
        </p:nvSpPr>
        <p:spPr>
          <a:xfrm>
            <a:off x="2051720" y="1168126"/>
            <a:ext cx="6181632" cy="341713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B.Tech. (Computer Science CS)  </a:t>
            </a:r>
          </a:p>
          <a:p>
            <a:r>
              <a:rPr lang="en-IN" sz="2400" dirty="0"/>
              <a:t>Core subject</a:t>
            </a:r>
          </a:p>
          <a:p>
            <a:r>
              <a:rPr lang="en-IN" sz="2400" dirty="0"/>
              <a:t>3rd SEMESTER </a:t>
            </a:r>
            <a:endParaRPr lang="en-US" sz="2400" dirty="0"/>
          </a:p>
          <a:p>
            <a:pPr marL="0" indent="0">
              <a:buNone/>
            </a:pPr>
            <a:r>
              <a:rPr lang="en-US" sz="2400" b="1" dirty="0"/>
              <a:t>                  </a:t>
            </a:r>
          </a:p>
          <a:p>
            <a:pPr marL="0" indent="0" algn="ctr">
              <a:lnSpc>
                <a:spcPct val="115000"/>
              </a:lnSpc>
              <a:spcBef>
                <a:spcPts val="0"/>
              </a:spcBef>
              <a:spcAft>
                <a:spcPts val="750"/>
              </a:spcAft>
              <a:buNone/>
            </a:pPr>
            <a:r>
              <a:rPr lang="en-US" sz="2400" b="1" dirty="0">
                <a:latin typeface="Times New Roman" panose="02020603050405020304" pitchFamily="18" charset="0"/>
                <a:cs typeface="Times New Roman" panose="02020603050405020304" pitchFamily="18" charset="0"/>
              </a:rPr>
              <a:t>PREDICTIVE ANALYTICS</a:t>
            </a:r>
          </a:p>
          <a:p>
            <a:pPr marL="0" indent="0" algn="ctr">
              <a:lnSpc>
                <a:spcPct val="115000"/>
              </a:lnSpc>
              <a:spcBef>
                <a:spcPts val="0"/>
              </a:spcBef>
              <a:spcAft>
                <a:spcPts val="750"/>
              </a:spcAft>
              <a:buNone/>
            </a:pPr>
            <a:endParaRPr lang="en-US" sz="2400" b="1" spc="4" dirty="0">
              <a:solidFill>
                <a:srgbClr val="000000"/>
              </a:solidFill>
              <a:latin typeface="Times New Roman" panose="02020603050405020304" pitchFamily="18" charset="0"/>
              <a:ea typeface="Times New Roman" panose="02020603050405020304" pitchFamily="18" charset="0"/>
            </a:endParaRPr>
          </a:p>
          <a:p>
            <a:pPr marL="0" indent="0" algn="ctr">
              <a:lnSpc>
                <a:spcPct val="115000"/>
              </a:lnSpc>
              <a:spcBef>
                <a:spcPts val="0"/>
              </a:spcBef>
              <a:spcAft>
                <a:spcPts val="750"/>
              </a:spcAft>
              <a:buNone/>
            </a:pPr>
            <a:endParaRPr lang="en-US" sz="2400" dirty="0"/>
          </a:p>
        </p:txBody>
      </p:sp>
      <p:sp>
        <p:nvSpPr>
          <p:cNvPr id="3" name="Date Placeholder 2">
            <a:extLst>
              <a:ext uri="{FF2B5EF4-FFF2-40B4-BE49-F238E27FC236}">
                <a16:creationId xmlns:a16="http://schemas.microsoft.com/office/drawing/2014/main" id="{3EAF6025-C58E-55A0-0453-062ED5BBB52D}"/>
              </a:ext>
            </a:extLst>
          </p:cNvPr>
          <p:cNvSpPr>
            <a:spLocks noGrp="1"/>
          </p:cNvSpPr>
          <p:nvPr>
            <p:ph type="dt" sz="half" idx="10"/>
          </p:nvPr>
        </p:nvSpPr>
        <p:spPr/>
        <p:txBody>
          <a:bodyPr/>
          <a:lstStyle/>
          <a:p>
            <a:fld id="{BE9C098A-3F65-40C8-83C7-0AB337CA559A}" type="datetime3">
              <a:rPr lang="en-US" smtClean="0">
                <a:solidFill>
                  <a:schemeClr val="tx1"/>
                </a:solidFill>
              </a:rPr>
              <a:t>3 November 2025</a:t>
            </a:fld>
            <a:endParaRPr lang="en-US" dirty="0">
              <a:solidFill>
                <a:schemeClr val="tx1"/>
              </a:solidFill>
            </a:endParaRPr>
          </a:p>
        </p:txBody>
      </p:sp>
      <p:sp>
        <p:nvSpPr>
          <p:cNvPr id="10" name="Footer Placeholder 4">
            <a:extLst>
              <a:ext uri="{FF2B5EF4-FFF2-40B4-BE49-F238E27FC236}">
                <a16:creationId xmlns:a16="http://schemas.microsoft.com/office/drawing/2014/main" id="{96F3BAA8-B4E3-D4AF-2008-084CA490F13C}"/>
              </a:ext>
            </a:extLst>
          </p:cNvPr>
          <p:cNvSpPr>
            <a:spLocks noGrp="1"/>
          </p:cNvSpPr>
          <p:nvPr>
            <p:ph type="ftr" sz="quarter" idx="11"/>
          </p:nvPr>
        </p:nvSpPr>
        <p:spPr>
          <a:xfrm>
            <a:off x="2590800" y="6356350"/>
            <a:ext cx="4320480" cy="273844"/>
          </a:xfrm>
        </p:spPr>
        <p:txBody>
          <a:bodyPr/>
          <a:lstStyle/>
          <a:p>
            <a:r>
              <a:rPr lang="en-US">
                <a:solidFill>
                  <a:schemeClr val="tx1"/>
                </a:solidFill>
              </a:rPr>
              <a:t>Kashish Mahajan              UNIT 4</a:t>
            </a:r>
            <a:endParaRPr lang="en-US" dirty="0">
              <a:solidFill>
                <a:schemeClr val="tx1"/>
              </a:solidFill>
            </a:endParaRPr>
          </a:p>
        </p:txBody>
      </p:sp>
      <p:pic>
        <p:nvPicPr>
          <p:cNvPr id="13" name="Picture 12">
            <a:extLst>
              <a:ext uri="{FF2B5EF4-FFF2-40B4-BE49-F238E27FC236}">
                <a16:creationId xmlns:a16="http://schemas.microsoft.com/office/drawing/2014/main" id="{211F3E39-AEBC-4271-2FEA-3AE86789F4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969A3EE1-CF4C-D861-6832-DD36DCE6E424}"/>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Evaluation Scheme</a:t>
            </a:r>
          </a:p>
        </p:txBody>
      </p:sp>
      <p:pic>
        <p:nvPicPr>
          <p:cNvPr id="2" name="Picture 1" descr="A screenshot of a computer&#10;&#10;Description automatically generated">
            <a:extLst>
              <a:ext uri="{FF2B5EF4-FFF2-40B4-BE49-F238E27FC236}">
                <a16:creationId xmlns:a16="http://schemas.microsoft.com/office/drawing/2014/main" id="{88D1AC6D-E5CD-B2F1-3088-D26B9D6FA6A3}"/>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5" name="Picture 4" descr="A grid of letters and numbers&#10;&#10;AI-generated content may be incorrect.">
            <a:extLst>
              <a:ext uri="{FF2B5EF4-FFF2-40B4-BE49-F238E27FC236}">
                <a16:creationId xmlns:a16="http://schemas.microsoft.com/office/drawing/2014/main" id="{113DC607-E7A0-9450-122F-CC750021F0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142" y="3460869"/>
            <a:ext cx="3797138" cy="1339956"/>
          </a:xfrm>
          <a:prstGeom prst="rect">
            <a:avLst/>
          </a:prstGeom>
        </p:spPr>
      </p:pic>
    </p:spTree>
    <p:extLst>
      <p:ext uri="{BB962C8B-B14F-4D97-AF65-F5344CB8AC3E}">
        <p14:creationId xmlns:p14="http://schemas.microsoft.com/office/powerpoint/2010/main" val="1742990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1E8E0-9A26-D322-3635-912653C6CB0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98382A5-02D8-50A5-60A7-B82A09FDEEB5}"/>
              </a:ext>
            </a:extLst>
          </p:cNvPr>
          <p:cNvSpPr>
            <a:spLocks noGrp="1"/>
          </p:cNvSpPr>
          <p:nvPr>
            <p:ph type="dt" sz="half" idx="10"/>
          </p:nvPr>
        </p:nvSpPr>
        <p:spPr/>
        <p:txBody>
          <a:bodyPr/>
          <a:lstStyle/>
          <a:p>
            <a:fld id="{C34B720A-7CA6-48F6-B9DC-A58C7844CFEB}" type="datetime3">
              <a:rPr lang="en-US" smtClean="0">
                <a:solidFill>
                  <a:prstClr val="black">
                    <a:tint val="75000"/>
                  </a:prstClr>
                </a:solidFill>
              </a:rPr>
              <a:t>3 November 2025</a:t>
            </a:fld>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E123D3DB-7B10-FBBB-F7AA-EA5CE8E77572}"/>
              </a:ext>
            </a:extLst>
          </p:cNvPr>
          <p:cNvSpPr>
            <a:spLocks noGrp="1"/>
          </p:cNvSpPr>
          <p:nvPr>
            <p:ph type="sldNum" sz="quarter" idx="12"/>
          </p:nvPr>
        </p:nvSpPr>
        <p:spPr/>
        <p:txBody>
          <a:bodyPr/>
          <a:lstStyle/>
          <a:p>
            <a:fld id="{B6F15528-21DE-4FAA-801E-634DDDAF4B2B}" type="slidenum">
              <a:rPr lang="en-US" smtClean="0">
                <a:solidFill>
                  <a:prstClr val="black">
                    <a:tint val="75000"/>
                  </a:prstClr>
                </a:solidFill>
              </a:rPr>
              <a:pPr/>
              <a:t>4</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928DC2BD-2764-32F5-16F7-4134E507B8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E9FBC802-7640-6F0F-048E-FD6703A46244}"/>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r>
              <a:rPr lang="en-IN" sz="2800" b="1" dirty="0"/>
              <a:t>Mode of Evaluation</a:t>
            </a:r>
          </a:p>
        </p:txBody>
      </p:sp>
      <p:pic>
        <p:nvPicPr>
          <p:cNvPr id="5" name="Picture 4" descr="A screenshot of a computer&#10;&#10;Description automatically generated">
            <a:extLst>
              <a:ext uri="{FF2B5EF4-FFF2-40B4-BE49-F238E27FC236}">
                <a16:creationId xmlns:a16="http://schemas.microsoft.com/office/drawing/2014/main" id="{ADD7A30C-205A-C510-D7B2-A0C43E45744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2" name="Footer Placeholder 1">
            <a:extLst>
              <a:ext uri="{FF2B5EF4-FFF2-40B4-BE49-F238E27FC236}">
                <a16:creationId xmlns:a16="http://schemas.microsoft.com/office/drawing/2014/main" id="{A67F114A-5F41-C230-FD23-A20C2D7D48BD}"/>
              </a:ext>
            </a:extLst>
          </p:cNvPr>
          <p:cNvSpPr>
            <a:spLocks noGrp="1"/>
          </p:cNvSpPr>
          <p:nvPr>
            <p:ph type="ftr" sz="quarter" idx="11"/>
          </p:nvPr>
        </p:nvSpPr>
        <p:spPr/>
        <p:txBody>
          <a:bodyPr/>
          <a:lstStyle/>
          <a:p>
            <a:r>
              <a:rPr lang="de-DE"/>
              <a:t>Kashish Mahajan              UNIT 4</a:t>
            </a:r>
            <a:endParaRPr lang="en-US" dirty="0"/>
          </a:p>
        </p:txBody>
      </p:sp>
      <p:pic>
        <p:nvPicPr>
          <p:cNvPr id="7" name="Picture 6">
            <a:extLst>
              <a:ext uri="{FF2B5EF4-FFF2-40B4-BE49-F238E27FC236}">
                <a16:creationId xmlns:a16="http://schemas.microsoft.com/office/drawing/2014/main" id="{39D7BA94-6A30-11E6-5761-59C69C3C8771}"/>
              </a:ext>
            </a:extLst>
          </p:cNvPr>
          <p:cNvPicPr>
            <a:picLocks noChangeAspect="1"/>
          </p:cNvPicPr>
          <p:nvPr/>
        </p:nvPicPr>
        <p:blipFill>
          <a:blip r:embed="rId4"/>
          <a:stretch>
            <a:fillRect/>
          </a:stretch>
        </p:blipFill>
        <p:spPr>
          <a:xfrm>
            <a:off x="0" y="2648311"/>
            <a:ext cx="9100832" cy="1124073"/>
          </a:xfrm>
          <a:prstGeom prst="rect">
            <a:avLst/>
          </a:prstGeom>
        </p:spPr>
      </p:pic>
    </p:spTree>
    <p:extLst>
      <p:ext uri="{BB962C8B-B14F-4D97-AF65-F5344CB8AC3E}">
        <p14:creationId xmlns:p14="http://schemas.microsoft.com/office/powerpoint/2010/main" val="502479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AFE16-1387-4E6C-5031-569DE53BE56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EAC1177-9F88-DF52-64D8-F1439C46EC3B}"/>
              </a:ext>
            </a:extLst>
          </p:cNvPr>
          <p:cNvSpPr>
            <a:spLocks noGrp="1"/>
          </p:cNvSpPr>
          <p:nvPr>
            <p:ph type="sldNum" sz="quarter" idx="12"/>
          </p:nvPr>
        </p:nvSpPr>
        <p:spPr/>
        <p:txBody>
          <a:bodyPr/>
          <a:lstStyle/>
          <a:p>
            <a:fld id="{B6F15528-21DE-4FAA-801E-634DDDAF4B2B}" type="slidenum">
              <a:rPr lang="en-US" smtClean="0">
                <a:solidFill>
                  <a:schemeClr val="tx1"/>
                </a:solidFill>
              </a:rPr>
              <a:pPr/>
              <a:t>5</a:t>
            </a:fld>
            <a:endParaRPr lang="en-US" dirty="0">
              <a:solidFill>
                <a:schemeClr val="tx1"/>
              </a:solidFill>
            </a:endParaRPr>
          </a:p>
        </p:txBody>
      </p:sp>
      <p:sp>
        <p:nvSpPr>
          <p:cNvPr id="9" name="Content Placeholder 5">
            <a:extLst>
              <a:ext uri="{FF2B5EF4-FFF2-40B4-BE49-F238E27FC236}">
                <a16:creationId xmlns:a16="http://schemas.microsoft.com/office/drawing/2014/main" id="{BB409E12-C7A2-617C-7F9B-AE61879DD169}"/>
              </a:ext>
            </a:extLst>
          </p:cNvPr>
          <p:cNvSpPr txBox="1">
            <a:spLocks/>
          </p:cNvSpPr>
          <p:nvPr/>
        </p:nvSpPr>
        <p:spPr>
          <a:xfrm>
            <a:off x="587141" y="1168126"/>
            <a:ext cx="7646211" cy="4507310"/>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5000"/>
              </a:lnSpc>
              <a:spcBef>
                <a:spcPts val="0"/>
              </a:spcBef>
              <a:spcAft>
                <a:spcPts val="750"/>
              </a:spcAft>
            </a:pPr>
            <a:r>
              <a:rPr lang="en-US" sz="2400" dirty="0"/>
              <a:t>Slide Based Concept Delivery</a:t>
            </a:r>
          </a:p>
          <a:p>
            <a:pPr marL="457200" lvl="1" indent="0">
              <a:lnSpc>
                <a:spcPct val="115000"/>
              </a:lnSpc>
              <a:spcBef>
                <a:spcPts val="0"/>
              </a:spcBef>
              <a:spcAft>
                <a:spcPts val="750"/>
              </a:spcAft>
              <a:buNone/>
            </a:pPr>
            <a:r>
              <a:rPr lang="en-US" sz="2000" dirty="0"/>
              <a:t>PowerPoint slides are used for each module to explain the key concepts with a proper structure.</a:t>
            </a:r>
          </a:p>
          <a:p>
            <a:pPr marL="457200" lvl="1" indent="0">
              <a:lnSpc>
                <a:spcPct val="115000"/>
              </a:lnSpc>
              <a:spcBef>
                <a:spcPts val="0"/>
              </a:spcBef>
              <a:spcAft>
                <a:spcPts val="750"/>
              </a:spcAft>
              <a:buNone/>
            </a:pPr>
            <a:endParaRPr lang="en-US" sz="2000" dirty="0"/>
          </a:p>
          <a:p>
            <a:pPr marL="400050">
              <a:lnSpc>
                <a:spcPct val="115000"/>
              </a:lnSpc>
              <a:spcBef>
                <a:spcPts val="0"/>
              </a:spcBef>
              <a:spcAft>
                <a:spcPts val="750"/>
              </a:spcAft>
            </a:pPr>
            <a:r>
              <a:rPr lang="en-US" sz="2400" dirty="0"/>
              <a:t>Board Teaching for Flow and Diagram</a:t>
            </a:r>
          </a:p>
          <a:p>
            <a:pPr marL="514350" lvl="1" indent="0">
              <a:lnSpc>
                <a:spcPct val="115000"/>
              </a:lnSpc>
              <a:spcBef>
                <a:spcPts val="0"/>
              </a:spcBef>
              <a:spcAft>
                <a:spcPts val="750"/>
              </a:spcAft>
              <a:buNone/>
            </a:pPr>
            <a:r>
              <a:rPr lang="en-US" sz="2000" dirty="0"/>
              <a:t>A traditional black/white board is used to explain the logical flow of processes along with diagrams and interlinking concepts.</a:t>
            </a:r>
          </a:p>
          <a:p>
            <a:pPr marL="514350" lvl="1" indent="0">
              <a:lnSpc>
                <a:spcPct val="115000"/>
              </a:lnSpc>
              <a:spcBef>
                <a:spcPts val="0"/>
              </a:spcBef>
              <a:spcAft>
                <a:spcPts val="750"/>
              </a:spcAft>
              <a:buNone/>
            </a:pPr>
            <a:endParaRPr lang="en-US" sz="2000" dirty="0"/>
          </a:p>
          <a:p>
            <a:pPr marL="457200">
              <a:lnSpc>
                <a:spcPct val="115000"/>
              </a:lnSpc>
              <a:spcBef>
                <a:spcPts val="0"/>
              </a:spcBef>
              <a:spcAft>
                <a:spcPts val="750"/>
              </a:spcAft>
            </a:pPr>
            <a:r>
              <a:rPr lang="en-US" sz="2400" dirty="0"/>
              <a:t>Hands on Practical Demonstration </a:t>
            </a:r>
          </a:p>
          <a:p>
            <a:pPr marL="571500" lvl="1" indent="0">
              <a:lnSpc>
                <a:spcPct val="115000"/>
              </a:lnSpc>
              <a:spcBef>
                <a:spcPts val="0"/>
              </a:spcBef>
              <a:spcAft>
                <a:spcPts val="750"/>
              </a:spcAft>
              <a:buNone/>
            </a:pPr>
            <a:r>
              <a:rPr lang="en-US" sz="2000" dirty="0"/>
              <a:t>Practical aspects and coding implementations on </a:t>
            </a:r>
            <a:r>
              <a:rPr lang="en-US" sz="2000" dirty="0" err="1"/>
              <a:t>OpenMp</a:t>
            </a:r>
            <a:r>
              <a:rPr lang="en-US" sz="2000" dirty="0"/>
              <a:t>, CUDA will be demonstrated to students. This will help them visualize real-time outputs, understand syntax and logic and gains experience.</a:t>
            </a:r>
          </a:p>
          <a:p>
            <a:pPr marL="0" indent="0">
              <a:lnSpc>
                <a:spcPct val="115000"/>
              </a:lnSpc>
              <a:spcBef>
                <a:spcPts val="0"/>
              </a:spcBef>
              <a:spcAft>
                <a:spcPts val="750"/>
              </a:spcAft>
              <a:buNone/>
            </a:pPr>
            <a:endParaRPr lang="en-US" sz="2400" dirty="0"/>
          </a:p>
        </p:txBody>
      </p:sp>
      <p:sp>
        <p:nvSpPr>
          <p:cNvPr id="3" name="Date Placeholder 2">
            <a:extLst>
              <a:ext uri="{FF2B5EF4-FFF2-40B4-BE49-F238E27FC236}">
                <a16:creationId xmlns:a16="http://schemas.microsoft.com/office/drawing/2014/main" id="{303BB245-D96C-A81C-610C-E1597E043C2C}"/>
              </a:ext>
            </a:extLst>
          </p:cNvPr>
          <p:cNvSpPr>
            <a:spLocks noGrp="1"/>
          </p:cNvSpPr>
          <p:nvPr>
            <p:ph type="dt" sz="half" idx="10"/>
          </p:nvPr>
        </p:nvSpPr>
        <p:spPr/>
        <p:txBody>
          <a:bodyPr/>
          <a:lstStyle/>
          <a:p>
            <a:fld id="{BE9C098A-3F65-40C8-83C7-0AB337CA559A}" type="datetime3">
              <a:rPr lang="en-US" smtClean="0">
                <a:solidFill>
                  <a:schemeClr val="tx1"/>
                </a:solidFill>
              </a:rPr>
              <a:t>3 November 2025</a:t>
            </a:fld>
            <a:endParaRPr lang="en-US" dirty="0">
              <a:solidFill>
                <a:schemeClr val="tx1"/>
              </a:solidFill>
            </a:endParaRPr>
          </a:p>
        </p:txBody>
      </p:sp>
      <p:sp>
        <p:nvSpPr>
          <p:cNvPr id="10" name="Footer Placeholder 4">
            <a:extLst>
              <a:ext uri="{FF2B5EF4-FFF2-40B4-BE49-F238E27FC236}">
                <a16:creationId xmlns:a16="http://schemas.microsoft.com/office/drawing/2014/main" id="{1665A04F-BD14-57C7-C586-77F069A1C76A}"/>
              </a:ext>
            </a:extLst>
          </p:cNvPr>
          <p:cNvSpPr>
            <a:spLocks noGrp="1"/>
          </p:cNvSpPr>
          <p:nvPr>
            <p:ph type="ftr" sz="quarter" idx="11"/>
          </p:nvPr>
        </p:nvSpPr>
        <p:spPr>
          <a:xfrm>
            <a:off x="2573778" y="5675436"/>
            <a:ext cx="4320480" cy="273844"/>
          </a:xfrm>
        </p:spPr>
        <p:txBody>
          <a:bodyPr/>
          <a:lstStyle/>
          <a:p>
            <a:r>
              <a:rPr lang="en-US">
                <a:solidFill>
                  <a:schemeClr val="tx1"/>
                </a:solidFill>
              </a:rPr>
              <a:t>Kashish Mahajan              UNIT 4</a:t>
            </a:r>
            <a:endParaRPr lang="en-US" dirty="0">
              <a:solidFill>
                <a:schemeClr val="tx1"/>
              </a:solidFill>
            </a:endParaRPr>
          </a:p>
        </p:txBody>
      </p:sp>
      <p:pic>
        <p:nvPicPr>
          <p:cNvPr id="13" name="Picture 12">
            <a:extLst>
              <a:ext uri="{FF2B5EF4-FFF2-40B4-BE49-F238E27FC236}">
                <a16:creationId xmlns:a16="http://schemas.microsoft.com/office/drawing/2014/main" id="{784DD2FD-F8A1-CB48-0370-85BE87F97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31340"/>
            <a:ext cx="1162829" cy="805372"/>
          </a:xfrm>
          <a:prstGeom prst="rect">
            <a:avLst/>
          </a:prstGeom>
        </p:spPr>
      </p:pic>
      <p:sp>
        <p:nvSpPr>
          <p:cNvPr id="14" name="Title 1">
            <a:extLst>
              <a:ext uri="{FF2B5EF4-FFF2-40B4-BE49-F238E27FC236}">
                <a16:creationId xmlns:a16="http://schemas.microsoft.com/office/drawing/2014/main" id="{98164CA8-C09D-BC60-7A7C-AF6433B25E79}"/>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200" b="1" dirty="0">
                <a:solidFill>
                  <a:schemeClr val="tx1"/>
                </a:solidFill>
                <a:latin typeface="Times New Roman" panose="02020603050405020304" pitchFamily="18" charset="0"/>
                <a:cs typeface="Times New Roman" panose="02020603050405020304" pitchFamily="18" charset="0"/>
              </a:rPr>
              <a:t>Teaching Pedagogy</a:t>
            </a:r>
          </a:p>
        </p:txBody>
      </p:sp>
      <p:pic>
        <p:nvPicPr>
          <p:cNvPr id="2" name="Picture 1" descr="A screenshot of a computer&#10;&#10;Description automatically generated">
            <a:extLst>
              <a:ext uri="{FF2B5EF4-FFF2-40B4-BE49-F238E27FC236}">
                <a16:creationId xmlns:a16="http://schemas.microsoft.com/office/drawing/2014/main" id="{7AA2E69E-0624-A54F-F18F-C0110EBDE243}"/>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4884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9D5A5B-9238-405A-BE72-DE3A273B2CB0}" type="datetime3">
              <a:rPr lang="en-US" smtClean="0">
                <a:solidFill>
                  <a:prstClr val="black">
                    <a:tint val="75000"/>
                  </a:prstClr>
                </a:solidFill>
              </a:rPr>
              <a:t>3 November 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6</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187C76CF-34CE-16BE-85C7-ED82CC21D6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3DB9AC42-345F-9F12-8EC7-C98722D7E435}"/>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prstClr val="black"/>
                </a:solidFill>
              </a:rPr>
              <a:t>Course Contents / Syllabus</a:t>
            </a:r>
          </a:p>
        </p:txBody>
      </p:sp>
      <p:pic>
        <p:nvPicPr>
          <p:cNvPr id="3" name="Picture 2" descr="A screenshot of a computer&#10;&#10;Description automatically generated">
            <a:extLst>
              <a:ext uri="{FF2B5EF4-FFF2-40B4-BE49-F238E27FC236}">
                <a16:creationId xmlns:a16="http://schemas.microsoft.com/office/drawing/2014/main" id="{9018D53C-FC47-AC51-C5D4-4D49C08DEC7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7" name="Picture 6" descr="A computer information sheet with text&#10;&#10;AI-generated content may be incorrect.">
            <a:extLst>
              <a:ext uri="{FF2B5EF4-FFF2-40B4-BE49-F238E27FC236}">
                <a16:creationId xmlns:a16="http://schemas.microsoft.com/office/drawing/2014/main" id="{7395C909-8437-E538-C3CF-244C68D90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42" y="928255"/>
            <a:ext cx="8983921" cy="5525331"/>
          </a:xfrm>
          <a:prstGeom prst="rect">
            <a:avLst/>
          </a:prstGeom>
        </p:spPr>
      </p:pic>
      <p:sp>
        <p:nvSpPr>
          <p:cNvPr id="2" name="Footer Placeholder 1">
            <a:extLst>
              <a:ext uri="{FF2B5EF4-FFF2-40B4-BE49-F238E27FC236}">
                <a16:creationId xmlns:a16="http://schemas.microsoft.com/office/drawing/2014/main" id="{841E7D5C-8579-2E53-5920-9EB9ADA6831A}"/>
              </a:ext>
            </a:extLst>
          </p:cNvPr>
          <p:cNvSpPr>
            <a:spLocks noGrp="1"/>
          </p:cNvSpPr>
          <p:nvPr>
            <p:ph type="ftr" sz="quarter" idx="11"/>
          </p:nvPr>
        </p:nvSpPr>
        <p:spPr/>
        <p:txBody>
          <a:bodyPr/>
          <a:lstStyle/>
          <a:p>
            <a:r>
              <a:rPr lang="de-DE"/>
              <a:t>Kashish Mahajan              UNIT 4</a:t>
            </a:r>
            <a:endParaRPr lang="en-US" dirty="0"/>
          </a:p>
        </p:txBody>
      </p:sp>
    </p:spTree>
    <p:extLst>
      <p:ext uri="{BB962C8B-B14F-4D97-AF65-F5344CB8AC3E}">
        <p14:creationId xmlns:p14="http://schemas.microsoft.com/office/powerpoint/2010/main" val="1627617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4B720A-7CA6-48F6-B9DC-A58C7844CFEB}" type="datetime3">
              <a:rPr lang="en-US" smtClean="0">
                <a:solidFill>
                  <a:prstClr val="black">
                    <a:tint val="75000"/>
                  </a:prstClr>
                </a:solidFill>
              </a:rPr>
              <a:t>3 November 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7</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6484CE1B-D87C-C450-4B78-1A37F7424A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10" name="Title 1">
            <a:extLst>
              <a:ext uri="{FF2B5EF4-FFF2-40B4-BE49-F238E27FC236}">
                <a16:creationId xmlns:a16="http://schemas.microsoft.com/office/drawing/2014/main" id="{4348C115-F338-5A19-6880-728A2BC1501B}"/>
              </a:ext>
            </a:extLst>
          </p:cNvPr>
          <p:cNvSpPr txBox="1">
            <a:spLocks/>
          </p:cNvSpPr>
          <p:nvPr/>
        </p:nvSpPr>
        <p:spPr>
          <a:xfrm>
            <a:off x="1676400" y="0"/>
            <a:ext cx="7467600"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r>
              <a:rPr lang="en-IN" sz="2800" b="1" dirty="0"/>
              <a:t>Book Title/ External Links as per Syllabus</a:t>
            </a:r>
          </a:p>
        </p:txBody>
      </p:sp>
      <p:pic>
        <p:nvPicPr>
          <p:cNvPr id="5" name="Picture 4" descr="A screenshot of a computer&#10;&#10;Description automatically generated">
            <a:extLst>
              <a:ext uri="{FF2B5EF4-FFF2-40B4-BE49-F238E27FC236}">
                <a16:creationId xmlns:a16="http://schemas.microsoft.com/office/drawing/2014/main" id="{262BF54C-0D71-19C9-A24B-3D410842D6E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9" name="Picture 8" descr="A screenshot of a computer&#10;&#10;AI-generated content may be incorrect.">
            <a:extLst>
              <a:ext uri="{FF2B5EF4-FFF2-40B4-BE49-F238E27FC236}">
                <a16:creationId xmlns:a16="http://schemas.microsoft.com/office/drawing/2014/main" id="{1504538E-3196-FB94-CFBF-8A80B1353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36" y="931404"/>
            <a:ext cx="8728363" cy="5424946"/>
          </a:xfrm>
          <a:prstGeom prst="rect">
            <a:avLst/>
          </a:prstGeom>
        </p:spPr>
      </p:pic>
      <p:sp>
        <p:nvSpPr>
          <p:cNvPr id="2" name="Footer Placeholder 1">
            <a:extLst>
              <a:ext uri="{FF2B5EF4-FFF2-40B4-BE49-F238E27FC236}">
                <a16:creationId xmlns:a16="http://schemas.microsoft.com/office/drawing/2014/main" id="{B322B45D-3EB6-66A0-4642-875A60634F16}"/>
              </a:ext>
            </a:extLst>
          </p:cNvPr>
          <p:cNvSpPr>
            <a:spLocks noGrp="1"/>
          </p:cNvSpPr>
          <p:nvPr>
            <p:ph type="ftr" sz="quarter" idx="11"/>
          </p:nvPr>
        </p:nvSpPr>
        <p:spPr/>
        <p:txBody>
          <a:bodyPr/>
          <a:lstStyle/>
          <a:p>
            <a:r>
              <a:rPr lang="de-DE"/>
              <a:t>Kashish Mahajan              UNIT 4</a:t>
            </a:r>
            <a:endParaRPr lang="en-US" dirty="0"/>
          </a:p>
        </p:txBody>
      </p:sp>
    </p:spTree>
    <p:extLst>
      <p:ext uri="{BB962C8B-B14F-4D97-AF65-F5344CB8AC3E}">
        <p14:creationId xmlns:p14="http://schemas.microsoft.com/office/powerpoint/2010/main" val="357923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088988D4-FA1E-4C8B-802A-ED0B7A48A269}"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8</a:t>
            </a:fld>
            <a:endParaRPr lang="en-US" sz="900">
              <a:solidFill>
                <a:prstClr val="black">
                  <a:tint val="75000"/>
                </a:prstClr>
              </a:solidFill>
              <a:latin typeface="Calibri"/>
            </a:endParaRPr>
          </a:p>
        </p:txBody>
      </p:sp>
      <p:sp>
        <p:nvSpPr>
          <p:cNvPr id="7" name="Title 1"/>
          <p:cNvSpPr txBox="1">
            <a:spLocks/>
          </p:cNvSpPr>
          <p:nvPr/>
        </p:nvSpPr>
        <p:spPr>
          <a:xfrm>
            <a:off x="1649896" y="8591"/>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Branch wise Applications</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p:txBody>
          <a:bodyPr/>
          <a:lstStyle/>
          <a:p>
            <a:r>
              <a:rPr lang="en-US"/>
              <a:t>Kashish Mahajan              UNIT 4</a:t>
            </a:r>
            <a:endParaRPr lang="en-US" dirty="0"/>
          </a:p>
        </p:txBody>
      </p:sp>
      <p:sp>
        <p:nvSpPr>
          <p:cNvPr id="8" name="Content Placeholder 7">
            <a:extLst>
              <a:ext uri="{FF2B5EF4-FFF2-40B4-BE49-F238E27FC236}">
                <a16:creationId xmlns:a16="http://schemas.microsoft.com/office/drawing/2014/main" id="{D455D4FD-79DE-564F-9587-50D0944AFBA6}"/>
              </a:ext>
            </a:extLst>
          </p:cNvPr>
          <p:cNvSpPr>
            <a:spLocks noGrp="1"/>
          </p:cNvSpPr>
          <p:nvPr>
            <p:ph idx="1"/>
          </p:nvPr>
        </p:nvSpPr>
        <p:spPr>
          <a:xfrm>
            <a:off x="240632" y="785352"/>
            <a:ext cx="8662736" cy="5603990"/>
          </a:xfrm>
        </p:spPr>
        <p:txBody>
          <a:bodyPr>
            <a:normAutofit fontScale="85000" lnSpcReduction="10000"/>
          </a:bodyPr>
          <a:lstStyle/>
          <a:p>
            <a:pPr algn="just"/>
            <a:r>
              <a:rPr lang="en-IN" sz="2000" dirty="0"/>
              <a:t>Computer science encompasses a diverse array of specialized fields that address modern technological challenges and innovations. </a:t>
            </a:r>
            <a:r>
              <a:rPr lang="en-IN" sz="2000" b="1" dirty="0"/>
              <a:t>Artificial Intelligence (AI) &amp; Machine Learning (ML)</a:t>
            </a:r>
            <a:r>
              <a:rPr lang="en-IN" sz="2000" dirty="0"/>
              <a:t> empower systems to perceive, learn, and make decisions—from voice assistants and medical diagnostic tools to autonomous vehicles . </a:t>
            </a:r>
            <a:r>
              <a:rPr lang="en-IN" sz="2000" b="1" dirty="0"/>
              <a:t>Data Science &amp; Big Data</a:t>
            </a:r>
            <a:r>
              <a:rPr lang="en-IN" sz="2000" dirty="0"/>
              <a:t> blend statistics, data </a:t>
            </a:r>
            <a:r>
              <a:rPr lang="en-IN" sz="2000" dirty="0" err="1"/>
              <a:t>modeling</a:t>
            </a:r>
            <a:r>
              <a:rPr lang="en-IN" sz="2000" dirty="0"/>
              <a:t>, and programming to uncover insights for business intelligence, fraud detection, and predictive analytics. </a:t>
            </a:r>
            <a:r>
              <a:rPr lang="en-IN" sz="2000" b="1" dirty="0"/>
              <a:t>Software Engineering</a:t>
            </a:r>
            <a:r>
              <a:rPr lang="en-IN" sz="2000" dirty="0"/>
              <a:t> focuses on the full lifecycle of building robust applications—from mobile and web platforms to enterprise and industrial systems . In </a:t>
            </a:r>
            <a:r>
              <a:rPr lang="en-IN" sz="2000" b="1" dirty="0"/>
              <a:t>Cybersecurity &amp; Cryptography</a:t>
            </a:r>
            <a:r>
              <a:rPr lang="en-IN" sz="2000" dirty="0"/>
              <a:t>, specialists design secure protocols and systems to protect networks, financial infrastructure, and sensitive personal data. </a:t>
            </a:r>
            <a:r>
              <a:rPr lang="en-IN" sz="2000" b="1" dirty="0"/>
              <a:t>Cloud Computing &amp; DevOps</a:t>
            </a:r>
            <a:r>
              <a:rPr lang="en-IN" sz="2000" dirty="0"/>
              <a:t> enable scalable on-demand services, powering online gaming, streaming, and enterprise applications with automated deployment pipelines . Fields like </a:t>
            </a:r>
            <a:r>
              <a:rPr lang="en-IN" sz="2000" b="1" dirty="0"/>
              <a:t>Computer Graphics &amp; Visualization</a:t>
            </a:r>
            <a:r>
              <a:rPr lang="en-IN" sz="2000" dirty="0"/>
              <a:t>, </a:t>
            </a:r>
            <a:r>
              <a:rPr lang="en-IN" sz="2000" b="1" dirty="0"/>
              <a:t>Computer Vision</a:t>
            </a:r>
            <a:r>
              <a:rPr lang="en-IN" sz="2000" dirty="0"/>
              <a:t>, and </a:t>
            </a:r>
            <a:r>
              <a:rPr lang="en-IN" sz="2000" b="1" dirty="0"/>
              <a:t>HCI</a:t>
            </a:r>
            <a:r>
              <a:rPr lang="en-IN" sz="2000" dirty="0"/>
              <a:t> focus on visual, interactive, and user-centric computing, driving VR/AR, gaming, medical imaging, and intuitive interfaces. </a:t>
            </a:r>
            <a:r>
              <a:rPr lang="en-IN" sz="2000" b="1" dirty="0"/>
              <a:t>Algorithms &amp; Data Structures</a:t>
            </a:r>
            <a:r>
              <a:rPr lang="en-IN" sz="2000" dirty="0"/>
              <a:t> form the theoretical backbone, optimizing search, encryption, and data retrieval while informing compiler and database design. At the hardware level, </a:t>
            </a:r>
            <a:r>
              <a:rPr lang="en-IN" sz="2000" b="1" dirty="0"/>
              <a:t>Computer Architecture &amp; Embedded Systems</a:t>
            </a:r>
            <a:r>
              <a:rPr lang="en-IN" sz="2000" dirty="0"/>
              <a:t> support IoT, smart devices, and robotics through efficient design of processors and sensors . </a:t>
            </a:r>
            <a:r>
              <a:rPr lang="en-IN" sz="2000" b="1" dirty="0"/>
              <a:t>Blockchain &amp; Distributed Systems</a:t>
            </a:r>
            <a:r>
              <a:rPr lang="en-IN" sz="2000" dirty="0"/>
              <a:t> revolutionize secure, decentralized applications in finance and supply chains. Emerging areas like </a:t>
            </a:r>
            <a:r>
              <a:rPr lang="en-IN" sz="2000" b="1" dirty="0"/>
              <a:t>Quantum Computing</a:t>
            </a:r>
            <a:r>
              <a:rPr lang="en-IN" sz="2000" dirty="0"/>
              <a:t> and </a:t>
            </a:r>
            <a:r>
              <a:rPr lang="en-IN" sz="2000" b="1" dirty="0"/>
              <a:t>Neuromorphic/Biological Computing</a:t>
            </a:r>
            <a:r>
              <a:rPr lang="en-IN" sz="2000" dirty="0"/>
              <a:t> promise breakthroughs in simulation, optimization, and ultra-efficient intelligent systems—whether using qubits to accelerate drug discovery or neuronal circuits to mimic brain-like computation .</a:t>
            </a:r>
            <a:endParaRPr lang="en-US" sz="2000" dirty="0">
              <a:solidFill>
                <a:srgbClr val="181818"/>
              </a:solidFill>
            </a:endParaRPr>
          </a:p>
        </p:txBody>
      </p:sp>
      <p:pic>
        <p:nvPicPr>
          <p:cNvPr id="9" name="Picture 8">
            <a:extLst>
              <a:ext uri="{FF2B5EF4-FFF2-40B4-BE49-F238E27FC236}">
                <a16:creationId xmlns:a16="http://schemas.microsoft.com/office/drawing/2014/main" id="{1A8C513B-AE17-1B4D-948D-037A94802E81}"/>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01AC5A2-96E9-6386-1B40-A2EFBB5D16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0804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382000" cy="4800600"/>
          </a:xfrm>
        </p:spPr>
        <p:txBody>
          <a:bodyPr>
            <a:noAutofit/>
          </a:bodyPr>
          <a:lstStyle/>
          <a:p>
            <a:pPr marL="0" indent="0" algn="just">
              <a:lnSpc>
                <a:spcPct val="200000"/>
              </a:lnSpc>
              <a:buNone/>
            </a:pPr>
            <a:r>
              <a:rPr lang="en-IN" sz="2400" b="1" kern="1200" dirty="0">
                <a:solidFill>
                  <a:schemeClr val="tx1"/>
                </a:solidFill>
                <a:effectLst/>
                <a:latin typeface="+mj-lt"/>
              </a:rPr>
              <a:t>The objective of this course is -</a:t>
            </a:r>
          </a:p>
          <a:p>
            <a:pPr algn="just"/>
            <a:r>
              <a:rPr lang="en-US" sz="2000" b="1" dirty="0"/>
              <a:t>Fundamental HPC Concepts &amp; Terminology Introduce </a:t>
            </a:r>
            <a:r>
              <a:rPr lang="en-US" sz="2000" dirty="0"/>
              <a:t>students to essential HPC concepts like parallelism, scaling, and performance (speedup vs. efficiency). Explain why HPC is vital across scientific and engineering domains</a:t>
            </a:r>
          </a:p>
          <a:p>
            <a:pPr algn="just"/>
            <a:r>
              <a:rPr lang="en-US" sz="2000" b="1" dirty="0"/>
              <a:t>Understanding Modern Architectures </a:t>
            </a:r>
            <a:r>
              <a:rPr lang="en-US" sz="2000" dirty="0"/>
              <a:t>Cover shared‑memory and distributed systems (clusters, GPUs, accelerators), their architectures, and how hardware design influences software performance.</a:t>
            </a:r>
          </a:p>
          <a:p>
            <a:pPr algn="just"/>
            <a:r>
              <a:rPr lang="en-US" sz="2000" b="1" dirty="0"/>
              <a:t>Mastery of Parallel Programming Models </a:t>
            </a:r>
            <a:r>
              <a:rPr lang="en-US" sz="2000" dirty="0"/>
              <a:t>Teach key parallel programming paradigms:</a:t>
            </a:r>
          </a:p>
          <a:p>
            <a:pPr lvl="1" algn="just">
              <a:buFont typeface="Wingdings" panose="05000000000000000000" pitchFamily="2" charset="2"/>
              <a:buChar char="Ø"/>
            </a:pPr>
            <a:r>
              <a:rPr lang="en-US" sz="1600" dirty="0"/>
              <a:t>Shared memory: OpenMP</a:t>
            </a:r>
          </a:p>
          <a:p>
            <a:pPr lvl="1" algn="just">
              <a:buFont typeface="Wingdings" panose="05000000000000000000" pitchFamily="2" charset="2"/>
              <a:buChar char="Ø"/>
            </a:pPr>
            <a:r>
              <a:rPr lang="en-US" sz="1600" dirty="0"/>
              <a:t>Distributed memory: MPI</a:t>
            </a:r>
          </a:p>
          <a:p>
            <a:pPr lvl="1" algn="just">
              <a:buFont typeface="Wingdings" panose="05000000000000000000" pitchFamily="2" charset="2"/>
              <a:buChar char="Ø"/>
            </a:pPr>
            <a:r>
              <a:rPr lang="en-US" sz="1600" dirty="0"/>
              <a:t>Hardware-accelerated: CUDA, OpenCL, </a:t>
            </a:r>
            <a:r>
              <a:rPr lang="en-US" sz="1600" dirty="0" err="1"/>
              <a:t>OpenACC</a:t>
            </a:r>
            <a:endParaRPr lang="en-US" sz="1600" dirty="0"/>
          </a:p>
        </p:txBody>
      </p:sp>
      <p:sp>
        <p:nvSpPr>
          <p:cNvPr id="4" name="Date Placeholder 3"/>
          <p:cNvSpPr>
            <a:spLocks noGrp="1"/>
          </p:cNvSpPr>
          <p:nvPr>
            <p:ph type="dt" sz="half" idx="10"/>
          </p:nvPr>
        </p:nvSpPr>
        <p:spPr/>
        <p:txBody>
          <a:bodyPr/>
          <a:lstStyle/>
          <a:p>
            <a:pPr defTabSz="685800">
              <a:defRPr/>
            </a:pPr>
            <a:fld id="{EC507757-CA40-4BB6-A86C-F57047820374}"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9</a:t>
            </a:fld>
            <a:endParaRPr lang="en-US" sz="900">
              <a:solidFill>
                <a:prstClr val="black">
                  <a:tint val="75000"/>
                </a:prstClr>
              </a:solidFill>
              <a:latin typeface="Calibri"/>
            </a:endParaRPr>
          </a:p>
        </p:txBody>
      </p:sp>
      <p:sp>
        <p:nvSpPr>
          <p:cNvPr id="7" name="Title 1"/>
          <p:cNvSpPr txBox="1">
            <a:spLocks/>
          </p:cNvSpPr>
          <p:nvPr/>
        </p:nvSpPr>
        <p:spPr>
          <a:xfrm>
            <a:off x="1649896" y="0"/>
            <a:ext cx="7494104" cy="6858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3000" b="1" dirty="0">
                <a:solidFill>
                  <a:prstClr val="black"/>
                </a:solidFill>
                <a:latin typeface="Calibri"/>
              </a:rPr>
              <a:t>Course Objective</a:t>
            </a:r>
          </a:p>
        </p:txBody>
      </p:sp>
      <p:sp>
        <p:nvSpPr>
          <p:cNvPr id="2" name="Footer Placeholder 1">
            <a:extLst>
              <a:ext uri="{FF2B5EF4-FFF2-40B4-BE49-F238E27FC236}">
                <a16:creationId xmlns:a16="http://schemas.microsoft.com/office/drawing/2014/main" id="{F70E247F-F21E-4820-A9EC-E0DDDBEFB4F8}"/>
              </a:ext>
            </a:extLst>
          </p:cNvPr>
          <p:cNvSpPr>
            <a:spLocks noGrp="1"/>
          </p:cNvSpPr>
          <p:nvPr>
            <p:ph type="ftr" sz="quarter" idx="11"/>
          </p:nvPr>
        </p:nvSpPr>
        <p:spPr/>
        <p:txBody>
          <a:bodyPr/>
          <a:lstStyle/>
          <a:p>
            <a:r>
              <a:rPr lang="en-US"/>
              <a:t>Kashish Mahajan              UNIT 4</a:t>
            </a:r>
            <a:endParaRPr lang="en-US" dirty="0"/>
          </a:p>
        </p:txBody>
      </p:sp>
      <p:pic>
        <p:nvPicPr>
          <p:cNvPr id="8" name="Picture 7">
            <a:extLst>
              <a:ext uri="{FF2B5EF4-FFF2-40B4-BE49-F238E27FC236}">
                <a16:creationId xmlns:a16="http://schemas.microsoft.com/office/drawing/2014/main" id="{46DC10CE-C9A2-074B-8A9C-9CECC2DE51F8}"/>
              </a:ext>
            </a:extLst>
          </p:cNvPr>
          <p:cNvPicPr>
            <a:picLocks noChangeAspect="1"/>
          </p:cNvPicPr>
          <p:nvPr/>
        </p:nvPicPr>
        <p:blipFill>
          <a:blip r:embed="rId2"/>
          <a:stretch>
            <a:fillRect/>
          </a:stretch>
        </p:blipFill>
        <p:spPr>
          <a:xfrm>
            <a:off x="0" y="-27448"/>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48606449-F2C8-DDE3-226A-1258D301D2F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24110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10</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Course Outcomes</a:t>
            </a:r>
          </a:p>
        </p:txBody>
      </p:sp>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E42AE87E-4ECB-4285-8807-9ECF9697EFCC}" type="datetime3">
              <a:rPr lang="en-US" smtClean="0">
                <a:solidFill>
                  <a:schemeClr val="tx1"/>
                </a:solidFill>
              </a:rPr>
              <a:t>3 November 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p:txBody>
          <a:bodyPr/>
          <a:lstStyle/>
          <a:p>
            <a:r>
              <a:rPr lang="en-US"/>
              <a:t>Kashish Mahajan              UNIT 4</a:t>
            </a:r>
            <a:endParaRPr lang="en-US" dirty="0"/>
          </a:p>
        </p:txBody>
      </p:sp>
      <p:pic>
        <p:nvPicPr>
          <p:cNvPr id="10" name="Picture 9">
            <a:extLst>
              <a:ext uri="{FF2B5EF4-FFF2-40B4-BE49-F238E27FC236}">
                <a16:creationId xmlns:a16="http://schemas.microsoft.com/office/drawing/2014/main" id="{10D79750-6B6E-4948-86A9-BC05E73968CD}"/>
              </a:ext>
            </a:extLst>
          </p:cNvPr>
          <p:cNvPicPr>
            <a:picLocks noChangeAspect="1"/>
          </p:cNvPicPr>
          <p:nvPr/>
        </p:nvPicPr>
        <p:blipFill>
          <a:blip r:embed="rId2"/>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279CD4C5-7386-BB7F-4FD5-3216343FF9E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id="{8271472E-5D01-4040-E624-5FF81774B207}"/>
              </a:ext>
            </a:extLst>
          </p:cNvPr>
          <p:cNvPicPr>
            <a:picLocks noChangeAspect="1"/>
          </p:cNvPicPr>
          <p:nvPr/>
        </p:nvPicPr>
        <p:blipFill>
          <a:blip r:embed="rId4"/>
          <a:stretch>
            <a:fillRect/>
          </a:stretch>
        </p:blipFill>
        <p:spPr>
          <a:xfrm>
            <a:off x="6651057" y="2132842"/>
            <a:ext cx="1761423" cy="2127322"/>
          </a:xfrm>
          <a:prstGeom prst="rect">
            <a:avLst/>
          </a:prstGeom>
        </p:spPr>
      </p:pic>
      <p:pic>
        <p:nvPicPr>
          <p:cNvPr id="17" name="Picture 16">
            <a:extLst>
              <a:ext uri="{FF2B5EF4-FFF2-40B4-BE49-F238E27FC236}">
                <a16:creationId xmlns:a16="http://schemas.microsoft.com/office/drawing/2014/main" id="{731D857C-610C-047E-5CF2-B2F0826AEAF7}"/>
              </a:ext>
            </a:extLst>
          </p:cNvPr>
          <p:cNvPicPr>
            <a:picLocks noChangeAspect="1"/>
          </p:cNvPicPr>
          <p:nvPr/>
        </p:nvPicPr>
        <p:blipFill>
          <a:blip r:embed="rId5"/>
          <a:stretch>
            <a:fillRect/>
          </a:stretch>
        </p:blipFill>
        <p:spPr>
          <a:xfrm>
            <a:off x="415947" y="2219424"/>
            <a:ext cx="6235110" cy="2040740"/>
          </a:xfrm>
          <a:prstGeom prst="rect">
            <a:avLst/>
          </a:prstGeom>
        </p:spPr>
      </p:pic>
    </p:spTree>
    <p:extLst>
      <p:ext uri="{BB962C8B-B14F-4D97-AF65-F5344CB8AC3E}">
        <p14:creationId xmlns:p14="http://schemas.microsoft.com/office/powerpoint/2010/main" val="211417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11</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Outcomes</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19EF586E-0684-4A15-91B8-DEFD73B7CD5B}" type="datetime3">
              <a:rPr lang="en-US" smtClean="0">
                <a:solidFill>
                  <a:schemeClr val="tx1"/>
                </a:solidFill>
              </a:rPr>
              <a:t>3 November 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p:txBody>
          <a:bodyPr/>
          <a:lstStyle/>
          <a:p>
            <a:r>
              <a:rPr lang="en-US"/>
              <a:t>Kashish Mahajan              UNIT 4</a:t>
            </a:r>
            <a:endParaRPr lang="en-US" dirty="0"/>
          </a:p>
        </p:txBody>
      </p:sp>
      <p:sp>
        <p:nvSpPr>
          <p:cNvPr id="12" name="TextBox 11">
            <a:extLst>
              <a:ext uri="{FF2B5EF4-FFF2-40B4-BE49-F238E27FC236}">
                <a16:creationId xmlns:a16="http://schemas.microsoft.com/office/drawing/2014/main" id="{5406A62A-D4AF-D04B-8445-69F55CAAD422}"/>
              </a:ext>
            </a:extLst>
          </p:cNvPr>
          <p:cNvSpPr txBox="1"/>
          <p:nvPr/>
        </p:nvSpPr>
        <p:spPr>
          <a:xfrm>
            <a:off x="614140" y="1089040"/>
            <a:ext cx="8140839" cy="4955203"/>
          </a:xfrm>
          <a:prstGeom prst="rect">
            <a:avLst/>
          </a:prstGeom>
          <a:noFill/>
        </p:spPr>
        <p:txBody>
          <a:bodyPr wrap="square">
            <a:spAutoFit/>
          </a:bodyPr>
          <a:lstStyle/>
          <a:p>
            <a:pPr marL="0" indent="0">
              <a:buNone/>
            </a:pPr>
            <a:r>
              <a:rPr lang="en-US" sz="2800" b="1" dirty="0">
                <a:latin typeface="+mj-lt"/>
                <a:cs typeface="Times New Roman" panose="02020603050405020304" pitchFamily="18" charset="0"/>
              </a:rPr>
              <a:t>Engineering Graduates will be able to Understand:</a:t>
            </a:r>
          </a:p>
          <a:p>
            <a:pPr marL="0" indent="0">
              <a:buNone/>
            </a:pPr>
            <a:r>
              <a:rPr lang="en-US" sz="2400" dirty="0">
                <a:latin typeface="+mj-lt"/>
                <a:cs typeface="Times New Roman" panose="02020603050405020304" pitchFamily="18" charset="0"/>
              </a:rPr>
              <a:t>1. Engineering knowledge</a:t>
            </a:r>
          </a:p>
          <a:p>
            <a:pPr marL="0" indent="0">
              <a:buNone/>
            </a:pPr>
            <a:r>
              <a:rPr lang="en-US" sz="2400" dirty="0">
                <a:latin typeface="+mj-lt"/>
                <a:cs typeface="Times New Roman" panose="02020603050405020304" pitchFamily="18" charset="0"/>
              </a:rPr>
              <a:t>2. Problem analysis</a:t>
            </a:r>
          </a:p>
          <a:p>
            <a:pPr marL="0" indent="0">
              <a:buNone/>
            </a:pPr>
            <a:r>
              <a:rPr lang="en-US" sz="2400" dirty="0">
                <a:latin typeface="+mj-lt"/>
                <a:cs typeface="Times New Roman" panose="02020603050405020304" pitchFamily="18" charset="0"/>
              </a:rPr>
              <a:t>3. Design/development of solutions</a:t>
            </a:r>
          </a:p>
          <a:p>
            <a:pPr marL="0" indent="0">
              <a:buNone/>
            </a:pPr>
            <a:r>
              <a:rPr lang="en-US" sz="2400" dirty="0">
                <a:latin typeface="+mj-lt"/>
                <a:cs typeface="Times New Roman" panose="02020603050405020304" pitchFamily="18" charset="0"/>
              </a:rPr>
              <a:t>4. Conduct investigations of complex </a:t>
            </a:r>
          </a:p>
          <a:p>
            <a:pPr marL="0" indent="0">
              <a:buNone/>
            </a:pPr>
            <a:r>
              <a:rPr lang="en-US" sz="2400" dirty="0">
                <a:latin typeface="+mj-lt"/>
                <a:cs typeface="Times New Roman" panose="02020603050405020304" pitchFamily="18" charset="0"/>
              </a:rPr>
              <a:t>5. Modern tool usage </a:t>
            </a:r>
          </a:p>
          <a:p>
            <a:pPr marL="0" indent="0">
              <a:buNone/>
            </a:pPr>
            <a:r>
              <a:rPr lang="en-US" sz="2400" dirty="0">
                <a:latin typeface="+mj-lt"/>
                <a:cs typeface="Times New Roman" panose="02020603050405020304" pitchFamily="18" charset="0"/>
              </a:rPr>
              <a:t>6. The engineer and society </a:t>
            </a:r>
          </a:p>
          <a:p>
            <a:pPr marL="0" indent="0">
              <a:buNone/>
            </a:pPr>
            <a:r>
              <a:rPr lang="en-US" sz="2400" dirty="0">
                <a:latin typeface="+mj-lt"/>
                <a:cs typeface="Times New Roman" panose="02020603050405020304" pitchFamily="18" charset="0"/>
              </a:rPr>
              <a:t>7. Environment and sustainability </a:t>
            </a:r>
          </a:p>
          <a:p>
            <a:pPr marL="0" indent="0">
              <a:buNone/>
            </a:pPr>
            <a:r>
              <a:rPr lang="en-US" sz="2400" dirty="0">
                <a:latin typeface="+mj-lt"/>
                <a:cs typeface="Times New Roman" panose="02020603050405020304" pitchFamily="18" charset="0"/>
              </a:rPr>
              <a:t>8. Ethics</a:t>
            </a:r>
          </a:p>
          <a:p>
            <a:pPr marL="0" indent="0">
              <a:buNone/>
            </a:pPr>
            <a:r>
              <a:rPr lang="en-US" sz="2400" dirty="0">
                <a:latin typeface="+mj-lt"/>
                <a:cs typeface="Times New Roman" panose="02020603050405020304" pitchFamily="18" charset="0"/>
              </a:rPr>
              <a:t> 9. Individual and team work</a:t>
            </a:r>
          </a:p>
          <a:p>
            <a:pPr marL="0" indent="0">
              <a:buNone/>
            </a:pPr>
            <a:r>
              <a:rPr lang="en-US" sz="2400" dirty="0">
                <a:latin typeface="+mj-lt"/>
                <a:cs typeface="Times New Roman" panose="02020603050405020304" pitchFamily="18" charset="0"/>
              </a:rPr>
              <a:t>10. Communication</a:t>
            </a:r>
          </a:p>
          <a:p>
            <a:pPr marL="0" indent="0">
              <a:buNone/>
            </a:pPr>
            <a:r>
              <a:rPr lang="en-US" sz="2400" dirty="0">
                <a:latin typeface="+mj-lt"/>
                <a:cs typeface="Times New Roman" panose="02020603050405020304" pitchFamily="18" charset="0"/>
              </a:rPr>
              <a:t>11. Project management and finance</a:t>
            </a:r>
          </a:p>
          <a:p>
            <a:pPr marL="0" indent="0">
              <a:buNone/>
            </a:pPr>
            <a:r>
              <a:rPr lang="en-US" sz="2400" dirty="0">
                <a:latin typeface="+mj-lt"/>
                <a:cs typeface="Times New Roman" panose="02020603050405020304" pitchFamily="18" charset="0"/>
              </a:rPr>
              <a:t>12. Life-long learning</a:t>
            </a:r>
            <a:endParaRPr lang="en-US" sz="2400" dirty="0">
              <a:latin typeface="+mj-lt"/>
            </a:endParaRPr>
          </a:p>
        </p:txBody>
      </p:sp>
      <p:pic>
        <p:nvPicPr>
          <p:cNvPr id="9" name="Picture 8">
            <a:extLst>
              <a:ext uri="{FF2B5EF4-FFF2-40B4-BE49-F238E27FC236}">
                <a16:creationId xmlns:a16="http://schemas.microsoft.com/office/drawing/2014/main" id="{61B3EE6B-8E6B-474D-8614-0D1D714871FF}"/>
              </a:ext>
            </a:extLst>
          </p:cNvPr>
          <p:cNvPicPr>
            <a:picLocks noChangeAspect="1"/>
          </p:cNvPicPr>
          <p:nvPr/>
        </p:nvPicPr>
        <p:blipFill>
          <a:blip r:embed="rId3"/>
          <a:stretch>
            <a:fillRect/>
          </a:stretch>
        </p:blipFill>
        <p:spPr>
          <a:xfrm>
            <a:off x="-19722" y="7620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8FF32AC1-CC67-D202-2598-A39EED313658}"/>
              </a:ext>
            </a:extLst>
          </p:cNvPr>
          <p:cNvPicPr>
            <a:picLocks noChangeAspect="1"/>
          </p:cNvPicPr>
          <p:nvPr/>
        </p:nvPicPr>
        <p:blipFill rotWithShape="1">
          <a:blip r:embed="rId4"/>
          <a:srcRect l="26091" t="36058" r="24385" b="26405"/>
          <a:stretch/>
        </p:blipFill>
        <p:spPr bwMode="auto">
          <a:xfrm>
            <a:off x="0" y="34529"/>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3135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12</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CO-PO Mapping</a:t>
            </a:r>
          </a:p>
        </p:txBody>
      </p:sp>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D10975FC-A586-45D9-AA0D-F333AE6616A4}" type="datetime3">
              <a:rPr lang="en-US" smtClean="0">
                <a:solidFill>
                  <a:schemeClr val="tx1"/>
                </a:solidFill>
              </a:rPr>
              <a:t>3 November 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p:txBody>
          <a:bodyPr/>
          <a:lstStyle/>
          <a:p>
            <a:r>
              <a:rPr lang="en-US"/>
              <a:t>Kashish Mahajan              UNIT 4</a:t>
            </a:r>
            <a:endParaRPr lang="en-US" dirty="0"/>
          </a:p>
        </p:txBody>
      </p:sp>
      <p:pic>
        <p:nvPicPr>
          <p:cNvPr id="10" name="Picture 9">
            <a:extLst>
              <a:ext uri="{FF2B5EF4-FFF2-40B4-BE49-F238E27FC236}">
                <a16:creationId xmlns:a16="http://schemas.microsoft.com/office/drawing/2014/main" id="{6BEFD019-1EB7-DB4A-946C-17C635CE9D95}"/>
              </a:ext>
            </a:extLst>
          </p:cNvPr>
          <p:cNvPicPr>
            <a:picLocks noChangeAspect="1"/>
          </p:cNvPicPr>
          <p:nvPr/>
        </p:nvPicPr>
        <p:blipFill>
          <a:blip r:embed="rId2"/>
          <a:stretch>
            <a:fillRect/>
          </a:stretch>
        </p:blipFill>
        <p:spPr>
          <a:xfrm>
            <a:off x="-19722" y="0"/>
            <a:ext cx="1384300" cy="8128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C17934A-6F99-C238-921E-52B8D9C255B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7EEE2720-0566-7A2B-130A-FE9E6D5873F5}"/>
              </a:ext>
            </a:extLst>
          </p:cNvPr>
          <p:cNvPicPr>
            <a:picLocks noChangeAspect="1"/>
          </p:cNvPicPr>
          <p:nvPr/>
        </p:nvPicPr>
        <p:blipFill>
          <a:blip r:embed="rId4"/>
          <a:stretch>
            <a:fillRect/>
          </a:stretch>
        </p:blipFill>
        <p:spPr>
          <a:xfrm>
            <a:off x="67377" y="1885877"/>
            <a:ext cx="9076623" cy="2070107"/>
          </a:xfrm>
          <a:prstGeom prst="rect">
            <a:avLst/>
          </a:prstGeom>
        </p:spPr>
      </p:pic>
    </p:spTree>
    <p:extLst>
      <p:ext uri="{BB962C8B-B14F-4D97-AF65-F5344CB8AC3E}">
        <p14:creationId xmlns:p14="http://schemas.microsoft.com/office/powerpoint/2010/main" val="3389227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A9079-40A6-3586-0188-BE197C216826}"/>
              </a:ext>
            </a:extLst>
          </p:cNvPr>
          <p:cNvSpPr>
            <a:spLocks noGrp="1"/>
          </p:cNvSpPr>
          <p:nvPr>
            <p:ph type="dt" sz="half" idx="10"/>
          </p:nvPr>
        </p:nvSpPr>
        <p:spPr/>
        <p:txBody>
          <a:bodyPr/>
          <a:lstStyle/>
          <a:p>
            <a:fld id="{78D2DCB2-AA4C-4533-8188-6457E34DD12A}" type="datetime3">
              <a:rPr lang="en-US" smtClean="0"/>
              <a:t>3 November 2025</a:t>
            </a:fld>
            <a:endParaRPr lang="en-US" dirty="0"/>
          </a:p>
        </p:txBody>
      </p:sp>
      <p:sp>
        <p:nvSpPr>
          <p:cNvPr id="3" name="Footer Placeholder 2">
            <a:extLst>
              <a:ext uri="{FF2B5EF4-FFF2-40B4-BE49-F238E27FC236}">
                <a16:creationId xmlns:a16="http://schemas.microsoft.com/office/drawing/2014/main" id="{FEDA6916-D751-108B-462E-31B950E5DA5B}"/>
              </a:ext>
            </a:extLst>
          </p:cNvPr>
          <p:cNvSpPr>
            <a:spLocks noGrp="1"/>
          </p:cNvSpPr>
          <p:nvPr>
            <p:ph type="ftr" sz="quarter" idx="11"/>
          </p:nvPr>
        </p:nvSpPr>
        <p:spPr/>
        <p:txBody>
          <a:bodyPr/>
          <a:lstStyle/>
          <a:p>
            <a:r>
              <a:rPr lang="de-DE" dirty="0"/>
              <a:t>Kashish Mahajan              UNIT 4</a:t>
            </a:r>
            <a:endParaRPr lang="en-US" dirty="0"/>
          </a:p>
        </p:txBody>
      </p:sp>
      <p:sp>
        <p:nvSpPr>
          <p:cNvPr id="4" name="Slide Number Placeholder 3">
            <a:extLst>
              <a:ext uri="{FF2B5EF4-FFF2-40B4-BE49-F238E27FC236}">
                <a16:creationId xmlns:a16="http://schemas.microsoft.com/office/drawing/2014/main" id="{6B86181E-91DF-5F84-0C89-326B8EE19F76}"/>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5" name="Title 1">
            <a:extLst>
              <a:ext uri="{FF2B5EF4-FFF2-40B4-BE49-F238E27FC236}">
                <a16:creationId xmlns:a16="http://schemas.microsoft.com/office/drawing/2014/main" id="{C06D7BF1-4137-89EF-0144-98006280540C}"/>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Specific Outcomes (PSOs)</a:t>
            </a:r>
          </a:p>
        </p:txBody>
      </p:sp>
      <p:sp>
        <p:nvSpPr>
          <p:cNvPr id="7" name="TextBox 6">
            <a:extLst>
              <a:ext uri="{FF2B5EF4-FFF2-40B4-BE49-F238E27FC236}">
                <a16:creationId xmlns:a16="http://schemas.microsoft.com/office/drawing/2014/main" id="{DDBF29FD-3724-9CD2-F159-8A84D7FE960A}"/>
              </a:ext>
            </a:extLst>
          </p:cNvPr>
          <p:cNvSpPr txBox="1"/>
          <p:nvPr/>
        </p:nvSpPr>
        <p:spPr>
          <a:xfrm>
            <a:off x="304800" y="1154811"/>
            <a:ext cx="8598568" cy="4154984"/>
          </a:xfrm>
          <a:prstGeom prst="rect">
            <a:avLst/>
          </a:prstGeom>
          <a:noFill/>
        </p:spPr>
        <p:txBody>
          <a:bodyPr wrap="square">
            <a:spAutoFit/>
          </a:bodyPr>
          <a:lstStyle/>
          <a:p>
            <a:pPr algn="just"/>
            <a:r>
              <a:rPr lang="en-US" sz="2400" b="1" dirty="0"/>
              <a:t>PSO’s</a:t>
            </a:r>
          </a:p>
          <a:p>
            <a:pPr algn="just"/>
            <a:r>
              <a:rPr lang="en-US" sz="2400" b="1" dirty="0"/>
              <a:t>At the end of the program, the student will be able to-</a:t>
            </a:r>
          </a:p>
          <a:p>
            <a:pPr algn="just"/>
            <a:endParaRPr lang="en-US" sz="2400" dirty="0"/>
          </a:p>
          <a:p>
            <a:pPr algn="just"/>
            <a:r>
              <a:rPr lang="en-US" sz="2400" dirty="0"/>
              <a:t>PSO 1: Apply suitable techniques, modern tools to solve complex engineering problems in the field of computer science.</a:t>
            </a:r>
          </a:p>
          <a:p>
            <a:pPr algn="just"/>
            <a:endParaRPr lang="en-US" sz="2400" dirty="0"/>
          </a:p>
          <a:p>
            <a:pPr algn="just"/>
            <a:r>
              <a:rPr lang="en-US" sz="2400" dirty="0"/>
              <a:t>PSO  2: Design and optimize, ethical and innovative solutions for the betterment of the society.</a:t>
            </a:r>
          </a:p>
          <a:p>
            <a:pPr algn="just"/>
            <a:endParaRPr lang="en-US" sz="2400" dirty="0"/>
          </a:p>
          <a:p>
            <a:pPr algn="just"/>
            <a:r>
              <a:rPr lang="en-US" sz="2400" dirty="0"/>
              <a:t>PSO 3: Work as an individual or lead in a team with good communication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7A23A25C-20DC-E8DE-668D-B66285AB9408}"/>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3396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BB6C61-91CA-5C97-BF6C-A2F759E3FFD4}"/>
              </a:ext>
            </a:extLst>
          </p:cNvPr>
          <p:cNvSpPr>
            <a:spLocks noGrp="1"/>
          </p:cNvSpPr>
          <p:nvPr>
            <p:ph type="dt" sz="half" idx="10"/>
          </p:nvPr>
        </p:nvSpPr>
        <p:spPr/>
        <p:txBody>
          <a:bodyPr/>
          <a:lstStyle/>
          <a:p>
            <a:fld id="{1DB8E659-1BFA-4E82-AE11-44672247BEB6}" type="datetime3">
              <a:rPr lang="en-US" smtClean="0"/>
              <a:t>3 November 2025</a:t>
            </a:fld>
            <a:endParaRPr lang="en-US" dirty="0"/>
          </a:p>
        </p:txBody>
      </p:sp>
      <p:sp>
        <p:nvSpPr>
          <p:cNvPr id="3" name="Footer Placeholder 2">
            <a:extLst>
              <a:ext uri="{FF2B5EF4-FFF2-40B4-BE49-F238E27FC236}">
                <a16:creationId xmlns:a16="http://schemas.microsoft.com/office/drawing/2014/main" id="{7C46F3BD-666D-31B3-AEEE-489188667CA5}"/>
              </a:ext>
            </a:extLst>
          </p:cNvPr>
          <p:cNvSpPr>
            <a:spLocks noGrp="1"/>
          </p:cNvSpPr>
          <p:nvPr>
            <p:ph type="ftr" sz="quarter" idx="11"/>
          </p:nvPr>
        </p:nvSpPr>
        <p:spPr/>
        <p:txBody>
          <a:bodyPr/>
          <a:lstStyle/>
          <a:p>
            <a:r>
              <a:rPr lang="de-DE" dirty="0"/>
              <a:t>Kashish Mahajan              UNIT 4</a:t>
            </a:r>
            <a:endParaRPr lang="en-US" dirty="0"/>
          </a:p>
        </p:txBody>
      </p:sp>
      <p:sp>
        <p:nvSpPr>
          <p:cNvPr id="4" name="Slide Number Placeholder 3">
            <a:extLst>
              <a:ext uri="{FF2B5EF4-FFF2-40B4-BE49-F238E27FC236}">
                <a16:creationId xmlns:a16="http://schemas.microsoft.com/office/drawing/2014/main" id="{00A02CB5-74C0-0FE6-0AD9-DA57CFF54618}"/>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
        <p:nvSpPr>
          <p:cNvPr id="5" name="Title 1">
            <a:extLst>
              <a:ext uri="{FF2B5EF4-FFF2-40B4-BE49-F238E27FC236}">
                <a16:creationId xmlns:a16="http://schemas.microsoft.com/office/drawing/2014/main" id="{5A4ACA45-F6D7-97A7-7BE0-E4E3138AA839}"/>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COs and PSOs Mapping</a:t>
            </a:r>
          </a:p>
        </p:txBody>
      </p:sp>
      <p:pic>
        <p:nvPicPr>
          <p:cNvPr id="7" name="Picture 6" descr="A screenshot of a computer&#10;&#10;Description automatically generated">
            <a:extLst>
              <a:ext uri="{FF2B5EF4-FFF2-40B4-BE49-F238E27FC236}">
                <a16:creationId xmlns:a16="http://schemas.microsoft.com/office/drawing/2014/main" id="{7C4B3D58-D5ED-5399-4C63-8D1BD234EA20}"/>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0" name="Picture 9" descr="A screen shot of a computer&#10;&#10;AI-generated content may be incorrect.">
            <a:extLst>
              <a:ext uri="{FF2B5EF4-FFF2-40B4-BE49-F238E27FC236}">
                <a16:creationId xmlns:a16="http://schemas.microsoft.com/office/drawing/2014/main" id="{C84DB365-4DE3-DDE4-BB96-BF03766A6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4219" y="-177451"/>
            <a:ext cx="11518200" cy="5400614"/>
          </a:xfrm>
          <a:prstGeom prst="rect">
            <a:avLst/>
          </a:prstGeom>
        </p:spPr>
      </p:pic>
    </p:spTree>
    <p:extLst>
      <p:ext uri="{BB962C8B-B14F-4D97-AF65-F5344CB8AC3E}">
        <p14:creationId xmlns:p14="http://schemas.microsoft.com/office/powerpoint/2010/main" val="245491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45CACD-9C91-ACF6-026F-5A94C8D8A20B}"/>
              </a:ext>
            </a:extLst>
          </p:cNvPr>
          <p:cNvSpPr>
            <a:spLocks noGrp="1"/>
          </p:cNvSpPr>
          <p:nvPr>
            <p:ph type="dt" sz="half" idx="10"/>
          </p:nvPr>
        </p:nvSpPr>
        <p:spPr/>
        <p:txBody>
          <a:bodyPr/>
          <a:lstStyle/>
          <a:p>
            <a:fld id="{705960E9-C9A1-4FBD-BF7D-0C6D6B53DA06}" type="datetime3">
              <a:rPr lang="en-US" smtClean="0"/>
              <a:t>3 November 2025</a:t>
            </a:fld>
            <a:endParaRPr lang="en-US" dirty="0"/>
          </a:p>
        </p:txBody>
      </p:sp>
      <p:sp>
        <p:nvSpPr>
          <p:cNvPr id="3" name="Footer Placeholder 2">
            <a:extLst>
              <a:ext uri="{FF2B5EF4-FFF2-40B4-BE49-F238E27FC236}">
                <a16:creationId xmlns:a16="http://schemas.microsoft.com/office/drawing/2014/main" id="{437EAE90-4B54-7D00-B5D3-DD086F9E1FEC}"/>
              </a:ext>
            </a:extLst>
          </p:cNvPr>
          <p:cNvSpPr>
            <a:spLocks noGrp="1"/>
          </p:cNvSpPr>
          <p:nvPr>
            <p:ph type="ftr" sz="quarter" idx="11"/>
          </p:nvPr>
        </p:nvSpPr>
        <p:spPr/>
        <p:txBody>
          <a:bodyPr/>
          <a:lstStyle/>
          <a:p>
            <a:r>
              <a:rPr lang="de-DE" dirty="0"/>
              <a:t>Kashish Mahajan              UNIT 4</a:t>
            </a:r>
            <a:endParaRPr lang="en-US" dirty="0"/>
          </a:p>
        </p:txBody>
      </p:sp>
      <p:sp>
        <p:nvSpPr>
          <p:cNvPr id="4" name="Slide Number Placeholder 3">
            <a:extLst>
              <a:ext uri="{FF2B5EF4-FFF2-40B4-BE49-F238E27FC236}">
                <a16:creationId xmlns:a16="http://schemas.microsoft.com/office/drawing/2014/main" id="{AB60056D-397E-F9D7-CEE4-CEBAEAD06731}"/>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5" name="Title 1">
            <a:extLst>
              <a:ext uri="{FF2B5EF4-FFF2-40B4-BE49-F238E27FC236}">
                <a16:creationId xmlns:a16="http://schemas.microsoft.com/office/drawing/2014/main" id="{02FE6854-561F-A9CD-BF70-B7CF5891E02A}"/>
              </a:ext>
            </a:extLst>
          </p:cNvPr>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Program Educational Objectives (PEOs)</a:t>
            </a:r>
          </a:p>
        </p:txBody>
      </p:sp>
      <p:sp>
        <p:nvSpPr>
          <p:cNvPr id="7" name="TextBox 6">
            <a:extLst>
              <a:ext uri="{FF2B5EF4-FFF2-40B4-BE49-F238E27FC236}">
                <a16:creationId xmlns:a16="http://schemas.microsoft.com/office/drawing/2014/main" id="{E08303F5-8983-81C9-1E53-8FF3E5AA3D3C}"/>
              </a:ext>
            </a:extLst>
          </p:cNvPr>
          <p:cNvSpPr txBox="1"/>
          <p:nvPr/>
        </p:nvSpPr>
        <p:spPr>
          <a:xfrm>
            <a:off x="457200" y="1293310"/>
            <a:ext cx="8229600" cy="4154984"/>
          </a:xfrm>
          <a:prstGeom prst="rect">
            <a:avLst/>
          </a:prstGeom>
          <a:noFill/>
        </p:spPr>
        <p:txBody>
          <a:bodyPr wrap="square">
            <a:spAutoFit/>
          </a:bodyPr>
          <a:lstStyle/>
          <a:p>
            <a:pPr algn="just"/>
            <a:r>
              <a:rPr lang="en-US" sz="2400" b="1" dirty="0"/>
              <a:t>PEO’s</a:t>
            </a:r>
          </a:p>
          <a:p>
            <a:pPr algn="just"/>
            <a:r>
              <a:rPr lang="en-US" sz="2400" b="1" dirty="0"/>
              <a:t> The graduates of </a:t>
            </a:r>
            <a:r>
              <a:rPr lang="en-US" sz="2400" b="1" dirty="0" err="1"/>
              <a:t>B.Tech</a:t>
            </a:r>
            <a:r>
              <a:rPr lang="en-US" sz="2400" b="1" dirty="0"/>
              <a:t> Computer Science program will-</a:t>
            </a:r>
          </a:p>
          <a:p>
            <a:pPr algn="just"/>
            <a:endParaRPr lang="en-US" sz="2400" dirty="0"/>
          </a:p>
          <a:p>
            <a:pPr algn="just"/>
            <a:r>
              <a:rPr lang="en-US" sz="2400" dirty="0"/>
              <a:t>PEO1: Have successful careers in the field of Computer Science and pursue higher education.</a:t>
            </a:r>
          </a:p>
          <a:p>
            <a:pPr algn="just"/>
            <a:endParaRPr lang="en-US" sz="2400" dirty="0"/>
          </a:p>
          <a:p>
            <a:pPr algn="just"/>
            <a:r>
              <a:rPr lang="en-US" sz="2400" dirty="0"/>
              <a:t>PEO2: Engage in research and provide innovative solution to real world problems of the society with ethical responsibilities.</a:t>
            </a:r>
          </a:p>
          <a:p>
            <a:pPr algn="just"/>
            <a:endParaRPr lang="en-US" sz="2400" dirty="0"/>
          </a:p>
          <a:p>
            <a:pPr algn="just"/>
            <a:r>
              <a:rPr lang="en-US" sz="2400" dirty="0"/>
              <a:t>PEO3: Demonstrate effective communication, work as an individual or as a team and engage in life-long learning.</a:t>
            </a:r>
          </a:p>
        </p:txBody>
      </p:sp>
      <p:pic>
        <p:nvPicPr>
          <p:cNvPr id="6" name="Picture 5" descr="A screenshot of a computer&#10;&#10;Description automatically generated">
            <a:extLst>
              <a:ext uri="{FF2B5EF4-FFF2-40B4-BE49-F238E27FC236}">
                <a16:creationId xmlns:a16="http://schemas.microsoft.com/office/drawing/2014/main" id="{B793C3A5-21F9-1ED2-109F-9393E32FF032}"/>
              </a:ext>
            </a:extLst>
          </p:cNvPr>
          <p:cNvPicPr>
            <a:picLocks noChangeAspect="1"/>
          </p:cNvPicPr>
          <p:nvPr/>
        </p:nvPicPr>
        <p:blipFill rotWithShape="1">
          <a:blip r:embed="rId2"/>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0873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8229600" cy="4373563"/>
          </a:xfrm>
        </p:spPr>
        <p:txBody>
          <a:bodyPr>
            <a:normAutofit/>
          </a:bodyPr>
          <a:lstStyle/>
          <a:p>
            <a:pPr algn="just">
              <a:buNone/>
            </a:pPr>
            <a:r>
              <a:rPr lang="en-US" sz="2000" b="1" dirty="0"/>
              <a:t>Prerequisites:</a:t>
            </a:r>
          </a:p>
          <a:p>
            <a:pPr algn="just">
              <a:lnSpc>
                <a:spcPct val="150000"/>
              </a:lnSpc>
            </a:pPr>
            <a:r>
              <a:rPr lang="en-US" sz="2000" dirty="0"/>
              <a:t>Language proficiency in C, C++ or Fortran – essential for working</a:t>
            </a:r>
          </a:p>
          <a:p>
            <a:pPr marL="0" indent="0" algn="just">
              <a:lnSpc>
                <a:spcPct val="150000"/>
              </a:lnSpc>
              <a:buNone/>
            </a:pPr>
            <a:endParaRPr lang="en-US" sz="2000" b="1" dirty="0"/>
          </a:p>
          <a:p>
            <a:pPr marL="0" indent="0" algn="just">
              <a:lnSpc>
                <a:spcPct val="150000"/>
              </a:lnSpc>
              <a:buNone/>
            </a:pPr>
            <a:r>
              <a:rPr lang="en-US" sz="2000" b="1" dirty="0"/>
              <a:t>Recap:</a:t>
            </a:r>
          </a:p>
          <a:p>
            <a:pPr algn="just">
              <a:lnSpc>
                <a:spcPct val="150000"/>
              </a:lnSpc>
            </a:pPr>
            <a:r>
              <a:rPr lang="en-US" sz="2000" dirty="0"/>
              <a:t>High Performance Computing</a:t>
            </a:r>
          </a:p>
          <a:p>
            <a:pPr algn="just">
              <a:lnSpc>
                <a:spcPct val="150000"/>
              </a:lnSpc>
            </a:pPr>
            <a:r>
              <a:rPr lang="en-US" sz="2000" dirty="0"/>
              <a:t>Computing Architectures </a:t>
            </a:r>
          </a:p>
          <a:p>
            <a:pPr algn="just">
              <a:lnSpc>
                <a:spcPct val="150000"/>
              </a:lnSpc>
            </a:pPr>
            <a:r>
              <a:rPr lang="en-US" sz="2000" dirty="0"/>
              <a:t>Distributed memory and Message passing networks</a:t>
            </a:r>
          </a:p>
        </p:txBody>
      </p:sp>
      <p:sp>
        <p:nvSpPr>
          <p:cNvPr id="4" name="Date Placeholder 3"/>
          <p:cNvSpPr>
            <a:spLocks noGrp="1"/>
          </p:cNvSpPr>
          <p:nvPr>
            <p:ph type="dt" sz="half" idx="10"/>
          </p:nvPr>
        </p:nvSpPr>
        <p:spPr>
          <a:prstGeom prst="rect">
            <a:avLst/>
          </a:prstGeom>
        </p:spPr>
        <p:txBody>
          <a:bodyPr/>
          <a:lstStyle/>
          <a:p>
            <a:fld id="{988FCB70-7AA9-4245-B853-0DAB7AF8E312}" type="datetime3">
              <a:rPr lang="en-US" smtClean="0"/>
              <a:t>3 November 2025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16</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71600"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schemeClr val="dk1"/>
                </a:solidFill>
                <a:effectLst/>
                <a:uLnTx/>
                <a:uFillTx/>
                <a:latin typeface="+mn-lt"/>
                <a:ea typeface="+mn-ea"/>
                <a:cs typeface="+mn-cs"/>
              </a:rPr>
              <a:t>Prerequisite and Recap</a:t>
            </a:r>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p:txBody>
          <a:bodyPr/>
          <a:lstStyle/>
          <a:p>
            <a:r>
              <a:rPr lang="de-DE" dirty="0"/>
              <a:t>Kashish Mahajan              UNIT 4</a:t>
            </a:r>
            <a:endParaRPr lang="en-US" dirty="0"/>
          </a:p>
        </p:txBody>
      </p:sp>
      <p:pic>
        <p:nvPicPr>
          <p:cNvPr id="7" name="Picture 6">
            <a:extLst>
              <a:ext uri="{FF2B5EF4-FFF2-40B4-BE49-F238E27FC236}">
                <a16:creationId xmlns:a16="http://schemas.microsoft.com/office/drawing/2014/main" id="{FC0B4CB1-A45C-724E-B43D-F30F9540B7DA}"/>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FFC9C173-622F-8A1B-3B11-0CEB1DB211F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1000"/>
                                        <p:tgtEl>
                                          <p:spTgt spid="3">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ox(in)">
                                      <p:cBhvr>
                                        <p:cTn id="10"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17</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000" b="1" dirty="0">
                <a:solidFill>
                  <a:schemeClr val="tx1"/>
                </a:solidFill>
              </a:rPr>
              <a:t>Question Paper Template</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C099B780-FA58-4367-93A3-8C80980CBC5C}" type="datetime3">
              <a:rPr lang="en-US" smtClean="0">
                <a:solidFill>
                  <a:schemeClr val="tx1"/>
                </a:solidFill>
              </a:rPr>
              <a:t>3 November 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p:txBody>
          <a:bodyPr/>
          <a:lstStyle/>
          <a:p>
            <a:r>
              <a:rPr lang="en-US"/>
              <a:t>Kashish Mahajan              UNIT 4</a:t>
            </a:r>
            <a:endParaRPr lang="en-US" dirty="0"/>
          </a:p>
        </p:txBody>
      </p:sp>
      <p:pic>
        <p:nvPicPr>
          <p:cNvPr id="7" name="Picture 6">
            <a:extLst>
              <a:ext uri="{FF2B5EF4-FFF2-40B4-BE49-F238E27FC236}">
                <a16:creationId xmlns:a16="http://schemas.microsoft.com/office/drawing/2014/main" id="{205EA77E-DEF1-B545-8A3A-F076C4FAE629}"/>
              </a:ext>
            </a:extLst>
          </p:cNvPr>
          <p:cNvPicPr>
            <a:picLocks noChangeAspect="1"/>
          </p:cNvPicPr>
          <p:nvPr/>
        </p:nvPicPr>
        <p:blipFill>
          <a:blip r:embed="rId3"/>
          <a:stretch>
            <a:fillRect/>
          </a:stretch>
        </p:blipFill>
        <p:spPr>
          <a:xfrm>
            <a:off x="933450" y="844550"/>
            <a:ext cx="7277100" cy="5168900"/>
          </a:xfrm>
          <a:prstGeom prst="rect">
            <a:avLst/>
          </a:prstGeom>
        </p:spPr>
      </p:pic>
      <p:pic>
        <p:nvPicPr>
          <p:cNvPr id="9" name="Picture 8">
            <a:extLst>
              <a:ext uri="{FF2B5EF4-FFF2-40B4-BE49-F238E27FC236}">
                <a16:creationId xmlns:a16="http://schemas.microsoft.com/office/drawing/2014/main" id="{62829486-2894-F343-8A4B-BCB5011C169E}"/>
              </a:ext>
            </a:extLst>
          </p:cNvPr>
          <p:cNvPicPr>
            <a:picLocks noChangeAspect="1"/>
          </p:cNvPicPr>
          <p:nvPr/>
        </p:nvPicPr>
        <p:blipFill>
          <a:blip r:embed="rId4"/>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25FFF94-968F-D9D0-8267-66BF05779FA6}"/>
              </a:ext>
            </a:extLst>
          </p:cNvPr>
          <p:cNvPicPr>
            <a:picLocks noChangeAspect="1"/>
          </p:cNvPicPr>
          <p:nvPr/>
        </p:nvPicPr>
        <p:blipFill rotWithShape="1">
          <a:blip r:embed="rId5"/>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1759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solidFill>
                  <a:schemeClr val="tx1"/>
                </a:solidFill>
              </a:rPr>
              <a:pPr/>
              <a:t>18</a:t>
            </a:fld>
            <a:endParaRPr lang="en-US" dirty="0">
              <a:solidFill>
                <a:schemeClr val="tx1"/>
              </a:solidFill>
            </a:endParaRPr>
          </a:p>
        </p:txBody>
      </p:sp>
      <p:sp>
        <p:nvSpPr>
          <p:cNvPr id="5" name="Title 1"/>
          <p:cNvSpPr txBox="1">
            <a:spLocks/>
          </p:cNvSpPr>
          <p:nvPr/>
        </p:nvSpPr>
        <p:spPr>
          <a:xfrm>
            <a:off x="1269157" y="0"/>
            <a:ext cx="7874843" cy="726498"/>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endParaRPr lang="en-US" sz="3000" b="1" dirty="0">
              <a:solidFill>
                <a:schemeClr val="tx1"/>
              </a:solidFill>
            </a:endParaRPr>
          </a:p>
          <a:p>
            <a:pPr algn="ctr">
              <a:spcBef>
                <a:spcPct val="0"/>
              </a:spcBef>
              <a:defRPr/>
            </a:pPr>
            <a:r>
              <a:rPr lang="en-US" sz="3000" b="1" dirty="0">
                <a:solidFill>
                  <a:schemeClr val="tx1"/>
                </a:solidFill>
              </a:rPr>
              <a:t>Question Paper Template</a:t>
            </a:r>
          </a:p>
          <a:p>
            <a:pPr algn="ctr">
              <a:spcBef>
                <a:spcPct val="0"/>
              </a:spcBef>
              <a:defRPr/>
            </a:pPr>
            <a:endParaRPr lang="en-US" sz="3000" b="1" dirty="0">
              <a:solidFill>
                <a:schemeClr val="tx1"/>
              </a:solidFil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532" y="983395"/>
            <a:ext cx="6850601" cy="376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804532" y="1716618"/>
            <a:ext cx="6880572" cy="369332"/>
          </a:xfrm>
          <a:prstGeom prst="rect">
            <a:avLst/>
          </a:prstGeom>
        </p:spPr>
        <p:txBody>
          <a:bodyPr wrap="square">
            <a:spAutoFit/>
          </a:bodyPr>
          <a:lstStyle/>
          <a:p>
            <a:pPr algn="just"/>
            <a:r>
              <a:rPr lang="en-US" b="1" dirty="0">
                <a:solidFill>
                  <a:srgbClr val="000000"/>
                </a:solidFill>
              </a:rPr>
              <a:t>	</a:t>
            </a:r>
          </a:p>
        </p:txBody>
      </p:sp>
      <p:sp>
        <p:nvSpPr>
          <p:cNvPr id="2" name="Date Placeholder 1"/>
          <p:cNvSpPr>
            <a:spLocks noGrp="1"/>
          </p:cNvSpPr>
          <p:nvPr>
            <p:ph type="dt" sz="half" idx="10"/>
          </p:nvPr>
        </p:nvSpPr>
        <p:spPr/>
        <p:txBody>
          <a:bodyPr/>
          <a:lstStyle/>
          <a:p>
            <a:fld id="{027306CE-AF59-48CF-B5B2-22B2535C1694}" type="datetime3">
              <a:rPr lang="en-US" smtClean="0">
                <a:solidFill>
                  <a:schemeClr val="tx1"/>
                </a:solidFill>
              </a:rPr>
              <a:t>3 November 2025</a:t>
            </a:fld>
            <a:endParaRPr lang="en-US" dirty="0">
              <a:solidFill>
                <a:schemeClr val="tx1"/>
              </a:solidFill>
            </a:endParaRPr>
          </a:p>
        </p:txBody>
      </p:sp>
      <p:sp>
        <p:nvSpPr>
          <p:cNvPr id="11" name="Footer Placeholder 10">
            <a:extLst>
              <a:ext uri="{FF2B5EF4-FFF2-40B4-BE49-F238E27FC236}">
                <a16:creationId xmlns:a16="http://schemas.microsoft.com/office/drawing/2014/main" id="{36A70B1D-918E-44EC-9C09-C68DF7FA411C}"/>
              </a:ext>
            </a:extLst>
          </p:cNvPr>
          <p:cNvSpPr>
            <a:spLocks noGrp="1"/>
          </p:cNvSpPr>
          <p:nvPr>
            <p:ph type="ftr" sz="quarter" idx="11"/>
          </p:nvPr>
        </p:nvSpPr>
        <p:spPr/>
        <p:txBody>
          <a:bodyPr/>
          <a:lstStyle/>
          <a:p>
            <a:r>
              <a:rPr lang="en-US"/>
              <a:t>Kashish Mahajan              UNIT 4</a:t>
            </a:r>
            <a:endParaRPr lang="en-US" dirty="0"/>
          </a:p>
        </p:txBody>
      </p:sp>
      <p:graphicFrame>
        <p:nvGraphicFramePr>
          <p:cNvPr id="3" name="Table 2">
            <a:extLst>
              <a:ext uri="{FF2B5EF4-FFF2-40B4-BE49-F238E27FC236}">
                <a16:creationId xmlns:a16="http://schemas.microsoft.com/office/drawing/2014/main" id="{DDD6825B-064F-084A-91C0-2417B0843538}"/>
              </a:ext>
            </a:extLst>
          </p:cNvPr>
          <p:cNvGraphicFramePr>
            <a:graphicFrameLocks noGrp="1"/>
          </p:cNvGraphicFramePr>
          <p:nvPr/>
        </p:nvGraphicFramePr>
        <p:xfrm>
          <a:off x="1269156" y="838200"/>
          <a:ext cx="7189045" cy="5500583"/>
        </p:xfrm>
        <a:graphic>
          <a:graphicData uri="http://schemas.openxmlformats.org/drawingml/2006/table">
            <a:tbl>
              <a:tblPr firstRow="1" firstCol="1" bandRow="1">
                <a:tableStyleId>{5C22544A-7EE6-4342-B048-85BDC9FD1C3A}</a:tableStyleId>
              </a:tblPr>
              <a:tblGrid>
                <a:gridCol w="369667">
                  <a:extLst>
                    <a:ext uri="{9D8B030D-6E8A-4147-A177-3AD203B41FA5}">
                      <a16:colId xmlns:a16="http://schemas.microsoft.com/office/drawing/2014/main" val="3904463951"/>
                    </a:ext>
                  </a:extLst>
                </a:gridCol>
                <a:gridCol w="467848">
                  <a:extLst>
                    <a:ext uri="{9D8B030D-6E8A-4147-A177-3AD203B41FA5}">
                      <a16:colId xmlns:a16="http://schemas.microsoft.com/office/drawing/2014/main" val="382194311"/>
                    </a:ext>
                  </a:extLst>
                </a:gridCol>
                <a:gridCol w="4990158">
                  <a:extLst>
                    <a:ext uri="{9D8B030D-6E8A-4147-A177-3AD203B41FA5}">
                      <a16:colId xmlns:a16="http://schemas.microsoft.com/office/drawing/2014/main" val="2326716346"/>
                    </a:ext>
                  </a:extLst>
                </a:gridCol>
                <a:gridCol w="795341">
                  <a:extLst>
                    <a:ext uri="{9D8B030D-6E8A-4147-A177-3AD203B41FA5}">
                      <a16:colId xmlns:a16="http://schemas.microsoft.com/office/drawing/2014/main" val="780519470"/>
                    </a:ext>
                  </a:extLst>
                </a:gridCol>
                <a:gridCol w="566031">
                  <a:extLst>
                    <a:ext uri="{9D8B030D-6E8A-4147-A177-3AD203B41FA5}">
                      <a16:colId xmlns:a16="http://schemas.microsoft.com/office/drawing/2014/main" val="746072801"/>
                    </a:ext>
                  </a:extLst>
                </a:gridCol>
              </a:tblGrid>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sng">
                          <a:effectLst/>
                        </a:rPr>
                        <a:t>SECTION – 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3623823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41590961"/>
                  </a:ext>
                </a:extLst>
              </a:tr>
              <a:tr h="173825">
                <a:tc>
                  <a:txBody>
                    <a:bodyPr/>
                    <a:lstStyle/>
                    <a:p>
                      <a:pPr marL="342900" lvl="0" indent="-342900" algn="l">
                        <a:lnSpc>
                          <a:spcPct val="115000"/>
                        </a:lnSpc>
                        <a:spcAft>
                          <a:spcPts val="800"/>
                        </a:spcAft>
                        <a:buFont typeface="+mj-lt"/>
                        <a:buAutoNum type="arabicPeriod"/>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15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[10×1=10]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76928812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25830015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2350723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87040617"/>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879452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087435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746902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75855397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1-h.</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3698463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1-i.</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0507980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1-j.</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(1)</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6259841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55283994"/>
                  </a:ext>
                </a:extLst>
              </a:tr>
              <a:tr h="91536">
                <a:tc>
                  <a:txBody>
                    <a:bodyPr/>
                    <a:lstStyle/>
                    <a:p>
                      <a:pPr algn="l">
                        <a:lnSpc>
                          <a:spcPct val="115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Attempt all parts-</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[5×2=10]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49031790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just">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842250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4114778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8083359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08092534"/>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4954328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2-e.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07000"/>
                        </a:lnSpc>
                        <a:spcAft>
                          <a:spcPts val="800"/>
                        </a:spcAft>
                      </a:pPr>
                      <a:r>
                        <a:rPr lang="en-IN" sz="500">
                          <a:effectLst/>
                        </a:rPr>
                        <a:t>(2)</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7579628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05930127"/>
                  </a:ext>
                </a:extLst>
              </a:tr>
              <a:tr h="301525">
                <a:tc>
                  <a:txBody>
                    <a:bodyPr/>
                    <a:lstStyle/>
                    <a:p>
                      <a:pPr algn="l">
                        <a:lnSpc>
                          <a:spcPct val="115000"/>
                        </a:lnSpc>
                        <a:spcAft>
                          <a:spcPts val="800"/>
                        </a:spcAft>
                      </a:pPr>
                      <a:r>
                        <a:rPr lang="en-IN" sz="500">
                          <a:effectLst/>
                        </a:rPr>
                        <a:t> </a:t>
                      </a:r>
                      <a:endParaRPr lang="en-IN" sz="400">
                        <a:effectLst/>
                      </a:endParaRPr>
                    </a:p>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marL="471805"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32122905"/>
                  </a:ext>
                </a:extLst>
              </a:tr>
              <a:tr h="91536">
                <a:tc gridSpan="3">
                  <a:txBody>
                    <a:bodyPr/>
                    <a:lstStyle/>
                    <a:p>
                      <a:pPr algn="ctr">
                        <a:lnSpc>
                          <a:spcPct val="115000"/>
                        </a:lnSpc>
                        <a:spcAft>
                          <a:spcPts val="800"/>
                        </a:spcAft>
                      </a:pPr>
                      <a:r>
                        <a:rPr lang="en-IN" sz="500" u="sng">
                          <a:effectLst/>
                        </a:rPr>
                        <a:t>SECTION – 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840196487"/>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0015063"/>
                  </a:ext>
                </a:extLst>
              </a:tr>
              <a:tr h="91536">
                <a:tc>
                  <a:txBody>
                    <a:bodyPr/>
                    <a:lstStyle/>
                    <a:p>
                      <a:pPr algn="l">
                        <a:lnSpc>
                          <a:spcPct val="115000"/>
                        </a:lnSpc>
                        <a:spcAft>
                          <a:spcPts val="800"/>
                        </a:spcAft>
                      </a:pPr>
                      <a:r>
                        <a:rPr lang="en-IN" sz="500">
                          <a:effectLst/>
                        </a:rPr>
                        <a:t>3.</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a:t>
                      </a:r>
                      <a:r>
                        <a:rPr lang="en-IN" sz="500" u="sng">
                          <a:effectLst/>
                        </a:rPr>
                        <a:t>five </a:t>
                      </a:r>
                      <a:r>
                        <a:rPr lang="en-IN" sz="500">
                          <a:effectLst/>
                        </a:rPr>
                        <a:t>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[5×6=30]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highlight>
                            <a:srgbClr val="FFFF00"/>
                          </a:highligh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49683749"/>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384649017"/>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9726844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3-c.</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83279152"/>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3-d.</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560087403"/>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07000"/>
                        </a:lnSpc>
                        <a:spcAft>
                          <a:spcPts val="800"/>
                        </a:spcAft>
                      </a:pPr>
                      <a:r>
                        <a:rPr lang="en-IN" sz="500">
                          <a:effectLst/>
                        </a:rPr>
                        <a:t>3-e.</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126491731"/>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3-f.</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528500548"/>
                  </a:ext>
                </a:extLst>
              </a:tr>
              <a:tr h="91536">
                <a:tc>
                  <a:txBody>
                    <a:bodyPr/>
                    <a:lstStyle/>
                    <a:p>
                      <a:pPr marL="457200"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3-g.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12423086"/>
                  </a:ext>
                </a:extLst>
              </a:tr>
              <a:tr h="91536">
                <a:tc gridSpan="3">
                  <a:txBody>
                    <a:bodyPr/>
                    <a:lstStyle/>
                    <a:p>
                      <a:pPr algn="ctr">
                        <a:lnSpc>
                          <a:spcPct val="115000"/>
                        </a:lnSpc>
                        <a:spcAft>
                          <a:spcPts val="800"/>
                        </a:spcAft>
                      </a:pPr>
                      <a:r>
                        <a:rPr lang="en-IN" sz="500" u="sng">
                          <a:effectLst/>
                        </a:rPr>
                        <a:t>SECTION – C</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CO</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788619013"/>
                  </a:ext>
                </a:extLst>
              </a:tr>
              <a:tr h="91536">
                <a:tc gridSpan="3">
                  <a:txBody>
                    <a:bodyPr/>
                    <a:lstStyle/>
                    <a:p>
                      <a:pPr algn="ctr">
                        <a:lnSpc>
                          <a:spcPct val="115000"/>
                        </a:lnSpc>
                        <a:spcAft>
                          <a:spcPts val="800"/>
                        </a:spcAft>
                      </a:pPr>
                      <a:r>
                        <a:rPr lang="en-IN" sz="500" u="none" strike="noStrike">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hMerge="1">
                  <a:txBody>
                    <a:bodyPr/>
                    <a:lstStyle/>
                    <a:p>
                      <a:endParaRPr lang="en-US"/>
                    </a:p>
                  </a:txBody>
                  <a:tcPr/>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277044899"/>
                  </a:ext>
                </a:extLst>
              </a:tr>
              <a:tr h="173825">
                <a:tc>
                  <a:txBody>
                    <a:bodyPr/>
                    <a:lstStyle/>
                    <a:p>
                      <a:pPr algn="l">
                        <a:lnSpc>
                          <a:spcPct val="115000"/>
                        </a:lnSpc>
                        <a:spcAft>
                          <a:spcPts val="800"/>
                        </a:spcAft>
                      </a:pPr>
                      <a:r>
                        <a:rPr lang="en-IN" sz="500">
                          <a:effectLst/>
                        </a:rPr>
                        <a:t>4</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a:t>
                      </a:r>
                      <a:r>
                        <a:rPr lang="en-IN" sz="500" u="sng">
                          <a:effectLst/>
                        </a:rPr>
                        <a:t> one</a:t>
                      </a:r>
                      <a:r>
                        <a:rPr lang="en-IN" sz="500">
                          <a:effectLst/>
                        </a:rPr>
                        <a:t>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l">
                        <a:lnSpc>
                          <a:spcPct val="115000"/>
                        </a:lnSpc>
                        <a:spcAft>
                          <a:spcPts val="800"/>
                        </a:spcAft>
                      </a:pPr>
                      <a:r>
                        <a:rPr lang="en-IN" sz="500">
                          <a:effectLst/>
                        </a:rPr>
                        <a:t>[5×10=50]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82555771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27138055"/>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9414542"/>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4-b.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989911954"/>
                  </a:ext>
                </a:extLst>
              </a:tr>
              <a:tr h="91536">
                <a:tc>
                  <a:txBody>
                    <a:bodyPr/>
                    <a:lstStyle/>
                    <a:p>
                      <a:pPr algn="l">
                        <a:lnSpc>
                          <a:spcPct val="115000"/>
                        </a:lnSpc>
                        <a:spcAft>
                          <a:spcPts val="800"/>
                        </a:spcAft>
                      </a:pPr>
                      <a:r>
                        <a:rPr lang="en-IN" sz="500">
                          <a:effectLst/>
                        </a:rPr>
                        <a:t>5.</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5945121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69325499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8796788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5-b.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015798895"/>
                  </a:ext>
                </a:extLst>
              </a:tr>
              <a:tr h="91536">
                <a:tc>
                  <a:txBody>
                    <a:bodyPr/>
                    <a:lstStyle/>
                    <a:p>
                      <a:pPr algn="l">
                        <a:lnSpc>
                          <a:spcPct val="115000"/>
                        </a:lnSpc>
                        <a:spcAft>
                          <a:spcPts val="800"/>
                        </a:spcAft>
                      </a:pPr>
                      <a:r>
                        <a:rPr lang="en-IN" sz="500">
                          <a:effectLst/>
                        </a:rPr>
                        <a:t>6.</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3141507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2042784850"/>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0808464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6-b.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417109019"/>
                  </a:ext>
                </a:extLst>
              </a:tr>
              <a:tr h="91536">
                <a:tc>
                  <a:txBody>
                    <a:bodyPr/>
                    <a:lstStyle/>
                    <a:p>
                      <a:pPr algn="l">
                        <a:lnSpc>
                          <a:spcPct val="115000"/>
                        </a:lnSpc>
                        <a:spcAft>
                          <a:spcPts val="800"/>
                        </a:spcAft>
                      </a:pPr>
                      <a:r>
                        <a:rPr lang="en-IN" sz="500">
                          <a:effectLst/>
                        </a:rPr>
                        <a:t>7.</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911055239"/>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1448950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63932086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7-b.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646566941"/>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3843233770"/>
                  </a:ext>
                </a:extLst>
              </a:tr>
              <a:tr h="91536">
                <a:tc>
                  <a:txBody>
                    <a:bodyPr/>
                    <a:lstStyle/>
                    <a:p>
                      <a:pPr algn="l">
                        <a:lnSpc>
                          <a:spcPct val="115000"/>
                        </a:lnSpc>
                        <a:spcAft>
                          <a:spcPts val="800"/>
                        </a:spcAft>
                      </a:pPr>
                      <a:r>
                        <a:rPr lang="en-IN" sz="500">
                          <a:effectLst/>
                        </a:rPr>
                        <a:t>8.</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gridSpan="2">
                  <a:txBody>
                    <a:bodyPr/>
                    <a:lstStyle/>
                    <a:p>
                      <a:pPr algn="l">
                        <a:lnSpc>
                          <a:spcPct val="115000"/>
                        </a:lnSpc>
                        <a:spcAft>
                          <a:spcPts val="800"/>
                        </a:spcAft>
                      </a:pPr>
                      <a:r>
                        <a:rPr lang="en-IN" sz="500">
                          <a:effectLst/>
                        </a:rPr>
                        <a:t>Answer any one of the following-</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hMerge="1">
                  <a:txBody>
                    <a:bodyPr/>
                    <a:lstStyle/>
                    <a:p>
                      <a:endParaRPr lang="en-US"/>
                    </a:p>
                  </a:txBody>
                  <a:tcPr/>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152808183"/>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8-a.</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907290766"/>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4029224358"/>
                  </a:ext>
                </a:extLst>
              </a:tr>
              <a:tr h="91536">
                <a:tc>
                  <a:txBody>
                    <a:bodyPr/>
                    <a:lstStyle/>
                    <a:p>
                      <a:pPr algn="l">
                        <a:lnSpc>
                          <a:spcPct val="115000"/>
                        </a:lnSpc>
                        <a:spcAft>
                          <a:spcPts val="800"/>
                        </a:spcAft>
                      </a:pP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a:effectLst/>
                        </a:rPr>
                        <a:t>8-b.</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u="sng">
                          <a:effectLst/>
                        </a:rPr>
                        <a:t>Question-  </a:t>
                      </a:r>
                      <a:r>
                        <a:rPr lang="en-IN" sz="500">
                          <a:effectLst/>
                        </a:rPr>
                        <a:t> </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ctr">
                        <a:lnSpc>
                          <a:spcPct val="115000"/>
                        </a:lnSpc>
                        <a:spcAft>
                          <a:spcPts val="800"/>
                        </a:spcAft>
                      </a:pPr>
                      <a:r>
                        <a:rPr lang="en-IN" sz="500">
                          <a:effectLst/>
                        </a:rPr>
                        <a:t>(10)</a:t>
                      </a:r>
                      <a:endParaRPr lang="en-IN" sz="40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tc>
                  <a:txBody>
                    <a:bodyPr/>
                    <a:lstStyle/>
                    <a:p>
                      <a:pPr algn="l">
                        <a:lnSpc>
                          <a:spcPct val="115000"/>
                        </a:lnSpc>
                        <a:spcAft>
                          <a:spcPts val="800"/>
                        </a:spcAft>
                      </a:pPr>
                      <a:r>
                        <a:rPr lang="en-IN" sz="500" dirty="0">
                          <a:effectLst/>
                        </a:rPr>
                        <a:t> </a:t>
                      </a:r>
                      <a:endParaRPr lang="en-IN" sz="400" dirty="0">
                        <a:effectLst/>
                        <a:latin typeface="Calibri" panose="020F0502020204030204" pitchFamily="34" charset="0"/>
                        <a:ea typeface="Calibri" panose="020F0502020204030204" pitchFamily="34" charset="0"/>
                        <a:cs typeface="Times New Roman" panose="02020603050405020304" pitchFamily="18" charset="0"/>
                      </a:endParaRPr>
                    </a:p>
                  </a:txBody>
                  <a:tcPr marL="27521" marR="27521" marT="0" marB="0"/>
                </a:tc>
                <a:extLst>
                  <a:ext uri="{0D108BD9-81ED-4DB2-BD59-A6C34878D82A}">
                    <a16:rowId xmlns:a16="http://schemas.microsoft.com/office/drawing/2014/main" val="1577907657"/>
                  </a:ext>
                </a:extLst>
              </a:tr>
            </a:tbl>
          </a:graphicData>
        </a:graphic>
      </p:graphicFrame>
      <p:pic>
        <p:nvPicPr>
          <p:cNvPr id="9" name="Picture 8">
            <a:extLst>
              <a:ext uri="{FF2B5EF4-FFF2-40B4-BE49-F238E27FC236}">
                <a16:creationId xmlns:a16="http://schemas.microsoft.com/office/drawing/2014/main" id="{D7FF1400-E667-CB49-9A29-B7225C044D28}"/>
              </a:ext>
            </a:extLst>
          </p:cNvPr>
          <p:cNvPicPr>
            <a:picLocks noChangeAspect="1"/>
          </p:cNvPicPr>
          <p:nvPr/>
        </p:nvPicPr>
        <p:blipFill>
          <a:blip r:embed="rId3"/>
          <a:stretch>
            <a:fillRect/>
          </a:stretch>
        </p:blipFill>
        <p:spPr>
          <a:xfrm>
            <a:off x="0" y="-27448"/>
            <a:ext cx="1384300" cy="8128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EB4652BB-A74F-6414-13C1-37B83FD97AD2}"/>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95435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prstGeom prst="rect">
            <a:avLst/>
          </a:prstGeom>
        </p:spPr>
        <p:txBody>
          <a:bodyPr/>
          <a:lstStyle/>
          <a:p>
            <a:fld id="{2343EE16-BEDE-4F0C-9545-A59B3D8F24EF}" type="datetime3">
              <a:rPr lang="en-US" smtClean="0"/>
              <a:t>3 November 2025</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19</a:t>
            </a:fld>
            <a:endParaRPr lang="en-US"/>
          </a:p>
        </p:txBody>
      </p:sp>
      <p:sp>
        <p:nvSpPr>
          <p:cNvPr id="9" name="Title 1">
            <a:extLst>
              <a:ext uri="{FF2B5EF4-FFF2-40B4-BE49-F238E27FC236}">
                <a16:creationId xmlns:a16="http://schemas.microsoft.com/office/drawing/2014/main" id="{343CFCBF-680E-4B0C-8602-86D30BF2D33A}"/>
              </a:ext>
            </a:extLst>
          </p:cNvPr>
          <p:cNvSpPr txBox="1">
            <a:spLocks/>
          </p:cNvSpPr>
          <p:nvPr/>
        </p:nvSpPr>
        <p:spPr>
          <a:xfrm>
            <a:off x="1353671"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schemeClr val="dk1"/>
                </a:solidFill>
                <a:effectLst/>
                <a:uLnTx/>
                <a:uFillTx/>
                <a:latin typeface="+mn-lt"/>
                <a:ea typeface="+mn-ea"/>
                <a:cs typeface="+mn-cs"/>
              </a:rPr>
              <a:t>Brief Intro of Subject with video</a:t>
            </a:r>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p:txBody>
          <a:bodyPr/>
          <a:lstStyle/>
          <a:p>
            <a:r>
              <a:rPr lang="en-US"/>
              <a:t>Kashish Mahajan              UNIT 4</a:t>
            </a:r>
            <a:endParaRPr lang="en-US" dirty="0"/>
          </a:p>
        </p:txBody>
      </p:sp>
      <p:sp>
        <p:nvSpPr>
          <p:cNvPr id="7" name="Content Placeholder 6">
            <a:extLst>
              <a:ext uri="{FF2B5EF4-FFF2-40B4-BE49-F238E27FC236}">
                <a16:creationId xmlns:a16="http://schemas.microsoft.com/office/drawing/2014/main" id="{EF632368-14F3-4F48-B212-F99EBC3ED043}"/>
              </a:ext>
            </a:extLst>
          </p:cNvPr>
          <p:cNvSpPr>
            <a:spLocks noGrp="1"/>
          </p:cNvSpPr>
          <p:nvPr>
            <p:ph idx="1"/>
          </p:nvPr>
        </p:nvSpPr>
        <p:spPr>
          <a:xfrm>
            <a:off x="-13133" y="930442"/>
            <a:ext cx="9139204" cy="5425908"/>
          </a:xfrm>
        </p:spPr>
        <p:txBody>
          <a:bodyPr>
            <a:normAutofit lnSpcReduction="10000"/>
          </a:bodyPr>
          <a:lstStyle/>
          <a:p>
            <a:pPr marL="0" indent="0" algn="just">
              <a:buNone/>
            </a:pPr>
            <a:r>
              <a:rPr lang="en-US" sz="2000" kern="1200" dirty="0">
                <a:solidFill>
                  <a:schemeClr val="tx1"/>
                </a:solidFill>
                <a:effectLst/>
                <a:latin typeface="+mj-lt"/>
              </a:rPr>
              <a:t>High Performance Computing (HPC) focuses on solving complex computational problems using parallel and distributed computing technologies. In today’s era of large-scale data and simulation-driven systems, HPC enables faster processing and analysis by harnessing the power of modern hardware and software tools like multi-core processors, clusters, grids, and even quantum systems.</a:t>
            </a:r>
          </a:p>
          <a:p>
            <a:pPr marL="0" indent="0" algn="just">
              <a:buNone/>
            </a:pPr>
            <a:endParaRPr lang="en-US" sz="2000" kern="1200" dirty="0">
              <a:solidFill>
                <a:schemeClr val="tx1"/>
              </a:solidFill>
              <a:effectLst/>
              <a:latin typeface="+mj-lt"/>
            </a:endParaRPr>
          </a:p>
          <a:p>
            <a:pPr marL="0" indent="0" algn="just">
              <a:buNone/>
            </a:pPr>
            <a:r>
              <a:rPr lang="en-US" sz="2200" b="1" kern="1200" dirty="0">
                <a:solidFill>
                  <a:schemeClr val="tx1"/>
                </a:solidFill>
                <a:effectLst/>
                <a:latin typeface="+mj-lt"/>
              </a:rPr>
              <a:t>Students learn:</a:t>
            </a:r>
          </a:p>
          <a:p>
            <a:pPr algn="just"/>
            <a:r>
              <a:rPr lang="en-US" sz="2000" kern="1200" dirty="0">
                <a:solidFill>
                  <a:schemeClr val="tx1"/>
                </a:solidFill>
                <a:effectLst/>
                <a:latin typeface="+mj-lt"/>
              </a:rPr>
              <a:t>Core concepts of cluster computing</a:t>
            </a:r>
          </a:p>
          <a:p>
            <a:pPr algn="just"/>
            <a:r>
              <a:rPr lang="en-US" sz="2000" kern="1200" dirty="0">
                <a:solidFill>
                  <a:schemeClr val="tx1"/>
                </a:solidFill>
                <a:effectLst/>
                <a:latin typeface="+mj-lt"/>
              </a:rPr>
              <a:t>Clustering Architectures</a:t>
            </a:r>
          </a:p>
          <a:p>
            <a:pPr algn="just"/>
            <a:r>
              <a:rPr lang="en-US" sz="2000" kern="1200" dirty="0">
                <a:solidFill>
                  <a:schemeClr val="tx1"/>
                </a:solidFill>
                <a:effectLst/>
                <a:latin typeface="+mj-lt"/>
              </a:rPr>
              <a:t>Fault Detection and Masking Algorithms</a:t>
            </a:r>
          </a:p>
          <a:p>
            <a:pPr algn="just"/>
            <a:r>
              <a:rPr lang="en-US" sz="2000" kern="1200" dirty="0">
                <a:solidFill>
                  <a:schemeClr val="tx1"/>
                </a:solidFill>
                <a:effectLst/>
                <a:latin typeface="+mj-lt"/>
              </a:rPr>
              <a:t>Fault recovery through Failover and Failback Concepts.</a:t>
            </a:r>
          </a:p>
          <a:p>
            <a:pPr algn="just"/>
            <a:r>
              <a:rPr lang="en-US" sz="2000" kern="1200" dirty="0">
                <a:solidFill>
                  <a:schemeClr val="tx1"/>
                </a:solidFill>
                <a:effectLst/>
                <a:latin typeface="+mj-lt"/>
              </a:rPr>
              <a:t>This course builds the foundation to design, implement, and analyze performance-driven software and systems used in scientific research, machine learning, big data, etc.</a:t>
            </a:r>
          </a:p>
          <a:p>
            <a:pPr marL="0" indent="0" algn="just">
              <a:buNone/>
            </a:pPr>
            <a:r>
              <a:rPr lang="en-US" sz="2000" b="1" dirty="0"/>
              <a:t>Topic-wise Video Lectures (YouTube/NPTEL)</a:t>
            </a:r>
          </a:p>
          <a:p>
            <a:pPr>
              <a:buFont typeface="Wingdings" panose="05000000000000000000" pitchFamily="2" charset="2"/>
              <a:buChar char="Ø"/>
            </a:pPr>
            <a:r>
              <a:rPr lang="en-US" sz="2000" b="1" dirty="0"/>
              <a:t>Module 4 </a:t>
            </a:r>
            <a:r>
              <a:rPr lang="en-US" sz="2000" dirty="0">
                <a:hlinkClick r:id="rId2"/>
              </a:rPr>
              <a:t>https://youtu.be/7rooWbLe1iI?si=hgkzh6bYDcxLxRQd</a:t>
            </a:r>
            <a:endParaRPr lang="en-US" sz="2000" dirty="0"/>
          </a:p>
          <a:p>
            <a:pPr marL="0" indent="0">
              <a:buNone/>
            </a:pPr>
            <a:endParaRPr lang="en-US" dirty="0">
              <a:latin typeface="+mj-lt"/>
            </a:endParaRPr>
          </a:p>
          <a:p>
            <a:endParaRPr lang="en-US" dirty="0">
              <a:latin typeface="+mj-lt"/>
            </a:endParaRPr>
          </a:p>
        </p:txBody>
      </p:sp>
      <p:pic>
        <p:nvPicPr>
          <p:cNvPr id="8" name="Picture 7">
            <a:extLst>
              <a:ext uri="{FF2B5EF4-FFF2-40B4-BE49-F238E27FC236}">
                <a16:creationId xmlns:a16="http://schemas.microsoft.com/office/drawing/2014/main" id="{660A703F-3E80-1C4A-9962-E0A24FD1E0B0}"/>
              </a:ext>
            </a:extLst>
          </p:cNvPr>
          <p:cNvPicPr>
            <a:picLocks noChangeAspect="1"/>
          </p:cNvPicPr>
          <p:nvPr/>
        </p:nvPicPr>
        <p:blipFill>
          <a:blip r:embed="rId3"/>
          <a:stretch>
            <a:fillRect/>
          </a:stretch>
        </p:blipFill>
        <p:spPr>
          <a:xfrm>
            <a:off x="0" y="-27448"/>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AAB39E09-33E0-981D-1850-378A2ED73F05}"/>
              </a:ext>
            </a:extLst>
          </p:cNvPr>
          <p:cNvPicPr>
            <a:picLocks noChangeAspect="1"/>
          </p:cNvPicPr>
          <p:nvPr/>
        </p:nvPicPr>
        <p:blipFill rotWithShape="1">
          <a:blip r:embed="rId4"/>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61832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38100">
              <a:lnSpc>
                <a:spcPct val="100000"/>
              </a:lnSpc>
            </a:pPr>
            <a:fld id="{81D60167-4931-47E6-BA6A-407CBD079E47}" type="slidenum">
              <a:rPr lang="en-US" spc="-5" smtClean="0">
                <a:solidFill>
                  <a:schemeClr val="tx1"/>
                </a:solidFill>
              </a:rPr>
              <a:pPr marL="38100">
                <a:lnSpc>
                  <a:spcPct val="100000"/>
                </a:lnSpc>
              </a:pPr>
              <a:t>20</a:t>
            </a:fld>
            <a:endParaRPr lang="en-US" spc="-5" dirty="0">
              <a:solidFill>
                <a:schemeClr val="tx1"/>
              </a:solidFill>
            </a:endParaRPr>
          </a:p>
        </p:txBody>
      </p:sp>
      <p:sp>
        <p:nvSpPr>
          <p:cNvPr id="5" name="Date Placeholder 4"/>
          <p:cNvSpPr>
            <a:spLocks noGrp="1"/>
          </p:cNvSpPr>
          <p:nvPr>
            <p:ph type="dt" sz="half" idx="10"/>
          </p:nvPr>
        </p:nvSpPr>
        <p:spPr/>
        <p:txBody>
          <a:bodyPr/>
          <a:lstStyle/>
          <a:p>
            <a:fld id="{12EDCC87-76F0-47E9-8012-99D4CF9D321E}" type="datetime3">
              <a:rPr lang="en-US" smtClean="0">
                <a:solidFill>
                  <a:schemeClr val="tx1"/>
                </a:solidFill>
              </a:rPr>
              <a:t>3 November 2025</a:t>
            </a:fld>
            <a:endParaRPr lang="en-US" dirty="0">
              <a:solidFill>
                <a:schemeClr val="tx1"/>
              </a:solidFill>
            </a:endParaRPr>
          </a:p>
        </p:txBody>
      </p:sp>
      <p:sp>
        <p:nvSpPr>
          <p:cNvPr id="7" name="TextBox 6">
            <a:extLst>
              <a:ext uri="{FF2B5EF4-FFF2-40B4-BE49-F238E27FC236}">
                <a16:creationId xmlns:a16="http://schemas.microsoft.com/office/drawing/2014/main" id="{0DE197D2-E667-46C0-BB2A-49A8B2E5B579}"/>
              </a:ext>
            </a:extLst>
          </p:cNvPr>
          <p:cNvSpPr txBox="1"/>
          <p:nvPr/>
        </p:nvSpPr>
        <p:spPr>
          <a:xfrm>
            <a:off x="208547" y="856357"/>
            <a:ext cx="8726905" cy="5734647"/>
          </a:xfrm>
          <a:prstGeom prst="rect">
            <a:avLst/>
          </a:prstGeom>
          <a:noFill/>
        </p:spPr>
        <p:txBody>
          <a:bodyPr wrap="square">
            <a:spAutoFit/>
          </a:bodyPr>
          <a:lstStyle/>
          <a:p>
            <a:pPr lvl="0" algn="just">
              <a:lnSpc>
                <a:spcPct val="115000"/>
              </a:lnSpc>
            </a:pPr>
            <a:r>
              <a:rPr lang="en-US" sz="2000" b="1" dirty="0">
                <a:cs typeface="Times New Roman" panose="02020603050405020304" pitchFamily="18" charset="0"/>
              </a:rPr>
              <a:t>What is a cluster?</a:t>
            </a:r>
          </a:p>
          <a:p>
            <a:pPr marL="342900" lvl="0" indent="-342900" algn="just">
              <a:lnSpc>
                <a:spcPct val="115000"/>
              </a:lnSpc>
              <a:buFont typeface="Arial" panose="020B0604020202020204" pitchFamily="34" charset="0"/>
              <a:buChar char="•"/>
            </a:pPr>
            <a:r>
              <a:rPr lang="en-US" sz="2000" dirty="0">
                <a:cs typeface="Times New Roman" panose="02020603050405020304" pitchFamily="18" charset="0"/>
              </a:rPr>
              <a:t>A cluster refers to a group of interconnected computers, often called nodes, that work together as a single system to perform tasks.</a:t>
            </a:r>
          </a:p>
          <a:p>
            <a:pPr lvl="0" algn="just">
              <a:lnSpc>
                <a:spcPct val="115000"/>
              </a:lnSpc>
            </a:pPr>
            <a:endParaRPr lang="en-US" sz="2000" dirty="0">
              <a:cs typeface="Times New Roman" panose="02020603050405020304" pitchFamily="18" charset="0"/>
            </a:endParaRPr>
          </a:p>
          <a:p>
            <a:pPr marL="342900" lvl="0" indent="-342900" algn="just">
              <a:lnSpc>
                <a:spcPct val="115000"/>
              </a:lnSpc>
              <a:buFont typeface="Arial" panose="020B0604020202020204" pitchFamily="34" charset="0"/>
              <a:buChar char="•"/>
            </a:pPr>
            <a:r>
              <a:rPr lang="en-US" sz="2000" dirty="0">
                <a:cs typeface="Times New Roman" panose="02020603050405020304" pitchFamily="18" charset="0"/>
              </a:rPr>
              <a:t>The components of a cluster are usually </a:t>
            </a:r>
          </a:p>
          <a:p>
            <a:pPr lvl="1" algn="just">
              <a:lnSpc>
                <a:spcPct val="115000"/>
              </a:lnSpc>
            </a:pPr>
            <a:r>
              <a:rPr lang="en-US" sz="2000" dirty="0">
                <a:cs typeface="Times New Roman" panose="02020603050405020304" pitchFamily="18" charset="0"/>
              </a:rPr>
              <a:t>connected to each other through fast </a:t>
            </a:r>
          </a:p>
          <a:p>
            <a:pPr lvl="1" algn="just">
              <a:lnSpc>
                <a:spcPct val="115000"/>
              </a:lnSpc>
            </a:pPr>
            <a:r>
              <a:rPr lang="en-US" sz="2000" dirty="0">
                <a:cs typeface="Times New Roman" panose="02020603050405020304" pitchFamily="18" charset="0"/>
              </a:rPr>
              <a:t>local area networks, with each node </a:t>
            </a:r>
          </a:p>
          <a:p>
            <a:pPr lvl="1" algn="just">
              <a:lnSpc>
                <a:spcPct val="115000"/>
              </a:lnSpc>
            </a:pPr>
            <a:r>
              <a:rPr lang="en-US" sz="2000" dirty="0">
                <a:cs typeface="Times New Roman" panose="02020603050405020304" pitchFamily="18" charset="0"/>
              </a:rPr>
              <a:t>(computer used as a server) running its</a:t>
            </a:r>
          </a:p>
          <a:p>
            <a:pPr lvl="1" algn="just">
              <a:lnSpc>
                <a:spcPct val="115000"/>
              </a:lnSpc>
            </a:pPr>
            <a:r>
              <a:rPr lang="en-US" sz="2000" dirty="0">
                <a:cs typeface="Times New Roman" panose="02020603050405020304" pitchFamily="18" charset="0"/>
              </a:rPr>
              <a:t> own instance of an operating system.</a:t>
            </a:r>
          </a:p>
          <a:p>
            <a:pPr lvl="1" algn="just">
              <a:lnSpc>
                <a:spcPct val="115000"/>
              </a:lnSpc>
            </a:pPr>
            <a:endParaRPr lang="en-US" sz="2000" dirty="0">
              <a:cs typeface="Times New Roman" panose="02020603050405020304" pitchFamily="18" charset="0"/>
            </a:endParaRPr>
          </a:p>
          <a:p>
            <a:pPr marL="342900" indent="-342900" algn="just">
              <a:lnSpc>
                <a:spcPct val="115000"/>
              </a:lnSpc>
              <a:buFont typeface="Arial" panose="020B0604020202020204" pitchFamily="34" charset="0"/>
              <a:buChar char="•"/>
            </a:pPr>
            <a:r>
              <a:rPr lang="en-US" sz="2000" dirty="0">
                <a:cs typeface="Times New Roman" panose="02020603050405020304" pitchFamily="18" charset="0"/>
              </a:rPr>
              <a:t>Examples of cluster applications:</a:t>
            </a:r>
          </a:p>
          <a:p>
            <a:pPr lvl="1" algn="just">
              <a:lnSpc>
                <a:spcPct val="115000"/>
              </a:lnSpc>
            </a:pPr>
            <a:r>
              <a:rPr lang="en-US" sz="2000" dirty="0">
                <a:cs typeface="Times New Roman" panose="02020603050405020304" pitchFamily="18" charset="0"/>
              </a:rPr>
              <a:t>High-Performance Computing: Used for scientific research, simulations, and other computationally intensive tasks. </a:t>
            </a:r>
          </a:p>
          <a:p>
            <a:pPr lvl="1" algn="just">
              <a:lnSpc>
                <a:spcPct val="115000"/>
              </a:lnSpc>
            </a:pPr>
            <a:r>
              <a:rPr lang="en-US" sz="2000" dirty="0">
                <a:cs typeface="Times New Roman" panose="02020603050405020304" pitchFamily="18" charset="0"/>
              </a:rPr>
              <a:t>Web Hosting: Clusters can handle high traffic and provide reliable service for websites and web applications. </a:t>
            </a:r>
          </a:p>
          <a:p>
            <a:pPr lvl="0" algn="just">
              <a:lnSpc>
                <a:spcPct val="115000"/>
              </a:lnSpc>
            </a:pPr>
            <a:endParaRPr lang="en-US" sz="2000" dirty="0">
              <a:cs typeface="Times New Roman" panose="02020603050405020304" pitchFamily="18" charset="0"/>
            </a:endParaRPr>
          </a:p>
        </p:txBody>
      </p:sp>
      <p:sp>
        <p:nvSpPr>
          <p:cNvPr id="3" name="Footer Placeholder 2">
            <a:extLst>
              <a:ext uri="{FF2B5EF4-FFF2-40B4-BE49-F238E27FC236}">
                <a16:creationId xmlns:a16="http://schemas.microsoft.com/office/drawing/2014/main" id="{3DC48204-95A7-4BA8-8A2D-D9E1E0C1243D}"/>
              </a:ext>
            </a:extLst>
          </p:cNvPr>
          <p:cNvSpPr>
            <a:spLocks noGrp="1"/>
          </p:cNvSpPr>
          <p:nvPr>
            <p:ph type="ftr" sz="quarter" idx="11"/>
          </p:nvPr>
        </p:nvSpPr>
        <p:spPr/>
        <p:txBody>
          <a:bodyPr/>
          <a:lstStyle/>
          <a:p>
            <a:r>
              <a:rPr lang="de-DE" dirty="0"/>
              <a:t>Kashish Mahajan              UNIT 4</a:t>
            </a:r>
            <a:endParaRPr lang="en-US" dirty="0"/>
          </a:p>
        </p:txBody>
      </p:sp>
      <p:pic>
        <p:nvPicPr>
          <p:cNvPr id="6" name="Picture 5">
            <a:extLst>
              <a:ext uri="{FF2B5EF4-FFF2-40B4-BE49-F238E27FC236}">
                <a16:creationId xmlns:a16="http://schemas.microsoft.com/office/drawing/2014/main" id="{440ED1A6-ACEF-2544-96C1-BD10D3B339AB}"/>
              </a:ext>
            </a:extLst>
          </p:cNvPr>
          <p:cNvPicPr>
            <a:picLocks noChangeAspect="1"/>
          </p:cNvPicPr>
          <p:nvPr/>
        </p:nvPicPr>
        <p:blipFill>
          <a:blip r:embed="rId2"/>
          <a:stretch>
            <a:fillRect/>
          </a:stretch>
        </p:blipFill>
        <p:spPr>
          <a:xfrm>
            <a:off x="-19722" y="0"/>
            <a:ext cx="1384300" cy="81280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0A3371FE-CD9E-B4DF-51A1-55E0C5E2D3E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C01ABCD6-D9A9-74EC-11D5-734FD2C2919C}"/>
              </a:ext>
            </a:extLst>
          </p:cNvPr>
          <p:cNvSpPr txBox="1">
            <a:spLocks/>
          </p:cNvSpPr>
          <p:nvPr/>
        </p:nvSpPr>
        <p:spPr>
          <a:xfrm>
            <a:off x="1769068" y="0"/>
            <a:ext cx="7374931"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Cluster Computing</a:t>
            </a:r>
          </a:p>
        </p:txBody>
      </p:sp>
      <p:pic>
        <p:nvPicPr>
          <p:cNvPr id="10" name="Picture 9">
            <a:extLst>
              <a:ext uri="{FF2B5EF4-FFF2-40B4-BE49-F238E27FC236}">
                <a16:creationId xmlns:a16="http://schemas.microsoft.com/office/drawing/2014/main" id="{0416E027-A684-D519-6363-7127EE1367A1}"/>
              </a:ext>
            </a:extLst>
          </p:cNvPr>
          <p:cNvPicPr>
            <a:picLocks noChangeAspect="1"/>
          </p:cNvPicPr>
          <p:nvPr/>
        </p:nvPicPr>
        <p:blipFill>
          <a:blip r:embed="rId4"/>
          <a:stretch>
            <a:fillRect/>
          </a:stretch>
        </p:blipFill>
        <p:spPr>
          <a:xfrm>
            <a:off x="6070678" y="1953929"/>
            <a:ext cx="2616122" cy="27253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9C79487-635D-1D6E-976C-69BCEB74E84A}"/>
              </a:ext>
            </a:extLst>
          </p:cNvPr>
          <p:cNvSpPr txBox="1"/>
          <p:nvPr/>
        </p:nvSpPr>
        <p:spPr>
          <a:xfrm>
            <a:off x="110837" y="1014605"/>
            <a:ext cx="8914728" cy="2154436"/>
          </a:xfrm>
          <a:prstGeom prst="rect">
            <a:avLst/>
          </a:prstGeom>
        </p:spPr>
        <p:txBody>
          <a:bodyPr wrap="square" lIns="0" tIns="0" rIns="0" bIns="0">
            <a:spAutoFit/>
          </a:bodyPr>
          <a:lstStyle/>
          <a:p>
            <a:pPr fontAlgn="base"/>
            <a:r>
              <a:rPr lang="en-US" sz="2000" dirty="0"/>
              <a:t>Cluster computers are classified into two different categories based on security:</a:t>
            </a:r>
          </a:p>
          <a:p>
            <a:pPr fontAlgn="base"/>
            <a:endParaRPr lang="en-US" sz="2000" dirty="0"/>
          </a:p>
          <a:p>
            <a:pPr marL="285750" indent="-285750" fontAlgn="base">
              <a:buFont typeface="Arial" panose="020B0604020202020204" pitchFamily="34" charset="0"/>
              <a:buChar char="•"/>
            </a:pPr>
            <a:r>
              <a:rPr lang="en-US" sz="2000" b="1" dirty="0"/>
              <a:t>Open Cluster</a:t>
            </a:r>
            <a:r>
              <a:rPr lang="en-US" sz="2000" dirty="0"/>
              <a:t>: All computers need IP addresses in the Open cluster. These IPs are available on the internet which is a security concern.</a:t>
            </a:r>
          </a:p>
          <a:p>
            <a:pPr marL="285750" indent="-285750" fontAlgn="base">
              <a:buFont typeface="Arial" panose="020B0604020202020204" pitchFamily="34" charset="0"/>
              <a:buChar char="•"/>
            </a:pPr>
            <a:endParaRPr lang="en-US" sz="2000" dirty="0"/>
          </a:p>
          <a:p>
            <a:pPr marL="285750" indent="-285750" fontAlgn="base">
              <a:buFont typeface="Arial" panose="020B0604020202020204" pitchFamily="34" charset="0"/>
              <a:buChar char="•"/>
            </a:pPr>
            <a:r>
              <a:rPr lang="en-US" sz="2000" b="1" dirty="0"/>
              <a:t>Close Cluster</a:t>
            </a:r>
            <a:r>
              <a:rPr lang="en-US" sz="2000" dirty="0"/>
              <a:t>: All the nodes hide behind the gateway node. This gateway node increases the protection of other nodes.</a:t>
            </a:r>
          </a:p>
        </p:txBody>
      </p:sp>
      <p:pic>
        <p:nvPicPr>
          <p:cNvPr id="5" name="Picture 4" descr="A screenshot of a computer&#10;&#10;Description automatically generated">
            <a:extLst>
              <a:ext uri="{FF2B5EF4-FFF2-40B4-BE49-F238E27FC236}">
                <a16:creationId xmlns:a16="http://schemas.microsoft.com/office/drawing/2014/main" id="{447D7DEC-B29E-B2FF-A00B-08A891D3BBD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2171C35-DF59-D63D-4F93-CCA0B9EFD3BB}"/>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Classification of Cluster</a:t>
            </a:r>
          </a:p>
        </p:txBody>
      </p:sp>
      <p:sp>
        <p:nvSpPr>
          <p:cNvPr id="3" name="Date Placeholder 2">
            <a:extLst>
              <a:ext uri="{FF2B5EF4-FFF2-40B4-BE49-F238E27FC236}">
                <a16:creationId xmlns:a16="http://schemas.microsoft.com/office/drawing/2014/main" id="{395DE08A-3BAE-020C-D79A-B54856428CB9}"/>
              </a:ext>
            </a:extLst>
          </p:cNvPr>
          <p:cNvSpPr>
            <a:spLocks noGrp="1"/>
          </p:cNvSpPr>
          <p:nvPr>
            <p:ph type="dt" sz="half" idx="10"/>
          </p:nvPr>
        </p:nvSpPr>
        <p:spPr/>
        <p:txBody>
          <a:bodyPr/>
          <a:lstStyle/>
          <a:p>
            <a:fld id="{6AC821E6-1B76-4DE5-AE66-C0240A8926CC}" type="datetime3">
              <a:rPr lang="en-US" smtClean="0"/>
              <a:t>3 November 2025</a:t>
            </a:fld>
            <a:endParaRPr lang="en-US" dirty="0"/>
          </a:p>
        </p:txBody>
      </p:sp>
      <p:sp>
        <p:nvSpPr>
          <p:cNvPr id="4" name="Footer Placeholder 3">
            <a:extLst>
              <a:ext uri="{FF2B5EF4-FFF2-40B4-BE49-F238E27FC236}">
                <a16:creationId xmlns:a16="http://schemas.microsoft.com/office/drawing/2014/main" id="{A3A01945-023B-1958-F52B-BEB1774AD2D4}"/>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092DF38D-FCC5-A4BA-9BCB-85B2B46D4FAA}"/>
              </a:ext>
            </a:extLst>
          </p:cNvPr>
          <p:cNvSpPr>
            <a:spLocks noGrp="1"/>
          </p:cNvSpPr>
          <p:nvPr>
            <p:ph type="sldNum" sz="quarter" idx="12"/>
          </p:nvPr>
        </p:nvSpPr>
        <p:spPr/>
        <p:txBody>
          <a:bodyPr/>
          <a:lstStyle/>
          <a:p>
            <a:fld id="{B6F15528-21DE-4FAA-801E-634DDDAF4B2B}"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94505"/>
            <a:ext cx="8797635" cy="3117273"/>
          </a:xfrm>
        </p:spPr>
        <p:txBody>
          <a:bodyPr>
            <a:normAutofit/>
          </a:bodyPr>
          <a:lstStyle/>
          <a:p>
            <a:pPr algn="just"/>
            <a:r>
              <a:rPr lang="en-US" sz="1700" dirty="0"/>
              <a:t>Cluster computing is a type of computing where multiple computers are connected so they work together as a single system. </a:t>
            </a:r>
          </a:p>
          <a:p>
            <a:pPr algn="just"/>
            <a:r>
              <a:rPr lang="en-US" sz="1700" dirty="0"/>
              <a:t>Computing clusters typically consist of servers, workstations and personal computers (PCs) that communicate over a local area network (LAN) or a wide area network (WAN).</a:t>
            </a:r>
          </a:p>
          <a:p>
            <a:pPr algn="just"/>
            <a:r>
              <a:rPr lang="en-US" sz="1700" dirty="0"/>
              <a:t>Cluster computing is a kind of distributed computing, a type of computing that links computers together on a network to perform a computational task, increase computational power and function as a single computer.</a:t>
            </a:r>
          </a:p>
          <a:p>
            <a:pPr algn="just"/>
            <a:r>
              <a:rPr lang="en-US" sz="1700" dirty="0"/>
              <a:t>Google search engine, Earthquake simulations, and Weather forecasting use clustering techniques.</a:t>
            </a:r>
          </a:p>
          <a:p>
            <a:pPr algn="just"/>
            <a:endParaRPr lang="en-IN" sz="1700" dirty="0"/>
          </a:p>
        </p:txBody>
      </p:sp>
      <p:sp>
        <p:nvSpPr>
          <p:cNvPr id="4" name="Date Placeholder 3"/>
          <p:cNvSpPr>
            <a:spLocks noGrp="1"/>
          </p:cNvSpPr>
          <p:nvPr>
            <p:ph type="dt" sz="half" idx="10"/>
          </p:nvPr>
        </p:nvSpPr>
        <p:spPr/>
        <p:txBody>
          <a:bodyPr/>
          <a:lstStyle/>
          <a:p>
            <a:pPr defTabSz="685800">
              <a:defRPr/>
            </a:pPr>
            <a:fld id="{9D8D2A40-CB95-4266-89B3-33A179FE8097}"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22</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21804AB5-1258-40FF-B1C3-A15800EBE9DE}"/>
              </a:ext>
            </a:extLst>
          </p:cNvPr>
          <p:cNvSpPr txBox="1">
            <a:spLocks/>
          </p:cNvSpPr>
          <p:nvPr/>
        </p:nvSpPr>
        <p:spPr>
          <a:xfrm>
            <a:off x="1378974"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What is Cluster Computing?</a:t>
            </a: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p:txBody>
          <a:bodyPr/>
          <a:lstStyle/>
          <a:p>
            <a:r>
              <a:rPr lang="de-DE" dirty="0"/>
              <a:t>Kashish Mahajan              UNIT 4</a:t>
            </a:r>
            <a:endParaRPr lang="en-US" dirty="0"/>
          </a:p>
        </p:txBody>
      </p:sp>
      <p:pic>
        <p:nvPicPr>
          <p:cNvPr id="7" name="Picture 6">
            <a:extLst>
              <a:ext uri="{FF2B5EF4-FFF2-40B4-BE49-F238E27FC236}">
                <a16:creationId xmlns:a16="http://schemas.microsoft.com/office/drawing/2014/main" id="{1FF9359F-875D-6243-AF19-564519244F0E}"/>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AAF54F8-2CBD-4D3C-6742-5A4A5D36906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2050" name="Picture 2" descr="What are High-Performance Computing Clusters and use cases of  High-Performance Computing Clusters? - DevOpsSchool.com">
            <a:extLst>
              <a:ext uri="{FF2B5EF4-FFF2-40B4-BE49-F238E27FC236}">
                <a16:creationId xmlns:a16="http://schemas.microsoft.com/office/drawing/2014/main" id="{22A94D74-A5D3-CE13-CEDC-70A58204C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818" y="3924199"/>
            <a:ext cx="4412382" cy="2206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008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C576C-599E-F047-41FE-86647398DC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F19B92-176A-CEA0-23A0-0DD85A66F606}"/>
              </a:ext>
            </a:extLst>
          </p:cNvPr>
          <p:cNvSpPr>
            <a:spLocks noGrp="1"/>
          </p:cNvSpPr>
          <p:nvPr>
            <p:ph idx="1"/>
          </p:nvPr>
        </p:nvSpPr>
        <p:spPr>
          <a:xfrm>
            <a:off x="152400" y="1094505"/>
            <a:ext cx="8797635" cy="4873158"/>
          </a:xfrm>
        </p:spPr>
        <p:txBody>
          <a:bodyPr>
            <a:noAutofit/>
          </a:bodyPr>
          <a:lstStyle/>
          <a:p>
            <a:pPr algn="just"/>
            <a:r>
              <a:rPr lang="en-US" sz="1800" dirty="0"/>
              <a:t>Cluster computing connects two or more computers over a network to work cohesively as a single system. </a:t>
            </a:r>
          </a:p>
          <a:p>
            <a:pPr algn="just"/>
            <a:r>
              <a:rPr lang="en-US" sz="1800" dirty="0"/>
              <a:t>Typically, a cluster setup consists of computing nodes, a leader node, a load balancer, and a heartbeat mechanism. </a:t>
            </a:r>
          </a:p>
          <a:p>
            <a:pPr algn="just"/>
            <a:r>
              <a:rPr lang="en-US" sz="1800" dirty="0"/>
              <a:t>When the leader node receives a request, it passes the task to the computing nodes. </a:t>
            </a:r>
          </a:p>
          <a:p>
            <a:pPr algn="just"/>
            <a:r>
              <a:rPr lang="en-US" sz="1800" dirty="0"/>
              <a:t>According to how engineers configure the cluster, each node may act on the task separately or concurrently. </a:t>
            </a:r>
          </a:p>
          <a:p>
            <a:pPr algn="just"/>
            <a:r>
              <a:rPr lang="en-US" sz="1800" dirty="0"/>
              <a:t>Each component is explained below:</a:t>
            </a:r>
          </a:p>
          <a:p>
            <a:pPr algn="just"/>
            <a:endParaRPr lang="en-US" sz="1800" dirty="0"/>
          </a:p>
          <a:p>
            <a:pPr marL="0" indent="0" algn="just">
              <a:buNone/>
            </a:pPr>
            <a:endParaRPr lang="en-US" sz="1800" dirty="0"/>
          </a:p>
        </p:txBody>
      </p:sp>
      <p:sp>
        <p:nvSpPr>
          <p:cNvPr id="4" name="Date Placeholder 3">
            <a:extLst>
              <a:ext uri="{FF2B5EF4-FFF2-40B4-BE49-F238E27FC236}">
                <a16:creationId xmlns:a16="http://schemas.microsoft.com/office/drawing/2014/main" id="{0C82C43F-E2D8-3FD0-5F6C-4375C7DB1214}"/>
              </a:ext>
            </a:extLst>
          </p:cNvPr>
          <p:cNvSpPr>
            <a:spLocks noGrp="1"/>
          </p:cNvSpPr>
          <p:nvPr>
            <p:ph type="dt" sz="half" idx="10"/>
          </p:nvPr>
        </p:nvSpPr>
        <p:spPr/>
        <p:txBody>
          <a:bodyPr/>
          <a:lstStyle/>
          <a:p>
            <a:pPr defTabSz="685800">
              <a:defRPr/>
            </a:pPr>
            <a:fld id="{9D8D2A40-CB95-4266-89B3-33A179FE8097}"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a:extLst>
              <a:ext uri="{FF2B5EF4-FFF2-40B4-BE49-F238E27FC236}">
                <a16:creationId xmlns:a16="http://schemas.microsoft.com/office/drawing/2014/main" id="{8E17A00A-F3BD-E9B4-45EB-F508683A491F}"/>
              </a:ext>
            </a:extLst>
          </p:cNvPr>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23</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052FD0FD-95B0-123F-6B69-758A5AB91F6F}"/>
              </a:ext>
            </a:extLst>
          </p:cNvPr>
          <p:cNvSpPr txBox="1">
            <a:spLocks/>
          </p:cNvSpPr>
          <p:nvPr/>
        </p:nvSpPr>
        <p:spPr>
          <a:xfrm>
            <a:off x="1378974"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How does Cluster Computing Work?</a:t>
            </a:r>
          </a:p>
        </p:txBody>
      </p:sp>
      <p:sp>
        <p:nvSpPr>
          <p:cNvPr id="2" name="Footer Placeholder 1">
            <a:extLst>
              <a:ext uri="{FF2B5EF4-FFF2-40B4-BE49-F238E27FC236}">
                <a16:creationId xmlns:a16="http://schemas.microsoft.com/office/drawing/2014/main" id="{A5C2BF1C-B9FC-A0BA-572F-FD45C785262B}"/>
              </a:ext>
            </a:extLst>
          </p:cNvPr>
          <p:cNvSpPr>
            <a:spLocks noGrp="1"/>
          </p:cNvSpPr>
          <p:nvPr>
            <p:ph type="ftr" sz="quarter" idx="11"/>
          </p:nvPr>
        </p:nvSpPr>
        <p:spPr/>
        <p:txBody>
          <a:bodyPr/>
          <a:lstStyle/>
          <a:p>
            <a:r>
              <a:rPr lang="de-DE" dirty="0"/>
              <a:t>Kashish Mahajan              UNIT 4</a:t>
            </a:r>
            <a:endParaRPr lang="en-US" dirty="0"/>
          </a:p>
        </p:txBody>
      </p:sp>
      <p:pic>
        <p:nvPicPr>
          <p:cNvPr id="7" name="Picture 6">
            <a:extLst>
              <a:ext uri="{FF2B5EF4-FFF2-40B4-BE49-F238E27FC236}">
                <a16:creationId xmlns:a16="http://schemas.microsoft.com/office/drawing/2014/main" id="{DFB05F63-202E-499A-FD28-87F4541FF783}"/>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05587BAF-CB9F-F4FD-F7A1-342B56EBDBD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pic>
        <p:nvPicPr>
          <p:cNvPr id="11270" name="Picture 6" descr="Lightbox">
            <a:extLst>
              <a:ext uri="{FF2B5EF4-FFF2-40B4-BE49-F238E27FC236}">
                <a16:creationId xmlns:a16="http://schemas.microsoft.com/office/drawing/2014/main" id="{C4F27419-DC19-7D8F-95A4-48C53F06D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0001" y="2974207"/>
            <a:ext cx="4666799" cy="3402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211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83BA-DF93-D581-5ACA-0F030ECD30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D622B9-7D83-D198-4199-A58E6210273A}"/>
              </a:ext>
            </a:extLst>
          </p:cNvPr>
          <p:cNvSpPr>
            <a:spLocks noGrp="1"/>
          </p:cNvSpPr>
          <p:nvPr>
            <p:ph idx="1"/>
          </p:nvPr>
        </p:nvSpPr>
        <p:spPr>
          <a:xfrm>
            <a:off x="173182" y="923432"/>
            <a:ext cx="8797635" cy="5493358"/>
          </a:xfrm>
        </p:spPr>
        <p:txBody>
          <a:bodyPr>
            <a:noAutofit/>
          </a:bodyPr>
          <a:lstStyle/>
          <a:p>
            <a:pPr algn="just"/>
            <a:r>
              <a:rPr lang="en-US" sz="1800" b="1" dirty="0"/>
              <a:t>Computing nodes</a:t>
            </a:r>
          </a:p>
          <a:p>
            <a:pPr marL="400050" lvl="1" indent="0" algn="just">
              <a:buNone/>
            </a:pPr>
            <a:r>
              <a:rPr lang="en-US" sz="1800" dirty="0"/>
              <a:t>Computing nodes are servers (or cloud instances) that work on distributed tasks. Often, they share the same CPU, GPU, memory, storage, operating system, and other computing specifications. We call this a homogeneous setup. A heterogeneous setup may sometimes be used, where some cluster nodes bear different computing specifications.</a:t>
            </a:r>
            <a:endParaRPr lang="en-IN" sz="1800" dirty="0"/>
          </a:p>
          <a:p>
            <a:pPr algn="just"/>
            <a:r>
              <a:rPr lang="en-US" sz="1800" b="1" dirty="0"/>
              <a:t>Leader node</a:t>
            </a:r>
          </a:p>
          <a:p>
            <a:pPr marL="400050" lvl="1" indent="0" algn="just">
              <a:buNone/>
            </a:pPr>
            <a:r>
              <a:rPr lang="en-US" sz="1800" dirty="0"/>
              <a:t>A leader node is a computer assigned to coordinate how other computing nodes work together. The leader node receives incoming requests and distributes tasks to different nodes under its charge. If the leader node fails, another node will take its place through an election process, usually by consensus of the remaining nodes.</a:t>
            </a:r>
          </a:p>
          <a:p>
            <a:pPr algn="just"/>
            <a:r>
              <a:rPr lang="en-US" sz="1800" b="1" dirty="0"/>
              <a:t>Load balancer</a:t>
            </a:r>
          </a:p>
          <a:p>
            <a:pPr marL="400050" lvl="1" indent="0" algn="just">
              <a:buNone/>
            </a:pPr>
            <a:r>
              <a:rPr lang="en-US" sz="1800" dirty="0"/>
              <a:t>The load balancer is a network device that distributes incoming traffic to the appropriate computing nodes. It keeps track of network activities, resource usage, and data exchange between cluster nodes. In cluster computing, the load balancer prevents computing nodes from being overwhelmed by a sudden surge in requests. Sometimes, the leader node acts as a load balancer through a dedicated load-balancing software tool.</a:t>
            </a:r>
          </a:p>
          <a:p>
            <a:pPr algn="just"/>
            <a:endParaRPr lang="en-US" sz="1800" dirty="0"/>
          </a:p>
        </p:txBody>
      </p:sp>
      <p:sp>
        <p:nvSpPr>
          <p:cNvPr id="4" name="Date Placeholder 3">
            <a:extLst>
              <a:ext uri="{FF2B5EF4-FFF2-40B4-BE49-F238E27FC236}">
                <a16:creationId xmlns:a16="http://schemas.microsoft.com/office/drawing/2014/main" id="{ED671A1F-0B69-6CD9-F3AE-12785E97C791}"/>
              </a:ext>
            </a:extLst>
          </p:cNvPr>
          <p:cNvSpPr>
            <a:spLocks noGrp="1"/>
          </p:cNvSpPr>
          <p:nvPr>
            <p:ph type="dt" sz="half" idx="10"/>
          </p:nvPr>
        </p:nvSpPr>
        <p:spPr/>
        <p:txBody>
          <a:bodyPr/>
          <a:lstStyle/>
          <a:p>
            <a:pPr defTabSz="685800">
              <a:defRPr/>
            </a:pPr>
            <a:fld id="{9D8D2A40-CB95-4266-89B3-33A179FE8097}"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a:extLst>
              <a:ext uri="{FF2B5EF4-FFF2-40B4-BE49-F238E27FC236}">
                <a16:creationId xmlns:a16="http://schemas.microsoft.com/office/drawing/2014/main" id="{A9DE7923-6B75-4BAA-2A38-FBB0A3422DDC}"/>
              </a:ext>
            </a:extLst>
          </p:cNvPr>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24</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90A95425-5705-AF9D-08CD-3C9DDEB051B7}"/>
              </a:ext>
            </a:extLst>
          </p:cNvPr>
          <p:cNvSpPr txBox="1">
            <a:spLocks/>
          </p:cNvSpPr>
          <p:nvPr/>
        </p:nvSpPr>
        <p:spPr>
          <a:xfrm>
            <a:off x="1378974"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How does Cluster Computing Work?</a:t>
            </a:r>
          </a:p>
        </p:txBody>
      </p:sp>
      <p:sp>
        <p:nvSpPr>
          <p:cNvPr id="2" name="Footer Placeholder 1">
            <a:extLst>
              <a:ext uri="{FF2B5EF4-FFF2-40B4-BE49-F238E27FC236}">
                <a16:creationId xmlns:a16="http://schemas.microsoft.com/office/drawing/2014/main" id="{4ED79F51-8763-7FA4-C0CB-D725DFC085B6}"/>
              </a:ext>
            </a:extLst>
          </p:cNvPr>
          <p:cNvSpPr>
            <a:spLocks noGrp="1"/>
          </p:cNvSpPr>
          <p:nvPr>
            <p:ph type="ftr" sz="quarter" idx="11"/>
          </p:nvPr>
        </p:nvSpPr>
        <p:spPr/>
        <p:txBody>
          <a:bodyPr/>
          <a:lstStyle/>
          <a:p>
            <a:r>
              <a:rPr lang="de-DE" dirty="0"/>
              <a:t>Kashish Mahajan              UNIT 4</a:t>
            </a:r>
            <a:endParaRPr lang="en-US" dirty="0"/>
          </a:p>
        </p:txBody>
      </p:sp>
      <p:pic>
        <p:nvPicPr>
          <p:cNvPr id="7" name="Picture 6">
            <a:extLst>
              <a:ext uri="{FF2B5EF4-FFF2-40B4-BE49-F238E27FC236}">
                <a16:creationId xmlns:a16="http://schemas.microsoft.com/office/drawing/2014/main" id="{51C27A6C-D439-69AB-86A3-C415C6CC5345}"/>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026B6CC-7BD0-542A-81A2-5DA57940D2A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22441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DA173-0969-B3D4-7D4E-27414B1AE0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65B52-148F-E8D0-5802-C4A94331718E}"/>
              </a:ext>
            </a:extLst>
          </p:cNvPr>
          <p:cNvSpPr>
            <a:spLocks noGrp="1"/>
          </p:cNvSpPr>
          <p:nvPr>
            <p:ph idx="1"/>
          </p:nvPr>
        </p:nvSpPr>
        <p:spPr>
          <a:xfrm>
            <a:off x="173182" y="923432"/>
            <a:ext cx="8797635" cy="5493358"/>
          </a:xfrm>
        </p:spPr>
        <p:txBody>
          <a:bodyPr>
            <a:noAutofit/>
          </a:bodyPr>
          <a:lstStyle/>
          <a:p>
            <a:pPr algn="just"/>
            <a:r>
              <a:rPr lang="en-US" sz="1800" b="1" dirty="0"/>
              <a:t>Heartbeat mechanism</a:t>
            </a:r>
          </a:p>
          <a:p>
            <a:pPr marL="400050" lvl="1" indent="0" algn="just">
              <a:buNone/>
            </a:pPr>
            <a:r>
              <a:rPr lang="en-US" sz="1800" dirty="0"/>
              <a:t>The heartbeat mechanism monitors all computing nodes in the cluster to ensure they are operational. When a node fails to respond, the heartbeat mechanism alerts the leader node, redistributing the task to other functional nodes. </a:t>
            </a:r>
            <a:endParaRPr lang="en-IN" sz="1800" dirty="0"/>
          </a:p>
        </p:txBody>
      </p:sp>
      <p:sp>
        <p:nvSpPr>
          <p:cNvPr id="4" name="Date Placeholder 3">
            <a:extLst>
              <a:ext uri="{FF2B5EF4-FFF2-40B4-BE49-F238E27FC236}">
                <a16:creationId xmlns:a16="http://schemas.microsoft.com/office/drawing/2014/main" id="{9EEECD93-9BD5-8BD7-287F-E5CA88976062}"/>
              </a:ext>
            </a:extLst>
          </p:cNvPr>
          <p:cNvSpPr>
            <a:spLocks noGrp="1"/>
          </p:cNvSpPr>
          <p:nvPr>
            <p:ph type="dt" sz="half" idx="10"/>
          </p:nvPr>
        </p:nvSpPr>
        <p:spPr/>
        <p:txBody>
          <a:bodyPr/>
          <a:lstStyle/>
          <a:p>
            <a:pPr defTabSz="685800">
              <a:defRPr/>
            </a:pPr>
            <a:fld id="{9D8D2A40-CB95-4266-89B3-33A179FE8097}" type="datetime3">
              <a:rPr lang="en-US" sz="900" smtClean="0">
                <a:solidFill>
                  <a:prstClr val="black">
                    <a:tint val="75000"/>
                  </a:prstClr>
                </a:solidFill>
                <a:latin typeface="Calibri"/>
              </a:rPr>
              <a:t>3 November 2025</a:t>
            </a:fld>
            <a:endParaRPr lang="en-US" sz="900">
              <a:solidFill>
                <a:prstClr val="black">
                  <a:tint val="75000"/>
                </a:prstClr>
              </a:solidFill>
              <a:latin typeface="Calibri"/>
            </a:endParaRPr>
          </a:p>
        </p:txBody>
      </p:sp>
      <p:sp>
        <p:nvSpPr>
          <p:cNvPr id="6" name="Slide Number Placeholder 5">
            <a:extLst>
              <a:ext uri="{FF2B5EF4-FFF2-40B4-BE49-F238E27FC236}">
                <a16:creationId xmlns:a16="http://schemas.microsoft.com/office/drawing/2014/main" id="{5F3D3EBE-F1B5-0A6D-C8F3-7BE50A7BCC17}"/>
              </a:ext>
            </a:extLst>
          </p:cNvPr>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25</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EB2F642B-824B-9364-C9D5-9DCDF5A7AE58}"/>
              </a:ext>
            </a:extLst>
          </p:cNvPr>
          <p:cNvSpPr txBox="1">
            <a:spLocks/>
          </p:cNvSpPr>
          <p:nvPr/>
        </p:nvSpPr>
        <p:spPr>
          <a:xfrm>
            <a:off x="1378974" y="0"/>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How does Cluster Computing Work?</a:t>
            </a:r>
          </a:p>
        </p:txBody>
      </p:sp>
      <p:sp>
        <p:nvSpPr>
          <p:cNvPr id="2" name="Footer Placeholder 1">
            <a:extLst>
              <a:ext uri="{FF2B5EF4-FFF2-40B4-BE49-F238E27FC236}">
                <a16:creationId xmlns:a16="http://schemas.microsoft.com/office/drawing/2014/main" id="{EB9B15E4-7374-E904-03D2-315128EC23F3}"/>
              </a:ext>
            </a:extLst>
          </p:cNvPr>
          <p:cNvSpPr>
            <a:spLocks noGrp="1"/>
          </p:cNvSpPr>
          <p:nvPr>
            <p:ph type="ftr" sz="quarter" idx="11"/>
          </p:nvPr>
        </p:nvSpPr>
        <p:spPr/>
        <p:txBody>
          <a:bodyPr/>
          <a:lstStyle/>
          <a:p>
            <a:r>
              <a:rPr lang="de-DE" dirty="0"/>
              <a:t>Kashish Mahajan              UNIT 4</a:t>
            </a:r>
            <a:endParaRPr lang="en-US" dirty="0"/>
          </a:p>
        </p:txBody>
      </p:sp>
      <p:pic>
        <p:nvPicPr>
          <p:cNvPr id="7" name="Picture 6">
            <a:extLst>
              <a:ext uri="{FF2B5EF4-FFF2-40B4-BE49-F238E27FC236}">
                <a16:creationId xmlns:a16="http://schemas.microsoft.com/office/drawing/2014/main" id="{1EB64FA6-9876-678C-DFBE-F1030788E8DC}"/>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6259F13C-44E8-5096-444B-24D05F63C86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45350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75790AE-A811-2621-705A-1CCD26BBEFF1}"/>
              </a:ext>
            </a:extLst>
          </p:cNvPr>
          <p:cNvSpPr txBox="1"/>
          <p:nvPr/>
        </p:nvSpPr>
        <p:spPr>
          <a:xfrm>
            <a:off x="215881" y="911196"/>
            <a:ext cx="8928119" cy="498598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b="1" dirty="0"/>
              <a:t>Pros</a:t>
            </a:r>
            <a:endParaRPr lang="en-US" dirty="0"/>
          </a:p>
          <a:p>
            <a:pPr marL="298450" indent="-285750">
              <a:buFont typeface="Arial" panose="020B0604020202020204" pitchFamily="34" charset="0"/>
              <a:buChar char="•"/>
            </a:pPr>
            <a:r>
              <a:rPr lang="en-US" b="1" dirty="0"/>
              <a:t>Cost-Effective:</a:t>
            </a:r>
            <a:r>
              <a:rPr lang="en-US" dirty="0"/>
              <a:t> Cluster computing is less expensive than a mainframe computer and it also provides faster performance than the mainframe computer network.</a:t>
            </a:r>
          </a:p>
          <a:p>
            <a:pPr marL="298450" indent="-285750">
              <a:buFont typeface="Arial" panose="020B0604020202020204" pitchFamily="34" charset="0"/>
              <a:buChar char="•"/>
            </a:pPr>
            <a:r>
              <a:rPr lang="en-US" b="1" dirty="0"/>
              <a:t>Processing Speed:</a:t>
            </a:r>
            <a:r>
              <a:rPr lang="en-US" dirty="0"/>
              <a:t> Cluster systems provide the same processing speed as that of mainframe computers.</a:t>
            </a:r>
          </a:p>
          <a:p>
            <a:pPr marL="298450" indent="-285750">
              <a:buFont typeface="Arial" panose="020B0604020202020204" pitchFamily="34" charset="0"/>
              <a:buChar char="•"/>
            </a:pPr>
            <a:r>
              <a:rPr lang="en-US" b="1" dirty="0"/>
              <a:t>Resource availability:</a:t>
            </a:r>
            <a:r>
              <a:rPr lang="en-US" dirty="0"/>
              <a:t> Computers may also face some technical issues. When a computer in</a:t>
            </a:r>
          </a:p>
          <a:p>
            <a:pPr marL="298450" indent="-285750">
              <a:buFont typeface="Arial" panose="020B0604020202020204" pitchFamily="34" charset="0"/>
              <a:buChar char="•"/>
            </a:pPr>
            <a:r>
              <a:rPr lang="en-US" dirty="0"/>
              <a:t>a cluster fails to operate, the other available computer takes over the operations of the failed computer.</a:t>
            </a:r>
          </a:p>
          <a:p>
            <a:pPr marL="298450" indent="-285750">
              <a:buFont typeface="Arial" panose="020B0604020202020204" pitchFamily="34" charset="0"/>
              <a:buChar char="•"/>
            </a:pPr>
            <a:r>
              <a:rPr lang="en-US" b="1" dirty="0"/>
              <a:t>Expandability:</a:t>
            </a:r>
            <a:r>
              <a:rPr lang="en-US" dirty="0"/>
              <a:t> We can combine multiple additional computers to the cluster network whenever necessary. This advantage enhances scalability and expandability.</a:t>
            </a:r>
          </a:p>
          <a:p>
            <a:pPr marL="298450" indent="-285750">
              <a:buFont typeface="Arial" panose="020B0604020202020204" pitchFamily="34" charset="0"/>
              <a:buChar char="•"/>
            </a:pPr>
            <a:r>
              <a:rPr lang="en-US" b="1" dirty="0"/>
              <a:t>Flexibility:</a:t>
            </a:r>
            <a:r>
              <a:rPr lang="en-US" dirty="0"/>
              <a:t> The existing computer or node can be upgraded as per the requirements to perform operations.</a:t>
            </a:r>
          </a:p>
          <a:p>
            <a:endParaRPr lang="en-US" dirty="0"/>
          </a:p>
          <a:p>
            <a:r>
              <a:rPr lang="en-US" b="1" dirty="0"/>
              <a:t>Cons</a:t>
            </a:r>
            <a:endParaRPr lang="en-US" dirty="0"/>
          </a:p>
          <a:p>
            <a:pPr marL="298450" indent="-285750">
              <a:buFont typeface="Arial" panose="020B0604020202020204" pitchFamily="34" charset="0"/>
              <a:buChar char="•"/>
            </a:pPr>
            <a:r>
              <a:rPr lang="en-US" b="1" dirty="0"/>
              <a:t>Finding Faults:</a:t>
            </a:r>
            <a:r>
              <a:rPr lang="en-US" dirty="0"/>
              <a:t> Difficult in finding the fault due to a large amount of hardware.</a:t>
            </a:r>
          </a:p>
          <a:p>
            <a:pPr marL="298450" indent="-285750">
              <a:buFont typeface="Arial" panose="020B0604020202020204" pitchFamily="34" charset="0"/>
              <a:buChar char="•"/>
            </a:pPr>
            <a:r>
              <a:rPr lang="en-US" b="1" dirty="0"/>
              <a:t>Space Needed:</a:t>
            </a:r>
            <a:r>
              <a:rPr lang="en-US" dirty="0"/>
              <a:t> Infrastructure may also increase and more servers will be required to monitor the operations.</a:t>
            </a:r>
          </a:p>
          <a:p>
            <a:endParaRPr lang="en-US" dirty="0"/>
          </a:p>
        </p:txBody>
      </p:sp>
      <p:pic>
        <p:nvPicPr>
          <p:cNvPr id="3" name="Picture 2" descr="A screenshot of a computer&#10;&#10;Description automatically generated">
            <a:extLst>
              <a:ext uri="{FF2B5EF4-FFF2-40B4-BE49-F238E27FC236}">
                <a16:creationId xmlns:a16="http://schemas.microsoft.com/office/drawing/2014/main" id="{6C10E095-31D6-655A-3DAA-E82E35552D2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5E943921-F336-3A6F-7897-B4AFB83AE41D}"/>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Pros and Cons of Cluster Computing</a:t>
            </a:r>
          </a:p>
        </p:txBody>
      </p:sp>
      <p:sp>
        <p:nvSpPr>
          <p:cNvPr id="13" name="Date Placeholder 12">
            <a:extLst>
              <a:ext uri="{FF2B5EF4-FFF2-40B4-BE49-F238E27FC236}">
                <a16:creationId xmlns:a16="http://schemas.microsoft.com/office/drawing/2014/main" id="{094C257A-7597-6DCE-7D14-7D6933994F78}"/>
              </a:ext>
            </a:extLst>
          </p:cNvPr>
          <p:cNvSpPr>
            <a:spLocks noGrp="1"/>
          </p:cNvSpPr>
          <p:nvPr>
            <p:ph type="dt" sz="half" idx="10"/>
          </p:nvPr>
        </p:nvSpPr>
        <p:spPr/>
        <p:txBody>
          <a:bodyPr/>
          <a:lstStyle/>
          <a:p>
            <a:fld id="{D9C5F5F4-670D-4712-805A-15DBA3C0CD95}" type="datetime3">
              <a:rPr lang="en-US" smtClean="0"/>
              <a:t>3 November 2025</a:t>
            </a:fld>
            <a:endParaRPr lang="en-US" dirty="0"/>
          </a:p>
        </p:txBody>
      </p:sp>
      <p:sp>
        <p:nvSpPr>
          <p:cNvPr id="14" name="Footer Placeholder 13">
            <a:extLst>
              <a:ext uri="{FF2B5EF4-FFF2-40B4-BE49-F238E27FC236}">
                <a16:creationId xmlns:a16="http://schemas.microsoft.com/office/drawing/2014/main" id="{25E1EB49-12A5-AFBE-FEA3-3C1AA35C7DDE}"/>
              </a:ext>
            </a:extLst>
          </p:cNvPr>
          <p:cNvSpPr>
            <a:spLocks noGrp="1"/>
          </p:cNvSpPr>
          <p:nvPr>
            <p:ph type="ftr" sz="quarter" idx="11"/>
          </p:nvPr>
        </p:nvSpPr>
        <p:spPr/>
        <p:txBody>
          <a:bodyPr/>
          <a:lstStyle/>
          <a:p>
            <a:r>
              <a:rPr lang="de-DE"/>
              <a:t>Kashish Mahajan              UNIT 4</a:t>
            </a:r>
            <a:endParaRPr lang="en-US" dirty="0"/>
          </a:p>
        </p:txBody>
      </p:sp>
      <p:sp>
        <p:nvSpPr>
          <p:cNvPr id="15" name="Slide Number Placeholder 14">
            <a:extLst>
              <a:ext uri="{FF2B5EF4-FFF2-40B4-BE49-F238E27FC236}">
                <a16:creationId xmlns:a16="http://schemas.microsoft.com/office/drawing/2014/main" id="{B138963D-CFE0-00EF-DF04-67245763B713}"/>
              </a:ext>
            </a:extLst>
          </p:cNvPr>
          <p:cNvSpPr>
            <a:spLocks noGrp="1"/>
          </p:cNvSpPr>
          <p:nvPr>
            <p:ph type="sldNum" sz="quarter" idx="12"/>
          </p:nvPr>
        </p:nvSpPr>
        <p:spPr/>
        <p:txBody>
          <a:bodyPr/>
          <a:lstStyle/>
          <a:p>
            <a:fld id="{B6F15528-21DE-4FAA-801E-634DDDAF4B2B}"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D921-F7F6-9934-6344-E5EB6A9D0B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E87EF4C-51AB-6E3E-532C-5DAA9F720257}"/>
              </a:ext>
            </a:extLst>
          </p:cNvPr>
          <p:cNvSpPr txBox="1"/>
          <p:nvPr/>
        </p:nvSpPr>
        <p:spPr>
          <a:xfrm>
            <a:off x="110837" y="1014605"/>
            <a:ext cx="8914728" cy="2031325"/>
          </a:xfrm>
          <a:prstGeom prst="rect">
            <a:avLst/>
          </a:prstGeom>
        </p:spPr>
        <p:txBody>
          <a:bodyPr wrap="square" lIns="0" tIns="0" rIns="0" bIns="0">
            <a:spAutoFit/>
          </a:bodyPr>
          <a:lstStyle/>
          <a:p>
            <a:pPr marL="351045" indent="-342900" algn="just">
              <a:buFont typeface="Arial" panose="020B0604020202020204" pitchFamily="34" charset="0"/>
              <a:buChar char="•"/>
              <a:defRPr/>
            </a:pPr>
            <a:r>
              <a:rPr lang="en-US" sz="2000" b="1" dirty="0">
                <a:latin typeface="+mj-lt"/>
                <a:cs typeface="Times New Roman"/>
              </a:rPr>
              <a:t>High performance (HP) clusters :</a:t>
            </a:r>
          </a:p>
          <a:p>
            <a:pPr marL="465345" lvl="1" algn="just">
              <a:defRPr/>
            </a:pPr>
            <a:r>
              <a:rPr lang="en-US" dirty="0"/>
              <a:t>HP clusters use computer clusters and supercomputers to solve advance computational problems. They are used to performing functions that need nodes to communicate as they perform their jobs. They are designed to take benefit of the parallel processing power of several nodes.</a:t>
            </a:r>
          </a:p>
          <a:p>
            <a:pPr marL="8145" algn="just">
              <a:defRPr/>
            </a:pPr>
            <a:endParaRPr lang="en-US" sz="2000" dirty="0">
              <a:latin typeface="+mj-lt"/>
              <a:cs typeface="Times New Roman"/>
            </a:endParaRPr>
          </a:p>
          <a:p>
            <a:pPr marL="8145" algn="just">
              <a:defRPr/>
            </a:pPr>
            <a:endParaRPr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26A3CE57-5862-C0A1-A61A-84FB5D111877}"/>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E619540-9D9B-A2C3-FB33-A4892B8D3A54}"/>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Types of Cluster Computing</a:t>
            </a:r>
          </a:p>
        </p:txBody>
      </p:sp>
      <p:sp>
        <p:nvSpPr>
          <p:cNvPr id="3" name="Date Placeholder 2">
            <a:extLst>
              <a:ext uri="{FF2B5EF4-FFF2-40B4-BE49-F238E27FC236}">
                <a16:creationId xmlns:a16="http://schemas.microsoft.com/office/drawing/2014/main" id="{1DB80C9A-6C6C-9AD2-6D0F-139C175A3DC5}"/>
              </a:ext>
            </a:extLst>
          </p:cNvPr>
          <p:cNvSpPr>
            <a:spLocks noGrp="1"/>
          </p:cNvSpPr>
          <p:nvPr>
            <p:ph type="dt" sz="half" idx="10"/>
          </p:nvPr>
        </p:nvSpPr>
        <p:spPr/>
        <p:txBody>
          <a:bodyPr/>
          <a:lstStyle/>
          <a:p>
            <a:fld id="{4EA4099B-1EDD-43FD-A699-2B10D4C3ADA3}" type="datetime3">
              <a:rPr lang="en-US" smtClean="0"/>
              <a:t>3 November 2025</a:t>
            </a:fld>
            <a:endParaRPr lang="en-US" dirty="0"/>
          </a:p>
        </p:txBody>
      </p:sp>
      <p:sp>
        <p:nvSpPr>
          <p:cNvPr id="4" name="Footer Placeholder 3">
            <a:extLst>
              <a:ext uri="{FF2B5EF4-FFF2-40B4-BE49-F238E27FC236}">
                <a16:creationId xmlns:a16="http://schemas.microsoft.com/office/drawing/2014/main" id="{85C49D3D-8EEB-E07A-3116-05742B8CE8F7}"/>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41E6C951-C3ED-2ADD-CCC6-14D9417984DF}"/>
              </a:ext>
            </a:extLst>
          </p:cNvPr>
          <p:cNvSpPr>
            <a:spLocks noGrp="1"/>
          </p:cNvSpPr>
          <p:nvPr>
            <p:ph type="sldNum" sz="quarter" idx="12"/>
          </p:nvPr>
        </p:nvSpPr>
        <p:spPr/>
        <p:txBody>
          <a:bodyPr/>
          <a:lstStyle/>
          <a:p>
            <a:fld id="{B6F15528-21DE-4FAA-801E-634DDDAF4B2B}" type="slidenum">
              <a:rPr lang="en-US" smtClean="0"/>
              <a:pPr/>
              <a:t>27</a:t>
            </a:fld>
            <a:endParaRPr lang="en-US" dirty="0"/>
          </a:p>
        </p:txBody>
      </p:sp>
      <p:pic>
        <p:nvPicPr>
          <p:cNvPr id="12290" name="Picture 2" descr="What is an HPC cluster | High Performance Computing">
            <a:extLst>
              <a:ext uri="{FF2B5EF4-FFF2-40B4-BE49-F238E27FC236}">
                <a16:creationId xmlns:a16="http://schemas.microsoft.com/office/drawing/2014/main" id="{8463A745-6B66-5E0A-1D62-0010C72CD4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7945" y="2310062"/>
            <a:ext cx="5650556" cy="3922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271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2132A-5451-10EE-DAB5-A370E8C99F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8D5708-51D2-52F1-7338-59C1B801B974}"/>
              </a:ext>
            </a:extLst>
          </p:cNvPr>
          <p:cNvSpPr txBox="1"/>
          <p:nvPr/>
        </p:nvSpPr>
        <p:spPr>
          <a:xfrm>
            <a:off x="110837" y="1014605"/>
            <a:ext cx="8914728" cy="1846659"/>
          </a:xfrm>
          <a:prstGeom prst="rect">
            <a:avLst/>
          </a:prstGeom>
        </p:spPr>
        <p:txBody>
          <a:bodyPr wrap="square" lIns="0" tIns="0" rIns="0" bIns="0">
            <a:spAutoFit/>
          </a:bodyPr>
          <a:lstStyle/>
          <a:p>
            <a:pPr marL="351045" indent="-342900" algn="just">
              <a:buFont typeface="Arial" panose="020B0604020202020204" pitchFamily="34" charset="0"/>
              <a:buChar char="•"/>
              <a:defRPr/>
            </a:pPr>
            <a:r>
              <a:rPr lang="en-US" sz="2000" b="1" dirty="0">
                <a:latin typeface="+mj-lt"/>
                <a:cs typeface="Times New Roman"/>
              </a:rPr>
              <a:t>Load-balancing clusters :</a:t>
            </a:r>
          </a:p>
          <a:p>
            <a:pPr marL="465345" lvl="1" algn="just">
              <a:defRPr/>
            </a:pPr>
            <a:r>
              <a:rPr lang="en-US" sz="2000" dirty="0">
                <a:latin typeface="+mj-lt"/>
                <a:cs typeface="Times New Roman"/>
              </a:rPr>
              <a:t>Incoming requests are distributed for resources among several nodes running similar programs or having similar content. This prevents any single node from receiving a disproportionate amount of task. This type of distribution is generally used in a web-hosting environment.</a:t>
            </a:r>
          </a:p>
          <a:p>
            <a:pPr marL="8145" algn="just">
              <a:defRPr/>
            </a:pP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A73E7D43-AA47-965D-F0CF-412BC0B6C7C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C383BF8-8F98-3E29-3B51-C0E45315AF52}"/>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Types of Cluster Computing</a:t>
            </a:r>
          </a:p>
        </p:txBody>
      </p:sp>
      <p:sp>
        <p:nvSpPr>
          <p:cNvPr id="3" name="Date Placeholder 2">
            <a:extLst>
              <a:ext uri="{FF2B5EF4-FFF2-40B4-BE49-F238E27FC236}">
                <a16:creationId xmlns:a16="http://schemas.microsoft.com/office/drawing/2014/main" id="{90C09CD5-0C9D-3A8E-B366-62C0142F5789}"/>
              </a:ext>
            </a:extLst>
          </p:cNvPr>
          <p:cNvSpPr>
            <a:spLocks noGrp="1"/>
          </p:cNvSpPr>
          <p:nvPr>
            <p:ph type="dt" sz="half" idx="10"/>
          </p:nvPr>
        </p:nvSpPr>
        <p:spPr/>
        <p:txBody>
          <a:bodyPr/>
          <a:lstStyle/>
          <a:p>
            <a:fld id="{4EA4099B-1EDD-43FD-A699-2B10D4C3ADA3}" type="datetime3">
              <a:rPr lang="en-US" smtClean="0"/>
              <a:t>3 November 2025</a:t>
            </a:fld>
            <a:endParaRPr lang="en-US" dirty="0"/>
          </a:p>
        </p:txBody>
      </p:sp>
      <p:sp>
        <p:nvSpPr>
          <p:cNvPr id="4" name="Footer Placeholder 3">
            <a:extLst>
              <a:ext uri="{FF2B5EF4-FFF2-40B4-BE49-F238E27FC236}">
                <a16:creationId xmlns:a16="http://schemas.microsoft.com/office/drawing/2014/main" id="{A31685C1-F5E4-0EC9-2A29-22B9FFAAC097}"/>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BCA724D1-6DC0-967E-2874-3B593E901BEF}"/>
              </a:ext>
            </a:extLst>
          </p:cNvPr>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13314" name="Picture 2" descr="Load Balancing. Load balancing is a process that routes… | by Moises Gamio  | CodeX | Medium">
            <a:extLst>
              <a:ext uri="{FF2B5EF4-FFF2-40B4-BE49-F238E27FC236}">
                <a16:creationId xmlns:a16="http://schemas.microsoft.com/office/drawing/2014/main" id="{7632A470-96CA-4DFC-710A-32C73242B3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576" y="2605990"/>
            <a:ext cx="6953250"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226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D0D7-29CF-96F3-9238-E967DF65297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CB6788D-91D5-7CCF-06E2-81975A3717ED}"/>
              </a:ext>
            </a:extLst>
          </p:cNvPr>
          <p:cNvSpPr txBox="1"/>
          <p:nvPr/>
        </p:nvSpPr>
        <p:spPr>
          <a:xfrm>
            <a:off x="110837" y="1014605"/>
            <a:ext cx="8914728" cy="2154436"/>
          </a:xfrm>
          <a:prstGeom prst="rect">
            <a:avLst/>
          </a:prstGeom>
        </p:spPr>
        <p:txBody>
          <a:bodyPr wrap="square" lIns="0" tIns="0" rIns="0" bIns="0">
            <a:spAutoFit/>
          </a:bodyPr>
          <a:lstStyle/>
          <a:p>
            <a:pPr marL="351045" indent="-342900" algn="just">
              <a:buFont typeface="Arial" panose="020B0604020202020204" pitchFamily="34" charset="0"/>
              <a:buChar char="•"/>
              <a:defRPr/>
            </a:pPr>
            <a:r>
              <a:rPr lang="en-US" sz="2000" b="1" dirty="0">
                <a:latin typeface="+mj-lt"/>
                <a:cs typeface="Times New Roman"/>
              </a:rPr>
              <a:t>High Availability (HA) Clusters :</a:t>
            </a:r>
          </a:p>
          <a:p>
            <a:pPr marL="465345" lvl="1" algn="just">
              <a:defRPr/>
            </a:pPr>
            <a:r>
              <a:rPr lang="en-US" sz="2000" dirty="0">
                <a:latin typeface="+mj-lt"/>
                <a:cs typeface="Times New Roman"/>
              </a:rPr>
              <a:t>HA clusters are designed to maintain redundant nodes that can act as backup systems in case any failure occurs. Consistent computing services like business activities, complicated databases, customer services like e-websites and network file distribution are provided. They are designed to give uninterrupted data availability to the customers.</a:t>
            </a:r>
          </a:p>
          <a:p>
            <a:pPr marL="8145" algn="just">
              <a:defRPr/>
            </a:pPr>
            <a:endParaRPr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C4B0813F-C36A-3386-C0FA-08CB926884B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F94533F-BE12-3289-4468-6494E92DBFFA}"/>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Types of Cluster Computing</a:t>
            </a:r>
          </a:p>
        </p:txBody>
      </p:sp>
      <p:sp>
        <p:nvSpPr>
          <p:cNvPr id="3" name="Date Placeholder 2">
            <a:extLst>
              <a:ext uri="{FF2B5EF4-FFF2-40B4-BE49-F238E27FC236}">
                <a16:creationId xmlns:a16="http://schemas.microsoft.com/office/drawing/2014/main" id="{AC3264F1-9C30-CF73-F5B1-E5AA6EC76512}"/>
              </a:ext>
            </a:extLst>
          </p:cNvPr>
          <p:cNvSpPr>
            <a:spLocks noGrp="1"/>
          </p:cNvSpPr>
          <p:nvPr>
            <p:ph type="dt" sz="half" idx="10"/>
          </p:nvPr>
        </p:nvSpPr>
        <p:spPr/>
        <p:txBody>
          <a:bodyPr/>
          <a:lstStyle/>
          <a:p>
            <a:fld id="{4EA4099B-1EDD-43FD-A699-2B10D4C3ADA3}" type="datetime3">
              <a:rPr lang="en-US" smtClean="0"/>
              <a:t>3 November 2025</a:t>
            </a:fld>
            <a:endParaRPr lang="en-US" dirty="0"/>
          </a:p>
        </p:txBody>
      </p:sp>
      <p:sp>
        <p:nvSpPr>
          <p:cNvPr id="4" name="Footer Placeholder 3">
            <a:extLst>
              <a:ext uri="{FF2B5EF4-FFF2-40B4-BE49-F238E27FC236}">
                <a16:creationId xmlns:a16="http://schemas.microsoft.com/office/drawing/2014/main" id="{190ABBCB-AC66-8478-C4D1-DF3E5DC024F1}"/>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A8BC6406-91D1-87DE-8025-3EC47335E49C}"/>
              </a:ext>
            </a:extLst>
          </p:cNvPr>
          <p:cNvSpPr>
            <a:spLocks noGrp="1"/>
          </p:cNvSpPr>
          <p:nvPr>
            <p:ph type="sldNum" sz="quarter" idx="12"/>
          </p:nvPr>
        </p:nvSpPr>
        <p:spPr/>
        <p:txBody>
          <a:bodyPr/>
          <a:lstStyle/>
          <a:p>
            <a:fld id="{B6F15528-21DE-4FAA-801E-634DDDAF4B2B}" type="slidenum">
              <a:rPr lang="en-US" smtClean="0"/>
              <a:pPr/>
              <a:t>29</a:t>
            </a:fld>
            <a:endParaRPr lang="en-US" dirty="0"/>
          </a:p>
        </p:txBody>
      </p:sp>
      <p:pic>
        <p:nvPicPr>
          <p:cNvPr id="14342" name="Picture 6" descr="What is High Availability? 🔎 Definition, Architecture, Best Practices">
            <a:extLst>
              <a:ext uri="{FF2B5EF4-FFF2-40B4-BE49-F238E27FC236}">
                <a16:creationId xmlns:a16="http://schemas.microsoft.com/office/drawing/2014/main" id="{4386F37F-8FD4-083D-7382-214CDFC492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8906" y="2814235"/>
            <a:ext cx="5311540" cy="3445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226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D3D8-4B54-02CB-CC44-1C10E423AA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DCFFC9-3E31-8E50-F814-F6AC5D3E6713}"/>
              </a:ext>
            </a:extLst>
          </p:cNvPr>
          <p:cNvSpPr txBox="1"/>
          <p:nvPr/>
        </p:nvSpPr>
        <p:spPr>
          <a:xfrm>
            <a:off x="110837" y="1014605"/>
            <a:ext cx="8914728" cy="3354765"/>
          </a:xfrm>
          <a:prstGeom prst="rect">
            <a:avLst/>
          </a:prstGeom>
        </p:spPr>
        <p:txBody>
          <a:bodyPr wrap="square" lIns="0" tIns="0" rIns="0" bIns="0">
            <a:spAutoFit/>
          </a:bodyPr>
          <a:lstStyle/>
          <a:p>
            <a:pPr marL="285750" indent="-285750" fontAlgn="base">
              <a:buFont typeface="Arial" panose="020B0604020202020204" pitchFamily="34" charset="0"/>
              <a:buChar char="•"/>
            </a:pPr>
            <a:r>
              <a:rPr lang="en-US" dirty="0"/>
              <a:t>It is designed with an array of interconnected individual computers and the computer systems operating collectively as a single standalone system.</a:t>
            </a:r>
          </a:p>
          <a:p>
            <a:pPr fontAlgn="base"/>
            <a:endParaRPr lang="en-US" dirty="0"/>
          </a:p>
          <a:p>
            <a:pPr marL="285750" indent="-285750" fontAlgn="base">
              <a:buFont typeface="Arial" panose="020B0604020202020204" pitchFamily="34" charset="0"/>
              <a:buChar char="•"/>
            </a:pPr>
            <a:r>
              <a:rPr lang="en-US" dirty="0"/>
              <a:t>It is a group of workstations or computers working together as a single, integrated computing resource connected via high-speed interconnects.</a:t>
            </a:r>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r>
              <a:rPr lang="en-US" dirty="0"/>
              <a:t>A node – Either a single or a multiprocessor network having memory, input and output functions and an operating system.</a:t>
            </a:r>
          </a:p>
          <a:p>
            <a:pPr fontAlgn="base"/>
            <a:endParaRPr lang="en-US" dirty="0"/>
          </a:p>
          <a:p>
            <a:pPr marL="285750" indent="-285750" fontAlgn="base">
              <a:buFont typeface="Arial" panose="020B0604020202020204" pitchFamily="34" charset="0"/>
              <a:buChar char="•"/>
            </a:pPr>
            <a:r>
              <a:rPr lang="en-US" dirty="0"/>
              <a:t>Two or more nodes are connected on a single line or every node might be connected individually through a LAN connection.</a:t>
            </a:r>
          </a:p>
          <a:p>
            <a:pPr marL="8145" algn="just">
              <a:defRPr/>
            </a:pP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23C8703B-A98C-9967-27B9-0D245717B35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9F50BEA-0C12-1DA1-92BE-7BF5E7F85135}"/>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Cluster Computing Architecture</a:t>
            </a:r>
          </a:p>
        </p:txBody>
      </p:sp>
      <p:sp>
        <p:nvSpPr>
          <p:cNvPr id="3" name="Date Placeholder 2">
            <a:extLst>
              <a:ext uri="{FF2B5EF4-FFF2-40B4-BE49-F238E27FC236}">
                <a16:creationId xmlns:a16="http://schemas.microsoft.com/office/drawing/2014/main" id="{CD8CDA7B-BEAF-DCC7-BFB1-92C549AD4DA2}"/>
              </a:ext>
            </a:extLst>
          </p:cNvPr>
          <p:cNvSpPr>
            <a:spLocks noGrp="1"/>
          </p:cNvSpPr>
          <p:nvPr>
            <p:ph type="dt" sz="half" idx="10"/>
          </p:nvPr>
        </p:nvSpPr>
        <p:spPr/>
        <p:txBody>
          <a:bodyPr/>
          <a:lstStyle/>
          <a:p>
            <a:fld id="{ECE5B55C-6AD7-4BEF-8C22-D15F38958D22}" type="datetime3">
              <a:rPr lang="en-US" smtClean="0"/>
              <a:t>3 November 2025</a:t>
            </a:fld>
            <a:endParaRPr lang="en-US" dirty="0"/>
          </a:p>
        </p:txBody>
      </p:sp>
      <p:sp>
        <p:nvSpPr>
          <p:cNvPr id="4" name="Footer Placeholder 3">
            <a:extLst>
              <a:ext uri="{FF2B5EF4-FFF2-40B4-BE49-F238E27FC236}">
                <a16:creationId xmlns:a16="http://schemas.microsoft.com/office/drawing/2014/main" id="{76930D84-B2B0-070F-1762-21B9FCD9349B}"/>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2FC3885C-3805-8D27-9309-2371AA3726C2}"/>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Tree>
    <p:extLst>
      <p:ext uri="{BB962C8B-B14F-4D97-AF65-F5344CB8AC3E}">
        <p14:creationId xmlns:p14="http://schemas.microsoft.com/office/powerpoint/2010/main" val="1269474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DB58E-F660-92E7-6BCC-7FE17963F2AC}"/>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926635CE-C1FE-7B4A-87E5-7C54A6E7CB4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A28C21E3-115E-6756-3731-C74F8BA13C7F}"/>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Components of a Cluster</a:t>
            </a:r>
          </a:p>
        </p:txBody>
      </p:sp>
      <p:sp>
        <p:nvSpPr>
          <p:cNvPr id="3" name="Date Placeholder 2">
            <a:extLst>
              <a:ext uri="{FF2B5EF4-FFF2-40B4-BE49-F238E27FC236}">
                <a16:creationId xmlns:a16="http://schemas.microsoft.com/office/drawing/2014/main" id="{962F7090-C737-E733-8AC2-34F57D35306F}"/>
              </a:ext>
            </a:extLst>
          </p:cNvPr>
          <p:cNvSpPr>
            <a:spLocks noGrp="1"/>
          </p:cNvSpPr>
          <p:nvPr>
            <p:ph type="dt" sz="half" idx="10"/>
          </p:nvPr>
        </p:nvSpPr>
        <p:spPr/>
        <p:txBody>
          <a:bodyPr/>
          <a:lstStyle/>
          <a:p>
            <a:fld id="{0C7833A8-5DAB-460E-800A-13298CACA689}" type="datetime3">
              <a:rPr lang="en-US" smtClean="0"/>
              <a:t>3 November 2025</a:t>
            </a:fld>
            <a:endParaRPr lang="en-US" dirty="0"/>
          </a:p>
        </p:txBody>
      </p:sp>
      <p:sp>
        <p:nvSpPr>
          <p:cNvPr id="4" name="Footer Placeholder 3">
            <a:extLst>
              <a:ext uri="{FF2B5EF4-FFF2-40B4-BE49-F238E27FC236}">
                <a16:creationId xmlns:a16="http://schemas.microsoft.com/office/drawing/2014/main" id="{821DC82D-E85A-0679-587B-3D3513A1A901}"/>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E8BC78FA-7926-CA40-9567-BC81D05B7E23}"/>
              </a:ext>
            </a:extLst>
          </p:cNvPr>
          <p:cNvSpPr>
            <a:spLocks noGrp="1"/>
          </p:cNvSpPr>
          <p:nvPr>
            <p:ph type="sldNum" sz="quarter" idx="12"/>
          </p:nvPr>
        </p:nvSpPr>
        <p:spPr/>
        <p:txBody>
          <a:bodyPr/>
          <a:lstStyle/>
          <a:p>
            <a:fld id="{B6F15528-21DE-4FAA-801E-634DDDAF4B2B}" type="slidenum">
              <a:rPr lang="en-US" smtClean="0"/>
              <a:pPr/>
              <a:t>31</a:t>
            </a:fld>
            <a:endParaRPr lang="en-US" dirty="0"/>
          </a:p>
        </p:txBody>
      </p:sp>
      <p:pic>
        <p:nvPicPr>
          <p:cNvPr id="10" name="Picture 9">
            <a:extLst>
              <a:ext uri="{FF2B5EF4-FFF2-40B4-BE49-F238E27FC236}">
                <a16:creationId xmlns:a16="http://schemas.microsoft.com/office/drawing/2014/main" id="{676B7A06-6EC4-95E2-11BB-06764FA1B21B}"/>
              </a:ext>
            </a:extLst>
          </p:cNvPr>
          <p:cNvPicPr>
            <a:picLocks noChangeAspect="1"/>
          </p:cNvPicPr>
          <p:nvPr/>
        </p:nvPicPr>
        <p:blipFill>
          <a:blip r:embed="rId4"/>
          <a:stretch>
            <a:fillRect/>
          </a:stretch>
        </p:blipFill>
        <p:spPr>
          <a:xfrm>
            <a:off x="1135782" y="1231619"/>
            <a:ext cx="7084193" cy="4394761"/>
          </a:xfrm>
          <a:prstGeom prst="rect">
            <a:avLst/>
          </a:prstGeom>
        </p:spPr>
      </p:pic>
      <p:sp>
        <p:nvSpPr>
          <p:cNvPr id="11" name="TextBox 10">
            <a:extLst>
              <a:ext uri="{FF2B5EF4-FFF2-40B4-BE49-F238E27FC236}">
                <a16:creationId xmlns:a16="http://schemas.microsoft.com/office/drawing/2014/main" id="{84FEF7EA-E660-5352-12FF-B85A0A032516}"/>
              </a:ext>
            </a:extLst>
          </p:cNvPr>
          <p:cNvSpPr txBox="1"/>
          <p:nvPr/>
        </p:nvSpPr>
        <p:spPr>
          <a:xfrm>
            <a:off x="6019800" y="5813251"/>
            <a:ext cx="2964581" cy="292388"/>
          </a:xfrm>
          <a:prstGeom prst="rect">
            <a:avLst/>
          </a:prstGeom>
          <a:noFill/>
        </p:spPr>
        <p:txBody>
          <a:bodyPr wrap="square" rtlCol="0">
            <a:spAutoFit/>
          </a:bodyPr>
          <a:lstStyle/>
          <a:p>
            <a:r>
              <a:rPr lang="en-IN" sz="1300" dirty="0"/>
              <a:t>Image Source: Research Gate</a:t>
            </a:r>
          </a:p>
        </p:txBody>
      </p:sp>
    </p:spTree>
    <p:extLst>
      <p:ext uri="{BB962C8B-B14F-4D97-AF65-F5344CB8AC3E}">
        <p14:creationId xmlns:p14="http://schemas.microsoft.com/office/powerpoint/2010/main" val="2776755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77AA9-51F6-FDF5-1240-3A473512A541}"/>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E49100D2-53C6-4703-DC55-E93A9A0F942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ACBDD4F9-06CC-B959-CE22-93CD9095328A}"/>
              </a:ext>
            </a:extLst>
          </p:cNvPr>
          <p:cNvSpPr txBox="1">
            <a:spLocks/>
          </p:cNvSpPr>
          <p:nvPr/>
        </p:nvSpPr>
        <p:spPr>
          <a:xfrm>
            <a:off x="1761703"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Contd.</a:t>
            </a:r>
          </a:p>
        </p:txBody>
      </p:sp>
      <p:sp>
        <p:nvSpPr>
          <p:cNvPr id="3" name="Date Placeholder 2">
            <a:extLst>
              <a:ext uri="{FF2B5EF4-FFF2-40B4-BE49-F238E27FC236}">
                <a16:creationId xmlns:a16="http://schemas.microsoft.com/office/drawing/2014/main" id="{B387E320-431E-5438-683D-561AE86E9524}"/>
              </a:ext>
            </a:extLst>
          </p:cNvPr>
          <p:cNvSpPr>
            <a:spLocks noGrp="1"/>
          </p:cNvSpPr>
          <p:nvPr>
            <p:ph type="dt" sz="half" idx="10"/>
          </p:nvPr>
        </p:nvSpPr>
        <p:spPr/>
        <p:txBody>
          <a:bodyPr/>
          <a:lstStyle/>
          <a:p>
            <a:fld id="{A5364D90-E5A4-4542-995E-D9E86B6F4159}" type="datetime3">
              <a:rPr lang="en-US" smtClean="0"/>
              <a:t>3 November 2025</a:t>
            </a:fld>
            <a:endParaRPr lang="en-US" dirty="0"/>
          </a:p>
        </p:txBody>
      </p:sp>
      <p:sp>
        <p:nvSpPr>
          <p:cNvPr id="4" name="Footer Placeholder 3">
            <a:extLst>
              <a:ext uri="{FF2B5EF4-FFF2-40B4-BE49-F238E27FC236}">
                <a16:creationId xmlns:a16="http://schemas.microsoft.com/office/drawing/2014/main" id="{52708896-ABBD-E0F0-0C36-30B1657EFB2F}"/>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4DB55AEA-C3FC-C47E-A7A0-A399AF800C89}"/>
              </a:ext>
            </a:extLst>
          </p:cNvPr>
          <p:cNvSpPr>
            <a:spLocks noGrp="1"/>
          </p:cNvSpPr>
          <p:nvPr>
            <p:ph type="sldNum" sz="quarter" idx="12"/>
          </p:nvPr>
        </p:nvSpPr>
        <p:spPr/>
        <p:txBody>
          <a:bodyPr/>
          <a:lstStyle/>
          <a:p>
            <a:fld id="{B6F15528-21DE-4FAA-801E-634DDDAF4B2B}" type="slidenum">
              <a:rPr lang="en-US" smtClean="0"/>
              <a:pPr/>
              <a:t>32</a:t>
            </a:fld>
            <a:endParaRPr lang="en-US" dirty="0"/>
          </a:p>
        </p:txBody>
      </p:sp>
      <p:pic>
        <p:nvPicPr>
          <p:cNvPr id="9" name="Picture 8">
            <a:extLst>
              <a:ext uri="{FF2B5EF4-FFF2-40B4-BE49-F238E27FC236}">
                <a16:creationId xmlns:a16="http://schemas.microsoft.com/office/drawing/2014/main" id="{0743A08A-AAAD-7290-5126-3F433F3F7D87}"/>
              </a:ext>
            </a:extLst>
          </p:cNvPr>
          <p:cNvPicPr>
            <a:picLocks noChangeAspect="1"/>
          </p:cNvPicPr>
          <p:nvPr/>
        </p:nvPicPr>
        <p:blipFill>
          <a:blip r:embed="rId4"/>
          <a:stretch>
            <a:fillRect/>
          </a:stretch>
        </p:blipFill>
        <p:spPr>
          <a:xfrm>
            <a:off x="1641107" y="1107319"/>
            <a:ext cx="5181161" cy="4594779"/>
          </a:xfrm>
          <a:prstGeom prst="rect">
            <a:avLst/>
          </a:prstGeom>
        </p:spPr>
      </p:pic>
      <p:sp>
        <p:nvSpPr>
          <p:cNvPr id="10" name="TextBox 9">
            <a:extLst>
              <a:ext uri="{FF2B5EF4-FFF2-40B4-BE49-F238E27FC236}">
                <a16:creationId xmlns:a16="http://schemas.microsoft.com/office/drawing/2014/main" id="{14666E28-1DAA-AEA9-6026-9255BDB62C3E}"/>
              </a:ext>
            </a:extLst>
          </p:cNvPr>
          <p:cNvSpPr txBox="1"/>
          <p:nvPr/>
        </p:nvSpPr>
        <p:spPr>
          <a:xfrm>
            <a:off x="874673" y="5948413"/>
            <a:ext cx="3013933" cy="276999"/>
          </a:xfrm>
          <a:prstGeom prst="rect">
            <a:avLst/>
          </a:prstGeom>
          <a:noFill/>
        </p:spPr>
        <p:txBody>
          <a:bodyPr wrap="square" rtlCol="0">
            <a:spAutoFit/>
          </a:bodyPr>
          <a:lstStyle/>
          <a:p>
            <a:r>
              <a:rPr lang="en-IN" sz="1200" dirty="0"/>
              <a:t>Image Source: </a:t>
            </a:r>
            <a:r>
              <a:rPr lang="en-IN" sz="1200" dirty="0" err="1"/>
              <a:t>geekforgeeks</a:t>
            </a:r>
            <a:endParaRPr lang="en-IN" sz="1200" dirty="0"/>
          </a:p>
        </p:txBody>
      </p:sp>
    </p:spTree>
    <p:extLst>
      <p:ext uri="{BB962C8B-B14F-4D97-AF65-F5344CB8AC3E}">
        <p14:creationId xmlns:p14="http://schemas.microsoft.com/office/powerpoint/2010/main" val="1251959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0FAD26-0316-E779-4DFA-8022642E2B1A}"/>
              </a:ext>
            </a:extLst>
          </p:cNvPr>
          <p:cNvSpPr>
            <a:spLocks noGrp="1"/>
          </p:cNvSpPr>
          <p:nvPr>
            <p:ph type="dt" sz="half" idx="10"/>
          </p:nvPr>
        </p:nvSpPr>
        <p:spPr/>
        <p:txBody>
          <a:bodyPr/>
          <a:lstStyle/>
          <a:p>
            <a:fld id="{5EEEC41A-A39D-4364-A7C3-8D001F3F102C}" type="datetime3">
              <a:rPr lang="en-US" smtClean="0"/>
              <a:t>3 November 2025</a:t>
            </a:fld>
            <a:endParaRPr lang="en-US" dirty="0"/>
          </a:p>
        </p:txBody>
      </p:sp>
      <p:sp>
        <p:nvSpPr>
          <p:cNvPr id="3" name="Footer Placeholder 2">
            <a:extLst>
              <a:ext uri="{FF2B5EF4-FFF2-40B4-BE49-F238E27FC236}">
                <a16:creationId xmlns:a16="http://schemas.microsoft.com/office/drawing/2014/main" id="{77BBB8B1-14E0-486E-028B-C7E507F806A0}"/>
              </a:ext>
            </a:extLst>
          </p:cNvPr>
          <p:cNvSpPr>
            <a:spLocks noGrp="1"/>
          </p:cNvSpPr>
          <p:nvPr>
            <p:ph type="ftr" sz="quarter" idx="11"/>
          </p:nvPr>
        </p:nvSpPr>
        <p:spPr/>
        <p:txBody>
          <a:bodyPr/>
          <a:lstStyle/>
          <a:p>
            <a:r>
              <a:rPr lang="de-DE"/>
              <a:t>Kashish Mahajan              UNIT 4</a:t>
            </a:r>
            <a:endParaRPr lang="en-US" dirty="0"/>
          </a:p>
        </p:txBody>
      </p:sp>
      <p:sp>
        <p:nvSpPr>
          <p:cNvPr id="4" name="Slide Number Placeholder 3">
            <a:extLst>
              <a:ext uri="{FF2B5EF4-FFF2-40B4-BE49-F238E27FC236}">
                <a16:creationId xmlns:a16="http://schemas.microsoft.com/office/drawing/2014/main" id="{6C7A9124-2A66-C0AF-805F-1426CB82D4C0}"/>
              </a:ext>
            </a:extLst>
          </p:cNvPr>
          <p:cNvSpPr>
            <a:spLocks noGrp="1"/>
          </p:cNvSpPr>
          <p:nvPr>
            <p:ph type="sldNum" sz="quarter" idx="12"/>
          </p:nvPr>
        </p:nvSpPr>
        <p:spPr/>
        <p:txBody>
          <a:bodyPr/>
          <a:lstStyle/>
          <a:p>
            <a:fld id="{B6F15528-21DE-4FAA-801E-634DDDAF4B2B}" type="slidenum">
              <a:rPr lang="en-US" smtClean="0"/>
              <a:pPr/>
              <a:t>33</a:t>
            </a:fld>
            <a:endParaRPr lang="en-US" dirty="0"/>
          </a:p>
        </p:txBody>
      </p:sp>
      <p:sp>
        <p:nvSpPr>
          <p:cNvPr id="6" name="TextBox 5">
            <a:extLst>
              <a:ext uri="{FF2B5EF4-FFF2-40B4-BE49-F238E27FC236}">
                <a16:creationId xmlns:a16="http://schemas.microsoft.com/office/drawing/2014/main" id="{419C4E91-A469-96CB-271E-9539F8B6097A}"/>
              </a:ext>
            </a:extLst>
          </p:cNvPr>
          <p:cNvSpPr txBox="1"/>
          <p:nvPr/>
        </p:nvSpPr>
        <p:spPr>
          <a:xfrm>
            <a:off x="271849" y="1015986"/>
            <a:ext cx="8686799" cy="5355312"/>
          </a:xfrm>
          <a:prstGeom prst="rect">
            <a:avLst/>
          </a:prstGeom>
          <a:noFill/>
        </p:spPr>
        <p:txBody>
          <a:bodyPr wrap="square">
            <a:spAutoFit/>
          </a:bodyPr>
          <a:lstStyle/>
          <a:p>
            <a:pPr algn="l"/>
            <a:r>
              <a:rPr lang="en-US" b="0" i="0" dirty="0">
                <a:effectLst/>
                <a:latin typeface="fkGroteskNeue"/>
              </a:rPr>
              <a:t>The architecture is organized in layers that manage applications, programming environments, middleware, and hardware components.</a:t>
            </a:r>
          </a:p>
          <a:p>
            <a:pPr algn="l"/>
            <a:r>
              <a:rPr lang="en-US" b="0" i="0" dirty="0">
                <a:effectLst/>
                <a:latin typeface="fkGrotesk"/>
              </a:rPr>
              <a:t>Architecture Layers</a:t>
            </a:r>
          </a:p>
          <a:p>
            <a:pPr algn="l">
              <a:buFont typeface="Arial" panose="020B0604020202020204" pitchFamily="34" charset="0"/>
              <a:buChar char="•"/>
            </a:pPr>
            <a:r>
              <a:rPr lang="en-US" b="0" i="0" dirty="0">
                <a:effectLst/>
                <a:latin typeface="fkGroteskNeue"/>
              </a:rPr>
              <a:t>Applications Layer:</a:t>
            </a:r>
            <a:br>
              <a:rPr lang="en-US" b="0" i="0" dirty="0">
                <a:effectLst/>
                <a:latin typeface="fkGroteskNeue"/>
              </a:rPr>
            </a:br>
            <a:r>
              <a:rPr lang="en-US" b="0" i="0" dirty="0">
                <a:effectLst/>
                <a:latin typeface="fkGroteskNeue"/>
              </a:rPr>
              <a:t>At the top, there are two types of applications—sequential and parallel applications. Sequential applications run on a single node, while parallel applications can utilize multiple nodes for distributed computation.​</a:t>
            </a:r>
          </a:p>
          <a:p>
            <a:pPr algn="l">
              <a:buFont typeface="Arial" panose="020B0604020202020204" pitchFamily="34" charset="0"/>
              <a:buChar char="•"/>
            </a:pPr>
            <a:r>
              <a:rPr lang="en-US" b="0" i="0" dirty="0">
                <a:effectLst/>
                <a:latin typeface="fkGroteskNeue"/>
              </a:rPr>
              <a:t>Parallel Programming Environments:</a:t>
            </a:r>
            <a:br>
              <a:rPr lang="en-US" b="0" i="0" dirty="0">
                <a:effectLst/>
                <a:latin typeface="fkGroteskNeue"/>
              </a:rPr>
            </a:br>
            <a:r>
              <a:rPr lang="en-US" b="0" i="0" dirty="0">
                <a:effectLst/>
                <a:latin typeface="fkGroteskNeue"/>
              </a:rPr>
              <a:t>This layer provides programming frameworks and libraries (such as MPI, OpenMP, CUDA, etc.) that facilitate writing code capable of running across multiple nodes in parallel.</a:t>
            </a:r>
          </a:p>
          <a:p>
            <a:pPr algn="l">
              <a:buFont typeface="Arial" panose="020B0604020202020204" pitchFamily="34" charset="0"/>
              <a:buChar char="•"/>
            </a:pPr>
            <a:r>
              <a:rPr lang="en-US" b="0" i="0" dirty="0">
                <a:effectLst/>
                <a:latin typeface="fkGroteskNeue"/>
              </a:rPr>
              <a:t>Cluster Middleware:</a:t>
            </a:r>
            <a:br>
              <a:rPr lang="en-US" b="0" i="0" dirty="0">
                <a:effectLst/>
                <a:latin typeface="fkGroteskNeue"/>
              </a:rPr>
            </a:br>
            <a:r>
              <a:rPr lang="en-US" b="0" i="0" dirty="0">
                <a:effectLst/>
                <a:latin typeface="fkGroteskNeue"/>
              </a:rPr>
              <a:t>Middleware sits between the programming environments and the hardware. It manages resource allocation, task scheduling, fault tolerance, inter-process communication, and abstraction of underlying hardware to the user/application layer.​</a:t>
            </a:r>
          </a:p>
          <a:p>
            <a:pPr algn="l">
              <a:buFont typeface="Arial" panose="020B0604020202020204" pitchFamily="34" charset="0"/>
              <a:buChar char="•"/>
            </a:pPr>
            <a:r>
              <a:rPr lang="en-US" b="0" i="0" dirty="0">
                <a:effectLst/>
                <a:latin typeface="fkGroteskNeue"/>
              </a:rPr>
              <a:t>Hardware Layer:</a:t>
            </a:r>
            <a:br>
              <a:rPr lang="en-US" b="0" i="0" dirty="0">
                <a:effectLst/>
                <a:latin typeface="fkGroteskNeue"/>
              </a:rPr>
            </a:br>
            <a:r>
              <a:rPr lang="en-US" b="0" i="0" dirty="0">
                <a:effectLst/>
                <a:latin typeface="fkGroteskNeue"/>
              </a:rPr>
              <a:t>The hardware layer consists of several interconnected workstations (nodes), labeled Workstation1 through Workstation5. These nodes are physically connected via a communication switch, which enables data transfer and coordination between nodes.</a:t>
            </a:r>
          </a:p>
          <a:p>
            <a:pPr algn="l">
              <a:buFont typeface="Arial" panose="020B0604020202020204" pitchFamily="34" charset="0"/>
              <a:buChar char="•"/>
            </a:pPr>
            <a:endParaRPr lang="en-US" b="0" i="0" dirty="0">
              <a:effectLst/>
              <a:latin typeface="fkGroteskNeue"/>
            </a:endParaRPr>
          </a:p>
        </p:txBody>
      </p:sp>
      <p:sp>
        <p:nvSpPr>
          <p:cNvPr id="7" name="Title 1">
            <a:extLst>
              <a:ext uri="{FF2B5EF4-FFF2-40B4-BE49-F238E27FC236}">
                <a16:creationId xmlns:a16="http://schemas.microsoft.com/office/drawing/2014/main" id="{E7CE3A25-7635-3A97-2384-11D7E5094098}"/>
              </a:ext>
            </a:extLst>
          </p:cNvPr>
          <p:cNvSpPr txBox="1">
            <a:spLocks/>
          </p:cNvSpPr>
          <p:nvPr/>
        </p:nvSpPr>
        <p:spPr>
          <a:xfrm>
            <a:off x="0" y="-17058"/>
            <a:ext cx="9156357"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Contd.</a:t>
            </a:r>
          </a:p>
        </p:txBody>
      </p:sp>
    </p:spTree>
    <p:extLst>
      <p:ext uri="{BB962C8B-B14F-4D97-AF65-F5344CB8AC3E}">
        <p14:creationId xmlns:p14="http://schemas.microsoft.com/office/powerpoint/2010/main" val="3317505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94095-EB50-E04D-D7B4-6C60146A0B5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F515AF2-BC49-5BB3-838F-80A927A3F9B1}"/>
              </a:ext>
            </a:extLst>
          </p:cNvPr>
          <p:cNvSpPr txBox="1"/>
          <p:nvPr/>
        </p:nvSpPr>
        <p:spPr>
          <a:xfrm>
            <a:off x="277464" y="972063"/>
            <a:ext cx="8762328" cy="3046988"/>
          </a:xfrm>
          <a:prstGeom prst="rect">
            <a:avLst/>
          </a:prstGeom>
        </p:spPr>
        <p:txBody>
          <a:bodyPr wrap="square" lIns="0" tIns="0" rIns="0" bIns="0">
            <a:spAutoFit/>
          </a:bodyPr>
          <a:lstStyle/>
          <a:p>
            <a:pPr marL="8145" algn="just">
              <a:defRPr/>
            </a:pPr>
            <a:r>
              <a:rPr lang="en-US" dirty="0">
                <a:latin typeface="+mj-lt"/>
                <a:cs typeface="Times New Roman"/>
              </a:rPr>
              <a:t>The following are some prominent components of cluster computers: </a:t>
            </a:r>
          </a:p>
          <a:p>
            <a:pPr marL="8145" algn="just">
              <a:defRPr/>
            </a:pPr>
            <a:endParaRPr lang="en-US" dirty="0">
              <a:latin typeface="+mj-lt"/>
              <a:cs typeface="Times New Roman"/>
            </a:endParaRPr>
          </a:p>
          <a:p>
            <a:pPr marL="293895" indent="-285750" algn="just">
              <a:buFont typeface="Arial" panose="020B0604020202020204" pitchFamily="34" charset="0"/>
              <a:buChar char="•"/>
              <a:defRPr/>
            </a:pPr>
            <a:r>
              <a:rPr lang="en-US" dirty="0">
                <a:latin typeface="+mj-lt"/>
                <a:cs typeface="Times New Roman"/>
              </a:rPr>
              <a:t>Multiple High-Performance Computers (PCs, Workstations, or SMPs)</a:t>
            </a:r>
          </a:p>
          <a:p>
            <a:pPr marL="293895" indent="-285750" algn="just">
              <a:buFont typeface="Arial" panose="020B0604020202020204" pitchFamily="34" charset="0"/>
              <a:buChar char="•"/>
              <a:defRPr/>
            </a:pPr>
            <a:r>
              <a:rPr lang="en-US" dirty="0">
                <a:latin typeface="+mj-lt"/>
                <a:cs typeface="Times New Roman"/>
              </a:rPr>
              <a:t>Operating Systems (Layered or Micro-kernel based) </a:t>
            </a:r>
          </a:p>
          <a:p>
            <a:pPr marL="293895" indent="-285750" algn="just">
              <a:buFont typeface="Arial" panose="020B0604020202020204" pitchFamily="34" charset="0"/>
              <a:buChar char="•"/>
              <a:defRPr/>
            </a:pPr>
            <a:r>
              <a:rPr lang="en-US" dirty="0">
                <a:latin typeface="+mj-lt"/>
                <a:cs typeface="Times New Roman"/>
              </a:rPr>
              <a:t>High Performance Networks/Switches </a:t>
            </a:r>
          </a:p>
          <a:p>
            <a:pPr marL="293895" indent="-285750" algn="just">
              <a:buFont typeface="Arial" panose="020B0604020202020204" pitchFamily="34" charset="0"/>
              <a:buChar char="•"/>
              <a:defRPr/>
            </a:pPr>
            <a:r>
              <a:rPr lang="en-US" dirty="0">
                <a:latin typeface="+mj-lt"/>
                <a:cs typeface="Times New Roman"/>
              </a:rPr>
              <a:t>Network Interface Cards (NICs) </a:t>
            </a:r>
          </a:p>
          <a:p>
            <a:pPr marL="293895" indent="-285750" algn="just">
              <a:buFont typeface="Arial" panose="020B0604020202020204" pitchFamily="34" charset="0"/>
              <a:buChar char="•"/>
              <a:defRPr/>
            </a:pPr>
            <a:r>
              <a:rPr lang="en-US" dirty="0">
                <a:latin typeface="+mj-lt"/>
                <a:cs typeface="Times New Roman"/>
              </a:rPr>
              <a:t>Fast Communication Protocols and Services (such as Active and Fast Messages) </a:t>
            </a:r>
          </a:p>
          <a:p>
            <a:pPr marL="293895" indent="-285750" algn="just">
              <a:buFont typeface="Arial" panose="020B0604020202020204" pitchFamily="34" charset="0"/>
              <a:buChar char="•"/>
              <a:defRPr/>
            </a:pPr>
            <a:r>
              <a:rPr lang="en-US" dirty="0">
                <a:latin typeface="+mj-lt"/>
                <a:cs typeface="Times New Roman"/>
              </a:rPr>
              <a:t>Cluster Middleware (Single System Image (SSI)</a:t>
            </a:r>
          </a:p>
          <a:p>
            <a:pPr marL="293895" indent="-285750" algn="just">
              <a:buFont typeface="Arial" panose="020B0604020202020204" pitchFamily="34" charset="0"/>
              <a:buChar char="•"/>
              <a:defRPr/>
            </a:pPr>
            <a:r>
              <a:rPr lang="en-US" dirty="0">
                <a:latin typeface="+mj-lt"/>
                <a:cs typeface="Times New Roman"/>
              </a:rPr>
              <a:t>Hardware (such as Digital (DEC) </a:t>
            </a:r>
          </a:p>
          <a:p>
            <a:pPr marL="293895" indent="-285750" algn="just">
              <a:buFont typeface="Arial" panose="020B0604020202020204" pitchFamily="34" charset="0"/>
              <a:buChar char="•"/>
              <a:defRPr/>
            </a:pPr>
            <a:r>
              <a:rPr lang="en-US" dirty="0">
                <a:latin typeface="+mj-lt"/>
                <a:cs typeface="Times New Roman"/>
              </a:rPr>
              <a:t>Memory Channel</a:t>
            </a:r>
          </a:p>
          <a:p>
            <a:pPr marL="293895" indent="-285750" algn="just">
              <a:buFont typeface="Arial" panose="020B0604020202020204" pitchFamily="34" charset="0"/>
              <a:buChar char="•"/>
              <a:defRPr/>
            </a:pPr>
            <a:r>
              <a:rPr lang="en-US" dirty="0">
                <a:latin typeface="+mj-lt"/>
                <a:cs typeface="Times New Roman"/>
              </a:rPr>
              <a:t>Hardware DSM</a:t>
            </a:r>
          </a:p>
        </p:txBody>
      </p:sp>
      <p:pic>
        <p:nvPicPr>
          <p:cNvPr id="5" name="Picture 4" descr="A screenshot of a computer&#10;&#10;Description automatically generated">
            <a:extLst>
              <a:ext uri="{FF2B5EF4-FFF2-40B4-BE49-F238E27FC236}">
                <a16:creationId xmlns:a16="http://schemas.microsoft.com/office/drawing/2014/main" id="{88AD9FC5-3A4F-2CA3-2E44-A654B2D9E85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621357C8-88B5-8912-D858-FA9CD7896B7E}"/>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Cluster Computing Load Balancing Algorithms</a:t>
            </a:r>
          </a:p>
        </p:txBody>
      </p:sp>
      <p:sp>
        <p:nvSpPr>
          <p:cNvPr id="3" name="Date Placeholder 2">
            <a:extLst>
              <a:ext uri="{FF2B5EF4-FFF2-40B4-BE49-F238E27FC236}">
                <a16:creationId xmlns:a16="http://schemas.microsoft.com/office/drawing/2014/main" id="{F76AF62B-463C-85A4-67BD-4614F1118A04}"/>
              </a:ext>
            </a:extLst>
          </p:cNvPr>
          <p:cNvSpPr>
            <a:spLocks noGrp="1"/>
          </p:cNvSpPr>
          <p:nvPr>
            <p:ph type="dt" sz="half" idx="10"/>
          </p:nvPr>
        </p:nvSpPr>
        <p:spPr/>
        <p:txBody>
          <a:bodyPr/>
          <a:lstStyle/>
          <a:p>
            <a:fld id="{36860CC0-B390-40A8-AC0A-56BCCAEFFCC3}" type="datetime3">
              <a:rPr lang="en-US" smtClean="0"/>
              <a:t>3 November 2025</a:t>
            </a:fld>
            <a:endParaRPr lang="en-US" dirty="0"/>
          </a:p>
        </p:txBody>
      </p:sp>
      <p:sp>
        <p:nvSpPr>
          <p:cNvPr id="4" name="Footer Placeholder 3">
            <a:extLst>
              <a:ext uri="{FF2B5EF4-FFF2-40B4-BE49-F238E27FC236}">
                <a16:creationId xmlns:a16="http://schemas.microsoft.com/office/drawing/2014/main" id="{77D54A98-B170-A9FE-DD77-4A38A5D57DAC}"/>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25EA12B2-BC01-9CD9-9970-F3CF535CA29E}"/>
              </a:ext>
            </a:extLst>
          </p:cNvPr>
          <p:cNvSpPr>
            <a:spLocks noGrp="1"/>
          </p:cNvSpPr>
          <p:nvPr>
            <p:ph type="sldNum" sz="quarter" idx="12"/>
          </p:nvPr>
        </p:nvSpPr>
        <p:spPr/>
        <p:txBody>
          <a:bodyPr/>
          <a:lstStyle/>
          <a:p>
            <a:fld id="{B6F15528-21DE-4FAA-801E-634DDDAF4B2B}" type="slidenum">
              <a:rPr lang="en-US" smtClean="0"/>
              <a:pPr/>
              <a:t>34</a:t>
            </a:fld>
            <a:endParaRPr lang="en-US" dirty="0"/>
          </a:p>
        </p:txBody>
      </p:sp>
    </p:spTree>
    <p:extLst>
      <p:ext uri="{BB962C8B-B14F-4D97-AF65-F5344CB8AC3E}">
        <p14:creationId xmlns:p14="http://schemas.microsoft.com/office/powerpoint/2010/main" val="3833988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A47F-BB5B-CC88-2A6D-747B0584E7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86822C-DA83-7DDB-4192-5CD152356CCB}"/>
              </a:ext>
            </a:extLst>
          </p:cNvPr>
          <p:cNvSpPr txBox="1"/>
          <p:nvPr/>
        </p:nvSpPr>
        <p:spPr>
          <a:xfrm>
            <a:off x="277464" y="972063"/>
            <a:ext cx="8762328" cy="2616101"/>
          </a:xfrm>
          <a:prstGeom prst="rect">
            <a:avLst/>
          </a:prstGeom>
        </p:spPr>
        <p:txBody>
          <a:bodyPr wrap="square" lIns="0" tIns="0" rIns="0" bIns="0">
            <a:spAutoFit/>
          </a:bodyPr>
          <a:lstStyle/>
          <a:p>
            <a:pPr marL="8145" algn="just">
              <a:defRPr/>
            </a:pPr>
            <a:r>
              <a:rPr lang="en-US" sz="2000" dirty="0">
                <a:latin typeface="+mj-lt"/>
                <a:cs typeface="Times New Roman"/>
              </a:rPr>
              <a:t>Some of the common load balancing algorithms in Cluster computing are:</a:t>
            </a:r>
          </a:p>
          <a:p>
            <a:pPr marL="8145" algn="just">
              <a:defRPr/>
            </a:pPr>
            <a:endParaRPr lang="en-US" sz="2000" dirty="0">
              <a:latin typeface="+mj-lt"/>
              <a:cs typeface="Times New Roman"/>
            </a:endParaRPr>
          </a:p>
          <a:p>
            <a:pPr marL="8145" algn="just">
              <a:defRPr/>
            </a:pPr>
            <a:r>
              <a:rPr lang="en-US" sz="2000" dirty="0">
                <a:latin typeface="+mj-lt"/>
                <a:cs typeface="Times New Roman"/>
              </a:rPr>
              <a:t>Round Robin Algorithm:</a:t>
            </a:r>
          </a:p>
          <a:p>
            <a:pPr marL="8145" algn="just">
              <a:defRPr/>
            </a:pPr>
            <a:r>
              <a:rPr lang="en-US" dirty="0">
                <a:latin typeface="+mj-lt"/>
                <a:cs typeface="Times New Roman"/>
              </a:rPr>
              <a:t>In the below diagram, there are two servers awaiting requests behind the load balancer. Upon the arrival of the first request, the load balancer will forward the request to Server 1 and after getting the second request, it is allotted to Server 2. As there are only two servers in the network, the next request will again be forwarded to Server 1—this way, the requests are sent to both the servers in a cyclic format.</a:t>
            </a:r>
          </a:p>
          <a:p>
            <a:pPr marL="8145" algn="just">
              <a:defRPr/>
            </a:pP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901ECB12-4D1B-4FF0-F903-C1B7AC703BF3}"/>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E37D93FD-FF31-07A8-9962-926EAAD89969}"/>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Cluster Computing Load Balancing Algorithms</a:t>
            </a:r>
          </a:p>
        </p:txBody>
      </p:sp>
      <p:sp>
        <p:nvSpPr>
          <p:cNvPr id="3" name="Date Placeholder 2">
            <a:extLst>
              <a:ext uri="{FF2B5EF4-FFF2-40B4-BE49-F238E27FC236}">
                <a16:creationId xmlns:a16="http://schemas.microsoft.com/office/drawing/2014/main" id="{99CF219D-D98E-EA62-B9FE-89B75317479E}"/>
              </a:ext>
            </a:extLst>
          </p:cNvPr>
          <p:cNvSpPr>
            <a:spLocks noGrp="1"/>
          </p:cNvSpPr>
          <p:nvPr>
            <p:ph type="dt" sz="half" idx="10"/>
          </p:nvPr>
        </p:nvSpPr>
        <p:spPr/>
        <p:txBody>
          <a:bodyPr/>
          <a:lstStyle/>
          <a:p>
            <a:fld id="{36860CC0-B390-40A8-AC0A-56BCCAEFFCC3}" type="datetime3">
              <a:rPr lang="en-US" smtClean="0"/>
              <a:t>3 November 2025</a:t>
            </a:fld>
            <a:endParaRPr lang="en-US" dirty="0"/>
          </a:p>
        </p:txBody>
      </p:sp>
      <p:sp>
        <p:nvSpPr>
          <p:cNvPr id="4" name="Footer Placeholder 3">
            <a:extLst>
              <a:ext uri="{FF2B5EF4-FFF2-40B4-BE49-F238E27FC236}">
                <a16:creationId xmlns:a16="http://schemas.microsoft.com/office/drawing/2014/main" id="{D787D7C9-A575-F8D1-6D7F-408AA26F81F9}"/>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E467F9D4-66C2-D389-99FC-595503796B15}"/>
              </a:ext>
            </a:extLst>
          </p:cNvPr>
          <p:cNvSpPr>
            <a:spLocks noGrp="1"/>
          </p:cNvSpPr>
          <p:nvPr>
            <p:ph type="sldNum" sz="quarter" idx="12"/>
          </p:nvPr>
        </p:nvSpPr>
        <p:spPr/>
        <p:txBody>
          <a:bodyPr/>
          <a:lstStyle/>
          <a:p>
            <a:fld id="{B6F15528-21DE-4FAA-801E-634DDDAF4B2B}" type="slidenum">
              <a:rPr lang="en-US" smtClean="0"/>
              <a:pPr/>
              <a:t>35</a:t>
            </a:fld>
            <a:endParaRPr lang="en-US" dirty="0"/>
          </a:p>
        </p:txBody>
      </p:sp>
      <p:pic>
        <p:nvPicPr>
          <p:cNvPr id="9" name="Picture 8">
            <a:extLst>
              <a:ext uri="{FF2B5EF4-FFF2-40B4-BE49-F238E27FC236}">
                <a16:creationId xmlns:a16="http://schemas.microsoft.com/office/drawing/2014/main" id="{9783ADAF-4683-6AC5-C927-FB8BDBE1A1F9}"/>
              </a:ext>
            </a:extLst>
          </p:cNvPr>
          <p:cNvPicPr>
            <a:picLocks noChangeAspect="1"/>
          </p:cNvPicPr>
          <p:nvPr/>
        </p:nvPicPr>
        <p:blipFill>
          <a:blip r:embed="rId4"/>
          <a:stretch>
            <a:fillRect/>
          </a:stretch>
        </p:blipFill>
        <p:spPr>
          <a:xfrm>
            <a:off x="1524000" y="3429000"/>
            <a:ext cx="5620039" cy="2800494"/>
          </a:xfrm>
          <a:prstGeom prst="rect">
            <a:avLst/>
          </a:prstGeom>
        </p:spPr>
      </p:pic>
    </p:spTree>
    <p:extLst>
      <p:ext uri="{BB962C8B-B14F-4D97-AF65-F5344CB8AC3E}">
        <p14:creationId xmlns:p14="http://schemas.microsoft.com/office/powerpoint/2010/main" val="1185326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89316-11A2-DA4E-891A-4A5A0939A4B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1302C2F-18CF-E716-2DD7-4156490A7E2C}"/>
              </a:ext>
            </a:extLst>
          </p:cNvPr>
          <p:cNvSpPr txBox="1"/>
          <p:nvPr/>
        </p:nvSpPr>
        <p:spPr>
          <a:xfrm>
            <a:off x="277464" y="972063"/>
            <a:ext cx="8762328" cy="1723549"/>
          </a:xfrm>
          <a:prstGeom prst="rect">
            <a:avLst/>
          </a:prstGeom>
        </p:spPr>
        <p:txBody>
          <a:bodyPr wrap="square" lIns="0" tIns="0" rIns="0" bIns="0">
            <a:spAutoFit/>
          </a:bodyPr>
          <a:lstStyle/>
          <a:p>
            <a:pPr marL="8145" algn="just">
              <a:defRPr/>
            </a:pPr>
            <a:r>
              <a:rPr lang="en-US" sz="2000" dirty="0">
                <a:latin typeface="+mj-lt"/>
                <a:cs typeface="Times New Roman"/>
              </a:rPr>
              <a:t>Least Connections:</a:t>
            </a:r>
          </a:p>
          <a:p>
            <a:pPr marL="8145" algn="just">
              <a:defRPr/>
            </a:pPr>
            <a:endParaRPr lang="en-US" sz="2000" dirty="0">
              <a:latin typeface="+mj-lt"/>
              <a:cs typeface="Times New Roman"/>
            </a:endParaRPr>
          </a:p>
          <a:p>
            <a:pPr marL="8145" algn="just">
              <a:defRPr/>
            </a:pPr>
            <a:r>
              <a:rPr lang="en-US" dirty="0"/>
              <a:t>The Least Connections Algorithm considers the number of connections that each server currently has. Whenever there is a connection request, the load balancer determines which of the servers has the least number of connections and then the new connection will be assigned to that server.</a:t>
            </a: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76E6B2B5-1E2A-D3EA-1E48-8BE8FFA8589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430A2243-E0C6-7CA6-A86B-5E8B3C5F5F7C}"/>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Cluster Computing Load Balancing Algorithms</a:t>
            </a:r>
          </a:p>
        </p:txBody>
      </p:sp>
      <p:sp>
        <p:nvSpPr>
          <p:cNvPr id="3" name="Date Placeholder 2">
            <a:extLst>
              <a:ext uri="{FF2B5EF4-FFF2-40B4-BE49-F238E27FC236}">
                <a16:creationId xmlns:a16="http://schemas.microsoft.com/office/drawing/2014/main" id="{DBEC6EBE-1347-DF2F-4EE0-A527B29423BA}"/>
              </a:ext>
            </a:extLst>
          </p:cNvPr>
          <p:cNvSpPr>
            <a:spLocks noGrp="1"/>
          </p:cNvSpPr>
          <p:nvPr>
            <p:ph type="dt" sz="half" idx="10"/>
          </p:nvPr>
        </p:nvSpPr>
        <p:spPr/>
        <p:txBody>
          <a:bodyPr/>
          <a:lstStyle/>
          <a:p>
            <a:fld id="{36860CC0-B390-40A8-AC0A-56BCCAEFFCC3}" type="datetime3">
              <a:rPr lang="en-US" smtClean="0"/>
              <a:t>3 November 2025</a:t>
            </a:fld>
            <a:endParaRPr lang="en-US" dirty="0"/>
          </a:p>
        </p:txBody>
      </p:sp>
      <p:sp>
        <p:nvSpPr>
          <p:cNvPr id="4" name="Footer Placeholder 3">
            <a:extLst>
              <a:ext uri="{FF2B5EF4-FFF2-40B4-BE49-F238E27FC236}">
                <a16:creationId xmlns:a16="http://schemas.microsoft.com/office/drawing/2014/main" id="{494E7631-1B59-4E9F-2A80-1D1AD696050F}"/>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8DA2B31F-629B-CCFB-A55C-B8FF37E28463}"/>
              </a:ext>
            </a:extLst>
          </p:cNvPr>
          <p:cNvSpPr>
            <a:spLocks noGrp="1"/>
          </p:cNvSpPr>
          <p:nvPr>
            <p:ph type="sldNum" sz="quarter" idx="12"/>
          </p:nvPr>
        </p:nvSpPr>
        <p:spPr/>
        <p:txBody>
          <a:bodyPr/>
          <a:lstStyle/>
          <a:p>
            <a:fld id="{B6F15528-21DE-4FAA-801E-634DDDAF4B2B}" type="slidenum">
              <a:rPr lang="en-US" smtClean="0"/>
              <a:pPr/>
              <a:t>36</a:t>
            </a:fld>
            <a:endParaRPr lang="en-US" dirty="0"/>
          </a:p>
        </p:txBody>
      </p:sp>
      <p:pic>
        <p:nvPicPr>
          <p:cNvPr id="10" name="Picture 9">
            <a:extLst>
              <a:ext uri="{FF2B5EF4-FFF2-40B4-BE49-F238E27FC236}">
                <a16:creationId xmlns:a16="http://schemas.microsoft.com/office/drawing/2014/main" id="{CBBE9B25-787D-A2DD-6575-F5496331D391}"/>
              </a:ext>
            </a:extLst>
          </p:cNvPr>
          <p:cNvPicPr>
            <a:picLocks noChangeAspect="1"/>
          </p:cNvPicPr>
          <p:nvPr/>
        </p:nvPicPr>
        <p:blipFill>
          <a:blip r:embed="rId4"/>
          <a:stretch>
            <a:fillRect/>
          </a:stretch>
        </p:blipFill>
        <p:spPr>
          <a:xfrm>
            <a:off x="1749346" y="2844324"/>
            <a:ext cx="5454930" cy="2921150"/>
          </a:xfrm>
          <a:prstGeom prst="rect">
            <a:avLst/>
          </a:prstGeom>
        </p:spPr>
      </p:pic>
    </p:spTree>
    <p:extLst>
      <p:ext uri="{BB962C8B-B14F-4D97-AF65-F5344CB8AC3E}">
        <p14:creationId xmlns:p14="http://schemas.microsoft.com/office/powerpoint/2010/main" val="1818284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21CDC-D171-62EF-151D-57363FB4CD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5D0579-7C7A-FA2B-C327-BD086847A84D}"/>
              </a:ext>
            </a:extLst>
          </p:cNvPr>
          <p:cNvSpPr txBox="1"/>
          <p:nvPr/>
        </p:nvSpPr>
        <p:spPr>
          <a:xfrm>
            <a:off x="277464" y="972063"/>
            <a:ext cx="8762328" cy="3385542"/>
          </a:xfrm>
          <a:prstGeom prst="rect">
            <a:avLst/>
          </a:prstGeom>
        </p:spPr>
        <p:txBody>
          <a:bodyPr wrap="square" lIns="0" tIns="0" rIns="0" bIns="0">
            <a:spAutoFit/>
          </a:bodyPr>
          <a:lstStyle/>
          <a:p>
            <a:pPr marL="8145" algn="just">
              <a:defRPr/>
            </a:pPr>
            <a:r>
              <a:rPr lang="en-US" sz="2000" dirty="0">
                <a:latin typeface="+mj-lt"/>
                <a:cs typeface="Times New Roman"/>
              </a:rPr>
              <a:t>Beowulf Clusters:</a:t>
            </a:r>
          </a:p>
          <a:p>
            <a:pPr marL="8145" algn="just">
              <a:defRPr/>
            </a:pPr>
            <a:endParaRPr lang="en-US" sz="2000" dirty="0">
              <a:latin typeface="+mj-lt"/>
              <a:cs typeface="Times New Roman"/>
            </a:endParaRPr>
          </a:p>
          <a:p>
            <a:pPr marL="8145" algn="just">
              <a:defRPr/>
            </a:pPr>
            <a:r>
              <a:rPr lang="en-US" dirty="0"/>
              <a:t>One of the most remarkable technology advancements today has been the growth of Personal Computers’ computing performance. The Beowulf Cluster was created to achieve the rising high-performance power in certain scientific areas for developing a powerful and affordable Cloud computing system. The constant evolution of performance, processor, and collaboration between PCs and workstations resulted in decreased network processors’ reduced costs for influencing the improved high-performance clusters. A Beowulf cluster is a computer cluster of normally identical, commodity-grade computers networked into a small local area network with libraries and programs installed that allow processing to be shared among them. The result is a high-performance parallel computing cluster from inexpensive personal computer hardware.</a:t>
            </a:r>
            <a:endParaRPr lang="en-US" sz="2000" dirty="0">
              <a:latin typeface="+mj-lt"/>
              <a:cs typeface="Times New Roman"/>
            </a:endParaRPr>
          </a:p>
        </p:txBody>
      </p:sp>
      <p:pic>
        <p:nvPicPr>
          <p:cNvPr id="5" name="Picture 4" descr="A screenshot of a computer&#10;&#10;Description automatically generated">
            <a:extLst>
              <a:ext uri="{FF2B5EF4-FFF2-40B4-BE49-F238E27FC236}">
                <a16:creationId xmlns:a16="http://schemas.microsoft.com/office/drawing/2014/main" id="{D49E5D6F-D5DA-B980-1363-9543F1FA541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683A2053-6642-3703-66A0-C4AFADC8A4B2}"/>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Cluster Computing Load Balancing Algorithms</a:t>
            </a:r>
          </a:p>
        </p:txBody>
      </p:sp>
      <p:sp>
        <p:nvSpPr>
          <p:cNvPr id="3" name="Date Placeholder 2">
            <a:extLst>
              <a:ext uri="{FF2B5EF4-FFF2-40B4-BE49-F238E27FC236}">
                <a16:creationId xmlns:a16="http://schemas.microsoft.com/office/drawing/2014/main" id="{8DC842C8-BF47-BDD2-1911-67E85E65B372}"/>
              </a:ext>
            </a:extLst>
          </p:cNvPr>
          <p:cNvSpPr>
            <a:spLocks noGrp="1"/>
          </p:cNvSpPr>
          <p:nvPr>
            <p:ph type="dt" sz="half" idx="10"/>
          </p:nvPr>
        </p:nvSpPr>
        <p:spPr/>
        <p:txBody>
          <a:bodyPr/>
          <a:lstStyle/>
          <a:p>
            <a:fld id="{36860CC0-B390-40A8-AC0A-56BCCAEFFCC3}" type="datetime3">
              <a:rPr lang="en-US" smtClean="0"/>
              <a:t>3 November 2025</a:t>
            </a:fld>
            <a:endParaRPr lang="en-US" dirty="0"/>
          </a:p>
        </p:txBody>
      </p:sp>
      <p:sp>
        <p:nvSpPr>
          <p:cNvPr id="4" name="Footer Placeholder 3">
            <a:extLst>
              <a:ext uri="{FF2B5EF4-FFF2-40B4-BE49-F238E27FC236}">
                <a16:creationId xmlns:a16="http://schemas.microsoft.com/office/drawing/2014/main" id="{857C0790-1FA8-693E-3080-26A0CDA7B303}"/>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44D09205-5C53-C453-B02F-228F5882392B}"/>
              </a:ext>
            </a:extLst>
          </p:cNvPr>
          <p:cNvSpPr>
            <a:spLocks noGrp="1"/>
          </p:cNvSpPr>
          <p:nvPr>
            <p:ph type="sldNum" sz="quarter" idx="12"/>
          </p:nvPr>
        </p:nvSpPr>
        <p:spPr/>
        <p:txBody>
          <a:bodyPr/>
          <a:lstStyle/>
          <a:p>
            <a:fld id="{B6F15528-21DE-4FAA-801E-634DDDAF4B2B}" type="slidenum">
              <a:rPr lang="en-US" smtClean="0"/>
              <a:pPr/>
              <a:t>37</a:t>
            </a:fld>
            <a:endParaRPr lang="en-US" dirty="0"/>
          </a:p>
        </p:txBody>
      </p:sp>
      <p:pic>
        <p:nvPicPr>
          <p:cNvPr id="9" name="Picture 8">
            <a:extLst>
              <a:ext uri="{FF2B5EF4-FFF2-40B4-BE49-F238E27FC236}">
                <a16:creationId xmlns:a16="http://schemas.microsoft.com/office/drawing/2014/main" id="{7CD85BC1-593C-544F-08DC-17BE5CB0DB8F}"/>
              </a:ext>
            </a:extLst>
          </p:cNvPr>
          <p:cNvPicPr>
            <a:picLocks noChangeAspect="1"/>
          </p:cNvPicPr>
          <p:nvPr/>
        </p:nvPicPr>
        <p:blipFill>
          <a:blip r:embed="rId4"/>
          <a:stretch>
            <a:fillRect/>
          </a:stretch>
        </p:blipFill>
        <p:spPr>
          <a:xfrm>
            <a:off x="1749346" y="4304851"/>
            <a:ext cx="5557576" cy="2416624"/>
          </a:xfrm>
          <a:prstGeom prst="rect">
            <a:avLst/>
          </a:prstGeom>
        </p:spPr>
      </p:pic>
    </p:spTree>
    <p:extLst>
      <p:ext uri="{BB962C8B-B14F-4D97-AF65-F5344CB8AC3E}">
        <p14:creationId xmlns:p14="http://schemas.microsoft.com/office/powerpoint/2010/main" val="41145789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6D0F6-95F1-7C0C-3ECC-F4A13BB0A98E}"/>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D1F74ADF-1F50-C0F4-2BD5-EAE2A57D046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7D585151-8A87-031C-5858-6F7ABE2B2229}"/>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Google Cluster Architecture </a:t>
            </a:r>
          </a:p>
        </p:txBody>
      </p:sp>
      <p:sp>
        <p:nvSpPr>
          <p:cNvPr id="3" name="Date Placeholder 2">
            <a:extLst>
              <a:ext uri="{FF2B5EF4-FFF2-40B4-BE49-F238E27FC236}">
                <a16:creationId xmlns:a16="http://schemas.microsoft.com/office/drawing/2014/main" id="{95B003AA-6C1D-8F14-9903-AC28F40B9B2B}"/>
              </a:ext>
            </a:extLst>
          </p:cNvPr>
          <p:cNvSpPr>
            <a:spLocks noGrp="1"/>
          </p:cNvSpPr>
          <p:nvPr>
            <p:ph type="dt" sz="half" idx="10"/>
          </p:nvPr>
        </p:nvSpPr>
        <p:spPr/>
        <p:txBody>
          <a:bodyPr/>
          <a:lstStyle/>
          <a:p>
            <a:fld id="{293FF438-CADA-4191-B97F-F951DB7CE787}" type="datetime3">
              <a:rPr lang="en-US" smtClean="0"/>
              <a:t>3 November 2025</a:t>
            </a:fld>
            <a:endParaRPr lang="en-US" dirty="0"/>
          </a:p>
        </p:txBody>
      </p:sp>
      <p:sp>
        <p:nvSpPr>
          <p:cNvPr id="4" name="Footer Placeholder 3">
            <a:extLst>
              <a:ext uri="{FF2B5EF4-FFF2-40B4-BE49-F238E27FC236}">
                <a16:creationId xmlns:a16="http://schemas.microsoft.com/office/drawing/2014/main" id="{92CE974B-0346-0B50-ADC1-D600C7B3498B}"/>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1018C2F4-280E-0855-91EF-219253B758EB}"/>
              </a:ext>
            </a:extLst>
          </p:cNvPr>
          <p:cNvSpPr>
            <a:spLocks noGrp="1"/>
          </p:cNvSpPr>
          <p:nvPr>
            <p:ph type="sldNum" sz="quarter" idx="12"/>
          </p:nvPr>
        </p:nvSpPr>
        <p:spPr/>
        <p:txBody>
          <a:bodyPr/>
          <a:lstStyle/>
          <a:p>
            <a:fld id="{B6F15528-21DE-4FAA-801E-634DDDAF4B2B}" type="slidenum">
              <a:rPr lang="en-US" smtClean="0"/>
              <a:pPr/>
              <a:t>38</a:t>
            </a:fld>
            <a:endParaRPr lang="en-US" dirty="0"/>
          </a:p>
        </p:txBody>
      </p:sp>
      <p:pic>
        <p:nvPicPr>
          <p:cNvPr id="3076" name="Picture 4" descr="Google cluster architecture">
            <a:extLst>
              <a:ext uri="{FF2B5EF4-FFF2-40B4-BE49-F238E27FC236}">
                <a16:creationId xmlns:a16="http://schemas.microsoft.com/office/drawing/2014/main" id="{1BA4ECD3-AE3C-B315-0BAA-D36B007181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017" y="1167957"/>
            <a:ext cx="8214473" cy="2464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1653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B9E13-179A-6930-2C36-376E7201A1CB}"/>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225E3DA8-94FC-1DBD-2724-518FAC4D110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8ABAE97-9AFB-A0E3-1091-296F5B0C8549}"/>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Key Factors in Clustering Architectures</a:t>
            </a:r>
          </a:p>
        </p:txBody>
      </p:sp>
      <p:sp>
        <p:nvSpPr>
          <p:cNvPr id="2" name="Date Placeholder 1">
            <a:extLst>
              <a:ext uri="{FF2B5EF4-FFF2-40B4-BE49-F238E27FC236}">
                <a16:creationId xmlns:a16="http://schemas.microsoft.com/office/drawing/2014/main" id="{E88B8A0B-96F9-F51B-515E-4739AD01810B}"/>
              </a:ext>
            </a:extLst>
          </p:cNvPr>
          <p:cNvSpPr>
            <a:spLocks noGrp="1"/>
          </p:cNvSpPr>
          <p:nvPr>
            <p:ph type="dt" sz="half" idx="10"/>
          </p:nvPr>
        </p:nvSpPr>
        <p:spPr/>
        <p:txBody>
          <a:bodyPr/>
          <a:lstStyle/>
          <a:p>
            <a:fld id="{5B63D7EC-F3BC-43C0-BDFB-0C8D74280E8C}" type="datetime3">
              <a:rPr lang="en-US" smtClean="0"/>
              <a:t>3 November 2025</a:t>
            </a:fld>
            <a:endParaRPr lang="en-US" dirty="0"/>
          </a:p>
        </p:txBody>
      </p:sp>
      <p:sp>
        <p:nvSpPr>
          <p:cNvPr id="3" name="Footer Placeholder 2">
            <a:extLst>
              <a:ext uri="{FF2B5EF4-FFF2-40B4-BE49-F238E27FC236}">
                <a16:creationId xmlns:a16="http://schemas.microsoft.com/office/drawing/2014/main" id="{398F7EFF-CEE0-A31C-BA34-60A0C214CBFF}"/>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36CC284D-87FC-C428-6131-97BA40C88509}"/>
              </a:ext>
            </a:extLst>
          </p:cNvPr>
          <p:cNvSpPr>
            <a:spLocks noGrp="1"/>
          </p:cNvSpPr>
          <p:nvPr>
            <p:ph type="sldNum" sz="quarter" idx="12"/>
          </p:nvPr>
        </p:nvSpPr>
        <p:spPr/>
        <p:txBody>
          <a:bodyPr/>
          <a:lstStyle/>
          <a:p>
            <a:fld id="{B6F15528-21DE-4FAA-801E-634DDDAF4B2B}" type="slidenum">
              <a:rPr lang="en-US" smtClean="0"/>
              <a:pPr/>
              <a:t>39</a:t>
            </a:fld>
            <a:endParaRPr lang="en-US" dirty="0"/>
          </a:p>
        </p:txBody>
      </p:sp>
      <p:sp>
        <p:nvSpPr>
          <p:cNvPr id="8" name="TextBox 7">
            <a:extLst>
              <a:ext uri="{FF2B5EF4-FFF2-40B4-BE49-F238E27FC236}">
                <a16:creationId xmlns:a16="http://schemas.microsoft.com/office/drawing/2014/main" id="{E16321E6-D67B-2FC3-17EA-27F25698707A}"/>
              </a:ext>
            </a:extLst>
          </p:cNvPr>
          <p:cNvSpPr txBox="1"/>
          <p:nvPr/>
        </p:nvSpPr>
        <p:spPr>
          <a:xfrm>
            <a:off x="336884" y="895784"/>
            <a:ext cx="8200724" cy="4524315"/>
          </a:xfrm>
          <a:prstGeom prst="rect">
            <a:avLst/>
          </a:prstGeom>
          <a:noFill/>
        </p:spPr>
        <p:txBody>
          <a:bodyPr wrap="square" rtlCol="0">
            <a:spAutoFit/>
          </a:bodyPr>
          <a:lstStyle/>
          <a:p>
            <a:r>
              <a:rPr lang="en-IN" b="1" dirty="0"/>
              <a:t>Scalability: </a:t>
            </a:r>
            <a:r>
              <a:rPr lang="en-US" dirty="0"/>
              <a:t>Ability of the cluster to grow (add more nodes) without significant loss in performance. Essential for workloads that grow with data size (e.g., weather modeling, genomics)</a:t>
            </a:r>
          </a:p>
          <a:p>
            <a:endParaRPr lang="en-US" dirty="0"/>
          </a:p>
          <a:p>
            <a:r>
              <a:rPr lang="en-IN" b="1" dirty="0"/>
              <a:t>Performance: </a:t>
            </a:r>
            <a:r>
              <a:rPr lang="en-US" dirty="0"/>
              <a:t>How efficiently the cluster processes tasks (throughput, latency). It is determined by </a:t>
            </a:r>
            <a:r>
              <a:rPr lang="en-IN" dirty="0"/>
              <a:t>Node hardware, Network speed</a:t>
            </a:r>
          </a:p>
          <a:p>
            <a:endParaRPr lang="en-IN" b="1" dirty="0"/>
          </a:p>
          <a:p>
            <a:r>
              <a:rPr lang="en-US" b="1" dirty="0"/>
              <a:t>Fault Tolerance and High Availability: </a:t>
            </a:r>
            <a:r>
              <a:rPr lang="en-US" dirty="0"/>
              <a:t>Ability of the cluster to continue functioning when one or more nodes fail. </a:t>
            </a:r>
            <a:r>
              <a:rPr lang="en-IN" dirty="0"/>
              <a:t>Implemented via: Redundant nodes, health monitoring.</a:t>
            </a:r>
          </a:p>
          <a:p>
            <a:endParaRPr lang="en-IN" b="1" dirty="0"/>
          </a:p>
          <a:p>
            <a:r>
              <a:rPr lang="en-IN" b="1" dirty="0"/>
              <a:t>Load Balancing: </a:t>
            </a:r>
            <a:r>
              <a:rPr lang="en-US" dirty="0"/>
              <a:t>Even distribution of workload across all nodes. Prevents idle nodes and bottlenecks. It can be </a:t>
            </a:r>
            <a:r>
              <a:rPr lang="en-IN" dirty="0"/>
              <a:t>Static or Predefined distribution and </a:t>
            </a:r>
            <a:r>
              <a:rPr lang="en-US" dirty="0"/>
              <a:t>Dynamic which  is adjusted during runtime based on load.</a:t>
            </a:r>
          </a:p>
          <a:p>
            <a:endParaRPr lang="en-US" b="1" dirty="0"/>
          </a:p>
          <a:p>
            <a:r>
              <a:rPr lang="en-IN" b="1" dirty="0"/>
              <a:t>Network Architecture: </a:t>
            </a:r>
            <a:r>
              <a:rPr lang="en-US" dirty="0"/>
              <a:t>How nodes are connected and communicate. Can be </a:t>
            </a:r>
            <a:r>
              <a:rPr lang="sv-SE" dirty="0"/>
              <a:t>Star, Mesh, Ring, Torus, Hypercube</a:t>
            </a:r>
            <a:endParaRPr lang="en-IN" dirty="0"/>
          </a:p>
        </p:txBody>
      </p:sp>
    </p:spTree>
    <p:extLst>
      <p:ext uri="{BB962C8B-B14F-4D97-AF65-F5344CB8AC3E}">
        <p14:creationId xmlns:p14="http://schemas.microsoft.com/office/powerpoint/2010/main" val="1625181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539FA-2F2F-08DB-67EC-C11570E79ACF}"/>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B865B159-5B6A-62A8-0D5A-8913A8FF205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E02C1BE-5797-65F3-DDCF-F50F3C70928E}"/>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BLAS</a:t>
            </a:r>
          </a:p>
        </p:txBody>
      </p:sp>
      <p:sp>
        <p:nvSpPr>
          <p:cNvPr id="2" name="Date Placeholder 1">
            <a:extLst>
              <a:ext uri="{FF2B5EF4-FFF2-40B4-BE49-F238E27FC236}">
                <a16:creationId xmlns:a16="http://schemas.microsoft.com/office/drawing/2014/main" id="{C7F52692-9B94-BDAF-8146-3250D1DAB118}"/>
              </a:ext>
            </a:extLst>
          </p:cNvPr>
          <p:cNvSpPr>
            <a:spLocks noGrp="1"/>
          </p:cNvSpPr>
          <p:nvPr>
            <p:ph type="dt" sz="half" idx="10"/>
          </p:nvPr>
        </p:nvSpPr>
        <p:spPr/>
        <p:txBody>
          <a:bodyPr/>
          <a:lstStyle/>
          <a:p>
            <a:fld id="{5B63D7EC-F3BC-43C0-BDFB-0C8D74280E8C}" type="datetime3">
              <a:rPr lang="en-US" smtClean="0"/>
              <a:t>3 November 2025</a:t>
            </a:fld>
            <a:endParaRPr lang="en-US" dirty="0"/>
          </a:p>
        </p:txBody>
      </p:sp>
      <p:sp>
        <p:nvSpPr>
          <p:cNvPr id="3" name="Footer Placeholder 2">
            <a:extLst>
              <a:ext uri="{FF2B5EF4-FFF2-40B4-BE49-F238E27FC236}">
                <a16:creationId xmlns:a16="http://schemas.microsoft.com/office/drawing/2014/main" id="{2261F458-8A5E-476D-A440-C4887AE577C3}"/>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9165ED3D-2806-358C-6E83-F37428B05C03}"/>
              </a:ext>
            </a:extLst>
          </p:cNvPr>
          <p:cNvSpPr>
            <a:spLocks noGrp="1"/>
          </p:cNvSpPr>
          <p:nvPr>
            <p:ph type="sldNum" sz="quarter" idx="12"/>
          </p:nvPr>
        </p:nvSpPr>
        <p:spPr/>
        <p:txBody>
          <a:bodyPr/>
          <a:lstStyle/>
          <a:p>
            <a:fld id="{B6F15528-21DE-4FAA-801E-634DDDAF4B2B}" type="slidenum">
              <a:rPr lang="en-US" smtClean="0"/>
              <a:pPr/>
              <a:t>40</a:t>
            </a:fld>
            <a:endParaRPr lang="en-US" dirty="0"/>
          </a:p>
        </p:txBody>
      </p:sp>
      <p:sp>
        <p:nvSpPr>
          <p:cNvPr id="8" name="TextBox 7">
            <a:extLst>
              <a:ext uri="{FF2B5EF4-FFF2-40B4-BE49-F238E27FC236}">
                <a16:creationId xmlns:a16="http://schemas.microsoft.com/office/drawing/2014/main" id="{33E44D6B-BEC2-BD03-E317-5A998391B75C}"/>
              </a:ext>
            </a:extLst>
          </p:cNvPr>
          <p:cNvSpPr txBox="1"/>
          <p:nvPr/>
        </p:nvSpPr>
        <p:spPr>
          <a:xfrm>
            <a:off x="336884" y="895784"/>
            <a:ext cx="8200724" cy="5078313"/>
          </a:xfrm>
          <a:prstGeom prst="rect">
            <a:avLst/>
          </a:prstGeom>
          <a:noFill/>
        </p:spPr>
        <p:txBody>
          <a:bodyPr wrap="square" rtlCol="0">
            <a:spAutoFit/>
          </a:bodyPr>
          <a:lstStyle/>
          <a:p>
            <a:r>
              <a:rPr lang="en-US" dirty="0"/>
              <a:t>BLAS (Basic Linear Algebra Subprograms) are a set of foundational routines for performing basic vector and matrix operations, widely used in high-performance computing (HPC). </a:t>
            </a:r>
          </a:p>
          <a:p>
            <a:endParaRPr lang="en-US" dirty="0"/>
          </a:p>
          <a:p>
            <a:r>
              <a:rPr lang="en-US" dirty="0"/>
              <a:t>When we talk about </a:t>
            </a:r>
            <a:r>
              <a:rPr lang="en-US" b="1" dirty="0"/>
              <a:t>BLAS in the context of cluster computing</a:t>
            </a:r>
            <a:r>
              <a:rPr lang="en-US" dirty="0"/>
              <a:t>, it involves using BLAS-like routines across multiple nodes of a distributed system to perform high-performance linear algebra computations.</a:t>
            </a:r>
          </a:p>
          <a:p>
            <a:endParaRPr lang="en-US" dirty="0"/>
          </a:p>
          <a:p>
            <a:r>
              <a:rPr lang="en-US" dirty="0"/>
              <a:t>These routines are categorized into three levels based on the types of operations they handle: </a:t>
            </a:r>
          </a:p>
          <a:p>
            <a:r>
              <a:rPr lang="en-US" dirty="0"/>
              <a:t>Level 1 : Focuses on vector-vector operations like dot products, scaling, and vector additions.</a:t>
            </a:r>
          </a:p>
          <a:p>
            <a:r>
              <a:rPr lang="en-US" dirty="0"/>
              <a:t>Level 2 : Deals with matrix-vector operations, such as matrix-vector multiplication.</a:t>
            </a:r>
          </a:p>
          <a:p>
            <a:r>
              <a:rPr lang="en-US" dirty="0"/>
              <a:t>Level 3 :  Involves matrix-matrix operations, with matrix multiplication being a key example. </a:t>
            </a:r>
          </a:p>
          <a:p>
            <a:endParaRPr lang="en-US" dirty="0"/>
          </a:p>
          <a:p>
            <a:endParaRPr lang="en-US" dirty="0"/>
          </a:p>
          <a:p>
            <a:endParaRPr lang="en-IN" dirty="0"/>
          </a:p>
        </p:txBody>
      </p:sp>
      <p:pic>
        <p:nvPicPr>
          <p:cNvPr id="19458" name="Picture 2" descr="Vitis BLAS Library">
            <a:extLst>
              <a:ext uri="{FF2B5EF4-FFF2-40B4-BE49-F238E27FC236}">
                <a16:creationId xmlns:a16="http://schemas.microsoft.com/office/drawing/2014/main" id="{242DE9E5-37F6-2521-1039-0D39FF4337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764873"/>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2260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B841-09DD-A639-C5B5-2D54D28615ED}"/>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69F76B16-71B9-9A8D-0869-70B3AD4E25F6}"/>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B494D00-23A2-8BAC-EBB7-F0CCFBD03E62}"/>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BLAS</a:t>
            </a:r>
          </a:p>
        </p:txBody>
      </p:sp>
      <p:sp>
        <p:nvSpPr>
          <p:cNvPr id="2" name="Date Placeholder 1">
            <a:extLst>
              <a:ext uri="{FF2B5EF4-FFF2-40B4-BE49-F238E27FC236}">
                <a16:creationId xmlns:a16="http://schemas.microsoft.com/office/drawing/2014/main" id="{429D3235-E150-AEA1-14B1-6EB95CC32ADE}"/>
              </a:ext>
            </a:extLst>
          </p:cNvPr>
          <p:cNvSpPr>
            <a:spLocks noGrp="1"/>
          </p:cNvSpPr>
          <p:nvPr>
            <p:ph type="dt" sz="half" idx="10"/>
          </p:nvPr>
        </p:nvSpPr>
        <p:spPr/>
        <p:txBody>
          <a:bodyPr/>
          <a:lstStyle/>
          <a:p>
            <a:fld id="{5B63D7EC-F3BC-43C0-BDFB-0C8D74280E8C}" type="datetime3">
              <a:rPr lang="en-US" smtClean="0"/>
              <a:t>3 November 2025</a:t>
            </a:fld>
            <a:endParaRPr lang="en-US" dirty="0"/>
          </a:p>
        </p:txBody>
      </p:sp>
      <p:sp>
        <p:nvSpPr>
          <p:cNvPr id="3" name="Footer Placeholder 2">
            <a:extLst>
              <a:ext uri="{FF2B5EF4-FFF2-40B4-BE49-F238E27FC236}">
                <a16:creationId xmlns:a16="http://schemas.microsoft.com/office/drawing/2014/main" id="{8DC8438C-75DD-E309-1E0B-3EE1FC4B32D7}"/>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BD829649-81B3-517B-C437-11617A94C9C7}"/>
              </a:ext>
            </a:extLst>
          </p:cNvPr>
          <p:cNvSpPr>
            <a:spLocks noGrp="1"/>
          </p:cNvSpPr>
          <p:nvPr>
            <p:ph type="sldNum" sz="quarter" idx="12"/>
          </p:nvPr>
        </p:nvSpPr>
        <p:spPr/>
        <p:txBody>
          <a:bodyPr/>
          <a:lstStyle/>
          <a:p>
            <a:fld id="{B6F15528-21DE-4FAA-801E-634DDDAF4B2B}" type="slidenum">
              <a:rPr lang="en-US" smtClean="0"/>
              <a:pPr/>
              <a:t>41</a:t>
            </a:fld>
            <a:endParaRPr lang="en-US" dirty="0"/>
          </a:p>
        </p:txBody>
      </p:sp>
      <p:sp>
        <p:nvSpPr>
          <p:cNvPr id="8" name="TextBox 7">
            <a:extLst>
              <a:ext uri="{FF2B5EF4-FFF2-40B4-BE49-F238E27FC236}">
                <a16:creationId xmlns:a16="http://schemas.microsoft.com/office/drawing/2014/main" id="{7B5F592E-CF44-4A99-80F9-EC19670A09A3}"/>
              </a:ext>
            </a:extLst>
          </p:cNvPr>
          <p:cNvSpPr txBox="1"/>
          <p:nvPr/>
        </p:nvSpPr>
        <p:spPr>
          <a:xfrm>
            <a:off x="336884" y="895784"/>
            <a:ext cx="8200724" cy="4524315"/>
          </a:xfrm>
          <a:prstGeom prst="rect">
            <a:avLst/>
          </a:prstGeom>
          <a:noFill/>
        </p:spPr>
        <p:txBody>
          <a:bodyPr wrap="square" rtlCol="0">
            <a:spAutoFit/>
          </a:bodyPr>
          <a:lstStyle/>
          <a:p>
            <a:r>
              <a:rPr lang="en-US" dirty="0"/>
              <a:t>Why are BLAS important in HPC?</a:t>
            </a:r>
          </a:p>
          <a:p>
            <a:endParaRPr lang="en-US" dirty="0"/>
          </a:p>
          <a:p>
            <a:r>
              <a:rPr lang="en-US" b="1" dirty="0"/>
              <a:t>Performance:</a:t>
            </a:r>
            <a:endParaRPr lang="en-US" dirty="0"/>
          </a:p>
          <a:p>
            <a:r>
              <a:rPr lang="en-US" dirty="0"/>
              <a:t>BLAS implementations are highly optimized for specific hardware architectures, delivering significant performance gains compared to naive implementations. </a:t>
            </a:r>
          </a:p>
          <a:p>
            <a:endParaRPr lang="en-IN" dirty="0"/>
          </a:p>
          <a:p>
            <a:r>
              <a:rPr lang="en-US" b="1" dirty="0"/>
              <a:t>Portability:</a:t>
            </a:r>
            <a:endParaRPr lang="en-US" dirty="0"/>
          </a:p>
          <a:p>
            <a:r>
              <a:rPr lang="en-US" dirty="0"/>
              <a:t>The standardized interface of BLAS allows users to easily switch between different BLAS libraries without modifying their code. </a:t>
            </a:r>
          </a:p>
          <a:p>
            <a:endParaRPr lang="en-IN" dirty="0"/>
          </a:p>
          <a:p>
            <a:r>
              <a:rPr lang="en-US" b="1" dirty="0"/>
              <a:t>Foundation for other libraries:</a:t>
            </a:r>
            <a:endParaRPr lang="en-US" dirty="0"/>
          </a:p>
          <a:p>
            <a:r>
              <a:rPr lang="en-US" dirty="0"/>
              <a:t>BLAS serves as a foundation for more advanced linear algebra libraries like LAPACK, which are extensively used in HPC. </a:t>
            </a:r>
          </a:p>
          <a:p>
            <a:endParaRPr lang="en-IN" dirty="0"/>
          </a:p>
          <a:p>
            <a:r>
              <a:rPr lang="en-IN" dirty="0"/>
              <a:t>Libraries: </a:t>
            </a:r>
            <a:r>
              <a:rPr lang="en-IN" dirty="0" err="1"/>
              <a:t>OpenBLAS</a:t>
            </a:r>
            <a:r>
              <a:rPr lang="en-IN" dirty="0"/>
              <a:t>, </a:t>
            </a:r>
            <a:r>
              <a:rPr lang="en-US" dirty="0"/>
              <a:t>Intel MKL (Math Kernel Library), CUDA BLAS (</a:t>
            </a:r>
            <a:r>
              <a:rPr lang="en-US" dirty="0" err="1"/>
              <a:t>cuBLAS</a:t>
            </a:r>
            <a:r>
              <a:rPr lang="en-US" dirty="0"/>
              <a:t>)</a:t>
            </a:r>
          </a:p>
          <a:p>
            <a:r>
              <a:rPr lang="en-US" dirty="0"/>
              <a:t>Ex: MATLAB, NumPy</a:t>
            </a:r>
            <a:endParaRPr lang="en-IN" dirty="0"/>
          </a:p>
        </p:txBody>
      </p:sp>
    </p:spTree>
    <p:extLst>
      <p:ext uri="{BB962C8B-B14F-4D97-AF65-F5344CB8AC3E}">
        <p14:creationId xmlns:p14="http://schemas.microsoft.com/office/powerpoint/2010/main" val="975163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288C3-A67E-4616-F288-FE34A66A700A}"/>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3929B084-B0BA-E004-0628-9C94D2BB303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4334F474-A196-0531-AC0C-1BC7218F1261}"/>
              </a:ext>
            </a:extLst>
          </p:cNvPr>
          <p:cNvSpPr txBox="1">
            <a:spLocks/>
          </p:cNvSpPr>
          <p:nvPr/>
        </p:nvSpPr>
        <p:spPr>
          <a:xfrm>
            <a:off x="1613422" y="78945"/>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LAPLACK</a:t>
            </a:r>
          </a:p>
        </p:txBody>
      </p:sp>
      <p:sp>
        <p:nvSpPr>
          <p:cNvPr id="2" name="Date Placeholder 1">
            <a:extLst>
              <a:ext uri="{FF2B5EF4-FFF2-40B4-BE49-F238E27FC236}">
                <a16:creationId xmlns:a16="http://schemas.microsoft.com/office/drawing/2014/main" id="{EACFD029-8345-77FB-D664-A0A5CA6B274D}"/>
              </a:ext>
            </a:extLst>
          </p:cNvPr>
          <p:cNvSpPr>
            <a:spLocks noGrp="1"/>
          </p:cNvSpPr>
          <p:nvPr>
            <p:ph type="dt" sz="half" idx="10"/>
          </p:nvPr>
        </p:nvSpPr>
        <p:spPr/>
        <p:txBody>
          <a:bodyPr/>
          <a:lstStyle/>
          <a:p>
            <a:fld id="{5B63D7EC-F3BC-43C0-BDFB-0C8D74280E8C}" type="datetime3">
              <a:rPr lang="en-US" smtClean="0"/>
              <a:t>3 November 2025</a:t>
            </a:fld>
            <a:endParaRPr lang="en-US" dirty="0"/>
          </a:p>
        </p:txBody>
      </p:sp>
      <p:sp>
        <p:nvSpPr>
          <p:cNvPr id="3" name="Footer Placeholder 2">
            <a:extLst>
              <a:ext uri="{FF2B5EF4-FFF2-40B4-BE49-F238E27FC236}">
                <a16:creationId xmlns:a16="http://schemas.microsoft.com/office/drawing/2014/main" id="{76D2C29E-F4F3-409C-13BD-42B1913FF067}"/>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9A1726E3-FB79-CCC6-1412-E4308E7EFAC9}"/>
              </a:ext>
            </a:extLst>
          </p:cNvPr>
          <p:cNvSpPr>
            <a:spLocks noGrp="1"/>
          </p:cNvSpPr>
          <p:nvPr>
            <p:ph type="sldNum" sz="quarter" idx="12"/>
          </p:nvPr>
        </p:nvSpPr>
        <p:spPr/>
        <p:txBody>
          <a:bodyPr/>
          <a:lstStyle/>
          <a:p>
            <a:fld id="{B6F15528-21DE-4FAA-801E-634DDDAF4B2B}" type="slidenum">
              <a:rPr lang="en-US" smtClean="0"/>
              <a:pPr/>
              <a:t>42</a:t>
            </a:fld>
            <a:endParaRPr lang="en-US" dirty="0"/>
          </a:p>
        </p:txBody>
      </p:sp>
      <p:sp>
        <p:nvSpPr>
          <p:cNvPr id="8" name="TextBox 7">
            <a:extLst>
              <a:ext uri="{FF2B5EF4-FFF2-40B4-BE49-F238E27FC236}">
                <a16:creationId xmlns:a16="http://schemas.microsoft.com/office/drawing/2014/main" id="{9D61108B-BC26-FC87-602C-5534B0212072}"/>
              </a:ext>
            </a:extLst>
          </p:cNvPr>
          <p:cNvSpPr txBox="1"/>
          <p:nvPr/>
        </p:nvSpPr>
        <p:spPr>
          <a:xfrm>
            <a:off x="336884" y="895784"/>
            <a:ext cx="8200724" cy="5078313"/>
          </a:xfrm>
          <a:prstGeom prst="rect">
            <a:avLst/>
          </a:prstGeom>
          <a:noFill/>
        </p:spPr>
        <p:txBody>
          <a:bodyPr wrap="square" rtlCol="0">
            <a:spAutoFit/>
          </a:bodyPr>
          <a:lstStyle/>
          <a:p>
            <a:r>
              <a:rPr lang="en-IN" dirty="0"/>
              <a:t>LAPACK (Linear Algebra </a:t>
            </a:r>
            <a:r>
              <a:rPr lang="en-IN" dirty="0" err="1"/>
              <a:t>PACKage</a:t>
            </a:r>
            <a:r>
              <a:rPr lang="en-IN" dirty="0"/>
              <a:t>) is a widely used library of numerical linear algebra routines, crucial for high-performance computing (HPC). It provides optimized functions for solving linear equations, eigenvalue problems, and singular value decomposition. </a:t>
            </a:r>
          </a:p>
          <a:p>
            <a:endParaRPr lang="en-IN" dirty="0"/>
          </a:p>
          <a:p>
            <a:r>
              <a:rPr lang="en-US" dirty="0"/>
              <a:t>By itself, LAPACK is meant for </a:t>
            </a:r>
            <a:r>
              <a:rPr lang="en-US" b="1" dirty="0"/>
              <a:t>single-node, shared-memory systems</a:t>
            </a:r>
            <a:r>
              <a:rPr lang="en-US" dirty="0"/>
              <a:t>. However, in cluster environments where memory and CPU resources are distributed across multiple nodes, LAPACK needs an extension: </a:t>
            </a:r>
            <a:r>
              <a:rPr lang="en-US" dirty="0" err="1"/>
              <a:t>ScaLAPACK</a:t>
            </a:r>
            <a:r>
              <a:rPr lang="en-US" dirty="0"/>
              <a:t> (Scalable LAPACK).</a:t>
            </a:r>
          </a:p>
          <a:p>
            <a:endParaRPr lang="en-US" dirty="0"/>
          </a:p>
          <a:p>
            <a:r>
              <a:rPr lang="en-US" dirty="0"/>
              <a:t>Key aspects of LAPACK in HPC:</a:t>
            </a:r>
          </a:p>
          <a:p>
            <a:endParaRPr lang="en-US" dirty="0"/>
          </a:p>
          <a:p>
            <a:r>
              <a:rPr lang="en-US" b="1" dirty="0"/>
              <a:t>High Performance:</a:t>
            </a:r>
          </a:p>
          <a:p>
            <a:r>
              <a:rPr lang="en-US" dirty="0"/>
              <a:t>LAPACK is designed to be highly efficient and can leverage multiple CPU cores and specialized hardware like GPUs for faster computations, especially for large matrices.</a:t>
            </a:r>
          </a:p>
          <a:p>
            <a:endParaRPr lang="en-US" dirty="0"/>
          </a:p>
          <a:p>
            <a:r>
              <a:rPr lang="en-US" b="1" dirty="0"/>
              <a:t>Portability:</a:t>
            </a:r>
            <a:endParaRPr lang="en-US" dirty="0"/>
          </a:p>
          <a:p>
            <a:pPr fontAlgn="ctr"/>
            <a:r>
              <a:rPr lang="en-US" dirty="0"/>
              <a:t>It is designed to be portable across different platforms (Windows, macOS, Linux) and hardware architectures. </a:t>
            </a:r>
          </a:p>
        </p:txBody>
      </p:sp>
    </p:spTree>
    <p:extLst>
      <p:ext uri="{BB962C8B-B14F-4D97-AF65-F5344CB8AC3E}">
        <p14:creationId xmlns:p14="http://schemas.microsoft.com/office/powerpoint/2010/main" val="955916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2CCB-51FA-C71A-EEE1-C3B51F27D81D}"/>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9EAE768F-1A8D-F07A-3521-7A8097033DF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7400C730-66D7-1C0B-ED43-02F707EDDEC2}"/>
              </a:ext>
            </a:extLst>
          </p:cNvPr>
          <p:cNvSpPr txBox="1">
            <a:spLocks/>
          </p:cNvSpPr>
          <p:nvPr/>
        </p:nvSpPr>
        <p:spPr>
          <a:xfrm>
            <a:off x="1749346" y="-17058"/>
            <a:ext cx="7394654" cy="745127"/>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t>LAPLACK</a:t>
            </a:r>
          </a:p>
        </p:txBody>
      </p:sp>
      <p:sp>
        <p:nvSpPr>
          <p:cNvPr id="2" name="Date Placeholder 1">
            <a:extLst>
              <a:ext uri="{FF2B5EF4-FFF2-40B4-BE49-F238E27FC236}">
                <a16:creationId xmlns:a16="http://schemas.microsoft.com/office/drawing/2014/main" id="{045D4606-E72A-2112-649B-DF806D991D38}"/>
              </a:ext>
            </a:extLst>
          </p:cNvPr>
          <p:cNvSpPr>
            <a:spLocks noGrp="1"/>
          </p:cNvSpPr>
          <p:nvPr>
            <p:ph type="dt" sz="half" idx="10"/>
          </p:nvPr>
        </p:nvSpPr>
        <p:spPr/>
        <p:txBody>
          <a:bodyPr/>
          <a:lstStyle/>
          <a:p>
            <a:fld id="{5B63D7EC-F3BC-43C0-BDFB-0C8D74280E8C}" type="datetime3">
              <a:rPr lang="en-US" smtClean="0"/>
              <a:t>3 November 2025</a:t>
            </a:fld>
            <a:endParaRPr lang="en-US" dirty="0"/>
          </a:p>
        </p:txBody>
      </p:sp>
      <p:sp>
        <p:nvSpPr>
          <p:cNvPr id="3" name="Footer Placeholder 2">
            <a:extLst>
              <a:ext uri="{FF2B5EF4-FFF2-40B4-BE49-F238E27FC236}">
                <a16:creationId xmlns:a16="http://schemas.microsoft.com/office/drawing/2014/main" id="{DDFBDA61-1584-CD3C-4101-07A47528B693}"/>
              </a:ext>
            </a:extLst>
          </p:cNvPr>
          <p:cNvSpPr>
            <a:spLocks noGrp="1"/>
          </p:cNvSpPr>
          <p:nvPr>
            <p:ph type="ftr" sz="quarter" idx="11"/>
          </p:nvPr>
        </p:nvSpPr>
        <p:spPr/>
        <p:txBody>
          <a:bodyPr/>
          <a:lstStyle/>
          <a:p>
            <a:r>
              <a:rPr lang="de-DE"/>
              <a:t>Kashish Mahajan              UNIT 4</a:t>
            </a:r>
            <a:endParaRPr lang="en-US" dirty="0"/>
          </a:p>
        </p:txBody>
      </p:sp>
      <p:sp>
        <p:nvSpPr>
          <p:cNvPr id="6" name="Slide Number Placeholder 5">
            <a:extLst>
              <a:ext uri="{FF2B5EF4-FFF2-40B4-BE49-F238E27FC236}">
                <a16:creationId xmlns:a16="http://schemas.microsoft.com/office/drawing/2014/main" id="{4C766463-93F7-4D73-3843-031F0AE14E36}"/>
              </a:ext>
            </a:extLst>
          </p:cNvPr>
          <p:cNvSpPr>
            <a:spLocks noGrp="1"/>
          </p:cNvSpPr>
          <p:nvPr>
            <p:ph type="sldNum" sz="quarter" idx="12"/>
          </p:nvPr>
        </p:nvSpPr>
        <p:spPr/>
        <p:txBody>
          <a:bodyPr/>
          <a:lstStyle/>
          <a:p>
            <a:fld id="{B6F15528-21DE-4FAA-801E-634DDDAF4B2B}" type="slidenum">
              <a:rPr lang="en-US" smtClean="0"/>
              <a:pPr/>
              <a:t>43</a:t>
            </a:fld>
            <a:endParaRPr lang="en-US" dirty="0"/>
          </a:p>
        </p:txBody>
      </p:sp>
      <p:sp>
        <p:nvSpPr>
          <p:cNvPr id="8" name="TextBox 7">
            <a:extLst>
              <a:ext uri="{FF2B5EF4-FFF2-40B4-BE49-F238E27FC236}">
                <a16:creationId xmlns:a16="http://schemas.microsoft.com/office/drawing/2014/main" id="{F48E26A9-3E74-CE66-0DEE-ACCB625D7E67}"/>
              </a:ext>
            </a:extLst>
          </p:cNvPr>
          <p:cNvSpPr txBox="1"/>
          <p:nvPr/>
        </p:nvSpPr>
        <p:spPr>
          <a:xfrm>
            <a:off x="336884" y="895784"/>
            <a:ext cx="8200724" cy="1477328"/>
          </a:xfrm>
          <a:prstGeom prst="rect">
            <a:avLst/>
          </a:prstGeom>
          <a:noFill/>
        </p:spPr>
        <p:txBody>
          <a:bodyPr wrap="square" rtlCol="0">
            <a:spAutoFit/>
          </a:bodyPr>
          <a:lstStyle/>
          <a:p>
            <a:r>
              <a:rPr lang="en-US" b="1" dirty="0"/>
              <a:t>Extensive Functionality:</a:t>
            </a:r>
            <a:endParaRPr lang="en-US" dirty="0"/>
          </a:p>
          <a:p>
            <a:r>
              <a:rPr lang="en-US" dirty="0"/>
              <a:t>LAPACK provides a wide range of routines for solving linear systems, least squares problems, eigenvalue and singular value decomposition, and more. </a:t>
            </a:r>
          </a:p>
          <a:p>
            <a:r>
              <a:rPr lang="en-US" dirty="0"/>
              <a:t> </a:t>
            </a:r>
            <a:endParaRPr lang="en-IN" dirty="0"/>
          </a:p>
          <a:p>
            <a:endParaRPr lang="en-US" dirty="0"/>
          </a:p>
        </p:txBody>
      </p:sp>
      <p:pic>
        <p:nvPicPr>
          <p:cNvPr id="20482" name="Picture 2" descr="Quantum ESPRESSO: Compiling and Choice ...">
            <a:extLst>
              <a:ext uri="{FF2B5EF4-FFF2-40B4-BE49-F238E27FC236}">
                <a16:creationId xmlns:a16="http://schemas.microsoft.com/office/drawing/2014/main" id="{DC4CF759-F220-1B5F-774C-DFBF116DE3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951" y="2633462"/>
            <a:ext cx="5028097" cy="2643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550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0B4FFED-8B80-A688-80B9-DFB6AA5D3D4C}"/>
              </a:ext>
            </a:extLst>
          </p:cNvPr>
          <p:cNvSpPr txBox="1"/>
          <p:nvPr/>
        </p:nvSpPr>
        <p:spPr>
          <a:xfrm>
            <a:off x="215779" y="893638"/>
            <a:ext cx="8712442" cy="4154984"/>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IN" altLang="en-US" b="1" dirty="0">
                <a:latin typeface="+mj-lt"/>
                <a:cs typeface="Times New Roman" panose="02020603050405020304" pitchFamily="18" charset="0"/>
              </a:rPr>
              <a:t>Mission critical Applications:</a:t>
            </a:r>
          </a:p>
          <a:p>
            <a:pPr algn="just">
              <a:lnSpc>
                <a:spcPct val="150000"/>
              </a:lnSpc>
            </a:pPr>
            <a:endParaRPr lang="en-IN" altLang="en-US" b="1" dirty="0">
              <a:latin typeface="+mj-lt"/>
              <a:cs typeface="Times New Roman" panose="02020603050405020304" pitchFamily="18" charset="0"/>
            </a:endParaRPr>
          </a:p>
          <a:p>
            <a:pPr marL="298450" indent="-285750" algn="just">
              <a:buFont typeface="Arial" panose="020B0604020202020204" pitchFamily="34" charset="0"/>
              <a:buChar char="•"/>
            </a:pPr>
            <a:r>
              <a:rPr lang="en-US" dirty="0"/>
              <a:t>These are essential for the survival or core function of an organization or operation. </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Failure or downtime can lead to loss of life, irreversible damage, or catastrophic failure in business operations or public safety.</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Usually operates in real-time, with zero tolerance for downtime.</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Extremely high security</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Real-time, automated alerts and self-healing systems are used.</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Ex: </a:t>
            </a:r>
            <a:r>
              <a:rPr lang="en-IN" dirty="0"/>
              <a:t>ICU patient monitoring, satellite command</a:t>
            </a:r>
          </a:p>
        </p:txBody>
      </p:sp>
      <p:pic>
        <p:nvPicPr>
          <p:cNvPr id="3" name="Picture 2" descr="A screenshot of a computer&#10;&#10;Description automatically generated">
            <a:extLst>
              <a:ext uri="{FF2B5EF4-FFF2-40B4-BE49-F238E27FC236}">
                <a16:creationId xmlns:a16="http://schemas.microsoft.com/office/drawing/2014/main" id="{3C2807F6-8DEA-8E4F-806C-AE684B24049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6A27094F-011B-DC77-D27E-F64B2F78EF70}"/>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2900" b="1" dirty="0"/>
              <a:t>Mission critical Vs Business Critical Applications</a:t>
            </a:r>
            <a:endParaRPr lang="en-IN" sz="2900" b="1" dirty="0"/>
          </a:p>
        </p:txBody>
      </p:sp>
      <p:sp>
        <p:nvSpPr>
          <p:cNvPr id="5" name="Date Placeholder 4">
            <a:extLst>
              <a:ext uri="{FF2B5EF4-FFF2-40B4-BE49-F238E27FC236}">
                <a16:creationId xmlns:a16="http://schemas.microsoft.com/office/drawing/2014/main" id="{B6C0CD4C-BF9F-3858-F110-B6E96AB846DC}"/>
              </a:ext>
            </a:extLst>
          </p:cNvPr>
          <p:cNvSpPr>
            <a:spLocks noGrp="1"/>
          </p:cNvSpPr>
          <p:nvPr>
            <p:ph type="dt" sz="half" idx="10"/>
          </p:nvPr>
        </p:nvSpPr>
        <p:spPr/>
        <p:txBody>
          <a:bodyPr/>
          <a:lstStyle/>
          <a:p>
            <a:fld id="{AC7EC5AA-B5EF-4906-AD7B-595B5068A557}" type="datetime3">
              <a:rPr lang="en-US" smtClean="0"/>
              <a:t>3 November 2025</a:t>
            </a:fld>
            <a:endParaRPr lang="en-US" dirty="0"/>
          </a:p>
        </p:txBody>
      </p:sp>
      <p:sp>
        <p:nvSpPr>
          <p:cNvPr id="6" name="Footer Placeholder 5">
            <a:extLst>
              <a:ext uri="{FF2B5EF4-FFF2-40B4-BE49-F238E27FC236}">
                <a16:creationId xmlns:a16="http://schemas.microsoft.com/office/drawing/2014/main" id="{40BC1F69-389B-D7F1-8768-CC2F5CF19F69}"/>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8E56B2C2-18D8-6D8E-4188-F9262377E857}"/>
              </a:ext>
            </a:extLst>
          </p:cNvPr>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38C69-DAC7-6021-3668-A3370CB57BE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541F95-1493-37FF-5247-CDCB3BFB2E35}"/>
              </a:ext>
            </a:extLst>
          </p:cNvPr>
          <p:cNvSpPr txBox="1"/>
          <p:nvPr/>
        </p:nvSpPr>
        <p:spPr>
          <a:xfrm>
            <a:off x="215779" y="893638"/>
            <a:ext cx="8712442" cy="4985980"/>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IN" altLang="en-US" b="1" dirty="0">
                <a:latin typeface="+mj-lt"/>
                <a:cs typeface="Times New Roman" panose="02020603050405020304" pitchFamily="18" charset="0"/>
              </a:rPr>
              <a:t>Business critical Applications:</a:t>
            </a:r>
          </a:p>
          <a:p>
            <a:pPr algn="just">
              <a:lnSpc>
                <a:spcPct val="150000"/>
              </a:lnSpc>
            </a:pPr>
            <a:endParaRPr lang="en-IN" altLang="en-US" b="1" dirty="0">
              <a:latin typeface="+mj-lt"/>
              <a:cs typeface="Times New Roman" panose="02020603050405020304" pitchFamily="18" charset="0"/>
            </a:endParaRPr>
          </a:p>
          <a:p>
            <a:pPr marL="298450" indent="-285750" algn="just">
              <a:buFont typeface="Arial" panose="020B0604020202020204" pitchFamily="34" charset="0"/>
              <a:buChar char="•"/>
            </a:pPr>
            <a:r>
              <a:rPr lang="en-US" dirty="0"/>
              <a:t>These are vital for day-to-day business operations, revenue, or customer satisfaction.</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Failure leads to major financial or reputational loss, but does not threaten the organization's core survival.</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Some level of planned downtime or failover mechanisms is acceptable.</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Frequent but not always real-time monitoring</a:t>
            </a:r>
          </a:p>
          <a:p>
            <a:pPr algn="just"/>
            <a:endParaRPr lang="en-US" dirty="0"/>
          </a:p>
          <a:p>
            <a:pPr marL="298450" indent="-285750" algn="just">
              <a:buFont typeface="Arial" panose="020B0604020202020204" pitchFamily="34" charset="0"/>
              <a:buChar char="•"/>
            </a:pPr>
            <a:r>
              <a:rPr lang="en-US" dirty="0"/>
              <a:t>Ex: ERP systems, e-commerce platforms, </a:t>
            </a:r>
            <a:r>
              <a:rPr lang="en-IN" dirty="0"/>
              <a:t>Online banking</a:t>
            </a:r>
          </a:p>
          <a:p>
            <a:pPr marL="298450" indent="-285750" algn="just">
              <a:buFont typeface="Arial" panose="020B0604020202020204" pitchFamily="34" charset="0"/>
              <a:buChar char="•"/>
            </a:pPr>
            <a:endParaRPr lang="en-IN" dirty="0"/>
          </a:p>
          <a:p>
            <a:pPr marL="298450" indent="-285750" algn="just">
              <a:buFont typeface="Arial" panose="020B0604020202020204" pitchFamily="34" charset="0"/>
              <a:buChar char="•"/>
            </a:pPr>
            <a:endParaRPr lang="en-IN" dirty="0"/>
          </a:p>
          <a:p>
            <a:pPr algn="just"/>
            <a:r>
              <a:rPr lang="en-US" dirty="0"/>
              <a:t>Cluster computing provides </a:t>
            </a:r>
            <a:r>
              <a:rPr lang="en-US" b="1" dirty="0"/>
              <a:t>redundancy, scalability, high availability, fault tolerance, and performance</a:t>
            </a:r>
            <a:r>
              <a:rPr lang="en-US" dirty="0"/>
              <a:t>—all of which are foundational for both mission-critical and business-critical systems. Ex: </a:t>
            </a:r>
            <a:r>
              <a:rPr lang="en-IN" dirty="0"/>
              <a:t>In ICU Monitoring System, </a:t>
            </a:r>
            <a:r>
              <a:rPr lang="en-US" dirty="0"/>
              <a:t>real-time data processed is and replicated by clusters</a:t>
            </a:r>
            <a:endParaRPr lang="en-IN" dirty="0"/>
          </a:p>
        </p:txBody>
      </p:sp>
      <p:pic>
        <p:nvPicPr>
          <p:cNvPr id="3" name="Picture 2" descr="A screenshot of a computer&#10;&#10;Description automatically generated">
            <a:extLst>
              <a:ext uri="{FF2B5EF4-FFF2-40B4-BE49-F238E27FC236}">
                <a16:creationId xmlns:a16="http://schemas.microsoft.com/office/drawing/2014/main" id="{95491DA9-5EE6-B850-24D3-D22181D8422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7CB6B851-2E91-CF2E-2D3D-ABC9403AF044}"/>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2900" b="1" dirty="0"/>
              <a:t>Mission critical Vs Business Critical Applications</a:t>
            </a:r>
            <a:endParaRPr lang="en-IN" sz="2900" b="1" dirty="0"/>
          </a:p>
        </p:txBody>
      </p:sp>
      <p:sp>
        <p:nvSpPr>
          <p:cNvPr id="5" name="Date Placeholder 4">
            <a:extLst>
              <a:ext uri="{FF2B5EF4-FFF2-40B4-BE49-F238E27FC236}">
                <a16:creationId xmlns:a16="http://schemas.microsoft.com/office/drawing/2014/main" id="{A0771C64-DC30-2C87-2E8A-D116795B1ACF}"/>
              </a:ext>
            </a:extLst>
          </p:cNvPr>
          <p:cNvSpPr>
            <a:spLocks noGrp="1"/>
          </p:cNvSpPr>
          <p:nvPr>
            <p:ph type="dt" sz="half" idx="10"/>
          </p:nvPr>
        </p:nvSpPr>
        <p:spPr/>
        <p:txBody>
          <a:bodyPr/>
          <a:lstStyle/>
          <a:p>
            <a:fld id="{AC7EC5AA-B5EF-4906-AD7B-595B5068A557}" type="datetime3">
              <a:rPr lang="en-US" smtClean="0"/>
              <a:t>3 November 2025</a:t>
            </a:fld>
            <a:endParaRPr lang="en-US" dirty="0"/>
          </a:p>
        </p:txBody>
      </p:sp>
      <p:sp>
        <p:nvSpPr>
          <p:cNvPr id="6" name="Footer Placeholder 5">
            <a:extLst>
              <a:ext uri="{FF2B5EF4-FFF2-40B4-BE49-F238E27FC236}">
                <a16:creationId xmlns:a16="http://schemas.microsoft.com/office/drawing/2014/main" id="{EE354E45-9DC5-E685-5DE4-22D04EE0D20B}"/>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96BB245F-8CAC-B192-E294-BF3DF6347BF3}"/>
              </a:ext>
            </a:extLst>
          </p:cNvPr>
          <p:cNvSpPr>
            <a:spLocks noGrp="1"/>
          </p:cNvSpPr>
          <p:nvPr>
            <p:ph type="sldNum" sz="quarter" idx="12"/>
          </p:nvPr>
        </p:nvSpPr>
        <p:spPr/>
        <p:txBody>
          <a:bodyPr/>
          <a:lstStyle/>
          <a:p>
            <a:fld id="{B6F15528-21DE-4FAA-801E-634DDDAF4B2B}" type="slidenum">
              <a:rPr lang="en-US" smtClean="0"/>
              <a:pPr/>
              <a:t>45</a:t>
            </a:fld>
            <a:endParaRPr lang="en-US" dirty="0"/>
          </a:p>
        </p:txBody>
      </p:sp>
    </p:spTree>
    <p:extLst>
      <p:ext uri="{BB962C8B-B14F-4D97-AF65-F5344CB8AC3E}">
        <p14:creationId xmlns:p14="http://schemas.microsoft.com/office/powerpoint/2010/main" val="1170291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9632-C7FE-8056-2E8D-974979180E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576B79-49D7-C0E3-3FE0-83E1F5793764}"/>
              </a:ext>
            </a:extLst>
          </p:cNvPr>
          <p:cNvSpPr txBox="1"/>
          <p:nvPr/>
        </p:nvSpPr>
        <p:spPr>
          <a:xfrm>
            <a:off x="215779" y="893638"/>
            <a:ext cx="8712442" cy="4431983"/>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IN" b="1" dirty="0"/>
              <a:t>Fault Detection:</a:t>
            </a:r>
          </a:p>
          <a:p>
            <a:pPr algn="just"/>
            <a:r>
              <a:rPr lang="en-US" dirty="0"/>
              <a:t>Identifying that a component (node, process, link) has failed or is behaving incorrectly.</a:t>
            </a:r>
          </a:p>
          <a:p>
            <a:pPr algn="just"/>
            <a:endParaRPr lang="en-US" b="1" dirty="0"/>
          </a:p>
          <a:p>
            <a:pPr algn="just"/>
            <a:r>
              <a:rPr lang="en-IN" b="1" dirty="0"/>
              <a:t>Fault Masking:</a:t>
            </a:r>
          </a:p>
          <a:p>
            <a:pPr algn="just"/>
            <a:r>
              <a:rPr lang="en-US" dirty="0"/>
              <a:t>Ensuring system continues to function correctly even when faults occur often by hiding or correcting the fault.</a:t>
            </a:r>
          </a:p>
          <a:p>
            <a:pPr algn="just"/>
            <a:endParaRPr lang="en-US" dirty="0"/>
          </a:p>
          <a:p>
            <a:pPr algn="just"/>
            <a:r>
              <a:rPr lang="en-US" dirty="0"/>
              <a:t>These are essential for high availability, reliability, and fault tolerance in HPC clusters, distributed databases, real-time systems, and mission/business-critical applications.</a:t>
            </a:r>
          </a:p>
          <a:p>
            <a:pPr algn="just"/>
            <a:endParaRPr lang="en-US" dirty="0"/>
          </a:p>
          <a:p>
            <a:pPr algn="just"/>
            <a:r>
              <a:rPr lang="en-IN" b="1" dirty="0"/>
              <a:t>Examples in HPC:</a:t>
            </a:r>
          </a:p>
          <a:p>
            <a:pPr algn="just"/>
            <a:endParaRPr lang="en-IN" dirty="0"/>
          </a:p>
          <a:p>
            <a:pPr algn="just"/>
            <a:r>
              <a:rPr lang="en-IN" dirty="0"/>
              <a:t>Node failure: </a:t>
            </a:r>
            <a:r>
              <a:rPr lang="en-US" dirty="0"/>
              <a:t>Detecting a node failure (using log monitoring or machine learning) and masking it by rescheduling jobs to other available nodes. </a:t>
            </a:r>
          </a:p>
          <a:p>
            <a:pPr algn="just"/>
            <a:r>
              <a:rPr lang="en-IN" dirty="0"/>
              <a:t>Memory errors: </a:t>
            </a:r>
            <a:r>
              <a:rPr lang="en-US" dirty="0"/>
              <a:t>Detecting memory errors (using error detection codes) and masking them by re-reading the data from another location. </a:t>
            </a:r>
            <a:endParaRPr lang="en-IN" dirty="0"/>
          </a:p>
        </p:txBody>
      </p:sp>
      <p:pic>
        <p:nvPicPr>
          <p:cNvPr id="3" name="Picture 2" descr="A screenshot of a computer&#10;&#10;Description automatically generated">
            <a:extLst>
              <a:ext uri="{FF2B5EF4-FFF2-40B4-BE49-F238E27FC236}">
                <a16:creationId xmlns:a16="http://schemas.microsoft.com/office/drawing/2014/main" id="{7594501B-16C1-056F-E692-1C960AA9E16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CB5CEE68-D3D0-C346-1169-C66E392058D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000" b="1" dirty="0"/>
              <a:t>Fault Detection and Fault Masking</a:t>
            </a:r>
            <a:endParaRPr lang="en-IN" sz="3000" b="1" dirty="0"/>
          </a:p>
        </p:txBody>
      </p:sp>
      <p:sp>
        <p:nvSpPr>
          <p:cNvPr id="5" name="Date Placeholder 4">
            <a:extLst>
              <a:ext uri="{FF2B5EF4-FFF2-40B4-BE49-F238E27FC236}">
                <a16:creationId xmlns:a16="http://schemas.microsoft.com/office/drawing/2014/main" id="{390FE2DB-D7C2-5028-310E-C3E8D1D50AEB}"/>
              </a:ext>
            </a:extLst>
          </p:cNvPr>
          <p:cNvSpPr>
            <a:spLocks noGrp="1"/>
          </p:cNvSpPr>
          <p:nvPr>
            <p:ph type="dt" sz="half" idx="10"/>
          </p:nvPr>
        </p:nvSpPr>
        <p:spPr/>
        <p:txBody>
          <a:bodyPr/>
          <a:lstStyle/>
          <a:p>
            <a:fld id="{B85ABDBA-81A8-426B-B027-64C543AD67E9}" type="datetime3">
              <a:rPr lang="en-US" smtClean="0"/>
              <a:t>3 November 2025</a:t>
            </a:fld>
            <a:endParaRPr lang="en-US" dirty="0"/>
          </a:p>
        </p:txBody>
      </p:sp>
      <p:sp>
        <p:nvSpPr>
          <p:cNvPr id="6" name="Footer Placeholder 5">
            <a:extLst>
              <a:ext uri="{FF2B5EF4-FFF2-40B4-BE49-F238E27FC236}">
                <a16:creationId xmlns:a16="http://schemas.microsoft.com/office/drawing/2014/main" id="{E8D9914B-D575-F096-BDE5-FAC856B04944}"/>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20788A14-936C-F2F8-CFA6-359107BA4AE9}"/>
              </a:ext>
            </a:extLst>
          </p:cNvPr>
          <p:cNvSpPr>
            <a:spLocks noGrp="1"/>
          </p:cNvSpPr>
          <p:nvPr>
            <p:ph type="sldNum" sz="quarter" idx="12"/>
          </p:nvPr>
        </p:nvSpPr>
        <p:spPr/>
        <p:txBody>
          <a:bodyPr/>
          <a:lstStyle/>
          <a:p>
            <a:fld id="{B6F15528-21DE-4FAA-801E-634DDDAF4B2B}" type="slidenum">
              <a:rPr lang="en-US" smtClean="0"/>
              <a:pPr/>
              <a:t>46</a:t>
            </a:fld>
            <a:endParaRPr lang="en-US" dirty="0"/>
          </a:p>
        </p:txBody>
      </p:sp>
    </p:spTree>
    <p:extLst>
      <p:ext uri="{BB962C8B-B14F-4D97-AF65-F5344CB8AC3E}">
        <p14:creationId xmlns:p14="http://schemas.microsoft.com/office/powerpoint/2010/main" val="41699902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7ABA-04F0-E079-A421-7E1D48D8D7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BC1453-800B-7402-7ECE-0686925A2B8F}"/>
              </a:ext>
            </a:extLst>
          </p:cNvPr>
          <p:cNvSpPr txBox="1"/>
          <p:nvPr/>
        </p:nvSpPr>
        <p:spPr>
          <a:xfrm>
            <a:off x="215779" y="893638"/>
            <a:ext cx="8712442" cy="4154984"/>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dirty="0"/>
              <a:t>In cluster/distributed systems, </a:t>
            </a:r>
            <a:r>
              <a:rPr lang="en-US" b="1" dirty="0"/>
              <a:t>early detection</a:t>
            </a:r>
            <a:r>
              <a:rPr lang="en-US" dirty="0"/>
              <a:t> of faults is critical for:</a:t>
            </a:r>
          </a:p>
          <a:p>
            <a:pPr marL="298450" indent="-285750">
              <a:buFont typeface="Arial" panose="020B0604020202020204" pitchFamily="34" charset="0"/>
              <a:buChar char="•"/>
            </a:pPr>
            <a:r>
              <a:rPr lang="en-US" dirty="0"/>
              <a:t>Ensuring high availability</a:t>
            </a:r>
          </a:p>
          <a:p>
            <a:pPr marL="298450" indent="-285750">
              <a:buFont typeface="Arial" panose="020B0604020202020204" pitchFamily="34" charset="0"/>
              <a:buChar char="•"/>
            </a:pPr>
            <a:r>
              <a:rPr lang="en-US" dirty="0"/>
              <a:t>Triggering failovers</a:t>
            </a:r>
          </a:p>
          <a:p>
            <a:pPr marL="298450" indent="-285750">
              <a:buFont typeface="Arial" panose="020B0604020202020204" pitchFamily="34" charset="0"/>
              <a:buChar char="•"/>
            </a:pPr>
            <a:r>
              <a:rPr lang="en-US" dirty="0"/>
              <a:t>Maintaining consistency</a:t>
            </a:r>
          </a:p>
          <a:p>
            <a:pPr marL="298450" indent="-285750">
              <a:buFont typeface="Arial" panose="020B0604020202020204" pitchFamily="34" charset="0"/>
              <a:buChar char="•"/>
            </a:pPr>
            <a:r>
              <a:rPr lang="en-US" dirty="0"/>
              <a:t>Preventing system-wide crashes</a:t>
            </a:r>
          </a:p>
          <a:p>
            <a:pPr marL="298450" indent="-285750">
              <a:buFont typeface="Arial" panose="020B0604020202020204" pitchFamily="34" charset="0"/>
              <a:buChar char="•"/>
            </a:pPr>
            <a:endParaRPr lang="en-US" dirty="0"/>
          </a:p>
          <a:p>
            <a:r>
              <a:rPr lang="en-IN" dirty="0"/>
              <a:t>Fault Detection Algorithms:</a:t>
            </a:r>
          </a:p>
          <a:p>
            <a:endParaRPr lang="en-IN" dirty="0"/>
          </a:p>
          <a:p>
            <a:r>
              <a:rPr lang="en-IN" dirty="0"/>
              <a:t>Heartbeat Mechanism</a:t>
            </a:r>
          </a:p>
          <a:p>
            <a:r>
              <a:rPr lang="en-IN" dirty="0"/>
              <a:t>Timeout-Based Detection</a:t>
            </a:r>
          </a:p>
          <a:p>
            <a:r>
              <a:rPr lang="en-US" dirty="0"/>
              <a:t>Failure </a:t>
            </a:r>
            <a:r>
              <a:rPr lang="en-US" dirty="0" err="1"/>
              <a:t>Suspectors</a:t>
            </a:r>
            <a:r>
              <a:rPr lang="en-US" dirty="0"/>
              <a:t> (Crash Detection with Assumptions)</a:t>
            </a:r>
          </a:p>
          <a:p>
            <a:r>
              <a:rPr lang="en-IN" dirty="0"/>
              <a:t>Consensus-Based Detection</a:t>
            </a:r>
          </a:p>
          <a:p>
            <a:r>
              <a:rPr lang="en-IN" dirty="0"/>
              <a:t>Watchdog Timers</a:t>
            </a:r>
          </a:p>
          <a:p>
            <a:r>
              <a:rPr lang="en-IN" dirty="0"/>
              <a:t>Check pointing 	</a:t>
            </a:r>
          </a:p>
          <a:p>
            <a:endParaRPr lang="en-US" dirty="0"/>
          </a:p>
        </p:txBody>
      </p:sp>
      <p:pic>
        <p:nvPicPr>
          <p:cNvPr id="3" name="Picture 2" descr="A screenshot of a computer&#10;&#10;Description automatically generated">
            <a:extLst>
              <a:ext uri="{FF2B5EF4-FFF2-40B4-BE49-F238E27FC236}">
                <a16:creationId xmlns:a16="http://schemas.microsoft.com/office/drawing/2014/main" id="{C50F8347-D066-2F96-EF75-E705EC0B06DF}"/>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E73549B-3909-E4AA-8066-061210DB806D}"/>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000" b="1" dirty="0"/>
              <a:t>Fault Detection</a:t>
            </a:r>
            <a:endParaRPr lang="en-IN" sz="3000" b="1" dirty="0"/>
          </a:p>
        </p:txBody>
      </p:sp>
      <p:sp>
        <p:nvSpPr>
          <p:cNvPr id="5" name="Date Placeholder 4">
            <a:extLst>
              <a:ext uri="{FF2B5EF4-FFF2-40B4-BE49-F238E27FC236}">
                <a16:creationId xmlns:a16="http://schemas.microsoft.com/office/drawing/2014/main" id="{F118F379-E834-7172-DE84-F65CF183E9E4}"/>
              </a:ext>
            </a:extLst>
          </p:cNvPr>
          <p:cNvSpPr>
            <a:spLocks noGrp="1"/>
          </p:cNvSpPr>
          <p:nvPr>
            <p:ph type="dt" sz="half" idx="10"/>
          </p:nvPr>
        </p:nvSpPr>
        <p:spPr/>
        <p:txBody>
          <a:bodyPr/>
          <a:lstStyle/>
          <a:p>
            <a:fld id="{B85ABDBA-81A8-426B-B027-64C543AD67E9}" type="datetime3">
              <a:rPr lang="en-US" smtClean="0"/>
              <a:t>3 November 2025</a:t>
            </a:fld>
            <a:endParaRPr lang="en-US" dirty="0"/>
          </a:p>
        </p:txBody>
      </p:sp>
      <p:sp>
        <p:nvSpPr>
          <p:cNvPr id="6" name="Footer Placeholder 5">
            <a:extLst>
              <a:ext uri="{FF2B5EF4-FFF2-40B4-BE49-F238E27FC236}">
                <a16:creationId xmlns:a16="http://schemas.microsoft.com/office/drawing/2014/main" id="{80200CD7-FEE2-7D94-DE56-03C821A8000B}"/>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4587F678-640B-B477-5857-5FED9992BA78}"/>
              </a:ext>
            </a:extLst>
          </p:cNvPr>
          <p:cNvSpPr>
            <a:spLocks noGrp="1"/>
          </p:cNvSpPr>
          <p:nvPr>
            <p:ph type="sldNum" sz="quarter" idx="12"/>
          </p:nvPr>
        </p:nvSpPr>
        <p:spPr/>
        <p:txBody>
          <a:bodyPr/>
          <a:lstStyle/>
          <a:p>
            <a:fld id="{B6F15528-21DE-4FAA-801E-634DDDAF4B2B}" type="slidenum">
              <a:rPr lang="en-US" smtClean="0"/>
              <a:pPr/>
              <a:t>47</a:t>
            </a:fld>
            <a:endParaRPr lang="en-US" dirty="0"/>
          </a:p>
        </p:txBody>
      </p:sp>
      <p:pic>
        <p:nvPicPr>
          <p:cNvPr id="15362" name="Picture 2" descr="Finding Fault Stock Illustrations – 61 ...">
            <a:extLst>
              <a:ext uri="{FF2B5EF4-FFF2-40B4-BE49-F238E27FC236}">
                <a16:creationId xmlns:a16="http://schemas.microsoft.com/office/drawing/2014/main" id="{C64FEC52-A6FE-C53A-A431-87A0E5A5C9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951" y="3917482"/>
            <a:ext cx="2932231" cy="219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857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C5D6-168C-FF77-6ED8-317AE8B760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050657A-51B8-7ED7-4055-2292CCC8D261}"/>
              </a:ext>
            </a:extLst>
          </p:cNvPr>
          <p:cNvSpPr txBox="1"/>
          <p:nvPr/>
        </p:nvSpPr>
        <p:spPr>
          <a:xfrm>
            <a:off x="354842" y="937887"/>
            <a:ext cx="8595193" cy="5539978"/>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dirty="0"/>
              <a:t>Checkpointing is the process of saving the state of a running application or system at regular intervals so that it can resume from the last saved state after a failure , instead of starting from scratch.</a:t>
            </a:r>
          </a:p>
          <a:p>
            <a:pPr algn="just"/>
            <a:endParaRPr lang="en-US" dirty="0"/>
          </a:p>
          <a:p>
            <a:pPr algn="just"/>
            <a:r>
              <a:rPr lang="en-US" dirty="0"/>
              <a:t>It helps to:</a:t>
            </a:r>
          </a:p>
          <a:p>
            <a:pPr algn="just"/>
            <a:endParaRPr lang="en-US" dirty="0"/>
          </a:p>
          <a:p>
            <a:pPr marL="298450" indent="-285750" algn="just">
              <a:buFont typeface="Arial" panose="020B0604020202020204" pitchFamily="34" charset="0"/>
              <a:buChar char="•"/>
            </a:pPr>
            <a:r>
              <a:rPr lang="en-IN" dirty="0"/>
              <a:t>Minimize computation loss</a:t>
            </a:r>
          </a:p>
          <a:p>
            <a:pPr marL="298450" indent="-285750" algn="just">
              <a:buFont typeface="Arial" panose="020B0604020202020204" pitchFamily="34" charset="0"/>
              <a:buChar char="•"/>
            </a:pPr>
            <a:r>
              <a:rPr lang="en-IN" dirty="0"/>
              <a:t>Allow recovery after failures</a:t>
            </a:r>
            <a:endParaRPr lang="en-US" dirty="0"/>
          </a:p>
          <a:p>
            <a:pPr marL="298450" indent="-285750" algn="just">
              <a:buFont typeface="Arial" panose="020B0604020202020204" pitchFamily="34" charset="0"/>
              <a:buChar char="•"/>
            </a:pPr>
            <a:r>
              <a:rPr lang="en-US" dirty="0"/>
              <a:t>Essential in long-running or mission-critical computations</a:t>
            </a:r>
          </a:p>
          <a:p>
            <a:pPr algn="just"/>
            <a:endParaRPr lang="en-US" altLang="en-US" dirty="0">
              <a:latin typeface="+mj-lt"/>
              <a:cs typeface="Times New Roman" panose="02020603050405020304" pitchFamily="18" charset="0"/>
            </a:endParaRPr>
          </a:p>
          <a:p>
            <a:pPr algn="just"/>
            <a:r>
              <a:rPr lang="en-IN" b="1" dirty="0"/>
              <a:t>Types of Checkpointing:</a:t>
            </a:r>
          </a:p>
          <a:p>
            <a:pPr algn="just"/>
            <a:endParaRPr lang="en-IN" dirty="0"/>
          </a:p>
          <a:p>
            <a:pPr marL="298450" indent="-285750" algn="just">
              <a:buFont typeface="Arial" panose="020B0604020202020204" pitchFamily="34" charset="0"/>
              <a:buChar char="•"/>
            </a:pPr>
            <a:r>
              <a:rPr lang="en-IN" dirty="0"/>
              <a:t>Full Checkpointing: </a:t>
            </a:r>
            <a:r>
              <a:rPr lang="en-US" dirty="0"/>
              <a:t>Saves complete memory, files, states</a:t>
            </a:r>
          </a:p>
          <a:p>
            <a:pPr marL="298450" indent="-285750" algn="just">
              <a:buFont typeface="Arial" panose="020B0604020202020204" pitchFamily="34" charset="0"/>
              <a:buChar char="•"/>
            </a:pPr>
            <a:r>
              <a:rPr lang="en-IN" dirty="0"/>
              <a:t>Incremental: </a:t>
            </a:r>
            <a:r>
              <a:rPr lang="en-US" dirty="0"/>
              <a:t>Saves only changes since the last checkpoint</a:t>
            </a:r>
          </a:p>
          <a:p>
            <a:pPr marL="298450" indent="-285750" algn="just">
              <a:buFont typeface="Arial" panose="020B0604020202020204" pitchFamily="34" charset="0"/>
              <a:buChar char="•"/>
            </a:pPr>
            <a:r>
              <a:rPr lang="en-IN" dirty="0"/>
              <a:t>Coordinated: </a:t>
            </a:r>
            <a:r>
              <a:rPr lang="en-US" dirty="0"/>
              <a:t>All processes in a distributed system checkpoint simultaneously to maintain consistency</a:t>
            </a:r>
          </a:p>
          <a:p>
            <a:pPr marL="298450" indent="-285750" algn="just">
              <a:buFont typeface="Arial" panose="020B0604020202020204" pitchFamily="34" charset="0"/>
              <a:buChar char="•"/>
            </a:pPr>
            <a:r>
              <a:rPr lang="en-IN" dirty="0"/>
              <a:t>Uncoordinated: </a:t>
            </a:r>
            <a:r>
              <a:rPr lang="en-US" dirty="0"/>
              <a:t>Processes checkpoint independently (can lead to "domino effect" – rollback of many processes)</a:t>
            </a:r>
          </a:p>
          <a:p>
            <a:pPr marL="298450" indent="-285750" algn="just">
              <a:buFont typeface="Arial" panose="020B0604020202020204" pitchFamily="34" charset="0"/>
              <a:buChar char="•"/>
            </a:pPr>
            <a:r>
              <a:rPr lang="en-IN" dirty="0"/>
              <a:t>Application-level: </a:t>
            </a:r>
            <a:r>
              <a:rPr lang="en-US" dirty="0"/>
              <a:t>Handled by app logic (more optimized)</a:t>
            </a:r>
          </a:p>
          <a:p>
            <a:pPr marL="298450" indent="-285750" algn="just">
              <a:buFont typeface="Arial" panose="020B0604020202020204" pitchFamily="34" charset="0"/>
              <a:buChar char="•"/>
            </a:pPr>
            <a:r>
              <a:rPr lang="en-IN" dirty="0"/>
              <a:t>System-level: Transparent to application (e.g., CRIU in Linux)</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F7CCAF54-2E50-B460-79F6-0BBD7D28C59A}"/>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461FA6F0-0472-F55A-EA36-92D7504B3142}"/>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Check pointing</a:t>
            </a:r>
          </a:p>
        </p:txBody>
      </p:sp>
      <p:sp>
        <p:nvSpPr>
          <p:cNvPr id="5" name="Date Placeholder 4">
            <a:extLst>
              <a:ext uri="{FF2B5EF4-FFF2-40B4-BE49-F238E27FC236}">
                <a16:creationId xmlns:a16="http://schemas.microsoft.com/office/drawing/2014/main" id="{CB494013-259B-D1D0-D892-1A0CC35F63E6}"/>
              </a:ext>
            </a:extLst>
          </p:cNvPr>
          <p:cNvSpPr>
            <a:spLocks noGrp="1"/>
          </p:cNvSpPr>
          <p:nvPr>
            <p:ph type="dt" sz="half" idx="10"/>
          </p:nvPr>
        </p:nvSpPr>
        <p:spPr/>
        <p:txBody>
          <a:bodyPr/>
          <a:lstStyle/>
          <a:p>
            <a:fld id="{F3A25BB8-7072-4F33-B7D3-1CDFCA41F6E6}" type="datetime3">
              <a:rPr lang="en-US" smtClean="0"/>
              <a:t>3 November 2025</a:t>
            </a:fld>
            <a:endParaRPr lang="en-US" dirty="0"/>
          </a:p>
        </p:txBody>
      </p:sp>
      <p:sp>
        <p:nvSpPr>
          <p:cNvPr id="6" name="Footer Placeholder 5">
            <a:extLst>
              <a:ext uri="{FF2B5EF4-FFF2-40B4-BE49-F238E27FC236}">
                <a16:creationId xmlns:a16="http://schemas.microsoft.com/office/drawing/2014/main" id="{DEEBE7AC-C338-18D9-51DF-81154AAEC271}"/>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03A5DF1C-9DD2-47BA-E910-654A660E4964}"/>
              </a:ext>
            </a:extLst>
          </p:cNvPr>
          <p:cNvSpPr>
            <a:spLocks noGrp="1"/>
          </p:cNvSpPr>
          <p:nvPr>
            <p:ph type="sldNum" sz="quarter" idx="12"/>
          </p:nvPr>
        </p:nvSpPr>
        <p:spPr/>
        <p:txBody>
          <a:bodyPr/>
          <a:lstStyle/>
          <a:p>
            <a:fld id="{B6F15528-21DE-4FAA-801E-634DDDAF4B2B}" type="slidenum">
              <a:rPr lang="en-US" smtClean="0"/>
              <a:pPr/>
              <a:t>48</a:t>
            </a:fld>
            <a:endParaRPr lang="en-US" dirty="0"/>
          </a:p>
        </p:txBody>
      </p:sp>
      <p:pic>
        <p:nvPicPr>
          <p:cNvPr id="6146" name="Picture 2" descr="Checkpoint Cartoon: Over 1,471 Royalty ...">
            <a:extLst>
              <a:ext uri="{FF2B5EF4-FFF2-40B4-BE49-F238E27FC236}">
                <a16:creationId xmlns:a16="http://schemas.microsoft.com/office/drawing/2014/main" id="{E04F5E13-F9BE-28B5-812C-8BFB68F14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672" y="162261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249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605CD-7BAB-0B6C-45A3-AAA4034FBC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7E8B6E-5C5A-460C-C85B-933AF984769E}"/>
              </a:ext>
            </a:extLst>
          </p:cNvPr>
          <p:cNvSpPr txBox="1"/>
          <p:nvPr/>
        </p:nvSpPr>
        <p:spPr>
          <a:xfrm>
            <a:off x="354842" y="937887"/>
            <a:ext cx="8595193" cy="1938992"/>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dirty="0"/>
              <a:t>A heartbeat is a periodic signal/message sent from one system component to another to indicate that it is alive and functioning.</a:t>
            </a:r>
          </a:p>
          <a:p>
            <a:pPr algn="just"/>
            <a:endParaRPr lang="en-US" dirty="0"/>
          </a:p>
          <a:p>
            <a:pPr algn="just"/>
            <a:r>
              <a:rPr lang="en-US" dirty="0"/>
              <a:t>It helps to:</a:t>
            </a:r>
          </a:p>
          <a:p>
            <a:pPr marL="298450" indent="-285750" algn="just">
              <a:buFont typeface="Arial" panose="020B0604020202020204" pitchFamily="34" charset="0"/>
              <a:buChar char="•"/>
            </a:pPr>
            <a:r>
              <a:rPr lang="en-US" dirty="0"/>
              <a:t>Monitor liveness of nodes, services, or applications</a:t>
            </a:r>
          </a:p>
          <a:p>
            <a:pPr marL="298450" indent="-285750" algn="just">
              <a:buFont typeface="Arial" panose="020B0604020202020204" pitchFamily="34" charset="0"/>
              <a:buChar char="•"/>
            </a:pPr>
            <a:r>
              <a:rPr lang="en-US" dirty="0"/>
              <a:t>Trigger failure detection if heartbeat is not received within timeout</a:t>
            </a:r>
          </a:p>
          <a:p>
            <a:pPr marL="298450" indent="-285750" algn="just">
              <a:buFont typeface="Arial" panose="020B0604020202020204" pitchFamily="34" charset="0"/>
              <a:buChar char="•"/>
            </a:pPr>
            <a:r>
              <a:rPr lang="en-US" dirty="0"/>
              <a:t>Used in clusters for failover, leader election, and service discovery</a:t>
            </a:r>
          </a:p>
        </p:txBody>
      </p:sp>
      <p:pic>
        <p:nvPicPr>
          <p:cNvPr id="3" name="Picture 2" descr="A screenshot of a computer&#10;&#10;Description automatically generated">
            <a:extLst>
              <a:ext uri="{FF2B5EF4-FFF2-40B4-BE49-F238E27FC236}">
                <a16:creationId xmlns:a16="http://schemas.microsoft.com/office/drawing/2014/main" id="{8ADEFB61-7BEF-57A2-0446-39B6BB23635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D759A3D0-A7DB-57F4-322E-B3A5A9B9E70C}"/>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Heartbeat Mechanism</a:t>
            </a:r>
          </a:p>
        </p:txBody>
      </p:sp>
      <p:sp>
        <p:nvSpPr>
          <p:cNvPr id="5" name="Date Placeholder 4">
            <a:extLst>
              <a:ext uri="{FF2B5EF4-FFF2-40B4-BE49-F238E27FC236}">
                <a16:creationId xmlns:a16="http://schemas.microsoft.com/office/drawing/2014/main" id="{2D87C93F-B4A9-9094-BF4E-05407C73C8C5}"/>
              </a:ext>
            </a:extLst>
          </p:cNvPr>
          <p:cNvSpPr>
            <a:spLocks noGrp="1"/>
          </p:cNvSpPr>
          <p:nvPr>
            <p:ph type="dt" sz="half" idx="10"/>
          </p:nvPr>
        </p:nvSpPr>
        <p:spPr/>
        <p:txBody>
          <a:bodyPr/>
          <a:lstStyle/>
          <a:p>
            <a:fld id="{F3A25BB8-7072-4F33-B7D3-1CDFCA41F6E6}" type="datetime3">
              <a:rPr lang="en-US" smtClean="0"/>
              <a:t>3 November 2025</a:t>
            </a:fld>
            <a:endParaRPr lang="en-US" dirty="0"/>
          </a:p>
        </p:txBody>
      </p:sp>
      <p:sp>
        <p:nvSpPr>
          <p:cNvPr id="6" name="Footer Placeholder 5">
            <a:extLst>
              <a:ext uri="{FF2B5EF4-FFF2-40B4-BE49-F238E27FC236}">
                <a16:creationId xmlns:a16="http://schemas.microsoft.com/office/drawing/2014/main" id="{0065F264-0380-B1B3-C508-ECC45DCF8591}"/>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FDADD5C8-9D8C-6F7F-7AC1-FA9E43068AA0}"/>
              </a:ext>
            </a:extLst>
          </p:cNvPr>
          <p:cNvSpPr>
            <a:spLocks noGrp="1"/>
          </p:cNvSpPr>
          <p:nvPr>
            <p:ph type="sldNum" sz="quarter" idx="12"/>
          </p:nvPr>
        </p:nvSpPr>
        <p:spPr/>
        <p:txBody>
          <a:bodyPr/>
          <a:lstStyle/>
          <a:p>
            <a:fld id="{B6F15528-21DE-4FAA-801E-634DDDAF4B2B}" type="slidenum">
              <a:rPr lang="en-US" smtClean="0"/>
              <a:pPr/>
              <a:t>49</a:t>
            </a:fld>
            <a:endParaRPr lang="en-US" dirty="0"/>
          </a:p>
        </p:txBody>
      </p:sp>
      <p:pic>
        <p:nvPicPr>
          <p:cNvPr id="9" name="Picture 8">
            <a:extLst>
              <a:ext uri="{FF2B5EF4-FFF2-40B4-BE49-F238E27FC236}">
                <a16:creationId xmlns:a16="http://schemas.microsoft.com/office/drawing/2014/main" id="{E99E08E9-0315-5D57-8988-82ECA4E3DBBE}"/>
              </a:ext>
            </a:extLst>
          </p:cNvPr>
          <p:cNvPicPr>
            <a:picLocks noChangeAspect="1"/>
          </p:cNvPicPr>
          <p:nvPr/>
        </p:nvPicPr>
        <p:blipFill>
          <a:blip r:embed="rId4"/>
          <a:stretch>
            <a:fillRect/>
          </a:stretch>
        </p:blipFill>
        <p:spPr>
          <a:xfrm>
            <a:off x="354842" y="2824786"/>
            <a:ext cx="8228670" cy="698190"/>
          </a:xfrm>
          <a:prstGeom prst="rect">
            <a:avLst/>
          </a:prstGeom>
        </p:spPr>
      </p:pic>
      <p:pic>
        <p:nvPicPr>
          <p:cNvPr id="16386" name="Picture 2" descr="HeartBeats: How Distributed Systems ...">
            <a:extLst>
              <a:ext uri="{FF2B5EF4-FFF2-40B4-BE49-F238E27FC236}">
                <a16:creationId xmlns:a16="http://schemas.microsoft.com/office/drawing/2014/main" id="{CA10DEF8-F806-B7CE-C629-EB8C117501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3655" y="3607789"/>
            <a:ext cx="3831807" cy="266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726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BE6ED-CBE3-2F7E-35ED-5505A0D8AA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FA1DE12-7458-5BA0-95CB-71DDCAFCEE97}"/>
              </a:ext>
            </a:extLst>
          </p:cNvPr>
          <p:cNvSpPr txBox="1"/>
          <p:nvPr/>
        </p:nvSpPr>
        <p:spPr>
          <a:xfrm>
            <a:off x="354842" y="937887"/>
            <a:ext cx="8595193" cy="2215991"/>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dirty="0"/>
              <a:t>A watchdog timer is a hardware or software timer that resets or takes corrective action if the monitored process fails to respond or behave properly within a certain time window.</a:t>
            </a:r>
          </a:p>
          <a:p>
            <a:pPr algn="just"/>
            <a:endParaRPr lang="en-US" dirty="0"/>
          </a:p>
          <a:p>
            <a:pPr algn="just"/>
            <a:r>
              <a:rPr lang="en-US" dirty="0"/>
              <a:t>It helps to:</a:t>
            </a:r>
          </a:p>
          <a:p>
            <a:pPr algn="just"/>
            <a:endParaRPr lang="en-US" dirty="0"/>
          </a:p>
          <a:p>
            <a:pPr marL="298450" indent="-285750" algn="just">
              <a:buFont typeface="Arial" panose="020B0604020202020204" pitchFamily="34" charset="0"/>
              <a:buChar char="•"/>
            </a:pPr>
            <a:r>
              <a:rPr lang="en-IN" dirty="0"/>
              <a:t>Detect hangs or deadlocks</a:t>
            </a:r>
          </a:p>
          <a:p>
            <a:pPr marL="298450" indent="-285750" algn="just">
              <a:buFont typeface="Arial" panose="020B0604020202020204" pitchFamily="34" charset="0"/>
              <a:buChar char="•"/>
            </a:pPr>
            <a:r>
              <a:rPr lang="en-IN" dirty="0"/>
              <a:t>Auto-restart or reset unresponsive components</a:t>
            </a:r>
          </a:p>
          <a:p>
            <a:pPr marL="298450" indent="-285750" algn="just">
              <a:buFont typeface="Arial" panose="020B0604020202020204" pitchFamily="34" charset="0"/>
              <a:buChar char="•"/>
            </a:pPr>
            <a:r>
              <a:rPr lang="en-US" dirty="0"/>
              <a:t>Ensure system reliability in embedded and real-time systems</a:t>
            </a:r>
          </a:p>
        </p:txBody>
      </p:sp>
      <p:pic>
        <p:nvPicPr>
          <p:cNvPr id="3" name="Picture 2" descr="A screenshot of a computer&#10;&#10;Description automatically generated">
            <a:extLst>
              <a:ext uri="{FF2B5EF4-FFF2-40B4-BE49-F238E27FC236}">
                <a16:creationId xmlns:a16="http://schemas.microsoft.com/office/drawing/2014/main" id="{631E2272-3B8B-E77F-F80E-8F526FCD7A0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38296DA9-6009-07C9-90A0-908C93224B68}"/>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Watchdog Timers</a:t>
            </a:r>
          </a:p>
        </p:txBody>
      </p:sp>
      <p:sp>
        <p:nvSpPr>
          <p:cNvPr id="5" name="Date Placeholder 4">
            <a:extLst>
              <a:ext uri="{FF2B5EF4-FFF2-40B4-BE49-F238E27FC236}">
                <a16:creationId xmlns:a16="http://schemas.microsoft.com/office/drawing/2014/main" id="{C8D8FA4E-FBE5-BA93-5338-B013557C1192}"/>
              </a:ext>
            </a:extLst>
          </p:cNvPr>
          <p:cNvSpPr>
            <a:spLocks noGrp="1"/>
          </p:cNvSpPr>
          <p:nvPr>
            <p:ph type="dt" sz="half" idx="10"/>
          </p:nvPr>
        </p:nvSpPr>
        <p:spPr/>
        <p:txBody>
          <a:bodyPr/>
          <a:lstStyle/>
          <a:p>
            <a:fld id="{F3A25BB8-7072-4F33-B7D3-1CDFCA41F6E6}" type="datetime3">
              <a:rPr lang="en-US" smtClean="0"/>
              <a:t>3 November 2025</a:t>
            </a:fld>
            <a:endParaRPr lang="en-US" dirty="0"/>
          </a:p>
        </p:txBody>
      </p:sp>
      <p:sp>
        <p:nvSpPr>
          <p:cNvPr id="6" name="Footer Placeholder 5">
            <a:extLst>
              <a:ext uri="{FF2B5EF4-FFF2-40B4-BE49-F238E27FC236}">
                <a16:creationId xmlns:a16="http://schemas.microsoft.com/office/drawing/2014/main" id="{C4E65540-D8D3-C590-FA59-E838EB6E07D0}"/>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72E0F6BB-2E17-8372-E8EA-A99F6C80E782}"/>
              </a:ext>
            </a:extLst>
          </p:cNvPr>
          <p:cNvSpPr>
            <a:spLocks noGrp="1"/>
          </p:cNvSpPr>
          <p:nvPr>
            <p:ph type="sldNum" sz="quarter" idx="12"/>
          </p:nvPr>
        </p:nvSpPr>
        <p:spPr/>
        <p:txBody>
          <a:bodyPr/>
          <a:lstStyle/>
          <a:p>
            <a:fld id="{B6F15528-21DE-4FAA-801E-634DDDAF4B2B}" type="slidenum">
              <a:rPr lang="en-US" smtClean="0"/>
              <a:pPr/>
              <a:t>50</a:t>
            </a:fld>
            <a:endParaRPr lang="en-US" dirty="0"/>
          </a:p>
        </p:txBody>
      </p:sp>
      <p:pic>
        <p:nvPicPr>
          <p:cNvPr id="7170" name="Picture 2" descr="Watchdog timer - Wikipedia">
            <a:extLst>
              <a:ext uri="{FF2B5EF4-FFF2-40B4-BE49-F238E27FC236}">
                <a16:creationId xmlns:a16="http://schemas.microsoft.com/office/drawing/2014/main" id="{66AD5C91-8611-3DAA-E1CC-ACD264A63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7953" y="3270907"/>
            <a:ext cx="4223058" cy="283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3116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CEB1C3E-027D-1DE4-5EF3-4153526D6FCA}"/>
              </a:ext>
            </a:extLst>
          </p:cNvPr>
          <p:cNvSpPr txBox="1"/>
          <p:nvPr/>
        </p:nvSpPr>
        <p:spPr>
          <a:xfrm>
            <a:off x="354842" y="937887"/>
            <a:ext cx="8434315" cy="2215991"/>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298450" indent="-285750" algn="just">
              <a:buFont typeface="Arial" panose="020B0604020202020204" pitchFamily="34" charset="0"/>
              <a:buChar char="•"/>
            </a:pPr>
            <a:r>
              <a:rPr lang="en-US" dirty="0"/>
              <a:t>ECC, or Error Correction Code, is a technique used to detect and correct errors in data, particularly in memory and data transmission. </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It adds extra bits to the original data, creating redundancy that allows the system to identify and fix errors that might occur due to noise, interference, or other factors. </a:t>
            </a:r>
          </a:p>
          <a:p>
            <a:pPr marL="298450" indent="-285750" algn="just">
              <a:buFont typeface="Arial" panose="020B0604020202020204" pitchFamily="34" charset="0"/>
              <a:buChar char="•"/>
            </a:pPr>
            <a:endParaRPr lang="en-US" dirty="0"/>
          </a:p>
          <a:p>
            <a:pPr marL="298450" indent="-285750" algn="just">
              <a:buFont typeface="Arial" panose="020B0604020202020204" pitchFamily="34" charset="0"/>
              <a:buChar char="•"/>
            </a:pPr>
            <a:r>
              <a:rPr lang="en-US" dirty="0"/>
              <a:t>This ensures data integrity and reliability, especially in critical systems like servers and storage devices. </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667E17AC-2D66-A494-4059-0638AB64B2F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5CB82C0-02A1-0C16-5B53-683F380164AC}"/>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 Error-Correcting Codes (ECC)</a:t>
            </a:r>
          </a:p>
        </p:txBody>
      </p:sp>
      <p:sp>
        <p:nvSpPr>
          <p:cNvPr id="5" name="Date Placeholder 4">
            <a:extLst>
              <a:ext uri="{FF2B5EF4-FFF2-40B4-BE49-F238E27FC236}">
                <a16:creationId xmlns:a16="http://schemas.microsoft.com/office/drawing/2014/main" id="{7FB5527B-F4DE-7455-67CC-E6AB7307154E}"/>
              </a:ext>
            </a:extLst>
          </p:cNvPr>
          <p:cNvSpPr>
            <a:spLocks noGrp="1"/>
          </p:cNvSpPr>
          <p:nvPr>
            <p:ph type="dt" sz="half" idx="10"/>
          </p:nvPr>
        </p:nvSpPr>
        <p:spPr/>
        <p:txBody>
          <a:bodyPr/>
          <a:lstStyle/>
          <a:p>
            <a:fld id="{7EACC12E-7173-4296-BA23-8DBA0427E93E}" type="datetime3">
              <a:rPr lang="en-US" smtClean="0"/>
              <a:t>3 November 2025</a:t>
            </a:fld>
            <a:endParaRPr lang="en-US" dirty="0"/>
          </a:p>
        </p:txBody>
      </p:sp>
      <p:sp>
        <p:nvSpPr>
          <p:cNvPr id="7" name="Footer Placeholder 6">
            <a:extLst>
              <a:ext uri="{FF2B5EF4-FFF2-40B4-BE49-F238E27FC236}">
                <a16:creationId xmlns:a16="http://schemas.microsoft.com/office/drawing/2014/main" id="{FA6F4232-1935-F0DB-033C-18378CB2161F}"/>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165B080D-E5B1-5B1C-047A-ECA7E8CF6D2C}"/>
              </a:ext>
            </a:extLst>
          </p:cNvPr>
          <p:cNvSpPr>
            <a:spLocks noGrp="1"/>
          </p:cNvSpPr>
          <p:nvPr>
            <p:ph type="sldNum" sz="quarter" idx="12"/>
          </p:nvPr>
        </p:nvSpPr>
        <p:spPr/>
        <p:txBody>
          <a:bodyPr/>
          <a:lstStyle/>
          <a:p>
            <a:fld id="{B6F15528-21DE-4FAA-801E-634DDDAF4B2B}" type="slidenum">
              <a:rPr lang="en-US" smtClean="0"/>
              <a:pPr/>
              <a:t>51</a:t>
            </a:fld>
            <a:endParaRPr lang="en-US" dirty="0"/>
          </a:p>
        </p:txBody>
      </p:sp>
      <p:pic>
        <p:nvPicPr>
          <p:cNvPr id="8194" name="Picture 2" descr="Automated Design of Error-Correcting Codes, Part 1 – Theory Dish">
            <a:extLst>
              <a:ext uri="{FF2B5EF4-FFF2-40B4-BE49-F238E27FC236}">
                <a16:creationId xmlns:a16="http://schemas.microsoft.com/office/drawing/2014/main" id="{821B9A4A-E52E-5D18-E1C5-89E7F2C236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935" y="3153878"/>
            <a:ext cx="4572000" cy="3071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B9BEA-589B-2833-9DE9-61297F5FB0E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0DA8E86-116D-F9F3-D2DD-68E9B6E01D48}"/>
              </a:ext>
            </a:extLst>
          </p:cNvPr>
          <p:cNvSpPr txBox="1"/>
          <p:nvPr/>
        </p:nvSpPr>
        <p:spPr>
          <a:xfrm>
            <a:off x="354843" y="937887"/>
            <a:ext cx="8636758" cy="5262979"/>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altLang="en-US" dirty="0">
                <a:latin typeface="+mj-lt"/>
                <a:cs typeface="Times New Roman" panose="02020603050405020304" pitchFamily="18" charset="0"/>
              </a:rPr>
              <a:t>Fault masking is the process of hiding faults so that they do not affect the overall behavior of the system.</a:t>
            </a:r>
          </a:p>
          <a:p>
            <a:pPr algn="just"/>
            <a:endParaRPr lang="en-US" altLang="en-US" dirty="0">
              <a:latin typeface="+mj-lt"/>
              <a:cs typeface="Times New Roman" panose="02020603050405020304" pitchFamily="18" charset="0"/>
            </a:endParaRPr>
          </a:p>
          <a:p>
            <a:pPr algn="just"/>
            <a:r>
              <a:rPr lang="en-US" altLang="en-US" dirty="0">
                <a:latin typeface="+mj-lt"/>
                <a:cs typeface="Times New Roman" panose="02020603050405020304" pitchFamily="18" charset="0"/>
              </a:rPr>
              <a:t>Rather than just detecting faults, masking allows the system to tolerate and continue operating correctly — a key requirement for fault-tolerant computing.</a:t>
            </a:r>
          </a:p>
          <a:p>
            <a:pPr algn="just"/>
            <a:endParaRPr lang="en-US" altLang="en-US" dirty="0">
              <a:latin typeface="+mj-lt"/>
              <a:cs typeface="Times New Roman" panose="02020603050405020304" pitchFamily="18" charset="0"/>
            </a:endParaRPr>
          </a:p>
          <a:p>
            <a:pPr algn="just"/>
            <a:r>
              <a:rPr lang="en-US" altLang="en-US" dirty="0">
                <a:latin typeface="+mj-lt"/>
                <a:cs typeface="Times New Roman" panose="02020603050405020304" pitchFamily="18" charset="0"/>
              </a:rPr>
              <a:t>Fault masking algorithms:</a:t>
            </a:r>
          </a:p>
          <a:p>
            <a:pPr algn="just"/>
            <a:endParaRPr lang="en-US" altLang="en-US" dirty="0">
              <a:latin typeface="+mj-lt"/>
              <a:cs typeface="Times New Roman" panose="02020603050405020304" pitchFamily="18" charset="0"/>
            </a:endParaRPr>
          </a:p>
          <a:p>
            <a:pPr algn="just"/>
            <a:r>
              <a:rPr lang="en-IN" b="1" dirty="0"/>
              <a:t>Triple Modular Redundancy (TMR): </a:t>
            </a:r>
            <a:r>
              <a:rPr lang="en-US" dirty="0"/>
              <a:t>Three identical modules (hardware/software) execute the same task. Their outputs are voted on by a majority.</a:t>
            </a:r>
            <a:endParaRPr lang="en-IN" dirty="0"/>
          </a:p>
          <a:p>
            <a:pPr algn="just"/>
            <a:r>
              <a:rPr lang="en-IN" dirty="0"/>
              <a:t>Replication with Voting</a:t>
            </a:r>
          </a:p>
          <a:p>
            <a:pPr algn="just"/>
            <a:endParaRPr lang="en-IN" dirty="0"/>
          </a:p>
          <a:p>
            <a:pPr algn="just"/>
            <a:r>
              <a:rPr lang="en-IN" b="1" dirty="0"/>
              <a:t>Algorithm-Based Fault Tolerance (ABFT): </a:t>
            </a:r>
            <a:r>
              <a:rPr lang="en-US" dirty="0"/>
              <a:t>Modifies algorithms to include redundancy and error correction capabilities directly within the computation. For example, matrix multiplication algorithms can be adapted to detect and correct errors during the calculation.</a:t>
            </a:r>
          </a:p>
          <a:p>
            <a:pPr algn="just"/>
            <a:r>
              <a:rPr lang="en-US" dirty="0"/>
              <a:t> </a:t>
            </a:r>
            <a:endParaRPr lang="en-IN" dirty="0"/>
          </a:p>
          <a:p>
            <a:pPr algn="just"/>
            <a:r>
              <a:rPr lang="en-IN" b="1" dirty="0"/>
              <a:t>Checkpointing and Restart: </a:t>
            </a:r>
            <a:r>
              <a:rPr lang="en-US" dirty="0"/>
              <a:t>Running multiple instances of a computation and using a voting mechanism to determine the correct result. If one instance produces an incorrect result, the majority vote (or a designated "reliable" instance) determines the correct output. </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17459F89-F1D6-5862-65C7-BBDECDDC41C9}"/>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2A03FF2F-9001-0FC8-2C13-0E452CC4D650}"/>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Fault Masking</a:t>
            </a:r>
          </a:p>
        </p:txBody>
      </p:sp>
      <p:sp>
        <p:nvSpPr>
          <p:cNvPr id="5" name="Date Placeholder 4">
            <a:extLst>
              <a:ext uri="{FF2B5EF4-FFF2-40B4-BE49-F238E27FC236}">
                <a16:creationId xmlns:a16="http://schemas.microsoft.com/office/drawing/2014/main" id="{84AF4D63-751A-ABCE-2453-07FB2708764F}"/>
              </a:ext>
            </a:extLst>
          </p:cNvPr>
          <p:cNvSpPr>
            <a:spLocks noGrp="1"/>
          </p:cNvSpPr>
          <p:nvPr>
            <p:ph type="dt" sz="half" idx="10"/>
          </p:nvPr>
        </p:nvSpPr>
        <p:spPr/>
        <p:txBody>
          <a:bodyPr/>
          <a:lstStyle/>
          <a:p>
            <a:fld id="{41809841-1DD2-445F-A8A0-6B86677A48B0}" type="datetime3">
              <a:rPr lang="en-US" smtClean="0"/>
              <a:t>3 November 2025</a:t>
            </a:fld>
            <a:endParaRPr lang="en-US" dirty="0"/>
          </a:p>
        </p:txBody>
      </p:sp>
      <p:sp>
        <p:nvSpPr>
          <p:cNvPr id="6" name="Footer Placeholder 5">
            <a:extLst>
              <a:ext uri="{FF2B5EF4-FFF2-40B4-BE49-F238E27FC236}">
                <a16:creationId xmlns:a16="http://schemas.microsoft.com/office/drawing/2014/main" id="{27722162-CDA5-B127-B4F7-2BA64EFFE750}"/>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26BA3D24-5410-E9F0-E13A-8B5DE0FE1B55}"/>
              </a:ext>
            </a:extLst>
          </p:cNvPr>
          <p:cNvSpPr>
            <a:spLocks noGrp="1"/>
          </p:cNvSpPr>
          <p:nvPr>
            <p:ph type="sldNum" sz="quarter" idx="12"/>
          </p:nvPr>
        </p:nvSpPr>
        <p:spPr/>
        <p:txBody>
          <a:bodyPr/>
          <a:lstStyle/>
          <a:p>
            <a:fld id="{B6F15528-21DE-4FAA-801E-634DDDAF4B2B}" type="slidenum">
              <a:rPr lang="en-US" smtClean="0"/>
              <a:pPr/>
              <a:t>52</a:t>
            </a:fld>
            <a:endParaRPr lang="en-US" dirty="0"/>
          </a:p>
        </p:txBody>
      </p:sp>
    </p:spTree>
    <p:extLst>
      <p:ext uri="{BB962C8B-B14F-4D97-AF65-F5344CB8AC3E}">
        <p14:creationId xmlns:p14="http://schemas.microsoft.com/office/powerpoint/2010/main" val="2115277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C1A9-19C2-65D4-F94C-E5ED36B2AB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282760-EF9E-F620-682B-83DEA6C8247E}"/>
              </a:ext>
            </a:extLst>
          </p:cNvPr>
          <p:cNvSpPr txBox="1"/>
          <p:nvPr/>
        </p:nvSpPr>
        <p:spPr>
          <a:xfrm>
            <a:off x="354843" y="937887"/>
            <a:ext cx="8461898" cy="1384995"/>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dirty="0"/>
              <a:t>Fault recovery is the process of restoring normal operation of a system after a component fails- whether it's a server, network link, database, or application.</a:t>
            </a:r>
            <a:br>
              <a:rPr lang="en-US" dirty="0"/>
            </a:br>
            <a:endParaRPr lang="en-US" dirty="0"/>
          </a:p>
          <a:p>
            <a:pPr algn="just"/>
            <a:r>
              <a:rPr lang="en-US" dirty="0"/>
              <a:t>Recovery may involve switching to a backup system (failover), and returning to the original system when it's healthy (failback).</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C86F0FE9-AA4A-26F6-0CF2-5C4C9115295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A483106-32FB-1712-E659-6BD3745EB72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Fault Recovery</a:t>
            </a:r>
          </a:p>
        </p:txBody>
      </p:sp>
      <p:sp>
        <p:nvSpPr>
          <p:cNvPr id="5" name="Date Placeholder 4">
            <a:extLst>
              <a:ext uri="{FF2B5EF4-FFF2-40B4-BE49-F238E27FC236}">
                <a16:creationId xmlns:a16="http://schemas.microsoft.com/office/drawing/2014/main" id="{2EF5D543-8DA2-6F95-542F-2B57B064082F}"/>
              </a:ext>
            </a:extLst>
          </p:cNvPr>
          <p:cNvSpPr>
            <a:spLocks noGrp="1"/>
          </p:cNvSpPr>
          <p:nvPr>
            <p:ph type="dt" sz="half" idx="10"/>
          </p:nvPr>
        </p:nvSpPr>
        <p:spPr/>
        <p:txBody>
          <a:bodyPr/>
          <a:lstStyle/>
          <a:p>
            <a:fld id="{C432E03A-AADD-4FFB-B37E-87E56C3D0FC0}" type="datetime3">
              <a:rPr lang="en-US" smtClean="0"/>
              <a:t>3 November 2025</a:t>
            </a:fld>
            <a:endParaRPr lang="en-US" dirty="0"/>
          </a:p>
        </p:txBody>
      </p:sp>
      <p:sp>
        <p:nvSpPr>
          <p:cNvPr id="7" name="Footer Placeholder 6">
            <a:extLst>
              <a:ext uri="{FF2B5EF4-FFF2-40B4-BE49-F238E27FC236}">
                <a16:creationId xmlns:a16="http://schemas.microsoft.com/office/drawing/2014/main" id="{3C7D030C-D15D-2217-1D5E-820AE1805565}"/>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AD615B5F-9F80-6728-F28B-373B5E7A0D20}"/>
              </a:ext>
            </a:extLst>
          </p:cNvPr>
          <p:cNvSpPr>
            <a:spLocks noGrp="1"/>
          </p:cNvSpPr>
          <p:nvPr>
            <p:ph type="sldNum" sz="quarter" idx="12"/>
          </p:nvPr>
        </p:nvSpPr>
        <p:spPr/>
        <p:txBody>
          <a:bodyPr/>
          <a:lstStyle/>
          <a:p>
            <a:fld id="{B6F15528-21DE-4FAA-801E-634DDDAF4B2B}" type="slidenum">
              <a:rPr lang="en-US" smtClean="0"/>
              <a:pPr/>
              <a:t>53</a:t>
            </a:fld>
            <a:endParaRPr lang="en-US" dirty="0"/>
          </a:p>
        </p:txBody>
      </p:sp>
      <p:pic>
        <p:nvPicPr>
          <p:cNvPr id="10" name="Picture 9">
            <a:extLst>
              <a:ext uri="{FF2B5EF4-FFF2-40B4-BE49-F238E27FC236}">
                <a16:creationId xmlns:a16="http://schemas.microsoft.com/office/drawing/2014/main" id="{6D7D5484-5676-82BC-0E6A-48C710E9343F}"/>
              </a:ext>
            </a:extLst>
          </p:cNvPr>
          <p:cNvPicPr>
            <a:picLocks noChangeAspect="1"/>
          </p:cNvPicPr>
          <p:nvPr/>
        </p:nvPicPr>
        <p:blipFill>
          <a:blip r:embed="rId4"/>
          <a:stretch>
            <a:fillRect/>
          </a:stretch>
        </p:blipFill>
        <p:spPr>
          <a:xfrm>
            <a:off x="1585964" y="2420888"/>
            <a:ext cx="5999655" cy="3499225"/>
          </a:xfrm>
          <a:prstGeom prst="rect">
            <a:avLst/>
          </a:prstGeom>
        </p:spPr>
      </p:pic>
    </p:spTree>
    <p:extLst>
      <p:ext uri="{BB962C8B-B14F-4D97-AF65-F5344CB8AC3E}">
        <p14:creationId xmlns:p14="http://schemas.microsoft.com/office/powerpoint/2010/main" val="333368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89531-3F26-F0D5-6F0B-6FA4308B1B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89D318B-3426-3769-5960-2DD60EC758C7}"/>
              </a:ext>
            </a:extLst>
          </p:cNvPr>
          <p:cNvSpPr txBox="1"/>
          <p:nvPr/>
        </p:nvSpPr>
        <p:spPr>
          <a:xfrm>
            <a:off x="457200" y="1022472"/>
            <a:ext cx="8512066" cy="4708981"/>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ctr"/>
            <a:r>
              <a:rPr lang="en-US" dirty="0"/>
              <a:t>Failover is the mechanism of transferring workload and data processing from a primary system to a secondary system due to a failure or planned outage. </a:t>
            </a:r>
          </a:p>
          <a:p>
            <a:pPr fontAlgn="ctr"/>
            <a:endParaRPr lang="en-US" dirty="0"/>
          </a:p>
          <a:p>
            <a:pPr fontAlgn="ctr"/>
            <a:r>
              <a:rPr lang="en-US" dirty="0"/>
              <a:t>It provides immediate redundancy and ensures that critical services remain available despite system issues. </a:t>
            </a:r>
          </a:p>
          <a:p>
            <a:pPr fontAlgn="ctr"/>
            <a:endParaRPr lang="en-US" dirty="0"/>
          </a:p>
          <a:p>
            <a:pPr fontAlgn="ctr"/>
            <a:r>
              <a:rPr lang="en-IN" b="1" dirty="0"/>
              <a:t>Examples:</a:t>
            </a:r>
          </a:p>
          <a:p>
            <a:pPr fontAlgn="ctr"/>
            <a:r>
              <a:rPr lang="en-US" dirty="0"/>
              <a:t>Switching from a primary database server to a replicated database server. </a:t>
            </a:r>
          </a:p>
          <a:p>
            <a:pPr fontAlgn="ctr"/>
            <a:r>
              <a:rPr lang="en-US" dirty="0"/>
              <a:t>Initiating a virtual machine (VM) failover to a backup VM in a different location. </a:t>
            </a:r>
          </a:p>
          <a:p>
            <a:pPr fontAlgn="ctr"/>
            <a:endParaRPr lang="en-US" dirty="0"/>
          </a:p>
          <a:p>
            <a:pPr fontAlgn="ctr"/>
            <a:r>
              <a:rPr lang="en-IN" b="1" dirty="0"/>
              <a:t>Phases:</a:t>
            </a:r>
          </a:p>
          <a:p>
            <a:pPr fontAlgn="ctr"/>
            <a:r>
              <a:rPr lang="en-IN" dirty="0"/>
              <a:t>Failover typically involves:</a:t>
            </a:r>
          </a:p>
          <a:p>
            <a:pPr fontAlgn="ctr"/>
            <a:endParaRPr lang="en-IN" dirty="0"/>
          </a:p>
          <a:p>
            <a:pPr marL="355600" indent="-342900" fontAlgn="ctr">
              <a:buFont typeface="+mj-lt"/>
              <a:buAutoNum type="arabicPeriod"/>
            </a:pPr>
            <a:r>
              <a:rPr lang="en-US" dirty="0"/>
              <a:t>Detecting the failure</a:t>
            </a:r>
          </a:p>
          <a:p>
            <a:pPr marL="355600" indent="-342900" fontAlgn="ctr">
              <a:buFont typeface="+mj-lt"/>
              <a:buAutoNum type="arabicPeriod"/>
            </a:pPr>
            <a:r>
              <a:rPr lang="en-US" dirty="0"/>
              <a:t>Initiating the switch to the backup system</a:t>
            </a:r>
          </a:p>
          <a:p>
            <a:pPr marL="355600" indent="-342900" fontAlgn="ctr">
              <a:buFont typeface="+mj-lt"/>
              <a:buAutoNum type="arabicPeriod"/>
            </a:pPr>
            <a:r>
              <a:rPr lang="en-US" dirty="0"/>
              <a:t>Redirecting traffic. </a:t>
            </a:r>
          </a:p>
          <a:p>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6E51471A-92E7-944C-4CAE-58F6C39DC864}"/>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9119138B-0A88-C0D1-7B2C-7B8860536AD3}"/>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Failover</a:t>
            </a:r>
          </a:p>
        </p:txBody>
      </p:sp>
      <p:sp>
        <p:nvSpPr>
          <p:cNvPr id="5" name="Date Placeholder 4">
            <a:extLst>
              <a:ext uri="{FF2B5EF4-FFF2-40B4-BE49-F238E27FC236}">
                <a16:creationId xmlns:a16="http://schemas.microsoft.com/office/drawing/2014/main" id="{E52EF5AC-0E24-758A-8196-5D1A14614155}"/>
              </a:ext>
            </a:extLst>
          </p:cNvPr>
          <p:cNvSpPr>
            <a:spLocks noGrp="1"/>
          </p:cNvSpPr>
          <p:nvPr>
            <p:ph type="dt" sz="half" idx="10"/>
          </p:nvPr>
        </p:nvSpPr>
        <p:spPr/>
        <p:txBody>
          <a:bodyPr/>
          <a:lstStyle/>
          <a:p>
            <a:fld id="{7467FBF2-7D7A-49A0-862E-0FF7AB85EBA5}" type="datetime3">
              <a:rPr lang="en-US" smtClean="0"/>
              <a:t>3 November 2025</a:t>
            </a:fld>
            <a:endParaRPr lang="en-US" dirty="0"/>
          </a:p>
        </p:txBody>
      </p:sp>
      <p:sp>
        <p:nvSpPr>
          <p:cNvPr id="6" name="Footer Placeholder 5">
            <a:extLst>
              <a:ext uri="{FF2B5EF4-FFF2-40B4-BE49-F238E27FC236}">
                <a16:creationId xmlns:a16="http://schemas.microsoft.com/office/drawing/2014/main" id="{F03236B6-74F4-5115-2E45-E4BE84E50256}"/>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9AEE801B-38FA-5145-0E37-5CA6CAD3BF72}"/>
              </a:ext>
            </a:extLst>
          </p:cNvPr>
          <p:cNvSpPr>
            <a:spLocks noGrp="1"/>
          </p:cNvSpPr>
          <p:nvPr>
            <p:ph type="sldNum" sz="quarter" idx="12"/>
          </p:nvPr>
        </p:nvSpPr>
        <p:spPr/>
        <p:txBody>
          <a:bodyPr/>
          <a:lstStyle/>
          <a:p>
            <a:fld id="{B6F15528-21DE-4FAA-801E-634DDDAF4B2B}" type="slidenum">
              <a:rPr lang="en-US" smtClean="0"/>
              <a:pPr/>
              <a:t>54</a:t>
            </a:fld>
            <a:endParaRPr lang="en-US" dirty="0"/>
          </a:p>
        </p:txBody>
      </p:sp>
      <p:pic>
        <p:nvPicPr>
          <p:cNvPr id="9224" name="Picture 8" descr="Failover testing strategy - NashTech Blog">
            <a:extLst>
              <a:ext uri="{FF2B5EF4-FFF2-40B4-BE49-F238E27FC236}">
                <a16:creationId xmlns:a16="http://schemas.microsoft.com/office/drawing/2014/main" id="{29B1ADC5-8626-45E2-E461-00AF856191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2632" y="3583874"/>
            <a:ext cx="3743363" cy="277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124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BD57-0613-70BD-C656-DB02614C4506}"/>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994F734-B9E4-C0E4-76FC-B5B26772793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2DB3D980-83A5-19B8-DCE4-A74043EFE07D}"/>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Failback</a:t>
            </a:r>
          </a:p>
        </p:txBody>
      </p:sp>
      <p:sp>
        <p:nvSpPr>
          <p:cNvPr id="5" name="object 2">
            <a:extLst>
              <a:ext uri="{FF2B5EF4-FFF2-40B4-BE49-F238E27FC236}">
                <a16:creationId xmlns:a16="http://schemas.microsoft.com/office/drawing/2014/main" id="{094FEA5E-2D36-A645-06EB-DA11937BFD2F}"/>
              </a:ext>
            </a:extLst>
          </p:cNvPr>
          <p:cNvSpPr txBox="1"/>
          <p:nvPr/>
        </p:nvSpPr>
        <p:spPr>
          <a:xfrm>
            <a:off x="315967" y="1019630"/>
            <a:ext cx="8512066" cy="3877985"/>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US" dirty="0"/>
              <a:t>Failback is the process of returning operations from the secondary system back to the original, now restored, primary system. </a:t>
            </a:r>
          </a:p>
          <a:p>
            <a:pPr algn="just"/>
            <a:endParaRPr lang="en-US" altLang="en-US" dirty="0">
              <a:latin typeface="+mj-lt"/>
              <a:cs typeface="Times New Roman" panose="02020603050405020304" pitchFamily="18" charset="0"/>
            </a:endParaRPr>
          </a:p>
          <a:p>
            <a:pPr algn="just"/>
            <a:r>
              <a:rPr lang="en-US" dirty="0"/>
              <a:t>Once the primary system is deemed operational, failback ensures that the system returns to its normal, preferred state. </a:t>
            </a:r>
          </a:p>
          <a:p>
            <a:pPr algn="just"/>
            <a:endParaRPr lang="en-US" altLang="en-US" dirty="0">
              <a:latin typeface="+mj-lt"/>
              <a:cs typeface="Times New Roman" panose="02020603050405020304" pitchFamily="18" charset="0"/>
            </a:endParaRPr>
          </a:p>
          <a:p>
            <a:pPr algn="just"/>
            <a:r>
              <a:rPr lang="en-IN" b="1" dirty="0"/>
              <a:t>Examples:</a:t>
            </a:r>
          </a:p>
          <a:p>
            <a:pPr algn="just"/>
            <a:r>
              <a:rPr lang="en-US" dirty="0"/>
              <a:t>Replicating any changes made on the backup VM back to the original VM. </a:t>
            </a:r>
          </a:p>
          <a:p>
            <a:pPr algn="just"/>
            <a:r>
              <a:rPr lang="en-US" dirty="0"/>
              <a:t>Redirecting website traffic back to the original, now repaired, server. </a:t>
            </a:r>
          </a:p>
          <a:p>
            <a:pPr algn="just"/>
            <a:endParaRPr lang="en-US" altLang="en-US" dirty="0">
              <a:latin typeface="+mj-lt"/>
              <a:cs typeface="Times New Roman" panose="02020603050405020304" pitchFamily="18" charset="0"/>
            </a:endParaRPr>
          </a:p>
          <a:p>
            <a:pPr algn="just"/>
            <a:r>
              <a:rPr lang="en-IN" b="1" dirty="0"/>
              <a:t>Phases:</a:t>
            </a:r>
          </a:p>
          <a:p>
            <a:pPr marL="355600" indent="-342900" algn="just">
              <a:buFont typeface="+mj-lt"/>
              <a:buAutoNum type="arabicPeriod"/>
            </a:pPr>
            <a:r>
              <a:rPr lang="en-US" dirty="0"/>
              <a:t>Failback involves ensuring the primary system is functioning correctly</a:t>
            </a:r>
          </a:p>
          <a:p>
            <a:pPr marL="355600" indent="-342900" algn="just">
              <a:buFont typeface="+mj-lt"/>
              <a:buAutoNum type="arabicPeriod"/>
            </a:pPr>
            <a:r>
              <a:rPr lang="en-US" dirty="0"/>
              <a:t>Synchronizing data between the systems</a:t>
            </a:r>
          </a:p>
          <a:p>
            <a:pPr marL="355600" indent="-342900" algn="just">
              <a:buFont typeface="+mj-lt"/>
              <a:buAutoNum type="arabicPeriod"/>
            </a:pPr>
            <a:r>
              <a:rPr lang="en-US" dirty="0"/>
              <a:t>Redirecting traffic back to the primary. </a:t>
            </a:r>
            <a:endParaRPr lang="en-US" altLang="en-US" dirty="0">
              <a:latin typeface="+mj-lt"/>
              <a:cs typeface="Times New Roman" panose="02020603050405020304" pitchFamily="18" charset="0"/>
            </a:endParaRPr>
          </a:p>
        </p:txBody>
      </p:sp>
      <p:sp>
        <p:nvSpPr>
          <p:cNvPr id="6" name="Date Placeholder 5">
            <a:extLst>
              <a:ext uri="{FF2B5EF4-FFF2-40B4-BE49-F238E27FC236}">
                <a16:creationId xmlns:a16="http://schemas.microsoft.com/office/drawing/2014/main" id="{D414199D-F740-0A67-64F7-FB63F78647FE}"/>
              </a:ext>
            </a:extLst>
          </p:cNvPr>
          <p:cNvSpPr>
            <a:spLocks noGrp="1"/>
          </p:cNvSpPr>
          <p:nvPr>
            <p:ph type="dt" sz="half" idx="10"/>
          </p:nvPr>
        </p:nvSpPr>
        <p:spPr/>
        <p:txBody>
          <a:bodyPr/>
          <a:lstStyle/>
          <a:p>
            <a:fld id="{6396EE12-1C66-4A50-BBE9-59303DE286E7}" type="datetime3">
              <a:rPr lang="en-US" smtClean="0"/>
              <a:t>3 November 2025</a:t>
            </a:fld>
            <a:endParaRPr lang="en-US" dirty="0"/>
          </a:p>
        </p:txBody>
      </p:sp>
      <p:sp>
        <p:nvSpPr>
          <p:cNvPr id="7" name="Footer Placeholder 6">
            <a:extLst>
              <a:ext uri="{FF2B5EF4-FFF2-40B4-BE49-F238E27FC236}">
                <a16:creationId xmlns:a16="http://schemas.microsoft.com/office/drawing/2014/main" id="{C83433F5-E85F-4246-2925-5FA13C9A5164}"/>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D84A38E1-BC35-91F1-9C28-AA8AF922F588}"/>
              </a:ext>
            </a:extLst>
          </p:cNvPr>
          <p:cNvSpPr>
            <a:spLocks noGrp="1"/>
          </p:cNvSpPr>
          <p:nvPr>
            <p:ph type="sldNum" sz="quarter" idx="12"/>
          </p:nvPr>
        </p:nvSpPr>
        <p:spPr/>
        <p:txBody>
          <a:bodyPr/>
          <a:lstStyle/>
          <a:p>
            <a:fld id="{B6F15528-21DE-4FAA-801E-634DDDAF4B2B}" type="slidenum">
              <a:rPr lang="en-US" smtClean="0"/>
              <a:pPr/>
              <a:t>55</a:t>
            </a:fld>
            <a:endParaRPr lang="en-US" dirty="0"/>
          </a:p>
        </p:txBody>
      </p:sp>
    </p:spTree>
    <p:extLst>
      <p:ext uri="{BB962C8B-B14F-4D97-AF65-F5344CB8AC3E}">
        <p14:creationId xmlns:p14="http://schemas.microsoft.com/office/powerpoint/2010/main" val="4215079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FD266-4712-AD8D-62A3-D6184CBAC516}"/>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784C2762-1C2F-36E7-0E7C-35069808952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3442EA93-A213-9D19-556A-585F8FD03FF4}"/>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Failback</a:t>
            </a:r>
          </a:p>
        </p:txBody>
      </p:sp>
      <p:sp>
        <p:nvSpPr>
          <p:cNvPr id="6" name="Date Placeholder 5">
            <a:extLst>
              <a:ext uri="{FF2B5EF4-FFF2-40B4-BE49-F238E27FC236}">
                <a16:creationId xmlns:a16="http://schemas.microsoft.com/office/drawing/2014/main" id="{EF6B5BF1-AB7B-9B4F-A9E9-C4635F2C152D}"/>
              </a:ext>
            </a:extLst>
          </p:cNvPr>
          <p:cNvSpPr>
            <a:spLocks noGrp="1"/>
          </p:cNvSpPr>
          <p:nvPr>
            <p:ph type="dt" sz="half" idx="10"/>
          </p:nvPr>
        </p:nvSpPr>
        <p:spPr/>
        <p:txBody>
          <a:bodyPr/>
          <a:lstStyle/>
          <a:p>
            <a:fld id="{6396EE12-1C66-4A50-BBE9-59303DE286E7}" type="datetime3">
              <a:rPr lang="en-US" smtClean="0"/>
              <a:t>3 November 2025</a:t>
            </a:fld>
            <a:endParaRPr lang="en-US" dirty="0"/>
          </a:p>
        </p:txBody>
      </p:sp>
      <p:sp>
        <p:nvSpPr>
          <p:cNvPr id="7" name="Footer Placeholder 6">
            <a:extLst>
              <a:ext uri="{FF2B5EF4-FFF2-40B4-BE49-F238E27FC236}">
                <a16:creationId xmlns:a16="http://schemas.microsoft.com/office/drawing/2014/main" id="{9AB85C16-FAE1-888A-5068-58C3FAA9B250}"/>
              </a:ext>
            </a:extLst>
          </p:cNvPr>
          <p:cNvSpPr>
            <a:spLocks noGrp="1"/>
          </p:cNvSpPr>
          <p:nvPr>
            <p:ph type="ftr" sz="quarter" idx="11"/>
          </p:nvPr>
        </p:nvSpPr>
        <p:spPr/>
        <p:txBody>
          <a:bodyPr/>
          <a:lstStyle/>
          <a:p>
            <a:r>
              <a:rPr lang="de-DE"/>
              <a:t>Kashish Mahajan              UNIT 4</a:t>
            </a:r>
            <a:endParaRPr lang="en-US" dirty="0"/>
          </a:p>
        </p:txBody>
      </p:sp>
      <p:sp>
        <p:nvSpPr>
          <p:cNvPr id="8" name="Slide Number Placeholder 7">
            <a:extLst>
              <a:ext uri="{FF2B5EF4-FFF2-40B4-BE49-F238E27FC236}">
                <a16:creationId xmlns:a16="http://schemas.microsoft.com/office/drawing/2014/main" id="{3AD5EB3A-1024-7C60-345E-380698039EE6}"/>
              </a:ext>
            </a:extLst>
          </p:cNvPr>
          <p:cNvSpPr>
            <a:spLocks noGrp="1"/>
          </p:cNvSpPr>
          <p:nvPr>
            <p:ph type="sldNum" sz="quarter" idx="12"/>
          </p:nvPr>
        </p:nvSpPr>
        <p:spPr/>
        <p:txBody>
          <a:bodyPr/>
          <a:lstStyle/>
          <a:p>
            <a:fld id="{B6F15528-21DE-4FAA-801E-634DDDAF4B2B}" type="slidenum">
              <a:rPr lang="en-US" smtClean="0"/>
              <a:pPr/>
              <a:t>56</a:t>
            </a:fld>
            <a:endParaRPr lang="en-US" dirty="0"/>
          </a:p>
        </p:txBody>
      </p:sp>
      <p:pic>
        <p:nvPicPr>
          <p:cNvPr id="5" name="Picture 4">
            <a:extLst>
              <a:ext uri="{FF2B5EF4-FFF2-40B4-BE49-F238E27FC236}">
                <a16:creationId xmlns:a16="http://schemas.microsoft.com/office/drawing/2014/main" id="{99653AB9-70ED-8D66-A16A-DC2490EB2199}"/>
              </a:ext>
            </a:extLst>
          </p:cNvPr>
          <p:cNvPicPr>
            <a:picLocks noChangeAspect="1"/>
          </p:cNvPicPr>
          <p:nvPr/>
        </p:nvPicPr>
        <p:blipFill>
          <a:blip r:embed="rId4"/>
          <a:stretch>
            <a:fillRect/>
          </a:stretch>
        </p:blipFill>
        <p:spPr>
          <a:xfrm>
            <a:off x="457200" y="1748252"/>
            <a:ext cx="8250245" cy="3361495"/>
          </a:xfrm>
          <a:prstGeom prst="rect">
            <a:avLst/>
          </a:prstGeom>
        </p:spPr>
      </p:pic>
    </p:spTree>
    <p:extLst>
      <p:ext uri="{BB962C8B-B14F-4D97-AF65-F5344CB8AC3E}">
        <p14:creationId xmlns:p14="http://schemas.microsoft.com/office/powerpoint/2010/main" val="358223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A381-2A0A-76A6-C145-8F3366AB4C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523A6B-C028-06E3-7D95-AC165AEE55B8}"/>
              </a:ext>
            </a:extLst>
          </p:cNvPr>
          <p:cNvSpPr txBox="1"/>
          <p:nvPr/>
        </p:nvSpPr>
        <p:spPr>
          <a:xfrm>
            <a:off x="88711" y="1070855"/>
            <a:ext cx="8966577" cy="4431983"/>
          </a:xfrm>
          <a:prstGeom prst="rect">
            <a:avLst/>
          </a:prstGeom>
        </p:spPr>
        <p:txBody>
          <a:bodyPr wrap="square"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a:r>
              <a:rPr lang="en-IN" b="1" dirty="0"/>
              <a:t>Business Continuity:</a:t>
            </a:r>
          </a:p>
          <a:p>
            <a:pPr algn="just"/>
            <a:r>
              <a:rPr lang="en-US" altLang="en-US" dirty="0">
                <a:latin typeface="+mj-lt"/>
                <a:cs typeface="Times New Roman" panose="02020603050405020304" pitchFamily="18" charset="0"/>
              </a:rPr>
              <a:t>Both failover and failback are critical components of a robust disaster recovery plan, ensuring that businesses can continue operating even when faced with unexpected outages. </a:t>
            </a:r>
          </a:p>
          <a:p>
            <a:pPr algn="just"/>
            <a:endParaRPr lang="en-US" altLang="en-US" dirty="0">
              <a:latin typeface="+mj-lt"/>
              <a:cs typeface="Times New Roman" panose="02020603050405020304" pitchFamily="18" charset="0"/>
            </a:endParaRPr>
          </a:p>
          <a:p>
            <a:pPr algn="just"/>
            <a:r>
              <a:rPr lang="en-IN" b="1" dirty="0"/>
              <a:t>Reduced Downtime:</a:t>
            </a:r>
          </a:p>
          <a:p>
            <a:pPr algn="just"/>
            <a:r>
              <a:rPr lang="en-US" dirty="0"/>
              <a:t>By enabling rapid switching to backup systems, failover minimizes downtime and its associated costs. </a:t>
            </a:r>
          </a:p>
          <a:p>
            <a:pPr algn="just"/>
            <a:endParaRPr lang="en-US" altLang="en-US" dirty="0">
              <a:latin typeface="+mj-lt"/>
              <a:cs typeface="Times New Roman" panose="02020603050405020304" pitchFamily="18" charset="0"/>
            </a:endParaRPr>
          </a:p>
          <a:p>
            <a:pPr algn="just"/>
            <a:r>
              <a:rPr lang="en-IN" b="1" dirty="0"/>
              <a:t>Data Protection:</a:t>
            </a:r>
          </a:p>
          <a:p>
            <a:pPr algn="just"/>
            <a:r>
              <a:rPr lang="en-US" dirty="0"/>
              <a:t>Failover and failback processes often involve data replication, ensuring data consistency and availability across systems. </a:t>
            </a:r>
          </a:p>
          <a:p>
            <a:pPr algn="just"/>
            <a:endParaRPr lang="en-US" dirty="0"/>
          </a:p>
          <a:p>
            <a:pPr algn="just"/>
            <a:endParaRPr lang="en-US" altLang="en-US" dirty="0">
              <a:latin typeface="+mj-lt"/>
              <a:cs typeface="Times New Roman" panose="02020603050405020304" pitchFamily="18" charset="0"/>
            </a:endParaRPr>
          </a:p>
          <a:p>
            <a:pPr algn="just"/>
            <a:r>
              <a:rPr lang="en-US" dirty="0"/>
              <a:t>In essence, failover and failback work in tandem to provide fault tolerance and business continuity, allowing organizations to recover from system failures and maintain operational efficiency. </a:t>
            </a:r>
            <a:endParaRPr lang="en-US" altLang="en-US" dirty="0">
              <a:latin typeface="+mj-lt"/>
              <a:cs typeface="Times New Roman" panose="02020603050405020304" pitchFamily="18" charset="0"/>
            </a:endParaRPr>
          </a:p>
        </p:txBody>
      </p:sp>
      <p:pic>
        <p:nvPicPr>
          <p:cNvPr id="3" name="Picture 2" descr="A screenshot of a computer&#10;&#10;Description automatically generated">
            <a:extLst>
              <a:ext uri="{FF2B5EF4-FFF2-40B4-BE49-F238E27FC236}">
                <a16:creationId xmlns:a16="http://schemas.microsoft.com/office/drawing/2014/main" id="{1B79F7CA-94B7-EE63-2154-BD7A50CCD748}"/>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3A851C66-1703-91FB-8FDC-802EDB34355F}"/>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IN" sz="3000" b="1" dirty="0"/>
              <a:t>Importance in Disaster Recovery</a:t>
            </a:r>
          </a:p>
        </p:txBody>
      </p:sp>
      <p:sp>
        <p:nvSpPr>
          <p:cNvPr id="5" name="Date Placeholder 4">
            <a:extLst>
              <a:ext uri="{FF2B5EF4-FFF2-40B4-BE49-F238E27FC236}">
                <a16:creationId xmlns:a16="http://schemas.microsoft.com/office/drawing/2014/main" id="{77F282BA-6D2E-6E59-68EE-609812D69D00}"/>
              </a:ext>
            </a:extLst>
          </p:cNvPr>
          <p:cNvSpPr>
            <a:spLocks noGrp="1"/>
          </p:cNvSpPr>
          <p:nvPr>
            <p:ph type="dt" sz="half" idx="10"/>
          </p:nvPr>
        </p:nvSpPr>
        <p:spPr/>
        <p:txBody>
          <a:bodyPr/>
          <a:lstStyle/>
          <a:p>
            <a:fld id="{89F637CF-D4A4-4172-B394-117E8790ED13}" type="datetime3">
              <a:rPr lang="en-US" smtClean="0"/>
              <a:t>3 November 2025</a:t>
            </a:fld>
            <a:endParaRPr lang="en-US" dirty="0"/>
          </a:p>
        </p:txBody>
      </p:sp>
      <p:sp>
        <p:nvSpPr>
          <p:cNvPr id="6" name="Footer Placeholder 5">
            <a:extLst>
              <a:ext uri="{FF2B5EF4-FFF2-40B4-BE49-F238E27FC236}">
                <a16:creationId xmlns:a16="http://schemas.microsoft.com/office/drawing/2014/main" id="{86E31247-1C50-83C7-0D4B-423234EB0D60}"/>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619701AE-3E97-38B4-1CFF-67952EE3DDBB}"/>
              </a:ext>
            </a:extLst>
          </p:cNvPr>
          <p:cNvSpPr>
            <a:spLocks noGrp="1"/>
          </p:cNvSpPr>
          <p:nvPr>
            <p:ph type="sldNum" sz="quarter" idx="12"/>
          </p:nvPr>
        </p:nvSpPr>
        <p:spPr/>
        <p:txBody>
          <a:bodyPr/>
          <a:lstStyle/>
          <a:p>
            <a:fld id="{B6F15528-21DE-4FAA-801E-634DDDAF4B2B}" type="slidenum">
              <a:rPr lang="en-US" smtClean="0"/>
              <a:pPr/>
              <a:t>57</a:t>
            </a:fld>
            <a:endParaRPr lang="en-US" dirty="0"/>
          </a:p>
        </p:txBody>
      </p:sp>
    </p:spTree>
    <p:extLst>
      <p:ext uri="{BB962C8B-B14F-4D97-AF65-F5344CB8AC3E}">
        <p14:creationId xmlns:p14="http://schemas.microsoft.com/office/powerpoint/2010/main" val="2510988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224A6-20AC-ED70-2439-8EF0AE8039F8}"/>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3FCB329-386A-45C1-F7B8-B497BDF0D50D}"/>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A6D72FF1-4B7E-82A7-A52B-81658D36AA22}"/>
              </a:ext>
            </a:extLst>
          </p:cNvPr>
          <p:cNvSpPr txBox="1">
            <a:spLocks/>
          </p:cNvSpPr>
          <p:nvPr/>
        </p:nvSpPr>
        <p:spPr>
          <a:xfrm>
            <a:off x="1749346" y="0"/>
            <a:ext cx="7394653"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r>
              <a:rPr lang="en-US" sz="3000" b="1" dirty="0"/>
              <a:t>Real-World Example in a Clustered System</a:t>
            </a:r>
            <a:endParaRPr lang="en-IN" sz="3000" b="1" dirty="0"/>
          </a:p>
        </p:txBody>
      </p:sp>
      <p:sp>
        <p:nvSpPr>
          <p:cNvPr id="5" name="Date Placeholder 4">
            <a:extLst>
              <a:ext uri="{FF2B5EF4-FFF2-40B4-BE49-F238E27FC236}">
                <a16:creationId xmlns:a16="http://schemas.microsoft.com/office/drawing/2014/main" id="{83072DF2-3937-9B5A-1A8C-A375D6818CB5}"/>
              </a:ext>
            </a:extLst>
          </p:cNvPr>
          <p:cNvSpPr>
            <a:spLocks noGrp="1"/>
          </p:cNvSpPr>
          <p:nvPr>
            <p:ph type="dt" sz="half" idx="10"/>
          </p:nvPr>
        </p:nvSpPr>
        <p:spPr/>
        <p:txBody>
          <a:bodyPr/>
          <a:lstStyle/>
          <a:p>
            <a:fld id="{07E96D50-D359-4B60-A864-74FB0A5FADD3}" type="datetime3">
              <a:rPr lang="en-US" smtClean="0"/>
              <a:t>3 November 2025</a:t>
            </a:fld>
            <a:endParaRPr lang="en-US" dirty="0"/>
          </a:p>
        </p:txBody>
      </p:sp>
      <p:sp>
        <p:nvSpPr>
          <p:cNvPr id="6" name="Footer Placeholder 5">
            <a:extLst>
              <a:ext uri="{FF2B5EF4-FFF2-40B4-BE49-F238E27FC236}">
                <a16:creationId xmlns:a16="http://schemas.microsoft.com/office/drawing/2014/main" id="{5FBCD8A9-F7FB-4840-ED5B-352D7E3B9223}"/>
              </a:ext>
            </a:extLst>
          </p:cNvPr>
          <p:cNvSpPr>
            <a:spLocks noGrp="1"/>
          </p:cNvSpPr>
          <p:nvPr>
            <p:ph type="ftr" sz="quarter" idx="11"/>
          </p:nvPr>
        </p:nvSpPr>
        <p:spPr/>
        <p:txBody>
          <a:bodyPr/>
          <a:lstStyle/>
          <a:p>
            <a:r>
              <a:rPr lang="de-DE"/>
              <a:t>Kashish Mahajan              UNIT 4</a:t>
            </a:r>
            <a:endParaRPr lang="en-US" dirty="0"/>
          </a:p>
        </p:txBody>
      </p:sp>
      <p:sp>
        <p:nvSpPr>
          <p:cNvPr id="7" name="Slide Number Placeholder 6">
            <a:extLst>
              <a:ext uri="{FF2B5EF4-FFF2-40B4-BE49-F238E27FC236}">
                <a16:creationId xmlns:a16="http://schemas.microsoft.com/office/drawing/2014/main" id="{64F3BD77-9ABC-3C2E-2804-D106A1358FF6}"/>
              </a:ext>
            </a:extLst>
          </p:cNvPr>
          <p:cNvSpPr>
            <a:spLocks noGrp="1"/>
          </p:cNvSpPr>
          <p:nvPr>
            <p:ph type="sldNum" sz="quarter" idx="12"/>
          </p:nvPr>
        </p:nvSpPr>
        <p:spPr/>
        <p:txBody>
          <a:bodyPr/>
          <a:lstStyle/>
          <a:p>
            <a:fld id="{B6F15528-21DE-4FAA-801E-634DDDAF4B2B}" type="slidenum">
              <a:rPr lang="en-US" smtClean="0"/>
              <a:pPr/>
              <a:t>58</a:t>
            </a:fld>
            <a:endParaRPr lang="en-US" dirty="0"/>
          </a:p>
        </p:txBody>
      </p:sp>
      <p:pic>
        <p:nvPicPr>
          <p:cNvPr id="9" name="Picture 8">
            <a:extLst>
              <a:ext uri="{FF2B5EF4-FFF2-40B4-BE49-F238E27FC236}">
                <a16:creationId xmlns:a16="http://schemas.microsoft.com/office/drawing/2014/main" id="{706F270C-3857-891B-2B4D-C4A82B7733B4}"/>
              </a:ext>
            </a:extLst>
          </p:cNvPr>
          <p:cNvPicPr>
            <a:picLocks noChangeAspect="1"/>
          </p:cNvPicPr>
          <p:nvPr/>
        </p:nvPicPr>
        <p:blipFill>
          <a:blip r:embed="rId4"/>
          <a:stretch>
            <a:fillRect/>
          </a:stretch>
        </p:blipFill>
        <p:spPr>
          <a:xfrm>
            <a:off x="353619" y="1530416"/>
            <a:ext cx="8660592" cy="3438256"/>
          </a:xfrm>
          <a:prstGeom prst="rect">
            <a:avLst/>
          </a:prstGeom>
        </p:spPr>
      </p:pic>
    </p:spTree>
    <p:extLst>
      <p:ext uri="{BB962C8B-B14F-4D97-AF65-F5344CB8AC3E}">
        <p14:creationId xmlns:p14="http://schemas.microsoft.com/office/powerpoint/2010/main" val="4102159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Daily Quiz</a:t>
            </a:r>
          </a:p>
        </p:txBody>
      </p:sp>
      <p:sp>
        <p:nvSpPr>
          <p:cNvPr id="5" name="Slide Number Placeholder 4">
            <a:extLst>
              <a:ext uri="{FF2B5EF4-FFF2-40B4-BE49-F238E27FC236}">
                <a16:creationId xmlns:a16="http://schemas.microsoft.com/office/drawing/2014/main" id="{6819C966-DBBE-4336-986E-FD646CEC1F68}"/>
              </a:ext>
            </a:extLst>
          </p:cNvPr>
          <p:cNvSpPr>
            <a:spLocks noGrp="1"/>
          </p:cNvSpPr>
          <p:nvPr>
            <p:ph type="sldNum" sz="quarter" idx="12"/>
          </p:nvPr>
        </p:nvSpPr>
        <p:spPr/>
        <p:txBody>
          <a:bodyPr/>
          <a:lstStyle/>
          <a:p>
            <a:fld id="{B6F15528-21DE-4FAA-801E-634DDDAF4B2B}" type="slidenum">
              <a:rPr lang="en-US" smtClean="0"/>
              <a:pPr/>
              <a:t>59</a:t>
            </a:fld>
            <a:endParaRPr lang="en-US" dirty="0"/>
          </a:p>
        </p:txBody>
      </p:sp>
      <p:sp>
        <p:nvSpPr>
          <p:cNvPr id="2" name="Date Placeholder 1">
            <a:extLst>
              <a:ext uri="{FF2B5EF4-FFF2-40B4-BE49-F238E27FC236}">
                <a16:creationId xmlns:a16="http://schemas.microsoft.com/office/drawing/2014/main" id="{7889C130-B274-4D2C-BEDF-5E5DB55F6478}"/>
              </a:ext>
            </a:extLst>
          </p:cNvPr>
          <p:cNvSpPr>
            <a:spLocks noGrp="1"/>
          </p:cNvSpPr>
          <p:nvPr>
            <p:ph type="dt" sz="half" idx="10"/>
          </p:nvPr>
        </p:nvSpPr>
        <p:spPr/>
        <p:txBody>
          <a:bodyPr/>
          <a:lstStyle/>
          <a:p>
            <a:fld id="{7D47F61B-01F5-41F9-928B-6194637836D6}" type="datetime3">
              <a:rPr lang="en-US" smtClean="0"/>
              <a:t>3 November 2025</a:t>
            </a:fld>
            <a:endParaRPr lang="en-US" dirty="0"/>
          </a:p>
        </p:txBody>
      </p:sp>
      <p:sp>
        <p:nvSpPr>
          <p:cNvPr id="6" name="Rectangle 5">
            <a:extLst>
              <a:ext uri="{FF2B5EF4-FFF2-40B4-BE49-F238E27FC236}">
                <a16:creationId xmlns:a16="http://schemas.microsoft.com/office/drawing/2014/main" id="{A9FF8A23-96E8-4F48-BF73-BDB994611439}"/>
              </a:ext>
            </a:extLst>
          </p:cNvPr>
          <p:cNvSpPr/>
          <p:nvPr/>
        </p:nvSpPr>
        <p:spPr>
          <a:xfrm>
            <a:off x="457200" y="889844"/>
            <a:ext cx="8382000" cy="5552739"/>
          </a:xfrm>
          <a:prstGeom prst="rect">
            <a:avLst/>
          </a:prstGeom>
        </p:spPr>
        <p:txBody>
          <a:bodyPr wrap="square">
            <a:spAutoFit/>
          </a:bodyPr>
          <a:lstStyle/>
          <a:p>
            <a:pPr marL="342900" indent="-342900" algn="just">
              <a:lnSpc>
                <a:spcPct val="150000"/>
              </a:lnSpc>
              <a:buAutoNum type="arabicParenR"/>
            </a:pPr>
            <a:r>
              <a:rPr lang="en-US" sz="1400" dirty="0">
                <a:latin typeface="+mj-lt"/>
              </a:rPr>
              <a:t>BLAS (Basic Linear Algebra Subprograms) is primarily used for:</a:t>
            </a:r>
          </a:p>
          <a:p>
            <a:pPr marL="800100" lvl="1" indent="-342900" algn="just">
              <a:lnSpc>
                <a:spcPct val="150000"/>
              </a:lnSpc>
              <a:buAutoNum type="alphaUcPeriod"/>
            </a:pPr>
            <a:r>
              <a:rPr lang="en-IN" sz="1400" dirty="0"/>
              <a:t>Database indexing</a:t>
            </a:r>
          </a:p>
          <a:p>
            <a:pPr marL="800100" lvl="1" indent="-342900" algn="just">
              <a:lnSpc>
                <a:spcPct val="150000"/>
              </a:lnSpc>
              <a:buAutoNum type="alphaUcPeriod"/>
            </a:pPr>
            <a:r>
              <a:rPr lang="en-IN" sz="1400" dirty="0"/>
              <a:t>Solving non-linear equations</a:t>
            </a:r>
          </a:p>
          <a:p>
            <a:pPr marL="800100" lvl="1" indent="-342900" algn="just">
              <a:lnSpc>
                <a:spcPct val="150000"/>
              </a:lnSpc>
              <a:buAutoNum type="alphaUcPeriod"/>
            </a:pPr>
            <a:r>
              <a:rPr lang="en-US" sz="1400" b="1" dirty="0"/>
              <a:t>Optimizing matrix and vector operations</a:t>
            </a:r>
          </a:p>
          <a:p>
            <a:pPr marL="800100" lvl="1" indent="-342900" algn="just">
              <a:lnSpc>
                <a:spcPct val="150000"/>
              </a:lnSpc>
              <a:buAutoNum type="alphaUcPeriod"/>
            </a:pPr>
            <a:r>
              <a:rPr lang="en-IN" sz="1400" dirty="0"/>
              <a:t>Image compression</a:t>
            </a:r>
          </a:p>
          <a:p>
            <a:pPr marL="800100" lvl="1" indent="-342900" algn="just">
              <a:lnSpc>
                <a:spcPct val="150000"/>
              </a:lnSpc>
              <a:buAutoNum type="alphaUcPeriod"/>
            </a:pPr>
            <a:endParaRPr lang="en-IN" sz="1400" b="1" dirty="0">
              <a:latin typeface="+mj-lt"/>
            </a:endParaRPr>
          </a:p>
          <a:p>
            <a:pPr marL="342900" indent="-342900" algn="just">
              <a:lnSpc>
                <a:spcPct val="150000"/>
              </a:lnSpc>
              <a:buAutoNum type="arabicParenR"/>
            </a:pPr>
            <a:r>
              <a:rPr lang="en-US" sz="1400" dirty="0"/>
              <a:t>LAPACK is built on top of:</a:t>
            </a:r>
          </a:p>
          <a:p>
            <a:pPr marL="800100" lvl="1" indent="-342900" algn="just">
              <a:lnSpc>
                <a:spcPct val="150000"/>
              </a:lnSpc>
              <a:buAutoNum type="alphaUcPeriod"/>
            </a:pPr>
            <a:r>
              <a:rPr lang="en-IN" sz="1400" dirty="0"/>
              <a:t>Hadoop</a:t>
            </a:r>
          </a:p>
          <a:p>
            <a:pPr marL="800100" lvl="1" indent="-342900" algn="just">
              <a:lnSpc>
                <a:spcPct val="150000"/>
              </a:lnSpc>
              <a:buAutoNum type="alphaUcPeriod"/>
            </a:pPr>
            <a:r>
              <a:rPr lang="en-IN" sz="1400" dirty="0"/>
              <a:t>MPI</a:t>
            </a:r>
          </a:p>
          <a:p>
            <a:pPr marL="800100" lvl="1" indent="-342900" algn="just">
              <a:lnSpc>
                <a:spcPct val="150000"/>
              </a:lnSpc>
              <a:buAutoNum type="alphaUcPeriod"/>
            </a:pPr>
            <a:r>
              <a:rPr lang="en-IN" sz="1400" b="1" dirty="0"/>
              <a:t>BLAS</a:t>
            </a:r>
          </a:p>
          <a:p>
            <a:pPr marL="800100" lvl="1" indent="-342900" algn="just">
              <a:lnSpc>
                <a:spcPct val="150000"/>
              </a:lnSpc>
              <a:buAutoNum type="alphaUcPeriod"/>
            </a:pPr>
            <a:r>
              <a:rPr lang="en-IN" sz="1400" dirty="0"/>
              <a:t>OpenMP</a:t>
            </a:r>
          </a:p>
          <a:p>
            <a:pPr marL="800100" lvl="1" indent="-342900" algn="just">
              <a:lnSpc>
                <a:spcPct val="150000"/>
              </a:lnSpc>
              <a:buAutoNum type="alphaUcPeriod"/>
            </a:pPr>
            <a:endParaRPr lang="en-IN" sz="1400" dirty="0"/>
          </a:p>
          <a:p>
            <a:pPr marL="342900" indent="-342900" algn="just">
              <a:lnSpc>
                <a:spcPct val="150000"/>
              </a:lnSpc>
              <a:buAutoNum type="arabicParenR"/>
            </a:pPr>
            <a:r>
              <a:rPr lang="en-US" sz="1400" dirty="0"/>
              <a:t>Cluster computing primarily focuses on:</a:t>
            </a:r>
          </a:p>
          <a:p>
            <a:pPr marL="800100" lvl="1" indent="-342900" algn="just">
              <a:lnSpc>
                <a:spcPct val="150000"/>
              </a:lnSpc>
              <a:buAutoNum type="alphaUcPeriod"/>
            </a:pPr>
            <a:r>
              <a:rPr lang="en-IN" sz="1400" dirty="0"/>
              <a:t>Mobile app development</a:t>
            </a:r>
          </a:p>
          <a:p>
            <a:pPr marL="800100" lvl="1" indent="-342900" algn="just">
              <a:lnSpc>
                <a:spcPct val="150000"/>
              </a:lnSpc>
              <a:buAutoNum type="alphaUcPeriod"/>
            </a:pPr>
            <a:r>
              <a:rPr lang="en-US" sz="1400" b="1" dirty="0"/>
              <a:t>Distributed but coordinated processing</a:t>
            </a:r>
          </a:p>
          <a:p>
            <a:pPr marL="800100" lvl="1" indent="-342900" algn="just">
              <a:lnSpc>
                <a:spcPct val="150000"/>
              </a:lnSpc>
              <a:buAutoNum type="alphaUcPeriod"/>
            </a:pPr>
            <a:r>
              <a:rPr lang="en-IN" sz="1400" dirty="0"/>
              <a:t>Quantum computing</a:t>
            </a:r>
          </a:p>
          <a:p>
            <a:pPr marL="800100" lvl="1" indent="-342900" algn="just">
              <a:lnSpc>
                <a:spcPct val="150000"/>
              </a:lnSpc>
              <a:buAutoNum type="alphaUcPeriod"/>
            </a:pPr>
            <a:r>
              <a:rPr lang="en-IN" sz="1400" dirty="0"/>
              <a:t>Browser-based execution</a:t>
            </a:r>
            <a:endParaRPr lang="en-US" sz="1400" dirty="0">
              <a:latin typeface="+mj-lt"/>
            </a:endParaRPr>
          </a:p>
        </p:txBody>
      </p:sp>
      <p:sp>
        <p:nvSpPr>
          <p:cNvPr id="8" name="Footer Placeholder 7">
            <a:extLst>
              <a:ext uri="{FF2B5EF4-FFF2-40B4-BE49-F238E27FC236}">
                <a16:creationId xmlns:a16="http://schemas.microsoft.com/office/drawing/2014/main" id="{D644F14C-D2F1-46F3-B587-69EAD2B9580C}"/>
              </a:ext>
            </a:extLst>
          </p:cNvPr>
          <p:cNvSpPr>
            <a:spLocks noGrp="1"/>
          </p:cNvSpPr>
          <p:nvPr>
            <p:ph type="ftr" sz="quarter" idx="11"/>
          </p:nvPr>
        </p:nvSpPr>
        <p:spPr/>
        <p:txBody>
          <a:bodyPr/>
          <a:lstStyle/>
          <a:p>
            <a:r>
              <a:rPr lang="de-DE" dirty="0"/>
              <a:t>Kashish Mahajan              UNIT 4</a:t>
            </a:r>
            <a:endParaRPr lang="en-US" dirty="0"/>
          </a:p>
        </p:txBody>
      </p:sp>
      <p:pic>
        <p:nvPicPr>
          <p:cNvPr id="9" name="Picture 8">
            <a:extLst>
              <a:ext uri="{FF2B5EF4-FFF2-40B4-BE49-F238E27FC236}">
                <a16:creationId xmlns:a16="http://schemas.microsoft.com/office/drawing/2014/main" id="{2ACAE079-A509-8A46-9484-57CCAC3C0C57}"/>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B39E2DD1-FED9-8C14-2AEC-E776F390A510}"/>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AD82-A8C4-8DDC-276C-2C2BE15F582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1242117-BC66-27F5-8302-F8B4BEEA6AE4}"/>
              </a:ext>
            </a:extLst>
          </p:cNvPr>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Daily Quiz</a:t>
            </a:r>
          </a:p>
        </p:txBody>
      </p:sp>
      <p:sp>
        <p:nvSpPr>
          <p:cNvPr id="5" name="Slide Number Placeholder 4">
            <a:extLst>
              <a:ext uri="{FF2B5EF4-FFF2-40B4-BE49-F238E27FC236}">
                <a16:creationId xmlns:a16="http://schemas.microsoft.com/office/drawing/2014/main" id="{AFF27FE5-89B3-F3BD-71D8-E8C8BAC38375}"/>
              </a:ext>
            </a:extLst>
          </p:cNvPr>
          <p:cNvSpPr>
            <a:spLocks noGrp="1"/>
          </p:cNvSpPr>
          <p:nvPr>
            <p:ph type="sldNum" sz="quarter" idx="12"/>
          </p:nvPr>
        </p:nvSpPr>
        <p:spPr/>
        <p:txBody>
          <a:bodyPr/>
          <a:lstStyle/>
          <a:p>
            <a:fld id="{B6F15528-21DE-4FAA-801E-634DDDAF4B2B}" type="slidenum">
              <a:rPr lang="en-US" smtClean="0"/>
              <a:pPr/>
              <a:t>60</a:t>
            </a:fld>
            <a:endParaRPr lang="en-US" dirty="0"/>
          </a:p>
        </p:txBody>
      </p:sp>
      <p:sp>
        <p:nvSpPr>
          <p:cNvPr id="2" name="Date Placeholder 1">
            <a:extLst>
              <a:ext uri="{FF2B5EF4-FFF2-40B4-BE49-F238E27FC236}">
                <a16:creationId xmlns:a16="http://schemas.microsoft.com/office/drawing/2014/main" id="{EEABAC81-DA15-57D8-812C-01EB05B66CC4}"/>
              </a:ext>
            </a:extLst>
          </p:cNvPr>
          <p:cNvSpPr>
            <a:spLocks noGrp="1"/>
          </p:cNvSpPr>
          <p:nvPr>
            <p:ph type="dt" sz="half" idx="10"/>
          </p:nvPr>
        </p:nvSpPr>
        <p:spPr/>
        <p:txBody>
          <a:bodyPr/>
          <a:lstStyle/>
          <a:p>
            <a:fld id="{7D47F61B-01F5-41F9-928B-6194637836D6}" type="datetime3">
              <a:rPr lang="en-US" smtClean="0"/>
              <a:t>3 November 2025</a:t>
            </a:fld>
            <a:endParaRPr lang="en-US" dirty="0"/>
          </a:p>
        </p:txBody>
      </p:sp>
      <p:sp>
        <p:nvSpPr>
          <p:cNvPr id="6" name="Rectangle 5">
            <a:extLst>
              <a:ext uri="{FF2B5EF4-FFF2-40B4-BE49-F238E27FC236}">
                <a16:creationId xmlns:a16="http://schemas.microsoft.com/office/drawing/2014/main" id="{D2934E89-AA1F-A00E-CB45-3170641D2C9B}"/>
              </a:ext>
            </a:extLst>
          </p:cNvPr>
          <p:cNvSpPr/>
          <p:nvPr/>
        </p:nvSpPr>
        <p:spPr>
          <a:xfrm>
            <a:off x="457200" y="889844"/>
            <a:ext cx="8382000" cy="5635517"/>
          </a:xfrm>
          <a:prstGeom prst="rect">
            <a:avLst/>
          </a:prstGeom>
        </p:spPr>
        <p:txBody>
          <a:bodyPr wrap="square">
            <a:spAutoFit/>
          </a:bodyPr>
          <a:lstStyle/>
          <a:p>
            <a:pPr marL="342900" indent="-342900" algn="just">
              <a:lnSpc>
                <a:spcPct val="150000"/>
              </a:lnSpc>
              <a:buFont typeface="+mj-lt"/>
              <a:buAutoNum type="arabicPeriod" startAt="4"/>
            </a:pPr>
            <a:r>
              <a:rPr lang="en-US" sz="1400" dirty="0"/>
              <a:t>Which of these is NOT a key architectural factor in clustering?</a:t>
            </a:r>
            <a:endParaRPr lang="en-US" sz="1400" dirty="0">
              <a:latin typeface="+mj-lt"/>
            </a:endParaRPr>
          </a:p>
          <a:p>
            <a:pPr marL="800100" lvl="1" indent="-342900" algn="just">
              <a:lnSpc>
                <a:spcPct val="150000"/>
              </a:lnSpc>
              <a:buFont typeface="+mj-lt"/>
              <a:buAutoNum type="alphaUcPeriod"/>
            </a:pPr>
            <a:r>
              <a:rPr lang="en-IN" sz="1400" dirty="0"/>
              <a:t>Interconnect topology</a:t>
            </a:r>
          </a:p>
          <a:p>
            <a:pPr marL="800100" lvl="1" indent="-342900" algn="just">
              <a:lnSpc>
                <a:spcPct val="150000"/>
              </a:lnSpc>
              <a:buFont typeface="+mj-lt"/>
              <a:buAutoNum type="alphaUcPeriod"/>
            </a:pPr>
            <a:r>
              <a:rPr lang="en-IN" sz="1400" dirty="0"/>
              <a:t>Data partitioning strategy</a:t>
            </a:r>
          </a:p>
          <a:p>
            <a:pPr marL="800100" lvl="1" indent="-342900" algn="just">
              <a:lnSpc>
                <a:spcPct val="150000"/>
              </a:lnSpc>
              <a:buFont typeface="+mj-lt"/>
              <a:buAutoNum type="alphaUcPeriod"/>
            </a:pPr>
            <a:r>
              <a:rPr lang="en-IN" sz="1400" b="1" dirty="0"/>
              <a:t>Monitor refresh rate</a:t>
            </a:r>
          </a:p>
          <a:p>
            <a:pPr marL="800100" lvl="1" indent="-342900" algn="just">
              <a:lnSpc>
                <a:spcPct val="150000"/>
              </a:lnSpc>
              <a:buFont typeface="+mj-lt"/>
              <a:buAutoNum type="alphaUcPeriod"/>
            </a:pPr>
            <a:r>
              <a:rPr lang="en-IN" sz="1400" dirty="0"/>
              <a:t>Node configuration</a:t>
            </a:r>
          </a:p>
          <a:p>
            <a:pPr lvl="1" algn="just">
              <a:lnSpc>
                <a:spcPct val="150000"/>
              </a:lnSpc>
            </a:pPr>
            <a:endParaRPr lang="en-IN" sz="1400" b="1" dirty="0">
              <a:latin typeface="+mj-lt"/>
            </a:endParaRPr>
          </a:p>
          <a:p>
            <a:pPr marL="342900" indent="-342900" algn="just">
              <a:lnSpc>
                <a:spcPct val="150000"/>
              </a:lnSpc>
              <a:buAutoNum type="arabicPeriod" startAt="4"/>
            </a:pPr>
            <a:r>
              <a:rPr lang="en-US" sz="1400" dirty="0"/>
              <a:t>Which is NOT a type of cluster in computing?</a:t>
            </a:r>
          </a:p>
          <a:p>
            <a:pPr marL="800100" lvl="1" indent="-342900" algn="just">
              <a:lnSpc>
                <a:spcPct val="150000"/>
              </a:lnSpc>
              <a:buAutoNum type="alphaUcPeriod"/>
            </a:pPr>
            <a:r>
              <a:rPr lang="en-IN" sz="1400" dirty="0"/>
              <a:t>High-Availability Cluster</a:t>
            </a:r>
          </a:p>
          <a:p>
            <a:pPr marL="800100" lvl="1" indent="-342900" algn="just">
              <a:lnSpc>
                <a:spcPct val="150000"/>
              </a:lnSpc>
              <a:buAutoNum type="alphaUcPeriod"/>
            </a:pPr>
            <a:r>
              <a:rPr lang="en-IN" sz="1400" dirty="0"/>
              <a:t>Load Balancing Cluster</a:t>
            </a:r>
          </a:p>
          <a:p>
            <a:pPr marL="800100" lvl="1" indent="-342900" algn="just">
              <a:lnSpc>
                <a:spcPct val="150000"/>
              </a:lnSpc>
              <a:buAutoNum type="alphaUcPeriod"/>
            </a:pPr>
            <a:r>
              <a:rPr lang="en-IN" sz="1400" b="1" dirty="0"/>
              <a:t>Blockchain Cluster</a:t>
            </a:r>
          </a:p>
          <a:p>
            <a:pPr marL="800100" lvl="1" indent="-342900" algn="just">
              <a:lnSpc>
                <a:spcPct val="150000"/>
              </a:lnSpc>
              <a:buAutoNum type="alphaUcPeriod"/>
            </a:pPr>
            <a:r>
              <a:rPr lang="en-IN" sz="1400" dirty="0"/>
              <a:t>High-Performance Cluster</a:t>
            </a:r>
          </a:p>
          <a:p>
            <a:pPr lvl="1" algn="just">
              <a:lnSpc>
                <a:spcPct val="150000"/>
              </a:lnSpc>
            </a:pPr>
            <a:endParaRPr lang="en-IN" sz="1400" dirty="0"/>
          </a:p>
          <a:p>
            <a:pPr marL="342900" indent="-342900" algn="just">
              <a:lnSpc>
                <a:spcPct val="150000"/>
              </a:lnSpc>
              <a:buAutoNum type="arabicPeriod" startAt="4"/>
            </a:pPr>
            <a:r>
              <a:rPr lang="en-US" sz="1400" dirty="0"/>
              <a:t>Mission-critical systems are characterized by:</a:t>
            </a:r>
          </a:p>
          <a:p>
            <a:pPr marL="800100" lvl="1" indent="-342900" algn="just">
              <a:lnSpc>
                <a:spcPct val="150000"/>
              </a:lnSpc>
              <a:buAutoNum type="alphaUcPeriod"/>
            </a:pPr>
            <a:r>
              <a:rPr lang="en-IN" sz="1400" dirty="0"/>
              <a:t>Optional availability</a:t>
            </a:r>
          </a:p>
          <a:p>
            <a:pPr marL="800100" lvl="1" indent="-342900" algn="just">
              <a:lnSpc>
                <a:spcPct val="150000"/>
              </a:lnSpc>
              <a:buAutoNum type="alphaUcPeriod"/>
            </a:pPr>
            <a:r>
              <a:rPr lang="en-IN" sz="1400" dirty="0"/>
              <a:t>Casual data loss tolerance</a:t>
            </a:r>
          </a:p>
          <a:p>
            <a:pPr marL="800100" lvl="1" indent="-342900" algn="just">
              <a:lnSpc>
                <a:spcPct val="150000"/>
              </a:lnSpc>
              <a:buAutoNum type="alphaUcPeriod"/>
            </a:pPr>
            <a:r>
              <a:rPr lang="en-IN" sz="1400" b="1" dirty="0"/>
              <a:t>No downtime tolerance</a:t>
            </a:r>
          </a:p>
          <a:p>
            <a:pPr marL="800100" lvl="1" indent="-342900" algn="just">
              <a:lnSpc>
                <a:spcPct val="150000"/>
              </a:lnSpc>
              <a:buAutoNum type="alphaUcPeriod"/>
            </a:pPr>
            <a:r>
              <a:rPr lang="en-IN" sz="1400" dirty="0"/>
              <a:t>Low-priority response</a:t>
            </a:r>
            <a:endParaRPr lang="en-US" sz="1400" dirty="0">
              <a:latin typeface="+mj-lt"/>
            </a:endParaRPr>
          </a:p>
        </p:txBody>
      </p:sp>
      <p:sp>
        <p:nvSpPr>
          <p:cNvPr id="8" name="Footer Placeholder 7">
            <a:extLst>
              <a:ext uri="{FF2B5EF4-FFF2-40B4-BE49-F238E27FC236}">
                <a16:creationId xmlns:a16="http://schemas.microsoft.com/office/drawing/2014/main" id="{0C7375E7-4B7E-A371-6B0C-5FBA174678EE}"/>
              </a:ext>
            </a:extLst>
          </p:cNvPr>
          <p:cNvSpPr>
            <a:spLocks noGrp="1"/>
          </p:cNvSpPr>
          <p:nvPr>
            <p:ph type="ftr" sz="quarter" idx="11"/>
          </p:nvPr>
        </p:nvSpPr>
        <p:spPr/>
        <p:txBody>
          <a:bodyPr/>
          <a:lstStyle/>
          <a:p>
            <a:r>
              <a:rPr lang="de-DE" dirty="0"/>
              <a:t>Kashish Mahajan              UNIT 4</a:t>
            </a:r>
            <a:endParaRPr lang="en-US" dirty="0"/>
          </a:p>
        </p:txBody>
      </p:sp>
      <p:pic>
        <p:nvPicPr>
          <p:cNvPr id="9" name="Picture 8">
            <a:extLst>
              <a:ext uri="{FF2B5EF4-FFF2-40B4-BE49-F238E27FC236}">
                <a16:creationId xmlns:a16="http://schemas.microsoft.com/office/drawing/2014/main" id="{B92277BA-AF3F-EE1B-8A9E-CE7DABA89736}"/>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F01BC057-629B-FB10-70F4-ABCD96684EDB}"/>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17829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E8BD-7C86-0F35-D7EF-9C48FA44046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39D9ADD-CE4C-E0AC-BCF5-DD1FD50116D6}"/>
              </a:ext>
            </a:extLst>
          </p:cNvPr>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Daily Quiz</a:t>
            </a:r>
          </a:p>
        </p:txBody>
      </p:sp>
      <p:sp>
        <p:nvSpPr>
          <p:cNvPr id="5" name="Slide Number Placeholder 4">
            <a:extLst>
              <a:ext uri="{FF2B5EF4-FFF2-40B4-BE49-F238E27FC236}">
                <a16:creationId xmlns:a16="http://schemas.microsoft.com/office/drawing/2014/main" id="{080A4ABA-95FB-4493-207F-964B122845C0}"/>
              </a:ext>
            </a:extLst>
          </p:cNvPr>
          <p:cNvSpPr>
            <a:spLocks noGrp="1"/>
          </p:cNvSpPr>
          <p:nvPr>
            <p:ph type="sldNum" sz="quarter" idx="12"/>
          </p:nvPr>
        </p:nvSpPr>
        <p:spPr/>
        <p:txBody>
          <a:bodyPr/>
          <a:lstStyle/>
          <a:p>
            <a:fld id="{B6F15528-21DE-4FAA-801E-634DDDAF4B2B}" type="slidenum">
              <a:rPr lang="en-US" smtClean="0"/>
              <a:pPr/>
              <a:t>61</a:t>
            </a:fld>
            <a:endParaRPr lang="en-US" dirty="0"/>
          </a:p>
        </p:txBody>
      </p:sp>
      <p:sp>
        <p:nvSpPr>
          <p:cNvPr id="2" name="Date Placeholder 1">
            <a:extLst>
              <a:ext uri="{FF2B5EF4-FFF2-40B4-BE49-F238E27FC236}">
                <a16:creationId xmlns:a16="http://schemas.microsoft.com/office/drawing/2014/main" id="{694BF53A-BA5B-53BE-0875-2B3CBF404E72}"/>
              </a:ext>
            </a:extLst>
          </p:cNvPr>
          <p:cNvSpPr>
            <a:spLocks noGrp="1"/>
          </p:cNvSpPr>
          <p:nvPr>
            <p:ph type="dt" sz="half" idx="10"/>
          </p:nvPr>
        </p:nvSpPr>
        <p:spPr/>
        <p:txBody>
          <a:bodyPr/>
          <a:lstStyle/>
          <a:p>
            <a:fld id="{7D47F61B-01F5-41F9-928B-6194637836D6}" type="datetime3">
              <a:rPr lang="en-US" smtClean="0"/>
              <a:t>3 November 2025</a:t>
            </a:fld>
            <a:endParaRPr lang="en-US" dirty="0"/>
          </a:p>
        </p:txBody>
      </p:sp>
      <p:sp>
        <p:nvSpPr>
          <p:cNvPr id="6" name="Rectangle 5">
            <a:extLst>
              <a:ext uri="{FF2B5EF4-FFF2-40B4-BE49-F238E27FC236}">
                <a16:creationId xmlns:a16="http://schemas.microsoft.com/office/drawing/2014/main" id="{619AB528-79BC-E348-ACEE-0DEBAED96846}"/>
              </a:ext>
            </a:extLst>
          </p:cNvPr>
          <p:cNvSpPr/>
          <p:nvPr/>
        </p:nvSpPr>
        <p:spPr>
          <a:xfrm>
            <a:off x="457200" y="889844"/>
            <a:ext cx="8382000" cy="5635517"/>
          </a:xfrm>
          <a:prstGeom prst="rect">
            <a:avLst/>
          </a:prstGeom>
        </p:spPr>
        <p:txBody>
          <a:bodyPr wrap="square">
            <a:spAutoFit/>
          </a:bodyPr>
          <a:lstStyle/>
          <a:p>
            <a:pPr marL="342900" indent="-342900" algn="just">
              <a:lnSpc>
                <a:spcPct val="150000"/>
              </a:lnSpc>
              <a:buFont typeface="+mj-lt"/>
              <a:buAutoNum type="arabicPeriod" startAt="7"/>
            </a:pPr>
            <a:r>
              <a:rPr lang="en-US" sz="1400" dirty="0"/>
              <a:t>Which of the following algorithms is used in fault detection?</a:t>
            </a:r>
            <a:endParaRPr lang="en-US" sz="1400" dirty="0">
              <a:latin typeface="+mj-lt"/>
            </a:endParaRPr>
          </a:p>
          <a:p>
            <a:pPr marL="800100" lvl="1" indent="-342900" algn="just">
              <a:lnSpc>
                <a:spcPct val="150000"/>
              </a:lnSpc>
              <a:buFont typeface="+mj-lt"/>
              <a:buAutoNum type="alphaUcPeriod"/>
            </a:pPr>
            <a:r>
              <a:rPr lang="en-IN" sz="1400" dirty="0"/>
              <a:t>Merge sort</a:t>
            </a:r>
          </a:p>
          <a:p>
            <a:pPr marL="800100" lvl="1" indent="-342900" algn="just">
              <a:lnSpc>
                <a:spcPct val="150000"/>
              </a:lnSpc>
              <a:buFont typeface="+mj-lt"/>
              <a:buAutoNum type="alphaUcPeriod"/>
            </a:pPr>
            <a:r>
              <a:rPr lang="en-IN" sz="1400" b="1" dirty="0"/>
              <a:t>Heartbeat monitoring</a:t>
            </a:r>
          </a:p>
          <a:p>
            <a:pPr marL="800100" lvl="1" indent="-342900" algn="just">
              <a:lnSpc>
                <a:spcPct val="150000"/>
              </a:lnSpc>
              <a:buFont typeface="+mj-lt"/>
              <a:buAutoNum type="alphaUcPeriod"/>
            </a:pPr>
            <a:r>
              <a:rPr lang="en-IN" sz="1400" dirty="0"/>
              <a:t>Forward propagation</a:t>
            </a:r>
          </a:p>
          <a:p>
            <a:pPr marL="800100" lvl="1" indent="-342900" algn="just">
              <a:lnSpc>
                <a:spcPct val="150000"/>
              </a:lnSpc>
              <a:buFont typeface="+mj-lt"/>
              <a:buAutoNum type="alphaUcPeriod"/>
            </a:pPr>
            <a:r>
              <a:rPr lang="en-IN" sz="1400" dirty="0"/>
              <a:t>RSA encryption</a:t>
            </a:r>
          </a:p>
          <a:p>
            <a:pPr lvl="1" algn="just">
              <a:lnSpc>
                <a:spcPct val="150000"/>
              </a:lnSpc>
            </a:pPr>
            <a:endParaRPr lang="en-IN" sz="1400" b="1" dirty="0">
              <a:latin typeface="+mj-lt"/>
            </a:endParaRPr>
          </a:p>
          <a:p>
            <a:pPr marL="342900" indent="-342900" algn="just">
              <a:lnSpc>
                <a:spcPct val="150000"/>
              </a:lnSpc>
              <a:buAutoNum type="arabicPeriod" startAt="7"/>
            </a:pPr>
            <a:r>
              <a:rPr lang="en-US" sz="1400" dirty="0"/>
              <a:t>Checkpointing is best described as:</a:t>
            </a:r>
            <a:endParaRPr lang="en-IN" sz="1400" dirty="0"/>
          </a:p>
          <a:p>
            <a:pPr marL="800100" lvl="1" indent="-342900" algn="just">
              <a:lnSpc>
                <a:spcPct val="150000"/>
              </a:lnSpc>
              <a:buAutoNum type="alphaUcPeriod"/>
            </a:pPr>
            <a:r>
              <a:rPr lang="en-IN" sz="1400" dirty="0"/>
              <a:t>Rebooting after a crash</a:t>
            </a:r>
          </a:p>
          <a:p>
            <a:pPr marL="800100" lvl="1" indent="-342900" algn="just">
              <a:lnSpc>
                <a:spcPct val="150000"/>
              </a:lnSpc>
              <a:buAutoNum type="alphaUcPeriod"/>
            </a:pPr>
            <a:r>
              <a:rPr lang="en-IN" sz="1400" b="1" dirty="0"/>
              <a:t>Saving system state periodically</a:t>
            </a:r>
          </a:p>
          <a:p>
            <a:pPr marL="800100" lvl="1" indent="-342900" algn="just">
              <a:lnSpc>
                <a:spcPct val="150000"/>
              </a:lnSpc>
              <a:buAutoNum type="alphaUcPeriod"/>
            </a:pPr>
            <a:r>
              <a:rPr lang="en-IN" sz="1400" dirty="0"/>
              <a:t>Restarting failed nodes manually</a:t>
            </a:r>
          </a:p>
          <a:p>
            <a:pPr marL="800100" lvl="1" indent="-342900" algn="just">
              <a:lnSpc>
                <a:spcPct val="150000"/>
              </a:lnSpc>
              <a:buAutoNum type="alphaUcPeriod"/>
            </a:pPr>
            <a:r>
              <a:rPr lang="en-IN" sz="1400" dirty="0"/>
              <a:t>Allocating extra storage</a:t>
            </a:r>
          </a:p>
          <a:p>
            <a:pPr lvl="1" algn="just">
              <a:lnSpc>
                <a:spcPct val="150000"/>
              </a:lnSpc>
            </a:pPr>
            <a:endParaRPr lang="en-IN" sz="1400" dirty="0"/>
          </a:p>
          <a:p>
            <a:pPr marL="342900" indent="-342900" algn="just">
              <a:lnSpc>
                <a:spcPct val="150000"/>
              </a:lnSpc>
              <a:buAutoNum type="arabicPeriod" startAt="7"/>
            </a:pPr>
            <a:r>
              <a:rPr lang="en-IN" sz="1400" dirty="0"/>
              <a:t>In failover, a system:</a:t>
            </a:r>
            <a:endParaRPr lang="en-US" sz="1400" dirty="0"/>
          </a:p>
          <a:p>
            <a:pPr marL="800100" lvl="1" indent="-342900" algn="just">
              <a:lnSpc>
                <a:spcPct val="150000"/>
              </a:lnSpc>
              <a:buAutoNum type="alphaUcPeriod"/>
            </a:pPr>
            <a:r>
              <a:rPr lang="en-US" sz="1400" dirty="0"/>
              <a:t>Logs the fault and exits</a:t>
            </a:r>
          </a:p>
          <a:p>
            <a:pPr marL="800100" lvl="1" indent="-342900" algn="just">
              <a:lnSpc>
                <a:spcPct val="150000"/>
              </a:lnSpc>
              <a:buAutoNum type="alphaUcPeriod"/>
            </a:pPr>
            <a:r>
              <a:rPr lang="en-US" sz="1400" dirty="0"/>
              <a:t>Alerts the user and waits</a:t>
            </a:r>
          </a:p>
          <a:p>
            <a:pPr marL="800100" lvl="1" indent="-342900" algn="just">
              <a:lnSpc>
                <a:spcPct val="150000"/>
              </a:lnSpc>
              <a:buAutoNum type="alphaUcPeriod"/>
            </a:pPr>
            <a:r>
              <a:rPr lang="en-US" sz="1400" b="1" dirty="0"/>
              <a:t>Switches to a standby system</a:t>
            </a:r>
          </a:p>
          <a:p>
            <a:pPr marL="800100" lvl="1" indent="-342900" algn="just">
              <a:lnSpc>
                <a:spcPct val="150000"/>
              </a:lnSpc>
              <a:buAutoNum type="alphaUcPeriod"/>
            </a:pPr>
            <a:r>
              <a:rPr lang="en-IN" sz="1400" dirty="0"/>
              <a:t>Shuts down the cluster</a:t>
            </a:r>
            <a:endParaRPr lang="en-US" sz="1400" b="1" dirty="0">
              <a:latin typeface="+mj-lt"/>
            </a:endParaRPr>
          </a:p>
        </p:txBody>
      </p:sp>
      <p:sp>
        <p:nvSpPr>
          <p:cNvPr id="8" name="Footer Placeholder 7">
            <a:extLst>
              <a:ext uri="{FF2B5EF4-FFF2-40B4-BE49-F238E27FC236}">
                <a16:creationId xmlns:a16="http://schemas.microsoft.com/office/drawing/2014/main" id="{86489070-4B3C-6371-082B-0F8B180C5D33}"/>
              </a:ext>
            </a:extLst>
          </p:cNvPr>
          <p:cNvSpPr>
            <a:spLocks noGrp="1"/>
          </p:cNvSpPr>
          <p:nvPr>
            <p:ph type="ftr" sz="quarter" idx="11"/>
          </p:nvPr>
        </p:nvSpPr>
        <p:spPr/>
        <p:txBody>
          <a:bodyPr/>
          <a:lstStyle/>
          <a:p>
            <a:r>
              <a:rPr lang="de-DE" dirty="0"/>
              <a:t>Kashish Mahajan              UNIT 4</a:t>
            </a:r>
            <a:endParaRPr lang="en-US" dirty="0"/>
          </a:p>
        </p:txBody>
      </p:sp>
      <p:pic>
        <p:nvPicPr>
          <p:cNvPr id="9" name="Picture 8">
            <a:extLst>
              <a:ext uri="{FF2B5EF4-FFF2-40B4-BE49-F238E27FC236}">
                <a16:creationId xmlns:a16="http://schemas.microsoft.com/office/drawing/2014/main" id="{F3C16048-BCA4-2077-96E7-6F225E13B828}"/>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9D98E2BC-E83C-6431-8B28-128833DFC92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35922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6E0A-6530-74FE-F227-FD5A8B2009D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3952747-8A5D-7E38-9184-025619905997}"/>
              </a:ext>
            </a:extLst>
          </p:cNvPr>
          <p:cNvSpPr txBox="1">
            <a:spLocks/>
          </p:cNvSpPr>
          <p:nvPr/>
        </p:nvSpPr>
        <p:spPr>
          <a:xfrm>
            <a:off x="1371599" y="0"/>
            <a:ext cx="7772401" cy="6096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Daily Quiz</a:t>
            </a:r>
          </a:p>
        </p:txBody>
      </p:sp>
      <p:sp>
        <p:nvSpPr>
          <p:cNvPr id="5" name="Slide Number Placeholder 4">
            <a:extLst>
              <a:ext uri="{FF2B5EF4-FFF2-40B4-BE49-F238E27FC236}">
                <a16:creationId xmlns:a16="http://schemas.microsoft.com/office/drawing/2014/main" id="{B3BAAB6B-D797-7E8B-EABE-891031614324}"/>
              </a:ext>
            </a:extLst>
          </p:cNvPr>
          <p:cNvSpPr>
            <a:spLocks noGrp="1"/>
          </p:cNvSpPr>
          <p:nvPr>
            <p:ph type="sldNum" sz="quarter" idx="12"/>
          </p:nvPr>
        </p:nvSpPr>
        <p:spPr/>
        <p:txBody>
          <a:bodyPr/>
          <a:lstStyle/>
          <a:p>
            <a:fld id="{B6F15528-21DE-4FAA-801E-634DDDAF4B2B}" type="slidenum">
              <a:rPr lang="en-US" smtClean="0"/>
              <a:pPr/>
              <a:t>62</a:t>
            </a:fld>
            <a:endParaRPr lang="en-US" dirty="0"/>
          </a:p>
        </p:txBody>
      </p:sp>
      <p:sp>
        <p:nvSpPr>
          <p:cNvPr id="2" name="Date Placeholder 1">
            <a:extLst>
              <a:ext uri="{FF2B5EF4-FFF2-40B4-BE49-F238E27FC236}">
                <a16:creationId xmlns:a16="http://schemas.microsoft.com/office/drawing/2014/main" id="{AAF96C67-47A8-67BE-4525-6345178548DE}"/>
              </a:ext>
            </a:extLst>
          </p:cNvPr>
          <p:cNvSpPr>
            <a:spLocks noGrp="1"/>
          </p:cNvSpPr>
          <p:nvPr>
            <p:ph type="dt" sz="half" idx="10"/>
          </p:nvPr>
        </p:nvSpPr>
        <p:spPr/>
        <p:txBody>
          <a:bodyPr/>
          <a:lstStyle/>
          <a:p>
            <a:fld id="{7D47F61B-01F5-41F9-928B-6194637836D6}" type="datetime3">
              <a:rPr lang="en-US" smtClean="0"/>
              <a:t>3 November 2025</a:t>
            </a:fld>
            <a:endParaRPr lang="en-US" dirty="0"/>
          </a:p>
        </p:txBody>
      </p:sp>
      <p:sp>
        <p:nvSpPr>
          <p:cNvPr id="6" name="Rectangle 5">
            <a:extLst>
              <a:ext uri="{FF2B5EF4-FFF2-40B4-BE49-F238E27FC236}">
                <a16:creationId xmlns:a16="http://schemas.microsoft.com/office/drawing/2014/main" id="{54DB5C0F-E8FB-6A2D-E292-784650EDC92B}"/>
              </a:ext>
            </a:extLst>
          </p:cNvPr>
          <p:cNvSpPr/>
          <p:nvPr/>
        </p:nvSpPr>
        <p:spPr>
          <a:xfrm>
            <a:off x="457200" y="889844"/>
            <a:ext cx="8382000" cy="1674754"/>
          </a:xfrm>
          <a:prstGeom prst="rect">
            <a:avLst/>
          </a:prstGeom>
        </p:spPr>
        <p:txBody>
          <a:bodyPr wrap="square">
            <a:spAutoFit/>
          </a:bodyPr>
          <a:lstStyle/>
          <a:p>
            <a:pPr marL="342900" indent="-342900" algn="just">
              <a:lnSpc>
                <a:spcPct val="150000"/>
              </a:lnSpc>
              <a:buFont typeface="+mj-lt"/>
              <a:buAutoNum type="arabicPeriod" startAt="10"/>
            </a:pPr>
            <a:r>
              <a:rPr lang="en-US" sz="1400" dirty="0"/>
              <a:t>Which of these combinations ensures high availability?</a:t>
            </a:r>
            <a:endParaRPr lang="en-US" sz="1400" dirty="0">
              <a:latin typeface="+mj-lt"/>
            </a:endParaRPr>
          </a:p>
          <a:p>
            <a:pPr marL="800100" lvl="1" indent="-342900" algn="just">
              <a:lnSpc>
                <a:spcPct val="150000"/>
              </a:lnSpc>
              <a:buFont typeface="+mj-lt"/>
              <a:buAutoNum type="alphaUcPeriod"/>
            </a:pPr>
            <a:r>
              <a:rPr lang="en-IN" sz="1400" b="1" dirty="0"/>
              <a:t>Heartbeats + Failover + Replication</a:t>
            </a:r>
          </a:p>
          <a:p>
            <a:pPr marL="800100" lvl="1" indent="-342900" algn="just">
              <a:lnSpc>
                <a:spcPct val="150000"/>
              </a:lnSpc>
              <a:buFont typeface="+mj-lt"/>
              <a:buAutoNum type="alphaUcPeriod"/>
            </a:pPr>
            <a:r>
              <a:rPr lang="en-IN" sz="1400" dirty="0"/>
              <a:t>DNS lookup + Firewall + Watchdog</a:t>
            </a:r>
          </a:p>
          <a:p>
            <a:pPr marL="800100" lvl="1" indent="-342900" algn="just">
              <a:lnSpc>
                <a:spcPct val="150000"/>
              </a:lnSpc>
              <a:buFont typeface="+mj-lt"/>
              <a:buAutoNum type="alphaUcPeriod"/>
            </a:pPr>
            <a:r>
              <a:rPr lang="en-IN" sz="1400" dirty="0"/>
              <a:t>Disk defragmentation + RAID 0 + Ping</a:t>
            </a:r>
          </a:p>
          <a:p>
            <a:pPr marL="800100" lvl="1" indent="-342900" algn="just">
              <a:lnSpc>
                <a:spcPct val="150000"/>
              </a:lnSpc>
              <a:buFont typeface="+mj-lt"/>
              <a:buAutoNum type="alphaUcPeriod"/>
            </a:pPr>
            <a:r>
              <a:rPr lang="en-US" sz="1400" dirty="0"/>
              <a:t>Memory allocation + Power saving + Paging</a:t>
            </a:r>
            <a:endParaRPr lang="en-IN" sz="1400" b="1" dirty="0">
              <a:latin typeface="+mj-lt"/>
            </a:endParaRPr>
          </a:p>
        </p:txBody>
      </p:sp>
      <p:sp>
        <p:nvSpPr>
          <p:cNvPr id="8" name="Footer Placeholder 7">
            <a:extLst>
              <a:ext uri="{FF2B5EF4-FFF2-40B4-BE49-F238E27FC236}">
                <a16:creationId xmlns:a16="http://schemas.microsoft.com/office/drawing/2014/main" id="{CCAA3255-D1F7-C88B-F3C3-E70036378C6B}"/>
              </a:ext>
            </a:extLst>
          </p:cNvPr>
          <p:cNvSpPr>
            <a:spLocks noGrp="1"/>
          </p:cNvSpPr>
          <p:nvPr>
            <p:ph type="ftr" sz="quarter" idx="11"/>
          </p:nvPr>
        </p:nvSpPr>
        <p:spPr/>
        <p:txBody>
          <a:bodyPr/>
          <a:lstStyle/>
          <a:p>
            <a:r>
              <a:rPr lang="de-DE" dirty="0"/>
              <a:t>Kashish Mahajan              UNIT 4</a:t>
            </a:r>
            <a:endParaRPr lang="en-US" dirty="0"/>
          </a:p>
        </p:txBody>
      </p:sp>
      <p:pic>
        <p:nvPicPr>
          <p:cNvPr id="9" name="Picture 8">
            <a:extLst>
              <a:ext uri="{FF2B5EF4-FFF2-40B4-BE49-F238E27FC236}">
                <a16:creationId xmlns:a16="http://schemas.microsoft.com/office/drawing/2014/main" id="{86EDBF04-76BC-BF7B-F87E-48D36D37BAA6}"/>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BE150E69-13E8-717D-62B8-A8E1621548B5}"/>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265701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371600" y="1"/>
            <a:ext cx="7772401" cy="6095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Weekly/monthly/Unit Wise Assignment.</a:t>
            </a:r>
          </a:p>
        </p:txBody>
      </p:sp>
      <p:sp>
        <p:nvSpPr>
          <p:cNvPr id="9" name="Rectangle 8"/>
          <p:cNvSpPr/>
          <p:nvPr/>
        </p:nvSpPr>
        <p:spPr>
          <a:xfrm>
            <a:off x="381000" y="533400"/>
            <a:ext cx="8229600" cy="523220"/>
          </a:xfrm>
          <a:prstGeom prst="rect">
            <a:avLst/>
          </a:prstGeom>
        </p:spPr>
        <p:txBody>
          <a:bodyPr wrap="square">
            <a:spAutoFit/>
          </a:bodyPr>
          <a:lstStyle/>
          <a:p>
            <a:pPr algn="ctr"/>
            <a:r>
              <a:rPr lang="en-US" sz="2800" b="1" dirty="0">
                <a:solidFill>
                  <a:srgbClr val="002060"/>
                </a:solidFill>
              </a:rPr>
              <a:t>Assignment  </a:t>
            </a:r>
          </a:p>
        </p:txBody>
      </p:sp>
      <p:sp>
        <p:nvSpPr>
          <p:cNvPr id="6" name="Date Placeholder 5"/>
          <p:cNvSpPr>
            <a:spLocks noGrp="1"/>
          </p:cNvSpPr>
          <p:nvPr>
            <p:ph type="dt" sz="half" idx="10"/>
          </p:nvPr>
        </p:nvSpPr>
        <p:spPr/>
        <p:txBody>
          <a:bodyPr/>
          <a:lstStyle/>
          <a:p>
            <a:fld id="{4DDA894B-8776-432C-AD07-0B4E3CC1568F}" type="datetime3">
              <a:rPr lang="en-US" smtClean="0"/>
              <a:t>3 November 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63</a:t>
            </a:fld>
            <a:endParaRPr lang="en-US" dirty="0"/>
          </a:p>
        </p:txBody>
      </p:sp>
      <p:sp>
        <p:nvSpPr>
          <p:cNvPr id="3" name="Rectangle 2">
            <a:extLst>
              <a:ext uri="{FF2B5EF4-FFF2-40B4-BE49-F238E27FC236}">
                <a16:creationId xmlns:a16="http://schemas.microsoft.com/office/drawing/2014/main" id="{406F5FD9-659A-4F6A-9B69-4D3AC429F0DC}"/>
              </a:ext>
            </a:extLst>
          </p:cNvPr>
          <p:cNvSpPr/>
          <p:nvPr/>
        </p:nvSpPr>
        <p:spPr>
          <a:xfrm>
            <a:off x="609600" y="1142998"/>
            <a:ext cx="8001000" cy="921791"/>
          </a:xfrm>
          <a:prstGeom prst="rect">
            <a:avLst/>
          </a:prstGeom>
        </p:spPr>
        <p:txBody>
          <a:bodyPr wrap="square">
            <a:spAutoFit/>
          </a:bodyPr>
          <a:lstStyle/>
          <a:p>
            <a:pPr>
              <a:lnSpc>
                <a:spcPct val="150000"/>
              </a:lnSpc>
            </a:pPr>
            <a:endParaRPr lang="en-IN" dirty="0"/>
          </a:p>
          <a:p>
            <a:pPr>
              <a:lnSpc>
                <a:spcPct val="150000"/>
              </a:lnSpc>
            </a:pPr>
            <a:endParaRPr lang="en-IN" sz="2000" dirty="0"/>
          </a:p>
        </p:txBody>
      </p:sp>
      <p:sp>
        <p:nvSpPr>
          <p:cNvPr id="4" name="Footer Placeholder 3">
            <a:extLst>
              <a:ext uri="{FF2B5EF4-FFF2-40B4-BE49-F238E27FC236}">
                <a16:creationId xmlns:a16="http://schemas.microsoft.com/office/drawing/2014/main" id="{14934851-FA64-4F03-8D14-C4C7C1BFC497}"/>
              </a:ext>
            </a:extLst>
          </p:cNvPr>
          <p:cNvSpPr>
            <a:spLocks noGrp="1"/>
          </p:cNvSpPr>
          <p:nvPr>
            <p:ph type="ftr" sz="quarter" idx="11"/>
          </p:nvPr>
        </p:nvSpPr>
        <p:spPr/>
        <p:txBody>
          <a:bodyPr/>
          <a:lstStyle/>
          <a:p>
            <a:r>
              <a:rPr lang="de-DE" dirty="0"/>
              <a:t>Kashish Mahajan              UNIT 4</a:t>
            </a:r>
            <a:endParaRPr lang="en-US" dirty="0"/>
          </a:p>
        </p:txBody>
      </p:sp>
      <p:pic>
        <p:nvPicPr>
          <p:cNvPr id="11" name="Picture 10">
            <a:extLst>
              <a:ext uri="{FF2B5EF4-FFF2-40B4-BE49-F238E27FC236}">
                <a16:creationId xmlns:a16="http://schemas.microsoft.com/office/drawing/2014/main" id="{013652B1-F812-AB42-A73B-7DBA6DD0C76A}"/>
              </a:ext>
            </a:extLst>
          </p:cNvPr>
          <p:cNvPicPr>
            <a:picLocks noChangeAspect="1"/>
          </p:cNvPicPr>
          <p:nvPr/>
        </p:nvPicPr>
        <p:blipFill>
          <a:blip r:embed="rId2"/>
          <a:stretch>
            <a:fillRect/>
          </a:stretch>
        </p:blipFill>
        <p:spPr>
          <a:xfrm>
            <a:off x="-19722" y="0"/>
            <a:ext cx="1384300" cy="812800"/>
          </a:xfrm>
          <a:prstGeom prst="rect">
            <a:avLst/>
          </a:prstGeom>
        </p:spPr>
      </p:pic>
      <p:sp>
        <p:nvSpPr>
          <p:cNvPr id="12" name="TextBox 11">
            <a:extLst>
              <a:ext uri="{FF2B5EF4-FFF2-40B4-BE49-F238E27FC236}">
                <a16:creationId xmlns:a16="http://schemas.microsoft.com/office/drawing/2014/main" id="{1E8C5C54-0C74-F459-2D26-6CB41FDF3E4C}"/>
              </a:ext>
            </a:extLst>
          </p:cNvPr>
          <p:cNvSpPr txBox="1"/>
          <p:nvPr/>
        </p:nvSpPr>
        <p:spPr>
          <a:xfrm>
            <a:off x="457199" y="1056620"/>
            <a:ext cx="8427493" cy="4093428"/>
          </a:xfrm>
          <a:prstGeom prst="rect">
            <a:avLst/>
          </a:prstGeom>
          <a:noFill/>
        </p:spPr>
        <p:txBody>
          <a:bodyPr wrap="square">
            <a:spAutoFit/>
          </a:bodyPr>
          <a:lstStyle/>
          <a:p>
            <a:pPr marL="342900" indent="-342900" algn="just">
              <a:buFont typeface="+mj-lt"/>
              <a:buAutoNum type="arabicPeriod"/>
            </a:pPr>
            <a:r>
              <a:rPr lang="en-US" sz="2000" dirty="0"/>
              <a:t>Explain the role of BLAS and LAPACK in scientific computing. </a:t>
            </a:r>
          </a:p>
          <a:p>
            <a:pPr marL="342900" indent="-342900" algn="just">
              <a:buFont typeface="+mj-lt"/>
              <a:buAutoNum type="arabicPeriod"/>
            </a:pPr>
            <a:r>
              <a:rPr lang="en-US" sz="2000" dirty="0"/>
              <a:t>Provide use cases in High-Performance Computing (HPC) clusters.</a:t>
            </a:r>
          </a:p>
          <a:p>
            <a:pPr marL="342900" indent="-342900" algn="just">
              <a:buFont typeface="+mj-lt"/>
              <a:buAutoNum type="arabicPeriod"/>
            </a:pPr>
            <a:r>
              <a:rPr lang="en-US" sz="2000" dirty="0"/>
              <a:t>Differentiate between cluster computing and grid computing.</a:t>
            </a:r>
          </a:p>
          <a:p>
            <a:pPr marL="342900" indent="-342900" algn="just">
              <a:buFont typeface="+mj-lt"/>
              <a:buAutoNum type="arabicPeriod"/>
            </a:pPr>
            <a:r>
              <a:rPr lang="en-US" sz="2000" dirty="0"/>
              <a:t>Discuss the architectural components of a typical compute cluster.</a:t>
            </a:r>
          </a:p>
          <a:p>
            <a:pPr marL="342900" indent="-342900" algn="just">
              <a:buFont typeface="+mj-lt"/>
              <a:buAutoNum type="arabicPeriod"/>
            </a:pPr>
            <a:r>
              <a:rPr lang="en-US" sz="2000" dirty="0"/>
              <a:t>Describe various clustering models used in HPC environments.</a:t>
            </a:r>
          </a:p>
          <a:p>
            <a:pPr marL="342900" indent="-342900" algn="just">
              <a:buFont typeface="+mj-lt"/>
              <a:buAutoNum type="arabicPeriod"/>
            </a:pPr>
            <a:r>
              <a:rPr lang="en-US" sz="2000" dirty="0"/>
              <a:t>What are the key factors that influence the design of a clustering architecture?</a:t>
            </a:r>
          </a:p>
          <a:p>
            <a:pPr marL="342900" indent="-342900" algn="just">
              <a:buFont typeface="+mj-lt"/>
              <a:buAutoNum type="arabicPeriod"/>
            </a:pPr>
            <a:r>
              <a:rPr lang="en-US" sz="2000" dirty="0"/>
              <a:t>Classify different types of clusters and explain their use cases.</a:t>
            </a:r>
          </a:p>
          <a:p>
            <a:pPr marL="342900" indent="-342900" algn="just">
              <a:buFont typeface="+mj-lt"/>
              <a:buAutoNum type="arabicPeriod"/>
            </a:pPr>
            <a:r>
              <a:rPr lang="en-US" sz="2000" dirty="0"/>
              <a:t>Compare and contrast mission-critical and business-critical applications.</a:t>
            </a:r>
          </a:p>
          <a:p>
            <a:pPr marL="342900" indent="-342900" algn="just">
              <a:buFont typeface="+mj-lt"/>
              <a:buAutoNum type="arabicPeriod"/>
            </a:pPr>
            <a:r>
              <a:rPr lang="en-US" sz="2000" dirty="0"/>
              <a:t>Explain fault detection and masking mechanisms in distributed systems.</a:t>
            </a:r>
          </a:p>
          <a:p>
            <a:pPr marL="342900" indent="-342900" algn="just">
              <a:buFont typeface="+mj-lt"/>
              <a:buAutoNum type="arabicPeriod"/>
            </a:pPr>
            <a:r>
              <a:rPr lang="en-US" sz="2000" dirty="0"/>
              <a:t>Write a detailed note on the role of Checkpointing, Heartbeats, and Watchdog Timers in fault-tolerant systems.</a:t>
            </a:r>
          </a:p>
          <a:p>
            <a:pPr marL="342900" indent="-342900" algn="just">
              <a:buFont typeface="+mj-lt"/>
              <a:buAutoNum type="arabicPeriod"/>
            </a:pPr>
            <a:r>
              <a:rPr lang="en-US" sz="2000" dirty="0"/>
              <a:t>Explain the concepts of failover and failback in high-availability systems.</a:t>
            </a:r>
            <a:endParaRPr lang="en-IN" sz="2000" dirty="0"/>
          </a:p>
        </p:txBody>
      </p:sp>
      <p:pic>
        <p:nvPicPr>
          <p:cNvPr id="2" name="Picture 1" descr="A screenshot of a computer&#10;&#10;Description automatically generated">
            <a:extLst>
              <a:ext uri="{FF2B5EF4-FFF2-40B4-BE49-F238E27FC236}">
                <a16:creationId xmlns:a16="http://schemas.microsoft.com/office/drawing/2014/main" id="{5B38B486-8299-6480-1228-1F46D3241771}"/>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77067-52AB-BEF4-0A81-CA0B67353B9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2F79437-AFB3-781D-D33E-956FA965886A}"/>
              </a:ext>
            </a:extLst>
          </p:cNvPr>
          <p:cNvSpPr txBox="1">
            <a:spLocks/>
          </p:cNvSpPr>
          <p:nvPr/>
        </p:nvSpPr>
        <p:spPr>
          <a:xfrm>
            <a:off x="1371600" y="1"/>
            <a:ext cx="7772401" cy="6095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Expected questions from University</a:t>
            </a:r>
          </a:p>
        </p:txBody>
      </p:sp>
      <p:sp>
        <p:nvSpPr>
          <p:cNvPr id="6" name="Date Placeholder 5">
            <a:extLst>
              <a:ext uri="{FF2B5EF4-FFF2-40B4-BE49-F238E27FC236}">
                <a16:creationId xmlns:a16="http://schemas.microsoft.com/office/drawing/2014/main" id="{32F2A6CE-3746-ABE3-0AE0-14BA98922238}"/>
              </a:ext>
            </a:extLst>
          </p:cNvPr>
          <p:cNvSpPr>
            <a:spLocks noGrp="1"/>
          </p:cNvSpPr>
          <p:nvPr>
            <p:ph type="dt" sz="half" idx="10"/>
          </p:nvPr>
        </p:nvSpPr>
        <p:spPr/>
        <p:txBody>
          <a:bodyPr/>
          <a:lstStyle/>
          <a:p>
            <a:fld id="{4DDA894B-8776-432C-AD07-0B4E3CC1568F}" type="datetime3">
              <a:rPr lang="en-US" smtClean="0"/>
              <a:t>3 November 2025</a:t>
            </a:fld>
            <a:endParaRPr lang="en-US" dirty="0"/>
          </a:p>
        </p:txBody>
      </p:sp>
      <p:sp>
        <p:nvSpPr>
          <p:cNvPr id="10" name="Slide Number Placeholder 9">
            <a:extLst>
              <a:ext uri="{FF2B5EF4-FFF2-40B4-BE49-F238E27FC236}">
                <a16:creationId xmlns:a16="http://schemas.microsoft.com/office/drawing/2014/main" id="{D293C750-F93F-0826-74D2-B052F55B2E0C}"/>
              </a:ext>
            </a:extLst>
          </p:cNvPr>
          <p:cNvSpPr>
            <a:spLocks noGrp="1"/>
          </p:cNvSpPr>
          <p:nvPr>
            <p:ph type="sldNum" sz="quarter" idx="12"/>
          </p:nvPr>
        </p:nvSpPr>
        <p:spPr/>
        <p:txBody>
          <a:bodyPr/>
          <a:lstStyle/>
          <a:p>
            <a:fld id="{B6F15528-21DE-4FAA-801E-634DDDAF4B2B}" type="slidenum">
              <a:rPr lang="en-US" smtClean="0"/>
              <a:pPr/>
              <a:t>64</a:t>
            </a:fld>
            <a:endParaRPr lang="en-US" dirty="0"/>
          </a:p>
        </p:txBody>
      </p:sp>
      <p:sp>
        <p:nvSpPr>
          <p:cNvPr id="3" name="Rectangle 2">
            <a:extLst>
              <a:ext uri="{FF2B5EF4-FFF2-40B4-BE49-F238E27FC236}">
                <a16:creationId xmlns:a16="http://schemas.microsoft.com/office/drawing/2014/main" id="{6A30F3B4-0A2D-E774-1786-87960EFD0189}"/>
              </a:ext>
            </a:extLst>
          </p:cNvPr>
          <p:cNvSpPr/>
          <p:nvPr/>
        </p:nvSpPr>
        <p:spPr>
          <a:xfrm>
            <a:off x="609600" y="1142998"/>
            <a:ext cx="8001000" cy="921791"/>
          </a:xfrm>
          <a:prstGeom prst="rect">
            <a:avLst/>
          </a:prstGeom>
        </p:spPr>
        <p:txBody>
          <a:bodyPr wrap="square">
            <a:spAutoFit/>
          </a:bodyPr>
          <a:lstStyle/>
          <a:p>
            <a:pPr>
              <a:lnSpc>
                <a:spcPct val="150000"/>
              </a:lnSpc>
            </a:pPr>
            <a:endParaRPr lang="en-IN" dirty="0"/>
          </a:p>
          <a:p>
            <a:pPr>
              <a:lnSpc>
                <a:spcPct val="150000"/>
              </a:lnSpc>
            </a:pPr>
            <a:endParaRPr lang="en-IN" sz="2000" dirty="0"/>
          </a:p>
        </p:txBody>
      </p:sp>
      <p:sp>
        <p:nvSpPr>
          <p:cNvPr id="4" name="Footer Placeholder 3">
            <a:extLst>
              <a:ext uri="{FF2B5EF4-FFF2-40B4-BE49-F238E27FC236}">
                <a16:creationId xmlns:a16="http://schemas.microsoft.com/office/drawing/2014/main" id="{5675E092-9D9B-DF69-0904-BA2A4E1D0D68}"/>
              </a:ext>
            </a:extLst>
          </p:cNvPr>
          <p:cNvSpPr>
            <a:spLocks noGrp="1"/>
          </p:cNvSpPr>
          <p:nvPr>
            <p:ph type="ftr" sz="quarter" idx="11"/>
          </p:nvPr>
        </p:nvSpPr>
        <p:spPr/>
        <p:txBody>
          <a:bodyPr/>
          <a:lstStyle/>
          <a:p>
            <a:r>
              <a:rPr lang="de-DE" dirty="0"/>
              <a:t>Kashish Mahajan              UNIT 4</a:t>
            </a:r>
            <a:endParaRPr lang="en-US" dirty="0"/>
          </a:p>
        </p:txBody>
      </p:sp>
      <p:pic>
        <p:nvPicPr>
          <p:cNvPr id="11" name="Picture 10">
            <a:extLst>
              <a:ext uri="{FF2B5EF4-FFF2-40B4-BE49-F238E27FC236}">
                <a16:creationId xmlns:a16="http://schemas.microsoft.com/office/drawing/2014/main" id="{DC9E52A0-81DA-8EFF-3473-CB7AC01A4DB6}"/>
              </a:ext>
            </a:extLst>
          </p:cNvPr>
          <p:cNvPicPr>
            <a:picLocks noChangeAspect="1"/>
          </p:cNvPicPr>
          <p:nvPr/>
        </p:nvPicPr>
        <p:blipFill>
          <a:blip r:embed="rId2"/>
          <a:stretch>
            <a:fillRect/>
          </a:stretch>
        </p:blipFill>
        <p:spPr>
          <a:xfrm>
            <a:off x="-19722" y="0"/>
            <a:ext cx="1384300" cy="812800"/>
          </a:xfrm>
          <a:prstGeom prst="rect">
            <a:avLst/>
          </a:prstGeom>
        </p:spPr>
      </p:pic>
      <p:sp>
        <p:nvSpPr>
          <p:cNvPr id="12" name="TextBox 11">
            <a:extLst>
              <a:ext uri="{FF2B5EF4-FFF2-40B4-BE49-F238E27FC236}">
                <a16:creationId xmlns:a16="http://schemas.microsoft.com/office/drawing/2014/main" id="{298A00AD-B9ED-566F-1F2A-36D792AA223C}"/>
              </a:ext>
            </a:extLst>
          </p:cNvPr>
          <p:cNvSpPr txBox="1"/>
          <p:nvPr/>
        </p:nvSpPr>
        <p:spPr>
          <a:xfrm>
            <a:off x="457199" y="1056620"/>
            <a:ext cx="8427493" cy="4401205"/>
          </a:xfrm>
          <a:prstGeom prst="rect">
            <a:avLst/>
          </a:prstGeom>
          <a:noFill/>
        </p:spPr>
        <p:txBody>
          <a:bodyPr wrap="square">
            <a:spAutoFit/>
          </a:bodyPr>
          <a:lstStyle/>
          <a:p>
            <a:pPr marL="342900" indent="-342900" algn="just">
              <a:buFont typeface="+mj-lt"/>
              <a:buAutoNum type="arabicPeriod"/>
            </a:pPr>
            <a:r>
              <a:rPr lang="en-US" sz="2000" dirty="0"/>
              <a:t>What are the levels of BLAS operations, and how do they improve computational efficiency in numerical applications?</a:t>
            </a:r>
          </a:p>
          <a:p>
            <a:pPr marL="342900" indent="-342900" algn="just">
              <a:buFont typeface="+mj-lt"/>
              <a:buAutoNum type="arabicPeriod"/>
            </a:pPr>
            <a:r>
              <a:rPr lang="en-US" sz="2000" dirty="0"/>
              <a:t>Define cluster computing and explain its advantages over traditional standalone systems.</a:t>
            </a:r>
          </a:p>
          <a:p>
            <a:pPr marL="342900" indent="-342900" algn="just">
              <a:buFont typeface="+mj-lt"/>
              <a:buAutoNum type="arabicPeriod"/>
            </a:pPr>
            <a:r>
              <a:rPr lang="en-US" sz="2000" dirty="0"/>
              <a:t>What are the key factors that influence the design and performance of a clustering system?</a:t>
            </a:r>
          </a:p>
          <a:p>
            <a:pPr marL="342900" indent="-342900" algn="just">
              <a:buFont typeface="+mj-lt"/>
              <a:buAutoNum type="arabicPeriod"/>
            </a:pPr>
            <a:r>
              <a:rPr lang="en-US" sz="2000" dirty="0"/>
              <a:t>Differentiate between high-performance, high-availability, and load-balancing clusters.</a:t>
            </a:r>
          </a:p>
          <a:p>
            <a:pPr marL="342900" indent="-342900" algn="just">
              <a:buFont typeface="+mj-lt"/>
              <a:buAutoNum type="arabicPeriod"/>
            </a:pPr>
            <a:r>
              <a:rPr lang="en-US" sz="2000" dirty="0"/>
              <a:t>Compare mission-critical and business-critical applications with respect to downtime tolerance and impact.</a:t>
            </a:r>
          </a:p>
          <a:p>
            <a:pPr marL="342900" indent="-342900" algn="just">
              <a:buFont typeface="+mj-lt"/>
              <a:buAutoNum type="arabicPeriod"/>
            </a:pPr>
            <a:r>
              <a:rPr lang="en-US" sz="2000" dirty="0"/>
              <a:t>Explain how fault detection differs from fault masking with relevant techniques for each.</a:t>
            </a:r>
          </a:p>
          <a:p>
            <a:pPr marL="342900" indent="-342900" algn="just">
              <a:buFont typeface="+mj-lt"/>
              <a:buAutoNum type="arabicPeriod"/>
            </a:pPr>
            <a:r>
              <a:rPr lang="en-US" sz="2000" i="1" dirty="0"/>
              <a:t>What is the difference between failover and failback, and how are they implemented in high-availability systems?</a:t>
            </a:r>
            <a:endParaRPr lang="en-IN" sz="2000" dirty="0"/>
          </a:p>
        </p:txBody>
      </p:sp>
      <p:pic>
        <p:nvPicPr>
          <p:cNvPr id="2" name="Picture 1" descr="A screenshot of a computer&#10;&#10;Description automatically generated">
            <a:extLst>
              <a:ext uri="{FF2B5EF4-FFF2-40B4-BE49-F238E27FC236}">
                <a16:creationId xmlns:a16="http://schemas.microsoft.com/office/drawing/2014/main" id="{C1E3B10F-6D08-2966-19B0-3E0D121333D2}"/>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209837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599" y="0"/>
            <a:ext cx="7772401" cy="7620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lvl="0" algn="ctr">
              <a:spcBef>
                <a:spcPct val="0"/>
              </a:spcBef>
              <a:defRPr/>
            </a:pPr>
            <a:r>
              <a:rPr lang="en-US" sz="3000" b="1" dirty="0"/>
              <a:t>Links</a:t>
            </a:r>
          </a:p>
        </p:txBody>
      </p:sp>
      <p:sp>
        <p:nvSpPr>
          <p:cNvPr id="5" name="Rectangle 4"/>
          <p:cNvSpPr/>
          <p:nvPr/>
        </p:nvSpPr>
        <p:spPr>
          <a:xfrm>
            <a:off x="288758" y="1219201"/>
            <a:ext cx="8550442" cy="3847207"/>
          </a:xfrm>
          <a:prstGeom prst="rect">
            <a:avLst/>
          </a:prstGeom>
        </p:spPr>
        <p:txBody>
          <a:bodyPr wrap="square">
            <a:spAutoFit/>
          </a:bodyPr>
          <a:lstStyle/>
          <a:p>
            <a:r>
              <a:rPr lang="en-US" sz="3200" b="1" dirty="0">
                <a:latin typeface="+mj-lt"/>
              </a:rPr>
              <a:t>You Tube video</a:t>
            </a:r>
          </a:p>
          <a:p>
            <a:endParaRPr lang="en-US" sz="3200" b="1" dirty="0">
              <a:latin typeface="+mj-lt"/>
            </a:endParaRPr>
          </a:p>
          <a:p>
            <a:pPr marL="457200" indent="-457200">
              <a:buFont typeface="Arial" panose="020B0604020202020204" pitchFamily="34" charset="0"/>
              <a:buChar char="•"/>
            </a:pPr>
            <a:r>
              <a:rPr lang="en-US" sz="2000" dirty="0">
                <a:hlinkClick r:id="rId2"/>
              </a:rPr>
              <a:t>https://www.youtube.com/watch?v=7rooWbLe1iI&amp;pp=ygURY2x1c3RlciBjb21wdXRpbmc%3D</a:t>
            </a:r>
            <a:endParaRPr lang="en-US" sz="2000" dirty="0"/>
          </a:p>
          <a:p>
            <a:pPr marL="457200" indent="-457200">
              <a:buFont typeface="Arial" panose="020B0604020202020204" pitchFamily="34" charset="0"/>
              <a:buChar char="•"/>
            </a:pPr>
            <a:r>
              <a:rPr lang="en-US" sz="2000" dirty="0">
                <a:hlinkClick r:id="rId3"/>
              </a:rPr>
              <a:t>https://www.youtube.com/watch?v=N_1QP_3nA48&amp;pp=ygURY2x1c3RlciBjb21wdXRpbmc%3D</a:t>
            </a:r>
            <a:endParaRPr lang="en-US" sz="2000" dirty="0"/>
          </a:p>
          <a:p>
            <a:pPr marL="457200" indent="-457200">
              <a:buFont typeface="Arial" panose="020B0604020202020204" pitchFamily="34" charset="0"/>
              <a:buChar char="•"/>
            </a:pPr>
            <a:r>
              <a:rPr lang="en-US" sz="2000" dirty="0">
                <a:hlinkClick r:id="rId4"/>
              </a:rPr>
              <a:t>https://www.youtube.com/watch?v=jhxbk6AlCps&amp;pp=ygULYmxhcyBsYXBhY2s%3D</a:t>
            </a:r>
            <a:endParaRPr lang="en-US" sz="2000" dirty="0"/>
          </a:p>
          <a:p>
            <a:pPr marL="457200" indent="-457200">
              <a:buFont typeface="Arial" panose="020B0604020202020204" pitchFamily="34" charset="0"/>
              <a:buChar char="•"/>
            </a:pPr>
            <a:r>
              <a:rPr lang="en-US" sz="2000" dirty="0">
                <a:hlinkClick r:id="rId5"/>
              </a:rPr>
              <a:t>https://www.youtube.com/watch?v=M-HA-Mt7jPY&amp;pp=ygURY2x1c3RlciBjb21wdXRpbmc%3D</a:t>
            </a:r>
            <a:endParaRPr lang="en-US" sz="2000" dirty="0"/>
          </a:p>
          <a:p>
            <a:endParaRPr lang="en-US" sz="2000" dirty="0"/>
          </a:p>
        </p:txBody>
      </p:sp>
      <p:sp>
        <p:nvSpPr>
          <p:cNvPr id="8" name="Date Placeholder 7"/>
          <p:cNvSpPr>
            <a:spLocks noGrp="1"/>
          </p:cNvSpPr>
          <p:nvPr>
            <p:ph type="dt" sz="half" idx="10"/>
          </p:nvPr>
        </p:nvSpPr>
        <p:spPr/>
        <p:txBody>
          <a:bodyPr/>
          <a:lstStyle/>
          <a:p>
            <a:fld id="{5DD28695-2C4D-4F03-B307-0717F7DDDFE5}" type="datetime3">
              <a:rPr lang="en-US" smtClean="0"/>
              <a:t>3 November 2025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65</a:t>
            </a:fld>
            <a:endParaRPr lang="en-US" dirty="0"/>
          </a:p>
        </p:txBody>
      </p:sp>
      <p:sp>
        <p:nvSpPr>
          <p:cNvPr id="2" name="Footer Placeholder 1">
            <a:extLst>
              <a:ext uri="{FF2B5EF4-FFF2-40B4-BE49-F238E27FC236}">
                <a16:creationId xmlns:a16="http://schemas.microsoft.com/office/drawing/2014/main" id="{07CE08A5-7AEF-4729-A3C3-06BAA869346E}"/>
              </a:ext>
            </a:extLst>
          </p:cNvPr>
          <p:cNvSpPr>
            <a:spLocks noGrp="1"/>
          </p:cNvSpPr>
          <p:nvPr>
            <p:ph type="ftr" sz="quarter" idx="11"/>
          </p:nvPr>
        </p:nvSpPr>
        <p:spPr/>
        <p:txBody>
          <a:bodyPr/>
          <a:lstStyle/>
          <a:p>
            <a:r>
              <a:rPr lang="de-DE" dirty="0"/>
              <a:t>Kashish Mahajan              UNIT 4</a:t>
            </a:r>
            <a:endParaRPr lang="en-US" dirty="0"/>
          </a:p>
        </p:txBody>
      </p:sp>
      <p:pic>
        <p:nvPicPr>
          <p:cNvPr id="10" name="Picture 9">
            <a:extLst>
              <a:ext uri="{FF2B5EF4-FFF2-40B4-BE49-F238E27FC236}">
                <a16:creationId xmlns:a16="http://schemas.microsoft.com/office/drawing/2014/main" id="{A7F34119-58A0-5F49-8D69-7449E0477C94}"/>
              </a:ext>
            </a:extLst>
          </p:cNvPr>
          <p:cNvPicPr>
            <a:picLocks noChangeAspect="1"/>
          </p:cNvPicPr>
          <p:nvPr/>
        </p:nvPicPr>
        <p:blipFill>
          <a:blip r:embed="rId6"/>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6FD1B76D-48DE-F60C-4132-A7EE89BA69DD}"/>
              </a:ext>
            </a:extLst>
          </p:cNvPr>
          <p:cNvPicPr>
            <a:picLocks noChangeAspect="1"/>
          </p:cNvPicPr>
          <p:nvPr/>
        </p:nvPicPr>
        <p:blipFill rotWithShape="1">
          <a:blip r:embed="rId7"/>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9D0B1F-F37F-4ED4-91AA-DCEBD43028D8}" type="datetime3">
              <a:rPr lang="en-US" smtClean="0">
                <a:solidFill>
                  <a:prstClr val="black">
                    <a:tint val="75000"/>
                  </a:prstClr>
                </a:solidFill>
              </a:rPr>
              <a:t>3 November 2025</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66</a:t>
            </a:fld>
            <a:endParaRPr lang="en-US" dirty="0">
              <a:solidFill>
                <a:prstClr val="black">
                  <a:tint val="75000"/>
                </a:prstClr>
              </a:solidFill>
            </a:endParaRPr>
          </a:p>
        </p:txBody>
      </p:sp>
      <p:pic>
        <p:nvPicPr>
          <p:cNvPr id="8" name="Picture 2">
            <a:extLst>
              <a:ext uri="{FF2B5EF4-FFF2-40B4-BE49-F238E27FC236}">
                <a16:creationId xmlns:a16="http://schemas.microsoft.com/office/drawing/2014/main" id="{8BE12DEC-1263-DA9F-3DFF-F27BB1D27A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sp>
        <p:nvSpPr>
          <p:cNvPr id="7" name="Title 1">
            <a:extLst>
              <a:ext uri="{FF2B5EF4-FFF2-40B4-BE49-F238E27FC236}">
                <a16:creationId xmlns:a16="http://schemas.microsoft.com/office/drawing/2014/main" id="{2A2D577B-E225-8A78-EE7D-DF44BC7A12D1}"/>
              </a:ext>
            </a:extLst>
          </p:cNvPr>
          <p:cNvSpPr txBox="1">
            <a:spLocks/>
          </p:cNvSpPr>
          <p:nvPr/>
        </p:nvSpPr>
        <p:spPr>
          <a:xfrm>
            <a:off x="1371599" y="0"/>
            <a:ext cx="7772401" cy="7620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References</a:t>
            </a:r>
          </a:p>
        </p:txBody>
      </p:sp>
      <p:pic>
        <p:nvPicPr>
          <p:cNvPr id="3" name="Picture 2" descr="A screenshot of a computer&#10;&#10;Description automatically generated">
            <a:extLst>
              <a:ext uri="{FF2B5EF4-FFF2-40B4-BE49-F238E27FC236}">
                <a16:creationId xmlns:a16="http://schemas.microsoft.com/office/drawing/2014/main" id="{6BCB4B28-6B5C-071D-B7CE-91852919910E}"/>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5" name="Footer Placeholder 4">
            <a:extLst>
              <a:ext uri="{FF2B5EF4-FFF2-40B4-BE49-F238E27FC236}">
                <a16:creationId xmlns:a16="http://schemas.microsoft.com/office/drawing/2014/main" id="{308CD234-16E0-A9FD-1D53-13F88D6ED5F5}"/>
              </a:ext>
            </a:extLst>
          </p:cNvPr>
          <p:cNvSpPr>
            <a:spLocks noGrp="1"/>
          </p:cNvSpPr>
          <p:nvPr>
            <p:ph type="ftr" sz="quarter" idx="11"/>
          </p:nvPr>
        </p:nvSpPr>
        <p:spPr/>
        <p:txBody>
          <a:bodyPr/>
          <a:lstStyle/>
          <a:p>
            <a:r>
              <a:rPr lang="de-DE"/>
              <a:t>Kashish Mahajan              UNIT 4</a:t>
            </a:r>
            <a:endParaRPr lang="en-US" dirty="0"/>
          </a:p>
        </p:txBody>
      </p:sp>
      <p:pic>
        <p:nvPicPr>
          <p:cNvPr id="10" name="Picture 9">
            <a:extLst>
              <a:ext uri="{FF2B5EF4-FFF2-40B4-BE49-F238E27FC236}">
                <a16:creationId xmlns:a16="http://schemas.microsoft.com/office/drawing/2014/main" id="{2CCA284D-3403-942A-FC07-0569D9E446F0}"/>
              </a:ext>
            </a:extLst>
          </p:cNvPr>
          <p:cNvPicPr>
            <a:picLocks noChangeAspect="1"/>
          </p:cNvPicPr>
          <p:nvPr/>
        </p:nvPicPr>
        <p:blipFill>
          <a:blip r:embed="rId4"/>
          <a:stretch>
            <a:fillRect/>
          </a:stretch>
        </p:blipFill>
        <p:spPr>
          <a:xfrm>
            <a:off x="17871" y="1020278"/>
            <a:ext cx="9126129" cy="4333270"/>
          </a:xfrm>
          <a:prstGeom prst="rect">
            <a:avLst/>
          </a:prstGeom>
        </p:spPr>
      </p:pic>
    </p:spTree>
    <p:extLst>
      <p:ext uri="{BB962C8B-B14F-4D97-AF65-F5344CB8AC3E}">
        <p14:creationId xmlns:p14="http://schemas.microsoft.com/office/powerpoint/2010/main" val="25308825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371599" y="0"/>
            <a:ext cx="7772401" cy="762000"/>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defRPr/>
            </a:pPr>
            <a:r>
              <a:rPr lang="en-US" sz="3000" b="1" dirty="0"/>
              <a:t>Recap</a:t>
            </a:r>
          </a:p>
        </p:txBody>
      </p:sp>
      <p:sp>
        <p:nvSpPr>
          <p:cNvPr id="5" name="Rectangle 4"/>
          <p:cNvSpPr/>
          <p:nvPr/>
        </p:nvSpPr>
        <p:spPr>
          <a:xfrm>
            <a:off x="685800" y="1859340"/>
            <a:ext cx="7772400" cy="1107996"/>
          </a:xfrm>
          <a:prstGeom prst="rect">
            <a:avLst/>
          </a:prstGeom>
        </p:spPr>
        <p:txBody>
          <a:bodyPr wrap="square">
            <a:spAutoFit/>
          </a:bodyPr>
          <a:lstStyle/>
          <a:p>
            <a:endParaRPr lang="en-US" sz="2200" dirty="0"/>
          </a:p>
          <a:p>
            <a:r>
              <a:rPr lang="en-US" sz="2200" dirty="0"/>
              <a:t> </a:t>
            </a:r>
          </a:p>
          <a:p>
            <a:endParaRPr lang="en-US" sz="2200" dirty="0"/>
          </a:p>
        </p:txBody>
      </p:sp>
      <p:sp>
        <p:nvSpPr>
          <p:cNvPr id="8" name="Date Placeholder 7"/>
          <p:cNvSpPr>
            <a:spLocks noGrp="1"/>
          </p:cNvSpPr>
          <p:nvPr>
            <p:ph type="dt" sz="half" idx="10"/>
          </p:nvPr>
        </p:nvSpPr>
        <p:spPr/>
        <p:txBody>
          <a:bodyPr/>
          <a:lstStyle/>
          <a:p>
            <a:fld id="{FCF81080-4B12-47E4-9D16-2EEB4E6B159D}" type="datetime3">
              <a:rPr lang="en-US" smtClean="0"/>
              <a:t>3 November 2025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67</a:t>
            </a:fld>
            <a:endParaRPr lang="en-US" dirty="0"/>
          </a:p>
        </p:txBody>
      </p:sp>
      <p:sp>
        <p:nvSpPr>
          <p:cNvPr id="11" name="Rectangle 10"/>
          <p:cNvSpPr/>
          <p:nvPr/>
        </p:nvSpPr>
        <p:spPr>
          <a:xfrm>
            <a:off x="381000" y="752360"/>
            <a:ext cx="8763000" cy="5632311"/>
          </a:xfrm>
          <a:prstGeom prst="rect">
            <a:avLst/>
          </a:prstGeom>
        </p:spPr>
        <p:txBody>
          <a:bodyPr wrap="square">
            <a:spAutoFit/>
          </a:bodyPr>
          <a:lstStyle/>
          <a:p>
            <a:r>
              <a:rPr lang="en-US" sz="2000" dirty="0"/>
              <a:t>This unit provides us understanding of:</a:t>
            </a:r>
          </a:p>
          <a:p>
            <a:endParaRPr lang="en-US" sz="2000" dirty="0"/>
          </a:p>
          <a:p>
            <a:pPr marL="285750" indent="-285750">
              <a:buFont typeface="Arial" panose="020B0604020202020204" pitchFamily="34" charset="0"/>
              <a:buChar char="•"/>
            </a:pPr>
            <a:r>
              <a:rPr lang="en-US" sz="2000" dirty="0"/>
              <a:t>BLAS is a foundational library used to perform basic operations on vectors and matrices, Built on top of BLAS is LAPACK (Linear Algebra </a:t>
            </a:r>
            <a:r>
              <a:rPr lang="en-US" sz="2000" dirty="0" err="1"/>
              <a:t>PACKage</a:t>
            </a:r>
            <a:r>
              <a:rPr lang="en-US" sz="2000" dirty="0"/>
              <a:t>), a more advanced library used for solving complex linear algebra </a:t>
            </a:r>
          </a:p>
          <a:p>
            <a:endParaRPr lang="en-US" sz="2000" dirty="0"/>
          </a:p>
          <a:p>
            <a:pPr marL="285750" indent="-285750">
              <a:buFont typeface="Arial" panose="020B0604020202020204" pitchFamily="34" charset="0"/>
              <a:buChar char="•"/>
            </a:pPr>
            <a:r>
              <a:rPr lang="en-US" sz="2000" dirty="0"/>
              <a:t>Cluster computing involves connecting multiple computers (nodes) to work together as a single system to achieve higher computational power, reliability, and scalability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design of clustering architectures is influenced by how resources are shared (e.g., shared-nothing or shared-memory), how communication occurs among nodes, and how workloads are distributed.</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 distinction exists between mission-critical and business-critical </a:t>
            </a:r>
            <a:r>
              <a:rPr lang="en-US" sz="2000" dirty="0" err="1"/>
              <a:t>applicationsIn</a:t>
            </a:r>
            <a:r>
              <a:rPr lang="en-US" sz="2000" dirty="0"/>
              <a:t> such systems.</a:t>
            </a:r>
          </a:p>
          <a:p>
            <a:pPr marL="285750" indent="-285750">
              <a:buFont typeface="Arial" panose="020B0604020202020204" pitchFamily="34" charset="0"/>
              <a:buChar char="•"/>
            </a:pPr>
            <a:r>
              <a:rPr lang="en-US" sz="2000" dirty="0"/>
              <a:t>Fault detection is crucial and can be implemented using mechanisms like heartbeats, timeout detection, and probe-echo techniques. </a:t>
            </a:r>
            <a:endParaRPr lang="en-US" sz="2000" dirty="0">
              <a:cs typeface="Times New Roman"/>
            </a:endParaRPr>
          </a:p>
        </p:txBody>
      </p:sp>
      <p:sp>
        <p:nvSpPr>
          <p:cNvPr id="2" name="Footer Placeholder 1">
            <a:extLst>
              <a:ext uri="{FF2B5EF4-FFF2-40B4-BE49-F238E27FC236}">
                <a16:creationId xmlns:a16="http://schemas.microsoft.com/office/drawing/2014/main" id="{10AE0ED0-CF79-4652-BC48-4EE4F5740FF6}"/>
              </a:ext>
            </a:extLst>
          </p:cNvPr>
          <p:cNvSpPr>
            <a:spLocks noGrp="1"/>
          </p:cNvSpPr>
          <p:nvPr>
            <p:ph type="ftr" sz="quarter" idx="11"/>
          </p:nvPr>
        </p:nvSpPr>
        <p:spPr/>
        <p:txBody>
          <a:bodyPr/>
          <a:lstStyle/>
          <a:p>
            <a:r>
              <a:rPr lang="de-DE" dirty="0"/>
              <a:t>Kashish Mahajan              UNIT 4</a:t>
            </a:r>
            <a:endParaRPr lang="en-US" dirty="0"/>
          </a:p>
        </p:txBody>
      </p:sp>
      <p:pic>
        <p:nvPicPr>
          <p:cNvPr id="10" name="Picture 9">
            <a:extLst>
              <a:ext uri="{FF2B5EF4-FFF2-40B4-BE49-F238E27FC236}">
                <a16:creationId xmlns:a16="http://schemas.microsoft.com/office/drawing/2014/main" id="{B4E356A4-03DF-704C-BEB6-9C989240F114}"/>
              </a:ext>
            </a:extLst>
          </p:cNvPr>
          <p:cNvPicPr>
            <a:picLocks noChangeAspect="1"/>
          </p:cNvPicPr>
          <p:nvPr/>
        </p:nvPicPr>
        <p:blipFill>
          <a:blip r:embed="rId2"/>
          <a:stretch>
            <a:fillRect/>
          </a:stretch>
        </p:blipFill>
        <p:spPr>
          <a:xfrm>
            <a:off x="-19722" y="0"/>
            <a:ext cx="1384300" cy="812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55D96F43-C7EF-5F20-B5BC-01AA72D09B8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0852CE4-4520-4DCB-AD7A-DA9C2B47FABE}" type="datetime3">
              <a:rPr lang="en-US" smtClean="0"/>
              <a:t>3 November 2025</a:t>
            </a:fld>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dirty="0"/>
          </a:p>
        </p:txBody>
      </p:sp>
      <p:sp>
        <p:nvSpPr>
          <p:cNvPr id="10" name="Content Placeholder 8">
            <a:extLst>
              <a:ext uri="{FF2B5EF4-FFF2-40B4-BE49-F238E27FC236}">
                <a16:creationId xmlns:a16="http://schemas.microsoft.com/office/drawing/2014/main" id="{03236AB2-34D3-4D36-9A9C-1FC4A27F8EC4}"/>
              </a:ext>
            </a:extLst>
          </p:cNvPr>
          <p:cNvSpPr txBox="1">
            <a:spLocks/>
          </p:cNvSpPr>
          <p:nvPr/>
        </p:nvSpPr>
        <p:spPr>
          <a:xfrm>
            <a:off x="533400" y="2179637"/>
            <a:ext cx="8229600" cy="4525963"/>
          </a:xfrm>
          <a:prstGeom prst="rect">
            <a:avLst/>
          </a:prstGeom>
          <a:noFill/>
        </p:spPr>
        <p:txBody>
          <a:bodyPr wrap="none" lIns="91440" tIns="45720" rIns="91440" bIns="4572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
            <a:extLst>
              <a:ext uri="{FF2B5EF4-FFF2-40B4-BE49-F238E27FC236}">
                <a16:creationId xmlns:a16="http://schemas.microsoft.com/office/drawing/2014/main" id="{A4F46CFB-F9FA-4D9D-A54A-53003DBB7179}"/>
              </a:ext>
            </a:extLst>
          </p:cNvPr>
          <p:cNvSpPr>
            <a:spLocks noGrp="1"/>
          </p:cNvSpPr>
          <p:nvPr>
            <p:ph type="ftr" sz="quarter" idx="11"/>
          </p:nvPr>
        </p:nvSpPr>
        <p:spPr/>
        <p:txBody>
          <a:bodyPr/>
          <a:lstStyle/>
          <a:p>
            <a:r>
              <a:rPr lang="de-DE" dirty="0"/>
              <a:t>Kashish Mahajan              UNIT 4</a:t>
            </a:r>
            <a:endParaRPr lang="en-US" dirty="0"/>
          </a:p>
        </p:txBody>
      </p:sp>
      <p:pic>
        <p:nvPicPr>
          <p:cNvPr id="6" name="Picture 5">
            <a:extLst>
              <a:ext uri="{FF2B5EF4-FFF2-40B4-BE49-F238E27FC236}">
                <a16:creationId xmlns:a16="http://schemas.microsoft.com/office/drawing/2014/main" id="{9FBDFD0D-14E5-0848-8DC9-4EAB14929A9B}"/>
              </a:ext>
            </a:extLst>
          </p:cNvPr>
          <p:cNvPicPr>
            <a:picLocks noChangeAspect="1"/>
          </p:cNvPicPr>
          <p:nvPr/>
        </p:nvPicPr>
        <p:blipFill>
          <a:blip r:embed="rId2"/>
          <a:stretch>
            <a:fillRect/>
          </a:stretch>
        </p:blipFill>
        <p:spPr>
          <a:xfrm>
            <a:off x="-19722" y="0"/>
            <a:ext cx="1384300" cy="812800"/>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B8C695CE-607D-5022-6127-98C1A1D9AE3C}"/>
              </a:ext>
            </a:extLst>
          </p:cNvPr>
          <p:cNvPicPr>
            <a:picLocks noChangeAspect="1"/>
          </p:cNvPicPr>
          <p:nvPr/>
        </p:nvPicPr>
        <p:blipFill rotWithShape="1">
          <a:blip r:embed="rId3"/>
          <a:srcRect l="26091" t="36058" r="24385" b="26405"/>
          <a:stretch/>
        </p:blipFill>
        <p:spPr bwMode="auto">
          <a:xfrm>
            <a:off x="0" y="7233"/>
            <a:ext cx="1749346" cy="745127"/>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8D43EA42-8549-E7DE-DFB3-95204255B831}"/>
              </a:ext>
            </a:extLst>
          </p:cNvPr>
          <p:cNvSpPr txBox="1">
            <a:spLocks/>
          </p:cNvSpPr>
          <p:nvPr/>
        </p:nvSpPr>
        <p:spPr>
          <a:xfrm>
            <a:off x="1642210" y="0"/>
            <a:ext cx="7501789" cy="692696"/>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marL="8547" algn="ctr">
              <a:spcBef>
                <a:spcPts val="68"/>
              </a:spcBef>
            </a:pPr>
            <a:endParaRPr lang="en-IN"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9878</TotalTime>
  <Words>5852</Words>
  <Application>Microsoft Office PowerPoint</Application>
  <PresentationFormat>On-screen Show (4:3)</PresentationFormat>
  <Paragraphs>995</Paragraphs>
  <Slides>68</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vt:lpstr>
      <vt:lpstr>Calibri</vt:lpstr>
      <vt:lpstr>fkGrotesk</vt:lpstr>
      <vt:lpstr>fkGroteskNeue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Anshul</dc:creator>
  <cp:lastModifiedBy>PURNIMA  PAL</cp:lastModifiedBy>
  <cp:revision>190</cp:revision>
  <cp:lastPrinted>2022-06-15T05:18:03Z</cp:lastPrinted>
  <dcterms:modified xsi:type="dcterms:W3CDTF">2025-11-03T10:47:35Z</dcterms:modified>
</cp:coreProperties>
</file>