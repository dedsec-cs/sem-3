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8" r:id="rId1"/>
  </p:sldMasterIdLst>
  <p:notesMasterIdLst>
    <p:notesMasterId r:id="rId72"/>
  </p:notesMasterIdLst>
  <p:handoutMasterIdLst>
    <p:handoutMasterId r:id="rId73"/>
  </p:handoutMasterIdLst>
  <p:sldIdLst>
    <p:sldId id="362" r:id="rId2"/>
    <p:sldId id="589" r:id="rId3"/>
    <p:sldId id="1414" r:id="rId4"/>
    <p:sldId id="278" r:id="rId5"/>
    <p:sldId id="279" r:id="rId6"/>
    <p:sldId id="1402" r:id="rId7"/>
    <p:sldId id="1403" r:id="rId8"/>
    <p:sldId id="531" r:id="rId9"/>
    <p:sldId id="1404" r:id="rId10"/>
    <p:sldId id="1405" r:id="rId11"/>
    <p:sldId id="1415" r:id="rId12"/>
    <p:sldId id="1416" r:id="rId13"/>
    <p:sldId id="1417" r:id="rId14"/>
    <p:sldId id="1408" r:id="rId15"/>
    <p:sldId id="1409" r:id="rId16"/>
    <p:sldId id="507" r:id="rId17"/>
    <p:sldId id="291" r:id="rId18"/>
    <p:sldId id="1406" r:id="rId19"/>
    <p:sldId id="286" r:id="rId20"/>
    <p:sldId id="366" r:id="rId21"/>
    <p:sldId id="256" r:id="rId22"/>
    <p:sldId id="257" r:id="rId23"/>
    <p:sldId id="1460" r:id="rId24"/>
    <p:sldId id="1461" r:id="rId25"/>
    <p:sldId id="1462" r:id="rId26"/>
    <p:sldId id="1463" r:id="rId27"/>
    <p:sldId id="1464" r:id="rId28"/>
    <p:sldId id="1466" r:id="rId29"/>
    <p:sldId id="258" r:id="rId30"/>
    <p:sldId id="1467" r:id="rId31"/>
    <p:sldId id="1470" r:id="rId32"/>
    <p:sldId id="259" r:id="rId33"/>
    <p:sldId id="1468" r:id="rId34"/>
    <p:sldId id="1469" r:id="rId35"/>
    <p:sldId id="1471" r:id="rId36"/>
    <p:sldId id="1472" r:id="rId37"/>
    <p:sldId id="1473" r:id="rId38"/>
    <p:sldId id="1474" r:id="rId39"/>
    <p:sldId id="1475" r:id="rId40"/>
    <p:sldId id="1476" r:id="rId41"/>
    <p:sldId id="1477" r:id="rId42"/>
    <p:sldId id="1478" r:id="rId43"/>
    <p:sldId id="1479" r:id="rId44"/>
    <p:sldId id="1480" r:id="rId45"/>
    <p:sldId id="1481" r:id="rId46"/>
    <p:sldId id="1482" r:id="rId47"/>
    <p:sldId id="1483" r:id="rId48"/>
    <p:sldId id="1484" r:id="rId49"/>
    <p:sldId id="1485" r:id="rId50"/>
    <p:sldId id="1486" r:id="rId51"/>
    <p:sldId id="1487" r:id="rId52"/>
    <p:sldId id="1488" r:id="rId53"/>
    <p:sldId id="1489" r:id="rId54"/>
    <p:sldId id="1490" r:id="rId55"/>
    <p:sldId id="1491" r:id="rId56"/>
    <p:sldId id="1492" r:id="rId57"/>
    <p:sldId id="1494" r:id="rId58"/>
    <p:sldId id="1495" r:id="rId59"/>
    <p:sldId id="1497" r:id="rId60"/>
    <p:sldId id="1498" r:id="rId61"/>
    <p:sldId id="1496" r:id="rId62"/>
    <p:sldId id="1499" r:id="rId63"/>
    <p:sldId id="1441" r:id="rId64"/>
    <p:sldId id="331" r:id="rId65"/>
    <p:sldId id="1500" r:id="rId66"/>
    <p:sldId id="1081" r:id="rId67"/>
    <p:sldId id="1262" r:id="rId68"/>
    <p:sldId id="280" r:id="rId69"/>
    <p:sldId id="1085" r:id="rId70"/>
    <p:sldId id="283" r:id="rId7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C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1440" y="60"/>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94EBB0B7-8409-47E3-B905-8B910BB24CCF}" type="datetime1">
              <a:rPr lang="en-US" smtClean="0"/>
              <a:t>7/4/2025</a:t>
            </a:fld>
            <a:endParaRPr lang="en-US"/>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AAD7656A-59C1-4EA8-86B6-85DA6F15CC7C}"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994EDB8-AF3A-477B-9B18-DABF9686700A}" type="datetime1">
              <a:rPr lang="en-US" smtClean="0"/>
              <a:t>7/4/2025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CB5DDF0-EF1A-428D-B986-B55564525F08}" type="slidenum">
              <a:rPr lang="en-US" smtClean="0"/>
              <a:pPr/>
              <a:t>‹#›</a:t>
            </a:fld>
            <a:endParaRPr lang="en-US"/>
          </a:p>
        </p:txBody>
      </p:sp>
    </p:spTree>
    <p:extLst>
      <p:ext uri="{BB962C8B-B14F-4D97-AF65-F5344CB8AC3E}">
        <p14:creationId xmlns:p14="http://schemas.microsoft.com/office/powerpoint/2010/main" val="182608779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6369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2425D3-3439-404A-93A1-697D43ECE8AA}" type="slidenum">
              <a:rPr lang="en-IN" smtClean="0"/>
              <a:pPr/>
              <a:t>3</a:t>
            </a:fld>
            <a:endParaRPr lang="en-IN"/>
          </a:p>
        </p:txBody>
      </p:sp>
    </p:spTree>
    <p:extLst>
      <p:ext uri="{BB962C8B-B14F-4D97-AF65-F5344CB8AC3E}">
        <p14:creationId xmlns:p14="http://schemas.microsoft.com/office/powerpoint/2010/main" val="51480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Notes Placeholder">
            <a:extLst>
              <a:ext uri="{FF2B5EF4-FFF2-40B4-BE49-F238E27FC236}">
                <a16:creationId xmlns:a16="http://schemas.microsoft.com/office/drawing/2014/main" id="{9A0FCE2D-B484-01A2-146C-FC46FF65140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Notes Placeholder">
            <a:extLst>
              <a:ext uri="{FF2B5EF4-FFF2-40B4-BE49-F238E27FC236}">
                <a16:creationId xmlns:a16="http://schemas.microsoft.com/office/drawing/2014/main" id="{1460062A-FF66-0213-D75E-B878BB5E3B5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5936-1BC1-713D-8F5B-3A80E96306DB}"/>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E7E937BE-4875-FD3D-0B43-4F5D3FCE85F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816187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46582-4A1D-7A1D-8D46-1B777DACF503}"/>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28930424-1B53-E985-680A-08108347115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592842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40642-045F-B7CE-D6A2-AD8E21CADB3E}"/>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C5863F71-E3D2-5C4E-FE9C-B9F08DE180BE}"/>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695378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66790-FA63-49C2-AF60-3AE43F098841}"/>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30F00E21-9891-8927-738A-C88A089BE37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677511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4903-8566-1DCC-8FED-23F6BEEDDAEF}"/>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357074EE-A3E8-1AF2-925B-2BA7C02FF6C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870770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23A8D-AFDB-1319-79A0-22320A4C87FA}"/>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DC9A0AF2-4A6C-59A2-4BC1-BA66D7BB964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528618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Notes Placeholder">
            <a:extLst>
              <a:ext uri="{FF2B5EF4-FFF2-40B4-BE49-F238E27FC236}">
                <a16:creationId xmlns:a16="http://schemas.microsoft.com/office/drawing/2014/main" id="{44FFA8A5-812B-FCB0-51C5-1729B88895F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AA2E-EFF9-13CC-46CD-A58852F82941}"/>
            </a:ext>
          </a:extLst>
        </p:cNvPr>
        <p:cNvGrpSpPr/>
        <p:nvPr/>
      </p:nvGrpSpPr>
      <p:grpSpPr>
        <a:xfrm>
          <a:off x="0" y="0"/>
          <a:ext cx="0" cy="0"/>
          <a:chOff x="0" y="0"/>
          <a:chExt cx="0" cy="0"/>
        </a:xfrm>
      </p:grpSpPr>
      <p:sp>
        <p:nvSpPr>
          <p:cNvPr id="37890" name="Notes Placeholder">
            <a:extLst>
              <a:ext uri="{FF2B5EF4-FFF2-40B4-BE49-F238E27FC236}">
                <a16:creationId xmlns:a16="http://schemas.microsoft.com/office/drawing/2014/main" id="{6F69B70B-5501-3EFF-C954-4AC702FC848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124484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DA4D-15E4-365C-2106-2452884DB2E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9720A219-F779-4944-B330-47261FB3763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732753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CD2A068-27B8-844F-12A1-756BDDA42BD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B58A-9282-ABCC-3B25-EC8A281FF46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9DE63D1-62E0-74E9-4CB5-B4E983784C2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511256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C286-4F20-212C-7D6B-6B199A6CD41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A9D2E45-29AF-6EA1-C21F-DA6B6CA09E5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4139542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3BDF1-892F-58FB-77C5-283D96E2E3F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99525B3-CAAC-CCCE-C2DA-AF72D74DEEE6}"/>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119562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56C6-6CBA-17A3-F21B-6C0650583CF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B769131-934A-BD66-5896-1DCD5292A83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4159065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AD23-0874-4356-97C9-3BAEED1A5B1E}"/>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E09F5655-0E3B-CEF2-FDBF-C47033D5059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658435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87AA-0A1F-C976-AC2A-C3F59ECFC2B9}"/>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AA9F71E9-043C-F980-7C39-BC4460A1DD47}"/>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354341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8E65B-70C7-16B5-29C0-6586889126C5}"/>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4F729101-73EC-2AEE-C967-6B87E10109A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889424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B8FF2-294A-7B52-9F30-AB6E46EEB9DD}"/>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0FA65526-DEB0-892B-9AFB-3042B1DFE8F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2842058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413A-BE7B-EBEC-8C2C-67C8918B1DFA}"/>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837A14FF-E918-E713-166E-02D96A03F197}"/>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208516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631CF-9782-DC98-74C9-A9D25ED60C14}"/>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57EC7F9C-BBC5-00CB-17CD-76A590534AB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255602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E4828-2FAA-19EC-7C2D-1C6913BD2B84}"/>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9837357C-61EB-92A1-FD4E-7DCCC97503B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2389633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A93B2-7D38-0B6A-4611-C7470ACA3EA6}"/>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458EC645-C29A-A8AA-2BCF-5938D46BFA0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377662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76FC-1474-E6E2-5F51-A47C046EA0D4}"/>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927D292-0516-B4ED-6D35-5A7B295DCE9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5968951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EC73-52C4-7726-B52F-0479E9DD0088}"/>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62661C2F-C0CC-599B-C6E6-ABC23C448D4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4036120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FCCE1-37AB-9053-CE2D-A12FD7BD6B94}"/>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64CD7150-9346-F7C5-6DEA-5EE4128FA71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35802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25D21-3073-D626-1F41-531249731BA9}"/>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60DF2A63-3025-304E-029D-1B26AFCBE382}"/>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447703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4DDCE-2AA0-495A-FDF3-3EA311662698}"/>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6D4BDE0-F5DA-8349-2B57-2996B64C728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5329965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409D-F0B4-CDD1-CFAB-FD4F8599FF72}"/>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6E578D34-EDDD-FBE0-7018-1D4B9ED5B34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809417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F6DD8-3846-E8B6-8280-5852AC8A09F9}"/>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8C9256C-A533-385B-1937-A160E79314A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4313625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FFA2-6DD8-A744-0B4D-2190AC37E1A4}"/>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78FAAEAE-25A9-5E61-7056-ACAA48457A7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756516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0FF40-1DD4-85E5-50F0-15A5C864EBE2}"/>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D116EB5-32D1-CFB9-157B-D4B8F83DBBEF}"/>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825425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1768-17EB-386B-BE01-8067DFE41F8F}"/>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0236F12C-DB99-2C2E-DC6D-0121D4BDCE9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8558458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D798F-9BF5-C460-7EE1-F51721C9F842}"/>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BAC9E0DF-2A74-BA4B-AC40-8EA76218F87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3201681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622D-5CF0-2259-DBF6-1C0602EFEDC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0B809B6F-6D89-EDAC-6CE9-E19B3F40363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578451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C279-87F0-0E56-097D-3E44AC9D8B18}"/>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C3AEFC2E-13A1-57BE-522E-1A66F11B17B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7134715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585E-0AEE-3340-6C95-B1603A923402}"/>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418BB7C5-8771-18DD-2E5D-A33096FE202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7782878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45D9-0996-2962-F802-6E15BD435045}"/>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FDF60B79-7EB7-9E9E-8BBB-C122DDAE0CC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0976206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7220F-8A3B-FB95-0703-6F4F8F55763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F519E857-DE9B-F327-EF49-D04AC6BD5ED7}"/>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6628318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39CFF-1A64-2BC4-42ED-50F9533390AC}"/>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DC058164-6ABF-4A5E-83A2-4A23299391F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8286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8FC1C-28D7-12DD-20AD-18F722C6FF2F}"/>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92E3479-03C5-E820-EB33-BB6A736B824F}"/>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50398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482FA0-72FE-487C-BB6B-81DF809BF089}" type="datetime1">
              <a:rPr lang="en-US" smtClean="0"/>
              <a:t>7/4/2025</a:t>
            </a:fld>
            <a:endParaRPr lang="en-US" dirty="0"/>
          </a:p>
        </p:txBody>
      </p:sp>
      <p:sp>
        <p:nvSpPr>
          <p:cNvPr id="5" name="Footer Placeholder 4"/>
          <p:cNvSpPr>
            <a:spLocks noGrp="1"/>
          </p:cNvSpPr>
          <p:nvPr>
            <p:ph type="ftr" sz="quarter" idx="11"/>
          </p:nvPr>
        </p:nvSpPr>
        <p:spPr/>
        <p:txBody>
          <a:bodyPr/>
          <a:lstStyle/>
          <a:p>
            <a:r>
              <a:rPr lang="en-US"/>
              <a:t>Mr. Anshul Varshney               High Performance computing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6F6980-F9D7-49B9-914B-2D1B355DA9DD}" type="datetime1">
              <a:rPr lang="en-US" smtClean="0"/>
              <a:t>7/4/2025</a:t>
            </a:fld>
            <a:endParaRPr lang="en-US" dirty="0"/>
          </a:p>
        </p:txBody>
      </p:sp>
      <p:sp>
        <p:nvSpPr>
          <p:cNvPr id="5" name="Footer Placeholder 4"/>
          <p:cNvSpPr>
            <a:spLocks noGrp="1"/>
          </p:cNvSpPr>
          <p:nvPr>
            <p:ph type="ftr" sz="quarter" idx="11"/>
          </p:nvPr>
        </p:nvSpPr>
        <p:spPr/>
        <p:txBody>
          <a:bodyPr/>
          <a:lstStyle/>
          <a:p>
            <a:r>
              <a:rPr lang="en-US"/>
              <a:t>Mr. Anshul Varshney               High Performance computing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pic>
        <p:nvPicPr>
          <p:cNvPr id="9" name="Picture 2" descr="E:\NIET\Project\xLogo11.png.pagespeed.ic.pydHLuCQEZ.png"/>
          <p:cNvPicPr>
            <a:picLocks noChangeAspect="1" noChangeArrowheads="1"/>
          </p:cNvPicPr>
          <p:nvPr userDrawn="1"/>
        </p:nvPicPr>
        <p:blipFill>
          <a:blip r:embed="rId2" cstate="print"/>
          <a:srcRect/>
          <a:stretch>
            <a:fillRect/>
          </a:stretch>
        </p:blipFill>
        <p:spPr bwMode="auto">
          <a:xfrm>
            <a:off x="28956" y="1"/>
            <a:ext cx="1418844" cy="761999"/>
          </a:xfrm>
          <a:prstGeom prst="rect">
            <a:avLst/>
          </a:prstGeom>
          <a:noFill/>
        </p:spPr>
      </p:pic>
      <p:sp>
        <p:nvSpPr>
          <p:cNvPr id="10" name="Title 1"/>
          <p:cNvSpPr txBox="1">
            <a:spLocks/>
          </p:cNvSpPr>
          <p:nvPr userDrawn="1"/>
        </p:nvSpPr>
        <p:spPr>
          <a:xfrm>
            <a:off x="1676400" y="0"/>
            <a:ext cx="7467600" cy="63950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THE CONCEPT LEARNING TASK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0D4225-B8BE-4615-A606-AB7675D20B19}" type="datetime1">
              <a:rPr lang="en-US" smtClean="0"/>
              <a:t>7/4/2025</a:t>
            </a:fld>
            <a:endParaRPr lang="en-US" dirty="0"/>
          </a:p>
        </p:txBody>
      </p:sp>
      <p:sp>
        <p:nvSpPr>
          <p:cNvPr id="5" name="Footer Placeholder 4"/>
          <p:cNvSpPr>
            <a:spLocks noGrp="1"/>
          </p:cNvSpPr>
          <p:nvPr>
            <p:ph type="ftr" sz="quarter" idx="11"/>
          </p:nvPr>
        </p:nvSpPr>
        <p:spPr/>
        <p:txBody>
          <a:bodyPr/>
          <a:lstStyle/>
          <a:p>
            <a:r>
              <a:rPr lang="en-US"/>
              <a:t>Mr. Anshul Varshney               High Performance computing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D91F387-F072-4159-9F17-1D1CE75CB34B}" type="datetime1">
              <a:rPr lang="en-US" smtClean="0"/>
              <a:t>7/4/2025</a:t>
            </a:fld>
            <a:endParaRPr lang="en-US" dirty="0"/>
          </a:p>
        </p:txBody>
      </p:sp>
      <p:sp>
        <p:nvSpPr>
          <p:cNvPr id="6" name="Footer Placeholder 5"/>
          <p:cNvSpPr>
            <a:spLocks noGrp="1"/>
          </p:cNvSpPr>
          <p:nvPr>
            <p:ph type="ftr" sz="quarter" idx="11"/>
          </p:nvPr>
        </p:nvSpPr>
        <p:spPr/>
        <p:txBody>
          <a:bodyPr/>
          <a:lstStyle/>
          <a:p>
            <a:r>
              <a:rPr lang="en-US"/>
              <a:t>Mr. Anshul Varshney               High Performance computing                   Unit 2</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EF930C-6000-4CF9-9D2A-AF5CC964A1E9}" type="datetime1">
              <a:rPr lang="en-US" smtClean="0"/>
              <a:t>7/4/2025</a:t>
            </a:fld>
            <a:endParaRPr lang="en-US" dirty="0"/>
          </a:p>
        </p:txBody>
      </p:sp>
      <p:sp>
        <p:nvSpPr>
          <p:cNvPr id="8" name="Footer Placeholder 7"/>
          <p:cNvSpPr>
            <a:spLocks noGrp="1"/>
          </p:cNvSpPr>
          <p:nvPr>
            <p:ph type="ftr" sz="quarter" idx="11"/>
          </p:nvPr>
        </p:nvSpPr>
        <p:spPr/>
        <p:txBody>
          <a:bodyPr/>
          <a:lstStyle/>
          <a:p>
            <a:r>
              <a:rPr lang="en-US"/>
              <a:t>Mr. Anshul Varshney               High Performance computing                   Unit 2</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58C4B1-CA38-4960-AED2-71EA11026021}" type="datetime1">
              <a:rPr lang="en-US" smtClean="0"/>
              <a:t>7/4/2025</a:t>
            </a:fld>
            <a:endParaRPr lang="en-US" dirty="0"/>
          </a:p>
        </p:txBody>
      </p:sp>
      <p:sp>
        <p:nvSpPr>
          <p:cNvPr id="4" name="Footer Placeholder 3"/>
          <p:cNvSpPr>
            <a:spLocks noGrp="1"/>
          </p:cNvSpPr>
          <p:nvPr>
            <p:ph type="ftr" sz="quarter" idx="11"/>
          </p:nvPr>
        </p:nvSpPr>
        <p:spPr/>
        <p:txBody>
          <a:bodyPr/>
          <a:lstStyle/>
          <a:p>
            <a:r>
              <a:rPr lang="en-US"/>
              <a:t>Mr. Anshul Varshney               High Performance computing                   Unit 2</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225011-6993-4B51-A3FB-4C95D178442B}" type="datetime1">
              <a:rPr lang="en-US" smtClean="0"/>
              <a:t>7/4/2025</a:t>
            </a:fld>
            <a:endParaRPr lang="en-US" dirty="0"/>
          </a:p>
        </p:txBody>
      </p:sp>
      <p:sp>
        <p:nvSpPr>
          <p:cNvPr id="3" name="Footer Placeholder 2"/>
          <p:cNvSpPr>
            <a:spLocks noGrp="1"/>
          </p:cNvSpPr>
          <p:nvPr>
            <p:ph type="ftr" sz="quarter" idx="11"/>
          </p:nvPr>
        </p:nvSpPr>
        <p:spPr/>
        <p:txBody>
          <a:bodyPr/>
          <a:lstStyle/>
          <a:p>
            <a:r>
              <a:rPr lang="en-US"/>
              <a:t>Mr. Anshul Varshney               High Performance computing                   Unit 2</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pic>
        <p:nvPicPr>
          <p:cNvPr id="5" name="Picture 2" descr="E:\NIET\Project\xLogo11.png.pagespeed.ic.pydHLuCQEZ.png"/>
          <p:cNvPicPr>
            <a:picLocks noChangeAspect="1" noChangeArrowheads="1"/>
          </p:cNvPicPr>
          <p:nvPr userDrawn="1"/>
        </p:nvPicPr>
        <p:blipFill>
          <a:blip r:embed="rId2" cstate="print"/>
          <a:srcRect/>
          <a:stretch>
            <a:fillRect/>
          </a:stretch>
        </p:blipFill>
        <p:spPr bwMode="auto">
          <a:xfrm>
            <a:off x="0" y="0"/>
            <a:ext cx="1447800" cy="817163"/>
          </a:xfrm>
          <a:prstGeom prst="rect">
            <a:avLst/>
          </a:prstGeom>
          <a:noFill/>
        </p:spPr>
      </p:pic>
      <p:sp>
        <p:nvSpPr>
          <p:cNvPr id="6" name="Title 1"/>
          <p:cNvSpPr txBox="1">
            <a:spLocks/>
          </p:cNvSpPr>
          <p:nvPr userDrawn="1"/>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CONTENT</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BD0BD-B4BD-464E-B1DE-794D4D540E7E}" type="datetime1">
              <a:rPr lang="en-US" smtClean="0"/>
              <a:t>7/4/2025</a:t>
            </a:fld>
            <a:endParaRPr lang="en-US" dirty="0"/>
          </a:p>
        </p:txBody>
      </p:sp>
      <p:sp>
        <p:nvSpPr>
          <p:cNvPr id="6" name="Footer Placeholder 5"/>
          <p:cNvSpPr>
            <a:spLocks noGrp="1"/>
          </p:cNvSpPr>
          <p:nvPr>
            <p:ph type="ftr" sz="quarter" idx="11"/>
          </p:nvPr>
        </p:nvSpPr>
        <p:spPr/>
        <p:txBody>
          <a:bodyPr/>
          <a:lstStyle/>
          <a:p>
            <a:r>
              <a:rPr lang="en-US"/>
              <a:t>Mr. Anshul Varshney               High Performance computing                   Unit 2</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8C4187-C43D-4D4F-B5B7-D6C95E649C82}" type="datetime1">
              <a:rPr lang="en-US" smtClean="0"/>
              <a:t>7/4/2025</a:t>
            </a:fld>
            <a:endParaRPr lang="en-US" dirty="0"/>
          </a:p>
        </p:txBody>
      </p:sp>
      <p:sp>
        <p:nvSpPr>
          <p:cNvPr id="6" name="Footer Placeholder 5"/>
          <p:cNvSpPr>
            <a:spLocks noGrp="1"/>
          </p:cNvSpPr>
          <p:nvPr>
            <p:ph type="ftr" sz="quarter" idx="11"/>
          </p:nvPr>
        </p:nvSpPr>
        <p:spPr/>
        <p:txBody>
          <a:bodyPr/>
          <a:lstStyle/>
          <a:p>
            <a:r>
              <a:rPr lang="en-US"/>
              <a:t>Mr. Anshul Varshney               High Performance computing                   Unit 2</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5644D5-7DCB-481C-B9BC-C1AAAA586BC4}" type="datetime1">
              <a:rPr lang="en-US" smtClean="0"/>
              <a:t>7/4/2025</a:t>
            </a:fld>
            <a:endParaRPr lang="en-US" dirty="0"/>
          </a:p>
        </p:txBody>
      </p:sp>
      <p:sp>
        <p:nvSpPr>
          <p:cNvPr id="5" name="Footer Placeholder 4"/>
          <p:cNvSpPr>
            <a:spLocks noGrp="1"/>
          </p:cNvSpPr>
          <p:nvPr>
            <p:ph type="ftr" sz="quarter" idx="11"/>
          </p:nvPr>
        </p:nvSpPr>
        <p:spPr/>
        <p:txBody>
          <a:bodyPr/>
          <a:lstStyle/>
          <a:p>
            <a:r>
              <a:rPr lang="en-US"/>
              <a:t>Mr. Anshul Varshney               High Performance computing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C3D0F1-DFEA-4A95-B399-2544EE0FB10E}" type="datetime1">
              <a:rPr lang="en-US" smtClean="0"/>
              <a:t>7/4/2025</a:t>
            </a:fld>
            <a:endParaRPr lang="en-US" dirty="0"/>
          </a:p>
        </p:txBody>
      </p:sp>
      <p:sp>
        <p:nvSpPr>
          <p:cNvPr id="5" name="Footer Placeholder 4"/>
          <p:cNvSpPr>
            <a:spLocks noGrp="1"/>
          </p:cNvSpPr>
          <p:nvPr>
            <p:ph type="ftr" sz="quarter" idx="11"/>
          </p:nvPr>
        </p:nvSpPr>
        <p:spPr/>
        <p:txBody>
          <a:bodyPr/>
          <a:lstStyle/>
          <a:p>
            <a:r>
              <a:rPr lang="en-US"/>
              <a:t>Mr. Anshul Varshney               High Performance computing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92850-43D4-4704-B4AE-41C64BCC0C40}" type="datetime1">
              <a:rPr lang="en-US" smtClean="0"/>
              <a:t>7/4/2025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Mr. Anshul Varshney               High Performance computing                   Unit 2</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youtube.com/watch?v=tGIobcyKViI"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6.jp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hyperlink" Target="https://www.geeksforgeeks.org/difference-between-asymmetric-and-symmetric-multiprocessing/#:~:text=In%20asymmetric%20multiprocessing%2C%20the%20processors,are%20done%20by%20master%20processor." TargetMode="External"/><Relationship Id="rId4" Type="http://schemas.openxmlformats.org/officeDocument/2006/relationships/hyperlink" Target="https://www.geeksforgeeks.org/introduction-of-multiprocessor-and-multicomputer/"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www.youtube.com/watch?v=MJ-ettBDJqQ" TargetMode="External"/><Relationship Id="rId2" Type="http://schemas.openxmlformats.org/officeDocument/2006/relationships/hyperlink" Target="https://www.youtube.com/watch?v=KVOc6369-Lo&amp;t=2s"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youtube.com/watch?v=cRtSf8TLYcs" TargetMode="External"/><Relationship Id="rId4" Type="http://schemas.openxmlformats.org/officeDocument/2006/relationships/hyperlink" Target="https://www.youtube.com/watch?v=OHijtcMGm9I&amp;t=6s"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0938" y="1066800"/>
            <a:ext cx="7149662" cy="1035050"/>
          </a:xfrm>
        </p:spPr>
        <p:style>
          <a:lnRef idx="2">
            <a:schemeClr val="accent5"/>
          </a:lnRef>
          <a:fillRef idx="1">
            <a:schemeClr val="lt1"/>
          </a:fillRef>
          <a:effectRef idx="0">
            <a:schemeClr val="accent5"/>
          </a:effectRef>
          <a:fontRef idx="minor">
            <a:schemeClr val="dk1"/>
          </a:fontRef>
        </p:style>
        <p:txBody>
          <a:bodyPr anchor="ctr" anchorCtr="0">
            <a:normAutofit/>
          </a:bodyPr>
          <a:lstStyle/>
          <a:p>
            <a:pPr lvl="0">
              <a:defRPr/>
            </a:pPr>
            <a:r>
              <a:rPr lang="en-IN" sz="2800" dirty="0">
                <a:solidFill>
                  <a:schemeClr val="tx1"/>
                </a:solidFill>
              </a:rPr>
              <a:t>High Performance Computing </a:t>
            </a:r>
            <a:endParaRPr lang="en-US" sz="2800"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noProof="0" dirty="0">
                <a:solidFill>
                  <a:prstClr val="black"/>
                </a:solidFill>
                <a:latin typeface="Calibri"/>
              </a:rPr>
              <a:t>Mr. Anshul Varshney</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Assisstant</a:t>
            </a:r>
            <a:r>
              <a:rPr kumimoji="0" lang="en-US" sz="2400" b="0" i="0" u="none" strike="noStrike" kern="1200" cap="none" spc="0" normalizeH="0" baseline="0" noProof="0" dirty="0">
                <a:ln>
                  <a:noFill/>
                </a:ln>
                <a:solidFill>
                  <a:prstClr val="black"/>
                </a:solidFill>
                <a:effectLst/>
                <a:uLnTx/>
                <a:uFillTx/>
                <a:latin typeface="Calibri"/>
                <a:ea typeface="+mn-ea"/>
                <a:cs typeface="+mn-cs"/>
              </a:rPr>
              <a: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Department of CS</a:t>
            </a: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prstClr val="black"/>
                </a:solidFill>
                <a:effectLst/>
                <a:uLnTx/>
                <a:uFillTx/>
                <a:latin typeface="Calibri"/>
                <a:ea typeface="+mn-ea"/>
                <a:cs typeface="+mn-cs"/>
              </a:rPr>
              <a:t>Unit: II</a:t>
            </a:r>
          </a:p>
        </p:txBody>
      </p:sp>
      <p:sp>
        <p:nvSpPr>
          <p:cNvPr id="13" name="Footer Placeholder 12"/>
          <p:cNvSpPr>
            <a:spLocks noGrp="1"/>
          </p:cNvSpPr>
          <p:nvPr>
            <p:ph type="ftr" sz="quarter" idx="11"/>
          </p:nvPr>
        </p:nvSpPr>
        <p:spPr>
          <a:xfrm>
            <a:off x="1600200" y="6448251"/>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a:rPr>
              <a:t>Mr. Anshul Varshney               High Performance computing                   Unit 2</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IN" sz="2400" dirty="0">
                <a:solidFill>
                  <a:schemeClr val="tx1"/>
                </a:solidFill>
              </a:rPr>
              <a:t>High Performance Computing </a:t>
            </a: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400" b="0" i="0" u="none" strike="noStrike" kern="1200" cap="none" spc="0" normalizeH="0" baseline="0" noProof="0" dirty="0">
                <a:ln>
                  <a:noFill/>
                </a:ln>
                <a:solidFill>
                  <a:prstClr val="black"/>
                </a:solidFill>
                <a:effectLst/>
                <a:uLnTx/>
                <a:uFillTx/>
                <a:latin typeface="Calibri"/>
                <a:ea typeface="+mn-ea"/>
                <a:cs typeface="+mn-cs"/>
              </a:rPr>
              <a:t>( B Tech 2</a:t>
            </a:r>
            <a:r>
              <a:rPr kumimoji="0" lang="en-US" sz="2400" b="0" i="0" u="none" strike="noStrike" kern="1200" cap="none" spc="0" normalizeH="0" baseline="30000" noProof="0" dirty="0">
                <a:ln>
                  <a:noFill/>
                </a:ln>
                <a:solidFill>
                  <a:prstClr val="black"/>
                </a:solidFill>
                <a:effectLst/>
                <a:uLnTx/>
                <a:uFillTx/>
                <a:latin typeface="Calibri"/>
                <a:ea typeface="+mn-ea"/>
                <a:cs typeface="+mn-cs"/>
              </a:rPr>
              <a:t>nd</a:t>
            </a:r>
            <a:r>
              <a:rPr kumimoji="0" lang="en-US" sz="2400" b="0" i="0" u="none" strike="noStrike" kern="1200" cap="none" spc="0" normalizeH="0" noProof="0" dirty="0">
                <a:ln>
                  <a:noFill/>
                </a:ln>
                <a:solidFill>
                  <a:prstClr val="black"/>
                </a:solidFill>
                <a:effectLst/>
                <a:uLnTx/>
                <a:uFillTx/>
                <a:latin typeface="Calibri"/>
                <a:ea typeface="+mn-ea"/>
                <a:cs typeface="+mn-cs"/>
              </a:rPr>
              <a:t> Year</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 name="Date Placeholder 3"/>
          <p:cNvSpPr>
            <a:spLocks noGrp="1"/>
          </p:cNvSpPr>
          <p:nvPr>
            <p:ph type="dt" sz="half" idx="10"/>
          </p:nvPr>
        </p:nvSpPr>
        <p:spPr/>
        <p:txBody>
          <a:bodyPr/>
          <a:lstStyle/>
          <a:p>
            <a:fld id="{6880E92D-4A2C-4038-8645-B3DE3FF2E97F}" type="datetime1">
              <a:rPr lang="en-US" smtClean="0"/>
              <a:t>7/4/2025</a:t>
            </a:fld>
            <a:endParaRPr lang="en-US" dirty="0"/>
          </a:p>
        </p:txBody>
      </p:sp>
      <p:pic>
        <p:nvPicPr>
          <p:cNvPr id="18" name="Picture 1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333500" cy="947268"/>
          </a:xfrm>
          <a:prstGeom prst="rect">
            <a:avLst/>
          </a:prstGeom>
        </p:spPr>
      </p:pic>
      <p:sp>
        <p:nvSpPr>
          <p:cNvPr id="19" name="Title 1">
            <a:extLst>
              <a:ext uri="{FF2B5EF4-FFF2-40B4-BE49-F238E27FC236}">
                <a16:creationId xmlns:a16="http://schemas.microsoft.com/office/drawing/2014/main" id="{CDA96493-2BC9-3DAD-8C52-7E83C089EF5A}"/>
              </a:ext>
            </a:extLst>
          </p:cNvPr>
          <p:cNvSpPr txBox="1">
            <a:spLocks/>
          </p:cNvSpPr>
          <p:nvPr/>
        </p:nvSpPr>
        <p:spPr>
          <a:xfrm>
            <a:off x="1577745" y="0"/>
            <a:ext cx="7378262" cy="90903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w="9525" cap="flat" cmpd="sng" algn="ctr">
            <a:solidFill>
              <a:srgbClr val="FF8F8F"/>
            </a:solidFill>
            <a:prstDash val="solid"/>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n w="0"/>
                <a:solidFill>
                  <a:schemeClr val="tx1"/>
                </a:solidFill>
                <a:effectLst>
                  <a:outerShdw blurRad="38100" dist="19050" dir="2700000" algn="tl" rotWithShape="0">
                    <a:schemeClr val="dk1">
                      <a:alpha val="40000"/>
                    </a:schemeClr>
                  </a:outerShdw>
                </a:effectLst>
              </a:rPr>
              <a:t>Noida Institute of Engineering and Technology, Greater Noida</a:t>
            </a:r>
          </a:p>
        </p:txBody>
      </p:sp>
      <p:pic>
        <p:nvPicPr>
          <p:cNvPr id="5" name="Picture 4" descr="A person wearing sunglasses and a white shirt&#10;&#10;AI-generated content may be incorrect.">
            <a:extLst>
              <a:ext uri="{FF2B5EF4-FFF2-40B4-BE49-F238E27FC236}">
                <a16:creationId xmlns:a16="http://schemas.microsoft.com/office/drawing/2014/main" id="{FA37E68D-C8A4-D547-52F3-C19F38B23A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8409" y="2193751"/>
            <a:ext cx="1958173" cy="1768649"/>
          </a:xfrm>
          <a:prstGeom prst="rect">
            <a:avLst/>
          </a:prstGeom>
        </p:spPr>
      </p:pic>
    </p:spTree>
    <p:extLst>
      <p:ext uri="{BB962C8B-B14F-4D97-AF65-F5344CB8AC3E}">
        <p14:creationId xmlns:p14="http://schemas.microsoft.com/office/powerpoint/2010/main" val="378736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35D884BE-FC8C-49D7-8322-A23EC77A6A95}" type="datetime1">
              <a:rPr lang="en-US" smtClean="0"/>
              <a:t>7/4/2025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470526" y="2881"/>
            <a:ext cx="7673474" cy="771514"/>
          </a:xfrm>
          <a:prstGeom prst="rect">
            <a:avLst/>
          </a:prstGeom>
          <a:gradFill flip="none" rotWithShape="1">
            <a:gsLst>
              <a:gs pos="0">
                <a:srgbClr val="FF7979">
                  <a:tint val="66000"/>
                  <a:satMod val="160000"/>
                </a:srgbClr>
              </a:gs>
              <a:gs pos="50000">
                <a:srgbClr val="FF7979">
                  <a:tint val="44500"/>
                  <a:satMod val="160000"/>
                </a:srgbClr>
              </a:gs>
              <a:gs pos="100000">
                <a:srgbClr val="FF7979">
                  <a:tint val="23500"/>
                  <a:satMod val="160000"/>
                </a:srgbClr>
              </a:gs>
            </a:gsLst>
            <a:lin ang="810000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R="0" indent="0" algn="ctr" fontAlgn="auto">
              <a:lnSpc>
                <a:spcPct val="100000"/>
              </a:lnSpc>
              <a:spcBef>
                <a:spcPct val="0"/>
              </a:spcBef>
              <a:spcAft>
                <a:spcPts val="0"/>
              </a:spcAft>
              <a:buClrTx/>
              <a:buSzTx/>
              <a:buFontTx/>
              <a:buNone/>
              <a:tabLst/>
              <a:defRPr/>
            </a:pPr>
            <a:r>
              <a:rPr lang="en-US" sz="2400" b="1" dirty="0">
                <a:solidFill>
                  <a:schemeClr val="tx1"/>
                </a:solidFill>
                <a:latin typeface="Times New Roman" panose="02020603050405020304" pitchFamily="18" charset="0"/>
                <a:cs typeface="Times New Roman" panose="02020603050405020304" pitchFamily="18" charset="0"/>
              </a:rPr>
              <a:t>Faculty Profile</a:t>
            </a:r>
          </a:p>
        </p:txBody>
      </p:sp>
      <p:sp>
        <p:nvSpPr>
          <p:cNvPr id="11" name="Footer Placeholder 4"/>
          <p:cNvSpPr>
            <a:spLocks noGrp="1"/>
          </p:cNvSpPr>
          <p:nvPr>
            <p:ph type="ftr" sz="quarter" idx="11"/>
          </p:nvPr>
        </p:nvSpPr>
        <p:spPr>
          <a:xfrm>
            <a:off x="2514600" y="6356350"/>
            <a:ext cx="5029200" cy="365125"/>
          </a:xfrm>
        </p:spPr>
        <p:txBody>
          <a:bodyPr/>
          <a:lstStyle/>
          <a:p>
            <a:r>
              <a:rPr lang="en-US"/>
              <a:t>Mr. Anshul Varshney               High Performance computing                   Unit 2</a:t>
            </a:r>
            <a:endParaRPr lang="en-US" dirty="0"/>
          </a:p>
        </p:txBody>
      </p:sp>
      <p:sp>
        <p:nvSpPr>
          <p:cNvPr id="10" name="TextBox 9"/>
          <p:cNvSpPr txBox="1"/>
          <p:nvPr/>
        </p:nvSpPr>
        <p:spPr>
          <a:xfrm>
            <a:off x="762000" y="1447800"/>
            <a:ext cx="5970240" cy="3139321"/>
          </a:xfrm>
          <a:prstGeom prst="rect">
            <a:avLst/>
          </a:prstGeom>
          <a:noFill/>
        </p:spPr>
        <p:txBody>
          <a:bodyPr wrap="square" rtlCol="0">
            <a:spAutoFit/>
          </a:bodyPr>
          <a:lstStyle/>
          <a:p>
            <a:pPr algn="just"/>
            <a:r>
              <a:rPr lang="en-US" b="1" dirty="0">
                <a:latin typeface="Times New Roman" pitchFamily="18" charset="0"/>
                <a:cs typeface="Times New Roman" pitchFamily="18" charset="0"/>
              </a:rPr>
              <a:t>FACULTY PROFILE</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Name of Faculty: Mr. Anshul Varshney</a:t>
            </a:r>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Designation &amp; Department: </a:t>
            </a:r>
            <a:r>
              <a:rPr lang="en-US" dirty="0" err="1">
                <a:latin typeface="Times New Roman" pitchFamily="18" charset="0"/>
                <a:cs typeface="Times New Roman" pitchFamily="18" charset="0"/>
              </a:rPr>
              <a:t>Assisstant</a:t>
            </a:r>
            <a:r>
              <a:rPr lang="en-US" dirty="0">
                <a:latin typeface="Times New Roman" pitchFamily="18" charset="0"/>
                <a:cs typeface="Times New Roman" pitchFamily="18" charset="0"/>
              </a:rPr>
              <a:t> Professor , CS Dept.</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Qualification: </a:t>
            </a:r>
            <a:r>
              <a:rPr lang="en-US" dirty="0">
                <a:latin typeface="Times New Roman" pitchFamily="18" charset="0"/>
                <a:cs typeface="Times New Roman" pitchFamily="18" charset="0"/>
              </a:rPr>
              <a:t>B.C.A, M.C.A. MTech &amp; Pursuing PhD </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Experience: </a:t>
            </a:r>
            <a:r>
              <a:rPr lang="en-US" dirty="0">
                <a:latin typeface="Times New Roman" pitchFamily="18" charset="0"/>
                <a:cs typeface="Times New Roman" pitchFamily="18" charset="0"/>
              </a:rPr>
              <a:t>Have 10 years experience of Teaching subjects such as, Automata, Design Analysis Software Engineering, Python and C programming language</a:t>
            </a:r>
            <a:endParaRPr lang="en-US" dirty="0"/>
          </a:p>
        </p:txBody>
      </p:sp>
      <p:pic>
        <p:nvPicPr>
          <p:cNvPr id="2" name="Picture 1" descr="A screenshot of a computer&#10;&#10;Description automatically generated">
            <a:extLst>
              <a:ext uri="{FF2B5EF4-FFF2-40B4-BE49-F238E27FC236}">
                <a16:creationId xmlns:a16="http://schemas.microsoft.com/office/drawing/2014/main" id="{5FFFC0F2-F883-F9A6-8BB4-D7C4500CEFB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4" name="Picture 3" descr="A person wearing sunglasses and a white shirt&#10;&#10;AI-generated content may be incorrect.">
            <a:extLst>
              <a:ext uri="{FF2B5EF4-FFF2-40B4-BE49-F238E27FC236}">
                <a16:creationId xmlns:a16="http://schemas.microsoft.com/office/drawing/2014/main" id="{61EC63E0-9B61-FDD6-0295-9680DF777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6440" y="1101165"/>
            <a:ext cx="1958173" cy="24642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solidFill>
                  <a:schemeClr val="tx1"/>
                </a:solidFill>
              </a:rPr>
              <a:pPr/>
              <a:t>3</a:t>
            </a:fld>
            <a:endParaRPr lang="en-US" dirty="0">
              <a:solidFill>
                <a:schemeClr val="tx1"/>
              </a:solidFill>
            </a:endParaRPr>
          </a:p>
        </p:txBody>
      </p:sp>
      <p:sp>
        <p:nvSpPr>
          <p:cNvPr id="9" name="Content Placeholder 5">
            <a:extLst>
              <a:ext uri="{FF2B5EF4-FFF2-40B4-BE49-F238E27FC236}">
                <a16:creationId xmlns:a16="http://schemas.microsoft.com/office/drawing/2014/main" id="{691A3D75-66A7-49DC-9380-D7B99BBAFBF5}"/>
              </a:ext>
            </a:extLst>
          </p:cNvPr>
          <p:cNvSpPr txBox="1">
            <a:spLocks/>
          </p:cNvSpPr>
          <p:nvPr/>
        </p:nvSpPr>
        <p:spPr>
          <a:xfrm>
            <a:off x="2051720" y="1168126"/>
            <a:ext cx="6181632" cy="341713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B.Tech. (Computer Science CS)  </a:t>
            </a:r>
          </a:p>
          <a:p>
            <a:r>
              <a:rPr lang="en-IN" sz="2400" dirty="0"/>
              <a:t>Core subject</a:t>
            </a:r>
          </a:p>
          <a:p>
            <a:r>
              <a:rPr lang="en-IN" sz="2400" dirty="0"/>
              <a:t>3rd SEMESTER </a:t>
            </a:r>
            <a:endParaRPr lang="en-US" sz="2400" dirty="0"/>
          </a:p>
          <a:p>
            <a:pPr marL="0" indent="0">
              <a:buNone/>
            </a:pPr>
            <a:r>
              <a:rPr lang="en-US" sz="2400" b="1" dirty="0"/>
              <a:t>                  </a:t>
            </a:r>
          </a:p>
          <a:p>
            <a:pPr marL="0" indent="0" algn="ctr">
              <a:lnSpc>
                <a:spcPct val="115000"/>
              </a:lnSpc>
              <a:spcBef>
                <a:spcPts val="0"/>
              </a:spcBef>
              <a:spcAft>
                <a:spcPts val="750"/>
              </a:spcAft>
              <a:buNone/>
            </a:pPr>
            <a:r>
              <a:rPr lang="en-US" sz="2400" b="1" dirty="0">
                <a:latin typeface="Times New Roman" panose="02020603050405020304" pitchFamily="18" charset="0"/>
                <a:cs typeface="Times New Roman" panose="02020603050405020304" pitchFamily="18" charset="0"/>
              </a:rPr>
              <a:t>PREDICTIVE ANALYTICS</a:t>
            </a:r>
          </a:p>
          <a:p>
            <a:pPr marL="0" indent="0" algn="ctr">
              <a:lnSpc>
                <a:spcPct val="115000"/>
              </a:lnSpc>
              <a:spcBef>
                <a:spcPts val="0"/>
              </a:spcBef>
              <a:spcAft>
                <a:spcPts val="750"/>
              </a:spcAft>
              <a:buNone/>
            </a:pPr>
            <a:endParaRPr lang="en-US" sz="2400" b="1" spc="4" dirty="0">
              <a:solidFill>
                <a:srgbClr val="000000"/>
              </a:solidFill>
              <a:latin typeface="Times New Roman" panose="02020603050405020304" pitchFamily="18" charset="0"/>
              <a:ea typeface="Times New Roman" panose="02020603050405020304" pitchFamily="18" charset="0"/>
            </a:endParaRPr>
          </a:p>
          <a:p>
            <a:pPr marL="0" indent="0" algn="ctr">
              <a:lnSpc>
                <a:spcPct val="115000"/>
              </a:lnSpc>
              <a:spcBef>
                <a:spcPts val="0"/>
              </a:spcBef>
              <a:spcAft>
                <a:spcPts val="750"/>
              </a:spcAft>
              <a:buNone/>
            </a:pPr>
            <a:endParaRPr lang="en-US" sz="2400" dirty="0"/>
          </a:p>
        </p:txBody>
      </p:sp>
      <p:sp>
        <p:nvSpPr>
          <p:cNvPr id="3" name="Date Placeholder 2"/>
          <p:cNvSpPr>
            <a:spLocks noGrp="1"/>
          </p:cNvSpPr>
          <p:nvPr>
            <p:ph type="dt" sz="half" idx="10"/>
          </p:nvPr>
        </p:nvSpPr>
        <p:spPr/>
        <p:txBody>
          <a:bodyPr/>
          <a:lstStyle/>
          <a:p>
            <a:fld id="{782353BC-0C7A-47E4-B90C-56DA12AC761A}" type="datetime1">
              <a:rPr lang="en-US" smtClean="0">
                <a:solidFill>
                  <a:schemeClr val="tx1"/>
                </a:solidFill>
              </a:rPr>
              <a:t>7/4/2025</a:t>
            </a:fld>
            <a:endParaRPr lang="en-US" dirty="0">
              <a:solidFill>
                <a:schemeClr val="tx1"/>
              </a:solidFill>
            </a:endParaRPr>
          </a:p>
        </p:txBody>
      </p:sp>
      <p:sp>
        <p:nvSpPr>
          <p:cNvPr id="10" name="Footer Placeholder 4"/>
          <p:cNvSpPr>
            <a:spLocks noGrp="1"/>
          </p:cNvSpPr>
          <p:nvPr>
            <p:ph type="ftr" sz="quarter" idx="11"/>
          </p:nvPr>
        </p:nvSpPr>
        <p:spPr>
          <a:xfrm>
            <a:off x="2411759" y="6447631"/>
            <a:ext cx="4889585" cy="273844"/>
          </a:xfrm>
        </p:spPr>
        <p:txBody>
          <a:bodyPr/>
          <a:lstStyle/>
          <a:p>
            <a:r>
              <a:rPr lang="en-US" dirty="0">
                <a:solidFill>
                  <a:schemeClr val="tx1"/>
                </a:solidFill>
              </a:rPr>
              <a:t>Mr. Anshul Varshney               High Performance computing                   Unit 2</a:t>
            </a:r>
          </a:p>
        </p:txBody>
      </p:sp>
      <p:pic>
        <p:nvPicPr>
          <p:cNvPr id="13" name="Picture 12">
            <a:extLst>
              <a:ext uri="{FF2B5EF4-FFF2-40B4-BE49-F238E27FC236}">
                <a16:creationId xmlns:a16="http://schemas.microsoft.com/office/drawing/2014/main" id="{78E91FED-0861-4262-B4A8-84819F0176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D2283B93-54FE-41F0-81CE-7D376FC42D7B}"/>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Evaluation Scheme</a:t>
            </a:r>
          </a:p>
        </p:txBody>
      </p:sp>
      <p:pic>
        <p:nvPicPr>
          <p:cNvPr id="2" name="Picture 1" descr="A screenshot of a computer&#10;&#10;Description automatically generated">
            <a:extLst>
              <a:ext uri="{FF2B5EF4-FFF2-40B4-BE49-F238E27FC236}">
                <a16:creationId xmlns:a16="http://schemas.microsoft.com/office/drawing/2014/main" id="{F963A7B9-FE64-192C-CDCC-1DA2205F74B6}"/>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 name="Picture 4" descr="A grid of letters and numbers&#10;&#10;AI-generated content may be incorrect.">
            <a:extLst>
              <a:ext uri="{FF2B5EF4-FFF2-40B4-BE49-F238E27FC236}">
                <a16:creationId xmlns:a16="http://schemas.microsoft.com/office/drawing/2014/main" id="{B2BEA6E4-390A-1F2E-0CA3-9DB04A93A8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142" y="3460869"/>
            <a:ext cx="3797138" cy="1339956"/>
          </a:xfrm>
          <a:prstGeom prst="rect">
            <a:avLst/>
          </a:prstGeom>
        </p:spPr>
      </p:pic>
    </p:spTree>
    <p:extLst>
      <p:ext uri="{BB962C8B-B14F-4D97-AF65-F5344CB8AC3E}">
        <p14:creationId xmlns:p14="http://schemas.microsoft.com/office/powerpoint/2010/main" val="1351447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80ED07-1A88-4B50-8A51-4E615B176A9B}" type="datetime1">
              <a:rPr lang="en-US" smtClean="0">
                <a:solidFill>
                  <a:prstClr val="black">
                    <a:tint val="75000"/>
                  </a:prstClr>
                </a:solidFill>
              </a:rPr>
              <a:t>7/4/2025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187C76CF-34CE-16BE-85C7-ED82CC21D6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3DB9AC42-345F-9F12-8EC7-C98722D7E435}"/>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prstClr val="black"/>
                </a:solidFill>
              </a:rPr>
              <a:t>Course Contents / Syllabus</a:t>
            </a:r>
          </a:p>
        </p:txBody>
      </p:sp>
      <p:pic>
        <p:nvPicPr>
          <p:cNvPr id="3" name="Picture 2" descr="A screenshot of a computer&#10;&#10;Description automatically generated">
            <a:extLst>
              <a:ext uri="{FF2B5EF4-FFF2-40B4-BE49-F238E27FC236}">
                <a16:creationId xmlns:a16="http://schemas.microsoft.com/office/drawing/2014/main" id="{9018D53C-FC47-AC51-C5D4-4D49C08DEC7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7" name="Picture 6" descr="A computer information sheet with text&#10;&#10;AI-generated content may be incorrect.">
            <a:extLst>
              <a:ext uri="{FF2B5EF4-FFF2-40B4-BE49-F238E27FC236}">
                <a16:creationId xmlns:a16="http://schemas.microsoft.com/office/drawing/2014/main" id="{7395C909-8437-E538-C3CF-244C68D90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42" y="928255"/>
            <a:ext cx="8983921" cy="5525331"/>
          </a:xfrm>
          <a:prstGeom prst="rect">
            <a:avLst/>
          </a:prstGeom>
        </p:spPr>
      </p:pic>
      <p:sp>
        <p:nvSpPr>
          <p:cNvPr id="2" name="Footer Placeholder 1">
            <a:extLst>
              <a:ext uri="{FF2B5EF4-FFF2-40B4-BE49-F238E27FC236}">
                <a16:creationId xmlns:a16="http://schemas.microsoft.com/office/drawing/2014/main" id="{55CCBB57-F08E-6A5A-A772-B91EB8BFCE6C}"/>
              </a:ext>
            </a:extLst>
          </p:cNvPr>
          <p:cNvSpPr>
            <a:spLocks noGrp="1"/>
          </p:cNvSpPr>
          <p:nvPr>
            <p:ph type="ftr" sz="quarter" idx="11"/>
          </p:nvPr>
        </p:nvSpPr>
        <p:spPr>
          <a:xfrm>
            <a:off x="2078182" y="6356350"/>
            <a:ext cx="5638800" cy="365125"/>
          </a:xfrm>
        </p:spPr>
        <p:txBody>
          <a:bodyPr/>
          <a:lstStyle/>
          <a:p>
            <a:r>
              <a:rPr lang="en-US" dirty="0"/>
              <a:t>Mr. Anshul Varshney               High Performance computing                   Unit 2</a:t>
            </a:r>
          </a:p>
        </p:txBody>
      </p:sp>
    </p:spTree>
    <p:extLst>
      <p:ext uri="{BB962C8B-B14F-4D97-AF65-F5344CB8AC3E}">
        <p14:creationId xmlns:p14="http://schemas.microsoft.com/office/powerpoint/2010/main" val="162761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475C85-31CD-4AEB-AE69-719EC1540112}" type="datetime1">
              <a:rPr lang="en-US" smtClean="0">
                <a:solidFill>
                  <a:prstClr val="black">
                    <a:tint val="75000"/>
                  </a:prstClr>
                </a:solidFill>
              </a:rPr>
              <a:t>7/4/2025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6484CE1B-D87C-C450-4B78-1A37F7424A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4348C115-F338-5A19-6880-728A2BC1501B}"/>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r>
              <a:rPr lang="en-IN" sz="2800" dirty="0"/>
              <a:t>Book Title/ External Links as per Syllabus</a:t>
            </a:r>
          </a:p>
        </p:txBody>
      </p:sp>
      <p:pic>
        <p:nvPicPr>
          <p:cNvPr id="5" name="Picture 4" descr="A screenshot of a computer&#10;&#10;Description automatically generated">
            <a:extLst>
              <a:ext uri="{FF2B5EF4-FFF2-40B4-BE49-F238E27FC236}">
                <a16:creationId xmlns:a16="http://schemas.microsoft.com/office/drawing/2014/main" id="{262BF54C-0D71-19C9-A24B-3D410842D6E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screenshot of a computer&#10;&#10;AI-generated content may be incorrect.">
            <a:extLst>
              <a:ext uri="{FF2B5EF4-FFF2-40B4-BE49-F238E27FC236}">
                <a16:creationId xmlns:a16="http://schemas.microsoft.com/office/drawing/2014/main" id="{1504538E-3196-FB94-CFBF-8A80B1353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36" y="900728"/>
            <a:ext cx="8728363" cy="5424946"/>
          </a:xfrm>
          <a:prstGeom prst="rect">
            <a:avLst/>
          </a:prstGeom>
        </p:spPr>
      </p:pic>
      <p:sp>
        <p:nvSpPr>
          <p:cNvPr id="2" name="Footer Placeholder 1">
            <a:extLst>
              <a:ext uri="{FF2B5EF4-FFF2-40B4-BE49-F238E27FC236}">
                <a16:creationId xmlns:a16="http://schemas.microsoft.com/office/drawing/2014/main" id="{BE435D3C-BFAE-3675-B8BE-A3AD113917E8}"/>
              </a:ext>
            </a:extLst>
          </p:cNvPr>
          <p:cNvSpPr>
            <a:spLocks noGrp="1"/>
          </p:cNvSpPr>
          <p:nvPr>
            <p:ph type="ftr" sz="quarter" idx="11"/>
          </p:nvPr>
        </p:nvSpPr>
        <p:spPr>
          <a:xfrm>
            <a:off x="1676400" y="6356350"/>
            <a:ext cx="6206836" cy="365125"/>
          </a:xfrm>
        </p:spPr>
        <p:txBody>
          <a:bodyPr/>
          <a:lstStyle/>
          <a:p>
            <a:r>
              <a:rPr lang="en-US" dirty="0"/>
              <a:t>Mr. Anshul Varshney               High Performance computing                   Unit 2</a:t>
            </a:r>
          </a:p>
        </p:txBody>
      </p:sp>
    </p:spTree>
    <p:extLst>
      <p:ext uri="{BB962C8B-B14F-4D97-AF65-F5344CB8AC3E}">
        <p14:creationId xmlns:p14="http://schemas.microsoft.com/office/powerpoint/2010/main" val="357923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86417FCE-7047-491D-A9BE-C1BB362527B0}" type="datetime1">
              <a:rPr lang="en-US" sz="900" smtClean="0">
                <a:solidFill>
                  <a:prstClr val="black">
                    <a:tint val="75000"/>
                  </a:prstClr>
                </a:solidFill>
                <a:latin typeface="Calibri"/>
              </a:rPr>
              <a:t>7/4/2025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6</a:t>
            </a:fld>
            <a:endParaRPr lang="en-US" sz="900">
              <a:solidFill>
                <a:prstClr val="black">
                  <a:tint val="75000"/>
                </a:prstClr>
              </a:solidFill>
              <a:latin typeface="Calibri"/>
            </a:endParaRPr>
          </a:p>
        </p:txBody>
      </p:sp>
      <p:sp>
        <p:nvSpPr>
          <p:cNvPr id="7" name="Title 1"/>
          <p:cNvSpPr txBox="1">
            <a:spLocks/>
          </p:cNvSpPr>
          <p:nvPr/>
        </p:nvSpPr>
        <p:spPr>
          <a:xfrm>
            <a:off x="1649896" y="8591"/>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Branch wise Applications</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a:xfrm>
            <a:off x="1384299" y="6356350"/>
            <a:ext cx="6665191" cy="365125"/>
          </a:xfrm>
        </p:spPr>
        <p:txBody>
          <a:bodyPr/>
          <a:lstStyle/>
          <a:p>
            <a:r>
              <a:rPr lang="en-US" dirty="0"/>
              <a:t>Mr. Anshul Varshney               High Performance computing                   Unit 2</a:t>
            </a:r>
          </a:p>
        </p:txBody>
      </p:sp>
      <p:sp>
        <p:nvSpPr>
          <p:cNvPr id="8" name="Content Placeholder 7">
            <a:extLst>
              <a:ext uri="{FF2B5EF4-FFF2-40B4-BE49-F238E27FC236}">
                <a16:creationId xmlns:a16="http://schemas.microsoft.com/office/drawing/2014/main" id="{D455D4FD-79DE-564F-9587-50D0944AFBA6}"/>
              </a:ext>
            </a:extLst>
          </p:cNvPr>
          <p:cNvSpPr>
            <a:spLocks noGrp="1"/>
          </p:cNvSpPr>
          <p:nvPr>
            <p:ph idx="1"/>
          </p:nvPr>
        </p:nvSpPr>
        <p:spPr>
          <a:xfrm>
            <a:off x="240632" y="785352"/>
            <a:ext cx="8662736" cy="5603990"/>
          </a:xfrm>
        </p:spPr>
        <p:txBody>
          <a:bodyPr>
            <a:normAutofit fontScale="85000" lnSpcReduction="10000"/>
          </a:bodyPr>
          <a:lstStyle/>
          <a:p>
            <a:pPr algn="just"/>
            <a:r>
              <a:rPr lang="en-IN" sz="2000" dirty="0"/>
              <a:t>Computer science encompasses a diverse array of specialized fields that address modern technological challenges and innovations. </a:t>
            </a:r>
            <a:r>
              <a:rPr lang="en-IN" sz="2000" b="1" dirty="0"/>
              <a:t>Artificial Intelligence (AI) &amp; Machine Learning (ML)</a:t>
            </a:r>
            <a:r>
              <a:rPr lang="en-IN" sz="2000" dirty="0"/>
              <a:t> empower systems to perceive, learn, and make decisions—from voice assistants and medical diagnostic tools to autonomous vehicles . </a:t>
            </a:r>
            <a:r>
              <a:rPr lang="en-IN" sz="2000" b="1" dirty="0"/>
              <a:t>Data Science &amp; Big Data</a:t>
            </a:r>
            <a:r>
              <a:rPr lang="en-IN" sz="2000" dirty="0"/>
              <a:t> blend statistics, data </a:t>
            </a:r>
            <a:r>
              <a:rPr lang="en-IN" sz="2000" dirty="0" err="1"/>
              <a:t>modeling</a:t>
            </a:r>
            <a:r>
              <a:rPr lang="en-IN" sz="2000" dirty="0"/>
              <a:t>, and programming to uncover insights for business intelligence, fraud detection, and predictive analytics. </a:t>
            </a:r>
            <a:r>
              <a:rPr lang="en-IN" sz="2000" b="1" dirty="0"/>
              <a:t>Software Engineering</a:t>
            </a:r>
            <a:r>
              <a:rPr lang="en-IN" sz="2000" dirty="0"/>
              <a:t> focuses on the full lifecycle of building robust applications—from mobile and web platforms to enterprise and industrial systems . In </a:t>
            </a:r>
            <a:r>
              <a:rPr lang="en-IN" sz="2000" b="1" dirty="0"/>
              <a:t>Cybersecurity &amp; Cryptography</a:t>
            </a:r>
            <a:r>
              <a:rPr lang="en-IN" sz="2000" dirty="0"/>
              <a:t>, specialists design secure protocols and systems to protect networks, financial infrastructure, and sensitive personal data. </a:t>
            </a:r>
            <a:r>
              <a:rPr lang="en-IN" sz="2000" b="1" dirty="0"/>
              <a:t>Cloud Computing &amp; DevOps</a:t>
            </a:r>
            <a:r>
              <a:rPr lang="en-IN" sz="2000" dirty="0"/>
              <a:t> enable scalable on-demand services, powering online gaming, streaming, and enterprise applications with automated deployment pipelines . Fields like </a:t>
            </a:r>
            <a:r>
              <a:rPr lang="en-IN" sz="2000" b="1" dirty="0"/>
              <a:t>Computer Graphics &amp; Visualization</a:t>
            </a:r>
            <a:r>
              <a:rPr lang="en-IN" sz="2000" dirty="0"/>
              <a:t>, </a:t>
            </a:r>
            <a:r>
              <a:rPr lang="en-IN" sz="2000" b="1" dirty="0"/>
              <a:t>Computer Vision</a:t>
            </a:r>
            <a:r>
              <a:rPr lang="en-IN" sz="2000" dirty="0"/>
              <a:t>, and </a:t>
            </a:r>
            <a:r>
              <a:rPr lang="en-IN" sz="2000" b="1" dirty="0"/>
              <a:t>HCI</a:t>
            </a:r>
            <a:r>
              <a:rPr lang="en-IN" sz="2000" dirty="0"/>
              <a:t> focus on visual, interactive, and user-centric computing, driving VR/AR, gaming, medical imaging, and intuitive interfaces. </a:t>
            </a:r>
            <a:r>
              <a:rPr lang="en-IN" sz="2000" b="1" dirty="0"/>
              <a:t>Algorithms &amp; Data Structures</a:t>
            </a:r>
            <a:r>
              <a:rPr lang="en-IN" sz="2000" dirty="0"/>
              <a:t> form the theoretical backbone, optimizing search, encryption, and data retrieval while informing compiler and database design. At the hardware level, </a:t>
            </a:r>
            <a:r>
              <a:rPr lang="en-IN" sz="2000" b="1" dirty="0"/>
              <a:t>Computer Architecture &amp; Embedded Systems</a:t>
            </a:r>
            <a:r>
              <a:rPr lang="en-IN" sz="2000" dirty="0"/>
              <a:t> support IoT, smart devices, and robotics through efficient design of processors and sensors . </a:t>
            </a:r>
            <a:r>
              <a:rPr lang="en-IN" sz="2000" b="1" dirty="0"/>
              <a:t>Blockchain &amp; Distributed Systems</a:t>
            </a:r>
            <a:r>
              <a:rPr lang="en-IN" sz="2000" dirty="0"/>
              <a:t> revolutionize secure, decentralized applications in finance and supply chains. Emerging areas like </a:t>
            </a:r>
            <a:r>
              <a:rPr lang="en-IN" sz="2000" b="1" dirty="0"/>
              <a:t>Quantum Computing</a:t>
            </a:r>
            <a:r>
              <a:rPr lang="en-IN" sz="2000" dirty="0"/>
              <a:t> and </a:t>
            </a:r>
            <a:r>
              <a:rPr lang="en-IN" sz="2000" b="1" dirty="0"/>
              <a:t>Neuromorphic/Biological Computing</a:t>
            </a:r>
            <a:r>
              <a:rPr lang="en-IN" sz="2000" dirty="0"/>
              <a:t> promise breakthroughs in simulation, optimization, and ultra-efficient intelligent systems—whether using qubits to accelerate drug discovery or neuronal circuits to mimic brain-like computation .</a:t>
            </a:r>
            <a:endParaRPr lang="en-US" sz="2000" dirty="0">
              <a:solidFill>
                <a:srgbClr val="181818"/>
              </a:solidFill>
            </a:endParaRPr>
          </a:p>
        </p:txBody>
      </p:sp>
      <p:pic>
        <p:nvPicPr>
          <p:cNvPr id="9" name="Picture 8">
            <a:extLst>
              <a:ext uri="{FF2B5EF4-FFF2-40B4-BE49-F238E27FC236}">
                <a16:creationId xmlns:a16="http://schemas.microsoft.com/office/drawing/2014/main" id="{1A8C513B-AE17-1B4D-948D-037A94802E81}"/>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01AC5A2-96E9-6386-1B40-A2EFBB5D16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080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382000" cy="4800600"/>
          </a:xfrm>
        </p:spPr>
        <p:txBody>
          <a:bodyPr>
            <a:noAutofit/>
          </a:bodyPr>
          <a:lstStyle/>
          <a:p>
            <a:pPr marL="0" indent="0" algn="just">
              <a:lnSpc>
                <a:spcPct val="200000"/>
              </a:lnSpc>
              <a:buNone/>
            </a:pPr>
            <a:r>
              <a:rPr lang="en-IN" sz="2400" b="1" kern="1200" dirty="0">
                <a:solidFill>
                  <a:schemeClr val="tx1"/>
                </a:solidFill>
                <a:effectLst/>
                <a:latin typeface="+mj-lt"/>
              </a:rPr>
              <a:t>The objective of this course is -</a:t>
            </a:r>
          </a:p>
          <a:p>
            <a:pPr algn="just"/>
            <a:r>
              <a:rPr lang="en-US" sz="2000" b="1" dirty="0"/>
              <a:t>Fundamental HPC Concepts &amp; Terminology Introduce </a:t>
            </a:r>
            <a:r>
              <a:rPr lang="en-US" sz="2000" dirty="0"/>
              <a:t>students to essential HPC concepts like parallelism, scaling, and performance (speedup vs. efficiency). Explain why HPC is vital across scientific and engineering domains</a:t>
            </a:r>
          </a:p>
          <a:p>
            <a:pPr algn="just"/>
            <a:r>
              <a:rPr lang="en-US" sz="2000" b="1" dirty="0"/>
              <a:t>Understanding Modern Architectures </a:t>
            </a:r>
            <a:r>
              <a:rPr lang="en-US" sz="2000" dirty="0"/>
              <a:t>Cover shared‑memory and distributed systems (clusters, GPUs, accelerators), their architectures, and how hardware design influences software performance.</a:t>
            </a:r>
          </a:p>
          <a:p>
            <a:pPr algn="just"/>
            <a:r>
              <a:rPr lang="en-US" sz="2000" b="1" dirty="0"/>
              <a:t>Mastery of Parallel Programming Models </a:t>
            </a:r>
            <a:r>
              <a:rPr lang="en-US" sz="2000" dirty="0"/>
              <a:t>Teach key parallel programming paradigms:</a:t>
            </a:r>
          </a:p>
          <a:p>
            <a:pPr lvl="1" algn="just">
              <a:buFont typeface="Wingdings" panose="05000000000000000000" pitchFamily="2" charset="2"/>
              <a:buChar char="Ø"/>
            </a:pPr>
            <a:r>
              <a:rPr lang="en-US" sz="1600" dirty="0"/>
              <a:t>Shared memory: OpenMP</a:t>
            </a:r>
          </a:p>
          <a:p>
            <a:pPr lvl="1" algn="just">
              <a:buFont typeface="Wingdings" panose="05000000000000000000" pitchFamily="2" charset="2"/>
              <a:buChar char="Ø"/>
            </a:pPr>
            <a:r>
              <a:rPr lang="en-US" sz="1600" dirty="0"/>
              <a:t>Distributed memory: MPI</a:t>
            </a:r>
          </a:p>
          <a:p>
            <a:pPr lvl="1" algn="just">
              <a:buFont typeface="Wingdings" panose="05000000000000000000" pitchFamily="2" charset="2"/>
              <a:buChar char="Ø"/>
            </a:pPr>
            <a:r>
              <a:rPr lang="en-US" sz="1600" dirty="0"/>
              <a:t>Hardware-accelerated: CUDA, OpenCL, </a:t>
            </a:r>
            <a:r>
              <a:rPr lang="en-US" sz="1600" dirty="0" err="1"/>
              <a:t>OpenACC</a:t>
            </a:r>
            <a:endParaRPr lang="en-US" sz="1600" dirty="0"/>
          </a:p>
        </p:txBody>
      </p:sp>
      <p:sp>
        <p:nvSpPr>
          <p:cNvPr id="4" name="Date Placeholder 3"/>
          <p:cNvSpPr>
            <a:spLocks noGrp="1"/>
          </p:cNvSpPr>
          <p:nvPr>
            <p:ph type="dt" sz="half" idx="10"/>
          </p:nvPr>
        </p:nvSpPr>
        <p:spPr/>
        <p:txBody>
          <a:bodyPr/>
          <a:lstStyle/>
          <a:p>
            <a:pPr defTabSz="685800">
              <a:defRPr/>
            </a:pPr>
            <a:fld id="{714C4790-0976-446E-8D19-0F5D29C689EF}" type="datetime1">
              <a:rPr lang="en-US" sz="900" smtClean="0">
                <a:solidFill>
                  <a:prstClr val="black">
                    <a:tint val="75000"/>
                  </a:prstClr>
                </a:solidFill>
                <a:latin typeface="Calibri"/>
              </a:rPr>
              <a:t>7/4/2025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7</a:t>
            </a:fld>
            <a:endParaRPr lang="en-US" sz="900">
              <a:solidFill>
                <a:prstClr val="black">
                  <a:tint val="75000"/>
                </a:prstClr>
              </a:solidFill>
              <a:latin typeface="Calibri"/>
            </a:endParaRPr>
          </a:p>
        </p:txBody>
      </p:sp>
      <p:sp>
        <p:nvSpPr>
          <p:cNvPr id="7" name="Title 1"/>
          <p:cNvSpPr txBox="1">
            <a:spLocks/>
          </p:cNvSpPr>
          <p:nvPr/>
        </p:nvSpPr>
        <p:spPr>
          <a:xfrm>
            <a:off x="1649896" y="0"/>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2400" dirty="0">
                <a:solidFill>
                  <a:prstClr val="black"/>
                </a:solidFill>
                <a:latin typeface="Calibri"/>
              </a:rPr>
              <a:t>Course Objective</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a:xfrm>
            <a:off x="1749347" y="6356350"/>
            <a:ext cx="6258580" cy="365125"/>
          </a:xfrm>
        </p:spPr>
        <p:txBody>
          <a:bodyPr/>
          <a:lstStyle/>
          <a:p>
            <a:r>
              <a:rPr lang="en-US" dirty="0"/>
              <a:t>Mr. Anshul Varshney               High Performance computing                   Unit 2</a:t>
            </a:r>
          </a:p>
        </p:txBody>
      </p:sp>
      <p:pic>
        <p:nvPicPr>
          <p:cNvPr id="8" name="Picture 7">
            <a:extLst>
              <a:ext uri="{FF2B5EF4-FFF2-40B4-BE49-F238E27FC236}">
                <a16:creationId xmlns:a16="http://schemas.microsoft.com/office/drawing/2014/main" id="{46DC10CE-C9A2-074B-8A9C-9CECC2DE51F8}"/>
              </a:ext>
            </a:extLst>
          </p:cNvPr>
          <p:cNvPicPr>
            <a:picLocks noChangeAspect="1"/>
          </p:cNvPicPr>
          <p:nvPr/>
        </p:nvPicPr>
        <p:blipFill>
          <a:blip r:embed="rId2"/>
          <a:stretch>
            <a:fillRect/>
          </a:stretch>
        </p:blipFill>
        <p:spPr>
          <a:xfrm>
            <a:off x="0" y="-27448"/>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48606449-F2C8-DDE3-226A-1258D301D2F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2411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8</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Course Outcomes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96" y="136633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6F563DF8-5D5B-4A8A-AC32-BE8C9A71334A}" type="datetime1">
              <a:rPr lang="en-US" smtClean="0">
                <a:solidFill>
                  <a:schemeClr val="tx1"/>
                </a:solidFill>
              </a:rPr>
              <a:t>7/4/2025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a:xfrm>
            <a:off x="1856509" y="6356350"/>
            <a:ext cx="5971309" cy="365125"/>
          </a:xfrm>
        </p:spPr>
        <p:txBody>
          <a:bodyPr/>
          <a:lstStyle/>
          <a:p>
            <a:r>
              <a:rPr lang="en-US" dirty="0"/>
              <a:t>Mr. Anshul Varshney               High Performance computing                   Unit 2</a:t>
            </a:r>
          </a:p>
        </p:txBody>
      </p:sp>
      <p:pic>
        <p:nvPicPr>
          <p:cNvPr id="10" name="Picture 9">
            <a:extLst>
              <a:ext uri="{FF2B5EF4-FFF2-40B4-BE49-F238E27FC236}">
                <a16:creationId xmlns:a16="http://schemas.microsoft.com/office/drawing/2014/main" id="{10D79750-6B6E-4948-86A9-BC05E73968CD}"/>
              </a:ext>
            </a:extLst>
          </p:cNvPr>
          <p:cNvPicPr>
            <a:picLocks noChangeAspect="1"/>
          </p:cNvPicPr>
          <p:nvPr/>
        </p:nvPicPr>
        <p:blipFill>
          <a:blip r:embed="rId3"/>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279CD4C5-7386-BB7F-4FD5-3216343FF9E5}"/>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B6403602-67B6-69F0-507C-67C83869B2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382" y="1025237"/>
            <a:ext cx="8631382" cy="5140036"/>
          </a:xfrm>
          <a:prstGeom prst="rect">
            <a:avLst/>
          </a:prstGeom>
        </p:spPr>
      </p:pic>
    </p:spTree>
    <p:extLst>
      <p:ext uri="{BB962C8B-B14F-4D97-AF65-F5344CB8AC3E}">
        <p14:creationId xmlns:p14="http://schemas.microsoft.com/office/powerpoint/2010/main" val="21141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9</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Program Outcomes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D4BA78BF-E81C-482F-AB0B-8C0B99B3943D}" type="datetime1">
              <a:rPr lang="en-US" smtClean="0">
                <a:solidFill>
                  <a:schemeClr val="tx1"/>
                </a:solidFill>
              </a:rPr>
              <a:t>7/4/2025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a:xfrm>
            <a:off x="1870364" y="6356350"/>
            <a:ext cx="6054436" cy="365125"/>
          </a:xfrm>
        </p:spPr>
        <p:txBody>
          <a:bodyPr/>
          <a:lstStyle/>
          <a:p>
            <a:r>
              <a:rPr lang="en-US" dirty="0"/>
              <a:t>Mr. Anshul Varshney               High Performance computing                   Unit 2</a:t>
            </a:r>
          </a:p>
        </p:txBody>
      </p:sp>
      <p:sp>
        <p:nvSpPr>
          <p:cNvPr id="12" name="TextBox 11">
            <a:extLst>
              <a:ext uri="{FF2B5EF4-FFF2-40B4-BE49-F238E27FC236}">
                <a16:creationId xmlns:a16="http://schemas.microsoft.com/office/drawing/2014/main" id="{5406A62A-D4AF-D04B-8445-69F55CAAD422}"/>
              </a:ext>
            </a:extLst>
          </p:cNvPr>
          <p:cNvSpPr txBox="1"/>
          <p:nvPr/>
        </p:nvSpPr>
        <p:spPr>
          <a:xfrm>
            <a:off x="614140" y="1089040"/>
            <a:ext cx="8140839" cy="4955203"/>
          </a:xfrm>
          <a:prstGeom prst="rect">
            <a:avLst/>
          </a:prstGeom>
          <a:noFill/>
        </p:spPr>
        <p:txBody>
          <a:bodyPr wrap="square">
            <a:spAutoFit/>
          </a:bodyPr>
          <a:lstStyle/>
          <a:p>
            <a:pPr marL="0" indent="0">
              <a:buNone/>
            </a:pPr>
            <a:r>
              <a:rPr lang="en-US" sz="2800" b="1" dirty="0">
                <a:latin typeface="+mj-lt"/>
                <a:cs typeface="Times New Roman" panose="02020603050405020304" pitchFamily="18" charset="0"/>
              </a:rPr>
              <a:t>Engineering Graduates will be able to Understand:</a:t>
            </a:r>
          </a:p>
          <a:p>
            <a:pPr marL="0" indent="0">
              <a:buNone/>
            </a:pPr>
            <a:r>
              <a:rPr lang="en-US" sz="2400" dirty="0">
                <a:latin typeface="+mj-lt"/>
                <a:cs typeface="Times New Roman" panose="02020603050405020304" pitchFamily="18" charset="0"/>
              </a:rPr>
              <a:t>1. Engineering knowledge</a:t>
            </a:r>
          </a:p>
          <a:p>
            <a:pPr marL="0" indent="0">
              <a:buNone/>
            </a:pPr>
            <a:r>
              <a:rPr lang="en-US" sz="2400" dirty="0">
                <a:latin typeface="+mj-lt"/>
                <a:cs typeface="Times New Roman" panose="02020603050405020304" pitchFamily="18" charset="0"/>
              </a:rPr>
              <a:t>2. Problem analysis</a:t>
            </a:r>
          </a:p>
          <a:p>
            <a:pPr marL="0" indent="0">
              <a:buNone/>
            </a:pPr>
            <a:r>
              <a:rPr lang="en-US" sz="2400" dirty="0">
                <a:latin typeface="+mj-lt"/>
                <a:cs typeface="Times New Roman" panose="02020603050405020304" pitchFamily="18" charset="0"/>
              </a:rPr>
              <a:t>3. Design/development of solutions</a:t>
            </a:r>
          </a:p>
          <a:p>
            <a:pPr marL="0" indent="0">
              <a:buNone/>
            </a:pPr>
            <a:r>
              <a:rPr lang="en-US" sz="2400" dirty="0">
                <a:latin typeface="+mj-lt"/>
                <a:cs typeface="Times New Roman" panose="02020603050405020304" pitchFamily="18" charset="0"/>
              </a:rPr>
              <a:t>4. Conduct investigations of complex </a:t>
            </a:r>
          </a:p>
          <a:p>
            <a:pPr marL="0" indent="0">
              <a:buNone/>
            </a:pPr>
            <a:r>
              <a:rPr lang="en-US" sz="2400" dirty="0">
                <a:latin typeface="+mj-lt"/>
                <a:cs typeface="Times New Roman" panose="02020603050405020304" pitchFamily="18" charset="0"/>
              </a:rPr>
              <a:t>5. Modern tool usage </a:t>
            </a:r>
          </a:p>
          <a:p>
            <a:pPr marL="0" indent="0">
              <a:buNone/>
            </a:pPr>
            <a:r>
              <a:rPr lang="en-US" sz="2400" dirty="0">
                <a:latin typeface="+mj-lt"/>
                <a:cs typeface="Times New Roman" panose="02020603050405020304" pitchFamily="18" charset="0"/>
              </a:rPr>
              <a:t>6. The engineer and society </a:t>
            </a:r>
          </a:p>
          <a:p>
            <a:pPr marL="0" indent="0">
              <a:buNone/>
            </a:pPr>
            <a:r>
              <a:rPr lang="en-US" sz="2400" dirty="0">
                <a:latin typeface="+mj-lt"/>
                <a:cs typeface="Times New Roman" panose="02020603050405020304" pitchFamily="18" charset="0"/>
              </a:rPr>
              <a:t>7. Environment and sustainability </a:t>
            </a:r>
          </a:p>
          <a:p>
            <a:pPr marL="0" indent="0">
              <a:buNone/>
            </a:pPr>
            <a:r>
              <a:rPr lang="en-US" sz="2400" dirty="0">
                <a:latin typeface="+mj-lt"/>
                <a:cs typeface="Times New Roman" panose="02020603050405020304" pitchFamily="18" charset="0"/>
              </a:rPr>
              <a:t>8. Ethics</a:t>
            </a:r>
          </a:p>
          <a:p>
            <a:pPr marL="0" indent="0">
              <a:buNone/>
            </a:pPr>
            <a:r>
              <a:rPr lang="en-US" sz="2400" dirty="0">
                <a:latin typeface="+mj-lt"/>
                <a:cs typeface="Times New Roman" panose="02020603050405020304" pitchFamily="18" charset="0"/>
              </a:rPr>
              <a:t> 9. Individual and team work</a:t>
            </a:r>
          </a:p>
          <a:p>
            <a:pPr marL="0" indent="0">
              <a:buNone/>
            </a:pPr>
            <a:r>
              <a:rPr lang="en-US" sz="2400" dirty="0">
                <a:latin typeface="+mj-lt"/>
                <a:cs typeface="Times New Roman" panose="02020603050405020304" pitchFamily="18" charset="0"/>
              </a:rPr>
              <a:t>10. Communication</a:t>
            </a:r>
          </a:p>
          <a:p>
            <a:pPr marL="0" indent="0">
              <a:buNone/>
            </a:pPr>
            <a:r>
              <a:rPr lang="en-US" sz="2400" dirty="0">
                <a:latin typeface="+mj-lt"/>
                <a:cs typeface="Times New Roman" panose="02020603050405020304" pitchFamily="18" charset="0"/>
              </a:rPr>
              <a:t>11. Project management and finance</a:t>
            </a:r>
          </a:p>
          <a:p>
            <a:pPr marL="0" indent="0">
              <a:buNone/>
            </a:pPr>
            <a:r>
              <a:rPr lang="en-US" sz="2400" dirty="0">
                <a:latin typeface="+mj-lt"/>
                <a:cs typeface="Times New Roman" panose="02020603050405020304" pitchFamily="18" charset="0"/>
              </a:rPr>
              <a:t>12. Life-long learning</a:t>
            </a:r>
            <a:endParaRPr lang="en-US" sz="2400" dirty="0">
              <a:latin typeface="+mj-lt"/>
            </a:endParaRPr>
          </a:p>
        </p:txBody>
      </p:sp>
      <p:pic>
        <p:nvPicPr>
          <p:cNvPr id="9" name="Picture 8">
            <a:extLst>
              <a:ext uri="{FF2B5EF4-FFF2-40B4-BE49-F238E27FC236}">
                <a16:creationId xmlns:a16="http://schemas.microsoft.com/office/drawing/2014/main" id="{61B3EE6B-8E6B-474D-8614-0D1D714871FF}"/>
              </a:ext>
            </a:extLst>
          </p:cNvPr>
          <p:cNvPicPr>
            <a:picLocks noChangeAspect="1"/>
          </p:cNvPicPr>
          <p:nvPr/>
        </p:nvPicPr>
        <p:blipFill>
          <a:blip r:embed="rId3"/>
          <a:stretch>
            <a:fillRect/>
          </a:stretch>
        </p:blipFill>
        <p:spPr>
          <a:xfrm>
            <a:off x="-19722" y="7620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FF32AC1-CC67-D202-2598-A39EED313658}"/>
              </a:ext>
            </a:extLst>
          </p:cNvPr>
          <p:cNvPicPr>
            <a:picLocks noChangeAspect="1"/>
          </p:cNvPicPr>
          <p:nvPr/>
        </p:nvPicPr>
        <p:blipFill rotWithShape="1">
          <a:blip r:embed="rId4"/>
          <a:srcRect l="26091" t="36058" r="24385" b="26405"/>
          <a:stretch/>
        </p:blipFill>
        <p:spPr bwMode="auto">
          <a:xfrm>
            <a:off x="0" y="34529"/>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3135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10</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CO-PO Mapping</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EF97B3D6-64AE-472A-BBD2-E241990E1924}" type="datetime1">
              <a:rPr lang="en-US" smtClean="0">
                <a:solidFill>
                  <a:schemeClr val="tx1"/>
                </a:solidFill>
              </a:rPr>
              <a:t>7/4/2025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a:xfrm>
            <a:off x="2050473" y="6356350"/>
            <a:ext cx="5749635" cy="365125"/>
          </a:xfrm>
        </p:spPr>
        <p:txBody>
          <a:bodyPr/>
          <a:lstStyle/>
          <a:p>
            <a:r>
              <a:rPr lang="en-US" dirty="0"/>
              <a:t>Mr. Anshul Varshney               High Performance computing                   Unit 2</a:t>
            </a:r>
          </a:p>
        </p:txBody>
      </p:sp>
      <p:pic>
        <p:nvPicPr>
          <p:cNvPr id="10" name="Picture 9">
            <a:extLst>
              <a:ext uri="{FF2B5EF4-FFF2-40B4-BE49-F238E27FC236}">
                <a16:creationId xmlns:a16="http://schemas.microsoft.com/office/drawing/2014/main" id="{6BEFD019-1EB7-DB4A-946C-17C635CE9D95}"/>
              </a:ext>
            </a:extLst>
          </p:cNvPr>
          <p:cNvPicPr>
            <a:picLocks noChangeAspect="1"/>
          </p:cNvPicPr>
          <p:nvPr/>
        </p:nvPicPr>
        <p:blipFill>
          <a:blip r:embed="rId3"/>
          <a:stretch>
            <a:fillRect/>
          </a:stretch>
        </p:blipFill>
        <p:spPr>
          <a:xfrm>
            <a:off x="-19722" y="0"/>
            <a:ext cx="1384300" cy="8128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C17934A-6F99-C238-921E-52B8D9C255B3}"/>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table with numbers and letters&#10;&#10;AI-generated content may be incorrect.">
            <a:extLst>
              <a:ext uri="{FF2B5EF4-FFF2-40B4-BE49-F238E27FC236}">
                <a16:creationId xmlns:a16="http://schemas.microsoft.com/office/drawing/2014/main" id="{CCE03D5A-32CC-E07C-2EA3-0C2852DFD4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346" y="1177636"/>
            <a:ext cx="8796127" cy="4696969"/>
          </a:xfrm>
          <a:prstGeom prst="rect">
            <a:avLst/>
          </a:prstGeom>
        </p:spPr>
      </p:pic>
    </p:spTree>
    <p:extLst>
      <p:ext uri="{BB962C8B-B14F-4D97-AF65-F5344CB8AC3E}">
        <p14:creationId xmlns:p14="http://schemas.microsoft.com/office/powerpoint/2010/main" val="338922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A9079-40A6-3586-0188-BE197C216826}"/>
              </a:ext>
            </a:extLst>
          </p:cNvPr>
          <p:cNvSpPr>
            <a:spLocks noGrp="1"/>
          </p:cNvSpPr>
          <p:nvPr>
            <p:ph type="dt" sz="half" idx="10"/>
          </p:nvPr>
        </p:nvSpPr>
        <p:spPr/>
        <p:txBody>
          <a:bodyPr/>
          <a:lstStyle/>
          <a:p>
            <a:fld id="{16682EDB-6DBE-48EA-BE4B-5D4356A38B0E}" type="datetime1">
              <a:rPr lang="en-US" smtClean="0"/>
              <a:t>7/4/2025</a:t>
            </a:fld>
            <a:endParaRPr lang="en-US" dirty="0"/>
          </a:p>
        </p:txBody>
      </p:sp>
      <p:sp>
        <p:nvSpPr>
          <p:cNvPr id="3" name="Footer Placeholder 2">
            <a:extLst>
              <a:ext uri="{FF2B5EF4-FFF2-40B4-BE49-F238E27FC236}">
                <a16:creationId xmlns:a16="http://schemas.microsoft.com/office/drawing/2014/main" id="{FEDA6916-D751-108B-462E-31B950E5DA5B}"/>
              </a:ext>
            </a:extLst>
          </p:cNvPr>
          <p:cNvSpPr>
            <a:spLocks noGrp="1"/>
          </p:cNvSpPr>
          <p:nvPr>
            <p:ph type="ftr" sz="quarter" idx="11"/>
          </p:nvPr>
        </p:nvSpPr>
        <p:spPr>
          <a:xfrm>
            <a:off x="1620982" y="6356350"/>
            <a:ext cx="6054436" cy="365125"/>
          </a:xfrm>
        </p:spPr>
        <p:txBody>
          <a:bodyPr/>
          <a:lstStyle/>
          <a:p>
            <a:r>
              <a:rPr lang="en-US" dirty="0"/>
              <a:t>Mr. Anshul Varshney               High Performance computing                   Unit 2</a:t>
            </a:r>
          </a:p>
        </p:txBody>
      </p:sp>
      <p:sp>
        <p:nvSpPr>
          <p:cNvPr id="4" name="Slide Number Placeholder 3">
            <a:extLst>
              <a:ext uri="{FF2B5EF4-FFF2-40B4-BE49-F238E27FC236}">
                <a16:creationId xmlns:a16="http://schemas.microsoft.com/office/drawing/2014/main" id="{6B86181E-91DF-5F84-0C89-326B8EE19F76}"/>
              </a:ext>
            </a:extLst>
          </p:cNvPr>
          <p:cNvSpPr>
            <a:spLocks noGrp="1"/>
          </p:cNvSpPr>
          <p:nvPr>
            <p:ph type="sldNum" sz="quarter" idx="12"/>
          </p:nvPr>
        </p:nvSpPr>
        <p:spPr/>
        <p:txBody>
          <a:bodyPr/>
          <a:lstStyle/>
          <a:p>
            <a:fld id="{B6F15528-21DE-4FAA-801E-634DDDAF4B2B}" type="slidenum">
              <a:rPr lang="en-US" smtClean="0"/>
              <a:pPr/>
              <a:t>11</a:t>
            </a:fld>
            <a:endParaRPr lang="en-US" dirty="0"/>
          </a:p>
        </p:txBody>
      </p:sp>
      <p:sp>
        <p:nvSpPr>
          <p:cNvPr id="5" name="Title 1">
            <a:extLst>
              <a:ext uri="{FF2B5EF4-FFF2-40B4-BE49-F238E27FC236}">
                <a16:creationId xmlns:a16="http://schemas.microsoft.com/office/drawing/2014/main" id="{C06D7BF1-4137-89EF-0144-98006280540C}"/>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Specific Outcomes (PSOs)</a:t>
            </a:r>
          </a:p>
        </p:txBody>
      </p:sp>
      <p:sp>
        <p:nvSpPr>
          <p:cNvPr id="7" name="TextBox 6">
            <a:extLst>
              <a:ext uri="{FF2B5EF4-FFF2-40B4-BE49-F238E27FC236}">
                <a16:creationId xmlns:a16="http://schemas.microsoft.com/office/drawing/2014/main" id="{DDBF29FD-3724-9CD2-F159-8A84D7FE960A}"/>
              </a:ext>
            </a:extLst>
          </p:cNvPr>
          <p:cNvSpPr txBox="1"/>
          <p:nvPr/>
        </p:nvSpPr>
        <p:spPr>
          <a:xfrm>
            <a:off x="304800" y="1154811"/>
            <a:ext cx="8598568" cy="4154984"/>
          </a:xfrm>
          <a:prstGeom prst="rect">
            <a:avLst/>
          </a:prstGeom>
          <a:noFill/>
        </p:spPr>
        <p:txBody>
          <a:bodyPr wrap="square">
            <a:spAutoFit/>
          </a:bodyPr>
          <a:lstStyle/>
          <a:p>
            <a:pPr algn="just"/>
            <a:r>
              <a:rPr lang="en-US" sz="2400" b="1" dirty="0"/>
              <a:t>PSO’s</a:t>
            </a:r>
          </a:p>
          <a:p>
            <a:pPr algn="just"/>
            <a:r>
              <a:rPr lang="en-US" sz="2400" b="1" dirty="0"/>
              <a:t>At the end of the program, the student will be able to-</a:t>
            </a:r>
          </a:p>
          <a:p>
            <a:pPr algn="just"/>
            <a:endParaRPr lang="en-US" sz="2400" dirty="0"/>
          </a:p>
          <a:p>
            <a:pPr algn="just"/>
            <a:r>
              <a:rPr lang="en-US" sz="2400" dirty="0"/>
              <a:t>PSO 1: Apply suitable techniques, modern tools to solve complex engineering problems in the field of computer science.</a:t>
            </a:r>
          </a:p>
          <a:p>
            <a:pPr algn="just"/>
            <a:endParaRPr lang="en-US" sz="2400" dirty="0"/>
          </a:p>
          <a:p>
            <a:pPr algn="just"/>
            <a:r>
              <a:rPr lang="en-US" sz="2400" dirty="0"/>
              <a:t>PSO  2: Design and optimize, ethical and innovative solutions for the betterment of the society.</a:t>
            </a:r>
          </a:p>
          <a:p>
            <a:pPr algn="just"/>
            <a:endParaRPr lang="en-US" sz="2400" dirty="0"/>
          </a:p>
          <a:p>
            <a:pPr algn="just"/>
            <a:r>
              <a:rPr lang="en-US" sz="2400" dirty="0"/>
              <a:t>PSO  3: Work as an individual or lead in a team with good communication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7A23A25C-20DC-E8DE-668D-B66285AB9408}"/>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339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BB6C61-91CA-5C97-BF6C-A2F759E3FFD4}"/>
              </a:ext>
            </a:extLst>
          </p:cNvPr>
          <p:cNvSpPr>
            <a:spLocks noGrp="1"/>
          </p:cNvSpPr>
          <p:nvPr>
            <p:ph type="dt" sz="half" idx="10"/>
          </p:nvPr>
        </p:nvSpPr>
        <p:spPr/>
        <p:txBody>
          <a:bodyPr/>
          <a:lstStyle/>
          <a:p>
            <a:fld id="{E317E42B-CB2B-43C9-84F8-B30031AED52B}" type="datetime1">
              <a:rPr lang="en-US" smtClean="0"/>
              <a:t>7/4/2025</a:t>
            </a:fld>
            <a:endParaRPr lang="en-US" dirty="0"/>
          </a:p>
        </p:txBody>
      </p:sp>
      <p:sp>
        <p:nvSpPr>
          <p:cNvPr id="3" name="Footer Placeholder 2">
            <a:extLst>
              <a:ext uri="{FF2B5EF4-FFF2-40B4-BE49-F238E27FC236}">
                <a16:creationId xmlns:a16="http://schemas.microsoft.com/office/drawing/2014/main" id="{7C46F3BD-666D-31B3-AEEE-489188667CA5}"/>
              </a:ext>
            </a:extLst>
          </p:cNvPr>
          <p:cNvSpPr>
            <a:spLocks noGrp="1"/>
          </p:cNvSpPr>
          <p:nvPr>
            <p:ph type="ftr" sz="quarter" idx="11"/>
          </p:nvPr>
        </p:nvSpPr>
        <p:spPr>
          <a:xfrm>
            <a:off x="1269157" y="6356350"/>
            <a:ext cx="6517098" cy="365125"/>
          </a:xfrm>
        </p:spPr>
        <p:txBody>
          <a:bodyPr/>
          <a:lstStyle/>
          <a:p>
            <a:r>
              <a:rPr lang="en-US" dirty="0"/>
              <a:t>Mr. Anshul Varshney               High Performance computing                   Unit 2</a:t>
            </a:r>
          </a:p>
        </p:txBody>
      </p:sp>
      <p:sp>
        <p:nvSpPr>
          <p:cNvPr id="4" name="Slide Number Placeholder 3">
            <a:extLst>
              <a:ext uri="{FF2B5EF4-FFF2-40B4-BE49-F238E27FC236}">
                <a16:creationId xmlns:a16="http://schemas.microsoft.com/office/drawing/2014/main" id="{00A02CB5-74C0-0FE6-0AD9-DA57CFF54618}"/>
              </a:ext>
            </a:extLst>
          </p:cNvPr>
          <p:cNvSpPr>
            <a:spLocks noGrp="1"/>
          </p:cNvSpPr>
          <p:nvPr>
            <p:ph type="sldNum" sz="quarter" idx="12"/>
          </p:nvPr>
        </p:nvSpPr>
        <p:spPr/>
        <p:txBody>
          <a:bodyPr/>
          <a:lstStyle/>
          <a:p>
            <a:fld id="{B6F15528-21DE-4FAA-801E-634DDDAF4B2B}" type="slidenum">
              <a:rPr lang="en-US" smtClean="0"/>
              <a:pPr/>
              <a:t>12</a:t>
            </a:fld>
            <a:endParaRPr lang="en-US" dirty="0"/>
          </a:p>
        </p:txBody>
      </p:sp>
      <p:sp>
        <p:nvSpPr>
          <p:cNvPr id="5" name="Title 1">
            <a:extLst>
              <a:ext uri="{FF2B5EF4-FFF2-40B4-BE49-F238E27FC236}">
                <a16:creationId xmlns:a16="http://schemas.microsoft.com/office/drawing/2014/main" id="{5A4ACA45-F6D7-97A7-7BE0-E4E3138AA839}"/>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COs and PSOs Mapping</a:t>
            </a:r>
          </a:p>
        </p:txBody>
      </p:sp>
      <p:pic>
        <p:nvPicPr>
          <p:cNvPr id="7" name="Picture 6" descr="A screenshot of a computer&#10;&#10;Description automatically generated">
            <a:extLst>
              <a:ext uri="{FF2B5EF4-FFF2-40B4-BE49-F238E27FC236}">
                <a16:creationId xmlns:a16="http://schemas.microsoft.com/office/drawing/2014/main" id="{7C4B3D58-D5ED-5399-4C63-8D1BD234EA20}"/>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0" name="Picture 9" descr="A screen shot of a computer&#10;&#10;AI-generated content may be incorrect.">
            <a:extLst>
              <a:ext uri="{FF2B5EF4-FFF2-40B4-BE49-F238E27FC236}">
                <a16:creationId xmlns:a16="http://schemas.microsoft.com/office/drawing/2014/main" id="{C84DB365-4DE3-DDE4-BB96-BF03766A6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4219" y="-177451"/>
            <a:ext cx="11518200" cy="5400614"/>
          </a:xfrm>
          <a:prstGeom prst="rect">
            <a:avLst/>
          </a:prstGeom>
        </p:spPr>
      </p:pic>
    </p:spTree>
    <p:extLst>
      <p:ext uri="{BB962C8B-B14F-4D97-AF65-F5344CB8AC3E}">
        <p14:creationId xmlns:p14="http://schemas.microsoft.com/office/powerpoint/2010/main" val="245491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45CACD-9C91-ACF6-026F-5A94C8D8A20B}"/>
              </a:ext>
            </a:extLst>
          </p:cNvPr>
          <p:cNvSpPr>
            <a:spLocks noGrp="1"/>
          </p:cNvSpPr>
          <p:nvPr>
            <p:ph type="dt" sz="half" idx="10"/>
          </p:nvPr>
        </p:nvSpPr>
        <p:spPr/>
        <p:txBody>
          <a:bodyPr/>
          <a:lstStyle/>
          <a:p>
            <a:fld id="{852D655F-4494-41E9-A24E-DDE9E5B673A2}" type="datetime1">
              <a:rPr lang="en-US" smtClean="0"/>
              <a:t>7/4/2025</a:t>
            </a:fld>
            <a:endParaRPr lang="en-US" dirty="0"/>
          </a:p>
        </p:txBody>
      </p:sp>
      <p:sp>
        <p:nvSpPr>
          <p:cNvPr id="3" name="Footer Placeholder 2">
            <a:extLst>
              <a:ext uri="{FF2B5EF4-FFF2-40B4-BE49-F238E27FC236}">
                <a16:creationId xmlns:a16="http://schemas.microsoft.com/office/drawing/2014/main" id="{437EAE90-4B54-7D00-B5D3-DD086F9E1FEC}"/>
              </a:ext>
            </a:extLst>
          </p:cNvPr>
          <p:cNvSpPr>
            <a:spLocks noGrp="1"/>
          </p:cNvSpPr>
          <p:nvPr>
            <p:ph type="ftr" sz="quarter" idx="11"/>
          </p:nvPr>
        </p:nvSpPr>
        <p:spPr>
          <a:xfrm>
            <a:off x="1607127" y="6356350"/>
            <a:ext cx="6068291" cy="365125"/>
          </a:xfrm>
        </p:spPr>
        <p:txBody>
          <a:bodyPr/>
          <a:lstStyle/>
          <a:p>
            <a:r>
              <a:rPr lang="en-US" dirty="0"/>
              <a:t>Mr. Anshul Varshney               High Performance computing                   Unit 2</a:t>
            </a:r>
          </a:p>
        </p:txBody>
      </p:sp>
      <p:sp>
        <p:nvSpPr>
          <p:cNvPr id="4" name="Slide Number Placeholder 3">
            <a:extLst>
              <a:ext uri="{FF2B5EF4-FFF2-40B4-BE49-F238E27FC236}">
                <a16:creationId xmlns:a16="http://schemas.microsoft.com/office/drawing/2014/main" id="{AB60056D-397E-F9D7-CEE4-CEBAEAD06731}"/>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5" name="Title 1">
            <a:extLst>
              <a:ext uri="{FF2B5EF4-FFF2-40B4-BE49-F238E27FC236}">
                <a16:creationId xmlns:a16="http://schemas.microsoft.com/office/drawing/2014/main" id="{02FE6854-561F-A9CD-BF70-B7CF5891E02A}"/>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Educational Objectives (PEOs)</a:t>
            </a:r>
          </a:p>
        </p:txBody>
      </p:sp>
      <p:sp>
        <p:nvSpPr>
          <p:cNvPr id="7" name="TextBox 6">
            <a:extLst>
              <a:ext uri="{FF2B5EF4-FFF2-40B4-BE49-F238E27FC236}">
                <a16:creationId xmlns:a16="http://schemas.microsoft.com/office/drawing/2014/main" id="{E08303F5-8983-81C9-1E53-8FF3E5AA3D3C}"/>
              </a:ext>
            </a:extLst>
          </p:cNvPr>
          <p:cNvSpPr txBox="1"/>
          <p:nvPr/>
        </p:nvSpPr>
        <p:spPr>
          <a:xfrm>
            <a:off x="457200" y="1293310"/>
            <a:ext cx="8229600" cy="4154984"/>
          </a:xfrm>
          <a:prstGeom prst="rect">
            <a:avLst/>
          </a:prstGeom>
          <a:noFill/>
        </p:spPr>
        <p:txBody>
          <a:bodyPr wrap="square">
            <a:spAutoFit/>
          </a:bodyPr>
          <a:lstStyle/>
          <a:p>
            <a:pPr algn="just"/>
            <a:r>
              <a:rPr lang="en-US" sz="2400" b="1" dirty="0"/>
              <a:t>PEO’s</a:t>
            </a:r>
          </a:p>
          <a:p>
            <a:pPr algn="just"/>
            <a:r>
              <a:rPr lang="en-US" sz="2400" b="1" dirty="0"/>
              <a:t> The graduates of </a:t>
            </a:r>
            <a:r>
              <a:rPr lang="en-US" sz="2400" b="1" dirty="0" err="1"/>
              <a:t>B.Tech</a:t>
            </a:r>
            <a:r>
              <a:rPr lang="en-US" sz="2400" b="1" dirty="0"/>
              <a:t> Computer Science program will-</a:t>
            </a:r>
          </a:p>
          <a:p>
            <a:pPr algn="just"/>
            <a:endParaRPr lang="en-US" sz="2400" dirty="0"/>
          </a:p>
          <a:p>
            <a:pPr algn="just"/>
            <a:r>
              <a:rPr lang="en-US" sz="2400" b="1" dirty="0"/>
              <a:t>PEO1:</a:t>
            </a:r>
            <a:r>
              <a:rPr lang="en-US" sz="2400" dirty="0"/>
              <a:t> Have successful careers in the field of Computer Science and pursue higher education.</a:t>
            </a:r>
          </a:p>
          <a:p>
            <a:pPr algn="just"/>
            <a:endParaRPr lang="en-US" sz="2400" dirty="0"/>
          </a:p>
          <a:p>
            <a:pPr algn="just"/>
            <a:r>
              <a:rPr lang="en-US" sz="2400" b="1" dirty="0"/>
              <a:t>PEO2:</a:t>
            </a:r>
            <a:r>
              <a:rPr lang="en-US" sz="2400" dirty="0"/>
              <a:t> Engage in research and provide innovative solution to real world problems of the society with ethical responsibilities.</a:t>
            </a:r>
          </a:p>
          <a:p>
            <a:pPr algn="just"/>
            <a:endParaRPr lang="en-US" sz="2400" dirty="0"/>
          </a:p>
          <a:p>
            <a:pPr algn="just"/>
            <a:r>
              <a:rPr lang="en-US" sz="2400" b="1" dirty="0"/>
              <a:t>PEO3:</a:t>
            </a:r>
            <a:r>
              <a:rPr lang="en-US" sz="2400" dirty="0"/>
              <a:t> Demonstrate effective communication, work as an individual or as a team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B793C3A5-21F9-1ED2-109F-9393E32FF032}"/>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0873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14</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dirty="0">
                <a:solidFill>
                  <a:schemeClr val="tx1"/>
                </a:solidFill>
              </a:rPr>
              <a:t>Question Paper Template</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FDCD6D27-B555-477D-B370-A8B5CF53A1CB}" type="datetime1">
              <a:rPr lang="en-US" smtClean="0">
                <a:solidFill>
                  <a:schemeClr val="tx1"/>
                </a:solidFill>
              </a:rPr>
              <a:t>7/4/2025</a:t>
            </a:fld>
            <a:endParaRPr lang="en-US" dirty="0">
              <a:solidFill>
                <a:schemeClr val="tx1"/>
              </a:solidFill>
            </a:endParaRPr>
          </a:p>
        </p:txBody>
      </p:sp>
      <p:pic>
        <p:nvPicPr>
          <p:cNvPr id="7" name="Picture 6">
            <a:extLst>
              <a:ext uri="{FF2B5EF4-FFF2-40B4-BE49-F238E27FC236}">
                <a16:creationId xmlns:a16="http://schemas.microsoft.com/office/drawing/2014/main" id="{205EA77E-DEF1-B545-8A3A-F076C4FAE629}"/>
              </a:ext>
            </a:extLst>
          </p:cNvPr>
          <p:cNvPicPr>
            <a:picLocks noChangeAspect="1"/>
          </p:cNvPicPr>
          <p:nvPr/>
        </p:nvPicPr>
        <p:blipFill>
          <a:blip r:embed="rId3"/>
          <a:stretch>
            <a:fillRect/>
          </a:stretch>
        </p:blipFill>
        <p:spPr>
          <a:xfrm>
            <a:off x="933450" y="844550"/>
            <a:ext cx="7277100" cy="5168900"/>
          </a:xfrm>
          <a:prstGeom prst="rect">
            <a:avLst/>
          </a:prstGeom>
        </p:spPr>
      </p:pic>
      <p:pic>
        <p:nvPicPr>
          <p:cNvPr id="9" name="Picture 8">
            <a:extLst>
              <a:ext uri="{FF2B5EF4-FFF2-40B4-BE49-F238E27FC236}">
                <a16:creationId xmlns:a16="http://schemas.microsoft.com/office/drawing/2014/main" id="{62829486-2894-F343-8A4B-BCB5011C169E}"/>
              </a:ext>
            </a:extLst>
          </p:cNvPr>
          <p:cNvPicPr>
            <a:picLocks noChangeAspect="1"/>
          </p:cNvPicPr>
          <p:nvPr/>
        </p:nvPicPr>
        <p:blipFill>
          <a:blip r:embed="rId4"/>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25FFF94-968F-D9D0-8267-66BF05779FA6}"/>
              </a:ext>
            </a:extLst>
          </p:cNvPr>
          <p:cNvPicPr>
            <a:picLocks noChangeAspect="1"/>
          </p:cNvPicPr>
          <p:nvPr/>
        </p:nvPicPr>
        <p:blipFill rotWithShape="1">
          <a:blip r:embed="rId5"/>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10" name="Footer Placeholder 2">
            <a:extLst>
              <a:ext uri="{FF2B5EF4-FFF2-40B4-BE49-F238E27FC236}">
                <a16:creationId xmlns:a16="http://schemas.microsoft.com/office/drawing/2014/main" id="{DA762C34-8A23-618E-7FF0-94EF7B31F406}"/>
              </a:ext>
            </a:extLst>
          </p:cNvPr>
          <p:cNvSpPr>
            <a:spLocks noGrp="1"/>
          </p:cNvSpPr>
          <p:nvPr>
            <p:ph type="ftr" sz="quarter" idx="11"/>
          </p:nvPr>
        </p:nvSpPr>
        <p:spPr>
          <a:xfrm>
            <a:off x="1607127" y="6356350"/>
            <a:ext cx="6068291" cy="365125"/>
          </a:xfrm>
        </p:spPr>
        <p:txBody>
          <a:bodyPr/>
          <a:lstStyle/>
          <a:p>
            <a:r>
              <a:rPr lang="en-US" dirty="0"/>
              <a:t>Mr. Anshul Varshney               High Performance computing                   Unit 2</a:t>
            </a:r>
          </a:p>
        </p:txBody>
      </p:sp>
    </p:spTree>
    <p:extLst>
      <p:ext uri="{BB962C8B-B14F-4D97-AF65-F5344CB8AC3E}">
        <p14:creationId xmlns:p14="http://schemas.microsoft.com/office/powerpoint/2010/main" val="28175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15</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endParaRPr lang="en-US" sz="3000" dirty="0">
              <a:solidFill>
                <a:schemeClr val="tx1"/>
              </a:solidFill>
            </a:endParaRPr>
          </a:p>
          <a:p>
            <a:pPr algn="ctr">
              <a:spcBef>
                <a:spcPct val="0"/>
              </a:spcBef>
              <a:defRPr/>
            </a:pPr>
            <a:r>
              <a:rPr lang="en-US" sz="3000" dirty="0">
                <a:solidFill>
                  <a:schemeClr val="tx1"/>
                </a:solidFill>
              </a:rPr>
              <a:t>Question Paper Template</a:t>
            </a:r>
          </a:p>
          <a:p>
            <a:pPr algn="ctr">
              <a:spcBef>
                <a:spcPct val="0"/>
              </a:spcBef>
              <a:defRPr/>
            </a:pPr>
            <a:endParaRPr lang="en-US" sz="3000" dirty="0">
              <a:solidFill>
                <a:schemeClr val="tx1"/>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56B7157C-2056-4E2B-AD8F-5B4C283CDD58}" type="datetime1">
              <a:rPr lang="en-US" smtClean="0">
                <a:solidFill>
                  <a:schemeClr val="tx1"/>
                </a:solidFill>
              </a:rPr>
              <a:t>7/4/2025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a:xfrm>
            <a:off x="1482435" y="6356350"/>
            <a:ext cx="6172697" cy="365125"/>
          </a:xfrm>
        </p:spPr>
        <p:txBody>
          <a:bodyPr/>
          <a:lstStyle/>
          <a:p>
            <a:r>
              <a:rPr lang="en-US" dirty="0"/>
              <a:t>Mr. Anshul Varshney               High Performance computing                   Unit 2</a:t>
            </a:r>
          </a:p>
        </p:txBody>
      </p:sp>
      <p:graphicFrame>
        <p:nvGraphicFramePr>
          <p:cNvPr id="3" name="Table 2">
            <a:extLst>
              <a:ext uri="{FF2B5EF4-FFF2-40B4-BE49-F238E27FC236}">
                <a16:creationId xmlns:a16="http://schemas.microsoft.com/office/drawing/2014/main" id="{DDD6825B-064F-084A-91C0-2417B0843538}"/>
              </a:ext>
            </a:extLst>
          </p:cNvPr>
          <p:cNvGraphicFramePr>
            <a:graphicFrameLocks noGrp="1"/>
          </p:cNvGraphicFramePr>
          <p:nvPr/>
        </p:nvGraphicFramePr>
        <p:xfrm>
          <a:off x="1269156" y="838200"/>
          <a:ext cx="7189045" cy="5500583"/>
        </p:xfrm>
        <a:graphic>
          <a:graphicData uri="http://schemas.openxmlformats.org/drawingml/2006/table">
            <a:tbl>
              <a:tblPr firstRow="1" firstCol="1" bandRow="1">
                <a:tableStyleId>{5C22544A-7EE6-4342-B048-85BDC9FD1C3A}</a:tableStyleId>
              </a:tblPr>
              <a:tblGrid>
                <a:gridCol w="369667">
                  <a:extLst>
                    <a:ext uri="{9D8B030D-6E8A-4147-A177-3AD203B41FA5}">
                      <a16:colId xmlns:a16="http://schemas.microsoft.com/office/drawing/2014/main" val="3904463951"/>
                    </a:ext>
                  </a:extLst>
                </a:gridCol>
                <a:gridCol w="467848">
                  <a:extLst>
                    <a:ext uri="{9D8B030D-6E8A-4147-A177-3AD203B41FA5}">
                      <a16:colId xmlns:a16="http://schemas.microsoft.com/office/drawing/2014/main" val="382194311"/>
                    </a:ext>
                  </a:extLst>
                </a:gridCol>
                <a:gridCol w="4990158">
                  <a:extLst>
                    <a:ext uri="{9D8B030D-6E8A-4147-A177-3AD203B41FA5}">
                      <a16:colId xmlns:a16="http://schemas.microsoft.com/office/drawing/2014/main" val="2326716346"/>
                    </a:ext>
                  </a:extLst>
                </a:gridCol>
                <a:gridCol w="795341">
                  <a:extLst>
                    <a:ext uri="{9D8B030D-6E8A-4147-A177-3AD203B41FA5}">
                      <a16:colId xmlns:a16="http://schemas.microsoft.com/office/drawing/2014/main" val="780519470"/>
                    </a:ext>
                  </a:extLst>
                </a:gridCol>
                <a:gridCol w="566031">
                  <a:extLst>
                    <a:ext uri="{9D8B030D-6E8A-4147-A177-3AD203B41FA5}">
                      <a16:colId xmlns:a16="http://schemas.microsoft.com/office/drawing/2014/main" val="746072801"/>
                    </a:ext>
                  </a:extLst>
                </a:gridCol>
              </a:tblGrid>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sng">
                          <a:effectLst/>
                        </a:rPr>
                        <a:t>SECTION – 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3623823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41590961"/>
                  </a:ext>
                </a:extLst>
              </a:tr>
              <a:tr h="173825">
                <a:tc>
                  <a:txBody>
                    <a:bodyPr/>
                    <a:lstStyle/>
                    <a:p>
                      <a:pPr marL="342900" lvl="0" indent="-342900" algn="l">
                        <a:lnSpc>
                          <a:spcPct val="115000"/>
                        </a:lnSpc>
                        <a:spcAft>
                          <a:spcPts val="800"/>
                        </a:spcAft>
                        <a:buFont typeface="+mj-lt"/>
                        <a:buAutoNum type="arabicPeriod"/>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15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[10×1=10]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76928812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25830015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2350723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87040617"/>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879452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087435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746902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75855397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1-h.</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3698463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1-i.</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0507980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1-j.</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6259841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55283994"/>
                  </a:ext>
                </a:extLst>
              </a:tr>
              <a:tr h="91536">
                <a:tc>
                  <a:txBody>
                    <a:bodyPr/>
                    <a:lstStyle/>
                    <a:p>
                      <a:pPr algn="l">
                        <a:lnSpc>
                          <a:spcPct val="115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[5×2=10]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9031790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842250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4114778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8083359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0809253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4954328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7579628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5930127"/>
                  </a:ext>
                </a:extLst>
              </a:tr>
              <a:tr h="301525">
                <a:tc>
                  <a:txBody>
                    <a:bodyPr/>
                    <a:lstStyle/>
                    <a:p>
                      <a:pPr algn="l">
                        <a:lnSpc>
                          <a:spcPct val="115000"/>
                        </a:lnSpc>
                        <a:spcAft>
                          <a:spcPts val="800"/>
                        </a:spcAft>
                      </a:pPr>
                      <a:r>
                        <a:rPr lang="en-IN" sz="500">
                          <a:effectLst/>
                        </a:rPr>
                        <a:t> </a:t>
                      </a:r>
                      <a:endParaRPr lang="en-IN" sz="400">
                        <a:effectLst/>
                      </a:endParaRPr>
                    </a:p>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32122905"/>
                  </a:ext>
                </a:extLst>
              </a:tr>
              <a:tr h="91536">
                <a:tc gridSpan="3">
                  <a:txBody>
                    <a:bodyPr/>
                    <a:lstStyle/>
                    <a:p>
                      <a:pPr algn="ctr">
                        <a:lnSpc>
                          <a:spcPct val="115000"/>
                        </a:lnSpc>
                        <a:spcAft>
                          <a:spcPts val="800"/>
                        </a:spcAft>
                      </a:pPr>
                      <a:r>
                        <a:rPr lang="en-IN" sz="500" u="sng">
                          <a:effectLst/>
                        </a:rPr>
                        <a:t>SECTION – 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40196487"/>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0015063"/>
                  </a:ext>
                </a:extLst>
              </a:tr>
              <a:tr h="91536">
                <a:tc>
                  <a:txBody>
                    <a:bodyPr/>
                    <a:lstStyle/>
                    <a:p>
                      <a:pPr algn="l">
                        <a:lnSpc>
                          <a:spcPct val="115000"/>
                        </a:lnSpc>
                        <a:spcAft>
                          <a:spcPts val="800"/>
                        </a:spcAft>
                      </a:pPr>
                      <a:r>
                        <a:rPr lang="en-IN" sz="500">
                          <a:effectLst/>
                        </a:rPr>
                        <a:t>3.</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a:t>
                      </a:r>
                      <a:r>
                        <a:rPr lang="en-IN" sz="500" u="sng">
                          <a:effectLst/>
                        </a:rPr>
                        <a:t>five </a:t>
                      </a:r>
                      <a:r>
                        <a:rPr lang="en-IN" sz="500">
                          <a:effectLst/>
                        </a:rPr>
                        <a:t>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[5×6=30]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49683749"/>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384649017"/>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9726844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8327915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60087403"/>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26491731"/>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528500548"/>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12423086"/>
                  </a:ext>
                </a:extLst>
              </a:tr>
              <a:tr h="91536">
                <a:tc gridSpan="3">
                  <a:txBody>
                    <a:bodyPr/>
                    <a:lstStyle/>
                    <a:p>
                      <a:pPr algn="ctr">
                        <a:lnSpc>
                          <a:spcPct val="115000"/>
                        </a:lnSpc>
                        <a:spcAft>
                          <a:spcPts val="800"/>
                        </a:spcAft>
                      </a:pPr>
                      <a:r>
                        <a:rPr lang="en-IN" sz="500" u="sng">
                          <a:effectLst/>
                        </a:rPr>
                        <a:t>SECTION – C</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788619013"/>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277044899"/>
                  </a:ext>
                </a:extLst>
              </a:tr>
              <a:tr h="173825">
                <a:tc>
                  <a:txBody>
                    <a:bodyPr/>
                    <a:lstStyle/>
                    <a:p>
                      <a:pPr algn="l">
                        <a:lnSpc>
                          <a:spcPct val="115000"/>
                        </a:lnSpc>
                        <a:spcAft>
                          <a:spcPts val="800"/>
                        </a:spcAft>
                      </a:pPr>
                      <a:r>
                        <a:rPr lang="en-IN" sz="500">
                          <a:effectLst/>
                        </a:rPr>
                        <a:t>4</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a:t>
                      </a:r>
                      <a:r>
                        <a:rPr lang="en-IN" sz="500" u="sng">
                          <a:effectLst/>
                        </a:rPr>
                        <a:t> one</a:t>
                      </a:r>
                      <a:r>
                        <a:rPr lang="en-IN" sz="500">
                          <a:effectLst/>
                        </a:rPr>
                        <a:t>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[5×10=50]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255577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2713805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94145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9911954"/>
                  </a:ext>
                </a:extLst>
              </a:tr>
              <a:tr h="91536">
                <a:tc>
                  <a:txBody>
                    <a:bodyPr/>
                    <a:lstStyle/>
                    <a:p>
                      <a:pPr algn="l">
                        <a:lnSpc>
                          <a:spcPct val="115000"/>
                        </a:lnSpc>
                        <a:spcAft>
                          <a:spcPts val="800"/>
                        </a:spcAft>
                      </a:pPr>
                      <a:r>
                        <a:rPr lang="en-IN" sz="500">
                          <a:effectLst/>
                        </a:rPr>
                        <a:t>5.</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5945121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9325499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8796788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15798895"/>
                  </a:ext>
                </a:extLst>
              </a:tr>
              <a:tr h="91536">
                <a:tc>
                  <a:txBody>
                    <a:bodyPr/>
                    <a:lstStyle/>
                    <a:p>
                      <a:pPr algn="l">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141507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4278485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808464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17109019"/>
                  </a:ext>
                </a:extLst>
              </a:tr>
              <a:tr h="91536">
                <a:tc>
                  <a:txBody>
                    <a:bodyPr/>
                    <a:lstStyle/>
                    <a:p>
                      <a:pPr algn="l">
                        <a:lnSpc>
                          <a:spcPct val="115000"/>
                        </a:lnSpc>
                        <a:spcAft>
                          <a:spcPts val="800"/>
                        </a:spcAft>
                      </a:pPr>
                      <a:r>
                        <a:rPr lang="en-IN" sz="500">
                          <a:effectLst/>
                        </a:rPr>
                        <a:t>7.</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1105523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448950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3932086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465669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843233770"/>
                  </a:ext>
                </a:extLst>
              </a:tr>
              <a:tr h="91536">
                <a:tc>
                  <a:txBody>
                    <a:bodyPr/>
                    <a:lstStyle/>
                    <a:p>
                      <a:pPr algn="l">
                        <a:lnSpc>
                          <a:spcPct val="115000"/>
                        </a:lnSpc>
                        <a:spcAft>
                          <a:spcPts val="800"/>
                        </a:spcAft>
                      </a:pPr>
                      <a:r>
                        <a:rPr lang="en-IN" sz="500">
                          <a:effectLst/>
                        </a:rPr>
                        <a:t>8.</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15280818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07290766"/>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02922435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dirty="0">
                          <a:effectLst/>
                        </a:rPr>
                        <a:t> </a:t>
                      </a:r>
                      <a:endParaRPr lang="en-IN" sz="400" dirty="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77907657"/>
                  </a:ext>
                </a:extLst>
              </a:tr>
            </a:tbl>
          </a:graphicData>
        </a:graphic>
      </p:graphicFrame>
      <p:pic>
        <p:nvPicPr>
          <p:cNvPr id="9" name="Picture 8">
            <a:extLst>
              <a:ext uri="{FF2B5EF4-FFF2-40B4-BE49-F238E27FC236}">
                <a16:creationId xmlns:a16="http://schemas.microsoft.com/office/drawing/2014/main" id="{D7FF1400-E667-CB49-9A29-B7225C044D28}"/>
              </a:ext>
            </a:extLst>
          </p:cNvPr>
          <p:cNvPicPr>
            <a:picLocks noChangeAspect="1"/>
          </p:cNvPicPr>
          <p:nvPr/>
        </p:nvPicPr>
        <p:blipFill>
          <a:blip r:embed="rId3"/>
          <a:stretch>
            <a:fillRect/>
          </a:stretch>
        </p:blipFill>
        <p:spPr>
          <a:xfrm>
            <a:off x="0" y="-27448"/>
            <a:ext cx="1384300" cy="8128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EB4652BB-A74F-6414-13C1-37B83FD97AD2}"/>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5435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Subject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Department Result: NA</a:t>
            </a:r>
          </a:p>
          <a:p>
            <a:pPr algn="just">
              <a:spcBef>
                <a:spcPct val="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Faculty-Wise Result: NA</a:t>
            </a:r>
          </a:p>
          <a:p>
            <a:pPr algn="just">
              <a:spcBef>
                <a:spcPct val="0"/>
              </a:spcBef>
              <a:spcAft>
                <a:spcPct val="0"/>
              </a:spcAft>
              <a:buClr>
                <a:srgbClr val="000000"/>
              </a:buClr>
              <a:buFont typeface="Arial" panose="020B0604020202020204" pitchFamily="34" charset="0"/>
              <a:buNone/>
            </a:pPr>
            <a:endParaRPr lang="en-IN" altLang="en-US" sz="32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545615" y="1"/>
            <a:ext cx="7598385" cy="692726"/>
          </a:xfrm>
          <a:gradFill flip="none" rotWithShape="1">
            <a:gsLst>
              <a:gs pos="0">
                <a:srgbClr val="FF8585">
                  <a:tint val="66000"/>
                  <a:satMod val="160000"/>
                </a:srgbClr>
              </a:gs>
              <a:gs pos="50000">
                <a:srgbClr val="FF8585">
                  <a:tint val="44500"/>
                  <a:satMod val="160000"/>
                </a:srgbClr>
              </a:gs>
              <a:gs pos="100000">
                <a:srgbClr val="FF8585">
                  <a:tint val="23500"/>
                  <a:satMod val="160000"/>
                </a:srgbClr>
              </a:gs>
            </a:gsLst>
            <a:lin ang="5400000" scaled="1"/>
            <a:tileRect/>
          </a:gradFill>
        </p:spPr>
        <p:style>
          <a:lnRef idx="1">
            <a:schemeClr val="accent5"/>
          </a:lnRef>
          <a:fillRef idx="2">
            <a:schemeClr val="accent5"/>
          </a:fillRef>
          <a:effectRef idx="1">
            <a:schemeClr val="accent5"/>
          </a:effectRef>
          <a:fontRef idx="minor">
            <a:schemeClr val="dk1"/>
          </a:fontRef>
        </p:style>
        <p:txBody>
          <a:bodyPr lIns="91440" tIns="45720" rIns="91440" bIns="45720" rtlCol="0">
            <a:normAutofit/>
          </a:bodyPr>
          <a:lstStyle/>
          <a:p>
            <a:pPr eaLnBrk="1" fontAlgn="auto" hangingPunct="1">
              <a:spcBef>
                <a:spcPct val="0"/>
              </a:spcBef>
              <a:buClrTx/>
              <a:buSzTx/>
              <a:buFontTx/>
              <a:buNone/>
              <a:defRPr/>
            </a:pPr>
            <a:r>
              <a:rPr lang="en-US" sz="2400" kern="1200" dirty="0">
                <a:latin typeface="Times New Roman" pitchFamily="18" charset="0"/>
                <a:cs typeface="Times New Roman" pitchFamily="18" charset="0"/>
                <a:sym typeface="Arial" charset="0"/>
              </a:rPr>
              <a:t>Result Analysis</a:t>
            </a:r>
          </a:p>
        </p:txBody>
      </p:sp>
      <p:sp>
        <p:nvSpPr>
          <p:cNvPr id="52229" name="Footer Placeholder 4">
            <a:extLst>
              <a:ext uri="{FF2B5EF4-FFF2-40B4-BE49-F238E27FC236}">
                <a16:creationId xmlns:a16="http://schemas.microsoft.com/office/drawing/2014/main" id="{D13FEE09-441B-4F95-96A6-91181D72A552}"/>
              </a:ext>
            </a:extLst>
          </p:cNvPr>
          <p:cNvSpPr>
            <a:spLocks noGrp="1"/>
          </p:cNvSpPr>
          <p:nvPr>
            <p:ph type="ftr" sz="quarter" idx="12"/>
          </p:nvPr>
        </p:nvSpPr>
        <p:spPr>
          <a:xfrm>
            <a:off x="2514600" y="6356350"/>
            <a:ext cx="5369768" cy="31662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Mr. Anshul Varshney               High Performance computing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4294967295"/>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402615" y="6271504"/>
            <a:ext cx="1143000" cy="40146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CDF4563C-BED3-44EB-834A-CB895E04A4B1}" type="datetime1">
              <a:rPr lang="en-US" altLang="en-US" sz="1200" smtClean="0">
                <a:solidFill>
                  <a:srgbClr val="888888"/>
                </a:solidFill>
                <a:latin typeface="Calibri" panose="020F0502020204030204" pitchFamily="34" charset="0"/>
                <a:sym typeface="Calibri" panose="020F0502020204030204" pitchFamily="34" charset="0"/>
              </a:rPr>
              <a:t>7/4/2025</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2" name="Picture 1" descr="A screenshot of a computer&#10;&#10;Description automatically generated">
            <a:extLst>
              <a:ext uri="{FF2B5EF4-FFF2-40B4-BE49-F238E27FC236}">
                <a16:creationId xmlns:a16="http://schemas.microsoft.com/office/drawing/2014/main" id="{5B034CE9-575A-B278-CEEB-141C68A8670E}"/>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7100455" cy="4373563"/>
          </a:xfrm>
        </p:spPr>
        <p:txBody>
          <a:bodyPr>
            <a:normAutofit/>
          </a:bodyPr>
          <a:lstStyle/>
          <a:p>
            <a:pPr algn="just">
              <a:buNone/>
            </a:pPr>
            <a:r>
              <a:rPr lang="en-US" sz="2000" b="1" dirty="0"/>
              <a:t>Prerequisites:</a:t>
            </a:r>
          </a:p>
          <a:p>
            <a:pPr algn="just">
              <a:lnSpc>
                <a:spcPct val="150000"/>
              </a:lnSpc>
            </a:pPr>
            <a:r>
              <a:rPr lang="en-US" sz="2000" b="1" dirty="0"/>
              <a:t>Programming Fundamentals:</a:t>
            </a:r>
          </a:p>
          <a:p>
            <a:pPr marL="0" indent="0" algn="just">
              <a:lnSpc>
                <a:spcPct val="150000"/>
              </a:lnSpc>
              <a:buNone/>
            </a:pPr>
            <a:r>
              <a:rPr lang="en-US" sz="2000" dirty="0"/>
              <a:t> Languages: Proficiency in C, C++, or Fortran – essential for working </a:t>
            </a:r>
          </a:p>
          <a:p>
            <a:pPr marL="0" indent="0" algn="just">
              <a:lnSpc>
                <a:spcPct val="150000"/>
              </a:lnSpc>
              <a:buNone/>
            </a:pPr>
            <a:endParaRPr lang="en-US" sz="2000" b="1" dirty="0"/>
          </a:p>
          <a:p>
            <a:pPr marL="0" indent="0" algn="just">
              <a:lnSpc>
                <a:spcPct val="150000"/>
              </a:lnSpc>
              <a:buNone/>
            </a:pPr>
            <a:r>
              <a:rPr lang="en-US" sz="2000" b="1" dirty="0"/>
              <a:t>Recap:</a:t>
            </a:r>
          </a:p>
          <a:p>
            <a:pPr algn="just">
              <a:lnSpc>
                <a:spcPct val="150000"/>
              </a:lnSpc>
            </a:pPr>
            <a:r>
              <a:rPr lang="en-US" sz="2000" dirty="0"/>
              <a:t>High-Performance Computing, Applications of High-Performance Computing</a:t>
            </a:r>
          </a:p>
        </p:txBody>
      </p:sp>
      <p:sp>
        <p:nvSpPr>
          <p:cNvPr id="4" name="Date Placeholder 3"/>
          <p:cNvSpPr>
            <a:spLocks noGrp="1"/>
          </p:cNvSpPr>
          <p:nvPr>
            <p:ph type="dt" sz="half" idx="10"/>
          </p:nvPr>
        </p:nvSpPr>
        <p:spPr>
          <a:prstGeom prst="rect">
            <a:avLst/>
          </a:prstGeom>
        </p:spPr>
        <p:txBody>
          <a:bodyPr/>
          <a:lstStyle/>
          <a:p>
            <a:fld id="{6EA704C2-184E-4841-A3ED-102DFE9A564F}" type="datetime1">
              <a:rPr lang="en-US" smtClean="0"/>
              <a:t>7/4/2025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17</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71600"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 and Recap</a:t>
            </a:r>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a:xfrm>
            <a:off x="1364578" y="6356350"/>
            <a:ext cx="6158440" cy="365125"/>
          </a:xfrm>
        </p:spPr>
        <p:txBody>
          <a:bodyPr/>
          <a:lstStyle/>
          <a:p>
            <a:r>
              <a:rPr lang="en-US" dirty="0"/>
              <a:t>Mr. Anshul Varshney               High Performance computing                   Unit 2</a:t>
            </a:r>
          </a:p>
        </p:txBody>
      </p:sp>
      <p:pic>
        <p:nvPicPr>
          <p:cNvPr id="7" name="Picture 6">
            <a:extLst>
              <a:ext uri="{FF2B5EF4-FFF2-40B4-BE49-F238E27FC236}">
                <a16:creationId xmlns:a16="http://schemas.microsoft.com/office/drawing/2014/main" id="{FC0B4CB1-A45C-724E-B43D-F30F9540B7DA}"/>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FFC9C173-622F-8A1B-3B11-0CEB1DB211F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91701931-E06F-469A-8447-8ABB771D998C}" type="datetime1">
              <a:rPr lang="en-US" smtClean="0"/>
              <a:t>7/4/2025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18</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53671"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Brief Intro of Subject with video</a:t>
            </a:r>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a:xfrm>
            <a:off x="1579417" y="6356350"/>
            <a:ext cx="6359237" cy="365125"/>
          </a:xfrm>
        </p:spPr>
        <p:txBody>
          <a:bodyPr/>
          <a:lstStyle/>
          <a:p>
            <a:r>
              <a:rPr lang="en-US" dirty="0"/>
              <a:t>Mr. Anshul Varshney               High Performance computing                   Unit 2</a:t>
            </a:r>
          </a:p>
        </p:txBody>
      </p:sp>
      <p:sp>
        <p:nvSpPr>
          <p:cNvPr id="7" name="Content Placeholder 6">
            <a:extLst>
              <a:ext uri="{FF2B5EF4-FFF2-40B4-BE49-F238E27FC236}">
                <a16:creationId xmlns:a16="http://schemas.microsoft.com/office/drawing/2014/main" id="{EF632368-14F3-4F48-B212-F99EBC3ED043}"/>
              </a:ext>
            </a:extLst>
          </p:cNvPr>
          <p:cNvSpPr>
            <a:spLocks noGrp="1"/>
          </p:cNvSpPr>
          <p:nvPr>
            <p:ph idx="1"/>
          </p:nvPr>
        </p:nvSpPr>
        <p:spPr>
          <a:xfrm>
            <a:off x="-13133" y="930442"/>
            <a:ext cx="9139204" cy="5096285"/>
          </a:xfrm>
        </p:spPr>
        <p:txBody>
          <a:bodyPr>
            <a:normAutofit fontScale="92500" lnSpcReduction="10000"/>
          </a:bodyPr>
          <a:lstStyle/>
          <a:p>
            <a:pPr marL="0" indent="0" algn="just">
              <a:buNone/>
            </a:pPr>
            <a:r>
              <a:rPr lang="en-US" sz="2200" kern="1200" dirty="0">
                <a:solidFill>
                  <a:schemeClr val="tx1"/>
                </a:solidFill>
                <a:effectLst/>
                <a:latin typeface="+mj-lt"/>
              </a:rPr>
              <a:t>High Performance Computing (HPC) focuses on solving complex computational problems using parallel and distributed computing technologies. In today’s era of large-scale data and simulation-driven systems, HPC enables faster processing and analysis by harnessing the power of modern hardware and software tools like multi-core processors, clusters, grids, and even quantum systems.</a:t>
            </a:r>
          </a:p>
          <a:p>
            <a:pPr marL="0" indent="0" algn="just">
              <a:buNone/>
            </a:pPr>
            <a:r>
              <a:rPr lang="en-US" sz="2200" b="1" kern="1200" dirty="0">
                <a:solidFill>
                  <a:schemeClr val="tx1"/>
                </a:solidFill>
                <a:effectLst/>
                <a:latin typeface="+mj-lt"/>
              </a:rPr>
              <a:t>Students learn:</a:t>
            </a:r>
          </a:p>
          <a:p>
            <a:pPr algn="just"/>
            <a:r>
              <a:rPr lang="en-US" sz="2200" kern="1200" dirty="0">
                <a:solidFill>
                  <a:schemeClr val="tx1"/>
                </a:solidFill>
                <a:effectLst/>
                <a:latin typeface="+mj-lt"/>
              </a:rPr>
              <a:t>Core concepts of parallelism</a:t>
            </a:r>
          </a:p>
          <a:p>
            <a:pPr algn="just"/>
            <a:r>
              <a:rPr lang="en-US" sz="2200" kern="1200" dirty="0">
                <a:solidFill>
                  <a:schemeClr val="tx1"/>
                </a:solidFill>
                <a:effectLst/>
                <a:latin typeface="+mj-lt"/>
              </a:rPr>
              <a:t>Architectural models like SIMD, MIMD</a:t>
            </a:r>
          </a:p>
          <a:p>
            <a:pPr algn="just"/>
            <a:r>
              <a:rPr lang="en-US" sz="2200" kern="1200" dirty="0">
                <a:solidFill>
                  <a:schemeClr val="tx1"/>
                </a:solidFill>
                <a:effectLst/>
                <a:latin typeface="+mj-lt"/>
              </a:rPr>
              <a:t>Programming using OpenMP and MPI</a:t>
            </a:r>
          </a:p>
          <a:p>
            <a:pPr algn="just"/>
            <a:r>
              <a:rPr lang="en-US" sz="2200" kern="1200" dirty="0">
                <a:solidFill>
                  <a:schemeClr val="tx1"/>
                </a:solidFill>
                <a:effectLst/>
                <a:latin typeface="+mj-lt"/>
              </a:rPr>
              <a:t>Fault-tolerant mechanisms in cluster systems</a:t>
            </a:r>
          </a:p>
          <a:p>
            <a:pPr marL="0" indent="0" algn="just">
              <a:buNone/>
            </a:pPr>
            <a:r>
              <a:rPr lang="en-US" sz="2200" kern="1200" dirty="0">
                <a:solidFill>
                  <a:schemeClr val="tx1"/>
                </a:solidFill>
                <a:effectLst/>
                <a:latin typeface="+mj-lt"/>
              </a:rPr>
              <a:t>This course builds the foundation to design, implement, and analyze performance-driven software and systems used in scientific research, machine learning, big data, etc.</a:t>
            </a:r>
          </a:p>
          <a:p>
            <a:pPr marL="0" indent="0" algn="just">
              <a:buNone/>
            </a:pPr>
            <a:r>
              <a:rPr lang="en-US" sz="2000" b="1" dirty="0"/>
              <a:t>Topic-wise Video Lectures (YouTube/NPTEL)</a:t>
            </a:r>
          </a:p>
          <a:p>
            <a:pPr>
              <a:buFont typeface="Wingdings" panose="05000000000000000000" pitchFamily="2" charset="2"/>
              <a:buChar char="Ø"/>
            </a:pPr>
            <a:r>
              <a:rPr lang="en-US" sz="2000" b="1" dirty="0"/>
              <a:t>Unit 2 </a:t>
            </a:r>
            <a:r>
              <a:rPr lang="en-US" sz="1900" dirty="0"/>
              <a:t>Introduction to HPC &amp; Paradigms </a:t>
            </a:r>
            <a:r>
              <a:rPr lang="en-US" sz="2000" dirty="0">
                <a:hlinkClick r:id="rId2"/>
              </a:rPr>
              <a:t>https://www.youtube.com/watch?v=tGIobcyKViI</a:t>
            </a:r>
            <a:endParaRPr lang="en-US" sz="2000" dirty="0"/>
          </a:p>
          <a:p>
            <a:pPr marL="0" indent="0">
              <a:buNone/>
            </a:pPr>
            <a:endParaRPr lang="en-US" dirty="0">
              <a:latin typeface="+mj-lt"/>
            </a:endParaRPr>
          </a:p>
          <a:p>
            <a:endParaRPr lang="en-US" dirty="0">
              <a:latin typeface="+mj-lt"/>
            </a:endParaRPr>
          </a:p>
        </p:txBody>
      </p:sp>
      <p:pic>
        <p:nvPicPr>
          <p:cNvPr id="8" name="Picture 7">
            <a:extLst>
              <a:ext uri="{FF2B5EF4-FFF2-40B4-BE49-F238E27FC236}">
                <a16:creationId xmlns:a16="http://schemas.microsoft.com/office/drawing/2014/main" id="{660A703F-3E80-1C4A-9962-E0A24FD1E0B0}"/>
              </a:ext>
            </a:extLst>
          </p:cNvPr>
          <p:cNvPicPr>
            <a:picLocks noChangeAspect="1"/>
          </p:cNvPicPr>
          <p:nvPr/>
        </p:nvPicPr>
        <p:blipFill>
          <a:blip r:embed="rId3"/>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AAB39E09-33E0-981D-1850-378A2ED73F05}"/>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6183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38100">
              <a:lnSpc>
                <a:spcPct val="100000"/>
              </a:lnSpc>
            </a:pPr>
            <a:fld id="{81D60167-4931-47E6-BA6A-407CBD079E47}" type="slidenum">
              <a:rPr lang="en-US" spc="-5" smtClean="0">
                <a:solidFill>
                  <a:schemeClr val="tx1"/>
                </a:solidFill>
              </a:rPr>
              <a:pPr marL="38100">
                <a:lnSpc>
                  <a:spcPct val="100000"/>
                </a:lnSpc>
              </a:pPr>
              <a:t>19</a:t>
            </a:fld>
            <a:endParaRPr lang="en-US" spc="-5" dirty="0">
              <a:solidFill>
                <a:schemeClr val="tx1"/>
              </a:solidFill>
            </a:endParaRPr>
          </a:p>
        </p:txBody>
      </p:sp>
      <p:sp>
        <p:nvSpPr>
          <p:cNvPr id="5" name="Date Placeholder 4"/>
          <p:cNvSpPr>
            <a:spLocks noGrp="1"/>
          </p:cNvSpPr>
          <p:nvPr>
            <p:ph type="dt" sz="half" idx="10"/>
          </p:nvPr>
        </p:nvSpPr>
        <p:spPr/>
        <p:txBody>
          <a:bodyPr/>
          <a:lstStyle/>
          <a:p>
            <a:fld id="{5F9BF934-0E61-496E-B1EA-2892775FCD92}" type="datetime1">
              <a:rPr lang="en-US" smtClean="0">
                <a:solidFill>
                  <a:schemeClr val="tx1"/>
                </a:solidFill>
              </a:rPr>
              <a:t>7/4/2025</a:t>
            </a:fld>
            <a:endParaRPr lang="en-US" dirty="0">
              <a:solidFill>
                <a:schemeClr val="tx1"/>
              </a:solidFill>
            </a:endParaRPr>
          </a:p>
        </p:txBody>
      </p:sp>
      <p:sp>
        <p:nvSpPr>
          <p:cNvPr id="7" name="TextBox 6">
            <a:extLst>
              <a:ext uri="{FF2B5EF4-FFF2-40B4-BE49-F238E27FC236}">
                <a16:creationId xmlns:a16="http://schemas.microsoft.com/office/drawing/2014/main" id="{0DE197D2-E667-46C0-BB2A-49A8B2E5B579}"/>
              </a:ext>
            </a:extLst>
          </p:cNvPr>
          <p:cNvSpPr txBox="1"/>
          <p:nvPr/>
        </p:nvSpPr>
        <p:spPr>
          <a:xfrm>
            <a:off x="208547" y="856357"/>
            <a:ext cx="8726905" cy="5185843"/>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Introduction to Computing Architectures</a:t>
            </a:r>
          </a:p>
          <a:p>
            <a:pPr algn="just"/>
            <a:endParaRPr lang="en-US" sz="2400" b="1" dirty="0">
              <a:latin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Times New Roman" panose="02020603050405020304" pitchFamily="18" charset="0"/>
              </a:rPr>
              <a:t>A computing architecture defines the design and structure of a computer system, including how data flows, how memory is accessed, and how instructions are executed. It’s the blueprint that determines how efficiently hardware and software can perform tasks — especially important in High Performance Computing (HPC).</a:t>
            </a:r>
          </a:p>
          <a:p>
            <a:pPr marL="342900" lvl="0" indent="-342900" algn="just">
              <a:lnSpc>
                <a:spcPct val="115000"/>
              </a:lnSpc>
              <a:buFont typeface="Wingdings" panose="05000000000000000000" pitchFamily="2" charset="2"/>
              <a:buChar char=""/>
            </a:pP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en-IN" sz="2400" dirty="0"/>
              <a:t>Types of Architectures</a:t>
            </a:r>
          </a:p>
          <a:p>
            <a:pPr marL="342900" lvl="0" indent="-342900" algn="just">
              <a:lnSpc>
                <a:spcPct val="115000"/>
              </a:lnSpc>
              <a:buFont typeface="Wingdings" panose="05000000000000000000" pitchFamily="2" charset="2"/>
              <a:buChar char="Ø"/>
            </a:pPr>
            <a:r>
              <a:rPr lang="en-US" sz="2000" dirty="0"/>
              <a:t>SISD (Single Instruction, Single Data):</a:t>
            </a:r>
          </a:p>
          <a:p>
            <a:pPr marL="342900" lvl="0" indent="-342900" algn="just">
              <a:lnSpc>
                <a:spcPct val="115000"/>
              </a:lnSpc>
              <a:buFont typeface="Wingdings" panose="05000000000000000000" pitchFamily="2" charset="2"/>
              <a:buChar char="Ø"/>
            </a:pPr>
            <a:r>
              <a:rPr lang="en-IN" sz="2000" dirty="0"/>
              <a:t>SIMD (Single Instruction, Multiple Data):</a:t>
            </a:r>
          </a:p>
          <a:p>
            <a:pPr marL="342900" lvl="0" indent="-342900" algn="just">
              <a:lnSpc>
                <a:spcPct val="115000"/>
              </a:lnSpc>
              <a:buFont typeface="Wingdings" panose="05000000000000000000" pitchFamily="2" charset="2"/>
              <a:buChar char="Ø"/>
            </a:pPr>
            <a:r>
              <a:rPr lang="en-IN" sz="2000" dirty="0"/>
              <a:t>MISD (Multiple Instruction, Single Data):</a:t>
            </a:r>
          </a:p>
          <a:p>
            <a:pPr marL="342900" lvl="0" indent="-342900" algn="just">
              <a:lnSpc>
                <a:spcPct val="115000"/>
              </a:lnSpc>
              <a:buFont typeface="Wingdings" panose="05000000000000000000" pitchFamily="2" charset="2"/>
              <a:buChar char="Ø"/>
            </a:pPr>
            <a:r>
              <a:rPr lang="en-IN" sz="2000" dirty="0"/>
              <a:t>MIMD (Multiple Instruction, Multiple Data):</a:t>
            </a:r>
          </a:p>
          <a:p>
            <a:pPr marL="342900" lvl="0" indent="-342900" algn="just">
              <a:lnSpc>
                <a:spcPct val="115000"/>
              </a:lnSpc>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DC48204-95A7-4BA8-8A2D-D9E1E0C1243D}"/>
              </a:ext>
            </a:extLst>
          </p:cNvPr>
          <p:cNvSpPr>
            <a:spLocks noGrp="1"/>
          </p:cNvSpPr>
          <p:nvPr>
            <p:ph type="ftr" sz="quarter" idx="11"/>
          </p:nvPr>
        </p:nvSpPr>
        <p:spPr>
          <a:xfrm>
            <a:off x="1364577" y="6356350"/>
            <a:ext cx="6851167" cy="365125"/>
          </a:xfrm>
        </p:spPr>
        <p:txBody>
          <a:bodyPr/>
          <a:lstStyle/>
          <a:p>
            <a:r>
              <a:rPr lang="en-US" dirty="0"/>
              <a:t>Mr. Anshul Varshney               High Performance computing                   Unit 2</a:t>
            </a:r>
          </a:p>
        </p:txBody>
      </p:sp>
      <p:pic>
        <p:nvPicPr>
          <p:cNvPr id="6" name="Picture 5">
            <a:extLst>
              <a:ext uri="{FF2B5EF4-FFF2-40B4-BE49-F238E27FC236}">
                <a16:creationId xmlns:a16="http://schemas.microsoft.com/office/drawing/2014/main" id="{440ED1A6-ACEF-2544-96C1-BD10D3B339AB}"/>
              </a:ext>
            </a:extLst>
          </p:cNvPr>
          <p:cNvPicPr>
            <a:picLocks noChangeAspect="1"/>
          </p:cNvPicPr>
          <p:nvPr/>
        </p:nvPicPr>
        <p:blipFill>
          <a:blip r:embed="rId2"/>
          <a:stretch>
            <a:fillRect/>
          </a:stretch>
        </p:blipFill>
        <p:spPr>
          <a:xfrm>
            <a:off x="-19722" y="0"/>
            <a:ext cx="1384300" cy="81280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0A3371FE-CD9E-B4DF-51A1-55E0C5E2D3E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C01ABCD6-D9A9-74EC-11D5-734FD2C2919C}"/>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CONTENTS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94505"/>
            <a:ext cx="8797635" cy="3117273"/>
          </a:xfrm>
        </p:spPr>
        <p:txBody>
          <a:bodyPr>
            <a:normAutofit/>
          </a:bodyPr>
          <a:lstStyle/>
          <a:p>
            <a:pPr marL="0" indent="0" algn="just">
              <a:buNone/>
            </a:pPr>
            <a:r>
              <a:rPr lang="en-US" sz="2000" dirty="0"/>
              <a:t>An SISD computing system is a uniprocessor machine capable of executing a single instruction, which operates on a single data stream see Figure. In SISD, machine instructions are processed sequentially; hence computers adopting this model are popularly called sequential computers. Most conventional computers are built using the SISD model. All the instructions and data to be processed have to be stored in primary memory. The speed of the processing element in the SISD model is limited by the rate at which the computer can transfer information internally. Dominant representative SISD systems are IBM PC, Macintosh, and workstations.</a:t>
            </a:r>
            <a:endParaRPr lang="en-IN" sz="1650" dirty="0"/>
          </a:p>
        </p:txBody>
      </p:sp>
      <p:sp>
        <p:nvSpPr>
          <p:cNvPr id="4" name="Date Placeholder 3"/>
          <p:cNvSpPr>
            <a:spLocks noGrp="1"/>
          </p:cNvSpPr>
          <p:nvPr>
            <p:ph type="dt" sz="half" idx="10"/>
          </p:nvPr>
        </p:nvSpPr>
        <p:spPr/>
        <p:txBody>
          <a:bodyPr/>
          <a:lstStyle/>
          <a:p>
            <a:pPr defTabSz="685800">
              <a:defRPr/>
            </a:pPr>
            <a:fld id="{666E8882-8454-4FF8-A759-CE66F533F2E2}" type="datetime1">
              <a:rPr lang="en-US" sz="900" smtClean="0">
                <a:solidFill>
                  <a:prstClr val="black">
                    <a:tint val="75000"/>
                  </a:prstClr>
                </a:solidFill>
                <a:latin typeface="Calibri"/>
              </a:rPr>
              <a:t>7/4/2025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20</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21804AB5-1258-40FF-B1C3-A15800EBE9DE}"/>
              </a:ext>
            </a:extLst>
          </p:cNvPr>
          <p:cNvSpPr txBox="1">
            <a:spLocks/>
          </p:cNvSpPr>
          <p:nvPr/>
        </p:nvSpPr>
        <p:spPr>
          <a:xfrm>
            <a:off x="1378974"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Single-instruction, single-data (SISD) systems</a:t>
            </a: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1122217" y="6356350"/>
            <a:ext cx="7038109" cy="365125"/>
          </a:xfrm>
        </p:spPr>
        <p:txBody>
          <a:bodyPr/>
          <a:lstStyle/>
          <a:p>
            <a:r>
              <a:rPr lang="en-US" dirty="0"/>
              <a:t>Mr. Anshul Varshney               High Performance computing                   Unit 2</a:t>
            </a:r>
          </a:p>
        </p:txBody>
      </p:sp>
      <p:pic>
        <p:nvPicPr>
          <p:cNvPr id="7" name="Picture 6">
            <a:extLst>
              <a:ext uri="{FF2B5EF4-FFF2-40B4-BE49-F238E27FC236}">
                <a16:creationId xmlns:a16="http://schemas.microsoft.com/office/drawing/2014/main" id="{1FF9359F-875D-6243-AF19-564519244F0E}"/>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AAF54F8-2CBD-4D3C-6742-5A4A5D36906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0" name="Picture 9" descr="A computer diagram showing a chip&#10;&#10;AI-generated content may be incorrect.">
            <a:extLst>
              <a:ext uri="{FF2B5EF4-FFF2-40B4-BE49-F238E27FC236}">
                <a16:creationId xmlns:a16="http://schemas.microsoft.com/office/drawing/2014/main" id="{30B1D7D6-4F40-F7F8-BFC1-901A5445AF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6837" y="3771076"/>
            <a:ext cx="3962400" cy="2432874"/>
          </a:xfrm>
          <a:prstGeom prst="rect">
            <a:avLst/>
          </a:prstGeom>
        </p:spPr>
      </p:pic>
    </p:spTree>
    <p:extLst>
      <p:ext uri="{BB962C8B-B14F-4D97-AF65-F5344CB8AC3E}">
        <p14:creationId xmlns:p14="http://schemas.microsoft.com/office/powerpoint/2010/main" val="1420008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75790AE-A811-2621-705A-1CCD26BBEFF1}"/>
              </a:ext>
            </a:extLst>
          </p:cNvPr>
          <p:cNvSpPr txBox="1"/>
          <p:nvPr/>
        </p:nvSpPr>
        <p:spPr>
          <a:xfrm>
            <a:off x="215881" y="911196"/>
            <a:ext cx="8928119" cy="1619033"/>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spcBef>
                <a:spcPts val="545"/>
              </a:spcBef>
            </a:pPr>
            <a:r>
              <a:rPr lang="en-US" altLang="en-US" dirty="0">
                <a:latin typeface="+mj-lt"/>
                <a:cs typeface="Times New Roman" panose="02020603050405020304" pitchFamily="18" charset="0"/>
              </a:rPr>
              <a:t>Most Arm instructions are Single Instruction Single Data (SISD). Each instruction performs its specified operation on a single data source. Processing multiple data items therefore requires multiple instructions. For example, to perform four addition operations requires four instructions to add values from four pairs of registers:</a:t>
            </a:r>
            <a:endParaRPr lang="en-US" altLang="en-US" dirty="0">
              <a:latin typeface="Calibri (Headings)"/>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6C10E095-31D6-655A-3DAA-E82E35552D2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5E943921-F336-3A6F-7897-B4AFB83AE41D}"/>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Single-instruction, single-data (SISD) systems</a:t>
            </a:r>
          </a:p>
        </p:txBody>
      </p:sp>
      <p:sp>
        <p:nvSpPr>
          <p:cNvPr id="7" name="Text Placeholder 6">
            <a:extLst>
              <a:ext uri="{FF2B5EF4-FFF2-40B4-BE49-F238E27FC236}">
                <a16:creationId xmlns:a16="http://schemas.microsoft.com/office/drawing/2014/main" id="{95550B93-50BF-4DB5-93A4-C361E0A58AB3}"/>
              </a:ext>
            </a:extLst>
          </p:cNvPr>
          <p:cNvSpPr>
            <a:spLocks noGrp="1"/>
          </p:cNvSpPr>
          <p:nvPr>
            <p:ph type="body" idx="1"/>
          </p:nvPr>
        </p:nvSpPr>
        <p:spPr>
          <a:xfrm>
            <a:off x="2479964" y="2863944"/>
            <a:ext cx="3200399" cy="1500187"/>
          </a:xfrm>
        </p:spPr>
        <p:txBody>
          <a:bodyPr/>
          <a:lstStyle/>
          <a:p>
            <a:r>
              <a:rPr lang="pl-PL" b="0" i="0" dirty="0">
                <a:solidFill>
                  <a:schemeClr val="tx2">
                    <a:lumMod val="60000"/>
                    <a:lumOff val="40000"/>
                  </a:schemeClr>
                </a:solidFill>
                <a:effectLst/>
                <a:latin typeface="Courier"/>
              </a:rPr>
              <a:t>ADD</a:t>
            </a:r>
            <a:r>
              <a:rPr lang="pl-PL" b="0" i="0" dirty="0">
                <a:solidFill>
                  <a:schemeClr val="tx1"/>
                </a:solidFill>
                <a:effectLst/>
                <a:latin typeface="Courier"/>
              </a:rPr>
              <a:t> w0, w0, w5 </a:t>
            </a:r>
            <a:endParaRPr lang="en-IN" b="0" i="0" dirty="0">
              <a:solidFill>
                <a:schemeClr val="tx1"/>
              </a:solidFill>
              <a:effectLst/>
              <a:latin typeface="Courier"/>
            </a:endParaRPr>
          </a:p>
          <a:p>
            <a:r>
              <a:rPr lang="pl-PL" b="0" i="0" dirty="0">
                <a:solidFill>
                  <a:schemeClr val="tx2">
                    <a:lumMod val="60000"/>
                    <a:lumOff val="40000"/>
                  </a:schemeClr>
                </a:solidFill>
                <a:effectLst/>
                <a:latin typeface="Courier"/>
              </a:rPr>
              <a:t>ADD</a:t>
            </a:r>
            <a:r>
              <a:rPr lang="pl-PL" b="0" i="0" dirty="0">
                <a:solidFill>
                  <a:schemeClr val="tx1"/>
                </a:solidFill>
                <a:effectLst/>
                <a:latin typeface="Courier"/>
              </a:rPr>
              <a:t> w1, w1, w6 </a:t>
            </a:r>
            <a:endParaRPr lang="en-IN" b="0" i="0" dirty="0">
              <a:solidFill>
                <a:schemeClr val="tx1"/>
              </a:solidFill>
              <a:effectLst/>
              <a:latin typeface="Courier"/>
            </a:endParaRPr>
          </a:p>
          <a:p>
            <a:r>
              <a:rPr lang="pl-PL" b="0" i="0" dirty="0">
                <a:solidFill>
                  <a:schemeClr val="tx2">
                    <a:lumMod val="60000"/>
                    <a:lumOff val="40000"/>
                  </a:schemeClr>
                </a:solidFill>
                <a:effectLst/>
                <a:latin typeface="Courier"/>
              </a:rPr>
              <a:t>ADD</a:t>
            </a:r>
            <a:r>
              <a:rPr lang="pl-PL" b="0" i="0" dirty="0">
                <a:solidFill>
                  <a:schemeClr val="tx1"/>
                </a:solidFill>
                <a:effectLst/>
                <a:latin typeface="Courier"/>
              </a:rPr>
              <a:t> w2, w2, w7 </a:t>
            </a:r>
            <a:endParaRPr lang="en-IN" b="0" i="0" dirty="0">
              <a:solidFill>
                <a:schemeClr val="tx1"/>
              </a:solidFill>
              <a:effectLst/>
              <a:latin typeface="Courier"/>
            </a:endParaRPr>
          </a:p>
          <a:p>
            <a:r>
              <a:rPr lang="pl-PL" b="0" i="0" dirty="0">
                <a:solidFill>
                  <a:schemeClr val="tx2">
                    <a:lumMod val="60000"/>
                    <a:lumOff val="40000"/>
                  </a:schemeClr>
                </a:solidFill>
                <a:effectLst/>
                <a:latin typeface="Courier"/>
              </a:rPr>
              <a:t>ADD</a:t>
            </a:r>
            <a:r>
              <a:rPr lang="pl-PL" b="0" i="0" dirty="0">
                <a:solidFill>
                  <a:schemeClr val="tx1"/>
                </a:solidFill>
                <a:effectLst/>
                <a:latin typeface="Courier"/>
              </a:rPr>
              <a:t> w3, w3, w8</a:t>
            </a:r>
            <a:endParaRPr lang="en-IN" dirty="0">
              <a:solidFill>
                <a:schemeClr val="tx1"/>
              </a:solidFill>
            </a:endParaRPr>
          </a:p>
        </p:txBody>
      </p:sp>
      <p:sp>
        <p:nvSpPr>
          <p:cNvPr id="8" name="Text Placeholder 6">
            <a:extLst>
              <a:ext uri="{FF2B5EF4-FFF2-40B4-BE49-F238E27FC236}">
                <a16:creationId xmlns:a16="http://schemas.microsoft.com/office/drawing/2014/main" id="{21D060B4-534A-93AF-18E0-045B9D91792E}"/>
              </a:ext>
            </a:extLst>
          </p:cNvPr>
          <p:cNvSpPr txBox="1">
            <a:spLocks/>
          </p:cNvSpPr>
          <p:nvPr/>
        </p:nvSpPr>
        <p:spPr>
          <a:xfrm>
            <a:off x="401782" y="4697846"/>
            <a:ext cx="8243454" cy="1500187"/>
          </a:xfrm>
          <a:prstGeom prst="rect">
            <a:avLst/>
          </a:prstGeom>
        </p:spPr>
        <p:txBody>
          <a:bodyPr vert="horz" lIns="91440" tIns="45720" rIns="91440" bIns="45720" rtlCol="0" anchor="b">
            <a:normAutofit fontScale="92500" lnSpcReduction="10000"/>
          </a:bodyPr>
          <a:lstStyle>
            <a:lvl1pPr marL="0" indent="0" algn="l"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Font typeface="Arial"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This method is relatively slow and it can be difficult to see how different registers are related. To improve performance and efficiency, media processing is often off-loaded to dedicated processors such as a Graphics Processing Unit (GPU) or Media Processing Unit which can process more than one data value with a single instruction.</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4F20625-EA51-8CBA-5D6F-B3C554F5B23D}"/>
              </a:ext>
            </a:extLst>
          </p:cNvPr>
          <p:cNvSpPr>
            <a:spLocks noGrp="1"/>
          </p:cNvSpPr>
          <p:nvPr>
            <p:ph type="dt" sz="half" idx="10"/>
          </p:nvPr>
        </p:nvSpPr>
        <p:spPr/>
        <p:txBody>
          <a:bodyPr/>
          <a:lstStyle/>
          <a:p>
            <a:fld id="{A2DC46C0-A621-41B4-89A6-514B93A5EC05}" type="datetime1">
              <a:rPr lang="en-US" smtClean="0"/>
              <a:t>7/4/2025</a:t>
            </a:fld>
            <a:endParaRPr lang="en-US" dirty="0"/>
          </a:p>
        </p:txBody>
      </p:sp>
      <p:sp>
        <p:nvSpPr>
          <p:cNvPr id="6" name="Footer Placeholder 5">
            <a:extLst>
              <a:ext uri="{FF2B5EF4-FFF2-40B4-BE49-F238E27FC236}">
                <a16:creationId xmlns:a16="http://schemas.microsoft.com/office/drawing/2014/main" id="{5B519588-9725-724F-BB75-C7446A115DBB}"/>
              </a:ext>
            </a:extLst>
          </p:cNvPr>
          <p:cNvSpPr>
            <a:spLocks noGrp="1"/>
          </p:cNvSpPr>
          <p:nvPr>
            <p:ph type="ftr" sz="quarter" idx="11"/>
          </p:nvPr>
        </p:nvSpPr>
        <p:spPr>
          <a:xfrm>
            <a:off x="1246909" y="6356350"/>
            <a:ext cx="6650182"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9C3698B5-4B68-1772-8FE1-9E55438BB97A}"/>
              </a:ext>
            </a:extLst>
          </p:cNvPr>
          <p:cNvSpPr>
            <a:spLocks noGrp="1"/>
          </p:cNvSpPr>
          <p:nvPr>
            <p:ph type="sldNum" sz="quarter" idx="12"/>
          </p:nvPr>
        </p:nvSpPr>
        <p:spPr/>
        <p:txBody>
          <a:bodyPr/>
          <a:lstStyle/>
          <a:p>
            <a:fld id="{B6F15528-21DE-4FAA-801E-634DDDAF4B2B}"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9C79487-635D-1D6E-976C-69BCEB74E84A}"/>
              </a:ext>
            </a:extLst>
          </p:cNvPr>
          <p:cNvSpPr txBox="1"/>
          <p:nvPr/>
        </p:nvSpPr>
        <p:spPr>
          <a:xfrm>
            <a:off x="110837" y="1014605"/>
            <a:ext cx="8914728" cy="1938992"/>
          </a:xfrm>
          <a:prstGeom prst="rect">
            <a:avLst/>
          </a:prstGeom>
        </p:spPr>
        <p:txBody>
          <a:bodyPr wrap="square" lIns="0" tIns="0" rIns="0" bIns="0">
            <a:spAutoFit/>
          </a:bodyPr>
          <a:lstStyle/>
          <a:p>
            <a:pPr marL="8145">
              <a:defRPr/>
            </a:pPr>
            <a:r>
              <a:rPr lang="en-US" dirty="0">
                <a:latin typeface="+mj-lt"/>
                <a:cs typeface="Times New Roman"/>
              </a:rPr>
              <a:t>SIMD stands for Single Instruction, Multiple Data. This powerful approach allows a single CPU instruction to process multiple data points simultaneously. Imagine you're working with an image or two vectors. Normally, operations on these data points would be performed one at a time - a method known as scalar operation. However, with SIMD optimization, these operations can be vectorized, meaning multiple data points are processed in one go. SIMD architectures typically organize data into vectors or arrays, enabling synchronized execution and faster computational throughput.</a:t>
            </a:r>
            <a:endParaRPr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447D7DEC-B29E-B2FF-A00B-08A891D3BBD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2171C35-DF59-D63D-4F93-CCA0B9EFD3BB}"/>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Single Instruction, Multiple Data(SIMD) systems</a:t>
            </a:r>
          </a:p>
        </p:txBody>
      </p:sp>
      <p:pic>
        <p:nvPicPr>
          <p:cNvPr id="9" name="Picture 8" descr="A diagram of a computer process&#10;&#10;AI-generated content may be incorrect.">
            <a:extLst>
              <a:ext uri="{FF2B5EF4-FFF2-40B4-BE49-F238E27FC236}">
                <a16:creationId xmlns:a16="http://schemas.microsoft.com/office/drawing/2014/main" id="{8E8C6701-17DD-34A9-2B98-7C5057124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2036" y="3429000"/>
            <a:ext cx="5389418" cy="2615930"/>
          </a:xfrm>
          <a:prstGeom prst="rect">
            <a:avLst/>
          </a:prstGeom>
        </p:spPr>
      </p:pic>
      <p:sp>
        <p:nvSpPr>
          <p:cNvPr id="3" name="Date Placeholder 2">
            <a:extLst>
              <a:ext uri="{FF2B5EF4-FFF2-40B4-BE49-F238E27FC236}">
                <a16:creationId xmlns:a16="http://schemas.microsoft.com/office/drawing/2014/main" id="{C288C0BB-8CCC-329B-18CD-131D1329D4CB}"/>
              </a:ext>
            </a:extLst>
          </p:cNvPr>
          <p:cNvSpPr>
            <a:spLocks noGrp="1"/>
          </p:cNvSpPr>
          <p:nvPr>
            <p:ph type="dt" sz="half" idx="10"/>
          </p:nvPr>
        </p:nvSpPr>
        <p:spPr/>
        <p:txBody>
          <a:bodyPr/>
          <a:lstStyle/>
          <a:p>
            <a:fld id="{4CA6CDC9-36B5-4C92-AA40-5D4532208633}" type="datetime1">
              <a:rPr lang="en-US" smtClean="0"/>
              <a:t>7/4/2025</a:t>
            </a:fld>
            <a:endParaRPr lang="en-US" dirty="0"/>
          </a:p>
        </p:txBody>
      </p:sp>
      <p:sp>
        <p:nvSpPr>
          <p:cNvPr id="4" name="Footer Placeholder 3">
            <a:extLst>
              <a:ext uri="{FF2B5EF4-FFF2-40B4-BE49-F238E27FC236}">
                <a16:creationId xmlns:a16="http://schemas.microsoft.com/office/drawing/2014/main" id="{6207315C-60BF-2BF4-A589-0F1550F5E08D}"/>
              </a:ext>
            </a:extLst>
          </p:cNvPr>
          <p:cNvSpPr>
            <a:spLocks noGrp="1"/>
          </p:cNvSpPr>
          <p:nvPr>
            <p:ph type="ftr" sz="quarter" idx="11"/>
          </p:nvPr>
        </p:nvSpPr>
        <p:spPr>
          <a:xfrm>
            <a:off x="1343891" y="6356350"/>
            <a:ext cx="6761018" cy="365125"/>
          </a:xfrm>
        </p:spPr>
        <p:txBody>
          <a:bodyPr/>
          <a:lstStyle/>
          <a:p>
            <a:r>
              <a:rPr lang="en-US" dirty="0"/>
              <a:t>Mr. Anshul Varshney               High Performance computing                   Unit 2</a:t>
            </a:r>
          </a:p>
        </p:txBody>
      </p:sp>
      <p:sp>
        <p:nvSpPr>
          <p:cNvPr id="6" name="Slide Number Placeholder 5">
            <a:extLst>
              <a:ext uri="{FF2B5EF4-FFF2-40B4-BE49-F238E27FC236}">
                <a16:creationId xmlns:a16="http://schemas.microsoft.com/office/drawing/2014/main" id="{FAC72D8E-EF71-1A9C-4ECF-5D41BDD0194E}"/>
              </a:ext>
            </a:extLst>
          </p:cNvPr>
          <p:cNvSpPr>
            <a:spLocks noGrp="1"/>
          </p:cNvSpPr>
          <p:nvPr>
            <p:ph type="sldNum" sz="quarter" idx="12"/>
          </p:nvPr>
        </p:nvSpPr>
        <p:spPr/>
        <p:txBody>
          <a:bodyPr/>
          <a:lstStyle/>
          <a:p>
            <a:fld id="{B6F15528-21DE-4FAA-801E-634DDDAF4B2B}"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DB58E-F660-92E7-6BCC-7FE17963F2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33CCA3-B1AC-F8AD-92E8-9B87456A9C38}"/>
              </a:ext>
            </a:extLst>
          </p:cNvPr>
          <p:cNvSpPr txBox="1"/>
          <p:nvPr/>
        </p:nvSpPr>
        <p:spPr>
          <a:xfrm>
            <a:off x="110837" y="1014605"/>
            <a:ext cx="8914728" cy="369332"/>
          </a:xfrm>
          <a:prstGeom prst="rect">
            <a:avLst/>
          </a:prstGeom>
        </p:spPr>
        <p:txBody>
          <a:bodyPr wrap="square" lIns="0" tIns="0" rIns="0" bIns="0">
            <a:spAutoFit/>
          </a:bodyPr>
          <a:lstStyle/>
          <a:p>
            <a:pPr marL="8145">
              <a:defRPr/>
            </a:pPr>
            <a:r>
              <a:rPr lang="en-US" sz="2400" b="1" dirty="0">
                <a:latin typeface="+mj-lt"/>
                <a:cs typeface="Times New Roman"/>
              </a:rPr>
              <a:t>How SIMD Works</a:t>
            </a:r>
            <a:endParaRPr sz="2400" b="1"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926635CE-C1FE-7B4A-87E5-7C54A6E7CB4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A28C21E3-115E-6756-3731-C74F8BA13C7F}"/>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Single Instruction, Multiple Data(SIMD) systems</a:t>
            </a:r>
          </a:p>
        </p:txBody>
      </p:sp>
      <p:pic>
        <p:nvPicPr>
          <p:cNvPr id="8" name="Picture 7" descr="A diagram of a computer network&#10;&#10;AI-generated content may be incorrect.">
            <a:extLst>
              <a:ext uri="{FF2B5EF4-FFF2-40B4-BE49-F238E27FC236}">
                <a16:creationId xmlns:a16="http://schemas.microsoft.com/office/drawing/2014/main" id="{A41E7FB9-C4A7-71AD-4738-85070CF823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266" y="2039805"/>
            <a:ext cx="8579468" cy="3854946"/>
          </a:xfrm>
          <a:prstGeom prst="rect">
            <a:avLst/>
          </a:prstGeom>
        </p:spPr>
      </p:pic>
      <p:sp>
        <p:nvSpPr>
          <p:cNvPr id="3" name="Date Placeholder 2">
            <a:extLst>
              <a:ext uri="{FF2B5EF4-FFF2-40B4-BE49-F238E27FC236}">
                <a16:creationId xmlns:a16="http://schemas.microsoft.com/office/drawing/2014/main" id="{4D5A9CBD-5827-3C2C-1B09-F366C673AA91}"/>
              </a:ext>
            </a:extLst>
          </p:cNvPr>
          <p:cNvSpPr>
            <a:spLocks noGrp="1"/>
          </p:cNvSpPr>
          <p:nvPr>
            <p:ph type="dt" sz="half" idx="10"/>
          </p:nvPr>
        </p:nvSpPr>
        <p:spPr/>
        <p:txBody>
          <a:bodyPr/>
          <a:lstStyle/>
          <a:p>
            <a:fld id="{4586437A-46D2-4BE3-A1E9-256BA9884AF7}" type="datetime1">
              <a:rPr lang="en-US" smtClean="0"/>
              <a:t>7/4/2025</a:t>
            </a:fld>
            <a:endParaRPr lang="en-US" dirty="0"/>
          </a:p>
        </p:txBody>
      </p:sp>
      <p:sp>
        <p:nvSpPr>
          <p:cNvPr id="4" name="Footer Placeholder 3">
            <a:extLst>
              <a:ext uri="{FF2B5EF4-FFF2-40B4-BE49-F238E27FC236}">
                <a16:creationId xmlns:a16="http://schemas.microsoft.com/office/drawing/2014/main" id="{D79650AD-362F-9CCD-D08F-9FAE9E94312E}"/>
              </a:ext>
            </a:extLst>
          </p:cNvPr>
          <p:cNvSpPr>
            <a:spLocks noGrp="1"/>
          </p:cNvSpPr>
          <p:nvPr>
            <p:ph type="ftr" sz="quarter" idx="11"/>
          </p:nvPr>
        </p:nvSpPr>
        <p:spPr>
          <a:xfrm>
            <a:off x="1551709" y="6356350"/>
            <a:ext cx="6137564" cy="365125"/>
          </a:xfrm>
        </p:spPr>
        <p:txBody>
          <a:bodyPr/>
          <a:lstStyle/>
          <a:p>
            <a:r>
              <a:rPr lang="en-US"/>
              <a:t>Mr. Anshul Varshney               High Performance computing                   Unit 2</a:t>
            </a:r>
            <a:endParaRPr lang="en-US" dirty="0"/>
          </a:p>
        </p:txBody>
      </p:sp>
      <p:sp>
        <p:nvSpPr>
          <p:cNvPr id="6" name="Slide Number Placeholder 5">
            <a:extLst>
              <a:ext uri="{FF2B5EF4-FFF2-40B4-BE49-F238E27FC236}">
                <a16:creationId xmlns:a16="http://schemas.microsoft.com/office/drawing/2014/main" id="{5E3BEFDA-82BA-0125-7CD1-48D65F6EB410}"/>
              </a:ext>
            </a:extLst>
          </p:cNvPr>
          <p:cNvSpPr>
            <a:spLocks noGrp="1"/>
          </p:cNvSpPr>
          <p:nvPr>
            <p:ph type="sldNum" sz="quarter" idx="12"/>
          </p:nvPr>
        </p:nvSpPr>
        <p:spPr/>
        <p:txBody>
          <a:bodyPr/>
          <a:lstStyle/>
          <a:p>
            <a:fld id="{B6F15528-21DE-4FAA-801E-634DDDAF4B2B}" type="slidenum">
              <a:rPr lang="en-US" smtClean="0"/>
              <a:pPr/>
              <a:t>23</a:t>
            </a:fld>
            <a:endParaRPr lang="en-US" dirty="0"/>
          </a:p>
        </p:txBody>
      </p:sp>
    </p:spTree>
    <p:extLst>
      <p:ext uri="{BB962C8B-B14F-4D97-AF65-F5344CB8AC3E}">
        <p14:creationId xmlns:p14="http://schemas.microsoft.com/office/powerpoint/2010/main" val="2776755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D921-F7F6-9934-6344-E5EB6A9D0B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87EF4C-51AB-6E3E-532C-5DAA9F720257}"/>
              </a:ext>
            </a:extLst>
          </p:cNvPr>
          <p:cNvSpPr txBox="1"/>
          <p:nvPr/>
        </p:nvSpPr>
        <p:spPr>
          <a:xfrm>
            <a:off x="110837" y="1014605"/>
            <a:ext cx="8914728" cy="2400657"/>
          </a:xfrm>
          <a:prstGeom prst="rect">
            <a:avLst/>
          </a:prstGeom>
        </p:spPr>
        <p:txBody>
          <a:bodyPr wrap="square" lIns="0" tIns="0" rIns="0" bIns="0">
            <a:spAutoFit/>
          </a:bodyPr>
          <a:lstStyle/>
          <a:p>
            <a:pPr marL="8145" algn="just">
              <a:defRPr/>
            </a:pPr>
            <a:r>
              <a:rPr lang="en-US" sz="2000" dirty="0">
                <a:latin typeface="+mj-lt"/>
                <a:cs typeface="Times New Roman"/>
              </a:rPr>
              <a:t>Multiple Instruction, Single Data (MISD) is a parallel computing architecture where multiple processors execute different instructions on the same data stream. While not widely implemented in commercially available systems, it's a concept primarily of theoretical interest. MISD principles are sometimes found in pipeline architectures and fault-tolerant systems. </a:t>
            </a:r>
          </a:p>
          <a:p>
            <a:pPr marL="8145" algn="just">
              <a:defRPr/>
            </a:pPr>
            <a:endParaRPr lang="en-US" sz="2000" dirty="0">
              <a:latin typeface="+mj-lt"/>
              <a:cs typeface="Times New Roman"/>
            </a:endParaRPr>
          </a:p>
          <a:p>
            <a:pPr marL="8145" algn="just">
              <a:defRPr/>
            </a:pPr>
            <a:r>
              <a:rPr lang="en-US" dirty="0"/>
              <a:t>An MISD computing system is a multiprocessor machine capable of executing different instructions on different PEs but all of them operating on the same dataset .</a:t>
            </a:r>
            <a:endParaRPr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26A3CE57-5862-C0A1-A61A-84FB5D111877}"/>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E619540-9D9B-A2C3-FB33-A4892B8D3A54}"/>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Multiple-instruction, single-data (MISD) systems</a:t>
            </a:r>
          </a:p>
        </p:txBody>
      </p:sp>
      <p:pic>
        <p:nvPicPr>
          <p:cNvPr id="6" name="Picture 5" descr="A diagram of a process&#10;&#10;AI-generated content may be incorrect.">
            <a:extLst>
              <a:ext uri="{FF2B5EF4-FFF2-40B4-BE49-F238E27FC236}">
                <a16:creationId xmlns:a16="http://schemas.microsoft.com/office/drawing/2014/main" id="{00A2A1D5-B97C-4CA5-CE8B-F12D7B38D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7566" y="3671635"/>
            <a:ext cx="4801270" cy="2857899"/>
          </a:xfrm>
          <a:prstGeom prst="rect">
            <a:avLst/>
          </a:prstGeom>
        </p:spPr>
      </p:pic>
      <p:sp>
        <p:nvSpPr>
          <p:cNvPr id="3" name="Date Placeholder 2">
            <a:extLst>
              <a:ext uri="{FF2B5EF4-FFF2-40B4-BE49-F238E27FC236}">
                <a16:creationId xmlns:a16="http://schemas.microsoft.com/office/drawing/2014/main" id="{DE2B0C32-F38C-9F4B-87AD-3E855AFDC9A6}"/>
              </a:ext>
            </a:extLst>
          </p:cNvPr>
          <p:cNvSpPr>
            <a:spLocks noGrp="1"/>
          </p:cNvSpPr>
          <p:nvPr>
            <p:ph type="dt" sz="half" idx="10"/>
          </p:nvPr>
        </p:nvSpPr>
        <p:spPr/>
        <p:txBody>
          <a:bodyPr/>
          <a:lstStyle/>
          <a:p>
            <a:fld id="{73FA84B4-0202-4E69-B1E8-B1DCBA97D800}" type="datetime1">
              <a:rPr lang="en-US" smtClean="0"/>
              <a:t>7/4/2025</a:t>
            </a:fld>
            <a:endParaRPr lang="en-US" dirty="0"/>
          </a:p>
        </p:txBody>
      </p:sp>
      <p:sp>
        <p:nvSpPr>
          <p:cNvPr id="4" name="Footer Placeholder 3">
            <a:extLst>
              <a:ext uri="{FF2B5EF4-FFF2-40B4-BE49-F238E27FC236}">
                <a16:creationId xmlns:a16="http://schemas.microsoft.com/office/drawing/2014/main" id="{A2B46852-84CC-CDE8-2385-DB02075F2C09}"/>
              </a:ext>
            </a:extLst>
          </p:cNvPr>
          <p:cNvSpPr>
            <a:spLocks noGrp="1"/>
          </p:cNvSpPr>
          <p:nvPr>
            <p:ph type="ftr" sz="quarter" idx="11"/>
          </p:nvPr>
        </p:nvSpPr>
        <p:spPr>
          <a:xfrm>
            <a:off x="1343891" y="6356350"/>
            <a:ext cx="6580909"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081680C6-2BAD-6DD3-DFFF-04F53EDD59F1}"/>
              </a:ext>
            </a:extLst>
          </p:cNvPr>
          <p:cNvSpPr>
            <a:spLocks noGrp="1"/>
          </p:cNvSpPr>
          <p:nvPr>
            <p:ph type="sldNum" sz="quarter" idx="12"/>
          </p:nvPr>
        </p:nvSpPr>
        <p:spPr/>
        <p:txBody>
          <a:bodyPr/>
          <a:lstStyle/>
          <a:p>
            <a:fld id="{B6F15528-21DE-4FAA-801E-634DDDAF4B2B}" type="slidenum">
              <a:rPr lang="en-US" smtClean="0"/>
              <a:pPr/>
              <a:t>24</a:t>
            </a:fld>
            <a:endParaRPr lang="en-US" dirty="0"/>
          </a:p>
        </p:txBody>
      </p:sp>
    </p:spTree>
    <p:extLst>
      <p:ext uri="{BB962C8B-B14F-4D97-AF65-F5344CB8AC3E}">
        <p14:creationId xmlns:p14="http://schemas.microsoft.com/office/powerpoint/2010/main" val="718271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D3D8-4B54-02CB-CC44-1C10E423AA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DCFFC9-3E31-8E50-F814-F6AC5D3E6713}"/>
              </a:ext>
            </a:extLst>
          </p:cNvPr>
          <p:cNvSpPr txBox="1"/>
          <p:nvPr/>
        </p:nvSpPr>
        <p:spPr>
          <a:xfrm>
            <a:off x="110837" y="1014605"/>
            <a:ext cx="8914728" cy="1846659"/>
          </a:xfrm>
          <a:prstGeom prst="rect">
            <a:avLst/>
          </a:prstGeom>
        </p:spPr>
        <p:txBody>
          <a:bodyPr wrap="square" lIns="0" tIns="0" rIns="0" bIns="0">
            <a:spAutoFit/>
          </a:bodyPr>
          <a:lstStyle/>
          <a:p>
            <a:pPr marL="8145" algn="just">
              <a:defRPr/>
            </a:pPr>
            <a:r>
              <a:rPr lang="en-US" sz="2000" dirty="0">
                <a:latin typeface="+mj-lt"/>
                <a:cs typeface="Times New Roman"/>
              </a:rPr>
              <a:t>An MIMD system is a multiprocessor machine which is capable of executing multiple instructions on multiple data sets. Each PE in the MIMD model has separate instruction and data streams;  therefore machines built using this model are capable to any kind of application. Unlike SIMD and MISD machines, PEs in MIMD machines work asynchronously.</a:t>
            </a:r>
          </a:p>
          <a:p>
            <a:pPr marL="8145" algn="just">
              <a:defRPr/>
            </a:pP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23C8703B-A98C-9967-27B9-0D245717B35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9F50BEA-0C12-1DA1-92BE-7BF5E7F85135}"/>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Multiple-instruction, multiple-data (MIMD) systems</a:t>
            </a:r>
          </a:p>
        </p:txBody>
      </p:sp>
      <p:pic>
        <p:nvPicPr>
          <p:cNvPr id="8" name="Picture 7" descr="A diagram of a process&#10;&#10;AI-generated content may be incorrect.">
            <a:extLst>
              <a:ext uri="{FF2B5EF4-FFF2-40B4-BE49-F238E27FC236}">
                <a16:creationId xmlns:a16="http://schemas.microsoft.com/office/drawing/2014/main" id="{42CD2D2C-3A6C-B764-4281-5C65357AE8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0223" y="2861264"/>
            <a:ext cx="6315956" cy="3620005"/>
          </a:xfrm>
          <a:prstGeom prst="rect">
            <a:avLst/>
          </a:prstGeom>
        </p:spPr>
      </p:pic>
      <p:sp>
        <p:nvSpPr>
          <p:cNvPr id="3" name="Date Placeholder 2">
            <a:extLst>
              <a:ext uri="{FF2B5EF4-FFF2-40B4-BE49-F238E27FC236}">
                <a16:creationId xmlns:a16="http://schemas.microsoft.com/office/drawing/2014/main" id="{B195003A-F3FA-88EF-6D2D-426958A8AF30}"/>
              </a:ext>
            </a:extLst>
          </p:cNvPr>
          <p:cNvSpPr>
            <a:spLocks noGrp="1"/>
          </p:cNvSpPr>
          <p:nvPr>
            <p:ph type="dt" sz="half" idx="10"/>
          </p:nvPr>
        </p:nvSpPr>
        <p:spPr/>
        <p:txBody>
          <a:bodyPr/>
          <a:lstStyle/>
          <a:p>
            <a:fld id="{6D7DB523-9B27-4434-9DE2-482EF2A4E703}" type="datetime1">
              <a:rPr lang="en-US" smtClean="0"/>
              <a:t>7/4/2025</a:t>
            </a:fld>
            <a:endParaRPr lang="en-US" dirty="0"/>
          </a:p>
        </p:txBody>
      </p:sp>
      <p:sp>
        <p:nvSpPr>
          <p:cNvPr id="4" name="Footer Placeholder 3">
            <a:extLst>
              <a:ext uri="{FF2B5EF4-FFF2-40B4-BE49-F238E27FC236}">
                <a16:creationId xmlns:a16="http://schemas.microsoft.com/office/drawing/2014/main" id="{F76D7952-096C-FFD9-F120-07C2997D3D73}"/>
              </a:ext>
            </a:extLst>
          </p:cNvPr>
          <p:cNvSpPr>
            <a:spLocks noGrp="1"/>
          </p:cNvSpPr>
          <p:nvPr>
            <p:ph type="ftr" sz="quarter" idx="11"/>
          </p:nvPr>
        </p:nvSpPr>
        <p:spPr>
          <a:xfrm>
            <a:off x="1302327" y="6356350"/>
            <a:ext cx="6315956" cy="365125"/>
          </a:xfrm>
        </p:spPr>
        <p:txBody>
          <a:bodyPr/>
          <a:lstStyle/>
          <a:p>
            <a:r>
              <a:rPr lang="en-US" dirty="0"/>
              <a:t>Mr. Anshul Varshney               High Performance computing                   Unit 2</a:t>
            </a:r>
          </a:p>
        </p:txBody>
      </p:sp>
      <p:sp>
        <p:nvSpPr>
          <p:cNvPr id="6" name="Slide Number Placeholder 5">
            <a:extLst>
              <a:ext uri="{FF2B5EF4-FFF2-40B4-BE49-F238E27FC236}">
                <a16:creationId xmlns:a16="http://schemas.microsoft.com/office/drawing/2014/main" id="{1FBC7B08-38B0-DA38-27F9-2D30B5C30CFA}"/>
              </a:ext>
            </a:extLst>
          </p:cNvPr>
          <p:cNvSpPr>
            <a:spLocks noGrp="1"/>
          </p:cNvSpPr>
          <p:nvPr>
            <p:ph type="sldNum" sz="quarter" idx="12"/>
          </p:nvPr>
        </p:nvSpPr>
        <p:spPr/>
        <p:txBody>
          <a:bodyPr/>
          <a:lstStyle/>
          <a:p>
            <a:fld id="{B6F15528-21DE-4FAA-801E-634DDDAF4B2B}" type="slidenum">
              <a:rPr lang="en-US" smtClean="0"/>
              <a:pPr/>
              <a:t>25</a:t>
            </a:fld>
            <a:endParaRPr lang="en-US" dirty="0"/>
          </a:p>
        </p:txBody>
      </p:sp>
    </p:spTree>
    <p:extLst>
      <p:ext uri="{BB962C8B-B14F-4D97-AF65-F5344CB8AC3E}">
        <p14:creationId xmlns:p14="http://schemas.microsoft.com/office/powerpoint/2010/main" val="1269474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77AA9-51F6-FDF5-1240-3A473512A5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C4D96B-4F3B-FE38-8F02-560206AED199}"/>
              </a:ext>
            </a:extLst>
          </p:cNvPr>
          <p:cNvSpPr txBox="1"/>
          <p:nvPr/>
        </p:nvSpPr>
        <p:spPr>
          <a:xfrm>
            <a:off x="229272" y="1541078"/>
            <a:ext cx="8914728" cy="4308872"/>
          </a:xfrm>
          <a:prstGeom prst="rect">
            <a:avLst/>
          </a:prstGeom>
        </p:spPr>
        <p:txBody>
          <a:bodyPr wrap="square" lIns="0" tIns="0" rIns="0" bIns="0">
            <a:spAutoFit/>
          </a:bodyPr>
          <a:lstStyle/>
          <a:p>
            <a:pPr marL="8145" algn="just">
              <a:defRPr/>
            </a:pPr>
            <a:r>
              <a:rPr lang="en-US" sz="2000" dirty="0">
                <a:latin typeface="+mj-lt"/>
                <a:cs typeface="Times New Roman"/>
              </a:rPr>
              <a:t>MIMD machines are broadly categorized into shared-memory MIMD and distributed-memory MIMD based on the way PEs are coupled to the main memory. In the shared memory MIMD model (tightly coupled multiprocessor systems), all the PEs are connected to a single global memory and they all have access to it. The communication between PEs in this model takes place through the shared memory, modification of the data stored in the global memory by one PE is visible to all other PEs. Dominant representative shared memory MIMD systems are Silicon Graphics machines and Sun/IBM’s SMP (Symmetric Multi-Processing).</a:t>
            </a:r>
          </a:p>
          <a:p>
            <a:pPr marL="8145" algn="just">
              <a:defRPr/>
            </a:pPr>
            <a:r>
              <a:rPr lang="en-US" sz="2000" dirty="0">
                <a:latin typeface="+mj-lt"/>
                <a:cs typeface="Times New Roman"/>
              </a:rPr>
              <a:t>The shared-memory MIMD architecture is easier to program but is less tolerant to failures and harder to extend with respect to the distributed memory MIMD model. Failures in a shared-memory MIMD affect the entire system, whereas this is not the case of the distributed model, in which each of the PEs can be easily isolated. Moreover, shared memory MIMD architectures are less likely to scale because the addition of more PEs leads to memory contention.</a:t>
            </a:r>
          </a:p>
        </p:txBody>
      </p:sp>
      <p:pic>
        <p:nvPicPr>
          <p:cNvPr id="5" name="Picture 4" descr="A screenshot of a computer&#10;&#10;Description automatically generated">
            <a:extLst>
              <a:ext uri="{FF2B5EF4-FFF2-40B4-BE49-F238E27FC236}">
                <a16:creationId xmlns:a16="http://schemas.microsoft.com/office/drawing/2014/main" id="{E49100D2-53C6-4703-DC55-E93A9A0F942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ACBDD4F9-06CC-B959-CE22-93CD9095328A}"/>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Multiple-instruction, multiple-data (MIMD) systems</a:t>
            </a:r>
          </a:p>
        </p:txBody>
      </p:sp>
      <p:sp>
        <p:nvSpPr>
          <p:cNvPr id="3" name="Date Placeholder 2">
            <a:extLst>
              <a:ext uri="{FF2B5EF4-FFF2-40B4-BE49-F238E27FC236}">
                <a16:creationId xmlns:a16="http://schemas.microsoft.com/office/drawing/2014/main" id="{AE5874DB-8A36-957F-F2CD-2C50C7E14274}"/>
              </a:ext>
            </a:extLst>
          </p:cNvPr>
          <p:cNvSpPr>
            <a:spLocks noGrp="1"/>
          </p:cNvSpPr>
          <p:nvPr>
            <p:ph type="dt" sz="half" idx="10"/>
          </p:nvPr>
        </p:nvSpPr>
        <p:spPr/>
        <p:txBody>
          <a:bodyPr/>
          <a:lstStyle/>
          <a:p>
            <a:fld id="{B210A75D-20E5-4970-AB2E-314C8EC7033E}" type="datetime1">
              <a:rPr lang="en-US" smtClean="0"/>
              <a:t>7/4/2025</a:t>
            </a:fld>
            <a:endParaRPr lang="en-US" dirty="0"/>
          </a:p>
        </p:txBody>
      </p:sp>
      <p:sp>
        <p:nvSpPr>
          <p:cNvPr id="4" name="Footer Placeholder 3">
            <a:extLst>
              <a:ext uri="{FF2B5EF4-FFF2-40B4-BE49-F238E27FC236}">
                <a16:creationId xmlns:a16="http://schemas.microsoft.com/office/drawing/2014/main" id="{BB7FE5D1-077F-4349-B3D1-9817C1D7E83B}"/>
              </a:ext>
            </a:extLst>
          </p:cNvPr>
          <p:cNvSpPr>
            <a:spLocks noGrp="1"/>
          </p:cNvSpPr>
          <p:nvPr>
            <p:ph type="ftr" sz="quarter" idx="11"/>
          </p:nvPr>
        </p:nvSpPr>
        <p:spPr>
          <a:xfrm>
            <a:off x="1316182" y="6356350"/>
            <a:ext cx="6414654" cy="365125"/>
          </a:xfrm>
        </p:spPr>
        <p:txBody>
          <a:bodyPr/>
          <a:lstStyle/>
          <a:p>
            <a:r>
              <a:rPr lang="en-US"/>
              <a:t>Mr. Anshul Varshney               High Performance computing                   Unit 2</a:t>
            </a:r>
            <a:endParaRPr lang="en-US" dirty="0"/>
          </a:p>
        </p:txBody>
      </p:sp>
      <p:sp>
        <p:nvSpPr>
          <p:cNvPr id="6" name="Slide Number Placeholder 5">
            <a:extLst>
              <a:ext uri="{FF2B5EF4-FFF2-40B4-BE49-F238E27FC236}">
                <a16:creationId xmlns:a16="http://schemas.microsoft.com/office/drawing/2014/main" id="{A30EF516-46BA-8EF6-B058-31D12EF313D8}"/>
              </a:ext>
            </a:extLst>
          </p:cNvPr>
          <p:cNvSpPr>
            <a:spLocks noGrp="1"/>
          </p:cNvSpPr>
          <p:nvPr>
            <p:ph type="sldNum" sz="quarter" idx="12"/>
          </p:nvPr>
        </p:nvSpPr>
        <p:spPr/>
        <p:txBody>
          <a:bodyPr/>
          <a:lstStyle/>
          <a:p>
            <a:fld id="{B6F15528-21DE-4FAA-801E-634DDDAF4B2B}" type="slidenum">
              <a:rPr lang="en-US" smtClean="0"/>
              <a:pPr/>
              <a:t>26</a:t>
            </a:fld>
            <a:endParaRPr lang="en-US" dirty="0"/>
          </a:p>
        </p:txBody>
      </p:sp>
    </p:spTree>
    <p:extLst>
      <p:ext uri="{BB962C8B-B14F-4D97-AF65-F5344CB8AC3E}">
        <p14:creationId xmlns:p14="http://schemas.microsoft.com/office/powerpoint/2010/main" val="1251959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94095-EB50-E04D-D7B4-6C60146A0B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515AF2-BC49-5BB3-838F-80A927A3F9B1}"/>
              </a:ext>
            </a:extLst>
          </p:cNvPr>
          <p:cNvSpPr txBox="1"/>
          <p:nvPr/>
        </p:nvSpPr>
        <p:spPr>
          <a:xfrm>
            <a:off x="190836" y="1568787"/>
            <a:ext cx="8762328" cy="4278094"/>
          </a:xfrm>
          <a:prstGeom prst="rect">
            <a:avLst/>
          </a:prstGeom>
        </p:spPr>
        <p:txBody>
          <a:bodyPr wrap="square" lIns="0" tIns="0" rIns="0" bIns="0">
            <a:spAutoFit/>
          </a:bodyPr>
          <a:lstStyle/>
          <a:p>
            <a:pPr marL="8145" algn="just">
              <a:defRPr/>
            </a:pPr>
            <a:r>
              <a:rPr lang="en-US" sz="2000" dirty="0">
                <a:latin typeface="+mj-lt"/>
                <a:cs typeface="Times New Roman"/>
              </a:rPr>
              <a:t>In the Computer System Design, Memory Hierarchy is an enhancement to organize the memory such that it can minimize the access time. The Memory Hierarchy was developed based on a program behavior known as locality of references (same data or nearby data is likely to be accessed again and again). The figure below clearly demonstrates the different levels of the memory hierarchy.</a:t>
            </a:r>
          </a:p>
          <a:p>
            <a:pPr marL="8145" algn="just">
              <a:defRPr/>
            </a:pPr>
            <a:endParaRPr lang="en-US" sz="2000" dirty="0">
              <a:latin typeface="+mj-lt"/>
              <a:cs typeface="Times New Roman"/>
            </a:endParaRPr>
          </a:p>
          <a:p>
            <a:pPr marL="8145" algn="just">
              <a:defRPr/>
            </a:pPr>
            <a:r>
              <a:rPr lang="en-IN" b="1" dirty="0"/>
              <a:t>Types of Memory Hierarchy</a:t>
            </a:r>
          </a:p>
          <a:p>
            <a:pPr marL="8145" algn="just">
              <a:defRPr/>
            </a:pPr>
            <a:endParaRPr lang="en-US" sz="2000" dirty="0">
              <a:latin typeface="+mj-lt"/>
              <a:cs typeface="Times New Roman"/>
            </a:endParaRPr>
          </a:p>
          <a:p>
            <a:pPr marL="351045" indent="-342900" algn="just">
              <a:buFont typeface="Wingdings" panose="05000000000000000000" pitchFamily="2" charset="2"/>
              <a:buChar char="Ø"/>
              <a:defRPr/>
            </a:pPr>
            <a:r>
              <a:rPr lang="en-US" sz="2000" b="1" dirty="0">
                <a:latin typeface="+mj-lt"/>
                <a:cs typeface="Times New Roman"/>
              </a:rPr>
              <a:t>External Memory or Secondary Memory: </a:t>
            </a:r>
            <a:r>
              <a:rPr lang="en-US" sz="2000" dirty="0">
                <a:latin typeface="+mj-lt"/>
                <a:cs typeface="Times New Roman"/>
              </a:rPr>
              <a:t>Comprising of Magnetic Disk, Optical Disk, and Magnetic Tape i.e. peripheral storage devices which are accessible by the processor via an I/O Module.</a:t>
            </a:r>
          </a:p>
          <a:p>
            <a:pPr marL="351045" indent="-342900" algn="just">
              <a:buFont typeface="Wingdings" panose="05000000000000000000" pitchFamily="2" charset="2"/>
              <a:buChar char="Ø"/>
              <a:defRPr/>
            </a:pPr>
            <a:r>
              <a:rPr lang="en-US" sz="2000" b="1" dirty="0">
                <a:latin typeface="+mj-lt"/>
                <a:cs typeface="Times New Roman"/>
              </a:rPr>
              <a:t>Internal Memory or Primary Memory: </a:t>
            </a:r>
            <a:r>
              <a:rPr lang="en-US" sz="2000" dirty="0">
                <a:latin typeface="+mj-lt"/>
                <a:cs typeface="Times New Roman"/>
              </a:rPr>
              <a:t>Comprising of Main Memory, Cache Memory &amp; CPU registers. This is directly accessible by the processor.</a:t>
            </a:r>
          </a:p>
          <a:p>
            <a:pPr marL="8145" algn="just">
              <a:defRPr/>
            </a:pP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88AD9FC5-3A4F-2CA3-2E44-A654B2D9E85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621357C8-88B5-8912-D858-FA9CD7896B7E}"/>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Memory Hierarchy</a:t>
            </a:r>
          </a:p>
        </p:txBody>
      </p:sp>
      <p:sp>
        <p:nvSpPr>
          <p:cNvPr id="3" name="Date Placeholder 2">
            <a:extLst>
              <a:ext uri="{FF2B5EF4-FFF2-40B4-BE49-F238E27FC236}">
                <a16:creationId xmlns:a16="http://schemas.microsoft.com/office/drawing/2014/main" id="{A9A87E1C-E64C-4A67-352C-F0777F0D0537}"/>
              </a:ext>
            </a:extLst>
          </p:cNvPr>
          <p:cNvSpPr>
            <a:spLocks noGrp="1"/>
          </p:cNvSpPr>
          <p:nvPr>
            <p:ph type="dt" sz="half" idx="10"/>
          </p:nvPr>
        </p:nvSpPr>
        <p:spPr/>
        <p:txBody>
          <a:bodyPr/>
          <a:lstStyle/>
          <a:p>
            <a:fld id="{FFF86C79-4DA9-4744-AABA-2C90318C0675}" type="datetime1">
              <a:rPr lang="en-US" smtClean="0"/>
              <a:t>7/4/2025</a:t>
            </a:fld>
            <a:endParaRPr lang="en-US" dirty="0"/>
          </a:p>
        </p:txBody>
      </p:sp>
      <p:sp>
        <p:nvSpPr>
          <p:cNvPr id="4" name="Footer Placeholder 3">
            <a:extLst>
              <a:ext uri="{FF2B5EF4-FFF2-40B4-BE49-F238E27FC236}">
                <a16:creationId xmlns:a16="http://schemas.microsoft.com/office/drawing/2014/main" id="{459E51F9-916E-6B0E-8B92-828768D2E7BE}"/>
              </a:ext>
            </a:extLst>
          </p:cNvPr>
          <p:cNvSpPr>
            <a:spLocks noGrp="1"/>
          </p:cNvSpPr>
          <p:nvPr>
            <p:ph type="ftr" sz="quarter" idx="11"/>
          </p:nvPr>
        </p:nvSpPr>
        <p:spPr>
          <a:xfrm>
            <a:off x="1302327" y="6356350"/>
            <a:ext cx="6414655" cy="365125"/>
          </a:xfrm>
        </p:spPr>
        <p:txBody>
          <a:bodyPr/>
          <a:lstStyle/>
          <a:p>
            <a:r>
              <a:rPr lang="en-US" dirty="0"/>
              <a:t>Mr. Anshul Varshney               High Performance computing                   Unit 2</a:t>
            </a:r>
          </a:p>
        </p:txBody>
      </p:sp>
      <p:sp>
        <p:nvSpPr>
          <p:cNvPr id="6" name="Slide Number Placeholder 5">
            <a:extLst>
              <a:ext uri="{FF2B5EF4-FFF2-40B4-BE49-F238E27FC236}">
                <a16:creationId xmlns:a16="http://schemas.microsoft.com/office/drawing/2014/main" id="{198543B9-70F9-F419-9186-489A9561565A}"/>
              </a:ext>
            </a:extLst>
          </p:cNvPr>
          <p:cNvSpPr>
            <a:spLocks noGrp="1"/>
          </p:cNvSpPr>
          <p:nvPr>
            <p:ph type="sldNum" sz="quarter" idx="12"/>
          </p:nvPr>
        </p:nvSpPr>
        <p:spPr/>
        <p:txBody>
          <a:bodyPr/>
          <a:lstStyle/>
          <a:p>
            <a:fld id="{B6F15528-21DE-4FAA-801E-634DDDAF4B2B}" type="slidenum">
              <a:rPr lang="en-US" smtClean="0"/>
              <a:pPr/>
              <a:t>27</a:t>
            </a:fld>
            <a:endParaRPr lang="en-US" dirty="0"/>
          </a:p>
        </p:txBody>
      </p:sp>
    </p:spTree>
    <p:extLst>
      <p:ext uri="{BB962C8B-B14F-4D97-AF65-F5344CB8AC3E}">
        <p14:creationId xmlns:p14="http://schemas.microsoft.com/office/powerpoint/2010/main" val="3833988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B9E13-179A-6930-2C36-376E7201A1CB}"/>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225E3DA8-94FC-1DBD-2724-518FAC4D110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8ABAE97-9AFB-A0E3-1091-296F5B0C8549}"/>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t>Memory Hierarchy</a:t>
            </a:r>
          </a:p>
        </p:txBody>
      </p:sp>
      <p:pic>
        <p:nvPicPr>
          <p:cNvPr id="4" name="Picture 3" descr="A diagram of a memory structure&#10;&#10;AI-generated content may be incorrect.">
            <a:extLst>
              <a:ext uri="{FF2B5EF4-FFF2-40B4-BE49-F238E27FC236}">
                <a16:creationId xmlns:a16="http://schemas.microsoft.com/office/drawing/2014/main" id="{DBC08094-8B17-4B13-BD5F-FC173B3592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018" y="1461863"/>
            <a:ext cx="7813964" cy="4232355"/>
          </a:xfrm>
          <a:prstGeom prst="rect">
            <a:avLst/>
          </a:prstGeom>
        </p:spPr>
      </p:pic>
      <p:sp>
        <p:nvSpPr>
          <p:cNvPr id="2" name="Date Placeholder 1">
            <a:extLst>
              <a:ext uri="{FF2B5EF4-FFF2-40B4-BE49-F238E27FC236}">
                <a16:creationId xmlns:a16="http://schemas.microsoft.com/office/drawing/2014/main" id="{F2CE7309-C493-6DD9-A190-8475358E21DA}"/>
              </a:ext>
            </a:extLst>
          </p:cNvPr>
          <p:cNvSpPr>
            <a:spLocks noGrp="1"/>
          </p:cNvSpPr>
          <p:nvPr>
            <p:ph type="dt" sz="half" idx="10"/>
          </p:nvPr>
        </p:nvSpPr>
        <p:spPr/>
        <p:txBody>
          <a:bodyPr/>
          <a:lstStyle/>
          <a:p>
            <a:fld id="{A1DFA06A-2245-4145-8128-2A25088960EA}" type="datetime1">
              <a:rPr lang="en-US" smtClean="0"/>
              <a:t>7/4/2025</a:t>
            </a:fld>
            <a:endParaRPr lang="en-US" dirty="0"/>
          </a:p>
        </p:txBody>
      </p:sp>
      <p:sp>
        <p:nvSpPr>
          <p:cNvPr id="3" name="Footer Placeholder 2">
            <a:extLst>
              <a:ext uri="{FF2B5EF4-FFF2-40B4-BE49-F238E27FC236}">
                <a16:creationId xmlns:a16="http://schemas.microsoft.com/office/drawing/2014/main" id="{CE64F688-7EE3-8AC5-32FE-0CDBC3872507}"/>
              </a:ext>
            </a:extLst>
          </p:cNvPr>
          <p:cNvSpPr>
            <a:spLocks noGrp="1"/>
          </p:cNvSpPr>
          <p:nvPr>
            <p:ph type="ftr" sz="quarter" idx="11"/>
          </p:nvPr>
        </p:nvSpPr>
        <p:spPr>
          <a:xfrm>
            <a:off x="1316182" y="6356350"/>
            <a:ext cx="6719454" cy="365125"/>
          </a:xfrm>
        </p:spPr>
        <p:txBody>
          <a:bodyPr/>
          <a:lstStyle/>
          <a:p>
            <a:r>
              <a:rPr lang="en-US" dirty="0"/>
              <a:t>Mr. Anshul Varshney               High Performance computing                   Unit 2</a:t>
            </a:r>
          </a:p>
        </p:txBody>
      </p:sp>
      <p:sp>
        <p:nvSpPr>
          <p:cNvPr id="6" name="Slide Number Placeholder 5">
            <a:extLst>
              <a:ext uri="{FF2B5EF4-FFF2-40B4-BE49-F238E27FC236}">
                <a16:creationId xmlns:a16="http://schemas.microsoft.com/office/drawing/2014/main" id="{C62F7A4A-B09E-6825-FF7D-AE49E6935D83}"/>
              </a:ext>
            </a:extLst>
          </p:cNvPr>
          <p:cNvSpPr>
            <a:spLocks noGrp="1"/>
          </p:cNvSpPr>
          <p:nvPr>
            <p:ph type="sldNum" sz="quarter" idx="12"/>
          </p:nvPr>
        </p:nvSpPr>
        <p:spPr/>
        <p:txBody>
          <a:bodyPr/>
          <a:lstStyle/>
          <a:p>
            <a:fld id="{B6F15528-21DE-4FAA-801E-634DDDAF4B2B}" type="slidenum">
              <a:rPr lang="en-US" smtClean="0"/>
              <a:pPr/>
              <a:t>28</a:t>
            </a:fld>
            <a:endParaRPr lang="en-US" dirty="0"/>
          </a:p>
        </p:txBody>
      </p:sp>
    </p:spTree>
    <p:extLst>
      <p:ext uri="{BB962C8B-B14F-4D97-AF65-F5344CB8AC3E}">
        <p14:creationId xmlns:p14="http://schemas.microsoft.com/office/powerpoint/2010/main" val="1625181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0B4FFED-8B80-A688-80B9-DFB6AA5D3D4C}"/>
              </a:ext>
            </a:extLst>
          </p:cNvPr>
          <p:cNvSpPr txBox="1"/>
          <p:nvPr/>
        </p:nvSpPr>
        <p:spPr>
          <a:xfrm>
            <a:off x="215779" y="893638"/>
            <a:ext cx="8712442" cy="5081519"/>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b="1" u="sng" dirty="0">
                <a:latin typeface="+mj-lt"/>
                <a:cs typeface="Times New Roman" panose="02020603050405020304" pitchFamily="18" charset="0"/>
              </a:rPr>
              <a:t>Memory Hierarchy Design</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Registers:</a:t>
            </a:r>
            <a:r>
              <a:rPr lang="en-US" altLang="en-US" dirty="0">
                <a:latin typeface="+mj-lt"/>
                <a:cs typeface="Times New Roman" panose="02020603050405020304" pitchFamily="18" charset="0"/>
              </a:rPr>
              <a:t> Registers are small, high-speed memory units located in the CPU.</a:t>
            </a:r>
          </a:p>
          <a:p>
            <a:pPr marL="298450" indent="-285750" algn="just">
              <a:lnSpc>
                <a:spcPct val="150000"/>
              </a:lnSpc>
              <a:buFont typeface="Wingdings" panose="05000000000000000000" pitchFamily="2" charset="2"/>
              <a:buChar char="Ø"/>
            </a:pPr>
            <a:r>
              <a:rPr lang="en-IN" b="1" dirty="0"/>
              <a:t>Cache Memory: </a:t>
            </a:r>
            <a:r>
              <a:rPr lang="en-US" dirty="0"/>
              <a:t>Cache memory is a small, fast memory unit located close to the CPU.</a:t>
            </a:r>
          </a:p>
          <a:p>
            <a:pPr marL="298450" indent="-285750" algn="just">
              <a:lnSpc>
                <a:spcPct val="150000"/>
              </a:lnSpc>
              <a:buFont typeface="Wingdings" panose="05000000000000000000" pitchFamily="2" charset="2"/>
              <a:buChar char="Ø"/>
            </a:pPr>
            <a:r>
              <a:rPr lang="en-IN" b="1" dirty="0"/>
              <a:t>Main Memory</a:t>
            </a:r>
            <a:r>
              <a:rPr lang="en-IN" dirty="0"/>
              <a:t>: </a:t>
            </a:r>
            <a:r>
              <a:rPr lang="en-US" dirty="0"/>
              <a:t>Main memory, also known as RAM (Random Access Memory), is the primary memory of a computer system</a:t>
            </a:r>
            <a:r>
              <a:rPr lang="en-US" b="1" dirty="0"/>
              <a:t>.</a:t>
            </a:r>
          </a:p>
          <a:p>
            <a:pPr lvl="1" indent="0" algn="just">
              <a:lnSpc>
                <a:spcPct val="150000"/>
              </a:lnSpc>
            </a:pPr>
            <a:r>
              <a:rPr lang="en-IN" b="1" dirty="0"/>
              <a:t>Types of Main Memory</a:t>
            </a:r>
          </a:p>
          <a:p>
            <a:pPr marL="1028700" lvl="1" algn="just">
              <a:buFont typeface="Wingdings" panose="05000000000000000000" pitchFamily="2" charset="2"/>
              <a:buChar char="v"/>
            </a:pPr>
            <a:r>
              <a:rPr lang="en-IN" b="1" dirty="0"/>
              <a:t>Static RAM: </a:t>
            </a:r>
            <a:r>
              <a:rPr lang="en-US" dirty="0"/>
              <a:t>Static RAM stores the binary information in flip flops and information remains valid until power is supplied.</a:t>
            </a:r>
          </a:p>
          <a:p>
            <a:pPr marL="1028700" lvl="1" algn="just">
              <a:buFont typeface="Wingdings" panose="05000000000000000000" pitchFamily="2" charset="2"/>
              <a:buChar char="v"/>
            </a:pPr>
            <a:r>
              <a:rPr lang="en-IN" b="1" dirty="0"/>
              <a:t>Dynamic RAM:</a:t>
            </a:r>
            <a:r>
              <a:rPr lang="en-US" dirty="0"/>
              <a:t>It stores the binary information as a charge on the capacitor. It requires refreshing circuitry to maintain the charge on the capacitors after a few milliseconds.</a:t>
            </a:r>
            <a:endParaRPr lang="en-IN" dirty="0"/>
          </a:p>
          <a:p>
            <a:pPr marL="298450" indent="-285750" algn="just">
              <a:lnSpc>
                <a:spcPct val="150000"/>
              </a:lnSpc>
              <a:buFont typeface="Wingdings" panose="05000000000000000000" pitchFamily="2" charset="2"/>
              <a:buChar char="Ø"/>
            </a:pPr>
            <a:r>
              <a:rPr lang="en-IN" b="1" dirty="0"/>
              <a:t>Secondary Storage: </a:t>
            </a:r>
            <a:r>
              <a:rPr lang="en-US" dirty="0"/>
              <a:t>Secondary storage, such as hard disk drives (HDD) and solid-state drives (SSD) , is a non-volatile memory unit that has a larger storage capacity than main memory.</a:t>
            </a:r>
            <a:endParaRPr lang="en-IN" dirty="0"/>
          </a:p>
        </p:txBody>
      </p:sp>
      <p:pic>
        <p:nvPicPr>
          <p:cNvPr id="3" name="Picture 2" descr="A screenshot of a computer&#10;&#10;Description automatically generated">
            <a:extLst>
              <a:ext uri="{FF2B5EF4-FFF2-40B4-BE49-F238E27FC236}">
                <a16:creationId xmlns:a16="http://schemas.microsoft.com/office/drawing/2014/main" id="{3C2807F6-8DEA-8E4F-806C-AE684B24049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6A27094F-011B-DC77-D27E-F64B2F78EF70}"/>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Memory Hierarchy Design</a:t>
            </a:r>
          </a:p>
        </p:txBody>
      </p:sp>
      <p:sp>
        <p:nvSpPr>
          <p:cNvPr id="5" name="Date Placeholder 4">
            <a:extLst>
              <a:ext uri="{FF2B5EF4-FFF2-40B4-BE49-F238E27FC236}">
                <a16:creationId xmlns:a16="http://schemas.microsoft.com/office/drawing/2014/main" id="{57E88520-CD19-57B5-2A0A-790676F41311}"/>
              </a:ext>
            </a:extLst>
          </p:cNvPr>
          <p:cNvSpPr>
            <a:spLocks noGrp="1"/>
          </p:cNvSpPr>
          <p:nvPr>
            <p:ph type="dt" sz="half" idx="10"/>
          </p:nvPr>
        </p:nvSpPr>
        <p:spPr/>
        <p:txBody>
          <a:bodyPr/>
          <a:lstStyle/>
          <a:p>
            <a:fld id="{B31F3F73-DF18-4427-936C-C953AD12F895}" type="datetime1">
              <a:rPr lang="en-US" smtClean="0"/>
              <a:t>7/4/2025</a:t>
            </a:fld>
            <a:endParaRPr lang="en-US" dirty="0"/>
          </a:p>
        </p:txBody>
      </p:sp>
      <p:sp>
        <p:nvSpPr>
          <p:cNvPr id="6" name="Footer Placeholder 5">
            <a:extLst>
              <a:ext uri="{FF2B5EF4-FFF2-40B4-BE49-F238E27FC236}">
                <a16:creationId xmlns:a16="http://schemas.microsoft.com/office/drawing/2014/main" id="{0FA715B6-463F-5880-4D29-88731D95EA44}"/>
              </a:ext>
            </a:extLst>
          </p:cNvPr>
          <p:cNvSpPr>
            <a:spLocks noGrp="1"/>
          </p:cNvSpPr>
          <p:nvPr>
            <p:ph type="ftr" sz="quarter" idx="11"/>
          </p:nvPr>
        </p:nvSpPr>
        <p:spPr>
          <a:xfrm>
            <a:off x="1642209" y="6356350"/>
            <a:ext cx="6157899"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7A4BFC55-E78A-B5D1-9754-91B68AC848AF}"/>
              </a:ext>
            </a:extLst>
          </p:cNvPr>
          <p:cNvSpPr>
            <a:spLocks noGrp="1"/>
          </p:cNvSpPr>
          <p:nvPr>
            <p:ph type="sldNum" sz="quarter" idx="12"/>
          </p:nvPr>
        </p:nvSpPr>
        <p:spPr/>
        <p:txBody>
          <a:bodyPr/>
          <a:lstStyle/>
          <a:p>
            <a:fld id="{B6F15528-21DE-4FAA-801E-634DDDAF4B2B}"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9632-C7FE-8056-2E8D-974979180E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576B79-49D7-C0E3-3FE0-83E1F5793764}"/>
              </a:ext>
            </a:extLst>
          </p:cNvPr>
          <p:cNvSpPr txBox="1"/>
          <p:nvPr/>
        </p:nvSpPr>
        <p:spPr>
          <a:xfrm>
            <a:off x="215779" y="893638"/>
            <a:ext cx="8712442" cy="5081519"/>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b="1" u="sng" dirty="0" err="1">
                <a:latin typeface="+mj-lt"/>
                <a:cs typeface="Times New Roman" panose="02020603050405020304" pitchFamily="18" charset="0"/>
              </a:rPr>
              <a:t>Cont</a:t>
            </a:r>
            <a:r>
              <a:rPr lang="en-US" altLang="en-US" b="1" u="sng" dirty="0">
                <a:latin typeface="+mj-lt"/>
                <a:cs typeface="Times New Roman" panose="02020603050405020304" pitchFamily="18" charset="0"/>
              </a:rPr>
              <a:t>……</a:t>
            </a:r>
          </a:p>
          <a:p>
            <a:pPr marL="298450" indent="-285750" algn="just">
              <a:lnSpc>
                <a:spcPct val="150000"/>
              </a:lnSpc>
              <a:buFont typeface="Wingdings" panose="05000000000000000000" pitchFamily="2" charset="2"/>
              <a:buChar char="Ø"/>
            </a:pPr>
            <a:r>
              <a:rPr lang="en-IN" b="1" dirty="0"/>
              <a:t> Magnetic Disk: </a:t>
            </a:r>
            <a:r>
              <a:rPr lang="en-US" dirty="0"/>
              <a:t>Magnetic Disks are simply circular plates that are fabricated with either a metal or a plastic or a magnetized material.</a:t>
            </a:r>
            <a:endParaRPr lang="en-IN" dirty="0"/>
          </a:p>
          <a:p>
            <a:pPr marL="298450" indent="-285750" algn="just">
              <a:lnSpc>
                <a:spcPct val="150000"/>
              </a:lnSpc>
              <a:buFont typeface="Wingdings" panose="05000000000000000000" pitchFamily="2" charset="2"/>
              <a:buChar char="Ø"/>
            </a:pPr>
            <a:r>
              <a:rPr lang="en-US" altLang="en-US" dirty="0">
                <a:latin typeface="+mj-lt"/>
                <a:cs typeface="Times New Roman" panose="02020603050405020304" pitchFamily="18" charset="0"/>
              </a:rPr>
              <a:t> </a:t>
            </a:r>
            <a:r>
              <a:rPr lang="en-IN" b="1" dirty="0"/>
              <a:t>Magnetic Tape: </a:t>
            </a:r>
            <a:r>
              <a:rPr lang="en-US" dirty="0"/>
              <a:t>Magnetic Tape is simply a magnetic recording device that is covered with a plastic film. Magnetic Tape is generally used for the backup of data. </a:t>
            </a:r>
          </a:p>
          <a:p>
            <a:pPr algn="just">
              <a:lnSpc>
                <a:spcPct val="150000"/>
              </a:lnSpc>
            </a:pPr>
            <a:r>
              <a:rPr lang="en-US" b="1" dirty="0"/>
              <a:t>Characteristics of Memory Hierarchy</a:t>
            </a:r>
          </a:p>
          <a:p>
            <a:pPr marL="298450" indent="-285750" algn="just">
              <a:buFont typeface="Wingdings" panose="05000000000000000000" pitchFamily="2" charset="2"/>
              <a:buChar char="Ø"/>
            </a:pPr>
            <a:r>
              <a:rPr lang="en-US" dirty="0"/>
              <a:t>Capacity: It is the global volume of information the memory can store. As we move from top to bottom in the Hierarchy, the capacity increases.</a:t>
            </a:r>
          </a:p>
          <a:p>
            <a:pPr marL="298450" indent="-285750" algn="just">
              <a:buFont typeface="Wingdings" panose="05000000000000000000" pitchFamily="2" charset="2"/>
              <a:buChar char="Ø"/>
            </a:pPr>
            <a:r>
              <a:rPr lang="en-US" dirty="0"/>
              <a:t>Access Time: It is the time interval between the read/write request and the availability of the data. As we move from top to bottom in the Hierarchy, the access time increases.</a:t>
            </a:r>
          </a:p>
          <a:p>
            <a:pPr marL="298450" indent="-285750" algn="just">
              <a:buFont typeface="Wingdings" panose="05000000000000000000" pitchFamily="2" charset="2"/>
              <a:buChar char="Ø"/>
            </a:pPr>
            <a:r>
              <a:rPr lang="en-US" dirty="0"/>
              <a:t>Performance: The Memory Hierarch design ensures that frequently accessed data is stored in faster memory to improve system performance.</a:t>
            </a:r>
          </a:p>
          <a:p>
            <a:pPr marL="298450" indent="-285750" algn="just">
              <a:buFont typeface="Wingdings" panose="05000000000000000000" pitchFamily="2" charset="2"/>
              <a:buChar char="Ø"/>
            </a:pPr>
            <a:r>
              <a:rPr lang="en-US" dirty="0"/>
              <a:t>Cost Per Bit: As we move from bottom to top in the Hierarchy, the cost per bit increases i.e. Internal Memory is costlier than External Memory.</a:t>
            </a:r>
            <a:endParaRPr lang="en-IN" dirty="0"/>
          </a:p>
          <a:p>
            <a:pPr marL="298450" indent="-285750" algn="just">
              <a:lnSpc>
                <a:spcPct val="150000"/>
              </a:lnSpc>
              <a:buFont typeface="Wingdings" panose="05000000000000000000" pitchFamily="2" charset="2"/>
              <a:buChar char="Ø"/>
            </a:pPr>
            <a:endParaRPr lang="en-IN" b="1" dirty="0"/>
          </a:p>
        </p:txBody>
      </p:sp>
      <p:pic>
        <p:nvPicPr>
          <p:cNvPr id="3" name="Picture 2" descr="A screenshot of a computer&#10;&#10;Description automatically generated">
            <a:extLst>
              <a:ext uri="{FF2B5EF4-FFF2-40B4-BE49-F238E27FC236}">
                <a16:creationId xmlns:a16="http://schemas.microsoft.com/office/drawing/2014/main" id="{7594501B-16C1-056F-E692-1C960AA9E16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CB5CEE68-D3D0-C346-1169-C66E392058D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Memory Hierarchy Design</a:t>
            </a:r>
          </a:p>
        </p:txBody>
      </p:sp>
      <p:sp>
        <p:nvSpPr>
          <p:cNvPr id="5" name="Date Placeholder 4">
            <a:extLst>
              <a:ext uri="{FF2B5EF4-FFF2-40B4-BE49-F238E27FC236}">
                <a16:creationId xmlns:a16="http://schemas.microsoft.com/office/drawing/2014/main" id="{F65B15FE-B239-35B7-2915-8CEEFF03E8DA}"/>
              </a:ext>
            </a:extLst>
          </p:cNvPr>
          <p:cNvSpPr>
            <a:spLocks noGrp="1"/>
          </p:cNvSpPr>
          <p:nvPr>
            <p:ph type="dt" sz="half" idx="10"/>
          </p:nvPr>
        </p:nvSpPr>
        <p:spPr/>
        <p:txBody>
          <a:bodyPr/>
          <a:lstStyle/>
          <a:p>
            <a:fld id="{65220C87-2D19-49E2-B7F7-AE95164015F7}" type="datetime1">
              <a:rPr lang="en-US" smtClean="0"/>
              <a:t>7/4/2025</a:t>
            </a:fld>
            <a:endParaRPr lang="en-US" dirty="0"/>
          </a:p>
        </p:txBody>
      </p:sp>
      <p:sp>
        <p:nvSpPr>
          <p:cNvPr id="6" name="Footer Placeholder 5">
            <a:extLst>
              <a:ext uri="{FF2B5EF4-FFF2-40B4-BE49-F238E27FC236}">
                <a16:creationId xmlns:a16="http://schemas.microsoft.com/office/drawing/2014/main" id="{9A196A51-124F-6D3A-DCE8-2637FCDD2C18}"/>
              </a:ext>
            </a:extLst>
          </p:cNvPr>
          <p:cNvSpPr>
            <a:spLocks noGrp="1"/>
          </p:cNvSpPr>
          <p:nvPr>
            <p:ph type="ftr" sz="quarter" idx="11"/>
          </p:nvPr>
        </p:nvSpPr>
        <p:spPr>
          <a:xfrm>
            <a:off x="1496291" y="6356350"/>
            <a:ext cx="6289963"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AE113DFB-88A1-36FA-7833-94E51FC33346}"/>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Tree>
    <p:extLst>
      <p:ext uri="{BB962C8B-B14F-4D97-AF65-F5344CB8AC3E}">
        <p14:creationId xmlns:p14="http://schemas.microsoft.com/office/powerpoint/2010/main" val="4169990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C5D6-168C-FF77-6ED8-317AE8B760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50657A-51B8-7ED7-4055-2292CCC8D261}"/>
              </a:ext>
            </a:extLst>
          </p:cNvPr>
          <p:cNvSpPr txBox="1"/>
          <p:nvPr/>
        </p:nvSpPr>
        <p:spPr>
          <a:xfrm>
            <a:off x="354842" y="937887"/>
            <a:ext cx="8595193" cy="494302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dirty="0">
                <a:cs typeface="Times New Roman" panose="02020603050405020304" pitchFamily="18" charset="0"/>
              </a:rPr>
              <a:t>Computer software was written conventionally for serial computing. This meant that to solve a problem, an algorithm divides the problem into smaller instructions. These discrete instructions are then executed on the Central Processing Unit of a computer one by one. Only after one instruction is finished, next one starts. </a:t>
            </a:r>
          </a:p>
          <a:p>
            <a:pPr algn="just">
              <a:lnSpc>
                <a:spcPct val="150000"/>
              </a:lnSpc>
            </a:pPr>
            <a:r>
              <a:rPr lang="en-US" altLang="en-US" dirty="0">
                <a:latin typeface="+mj-lt"/>
                <a:cs typeface="Times New Roman" panose="02020603050405020304" pitchFamily="18" charset="0"/>
              </a:rPr>
              <a:t>It is the use of multiple processing elements simultaneously for solving any problem. Problems are broken down into instructions and are solved concurrently as each resource that has been applied to work is working at the same time. </a:t>
            </a:r>
          </a:p>
          <a:p>
            <a:pPr algn="just">
              <a:lnSpc>
                <a:spcPct val="150000"/>
              </a:lnSpc>
            </a:pPr>
            <a:r>
              <a:rPr lang="en-US" altLang="en-US" b="1" dirty="0">
                <a:latin typeface="+mj-lt"/>
                <a:cs typeface="Times New Roman" panose="02020603050405020304" pitchFamily="18" charset="0"/>
              </a:rPr>
              <a:t>Types of Parallelism: </a:t>
            </a:r>
          </a:p>
          <a:p>
            <a:pPr marL="298450" indent="-285750" algn="just">
              <a:lnSpc>
                <a:spcPct val="150000"/>
              </a:lnSpc>
              <a:buFont typeface="Wingdings" panose="05000000000000000000" pitchFamily="2" charset="2"/>
              <a:buChar char="Ø"/>
            </a:pPr>
            <a:r>
              <a:rPr lang="en-IN" b="1" dirty="0"/>
              <a:t>Data-level parallelism (DLP) </a:t>
            </a:r>
          </a:p>
          <a:p>
            <a:pPr marL="298450" indent="-285750" algn="just">
              <a:lnSpc>
                <a:spcPct val="150000"/>
              </a:lnSpc>
              <a:buFont typeface="Wingdings" panose="05000000000000000000" pitchFamily="2" charset="2"/>
              <a:buChar char="Ø"/>
            </a:pPr>
            <a:r>
              <a:rPr lang="en-IN" b="1" dirty="0"/>
              <a:t>Task Parallelism</a:t>
            </a:r>
          </a:p>
          <a:p>
            <a:pPr marL="298450" indent="-285750" algn="just">
              <a:lnSpc>
                <a:spcPct val="150000"/>
              </a:lnSpc>
              <a:buFont typeface="Wingdings" panose="05000000000000000000" pitchFamily="2" charset="2"/>
              <a:buChar char="Ø"/>
            </a:pPr>
            <a:r>
              <a:rPr lang="en-IN" b="1" dirty="0"/>
              <a:t>Bit-level parallelism</a:t>
            </a:r>
          </a:p>
          <a:p>
            <a:pPr marL="298450" indent="-285750" algn="just">
              <a:lnSpc>
                <a:spcPct val="150000"/>
              </a:lnSpc>
              <a:buFont typeface="Wingdings" panose="05000000000000000000" pitchFamily="2" charset="2"/>
              <a:buChar char="Ø"/>
            </a:pPr>
            <a:r>
              <a:rPr lang="en-IN" b="1" dirty="0"/>
              <a:t>Instruction-level parallelism</a:t>
            </a:r>
            <a:r>
              <a:rPr lang="en-IN" dirty="0"/>
              <a:t> </a:t>
            </a:r>
            <a:endParaRPr lang="en-US" altLang="en-US" b="1"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F7CCAF54-2E50-B460-79F6-0BBD7D28C59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461FA6F0-0472-F55A-EA36-92D7504B3142}"/>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Introduction to Parallel Computing</a:t>
            </a:r>
          </a:p>
        </p:txBody>
      </p:sp>
      <p:sp>
        <p:nvSpPr>
          <p:cNvPr id="5" name="Date Placeholder 4">
            <a:extLst>
              <a:ext uri="{FF2B5EF4-FFF2-40B4-BE49-F238E27FC236}">
                <a16:creationId xmlns:a16="http://schemas.microsoft.com/office/drawing/2014/main" id="{2677B653-F8E1-99E2-7AFB-EBC34782A601}"/>
              </a:ext>
            </a:extLst>
          </p:cNvPr>
          <p:cNvSpPr>
            <a:spLocks noGrp="1"/>
          </p:cNvSpPr>
          <p:nvPr>
            <p:ph type="dt" sz="half" idx="10"/>
          </p:nvPr>
        </p:nvSpPr>
        <p:spPr/>
        <p:txBody>
          <a:bodyPr/>
          <a:lstStyle/>
          <a:p>
            <a:fld id="{7D772F6F-64B5-4E6C-A554-8339A255856E}" type="datetime1">
              <a:rPr lang="en-US" smtClean="0"/>
              <a:t>7/4/2025</a:t>
            </a:fld>
            <a:endParaRPr lang="en-US" dirty="0"/>
          </a:p>
        </p:txBody>
      </p:sp>
      <p:sp>
        <p:nvSpPr>
          <p:cNvPr id="6" name="Footer Placeholder 5">
            <a:extLst>
              <a:ext uri="{FF2B5EF4-FFF2-40B4-BE49-F238E27FC236}">
                <a16:creationId xmlns:a16="http://schemas.microsoft.com/office/drawing/2014/main" id="{A182F380-FAC2-1A27-116D-CE1684B695FF}"/>
              </a:ext>
            </a:extLst>
          </p:cNvPr>
          <p:cNvSpPr>
            <a:spLocks noGrp="1"/>
          </p:cNvSpPr>
          <p:nvPr>
            <p:ph type="ftr" sz="quarter" idx="11"/>
          </p:nvPr>
        </p:nvSpPr>
        <p:spPr>
          <a:xfrm>
            <a:off x="1749345" y="6356350"/>
            <a:ext cx="5939927"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C9423623-FFEF-675F-FA62-B782C11EC50D}"/>
              </a:ext>
            </a:extLst>
          </p:cNvPr>
          <p:cNvSpPr>
            <a:spLocks noGrp="1"/>
          </p:cNvSpPr>
          <p:nvPr>
            <p:ph type="sldNum" sz="quarter" idx="12"/>
          </p:nvPr>
        </p:nvSpPr>
        <p:spPr/>
        <p:txBody>
          <a:bodyPr/>
          <a:lstStyle/>
          <a:p>
            <a:fld id="{B6F15528-21DE-4FAA-801E-634DDDAF4B2B}" type="slidenum">
              <a:rPr lang="en-US" smtClean="0"/>
              <a:pPr/>
              <a:t>31</a:t>
            </a:fld>
            <a:endParaRPr lang="en-US" dirty="0"/>
          </a:p>
        </p:txBody>
      </p:sp>
    </p:spTree>
    <p:extLst>
      <p:ext uri="{BB962C8B-B14F-4D97-AF65-F5344CB8AC3E}">
        <p14:creationId xmlns:p14="http://schemas.microsoft.com/office/powerpoint/2010/main" val="2577249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CEB1C3E-027D-1DE4-5EF3-4153526D6FCA}"/>
              </a:ext>
            </a:extLst>
          </p:cNvPr>
          <p:cNvSpPr txBox="1"/>
          <p:nvPr/>
        </p:nvSpPr>
        <p:spPr>
          <a:xfrm>
            <a:off x="354842" y="937887"/>
            <a:ext cx="8434315" cy="245003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Data parallelism is a parallel computing paradigm in which a large task is divided into smaller, independent, simultaneously processed subtasks. Via this approach, different processors or computing units perform the same operation on multiple pieces of data at the same time. The primary goal of data parallelism is to improve computational efficiency and speed.</a:t>
            </a:r>
          </a:p>
          <a:p>
            <a:pPr algn="just">
              <a:lnSpc>
                <a:spcPct val="150000"/>
              </a:lnSpc>
            </a:pP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667E17AC-2D66-A494-4059-0638AB64B2F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5CB82C0-02A1-0C16-5B53-683F380164AC}"/>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Data Parallelism</a:t>
            </a:r>
          </a:p>
        </p:txBody>
      </p:sp>
      <p:pic>
        <p:nvPicPr>
          <p:cNvPr id="6" name="Picture 5" descr="A diagram of a data parallelism&#10;&#10;AI-generated content may be incorrect.">
            <a:extLst>
              <a:ext uri="{FF2B5EF4-FFF2-40B4-BE49-F238E27FC236}">
                <a16:creationId xmlns:a16="http://schemas.microsoft.com/office/drawing/2014/main" id="{7356799A-9AD5-9D54-1F1B-A985AA4D9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9346" y="2396403"/>
            <a:ext cx="6006555" cy="4142509"/>
          </a:xfrm>
          <a:prstGeom prst="rect">
            <a:avLst/>
          </a:prstGeom>
        </p:spPr>
      </p:pic>
      <p:sp>
        <p:nvSpPr>
          <p:cNvPr id="5" name="Date Placeholder 4">
            <a:extLst>
              <a:ext uri="{FF2B5EF4-FFF2-40B4-BE49-F238E27FC236}">
                <a16:creationId xmlns:a16="http://schemas.microsoft.com/office/drawing/2014/main" id="{6956A2AF-9DBA-FCAD-85CE-00BE91B8D62A}"/>
              </a:ext>
            </a:extLst>
          </p:cNvPr>
          <p:cNvSpPr>
            <a:spLocks noGrp="1"/>
          </p:cNvSpPr>
          <p:nvPr>
            <p:ph type="dt" sz="half" idx="10"/>
          </p:nvPr>
        </p:nvSpPr>
        <p:spPr/>
        <p:txBody>
          <a:bodyPr/>
          <a:lstStyle/>
          <a:p>
            <a:fld id="{F9E7586E-A92E-4945-A4C6-E91279A8CC65}" type="datetime1">
              <a:rPr lang="en-US" smtClean="0"/>
              <a:t>7/4/2025</a:t>
            </a:fld>
            <a:endParaRPr lang="en-US" dirty="0"/>
          </a:p>
        </p:txBody>
      </p:sp>
      <p:sp>
        <p:nvSpPr>
          <p:cNvPr id="7" name="Footer Placeholder 6">
            <a:extLst>
              <a:ext uri="{FF2B5EF4-FFF2-40B4-BE49-F238E27FC236}">
                <a16:creationId xmlns:a16="http://schemas.microsoft.com/office/drawing/2014/main" id="{10ED10A7-203D-3C1F-3BF7-574313A1B609}"/>
              </a:ext>
            </a:extLst>
          </p:cNvPr>
          <p:cNvSpPr>
            <a:spLocks noGrp="1"/>
          </p:cNvSpPr>
          <p:nvPr>
            <p:ph type="ftr" sz="quarter" idx="11"/>
          </p:nvPr>
        </p:nvSpPr>
        <p:spPr>
          <a:xfrm>
            <a:off x="1388099" y="6356350"/>
            <a:ext cx="6508992"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83E0FB13-E9CA-C83C-4CFD-8F968A3A3BDE}"/>
              </a:ext>
            </a:extLst>
          </p:cNvPr>
          <p:cNvSpPr>
            <a:spLocks noGrp="1"/>
          </p:cNvSpPr>
          <p:nvPr>
            <p:ph type="sldNum" sz="quarter" idx="12"/>
          </p:nvPr>
        </p:nvSpPr>
        <p:spPr/>
        <p:txBody>
          <a:bodyPr/>
          <a:lstStyle/>
          <a:p>
            <a:fld id="{B6F15528-21DE-4FAA-801E-634DDDAF4B2B}"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9BEA-589B-2833-9DE9-61297F5FB0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DA8E86-116D-F9F3-D2DD-68E9B6E01D48}"/>
              </a:ext>
            </a:extLst>
          </p:cNvPr>
          <p:cNvSpPr txBox="1"/>
          <p:nvPr/>
        </p:nvSpPr>
        <p:spPr>
          <a:xfrm>
            <a:off x="354843" y="937887"/>
            <a:ext cx="8636758" cy="245003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Task Parallelism means concurrent execution of the different task on multiple computing cores.</a:t>
            </a:r>
          </a:p>
          <a:p>
            <a:pPr algn="just">
              <a:lnSpc>
                <a:spcPct val="150000"/>
              </a:lnSpc>
            </a:pPr>
            <a:r>
              <a:rPr lang="en-US" altLang="en-US" dirty="0">
                <a:latin typeface="+mj-lt"/>
                <a:cs typeface="Times New Roman" panose="02020603050405020304" pitchFamily="18" charset="0"/>
              </a:rPr>
              <a:t>Consider again our example above, an example of task parallelism might involve two threads, each performing a unique statistical operation on the array of elements. Again The threads are operating in parallel on separate computing cores, but each is performing a unique operation.</a:t>
            </a:r>
          </a:p>
        </p:txBody>
      </p:sp>
      <p:pic>
        <p:nvPicPr>
          <p:cNvPr id="3" name="Picture 2" descr="A screenshot of a computer&#10;&#10;Description automatically generated">
            <a:extLst>
              <a:ext uri="{FF2B5EF4-FFF2-40B4-BE49-F238E27FC236}">
                <a16:creationId xmlns:a16="http://schemas.microsoft.com/office/drawing/2014/main" id="{17459F89-F1D6-5862-65C7-BBDECDDC41C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2A03FF2F-9001-0FC8-2C13-0E452CC4D650}"/>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Task Parallelism</a:t>
            </a:r>
          </a:p>
        </p:txBody>
      </p:sp>
      <p:pic>
        <p:nvPicPr>
          <p:cNvPr id="7" name="Picture 6" descr="A diagram of a task&#10;&#10;AI-generated content may be incorrect.">
            <a:extLst>
              <a:ext uri="{FF2B5EF4-FFF2-40B4-BE49-F238E27FC236}">
                <a16:creationId xmlns:a16="http://schemas.microsoft.com/office/drawing/2014/main" id="{B242BDFC-2B91-E56B-808D-348994150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8722" y="2937163"/>
            <a:ext cx="6006555" cy="3920837"/>
          </a:xfrm>
          <a:prstGeom prst="rect">
            <a:avLst/>
          </a:prstGeom>
        </p:spPr>
      </p:pic>
      <p:sp>
        <p:nvSpPr>
          <p:cNvPr id="5" name="Date Placeholder 4">
            <a:extLst>
              <a:ext uri="{FF2B5EF4-FFF2-40B4-BE49-F238E27FC236}">
                <a16:creationId xmlns:a16="http://schemas.microsoft.com/office/drawing/2014/main" id="{EA3C001C-DEAF-3EA0-C516-91858BB454C0}"/>
              </a:ext>
            </a:extLst>
          </p:cNvPr>
          <p:cNvSpPr>
            <a:spLocks noGrp="1"/>
          </p:cNvSpPr>
          <p:nvPr>
            <p:ph type="dt" sz="half" idx="10"/>
          </p:nvPr>
        </p:nvSpPr>
        <p:spPr/>
        <p:txBody>
          <a:bodyPr/>
          <a:lstStyle/>
          <a:p>
            <a:fld id="{4E0C9EDC-28A8-448F-831B-18D8ED01B705}" type="datetime1">
              <a:rPr lang="en-US" smtClean="0"/>
              <a:t>7/4/2025</a:t>
            </a:fld>
            <a:endParaRPr lang="en-US" dirty="0"/>
          </a:p>
        </p:txBody>
      </p:sp>
      <p:sp>
        <p:nvSpPr>
          <p:cNvPr id="6" name="Footer Placeholder 5">
            <a:extLst>
              <a:ext uri="{FF2B5EF4-FFF2-40B4-BE49-F238E27FC236}">
                <a16:creationId xmlns:a16="http://schemas.microsoft.com/office/drawing/2014/main" id="{02F0AF13-746D-5868-7CC7-8ABE24A459A7}"/>
              </a:ext>
            </a:extLst>
          </p:cNvPr>
          <p:cNvSpPr>
            <a:spLocks noGrp="1"/>
          </p:cNvSpPr>
          <p:nvPr>
            <p:ph type="ftr" sz="quarter" idx="11"/>
          </p:nvPr>
        </p:nvSpPr>
        <p:spPr>
          <a:xfrm>
            <a:off x="1749346" y="6356350"/>
            <a:ext cx="6369418"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D1D6BA7C-73AF-B9BB-F5BF-B6202C99043E}"/>
              </a:ext>
            </a:extLst>
          </p:cNvPr>
          <p:cNvSpPr>
            <a:spLocks noGrp="1"/>
          </p:cNvSpPr>
          <p:nvPr>
            <p:ph type="sldNum" sz="quarter" idx="12"/>
          </p:nvPr>
        </p:nvSpPr>
        <p:spPr/>
        <p:txBody>
          <a:bodyPr/>
          <a:lstStyle/>
          <a:p>
            <a:fld id="{B6F15528-21DE-4FAA-801E-634DDDAF4B2B}" type="slidenum">
              <a:rPr lang="en-US" smtClean="0"/>
              <a:pPr/>
              <a:t>33</a:t>
            </a:fld>
            <a:endParaRPr lang="en-US" dirty="0"/>
          </a:p>
        </p:txBody>
      </p:sp>
    </p:spTree>
    <p:extLst>
      <p:ext uri="{BB962C8B-B14F-4D97-AF65-F5344CB8AC3E}">
        <p14:creationId xmlns:p14="http://schemas.microsoft.com/office/powerpoint/2010/main" val="2115277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C1A9-19C2-65D4-F94C-E5ED36B2AB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282760-EF9E-F620-682B-83DEA6C8247E}"/>
              </a:ext>
            </a:extLst>
          </p:cNvPr>
          <p:cNvSpPr txBox="1"/>
          <p:nvPr/>
        </p:nvSpPr>
        <p:spPr>
          <a:xfrm>
            <a:off x="354843" y="937887"/>
            <a:ext cx="6835666" cy="372538"/>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The key differences between Data Parallelisms and Task Parallelisms are: </a:t>
            </a:r>
          </a:p>
        </p:txBody>
      </p:sp>
      <p:pic>
        <p:nvPicPr>
          <p:cNvPr id="3" name="Picture 2" descr="A screenshot of a computer&#10;&#10;Description automatically generated">
            <a:extLst>
              <a:ext uri="{FF2B5EF4-FFF2-40B4-BE49-F238E27FC236}">
                <a16:creationId xmlns:a16="http://schemas.microsoft.com/office/drawing/2014/main" id="{C86F0FE9-AA4A-26F6-0CF2-5C4C911529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A483106-32FB-1712-E659-6BD3745EB72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Data Parallelism Vs Task Parallelism</a:t>
            </a:r>
          </a:p>
        </p:txBody>
      </p:sp>
      <p:pic>
        <p:nvPicPr>
          <p:cNvPr id="6" name="Picture 5" descr="A white and green text on a white background&#10;&#10;AI-generated content may be incorrect.">
            <a:extLst>
              <a:ext uri="{FF2B5EF4-FFF2-40B4-BE49-F238E27FC236}">
                <a16:creationId xmlns:a16="http://schemas.microsoft.com/office/drawing/2014/main" id="{C52C6993-1293-B337-68B7-8F8B9AA207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139" y="1555616"/>
            <a:ext cx="8765721" cy="4549299"/>
          </a:xfrm>
          <a:prstGeom prst="rect">
            <a:avLst/>
          </a:prstGeom>
        </p:spPr>
      </p:pic>
      <p:sp>
        <p:nvSpPr>
          <p:cNvPr id="5" name="Date Placeholder 4">
            <a:extLst>
              <a:ext uri="{FF2B5EF4-FFF2-40B4-BE49-F238E27FC236}">
                <a16:creationId xmlns:a16="http://schemas.microsoft.com/office/drawing/2014/main" id="{782316BF-CE6E-6C13-5957-1D99C95FC3BA}"/>
              </a:ext>
            </a:extLst>
          </p:cNvPr>
          <p:cNvSpPr>
            <a:spLocks noGrp="1"/>
          </p:cNvSpPr>
          <p:nvPr>
            <p:ph type="dt" sz="half" idx="10"/>
          </p:nvPr>
        </p:nvSpPr>
        <p:spPr/>
        <p:txBody>
          <a:bodyPr/>
          <a:lstStyle/>
          <a:p>
            <a:fld id="{3C104441-7DD5-4219-9B06-177376666E5E}" type="datetime1">
              <a:rPr lang="en-US" smtClean="0"/>
              <a:t>7/4/2025</a:t>
            </a:fld>
            <a:endParaRPr lang="en-US" dirty="0"/>
          </a:p>
        </p:txBody>
      </p:sp>
      <p:sp>
        <p:nvSpPr>
          <p:cNvPr id="7" name="Footer Placeholder 6">
            <a:extLst>
              <a:ext uri="{FF2B5EF4-FFF2-40B4-BE49-F238E27FC236}">
                <a16:creationId xmlns:a16="http://schemas.microsoft.com/office/drawing/2014/main" id="{D9CE6CED-C5E1-2762-E428-8FF2386BD4A7}"/>
              </a:ext>
            </a:extLst>
          </p:cNvPr>
          <p:cNvSpPr>
            <a:spLocks noGrp="1"/>
          </p:cNvSpPr>
          <p:nvPr>
            <p:ph type="ftr" sz="quarter" idx="11"/>
          </p:nvPr>
        </p:nvSpPr>
        <p:spPr>
          <a:xfrm>
            <a:off x="1510145" y="6356350"/>
            <a:ext cx="6608619"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7817034B-98BA-4E78-7BDD-40703A1D9719}"/>
              </a:ext>
            </a:extLst>
          </p:cNvPr>
          <p:cNvSpPr>
            <a:spLocks noGrp="1"/>
          </p:cNvSpPr>
          <p:nvPr>
            <p:ph type="sldNum" sz="quarter" idx="12"/>
          </p:nvPr>
        </p:nvSpPr>
        <p:spPr/>
        <p:txBody>
          <a:bodyPr/>
          <a:lstStyle/>
          <a:p>
            <a:fld id="{B6F15528-21DE-4FAA-801E-634DDDAF4B2B}" type="slidenum">
              <a:rPr lang="en-US" smtClean="0"/>
              <a:pPr/>
              <a:t>34</a:t>
            </a:fld>
            <a:endParaRPr lang="en-US" dirty="0"/>
          </a:p>
        </p:txBody>
      </p:sp>
    </p:spTree>
    <p:extLst>
      <p:ext uri="{BB962C8B-B14F-4D97-AF65-F5344CB8AC3E}">
        <p14:creationId xmlns:p14="http://schemas.microsoft.com/office/powerpoint/2010/main" val="333368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9531-3F26-F0D5-6F0B-6FA4308B1B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89D318B-3426-3769-5960-2DD60EC758C7}"/>
              </a:ext>
            </a:extLst>
          </p:cNvPr>
          <p:cNvSpPr txBox="1"/>
          <p:nvPr/>
        </p:nvSpPr>
        <p:spPr>
          <a:xfrm>
            <a:off x="424116" y="1580737"/>
            <a:ext cx="8512066" cy="3696525"/>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Bit-level parallelism is a form of parallel computing where the word size of a processor is increased to handle more bits of data in a single operation. This optimization improves computational efficiency by reducing the number of instructions a processor must execute for certain operations, particularly arithmetic computations.</a:t>
            </a:r>
          </a:p>
          <a:p>
            <a:pPr algn="just">
              <a:lnSpc>
                <a:spcPct val="150000"/>
              </a:lnSpc>
            </a:pPr>
            <a:r>
              <a:rPr lang="en-US" altLang="en-US" dirty="0">
                <a:latin typeface="+mj-lt"/>
                <a:cs typeface="Times New Roman" panose="02020603050405020304" pitchFamily="18" charset="0"/>
              </a:rPr>
              <a:t>Bit-level parallelism focuses on exploiting the inherent parallelism in binary arithmetic. By increasing the width of data processed simultaneously (e.g., moving from 8-bit to 16-bit, or 32-bit to 64-bit systems), processors can execute computations more efficiently. This architectural design aims to optimize operations like addition, subtraction, multiplication, and logical operations by processing more bits in a single clock cycle.</a:t>
            </a:r>
          </a:p>
        </p:txBody>
      </p:sp>
      <p:pic>
        <p:nvPicPr>
          <p:cNvPr id="3" name="Picture 2" descr="A screenshot of a computer&#10;&#10;Description automatically generated">
            <a:extLst>
              <a:ext uri="{FF2B5EF4-FFF2-40B4-BE49-F238E27FC236}">
                <a16:creationId xmlns:a16="http://schemas.microsoft.com/office/drawing/2014/main" id="{6E51471A-92E7-944C-4CAE-58F6C39DC86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9119138B-0A88-C0D1-7B2C-7B8860536AD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Bit-level parallelism</a:t>
            </a:r>
          </a:p>
        </p:txBody>
      </p:sp>
      <p:sp>
        <p:nvSpPr>
          <p:cNvPr id="5" name="Date Placeholder 4">
            <a:extLst>
              <a:ext uri="{FF2B5EF4-FFF2-40B4-BE49-F238E27FC236}">
                <a16:creationId xmlns:a16="http://schemas.microsoft.com/office/drawing/2014/main" id="{F82CECDB-3AF8-C33E-BE35-BE11E0CD6132}"/>
              </a:ext>
            </a:extLst>
          </p:cNvPr>
          <p:cNvSpPr>
            <a:spLocks noGrp="1"/>
          </p:cNvSpPr>
          <p:nvPr>
            <p:ph type="dt" sz="half" idx="10"/>
          </p:nvPr>
        </p:nvSpPr>
        <p:spPr/>
        <p:txBody>
          <a:bodyPr/>
          <a:lstStyle/>
          <a:p>
            <a:fld id="{8B6B5876-BEF9-4177-80C7-08C803B972C8}" type="datetime1">
              <a:rPr lang="en-US" smtClean="0"/>
              <a:t>7/4/2025</a:t>
            </a:fld>
            <a:endParaRPr lang="en-US" dirty="0"/>
          </a:p>
        </p:txBody>
      </p:sp>
      <p:sp>
        <p:nvSpPr>
          <p:cNvPr id="6" name="Footer Placeholder 5">
            <a:extLst>
              <a:ext uri="{FF2B5EF4-FFF2-40B4-BE49-F238E27FC236}">
                <a16:creationId xmlns:a16="http://schemas.microsoft.com/office/drawing/2014/main" id="{E48A18FE-4D85-112C-5BFC-7F9EA8D80275}"/>
              </a:ext>
            </a:extLst>
          </p:cNvPr>
          <p:cNvSpPr>
            <a:spLocks noGrp="1"/>
          </p:cNvSpPr>
          <p:nvPr>
            <p:ph type="ftr" sz="quarter" idx="11"/>
          </p:nvPr>
        </p:nvSpPr>
        <p:spPr>
          <a:xfrm>
            <a:off x="1316181" y="6356350"/>
            <a:ext cx="6470073" cy="365125"/>
          </a:xfrm>
        </p:spPr>
        <p:txBody>
          <a:bodyPr/>
          <a:lstStyle/>
          <a:p>
            <a:r>
              <a:rPr lang="en-US"/>
              <a:t>Mr. Anshul Varshney               High Performance computing                   Unit 2</a:t>
            </a:r>
            <a:endParaRPr lang="en-US" dirty="0"/>
          </a:p>
        </p:txBody>
      </p:sp>
      <p:sp>
        <p:nvSpPr>
          <p:cNvPr id="7" name="Slide Number Placeholder 6">
            <a:extLst>
              <a:ext uri="{FF2B5EF4-FFF2-40B4-BE49-F238E27FC236}">
                <a16:creationId xmlns:a16="http://schemas.microsoft.com/office/drawing/2014/main" id="{71278CA9-3CE5-455D-5927-13EA634846FB}"/>
              </a:ext>
            </a:extLst>
          </p:cNvPr>
          <p:cNvSpPr>
            <a:spLocks noGrp="1"/>
          </p:cNvSpPr>
          <p:nvPr>
            <p:ph type="sldNum" sz="quarter" idx="12"/>
          </p:nvPr>
        </p:nvSpPr>
        <p:spPr/>
        <p:txBody>
          <a:bodyPr/>
          <a:lstStyle/>
          <a:p>
            <a:fld id="{B6F15528-21DE-4FAA-801E-634DDDAF4B2B}" type="slidenum">
              <a:rPr lang="en-US" smtClean="0"/>
              <a:pPr/>
              <a:t>35</a:t>
            </a:fld>
            <a:endParaRPr lang="en-US" dirty="0"/>
          </a:p>
        </p:txBody>
      </p:sp>
    </p:spTree>
    <p:extLst>
      <p:ext uri="{BB962C8B-B14F-4D97-AF65-F5344CB8AC3E}">
        <p14:creationId xmlns:p14="http://schemas.microsoft.com/office/powerpoint/2010/main" val="2212124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BD57-0613-70BD-C656-DB02614C45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ED0187-BB2F-368F-A805-BCEA202C05BF}"/>
              </a:ext>
            </a:extLst>
          </p:cNvPr>
          <p:cNvSpPr txBox="1"/>
          <p:nvPr/>
        </p:nvSpPr>
        <p:spPr>
          <a:xfrm>
            <a:off x="315967" y="1046074"/>
            <a:ext cx="8512066" cy="372538"/>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b="1" dirty="0">
                <a:latin typeface="+mj-lt"/>
                <a:cs typeface="Times New Roman" panose="02020603050405020304" pitchFamily="18" charset="0"/>
              </a:rPr>
              <a:t>Applications of Bit-level Parallelism</a:t>
            </a:r>
          </a:p>
        </p:txBody>
      </p:sp>
      <p:pic>
        <p:nvPicPr>
          <p:cNvPr id="3" name="Picture 2" descr="A screenshot of a computer&#10;&#10;Description automatically generated">
            <a:extLst>
              <a:ext uri="{FF2B5EF4-FFF2-40B4-BE49-F238E27FC236}">
                <a16:creationId xmlns:a16="http://schemas.microsoft.com/office/drawing/2014/main" id="{D994F734-B9E4-C0E4-76FC-B5B26772793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2DB3D980-83A5-19B8-DCE4-A74043EFE07D}"/>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Bit-level parallelism</a:t>
            </a:r>
          </a:p>
        </p:txBody>
      </p:sp>
      <p:sp>
        <p:nvSpPr>
          <p:cNvPr id="5" name="object 2">
            <a:extLst>
              <a:ext uri="{FF2B5EF4-FFF2-40B4-BE49-F238E27FC236}">
                <a16:creationId xmlns:a16="http://schemas.microsoft.com/office/drawing/2014/main" id="{094FEA5E-2D36-A645-06EB-DA11937BFD2F}"/>
              </a:ext>
            </a:extLst>
          </p:cNvPr>
          <p:cNvSpPr txBox="1"/>
          <p:nvPr/>
        </p:nvSpPr>
        <p:spPr>
          <a:xfrm>
            <a:off x="177422" y="1712326"/>
            <a:ext cx="8512066" cy="494302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Bit-level parallelism is essential in various fields that require efficient data processing and high-speed computation:</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Cryptography:</a:t>
            </a:r>
            <a:r>
              <a:rPr lang="en-US" altLang="en-US" dirty="0">
                <a:latin typeface="+mj-lt"/>
                <a:cs typeface="Times New Roman" panose="02020603050405020304" pitchFamily="18" charset="0"/>
              </a:rPr>
              <a:t> Efficient handling of large bit-lengths improves encryption and decryption speeds.</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Digital Signal Processing (DSP)</a:t>
            </a:r>
            <a:r>
              <a:rPr lang="en-US" altLang="en-US" dirty="0">
                <a:latin typeface="+mj-lt"/>
                <a:cs typeface="Times New Roman" panose="02020603050405020304" pitchFamily="18" charset="0"/>
              </a:rPr>
              <a:t>: Processes like audio and image compression benefit from parallel data handling.</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High-performance Computing: </a:t>
            </a:r>
            <a:r>
              <a:rPr lang="en-US" altLang="en-US" dirty="0">
                <a:latin typeface="+mj-lt"/>
                <a:cs typeface="Times New Roman" panose="02020603050405020304" pitchFamily="18" charset="0"/>
              </a:rPr>
              <a:t>Scientific simulations and complex numerical algorithms leverage increased word sizes for faster calculations.</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Graphics Processing: </a:t>
            </a:r>
            <a:r>
              <a:rPr lang="en-US" altLang="en-US" dirty="0">
                <a:latin typeface="+mj-lt"/>
                <a:cs typeface="Times New Roman" panose="02020603050405020304" pitchFamily="18" charset="0"/>
              </a:rPr>
              <a:t>Enhances rendering and processing of high-definition images and videos.</a:t>
            </a:r>
          </a:p>
          <a:p>
            <a:pPr marL="298450" indent="-285750" algn="just">
              <a:lnSpc>
                <a:spcPct val="150000"/>
              </a:lnSpc>
              <a:buFont typeface="Wingdings" panose="05000000000000000000" pitchFamily="2" charset="2"/>
              <a:buChar char="Ø"/>
            </a:pPr>
            <a:r>
              <a:rPr lang="en-US" altLang="en-US" b="1" dirty="0">
                <a:latin typeface="+mj-lt"/>
                <a:cs typeface="Times New Roman" panose="02020603050405020304" pitchFamily="18" charset="0"/>
              </a:rPr>
              <a:t>Database Management: </a:t>
            </a:r>
            <a:r>
              <a:rPr lang="en-US" altLang="en-US" dirty="0">
                <a:latin typeface="+mj-lt"/>
                <a:cs typeface="Times New Roman" panose="02020603050405020304" pitchFamily="18" charset="0"/>
              </a:rPr>
              <a:t>Bit-level parallelism aids in faster querying and data manipulation.</a:t>
            </a:r>
          </a:p>
        </p:txBody>
      </p:sp>
      <p:sp>
        <p:nvSpPr>
          <p:cNvPr id="6" name="Date Placeholder 5">
            <a:extLst>
              <a:ext uri="{FF2B5EF4-FFF2-40B4-BE49-F238E27FC236}">
                <a16:creationId xmlns:a16="http://schemas.microsoft.com/office/drawing/2014/main" id="{C3FC0CA3-1609-C152-8FB4-3277FCCE9480}"/>
              </a:ext>
            </a:extLst>
          </p:cNvPr>
          <p:cNvSpPr>
            <a:spLocks noGrp="1"/>
          </p:cNvSpPr>
          <p:nvPr>
            <p:ph type="dt" sz="half" idx="10"/>
          </p:nvPr>
        </p:nvSpPr>
        <p:spPr/>
        <p:txBody>
          <a:bodyPr/>
          <a:lstStyle/>
          <a:p>
            <a:fld id="{9BD62138-2A1B-416E-8862-D1DB71483DBE}" type="datetime1">
              <a:rPr lang="en-US" smtClean="0"/>
              <a:t>7/4/2025</a:t>
            </a:fld>
            <a:endParaRPr lang="en-US" dirty="0"/>
          </a:p>
        </p:txBody>
      </p:sp>
      <p:sp>
        <p:nvSpPr>
          <p:cNvPr id="7" name="Footer Placeholder 6">
            <a:extLst>
              <a:ext uri="{FF2B5EF4-FFF2-40B4-BE49-F238E27FC236}">
                <a16:creationId xmlns:a16="http://schemas.microsoft.com/office/drawing/2014/main" id="{4148E70A-ACC7-754C-1E67-D876EDB106FF}"/>
              </a:ext>
            </a:extLst>
          </p:cNvPr>
          <p:cNvSpPr>
            <a:spLocks noGrp="1"/>
          </p:cNvSpPr>
          <p:nvPr>
            <p:ph type="ftr" sz="quarter" idx="11"/>
          </p:nvPr>
        </p:nvSpPr>
        <p:spPr>
          <a:xfrm>
            <a:off x="1870363" y="6356350"/>
            <a:ext cx="6026727"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21A3D4FC-7D53-A607-8FC3-FE812822B136}"/>
              </a:ext>
            </a:extLst>
          </p:cNvPr>
          <p:cNvSpPr>
            <a:spLocks noGrp="1"/>
          </p:cNvSpPr>
          <p:nvPr>
            <p:ph type="sldNum" sz="quarter" idx="12"/>
          </p:nvPr>
        </p:nvSpPr>
        <p:spPr/>
        <p:txBody>
          <a:bodyPr/>
          <a:lstStyle/>
          <a:p>
            <a:fld id="{B6F15528-21DE-4FAA-801E-634DDDAF4B2B}" type="slidenum">
              <a:rPr lang="en-US" smtClean="0"/>
              <a:pPr/>
              <a:t>36</a:t>
            </a:fld>
            <a:endParaRPr lang="en-US" dirty="0"/>
          </a:p>
        </p:txBody>
      </p:sp>
    </p:spTree>
    <p:extLst>
      <p:ext uri="{BB962C8B-B14F-4D97-AF65-F5344CB8AC3E}">
        <p14:creationId xmlns:p14="http://schemas.microsoft.com/office/powerpoint/2010/main" val="4215079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A381-2A0A-76A6-C145-8F3366AB4C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523A6B-C028-06E3-7D95-AC165AEE55B8}"/>
              </a:ext>
            </a:extLst>
          </p:cNvPr>
          <p:cNvSpPr txBox="1"/>
          <p:nvPr/>
        </p:nvSpPr>
        <p:spPr>
          <a:xfrm>
            <a:off x="177421" y="685844"/>
            <a:ext cx="8966577" cy="512448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Is used to refer to the architecture in which multiple operations can be performed parallelly in a particular process, with its own set of resources - address space, registers, identifiers, state, and program counters.</a:t>
            </a:r>
          </a:p>
          <a:p>
            <a:pPr algn="just">
              <a:lnSpc>
                <a:spcPct val="150000"/>
              </a:lnSpc>
            </a:pPr>
            <a:r>
              <a:rPr lang="en-US" altLang="en-US" dirty="0">
                <a:latin typeface="+mj-lt"/>
                <a:cs typeface="Times New Roman" panose="02020603050405020304" pitchFamily="18" charset="0"/>
              </a:rPr>
              <a:t>It refers to the compiler design techniques and processors designed to execute operations, like memory load and store, integer addition, and float multiplication, in parallel to improve the performance of the processors.</a:t>
            </a:r>
          </a:p>
          <a:p>
            <a:pPr algn="just">
              <a:lnSpc>
                <a:spcPct val="150000"/>
              </a:lnSpc>
            </a:pPr>
            <a:endParaRPr lang="en-US" altLang="en-US" sz="600" dirty="0">
              <a:latin typeface="+mj-lt"/>
              <a:cs typeface="Times New Roman" panose="02020603050405020304" pitchFamily="18" charset="0"/>
            </a:endParaRPr>
          </a:p>
          <a:p>
            <a:pPr algn="just">
              <a:lnSpc>
                <a:spcPct val="150000"/>
              </a:lnSpc>
            </a:pPr>
            <a:r>
              <a:rPr lang="en-IN" b="1" dirty="0"/>
              <a:t>Classification of ILP Architectures</a:t>
            </a:r>
          </a:p>
          <a:p>
            <a:pPr algn="just">
              <a:lnSpc>
                <a:spcPct val="150000"/>
              </a:lnSpc>
            </a:pPr>
            <a:r>
              <a:rPr lang="en-US" altLang="en-US" dirty="0">
                <a:latin typeface="+mj-lt"/>
                <a:cs typeface="Times New Roman" panose="02020603050405020304" pitchFamily="18" charset="0"/>
              </a:rPr>
              <a:t>The classification of ILP architectures can be done in the following ways -</a:t>
            </a:r>
          </a:p>
          <a:p>
            <a:pPr marL="298450" indent="-285750" algn="just">
              <a:buFont typeface="Wingdings" panose="05000000000000000000" pitchFamily="2" charset="2"/>
              <a:buChar char="Ø"/>
            </a:pPr>
            <a:r>
              <a:rPr lang="en-US" altLang="en-US" b="1" dirty="0">
                <a:latin typeface="+mj-lt"/>
                <a:cs typeface="Times New Roman" panose="02020603050405020304" pitchFamily="18" charset="0"/>
              </a:rPr>
              <a:t>Sequential Architecture</a:t>
            </a:r>
            <a:r>
              <a:rPr lang="en-US" altLang="en-US" dirty="0">
                <a:latin typeface="+mj-lt"/>
                <a:cs typeface="Times New Roman" panose="02020603050405020304" pitchFamily="18" charset="0"/>
              </a:rPr>
              <a:t>: Here, the program is not expected to explicitly convey any information regarding parallelism to hardware, like superscalar architecture.</a:t>
            </a:r>
          </a:p>
          <a:p>
            <a:pPr marL="298450" indent="-285750" algn="just">
              <a:buFont typeface="Wingdings" panose="05000000000000000000" pitchFamily="2" charset="2"/>
              <a:buChar char="Ø"/>
            </a:pPr>
            <a:r>
              <a:rPr lang="en-US" altLang="en-US" b="1" dirty="0">
                <a:latin typeface="+mj-lt"/>
                <a:cs typeface="Times New Roman" panose="02020603050405020304" pitchFamily="18" charset="0"/>
              </a:rPr>
              <a:t>Dependence Architectures: </a:t>
            </a:r>
            <a:r>
              <a:rPr lang="en-US" altLang="en-US" dirty="0">
                <a:latin typeface="+mj-lt"/>
                <a:cs typeface="Times New Roman" panose="02020603050405020304" pitchFamily="18" charset="0"/>
              </a:rPr>
              <a:t>Here, the program explicitly mentions information regarding dependencies between operations like dataflow architecture.</a:t>
            </a:r>
          </a:p>
          <a:p>
            <a:pPr marL="298450" indent="-285750" algn="just">
              <a:buFont typeface="Wingdings" panose="05000000000000000000" pitchFamily="2" charset="2"/>
              <a:buChar char="Ø"/>
            </a:pPr>
            <a:r>
              <a:rPr lang="en-US" altLang="en-US" b="1" dirty="0">
                <a:latin typeface="+mj-lt"/>
                <a:cs typeface="Times New Roman" panose="02020603050405020304" pitchFamily="18" charset="0"/>
              </a:rPr>
              <a:t>Independence Architecture: </a:t>
            </a:r>
            <a:r>
              <a:rPr lang="en-US" altLang="en-US" dirty="0">
                <a:latin typeface="+mj-lt"/>
                <a:cs typeface="Times New Roman" panose="02020603050405020304" pitchFamily="18" charset="0"/>
              </a:rPr>
              <a:t>Here, </a:t>
            </a:r>
            <a:r>
              <a:rPr lang="en-US" altLang="en-US" dirty="0" err="1">
                <a:latin typeface="+mj-lt"/>
                <a:cs typeface="Times New Roman" panose="02020603050405020304" pitchFamily="18" charset="0"/>
              </a:rPr>
              <a:t>programme</a:t>
            </a:r>
            <a:r>
              <a:rPr lang="en-US" altLang="en-US" dirty="0">
                <a:latin typeface="+mj-lt"/>
                <a:cs typeface="Times New Roman" panose="02020603050405020304" pitchFamily="18" charset="0"/>
              </a:rPr>
              <a:t> m gives information regarding which operations are independent of each other so that they can be executed instead of the '</a:t>
            </a:r>
            <a:r>
              <a:rPr lang="en-US" altLang="en-US" dirty="0" err="1">
                <a:latin typeface="+mj-lt"/>
                <a:cs typeface="Times New Roman" panose="02020603050405020304" pitchFamily="18" charset="0"/>
              </a:rPr>
              <a:t>nops</a:t>
            </a:r>
            <a:r>
              <a:rPr lang="en-US" altLang="en-US" dirty="0">
                <a:latin typeface="+mj-lt"/>
                <a:cs typeface="Times New Roman" panose="02020603050405020304" pitchFamily="18" charset="0"/>
              </a:rPr>
              <a:t>.</a:t>
            </a:r>
          </a:p>
        </p:txBody>
      </p:sp>
      <p:pic>
        <p:nvPicPr>
          <p:cNvPr id="3" name="Picture 2" descr="A screenshot of a computer&#10;&#10;Description automatically generated">
            <a:extLst>
              <a:ext uri="{FF2B5EF4-FFF2-40B4-BE49-F238E27FC236}">
                <a16:creationId xmlns:a16="http://schemas.microsoft.com/office/drawing/2014/main" id="{1B79F7CA-94B7-EE63-2154-BD7A50CCD74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3A851C66-1703-91FB-8FDC-802EDB34355F}"/>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Instruction Level Parallelism</a:t>
            </a:r>
          </a:p>
        </p:txBody>
      </p:sp>
      <p:sp>
        <p:nvSpPr>
          <p:cNvPr id="5" name="Date Placeholder 4">
            <a:extLst>
              <a:ext uri="{FF2B5EF4-FFF2-40B4-BE49-F238E27FC236}">
                <a16:creationId xmlns:a16="http://schemas.microsoft.com/office/drawing/2014/main" id="{0B4CEBEE-7539-2935-5ADD-008E566A17E4}"/>
              </a:ext>
            </a:extLst>
          </p:cNvPr>
          <p:cNvSpPr>
            <a:spLocks noGrp="1"/>
          </p:cNvSpPr>
          <p:nvPr>
            <p:ph type="dt" sz="half" idx="10"/>
          </p:nvPr>
        </p:nvSpPr>
        <p:spPr/>
        <p:txBody>
          <a:bodyPr/>
          <a:lstStyle/>
          <a:p>
            <a:fld id="{86F2F16C-8713-475C-B6BA-423A402F771B}" type="datetime1">
              <a:rPr lang="en-US" smtClean="0"/>
              <a:t>7/4/2025</a:t>
            </a:fld>
            <a:endParaRPr lang="en-US" dirty="0"/>
          </a:p>
        </p:txBody>
      </p:sp>
      <p:sp>
        <p:nvSpPr>
          <p:cNvPr id="6" name="Footer Placeholder 5">
            <a:extLst>
              <a:ext uri="{FF2B5EF4-FFF2-40B4-BE49-F238E27FC236}">
                <a16:creationId xmlns:a16="http://schemas.microsoft.com/office/drawing/2014/main" id="{AFB99967-93C7-2A7C-CE95-13A140E68C24}"/>
              </a:ext>
            </a:extLst>
          </p:cNvPr>
          <p:cNvSpPr>
            <a:spLocks noGrp="1"/>
          </p:cNvSpPr>
          <p:nvPr>
            <p:ph type="ftr" sz="quarter" idx="11"/>
          </p:nvPr>
        </p:nvSpPr>
        <p:spPr>
          <a:xfrm>
            <a:off x="1925783" y="6356350"/>
            <a:ext cx="6026726"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93284559-4CE4-9E61-1867-503482046F51}"/>
              </a:ext>
            </a:extLst>
          </p:cNvPr>
          <p:cNvSpPr>
            <a:spLocks noGrp="1"/>
          </p:cNvSpPr>
          <p:nvPr>
            <p:ph type="sldNum" sz="quarter" idx="12"/>
          </p:nvPr>
        </p:nvSpPr>
        <p:spPr/>
        <p:txBody>
          <a:bodyPr/>
          <a:lstStyle/>
          <a:p>
            <a:fld id="{B6F15528-21DE-4FAA-801E-634DDDAF4B2B}" type="slidenum">
              <a:rPr lang="en-US" smtClean="0"/>
              <a:pPr/>
              <a:t>37</a:t>
            </a:fld>
            <a:endParaRPr lang="en-US" dirty="0"/>
          </a:p>
        </p:txBody>
      </p:sp>
    </p:spTree>
    <p:extLst>
      <p:ext uri="{BB962C8B-B14F-4D97-AF65-F5344CB8AC3E}">
        <p14:creationId xmlns:p14="http://schemas.microsoft.com/office/powerpoint/2010/main" val="2510988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224A6-20AC-ED70-2439-8EF0AE8039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92CE16D-5906-FD2D-AB79-C0FF4D2B3070}"/>
              </a:ext>
            </a:extLst>
          </p:cNvPr>
          <p:cNvSpPr txBox="1"/>
          <p:nvPr/>
        </p:nvSpPr>
        <p:spPr>
          <a:xfrm>
            <a:off x="234183" y="1835771"/>
            <a:ext cx="8675634" cy="3419526"/>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Concurrency refers to an application that is doing many tasks at the same time. Concurrency is a technique for reducing system response time by utilizing a single processing unit. Concurrency offers the illusion of parallelism, however, the chunks of a job aren’t performed in parallel, and inside the application, more than one task is being executed at the same time. It does not complete one work before beginning the next.</a:t>
            </a:r>
          </a:p>
          <a:p>
            <a:pPr algn="just">
              <a:lnSpc>
                <a:spcPct val="150000"/>
              </a:lnSpc>
            </a:pPr>
            <a:endParaRPr lang="en-US" altLang="en-US" sz="600" dirty="0">
              <a:latin typeface="+mj-lt"/>
              <a:cs typeface="Times New Roman" panose="02020603050405020304" pitchFamily="18" charset="0"/>
            </a:endParaRPr>
          </a:p>
          <a:p>
            <a:pPr algn="just">
              <a:lnSpc>
                <a:spcPct val="150000"/>
              </a:lnSpc>
            </a:pPr>
            <a:r>
              <a:rPr lang="en-US" dirty="0"/>
              <a:t>Concurrency is achieved by the interleaving of processes on the central processing unit (CPU), also known as context switching. That is the logic behind parallel processing. It enhances the quantity of work that can be completed at one time.</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63FCB329-386A-45C1-F7B8-B497BDF0D50D}"/>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6D72FF1-4B7E-82A7-A52B-81658D36AA22}"/>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Concurrency</a:t>
            </a:r>
          </a:p>
        </p:txBody>
      </p:sp>
      <p:sp>
        <p:nvSpPr>
          <p:cNvPr id="5" name="Date Placeholder 4">
            <a:extLst>
              <a:ext uri="{FF2B5EF4-FFF2-40B4-BE49-F238E27FC236}">
                <a16:creationId xmlns:a16="http://schemas.microsoft.com/office/drawing/2014/main" id="{3DF08BE7-EA76-7A4D-BE28-D0E2DA787D03}"/>
              </a:ext>
            </a:extLst>
          </p:cNvPr>
          <p:cNvSpPr>
            <a:spLocks noGrp="1"/>
          </p:cNvSpPr>
          <p:nvPr>
            <p:ph type="dt" sz="half" idx="10"/>
          </p:nvPr>
        </p:nvSpPr>
        <p:spPr/>
        <p:txBody>
          <a:bodyPr/>
          <a:lstStyle/>
          <a:p>
            <a:fld id="{BA5DA419-BB07-4C08-92B7-C907F4C26B65}" type="datetime1">
              <a:rPr lang="en-US" smtClean="0"/>
              <a:t>7/4/2025</a:t>
            </a:fld>
            <a:endParaRPr lang="en-US" dirty="0"/>
          </a:p>
        </p:txBody>
      </p:sp>
      <p:sp>
        <p:nvSpPr>
          <p:cNvPr id="6" name="Footer Placeholder 5">
            <a:extLst>
              <a:ext uri="{FF2B5EF4-FFF2-40B4-BE49-F238E27FC236}">
                <a16:creationId xmlns:a16="http://schemas.microsoft.com/office/drawing/2014/main" id="{3FBA048B-27AB-E3BE-F26D-B2EBDA3F8557}"/>
              </a:ext>
            </a:extLst>
          </p:cNvPr>
          <p:cNvSpPr>
            <a:spLocks noGrp="1"/>
          </p:cNvSpPr>
          <p:nvPr>
            <p:ph type="ftr" sz="quarter" idx="11"/>
          </p:nvPr>
        </p:nvSpPr>
        <p:spPr>
          <a:xfrm>
            <a:off x="1593273" y="6356350"/>
            <a:ext cx="6262254"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F8582B8A-80AC-EDDB-BE5C-5CA8B51FD493}"/>
              </a:ext>
            </a:extLst>
          </p:cNvPr>
          <p:cNvSpPr>
            <a:spLocks noGrp="1"/>
          </p:cNvSpPr>
          <p:nvPr>
            <p:ph type="sldNum" sz="quarter" idx="12"/>
          </p:nvPr>
        </p:nvSpPr>
        <p:spPr/>
        <p:txBody>
          <a:bodyPr/>
          <a:lstStyle/>
          <a:p>
            <a:fld id="{B6F15528-21DE-4FAA-801E-634DDDAF4B2B}" type="slidenum">
              <a:rPr lang="en-US" smtClean="0"/>
              <a:pPr/>
              <a:t>38</a:t>
            </a:fld>
            <a:endParaRPr lang="en-US" dirty="0"/>
          </a:p>
        </p:txBody>
      </p:sp>
    </p:spTree>
    <p:extLst>
      <p:ext uri="{BB962C8B-B14F-4D97-AF65-F5344CB8AC3E}">
        <p14:creationId xmlns:p14="http://schemas.microsoft.com/office/powerpoint/2010/main" val="410215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51B33-96E6-E012-43D3-D14DD5808A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6D7D0-5F46-CE75-5D72-0FCED4F10FF6}"/>
              </a:ext>
            </a:extLst>
          </p:cNvPr>
          <p:cNvSpPr txBox="1"/>
          <p:nvPr/>
        </p:nvSpPr>
        <p:spPr>
          <a:xfrm>
            <a:off x="234182" y="759593"/>
            <a:ext cx="8675634" cy="1619033"/>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Threading, asynchrony, and pre-emptive multitasking are the three basic kinds of concurrent computing. Each technique has its own set of unique precautions that must be followed to avoid race situations, which occur when several threads or processes access the same shared data in memory in the wrong sequence.</a:t>
            </a:r>
          </a:p>
        </p:txBody>
      </p:sp>
      <p:pic>
        <p:nvPicPr>
          <p:cNvPr id="3" name="Picture 2" descr="A screenshot of a computer&#10;&#10;Description automatically generated">
            <a:extLst>
              <a:ext uri="{FF2B5EF4-FFF2-40B4-BE49-F238E27FC236}">
                <a16:creationId xmlns:a16="http://schemas.microsoft.com/office/drawing/2014/main" id="{99F9055B-6108-E399-8618-BEEC670F2802}"/>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7F34611-41DB-62B2-4FB2-D74274E76F47}"/>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Concurrency</a:t>
            </a:r>
          </a:p>
        </p:txBody>
      </p:sp>
      <p:pic>
        <p:nvPicPr>
          <p:cNvPr id="6" name="Picture 5" descr="A group of rectangular objects with black text&#10;&#10;AI-generated content may be incorrect.">
            <a:extLst>
              <a:ext uri="{FF2B5EF4-FFF2-40B4-BE49-F238E27FC236}">
                <a16:creationId xmlns:a16="http://schemas.microsoft.com/office/drawing/2014/main" id="{6862046C-F545-3647-22A0-D68707D29E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4945" y="2445523"/>
            <a:ext cx="2934109" cy="2846913"/>
          </a:xfrm>
          <a:prstGeom prst="rect">
            <a:avLst/>
          </a:prstGeom>
        </p:spPr>
      </p:pic>
      <p:sp>
        <p:nvSpPr>
          <p:cNvPr id="7" name="object 2">
            <a:extLst>
              <a:ext uri="{FF2B5EF4-FFF2-40B4-BE49-F238E27FC236}">
                <a16:creationId xmlns:a16="http://schemas.microsoft.com/office/drawing/2014/main" id="{3E70BE64-4462-0A0B-E361-E19A5576AC06}"/>
              </a:ext>
            </a:extLst>
          </p:cNvPr>
          <p:cNvSpPr txBox="1"/>
          <p:nvPr/>
        </p:nvSpPr>
        <p:spPr>
          <a:xfrm>
            <a:off x="234182" y="5704389"/>
            <a:ext cx="8675634" cy="788036"/>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dirty="0"/>
              <a:t>Multiple tasks can be seen progressing at the same time in the image above. This diagram depicts concurrency because concurrency is a strategy that works with many things at once.</a:t>
            </a:r>
            <a:endParaRPr lang="en-US" altLang="en-US" dirty="0">
              <a:latin typeface="+mj-lt"/>
              <a:cs typeface="Times New Roman" panose="02020603050405020304" pitchFamily="18" charset="0"/>
            </a:endParaRPr>
          </a:p>
        </p:txBody>
      </p:sp>
      <p:sp>
        <p:nvSpPr>
          <p:cNvPr id="5" name="Date Placeholder 4">
            <a:extLst>
              <a:ext uri="{FF2B5EF4-FFF2-40B4-BE49-F238E27FC236}">
                <a16:creationId xmlns:a16="http://schemas.microsoft.com/office/drawing/2014/main" id="{9714FEB8-F6D1-6200-C2D6-B032747B6595}"/>
              </a:ext>
            </a:extLst>
          </p:cNvPr>
          <p:cNvSpPr>
            <a:spLocks noGrp="1"/>
          </p:cNvSpPr>
          <p:nvPr>
            <p:ph type="dt" sz="half" idx="10"/>
          </p:nvPr>
        </p:nvSpPr>
        <p:spPr/>
        <p:txBody>
          <a:bodyPr/>
          <a:lstStyle/>
          <a:p>
            <a:fld id="{D7061A1D-82DE-4BC3-8155-F7C85BF355BF}" type="datetime1">
              <a:rPr lang="en-US" smtClean="0"/>
              <a:t>7/4/2025</a:t>
            </a:fld>
            <a:endParaRPr lang="en-US" dirty="0"/>
          </a:p>
        </p:txBody>
      </p:sp>
      <p:sp>
        <p:nvSpPr>
          <p:cNvPr id="8" name="Footer Placeholder 7">
            <a:extLst>
              <a:ext uri="{FF2B5EF4-FFF2-40B4-BE49-F238E27FC236}">
                <a16:creationId xmlns:a16="http://schemas.microsoft.com/office/drawing/2014/main" id="{87A945EA-7ADD-B673-5307-77B606F82B30}"/>
              </a:ext>
            </a:extLst>
          </p:cNvPr>
          <p:cNvSpPr>
            <a:spLocks noGrp="1"/>
          </p:cNvSpPr>
          <p:nvPr>
            <p:ph type="ftr" sz="quarter" idx="11"/>
          </p:nvPr>
        </p:nvSpPr>
        <p:spPr>
          <a:xfrm>
            <a:off x="1330035" y="6356350"/>
            <a:ext cx="6525491"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2F9D3F5A-2107-D462-8B92-C7412E907EA4}"/>
              </a:ext>
            </a:extLst>
          </p:cNvPr>
          <p:cNvSpPr>
            <a:spLocks noGrp="1"/>
          </p:cNvSpPr>
          <p:nvPr>
            <p:ph type="sldNum" sz="quarter" idx="12"/>
          </p:nvPr>
        </p:nvSpPr>
        <p:spPr/>
        <p:txBody>
          <a:bodyPr/>
          <a:lstStyle/>
          <a:p>
            <a:fld id="{B6F15528-21DE-4FAA-801E-634DDDAF4B2B}" type="slidenum">
              <a:rPr lang="en-US" smtClean="0"/>
              <a:pPr/>
              <a:t>39</a:t>
            </a:fld>
            <a:endParaRPr lang="en-US" dirty="0"/>
          </a:p>
        </p:txBody>
      </p:sp>
    </p:spTree>
    <p:extLst>
      <p:ext uri="{BB962C8B-B14F-4D97-AF65-F5344CB8AC3E}">
        <p14:creationId xmlns:p14="http://schemas.microsoft.com/office/powerpoint/2010/main" val="643702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1A0E-D9CE-CF44-F02A-A17FBBA5C6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765F1B-B5A3-F933-865F-8097CD68488D}"/>
              </a:ext>
            </a:extLst>
          </p:cNvPr>
          <p:cNvSpPr txBox="1"/>
          <p:nvPr/>
        </p:nvSpPr>
        <p:spPr>
          <a:xfrm>
            <a:off x="234182" y="759593"/>
            <a:ext cx="8675634" cy="5309146"/>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If a computer system is a multiprocessing system, then a single problem/program must be divided into subproblems in order to assign them to the processors. In order to perform this task a technique, Problem decomposition is used. It is the process of decomposing a problem/program into multiple subproblems/subprograms. It is the basic building block of Parallel Computing. </a:t>
            </a:r>
          </a:p>
          <a:p>
            <a:pPr algn="just">
              <a:lnSpc>
                <a:spcPct val="150000"/>
              </a:lnSpc>
            </a:pPr>
            <a:r>
              <a:rPr lang="en-US" altLang="en-US" sz="2000" b="1" dirty="0">
                <a:latin typeface="+mj-lt"/>
                <a:cs typeface="Times New Roman" panose="02020603050405020304" pitchFamily="18" charset="0"/>
              </a:rPr>
              <a:t>Types of Decomposition:</a:t>
            </a:r>
          </a:p>
          <a:p>
            <a:pPr marL="355600" indent="-342900" algn="just">
              <a:lnSpc>
                <a:spcPct val="150000"/>
              </a:lnSpc>
              <a:buFont typeface="Wingdings" panose="05000000000000000000" pitchFamily="2" charset="2"/>
              <a:buChar char="Ø"/>
            </a:pPr>
            <a:r>
              <a:rPr lang="en-US" altLang="en-US" sz="2000" dirty="0">
                <a:latin typeface="+mj-lt"/>
                <a:cs typeface="Times New Roman" panose="02020603050405020304" pitchFamily="18" charset="0"/>
              </a:rPr>
              <a:t>Domain Decomposition (Data Decomposition):</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The problem is divided based on the data.</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Each processor handles a portion of the data.</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Suitable for numerical simulations, image processing, etc.</a:t>
            </a:r>
          </a:p>
          <a:p>
            <a:pPr marL="355600" indent="-342900" algn="just">
              <a:lnSpc>
                <a:spcPct val="150000"/>
              </a:lnSpc>
              <a:buFont typeface="Wingdings" panose="05000000000000000000" pitchFamily="2" charset="2"/>
              <a:buChar char="Ø"/>
            </a:pPr>
            <a:r>
              <a:rPr lang="en-US" altLang="en-US" sz="2000" dirty="0">
                <a:latin typeface="+mj-lt"/>
                <a:cs typeface="Times New Roman" panose="02020603050405020304" pitchFamily="18" charset="0"/>
              </a:rPr>
              <a:t>Functional Decomposition (Task Decomposition):</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The problem is divided based on tasks or functions.</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Each processor performs a different task.</a:t>
            </a:r>
          </a:p>
          <a:p>
            <a:pPr marL="1085850" lvl="1" indent="-342900" algn="just">
              <a:buFont typeface="Arial" panose="020B0604020202020204" pitchFamily="34" charset="0"/>
              <a:buChar char="•"/>
            </a:pPr>
            <a:r>
              <a:rPr lang="en-US" altLang="en-US" sz="2000" dirty="0">
                <a:latin typeface="+mj-lt"/>
                <a:cs typeface="Times New Roman" panose="02020603050405020304" pitchFamily="18" charset="0"/>
              </a:rPr>
              <a:t>Useful when different operations are applied to the same data.</a:t>
            </a:r>
          </a:p>
        </p:txBody>
      </p:sp>
      <p:pic>
        <p:nvPicPr>
          <p:cNvPr id="3" name="Picture 2" descr="A screenshot of a computer&#10;&#10;Description automatically generated">
            <a:extLst>
              <a:ext uri="{FF2B5EF4-FFF2-40B4-BE49-F238E27FC236}">
                <a16:creationId xmlns:a16="http://schemas.microsoft.com/office/drawing/2014/main" id="{D7D9D124-DCCD-8710-8315-029768155CB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DD171ACB-F469-44C0-6C0E-6E56F491FE97}"/>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Concurrency</a:t>
            </a:r>
          </a:p>
        </p:txBody>
      </p:sp>
      <p:sp>
        <p:nvSpPr>
          <p:cNvPr id="5" name="Date Placeholder 4">
            <a:extLst>
              <a:ext uri="{FF2B5EF4-FFF2-40B4-BE49-F238E27FC236}">
                <a16:creationId xmlns:a16="http://schemas.microsoft.com/office/drawing/2014/main" id="{62535E60-F64F-BE60-C163-AD4B230D2446}"/>
              </a:ext>
            </a:extLst>
          </p:cNvPr>
          <p:cNvSpPr>
            <a:spLocks noGrp="1"/>
          </p:cNvSpPr>
          <p:nvPr>
            <p:ph type="dt" sz="half" idx="10"/>
          </p:nvPr>
        </p:nvSpPr>
        <p:spPr/>
        <p:txBody>
          <a:bodyPr/>
          <a:lstStyle/>
          <a:p>
            <a:fld id="{D3A5689C-F57B-487F-9EC8-51CEDE19877C}" type="datetime1">
              <a:rPr lang="en-US" smtClean="0"/>
              <a:t>7/4/2025</a:t>
            </a:fld>
            <a:endParaRPr lang="en-US" dirty="0"/>
          </a:p>
        </p:txBody>
      </p:sp>
      <p:sp>
        <p:nvSpPr>
          <p:cNvPr id="6" name="Footer Placeholder 5">
            <a:extLst>
              <a:ext uri="{FF2B5EF4-FFF2-40B4-BE49-F238E27FC236}">
                <a16:creationId xmlns:a16="http://schemas.microsoft.com/office/drawing/2014/main" id="{39C7DA6E-FD8F-5773-7EEF-6D299566C0C9}"/>
              </a:ext>
            </a:extLst>
          </p:cNvPr>
          <p:cNvSpPr>
            <a:spLocks noGrp="1"/>
          </p:cNvSpPr>
          <p:nvPr>
            <p:ph type="ftr" sz="quarter" idx="11"/>
          </p:nvPr>
        </p:nvSpPr>
        <p:spPr>
          <a:xfrm>
            <a:off x="1399309" y="6356350"/>
            <a:ext cx="6497782"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565A7B1F-C55B-F54B-FC62-64C939E16F1D}"/>
              </a:ext>
            </a:extLst>
          </p:cNvPr>
          <p:cNvSpPr>
            <a:spLocks noGrp="1"/>
          </p:cNvSpPr>
          <p:nvPr>
            <p:ph type="sldNum" sz="quarter" idx="12"/>
          </p:nvPr>
        </p:nvSpPr>
        <p:spPr/>
        <p:txBody>
          <a:bodyPr/>
          <a:lstStyle/>
          <a:p>
            <a:fld id="{B6F15528-21DE-4FAA-801E-634DDDAF4B2B}" type="slidenum">
              <a:rPr lang="en-US" smtClean="0"/>
              <a:pPr/>
              <a:t>40</a:t>
            </a:fld>
            <a:endParaRPr lang="en-US" dirty="0"/>
          </a:p>
        </p:txBody>
      </p:sp>
    </p:spTree>
    <p:extLst>
      <p:ext uri="{BB962C8B-B14F-4D97-AF65-F5344CB8AC3E}">
        <p14:creationId xmlns:p14="http://schemas.microsoft.com/office/powerpoint/2010/main" val="2160624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DC360-ACFD-7167-C15D-316E91938A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03CFE8-B701-F2F5-FC3D-F4DF6B864965}"/>
              </a:ext>
            </a:extLst>
          </p:cNvPr>
          <p:cNvSpPr txBox="1"/>
          <p:nvPr/>
        </p:nvSpPr>
        <p:spPr>
          <a:xfrm>
            <a:off x="234182" y="759593"/>
            <a:ext cx="8675634" cy="5404685"/>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dirty="0">
                <a:latin typeface="+mj-lt"/>
                <a:cs typeface="Times New Roman" panose="02020603050405020304" pitchFamily="18" charset="0"/>
              </a:rPr>
              <a:t>After a problem is decomposed, the next step in parallel programming is Mapping. Mapping is the process of assigning decomposed tasks or data units to specific processing elements (PEs) like CPU cores, GPU threads, or nodes in a cluster.</a:t>
            </a:r>
          </a:p>
          <a:p>
            <a:pPr algn="just">
              <a:lnSpc>
                <a:spcPct val="150000"/>
              </a:lnSpc>
            </a:pPr>
            <a:r>
              <a:rPr lang="en-IN" sz="2000" b="1" dirty="0"/>
              <a:t>Types of Mapping:</a:t>
            </a:r>
          </a:p>
          <a:p>
            <a:pPr marL="298450" indent="-285750" algn="just">
              <a:lnSpc>
                <a:spcPct val="150000"/>
              </a:lnSpc>
              <a:buFont typeface="Wingdings" panose="05000000000000000000" pitchFamily="2" charset="2"/>
              <a:buChar char="Ø"/>
            </a:pPr>
            <a:r>
              <a:rPr lang="en-IN" dirty="0"/>
              <a:t>Static Mapping (Compile-Time Mapping)</a:t>
            </a:r>
          </a:p>
          <a:p>
            <a:pPr marL="1028700" lvl="1" algn="just">
              <a:lnSpc>
                <a:spcPct val="150000"/>
              </a:lnSpc>
              <a:buFont typeface="Arial" panose="020B0604020202020204" pitchFamily="34" charset="0"/>
              <a:buChar char="•"/>
            </a:pPr>
            <a:r>
              <a:rPr lang="en-US" altLang="en-US" dirty="0">
                <a:latin typeface="+mj-lt"/>
                <a:cs typeface="Times New Roman" panose="02020603050405020304" pitchFamily="18" charset="0"/>
              </a:rPr>
              <a:t>Tasks are assigned to processors before execution.</a:t>
            </a:r>
          </a:p>
          <a:p>
            <a:pPr marL="1028700" lvl="1" algn="just">
              <a:lnSpc>
                <a:spcPct val="150000"/>
              </a:lnSpc>
              <a:buFont typeface="Arial" panose="020B0604020202020204" pitchFamily="34" charset="0"/>
              <a:buChar char="•"/>
            </a:pPr>
            <a:r>
              <a:rPr lang="en-US" altLang="en-US" dirty="0">
                <a:latin typeface="+mj-lt"/>
                <a:cs typeface="Times New Roman" panose="02020603050405020304" pitchFamily="18" charset="0"/>
              </a:rPr>
              <a:t>Simpler and faster, but not adaptive.</a:t>
            </a:r>
          </a:p>
          <a:p>
            <a:pPr marL="1028700" lvl="1" algn="just">
              <a:lnSpc>
                <a:spcPct val="150000"/>
              </a:lnSpc>
              <a:buFont typeface="Arial" panose="020B0604020202020204" pitchFamily="34" charset="0"/>
              <a:buChar char="•"/>
            </a:pPr>
            <a:r>
              <a:rPr lang="en-US" altLang="en-US" dirty="0">
                <a:latin typeface="+mj-lt"/>
                <a:cs typeface="Times New Roman" panose="02020603050405020304" pitchFamily="18" charset="0"/>
              </a:rPr>
              <a:t>Best when workload and resources are predictable.</a:t>
            </a:r>
          </a:p>
          <a:p>
            <a:pPr marL="298450" indent="-285750" algn="just">
              <a:lnSpc>
                <a:spcPct val="150000"/>
              </a:lnSpc>
              <a:buFont typeface="Wingdings" panose="05000000000000000000" pitchFamily="2" charset="2"/>
              <a:buChar char="Ø"/>
            </a:pPr>
            <a:r>
              <a:rPr lang="en-IN" dirty="0"/>
              <a:t>Dynamic Mapping (Run-Time Mapping)</a:t>
            </a:r>
          </a:p>
          <a:p>
            <a:pPr marL="1028700" lvl="1">
              <a:lnSpc>
                <a:spcPct val="150000"/>
              </a:lnSpc>
              <a:buFont typeface="Arial" panose="020B0604020202020204" pitchFamily="34" charset="0"/>
              <a:buChar char="•"/>
            </a:pPr>
            <a:r>
              <a:rPr lang="en-US" dirty="0"/>
              <a:t>Tasks are assigned during execution.</a:t>
            </a:r>
          </a:p>
          <a:p>
            <a:pPr marL="1028700" lvl="1">
              <a:lnSpc>
                <a:spcPct val="150000"/>
              </a:lnSpc>
              <a:buFont typeface="Arial" panose="020B0604020202020204" pitchFamily="34" charset="0"/>
              <a:buChar char="•"/>
            </a:pPr>
            <a:r>
              <a:rPr lang="en-US" dirty="0"/>
              <a:t>Adapts to load imbalance, failures, etc.</a:t>
            </a:r>
          </a:p>
          <a:p>
            <a:pPr marL="1028700" lvl="1">
              <a:lnSpc>
                <a:spcPct val="150000"/>
              </a:lnSpc>
              <a:buFont typeface="Arial" panose="020B0604020202020204" pitchFamily="34" charset="0"/>
              <a:buChar char="•"/>
            </a:pPr>
            <a:r>
              <a:rPr lang="en-US" dirty="0"/>
              <a:t>Often used in distributed systems and task pools.</a:t>
            </a:r>
            <a:endParaRPr lang="en-IN" dirty="0"/>
          </a:p>
          <a:p>
            <a:pPr marL="584200" indent="-285750" algn="just">
              <a:lnSpc>
                <a:spcPct val="150000"/>
              </a:lnSpc>
              <a:buFont typeface="Wingdings" panose="05000000000000000000" pitchFamily="2" charset="2"/>
              <a:buChar char="Ø"/>
            </a:pP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BEB28A9B-5808-48F8-90AA-1A3A47B0366D}"/>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1796512C-46A1-C4A6-28E9-C2665E00E851}"/>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Concurrency</a:t>
            </a:r>
          </a:p>
        </p:txBody>
      </p:sp>
      <p:sp>
        <p:nvSpPr>
          <p:cNvPr id="5" name="Date Placeholder 4">
            <a:extLst>
              <a:ext uri="{FF2B5EF4-FFF2-40B4-BE49-F238E27FC236}">
                <a16:creationId xmlns:a16="http://schemas.microsoft.com/office/drawing/2014/main" id="{7207E231-67EE-F182-1A02-A287FB228180}"/>
              </a:ext>
            </a:extLst>
          </p:cNvPr>
          <p:cNvSpPr>
            <a:spLocks noGrp="1"/>
          </p:cNvSpPr>
          <p:nvPr>
            <p:ph type="dt" sz="half" idx="10"/>
          </p:nvPr>
        </p:nvSpPr>
        <p:spPr/>
        <p:txBody>
          <a:bodyPr/>
          <a:lstStyle/>
          <a:p>
            <a:fld id="{56AB153E-BE29-4DF8-8609-66F475AC1071}" type="datetime1">
              <a:rPr lang="en-US" smtClean="0"/>
              <a:t>7/4/2025</a:t>
            </a:fld>
            <a:endParaRPr lang="en-US" dirty="0"/>
          </a:p>
        </p:txBody>
      </p:sp>
      <p:sp>
        <p:nvSpPr>
          <p:cNvPr id="6" name="Footer Placeholder 5">
            <a:extLst>
              <a:ext uri="{FF2B5EF4-FFF2-40B4-BE49-F238E27FC236}">
                <a16:creationId xmlns:a16="http://schemas.microsoft.com/office/drawing/2014/main" id="{9027C4FE-8608-B6D5-A611-0ACA77D62A37}"/>
              </a:ext>
            </a:extLst>
          </p:cNvPr>
          <p:cNvSpPr>
            <a:spLocks noGrp="1"/>
          </p:cNvSpPr>
          <p:nvPr>
            <p:ph type="ftr" sz="quarter" idx="11"/>
          </p:nvPr>
        </p:nvSpPr>
        <p:spPr>
          <a:xfrm>
            <a:off x="1413164" y="6356350"/>
            <a:ext cx="6470072"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EC397420-DC0F-6B65-0110-76B08068A8AD}"/>
              </a:ext>
            </a:extLst>
          </p:cNvPr>
          <p:cNvSpPr>
            <a:spLocks noGrp="1"/>
          </p:cNvSpPr>
          <p:nvPr>
            <p:ph type="sldNum" sz="quarter" idx="12"/>
          </p:nvPr>
        </p:nvSpPr>
        <p:spPr/>
        <p:txBody>
          <a:bodyPr/>
          <a:lstStyle/>
          <a:p>
            <a:fld id="{B6F15528-21DE-4FAA-801E-634DDDAF4B2B}" type="slidenum">
              <a:rPr lang="en-US" smtClean="0"/>
              <a:pPr/>
              <a:t>41</a:t>
            </a:fld>
            <a:endParaRPr lang="en-US" dirty="0"/>
          </a:p>
        </p:txBody>
      </p:sp>
    </p:spTree>
    <p:extLst>
      <p:ext uri="{BB962C8B-B14F-4D97-AF65-F5344CB8AC3E}">
        <p14:creationId xmlns:p14="http://schemas.microsoft.com/office/powerpoint/2010/main" val="19604717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4F1DA-DA06-0701-B7C2-803C859FEEBA}"/>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F9B077D-2AD0-DA93-F660-151358A8C47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101631DF-3E48-81BB-71D1-93D875B12219}"/>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Parallel Random Access Machine</a:t>
            </a:r>
          </a:p>
        </p:txBody>
      </p:sp>
      <p:pic>
        <p:nvPicPr>
          <p:cNvPr id="6" name="Picture 5" descr="A diagram of a memory access unit&#10;&#10;AI-generated content may be incorrect.">
            <a:extLst>
              <a:ext uri="{FF2B5EF4-FFF2-40B4-BE49-F238E27FC236}">
                <a16:creationId xmlns:a16="http://schemas.microsoft.com/office/drawing/2014/main" id="{1B36C271-F84F-2AB6-AAD3-5FA30BEA96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0454" y="873918"/>
            <a:ext cx="6133389" cy="3281363"/>
          </a:xfrm>
          <a:prstGeom prst="rect">
            <a:avLst/>
          </a:prstGeom>
        </p:spPr>
      </p:pic>
      <p:sp>
        <p:nvSpPr>
          <p:cNvPr id="5" name="TextBox 4">
            <a:extLst>
              <a:ext uri="{FF2B5EF4-FFF2-40B4-BE49-F238E27FC236}">
                <a16:creationId xmlns:a16="http://schemas.microsoft.com/office/drawing/2014/main" id="{A21383AA-C77D-58AB-6272-5773DDB95DD2}"/>
              </a:ext>
            </a:extLst>
          </p:cNvPr>
          <p:cNvSpPr txBox="1"/>
          <p:nvPr/>
        </p:nvSpPr>
        <p:spPr>
          <a:xfrm>
            <a:off x="210157" y="1292959"/>
            <a:ext cx="2590297" cy="2862322"/>
          </a:xfrm>
          <a:prstGeom prst="rect">
            <a:avLst/>
          </a:prstGeom>
          <a:noFill/>
        </p:spPr>
        <p:txBody>
          <a:bodyPr wrap="square" rtlCol="0">
            <a:spAutoFit/>
          </a:bodyPr>
          <a:lstStyle/>
          <a:p>
            <a:pPr algn="just"/>
            <a:r>
              <a:rPr lang="en-US" dirty="0"/>
              <a:t>PRAM is a theoretical model used in parallel computing to design and analyze parallel algorithms. It simplifies the complexities of real-world hardware to focus purely on algorithm design, efficiency, and parallelism.</a:t>
            </a:r>
            <a:endParaRPr lang="en-IN" dirty="0"/>
          </a:p>
        </p:txBody>
      </p:sp>
      <p:sp>
        <p:nvSpPr>
          <p:cNvPr id="7" name="TextBox 6">
            <a:extLst>
              <a:ext uri="{FF2B5EF4-FFF2-40B4-BE49-F238E27FC236}">
                <a16:creationId xmlns:a16="http://schemas.microsoft.com/office/drawing/2014/main" id="{9DBC8650-D609-A882-94D6-4699AAC62090}"/>
              </a:ext>
            </a:extLst>
          </p:cNvPr>
          <p:cNvSpPr txBox="1"/>
          <p:nvPr/>
        </p:nvSpPr>
        <p:spPr>
          <a:xfrm>
            <a:off x="210157" y="4574322"/>
            <a:ext cx="8437418" cy="2031325"/>
          </a:xfrm>
          <a:prstGeom prst="rect">
            <a:avLst/>
          </a:prstGeom>
          <a:noFill/>
        </p:spPr>
        <p:txBody>
          <a:bodyPr wrap="square" rtlCol="0">
            <a:spAutoFit/>
          </a:bodyPr>
          <a:lstStyle/>
          <a:p>
            <a:pPr algn="just"/>
            <a:r>
              <a:rPr lang="en-US" dirty="0"/>
              <a:t>Parallel Random Access Machine, also called PRAM is a model considered for most of the parallel algorithms. It helps to write a precursor parallel algorithm without any architecture constraints and also allows parallel-algorithm designers to treat processing power as unlimited. It ignores the complexity of inter-process communication. PRAM algorithms are mostly theoretical but can be used as a basis for developing an efficient parallel algorithm for practical machines and can also motivate building specialized machines. </a:t>
            </a:r>
            <a:endParaRPr lang="en-IN" dirty="0"/>
          </a:p>
        </p:txBody>
      </p:sp>
      <p:sp>
        <p:nvSpPr>
          <p:cNvPr id="10" name="TextBox 9">
            <a:extLst>
              <a:ext uri="{FF2B5EF4-FFF2-40B4-BE49-F238E27FC236}">
                <a16:creationId xmlns:a16="http://schemas.microsoft.com/office/drawing/2014/main" id="{F31F7451-AFD2-D7B6-09F4-F39C72B943CE}"/>
              </a:ext>
            </a:extLst>
          </p:cNvPr>
          <p:cNvSpPr txBox="1"/>
          <p:nvPr/>
        </p:nvSpPr>
        <p:spPr>
          <a:xfrm>
            <a:off x="3799663" y="4191923"/>
            <a:ext cx="2970621" cy="400110"/>
          </a:xfrm>
          <a:prstGeom prst="rect">
            <a:avLst/>
          </a:prstGeom>
          <a:noFill/>
        </p:spPr>
        <p:txBody>
          <a:bodyPr wrap="none" rtlCol="0">
            <a:spAutoFit/>
          </a:bodyPr>
          <a:lstStyle/>
          <a:p>
            <a:r>
              <a:rPr lang="en-IN" sz="2000" b="1" dirty="0"/>
              <a:t>PRAM Architecture Model</a:t>
            </a:r>
          </a:p>
        </p:txBody>
      </p:sp>
      <p:sp>
        <p:nvSpPr>
          <p:cNvPr id="2" name="Date Placeholder 1">
            <a:extLst>
              <a:ext uri="{FF2B5EF4-FFF2-40B4-BE49-F238E27FC236}">
                <a16:creationId xmlns:a16="http://schemas.microsoft.com/office/drawing/2014/main" id="{5D7A4306-505D-BA42-D898-43FA1E215790}"/>
              </a:ext>
            </a:extLst>
          </p:cNvPr>
          <p:cNvSpPr>
            <a:spLocks noGrp="1"/>
          </p:cNvSpPr>
          <p:nvPr>
            <p:ph type="dt" sz="half" idx="10"/>
          </p:nvPr>
        </p:nvSpPr>
        <p:spPr/>
        <p:txBody>
          <a:bodyPr/>
          <a:lstStyle/>
          <a:p>
            <a:fld id="{CA02F16F-ECC1-47C7-AAA8-4211CB1BEDB7}" type="datetime1">
              <a:rPr lang="en-US" smtClean="0"/>
              <a:t>7/4/2025</a:t>
            </a:fld>
            <a:endParaRPr lang="en-US" dirty="0"/>
          </a:p>
        </p:txBody>
      </p:sp>
      <p:sp>
        <p:nvSpPr>
          <p:cNvPr id="8" name="Footer Placeholder 7">
            <a:extLst>
              <a:ext uri="{FF2B5EF4-FFF2-40B4-BE49-F238E27FC236}">
                <a16:creationId xmlns:a16="http://schemas.microsoft.com/office/drawing/2014/main" id="{1730D5DE-BD5B-2F1C-A5B0-DE643D29A034}"/>
              </a:ext>
            </a:extLst>
          </p:cNvPr>
          <p:cNvSpPr>
            <a:spLocks noGrp="1"/>
          </p:cNvSpPr>
          <p:nvPr>
            <p:ph type="ftr" sz="quarter" idx="11"/>
          </p:nvPr>
        </p:nvSpPr>
        <p:spPr>
          <a:xfrm>
            <a:off x="1385455" y="6356350"/>
            <a:ext cx="6927272"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524A2258-4181-38A2-55A5-DF3C5AACF3F0}"/>
              </a:ext>
            </a:extLst>
          </p:cNvPr>
          <p:cNvSpPr>
            <a:spLocks noGrp="1"/>
          </p:cNvSpPr>
          <p:nvPr>
            <p:ph type="sldNum" sz="quarter" idx="12"/>
          </p:nvPr>
        </p:nvSpPr>
        <p:spPr/>
        <p:txBody>
          <a:bodyPr/>
          <a:lstStyle/>
          <a:p>
            <a:fld id="{B6F15528-21DE-4FAA-801E-634DDDAF4B2B}" type="slidenum">
              <a:rPr lang="en-US" smtClean="0"/>
              <a:pPr/>
              <a:t>42</a:t>
            </a:fld>
            <a:endParaRPr lang="en-US" dirty="0"/>
          </a:p>
        </p:txBody>
      </p:sp>
    </p:spTree>
    <p:extLst>
      <p:ext uri="{BB962C8B-B14F-4D97-AF65-F5344CB8AC3E}">
        <p14:creationId xmlns:p14="http://schemas.microsoft.com/office/powerpoint/2010/main" val="1594922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31EBB-8814-DD9C-010E-321ABC5B627A}"/>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3CB8063-A487-E9B0-24B6-B0D20961069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127D7649-7EA2-3289-B0DE-8EC1FA931530}"/>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Parallel Random Access Machine</a:t>
            </a:r>
          </a:p>
        </p:txBody>
      </p:sp>
      <p:sp>
        <p:nvSpPr>
          <p:cNvPr id="2" name="TextBox 1">
            <a:extLst>
              <a:ext uri="{FF2B5EF4-FFF2-40B4-BE49-F238E27FC236}">
                <a16:creationId xmlns:a16="http://schemas.microsoft.com/office/drawing/2014/main" id="{FF252283-B63F-598A-4DFB-3A4864BB990C}"/>
              </a:ext>
            </a:extLst>
          </p:cNvPr>
          <p:cNvSpPr txBox="1"/>
          <p:nvPr/>
        </p:nvSpPr>
        <p:spPr>
          <a:xfrm>
            <a:off x="235527" y="1080655"/>
            <a:ext cx="8137164" cy="369332"/>
          </a:xfrm>
          <a:prstGeom prst="rect">
            <a:avLst/>
          </a:prstGeom>
          <a:noFill/>
        </p:spPr>
        <p:txBody>
          <a:bodyPr wrap="none" rtlCol="0">
            <a:spAutoFit/>
          </a:bodyPr>
          <a:lstStyle/>
          <a:p>
            <a:r>
              <a:rPr lang="en-US" dirty="0"/>
              <a:t>To solve this problem, the following constraints have been enforced on PRAM model </a:t>
            </a:r>
            <a:endParaRPr lang="en-IN" dirty="0"/>
          </a:p>
        </p:txBody>
      </p:sp>
      <p:sp>
        <p:nvSpPr>
          <p:cNvPr id="5" name="TextBox 4">
            <a:extLst>
              <a:ext uri="{FF2B5EF4-FFF2-40B4-BE49-F238E27FC236}">
                <a16:creationId xmlns:a16="http://schemas.microsoft.com/office/drawing/2014/main" id="{06D140F3-8EE5-4089-6709-AF5B83385E16}"/>
              </a:ext>
            </a:extLst>
          </p:cNvPr>
          <p:cNvSpPr txBox="1"/>
          <p:nvPr/>
        </p:nvSpPr>
        <p:spPr>
          <a:xfrm>
            <a:off x="124691" y="2084026"/>
            <a:ext cx="8880764" cy="3693319"/>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t>Exclusive Read Exclusive Write (EREW) </a:t>
            </a:r>
            <a:r>
              <a:rPr lang="en-US" dirty="0"/>
              <a:t>− Here no two processors are allowed to read from </a:t>
            </a:r>
          </a:p>
          <a:p>
            <a:pPr algn="just"/>
            <a:r>
              <a:rPr lang="en-US" dirty="0"/>
              <a:t>or write to the same memory location at the same time.</a:t>
            </a:r>
          </a:p>
          <a:p>
            <a:pPr algn="just"/>
            <a:endParaRPr lang="en-US" dirty="0"/>
          </a:p>
          <a:p>
            <a:pPr marL="285750" indent="-285750" algn="just">
              <a:buFont typeface="Wingdings" panose="05000000000000000000" pitchFamily="2" charset="2"/>
              <a:buChar char="Ø"/>
            </a:pPr>
            <a:r>
              <a:rPr lang="en-US" b="1" dirty="0"/>
              <a:t>Exclusive Read Concurrent Write (ERCW) </a:t>
            </a:r>
            <a:r>
              <a:rPr lang="en-US" dirty="0"/>
              <a:t>− Here no two processors are allowed to read</a:t>
            </a:r>
          </a:p>
          <a:p>
            <a:pPr algn="just"/>
            <a:r>
              <a:rPr lang="en-US" dirty="0"/>
              <a:t> from the same memory location at the same time, but are allowed to write to the same memory location at the same time.</a:t>
            </a:r>
          </a:p>
          <a:p>
            <a:pPr algn="just"/>
            <a:endParaRPr lang="en-US" dirty="0"/>
          </a:p>
          <a:p>
            <a:pPr marL="285750" indent="-285750" algn="just">
              <a:buFont typeface="Wingdings" panose="05000000000000000000" pitchFamily="2" charset="2"/>
              <a:buChar char="Ø"/>
            </a:pPr>
            <a:r>
              <a:rPr lang="en-US" b="1" dirty="0"/>
              <a:t>Concurrent Read Exclusive Write (CREW)</a:t>
            </a:r>
            <a:r>
              <a:rPr lang="en-US" dirty="0"/>
              <a:t> − Here all the processors are allowed to read from the same memory location at the same time, but are not allowed to write to the same memory location at the same time.</a:t>
            </a:r>
          </a:p>
          <a:p>
            <a:pPr algn="just"/>
            <a:endParaRPr lang="en-US" dirty="0"/>
          </a:p>
          <a:p>
            <a:pPr marL="285750" indent="-285750" algn="just">
              <a:buFont typeface="Wingdings" panose="05000000000000000000" pitchFamily="2" charset="2"/>
              <a:buChar char="Ø"/>
            </a:pPr>
            <a:r>
              <a:rPr lang="en-US" b="1" dirty="0"/>
              <a:t>Concurrent Read Concurrent Write (CRCW) </a:t>
            </a:r>
            <a:r>
              <a:rPr lang="en-US" dirty="0"/>
              <a:t>− All the processors are allowed to read from </a:t>
            </a:r>
          </a:p>
          <a:p>
            <a:pPr algn="just"/>
            <a:r>
              <a:rPr lang="en-US" dirty="0"/>
              <a:t>or write to the same memory location at the same time.</a:t>
            </a:r>
            <a:endParaRPr lang="en-IN" dirty="0"/>
          </a:p>
        </p:txBody>
      </p:sp>
      <p:sp>
        <p:nvSpPr>
          <p:cNvPr id="6" name="Date Placeholder 5">
            <a:extLst>
              <a:ext uri="{FF2B5EF4-FFF2-40B4-BE49-F238E27FC236}">
                <a16:creationId xmlns:a16="http://schemas.microsoft.com/office/drawing/2014/main" id="{FF8F4428-CACA-8AEA-0EBB-68BAF7DFEAD9}"/>
              </a:ext>
            </a:extLst>
          </p:cNvPr>
          <p:cNvSpPr>
            <a:spLocks noGrp="1"/>
          </p:cNvSpPr>
          <p:nvPr>
            <p:ph type="dt" sz="half" idx="10"/>
          </p:nvPr>
        </p:nvSpPr>
        <p:spPr/>
        <p:txBody>
          <a:bodyPr/>
          <a:lstStyle/>
          <a:p>
            <a:fld id="{BCD42C98-2192-431A-BED6-8B76A97A4AA1}" type="datetime1">
              <a:rPr lang="en-US" smtClean="0"/>
              <a:t>7/4/2025</a:t>
            </a:fld>
            <a:endParaRPr lang="en-US" dirty="0"/>
          </a:p>
        </p:txBody>
      </p:sp>
      <p:sp>
        <p:nvSpPr>
          <p:cNvPr id="7" name="Footer Placeholder 6">
            <a:extLst>
              <a:ext uri="{FF2B5EF4-FFF2-40B4-BE49-F238E27FC236}">
                <a16:creationId xmlns:a16="http://schemas.microsoft.com/office/drawing/2014/main" id="{EDBE5D5B-78D6-C278-5215-A4DB562FFF8E}"/>
              </a:ext>
            </a:extLst>
          </p:cNvPr>
          <p:cNvSpPr>
            <a:spLocks noGrp="1"/>
          </p:cNvSpPr>
          <p:nvPr>
            <p:ph type="ftr" sz="quarter" idx="11"/>
          </p:nvPr>
        </p:nvSpPr>
        <p:spPr>
          <a:xfrm>
            <a:off x="1343891" y="6356350"/>
            <a:ext cx="6289964"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E953AC58-E28C-76F3-9302-0AB31EE30762}"/>
              </a:ext>
            </a:extLst>
          </p:cNvPr>
          <p:cNvSpPr>
            <a:spLocks noGrp="1"/>
          </p:cNvSpPr>
          <p:nvPr>
            <p:ph type="sldNum" sz="quarter" idx="12"/>
          </p:nvPr>
        </p:nvSpPr>
        <p:spPr/>
        <p:txBody>
          <a:bodyPr/>
          <a:lstStyle/>
          <a:p>
            <a:fld id="{B6F15528-21DE-4FAA-801E-634DDDAF4B2B}" type="slidenum">
              <a:rPr lang="en-US" smtClean="0"/>
              <a:pPr/>
              <a:t>43</a:t>
            </a:fld>
            <a:endParaRPr lang="en-US" dirty="0"/>
          </a:p>
        </p:txBody>
      </p:sp>
    </p:spTree>
    <p:extLst>
      <p:ext uri="{BB962C8B-B14F-4D97-AF65-F5344CB8AC3E}">
        <p14:creationId xmlns:p14="http://schemas.microsoft.com/office/powerpoint/2010/main" val="27133340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8FD7-79D1-C675-C505-CAF2CB31D0E7}"/>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AA793D5A-8C8C-BB21-B98F-90714711D09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DB0B2F6C-CAD4-9A47-3CD9-96B0BCB8AD57}"/>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Uniform Memory Access</a:t>
            </a:r>
            <a:br>
              <a:rPr lang="en-IN" sz="3000" dirty="0"/>
            </a:br>
            <a:r>
              <a:rPr lang="en-IN" sz="3000" dirty="0"/>
              <a:t>Non-Uniform Memory Access</a:t>
            </a:r>
          </a:p>
        </p:txBody>
      </p:sp>
      <p:sp>
        <p:nvSpPr>
          <p:cNvPr id="2" name="TextBox 1">
            <a:extLst>
              <a:ext uri="{FF2B5EF4-FFF2-40B4-BE49-F238E27FC236}">
                <a16:creationId xmlns:a16="http://schemas.microsoft.com/office/drawing/2014/main" id="{7BE7B4B2-872E-8C41-8220-EB87E1DAA505}"/>
              </a:ext>
            </a:extLst>
          </p:cNvPr>
          <p:cNvSpPr txBox="1"/>
          <p:nvPr/>
        </p:nvSpPr>
        <p:spPr>
          <a:xfrm>
            <a:off x="180106" y="1163785"/>
            <a:ext cx="8880763" cy="1785104"/>
          </a:xfrm>
          <a:prstGeom prst="rect">
            <a:avLst/>
          </a:prstGeom>
          <a:noFill/>
        </p:spPr>
        <p:txBody>
          <a:bodyPr wrap="square" rtlCol="0">
            <a:spAutoFit/>
          </a:bodyPr>
          <a:lstStyle/>
          <a:p>
            <a:pPr algn="just"/>
            <a:r>
              <a:rPr lang="en-US" sz="2000" b="1" dirty="0"/>
              <a:t>Uniform Memory Access (UMA):</a:t>
            </a:r>
          </a:p>
          <a:p>
            <a:pPr algn="just"/>
            <a:r>
              <a:rPr lang="en-US" dirty="0"/>
              <a:t>In UMA, where Single memory controller is used. Uniform Memory Access is slower than non-uniform Memory Access. In Uniform Memory Access, bandwidth is restricted or limited rather than non-uniform memory access. There are 3 types of buses used in uniform Memory Access which are: Single, Multiple and Crossbar. It is applicable for general purpose applications and time-sharing applications. </a:t>
            </a:r>
            <a:endParaRPr lang="en-IN" dirty="0"/>
          </a:p>
        </p:txBody>
      </p:sp>
      <p:pic>
        <p:nvPicPr>
          <p:cNvPr id="7" name="Picture 6" descr="A black background with green letters&#10;&#10;AI-generated content may be incorrect.">
            <a:extLst>
              <a:ext uri="{FF2B5EF4-FFF2-40B4-BE49-F238E27FC236}">
                <a16:creationId xmlns:a16="http://schemas.microsoft.com/office/drawing/2014/main" id="{E24E3536-6E0E-BBBC-F792-4F1DFE31F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7455" y="3429000"/>
            <a:ext cx="4544290" cy="2724150"/>
          </a:xfrm>
          <a:prstGeom prst="rect">
            <a:avLst/>
          </a:prstGeom>
        </p:spPr>
      </p:pic>
      <p:sp>
        <p:nvSpPr>
          <p:cNvPr id="5" name="Date Placeholder 4">
            <a:extLst>
              <a:ext uri="{FF2B5EF4-FFF2-40B4-BE49-F238E27FC236}">
                <a16:creationId xmlns:a16="http://schemas.microsoft.com/office/drawing/2014/main" id="{B9675268-A89F-42E1-4FC9-F5A4F5C57CFA}"/>
              </a:ext>
            </a:extLst>
          </p:cNvPr>
          <p:cNvSpPr>
            <a:spLocks noGrp="1"/>
          </p:cNvSpPr>
          <p:nvPr>
            <p:ph type="dt" sz="half" idx="10"/>
          </p:nvPr>
        </p:nvSpPr>
        <p:spPr/>
        <p:txBody>
          <a:bodyPr/>
          <a:lstStyle/>
          <a:p>
            <a:fld id="{D13B2056-8920-4080-A2B6-F96CDBE91C95}" type="datetime1">
              <a:rPr lang="en-US" smtClean="0"/>
              <a:t>7/4/2025</a:t>
            </a:fld>
            <a:endParaRPr lang="en-US" dirty="0"/>
          </a:p>
        </p:txBody>
      </p:sp>
      <p:sp>
        <p:nvSpPr>
          <p:cNvPr id="6" name="Footer Placeholder 5">
            <a:extLst>
              <a:ext uri="{FF2B5EF4-FFF2-40B4-BE49-F238E27FC236}">
                <a16:creationId xmlns:a16="http://schemas.microsoft.com/office/drawing/2014/main" id="{F64C85E4-5E4B-B02A-CFBD-88EA4344C255}"/>
              </a:ext>
            </a:extLst>
          </p:cNvPr>
          <p:cNvSpPr>
            <a:spLocks noGrp="1"/>
          </p:cNvSpPr>
          <p:nvPr>
            <p:ph type="ftr" sz="quarter" idx="11"/>
          </p:nvPr>
        </p:nvSpPr>
        <p:spPr>
          <a:xfrm>
            <a:off x="1593273" y="6356350"/>
            <a:ext cx="6428509"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E794F7B1-05CC-5952-A227-75B05748757E}"/>
              </a:ext>
            </a:extLst>
          </p:cNvPr>
          <p:cNvSpPr>
            <a:spLocks noGrp="1"/>
          </p:cNvSpPr>
          <p:nvPr>
            <p:ph type="sldNum" sz="quarter" idx="12"/>
          </p:nvPr>
        </p:nvSpPr>
        <p:spPr/>
        <p:txBody>
          <a:bodyPr/>
          <a:lstStyle/>
          <a:p>
            <a:fld id="{B6F15528-21DE-4FAA-801E-634DDDAF4B2B}" type="slidenum">
              <a:rPr lang="en-US" smtClean="0"/>
              <a:pPr/>
              <a:t>44</a:t>
            </a:fld>
            <a:endParaRPr lang="en-US" dirty="0"/>
          </a:p>
        </p:txBody>
      </p:sp>
    </p:spTree>
    <p:extLst>
      <p:ext uri="{BB962C8B-B14F-4D97-AF65-F5344CB8AC3E}">
        <p14:creationId xmlns:p14="http://schemas.microsoft.com/office/powerpoint/2010/main" val="40269780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AD8F4-E515-FD9E-C06C-F7E0EFED7E92}"/>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B893B88-9C9C-CECB-ACFC-164CA5FDF4A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DA8A8A7E-32C7-0AF5-1208-4AF69B01071D}"/>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Uniform Memory Access</a:t>
            </a:r>
            <a:br>
              <a:rPr lang="en-IN" sz="3000" dirty="0"/>
            </a:br>
            <a:r>
              <a:rPr lang="en-IN" sz="3000" dirty="0"/>
              <a:t>Non-Uniform Memory Access</a:t>
            </a:r>
          </a:p>
        </p:txBody>
      </p:sp>
      <p:sp>
        <p:nvSpPr>
          <p:cNvPr id="2" name="TextBox 1">
            <a:extLst>
              <a:ext uri="{FF2B5EF4-FFF2-40B4-BE49-F238E27FC236}">
                <a16:creationId xmlns:a16="http://schemas.microsoft.com/office/drawing/2014/main" id="{342DA16B-D8B6-2911-53AA-A3F614298B72}"/>
              </a:ext>
            </a:extLst>
          </p:cNvPr>
          <p:cNvSpPr txBox="1"/>
          <p:nvPr/>
        </p:nvSpPr>
        <p:spPr>
          <a:xfrm>
            <a:off x="131618" y="1293359"/>
            <a:ext cx="8880763" cy="1231106"/>
          </a:xfrm>
          <a:prstGeom prst="rect">
            <a:avLst/>
          </a:prstGeom>
          <a:noFill/>
        </p:spPr>
        <p:txBody>
          <a:bodyPr wrap="square" rtlCol="0">
            <a:spAutoFit/>
          </a:bodyPr>
          <a:lstStyle/>
          <a:p>
            <a:pPr algn="just"/>
            <a:r>
              <a:rPr lang="en-US" sz="2000" b="1" dirty="0"/>
              <a:t>Non-Uniform Memory Access (NUMA):</a:t>
            </a:r>
          </a:p>
          <a:p>
            <a:pPr algn="just"/>
            <a:r>
              <a:rPr lang="en-US" dirty="0"/>
              <a:t>In NUMA, where different memory controller is used. Non-uniform Memory Access is faster than uniform Memory Access. Non-uniform Memory Access is applicable for real-time applications and time-critical applications. </a:t>
            </a:r>
            <a:endParaRPr lang="en-IN" dirty="0"/>
          </a:p>
        </p:txBody>
      </p:sp>
      <p:pic>
        <p:nvPicPr>
          <p:cNvPr id="6" name="Picture 5" descr="A black background with green letters&#10;&#10;AI-generated content may be incorrect.">
            <a:extLst>
              <a:ext uri="{FF2B5EF4-FFF2-40B4-BE49-F238E27FC236}">
                <a16:creationId xmlns:a16="http://schemas.microsoft.com/office/drawing/2014/main" id="{2A4C292F-8F5C-B464-7CD4-062F901D84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7505" y="3095625"/>
            <a:ext cx="3467100" cy="3105150"/>
          </a:xfrm>
          <a:prstGeom prst="rect">
            <a:avLst/>
          </a:prstGeom>
        </p:spPr>
      </p:pic>
      <p:sp>
        <p:nvSpPr>
          <p:cNvPr id="5" name="Date Placeholder 4">
            <a:extLst>
              <a:ext uri="{FF2B5EF4-FFF2-40B4-BE49-F238E27FC236}">
                <a16:creationId xmlns:a16="http://schemas.microsoft.com/office/drawing/2014/main" id="{6038A321-20A1-A63C-BEA8-FAC6F542F1DD}"/>
              </a:ext>
            </a:extLst>
          </p:cNvPr>
          <p:cNvSpPr>
            <a:spLocks noGrp="1"/>
          </p:cNvSpPr>
          <p:nvPr>
            <p:ph type="dt" sz="half" idx="10"/>
          </p:nvPr>
        </p:nvSpPr>
        <p:spPr/>
        <p:txBody>
          <a:bodyPr/>
          <a:lstStyle/>
          <a:p>
            <a:fld id="{98DB56AA-D855-4F9B-B806-8B6B2451C2FB}" type="datetime1">
              <a:rPr lang="en-US" smtClean="0"/>
              <a:t>7/4/2025</a:t>
            </a:fld>
            <a:endParaRPr lang="en-US" dirty="0"/>
          </a:p>
        </p:txBody>
      </p:sp>
      <p:sp>
        <p:nvSpPr>
          <p:cNvPr id="7" name="Footer Placeholder 6">
            <a:extLst>
              <a:ext uri="{FF2B5EF4-FFF2-40B4-BE49-F238E27FC236}">
                <a16:creationId xmlns:a16="http://schemas.microsoft.com/office/drawing/2014/main" id="{2529222B-2801-9DF1-AA06-441990A45CC3}"/>
              </a:ext>
            </a:extLst>
          </p:cNvPr>
          <p:cNvSpPr>
            <a:spLocks noGrp="1"/>
          </p:cNvSpPr>
          <p:nvPr>
            <p:ph type="ftr" sz="quarter" idx="11"/>
          </p:nvPr>
        </p:nvSpPr>
        <p:spPr>
          <a:xfrm>
            <a:off x="1399309" y="6356350"/>
            <a:ext cx="6774873"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C818AA28-183F-CDAD-6606-3442228F8930}"/>
              </a:ext>
            </a:extLst>
          </p:cNvPr>
          <p:cNvSpPr>
            <a:spLocks noGrp="1"/>
          </p:cNvSpPr>
          <p:nvPr>
            <p:ph type="sldNum" sz="quarter" idx="12"/>
          </p:nvPr>
        </p:nvSpPr>
        <p:spPr/>
        <p:txBody>
          <a:bodyPr/>
          <a:lstStyle/>
          <a:p>
            <a:fld id="{B6F15528-21DE-4FAA-801E-634DDDAF4B2B}" type="slidenum">
              <a:rPr lang="en-US" smtClean="0"/>
              <a:pPr/>
              <a:t>45</a:t>
            </a:fld>
            <a:endParaRPr lang="en-US" dirty="0"/>
          </a:p>
        </p:txBody>
      </p:sp>
    </p:spTree>
    <p:extLst>
      <p:ext uri="{BB962C8B-B14F-4D97-AF65-F5344CB8AC3E}">
        <p14:creationId xmlns:p14="http://schemas.microsoft.com/office/powerpoint/2010/main" val="6146094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5573-93AB-E2BB-EC53-A85E540B069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F59D111-89F7-7CA1-9760-9B38752A0572}"/>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70EFE4F3-7F6D-97CA-20A8-0618B49F17D7}"/>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Uniform Memory Access</a:t>
            </a:r>
            <a:br>
              <a:rPr lang="en-IN" sz="3000" dirty="0"/>
            </a:br>
            <a:r>
              <a:rPr lang="en-IN" sz="3000" dirty="0"/>
              <a:t>Non-Uniform Memory Access</a:t>
            </a:r>
          </a:p>
        </p:txBody>
      </p:sp>
      <p:sp>
        <p:nvSpPr>
          <p:cNvPr id="2" name="TextBox 1">
            <a:extLst>
              <a:ext uri="{FF2B5EF4-FFF2-40B4-BE49-F238E27FC236}">
                <a16:creationId xmlns:a16="http://schemas.microsoft.com/office/drawing/2014/main" id="{39E9013C-601B-5FA5-070A-600326ED125C}"/>
              </a:ext>
            </a:extLst>
          </p:cNvPr>
          <p:cNvSpPr txBox="1"/>
          <p:nvPr/>
        </p:nvSpPr>
        <p:spPr>
          <a:xfrm>
            <a:off x="131618" y="1516954"/>
            <a:ext cx="8880763" cy="369332"/>
          </a:xfrm>
          <a:prstGeom prst="rect">
            <a:avLst/>
          </a:prstGeom>
          <a:noFill/>
        </p:spPr>
        <p:txBody>
          <a:bodyPr wrap="square" rtlCol="0">
            <a:spAutoFit/>
          </a:bodyPr>
          <a:lstStyle/>
          <a:p>
            <a:pPr fontAlgn="base"/>
            <a:r>
              <a:rPr lang="en-US" b="1" dirty="0"/>
              <a:t>Difference between UMA and NUMA</a:t>
            </a:r>
          </a:p>
        </p:txBody>
      </p:sp>
      <p:graphicFrame>
        <p:nvGraphicFramePr>
          <p:cNvPr id="5" name="Table 4">
            <a:extLst>
              <a:ext uri="{FF2B5EF4-FFF2-40B4-BE49-F238E27FC236}">
                <a16:creationId xmlns:a16="http://schemas.microsoft.com/office/drawing/2014/main" id="{68E47539-F802-C7D8-75AA-91FFFF54900D}"/>
              </a:ext>
            </a:extLst>
          </p:cNvPr>
          <p:cNvGraphicFramePr>
            <a:graphicFrameLocks noGrp="1"/>
          </p:cNvGraphicFramePr>
          <p:nvPr>
            <p:extLst>
              <p:ext uri="{D42A27DB-BD31-4B8C-83A1-F6EECF244321}">
                <p14:modId xmlns:p14="http://schemas.microsoft.com/office/powerpoint/2010/main" val="168286233"/>
              </p:ext>
            </p:extLst>
          </p:nvPr>
        </p:nvGraphicFramePr>
        <p:xfrm>
          <a:off x="346363" y="2105891"/>
          <a:ext cx="8229600" cy="3977094"/>
        </p:xfrm>
        <a:graphic>
          <a:graphicData uri="http://schemas.openxmlformats.org/drawingml/2006/table">
            <a:tbl>
              <a:tblPr/>
              <a:tblGrid>
                <a:gridCol w="2743200">
                  <a:extLst>
                    <a:ext uri="{9D8B030D-6E8A-4147-A177-3AD203B41FA5}">
                      <a16:colId xmlns:a16="http://schemas.microsoft.com/office/drawing/2014/main" val="9640891"/>
                    </a:ext>
                  </a:extLst>
                </a:gridCol>
                <a:gridCol w="2743200">
                  <a:extLst>
                    <a:ext uri="{9D8B030D-6E8A-4147-A177-3AD203B41FA5}">
                      <a16:colId xmlns:a16="http://schemas.microsoft.com/office/drawing/2014/main" val="3051780394"/>
                    </a:ext>
                  </a:extLst>
                </a:gridCol>
                <a:gridCol w="2743200">
                  <a:extLst>
                    <a:ext uri="{9D8B030D-6E8A-4147-A177-3AD203B41FA5}">
                      <a16:colId xmlns:a16="http://schemas.microsoft.com/office/drawing/2014/main" val="1213667090"/>
                    </a:ext>
                  </a:extLst>
                </a:gridCol>
              </a:tblGrid>
              <a:tr h="482072">
                <a:tc>
                  <a:txBody>
                    <a:bodyPr/>
                    <a:lstStyle/>
                    <a:p>
                      <a:r>
                        <a:rPr lang="en-IN"/>
                        <a:t>Feature</a:t>
                      </a:r>
                    </a:p>
                  </a:txBody>
                  <a:tcPr anchor="ctr">
                    <a:lnL>
                      <a:noFill/>
                    </a:lnL>
                    <a:lnR>
                      <a:noFill/>
                    </a:lnR>
                    <a:lnT>
                      <a:noFill/>
                    </a:lnT>
                    <a:lnB>
                      <a:noFill/>
                    </a:lnB>
                    <a:noFill/>
                  </a:tcPr>
                </a:tc>
                <a:tc>
                  <a:txBody>
                    <a:bodyPr/>
                    <a:lstStyle/>
                    <a:p>
                      <a:r>
                        <a:rPr lang="en-IN"/>
                        <a:t>UMA</a:t>
                      </a:r>
                    </a:p>
                  </a:txBody>
                  <a:tcPr anchor="ctr">
                    <a:lnL>
                      <a:noFill/>
                    </a:lnL>
                    <a:lnR>
                      <a:noFill/>
                    </a:lnR>
                    <a:lnT>
                      <a:noFill/>
                    </a:lnT>
                    <a:lnB>
                      <a:noFill/>
                    </a:lnB>
                    <a:noFill/>
                  </a:tcPr>
                </a:tc>
                <a:tc>
                  <a:txBody>
                    <a:bodyPr/>
                    <a:lstStyle/>
                    <a:p>
                      <a:r>
                        <a:rPr lang="en-IN"/>
                        <a:t>NUMA</a:t>
                      </a:r>
                    </a:p>
                  </a:txBody>
                  <a:tcPr anchor="ctr">
                    <a:lnL>
                      <a:noFill/>
                    </a:lnL>
                    <a:lnR>
                      <a:noFill/>
                    </a:lnR>
                    <a:lnT>
                      <a:noFill/>
                    </a:lnT>
                    <a:lnB>
                      <a:noFill/>
                    </a:lnB>
                    <a:noFill/>
                  </a:tcPr>
                </a:tc>
                <a:extLst>
                  <a:ext uri="{0D108BD9-81ED-4DB2-BD59-A6C34878D82A}">
                    <a16:rowId xmlns:a16="http://schemas.microsoft.com/office/drawing/2014/main" val="1171191910"/>
                  </a:ext>
                </a:extLst>
              </a:tr>
              <a:tr h="843626">
                <a:tc>
                  <a:txBody>
                    <a:bodyPr/>
                    <a:lstStyle/>
                    <a:p>
                      <a:r>
                        <a:rPr lang="en-IN"/>
                        <a:t>Latency</a:t>
                      </a:r>
                    </a:p>
                  </a:txBody>
                  <a:tcPr anchor="ctr">
                    <a:lnL>
                      <a:noFill/>
                    </a:lnL>
                    <a:lnR>
                      <a:noFill/>
                    </a:lnR>
                    <a:lnT>
                      <a:noFill/>
                    </a:lnT>
                    <a:lnB>
                      <a:noFill/>
                    </a:lnB>
                    <a:noFill/>
                  </a:tcPr>
                </a:tc>
                <a:tc>
                  <a:txBody>
                    <a:bodyPr/>
                    <a:lstStyle/>
                    <a:p>
                      <a:r>
                        <a:rPr lang="en-IN"/>
                        <a:t>Uniform across all CPUs</a:t>
                      </a:r>
                    </a:p>
                  </a:txBody>
                  <a:tcPr anchor="ctr">
                    <a:lnL>
                      <a:noFill/>
                    </a:lnL>
                    <a:lnR>
                      <a:noFill/>
                    </a:lnR>
                    <a:lnT>
                      <a:noFill/>
                    </a:lnT>
                    <a:lnB>
                      <a:noFill/>
                    </a:lnB>
                    <a:noFill/>
                  </a:tcPr>
                </a:tc>
                <a:tc>
                  <a:txBody>
                    <a:bodyPr/>
                    <a:lstStyle/>
                    <a:p>
                      <a:r>
                        <a:rPr lang="en-US"/>
                        <a:t>Lower for local node, higher for remote</a:t>
                      </a:r>
                    </a:p>
                  </a:txBody>
                  <a:tcPr anchor="ctr">
                    <a:lnL>
                      <a:noFill/>
                    </a:lnL>
                    <a:lnR>
                      <a:noFill/>
                    </a:lnR>
                    <a:lnT>
                      <a:noFill/>
                    </a:lnT>
                    <a:lnB>
                      <a:noFill/>
                    </a:lnB>
                    <a:noFill/>
                  </a:tcPr>
                </a:tc>
                <a:extLst>
                  <a:ext uri="{0D108BD9-81ED-4DB2-BD59-A6C34878D82A}">
                    <a16:rowId xmlns:a16="http://schemas.microsoft.com/office/drawing/2014/main" val="1794768700"/>
                  </a:ext>
                </a:extLst>
              </a:tr>
              <a:tr h="482072">
                <a:tc>
                  <a:txBody>
                    <a:bodyPr/>
                    <a:lstStyle/>
                    <a:p>
                      <a:r>
                        <a:rPr lang="en-IN"/>
                        <a:t>Memory Controllers</a:t>
                      </a:r>
                    </a:p>
                  </a:txBody>
                  <a:tcPr anchor="ctr">
                    <a:lnL>
                      <a:noFill/>
                    </a:lnL>
                    <a:lnR>
                      <a:noFill/>
                    </a:lnR>
                    <a:lnT>
                      <a:noFill/>
                    </a:lnT>
                    <a:lnB>
                      <a:noFill/>
                    </a:lnB>
                    <a:noFill/>
                  </a:tcPr>
                </a:tc>
                <a:tc>
                  <a:txBody>
                    <a:bodyPr/>
                    <a:lstStyle/>
                    <a:p>
                      <a:r>
                        <a:rPr lang="en-IN" dirty="0"/>
                        <a:t>Single centralized</a:t>
                      </a:r>
                    </a:p>
                  </a:txBody>
                  <a:tcPr anchor="ctr">
                    <a:lnL>
                      <a:noFill/>
                    </a:lnL>
                    <a:lnR>
                      <a:noFill/>
                    </a:lnR>
                    <a:lnT>
                      <a:noFill/>
                    </a:lnT>
                    <a:lnB>
                      <a:noFill/>
                    </a:lnB>
                    <a:noFill/>
                  </a:tcPr>
                </a:tc>
                <a:tc>
                  <a:txBody>
                    <a:bodyPr/>
                    <a:lstStyle/>
                    <a:p>
                      <a:r>
                        <a:rPr lang="en-IN"/>
                        <a:t>Multiple (one per node)</a:t>
                      </a:r>
                    </a:p>
                  </a:txBody>
                  <a:tcPr anchor="ctr">
                    <a:lnL>
                      <a:noFill/>
                    </a:lnL>
                    <a:lnR>
                      <a:noFill/>
                    </a:lnR>
                    <a:lnT>
                      <a:noFill/>
                    </a:lnT>
                    <a:lnB>
                      <a:noFill/>
                    </a:lnB>
                    <a:noFill/>
                  </a:tcPr>
                </a:tc>
                <a:extLst>
                  <a:ext uri="{0D108BD9-81ED-4DB2-BD59-A6C34878D82A}">
                    <a16:rowId xmlns:a16="http://schemas.microsoft.com/office/drawing/2014/main" val="2016847384"/>
                  </a:ext>
                </a:extLst>
              </a:tr>
              <a:tr h="482072">
                <a:tc>
                  <a:txBody>
                    <a:bodyPr/>
                    <a:lstStyle/>
                    <a:p>
                      <a:r>
                        <a:rPr lang="en-IN"/>
                        <a:t>Scalability</a:t>
                      </a:r>
                    </a:p>
                  </a:txBody>
                  <a:tcPr anchor="ctr">
                    <a:lnL>
                      <a:noFill/>
                    </a:lnL>
                    <a:lnR>
                      <a:noFill/>
                    </a:lnR>
                    <a:lnT>
                      <a:noFill/>
                    </a:lnT>
                    <a:lnB>
                      <a:noFill/>
                    </a:lnB>
                    <a:noFill/>
                  </a:tcPr>
                </a:tc>
                <a:tc>
                  <a:txBody>
                    <a:bodyPr/>
                    <a:lstStyle/>
                    <a:p>
                      <a:r>
                        <a:rPr lang="en-IN"/>
                        <a:t>Limited beyond few CPUs</a:t>
                      </a:r>
                    </a:p>
                  </a:txBody>
                  <a:tcPr anchor="ctr">
                    <a:lnL>
                      <a:noFill/>
                    </a:lnL>
                    <a:lnR>
                      <a:noFill/>
                    </a:lnR>
                    <a:lnT>
                      <a:noFill/>
                    </a:lnT>
                    <a:lnB>
                      <a:noFill/>
                    </a:lnB>
                    <a:noFill/>
                  </a:tcPr>
                </a:tc>
                <a:tc>
                  <a:txBody>
                    <a:bodyPr/>
                    <a:lstStyle/>
                    <a:p>
                      <a:r>
                        <a:rPr lang="en-IN"/>
                        <a:t>Highly scalable</a:t>
                      </a:r>
                    </a:p>
                  </a:txBody>
                  <a:tcPr anchor="ctr">
                    <a:lnL>
                      <a:noFill/>
                    </a:lnL>
                    <a:lnR>
                      <a:noFill/>
                    </a:lnR>
                    <a:lnT>
                      <a:noFill/>
                    </a:lnT>
                    <a:lnB>
                      <a:noFill/>
                    </a:lnB>
                    <a:noFill/>
                  </a:tcPr>
                </a:tc>
                <a:extLst>
                  <a:ext uri="{0D108BD9-81ED-4DB2-BD59-A6C34878D82A}">
                    <a16:rowId xmlns:a16="http://schemas.microsoft.com/office/drawing/2014/main" val="663713769"/>
                  </a:ext>
                </a:extLst>
              </a:tr>
              <a:tr h="843626">
                <a:tc>
                  <a:txBody>
                    <a:bodyPr/>
                    <a:lstStyle/>
                    <a:p>
                      <a:r>
                        <a:rPr lang="en-IN"/>
                        <a:t>Implementation Cost</a:t>
                      </a:r>
                    </a:p>
                  </a:txBody>
                  <a:tcPr anchor="ctr">
                    <a:lnL>
                      <a:noFill/>
                    </a:lnL>
                    <a:lnR>
                      <a:noFill/>
                    </a:lnR>
                    <a:lnT>
                      <a:noFill/>
                    </a:lnT>
                    <a:lnB>
                      <a:noFill/>
                    </a:lnB>
                    <a:noFill/>
                  </a:tcPr>
                </a:tc>
                <a:tc>
                  <a:txBody>
                    <a:bodyPr/>
                    <a:lstStyle/>
                    <a:p>
                      <a:r>
                        <a:rPr lang="en-IN"/>
                        <a:t>Lower, simpler hardware/software</a:t>
                      </a:r>
                    </a:p>
                  </a:txBody>
                  <a:tcPr anchor="ctr">
                    <a:lnL>
                      <a:noFill/>
                    </a:lnL>
                    <a:lnR>
                      <a:noFill/>
                    </a:lnR>
                    <a:lnT>
                      <a:noFill/>
                    </a:lnT>
                    <a:lnB>
                      <a:noFill/>
                    </a:lnB>
                    <a:noFill/>
                  </a:tcPr>
                </a:tc>
                <a:tc>
                  <a:txBody>
                    <a:bodyPr/>
                    <a:lstStyle/>
                    <a:p>
                      <a:r>
                        <a:rPr lang="en-IN"/>
                        <a:t>Higher, more complex</a:t>
                      </a:r>
                    </a:p>
                  </a:txBody>
                  <a:tcPr anchor="ctr">
                    <a:lnL>
                      <a:noFill/>
                    </a:lnL>
                    <a:lnR>
                      <a:noFill/>
                    </a:lnR>
                    <a:lnT>
                      <a:noFill/>
                    </a:lnT>
                    <a:lnB>
                      <a:noFill/>
                    </a:lnB>
                    <a:noFill/>
                  </a:tcPr>
                </a:tc>
                <a:extLst>
                  <a:ext uri="{0D108BD9-81ED-4DB2-BD59-A6C34878D82A}">
                    <a16:rowId xmlns:a16="http://schemas.microsoft.com/office/drawing/2014/main" val="3826277848"/>
                  </a:ext>
                </a:extLst>
              </a:tr>
              <a:tr h="843626">
                <a:tc>
                  <a:txBody>
                    <a:bodyPr/>
                    <a:lstStyle/>
                    <a:p>
                      <a:r>
                        <a:rPr lang="en-IN"/>
                        <a:t>Bandwidth</a:t>
                      </a:r>
                    </a:p>
                  </a:txBody>
                  <a:tcPr anchor="ctr">
                    <a:lnL>
                      <a:noFill/>
                    </a:lnL>
                    <a:lnR>
                      <a:noFill/>
                    </a:lnR>
                    <a:lnT>
                      <a:noFill/>
                    </a:lnT>
                    <a:lnB>
                      <a:noFill/>
                    </a:lnB>
                    <a:noFill/>
                  </a:tcPr>
                </a:tc>
                <a:tc>
                  <a:txBody>
                    <a:bodyPr/>
                    <a:lstStyle/>
                    <a:p>
                      <a:r>
                        <a:rPr lang="en-US"/>
                        <a:t>Shared, becomes bottleneck under load</a:t>
                      </a:r>
                    </a:p>
                  </a:txBody>
                  <a:tcPr anchor="ctr">
                    <a:lnL>
                      <a:noFill/>
                    </a:lnL>
                    <a:lnR>
                      <a:noFill/>
                    </a:lnR>
                    <a:lnT>
                      <a:noFill/>
                    </a:lnT>
                    <a:lnB>
                      <a:noFill/>
                    </a:lnB>
                    <a:noFill/>
                  </a:tcPr>
                </a:tc>
                <a:tc>
                  <a:txBody>
                    <a:bodyPr/>
                    <a:lstStyle/>
                    <a:p>
                      <a:r>
                        <a:rPr lang="en-US" dirty="0"/>
                        <a:t>Higher total bandwidth via nodes</a:t>
                      </a:r>
                    </a:p>
                  </a:txBody>
                  <a:tcPr anchor="ctr">
                    <a:lnL>
                      <a:noFill/>
                    </a:lnL>
                    <a:lnR>
                      <a:noFill/>
                    </a:lnR>
                    <a:lnT>
                      <a:noFill/>
                    </a:lnT>
                    <a:lnB>
                      <a:noFill/>
                    </a:lnB>
                    <a:noFill/>
                  </a:tcPr>
                </a:tc>
                <a:extLst>
                  <a:ext uri="{0D108BD9-81ED-4DB2-BD59-A6C34878D82A}">
                    <a16:rowId xmlns:a16="http://schemas.microsoft.com/office/drawing/2014/main" val="2113799188"/>
                  </a:ext>
                </a:extLst>
              </a:tr>
            </a:tbl>
          </a:graphicData>
        </a:graphic>
      </p:graphicFrame>
      <p:sp>
        <p:nvSpPr>
          <p:cNvPr id="6" name="Date Placeholder 5">
            <a:extLst>
              <a:ext uri="{FF2B5EF4-FFF2-40B4-BE49-F238E27FC236}">
                <a16:creationId xmlns:a16="http://schemas.microsoft.com/office/drawing/2014/main" id="{5A7662E4-B4B9-6356-E519-F016A07390D6}"/>
              </a:ext>
            </a:extLst>
          </p:cNvPr>
          <p:cNvSpPr>
            <a:spLocks noGrp="1"/>
          </p:cNvSpPr>
          <p:nvPr>
            <p:ph type="dt" sz="half" idx="10"/>
          </p:nvPr>
        </p:nvSpPr>
        <p:spPr/>
        <p:txBody>
          <a:bodyPr/>
          <a:lstStyle/>
          <a:p>
            <a:fld id="{17287C2C-0B09-4F98-B736-AB27DD13B703}" type="datetime1">
              <a:rPr lang="en-US" smtClean="0"/>
              <a:t>7/4/2025</a:t>
            </a:fld>
            <a:endParaRPr lang="en-US" dirty="0"/>
          </a:p>
        </p:txBody>
      </p:sp>
      <p:sp>
        <p:nvSpPr>
          <p:cNvPr id="7" name="Footer Placeholder 6">
            <a:extLst>
              <a:ext uri="{FF2B5EF4-FFF2-40B4-BE49-F238E27FC236}">
                <a16:creationId xmlns:a16="http://schemas.microsoft.com/office/drawing/2014/main" id="{11275C57-CA43-A91F-BC09-3E1DAE21CFAF}"/>
              </a:ext>
            </a:extLst>
          </p:cNvPr>
          <p:cNvSpPr>
            <a:spLocks noGrp="1"/>
          </p:cNvSpPr>
          <p:nvPr>
            <p:ph type="ftr" sz="quarter" idx="11"/>
          </p:nvPr>
        </p:nvSpPr>
        <p:spPr>
          <a:xfrm>
            <a:off x="1233055" y="6356350"/>
            <a:ext cx="6691745"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41590850-0367-0496-CB67-4F9ABF0A8BD0}"/>
              </a:ext>
            </a:extLst>
          </p:cNvPr>
          <p:cNvSpPr>
            <a:spLocks noGrp="1"/>
          </p:cNvSpPr>
          <p:nvPr>
            <p:ph type="sldNum" sz="quarter" idx="12"/>
          </p:nvPr>
        </p:nvSpPr>
        <p:spPr/>
        <p:txBody>
          <a:bodyPr/>
          <a:lstStyle/>
          <a:p>
            <a:fld id="{B6F15528-21DE-4FAA-801E-634DDDAF4B2B}" type="slidenum">
              <a:rPr lang="en-US" smtClean="0"/>
              <a:pPr/>
              <a:t>46</a:t>
            </a:fld>
            <a:endParaRPr lang="en-US" dirty="0"/>
          </a:p>
        </p:txBody>
      </p:sp>
    </p:spTree>
    <p:extLst>
      <p:ext uri="{BB962C8B-B14F-4D97-AF65-F5344CB8AC3E}">
        <p14:creationId xmlns:p14="http://schemas.microsoft.com/office/powerpoint/2010/main" val="33442388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7DBB-5CAB-0EF9-8A34-71DB9733220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72AA929E-1ED3-9C23-8F9E-E3A711B640B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E967158-759B-AA41-2D91-D187D0DE223E}"/>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Multithreading vs Multiprocessing</a:t>
            </a:r>
          </a:p>
        </p:txBody>
      </p:sp>
      <p:sp>
        <p:nvSpPr>
          <p:cNvPr id="2" name="TextBox 1">
            <a:extLst>
              <a:ext uri="{FF2B5EF4-FFF2-40B4-BE49-F238E27FC236}">
                <a16:creationId xmlns:a16="http://schemas.microsoft.com/office/drawing/2014/main" id="{42CA9BAA-BB8E-2D58-8087-B3FFA20EA722}"/>
              </a:ext>
            </a:extLst>
          </p:cNvPr>
          <p:cNvSpPr txBox="1"/>
          <p:nvPr/>
        </p:nvSpPr>
        <p:spPr>
          <a:xfrm>
            <a:off x="263236" y="1034364"/>
            <a:ext cx="8880763" cy="2308324"/>
          </a:xfrm>
          <a:prstGeom prst="rect">
            <a:avLst/>
          </a:prstGeom>
          <a:noFill/>
        </p:spPr>
        <p:txBody>
          <a:bodyPr wrap="square" rtlCol="0">
            <a:spAutoFit/>
          </a:bodyPr>
          <a:lstStyle/>
          <a:p>
            <a:pPr fontAlgn="base"/>
            <a:r>
              <a:rPr lang="en-US" b="1" dirty="0"/>
              <a:t>Multiprocessing: </a:t>
            </a:r>
          </a:p>
          <a:p>
            <a:pPr fontAlgn="base"/>
            <a:endParaRPr lang="en-US" b="1" dirty="0"/>
          </a:p>
          <a:p>
            <a:pPr fontAlgn="base"/>
            <a:r>
              <a:rPr lang="en-US" dirty="0"/>
              <a:t>Multiprocessing is a system that has more than one or two processors. In Multiprocessing, CPUs are added to increase the computing speed of the system. Because of Multiprocessing, There are many processes are executed simultaneously. Explore more about similar topics. Multiprocessing is classified into two categories:</a:t>
            </a:r>
            <a:br>
              <a:rPr lang="en-US" dirty="0"/>
            </a:br>
            <a:endParaRPr lang="en-US" dirty="0"/>
          </a:p>
          <a:p>
            <a:pPr algn="just" fontAlgn="base"/>
            <a:endParaRPr lang="en-US" dirty="0"/>
          </a:p>
        </p:txBody>
      </p:sp>
      <p:pic>
        <p:nvPicPr>
          <p:cNvPr id="10" name="Picture 9" descr="A screenshot of a computer&#10;&#10;AI-generated content may be incorrect.">
            <a:extLst>
              <a:ext uri="{FF2B5EF4-FFF2-40B4-BE49-F238E27FC236}">
                <a16:creationId xmlns:a16="http://schemas.microsoft.com/office/drawing/2014/main" id="{EB8596A9-F391-497A-1CF1-DBC532F5BD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9" y="3077517"/>
            <a:ext cx="3983783" cy="3392556"/>
          </a:xfrm>
          <a:prstGeom prst="rect">
            <a:avLst/>
          </a:prstGeom>
        </p:spPr>
      </p:pic>
      <p:sp>
        <p:nvSpPr>
          <p:cNvPr id="11" name="TextBox 10">
            <a:extLst>
              <a:ext uri="{FF2B5EF4-FFF2-40B4-BE49-F238E27FC236}">
                <a16:creationId xmlns:a16="http://schemas.microsoft.com/office/drawing/2014/main" id="{DE7C8CFB-B72B-7582-8CC2-DF69700300D3}"/>
              </a:ext>
            </a:extLst>
          </p:cNvPr>
          <p:cNvSpPr txBox="1"/>
          <p:nvPr/>
        </p:nvSpPr>
        <p:spPr>
          <a:xfrm>
            <a:off x="263236" y="2828836"/>
            <a:ext cx="3983783" cy="923330"/>
          </a:xfrm>
          <a:prstGeom prst="rect">
            <a:avLst/>
          </a:prstGeom>
          <a:noFill/>
        </p:spPr>
        <p:txBody>
          <a:bodyPr wrap="none" rtlCol="0">
            <a:spAutoFit/>
          </a:bodyPr>
          <a:lstStyle/>
          <a:p>
            <a:r>
              <a:rPr lang="en-US" b="1" dirty="0"/>
              <a:t>1.    </a:t>
            </a:r>
            <a:r>
              <a:rPr lang="en-US" altLang="en-US" dirty="0">
                <a:latin typeface="Consolas" panose="020B0609020204030204" pitchFamily="49" charset="0"/>
              </a:rPr>
              <a:t>Symmetric Multiprocessing</a:t>
            </a:r>
            <a:br>
              <a:rPr lang="en-US" altLang="en-US" dirty="0">
                <a:latin typeface="Consolas" panose="020B0609020204030204" pitchFamily="49" charset="0"/>
              </a:rPr>
            </a:br>
            <a:r>
              <a:rPr lang="en-US" altLang="en-US" b="1" dirty="0">
                <a:latin typeface="Consolas" panose="020B0609020204030204" pitchFamily="49" charset="0"/>
              </a:rPr>
              <a:t>2.</a:t>
            </a:r>
            <a:r>
              <a:rPr lang="en-US" altLang="en-US" dirty="0">
                <a:latin typeface="Consolas" panose="020B0609020204030204" pitchFamily="49" charset="0"/>
              </a:rPr>
              <a:t> Asymmetric Multiprocessing </a:t>
            </a:r>
            <a:endParaRPr lang="en-US" altLang="en-US" sz="2800" dirty="0">
              <a:latin typeface="Arial" panose="020B0604020202020204" pitchFamily="34" charset="0"/>
            </a:endParaRPr>
          </a:p>
          <a:p>
            <a:endParaRPr lang="en-IN" dirty="0"/>
          </a:p>
        </p:txBody>
      </p:sp>
      <p:sp>
        <p:nvSpPr>
          <p:cNvPr id="12" name="TextBox 11">
            <a:extLst>
              <a:ext uri="{FF2B5EF4-FFF2-40B4-BE49-F238E27FC236}">
                <a16:creationId xmlns:a16="http://schemas.microsoft.com/office/drawing/2014/main" id="{2EA2CD71-A113-C609-5F32-A72F5148C46A}"/>
              </a:ext>
            </a:extLst>
          </p:cNvPr>
          <p:cNvSpPr txBox="1"/>
          <p:nvPr/>
        </p:nvSpPr>
        <p:spPr>
          <a:xfrm>
            <a:off x="263235" y="3515313"/>
            <a:ext cx="3983783" cy="3139321"/>
          </a:xfrm>
          <a:prstGeom prst="rect">
            <a:avLst/>
          </a:prstGeom>
          <a:noFill/>
        </p:spPr>
        <p:txBody>
          <a:bodyPr wrap="square" rtlCol="0">
            <a:spAutoFit/>
          </a:bodyPr>
          <a:lstStyle/>
          <a:p>
            <a:pPr fontAlgn="base"/>
            <a:r>
              <a:rPr lang="en-US" b="1" dirty="0"/>
              <a:t>Advantages</a:t>
            </a:r>
          </a:p>
          <a:p>
            <a:pPr marL="285750" indent="-285750" fontAlgn="base">
              <a:buFont typeface="Wingdings" panose="05000000000000000000" pitchFamily="2" charset="2"/>
              <a:buChar char="Ø"/>
            </a:pPr>
            <a:r>
              <a:rPr lang="en-US" dirty="0"/>
              <a:t>Increases computing power by utilizing multiple processors.</a:t>
            </a:r>
          </a:p>
          <a:p>
            <a:pPr marL="285750" indent="-285750" fontAlgn="base">
              <a:buFont typeface="Wingdings" panose="05000000000000000000" pitchFamily="2" charset="2"/>
              <a:buChar char="Ø"/>
            </a:pPr>
            <a:r>
              <a:rPr lang="en-US" dirty="0"/>
              <a:t>Suitable for tasks that require heavy computational power.</a:t>
            </a:r>
          </a:p>
          <a:p>
            <a:pPr fontAlgn="base"/>
            <a:r>
              <a:rPr lang="en-US" b="1" dirty="0"/>
              <a:t>Disadvantages</a:t>
            </a:r>
          </a:p>
          <a:p>
            <a:pPr marL="285750" indent="-285750" fontAlgn="base">
              <a:buFont typeface="Wingdings" panose="05000000000000000000" pitchFamily="2" charset="2"/>
              <a:buChar char="Ø"/>
            </a:pPr>
            <a:r>
              <a:rPr lang="en-US" dirty="0"/>
              <a:t>Process creation is time-consuming.</a:t>
            </a:r>
          </a:p>
          <a:p>
            <a:pPr marL="285750" indent="-285750" fontAlgn="base">
              <a:buFont typeface="Wingdings" panose="05000000000000000000" pitchFamily="2" charset="2"/>
              <a:buChar char="Ø"/>
            </a:pPr>
            <a:r>
              <a:rPr lang="en-US" dirty="0"/>
              <a:t>Each process has its own address space, which can lead to higher memory usage.</a:t>
            </a:r>
          </a:p>
          <a:p>
            <a:endParaRPr lang="en-IN" dirty="0"/>
          </a:p>
        </p:txBody>
      </p:sp>
      <p:sp>
        <p:nvSpPr>
          <p:cNvPr id="5" name="Date Placeholder 4">
            <a:extLst>
              <a:ext uri="{FF2B5EF4-FFF2-40B4-BE49-F238E27FC236}">
                <a16:creationId xmlns:a16="http://schemas.microsoft.com/office/drawing/2014/main" id="{86DC75D6-393E-DB0A-7EEA-988C6C37FBE1}"/>
              </a:ext>
            </a:extLst>
          </p:cNvPr>
          <p:cNvSpPr>
            <a:spLocks noGrp="1"/>
          </p:cNvSpPr>
          <p:nvPr>
            <p:ph type="dt" sz="half" idx="10"/>
          </p:nvPr>
        </p:nvSpPr>
        <p:spPr/>
        <p:txBody>
          <a:bodyPr/>
          <a:lstStyle/>
          <a:p>
            <a:fld id="{6E3EA876-8AC1-44C6-9A27-C10843690E65}" type="datetime1">
              <a:rPr lang="en-US" smtClean="0"/>
              <a:t>7/4/2025</a:t>
            </a:fld>
            <a:endParaRPr lang="en-US" dirty="0"/>
          </a:p>
        </p:txBody>
      </p:sp>
      <p:sp>
        <p:nvSpPr>
          <p:cNvPr id="6" name="Footer Placeholder 5">
            <a:extLst>
              <a:ext uri="{FF2B5EF4-FFF2-40B4-BE49-F238E27FC236}">
                <a16:creationId xmlns:a16="http://schemas.microsoft.com/office/drawing/2014/main" id="{5A468893-FB92-93F3-B86E-E2EC1EAC4815}"/>
              </a:ext>
            </a:extLst>
          </p:cNvPr>
          <p:cNvSpPr>
            <a:spLocks noGrp="1"/>
          </p:cNvSpPr>
          <p:nvPr>
            <p:ph type="ftr" sz="quarter" idx="11"/>
          </p:nvPr>
        </p:nvSpPr>
        <p:spPr>
          <a:xfrm>
            <a:off x="1302327" y="6356350"/>
            <a:ext cx="6553200" cy="365125"/>
          </a:xfrm>
        </p:spPr>
        <p:txBody>
          <a:bodyPr/>
          <a:lstStyle/>
          <a:p>
            <a:r>
              <a:rPr lang="en-US" dirty="0"/>
              <a:t>Mr. Anshul Varshney               High Performance computing                   Unit 2</a:t>
            </a:r>
          </a:p>
        </p:txBody>
      </p:sp>
      <p:sp>
        <p:nvSpPr>
          <p:cNvPr id="7" name="Slide Number Placeholder 6">
            <a:extLst>
              <a:ext uri="{FF2B5EF4-FFF2-40B4-BE49-F238E27FC236}">
                <a16:creationId xmlns:a16="http://schemas.microsoft.com/office/drawing/2014/main" id="{4026BECA-65E0-D7E2-E394-799D475CA43C}"/>
              </a:ext>
            </a:extLst>
          </p:cNvPr>
          <p:cNvSpPr>
            <a:spLocks noGrp="1"/>
          </p:cNvSpPr>
          <p:nvPr>
            <p:ph type="sldNum" sz="quarter" idx="12"/>
          </p:nvPr>
        </p:nvSpPr>
        <p:spPr/>
        <p:txBody>
          <a:bodyPr/>
          <a:lstStyle/>
          <a:p>
            <a:fld id="{B6F15528-21DE-4FAA-801E-634DDDAF4B2B}" type="slidenum">
              <a:rPr lang="en-US" smtClean="0"/>
              <a:pPr/>
              <a:t>47</a:t>
            </a:fld>
            <a:endParaRPr lang="en-US" dirty="0"/>
          </a:p>
        </p:txBody>
      </p:sp>
    </p:spTree>
    <p:extLst>
      <p:ext uri="{BB962C8B-B14F-4D97-AF65-F5344CB8AC3E}">
        <p14:creationId xmlns:p14="http://schemas.microsoft.com/office/powerpoint/2010/main" val="19934352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A2C96-105E-1118-DA3D-F89E8E6A6784}"/>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718B211-C53D-7BD3-0CC6-BE0AB64E4D8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74A7A7B2-C367-D07C-73C9-C49701034163}"/>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Multithreading vs Multiprocessing</a:t>
            </a:r>
          </a:p>
        </p:txBody>
      </p:sp>
      <p:sp>
        <p:nvSpPr>
          <p:cNvPr id="2" name="TextBox 1">
            <a:extLst>
              <a:ext uri="{FF2B5EF4-FFF2-40B4-BE49-F238E27FC236}">
                <a16:creationId xmlns:a16="http://schemas.microsoft.com/office/drawing/2014/main" id="{6080093F-A93E-77CD-B8D3-696D595383F3}"/>
              </a:ext>
            </a:extLst>
          </p:cNvPr>
          <p:cNvSpPr txBox="1"/>
          <p:nvPr/>
        </p:nvSpPr>
        <p:spPr>
          <a:xfrm>
            <a:off x="131618" y="1115384"/>
            <a:ext cx="8880763" cy="1754326"/>
          </a:xfrm>
          <a:prstGeom prst="rect">
            <a:avLst/>
          </a:prstGeom>
          <a:noFill/>
        </p:spPr>
        <p:txBody>
          <a:bodyPr wrap="square" rtlCol="0">
            <a:spAutoFit/>
          </a:bodyPr>
          <a:lstStyle/>
          <a:p>
            <a:pPr fontAlgn="base"/>
            <a:r>
              <a:rPr lang="en-US" b="1" dirty="0"/>
              <a:t>Multithreading:</a:t>
            </a:r>
          </a:p>
          <a:p>
            <a:pPr fontAlgn="base"/>
            <a:endParaRPr lang="en-US" b="1" dirty="0"/>
          </a:p>
          <a:p>
            <a:pPr fontAlgn="base"/>
            <a:r>
              <a:rPr lang="en-US" dirty="0"/>
              <a:t>Multithreading is a system in which multiple threads are created of a process for increasing the computing speed of the system. In multithreading, many threads of a process are executed simultaneously and process creation in multithreading is done according to economical. </a:t>
            </a:r>
          </a:p>
        </p:txBody>
      </p:sp>
      <p:sp>
        <p:nvSpPr>
          <p:cNvPr id="11" name="TextBox 10">
            <a:extLst>
              <a:ext uri="{FF2B5EF4-FFF2-40B4-BE49-F238E27FC236}">
                <a16:creationId xmlns:a16="http://schemas.microsoft.com/office/drawing/2014/main" id="{294814C5-CD0E-4549-DDD6-1F29DD404A80}"/>
              </a:ext>
            </a:extLst>
          </p:cNvPr>
          <p:cNvSpPr txBox="1"/>
          <p:nvPr/>
        </p:nvSpPr>
        <p:spPr>
          <a:xfrm>
            <a:off x="131618" y="2869710"/>
            <a:ext cx="3782628" cy="3416320"/>
          </a:xfrm>
          <a:prstGeom prst="rect">
            <a:avLst/>
          </a:prstGeom>
          <a:noFill/>
        </p:spPr>
        <p:txBody>
          <a:bodyPr wrap="square" rtlCol="0">
            <a:spAutoFit/>
          </a:bodyPr>
          <a:lstStyle/>
          <a:p>
            <a:pPr fontAlgn="base"/>
            <a:r>
              <a:rPr lang="en-US" b="1" dirty="0"/>
              <a:t>Advantages</a:t>
            </a:r>
          </a:p>
          <a:p>
            <a:pPr marL="285750" indent="-285750" fontAlgn="base">
              <a:buFont typeface="Wingdings" panose="05000000000000000000" pitchFamily="2" charset="2"/>
              <a:buChar char="Ø"/>
            </a:pPr>
            <a:r>
              <a:rPr lang="en-US" dirty="0"/>
              <a:t>More efficient than multiprocessing for tasks within a single process.</a:t>
            </a:r>
          </a:p>
          <a:p>
            <a:pPr marL="285750" indent="-285750" fontAlgn="base">
              <a:buFont typeface="Wingdings" panose="05000000000000000000" pitchFamily="2" charset="2"/>
              <a:buChar char="Ø"/>
            </a:pPr>
            <a:r>
              <a:rPr lang="en-US" dirty="0"/>
              <a:t>Threads share a common address space, which is memory-efficient.</a:t>
            </a:r>
          </a:p>
          <a:p>
            <a:pPr fontAlgn="base"/>
            <a:r>
              <a:rPr lang="en-US" b="1" dirty="0"/>
              <a:t>Disadvantages</a:t>
            </a:r>
          </a:p>
          <a:p>
            <a:pPr marL="285750" indent="-285750" fontAlgn="base">
              <a:buFont typeface="Wingdings" panose="05000000000000000000" pitchFamily="2" charset="2"/>
              <a:buChar char="Ø"/>
            </a:pPr>
            <a:r>
              <a:rPr lang="en-US" dirty="0"/>
              <a:t>Not classified into categories like multiprocessing.</a:t>
            </a:r>
          </a:p>
          <a:p>
            <a:pPr marL="285750" indent="-285750" fontAlgn="base">
              <a:buFont typeface="Wingdings" panose="05000000000000000000" pitchFamily="2" charset="2"/>
              <a:buChar char="Ø"/>
            </a:pPr>
            <a:r>
              <a:rPr lang="en-US" dirty="0"/>
              <a:t>Thread creation is economical but can lead to synchronization issues.</a:t>
            </a:r>
          </a:p>
          <a:p>
            <a:endParaRPr lang="en-IN" dirty="0"/>
          </a:p>
        </p:txBody>
      </p:sp>
      <p:pic>
        <p:nvPicPr>
          <p:cNvPr id="6" name="Picture 5" descr="A diagram of a computer&#10;&#10;AI-generated content may be incorrect.">
            <a:extLst>
              <a:ext uri="{FF2B5EF4-FFF2-40B4-BE49-F238E27FC236}">
                <a16:creationId xmlns:a16="http://schemas.microsoft.com/office/drawing/2014/main" id="{08BC55A1-3A9F-41A2-B48D-826E266AA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5401" y="2844320"/>
            <a:ext cx="4695825" cy="3467100"/>
          </a:xfrm>
          <a:prstGeom prst="rect">
            <a:avLst/>
          </a:prstGeom>
        </p:spPr>
      </p:pic>
      <p:sp>
        <p:nvSpPr>
          <p:cNvPr id="5" name="Date Placeholder 4">
            <a:extLst>
              <a:ext uri="{FF2B5EF4-FFF2-40B4-BE49-F238E27FC236}">
                <a16:creationId xmlns:a16="http://schemas.microsoft.com/office/drawing/2014/main" id="{DBF88E00-BC3F-163B-D260-DEACDB8B852E}"/>
              </a:ext>
            </a:extLst>
          </p:cNvPr>
          <p:cNvSpPr>
            <a:spLocks noGrp="1"/>
          </p:cNvSpPr>
          <p:nvPr>
            <p:ph type="dt" sz="half" idx="10"/>
          </p:nvPr>
        </p:nvSpPr>
        <p:spPr/>
        <p:txBody>
          <a:bodyPr/>
          <a:lstStyle/>
          <a:p>
            <a:fld id="{116C06F5-D304-4BFF-AE9A-0D47F6F2B5D2}" type="datetime1">
              <a:rPr lang="en-US" smtClean="0"/>
              <a:t>7/4/2025</a:t>
            </a:fld>
            <a:endParaRPr lang="en-US" dirty="0"/>
          </a:p>
        </p:txBody>
      </p:sp>
      <p:sp>
        <p:nvSpPr>
          <p:cNvPr id="7" name="Footer Placeholder 6">
            <a:extLst>
              <a:ext uri="{FF2B5EF4-FFF2-40B4-BE49-F238E27FC236}">
                <a16:creationId xmlns:a16="http://schemas.microsoft.com/office/drawing/2014/main" id="{1C9A7467-3125-7C4D-AD92-D57AC1DC632C}"/>
              </a:ext>
            </a:extLst>
          </p:cNvPr>
          <p:cNvSpPr>
            <a:spLocks noGrp="1"/>
          </p:cNvSpPr>
          <p:nvPr>
            <p:ph type="ftr" sz="quarter" idx="11"/>
          </p:nvPr>
        </p:nvSpPr>
        <p:spPr>
          <a:xfrm>
            <a:off x="1323975" y="6356350"/>
            <a:ext cx="6711661"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532629DE-DCFD-3192-F0A2-4153F23B4327}"/>
              </a:ext>
            </a:extLst>
          </p:cNvPr>
          <p:cNvSpPr>
            <a:spLocks noGrp="1"/>
          </p:cNvSpPr>
          <p:nvPr>
            <p:ph type="sldNum" sz="quarter" idx="12"/>
          </p:nvPr>
        </p:nvSpPr>
        <p:spPr/>
        <p:txBody>
          <a:bodyPr/>
          <a:lstStyle/>
          <a:p>
            <a:fld id="{B6F15528-21DE-4FAA-801E-634DDDAF4B2B}" type="slidenum">
              <a:rPr lang="en-US" smtClean="0"/>
              <a:pPr/>
              <a:t>48</a:t>
            </a:fld>
            <a:endParaRPr lang="en-US" dirty="0"/>
          </a:p>
        </p:txBody>
      </p:sp>
    </p:spTree>
    <p:extLst>
      <p:ext uri="{BB962C8B-B14F-4D97-AF65-F5344CB8AC3E}">
        <p14:creationId xmlns:p14="http://schemas.microsoft.com/office/powerpoint/2010/main" val="2931025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0593-9254-114C-636C-CF3987160437}"/>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B52CF06-2F9E-03A8-FEE0-6275AD83A1D7}"/>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521E534-68C6-CF87-1E60-07D3715EFCC7}"/>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Multithreading vs Multiprocessing</a:t>
            </a:r>
          </a:p>
        </p:txBody>
      </p:sp>
      <p:sp>
        <p:nvSpPr>
          <p:cNvPr id="2" name="TextBox 1">
            <a:extLst>
              <a:ext uri="{FF2B5EF4-FFF2-40B4-BE49-F238E27FC236}">
                <a16:creationId xmlns:a16="http://schemas.microsoft.com/office/drawing/2014/main" id="{09336D20-CC52-726D-57E2-3722F34A0A13}"/>
              </a:ext>
            </a:extLst>
          </p:cNvPr>
          <p:cNvSpPr txBox="1"/>
          <p:nvPr/>
        </p:nvSpPr>
        <p:spPr>
          <a:xfrm>
            <a:off x="1239981" y="1169695"/>
            <a:ext cx="8880763" cy="369332"/>
          </a:xfrm>
          <a:prstGeom prst="rect">
            <a:avLst/>
          </a:prstGeom>
          <a:noFill/>
        </p:spPr>
        <p:txBody>
          <a:bodyPr wrap="square" rtlCol="0">
            <a:spAutoFit/>
          </a:bodyPr>
          <a:lstStyle/>
          <a:p>
            <a:pPr fontAlgn="base"/>
            <a:r>
              <a:rPr lang="en-US" b="1" dirty="0">
                <a:latin typeface="Times New Roman" panose="02020603050405020304" pitchFamily="18" charset="0"/>
                <a:cs typeface="Times New Roman" panose="02020603050405020304" pitchFamily="18" charset="0"/>
              </a:rPr>
              <a:t>Difference Between Multiprocessing and Multithreading</a:t>
            </a:r>
          </a:p>
        </p:txBody>
      </p:sp>
      <p:graphicFrame>
        <p:nvGraphicFramePr>
          <p:cNvPr id="5" name="Table 4">
            <a:extLst>
              <a:ext uri="{FF2B5EF4-FFF2-40B4-BE49-F238E27FC236}">
                <a16:creationId xmlns:a16="http://schemas.microsoft.com/office/drawing/2014/main" id="{1B6463B0-4865-7F98-DDE2-4E17EFD759DB}"/>
              </a:ext>
            </a:extLst>
          </p:cNvPr>
          <p:cNvGraphicFramePr>
            <a:graphicFrameLocks noGrp="1"/>
          </p:cNvGraphicFramePr>
          <p:nvPr>
            <p:extLst>
              <p:ext uri="{D42A27DB-BD31-4B8C-83A1-F6EECF244321}">
                <p14:modId xmlns:p14="http://schemas.microsoft.com/office/powerpoint/2010/main" val="3174008359"/>
              </p:ext>
            </p:extLst>
          </p:nvPr>
        </p:nvGraphicFramePr>
        <p:xfrm>
          <a:off x="457200" y="1662546"/>
          <a:ext cx="8229600" cy="4586286"/>
        </p:xfrm>
        <a:graphic>
          <a:graphicData uri="http://schemas.openxmlformats.org/drawingml/2006/table">
            <a:tbl>
              <a:tblPr/>
              <a:tblGrid>
                <a:gridCol w="4114800">
                  <a:extLst>
                    <a:ext uri="{9D8B030D-6E8A-4147-A177-3AD203B41FA5}">
                      <a16:colId xmlns:a16="http://schemas.microsoft.com/office/drawing/2014/main" val="1608843643"/>
                    </a:ext>
                  </a:extLst>
                </a:gridCol>
                <a:gridCol w="4114800">
                  <a:extLst>
                    <a:ext uri="{9D8B030D-6E8A-4147-A177-3AD203B41FA5}">
                      <a16:colId xmlns:a16="http://schemas.microsoft.com/office/drawing/2014/main" val="3220365604"/>
                    </a:ext>
                  </a:extLst>
                </a:gridCol>
              </a:tblGrid>
              <a:tr h="508521">
                <a:tc>
                  <a:txBody>
                    <a:bodyPr/>
                    <a:lstStyle/>
                    <a:p>
                      <a:pPr algn="ctr" fontAlgn="base"/>
                      <a:r>
                        <a:rPr lang="en-IN" sz="1400" b="1" dirty="0">
                          <a:solidFill>
                            <a:srgbClr val="FF0000"/>
                          </a:solidFill>
                          <a:effectLst/>
                        </a:rPr>
                        <a:t>Multiprocessing</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fontAlgn="base"/>
                      <a:r>
                        <a:rPr lang="en-IN" sz="1400" b="1" dirty="0">
                          <a:solidFill>
                            <a:srgbClr val="FF0000"/>
                          </a:solidFill>
                          <a:effectLst/>
                        </a:rPr>
                        <a:t>Multithreading</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extLst>
                  <a:ext uri="{0D108BD9-81ED-4DB2-BD59-A6C34878D82A}">
                    <a16:rowId xmlns:a16="http://schemas.microsoft.com/office/drawing/2014/main" val="2831968077"/>
                  </a:ext>
                </a:extLst>
              </a:tr>
              <a:tr h="815553">
                <a:tc>
                  <a:txBody>
                    <a:bodyPr/>
                    <a:lstStyle/>
                    <a:p>
                      <a:pPr algn="ctr" fontAlgn="ctr"/>
                      <a:r>
                        <a:rPr lang="en-US" sz="1250" b="0" dirty="0">
                          <a:solidFill>
                            <a:schemeClr val="bg1"/>
                          </a:solidFill>
                          <a:effectLst/>
                        </a:rPr>
                        <a:t>In </a:t>
                      </a:r>
                      <a:r>
                        <a:rPr lang="en-US" sz="1250" b="0" u="none" dirty="0">
                          <a:solidFill>
                            <a:schemeClr val="bg1"/>
                          </a:solidFill>
                          <a:effectLst/>
                          <a:hlinkClick r:id="rId4">
                            <a:extLst>
                              <a:ext uri="{A12FA001-AC4F-418D-AE19-62706E023703}">
                                <ahyp:hlinkClr xmlns:ahyp="http://schemas.microsoft.com/office/drawing/2018/hyperlinkcolor" val="tx"/>
                              </a:ext>
                            </a:extLst>
                          </a:hlinkClick>
                        </a:rPr>
                        <a:t>Multiprocessing</a:t>
                      </a:r>
                      <a:r>
                        <a:rPr lang="en-US" sz="1250" b="0" dirty="0">
                          <a:solidFill>
                            <a:schemeClr val="bg1"/>
                          </a:solidFill>
                          <a:effectLst/>
                        </a:rPr>
                        <a:t>, CPUs are added for increasing computing power.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US" sz="1250" b="0">
                          <a:solidFill>
                            <a:schemeClr val="bg1"/>
                          </a:solidFill>
                          <a:effectLst/>
                        </a:rPr>
                        <a:t>While In Multithreading, many threads are created of a single process for increasing computing power.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976841527"/>
                  </a:ext>
                </a:extLst>
              </a:tr>
              <a:tr h="815553">
                <a:tc>
                  <a:txBody>
                    <a:bodyPr/>
                    <a:lstStyle/>
                    <a:p>
                      <a:pPr algn="ctr" fontAlgn="ctr"/>
                      <a:r>
                        <a:rPr lang="en-US" sz="1250" b="0" dirty="0">
                          <a:solidFill>
                            <a:schemeClr val="bg1"/>
                          </a:solidFill>
                          <a:effectLst/>
                        </a:rPr>
                        <a:t>In Multiprocessing, Many processes are executed simultaneously.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US" sz="1250" b="0">
                          <a:solidFill>
                            <a:schemeClr val="bg1"/>
                          </a:solidFill>
                          <a:effectLst/>
                        </a:rPr>
                        <a:t>While in multithreading, many threads of a process are executed simultaneously.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912401617"/>
                  </a:ext>
                </a:extLst>
              </a:tr>
              <a:tr h="815553">
                <a:tc>
                  <a:txBody>
                    <a:bodyPr/>
                    <a:lstStyle/>
                    <a:p>
                      <a:pPr algn="ctr" fontAlgn="ctr"/>
                      <a:r>
                        <a:rPr lang="en-US" sz="1250" b="0" dirty="0">
                          <a:solidFill>
                            <a:schemeClr val="bg1"/>
                          </a:solidFill>
                          <a:effectLst/>
                        </a:rPr>
                        <a:t>Multiprocessing are classified into </a:t>
                      </a:r>
                      <a:r>
                        <a:rPr lang="en-US" sz="1250" b="1" u="sng" dirty="0">
                          <a:solidFill>
                            <a:schemeClr val="bg1"/>
                          </a:solidFill>
                          <a:effectLst/>
                        </a:rPr>
                        <a:t>Symmetric</a:t>
                      </a:r>
                      <a:r>
                        <a:rPr lang="en-US" sz="1250" b="0" u="sng" dirty="0">
                          <a:solidFill>
                            <a:schemeClr val="bg1"/>
                          </a:solidFill>
                          <a:effectLst/>
                        </a:rPr>
                        <a:t> and </a:t>
                      </a:r>
                      <a:r>
                        <a:rPr lang="en-US" sz="1250" b="1" u="sng" dirty="0">
                          <a:solidFill>
                            <a:schemeClr val="bg1"/>
                          </a:solidFill>
                          <a:effectLst/>
                        </a:rPr>
                        <a:t>Asymmetric</a:t>
                      </a:r>
                      <a:r>
                        <a:rPr lang="en-US" sz="1250" b="0" u="sng" dirty="0">
                          <a:solidFill>
                            <a:schemeClr val="bg1"/>
                          </a:solidFill>
                          <a:effectLst/>
                          <a:hlinkClick r:id="rId5">
                            <a:extLst>
                              <a:ext uri="{A12FA001-AC4F-418D-AE19-62706E023703}">
                                <ahyp:hlinkClr xmlns:ahyp="http://schemas.microsoft.com/office/drawing/2018/hyperlinkcolor" val="tx"/>
                              </a:ext>
                            </a:extLst>
                          </a:hlinkClick>
                        </a:rPr>
                        <a:t>.</a:t>
                      </a:r>
                      <a:endParaRPr lang="en-US" sz="1250" b="0" dirty="0">
                        <a:solidFill>
                          <a:schemeClr val="bg1"/>
                        </a:solidFill>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US" sz="1250" b="0" dirty="0">
                          <a:solidFill>
                            <a:schemeClr val="bg1"/>
                          </a:solidFill>
                          <a:effectLst/>
                        </a:rPr>
                        <a:t>While Multithreading is not classified in any categories.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876671521"/>
                  </a:ext>
                </a:extLst>
              </a:tr>
              <a:tr h="815553">
                <a:tc>
                  <a:txBody>
                    <a:bodyPr/>
                    <a:lstStyle/>
                    <a:p>
                      <a:pPr algn="ctr" fontAlgn="ctr"/>
                      <a:r>
                        <a:rPr lang="en-US" sz="1250" b="0">
                          <a:solidFill>
                            <a:schemeClr val="bg1"/>
                          </a:solidFill>
                          <a:effectLst/>
                        </a:rPr>
                        <a:t>In Multiprocessing, Process creation is a time-consuming process.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US" sz="1250" b="0" dirty="0">
                          <a:solidFill>
                            <a:schemeClr val="bg1"/>
                          </a:solidFill>
                          <a:effectLst/>
                        </a:rPr>
                        <a:t>While in Multithreading, process creation is according to economical.</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4062990261"/>
                  </a:ext>
                </a:extLst>
              </a:tr>
              <a:tr h="815553">
                <a:tc>
                  <a:txBody>
                    <a:bodyPr/>
                    <a:lstStyle/>
                    <a:p>
                      <a:pPr algn="ctr" fontAlgn="ctr"/>
                      <a:r>
                        <a:rPr lang="en-US" sz="1250" b="0" dirty="0">
                          <a:solidFill>
                            <a:schemeClr val="bg1"/>
                          </a:solidFill>
                          <a:effectLst/>
                        </a:rPr>
                        <a:t>In Multiprocessing, every process owned a separate address space.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US" sz="1250" b="0" dirty="0">
                          <a:solidFill>
                            <a:schemeClr val="bg1"/>
                          </a:solidFill>
                          <a:effectLst/>
                        </a:rPr>
                        <a:t>While in Multithreading, a common address space is shared by all the threads.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408937784"/>
                  </a:ext>
                </a:extLst>
              </a:tr>
            </a:tbl>
          </a:graphicData>
        </a:graphic>
      </p:graphicFrame>
      <p:sp>
        <p:nvSpPr>
          <p:cNvPr id="6" name="Date Placeholder 5">
            <a:extLst>
              <a:ext uri="{FF2B5EF4-FFF2-40B4-BE49-F238E27FC236}">
                <a16:creationId xmlns:a16="http://schemas.microsoft.com/office/drawing/2014/main" id="{FF6ED2E8-8E39-20F0-5A05-0651217B954C}"/>
              </a:ext>
            </a:extLst>
          </p:cNvPr>
          <p:cNvSpPr>
            <a:spLocks noGrp="1"/>
          </p:cNvSpPr>
          <p:nvPr>
            <p:ph type="dt" sz="half" idx="10"/>
          </p:nvPr>
        </p:nvSpPr>
        <p:spPr/>
        <p:txBody>
          <a:bodyPr/>
          <a:lstStyle/>
          <a:p>
            <a:fld id="{4A18C489-C3E7-43F8-9F5E-86C071D8AC01}" type="datetime1">
              <a:rPr lang="en-US" smtClean="0"/>
              <a:t>7/4/2025</a:t>
            </a:fld>
            <a:endParaRPr lang="en-US" dirty="0"/>
          </a:p>
        </p:txBody>
      </p:sp>
      <p:sp>
        <p:nvSpPr>
          <p:cNvPr id="7" name="Footer Placeholder 6">
            <a:extLst>
              <a:ext uri="{FF2B5EF4-FFF2-40B4-BE49-F238E27FC236}">
                <a16:creationId xmlns:a16="http://schemas.microsoft.com/office/drawing/2014/main" id="{5F660B81-C3A2-4205-CCDA-C973101926D8}"/>
              </a:ext>
            </a:extLst>
          </p:cNvPr>
          <p:cNvSpPr>
            <a:spLocks noGrp="1"/>
          </p:cNvSpPr>
          <p:nvPr>
            <p:ph type="ftr" sz="quarter" idx="11"/>
          </p:nvPr>
        </p:nvSpPr>
        <p:spPr>
          <a:xfrm>
            <a:off x="1357745" y="6356350"/>
            <a:ext cx="6511637"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63CB0F49-3603-03D2-3327-45B720D120AC}"/>
              </a:ext>
            </a:extLst>
          </p:cNvPr>
          <p:cNvSpPr>
            <a:spLocks noGrp="1"/>
          </p:cNvSpPr>
          <p:nvPr>
            <p:ph type="sldNum" sz="quarter" idx="12"/>
          </p:nvPr>
        </p:nvSpPr>
        <p:spPr/>
        <p:txBody>
          <a:bodyPr/>
          <a:lstStyle/>
          <a:p>
            <a:fld id="{B6F15528-21DE-4FAA-801E-634DDDAF4B2B}" type="slidenum">
              <a:rPr lang="en-US" smtClean="0"/>
              <a:pPr/>
              <a:t>49</a:t>
            </a:fld>
            <a:endParaRPr lang="en-US" dirty="0"/>
          </a:p>
        </p:txBody>
      </p:sp>
    </p:spTree>
    <p:extLst>
      <p:ext uri="{BB962C8B-B14F-4D97-AF65-F5344CB8AC3E}">
        <p14:creationId xmlns:p14="http://schemas.microsoft.com/office/powerpoint/2010/main" val="1053221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6203-9056-0ED0-3499-1C2E11EB75B7}"/>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7DCC3D6-0504-3DB0-BF9A-B9D08A71351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95BAD877-0F9F-0F79-A4B7-DBAD3277FE6A}"/>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Shared Memory</a:t>
            </a:r>
          </a:p>
        </p:txBody>
      </p:sp>
      <p:sp>
        <p:nvSpPr>
          <p:cNvPr id="2" name="TextBox 1">
            <a:extLst>
              <a:ext uri="{FF2B5EF4-FFF2-40B4-BE49-F238E27FC236}">
                <a16:creationId xmlns:a16="http://schemas.microsoft.com/office/drawing/2014/main" id="{D98FD292-9EDA-071D-3930-768FB704C4E3}"/>
              </a:ext>
            </a:extLst>
          </p:cNvPr>
          <p:cNvSpPr txBox="1"/>
          <p:nvPr/>
        </p:nvSpPr>
        <p:spPr>
          <a:xfrm>
            <a:off x="124690" y="1052695"/>
            <a:ext cx="2396837" cy="461665"/>
          </a:xfrm>
          <a:prstGeom prst="rect">
            <a:avLst/>
          </a:prstGeom>
          <a:noFill/>
        </p:spPr>
        <p:txBody>
          <a:bodyPr wrap="square" rtlCol="0">
            <a:spAutoFit/>
          </a:bodyPr>
          <a:lstStyle/>
          <a:p>
            <a:pPr fontAlgn="base"/>
            <a:r>
              <a:rPr lang="en-IN" sz="2400" b="1" dirty="0"/>
              <a:t>Shared Memory:</a:t>
            </a:r>
          </a:p>
        </p:txBody>
      </p:sp>
      <p:sp>
        <p:nvSpPr>
          <p:cNvPr id="6" name="TextBox 5">
            <a:extLst>
              <a:ext uri="{FF2B5EF4-FFF2-40B4-BE49-F238E27FC236}">
                <a16:creationId xmlns:a16="http://schemas.microsoft.com/office/drawing/2014/main" id="{E4F50C6F-629D-A0ED-67C9-9ED30E70A6DF}"/>
              </a:ext>
            </a:extLst>
          </p:cNvPr>
          <p:cNvSpPr txBox="1"/>
          <p:nvPr/>
        </p:nvSpPr>
        <p:spPr>
          <a:xfrm>
            <a:off x="96980" y="1445085"/>
            <a:ext cx="8894619" cy="230832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Shared Memory is a concept of Operating Systems and is mainly used in Inter-process Communication. If two processes want to share data with each other, they need some intermediate medium to do so and this is where shared memory comes into the picture.</a:t>
            </a:r>
          </a:p>
          <a:p>
            <a:pPr algn="just"/>
            <a:r>
              <a:rPr lang="en-US" dirty="0">
                <a:latin typeface="Times New Roman" panose="02020603050405020304" pitchFamily="18" charset="0"/>
                <a:cs typeface="Times New Roman" panose="02020603050405020304" pitchFamily="18" charset="0"/>
              </a:rPr>
              <a:t>Every process has a dedicated address space in order to store data. If a process wants to share some data with another process, it cannot directly do so since they have different address spaces. In order to share some data, a process takes up some of the address space as shared memory space. This shared memory can be accessed by the other process to read/write the shared data.</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B50C0CB-264D-6964-CD77-768C9DF112EF}"/>
              </a:ext>
            </a:extLst>
          </p:cNvPr>
          <p:cNvSpPr txBox="1"/>
          <p:nvPr/>
        </p:nvSpPr>
        <p:spPr>
          <a:xfrm>
            <a:off x="110835" y="3725699"/>
            <a:ext cx="8894619"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Let us consider two processes P1 and P2 that want to perform Inter-process communication using a shared memory.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P1 has an address space, let us say A1 and P2 has an address space, let us say A2. Now, P1 takes up some of the available address space as a shared memory space, let us say S1. Since P1 has taken up this space, it can decide which other processes can read and write data from the shared memory space.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now, we will assume that P1 has given only reading rights to other processes with respect to the shared memory. So, the flow of Inter-process communication will be as follows:</a:t>
            </a: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567FD56-1F88-BFEB-D4C2-7E6FE585D494}"/>
              </a:ext>
            </a:extLst>
          </p:cNvPr>
          <p:cNvSpPr>
            <a:spLocks noGrp="1"/>
          </p:cNvSpPr>
          <p:nvPr>
            <p:ph type="dt" sz="half" idx="10"/>
          </p:nvPr>
        </p:nvSpPr>
        <p:spPr/>
        <p:txBody>
          <a:bodyPr/>
          <a:lstStyle/>
          <a:p>
            <a:fld id="{D19D9CC4-FD96-41B2-BB97-E481A8564FCD}" type="datetime1">
              <a:rPr lang="en-US" smtClean="0"/>
              <a:t>7/4/2025</a:t>
            </a:fld>
            <a:endParaRPr lang="en-US" dirty="0"/>
          </a:p>
        </p:txBody>
      </p:sp>
      <p:sp>
        <p:nvSpPr>
          <p:cNvPr id="8" name="Footer Placeholder 7">
            <a:extLst>
              <a:ext uri="{FF2B5EF4-FFF2-40B4-BE49-F238E27FC236}">
                <a16:creationId xmlns:a16="http://schemas.microsoft.com/office/drawing/2014/main" id="{871C5144-993C-BAC8-84AE-27082CAB90C4}"/>
              </a:ext>
            </a:extLst>
          </p:cNvPr>
          <p:cNvSpPr>
            <a:spLocks noGrp="1"/>
          </p:cNvSpPr>
          <p:nvPr>
            <p:ph type="ftr" sz="quarter" idx="11"/>
          </p:nvPr>
        </p:nvSpPr>
        <p:spPr>
          <a:xfrm>
            <a:off x="1219199" y="6481045"/>
            <a:ext cx="6830291"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B92E2844-8250-F957-96D9-B85D63D96ADB}"/>
              </a:ext>
            </a:extLst>
          </p:cNvPr>
          <p:cNvSpPr>
            <a:spLocks noGrp="1"/>
          </p:cNvSpPr>
          <p:nvPr>
            <p:ph type="sldNum" sz="quarter" idx="12"/>
          </p:nvPr>
        </p:nvSpPr>
        <p:spPr/>
        <p:txBody>
          <a:bodyPr/>
          <a:lstStyle/>
          <a:p>
            <a:fld id="{B6F15528-21DE-4FAA-801E-634DDDAF4B2B}" type="slidenum">
              <a:rPr lang="en-US" smtClean="0"/>
              <a:pPr/>
              <a:t>50</a:t>
            </a:fld>
            <a:endParaRPr lang="en-US" dirty="0"/>
          </a:p>
        </p:txBody>
      </p:sp>
    </p:spTree>
    <p:extLst>
      <p:ext uri="{BB962C8B-B14F-4D97-AF65-F5344CB8AC3E}">
        <p14:creationId xmlns:p14="http://schemas.microsoft.com/office/powerpoint/2010/main" val="36954184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BF49B-35C1-D4E6-7B61-CEB3557FB656}"/>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39F6387-96F7-5D95-A07B-CD4550736C7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9BCEF76B-F481-3C93-67D1-CB270D700718}"/>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Shared Memory</a:t>
            </a:r>
          </a:p>
        </p:txBody>
      </p:sp>
      <p:sp>
        <p:nvSpPr>
          <p:cNvPr id="2" name="TextBox 1">
            <a:extLst>
              <a:ext uri="{FF2B5EF4-FFF2-40B4-BE49-F238E27FC236}">
                <a16:creationId xmlns:a16="http://schemas.microsoft.com/office/drawing/2014/main" id="{EDCE3FD2-8740-3E54-882E-DF4033CFFF93}"/>
              </a:ext>
            </a:extLst>
          </p:cNvPr>
          <p:cNvSpPr txBox="1"/>
          <p:nvPr/>
        </p:nvSpPr>
        <p:spPr>
          <a:xfrm>
            <a:off x="124690" y="1052695"/>
            <a:ext cx="2396837" cy="461665"/>
          </a:xfrm>
          <a:prstGeom prst="rect">
            <a:avLst/>
          </a:prstGeom>
          <a:noFill/>
        </p:spPr>
        <p:txBody>
          <a:bodyPr wrap="square" rtlCol="0">
            <a:spAutoFit/>
          </a:bodyPr>
          <a:lstStyle/>
          <a:p>
            <a:pPr fontAlgn="base"/>
            <a:r>
              <a:rPr lang="en-IN" sz="2400" b="1" dirty="0"/>
              <a:t>Shared Memory:</a:t>
            </a:r>
          </a:p>
        </p:txBody>
      </p:sp>
      <p:sp>
        <p:nvSpPr>
          <p:cNvPr id="6" name="TextBox 5">
            <a:extLst>
              <a:ext uri="{FF2B5EF4-FFF2-40B4-BE49-F238E27FC236}">
                <a16:creationId xmlns:a16="http://schemas.microsoft.com/office/drawing/2014/main" id="{72A0E3CC-C91B-47F2-C81C-DC8CEBD3F99E}"/>
              </a:ext>
            </a:extLst>
          </p:cNvPr>
          <p:cNvSpPr txBox="1"/>
          <p:nvPr/>
        </p:nvSpPr>
        <p:spPr>
          <a:xfrm>
            <a:off x="96980" y="1445085"/>
            <a:ext cx="3325093" cy="2031325"/>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Process P1 takes up some of the available space as shared memory S1</a:t>
            </a:r>
          </a:p>
          <a:p>
            <a:pPr algn="just"/>
            <a:r>
              <a:rPr lang="en-US" dirty="0">
                <a:latin typeface="Times New Roman" panose="02020603050405020304" pitchFamily="18" charset="0"/>
                <a:cs typeface="Times New Roman" panose="02020603050405020304" pitchFamily="18" charset="0"/>
              </a:rPr>
              <a:t>Process P1 writes the data to be shared in S1</a:t>
            </a:r>
          </a:p>
          <a:p>
            <a:pPr algn="just"/>
            <a:r>
              <a:rPr lang="en-US" dirty="0">
                <a:latin typeface="Times New Roman" panose="02020603050405020304" pitchFamily="18" charset="0"/>
                <a:cs typeface="Times New Roman" panose="02020603050405020304" pitchFamily="18" charset="0"/>
              </a:rPr>
              <a:t>Process P2 reads the shared data from S1</a:t>
            </a:r>
            <a:endParaRPr lang="en-IN" dirty="0">
              <a:latin typeface="Times New Roman" panose="02020603050405020304" pitchFamily="18" charset="0"/>
              <a:cs typeface="Times New Roman" panose="02020603050405020304" pitchFamily="18" charset="0"/>
            </a:endParaRPr>
          </a:p>
        </p:txBody>
      </p:sp>
      <p:pic>
        <p:nvPicPr>
          <p:cNvPr id="8" name="Picture 7" descr="A diagram of a computer process&#10;&#10;AI-generated content may be incorrect.">
            <a:extLst>
              <a:ext uri="{FF2B5EF4-FFF2-40B4-BE49-F238E27FC236}">
                <a16:creationId xmlns:a16="http://schemas.microsoft.com/office/drawing/2014/main" id="{21C822D9-DF30-80BF-5CE8-39EB717BF2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980356"/>
            <a:ext cx="4516582" cy="2954335"/>
          </a:xfrm>
          <a:prstGeom prst="rect">
            <a:avLst/>
          </a:prstGeom>
        </p:spPr>
      </p:pic>
      <p:pic>
        <p:nvPicPr>
          <p:cNvPr id="10" name="Picture 9" descr="A diagram of a computer process&#10;&#10;AI-generated content may be incorrect.">
            <a:extLst>
              <a:ext uri="{FF2B5EF4-FFF2-40B4-BE49-F238E27FC236}">
                <a16:creationId xmlns:a16="http://schemas.microsoft.com/office/drawing/2014/main" id="{BA7B29D5-75DC-A601-44B3-16ECC1EC42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69" y="3448700"/>
            <a:ext cx="3122857" cy="2970864"/>
          </a:xfrm>
          <a:prstGeom prst="rect">
            <a:avLst/>
          </a:prstGeom>
        </p:spPr>
      </p:pic>
      <p:sp>
        <p:nvSpPr>
          <p:cNvPr id="11" name="TextBox 10">
            <a:extLst>
              <a:ext uri="{FF2B5EF4-FFF2-40B4-BE49-F238E27FC236}">
                <a16:creationId xmlns:a16="http://schemas.microsoft.com/office/drawing/2014/main" id="{708E42AA-B8ED-12DD-C067-242486A4118F}"/>
              </a:ext>
            </a:extLst>
          </p:cNvPr>
          <p:cNvSpPr txBox="1"/>
          <p:nvPr/>
        </p:nvSpPr>
        <p:spPr>
          <a:xfrm>
            <a:off x="4001325" y="3983093"/>
            <a:ext cx="4779129" cy="923330"/>
          </a:xfrm>
          <a:prstGeom prst="rect">
            <a:avLst/>
          </a:prstGeom>
          <a:noFill/>
        </p:spPr>
        <p:txBody>
          <a:bodyPr wrap="square" rtlCol="0">
            <a:spAutoFit/>
          </a:bodyPr>
          <a:lstStyle/>
          <a:p>
            <a:r>
              <a:rPr lang="en-US" dirty="0"/>
              <a:t>Now, let us assume that P1 has given write rights to P2 as well. So the communication will shown in the below diagram:</a:t>
            </a:r>
            <a:endParaRPr lang="en-IN" dirty="0"/>
          </a:p>
        </p:txBody>
      </p:sp>
      <p:sp>
        <p:nvSpPr>
          <p:cNvPr id="12" name="TextBox 11">
            <a:extLst>
              <a:ext uri="{FF2B5EF4-FFF2-40B4-BE49-F238E27FC236}">
                <a16:creationId xmlns:a16="http://schemas.microsoft.com/office/drawing/2014/main" id="{ED9F3BE7-660B-DCA6-74B9-1638D02AAB2E}"/>
              </a:ext>
            </a:extLst>
          </p:cNvPr>
          <p:cNvSpPr txBox="1"/>
          <p:nvPr/>
        </p:nvSpPr>
        <p:spPr>
          <a:xfrm>
            <a:off x="4001325" y="5277479"/>
            <a:ext cx="4779129" cy="1200329"/>
          </a:xfrm>
          <a:prstGeom prst="rect">
            <a:avLst/>
          </a:prstGeom>
          <a:noFill/>
        </p:spPr>
        <p:txBody>
          <a:bodyPr wrap="square" rtlCol="0">
            <a:spAutoFit/>
          </a:bodyPr>
          <a:lstStyle/>
          <a:p>
            <a:r>
              <a:rPr lang="en-US" dirty="0"/>
              <a:t>Since P1 took up the space for shared memory i.e. since process P1 is the creator process, only it has the right to destroy the shared memory as well.</a:t>
            </a:r>
            <a:endParaRPr lang="en-IN" dirty="0"/>
          </a:p>
        </p:txBody>
      </p:sp>
      <p:sp>
        <p:nvSpPr>
          <p:cNvPr id="5" name="Date Placeholder 4">
            <a:extLst>
              <a:ext uri="{FF2B5EF4-FFF2-40B4-BE49-F238E27FC236}">
                <a16:creationId xmlns:a16="http://schemas.microsoft.com/office/drawing/2014/main" id="{2C6D7730-44A1-BC59-4C4E-30C241F11DBA}"/>
              </a:ext>
            </a:extLst>
          </p:cNvPr>
          <p:cNvSpPr>
            <a:spLocks noGrp="1"/>
          </p:cNvSpPr>
          <p:nvPr>
            <p:ph type="dt" sz="half" idx="10"/>
          </p:nvPr>
        </p:nvSpPr>
        <p:spPr/>
        <p:txBody>
          <a:bodyPr/>
          <a:lstStyle/>
          <a:p>
            <a:fld id="{7663A71D-42B0-4EFD-921D-387A160D51AA}" type="datetime1">
              <a:rPr lang="en-US" smtClean="0"/>
              <a:t>7/4/2025</a:t>
            </a:fld>
            <a:endParaRPr lang="en-US" dirty="0"/>
          </a:p>
        </p:txBody>
      </p:sp>
      <p:sp>
        <p:nvSpPr>
          <p:cNvPr id="7" name="Footer Placeholder 6">
            <a:extLst>
              <a:ext uri="{FF2B5EF4-FFF2-40B4-BE49-F238E27FC236}">
                <a16:creationId xmlns:a16="http://schemas.microsoft.com/office/drawing/2014/main" id="{16AE127E-E927-D575-5D26-C2E3D6C9D624}"/>
              </a:ext>
            </a:extLst>
          </p:cNvPr>
          <p:cNvSpPr>
            <a:spLocks noGrp="1"/>
          </p:cNvSpPr>
          <p:nvPr>
            <p:ph type="ftr" sz="quarter" idx="11"/>
          </p:nvPr>
        </p:nvSpPr>
        <p:spPr>
          <a:xfrm>
            <a:off x="1343891" y="6356350"/>
            <a:ext cx="6871854"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90351379-9ED9-7F5D-FDCC-BA75C49338EE}"/>
              </a:ext>
            </a:extLst>
          </p:cNvPr>
          <p:cNvSpPr>
            <a:spLocks noGrp="1"/>
          </p:cNvSpPr>
          <p:nvPr>
            <p:ph type="sldNum" sz="quarter" idx="12"/>
          </p:nvPr>
        </p:nvSpPr>
        <p:spPr/>
        <p:txBody>
          <a:bodyPr/>
          <a:lstStyle/>
          <a:p>
            <a:fld id="{B6F15528-21DE-4FAA-801E-634DDDAF4B2B}" type="slidenum">
              <a:rPr lang="en-US" smtClean="0"/>
              <a:pPr/>
              <a:t>51</a:t>
            </a:fld>
            <a:endParaRPr lang="en-US" dirty="0"/>
          </a:p>
        </p:txBody>
      </p:sp>
    </p:spTree>
    <p:extLst>
      <p:ext uri="{BB962C8B-B14F-4D97-AF65-F5344CB8AC3E}">
        <p14:creationId xmlns:p14="http://schemas.microsoft.com/office/powerpoint/2010/main" val="25085741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D22D-C154-0B1C-DF6E-F6F5ACBB71D5}"/>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53076C51-93CC-80DD-61BE-228CFF79B45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0A29F56-021C-29EE-DB32-72F861E77052}"/>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Shared Memory</a:t>
            </a:r>
          </a:p>
        </p:txBody>
      </p:sp>
      <p:sp>
        <p:nvSpPr>
          <p:cNvPr id="2" name="TextBox 1">
            <a:extLst>
              <a:ext uri="{FF2B5EF4-FFF2-40B4-BE49-F238E27FC236}">
                <a16:creationId xmlns:a16="http://schemas.microsoft.com/office/drawing/2014/main" id="{7C96466A-F54C-184F-CD41-28361284BFFB}"/>
              </a:ext>
            </a:extLst>
          </p:cNvPr>
          <p:cNvSpPr txBox="1"/>
          <p:nvPr/>
        </p:nvSpPr>
        <p:spPr>
          <a:xfrm>
            <a:off x="124690" y="1374710"/>
            <a:ext cx="4447310" cy="400110"/>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Use Cases of Shared Memory</a:t>
            </a:r>
          </a:p>
        </p:txBody>
      </p:sp>
      <p:sp>
        <p:nvSpPr>
          <p:cNvPr id="6" name="TextBox 5">
            <a:extLst>
              <a:ext uri="{FF2B5EF4-FFF2-40B4-BE49-F238E27FC236}">
                <a16:creationId xmlns:a16="http://schemas.microsoft.com/office/drawing/2014/main" id="{2F244BD7-C932-1DA3-3708-0BFDBF71C60C}"/>
              </a:ext>
            </a:extLst>
          </p:cNvPr>
          <p:cNvSpPr txBox="1"/>
          <p:nvPr/>
        </p:nvSpPr>
        <p:spPr>
          <a:xfrm>
            <a:off x="0" y="1944185"/>
            <a:ext cx="9047019" cy="4197559"/>
          </a:xfrm>
          <a:prstGeom prst="rect">
            <a:avLst/>
          </a:prstGeom>
          <a:noFill/>
        </p:spPr>
        <p:txBody>
          <a:bodyPr wrap="square" rtlCol="0">
            <a:spAutoFit/>
          </a:bodyPr>
          <a:lstStyle/>
          <a:p>
            <a:pPr marL="285750" indent="-285750" algn="just" fontAlgn="base">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Inter-Process Communication</a:t>
            </a:r>
            <a:r>
              <a:rPr lang="en-US" dirty="0">
                <a:latin typeface="Times New Roman" panose="02020603050405020304" pitchFamily="18" charset="0"/>
                <a:cs typeface="Times New Roman" panose="02020603050405020304" pitchFamily="18" charset="0"/>
              </a:rPr>
              <a:t>: Shared memory is primarily used in IPC where two processes need a shared address space in order to exchange data.</a:t>
            </a:r>
          </a:p>
          <a:p>
            <a:pPr marL="285750" indent="-285750" algn="just" fontAlgn="base">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Parallel Processing: </a:t>
            </a:r>
            <a:r>
              <a:rPr lang="en-US" dirty="0">
                <a:latin typeface="Times New Roman" panose="02020603050405020304" pitchFamily="18" charset="0"/>
                <a:cs typeface="Times New Roman" panose="02020603050405020304" pitchFamily="18" charset="0"/>
              </a:rPr>
              <a:t>Multiple processes can share and modify data in the shared address space, thereby speeding up computations.</a:t>
            </a:r>
          </a:p>
          <a:p>
            <a:pPr marL="285750" indent="-285750" algn="just" fontAlgn="base">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Databases:</a:t>
            </a:r>
            <a:r>
              <a:rPr lang="en-US" dirty="0">
                <a:latin typeface="Times New Roman" panose="02020603050405020304" pitchFamily="18" charset="0"/>
                <a:cs typeface="Times New Roman" panose="02020603050405020304" pitchFamily="18" charset="0"/>
              </a:rPr>
              <a:t> Shared memory is used in databases, in the form of cache, so that reading and writing of data can be much faster</a:t>
            </a:r>
          </a:p>
          <a:p>
            <a:pPr marL="285750" indent="-285750" algn="just" fontAlgn="base">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Graphics and Multimedia Applications: </a:t>
            </a:r>
            <a:r>
              <a:rPr lang="en-US" dirty="0">
                <a:latin typeface="Times New Roman" panose="02020603050405020304" pitchFamily="18" charset="0"/>
                <a:cs typeface="Times New Roman" panose="02020603050405020304" pitchFamily="18" charset="0"/>
              </a:rPr>
              <a:t>CPU and GPU can access data concurrently which is helpful in tasks such as video manipulation and processing.</a:t>
            </a:r>
          </a:p>
          <a:p>
            <a:pPr marL="285750" indent="-285750" algn="just" fontAlgn="base">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Distributed Systems: </a:t>
            </a:r>
            <a:r>
              <a:rPr lang="en-US" dirty="0">
                <a:latin typeface="Times New Roman" panose="02020603050405020304" pitchFamily="18" charset="0"/>
                <a:cs typeface="Times New Roman" panose="02020603050405020304" pitchFamily="18" charset="0"/>
              </a:rPr>
              <a:t>Two different machines can access data from a shared space and work as a single system.</a:t>
            </a:r>
          </a:p>
        </p:txBody>
      </p:sp>
      <p:sp>
        <p:nvSpPr>
          <p:cNvPr id="5" name="Date Placeholder 4">
            <a:extLst>
              <a:ext uri="{FF2B5EF4-FFF2-40B4-BE49-F238E27FC236}">
                <a16:creationId xmlns:a16="http://schemas.microsoft.com/office/drawing/2014/main" id="{6AC0CDC2-4EC9-5BE9-08B9-D3665544AE1F}"/>
              </a:ext>
            </a:extLst>
          </p:cNvPr>
          <p:cNvSpPr>
            <a:spLocks noGrp="1"/>
          </p:cNvSpPr>
          <p:nvPr>
            <p:ph type="dt" sz="half" idx="10"/>
          </p:nvPr>
        </p:nvSpPr>
        <p:spPr/>
        <p:txBody>
          <a:bodyPr/>
          <a:lstStyle/>
          <a:p>
            <a:fld id="{8C4FE613-D84C-4DA1-AB9A-BDBFDF11B704}" type="datetime1">
              <a:rPr lang="en-US" smtClean="0"/>
              <a:t>7/4/2025</a:t>
            </a:fld>
            <a:endParaRPr lang="en-US" dirty="0"/>
          </a:p>
        </p:txBody>
      </p:sp>
      <p:sp>
        <p:nvSpPr>
          <p:cNvPr id="7" name="Footer Placeholder 6">
            <a:extLst>
              <a:ext uri="{FF2B5EF4-FFF2-40B4-BE49-F238E27FC236}">
                <a16:creationId xmlns:a16="http://schemas.microsoft.com/office/drawing/2014/main" id="{EF596860-3506-6950-8265-D269684F1630}"/>
              </a:ext>
            </a:extLst>
          </p:cNvPr>
          <p:cNvSpPr>
            <a:spLocks noGrp="1"/>
          </p:cNvSpPr>
          <p:nvPr>
            <p:ph type="ftr" sz="quarter" idx="11"/>
          </p:nvPr>
        </p:nvSpPr>
        <p:spPr>
          <a:xfrm>
            <a:off x="1122217" y="6356350"/>
            <a:ext cx="7232073"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C031F9D1-942A-EACC-BD29-2A8F17636D59}"/>
              </a:ext>
            </a:extLst>
          </p:cNvPr>
          <p:cNvSpPr>
            <a:spLocks noGrp="1"/>
          </p:cNvSpPr>
          <p:nvPr>
            <p:ph type="sldNum" sz="quarter" idx="12"/>
          </p:nvPr>
        </p:nvSpPr>
        <p:spPr/>
        <p:txBody>
          <a:bodyPr/>
          <a:lstStyle/>
          <a:p>
            <a:fld id="{B6F15528-21DE-4FAA-801E-634DDDAF4B2B}" type="slidenum">
              <a:rPr lang="en-US" smtClean="0"/>
              <a:pPr/>
              <a:t>52</a:t>
            </a:fld>
            <a:endParaRPr lang="en-US" dirty="0"/>
          </a:p>
        </p:txBody>
      </p:sp>
    </p:spTree>
    <p:extLst>
      <p:ext uri="{BB962C8B-B14F-4D97-AF65-F5344CB8AC3E}">
        <p14:creationId xmlns:p14="http://schemas.microsoft.com/office/powerpoint/2010/main" val="1724379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66C4-9330-4197-2DA2-CBF8FC1B391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12628DCA-A48D-52AA-BE56-BF16BD4396F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E1E17AE-4E96-FE64-9494-C109F38A473F}"/>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DISTRIBUTED MEMORY MODEL</a:t>
            </a:r>
          </a:p>
        </p:txBody>
      </p:sp>
      <p:sp>
        <p:nvSpPr>
          <p:cNvPr id="2" name="TextBox 1">
            <a:extLst>
              <a:ext uri="{FF2B5EF4-FFF2-40B4-BE49-F238E27FC236}">
                <a16:creationId xmlns:a16="http://schemas.microsoft.com/office/drawing/2014/main" id="{B675ACC4-7FB7-F0D3-A11E-82AAB748F279}"/>
              </a:ext>
            </a:extLst>
          </p:cNvPr>
          <p:cNvSpPr txBox="1"/>
          <p:nvPr/>
        </p:nvSpPr>
        <p:spPr>
          <a:xfrm>
            <a:off x="0" y="1040927"/>
            <a:ext cx="4447310" cy="400110"/>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DISTRIBUTED MEMORY MODEL</a:t>
            </a:r>
          </a:p>
        </p:txBody>
      </p:sp>
      <p:sp>
        <p:nvSpPr>
          <p:cNvPr id="6" name="TextBox 5">
            <a:extLst>
              <a:ext uri="{FF2B5EF4-FFF2-40B4-BE49-F238E27FC236}">
                <a16:creationId xmlns:a16="http://schemas.microsoft.com/office/drawing/2014/main" id="{92AE854C-4917-134C-99EA-30D784FC5CCD}"/>
              </a:ext>
            </a:extLst>
          </p:cNvPr>
          <p:cNvSpPr txBox="1"/>
          <p:nvPr/>
        </p:nvSpPr>
        <p:spPr>
          <a:xfrm>
            <a:off x="1" y="1399472"/>
            <a:ext cx="4696691" cy="5444054"/>
          </a:xfrm>
          <a:prstGeom prst="rect">
            <a:avLst/>
          </a:prstGeom>
          <a:noFill/>
        </p:spPr>
        <p:txBody>
          <a:bodyPr wrap="square" rtlCol="0">
            <a:spAutoFit/>
          </a:bodyPr>
          <a:lstStyle/>
          <a:p>
            <a:pPr algn="just" fontAlgn="base">
              <a:lnSpc>
                <a:spcPct val="150000"/>
              </a:lnSpc>
            </a:pPr>
            <a:r>
              <a:rPr lang="en-US" dirty="0">
                <a:latin typeface="Times New Roman" panose="02020603050405020304" pitchFamily="18" charset="0"/>
                <a:cs typeface="Times New Roman" panose="02020603050405020304" pitchFamily="18" charset="0"/>
              </a:rPr>
              <a:t>A system with DSM is made up of a number of nodes or computers that are linked together by a network, and each have their own local memory. All of the nodes’ shared memory is managed by the DSM system. Transparent connections and processing take place between all nodes/computers. Additionally, the DSM ensures that each node is able to access virtual memory without any interference from other nodes. The DSM has no physical memory; instead, all of the nodes share a virtual space address, and data is transferred between them through the main memory.</a:t>
            </a:r>
          </a:p>
        </p:txBody>
      </p:sp>
      <p:pic>
        <p:nvPicPr>
          <p:cNvPr id="7" name="Picture 6" descr="A diagram of a memory process&#10;&#10;AI-generated content may be incorrect.">
            <a:extLst>
              <a:ext uri="{FF2B5EF4-FFF2-40B4-BE49-F238E27FC236}">
                <a16:creationId xmlns:a16="http://schemas.microsoft.com/office/drawing/2014/main" id="{0B14A92F-EF7C-FA9A-5CB0-771020EBB0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6692" y="1640595"/>
            <a:ext cx="4447308" cy="4940313"/>
          </a:xfrm>
          <a:prstGeom prst="rect">
            <a:avLst/>
          </a:prstGeom>
        </p:spPr>
      </p:pic>
      <p:sp>
        <p:nvSpPr>
          <p:cNvPr id="5" name="Date Placeholder 4">
            <a:extLst>
              <a:ext uri="{FF2B5EF4-FFF2-40B4-BE49-F238E27FC236}">
                <a16:creationId xmlns:a16="http://schemas.microsoft.com/office/drawing/2014/main" id="{14F7C986-C761-8E58-55D3-B79791AEC3F2}"/>
              </a:ext>
            </a:extLst>
          </p:cNvPr>
          <p:cNvSpPr>
            <a:spLocks noGrp="1"/>
          </p:cNvSpPr>
          <p:nvPr>
            <p:ph type="dt" sz="half" idx="10"/>
          </p:nvPr>
        </p:nvSpPr>
        <p:spPr/>
        <p:txBody>
          <a:bodyPr/>
          <a:lstStyle/>
          <a:p>
            <a:fld id="{B7EBDC25-999B-4ED8-B4A7-FD9555035D04}" type="datetime1">
              <a:rPr lang="en-US" smtClean="0"/>
              <a:t>7/4/2025</a:t>
            </a:fld>
            <a:endParaRPr lang="en-US" dirty="0"/>
          </a:p>
        </p:txBody>
      </p:sp>
      <p:sp>
        <p:nvSpPr>
          <p:cNvPr id="8" name="Footer Placeholder 7">
            <a:extLst>
              <a:ext uri="{FF2B5EF4-FFF2-40B4-BE49-F238E27FC236}">
                <a16:creationId xmlns:a16="http://schemas.microsoft.com/office/drawing/2014/main" id="{E83E23D1-6D6C-0A10-17E7-4BD862E8C046}"/>
              </a:ext>
            </a:extLst>
          </p:cNvPr>
          <p:cNvSpPr>
            <a:spLocks noGrp="1"/>
          </p:cNvSpPr>
          <p:nvPr>
            <p:ph type="ftr" sz="quarter" idx="11"/>
          </p:nvPr>
        </p:nvSpPr>
        <p:spPr>
          <a:xfrm>
            <a:off x="1323109" y="6453335"/>
            <a:ext cx="6920346"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BBDD7CBF-4429-27FD-6CFB-7982CBB97A64}"/>
              </a:ext>
            </a:extLst>
          </p:cNvPr>
          <p:cNvSpPr>
            <a:spLocks noGrp="1"/>
          </p:cNvSpPr>
          <p:nvPr>
            <p:ph type="sldNum" sz="quarter" idx="12"/>
          </p:nvPr>
        </p:nvSpPr>
        <p:spPr/>
        <p:txBody>
          <a:bodyPr/>
          <a:lstStyle/>
          <a:p>
            <a:fld id="{B6F15528-21DE-4FAA-801E-634DDDAF4B2B}" type="slidenum">
              <a:rPr lang="en-US" smtClean="0"/>
              <a:pPr/>
              <a:t>53</a:t>
            </a:fld>
            <a:endParaRPr lang="en-US" dirty="0"/>
          </a:p>
        </p:txBody>
      </p:sp>
    </p:spTree>
    <p:extLst>
      <p:ext uri="{BB962C8B-B14F-4D97-AF65-F5344CB8AC3E}">
        <p14:creationId xmlns:p14="http://schemas.microsoft.com/office/powerpoint/2010/main" val="24580489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DBF4-F856-E445-9C8E-3941DC5A9719}"/>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4E5A19C-E2F0-B747-68D5-47D6AC0BA50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8BE5C14C-616F-1728-5AE8-A9D03DCB4DC8}"/>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DISTRIBUTED MEMORY MODEL</a:t>
            </a:r>
          </a:p>
        </p:txBody>
      </p:sp>
      <p:sp>
        <p:nvSpPr>
          <p:cNvPr id="2" name="TextBox 1">
            <a:extLst>
              <a:ext uri="{FF2B5EF4-FFF2-40B4-BE49-F238E27FC236}">
                <a16:creationId xmlns:a16="http://schemas.microsoft.com/office/drawing/2014/main" id="{F0BD58A0-6490-19CC-7FBA-FC75E680ED7D}"/>
              </a:ext>
            </a:extLst>
          </p:cNvPr>
          <p:cNvSpPr txBox="1"/>
          <p:nvPr/>
        </p:nvSpPr>
        <p:spPr>
          <a:xfrm>
            <a:off x="0" y="1208442"/>
            <a:ext cx="8271164" cy="400110"/>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Now let’s talk about a few distinct varieties of distributed shared memory:</a:t>
            </a:r>
            <a:endParaRPr lang="en-US"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C749229-2659-AC7A-52B2-C19F8DEB72AD}"/>
              </a:ext>
            </a:extLst>
          </p:cNvPr>
          <p:cNvSpPr txBox="1"/>
          <p:nvPr/>
        </p:nvSpPr>
        <p:spPr>
          <a:xfrm>
            <a:off x="1" y="1709776"/>
            <a:ext cx="9143999" cy="417037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On-Chip Memory:</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CPU’s chip houses all of the data.</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Memory and address lines have a direct link.</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On-Chip Memory DSM is extremely expensive and challenging.</a:t>
            </a:r>
          </a:p>
          <a:p>
            <a:pPr algn="just">
              <a:lnSpc>
                <a:spcPct val="150000"/>
              </a:lnSpc>
            </a:pPr>
            <a:r>
              <a:rPr lang="en-US" dirty="0">
                <a:latin typeface="Times New Roman" panose="02020603050405020304" pitchFamily="18" charset="0"/>
                <a:cs typeface="Times New Roman" panose="02020603050405020304" pitchFamily="18" charset="0"/>
              </a:rPr>
              <a:t>B) </a:t>
            </a:r>
            <a:r>
              <a:rPr lang="en-US" b="1" dirty="0">
                <a:latin typeface="Times New Roman" panose="02020603050405020304" pitchFamily="18" charset="0"/>
                <a:cs typeface="Times New Roman" panose="02020603050405020304" pitchFamily="18" charset="0"/>
              </a:rPr>
              <a:t>Microprocessor based on buses:</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Through a network of parallel wires that serves as a bus, the link between the memory and the CPU is made.</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All computers adhere to certain standards while accessing memory, and an algorithm is put in place to stop multiple systems from using memory simultaneously.</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cache memory reduces network traffic.</a:t>
            </a:r>
          </a:p>
          <a:p>
            <a:pPr>
              <a:lnSpc>
                <a:spcPct val="150000"/>
              </a:lnSpc>
            </a:pPr>
            <a:r>
              <a:rPr lang="en-US" dirty="0">
                <a:latin typeface="Times New Roman" panose="02020603050405020304" pitchFamily="18" charset="0"/>
                <a:cs typeface="Times New Roman" panose="02020603050405020304" pitchFamily="18" charset="0"/>
              </a:rPr>
              <a:t>C) </a:t>
            </a:r>
            <a:r>
              <a:rPr lang="en-US" b="1" dirty="0">
                <a:latin typeface="Times New Roman" panose="02020603050405020304" pitchFamily="18" charset="0"/>
                <a:cs typeface="Times New Roman" panose="02020603050405020304" pitchFamily="18" charset="0"/>
              </a:rPr>
              <a:t>Microprocessor with rings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no centralized memory in Ring-based DSM.</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All nodes are linked together via a network, and token passing is used to access memory.</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this system, a single address line is accessible by all nodes/computers in the shared space.</a:t>
            </a:r>
          </a:p>
        </p:txBody>
      </p:sp>
      <p:sp>
        <p:nvSpPr>
          <p:cNvPr id="5" name="Date Placeholder 4">
            <a:extLst>
              <a:ext uri="{FF2B5EF4-FFF2-40B4-BE49-F238E27FC236}">
                <a16:creationId xmlns:a16="http://schemas.microsoft.com/office/drawing/2014/main" id="{18492508-7304-EAEE-11B8-7A6AA98969DD}"/>
              </a:ext>
            </a:extLst>
          </p:cNvPr>
          <p:cNvSpPr>
            <a:spLocks noGrp="1"/>
          </p:cNvSpPr>
          <p:nvPr>
            <p:ph type="dt" sz="half" idx="10"/>
          </p:nvPr>
        </p:nvSpPr>
        <p:spPr/>
        <p:txBody>
          <a:bodyPr/>
          <a:lstStyle/>
          <a:p>
            <a:fld id="{CC81C1D5-B674-4907-A264-C5E7041A4D18}" type="datetime1">
              <a:rPr lang="en-US" smtClean="0"/>
              <a:t>7/4/2025</a:t>
            </a:fld>
            <a:endParaRPr lang="en-US" dirty="0"/>
          </a:p>
        </p:txBody>
      </p:sp>
      <p:sp>
        <p:nvSpPr>
          <p:cNvPr id="7" name="Footer Placeholder 6">
            <a:extLst>
              <a:ext uri="{FF2B5EF4-FFF2-40B4-BE49-F238E27FC236}">
                <a16:creationId xmlns:a16="http://schemas.microsoft.com/office/drawing/2014/main" id="{9AFE0679-5113-D0A1-5A8D-309E0ABE2D4B}"/>
              </a:ext>
            </a:extLst>
          </p:cNvPr>
          <p:cNvSpPr>
            <a:spLocks noGrp="1"/>
          </p:cNvSpPr>
          <p:nvPr>
            <p:ph type="ftr" sz="quarter" idx="11"/>
          </p:nvPr>
        </p:nvSpPr>
        <p:spPr>
          <a:xfrm>
            <a:off x="1205345" y="6356350"/>
            <a:ext cx="7065819"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80B78E67-97F0-7AC7-5B30-B4873C93D74D}"/>
              </a:ext>
            </a:extLst>
          </p:cNvPr>
          <p:cNvSpPr>
            <a:spLocks noGrp="1"/>
          </p:cNvSpPr>
          <p:nvPr>
            <p:ph type="sldNum" sz="quarter" idx="12"/>
          </p:nvPr>
        </p:nvSpPr>
        <p:spPr/>
        <p:txBody>
          <a:bodyPr/>
          <a:lstStyle/>
          <a:p>
            <a:fld id="{B6F15528-21DE-4FAA-801E-634DDDAF4B2B}" type="slidenum">
              <a:rPr lang="en-US" smtClean="0"/>
              <a:pPr/>
              <a:t>54</a:t>
            </a:fld>
            <a:endParaRPr lang="en-US" dirty="0"/>
          </a:p>
        </p:txBody>
      </p:sp>
    </p:spTree>
    <p:extLst>
      <p:ext uri="{BB962C8B-B14F-4D97-AF65-F5344CB8AC3E}">
        <p14:creationId xmlns:p14="http://schemas.microsoft.com/office/powerpoint/2010/main" val="38767167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B30A5-0F60-8187-7397-88DE94EDBDC2}"/>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A67AC253-7CD2-B0B1-ED39-A6CA114795D7}"/>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1494DA54-6D1D-6879-915D-2EFA7E051310}"/>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Open Multi‑Processing</a:t>
            </a:r>
            <a:endParaRPr lang="en-IN" sz="3000" dirty="0"/>
          </a:p>
        </p:txBody>
      </p:sp>
      <p:sp>
        <p:nvSpPr>
          <p:cNvPr id="9" name="Rectangle 4">
            <a:extLst>
              <a:ext uri="{FF2B5EF4-FFF2-40B4-BE49-F238E27FC236}">
                <a16:creationId xmlns:a16="http://schemas.microsoft.com/office/drawing/2014/main" id="{5BB26CD4-8084-3997-3DCA-69C8D4060488}"/>
              </a:ext>
            </a:extLst>
          </p:cNvPr>
          <p:cNvSpPr>
            <a:spLocks noChangeArrowheads="1"/>
          </p:cNvSpPr>
          <p:nvPr/>
        </p:nvSpPr>
        <p:spPr bwMode="auto">
          <a:xfrm>
            <a:off x="112816" y="1191812"/>
            <a:ext cx="8918368"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OpenMP (Open Multi‑Processing) is an open-standard API designed for shared-memory parallel programming in C, C++, and Fortran on a wide range of systems—desktops, servers, and supercomputers. It consists of a set of compiler directives, runtime routines, and environment variables that together enable developers to indicate parallel regions of code. Following a fork–join execution model, a single master thread spawns (forks) worker threads when a parallel region is encountered, all threads execute concurrently, then synchronize (join) back into the master thread upon completion. OpenMP supports flexible work distribution (loops, tasks, sections), thread synchronization (barriers, critical, atomic), and data-sharing attributes (shared, private, reduction), enabling safe and efficient concurrency. Governed by the OpenMP Architecture Review Board and implemented across major compilers (GCC, Clang, Intel, MSVC), OpenMP allows incremental, portable, and scalable parallelization of legacy code with minimal changes</a:t>
            </a:r>
          </a:p>
        </p:txBody>
      </p:sp>
      <p:sp>
        <p:nvSpPr>
          <p:cNvPr id="11" name="Date Placeholder 10">
            <a:extLst>
              <a:ext uri="{FF2B5EF4-FFF2-40B4-BE49-F238E27FC236}">
                <a16:creationId xmlns:a16="http://schemas.microsoft.com/office/drawing/2014/main" id="{A824ADAC-776D-99A4-3B17-595786D0EADA}"/>
              </a:ext>
            </a:extLst>
          </p:cNvPr>
          <p:cNvSpPr>
            <a:spLocks noGrp="1"/>
          </p:cNvSpPr>
          <p:nvPr>
            <p:ph type="dt" sz="half" idx="10"/>
          </p:nvPr>
        </p:nvSpPr>
        <p:spPr/>
        <p:txBody>
          <a:bodyPr/>
          <a:lstStyle/>
          <a:p>
            <a:fld id="{5B26A5A1-CB5B-4B72-B278-74A5D99C3D88}" type="datetime1">
              <a:rPr lang="en-US" smtClean="0"/>
              <a:t>7/4/2025</a:t>
            </a:fld>
            <a:endParaRPr lang="en-US" dirty="0"/>
          </a:p>
        </p:txBody>
      </p:sp>
      <p:sp>
        <p:nvSpPr>
          <p:cNvPr id="12" name="Footer Placeholder 11">
            <a:extLst>
              <a:ext uri="{FF2B5EF4-FFF2-40B4-BE49-F238E27FC236}">
                <a16:creationId xmlns:a16="http://schemas.microsoft.com/office/drawing/2014/main" id="{03984EF3-C48F-58DD-323C-5D353C17955D}"/>
              </a:ext>
            </a:extLst>
          </p:cNvPr>
          <p:cNvSpPr>
            <a:spLocks noGrp="1"/>
          </p:cNvSpPr>
          <p:nvPr>
            <p:ph type="ftr" sz="quarter" idx="11"/>
          </p:nvPr>
        </p:nvSpPr>
        <p:spPr>
          <a:xfrm>
            <a:off x="1413164" y="6356350"/>
            <a:ext cx="6470072" cy="365125"/>
          </a:xfrm>
        </p:spPr>
        <p:txBody>
          <a:bodyPr/>
          <a:lstStyle/>
          <a:p>
            <a:r>
              <a:rPr lang="en-US" dirty="0"/>
              <a:t>Mr. Anshul Varshney               High Performance computing                   Unit 2</a:t>
            </a:r>
          </a:p>
        </p:txBody>
      </p:sp>
      <p:sp>
        <p:nvSpPr>
          <p:cNvPr id="13" name="Slide Number Placeholder 12">
            <a:extLst>
              <a:ext uri="{FF2B5EF4-FFF2-40B4-BE49-F238E27FC236}">
                <a16:creationId xmlns:a16="http://schemas.microsoft.com/office/drawing/2014/main" id="{55A74FEC-8D44-83CD-F86E-199207A365ED}"/>
              </a:ext>
            </a:extLst>
          </p:cNvPr>
          <p:cNvSpPr>
            <a:spLocks noGrp="1"/>
          </p:cNvSpPr>
          <p:nvPr>
            <p:ph type="sldNum" sz="quarter" idx="12"/>
          </p:nvPr>
        </p:nvSpPr>
        <p:spPr/>
        <p:txBody>
          <a:bodyPr/>
          <a:lstStyle/>
          <a:p>
            <a:fld id="{B6F15528-21DE-4FAA-801E-634DDDAF4B2B}" type="slidenum">
              <a:rPr lang="en-US" smtClean="0"/>
              <a:pPr/>
              <a:t>55</a:t>
            </a:fld>
            <a:endParaRPr lang="en-US" dirty="0"/>
          </a:p>
        </p:txBody>
      </p:sp>
    </p:spTree>
    <p:extLst>
      <p:ext uri="{BB962C8B-B14F-4D97-AF65-F5344CB8AC3E}">
        <p14:creationId xmlns:p14="http://schemas.microsoft.com/office/powerpoint/2010/main" val="354604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86AC9-94AF-F405-DFD1-351031527DAE}"/>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17E41A3D-41AF-91EA-0634-6D16AE904AA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70FF895-1507-7524-375E-51CD04095DF5}"/>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Open Multi‑Processing</a:t>
            </a:r>
            <a:endParaRPr lang="en-IN" sz="3000" dirty="0"/>
          </a:p>
        </p:txBody>
      </p:sp>
      <p:pic>
        <p:nvPicPr>
          <p:cNvPr id="5" name="Picture 4" descr="A screenshot of a computer&#10;&#10;AI-generated content may be incorrect.">
            <a:extLst>
              <a:ext uri="{FF2B5EF4-FFF2-40B4-BE49-F238E27FC236}">
                <a16:creationId xmlns:a16="http://schemas.microsoft.com/office/drawing/2014/main" id="{C094BB35-6D1D-AA29-3272-35872FC70E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21633"/>
            <a:ext cx="9144000" cy="5590003"/>
          </a:xfrm>
          <a:prstGeom prst="rect">
            <a:avLst/>
          </a:prstGeom>
        </p:spPr>
      </p:pic>
      <p:sp>
        <p:nvSpPr>
          <p:cNvPr id="6" name="Date Placeholder 5">
            <a:extLst>
              <a:ext uri="{FF2B5EF4-FFF2-40B4-BE49-F238E27FC236}">
                <a16:creationId xmlns:a16="http://schemas.microsoft.com/office/drawing/2014/main" id="{744A7050-9668-AD95-A75D-EA06E03DB05A}"/>
              </a:ext>
            </a:extLst>
          </p:cNvPr>
          <p:cNvSpPr>
            <a:spLocks noGrp="1"/>
          </p:cNvSpPr>
          <p:nvPr>
            <p:ph type="dt" sz="half" idx="10"/>
          </p:nvPr>
        </p:nvSpPr>
        <p:spPr/>
        <p:txBody>
          <a:bodyPr/>
          <a:lstStyle/>
          <a:p>
            <a:fld id="{362C3725-904F-413F-9DB4-181D6A17456C}" type="datetime1">
              <a:rPr lang="en-US" smtClean="0"/>
              <a:t>7/4/2025</a:t>
            </a:fld>
            <a:endParaRPr lang="en-US" dirty="0"/>
          </a:p>
        </p:txBody>
      </p:sp>
      <p:sp>
        <p:nvSpPr>
          <p:cNvPr id="7" name="Footer Placeholder 6">
            <a:extLst>
              <a:ext uri="{FF2B5EF4-FFF2-40B4-BE49-F238E27FC236}">
                <a16:creationId xmlns:a16="http://schemas.microsoft.com/office/drawing/2014/main" id="{D2C00343-6E4C-C5D3-F2AD-79D5CAE2F569}"/>
              </a:ext>
            </a:extLst>
          </p:cNvPr>
          <p:cNvSpPr>
            <a:spLocks noGrp="1"/>
          </p:cNvSpPr>
          <p:nvPr>
            <p:ph type="ftr" sz="quarter" idx="11"/>
          </p:nvPr>
        </p:nvSpPr>
        <p:spPr>
          <a:xfrm>
            <a:off x="1343891" y="6356350"/>
            <a:ext cx="7079673" cy="365125"/>
          </a:xfrm>
        </p:spPr>
        <p:txBody>
          <a:bodyPr/>
          <a:lstStyle/>
          <a:p>
            <a:r>
              <a:rPr lang="en-US" dirty="0"/>
              <a:t>Mr. Anshul Varshney               High Performance computing                   Unit 2</a:t>
            </a:r>
          </a:p>
        </p:txBody>
      </p:sp>
      <p:sp>
        <p:nvSpPr>
          <p:cNvPr id="8" name="Slide Number Placeholder 7">
            <a:extLst>
              <a:ext uri="{FF2B5EF4-FFF2-40B4-BE49-F238E27FC236}">
                <a16:creationId xmlns:a16="http://schemas.microsoft.com/office/drawing/2014/main" id="{84B006BE-6539-1B12-41F6-3017ABA9D2FF}"/>
              </a:ext>
            </a:extLst>
          </p:cNvPr>
          <p:cNvSpPr>
            <a:spLocks noGrp="1"/>
          </p:cNvSpPr>
          <p:nvPr>
            <p:ph type="sldNum" sz="quarter" idx="12"/>
          </p:nvPr>
        </p:nvSpPr>
        <p:spPr/>
        <p:txBody>
          <a:bodyPr/>
          <a:lstStyle/>
          <a:p>
            <a:fld id="{B6F15528-21DE-4FAA-801E-634DDDAF4B2B}" type="slidenum">
              <a:rPr lang="en-US" smtClean="0"/>
              <a:pPr/>
              <a:t>56</a:t>
            </a:fld>
            <a:endParaRPr lang="en-US" dirty="0"/>
          </a:p>
        </p:txBody>
      </p:sp>
    </p:spTree>
    <p:extLst>
      <p:ext uri="{BB962C8B-B14F-4D97-AF65-F5344CB8AC3E}">
        <p14:creationId xmlns:p14="http://schemas.microsoft.com/office/powerpoint/2010/main" val="962965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01EF8-0D11-0740-81DB-CE9E216B851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EFE0E30-DF79-EE6A-AFF1-7FA5A07BF34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4804CBC-5094-5066-9DD9-B86ACAC11142}"/>
              </a:ext>
            </a:extLst>
          </p:cNvPr>
          <p:cNvSpPr txBox="1">
            <a:spLocks/>
          </p:cNvSpPr>
          <p:nvPr/>
        </p:nvSpPr>
        <p:spPr>
          <a:xfrm>
            <a:off x="1749346" y="0"/>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Open Multi‑Processing</a:t>
            </a:r>
            <a:endParaRPr lang="en-IN" sz="3000" dirty="0"/>
          </a:p>
        </p:txBody>
      </p:sp>
      <p:sp>
        <p:nvSpPr>
          <p:cNvPr id="2" name="TextBox 1">
            <a:extLst>
              <a:ext uri="{FF2B5EF4-FFF2-40B4-BE49-F238E27FC236}">
                <a16:creationId xmlns:a16="http://schemas.microsoft.com/office/drawing/2014/main" id="{B598F0D3-6C43-CB4C-0446-36C725DA642E}"/>
              </a:ext>
            </a:extLst>
          </p:cNvPr>
          <p:cNvSpPr txBox="1"/>
          <p:nvPr/>
        </p:nvSpPr>
        <p:spPr>
          <a:xfrm>
            <a:off x="471055" y="1316182"/>
            <a:ext cx="2369880" cy="400110"/>
          </a:xfrm>
          <a:prstGeom prst="rect">
            <a:avLst/>
          </a:prstGeom>
          <a:noFill/>
        </p:spPr>
        <p:txBody>
          <a:bodyPr wrap="none" rtlCol="0">
            <a:spAutoFit/>
          </a:bodyPr>
          <a:lstStyle/>
          <a:p>
            <a:r>
              <a:rPr lang="en-IN" sz="2000" b="1" dirty="0"/>
              <a:t>THREAD Vs PROCESS</a:t>
            </a:r>
          </a:p>
        </p:txBody>
      </p:sp>
      <p:sp>
        <p:nvSpPr>
          <p:cNvPr id="6" name="TextBox 5">
            <a:extLst>
              <a:ext uri="{FF2B5EF4-FFF2-40B4-BE49-F238E27FC236}">
                <a16:creationId xmlns:a16="http://schemas.microsoft.com/office/drawing/2014/main" id="{5FDF4FAF-C1E4-6509-0CD2-0B1FD93F1454}"/>
              </a:ext>
            </a:extLst>
          </p:cNvPr>
          <p:cNvSpPr txBox="1"/>
          <p:nvPr/>
        </p:nvSpPr>
        <p:spPr>
          <a:xfrm>
            <a:off x="415636" y="1951672"/>
            <a:ext cx="8659092" cy="212006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A process is created by the OS to execute a program with given resources(memory, registers); generally, different processes do not share their memory with another. A thread is a subset of a process, and it shares the resources of its parent process but has its own stack to keep track of function calls. Multiple threads of a process will have access to the same memory.</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9589AFA-A6C1-1AFD-862A-E1017E8C5585}"/>
              </a:ext>
            </a:extLst>
          </p:cNvPr>
          <p:cNvSpPr txBox="1"/>
          <p:nvPr/>
        </p:nvSpPr>
        <p:spPr>
          <a:xfrm>
            <a:off x="242454" y="4307120"/>
            <a:ext cx="8659092" cy="1289071"/>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OpenMP comes under the shared memory concept. In this, different CPU's (processors) will have access to the same memory location. Since all CPU's connect to the same memory, memory access should be handled carefully.</a:t>
            </a:r>
            <a:endParaRPr lang="en-IN"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C8B5E128-BB38-3CB8-F371-536E6920B784}"/>
              </a:ext>
            </a:extLst>
          </p:cNvPr>
          <p:cNvSpPr>
            <a:spLocks noGrp="1"/>
          </p:cNvSpPr>
          <p:nvPr>
            <p:ph type="dt" sz="half" idx="10"/>
          </p:nvPr>
        </p:nvSpPr>
        <p:spPr/>
        <p:txBody>
          <a:bodyPr/>
          <a:lstStyle/>
          <a:p>
            <a:fld id="{4E91D851-A525-4B43-B2BC-2C2BAD0211FB}" type="datetime1">
              <a:rPr lang="en-US" smtClean="0"/>
              <a:t>7/4/2025</a:t>
            </a:fld>
            <a:endParaRPr lang="en-US" dirty="0"/>
          </a:p>
        </p:txBody>
      </p:sp>
      <p:sp>
        <p:nvSpPr>
          <p:cNvPr id="9" name="Footer Placeholder 8">
            <a:extLst>
              <a:ext uri="{FF2B5EF4-FFF2-40B4-BE49-F238E27FC236}">
                <a16:creationId xmlns:a16="http://schemas.microsoft.com/office/drawing/2014/main" id="{679BB452-A1B8-036D-DCCE-8A2481B26345}"/>
              </a:ext>
            </a:extLst>
          </p:cNvPr>
          <p:cNvSpPr>
            <a:spLocks noGrp="1"/>
          </p:cNvSpPr>
          <p:nvPr>
            <p:ph type="ftr" sz="quarter" idx="11"/>
          </p:nvPr>
        </p:nvSpPr>
        <p:spPr>
          <a:xfrm>
            <a:off x="1177635" y="6356350"/>
            <a:ext cx="6968837" cy="365125"/>
          </a:xfrm>
        </p:spPr>
        <p:txBody>
          <a:bodyPr/>
          <a:lstStyle/>
          <a:p>
            <a:r>
              <a:rPr lang="en-US" dirty="0"/>
              <a:t>Mr. Anshul Varshney               High Performance computing                   Unit 2</a:t>
            </a:r>
          </a:p>
        </p:txBody>
      </p:sp>
      <p:sp>
        <p:nvSpPr>
          <p:cNvPr id="10" name="Slide Number Placeholder 9">
            <a:extLst>
              <a:ext uri="{FF2B5EF4-FFF2-40B4-BE49-F238E27FC236}">
                <a16:creationId xmlns:a16="http://schemas.microsoft.com/office/drawing/2014/main" id="{21F53F58-B029-1561-7B96-7DA8B0686DDD}"/>
              </a:ext>
            </a:extLst>
          </p:cNvPr>
          <p:cNvSpPr>
            <a:spLocks noGrp="1"/>
          </p:cNvSpPr>
          <p:nvPr>
            <p:ph type="sldNum" sz="quarter" idx="12"/>
          </p:nvPr>
        </p:nvSpPr>
        <p:spPr/>
        <p:txBody>
          <a:bodyPr/>
          <a:lstStyle/>
          <a:p>
            <a:fld id="{B6F15528-21DE-4FAA-801E-634DDDAF4B2B}" type="slidenum">
              <a:rPr lang="en-US" smtClean="0"/>
              <a:pPr/>
              <a:t>57</a:t>
            </a:fld>
            <a:endParaRPr lang="en-US" dirty="0"/>
          </a:p>
        </p:txBody>
      </p:sp>
    </p:spTree>
    <p:extLst>
      <p:ext uri="{BB962C8B-B14F-4D97-AF65-F5344CB8AC3E}">
        <p14:creationId xmlns:p14="http://schemas.microsoft.com/office/powerpoint/2010/main" val="21104612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D6E0-51D0-851E-8F4C-5096A2E46B81}"/>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0478BCBD-AFBC-BC3B-356B-C0CB0427568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227DE8FF-B528-0BDA-2A71-A4784D703D20}"/>
              </a:ext>
            </a:extLst>
          </p:cNvPr>
          <p:cNvSpPr txBox="1">
            <a:spLocks/>
          </p:cNvSpPr>
          <p:nvPr/>
        </p:nvSpPr>
        <p:spPr>
          <a:xfrm>
            <a:off x="1749347" y="-19584"/>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Message Passing Interface</a:t>
            </a:r>
            <a:endParaRPr lang="en-IN" sz="3000" dirty="0"/>
          </a:p>
        </p:txBody>
      </p:sp>
      <p:sp>
        <p:nvSpPr>
          <p:cNvPr id="6" name="TextBox 5">
            <a:extLst>
              <a:ext uri="{FF2B5EF4-FFF2-40B4-BE49-F238E27FC236}">
                <a16:creationId xmlns:a16="http://schemas.microsoft.com/office/drawing/2014/main" id="{8FF78F3D-2C75-C437-1D22-FFD79F9DCE6D}"/>
              </a:ext>
            </a:extLst>
          </p:cNvPr>
          <p:cNvSpPr txBox="1"/>
          <p:nvPr/>
        </p:nvSpPr>
        <p:spPr>
          <a:xfrm>
            <a:off x="242454" y="1726088"/>
            <a:ext cx="8659092" cy="3782061"/>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Message passing interface (MPI) is a standard specification of message-passing interface for parallel computation in distributed-memory systems. MPI isn’t a programming language. It’s a library of functions that programmers can call from C, C++, or Fortran code to write parallel programs. With MPI, an MPI communicator can be dynamically created and have multiple processes concurrently running on separate nodes of clusters. Each process has a unique MPI rank to identify it, its own memory space, and executes independently from the other processes. Processes communicate with each other by passing messages to exchange data. Parallelism occurs when a program task gets partitioned into small chunks and distributes those chunks among the processes, in which such each process processes its part.</a:t>
            </a: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53C7BCE-4AF2-B29D-DD6D-578A8D3E8B34}"/>
              </a:ext>
            </a:extLst>
          </p:cNvPr>
          <p:cNvSpPr>
            <a:spLocks noGrp="1"/>
          </p:cNvSpPr>
          <p:nvPr>
            <p:ph type="dt" sz="half" idx="10"/>
          </p:nvPr>
        </p:nvSpPr>
        <p:spPr/>
        <p:txBody>
          <a:bodyPr/>
          <a:lstStyle/>
          <a:p>
            <a:fld id="{268C90E6-330A-43F7-8AEC-25E67F7C3F91}" type="datetime1">
              <a:rPr lang="en-US" smtClean="0"/>
              <a:t>7/4/2025</a:t>
            </a:fld>
            <a:endParaRPr lang="en-US" dirty="0"/>
          </a:p>
        </p:txBody>
      </p:sp>
      <p:sp>
        <p:nvSpPr>
          <p:cNvPr id="8" name="Footer Placeholder 7">
            <a:extLst>
              <a:ext uri="{FF2B5EF4-FFF2-40B4-BE49-F238E27FC236}">
                <a16:creationId xmlns:a16="http://schemas.microsoft.com/office/drawing/2014/main" id="{697D22C1-F7BB-6A1A-75B0-47907F371B9B}"/>
              </a:ext>
            </a:extLst>
          </p:cNvPr>
          <p:cNvSpPr>
            <a:spLocks noGrp="1"/>
          </p:cNvSpPr>
          <p:nvPr>
            <p:ph type="ftr" sz="quarter" idx="11"/>
          </p:nvPr>
        </p:nvSpPr>
        <p:spPr>
          <a:xfrm>
            <a:off x="1413163" y="6356350"/>
            <a:ext cx="6497781"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8CCDABBD-D4FF-0581-E30E-AB4ECD9EA39A}"/>
              </a:ext>
            </a:extLst>
          </p:cNvPr>
          <p:cNvSpPr>
            <a:spLocks noGrp="1"/>
          </p:cNvSpPr>
          <p:nvPr>
            <p:ph type="sldNum" sz="quarter" idx="12"/>
          </p:nvPr>
        </p:nvSpPr>
        <p:spPr/>
        <p:txBody>
          <a:bodyPr/>
          <a:lstStyle/>
          <a:p>
            <a:fld id="{B6F15528-21DE-4FAA-801E-634DDDAF4B2B}" type="slidenum">
              <a:rPr lang="en-US" smtClean="0"/>
              <a:pPr/>
              <a:t>58</a:t>
            </a:fld>
            <a:endParaRPr lang="en-US" dirty="0"/>
          </a:p>
        </p:txBody>
      </p:sp>
    </p:spTree>
    <p:extLst>
      <p:ext uri="{BB962C8B-B14F-4D97-AF65-F5344CB8AC3E}">
        <p14:creationId xmlns:p14="http://schemas.microsoft.com/office/powerpoint/2010/main" val="22829327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AD34-02ED-84E3-4D80-1CD736A6BEB9}"/>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128BD2D5-3F2F-B87A-D97E-4139CE65D56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7638C1C-4C7C-EFAF-AAB6-0278DA144507}"/>
              </a:ext>
            </a:extLst>
          </p:cNvPr>
          <p:cNvSpPr txBox="1">
            <a:spLocks/>
          </p:cNvSpPr>
          <p:nvPr/>
        </p:nvSpPr>
        <p:spPr>
          <a:xfrm>
            <a:off x="1749347" y="-19584"/>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Message Passing Interface</a:t>
            </a:r>
            <a:endParaRPr lang="en-IN" sz="3000" dirty="0"/>
          </a:p>
        </p:txBody>
      </p:sp>
      <p:pic>
        <p:nvPicPr>
          <p:cNvPr id="5" name="Picture 4" descr="A diagram of a data processing process&#10;&#10;AI-generated content may be incorrect.">
            <a:extLst>
              <a:ext uri="{FF2B5EF4-FFF2-40B4-BE49-F238E27FC236}">
                <a16:creationId xmlns:a16="http://schemas.microsoft.com/office/drawing/2014/main" id="{2F426C82-499E-5E19-4F70-12A59E8A96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421" y="1328436"/>
            <a:ext cx="8735941" cy="4726001"/>
          </a:xfrm>
          <a:prstGeom prst="rect">
            <a:avLst/>
          </a:prstGeom>
        </p:spPr>
      </p:pic>
      <p:sp>
        <p:nvSpPr>
          <p:cNvPr id="7" name="Date Placeholder 6">
            <a:extLst>
              <a:ext uri="{FF2B5EF4-FFF2-40B4-BE49-F238E27FC236}">
                <a16:creationId xmlns:a16="http://schemas.microsoft.com/office/drawing/2014/main" id="{3AA5A2EF-13F2-6203-9CA8-992F7279C3C0}"/>
              </a:ext>
            </a:extLst>
          </p:cNvPr>
          <p:cNvSpPr>
            <a:spLocks noGrp="1"/>
          </p:cNvSpPr>
          <p:nvPr>
            <p:ph type="dt" sz="half" idx="10"/>
          </p:nvPr>
        </p:nvSpPr>
        <p:spPr/>
        <p:txBody>
          <a:bodyPr/>
          <a:lstStyle/>
          <a:p>
            <a:fld id="{B020917F-8D98-4853-8B06-85A9FC0528EE}" type="datetime1">
              <a:rPr lang="en-US" smtClean="0"/>
              <a:t>7/4/2025</a:t>
            </a:fld>
            <a:endParaRPr lang="en-US" dirty="0"/>
          </a:p>
        </p:txBody>
      </p:sp>
      <p:sp>
        <p:nvSpPr>
          <p:cNvPr id="8" name="Footer Placeholder 7">
            <a:extLst>
              <a:ext uri="{FF2B5EF4-FFF2-40B4-BE49-F238E27FC236}">
                <a16:creationId xmlns:a16="http://schemas.microsoft.com/office/drawing/2014/main" id="{B1453EE8-DB49-CA92-17CC-1BCF02BB8689}"/>
              </a:ext>
            </a:extLst>
          </p:cNvPr>
          <p:cNvSpPr>
            <a:spLocks noGrp="1"/>
          </p:cNvSpPr>
          <p:nvPr>
            <p:ph type="ftr" sz="quarter" idx="11"/>
          </p:nvPr>
        </p:nvSpPr>
        <p:spPr>
          <a:xfrm>
            <a:off x="1233055" y="6356350"/>
            <a:ext cx="6733309" cy="365125"/>
          </a:xfrm>
        </p:spPr>
        <p:txBody>
          <a:bodyPr/>
          <a:lstStyle/>
          <a:p>
            <a:r>
              <a:rPr lang="en-US" dirty="0"/>
              <a:t>Mr. Anshul Varshney               High Performance computing                   Unit 2</a:t>
            </a:r>
          </a:p>
        </p:txBody>
      </p:sp>
      <p:sp>
        <p:nvSpPr>
          <p:cNvPr id="9" name="Slide Number Placeholder 8">
            <a:extLst>
              <a:ext uri="{FF2B5EF4-FFF2-40B4-BE49-F238E27FC236}">
                <a16:creationId xmlns:a16="http://schemas.microsoft.com/office/drawing/2014/main" id="{83687806-7AD4-492B-0772-A27D1533F241}"/>
              </a:ext>
            </a:extLst>
          </p:cNvPr>
          <p:cNvSpPr>
            <a:spLocks noGrp="1"/>
          </p:cNvSpPr>
          <p:nvPr>
            <p:ph type="sldNum" sz="quarter" idx="12"/>
          </p:nvPr>
        </p:nvSpPr>
        <p:spPr/>
        <p:txBody>
          <a:bodyPr/>
          <a:lstStyle/>
          <a:p>
            <a:fld id="{B6F15528-21DE-4FAA-801E-634DDDAF4B2B}" type="slidenum">
              <a:rPr lang="en-US" smtClean="0"/>
              <a:pPr/>
              <a:t>59</a:t>
            </a:fld>
            <a:endParaRPr lang="en-US" dirty="0"/>
          </a:p>
        </p:txBody>
      </p:sp>
    </p:spTree>
    <p:extLst>
      <p:ext uri="{BB962C8B-B14F-4D97-AF65-F5344CB8AC3E}">
        <p14:creationId xmlns:p14="http://schemas.microsoft.com/office/powerpoint/2010/main" val="1201962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1390-2AFC-2E4C-8374-91963DE8BA08}"/>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3736714-9461-EC2F-67DE-9880A338D85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65837DB-DEA8-0993-65E1-1F11533437A1}"/>
              </a:ext>
            </a:extLst>
          </p:cNvPr>
          <p:cNvSpPr txBox="1">
            <a:spLocks/>
          </p:cNvSpPr>
          <p:nvPr/>
        </p:nvSpPr>
        <p:spPr>
          <a:xfrm>
            <a:off x="1749347" y="-19584"/>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Message Passing Interface</a:t>
            </a:r>
            <a:endParaRPr lang="en-IN" sz="3000" dirty="0"/>
          </a:p>
        </p:txBody>
      </p:sp>
      <p:sp>
        <p:nvSpPr>
          <p:cNvPr id="6" name="TextBox 5">
            <a:extLst>
              <a:ext uri="{FF2B5EF4-FFF2-40B4-BE49-F238E27FC236}">
                <a16:creationId xmlns:a16="http://schemas.microsoft.com/office/drawing/2014/main" id="{B2D792A5-8185-AB6F-96B5-704C46197F2F}"/>
              </a:ext>
            </a:extLst>
          </p:cNvPr>
          <p:cNvSpPr txBox="1"/>
          <p:nvPr/>
        </p:nvSpPr>
        <p:spPr>
          <a:xfrm>
            <a:off x="242454" y="1171906"/>
            <a:ext cx="8659092" cy="498663"/>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MPI Communication Methods</a:t>
            </a:r>
            <a:endParaRPr lang="en-IN"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9CA2127-FE78-DD57-6830-8C4849FC4666}"/>
              </a:ext>
            </a:extLst>
          </p:cNvPr>
          <p:cNvSpPr txBox="1"/>
          <p:nvPr/>
        </p:nvSpPr>
        <p:spPr>
          <a:xfrm>
            <a:off x="190708" y="1828800"/>
            <a:ext cx="8659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MPI provides three different communication methods that MPI processes can use to communicate with each other. The communication methods are discussed as follows: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9A04A66-BF1C-9211-A72D-F85205DCC265}"/>
              </a:ext>
            </a:extLst>
          </p:cNvPr>
          <p:cNvSpPr txBox="1"/>
          <p:nvPr/>
        </p:nvSpPr>
        <p:spPr>
          <a:xfrm>
            <a:off x="242454" y="2633362"/>
            <a:ext cx="3563796"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Point-to-Point Communication</a:t>
            </a:r>
          </a:p>
        </p:txBody>
      </p:sp>
      <p:pic>
        <p:nvPicPr>
          <p:cNvPr id="8" name="Picture 7" descr="A couple of rectangular objects&#10;&#10;AI-generated content may be incorrect.">
            <a:extLst>
              <a:ext uri="{FF2B5EF4-FFF2-40B4-BE49-F238E27FC236}">
                <a16:creationId xmlns:a16="http://schemas.microsoft.com/office/drawing/2014/main" id="{974D0BBB-9638-87A7-7506-F840DB8F13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1456" y="3893769"/>
            <a:ext cx="5787527" cy="2619798"/>
          </a:xfrm>
          <a:prstGeom prst="rect">
            <a:avLst/>
          </a:prstGeom>
        </p:spPr>
      </p:pic>
      <p:sp>
        <p:nvSpPr>
          <p:cNvPr id="7" name="TextBox 6">
            <a:extLst>
              <a:ext uri="{FF2B5EF4-FFF2-40B4-BE49-F238E27FC236}">
                <a16:creationId xmlns:a16="http://schemas.microsoft.com/office/drawing/2014/main" id="{75A576B7-FC3C-8DF5-A072-DF8C20CFD7E4}"/>
              </a:ext>
            </a:extLst>
          </p:cNvPr>
          <p:cNvSpPr txBox="1"/>
          <p:nvPr/>
        </p:nvSpPr>
        <p:spPr>
          <a:xfrm>
            <a:off x="83130" y="3032799"/>
            <a:ext cx="8818416"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MPI Point-to Point communication is the most used communication method in MPI. It involves the transfer of a message from one process to a particular process in the same communicator. MPI provides blocking (synchronous) and non-blocking (asynchronous) Point-to-Point communication.</a:t>
            </a:r>
            <a:endParaRPr lang="en-IN" dirty="0">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7511BA16-80B4-8DAC-4CFD-DB83EF6E2179}"/>
              </a:ext>
            </a:extLst>
          </p:cNvPr>
          <p:cNvSpPr>
            <a:spLocks noGrp="1"/>
          </p:cNvSpPr>
          <p:nvPr>
            <p:ph type="dt" sz="half" idx="10"/>
          </p:nvPr>
        </p:nvSpPr>
        <p:spPr/>
        <p:txBody>
          <a:bodyPr/>
          <a:lstStyle/>
          <a:p>
            <a:fld id="{486F54C2-F646-47D2-879F-960334FDFD1F}" type="datetime1">
              <a:rPr lang="en-US" smtClean="0"/>
              <a:t>7/4/2025</a:t>
            </a:fld>
            <a:endParaRPr lang="en-US" dirty="0"/>
          </a:p>
        </p:txBody>
      </p:sp>
      <p:sp>
        <p:nvSpPr>
          <p:cNvPr id="10" name="Footer Placeholder 9">
            <a:extLst>
              <a:ext uri="{FF2B5EF4-FFF2-40B4-BE49-F238E27FC236}">
                <a16:creationId xmlns:a16="http://schemas.microsoft.com/office/drawing/2014/main" id="{855AE2B9-4B7B-687B-06AA-9022ED3AAB91}"/>
              </a:ext>
            </a:extLst>
          </p:cNvPr>
          <p:cNvSpPr>
            <a:spLocks noGrp="1"/>
          </p:cNvSpPr>
          <p:nvPr>
            <p:ph type="ftr" sz="quarter" idx="11"/>
          </p:nvPr>
        </p:nvSpPr>
        <p:spPr>
          <a:xfrm>
            <a:off x="1371600" y="6467190"/>
            <a:ext cx="7315200" cy="365125"/>
          </a:xfrm>
        </p:spPr>
        <p:txBody>
          <a:bodyPr/>
          <a:lstStyle/>
          <a:p>
            <a:r>
              <a:rPr lang="en-US" dirty="0"/>
              <a:t>Mr. Anshul Varshney               High Performance computing                   Unit 2</a:t>
            </a:r>
          </a:p>
        </p:txBody>
      </p:sp>
      <p:sp>
        <p:nvSpPr>
          <p:cNvPr id="11" name="Slide Number Placeholder 10">
            <a:extLst>
              <a:ext uri="{FF2B5EF4-FFF2-40B4-BE49-F238E27FC236}">
                <a16:creationId xmlns:a16="http://schemas.microsoft.com/office/drawing/2014/main" id="{70231DB1-CF78-3255-8221-49756261433C}"/>
              </a:ext>
            </a:extLst>
          </p:cNvPr>
          <p:cNvSpPr>
            <a:spLocks noGrp="1"/>
          </p:cNvSpPr>
          <p:nvPr>
            <p:ph type="sldNum" sz="quarter" idx="12"/>
          </p:nvPr>
        </p:nvSpPr>
        <p:spPr/>
        <p:txBody>
          <a:bodyPr/>
          <a:lstStyle/>
          <a:p>
            <a:fld id="{B6F15528-21DE-4FAA-801E-634DDDAF4B2B}" type="slidenum">
              <a:rPr lang="en-US" smtClean="0"/>
              <a:pPr/>
              <a:t>60</a:t>
            </a:fld>
            <a:endParaRPr lang="en-US" dirty="0"/>
          </a:p>
        </p:txBody>
      </p:sp>
    </p:spTree>
    <p:extLst>
      <p:ext uri="{BB962C8B-B14F-4D97-AF65-F5344CB8AC3E}">
        <p14:creationId xmlns:p14="http://schemas.microsoft.com/office/powerpoint/2010/main" val="15730293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F339-2228-2A8E-154E-896F52356121}"/>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E4BE528-ABFA-F7CC-E46A-9B51204C1402}"/>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43ED9DB-C4E0-0817-B0C8-E52334F3178B}"/>
              </a:ext>
            </a:extLst>
          </p:cNvPr>
          <p:cNvSpPr txBox="1">
            <a:spLocks/>
          </p:cNvSpPr>
          <p:nvPr/>
        </p:nvSpPr>
        <p:spPr>
          <a:xfrm>
            <a:off x="1749347" y="-19584"/>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altLang="en-US" sz="3200" dirty="0">
                <a:solidFill>
                  <a:schemeClr val="tx1"/>
                </a:solidFill>
                <a:latin typeface="Times New Roman" panose="02020603050405020304" pitchFamily="18" charset="0"/>
                <a:cs typeface="Times New Roman" panose="02020603050405020304" pitchFamily="18" charset="0"/>
              </a:rPr>
              <a:t>Message Passing Interface</a:t>
            </a:r>
            <a:endParaRPr lang="en-IN" sz="3000" dirty="0"/>
          </a:p>
        </p:txBody>
      </p:sp>
      <p:sp>
        <p:nvSpPr>
          <p:cNvPr id="6" name="TextBox 5">
            <a:extLst>
              <a:ext uri="{FF2B5EF4-FFF2-40B4-BE49-F238E27FC236}">
                <a16:creationId xmlns:a16="http://schemas.microsoft.com/office/drawing/2014/main" id="{9E8CB8EA-9D55-15CC-A2C0-1E0361388E93}"/>
              </a:ext>
            </a:extLst>
          </p:cNvPr>
          <p:cNvSpPr txBox="1"/>
          <p:nvPr/>
        </p:nvSpPr>
        <p:spPr>
          <a:xfrm>
            <a:off x="190707" y="1112228"/>
            <a:ext cx="8659092" cy="498663"/>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Collective Communication</a:t>
            </a:r>
            <a:endParaRPr lang="en-IN"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171D5AC-21D4-D24B-C412-16FC7F4CAB3F}"/>
              </a:ext>
            </a:extLst>
          </p:cNvPr>
          <p:cNvSpPr txBox="1"/>
          <p:nvPr/>
        </p:nvSpPr>
        <p:spPr>
          <a:xfrm>
            <a:off x="190707" y="1686841"/>
            <a:ext cx="8659091"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With this type of MPI communication method, a process broadcasts a message is to all processes in the same communicator including itself.</a:t>
            </a:r>
            <a:endParaRPr lang="en-IN" dirty="0">
              <a:latin typeface="Times New Roman" panose="02020603050405020304" pitchFamily="18" charset="0"/>
              <a:cs typeface="Times New Roman" panose="02020603050405020304" pitchFamily="18" charset="0"/>
            </a:endParaRPr>
          </a:p>
        </p:txBody>
      </p:sp>
      <p:pic>
        <p:nvPicPr>
          <p:cNvPr id="10" name="Picture 9" descr="A diagram of process and process&#10;&#10;AI-generated content may be incorrect.">
            <a:extLst>
              <a:ext uri="{FF2B5EF4-FFF2-40B4-BE49-F238E27FC236}">
                <a16:creationId xmlns:a16="http://schemas.microsoft.com/office/drawing/2014/main" id="{3967EC9C-AF09-5150-B4E7-583B8EDE2F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237" y="2499961"/>
            <a:ext cx="5476875" cy="1858078"/>
          </a:xfrm>
          <a:prstGeom prst="rect">
            <a:avLst/>
          </a:prstGeom>
        </p:spPr>
      </p:pic>
      <p:sp>
        <p:nvSpPr>
          <p:cNvPr id="11" name="TextBox 10">
            <a:extLst>
              <a:ext uri="{FF2B5EF4-FFF2-40B4-BE49-F238E27FC236}">
                <a16:creationId xmlns:a16="http://schemas.microsoft.com/office/drawing/2014/main" id="{359B6FB2-F9F9-F0C9-6DDB-D15364639BCD}"/>
              </a:ext>
            </a:extLst>
          </p:cNvPr>
          <p:cNvSpPr txBox="1"/>
          <p:nvPr/>
        </p:nvSpPr>
        <p:spPr>
          <a:xfrm>
            <a:off x="0" y="4520568"/>
            <a:ext cx="8659092" cy="498663"/>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One-sided communication</a:t>
            </a:r>
            <a:endParaRPr lang="en-IN"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41D2BA7-8362-00E1-9BE2-A05657659AED}"/>
              </a:ext>
            </a:extLst>
          </p:cNvPr>
          <p:cNvSpPr txBox="1"/>
          <p:nvPr/>
        </p:nvSpPr>
        <p:spPr>
          <a:xfrm>
            <a:off x="95353" y="5080256"/>
            <a:ext cx="8849798" cy="646331"/>
          </a:xfrm>
          <a:prstGeom prst="rect">
            <a:avLst/>
          </a:prstGeom>
          <a:noFill/>
        </p:spPr>
        <p:txBody>
          <a:bodyPr wrap="square" rtlCol="0">
            <a:spAutoFit/>
          </a:bodyPr>
          <a:lstStyle/>
          <a:p>
            <a:r>
              <a:rPr lang="en-US" dirty="0"/>
              <a:t>With the MPI One-sided communication method, a process can directly access the memory space of another process without involving it.</a:t>
            </a:r>
            <a:endParaRPr lang="en-IN" dirty="0"/>
          </a:p>
        </p:txBody>
      </p:sp>
      <p:sp>
        <p:nvSpPr>
          <p:cNvPr id="14" name="Date Placeholder 13">
            <a:extLst>
              <a:ext uri="{FF2B5EF4-FFF2-40B4-BE49-F238E27FC236}">
                <a16:creationId xmlns:a16="http://schemas.microsoft.com/office/drawing/2014/main" id="{AEE8264E-68F8-DF14-5AA8-71999659CFDB}"/>
              </a:ext>
            </a:extLst>
          </p:cNvPr>
          <p:cNvSpPr>
            <a:spLocks noGrp="1"/>
          </p:cNvSpPr>
          <p:nvPr>
            <p:ph type="dt" sz="half" idx="10"/>
          </p:nvPr>
        </p:nvSpPr>
        <p:spPr/>
        <p:txBody>
          <a:bodyPr/>
          <a:lstStyle/>
          <a:p>
            <a:fld id="{53646A4E-3C1C-4E35-A8D2-AF2CC6743C8C}" type="datetime1">
              <a:rPr lang="en-US" smtClean="0"/>
              <a:t>7/4/2025</a:t>
            </a:fld>
            <a:endParaRPr lang="en-US" dirty="0"/>
          </a:p>
        </p:txBody>
      </p:sp>
      <p:sp>
        <p:nvSpPr>
          <p:cNvPr id="15" name="Footer Placeholder 14">
            <a:extLst>
              <a:ext uri="{FF2B5EF4-FFF2-40B4-BE49-F238E27FC236}">
                <a16:creationId xmlns:a16="http://schemas.microsoft.com/office/drawing/2014/main" id="{519E2523-CDBC-B13D-3B83-DB7CA9FBBD82}"/>
              </a:ext>
            </a:extLst>
          </p:cNvPr>
          <p:cNvSpPr>
            <a:spLocks noGrp="1"/>
          </p:cNvSpPr>
          <p:nvPr>
            <p:ph type="ftr" sz="quarter" idx="11"/>
          </p:nvPr>
        </p:nvSpPr>
        <p:spPr>
          <a:xfrm>
            <a:off x="1593273" y="6356350"/>
            <a:ext cx="6026727" cy="365125"/>
          </a:xfrm>
        </p:spPr>
        <p:txBody>
          <a:bodyPr/>
          <a:lstStyle/>
          <a:p>
            <a:r>
              <a:rPr lang="en-US" dirty="0"/>
              <a:t>Mr. Anshul Varshney               High Performance computing                   Unit 2</a:t>
            </a:r>
          </a:p>
        </p:txBody>
      </p:sp>
      <p:sp>
        <p:nvSpPr>
          <p:cNvPr id="16" name="Slide Number Placeholder 15">
            <a:extLst>
              <a:ext uri="{FF2B5EF4-FFF2-40B4-BE49-F238E27FC236}">
                <a16:creationId xmlns:a16="http://schemas.microsoft.com/office/drawing/2014/main" id="{D2820D78-44EA-BF5F-33A5-A1E908F72742}"/>
              </a:ext>
            </a:extLst>
          </p:cNvPr>
          <p:cNvSpPr>
            <a:spLocks noGrp="1"/>
          </p:cNvSpPr>
          <p:nvPr>
            <p:ph type="sldNum" sz="quarter" idx="12"/>
          </p:nvPr>
        </p:nvSpPr>
        <p:spPr/>
        <p:txBody>
          <a:bodyPr/>
          <a:lstStyle/>
          <a:p>
            <a:fld id="{B6F15528-21DE-4FAA-801E-634DDDAF4B2B}" type="slidenum">
              <a:rPr lang="en-US" smtClean="0"/>
              <a:pPr/>
              <a:t>61</a:t>
            </a:fld>
            <a:endParaRPr lang="en-US" dirty="0"/>
          </a:p>
        </p:txBody>
      </p:sp>
    </p:spTree>
    <p:extLst>
      <p:ext uri="{BB962C8B-B14F-4D97-AF65-F5344CB8AC3E}">
        <p14:creationId xmlns:p14="http://schemas.microsoft.com/office/powerpoint/2010/main" val="257134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70AD9-18A5-EA32-5CB2-6E57AA86C7FE}"/>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9131D9C-077C-C9EB-79E2-B3E1418D58D6}"/>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0CDB0A9-3A9D-2527-C95C-E488389670A0}"/>
              </a:ext>
            </a:extLst>
          </p:cNvPr>
          <p:cNvSpPr txBox="1">
            <a:spLocks/>
          </p:cNvSpPr>
          <p:nvPr/>
        </p:nvSpPr>
        <p:spPr>
          <a:xfrm>
            <a:off x="1749347" y="-19584"/>
            <a:ext cx="7394653" cy="9144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200" dirty="0">
                <a:latin typeface="Times New Roman" panose="02020603050405020304" pitchFamily="18" charset="0"/>
                <a:cs typeface="Times New Roman" panose="02020603050405020304" pitchFamily="18" charset="0"/>
              </a:rPr>
              <a:t>Performance measures</a:t>
            </a:r>
            <a:endParaRPr lang="en-IN" sz="3000" dirty="0"/>
          </a:p>
        </p:txBody>
      </p:sp>
      <p:sp>
        <p:nvSpPr>
          <p:cNvPr id="9" name="TextBox 8">
            <a:extLst>
              <a:ext uri="{FF2B5EF4-FFF2-40B4-BE49-F238E27FC236}">
                <a16:creationId xmlns:a16="http://schemas.microsoft.com/office/drawing/2014/main" id="{4259AE5E-CFE3-46CC-E8FE-CC0B7C3A839C}"/>
              </a:ext>
            </a:extLst>
          </p:cNvPr>
          <p:cNvSpPr txBox="1"/>
          <p:nvPr/>
        </p:nvSpPr>
        <p:spPr>
          <a:xfrm>
            <a:off x="263237" y="1173540"/>
            <a:ext cx="8714508" cy="254236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Performance measures like speedup, efficiency, and scalability are crucial for evaluating the effectiveness of parallel algorithms and systems. Speedup indicates how much faster a parallel program runs compared to its sequential counterpart. Efficiency measures how well the available processors are utilized in a parallel program. Scalability describes the ability of a parallel system to maintain or improve performance as the problem size or number of processors increases. </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8BC2FAC-73C0-B3CA-B4E3-0E98F2C1734F}"/>
              </a:ext>
            </a:extLst>
          </p:cNvPr>
          <p:cNvSpPr txBox="1"/>
          <p:nvPr/>
        </p:nvSpPr>
        <p:spPr>
          <a:xfrm>
            <a:off x="263237" y="3865418"/>
            <a:ext cx="8714508"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Speedup (S) is the ratio of the execution time of the sequential version of a program to the execution time of its parallel version on 'p' processors. According to a search result, speedup is calculated as S(p) = T(1) / T(p). </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D924441-7CAB-F755-94CF-91897E67B3FA}"/>
              </a:ext>
            </a:extLst>
          </p:cNvPr>
          <p:cNvSpPr txBox="1"/>
          <p:nvPr/>
        </p:nvSpPr>
        <p:spPr>
          <a:xfrm>
            <a:off x="263237" y="5098473"/>
            <a:ext cx="4432495" cy="923330"/>
          </a:xfrm>
          <a:prstGeom prst="rect">
            <a:avLst/>
          </a:prstGeom>
          <a:noFill/>
        </p:spPr>
        <p:txBody>
          <a:bodyPr wrap="none" rtlCol="0">
            <a:spAutoFit/>
          </a:bodyPr>
          <a:lstStyle/>
          <a:p>
            <a:r>
              <a:rPr lang="en-IN" b="1" dirty="0"/>
              <a:t>Formula:</a:t>
            </a:r>
            <a:endParaRPr lang="en-IN" dirty="0"/>
          </a:p>
          <a:p>
            <a:r>
              <a:rPr lang="en-IN" dirty="0"/>
              <a:t>S(p) = T(sequential) / T(parallel, p processors)</a:t>
            </a:r>
          </a:p>
          <a:p>
            <a:endParaRPr lang="en-IN" dirty="0"/>
          </a:p>
        </p:txBody>
      </p:sp>
      <p:sp>
        <p:nvSpPr>
          <p:cNvPr id="17" name="Date Placeholder 16">
            <a:extLst>
              <a:ext uri="{FF2B5EF4-FFF2-40B4-BE49-F238E27FC236}">
                <a16:creationId xmlns:a16="http://schemas.microsoft.com/office/drawing/2014/main" id="{F5B4112F-ADA7-367A-C69B-854BE11FA51B}"/>
              </a:ext>
            </a:extLst>
          </p:cNvPr>
          <p:cNvSpPr>
            <a:spLocks noGrp="1"/>
          </p:cNvSpPr>
          <p:nvPr>
            <p:ph type="dt" sz="half" idx="10"/>
          </p:nvPr>
        </p:nvSpPr>
        <p:spPr/>
        <p:txBody>
          <a:bodyPr/>
          <a:lstStyle/>
          <a:p>
            <a:fld id="{DAA32839-B3F3-4937-BBD2-E92160A56404}" type="datetime1">
              <a:rPr lang="en-US" smtClean="0"/>
              <a:t>7/4/2025</a:t>
            </a:fld>
            <a:endParaRPr lang="en-US" dirty="0"/>
          </a:p>
        </p:txBody>
      </p:sp>
      <p:sp>
        <p:nvSpPr>
          <p:cNvPr id="18" name="Footer Placeholder 17">
            <a:extLst>
              <a:ext uri="{FF2B5EF4-FFF2-40B4-BE49-F238E27FC236}">
                <a16:creationId xmlns:a16="http://schemas.microsoft.com/office/drawing/2014/main" id="{F963D98F-4EAB-94AB-69C7-990132EAF51E}"/>
              </a:ext>
            </a:extLst>
          </p:cNvPr>
          <p:cNvSpPr>
            <a:spLocks noGrp="1"/>
          </p:cNvSpPr>
          <p:nvPr>
            <p:ph type="ftr" sz="quarter" idx="11"/>
          </p:nvPr>
        </p:nvSpPr>
        <p:spPr>
          <a:xfrm>
            <a:off x="1482436" y="6356350"/>
            <a:ext cx="6497782" cy="365125"/>
          </a:xfrm>
        </p:spPr>
        <p:txBody>
          <a:bodyPr/>
          <a:lstStyle/>
          <a:p>
            <a:r>
              <a:rPr lang="en-US" dirty="0"/>
              <a:t>Mr. Anshul Varshney               High Performance computing                   Unit 2</a:t>
            </a:r>
          </a:p>
        </p:txBody>
      </p:sp>
      <p:sp>
        <p:nvSpPr>
          <p:cNvPr id="19" name="Slide Number Placeholder 18">
            <a:extLst>
              <a:ext uri="{FF2B5EF4-FFF2-40B4-BE49-F238E27FC236}">
                <a16:creationId xmlns:a16="http://schemas.microsoft.com/office/drawing/2014/main" id="{BF1CC684-A5EF-B995-1B57-2250B9CF720C}"/>
              </a:ext>
            </a:extLst>
          </p:cNvPr>
          <p:cNvSpPr>
            <a:spLocks noGrp="1"/>
          </p:cNvSpPr>
          <p:nvPr>
            <p:ph type="sldNum" sz="quarter" idx="12"/>
          </p:nvPr>
        </p:nvSpPr>
        <p:spPr/>
        <p:txBody>
          <a:bodyPr/>
          <a:lstStyle/>
          <a:p>
            <a:fld id="{B6F15528-21DE-4FAA-801E-634DDDAF4B2B}" type="slidenum">
              <a:rPr lang="en-US" smtClean="0"/>
              <a:pPr/>
              <a:t>62</a:t>
            </a:fld>
            <a:endParaRPr lang="en-US" dirty="0"/>
          </a:p>
        </p:txBody>
      </p:sp>
    </p:spTree>
    <p:extLst>
      <p:ext uri="{BB962C8B-B14F-4D97-AF65-F5344CB8AC3E}">
        <p14:creationId xmlns:p14="http://schemas.microsoft.com/office/powerpoint/2010/main" val="3967434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D20D8-447A-8846-3812-DBC9403E725F}"/>
              </a:ext>
            </a:extLst>
          </p:cNvPr>
          <p:cNvSpPr>
            <a:spLocks noGrp="1"/>
          </p:cNvSpPr>
          <p:nvPr>
            <p:ph type="title"/>
          </p:nvPr>
        </p:nvSpPr>
        <p:spPr>
          <a:xfrm>
            <a:off x="457200" y="438414"/>
            <a:ext cx="8229600" cy="1161786"/>
          </a:xfrm>
        </p:spPr>
        <p:txBody>
          <a:bodyPr>
            <a:normAutofit/>
          </a:bodyPr>
          <a:lstStyle/>
          <a:p>
            <a:pPr algn="l"/>
            <a:r>
              <a:rPr lang="en-US" sz="2800" b="1" dirty="0"/>
              <a:t>Data Links</a:t>
            </a:r>
            <a:endParaRPr lang="en-IN" sz="2800" b="1" dirty="0"/>
          </a:p>
        </p:txBody>
      </p:sp>
      <p:sp>
        <p:nvSpPr>
          <p:cNvPr id="3" name="Content Placeholder 2">
            <a:extLst>
              <a:ext uri="{FF2B5EF4-FFF2-40B4-BE49-F238E27FC236}">
                <a16:creationId xmlns:a16="http://schemas.microsoft.com/office/drawing/2014/main" id="{E1C1A2BE-9312-D263-91E3-7575A3757C5E}"/>
              </a:ext>
            </a:extLst>
          </p:cNvPr>
          <p:cNvSpPr>
            <a:spLocks noGrp="1"/>
          </p:cNvSpPr>
          <p:nvPr>
            <p:ph idx="1"/>
          </p:nvPr>
        </p:nvSpPr>
        <p:spPr/>
        <p:txBody>
          <a:bodyPr>
            <a:normAutofit/>
          </a:bodyPr>
          <a:lstStyle/>
          <a:p>
            <a:pPr algn="just"/>
            <a:r>
              <a:rPr lang="en-IN" sz="2000" dirty="0">
                <a:hlinkClick r:id="rId2"/>
              </a:rPr>
              <a:t>https://www.youtube.com/watch?v=KVOc6369-Lo&amp;t=2s</a:t>
            </a:r>
            <a:endParaRPr lang="en-IN" sz="2000" dirty="0"/>
          </a:p>
          <a:p>
            <a:pPr algn="just"/>
            <a:endParaRPr lang="en-IN" sz="2000" dirty="0"/>
          </a:p>
          <a:p>
            <a:pPr algn="just"/>
            <a:r>
              <a:rPr lang="en-IN" sz="2000" dirty="0">
                <a:hlinkClick r:id="rId3"/>
              </a:rPr>
              <a:t>https://www.youtube.com/watch?v=MJ-ettBDJqQ</a:t>
            </a:r>
            <a:endParaRPr lang="en-IN" sz="2000" dirty="0"/>
          </a:p>
          <a:p>
            <a:pPr algn="just"/>
            <a:endParaRPr lang="en-IN" sz="2000" dirty="0"/>
          </a:p>
          <a:p>
            <a:pPr algn="just"/>
            <a:endParaRPr lang="en-IN" sz="2000" dirty="0"/>
          </a:p>
          <a:p>
            <a:pPr algn="just"/>
            <a:r>
              <a:rPr lang="en-IN" sz="2000" dirty="0">
                <a:hlinkClick r:id="rId4"/>
              </a:rPr>
              <a:t>https://www.youtube.com/watch?v=OHijtcMGm9I&amp;t=6s</a:t>
            </a:r>
            <a:endParaRPr lang="en-IN" sz="2000" dirty="0"/>
          </a:p>
          <a:p>
            <a:pPr algn="just"/>
            <a:endParaRPr lang="en-IN" sz="2000" dirty="0"/>
          </a:p>
          <a:p>
            <a:pPr algn="just"/>
            <a:endParaRPr lang="en-IN" sz="2000" dirty="0"/>
          </a:p>
          <a:p>
            <a:pPr algn="just"/>
            <a:r>
              <a:rPr lang="en-IN" sz="2000" dirty="0">
                <a:hlinkClick r:id="rId5"/>
              </a:rPr>
              <a:t>https://www.youtube.com/watch?v=cRtSf8TLYcs</a:t>
            </a:r>
            <a:endParaRPr lang="en-IN" sz="2000" dirty="0"/>
          </a:p>
          <a:p>
            <a:pPr algn="just"/>
            <a:endParaRPr lang="en-IN" sz="2000" dirty="0"/>
          </a:p>
          <a:p>
            <a:pPr marL="0" indent="0" algn="just">
              <a:buNone/>
            </a:pPr>
            <a:endParaRPr lang="en-IN" sz="2000" dirty="0"/>
          </a:p>
        </p:txBody>
      </p:sp>
      <p:sp>
        <p:nvSpPr>
          <p:cNvPr id="4" name="Date Placeholder 3">
            <a:extLst>
              <a:ext uri="{FF2B5EF4-FFF2-40B4-BE49-F238E27FC236}">
                <a16:creationId xmlns:a16="http://schemas.microsoft.com/office/drawing/2014/main" id="{057DA2AF-7105-0F1D-CFF3-63A8BA82398A}"/>
              </a:ext>
            </a:extLst>
          </p:cNvPr>
          <p:cNvSpPr>
            <a:spLocks noGrp="1"/>
          </p:cNvSpPr>
          <p:nvPr>
            <p:ph type="dt" sz="half" idx="10"/>
          </p:nvPr>
        </p:nvSpPr>
        <p:spPr/>
        <p:txBody>
          <a:bodyPr/>
          <a:lstStyle/>
          <a:p>
            <a:fld id="{0F5ADC0D-9E5E-472B-9C50-F5AF21448BF3}" type="datetime1">
              <a:rPr lang="en-US" smtClean="0"/>
              <a:t>7/4/2025</a:t>
            </a:fld>
            <a:endParaRPr lang="en-US" dirty="0"/>
          </a:p>
        </p:txBody>
      </p:sp>
      <p:sp>
        <p:nvSpPr>
          <p:cNvPr id="5" name="Footer Placeholder 4">
            <a:extLst>
              <a:ext uri="{FF2B5EF4-FFF2-40B4-BE49-F238E27FC236}">
                <a16:creationId xmlns:a16="http://schemas.microsoft.com/office/drawing/2014/main" id="{02985408-EE9D-AC25-5709-8F79B780AC09}"/>
              </a:ext>
            </a:extLst>
          </p:cNvPr>
          <p:cNvSpPr>
            <a:spLocks noGrp="1"/>
          </p:cNvSpPr>
          <p:nvPr>
            <p:ph type="ftr" sz="quarter" idx="11"/>
          </p:nvPr>
        </p:nvSpPr>
        <p:spPr>
          <a:xfrm>
            <a:off x="1579418" y="6356350"/>
            <a:ext cx="6151418" cy="365125"/>
          </a:xfrm>
        </p:spPr>
        <p:txBody>
          <a:bodyPr/>
          <a:lstStyle/>
          <a:p>
            <a:r>
              <a:rPr lang="en-US" dirty="0"/>
              <a:t>Mr. Anshul Varshney               High Performance computing                   Unit 2</a:t>
            </a:r>
          </a:p>
        </p:txBody>
      </p:sp>
      <p:sp>
        <p:nvSpPr>
          <p:cNvPr id="6" name="Slide Number Placeholder 5">
            <a:extLst>
              <a:ext uri="{FF2B5EF4-FFF2-40B4-BE49-F238E27FC236}">
                <a16:creationId xmlns:a16="http://schemas.microsoft.com/office/drawing/2014/main" id="{DE5C2158-2931-9254-045D-38BF6B18D64B}"/>
              </a:ext>
            </a:extLst>
          </p:cNvPr>
          <p:cNvSpPr>
            <a:spLocks noGrp="1"/>
          </p:cNvSpPr>
          <p:nvPr>
            <p:ph type="sldNum" sz="quarter" idx="12"/>
          </p:nvPr>
        </p:nvSpPr>
        <p:spPr/>
        <p:txBody>
          <a:bodyPr/>
          <a:lstStyle/>
          <a:p>
            <a:fld id="{B6F15528-21DE-4FAA-801E-634DDDAF4B2B}" type="slidenum">
              <a:rPr lang="en-US" smtClean="0"/>
              <a:pPr/>
              <a:t>63</a:t>
            </a:fld>
            <a:endParaRPr lang="en-US" dirty="0"/>
          </a:p>
        </p:txBody>
      </p:sp>
      <p:pic>
        <p:nvPicPr>
          <p:cNvPr id="7" name="Picture 6" descr="A screenshot of a computer&#10;&#10;Description automatically generated">
            <a:extLst>
              <a:ext uri="{FF2B5EF4-FFF2-40B4-BE49-F238E27FC236}">
                <a16:creationId xmlns:a16="http://schemas.microsoft.com/office/drawing/2014/main" id="{0361806D-609A-0E37-47ED-B524DF32D738}"/>
              </a:ext>
            </a:extLst>
          </p:cNvPr>
          <p:cNvPicPr>
            <a:picLocks noChangeAspect="1"/>
          </p:cNvPicPr>
          <p:nvPr/>
        </p:nvPicPr>
        <p:blipFill rotWithShape="1">
          <a:blip r:embed="rId6"/>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B60DB552-3B06-09F1-98A2-72310FDCADA9}"/>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CONTENTS</a:t>
            </a:r>
          </a:p>
        </p:txBody>
      </p:sp>
    </p:spTree>
    <p:extLst>
      <p:ext uri="{BB962C8B-B14F-4D97-AF65-F5344CB8AC3E}">
        <p14:creationId xmlns:p14="http://schemas.microsoft.com/office/powerpoint/2010/main" val="22513649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400" dirty="0"/>
              <a:t>Daily Quiz</a:t>
            </a:r>
          </a:p>
        </p:txBody>
      </p:sp>
      <p:sp>
        <p:nvSpPr>
          <p:cNvPr id="5" name="Slide Number Placeholder 4">
            <a:extLst>
              <a:ext uri="{FF2B5EF4-FFF2-40B4-BE49-F238E27FC236}">
                <a16:creationId xmlns:a16="http://schemas.microsoft.com/office/drawing/2014/main" id="{6819C966-DBBE-4336-986E-FD646CEC1F68}"/>
              </a:ext>
            </a:extLst>
          </p:cNvPr>
          <p:cNvSpPr>
            <a:spLocks noGrp="1"/>
          </p:cNvSpPr>
          <p:nvPr>
            <p:ph type="sldNum" sz="quarter" idx="12"/>
          </p:nvPr>
        </p:nvSpPr>
        <p:spPr/>
        <p:txBody>
          <a:bodyPr/>
          <a:lstStyle/>
          <a:p>
            <a:fld id="{B6F15528-21DE-4FAA-801E-634DDDAF4B2B}" type="slidenum">
              <a:rPr lang="en-US" smtClean="0"/>
              <a:pPr/>
              <a:t>64</a:t>
            </a:fld>
            <a:endParaRPr lang="en-US" dirty="0"/>
          </a:p>
        </p:txBody>
      </p:sp>
      <p:sp>
        <p:nvSpPr>
          <p:cNvPr id="2" name="Date Placeholder 1">
            <a:extLst>
              <a:ext uri="{FF2B5EF4-FFF2-40B4-BE49-F238E27FC236}">
                <a16:creationId xmlns:a16="http://schemas.microsoft.com/office/drawing/2014/main" id="{7889C130-B274-4D2C-BEDF-5E5DB55F6478}"/>
              </a:ext>
            </a:extLst>
          </p:cNvPr>
          <p:cNvSpPr>
            <a:spLocks noGrp="1"/>
          </p:cNvSpPr>
          <p:nvPr>
            <p:ph type="dt" sz="half" idx="10"/>
          </p:nvPr>
        </p:nvSpPr>
        <p:spPr/>
        <p:txBody>
          <a:bodyPr/>
          <a:lstStyle/>
          <a:p>
            <a:fld id="{FFB7D272-5CB9-47F3-A2AF-8462727E3910}" type="datetime1">
              <a:rPr lang="en-US" smtClean="0"/>
              <a:t>7/4/2025</a:t>
            </a:fld>
            <a:endParaRPr lang="en-US" dirty="0"/>
          </a:p>
        </p:txBody>
      </p:sp>
      <p:sp>
        <p:nvSpPr>
          <p:cNvPr id="6" name="Rectangle 5">
            <a:extLst>
              <a:ext uri="{FF2B5EF4-FFF2-40B4-BE49-F238E27FC236}">
                <a16:creationId xmlns:a16="http://schemas.microsoft.com/office/drawing/2014/main" id="{A9FF8A23-96E8-4F48-BF73-BDB994611439}"/>
              </a:ext>
            </a:extLst>
          </p:cNvPr>
          <p:cNvSpPr/>
          <p:nvPr/>
        </p:nvSpPr>
        <p:spPr>
          <a:xfrm>
            <a:off x="457200" y="668164"/>
            <a:ext cx="8382000" cy="5875904"/>
          </a:xfrm>
          <a:prstGeom prst="rect">
            <a:avLst/>
          </a:prstGeom>
        </p:spPr>
        <p:txBody>
          <a:bodyPr wrap="square">
            <a:spAutoFit/>
          </a:bodyPr>
          <a:lstStyle/>
          <a:p>
            <a:pPr marL="342900" indent="-342900">
              <a:lnSpc>
                <a:spcPct val="150000"/>
              </a:lnSpc>
              <a:buFont typeface="+mj-lt"/>
              <a:buAutoNum type="arabicPeriod"/>
            </a:pPr>
            <a:r>
              <a:rPr lang="en-US" sz="1400" dirty="0"/>
              <a:t>Which architecture supports multiple instructions on multiple data streams?**</a:t>
            </a:r>
            <a:br>
              <a:rPr lang="en-US" sz="1400" dirty="0"/>
            </a:br>
            <a:r>
              <a:rPr lang="en-US" sz="1400" dirty="0"/>
              <a:t>A) SISD B) SIMD C) MISD D) MIMD</a:t>
            </a:r>
            <a:br>
              <a:rPr lang="en-US" sz="1400" dirty="0"/>
            </a:br>
            <a:r>
              <a:rPr lang="en-US" sz="1400" b="1" dirty="0"/>
              <a:t>Answer: D)</a:t>
            </a:r>
            <a:r>
              <a:rPr lang="en-US" sz="1400" dirty="0"/>
              <a:t> MIMD — multiple instruction &amp; multiple data</a:t>
            </a:r>
          </a:p>
          <a:p>
            <a:pPr marL="342900" indent="-342900">
              <a:lnSpc>
                <a:spcPct val="150000"/>
              </a:lnSpc>
              <a:buFont typeface="+mj-lt"/>
              <a:buAutoNum type="arabicPeriod"/>
            </a:pPr>
            <a:r>
              <a:rPr lang="en-US" sz="1400" dirty="0">
                <a:latin typeface="+mj-lt"/>
              </a:rPr>
              <a:t>MISD architecture is mainly used for:</a:t>
            </a:r>
          </a:p>
          <a:p>
            <a:pPr>
              <a:lnSpc>
                <a:spcPct val="150000"/>
              </a:lnSpc>
            </a:pPr>
            <a:r>
              <a:rPr lang="en-US" sz="1400" dirty="0">
                <a:latin typeface="+mj-lt"/>
              </a:rPr>
              <a:t>         A) GPUs B) Flight-control systems C) Web servers D) Database indexing</a:t>
            </a:r>
          </a:p>
          <a:p>
            <a:pPr>
              <a:lnSpc>
                <a:spcPct val="150000"/>
              </a:lnSpc>
            </a:pPr>
            <a:r>
              <a:rPr lang="en-US" sz="1400" dirty="0">
                <a:latin typeface="+mj-lt"/>
              </a:rPr>
              <a:t>         Answer: B) Flight-control systems </a:t>
            </a:r>
          </a:p>
          <a:p>
            <a:pPr>
              <a:lnSpc>
                <a:spcPct val="150000"/>
              </a:lnSpc>
            </a:pPr>
            <a:r>
              <a:rPr lang="en-US" sz="1400" dirty="0">
                <a:latin typeface="+mj-lt"/>
              </a:rPr>
              <a:t>3.      Fastest storage in the hierarchy is:</a:t>
            </a:r>
          </a:p>
          <a:p>
            <a:pPr>
              <a:lnSpc>
                <a:spcPct val="150000"/>
              </a:lnSpc>
            </a:pPr>
            <a:r>
              <a:rPr lang="en-US" sz="1400" dirty="0">
                <a:latin typeface="+mj-lt"/>
              </a:rPr>
              <a:t>         A) RAM B) Cache C) Hard disk D) Register</a:t>
            </a:r>
          </a:p>
          <a:p>
            <a:pPr>
              <a:lnSpc>
                <a:spcPct val="150000"/>
              </a:lnSpc>
            </a:pPr>
            <a:r>
              <a:rPr lang="en-US" sz="1400" dirty="0">
                <a:latin typeface="+mj-lt"/>
              </a:rPr>
              <a:t>         Answer: D) Register</a:t>
            </a:r>
          </a:p>
          <a:p>
            <a:pPr marL="342900" indent="-342900">
              <a:lnSpc>
                <a:spcPct val="150000"/>
              </a:lnSpc>
              <a:buAutoNum type="arabicPeriod" startAt="4"/>
            </a:pPr>
            <a:r>
              <a:rPr lang="en-US" sz="1400" dirty="0">
                <a:latin typeface="+mj-lt"/>
              </a:rPr>
              <a:t>In fully associative cache, what miss type cannot occur? </a:t>
            </a:r>
          </a:p>
          <a:p>
            <a:pPr>
              <a:lnSpc>
                <a:spcPct val="150000"/>
              </a:lnSpc>
            </a:pPr>
            <a:r>
              <a:rPr lang="en-US" sz="1400" dirty="0">
                <a:latin typeface="+mj-lt"/>
              </a:rPr>
              <a:t>          A) Conflict B) Capacity C) Cold D) Coherence</a:t>
            </a:r>
          </a:p>
          <a:p>
            <a:pPr>
              <a:lnSpc>
                <a:spcPct val="150000"/>
              </a:lnSpc>
            </a:pPr>
            <a:r>
              <a:rPr lang="en-US" sz="1400" dirty="0">
                <a:latin typeface="+mj-lt"/>
              </a:rPr>
              <a:t>           Answer: A) Conflict miss</a:t>
            </a:r>
          </a:p>
          <a:p>
            <a:pPr marL="342900" indent="-342900">
              <a:lnSpc>
                <a:spcPct val="150000"/>
              </a:lnSpc>
              <a:buAutoNum type="arabicPeriod" startAt="5"/>
            </a:pPr>
            <a:r>
              <a:rPr lang="en-US" sz="1400" dirty="0">
                <a:latin typeface="+mj-lt"/>
              </a:rPr>
              <a:t>Bit-level parallelism benefits from:</a:t>
            </a:r>
          </a:p>
          <a:p>
            <a:pPr>
              <a:lnSpc>
                <a:spcPct val="150000"/>
              </a:lnSpc>
            </a:pPr>
            <a:r>
              <a:rPr lang="en-US" sz="1400" dirty="0">
                <a:latin typeface="+mj-lt"/>
              </a:rPr>
              <a:t>          A) Wide ALUs B) Multithreading C) OpenMP D) MPI</a:t>
            </a:r>
          </a:p>
          <a:p>
            <a:pPr>
              <a:lnSpc>
                <a:spcPct val="150000"/>
              </a:lnSpc>
            </a:pPr>
            <a:r>
              <a:rPr lang="en-US" sz="1400" dirty="0">
                <a:latin typeface="+mj-lt"/>
              </a:rPr>
              <a:t>           Answer: A) Wide ALUs</a:t>
            </a:r>
          </a:p>
          <a:p>
            <a:pPr marL="342900" indent="-342900">
              <a:lnSpc>
                <a:spcPct val="150000"/>
              </a:lnSpc>
              <a:buAutoNum type="arabicPeriod" startAt="6"/>
            </a:pPr>
            <a:r>
              <a:rPr lang="en-US" sz="1400" dirty="0">
                <a:latin typeface="+mj-lt"/>
              </a:rPr>
              <a:t>Data parallelism is best illustrated by:</a:t>
            </a:r>
          </a:p>
          <a:p>
            <a:pPr>
              <a:lnSpc>
                <a:spcPct val="150000"/>
              </a:lnSpc>
            </a:pPr>
            <a:r>
              <a:rPr lang="en-US" sz="1400" dirty="0">
                <a:latin typeface="+mj-lt"/>
              </a:rPr>
              <a:t>          A) MPI B) OpenMP tasks C) SIMD vector instructions D) </a:t>
            </a:r>
            <a:r>
              <a:rPr lang="en-US" sz="1400" dirty="0" err="1">
                <a:latin typeface="+mj-lt"/>
              </a:rPr>
              <a:t>Pthreads</a:t>
            </a:r>
            <a:endParaRPr lang="en-US" sz="1400" dirty="0">
              <a:latin typeface="+mj-lt"/>
            </a:endParaRPr>
          </a:p>
          <a:p>
            <a:pPr>
              <a:lnSpc>
                <a:spcPct val="150000"/>
              </a:lnSpc>
            </a:pPr>
            <a:r>
              <a:rPr lang="en-US" sz="1400" dirty="0">
                <a:latin typeface="+mj-lt"/>
              </a:rPr>
              <a:t>           Answer: C) SIMD vector instructions</a:t>
            </a:r>
          </a:p>
        </p:txBody>
      </p:sp>
      <p:sp>
        <p:nvSpPr>
          <p:cNvPr id="8" name="Footer Placeholder 7">
            <a:extLst>
              <a:ext uri="{FF2B5EF4-FFF2-40B4-BE49-F238E27FC236}">
                <a16:creationId xmlns:a16="http://schemas.microsoft.com/office/drawing/2014/main" id="{D644F14C-D2F1-46F3-B587-69EAD2B9580C}"/>
              </a:ext>
            </a:extLst>
          </p:cNvPr>
          <p:cNvSpPr>
            <a:spLocks noGrp="1"/>
          </p:cNvSpPr>
          <p:nvPr>
            <p:ph type="ftr" sz="quarter" idx="11"/>
          </p:nvPr>
        </p:nvSpPr>
        <p:spPr>
          <a:xfrm>
            <a:off x="1749346" y="6356350"/>
            <a:ext cx="5829090" cy="365125"/>
          </a:xfrm>
        </p:spPr>
        <p:txBody>
          <a:bodyPr/>
          <a:lstStyle/>
          <a:p>
            <a:r>
              <a:rPr lang="en-US" dirty="0"/>
              <a:t>Mr. Anshul Varshney               High Performance computing                   Unit 2</a:t>
            </a:r>
          </a:p>
        </p:txBody>
      </p:sp>
      <p:pic>
        <p:nvPicPr>
          <p:cNvPr id="9" name="Picture 8">
            <a:extLst>
              <a:ext uri="{FF2B5EF4-FFF2-40B4-BE49-F238E27FC236}">
                <a16:creationId xmlns:a16="http://schemas.microsoft.com/office/drawing/2014/main" id="{2ACAE079-A509-8A46-9484-57CCAC3C0C57}"/>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B39E2DD1-FED9-8C14-2AEC-E776F390A51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3F699-9B71-9F36-C18B-E47E1A83D25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009FF91-9469-B62B-B09F-D04684D0C67E}"/>
              </a:ext>
            </a:extLst>
          </p:cNvPr>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400" dirty="0"/>
              <a:t>Daily Quiz</a:t>
            </a:r>
          </a:p>
        </p:txBody>
      </p:sp>
      <p:sp>
        <p:nvSpPr>
          <p:cNvPr id="5" name="Slide Number Placeholder 4">
            <a:extLst>
              <a:ext uri="{FF2B5EF4-FFF2-40B4-BE49-F238E27FC236}">
                <a16:creationId xmlns:a16="http://schemas.microsoft.com/office/drawing/2014/main" id="{A6C8AEAF-57D3-12DF-8B56-D77D48819BE9}"/>
              </a:ext>
            </a:extLst>
          </p:cNvPr>
          <p:cNvSpPr>
            <a:spLocks noGrp="1"/>
          </p:cNvSpPr>
          <p:nvPr>
            <p:ph type="sldNum" sz="quarter" idx="12"/>
          </p:nvPr>
        </p:nvSpPr>
        <p:spPr/>
        <p:txBody>
          <a:bodyPr/>
          <a:lstStyle/>
          <a:p>
            <a:fld id="{B6F15528-21DE-4FAA-801E-634DDDAF4B2B}" type="slidenum">
              <a:rPr lang="en-US" smtClean="0"/>
              <a:pPr/>
              <a:t>65</a:t>
            </a:fld>
            <a:endParaRPr lang="en-US" dirty="0"/>
          </a:p>
        </p:txBody>
      </p:sp>
      <p:sp>
        <p:nvSpPr>
          <p:cNvPr id="2" name="Date Placeholder 1">
            <a:extLst>
              <a:ext uri="{FF2B5EF4-FFF2-40B4-BE49-F238E27FC236}">
                <a16:creationId xmlns:a16="http://schemas.microsoft.com/office/drawing/2014/main" id="{337B9DF9-A2B8-4807-25DC-4399DA29F12B}"/>
              </a:ext>
            </a:extLst>
          </p:cNvPr>
          <p:cNvSpPr>
            <a:spLocks noGrp="1"/>
          </p:cNvSpPr>
          <p:nvPr>
            <p:ph type="dt" sz="half" idx="10"/>
          </p:nvPr>
        </p:nvSpPr>
        <p:spPr/>
        <p:txBody>
          <a:bodyPr/>
          <a:lstStyle/>
          <a:p>
            <a:fld id="{0F7A6F8C-9678-4CCF-91D3-A0EB560B2068}" type="datetime1">
              <a:rPr lang="en-US" smtClean="0"/>
              <a:t>7/4/2025</a:t>
            </a:fld>
            <a:endParaRPr lang="en-US" dirty="0"/>
          </a:p>
        </p:txBody>
      </p:sp>
      <p:sp>
        <p:nvSpPr>
          <p:cNvPr id="6" name="Rectangle 5">
            <a:extLst>
              <a:ext uri="{FF2B5EF4-FFF2-40B4-BE49-F238E27FC236}">
                <a16:creationId xmlns:a16="http://schemas.microsoft.com/office/drawing/2014/main" id="{A4E15C7D-AD49-F27F-C029-FB474FA9E0E7}"/>
              </a:ext>
            </a:extLst>
          </p:cNvPr>
          <p:cNvSpPr/>
          <p:nvPr/>
        </p:nvSpPr>
        <p:spPr>
          <a:xfrm>
            <a:off x="-19722" y="1194637"/>
            <a:ext cx="9351817" cy="3936912"/>
          </a:xfrm>
          <a:prstGeom prst="rect">
            <a:avLst/>
          </a:prstGeom>
        </p:spPr>
        <p:txBody>
          <a:bodyPr wrap="square">
            <a:spAutoFit/>
          </a:bodyPr>
          <a:lstStyle/>
          <a:p>
            <a:pPr>
              <a:lnSpc>
                <a:spcPct val="150000"/>
              </a:lnSpc>
            </a:pPr>
            <a:r>
              <a:rPr lang="en-US" sz="1400" dirty="0"/>
              <a:t>7.       Task parallelism refers to:</a:t>
            </a:r>
          </a:p>
          <a:p>
            <a:pPr>
              <a:lnSpc>
                <a:spcPct val="150000"/>
              </a:lnSpc>
            </a:pPr>
            <a:r>
              <a:rPr lang="en-US" sz="1400" dirty="0"/>
              <a:t>          A) Data replication B) Multiple threads on different tasks C) Single-core pipelines D) ALU bit ops</a:t>
            </a:r>
          </a:p>
          <a:p>
            <a:pPr>
              <a:lnSpc>
                <a:spcPct val="150000"/>
              </a:lnSpc>
            </a:pPr>
            <a:r>
              <a:rPr lang="en-US" sz="1400" dirty="0"/>
              <a:t>              Answer: B) Threads performing different tasks</a:t>
            </a:r>
          </a:p>
          <a:p>
            <a:pPr>
              <a:lnSpc>
                <a:spcPct val="150000"/>
              </a:lnSpc>
            </a:pPr>
            <a:r>
              <a:rPr lang="en-US" sz="1400" dirty="0">
                <a:latin typeface="+mj-lt"/>
              </a:rPr>
              <a:t>8.       Concurrency means</a:t>
            </a:r>
          </a:p>
          <a:p>
            <a:pPr>
              <a:lnSpc>
                <a:spcPct val="150000"/>
              </a:lnSpc>
            </a:pPr>
            <a:r>
              <a:rPr lang="en-US" sz="1400" dirty="0">
                <a:latin typeface="+mj-lt"/>
              </a:rPr>
              <a:t>           A) Simultaneous threads B) Overlapping operations logically C) Sequential processing D) Speedup measure</a:t>
            </a:r>
          </a:p>
          <a:p>
            <a:pPr>
              <a:lnSpc>
                <a:spcPct val="150000"/>
              </a:lnSpc>
            </a:pPr>
            <a:r>
              <a:rPr lang="en-US" sz="1400" dirty="0">
                <a:latin typeface="+mj-lt"/>
              </a:rPr>
              <a:t>               Answer: B) Logical overlap of tasks</a:t>
            </a:r>
          </a:p>
          <a:p>
            <a:pPr>
              <a:lnSpc>
                <a:spcPct val="150000"/>
              </a:lnSpc>
            </a:pPr>
            <a:r>
              <a:rPr lang="en-US" sz="1400" dirty="0">
                <a:latin typeface="+mj-lt"/>
              </a:rPr>
              <a:t>9.         Mapping refers to:</a:t>
            </a:r>
          </a:p>
          <a:p>
            <a:pPr>
              <a:lnSpc>
                <a:spcPct val="150000"/>
              </a:lnSpc>
            </a:pPr>
            <a:r>
              <a:rPr lang="en-US" sz="1400" dirty="0">
                <a:latin typeface="+mj-lt"/>
              </a:rPr>
              <a:t>           A) Direct memory access  B) Scheduling threads/tasks on resources  C) Virtual memory translation D) </a:t>
            </a:r>
            <a:r>
              <a:rPr lang="en-US" sz="1400" dirty="0" err="1">
                <a:latin typeface="+mj-lt"/>
              </a:rPr>
              <a:t>MPI_Send</a:t>
            </a:r>
            <a:r>
              <a:rPr lang="en-US" sz="1400" dirty="0">
                <a:latin typeface="+mj-lt"/>
              </a:rPr>
              <a:t>  order</a:t>
            </a:r>
          </a:p>
          <a:p>
            <a:pPr>
              <a:lnSpc>
                <a:spcPct val="150000"/>
              </a:lnSpc>
            </a:pPr>
            <a:r>
              <a:rPr lang="en-US" sz="1400" dirty="0">
                <a:latin typeface="+mj-lt"/>
              </a:rPr>
              <a:t>             Answer: B) Assigning tasks/data to cores/processors</a:t>
            </a:r>
          </a:p>
          <a:p>
            <a:pPr>
              <a:lnSpc>
                <a:spcPct val="150000"/>
              </a:lnSpc>
            </a:pPr>
            <a:r>
              <a:rPr lang="en-US" sz="1400" dirty="0">
                <a:latin typeface="+mj-lt"/>
              </a:rPr>
              <a:t>10.         MPI is designed for:</a:t>
            </a:r>
          </a:p>
          <a:p>
            <a:pPr>
              <a:lnSpc>
                <a:spcPct val="150000"/>
              </a:lnSpc>
            </a:pPr>
            <a:r>
              <a:rPr lang="en-US" sz="1400" dirty="0">
                <a:latin typeface="+mj-lt"/>
              </a:rPr>
              <a:t>             A) Multicore threads B) Shared memory C) Message passing in distributed memory D) GPU kernels</a:t>
            </a:r>
          </a:p>
          <a:p>
            <a:pPr>
              <a:lnSpc>
                <a:spcPct val="150000"/>
              </a:lnSpc>
            </a:pPr>
            <a:r>
              <a:rPr lang="en-US" sz="1400" dirty="0">
                <a:latin typeface="+mj-lt"/>
              </a:rPr>
              <a:t>              Answer: C) Distributed memory message passing</a:t>
            </a:r>
          </a:p>
        </p:txBody>
      </p:sp>
      <p:sp>
        <p:nvSpPr>
          <p:cNvPr id="8" name="Footer Placeholder 7">
            <a:extLst>
              <a:ext uri="{FF2B5EF4-FFF2-40B4-BE49-F238E27FC236}">
                <a16:creationId xmlns:a16="http://schemas.microsoft.com/office/drawing/2014/main" id="{61FEDBA4-1CDF-C7EC-2417-082324A98F51}"/>
              </a:ext>
            </a:extLst>
          </p:cNvPr>
          <p:cNvSpPr>
            <a:spLocks noGrp="1"/>
          </p:cNvSpPr>
          <p:nvPr>
            <p:ph type="ftr" sz="quarter" idx="11"/>
          </p:nvPr>
        </p:nvSpPr>
        <p:spPr>
          <a:xfrm>
            <a:off x="1364577" y="6356350"/>
            <a:ext cx="6435531" cy="365125"/>
          </a:xfrm>
        </p:spPr>
        <p:txBody>
          <a:bodyPr/>
          <a:lstStyle/>
          <a:p>
            <a:r>
              <a:rPr lang="en-US" dirty="0"/>
              <a:t>Mr. Anshul Varshney               High Performance computing                   Unit 2</a:t>
            </a:r>
          </a:p>
        </p:txBody>
      </p:sp>
      <p:pic>
        <p:nvPicPr>
          <p:cNvPr id="9" name="Picture 8">
            <a:extLst>
              <a:ext uri="{FF2B5EF4-FFF2-40B4-BE49-F238E27FC236}">
                <a16:creationId xmlns:a16="http://schemas.microsoft.com/office/drawing/2014/main" id="{A4F42D7F-28F6-7145-01C4-D345699F4E16}"/>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8C75ABB-A283-BE30-A754-61BAF57510F6}"/>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987125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371600" y="1"/>
            <a:ext cx="7772401" cy="6095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000" b="1" dirty="0"/>
              <a:t>Weekly/monthly/Unit Wise Assignment.</a:t>
            </a:r>
          </a:p>
        </p:txBody>
      </p:sp>
      <p:sp>
        <p:nvSpPr>
          <p:cNvPr id="9" name="Rectangle 8"/>
          <p:cNvSpPr/>
          <p:nvPr/>
        </p:nvSpPr>
        <p:spPr>
          <a:xfrm>
            <a:off x="381000" y="533400"/>
            <a:ext cx="8229600" cy="523220"/>
          </a:xfrm>
          <a:prstGeom prst="rect">
            <a:avLst/>
          </a:prstGeom>
        </p:spPr>
        <p:txBody>
          <a:bodyPr wrap="square">
            <a:spAutoFit/>
          </a:bodyPr>
          <a:lstStyle/>
          <a:p>
            <a:pPr algn="ctr"/>
            <a:r>
              <a:rPr lang="en-US" sz="2800" b="1" dirty="0">
                <a:solidFill>
                  <a:srgbClr val="002060"/>
                </a:solidFill>
              </a:rPr>
              <a:t>Assignment  </a:t>
            </a:r>
          </a:p>
        </p:txBody>
      </p:sp>
      <p:sp>
        <p:nvSpPr>
          <p:cNvPr id="6" name="Date Placeholder 5"/>
          <p:cNvSpPr>
            <a:spLocks noGrp="1"/>
          </p:cNvSpPr>
          <p:nvPr>
            <p:ph type="dt" sz="half" idx="10"/>
          </p:nvPr>
        </p:nvSpPr>
        <p:spPr/>
        <p:txBody>
          <a:bodyPr/>
          <a:lstStyle/>
          <a:p>
            <a:fld id="{A0F90BEC-EF50-4071-AEFD-DB0ECC32671E}" type="datetime1">
              <a:rPr lang="en-US" smtClean="0"/>
              <a:t>7/4/2025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66</a:t>
            </a:fld>
            <a:endParaRPr lang="en-US" dirty="0"/>
          </a:p>
        </p:txBody>
      </p:sp>
      <p:sp>
        <p:nvSpPr>
          <p:cNvPr id="3" name="Rectangle 2">
            <a:extLst>
              <a:ext uri="{FF2B5EF4-FFF2-40B4-BE49-F238E27FC236}">
                <a16:creationId xmlns:a16="http://schemas.microsoft.com/office/drawing/2014/main" id="{406F5FD9-659A-4F6A-9B69-4D3AC429F0DC}"/>
              </a:ext>
            </a:extLst>
          </p:cNvPr>
          <p:cNvSpPr/>
          <p:nvPr/>
        </p:nvSpPr>
        <p:spPr>
          <a:xfrm>
            <a:off x="609600" y="1142998"/>
            <a:ext cx="8001000" cy="921791"/>
          </a:xfrm>
          <a:prstGeom prst="rect">
            <a:avLst/>
          </a:prstGeom>
        </p:spPr>
        <p:txBody>
          <a:bodyPr wrap="square">
            <a:spAutoFit/>
          </a:bodyPr>
          <a:lstStyle/>
          <a:p>
            <a:pPr>
              <a:lnSpc>
                <a:spcPct val="150000"/>
              </a:lnSpc>
            </a:pPr>
            <a:endParaRPr lang="en-IN" dirty="0"/>
          </a:p>
          <a:p>
            <a:pPr>
              <a:lnSpc>
                <a:spcPct val="150000"/>
              </a:lnSpc>
            </a:pPr>
            <a:endParaRPr lang="en-IN" sz="2000" dirty="0"/>
          </a:p>
        </p:txBody>
      </p:sp>
      <p:sp>
        <p:nvSpPr>
          <p:cNvPr id="4" name="Footer Placeholder 3">
            <a:extLst>
              <a:ext uri="{FF2B5EF4-FFF2-40B4-BE49-F238E27FC236}">
                <a16:creationId xmlns:a16="http://schemas.microsoft.com/office/drawing/2014/main" id="{14934851-FA64-4F03-8D14-C4C7C1BFC497}"/>
              </a:ext>
            </a:extLst>
          </p:cNvPr>
          <p:cNvSpPr>
            <a:spLocks noGrp="1"/>
          </p:cNvSpPr>
          <p:nvPr>
            <p:ph type="ftr" sz="quarter" idx="11"/>
          </p:nvPr>
        </p:nvSpPr>
        <p:spPr>
          <a:xfrm>
            <a:off x="1565564" y="6356350"/>
            <a:ext cx="6359236" cy="365125"/>
          </a:xfrm>
        </p:spPr>
        <p:txBody>
          <a:bodyPr/>
          <a:lstStyle/>
          <a:p>
            <a:r>
              <a:rPr lang="en-US" dirty="0"/>
              <a:t>Mr. Anshul Varshney               High Performance computing                   Unit 2</a:t>
            </a:r>
          </a:p>
        </p:txBody>
      </p:sp>
      <p:pic>
        <p:nvPicPr>
          <p:cNvPr id="11" name="Picture 10">
            <a:extLst>
              <a:ext uri="{FF2B5EF4-FFF2-40B4-BE49-F238E27FC236}">
                <a16:creationId xmlns:a16="http://schemas.microsoft.com/office/drawing/2014/main" id="{013652B1-F812-AB42-A73B-7DBA6DD0C76A}"/>
              </a:ext>
            </a:extLst>
          </p:cNvPr>
          <p:cNvPicPr>
            <a:picLocks noChangeAspect="1"/>
          </p:cNvPicPr>
          <p:nvPr/>
        </p:nvPicPr>
        <p:blipFill>
          <a:blip r:embed="rId2"/>
          <a:stretch>
            <a:fillRect/>
          </a:stretch>
        </p:blipFill>
        <p:spPr>
          <a:xfrm>
            <a:off x="-19722" y="0"/>
            <a:ext cx="1384300" cy="812800"/>
          </a:xfrm>
          <a:prstGeom prst="rect">
            <a:avLst/>
          </a:prstGeom>
        </p:spPr>
      </p:pic>
      <p:sp>
        <p:nvSpPr>
          <p:cNvPr id="12" name="TextBox 11">
            <a:extLst>
              <a:ext uri="{FF2B5EF4-FFF2-40B4-BE49-F238E27FC236}">
                <a16:creationId xmlns:a16="http://schemas.microsoft.com/office/drawing/2014/main" id="{1E8C5C54-0C74-F459-2D26-6CB41FDF3E4C}"/>
              </a:ext>
            </a:extLst>
          </p:cNvPr>
          <p:cNvSpPr txBox="1"/>
          <p:nvPr/>
        </p:nvSpPr>
        <p:spPr>
          <a:xfrm>
            <a:off x="429489" y="1167460"/>
            <a:ext cx="8427493" cy="5016758"/>
          </a:xfrm>
          <a:prstGeom prst="rect">
            <a:avLst/>
          </a:prstGeom>
          <a:noFill/>
        </p:spPr>
        <p:txBody>
          <a:bodyPr wrap="square">
            <a:spAutoFit/>
          </a:bodyPr>
          <a:lstStyle/>
          <a:p>
            <a:pPr marL="342900" indent="-342900" algn="just">
              <a:buFont typeface="+mj-lt"/>
              <a:buAutoNum type="arabicPeriod"/>
            </a:pPr>
            <a:r>
              <a:rPr lang="en-US" sz="2000" dirty="0"/>
              <a:t> Explain Flynn’s taxonomy (SISD, SIMD, MISD, MIMD) and give a real-world example for each. </a:t>
            </a:r>
          </a:p>
          <a:p>
            <a:pPr marL="342900" indent="-342900" algn="just">
              <a:buFont typeface="+mj-lt"/>
              <a:buAutoNum type="arabicPeriod"/>
            </a:pPr>
            <a:r>
              <a:rPr lang="en-US" sz="2000" dirty="0"/>
              <a:t> Why is MISD rare in practice? Describe one system that uses it. </a:t>
            </a:r>
          </a:p>
          <a:p>
            <a:pPr marL="342900" indent="-342900" algn="just">
              <a:buFont typeface="+mj-lt"/>
              <a:buAutoNum type="arabicPeriod"/>
            </a:pPr>
            <a:r>
              <a:rPr lang="en-US" sz="2000" dirty="0"/>
              <a:t>Compare SIMD and MIMD in terms of instruction/data streams. Include performance trade-offs.</a:t>
            </a:r>
          </a:p>
          <a:p>
            <a:pPr marL="342900" indent="-342900" algn="just">
              <a:buFont typeface="+mj-lt"/>
              <a:buAutoNum type="arabicPeriod"/>
            </a:pPr>
            <a:r>
              <a:rPr lang="en-US" sz="2000" dirty="0"/>
              <a:t>Define bit-level, instruction-level (ILP), data parallelism, and task parallelism. Provide an example of each.</a:t>
            </a:r>
          </a:p>
          <a:p>
            <a:pPr marL="342900" indent="-342900" algn="just">
              <a:buFont typeface="+mj-lt"/>
              <a:buAutoNum type="arabicPeriod"/>
            </a:pPr>
            <a:r>
              <a:rPr lang="en-US" sz="2000" dirty="0"/>
              <a:t>What is concurrency? How does it differ from parallelism?</a:t>
            </a:r>
          </a:p>
          <a:p>
            <a:pPr marL="342900" indent="-342900" algn="just">
              <a:buFont typeface="+mj-lt"/>
              <a:buAutoNum type="arabicPeriod"/>
            </a:pPr>
            <a:r>
              <a:rPr lang="en-US" sz="2000" dirty="0"/>
              <a:t>Define NUMA architecture. How does it differ from UMA, and what implications does it have for performance?</a:t>
            </a:r>
          </a:p>
          <a:p>
            <a:pPr marL="342900" indent="-342900" algn="just">
              <a:buFont typeface="+mj-lt"/>
              <a:buAutoNum type="arabicPeriod"/>
            </a:pPr>
            <a:r>
              <a:rPr lang="en-US" sz="2000" dirty="0"/>
              <a:t> Explain the shared memory model and its advantages/challenges.</a:t>
            </a:r>
          </a:p>
          <a:p>
            <a:pPr marL="342900" indent="-342900" algn="just">
              <a:buFont typeface="+mj-lt"/>
              <a:buAutoNum type="arabicPeriod"/>
            </a:pPr>
            <a:r>
              <a:rPr lang="en-US" sz="2000" dirty="0"/>
              <a:t>What are common MPI communication primitives? Categorize them (e.g., point-to-point vs collective)</a:t>
            </a:r>
          </a:p>
          <a:p>
            <a:pPr marL="342900" indent="-342900" algn="just">
              <a:buFont typeface="+mj-lt"/>
              <a:buAutoNum type="arabicPeriod"/>
            </a:pPr>
            <a:r>
              <a:rPr lang="en-US" sz="2000" dirty="0"/>
              <a:t>List and explain at least three factors that limit parallel speedup and efficiency</a:t>
            </a:r>
          </a:p>
          <a:p>
            <a:pPr marL="342900" indent="-342900" algn="just">
              <a:buFont typeface="+mj-lt"/>
              <a:buAutoNum type="arabicPeriod"/>
            </a:pPr>
            <a:r>
              <a:rPr lang="en-US" sz="2000" dirty="0"/>
              <a:t>What are false sharing and coherence misses? How can they be mitigated?</a:t>
            </a:r>
            <a:endParaRPr lang="en-IN" sz="2000" dirty="0"/>
          </a:p>
        </p:txBody>
      </p:sp>
      <p:pic>
        <p:nvPicPr>
          <p:cNvPr id="2" name="Picture 1" descr="A screenshot of a computer&#10;&#10;Description automatically generated">
            <a:extLst>
              <a:ext uri="{FF2B5EF4-FFF2-40B4-BE49-F238E27FC236}">
                <a16:creationId xmlns:a16="http://schemas.microsoft.com/office/drawing/2014/main" id="{5B38B486-8299-6480-1228-1F46D324177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41959A-EDF9-4EA9-9372-D46B19086ED0}" type="datetime1">
              <a:rPr lang="en-US" smtClean="0"/>
              <a:t>7/4/2025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1"/>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Expected Questions for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a:extLst>
              <a:ext uri="{FF2B5EF4-FFF2-40B4-BE49-F238E27FC236}">
                <a16:creationId xmlns:a16="http://schemas.microsoft.com/office/drawing/2014/main" id="{C1C60256-9051-418B-9A95-6D9377CDEBA4}"/>
              </a:ext>
            </a:extLst>
          </p:cNvPr>
          <p:cNvSpPr>
            <a:spLocks noGrp="1"/>
          </p:cNvSpPr>
          <p:nvPr>
            <p:ph idx="1"/>
          </p:nvPr>
        </p:nvSpPr>
        <p:spPr>
          <a:xfrm>
            <a:off x="381000" y="990600"/>
            <a:ext cx="8382000" cy="5135563"/>
          </a:xfrm>
        </p:spPr>
        <p:txBody>
          <a:bodyPr>
            <a:normAutofit/>
          </a:bodyPr>
          <a:lstStyle/>
          <a:p>
            <a:pPr algn="just"/>
            <a:endParaRPr lang="en-US" sz="2400" dirty="0"/>
          </a:p>
          <a:p>
            <a:pPr algn="just"/>
            <a:endParaRPr lang="en-IN" sz="2400" dirty="0"/>
          </a:p>
        </p:txBody>
      </p:sp>
      <p:sp>
        <p:nvSpPr>
          <p:cNvPr id="10" name="Footer Placeholder 9">
            <a:extLst>
              <a:ext uri="{FF2B5EF4-FFF2-40B4-BE49-F238E27FC236}">
                <a16:creationId xmlns:a16="http://schemas.microsoft.com/office/drawing/2014/main" id="{8D01DE1A-AB75-486D-9917-5B3946761D45}"/>
              </a:ext>
            </a:extLst>
          </p:cNvPr>
          <p:cNvSpPr>
            <a:spLocks noGrp="1"/>
          </p:cNvSpPr>
          <p:nvPr>
            <p:ph type="ftr" sz="quarter" idx="11"/>
          </p:nvPr>
        </p:nvSpPr>
        <p:spPr>
          <a:xfrm>
            <a:off x="1364578" y="6356350"/>
            <a:ext cx="6768040" cy="365125"/>
          </a:xfrm>
        </p:spPr>
        <p:txBody>
          <a:bodyPr/>
          <a:lstStyle/>
          <a:p>
            <a:r>
              <a:rPr lang="en-US" dirty="0"/>
              <a:t>Mr. Anshul Varshney               High Performance computing                   Unit 2</a:t>
            </a:r>
          </a:p>
        </p:txBody>
      </p:sp>
      <p:pic>
        <p:nvPicPr>
          <p:cNvPr id="11" name="Picture 10">
            <a:extLst>
              <a:ext uri="{FF2B5EF4-FFF2-40B4-BE49-F238E27FC236}">
                <a16:creationId xmlns:a16="http://schemas.microsoft.com/office/drawing/2014/main" id="{21DEEF82-761A-D649-9214-A6005C238BD8}"/>
              </a:ext>
            </a:extLst>
          </p:cNvPr>
          <p:cNvPicPr>
            <a:picLocks noChangeAspect="1"/>
          </p:cNvPicPr>
          <p:nvPr/>
        </p:nvPicPr>
        <p:blipFill>
          <a:blip r:embed="rId2"/>
          <a:stretch>
            <a:fillRect/>
          </a:stretch>
        </p:blipFill>
        <p:spPr>
          <a:xfrm>
            <a:off x="-19722" y="0"/>
            <a:ext cx="1384300" cy="812800"/>
          </a:xfrm>
          <a:prstGeom prst="rect">
            <a:avLst/>
          </a:prstGeom>
        </p:spPr>
      </p:pic>
      <p:sp>
        <p:nvSpPr>
          <p:cNvPr id="12" name="TextBox 11">
            <a:extLst>
              <a:ext uri="{FF2B5EF4-FFF2-40B4-BE49-F238E27FC236}">
                <a16:creationId xmlns:a16="http://schemas.microsoft.com/office/drawing/2014/main" id="{FB93707C-EBB6-7FFC-EEC2-BF4C255570F8}"/>
              </a:ext>
            </a:extLst>
          </p:cNvPr>
          <p:cNvSpPr txBox="1"/>
          <p:nvPr/>
        </p:nvSpPr>
        <p:spPr>
          <a:xfrm>
            <a:off x="381000" y="1228397"/>
            <a:ext cx="8382000" cy="4401205"/>
          </a:xfrm>
          <a:prstGeom prst="rect">
            <a:avLst/>
          </a:prstGeom>
          <a:noFill/>
        </p:spPr>
        <p:txBody>
          <a:bodyPr wrap="square">
            <a:spAutoFit/>
          </a:bodyPr>
          <a:lstStyle/>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Explain why MISD is rare and give a notable example.</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Compare SIMD and MIMD in terms of control and data parallel execution.</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Define and differentiate bit-level, instruction-level (ILP), data, and task parallelism.</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Define the assumptions of linear regression?</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Define decomposition and mapping in parallel algorithm design and why they're critical.</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Explain multithreading vs. multiprocessing concerning shared vs. isolated memory.</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Describe the distributed memory model and the MPI communication paradigm.</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Explain OpenMP, its core constructs, and typical directives.</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Define speedup (S), efficiency (E), and scalability. Provide formulas.</a:t>
            </a:r>
          </a:p>
          <a:p>
            <a:pPr marL="342900" indent="-342900">
              <a:buFont typeface="+mj-lt"/>
              <a:buAutoNum type="arabicPeriod"/>
            </a:pPr>
            <a:r>
              <a:rPr lang="en-US" sz="2000" i="0" dirty="0">
                <a:solidFill>
                  <a:srgbClr val="292929"/>
                </a:solidFill>
                <a:effectLst/>
                <a:latin typeface="Times New Roman" panose="02020603050405020304" pitchFamily="18" charset="0"/>
                <a:cs typeface="Times New Roman" panose="02020603050405020304" pitchFamily="18" charset="0"/>
              </a:rPr>
              <a:t>Explain strong vs. weak scaling and how to measure each.</a:t>
            </a:r>
          </a:p>
        </p:txBody>
      </p:sp>
      <p:pic>
        <p:nvPicPr>
          <p:cNvPr id="2" name="Picture 1" descr="A screenshot of a computer&#10;&#10;Description automatically generated">
            <a:extLst>
              <a:ext uri="{FF2B5EF4-FFF2-40B4-BE49-F238E27FC236}">
                <a16:creationId xmlns:a16="http://schemas.microsoft.com/office/drawing/2014/main" id="{D2133E0E-4EF8-0C88-ABBC-FF9E676FCB8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15325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E5132E-2603-44EC-B838-0BC8AEF96BA9}" type="datetime1">
              <a:rPr lang="en-US" smtClean="0">
                <a:solidFill>
                  <a:prstClr val="black">
                    <a:tint val="75000"/>
                  </a:prstClr>
                </a:solidFill>
              </a:rPr>
              <a:t>7/4/2025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68</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8BE12DEC-1263-DA9F-3DFF-F27BB1D27A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7" name="Title 1">
            <a:extLst>
              <a:ext uri="{FF2B5EF4-FFF2-40B4-BE49-F238E27FC236}">
                <a16:creationId xmlns:a16="http://schemas.microsoft.com/office/drawing/2014/main" id="{2A2D577B-E225-8A78-EE7D-DF44BC7A12D1}"/>
              </a:ext>
            </a:extLst>
          </p:cNvPr>
          <p:cNvSpPr txBox="1">
            <a:spLocks/>
          </p:cNvSpPr>
          <p:nvPr/>
        </p:nvSpPr>
        <p:spPr>
          <a:xfrm>
            <a:off x="1371599" y="0"/>
            <a:ext cx="7772401" cy="7620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400" dirty="0"/>
              <a:t>References</a:t>
            </a:r>
          </a:p>
        </p:txBody>
      </p:sp>
      <p:pic>
        <p:nvPicPr>
          <p:cNvPr id="3" name="Picture 2" descr="A screenshot of a computer&#10;&#10;Description automatically generated">
            <a:extLst>
              <a:ext uri="{FF2B5EF4-FFF2-40B4-BE49-F238E27FC236}">
                <a16:creationId xmlns:a16="http://schemas.microsoft.com/office/drawing/2014/main" id="{6BCB4B28-6B5C-071D-B7CE-91852919910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list of information on a computer&#10;&#10;AI-generated content may be incorrect.">
            <a:extLst>
              <a:ext uri="{FF2B5EF4-FFF2-40B4-BE49-F238E27FC236}">
                <a16:creationId xmlns:a16="http://schemas.microsoft.com/office/drawing/2014/main" id="{AB165A25-6761-D4E8-D6F2-B49C318830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810" y="1087431"/>
            <a:ext cx="8690340" cy="4717623"/>
          </a:xfrm>
          <a:prstGeom prst="rect">
            <a:avLst/>
          </a:prstGeom>
        </p:spPr>
      </p:pic>
      <p:sp>
        <p:nvSpPr>
          <p:cNvPr id="10" name="Footer Placeholder 9">
            <a:extLst>
              <a:ext uri="{FF2B5EF4-FFF2-40B4-BE49-F238E27FC236}">
                <a16:creationId xmlns:a16="http://schemas.microsoft.com/office/drawing/2014/main" id="{7BE5FBF5-4F0D-FD60-E386-E9EF61A6EF44}"/>
              </a:ext>
            </a:extLst>
          </p:cNvPr>
          <p:cNvSpPr>
            <a:spLocks noGrp="1"/>
          </p:cNvSpPr>
          <p:nvPr>
            <p:ph type="ftr" sz="quarter" idx="11"/>
          </p:nvPr>
        </p:nvSpPr>
        <p:spPr>
          <a:xfrm>
            <a:off x="1335878" y="6356350"/>
            <a:ext cx="6699758" cy="365125"/>
          </a:xfrm>
        </p:spPr>
        <p:txBody>
          <a:bodyPr/>
          <a:lstStyle/>
          <a:p>
            <a:r>
              <a:rPr lang="en-US" dirty="0"/>
              <a:t>Mr. Anshul Varshney               High Performance computing                   Unit 2</a:t>
            </a:r>
          </a:p>
        </p:txBody>
      </p:sp>
    </p:spTree>
    <p:extLst>
      <p:ext uri="{BB962C8B-B14F-4D97-AF65-F5344CB8AC3E}">
        <p14:creationId xmlns:p14="http://schemas.microsoft.com/office/powerpoint/2010/main" val="25308825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599" y="0"/>
            <a:ext cx="7772401" cy="7620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2400" dirty="0"/>
              <a:t>Recap</a:t>
            </a:r>
          </a:p>
        </p:txBody>
      </p:sp>
      <p:sp>
        <p:nvSpPr>
          <p:cNvPr id="5" name="Rectangle 4"/>
          <p:cNvSpPr/>
          <p:nvPr/>
        </p:nvSpPr>
        <p:spPr>
          <a:xfrm>
            <a:off x="685800" y="1859340"/>
            <a:ext cx="7772400" cy="1107996"/>
          </a:xfrm>
          <a:prstGeom prst="rect">
            <a:avLst/>
          </a:prstGeom>
        </p:spPr>
        <p:txBody>
          <a:bodyPr wrap="square">
            <a:spAutoFit/>
          </a:bodyPr>
          <a:lstStyle/>
          <a:p>
            <a:endParaRPr lang="en-US" sz="2200" dirty="0"/>
          </a:p>
          <a:p>
            <a:r>
              <a:rPr lang="en-US" sz="2200" dirty="0"/>
              <a:t> </a:t>
            </a:r>
          </a:p>
          <a:p>
            <a:endParaRPr lang="en-US" sz="2200" dirty="0"/>
          </a:p>
        </p:txBody>
      </p:sp>
      <p:sp>
        <p:nvSpPr>
          <p:cNvPr id="8" name="Date Placeholder 7"/>
          <p:cNvSpPr>
            <a:spLocks noGrp="1"/>
          </p:cNvSpPr>
          <p:nvPr>
            <p:ph type="dt" sz="half" idx="10"/>
          </p:nvPr>
        </p:nvSpPr>
        <p:spPr/>
        <p:txBody>
          <a:bodyPr/>
          <a:lstStyle/>
          <a:p>
            <a:fld id="{D032F092-FFA1-4DAA-B845-A96A9CEE8BF4}" type="datetime1">
              <a:rPr lang="en-US" smtClean="0"/>
              <a:t>7/4/2025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69</a:t>
            </a:fld>
            <a:endParaRPr lang="en-US" dirty="0"/>
          </a:p>
        </p:txBody>
      </p:sp>
      <p:sp>
        <p:nvSpPr>
          <p:cNvPr id="11" name="Rectangle 10"/>
          <p:cNvSpPr/>
          <p:nvPr/>
        </p:nvSpPr>
        <p:spPr>
          <a:xfrm>
            <a:off x="381000" y="1211406"/>
            <a:ext cx="8763000" cy="3511859"/>
          </a:xfrm>
          <a:prstGeom prst="rect">
            <a:avLst/>
          </a:prstGeom>
        </p:spPr>
        <p:txBody>
          <a:bodyPr wrap="square">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PRAM</a:t>
            </a:r>
            <a:r>
              <a:rPr lang="en-IN" dirty="0">
                <a:latin typeface="Times New Roman" panose="02020603050405020304" pitchFamily="18" charset="0"/>
                <a:cs typeface="Times New Roman" panose="02020603050405020304" pitchFamily="18" charset="0"/>
              </a:rPr>
              <a:t>: Ideal shared-memory model with uniform access—unrealistic but useful for theoretical analysis.</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NUMA:</a:t>
            </a:r>
            <a:r>
              <a:rPr lang="en-IN" dirty="0">
                <a:latin typeface="Times New Roman" panose="02020603050405020304" pitchFamily="18" charset="0"/>
                <a:cs typeface="Times New Roman" panose="02020603050405020304" pitchFamily="18" charset="0"/>
              </a:rPr>
              <a:t> Actual shared-memory system with non-uniform memory access times, requiring data placement awareness.</a:t>
            </a:r>
          </a:p>
          <a:p>
            <a:r>
              <a:rPr lang="en-IN"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Multithreading vs Multiprocessing: </a:t>
            </a:r>
            <a:r>
              <a:rPr lang="en-IN" dirty="0">
                <a:latin typeface="Times New Roman" panose="02020603050405020304" pitchFamily="18" charset="0"/>
                <a:cs typeface="Times New Roman" panose="02020603050405020304" pitchFamily="18" charset="0"/>
              </a:rPr>
              <a:t>Threads share memory, processes don't; cost differences in creation and communication.</a:t>
            </a:r>
          </a:p>
          <a:p>
            <a:r>
              <a:rPr lang="en-IN"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Mapping significance: Especially important in NUMA contexts to minimize remote memory access.</a:t>
            </a:r>
          </a:p>
          <a:p>
            <a:pPr marL="570259" marR="722685" indent="-285750" algn="just">
              <a:lnSpc>
                <a:spcPct val="150000"/>
              </a:lnSpc>
              <a:buFont typeface="Wingdings" panose="05000000000000000000" pitchFamily="2" charset="2"/>
              <a:buChar char="Ø"/>
              <a:tabLst>
                <a:tab pos="476593" algn="l"/>
              </a:tabLst>
            </a:pPr>
            <a:endParaRPr lang="en-US" dirty="0">
              <a:cs typeface="Times New Roman"/>
            </a:endParaRPr>
          </a:p>
        </p:txBody>
      </p:sp>
      <p:sp>
        <p:nvSpPr>
          <p:cNvPr id="2" name="Footer Placeholder 1">
            <a:extLst>
              <a:ext uri="{FF2B5EF4-FFF2-40B4-BE49-F238E27FC236}">
                <a16:creationId xmlns:a16="http://schemas.microsoft.com/office/drawing/2014/main" id="{10AE0ED0-CF79-4652-BC48-4EE4F5740FF6}"/>
              </a:ext>
            </a:extLst>
          </p:cNvPr>
          <p:cNvSpPr>
            <a:spLocks noGrp="1"/>
          </p:cNvSpPr>
          <p:nvPr>
            <p:ph type="ftr" sz="quarter" idx="11"/>
          </p:nvPr>
        </p:nvSpPr>
        <p:spPr>
          <a:xfrm>
            <a:off x="1177635" y="6356350"/>
            <a:ext cx="6733309" cy="365125"/>
          </a:xfrm>
        </p:spPr>
        <p:txBody>
          <a:bodyPr/>
          <a:lstStyle/>
          <a:p>
            <a:r>
              <a:rPr lang="en-US" dirty="0"/>
              <a:t>Mr. Anshul Varshney               High Performance computing                   Unit 2</a:t>
            </a:r>
          </a:p>
        </p:txBody>
      </p:sp>
      <p:pic>
        <p:nvPicPr>
          <p:cNvPr id="10" name="Picture 9">
            <a:extLst>
              <a:ext uri="{FF2B5EF4-FFF2-40B4-BE49-F238E27FC236}">
                <a16:creationId xmlns:a16="http://schemas.microsoft.com/office/drawing/2014/main" id="{B4E356A4-03DF-704C-BEB6-9C989240F114}"/>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5D96F43-C7EF-5F20-B5BC-01AA72D09B8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0D3384-4CF0-490D-BECC-EED0BB4306DA}" type="datetime1">
              <a:rPr lang="en-US" smtClean="0"/>
              <a:t>7/4/2025</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dirty="0"/>
          </a:p>
        </p:txBody>
      </p:sp>
      <p:sp>
        <p:nvSpPr>
          <p:cNvPr id="10" name="Content Placeholder 8">
            <a:extLst>
              <a:ext uri="{FF2B5EF4-FFF2-40B4-BE49-F238E27FC236}">
                <a16:creationId xmlns:a16="http://schemas.microsoft.com/office/drawing/2014/main" id="{03236AB2-34D3-4D36-9A9C-1FC4A27F8EC4}"/>
              </a:ext>
            </a:extLst>
          </p:cNvPr>
          <p:cNvSpPr txBox="1">
            <a:spLocks/>
          </p:cNvSpPr>
          <p:nvPr/>
        </p:nvSpPr>
        <p:spPr>
          <a:xfrm>
            <a:off x="533400" y="2179637"/>
            <a:ext cx="8229600" cy="4525963"/>
          </a:xfrm>
          <a:prstGeom prst="rect">
            <a:avLst/>
          </a:prstGeom>
          <a:noFill/>
        </p:spPr>
        <p:txBody>
          <a:bodyPr wrap="none" lIns="91440" tIns="45720" rIns="91440" bIns="4572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
            <a:extLst>
              <a:ext uri="{FF2B5EF4-FFF2-40B4-BE49-F238E27FC236}">
                <a16:creationId xmlns:a16="http://schemas.microsoft.com/office/drawing/2014/main" id="{A4F46CFB-F9FA-4D9D-A54A-53003DBB7179}"/>
              </a:ext>
            </a:extLst>
          </p:cNvPr>
          <p:cNvSpPr>
            <a:spLocks noGrp="1"/>
          </p:cNvSpPr>
          <p:nvPr>
            <p:ph type="ftr" sz="quarter" idx="11"/>
          </p:nvPr>
        </p:nvSpPr>
        <p:spPr>
          <a:xfrm>
            <a:off x="1749346" y="6356350"/>
            <a:ext cx="6078472" cy="365125"/>
          </a:xfrm>
        </p:spPr>
        <p:txBody>
          <a:bodyPr/>
          <a:lstStyle/>
          <a:p>
            <a:r>
              <a:rPr lang="en-US" dirty="0"/>
              <a:t>Mr. Anshul Varshney               High Performance computing                   Unit 2</a:t>
            </a:r>
          </a:p>
        </p:txBody>
      </p:sp>
      <p:pic>
        <p:nvPicPr>
          <p:cNvPr id="6" name="Picture 5">
            <a:extLst>
              <a:ext uri="{FF2B5EF4-FFF2-40B4-BE49-F238E27FC236}">
                <a16:creationId xmlns:a16="http://schemas.microsoft.com/office/drawing/2014/main" id="{9FBDFD0D-14E5-0848-8DC9-4EAB14929A9B}"/>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B8C695CE-607D-5022-6127-98C1A1D9AE3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D43EA42-8549-E7DE-DFB3-95204255B831}"/>
              </a:ext>
            </a:extLst>
          </p:cNvPr>
          <p:cNvSpPr txBox="1">
            <a:spLocks/>
          </p:cNvSpPr>
          <p:nvPr/>
        </p:nvSpPr>
        <p:spPr>
          <a:xfrm>
            <a:off x="1769068" y="0"/>
            <a:ext cx="7374931"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dirty="0"/>
              <a:t>CONTENTS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3684</TotalTime>
  <Words>7555</Words>
  <Application>Microsoft Office PowerPoint</Application>
  <PresentationFormat>On-screen Show (4:3)</PresentationFormat>
  <Paragraphs>920</Paragraphs>
  <Slides>70</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Calibri</vt:lpstr>
      <vt:lpstr>Calibri (Headings)</vt:lpstr>
      <vt:lpstr>Consolas</vt:lpstr>
      <vt:lpstr>Courier</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Links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Anshul</dc:creator>
  <cp:lastModifiedBy>Mr. Anshul Varshney</cp:lastModifiedBy>
  <cp:revision>86</cp:revision>
  <cp:lastPrinted>2022-06-15T05:18:03Z</cp:lastPrinted>
  <dcterms:modified xsi:type="dcterms:W3CDTF">2025-07-04T06:32:58Z</dcterms:modified>
</cp:coreProperties>
</file>